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3.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4.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5.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6.xml" ContentType="application/vnd.openxmlformats-officedocument.themeOverride+xml"/>
  <Override PartName="/ppt/notesSlides/notesSlide2.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93" r:id="rId5"/>
    <p:sldMasterId id="2147483807" r:id="rId6"/>
  </p:sldMasterIdLst>
  <p:notesMasterIdLst>
    <p:notesMasterId r:id="rId31"/>
  </p:notesMasterIdLst>
  <p:handoutMasterIdLst>
    <p:handoutMasterId r:id="rId32"/>
  </p:handoutMasterIdLst>
  <p:sldIdLst>
    <p:sldId id="267" r:id="rId7"/>
    <p:sldId id="2147480980" r:id="rId8"/>
    <p:sldId id="2146846807" r:id="rId9"/>
    <p:sldId id="2146846808" r:id="rId10"/>
    <p:sldId id="2146846809" r:id="rId11"/>
    <p:sldId id="2146846810" r:id="rId12"/>
    <p:sldId id="2146846811" r:id="rId13"/>
    <p:sldId id="2146846812" r:id="rId14"/>
    <p:sldId id="2146846813" r:id="rId15"/>
    <p:sldId id="2146846814" r:id="rId16"/>
    <p:sldId id="2146846815" r:id="rId17"/>
    <p:sldId id="2146846816" r:id="rId18"/>
    <p:sldId id="2146846817" r:id="rId19"/>
    <p:sldId id="2146846818" r:id="rId20"/>
    <p:sldId id="2146846819" r:id="rId21"/>
    <p:sldId id="2146846820" r:id="rId22"/>
    <p:sldId id="2146846821" r:id="rId23"/>
    <p:sldId id="2146846822" r:id="rId24"/>
    <p:sldId id="2146846825" r:id="rId25"/>
    <p:sldId id="2146846828" r:id="rId26"/>
    <p:sldId id="2146846829" r:id="rId27"/>
    <p:sldId id="385" r:id="rId28"/>
    <p:sldId id="2147480982" r:id="rId29"/>
    <p:sldId id="2147480983" r:id="rId30"/>
  </p:sldIdLst>
  <p:sldSz cx="12192000" cy="6858000"/>
  <p:notesSz cx="6858000" cy="9144000"/>
  <p:custDataLst>
    <p:tags r:id="rId33"/>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88853" autoAdjust="0"/>
  </p:normalViewPr>
  <p:slideViewPr>
    <p:cSldViewPr snapToGrid="0" showGuides="1">
      <p:cViewPr varScale="1">
        <p:scale>
          <a:sx n="63" d="100"/>
          <a:sy n="63" d="100"/>
        </p:scale>
        <p:origin x="804" y="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80" d="100"/>
        <a:sy n="180" d="100"/>
      </p:scale>
      <p:origin x="0" y="-20268"/>
    </p:cViewPr>
  </p:sorterViewPr>
  <p:notesViewPr>
    <p:cSldViewPr snapToGrid="0" showGuides="1">
      <p:cViewPr varScale="1">
        <p:scale>
          <a:sx n="60" d="100"/>
          <a:sy n="60" d="100"/>
        </p:scale>
        <p:origin x="3384"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gs" Target="tags/tag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Mahfuze" userId="6574ab68-6314-4eb2-8797-e6705fd30433" providerId="ADAL" clId="{669FBF33-25F6-48A2-8782-1D1705B5FFA5}"/>
    <pc:docChg chg="undo redo custSel addSld delSld modSld replTag delTag">
      <pc:chgData name="Mohammed Mahfuze" userId="6574ab68-6314-4eb2-8797-e6705fd30433" providerId="ADAL" clId="{669FBF33-25F6-48A2-8782-1D1705B5FFA5}" dt="2024-01-24T22:17:41.673" v="220"/>
      <pc:docMkLst>
        <pc:docMk/>
      </pc:docMkLst>
      <pc:sldChg chg="del">
        <pc:chgData name="Mohammed Mahfuze" userId="6574ab68-6314-4eb2-8797-e6705fd30433" providerId="ADAL" clId="{669FBF33-25F6-48A2-8782-1D1705B5FFA5}" dt="2024-01-24T22:13:30.867" v="47" actId="47"/>
        <pc:sldMkLst>
          <pc:docMk/>
          <pc:sldMk cId="0" sldId="267"/>
        </pc:sldMkLst>
      </pc:sldChg>
      <pc:sldChg chg="del">
        <pc:chgData name="Mohammed Mahfuze" userId="6574ab68-6314-4eb2-8797-e6705fd30433" providerId="ADAL" clId="{669FBF33-25F6-48A2-8782-1D1705B5FFA5}" dt="2024-01-24T22:13:30.531" v="45" actId="47"/>
        <pc:sldMkLst>
          <pc:docMk/>
          <pc:sldMk cId="4168096597" sldId="4269"/>
        </pc:sldMkLst>
      </pc:sldChg>
      <pc:sldChg chg="del">
        <pc:chgData name="Mohammed Mahfuze" userId="6574ab68-6314-4eb2-8797-e6705fd30433" providerId="ADAL" clId="{669FBF33-25F6-48A2-8782-1D1705B5FFA5}" dt="2024-01-24T22:13:29.885" v="40" actId="47"/>
        <pc:sldMkLst>
          <pc:docMk/>
          <pc:sldMk cId="529020754" sldId="4280"/>
        </pc:sldMkLst>
      </pc:sldChg>
      <pc:sldChg chg="del">
        <pc:chgData name="Mohammed Mahfuze" userId="6574ab68-6314-4eb2-8797-e6705fd30433" providerId="ADAL" clId="{669FBF33-25F6-48A2-8782-1D1705B5FFA5}" dt="2024-01-24T22:13:30.385" v="41" actId="47"/>
        <pc:sldMkLst>
          <pc:docMk/>
          <pc:sldMk cId="3401370164" sldId="4286"/>
        </pc:sldMkLst>
      </pc:sldChg>
      <pc:sldChg chg="del">
        <pc:chgData name="Mohammed Mahfuze" userId="6574ab68-6314-4eb2-8797-e6705fd30433" providerId="ADAL" clId="{669FBF33-25F6-48A2-8782-1D1705B5FFA5}" dt="2024-01-24T22:13:28.724" v="36" actId="47"/>
        <pc:sldMkLst>
          <pc:docMk/>
          <pc:sldMk cId="2786163291" sldId="4345"/>
        </pc:sldMkLst>
      </pc:sldChg>
      <pc:sldChg chg="del">
        <pc:chgData name="Mohammed Mahfuze" userId="6574ab68-6314-4eb2-8797-e6705fd30433" providerId="ADAL" clId="{669FBF33-25F6-48A2-8782-1D1705B5FFA5}" dt="2024-01-24T22:11:02.636" v="1" actId="47"/>
        <pc:sldMkLst>
          <pc:docMk/>
          <pc:sldMk cId="2520900574" sldId="4346"/>
        </pc:sldMkLst>
      </pc:sldChg>
      <pc:sldChg chg="del">
        <pc:chgData name="Mohammed Mahfuze" userId="6574ab68-6314-4eb2-8797-e6705fd30433" providerId="ADAL" clId="{669FBF33-25F6-48A2-8782-1D1705B5FFA5}" dt="2024-01-24T22:13:29.436" v="38" actId="47"/>
        <pc:sldMkLst>
          <pc:docMk/>
          <pc:sldMk cId="1614980078" sldId="4347"/>
        </pc:sldMkLst>
      </pc:sldChg>
      <pc:sldChg chg="del">
        <pc:chgData name="Mohammed Mahfuze" userId="6574ab68-6314-4eb2-8797-e6705fd30433" providerId="ADAL" clId="{669FBF33-25F6-48A2-8782-1D1705B5FFA5}" dt="2024-01-24T22:13:30.440" v="43" actId="47"/>
        <pc:sldMkLst>
          <pc:docMk/>
          <pc:sldMk cId="3766391119" sldId="4348"/>
        </pc:sldMkLst>
      </pc:sldChg>
      <pc:sldChg chg="del">
        <pc:chgData name="Mohammed Mahfuze" userId="6574ab68-6314-4eb2-8797-e6705fd30433" providerId="ADAL" clId="{669FBF33-25F6-48A2-8782-1D1705B5FFA5}" dt="2024-01-24T22:13:27.975" v="35" actId="47"/>
        <pc:sldMkLst>
          <pc:docMk/>
          <pc:sldMk cId="2300889546" sldId="4349"/>
        </pc:sldMkLst>
      </pc:sldChg>
      <pc:sldChg chg="del">
        <pc:chgData name="Mohammed Mahfuze" userId="6574ab68-6314-4eb2-8797-e6705fd30433" providerId="ADAL" clId="{669FBF33-25F6-48A2-8782-1D1705B5FFA5}" dt="2024-01-24T22:13:29.071" v="37" actId="47"/>
        <pc:sldMkLst>
          <pc:docMk/>
          <pc:sldMk cId="3238770296" sldId="4350"/>
        </pc:sldMkLst>
      </pc:sldChg>
      <pc:sldChg chg="del">
        <pc:chgData name="Mohammed Mahfuze" userId="6574ab68-6314-4eb2-8797-e6705fd30433" providerId="ADAL" clId="{669FBF33-25F6-48A2-8782-1D1705B5FFA5}" dt="2024-01-24T22:13:29.711" v="39" actId="47"/>
        <pc:sldMkLst>
          <pc:docMk/>
          <pc:sldMk cId="182849089" sldId="4351"/>
        </pc:sldMkLst>
      </pc:sldChg>
      <pc:sldChg chg="del">
        <pc:chgData name="Mohammed Mahfuze" userId="6574ab68-6314-4eb2-8797-e6705fd30433" providerId="ADAL" clId="{669FBF33-25F6-48A2-8782-1D1705B5FFA5}" dt="2024-01-24T22:12:03.789" v="23" actId="47"/>
        <pc:sldMkLst>
          <pc:docMk/>
          <pc:sldMk cId="1481241212" sldId="4352"/>
        </pc:sldMkLst>
      </pc:sldChg>
      <pc:sldChg chg="del">
        <pc:chgData name="Mohammed Mahfuze" userId="6574ab68-6314-4eb2-8797-e6705fd30433" providerId="ADAL" clId="{669FBF33-25F6-48A2-8782-1D1705B5FFA5}" dt="2024-01-24T22:13:30.607" v="46" actId="47"/>
        <pc:sldMkLst>
          <pc:docMk/>
          <pc:sldMk cId="1224135811" sldId="4354"/>
        </pc:sldMkLst>
      </pc:sldChg>
      <pc:sldChg chg="del">
        <pc:chgData name="Mohammed Mahfuze" userId="6574ab68-6314-4eb2-8797-e6705fd30433" providerId="ADAL" clId="{669FBF33-25F6-48A2-8782-1D1705B5FFA5}" dt="2024-01-24T22:13:31.228" v="48" actId="47"/>
        <pc:sldMkLst>
          <pc:docMk/>
          <pc:sldMk cId="4277510225" sldId="4355"/>
        </pc:sldMkLst>
      </pc:sldChg>
      <pc:sldChg chg="del">
        <pc:chgData name="Mohammed Mahfuze" userId="6574ab68-6314-4eb2-8797-e6705fd30433" providerId="ADAL" clId="{669FBF33-25F6-48A2-8782-1D1705B5FFA5}" dt="2024-01-24T22:13:31.579" v="49" actId="47"/>
        <pc:sldMkLst>
          <pc:docMk/>
          <pc:sldMk cId="1341649271" sldId="2146846797"/>
        </pc:sldMkLst>
      </pc:sldChg>
      <pc:sldChg chg="del">
        <pc:chgData name="Mohammed Mahfuze" userId="6574ab68-6314-4eb2-8797-e6705fd30433" providerId="ADAL" clId="{669FBF33-25F6-48A2-8782-1D1705B5FFA5}" dt="2024-01-24T22:13:32.777" v="51" actId="47"/>
        <pc:sldMkLst>
          <pc:docMk/>
          <pc:sldMk cId="1783941744" sldId="2146846798"/>
        </pc:sldMkLst>
      </pc:sldChg>
      <pc:sldChg chg="del">
        <pc:chgData name="Mohammed Mahfuze" userId="6574ab68-6314-4eb2-8797-e6705fd30433" providerId="ADAL" clId="{669FBF33-25F6-48A2-8782-1D1705B5FFA5}" dt="2024-01-24T22:13:33.121" v="52" actId="47"/>
        <pc:sldMkLst>
          <pc:docMk/>
          <pc:sldMk cId="1523265754" sldId="2146846799"/>
        </pc:sldMkLst>
      </pc:sldChg>
      <pc:sldChg chg="add del">
        <pc:chgData name="Mohammed Mahfuze" userId="6574ab68-6314-4eb2-8797-e6705fd30433" providerId="ADAL" clId="{669FBF33-25F6-48A2-8782-1D1705B5FFA5}" dt="2024-01-24T22:15:14.900" v="133" actId="47"/>
        <pc:sldMkLst>
          <pc:docMk/>
          <pc:sldMk cId="2071321341" sldId="2146846800"/>
        </pc:sldMkLst>
      </pc:sldChg>
      <pc:sldChg chg="del">
        <pc:chgData name="Mohammed Mahfuze" userId="6574ab68-6314-4eb2-8797-e6705fd30433" providerId="ADAL" clId="{669FBF33-25F6-48A2-8782-1D1705B5FFA5}" dt="2024-01-24T22:13:32.252" v="50" actId="47"/>
        <pc:sldMkLst>
          <pc:docMk/>
          <pc:sldMk cId="2500837098" sldId="2146846801"/>
        </pc:sldMkLst>
      </pc:sldChg>
      <pc:sldChg chg="del">
        <pc:chgData name="Mohammed Mahfuze" userId="6574ab68-6314-4eb2-8797-e6705fd30433" providerId="ADAL" clId="{669FBF33-25F6-48A2-8782-1D1705B5FFA5}" dt="2024-01-24T22:13:30.494" v="44" actId="47"/>
        <pc:sldMkLst>
          <pc:docMk/>
          <pc:sldMk cId="2709826926" sldId="2146846802"/>
        </pc:sldMkLst>
      </pc:sldChg>
      <pc:sldChg chg="del">
        <pc:chgData name="Mohammed Mahfuze" userId="6574ab68-6314-4eb2-8797-e6705fd30433" providerId="ADAL" clId="{669FBF33-25F6-48A2-8782-1D1705B5FFA5}" dt="2024-01-24T22:13:30.426" v="42" actId="47"/>
        <pc:sldMkLst>
          <pc:docMk/>
          <pc:sldMk cId="591852834" sldId="2146846803"/>
        </pc:sldMkLst>
      </pc:sldChg>
      <pc:sldChg chg="new del">
        <pc:chgData name="Mohammed Mahfuze" userId="6574ab68-6314-4eb2-8797-e6705fd30433" providerId="ADAL" clId="{669FBF33-25F6-48A2-8782-1D1705B5FFA5}" dt="2024-01-24T22:11:33.869" v="10" actId="47"/>
        <pc:sldMkLst>
          <pc:docMk/>
          <pc:sldMk cId="4192719594" sldId="2146846804"/>
        </pc:sldMkLst>
      </pc:sldChg>
      <pc:sldChg chg="addSp delSp modSp add mod modClrScheme chgLayout">
        <pc:chgData name="Mohammed Mahfuze" userId="6574ab68-6314-4eb2-8797-e6705fd30433" providerId="ADAL" clId="{669FBF33-25F6-48A2-8782-1D1705B5FFA5}" dt="2024-01-24T22:17:41.610" v="217" actId="20577"/>
        <pc:sldMkLst>
          <pc:docMk/>
          <pc:sldMk cId="3649137713" sldId="2146846805"/>
        </pc:sldMkLst>
      </pc:sldChg>
      <pc:sldChg chg="add">
        <pc:chgData name="Mohammed Mahfuze" userId="6574ab68-6314-4eb2-8797-e6705fd30433" providerId="ADAL" clId="{669FBF33-25F6-48A2-8782-1D1705B5FFA5}" dt="2024-01-24T22:11:27.996" v="6"/>
        <pc:sldMkLst>
          <pc:docMk/>
          <pc:sldMk cId="2623696277" sldId="2146846806"/>
        </pc:sldMkLst>
      </pc:sldChg>
      <pc:sldChg chg="addSp modSp add mod modClrScheme chgLayout">
        <pc:chgData name="Mohammed Mahfuze" userId="6574ab68-6314-4eb2-8797-e6705fd30433" providerId="ADAL" clId="{669FBF33-25F6-48A2-8782-1D1705B5FFA5}" dt="2024-01-24T22:11:56.413" v="19" actId="700"/>
        <pc:sldMkLst>
          <pc:docMk/>
          <pc:sldMk cId="2286486092" sldId="2146846807"/>
        </pc:sldMkLst>
      </pc:sldChg>
      <pc:sldChg chg="modSp add mod">
        <pc:chgData name="Mohammed Mahfuze" userId="6574ab68-6314-4eb2-8797-e6705fd30433" providerId="ADAL" clId="{669FBF33-25F6-48A2-8782-1D1705B5FFA5}" dt="2024-01-24T22:17:14.846" v="201" actId="404"/>
        <pc:sldMkLst>
          <pc:docMk/>
          <pc:sldMk cId="3124299065" sldId="2146846808"/>
        </pc:sldMkLst>
      </pc:sldChg>
      <pc:sldChg chg="modSp add mod">
        <pc:chgData name="Mohammed Mahfuze" userId="6574ab68-6314-4eb2-8797-e6705fd30433" providerId="ADAL" clId="{669FBF33-25F6-48A2-8782-1D1705B5FFA5}" dt="2024-01-24T22:17:10.813" v="197" actId="404"/>
        <pc:sldMkLst>
          <pc:docMk/>
          <pc:sldMk cId="938802318" sldId="2146846809"/>
        </pc:sldMkLst>
      </pc:sldChg>
      <pc:sldChg chg="modSp add mod">
        <pc:chgData name="Mohammed Mahfuze" userId="6574ab68-6314-4eb2-8797-e6705fd30433" providerId="ADAL" clId="{669FBF33-25F6-48A2-8782-1D1705B5FFA5}" dt="2024-01-24T22:17:07.537" v="196" actId="404"/>
        <pc:sldMkLst>
          <pc:docMk/>
          <pc:sldMk cId="1415877421" sldId="2146846810"/>
        </pc:sldMkLst>
      </pc:sldChg>
      <pc:sldChg chg="modSp add mod">
        <pc:chgData name="Mohammed Mahfuze" userId="6574ab68-6314-4eb2-8797-e6705fd30433" providerId="ADAL" clId="{669FBF33-25F6-48A2-8782-1D1705B5FFA5}" dt="2024-01-24T22:17:04.387" v="195" actId="404"/>
        <pc:sldMkLst>
          <pc:docMk/>
          <pc:sldMk cId="913621160" sldId="2146846811"/>
        </pc:sldMkLst>
      </pc:sldChg>
      <pc:sldChg chg="modSp add mod">
        <pc:chgData name="Mohammed Mahfuze" userId="6574ab68-6314-4eb2-8797-e6705fd30433" providerId="ADAL" clId="{669FBF33-25F6-48A2-8782-1D1705B5FFA5}" dt="2024-01-24T22:17:01.279" v="191" actId="404"/>
        <pc:sldMkLst>
          <pc:docMk/>
          <pc:sldMk cId="2204920848" sldId="2146846812"/>
        </pc:sldMkLst>
      </pc:sldChg>
      <pc:sldChg chg="modSp add mod">
        <pc:chgData name="Mohammed Mahfuze" userId="6574ab68-6314-4eb2-8797-e6705fd30433" providerId="ADAL" clId="{669FBF33-25F6-48A2-8782-1D1705B5FFA5}" dt="2024-01-24T22:16:58.471" v="190" actId="404"/>
        <pc:sldMkLst>
          <pc:docMk/>
          <pc:sldMk cId="3256435037" sldId="2146846813"/>
        </pc:sldMkLst>
      </pc:sldChg>
      <pc:sldChg chg="modSp add mod">
        <pc:chgData name="Mohammed Mahfuze" userId="6574ab68-6314-4eb2-8797-e6705fd30433" providerId="ADAL" clId="{669FBF33-25F6-48A2-8782-1D1705B5FFA5}" dt="2024-01-24T22:16:55.231" v="189" actId="404"/>
        <pc:sldMkLst>
          <pc:docMk/>
          <pc:sldMk cId="1915159585" sldId="2146846814"/>
        </pc:sldMkLst>
      </pc:sldChg>
      <pc:sldChg chg="add">
        <pc:chgData name="Mohammed Mahfuze" userId="6574ab68-6314-4eb2-8797-e6705fd30433" providerId="ADAL" clId="{669FBF33-25F6-48A2-8782-1D1705B5FFA5}" dt="2024-01-24T22:11:27.996" v="6"/>
        <pc:sldMkLst>
          <pc:docMk/>
          <pc:sldMk cId="596343447" sldId="2146846815"/>
        </pc:sldMkLst>
      </pc:sldChg>
      <pc:sldChg chg="modSp add mod">
        <pc:chgData name="Mohammed Mahfuze" userId="6574ab68-6314-4eb2-8797-e6705fd30433" providerId="ADAL" clId="{669FBF33-25F6-48A2-8782-1D1705B5FFA5}" dt="2024-01-24T22:16:51.439" v="188" actId="1076"/>
        <pc:sldMkLst>
          <pc:docMk/>
          <pc:sldMk cId="1334877375" sldId="2146846816"/>
        </pc:sldMkLst>
      </pc:sldChg>
      <pc:sldChg chg="modSp add mod">
        <pc:chgData name="Mohammed Mahfuze" userId="6574ab68-6314-4eb2-8797-e6705fd30433" providerId="ADAL" clId="{669FBF33-25F6-48A2-8782-1D1705B5FFA5}" dt="2024-01-24T22:16:42.093" v="181" actId="404"/>
        <pc:sldMkLst>
          <pc:docMk/>
          <pc:sldMk cId="1953640196" sldId="2146846817"/>
        </pc:sldMkLst>
      </pc:sldChg>
      <pc:sldChg chg="modSp add mod">
        <pc:chgData name="Mohammed Mahfuze" userId="6574ab68-6314-4eb2-8797-e6705fd30433" providerId="ADAL" clId="{669FBF33-25F6-48A2-8782-1D1705B5FFA5}" dt="2024-01-24T22:16:40.031" v="177" actId="404"/>
        <pc:sldMkLst>
          <pc:docMk/>
          <pc:sldMk cId="2576825824" sldId="2146846818"/>
        </pc:sldMkLst>
      </pc:sldChg>
      <pc:sldChg chg="modSp add mod">
        <pc:chgData name="Mohammed Mahfuze" userId="6574ab68-6314-4eb2-8797-e6705fd30433" providerId="ADAL" clId="{669FBF33-25F6-48A2-8782-1D1705B5FFA5}" dt="2024-01-24T22:16:35.485" v="176" actId="1076"/>
        <pc:sldMkLst>
          <pc:docMk/>
          <pc:sldMk cId="2219803060" sldId="2146846819"/>
        </pc:sldMkLst>
      </pc:sldChg>
      <pc:sldChg chg="modSp add mod">
        <pc:chgData name="Mohammed Mahfuze" userId="6574ab68-6314-4eb2-8797-e6705fd30433" providerId="ADAL" clId="{669FBF33-25F6-48A2-8782-1D1705B5FFA5}" dt="2024-01-24T22:16:19.582" v="167" actId="1076"/>
        <pc:sldMkLst>
          <pc:docMk/>
          <pc:sldMk cId="1298893395" sldId="2146846820"/>
        </pc:sldMkLst>
      </pc:sldChg>
      <pc:sldChg chg="addSp delSp modSp add mod">
        <pc:chgData name="Mohammed Mahfuze" userId="6574ab68-6314-4eb2-8797-e6705fd30433" providerId="ADAL" clId="{669FBF33-25F6-48A2-8782-1D1705B5FFA5}" dt="2024-01-24T22:16:05.445" v="160" actId="404"/>
        <pc:sldMkLst>
          <pc:docMk/>
          <pc:sldMk cId="1618263557" sldId="2146846821"/>
        </pc:sldMkLst>
      </pc:sldChg>
      <pc:sldChg chg="modSp add mod">
        <pc:chgData name="Mohammed Mahfuze" userId="6574ab68-6314-4eb2-8797-e6705fd30433" providerId="ADAL" clId="{669FBF33-25F6-48A2-8782-1D1705B5FFA5}" dt="2024-01-24T22:16:01.928" v="159" actId="14100"/>
        <pc:sldMkLst>
          <pc:docMk/>
          <pc:sldMk cId="1183772297" sldId="2146846822"/>
        </pc:sldMkLst>
      </pc:sldChg>
      <pc:sldChg chg="modSp add mod">
        <pc:chgData name="Mohammed Mahfuze" userId="6574ab68-6314-4eb2-8797-e6705fd30433" providerId="ADAL" clId="{669FBF33-25F6-48A2-8782-1D1705B5FFA5}" dt="2024-01-24T22:15:51.877" v="150" actId="404"/>
        <pc:sldMkLst>
          <pc:docMk/>
          <pc:sldMk cId="523888835" sldId="2146846823"/>
        </pc:sldMkLst>
      </pc:sldChg>
      <pc:sldChg chg="modSp add mod">
        <pc:chgData name="Mohammed Mahfuze" userId="6574ab68-6314-4eb2-8797-e6705fd30433" providerId="ADAL" clId="{669FBF33-25F6-48A2-8782-1D1705B5FFA5}" dt="2024-01-24T22:15:44.797" v="149" actId="404"/>
        <pc:sldMkLst>
          <pc:docMk/>
          <pc:sldMk cId="324761786" sldId="2146846824"/>
        </pc:sldMkLst>
      </pc:sldChg>
      <pc:sldChg chg="modSp add mod">
        <pc:chgData name="Mohammed Mahfuze" userId="6574ab68-6314-4eb2-8797-e6705fd30433" providerId="ADAL" clId="{669FBF33-25F6-48A2-8782-1D1705B5FFA5}" dt="2024-01-24T22:15:39.716" v="145" actId="14100"/>
        <pc:sldMkLst>
          <pc:docMk/>
          <pc:sldMk cId="236041641" sldId="2146846825"/>
        </pc:sldMkLst>
      </pc:sldChg>
      <pc:sldChg chg="modSp add mod">
        <pc:chgData name="Mohammed Mahfuze" userId="6574ab68-6314-4eb2-8797-e6705fd30433" providerId="ADAL" clId="{669FBF33-25F6-48A2-8782-1D1705B5FFA5}" dt="2024-01-24T22:15:34.282" v="143" actId="404"/>
        <pc:sldMkLst>
          <pc:docMk/>
          <pc:sldMk cId="2099640536" sldId="2146846826"/>
        </pc:sldMkLst>
      </pc:sldChg>
      <pc:sldChg chg="modSp add mod">
        <pc:chgData name="Mohammed Mahfuze" userId="6574ab68-6314-4eb2-8797-e6705fd30433" providerId="ADAL" clId="{669FBF33-25F6-48A2-8782-1D1705B5FFA5}" dt="2024-01-24T22:15:27.367" v="139" actId="404"/>
        <pc:sldMkLst>
          <pc:docMk/>
          <pc:sldMk cId="3697520787" sldId="2146846827"/>
        </pc:sldMkLst>
      </pc:sldChg>
      <pc:sldChg chg="modSp add mod">
        <pc:chgData name="Mohammed Mahfuze" userId="6574ab68-6314-4eb2-8797-e6705fd30433" providerId="ADAL" clId="{669FBF33-25F6-48A2-8782-1D1705B5FFA5}" dt="2024-01-24T22:15:23.141" v="138" actId="404"/>
        <pc:sldMkLst>
          <pc:docMk/>
          <pc:sldMk cId="3923706579" sldId="2146846828"/>
        </pc:sldMkLst>
      </pc:sldChg>
      <pc:sldChg chg="modSp add mod">
        <pc:chgData name="Mohammed Mahfuze" userId="6574ab68-6314-4eb2-8797-e6705fd30433" providerId="ADAL" clId="{669FBF33-25F6-48A2-8782-1D1705B5FFA5}" dt="2024-01-24T22:15:19.011" v="134" actId="404"/>
        <pc:sldMkLst>
          <pc:docMk/>
          <pc:sldMk cId="1069082176" sldId="2146846829"/>
        </pc:sldMkLst>
      </pc:sldChg>
      <pc:sldMasterChg chg="addSldLayout delSldLayout">
        <pc:chgData name="Mohammed Mahfuze" userId="6574ab68-6314-4eb2-8797-e6705fd30433" providerId="ADAL" clId="{669FBF33-25F6-48A2-8782-1D1705B5FFA5}" dt="2024-01-24T22:13:30.440" v="43" actId="47"/>
        <pc:sldMasterMkLst>
          <pc:docMk/>
          <pc:sldMasterMk cId="4260756284" sldId="2147483660"/>
        </pc:sldMasterMkLst>
        <pc:sldLayoutChg chg="del">
          <pc:chgData name="Mohammed Mahfuze" userId="6574ab68-6314-4eb2-8797-e6705fd30433" providerId="ADAL" clId="{669FBF33-25F6-48A2-8782-1D1705B5FFA5}" dt="2024-01-24T22:13:30.440" v="43" actId="47"/>
          <pc:sldLayoutMkLst>
            <pc:docMk/>
            <pc:sldMasterMk cId="4260756284" sldId="2147483660"/>
            <pc:sldLayoutMk cId="466147145" sldId="2147483789"/>
          </pc:sldLayoutMkLst>
        </pc:sldLayoutChg>
        <pc:sldLayoutChg chg="del">
          <pc:chgData name="Mohammed Mahfuze" userId="6574ab68-6314-4eb2-8797-e6705fd30433" providerId="ADAL" clId="{669FBF33-25F6-48A2-8782-1D1705B5FFA5}" dt="2024-01-24T22:13:29.436" v="38" actId="47"/>
          <pc:sldLayoutMkLst>
            <pc:docMk/>
            <pc:sldMasterMk cId="4260756284" sldId="2147483660"/>
            <pc:sldLayoutMk cId="2546228435" sldId="2147483790"/>
          </pc:sldLayoutMkLst>
        </pc:sldLayoutChg>
        <pc:sldLayoutChg chg="del">
          <pc:chgData name="Mohammed Mahfuze" userId="6574ab68-6314-4eb2-8797-e6705fd30433" providerId="ADAL" clId="{669FBF33-25F6-48A2-8782-1D1705B5FFA5}" dt="2024-01-24T22:13:29.885" v="40" actId="47"/>
          <pc:sldLayoutMkLst>
            <pc:docMk/>
            <pc:sldMasterMk cId="4260756284" sldId="2147483660"/>
            <pc:sldLayoutMk cId="1608715398" sldId="2147483791"/>
          </pc:sldLayoutMkLst>
        </pc:sldLayoutChg>
        <pc:sldLayoutChg chg="del">
          <pc:chgData name="Mohammed Mahfuze" userId="6574ab68-6314-4eb2-8797-e6705fd30433" providerId="ADAL" clId="{669FBF33-25F6-48A2-8782-1D1705B5FFA5}" dt="2024-01-24T22:13:30.426" v="42" actId="47"/>
          <pc:sldLayoutMkLst>
            <pc:docMk/>
            <pc:sldMasterMk cId="4260756284" sldId="2147483660"/>
            <pc:sldLayoutMk cId="3679968178" sldId="2147483792"/>
          </pc:sldLayoutMkLst>
        </pc:sldLayoutChg>
        <pc:sldLayoutChg chg="add replId">
          <pc:chgData name="Mohammed Mahfuze" userId="6574ab68-6314-4eb2-8797-e6705fd30433" providerId="ADAL" clId="{669FBF33-25F6-48A2-8782-1D1705B5FFA5}" dt="2024-01-24T22:11:27.951" v="5" actId="27028"/>
          <pc:sldLayoutMkLst>
            <pc:docMk/>
            <pc:sldMasterMk cId="4260756284" sldId="2147483660"/>
            <pc:sldLayoutMk cId="3360886043" sldId="2147483826"/>
          </pc:sldLayoutMkLst>
        </pc:sldLayoutChg>
        <pc:sldLayoutChg chg="add replId">
          <pc:chgData name="Mohammed Mahfuze" userId="6574ab68-6314-4eb2-8797-e6705fd30433" providerId="ADAL" clId="{669FBF33-25F6-48A2-8782-1D1705B5FFA5}" dt="2024-01-24T22:11:27.951" v="5" actId="27028"/>
          <pc:sldLayoutMkLst>
            <pc:docMk/>
            <pc:sldMasterMk cId="4260756284" sldId="2147483660"/>
            <pc:sldLayoutMk cId="455874376" sldId="2147483827"/>
          </pc:sldLayoutMkLst>
        </pc:sldLayoutChg>
        <pc:sldLayoutChg chg="add replId">
          <pc:chgData name="Mohammed Mahfuze" userId="6574ab68-6314-4eb2-8797-e6705fd30433" providerId="ADAL" clId="{669FBF33-25F6-48A2-8782-1D1705B5FFA5}" dt="2024-01-24T22:11:27.951" v="5" actId="27028"/>
          <pc:sldLayoutMkLst>
            <pc:docMk/>
            <pc:sldMasterMk cId="4260756284" sldId="2147483660"/>
            <pc:sldLayoutMk cId="3279420578" sldId="2147483828"/>
          </pc:sldLayoutMkLst>
        </pc:sldLayoutChg>
      </pc:sldMasterChg>
      <pc:sldMasterChg chg="addSldLayout delSldLayout">
        <pc:chgData name="Mohammed Mahfuze" userId="6574ab68-6314-4eb2-8797-e6705fd30433" providerId="ADAL" clId="{669FBF33-25F6-48A2-8782-1D1705B5FFA5}" dt="2024-01-24T22:15:14.900" v="133" actId="47"/>
        <pc:sldMasterMkLst>
          <pc:docMk/>
          <pc:sldMasterMk cId="1678749389" sldId="2147483807"/>
        </pc:sldMasterMkLst>
        <pc:sldLayoutChg chg="del">
          <pc:chgData name="Mohammed Mahfuze" userId="6574ab68-6314-4eb2-8797-e6705fd30433" providerId="ADAL" clId="{669FBF33-25F6-48A2-8782-1D1705B5FFA5}" dt="2024-01-24T22:13:31.228" v="48" actId="47"/>
          <pc:sldLayoutMkLst>
            <pc:docMk/>
            <pc:sldMasterMk cId="1678749389" sldId="2147483807"/>
            <pc:sldLayoutMk cId="2137169851" sldId="2147483819"/>
          </pc:sldLayoutMkLst>
        </pc:sldLayoutChg>
        <pc:sldLayoutChg chg="del">
          <pc:chgData name="Mohammed Mahfuze" userId="6574ab68-6314-4eb2-8797-e6705fd30433" providerId="ADAL" clId="{669FBF33-25F6-48A2-8782-1D1705B5FFA5}" dt="2024-01-24T22:13:31.579" v="49" actId="47"/>
          <pc:sldLayoutMkLst>
            <pc:docMk/>
            <pc:sldMasterMk cId="1678749389" sldId="2147483807"/>
            <pc:sldLayoutMk cId="1906023482" sldId="2147483821"/>
          </pc:sldLayoutMkLst>
        </pc:sldLayoutChg>
        <pc:sldLayoutChg chg="del">
          <pc:chgData name="Mohammed Mahfuze" userId="6574ab68-6314-4eb2-8797-e6705fd30433" providerId="ADAL" clId="{669FBF33-25F6-48A2-8782-1D1705B5FFA5}" dt="2024-01-24T22:13:32.252" v="50" actId="47"/>
          <pc:sldLayoutMkLst>
            <pc:docMk/>
            <pc:sldMasterMk cId="1678749389" sldId="2147483807"/>
            <pc:sldLayoutMk cId="2206927686" sldId="2147483822"/>
          </pc:sldLayoutMkLst>
        </pc:sldLayoutChg>
        <pc:sldLayoutChg chg="del">
          <pc:chgData name="Mohammed Mahfuze" userId="6574ab68-6314-4eb2-8797-e6705fd30433" providerId="ADAL" clId="{669FBF33-25F6-48A2-8782-1D1705B5FFA5}" dt="2024-01-24T22:13:32.777" v="51" actId="47"/>
          <pc:sldLayoutMkLst>
            <pc:docMk/>
            <pc:sldMasterMk cId="1678749389" sldId="2147483807"/>
            <pc:sldLayoutMk cId="2302645677" sldId="2147483823"/>
          </pc:sldLayoutMkLst>
        </pc:sldLayoutChg>
        <pc:sldLayoutChg chg="del">
          <pc:chgData name="Mohammed Mahfuze" userId="6574ab68-6314-4eb2-8797-e6705fd30433" providerId="ADAL" clId="{669FBF33-25F6-48A2-8782-1D1705B5FFA5}" dt="2024-01-24T22:13:33.121" v="52" actId="47"/>
          <pc:sldLayoutMkLst>
            <pc:docMk/>
            <pc:sldMasterMk cId="1678749389" sldId="2147483807"/>
            <pc:sldLayoutMk cId="2120645257" sldId="2147483824"/>
          </pc:sldLayoutMkLst>
        </pc:sldLayoutChg>
        <pc:sldLayoutChg chg="add del">
          <pc:chgData name="Mohammed Mahfuze" userId="6574ab68-6314-4eb2-8797-e6705fd30433" providerId="ADAL" clId="{669FBF33-25F6-48A2-8782-1D1705B5FFA5}" dt="2024-01-24T22:15:14.900" v="133" actId="47"/>
          <pc:sldLayoutMkLst>
            <pc:docMk/>
            <pc:sldMasterMk cId="1678749389" sldId="2147483807"/>
            <pc:sldLayoutMk cId="3263435936" sldId="2147483825"/>
          </pc:sldLayoutMkLst>
        </pc:sldLayoutChg>
      </pc:sldMasterChg>
    </pc:docChg>
  </pc:docChgLst>
  <pc:docChgLst>
    <pc:chgData name="Shereen Abbass" userId="ab7eda18-fdf0-4c23-9c26-b2de8ca6f129" providerId="ADAL" clId="{A89DF77D-6CD8-466B-A541-05487A79A9C0}"/>
    <pc:docChg chg="custSel addSld modSld">
      <pc:chgData name="Shereen Abbass" userId="ab7eda18-fdf0-4c23-9c26-b2de8ca6f129" providerId="ADAL" clId="{A89DF77D-6CD8-466B-A541-05487A79A9C0}" dt="2023-01-27T09:05:18.094" v="37" actId="478"/>
      <pc:docMkLst>
        <pc:docMk/>
      </pc:docMkLst>
      <pc:sldChg chg="delSp modSp new mod">
        <pc:chgData name="Shereen Abbass" userId="ab7eda18-fdf0-4c23-9c26-b2de8ca6f129" providerId="ADAL" clId="{A89DF77D-6CD8-466B-A541-05487A79A9C0}" dt="2023-01-27T09:05:18.094" v="37" actId="478"/>
        <pc:sldMkLst>
          <pc:docMk/>
          <pc:sldMk cId="591852834" sldId="2146846803"/>
        </pc:sldMkLst>
      </pc:sldChg>
    </pc:docChg>
  </pc:docChgLst>
  <pc:docChgLst>
    <pc:chgData name="Mohammed Mahfuze" userId="6574ab68-6314-4eb2-8797-e6705fd30433" providerId="ADAL" clId="{CFA54108-4845-43BF-86EB-CCAD82D41731}"/>
    <pc:docChg chg="custSel replTag delTag">
      <pc:chgData name="Mohammed Mahfuze" userId="6574ab68-6314-4eb2-8797-e6705fd30433" providerId="ADAL" clId="{CFA54108-4845-43BF-86EB-CCAD82D41731}" dt="2024-01-24T22:09:33.162" v="3"/>
      <pc:docMkLst>
        <pc:docMk/>
      </pc:docMkLst>
    </pc:docChg>
  </pc:docChgLst>
  <pc:docChgLst>
    <pc:chgData name="Abdelrahman Sayed" userId="532b912a-a378-477b-9da3-1268d2a7b168" providerId="ADAL" clId="{AB431C0C-77A1-4800-ABF2-C3D11B14B818}"/>
    <pc:docChg chg="undo custSel addSld delSld modSld">
      <pc:chgData name="Abdelrahman Sayed" userId="532b912a-a378-477b-9da3-1268d2a7b168" providerId="ADAL" clId="{AB431C0C-77A1-4800-ABF2-C3D11B14B818}" dt="2025-05-05T21:16:50.836" v="46" actId="113"/>
      <pc:docMkLst>
        <pc:docMk/>
      </pc:docMkLst>
      <pc:sldChg chg="modSp mod">
        <pc:chgData name="Abdelrahman Sayed" userId="532b912a-a378-477b-9da3-1268d2a7b168" providerId="ADAL" clId="{AB431C0C-77A1-4800-ABF2-C3D11B14B818}" dt="2025-05-05T21:16:50.836" v="46" actId="113"/>
        <pc:sldMkLst>
          <pc:docMk/>
          <pc:sldMk cId="1972642022" sldId="267"/>
        </pc:sldMkLst>
        <pc:spChg chg="mod">
          <ac:chgData name="Abdelrahman Sayed" userId="532b912a-a378-477b-9da3-1268d2a7b168" providerId="ADAL" clId="{AB431C0C-77A1-4800-ABF2-C3D11B14B818}" dt="2025-05-05T21:16:41.750" v="44" actId="20577"/>
          <ac:spMkLst>
            <pc:docMk/>
            <pc:sldMk cId="1972642022" sldId="267"/>
            <ac:spMk id="2" creationId="{1733A37B-02D0-8890-CFD2-49C17F16C6C4}"/>
          </ac:spMkLst>
        </pc:spChg>
        <pc:spChg chg="mod">
          <ac:chgData name="Abdelrahman Sayed" userId="532b912a-a378-477b-9da3-1268d2a7b168" providerId="ADAL" clId="{AB431C0C-77A1-4800-ABF2-C3D11B14B818}" dt="2025-05-05T21:16:50.836" v="46" actId="113"/>
          <ac:spMkLst>
            <pc:docMk/>
            <pc:sldMk cId="1972642022" sldId="267"/>
            <ac:spMk id="3" creationId="{15E23B74-EBA6-E3E1-4E30-B2A18106C6E1}"/>
          </ac:spMkLst>
        </pc:spChg>
        <pc:spChg chg="mod">
          <ac:chgData name="Abdelrahman Sayed" userId="532b912a-a378-477b-9da3-1268d2a7b168" providerId="ADAL" clId="{AB431C0C-77A1-4800-ABF2-C3D11B14B818}" dt="2025-05-05T19:36:12.972" v="31" actId="113"/>
          <ac:spMkLst>
            <pc:docMk/>
            <pc:sldMk cId="1972642022" sldId="267"/>
            <ac:spMk id="4" creationId="{38F42EE0-5C3F-AA55-7540-6D5361F1B19B}"/>
          </ac:spMkLst>
        </pc:spChg>
      </pc:sldChg>
      <pc:sldChg chg="del">
        <pc:chgData name="Abdelrahman Sayed" userId="532b912a-a378-477b-9da3-1268d2a7b168" providerId="ADAL" clId="{AB431C0C-77A1-4800-ABF2-C3D11B14B818}" dt="2025-05-05T19:49:03.208" v="40" actId="47"/>
        <pc:sldMkLst>
          <pc:docMk/>
          <pc:sldMk cId="2623696277" sldId="2146846806"/>
        </pc:sldMkLst>
      </pc:sldChg>
      <pc:sldChg chg="modSp add mod">
        <pc:chgData name="Abdelrahman Sayed" userId="532b912a-a378-477b-9da3-1268d2a7b168" providerId="ADAL" clId="{AB431C0C-77A1-4800-ABF2-C3D11B14B818}" dt="2025-05-05T19:49:00.629" v="39" actId="20577"/>
        <pc:sldMkLst>
          <pc:docMk/>
          <pc:sldMk cId="3115010345" sldId="2147480980"/>
        </pc:sldMkLst>
        <pc:spChg chg="mod">
          <ac:chgData name="Abdelrahman Sayed" userId="532b912a-a378-477b-9da3-1268d2a7b168" providerId="ADAL" clId="{AB431C0C-77A1-4800-ABF2-C3D11B14B818}" dt="2025-05-05T19:49:00.629" v="39" actId="20577"/>
          <ac:spMkLst>
            <pc:docMk/>
            <pc:sldMk cId="3115010345" sldId="2147480980"/>
            <ac:spMk id="2" creationId="{9A11617B-3C30-0E8E-1AA5-E9E15C11C17C}"/>
          </ac:spMkLst>
        </pc:spChg>
      </pc:sldChg>
      <pc:sldChg chg="add">
        <pc:chgData name="Abdelrahman Sayed" userId="532b912a-a378-477b-9da3-1268d2a7b168" providerId="ADAL" clId="{AB431C0C-77A1-4800-ABF2-C3D11B14B818}" dt="2025-05-05T19:49:45.565" v="41"/>
        <pc:sldMkLst>
          <pc:docMk/>
          <pc:sldMk cId="2794376136" sldId="2147480982"/>
        </pc:sldMkLst>
      </pc:sldChg>
      <pc:sldChg chg="add">
        <pc:chgData name="Abdelrahman Sayed" userId="532b912a-a378-477b-9da3-1268d2a7b168" providerId="ADAL" clId="{AB431C0C-77A1-4800-ABF2-C3D11B14B818}" dt="2025-05-05T19:49:45.565" v="41"/>
        <pc:sldMkLst>
          <pc:docMk/>
          <pc:sldMk cId="2079170277" sldId="2147480983"/>
        </pc:sldMkLst>
      </pc:sldChg>
    </pc:docChg>
  </pc:docChgLst>
  <pc:docChgLst>
    <pc:chgData name="Abdelrahman Sayed" userId="532b912a-a378-477b-9da3-1268d2a7b168" providerId="ADAL" clId="{13EE43F8-4B11-4991-B873-7ABD50EF558F}"/>
    <pc:docChg chg="addSld modSld">
      <pc:chgData name="Abdelrahman Sayed" userId="532b912a-a378-477b-9da3-1268d2a7b168" providerId="ADAL" clId="{13EE43F8-4B11-4991-B873-7ABD50EF558F}" dt="2025-06-10T07:28:28.426" v="0"/>
      <pc:docMkLst>
        <pc:docMk/>
      </pc:docMkLst>
      <pc:sldChg chg="add">
        <pc:chgData name="Abdelrahman Sayed" userId="532b912a-a378-477b-9da3-1268d2a7b168" providerId="ADAL" clId="{13EE43F8-4B11-4991-B873-7ABD50EF558F}" dt="2025-06-10T07:28:28.426" v="0"/>
        <pc:sldMkLst>
          <pc:docMk/>
          <pc:sldMk cId="2532203025" sldId="385"/>
        </pc:sldMkLst>
      </pc:sldChg>
    </pc:docChg>
  </pc:docChgLst>
  <pc:docChgLst>
    <pc:chgData name="Abdelrahman Sayed" userId="532b912a-a378-477b-9da3-1268d2a7b168" providerId="ADAL" clId="{DB787B62-9D54-4C2C-B63F-16963338C82E}"/>
    <pc:docChg chg="delSld modSld">
      <pc:chgData name="Abdelrahman Sayed" userId="532b912a-a378-477b-9da3-1268d2a7b168" providerId="ADAL" clId="{DB787B62-9D54-4C2C-B63F-16963338C82E}" dt="2025-07-22T08:48:33.481" v="15" actId="47"/>
      <pc:docMkLst>
        <pc:docMk/>
      </pc:docMkLst>
      <pc:sldChg chg="modSp mod">
        <pc:chgData name="Abdelrahman Sayed" userId="532b912a-a378-477b-9da3-1268d2a7b168" providerId="ADAL" clId="{DB787B62-9D54-4C2C-B63F-16963338C82E}" dt="2025-07-21T11:22:12.004" v="2" actId="14100"/>
        <pc:sldMkLst>
          <pc:docMk/>
          <pc:sldMk cId="1334877375" sldId="2146846816"/>
        </pc:sldMkLst>
        <pc:spChg chg="mod">
          <ac:chgData name="Abdelrahman Sayed" userId="532b912a-a378-477b-9da3-1268d2a7b168" providerId="ADAL" clId="{DB787B62-9D54-4C2C-B63F-16963338C82E}" dt="2025-07-21T11:22:12.004" v="2" actId="14100"/>
          <ac:spMkLst>
            <pc:docMk/>
            <pc:sldMk cId="1334877375" sldId="2146846816"/>
            <ac:spMk id="2" creationId="{00000000-0000-0000-0000-000000000000}"/>
          </ac:spMkLst>
        </pc:spChg>
      </pc:sldChg>
      <pc:sldChg chg="modSp mod">
        <pc:chgData name="Abdelrahman Sayed" userId="532b912a-a378-477b-9da3-1268d2a7b168" providerId="ADAL" clId="{DB787B62-9D54-4C2C-B63F-16963338C82E}" dt="2025-07-21T11:25:18.933" v="5" actId="14100"/>
        <pc:sldMkLst>
          <pc:docMk/>
          <pc:sldMk cId="2219803060" sldId="2146846819"/>
        </pc:sldMkLst>
        <pc:spChg chg="mod">
          <ac:chgData name="Abdelrahman Sayed" userId="532b912a-a378-477b-9da3-1268d2a7b168" providerId="ADAL" clId="{DB787B62-9D54-4C2C-B63F-16963338C82E}" dt="2025-07-21T11:25:18.933" v="5" actId="14100"/>
          <ac:spMkLst>
            <pc:docMk/>
            <pc:sldMk cId="2219803060" sldId="2146846819"/>
            <ac:spMk id="2" creationId="{00000000-0000-0000-0000-000000000000}"/>
          </ac:spMkLst>
        </pc:spChg>
      </pc:sldChg>
      <pc:sldChg chg="modSp mod">
        <pc:chgData name="Abdelrahman Sayed" userId="532b912a-a378-477b-9da3-1268d2a7b168" providerId="ADAL" clId="{DB787B62-9D54-4C2C-B63F-16963338C82E}" dt="2025-07-21T11:27:21.310" v="11" actId="14100"/>
        <pc:sldMkLst>
          <pc:docMk/>
          <pc:sldMk cId="1298893395" sldId="2146846820"/>
        </pc:sldMkLst>
        <pc:spChg chg="mod">
          <ac:chgData name="Abdelrahman Sayed" userId="532b912a-a378-477b-9da3-1268d2a7b168" providerId="ADAL" clId="{DB787B62-9D54-4C2C-B63F-16963338C82E}" dt="2025-07-21T11:27:21.310" v="11" actId="14100"/>
          <ac:spMkLst>
            <pc:docMk/>
            <pc:sldMk cId="1298893395" sldId="2146846820"/>
            <ac:spMk id="2" creationId="{00000000-0000-0000-0000-000000000000}"/>
          </ac:spMkLst>
        </pc:spChg>
      </pc:sldChg>
      <pc:sldChg chg="del mod modShow">
        <pc:chgData name="Abdelrahman Sayed" userId="532b912a-a378-477b-9da3-1268d2a7b168" providerId="ADAL" clId="{DB787B62-9D54-4C2C-B63F-16963338C82E}" dt="2025-07-22T08:48:33.481" v="15" actId="47"/>
        <pc:sldMkLst>
          <pc:docMk/>
          <pc:sldMk cId="523888835" sldId="2146846823"/>
        </pc:sldMkLst>
      </pc:sldChg>
      <pc:sldChg chg="del mod modShow">
        <pc:chgData name="Abdelrahman Sayed" userId="532b912a-a378-477b-9da3-1268d2a7b168" providerId="ADAL" clId="{DB787B62-9D54-4C2C-B63F-16963338C82E}" dt="2025-07-22T08:48:33.481" v="15" actId="47"/>
        <pc:sldMkLst>
          <pc:docMk/>
          <pc:sldMk cId="324761786" sldId="2146846824"/>
        </pc:sldMkLst>
      </pc:sldChg>
      <pc:sldChg chg="del mod modShow">
        <pc:chgData name="Abdelrahman Sayed" userId="532b912a-a378-477b-9da3-1268d2a7b168" providerId="ADAL" clId="{DB787B62-9D54-4C2C-B63F-16963338C82E}" dt="2025-07-22T08:48:20.430" v="14" actId="47"/>
        <pc:sldMkLst>
          <pc:docMk/>
          <pc:sldMk cId="2099640536" sldId="2146846826"/>
        </pc:sldMkLst>
      </pc:sldChg>
      <pc:sldChg chg="del mod modShow">
        <pc:chgData name="Abdelrahman Sayed" userId="532b912a-a378-477b-9da3-1268d2a7b168" providerId="ADAL" clId="{DB787B62-9D54-4C2C-B63F-16963338C82E}" dt="2025-07-22T08:48:20.430" v="14" actId="47"/>
        <pc:sldMkLst>
          <pc:docMk/>
          <pc:sldMk cId="3697520787" sldId="2146846827"/>
        </pc:sldMkLst>
      </pc:sldChg>
    </pc:docChg>
  </pc:docChgLst>
  <pc:docChgLst>
    <pc:chgData name="Mohammed Mahfuze" userId="6574ab68-6314-4eb2-8797-e6705fd30433" providerId="ADAL" clId="{E5EBEDF3-C183-4DB3-A3A9-CED5F2B3A35E}"/>
    <pc:docChg chg="custSel addSld delSld modSld modMainMaster replTag delTag">
      <pc:chgData name="Mohammed Mahfuze" userId="6574ab68-6314-4eb2-8797-e6705fd30433" providerId="ADAL" clId="{E5EBEDF3-C183-4DB3-A3A9-CED5F2B3A35E}" dt="2024-01-28T09:20:50.794" v="90"/>
      <pc:docMkLst>
        <pc:docMk/>
      </pc:docMkLst>
      <pc:sldChg chg="modSp add mod">
        <pc:chgData name="Mohammed Mahfuze" userId="6574ab68-6314-4eb2-8797-e6705fd30433" providerId="ADAL" clId="{E5EBEDF3-C183-4DB3-A3A9-CED5F2B3A35E}" dt="2024-01-28T09:20:20.740" v="80"/>
        <pc:sldMkLst>
          <pc:docMk/>
          <pc:sldMk cId="1972642022" sldId="267"/>
        </pc:sldMkLst>
      </pc:sldChg>
      <pc:sldChg chg="delSp modSp del mod">
        <pc:chgData name="Mohammed Mahfuze" userId="6574ab68-6314-4eb2-8797-e6705fd30433" providerId="ADAL" clId="{E5EBEDF3-C183-4DB3-A3A9-CED5F2B3A35E}" dt="2024-01-28T09:20:40.100" v="87" actId="47"/>
        <pc:sldMkLst>
          <pc:docMk/>
          <pc:sldMk cId="3649137713" sldId="2146846805"/>
        </pc:sldMkLst>
      </pc:sldChg>
      <pc:sldChg chg="modSp mod">
        <pc:chgData name="Mohammed Mahfuze" userId="6574ab68-6314-4eb2-8797-e6705fd30433" providerId="ADAL" clId="{E5EBEDF3-C183-4DB3-A3A9-CED5F2B3A35E}" dt="2024-01-24T22:31:23.334" v="64" actId="6549"/>
        <pc:sldMkLst>
          <pc:docMk/>
          <pc:sldMk cId="2623696277" sldId="2146846806"/>
        </pc:sldMkLst>
      </pc:sldChg>
      <pc:sldChg chg="delSp mod">
        <pc:chgData name="Mohammed Mahfuze" userId="6574ab68-6314-4eb2-8797-e6705fd30433" providerId="ADAL" clId="{E5EBEDF3-C183-4DB3-A3A9-CED5F2B3A35E}" dt="2024-01-24T22:31:42.092" v="68" actId="478"/>
        <pc:sldMkLst>
          <pc:docMk/>
          <pc:sldMk cId="2286486092" sldId="2146846807"/>
        </pc:sldMkLst>
      </pc:sldChg>
      <pc:sldMasterChg chg="addSp delSp modSp mod delSldLayout modSldLayout">
        <pc:chgData name="Mohammed Mahfuze" userId="6574ab68-6314-4eb2-8797-e6705fd30433" providerId="ADAL" clId="{E5EBEDF3-C183-4DB3-A3A9-CED5F2B3A35E}" dt="2024-01-24T22:30:46.775" v="60" actId="2696"/>
        <pc:sldMasterMkLst>
          <pc:docMk/>
          <pc:sldMasterMk cId="4260756284" sldId="2147483660"/>
        </pc:sldMasterMkLst>
        <pc:sldLayoutChg chg="addSp modSp mod">
          <pc:chgData name="Mohammed Mahfuze" userId="6574ab68-6314-4eb2-8797-e6705fd30433" providerId="ADAL" clId="{E5EBEDF3-C183-4DB3-A3A9-CED5F2B3A35E}" dt="2024-01-24T22:29:14.566" v="35" actId="1076"/>
          <pc:sldLayoutMkLst>
            <pc:docMk/>
            <pc:sldMasterMk cId="4260756284" sldId="2147483660"/>
            <pc:sldLayoutMk cId="3665715415" sldId="2147483769"/>
          </pc:sldLayoutMkLst>
        </pc:sldLayoutChg>
        <pc:sldLayoutChg chg="del">
          <pc:chgData name="Mohammed Mahfuze" userId="6574ab68-6314-4eb2-8797-e6705fd30433" providerId="ADAL" clId="{E5EBEDF3-C183-4DB3-A3A9-CED5F2B3A35E}" dt="2024-01-24T22:30:44.902" v="56" actId="2696"/>
          <pc:sldLayoutMkLst>
            <pc:docMk/>
            <pc:sldMasterMk cId="4260756284" sldId="2147483660"/>
            <pc:sldLayoutMk cId="3360886043" sldId="2147483826"/>
          </pc:sldLayoutMkLst>
        </pc:sldLayoutChg>
        <pc:sldLayoutChg chg="addSp modSp mod">
          <pc:chgData name="Mohammed Mahfuze" userId="6574ab68-6314-4eb2-8797-e6705fd30433" providerId="ADAL" clId="{E5EBEDF3-C183-4DB3-A3A9-CED5F2B3A35E}" dt="2024-01-24T22:30:31.413" v="52" actId="122"/>
          <pc:sldLayoutMkLst>
            <pc:docMk/>
            <pc:sldMasterMk cId="4260756284" sldId="2147483660"/>
            <pc:sldLayoutMk cId="455874376" sldId="2147483827"/>
          </pc:sldLayoutMkLst>
        </pc:sldLayoutChg>
        <pc:sldLayoutChg chg="del">
          <pc:chgData name="Mohammed Mahfuze" userId="6574ab68-6314-4eb2-8797-e6705fd30433" providerId="ADAL" clId="{E5EBEDF3-C183-4DB3-A3A9-CED5F2B3A35E}" dt="2024-01-24T22:30:46.775" v="60" actId="2696"/>
          <pc:sldLayoutMkLst>
            <pc:docMk/>
            <pc:sldMasterMk cId="4260756284" sldId="2147483660"/>
            <pc:sldLayoutMk cId="3279420578" sldId="2147483828"/>
          </pc:sldLayoutMkLst>
        </pc:sldLayoutChg>
      </pc:sldMasterChg>
      <pc:sldMasterChg chg="modSp mod modSldLayout">
        <pc:chgData name="Mohammed Mahfuze" userId="6574ab68-6314-4eb2-8797-e6705fd30433" providerId="ADAL" clId="{E5EBEDF3-C183-4DB3-A3A9-CED5F2B3A35E}" dt="2024-01-24T22:28:47.961" v="19"/>
        <pc:sldMasterMkLst>
          <pc:docMk/>
          <pc:sldMasterMk cId="1944536023" sldId="2147483793"/>
        </pc:sldMasterMkLst>
        <pc:sldLayoutChg chg="modSp mod">
          <pc:chgData name="Mohammed Mahfuze" userId="6574ab68-6314-4eb2-8797-e6705fd30433" providerId="ADAL" clId="{E5EBEDF3-C183-4DB3-A3A9-CED5F2B3A35E}" dt="2024-01-24T22:28:47.961" v="19"/>
          <pc:sldLayoutMkLst>
            <pc:docMk/>
            <pc:sldMasterMk cId="1944536023" sldId="2147483793"/>
            <pc:sldLayoutMk cId="11843602" sldId="2147483794"/>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195067456025499"/>
          <c:y val="6.3298032522155614E-2"/>
          <c:w val="0.71735469915181871"/>
          <c:h val="0.75332498670005321"/>
        </c:manualLayout>
      </c:layout>
      <c:barChart>
        <c:barDir val="bar"/>
        <c:grouping val="clustered"/>
        <c:varyColors val="0"/>
        <c:ser>
          <c:idx val="0"/>
          <c:order val="0"/>
          <c:tx>
            <c:strRef>
              <c:f>Sheet1!$B$1</c:f>
              <c:strCache>
                <c:ptCount val="1"/>
                <c:pt idx="0">
                  <c:v>Series 1</c:v>
                </c:pt>
              </c:strCache>
            </c:strRef>
          </c:tx>
          <c:spPr>
            <a:solidFill>
              <a:schemeClr val="accent1"/>
            </a:solidFill>
            <a:ln>
              <a:noFill/>
            </a:ln>
            <a:effectLst>
              <a:outerShdw blurRad="63500" dist="37357" dir="2700000" rotWithShape="0">
                <a:scrgbClr r="0" g="0" b="0">
                  <a:alpha val="0"/>
                </a:scrgbClr>
              </a:outerShdw>
            </a:effectLst>
            <a:scene3d>
              <a:camera prst="orthographicFront"/>
              <a:lightRig rig="threePt" dir="t"/>
            </a:scene3d>
          </c:spPr>
          <c:invertIfNegative val="0"/>
          <c:dPt>
            <c:idx val="0"/>
            <c:invertIfNegative val="0"/>
            <c:bubble3D val="0"/>
            <c:spPr>
              <a:solidFill>
                <a:srgbClr val="BC1077"/>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6-8D8D-443C-8790-EF93FAF5792E}"/>
              </c:ext>
            </c:extLst>
          </c:dPt>
          <c:dPt>
            <c:idx val="1"/>
            <c:invertIfNegative val="0"/>
            <c:bubble3D val="0"/>
            <c:spPr>
              <a:solidFill>
                <a:schemeClr val="tx1">
                  <a:lumMod val="60000"/>
                  <a:lumOff val="40000"/>
                </a:schemeClr>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5-8D8D-443C-8790-EF93FAF5792E}"/>
              </c:ext>
            </c:extLst>
          </c:dPt>
          <c:dPt>
            <c:idx val="2"/>
            <c:invertIfNegative val="0"/>
            <c:bubble3D val="0"/>
            <c:spPr>
              <a:solidFill>
                <a:srgbClr val="008A00"/>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4-8D8D-443C-8790-EF93FAF5792E}"/>
              </c:ext>
            </c:extLst>
          </c:dPt>
          <c:dPt>
            <c:idx val="3"/>
            <c:invertIfNegative val="0"/>
            <c:bubble3D val="0"/>
            <c:spPr>
              <a:solidFill>
                <a:srgbClr val="15717D"/>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3-8D8D-443C-8790-EF93FAF5792E}"/>
              </c:ext>
            </c:extLst>
          </c:dPt>
          <c:dLbls>
            <c:spPr>
              <a:noFill/>
              <a:ln>
                <a:noFill/>
              </a:ln>
              <a:effectLst/>
            </c:spPr>
            <c:txPr>
              <a:bodyPr rot="0" spcFirstLastPara="1" vertOverflow="ellipsis" vert="horz" wrap="square" anchor="ctr" anchorCtr="1"/>
              <a:lstStyle/>
              <a:p>
                <a:pPr>
                  <a:defRPr sz="1200" b="0" i="0" u="none" strike="noStrike" kern="1200" baseline="0">
                    <a:solidFill>
                      <a:srgbClr val="544F40"/>
                    </a:solidFill>
                    <a:latin typeface="Arial" panose="020B06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LAMA + LABA + ICS</c:v>
                </c:pt>
                <c:pt idx="1">
                  <c:v>ICS + LABA</c:v>
                </c:pt>
                <c:pt idx="2">
                  <c:v>LAMA + LABA</c:v>
                </c:pt>
                <c:pt idx="3">
                  <c:v>LAMA</c:v>
                </c:pt>
              </c:strCache>
            </c:strRef>
          </c:cat>
          <c:val>
            <c:numRef>
              <c:f>Sheet1!$B$2:$B$5</c:f>
              <c:numCache>
                <c:formatCode>0%</c:formatCode>
                <c:ptCount val="4"/>
                <c:pt idx="0">
                  <c:v>0.34</c:v>
                </c:pt>
                <c:pt idx="1">
                  <c:v>0.26</c:v>
                </c:pt>
                <c:pt idx="2">
                  <c:v>0.08</c:v>
                </c:pt>
                <c:pt idx="3">
                  <c:v>7.0000000000000007E-2</c:v>
                </c:pt>
              </c:numCache>
            </c:numRef>
          </c:val>
          <c:extLst>
            <c:ext xmlns:c16="http://schemas.microsoft.com/office/drawing/2014/chart" uri="{C3380CC4-5D6E-409C-BE32-E72D297353CC}">
              <c16:uniqueId val="{00000000-8D8D-443C-8790-EF93FAF5792E}"/>
            </c:ext>
          </c:extLst>
        </c:ser>
        <c:dLbls>
          <c:dLblPos val="outEnd"/>
          <c:showLegendKey val="0"/>
          <c:showVal val="1"/>
          <c:showCatName val="0"/>
          <c:showSerName val="0"/>
          <c:showPercent val="0"/>
          <c:showBubbleSize val="0"/>
        </c:dLbls>
        <c:gapWidth val="50"/>
        <c:axId val="709641664"/>
        <c:axId val="709647240"/>
      </c:barChart>
      <c:catAx>
        <c:axId val="709641664"/>
        <c:scaling>
          <c:orientation val="minMax"/>
        </c:scaling>
        <c:delete val="0"/>
        <c:axPos val="l"/>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rgbClr val="544F40"/>
                </a:solidFill>
                <a:latin typeface="Arial" panose="020B0604020202020204" pitchFamily="34" charset="0"/>
                <a:ea typeface="+mn-ea"/>
                <a:cs typeface="+mn-cs"/>
              </a:defRPr>
            </a:pPr>
            <a:endParaRPr lang="en-US"/>
          </a:p>
        </c:txPr>
        <c:crossAx val="709647240"/>
        <c:crosses val="autoZero"/>
        <c:auto val="1"/>
        <c:lblAlgn val="ctr"/>
        <c:lblOffset val="100"/>
        <c:noMultiLvlLbl val="0"/>
      </c:catAx>
      <c:valAx>
        <c:axId val="709647240"/>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rgbClr val="544F40"/>
                </a:solidFill>
                <a:latin typeface="Arial" panose="020B0604020202020204" pitchFamily="34" charset="0"/>
                <a:ea typeface="+mn-ea"/>
                <a:cs typeface="+mn-cs"/>
              </a:defRPr>
            </a:pPr>
            <a:endParaRPr lang="en-US"/>
          </a:p>
        </c:txPr>
        <c:crossAx val="709641664"/>
        <c:crosses val="autoZero"/>
        <c:crossBetween val="between"/>
      </c:valAx>
      <c:spPr>
        <a:noFill/>
        <a:ln>
          <a:noFill/>
        </a:ln>
        <a:effectLst>
          <a:innerShdw>
            <a:scrgbClr r="0" g="0" b="0"/>
          </a:innerShdw>
        </a:effectLst>
      </c:spPr>
    </c:plotArea>
    <c:plotVisOnly val="1"/>
    <c:dispBlanksAs val="gap"/>
    <c:showDLblsOverMax val="0"/>
  </c:chart>
  <c:spPr>
    <a:noFill/>
    <a:ln>
      <a:noFill/>
    </a:ln>
    <a:effectLst>
      <a:innerShdw>
        <a:scrgbClr r="0" g="0" b="0"/>
      </a:innerShdw>
    </a:effectLst>
    <a:extLst>
      <a:ext uri="{91240B29-F687-4F45-9708-019B960494DF}">
        <a14:hiddenLine xmlns:a14="http://schemas.microsoft.com/office/drawing/2010/main">
          <a:noFill/>
        </a14:hiddenLine>
      </a:ext>
    </a:extLst>
  </c:spPr>
  <c:txPr>
    <a:bodyPr/>
    <a:lstStyle/>
    <a:p>
      <a:pPr>
        <a:defRPr sz="1200">
          <a:solidFill>
            <a:srgbClr val="544F40"/>
          </a:solidFill>
          <a:latin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4525182542129102E-2"/>
          <c:y val="3.429615370030404E-2"/>
          <c:w val="0.95216442487364206"/>
          <c:h val="0.88027803051410614"/>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a:outerShdw blurRad="63500" dist="37357" dir="2700000" rotWithShape="0">
                <a:scrgbClr r="0" g="0" b="0">
                  <a:alpha val="0"/>
                </a:scrgbClr>
              </a:outerShdw>
            </a:effectLst>
            <a:scene3d>
              <a:camera prst="orthographicFront"/>
              <a:lightRig rig="threePt" dir="t"/>
            </a:scene3d>
          </c:spPr>
          <c:invertIfNegative val="0"/>
          <c:dPt>
            <c:idx val="0"/>
            <c:invertIfNegative val="0"/>
            <c:bubble3D val="0"/>
            <c:spPr>
              <a:solidFill>
                <a:srgbClr val="F36633"/>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1-E25F-458C-ACEC-BA25CBA31570}"/>
              </c:ext>
            </c:extLst>
          </c:dPt>
          <c:dPt>
            <c:idx val="1"/>
            <c:invertIfNegative val="0"/>
            <c:bubble3D val="0"/>
            <c:spPr>
              <a:solidFill>
                <a:srgbClr val="008A00"/>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3-E25F-458C-ACEC-BA25CBA31570}"/>
              </c:ext>
            </c:extLst>
          </c:dPt>
          <c:dPt>
            <c:idx val="2"/>
            <c:invertIfNegative val="0"/>
            <c:bubble3D val="0"/>
            <c:spPr>
              <a:solidFill>
                <a:srgbClr val="40488D"/>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5-E25F-458C-ACEC-BA25CBA31570}"/>
              </c:ext>
            </c:extLst>
          </c:dPt>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2"/>
                <c:pt idx="0">
                  <c:v>Category 1</c:v>
                </c:pt>
                <c:pt idx="1">
                  <c:v>Category 2</c:v>
                </c:pt>
              </c:strCache>
            </c:strRef>
          </c:cat>
          <c:val>
            <c:numRef>
              <c:f>Sheet1!$B$2:$B$4</c:f>
              <c:numCache>
                <c:formatCode>General</c:formatCode>
                <c:ptCount val="3"/>
                <c:pt idx="0">
                  <c:v>0.91</c:v>
                </c:pt>
                <c:pt idx="1">
                  <c:v>1.07</c:v>
                </c:pt>
                <c:pt idx="2">
                  <c:v>1.21</c:v>
                </c:pt>
              </c:numCache>
            </c:numRef>
          </c:val>
          <c:extLst>
            <c:ext xmlns:c16="http://schemas.microsoft.com/office/drawing/2014/chart" uri="{C3380CC4-5D6E-409C-BE32-E72D297353CC}">
              <c16:uniqueId val="{00000006-E25F-458C-ACEC-BA25CBA31570}"/>
            </c:ext>
          </c:extLst>
        </c:ser>
        <c:dLbls>
          <c:showLegendKey val="0"/>
          <c:showVal val="0"/>
          <c:showCatName val="0"/>
          <c:showSerName val="0"/>
          <c:showPercent val="0"/>
          <c:showBubbleSize val="0"/>
        </c:dLbls>
        <c:gapWidth val="300"/>
        <c:overlap val="67"/>
        <c:axId val="629532264"/>
        <c:axId val="629537840"/>
      </c:barChart>
      <c:catAx>
        <c:axId val="629532264"/>
        <c:scaling>
          <c:orientation val="minMax"/>
        </c:scaling>
        <c:delete val="0"/>
        <c:axPos val="b"/>
        <c:numFmt formatCode="General" sourceLinked="1"/>
        <c:majorTickMark val="out"/>
        <c:minorTickMark val="none"/>
        <c:tickLblPos val="none"/>
        <c:spPr>
          <a:noFill/>
          <a:ln w="9525" cap="flat" cmpd="sng" algn="ctr">
            <a:solidFill>
              <a:srgbClr val="544F40"/>
            </a:solidFill>
            <a:round/>
          </a:ln>
          <a:effectLst/>
        </c:spPr>
        <c:txPr>
          <a:bodyPr rot="-60000000" spcFirstLastPara="1" vertOverflow="ellipsis" vert="horz" wrap="square" anchor="ctr" anchorCtr="1"/>
          <a:lstStyle/>
          <a:p>
            <a:pPr>
              <a:defRPr sz="1200" b="0" i="0" u="none" strike="noStrike" kern="1200" baseline="0">
                <a:solidFill>
                  <a:srgbClr val="544F40"/>
                </a:solidFill>
                <a:latin typeface="Arial" panose="020B0604020202020204" pitchFamily="34" charset="0"/>
                <a:ea typeface="+mn-ea"/>
                <a:cs typeface="+mn-cs"/>
              </a:defRPr>
            </a:pPr>
            <a:endParaRPr lang="en-US"/>
          </a:p>
        </c:txPr>
        <c:crossAx val="629537840"/>
        <c:crosses val="autoZero"/>
        <c:auto val="1"/>
        <c:lblAlgn val="ctr"/>
        <c:lblOffset val="100"/>
        <c:noMultiLvlLbl val="0"/>
      </c:catAx>
      <c:valAx>
        <c:axId val="629537840"/>
        <c:scaling>
          <c:orientation val="minMax"/>
          <c:max val="2"/>
          <c:min val="0"/>
        </c:scaling>
        <c:delete val="0"/>
        <c:axPos val="l"/>
        <c:numFmt formatCode="General" sourceLinked="1"/>
        <c:majorTickMark val="out"/>
        <c:minorTickMark val="none"/>
        <c:tickLblPos val="nextTo"/>
        <c:spPr>
          <a:noFill/>
          <a:ln>
            <a:solidFill>
              <a:srgbClr val="544F40"/>
            </a:solidFill>
          </a:ln>
          <a:effectLst/>
        </c:spPr>
        <c:txPr>
          <a:bodyPr rot="-60000000" spcFirstLastPara="1" vertOverflow="ellipsis" vert="horz" wrap="square" anchor="ctr" anchorCtr="1"/>
          <a:lstStyle/>
          <a:p>
            <a:pPr>
              <a:defRPr sz="1200" b="0" i="0" u="none" strike="noStrike" kern="1200" baseline="0">
                <a:solidFill>
                  <a:srgbClr val="544F40"/>
                </a:solidFill>
                <a:latin typeface="Arial" panose="020B0604020202020204" pitchFamily="34" charset="0"/>
                <a:ea typeface="+mn-ea"/>
                <a:cs typeface="+mn-cs"/>
              </a:defRPr>
            </a:pPr>
            <a:endParaRPr lang="en-US"/>
          </a:p>
        </c:txPr>
        <c:crossAx val="629532264"/>
        <c:crosses val="autoZero"/>
        <c:crossBetween val="between"/>
      </c:valAx>
      <c:spPr>
        <a:noFill/>
        <a:ln>
          <a:noFill/>
        </a:ln>
        <a:effectLst>
          <a:innerShdw>
            <a:scrgbClr r="0" g="0" b="0"/>
          </a:innerShdw>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a:innerShdw>
        <a:scrgbClr r="0" g="0" b="0"/>
      </a:innerShdw>
    </a:effectLst>
    <a:extLst>
      <a:ext uri="{91240B29-F687-4F45-9708-019B960494DF}">
        <a14:hiddenLine xmlns:a14="http://schemas.microsoft.com/office/drawing/2010/main">
          <a:noFill/>
        </a14:hiddenLine>
      </a:ext>
    </a:extLst>
  </c:spPr>
  <c:txPr>
    <a:bodyPr/>
    <a:lstStyle/>
    <a:p>
      <a:pPr>
        <a:defRPr sz="1200">
          <a:solidFill>
            <a:srgbClr val="544F40"/>
          </a:solidFill>
          <a:latin typeface="Arial" panose="020B0604020202020204" pitchFamily="34" charset="0"/>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4525182542129102E-2"/>
          <c:y val="3.429615370030404E-2"/>
          <c:w val="0.95216442487364206"/>
          <c:h val="0.88027803051410614"/>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a:outerShdw blurRad="63500" dist="37357" dir="2700000" rotWithShape="0">
                <a:scrgbClr r="0" g="0" b="0">
                  <a:alpha val="0"/>
                </a:scrgbClr>
              </a:outerShdw>
            </a:effectLst>
            <a:scene3d>
              <a:camera prst="orthographicFront"/>
              <a:lightRig rig="threePt" dir="t"/>
            </a:scene3d>
          </c:spPr>
          <c:invertIfNegative val="0"/>
          <c:dPt>
            <c:idx val="0"/>
            <c:invertIfNegative val="0"/>
            <c:bubble3D val="0"/>
            <c:spPr>
              <a:solidFill>
                <a:srgbClr val="F36633"/>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1-E25F-458C-ACEC-BA25CBA31570}"/>
              </c:ext>
            </c:extLst>
          </c:dPt>
          <c:dPt>
            <c:idx val="1"/>
            <c:invertIfNegative val="0"/>
            <c:bubble3D val="0"/>
            <c:spPr>
              <a:solidFill>
                <a:srgbClr val="008A00"/>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3-E25F-458C-ACEC-BA25CBA31570}"/>
              </c:ext>
            </c:extLst>
          </c:dPt>
          <c:dPt>
            <c:idx val="2"/>
            <c:invertIfNegative val="0"/>
            <c:bubble3D val="0"/>
            <c:spPr>
              <a:solidFill>
                <a:srgbClr val="40488D"/>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5-E25F-458C-ACEC-BA25CBA31570}"/>
              </c:ext>
            </c:extLst>
          </c:dPt>
          <c:dLbls>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Arial" panose="020B060402020202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2"/>
                <c:pt idx="0">
                  <c:v>Category 1</c:v>
                </c:pt>
                <c:pt idx="1">
                  <c:v>Category 2</c:v>
                </c:pt>
              </c:strCache>
            </c:strRef>
          </c:cat>
          <c:val>
            <c:numRef>
              <c:f>Sheet1!$B$2:$B$4</c:f>
              <c:numCache>
                <c:formatCode>General</c:formatCode>
                <c:ptCount val="3"/>
                <c:pt idx="0">
                  <c:v>0.13</c:v>
                </c:pt>
                <c:pt idx="1">
                  <c:v>0.15</c:v>
                </c:pt>
                <c:pt idx="2">
                  <c:v>0.19</c:v>
                </c:pt>
              </c:numCache>
            </c:numRef>
          </c:val>
          <c:extLst>
            <c:ext xmlns:c16="http://schemas.microsoft.com/office/drawing/2014/chart" uri="{C3380CC4-5D6E-409C-BE32-E72D297353CC}">
              <c16:uniqueId val="{00000006-E25F-458C-ACEC-BA25CBA31570}"/>
            </c:ext>
          </c:extLst>
        </c:ser>
        <c:dLbls>
          <c:showLegendKey val="0"/>
          <c:showVal val="0"/>
          <c:showCatName val="0"/>
          <c:showSerName val="0"/>
          <c:showPercent val="0"/>
          <c:showBubbleSize val="0"/>
        </c:dLbls>
        <c:gapWidth val="300"/>
        <c:overlap val="67"/>
        <c:axId val="629532264"/>
        <c:axId val="629537840"/>
      </c:barChart>
      <c:catAx>
        <c:axId val="629532264"/>
        <c:scaling>
          <c:orientation val="minMax"/>
        </c:scaling>
        <c:delete val="0"/>
        <c:axPos val="b"/>
        <c:numFmt formatCode="General" sourceLinked="1"/>
        <c:majorTickMark val="out"/>
        <c:minorTickMark val="none"/>
        <c:tickLblPos val="none"/>
        <c:spPr>
          <a:noFill/>
          <a:ln w="9525" cap="flat" cmpd="sng" algn="ctr">
            <a:solidFill>
              <a:srgbClr val="544F40"/>
            </a:solidFill>
            <a:round/>
          </a:ln>
          <a:effectLst/>
        </c:spPr>
        <c:txPr>
          <a:bodyPr rot="-60000000" spcFirstLastPara="1" vertOverflow="ellipsis" vert="horz" wrap="square" anchor="ctr" anchorCtr="1"/>
          <a:lstStyle/>
          <a:p>
            <a:pPr>
              <a:defRPr sz="1200" b="0" i="0" u="none" strike="noStrike" kern="1200" baseline="0">
                <a:solidFill>
                  <a:srgbClr val="544F40"/>
                </a:solidFill>
                <a:latin typeface="Arial" panose="020B0604020202020204" pitchFamily="34" charset="0"/>
                <a:ea typeface="+mn-ea"/>
                <a:cs typeface="+mn-cs"/>
              </a:defRPr>
            </a:pPr>
            <a:endParaRPr lang="en-US"/>
          </a:p>
        </c:txPr>
        <c:crossAx val="629537840"/>
        <c:crosses val="autoZero"/>
        <c:auto val="1"/>
        <c:lblAlgn val="ctr"/>
        <c:lblOffset val="100"/>
        <c:noMultiLvlLbl val="0"/>
      </c:catAx>
      <c:valAx>
        <c:axId val="629537840"/>
        <c:scaling>
          <c:orientation val="minMax"/>
          <c:max val="0.30000000000000004"/>
        </c:scaling>
        <c:delete val="0"/>
        <c:axPos val="l"/>
        <c:numFmt formatCode="General" sourceLinked="1"/>
        <c:majorTickMark val="out"/>
        <c:minorTickMark val="none"/>
        <c:tickLblPos val="nextTo"/>
        <c:spPr>
          <a:noFill/>
          <a:ln>
            <a:solidFill>
              <a:srgbClr val="544F40"/>
            </a:solidFill>
          </a:ln>
          <a:effectLst/>
        </c:spPr>
        <c:txPr>
          <a:bodyPr rot="-60000000" spcFirstLastPara="1" vertOverflow="ellipsis" vert="horz" wrap="square" anchor="ctr" anchorCtr="1"/>
          <a:lstStyle/>
          <a:p>
            <a:pPr>
              <a:defRPr sz="1200" b="0" i="0" u="none" strike="noStrike" kern="1200" baseline="0">
                <a:solidFill>
                  <a:srgbClr val="544F40"/>
                </a:solidFill>
                <a:latin typeface="Arial" panose="020B0604020202020204" pitchFamily="34" charset="0"/>
                <a:ea typeface="+mn-ea"/>
                <a:cs typeface="+mn-cs"/>
              </a:defRPr>
            </a:pPr>
            <a:endParaRPr lang="en-US"/>
          </a:p>
        </c:txPr>
        <c:crossAx val="629532264"/>
        <c:crosses val="autoZero"/>
        <c:crossBetween val="between"/>
        <c:majorUnit val="5.000000000000001E-2"/>
      </c:valAx>
      <c:spPr>
        <a:noFill/>
        <a:ln>
          <a:noFill/>
        </a:ln>
        <a:effectLst>
          <a:innerShdw>
            <a:scrgbClr r="0" g="0" b="0"/>
          </a:innerShdw>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a:innerShdw>
        <a:scrgbClr r="0" g="0" b="0"/>
      </a:innerShdw>
    </a:effectLst>
    <a:extLst>
      <a:ext uri="{91240B29-F687-4F45-9708-019B960494DF}">
        <a14:hiddenLine xmlns:a14="http://schemas.microsoft.com/office/drawing/2010/main">
          <a:noFill/>
        </a14:hiddenLine>
      </a:ext>
    </a:extLst>
  </c:spPr>
  <c:txPr>
    <a:bodyPr/>
    <a:lstStyle/>
    <a:p>
      <a:pPr>
        <a:defRPr sz="1200">
          <a:solidFill>
            <a:srgbClr val="544F40"/>
          </a:solidFill>
          <a:latin typeface="Arial" panose="020B0604020202020204" pitchFamily="34" charset="0"/>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0461028431570301E-2"/>
          <c:y val="0.15619312499337379"/>
          <c:w val="0.89108656199405101"/>
          <c:h val="0.71670971128608929"/>
        </c:manualLayout>
      </c:layout>
      <c:barChart>
        <c:barDir val="col"/>
        <c:grouping val="clustered"/>
        <c:varyColors val="0"/>
        <c:ser>
          <c:idx val="0"/>
          <c:order val="0"/>
          <c:tx>
            <c:strRef>
              <c:f>Sheet1!$B$1</c:f>
              <c:strCache>
                <c:ptCount val="1"/>
                <c:pt idx="0">
                  <c:v>FF/UMEC/VI</c:v>
                </c:pt>
              </c:strCache>
            </c:strRef>
          </c:tx>
          <c:spPr>
            <a:solidFill>
              <a:srgbClr val="F36633"/>
            </a:solidFill>
            <a:ln>
              <a:noFill/>
            </a:ln>
            <a:effectLst>
              <a:outerShdw blurRad="63500" dist="37357" dir="2700000" rotWithShape="0">
                <a:scrgbClr r="0" g="0" b="0">
                  <a:alpha val="0"/>
                </a:scrgbClr>
              </a:outerShdw>
            </a:effectLst>
            <a:scene3d>
              <a:camera prst="orthographicFront"/>
              <a:lightRig rig="threePt" dir="t"/>
            </a:scene3d>
          </c:spPr>
          <c:invertIfNegative val="0"/>
          <c:dLbls>
            <c:dLbl>
              <c:idx val="0"/>
              <c:tx>
                <c:rich>
                  <a:bodyPr rot="0" spcFirstLastPara="1" vertOverflow="ellipsis" vert="horz" wrap="square" anchor="ctr" anchorCtr="1"/>
                  <a:lstStyle/>
                  <a:p>
                    <a:pPr>
                      <a:defRPr sz="1000" b="0" i="0" u="none" strike="noStrike" kern="1200" baseline="0">
                        <a:solidFill>
                          <a:srgbClr val="FFFFFF"/>
                        </a:solidFill>
                        <a:latin typeface="Arial"/>
                        <a:ea typeface="Arial"/>
                        <a:cs typeface="Arial"/>
                      </a:defRPr>
                    </a:pPr>
                    <a:r>
                      <a:rPr lang="en-US" dirty="0"/>
                      <a:t>42%</a:t>
                    </a:r>
                  </a:p>
                </c:rich>
              </c:tx>
              <c:spPr>
                <a:noFill/>
                <a:ln>
                  <a:noFill/>
                </a:ln>
                <a:effectLst/>
              </c:spPr>
              <c:txPr>
                <a:bodyPr rot="0" spcFirstLastPara="1" vertOverflow="ellipsis" vert="horz" wrap="square" anchor="ctr" anchorCtr="1"/>
                <a:lstStyle/>
                <a:p>
                  <a:pPr>
                    <a:defRPr sz="1000" b="0" i="0" u="none" strike="noStrike" kern="1200" baseline="0">
                      <a:solidFill>
                        <a:srgbClr val="FFFFFF"/>
                      </a:solidFill>
                      <a:latin typeface="Arial"/>
                      <a:ea typeface="Arial"/>
                      <a:cs typeface="Arial"/>
                    </a:defRPr>
                  </a:pPr>
                  <a:endParaRPr lang="en-US"/>
                </a:p>
              </c:txPr>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FC33-4308-BE57-85537DABF784}"/>
                </c:ext>
              </c:extLst>
            </c:dLbl>
            <c:spPr>
              <a:noFill/>
              <a:ln>
                <a:noFill/>
              </a:ln>
              <a:effectLst/>
            </c:spPr>
            <c:txPr>
              <a:bodyPr rot="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Sheet1!$A$5</c:f>
              <c:numCache>
                <c:formatCode>General</c:formatCode>
                <c:ptCount val="1"/>
              </c:numCache>
            </c:numRef>
          </c:cat>
          <c:val>
            <c:numRef>
              <c:f>Sheet1!$B$5</c:f>
              <c:numCache>
                <c:formatCode>0</c:formatCode>
                <c:ptCount val="1"/>
                <c:pt idx="0">
                  <c:v>42</c:v>
                </c:pt>
              </c:numCache>
            </c:numRef>
          </c:val>
          <c:extLst>
            <c:ext xmlns:c16="http://schemas.microsoft.com/office/drawing/2014/chart" uri="{C3380CC4-5D6E-409C-BE32-E72D297353CC}">
              <c16:uniqueId val="{00000001-FC33-4308-BE57-85537DABF784}"/>
            </c:ext>
          </c:extLst>
        </c:ser>
        <c:ser>
          <c:idx val="1"/>
          <c:order val="1"/>
          <c:tx>
            <c:strRef>
              <c:f>Sheet1!$C$1</c:f>
              <c:strCache>
                <c:ptCount val="1"/>
                <c:pt idx="0">
                  <c:v>FF/VI</c:v>
                </c:pt>
              </c:strCache>
            </c:strRef>
          </c:tx>
          <c:spPr>
            <a:solidFill>
              <a:srgbClr val="008A00"/>
            </a:solidFill>
            <a:ln>
              <a:noFill/>
            </a:ln>
            <a:effectLst>
              <a:outerShdw blurRad="63500" dist="37357" dir="2700000" rotWithShape="0">
                <a:scrgbClr r="0" g="0" b="0">
                  <a:alpha val="0"/>
                </a:scrgbClr>
              </a:outerShdw>
            </a:effectLst>
            <a:scene3d>
              <a:camera prst="orthographicFront"/>
              <a:lightRig rig="threePt" dir="t"/>
            </a:scene3d>
          </c:spPr>
          <c:invertIfNegative val="0"/>
          <c:dLbls>
            <c:dLbl>
              <c:idx val="0"/>
              <c:tx>
                <c:rich>
                  <a:bodyPr rot="0" spcFirstLastPara="1" vertOverflow="ellipsis" vert="horz" wrap="square" anchor="ctr" anchorCtr="1"/>
                  <a:lstStyle/>
                  <a:p>
                    <a:pPr>
                      <a:defRPr sz="1000" b="0" i="0" u="none" strike="noStrike" kern="1200" baseline="0">
                        <a:solidFill>
                          <a:srgbClr val="FFFFFF"/>
                        </a:solidFill>
                        <a:latin typeface="Arial"/>
                        <a:ea typeface="Arial"/>
                        <a:cs typeface="Arial"/>
                      </a:defRPr>
                    </a:pPr>
                    <a:r>
                      <a:rPr lang="en-US" dirty="0"/>
                      <a:t>34%</a:t>
                    </a:r>
                  </a:p>
                </c:rich>
              </c:tx>
              <c:spPr>
                <a:noFill/>
                <a:ln>
                  <a:noFill/>
                </a:ln>
                <a:effectLst/>
              </c:spPr>
              <c:txPr>
                <a:bodyPr rot="0" spcFirstLastPara="1" vertOverflow="ellipsis" vert="horz" wrap="square" anchor="ctr" anchorCtr="1"/>
                <a:lstStyle/>
                <a:p>
                  <a:pPr>
                    <a:defRPr sz="1000" b="0" i="0" u="none" strike="noStrike" kern="1200" baseline="0">
                      <a:solidFill>
                        <a:srgbClr val="FFFFFF"/>
                      </a:solidFill>
                      <a:latin typeface="Arial"/>
                      <a:ea typeface="Arial"/>
                      <a:cs typeface="Arial"/>
                    </a:defRPr>
                  </a:pPr>
                  <a:endParaRPr lang="en-US"/>
                </a:p>
              </c:txPr>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FC33-4308-BE57-85537DABF784}"/>
                </c:ext>
              </c:extLst>
            </c:dLbl>
            <c:spPr>
              <a:noFill/>
              <a:ln>
                <a:noFill/>
              </a:ln>
              <a:effectLst/>
            </c:spPr>
            <c:txPr>
              <a:bodyPr rot="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Sheet1!$A$5</c:f>
              <c:numCache>
                <c:formatCode>General</c:formatCode>
                <c:ptCount val="1"/>
              </c:numCache>
            </c:numRef>
          </c:cat>
          <c:val>
            <c:numRef>
              <c:f>Sheet1!$C$5</c:f>
              <c:numCache>
                <c:formatCode>0</c:formatCode>
                <c:ptCount val="1"/>
                <c:pt idx="0">
                  <c:v>34</c:v>
                </c:pt>
              </c:numCache>
            </c:numRef>
          </c:val>
          <c:extLst>
            <c:ext xmlns:c16="http://schemas.microsoft.com/office/drawing/2014/chart" uri="{C3380CC4-5D6E-409C-BE32-E72D297353CC}">
              <c16:uniqueId val="{00000003-FC33-4308-BE57-85537DABF784}"/>
            </c:ext>
          </c:extLst>
        </c:ser>
        <c:ser>
          <c:idx val="2"/>
          <c:order val="2"/>
          <c:tx>
            <c:strRef>
              <c:f>Sheet1!$D$1</c:f>
              <c:strCache>
                <c:ptCount val="1"/>
                <c:pt idx="0">
                  <c:v>UMEC/VI</c:v>
                </c:pt>
              </c:strCache>
            </c:strRef>
          </c:tx>
          <c:spPr>
            <a:solidFill>
              <a:srgbClr val="40488D"/>
            </a:solidFill>
            <a:ln>
              <a:noFill/>
            </a:ln>
            <a:effectLst>
              <a:outerShdw blurRad="63500" dist="37357" dir="2700000" rotWithShape="0">
                <a:scrgbClr r="0" g="0" b="0">
                  <a:alpha val="0"/>
                </a:scrgbClr>
              </a:outerShdw>
            </a:effectLst>
            <a:scene3d>
              <a:camera prst="orthographicFront"/>
              <a:lightRig rig="threePt" dir="t"/>
            </a:scene3d>
          </c:spPr>
          <c:invertIfNegative val="0"/>
          <c:dLbls>
            <c:dLbl>
              <c:idx val="0"/>
              <c:tx>
                <c:rich>
                  <a:bodyPr rot="0" spcFirstLastPara="1" vertOverflow="ellipsis" vert="horz" wrap="square" anchor="ctr" anchorCtr="1"/>
                  <a:lstStyle/>
                  <a:p>
                    <a:pPr>
                      <a:defRPr sz="1000" b="0" i="0" u="none" strike="noStrike" kern="1200" baseline="0">
                        <a:solidFill>
                          <a:srgbClr val="FFFFFF"/>
                        </a:solidFill>
                        <a:latin typeface="Arial"/>
                        <a:ea typeface="Arial"/>
                        <a:cs typeface="Arial"/>
                      </a:defRPr>
                    </a:pPr>
                    <a:r>
                      <a:rPr lang="en-US" dirty="0"/>
                      <a:t>34%</a:t>
                    </a:r>
                  </a:p>
                </c:rich>
              </c:tx>
              <c:spPr>
                <a:noFill/>
                <a:ln>
                  <a:noFill/>
                </a:ln>
                <a:effectLst/>
              </c:spPr>
              <c:txPr>
                <a:bodyPr rot="0" spcFirstLastPara="1" vertOverflow="ellipsis" vert="horz" wrap="square" anchor="ctr" anchorCtr="1"/>
                <a:lstStyle/>
                <a:p>
                  <a:pPr>
                    <a:defRPr sz="1000" b="0" i="0" u="none" strike="noStrike" kern="1200" baseline="0">
                      <a:solidFill>
                        <a:srgbClr val="FFFFFF"/>
                      </a:solidFill>
                      <a:latin typeface="Arial"/>
                      <a:ea typeface="Arial"/>
                      <a:cs typeface="Arial"/>
                    </a:defRPr>
                  </a:pPr>
                  <a:endParaRPr lang="en-US"/>
                </a:p>
              </c:txPr>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FC33-4308-BE57-85537DABF784}"/>
                </c:ext>
              </c:extLst>
            </c:dLbl>
            <c:spPr>
              <a:noFill/>
              <a:ln>
                <a:noFill/>
              </a:ln>
              <a:effectLst/>
            </c:spPr>
            <c:txPr>
              <a:bodyPr rot="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Sheet1!$A$5</c:f>
              <c:numCache>
                <c:formatCode>General</c:formatCode>
                <c:ptCount val="1"/>
              </c:numCache>
            </c:numRef>
          </c:cat>
          <c:val>
            <c:numRef>
              <c:f>Sheet1!$D$5</c:f>
              <c:numCache>
                <c:formatCode>0</c:formatCode>
                <c:ptCount val="1"/>
                <c:pt idx="0">
                  <c:v>34</c:v>
                </c:pt>
              </c:numCache>
            </c:numRef>
          </c:val>
          <c:extLst>
            <c:ext xmlns:c16="http://schemas.microsoft.com/office/drawing/2014/chart" uri="{C3380CC4-5D6E-409C-BE32-E72D297353CC}">
              <c16:uniqueId val="{00000005-FC33-4308-BE57-85537DABF784}"/>
            </c:ext>
          </c:extLst>
        </c:ser>
        <c:dLbls>
          <c:dLblPos val="inEnd"/>
          <c:showLegendKey val="0"/>
          <c:showVal val="1"/>
          <c:showCatName val="0"/>
          <c:showSerName val="0"/>
          <c:showPercent val="0"/>
          <c:showBubbleSize val="0"/>
        </c:dLbls>
        <c:gapWidth val="111"/>
        <c:overlap val="-43"/>
        <c:axId val="846866384"/>
        <c:axId val="846870320"/>
      </c:barChart>
      <c:catAx>
        <c:axId val="846866384"/>
        <c:scaling>
          <c:orientation val="minMax"/>
        </c:scaling>
        <c:delete val="0"/>
        <c:axPos val="b"/>
        <c:numFmt formatCode="General" sourceLinked="1"/>
        <c:majorTickMark val="out"/>
        <c:minorTickMark val="none"/>
        <c:tickLblPos val="nextTo"/>
        <c:spPr>
          <a:noFill/>
          <a:ln w="9525" cap="flat" cmpd="sng" algn="ctr">
            <a:solidFill>
              <a:srgbClr val="544F40"/>
            </a:solidFill>
            <a:round/>
          </a:ln>
          <a:effectLst/>
        </c:spPr>
        <c:txPr>
          <a:bodyPr rot="-6000000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crossAx val="846870320"/>
        <c:crosses val="autoZero"/>
        <c:auto val="1"/>
        <c:lblAlgn val="ctr"/>
        <c:lblOffset val="100"/>
        <c:noMultiLvlLbl val="0"/>
      </c:catAx>
      <c:valAx>
        <c:axId val="846870320"/>
        <c:scaling>
          <c:orientation val="minMax"/>
          <c:max val="45"/>
        </c:scaling>
        <c:delete val="0"/>
        <c:axPos val="l"/>
        <c:numFmt formatCode="#,##0" sourceLinked="0"/>
        <c:majorTickMark val="out"/>
        <c:minorTickMark val="none"/>
        <c:tickLblPos val="nextTo"/>
        <c:spPr>
          <a:noFill/>
          <a:ln>
            <a:solidFill>
              <a:srgbClr val="544F40"/>
            </a:solidFill>
          </a:ln>
          <a:effectLst/>
        </c:spPr>
        <c:txPr>
          <a:bodyPr rot="-6000000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crossAx val="846866384"/>
        <c:crosses val="autoZero"/>
        <c:crossBetween val="between"/>
      </c:valAx>
      <c:spPr>
        <a:noFill/>
        <a:ln>
          <a:noFill/>
        </a:ln>
        <a:effectLst>
          <a:innerShdw>
            <a:scrgbClr r="0" g="0" b="0"/>
          </a:innerShdw>
        </a:effectLst>
      </c:spPr>
    </c:plotArea>
    <c:plotVisOnly val="1"/>
    <c:dispBlanksAs val="gap"/>
    <c:showDLblsOverMax val="0"/>
  </c:chart>
  <c:spPr>
    <a:noFill/>
    <a:ln>
      <a:noFill/>
    </a:ln>
    <a:effectLst>
      <a:innerShdw>
        <a:scrgbClr r="0" g="0" b="0"/>
      </a:innerShdw>
    </a:effectLst>
    <a:extLst>
      <a:ext uri="{91240B29-F687-4F45-9708-019B960494DF}">
        <a14:hiddenLine xmlns:a14="http://schemas.microsoft.com/office/drawing/2010/main">
          <a:noFill/>
        </a14:hiddenLine>
      </a:ext>
    </a:extLst>
  </c:spPr>
  <c:txPr>
    <a:bodyPr/>
    <a:lstStyle/>
    <a:p>
      <a:pPr>
        <a:defRPr sz="1000">
          <a:solidFill>
            <a:srgbClr val="544F40"/>
          </a:solidFill>
          <a:latin typeface="Arial" panose="020B0604020202020204" pitchFamily="34" charset="0"/>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0461028431570301E-2"/>
          <c:y val="6.6430048039475748E-2"/>
          <c:w val="0.90986415585776426"/>
          <c:h val="0.79840935022504023"/>
        </c:manualLayout>
      </c:layout>
      <c:barChart>
        <c:barDir val="col"/>
        <c:grouping val="clustered"/>
        <c:varyColors val="0"/>
        <c:ser>
          <c:idx val="0"/>
          <c:order val="0"/>
          <c:tx>
            <c:strRef>
              <c:f>Sheet1!$B$1</c:f>
              <c:strCache>
                <c:ptCount val="1"/>
                <c:pt idx="0">
                  <c:v>FF/UMEC/VI</c:v>
                </c:pt>
              </c:strCache>
            </c:strRef>
          </c:tx>
          <c:spPr>
            <a:solidFill>
              <a:srgbClr val="F36633"/>
            </a:solidFill>
            <a:ln>
              <a:noFill/>
            </a:ln>
            <a:effectLst>
              <a:outerShdw blurRad="63500" dist="37357" dir="2700000" rotWithShape="0">
                <a:scrgbClr r="0" g="0" b="0">
                  <a:alpha val="0"/>
                </a:scrgbClr>
              </a:outerShdw>
            </a:effectLst>
            <a:scene3d>
              <a:camera prst="orthographicFront"/>
              <a:lightRig rig="threePt" dir="t"/>
            </a:scene3d>
          </c:spPr>
          <c:invertIfNegative val="0"/>
          <c:dLbls>
            <c:dLbl>
              <c:idx val="0"/>
              <c:layout>
                <c:manualLayout>
                  <c:x val="-7.4824163216441588E-3"/>
                  <c:y val="0.1217240514107011"/>
                </c:manualLayout>
              </c:layout>
              <c:tx>
                <c:rich>
                  <a:bodyPr/>
                  <a:lstStyle/>
                  <a:p>
                    <a:r>
                      <a:rPr lang="en-US" dirty="0">
                        <a:solidFill>
                          <a:schemeClr val="bg1"/>
                        </a:solidFill>
                      </a:rPr>
                      <a:t>–5.5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C71-499A-87A9-CFB4FA101FC4}"/>
                </c:ext>
              </c:extLst>
            </c:dLbl>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Arial"/>
                    <a:ea typeface="Arial"/>
                    <a:cs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Sheet1!$A$5</c:f>
              <c:numCache>
                <c:formatCode>General</c:formatCode>
                <c:ptCount val="1"/>
              </c:numCache>
            </c:numRef>
          </c:cat>
          <c:val>
            <c:numRef>
              <c:f>Sheet1!$B$5</c:f>
              <c:numCache>
                <c:formatCode>General</c:formatCode>
                <c:ptCount val="1"/>
                <c:pt idx="0">
                  <c:v>-5.5</c:v>
                </c:pt>
              </c:numCache>
            </c:numRef>
          </c:val>
          <c:extLst>
            <c:ext xmlns:c16="http://schemas.microsoft.com/office/drawing/2014/chart" uri="{C3380CC4-5D6E-409C-BE32-E72D297353CC}">
              <c16:uniqueId val="{00000001-6C71-499A-87A9-CFB4FA101FC4}"/>
            </c:ext>
          </c:extLst>
        </c:ser>
        <c:ser>
          <c:idx val="1"/>
          <c:order val="1"/>
          <c:tx>
            <c:strRef>
              <c:f>Sheet1!$C$1</c:f>
              <c:strCache>
                <c:ptCount val="1"/>
                <c:pt idx="0">
                  <c:v>FF/VI</c:v>
                </c:pt>
              </c:strCache>
            </c:strRef>
          </c:tx>
          <c:spPr>
            <a:solidFill>
              <a:srgbClr val="008A00"/>
            </a:solidFill>
            <a:ln>
              <a:noFill/>
            </a:ln>
            <a:effectLst>
              <a:outerShdw blurRad="63500" dist="37357" dir="2700000" rotWithShape="0">
                <a:scrgbClr r="0" g="0" b="0">
                  <a:alpha val="0"/>
                </a:scrgbClr>
              </a:outerShdw>
            </a:effectLst>
            <a:scene3d>
              <a:camera prst="orthographicFront"/>
              <a:lightRig rig="threePt" dir="t"/>
            </a:scene3d>
          </c:spPr>
          <c:invertIfNegative val="0"/>
          <c:dLbls>
            <c:dLbl>
              <c:idx val="0"/>
              <c:layout>
                <c:manualLayout>
                  <c:x val="-4.9882775477627572E-3"/>
                  <c:y val="0.121724051410701"/>
                </c:manualLayout>
              </c:layout>
              <c:tx>
                <c:rich>
                  <a:bodyPr/>
                  <a:lstStyle/>
                  <a:p>
                    <a:r>
                      <a:rPr lang="en-US" dirty="0">
                        <a:solidFill>
                          <a:schemeClr val="bg1"/>
                        </a:solidFill>
                      </a:rPr>
                      <a:t>–3.7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6C71-499A-87A9-CFB4FA101FC4}"/>
                </c:ext>
              </c:extLst>
            </c:dLbl>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Arial"/>
                    <a:ea typeface="Arial"/>
                    <a:cs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Sheet1!$A$5</c:f>
              <c:numCache>
                <c:formatCode>General</c:formatCode>
                <c:ptCount val="1"/>
              </c:numCache>
            </c:numRef>
          </c:cat>
          <c:val>
            <c:numRef>
              <c:f>Sheet1!$C$5</c:f>
              <c:numCache>
                <c:formatCode>General</c:formatCode>
                <c:ptCount val="1"/>
                <c:pt idx="0">
                  <c:v>-3.7</c:v>
                </c:pt>
              </c:numCache>
            </c:numRef>
          </c:val>
          <c:extLst>
            <c:ext xmlns:c16="http://schemas.microsoft.com/office/drawing/2014/chart" uri="{C3380CC4-5D6E-409C-BE32-E72D297353CC}">
              <c16:uniqueId val="{00000003-6C71-499A-87A9-CFB4FA101FC4}"/>
            </c:ext>
          </c:extLst>
        </c:ser>
        <c:ser>
          <c:idx val="2"/>
          <c:order val="2"/>
          <c:tx>
            <c:strRef>
              <c:f>Sheet1!$D$1</c:f>
              <c:strCache>
                <c:ptCount val="1"/>
                <c:pt idx="0">
                  <c:v>UMEC/VI</c:v>
                </c:pt>
              </c:strCache>
            </c:strRef>
          </c:tx>
          <c:spPr>
            <a:solidFill>
              <a:srgbClr val="40488D"/>
            </a:solidFill>
            <a:ln>
              <a:noFill/>
            </a:ln>
            <a:effectLst>
              <a:outerShdw blurRad="63500" dist="37357" dir="2700000" rotWithShape="0">
                <a:scrgbClr r="0" g="0" b="0">
                  <a:alpha val="0"/>
                </a:scrgbClr>
              </a:outerShdw>
            </a:effectLst>
            <a:scene3d>
              <a:camera prst="orthographicFront"/>
              <a:lightRig rig="threePt" dir="t"/>
            </a:scene3d>
          </c:spPr>
          <c:invertIfNegative val="0"/>
          <c:dLbls>
            <c:dLbl>
              <c:idx val="0"/>
              <c:layout>
                <c:manualLayout>
                  <c:x val="-4.9882775477628491E-3"/>
                  <c:y val="0.121724051410701"/>
                </c:manualLayout>
              </c:layout>
              <c:tx>
                <c:rich>
                  <a:bodyPr/>
                  <a:lstStyle/>
                  <a:p>
                    <a:r>
                      <a:rPr lang="en-US" dirty="0">
                        <a:solidFill>
                          <a:schemeClr val="bg1"/>
                        </a:solidFill>
                      </a:rPr>
                      <a:t>–3.7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C71-499A-87A9-CFB4FA101FC4}"/>
                </c:ext>
              </c:extLst>
            </c:dLbl>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Arial"/>
                    <a:ea typeface="Arial"/>
                    <a:cs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Sheet1!$A$5</c:f>
              <c:numCache>
                <c:formatCode>General</c:formatCode>
                <c:ptCount val="1"/>
              </c:numCache>
            </c:numRef>
          </c:cat>
          <c:val>
            <c:numRef>
              <c:f>Sheet1!$D$5</c:f>
              <c:numCache>
                <c:formatCode>General</c:formatCode>
                <c:ptCount val="1"/>
                <c:pt idx="0">
                  <c:v>-3.7</c:v>
                </c:pt>
              </c:numCache>
            </c:numRef>
          </c:val>
          <c:extLst>
            <c:ext xmlns:c16="http://schemas.microsoft.com/office/drawing/2014/chart" uri="{C3380CC4-5D6E-409C-BE32-E72D297353CC}">
              <c16:uniqueId val="{00000005-6C71-499A-87A9-CFB4FA101FC4}"/>
            </c:ext>
          </c:extLst>
        </c:ser>
        <c:dLbls>
          <c:dLblPos val="inEnd"/>
          <c:showLegendKey val="0"/>
          <c:showVal val="1"/>
          <c:showCatName val="0"/>
          <c:showSerName val="0"/>
          <c:showPercent val="0"/>
          <c:showBubbleSize val="0"/>
        </c:dLbls>
        <c:gapWidth val="111"/>
        <c:overlap val="-43"/>
        <c:axId val="846866384"/>
        <c:axId val="846870320"/>
      </c:barChart>
      <c:catAx>
        <c:axId val="846866384"/>
        <c:scaling>
          <c:orientation val="minMax"/>
        </c:scaling>
        <c:delete val="0"/>
        <c:axPos val="b"/>
        <c:numFmt formatCode="General" sourceLinked="1"/>
        <c:majorTickMark val="out"/>
        <c:minorTickMark val="none"/>
        <c:tickLblPos val="nextTo"/>
        <c:spPr>
          <a:noFill/>
          <a:ln w="9525" cap="flat" cmpd="sng" algn="ctr">
            <a:solidFill>
              <a:srgbClr val="544F40"/>
            </a:solidFill>
            <a:round/>
          </a:ln>
          <a:effectLst/>
        </c:spPr>
        <c:txPr>
          <a:bodyPr rot="-6000000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crossAx val="846870320"/>
        <c:crosses val="autoZero"/>
        <c:auto val="1"/>
        <c:lblAlgn val="ctr"/>
        <c:lblOffset val="100"/>
        <c:noMultiLvlLbl val="0"/>
      </c:catAx>
      <c:valAx>
        <c:axId val="846870320"/>
        <c:scaling>
          <c:orientation val="minMax"/>
          <c:min val="-6"/>
        </c:scaling>
        <c:delete val="0"/>
        <c:axPos val="l"/>
        <c:numFmt formatCode="0" sourceLinked="0"/>
        <c:majorTickMark val="out"/>
        <c:minorTickMark val="none"/>
        <c:tickLblPos val="nextTo"/>
        <c:spPr>
          <a:noFill/>
          <a:ln>
            <a:solidFill>
              <a:srgbClr val="544F40"/>
            </a:solidFill>
          </a:ln>
          <a:effectLst/>
        </c:spPr>
        <c:txPr>
          <a:bodyPr rot="-6000000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crossAx val="846866384"/>
        <c:crosses val="autoZero"/>
        <c:crossBetween val="between"/>
      </c:valAx>
      <c:spPr>
        <a:noFill/>
        <a:ln>
          <a:noFill/>
        </a:ln>
        <a:effectLst>
          <a:innerShdw>
            <a:scrgbClr r="0" g="0" b="0"/>
          </a:innerShdw>
        </a:effectLst>
      </c:spPr>
    </c:plotArea>
    <c:plotVisOnly val="1"/>
    <c:dispBlanksAs val="gap"/>
    <c:showDLblsOverMax val="0"/>
  </c:chart>
  <c:spPr>
    <a:noFill/>
    <a:ln>
      <a:noFill/>
    </a:ln>
    <a:effectLst>
      <a:innerShdw>
        <a:scrgbClr r="0" g="0" b="0"/>
      </a:innerShdw>
    </a:effectLst>
    <a:extLst>
      <a:ext uri="{91240B29-F687-4F45-9708-019B960494DF}">
        <a14:hiddenLine xmlns:a14="http://schemas.microsoft.com/office/drawing/2010/main">
          <a:noFill/>
        </a14:hiddenLine>
      </a:ext>
    </a:extLst>
  </c:spPr>
  <c:txPr>
    <a:bodyPr/>
    <a:lstStyle/>
    <a:p>
      <a:pPr>
        <a:defRPr sz="1000">
          <a:solidFill>
            <a:srgbClr val="544F40"/>
          </a:solidFill>
          <a:latin typeface="Arial" panose="020B0604020202020204" pitchFamily="34" charset="0"/>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0461028431570301E-2"/>
          <c:y val="8.2859846647235599E-2"/>
          <c:w val="0.87153154738339267"/>
          <c:h val="0.76965745954987719"/>
        </c:manualLayout>
      </c:layout>
      <c:barChart>
        <c:barDir val="col"/>
        <c:grouping val="clustered"/>
        <c:varyColors val="0"/>
        <c:ser>
          <c:idx val="0"/>
          <c:order val="0"/>
          <c:tx>
            <c:strRef>
              <c:f>Sheet1!$B$1</c:f>
              <c:strCache>
                <c:ptCount val="1"/>
                <c:pt idx="0">
                  <c:v>FF/UMEC/VI</c:v>
                </c:pt>
              </c:strCache>
            </c:strRef>
          </c:tx>
          <c:spPr>
            <a:solidFill>
              <a:srgbClr val="F36633"/>
            </a:solidFill>
            <a:ln>
              <a:noFill/>
            </a:ln>
            <a:effectLst>
              <a:outerShdw blurRad="63500" dist="37357" dir="2700000" rotWithShape="0">
                <a:scrgbClr r="0" g="0" b="0">
                  <a:alpha val="0"/>
                </a:scrgbClr>
              </a:outerShdw>
            </a:effectLst>
            <a:scene3d>
              <a:camera prst="orthographicFront"/>
              <a:lightRig rig="threePt" dir="t"/>
            </a:scene3d>
          </c:spPr>
          <c:invertIfNegative val="0"/>
          <c:dPt>
            <c:idx val="0"/>
            <c:invertIfNegative val="0"/>
            <c:bubble3D val="0"/>
            <c:spPr>
              <a:solidFill>
                <a:srgbClr val="F36633"/>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1-1DF9-4631-AC6F-5A94331BB907}"/>
              </c:ext>
            </c:extLst>
          </c:dPt>
          <c:dLbls>
            <c:dLbl>
              <c:idx val="0"/>
              <c:layout>
                <c:manualLayout>
                  <c:x val="-3.4139891149997748E-17"/>
                  <c:y val="9.056505026189763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DF9-4631-AC6F-5A94331BB907}"/>
                </c:ext>
              </c:extLst>
            </c:dLbl>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Sheet1!$A$5</c:f>
              <c:numCache>
                <c:formatCode>General</c:formatCode>
                <c:ptCount val="1"/>
              </c:numCache>
            </c:numRef>
          </c:cat>
          <c:val>
            <c:numRef>
              <c:f>Sheet1!$B$5</c:f>
              <c:numCache>
                <c:formatCode>0</c:formatCode>
                <c:ptCount val="1"/>
                <c:pt idx="0">
                  <c:v>94</c:v>
                </c:pt>
              </c:numCache>
            </c:numRef>
          </c:val>
          <c:extLst>
            <c:ext xmlns:c16="http://schemas.microsoft.com/office/drawing/2014/chart" uri="{C3380CC4-5D6E-409C-BE32-E72D297353CC}">
              <c16:uniqueId val="{00000002-1DF9-4631-AC6F-5A94331BB907}"/>
            </c:ext>
          </c:extLst>
        </c:ser>
        <c:ser>
          <c:idx val="1"/>
          <c:order val="1"/>
          <c:tx>
            <c:strRef>
              <c:f>Sheet1!$C$1</c:f>
              <c:strCache>
                <c:ptCount val="1"/>
                <c:pt idx="0">
                  <c:v>FF/VI</c:v>
                </c:pt>
              </c:strCache>
            </c:strRef>
          </c:tx>
          <c:spPr>
            <a:solidFill>
              <a:srgbClr val="008A00"/>
            </a:solidFill>
            <a:ln>
              <a:noFill/>
            </a:ln>
            <a:effectLst>
              <a:outerShdw blurRad="63500" dist="37357" dir="2700000" rotWithShape="0">
                <a:scrgbClr r="0" g="0" b="0">
                  <a:alpha val="0"/>
                </a:scrgbClr>
              </a:outerShdw>
            </a:effectLst>
            <a:scene3d>
              <a:camera prst="orthographicFront"/>
              <a:lightRig rig="threePt" dir="t"/>
            </a:scene3d>
          </c:spPr>
          <c:invertIfNegative val="0"/>
          <c:dLbls>
            <c:spPr>
              <a:noFill/>
              <a:ln>
                <a:noFill/>
              </a:ln>
              <a:effectLst/>
            </c:spPr>
            <c:txPr>
              <a:bodyPr rot="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Sheet1!$A$5</c:f>
              <c:numCache>
                <c:formatCode>General</c:formatCode>
                <c:ptCount val="1"/>
              </c:numCache>
            </c:numRef>
          </c:cat>
          <c:val>
            <c:numRef>
              <c:f>Sheet1!$C$5</c:f>
              <c:numCache>
                <c:formatCode>0</c:formatCode>
                <c:ptCount val="1"/>
                <c:pt idx="0">
                  <c:v>-3</c:v>
                </c:pt>
              </c:numCache>
            </c:numRef>
          </c:val>
          <c:extLst>
            <c:ext xmlns:c16="http://schemas.microsoft.com/office/drawing/2014/chart" uri="{C3380CC4-5D6E-409C-BE32-E72D297353CC}">
              <c16:uniqueId val="{00000003-1DF9-4631-AC6F-5A94331BB907}"/>
            </c:ext>
          </c:extLst>
        </c:ser>
        <c:ser>
          <c:idx val="2"/>
          <c:order val="2"/>
          <c:tx>
            <c:strRef>
              <c:f>Sheet1!$D$1</c:f>
              <c:strCache>
                <c:ptCount val="1"/>
                <c:pt idx="0">
                  <c:v>UMEC/VI</c:v>
                </c:pt>
              </c:strCache>
            </c:strRef>
          </c:tx>
          <c:spPr>
            <a:solidFill>
              <a:srgbClr val="40488D"/>
            </a:solidFill>
            <a:ln>
              <a:noFill/>
            </a:ln>
            <a:effectLst>
              <a:outerShdw blurRad="63500" dist="37357" dir="2700000" rotWithShape="0">
                <a:scrgbClr r="0" g="0" b="0">
                  <a:alpha val="0"/>
                </a:scrgbClr>
              </a:outerShdw>
            </a:effectLst>
            <a:scene3d>
              <a:camera prst="orthographicFront"/>
              <a:lightRig rig="threePt" dir="t"/>
            </a:scene3d>
          </c:spPr>
          <c:invertIfNegative val="0"/>
          <c:dLbls>
            <c:dLbl>
              <c:idx val="0"/>
              <c:layout>
                <c:manualLayout>
                  <c:x val="-1.3655956459999099E-16"/>
                  <c:y val="0.10237788290475378"/>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DF9-4631-AC6F-5A94331BB907}"/>
                </c:ext>
              </c:extLst>
            </c:dLbl>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Sheet1!$A$5</c:f>
              <c:numCache>
                <c:formatCode>General</c:formatCode>
                <c:ptCount val="1"/>
              </c:numCache>
            </c:numRef>
          </c:cat>
          <c:val>
            <c:numRef>
              <c:f>Sheet1!$D$5</c:f>
              <c:numCache>
                <c:formatCode>0</c:formatCode>
                <c:ptCount val="1"/>
                <c:pt idx="0">
                  <c:v>40</c:v>
                </c:pt>
              </c:numCache>
            </c:numRef>
          </c:val>
          <c:extLst>
            <c:ext xmlns:c16="http://schemas.microsoft.com/office/drawing/2014/chart" uri="{C3380CC4-5D6E-409C-BE32-E72D297353CC}">
              <c16:uniqueId val="{00000004-1DF9-4631-AC6F-5A94331BB907}"/>
            </c:ext>
          </c:extLst>
        </c:ser>
        <c:dLbls>
          <c:dLblPos val="outEnd"/>
          <c:showLegendKey val="0"/>
          <c:showVal val="1"/>
          <c:showCatName val="0"/>
          <c:showSerName val="0"/>
          <c:showPercent val="0"/>
          <c:showBubbleSize val="0"/>
        </c:dLbls>
        <c:gapWidth val="111"/>
        <c:overlap val="-43"/>
        <c:axId val="846866384"/>
        <c:axId val="846870320"/>
      </c:barChart>
      <c:catAx>
        <c:axId val="846866384"/>
        <c:scaling>
          <c:orientation val="minMax"/>
        </c:scaling>
        <c:delete val="0"/>
        <c:axPos val="b"/>
        <c:numFmt formatCode="General" sourceLinked="1"/>
        <c:majorTickMark val="out"/>
        <c:minorTickMark val="none"/>
        <c:tickLblPos val="nextTo"/>
        <c:spPr>
          <a:noFill/>
          <a:ln w="9525" cap="flat" cmpd="sng" algn="ctr">
            <a:solidFill>
              <a:srgbClr val="544F40"/>
            </a:solidFill>
            <a:round/>
          </a:ln>
          <a:effectLst/>
        </c:spPr>
        <c:txPr>
          <a:bodyPr rot="-6000000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crossAx val="846870320"/>
        <c:crosses val="autoZero"/>
        <c:auto val="1"/>
        <c:lblAlgn val="ctr"/>
        <c:lblOffset val="100"/>
        <c:noMultiLvlLbl val="0"/>
      </c:catAx>
      <c:valAx>
        <c:axId val="846870320"/>
        <c:scaling>
          <c:orientation val="minMax"/>
          <c:max val="100"/>
        </c:scaling>
        <c:delete val="0"/>
        <c:axPos val="l"/>
        <c:numFmt formatCode="#,##0" sourceLinked="0"/>
        <c:majorTickMark val="out"/>
        <c:minorTickMark val="none"/>
        <c:tickLblPos val="nextTo"/>
        <c:spPr>
          <a:noFill/>
          <a:ln>
            <a:solidFill>
              <a:srgbClr val="544F40"/>
            </a:solidFill>
          </a:ln>
          <a:effectLst/>
        </c:spPr>
        <c:txPr>
          <a:bodyPr rot="-6000000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crossAx val="846866384"/>
        <c:crosses val="autoZero"/>
        <c:crossBetween val="between"/>
      </c:valAx>
      <c:spPr>
        <a:noFill/>
        <a:ln>
          <a:noFill/>
        </a:ln>
        <a:effectLst>
          <a:innerShdw>
            <a:scrgbClr r="0" g="0" b="0"/>
          </a:innerShdw>
        </a:effectLst>
      </c:spPr>
    </c:plotArea>
    <c:plotVisOnly val="1"/>
    <c:dispBlanksAs val="gap"/>
    <c:showDLblsOverMax val="0"/>
  </c:chart>
  <c:spPr>
    <a:noFill/>
    <a:ln>
      <a:noFill/>
    </a:ln>
    <a:effectLst>
      <a:innerShdw>
        <a:scrgbClr r="0" g="0" b="0"/>
      </a:innerShdw>
    </a:effectLst>
    <a:extLst>
      <a:ext uri="{91240B29-F687-4F45-9708-019B960494DF}">
        <a14:hiddenLine xmlns:a14="http://schemas.microsoft.com/office/drawing/2010/main">
          <a:noFill/>
        </a14:hiddenLine>
      </a:ext>
    </a:extLst>
  </c:spPr>
  <c:txPr>
    <a:bodyPr/>
    <a:lstStyle/>
    <a:p>
      <a:pPr>
        <a:defRPr sz="1000">
          <a:solidFill>
            <a:srgbClr val="544F40"/>
          </a:solidFill>
          <a:latin typeface="Arial" panose="020B0604020202020204" pitchFamily="34" charset="0"/>
        </a:defRPr>
      </a:pPr>
      <a:endParaRPr lang="en-U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8967962702463298E-2"/>
          <c:y val="3.429615370030404E-2"/>
          <c:w val="0.955362925528912"/>
          <c:h val="0.92432539744502018"/>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a:outerShdw blurRad="63500" dist="37357" dir="2700000" rotWithShape="0">
                <a:scrgbClr r="0" g="0" b="0">
                  <a:alpha val="0"/>
                </a:scrgbClr>
              </a:outerShdw>
            </a:effectLst>
            <a:scene3d>
              <a:camera prst="orthographicFront"/>
              <a:lightRig rig="threePt" dir="t"/>
            </a:scene3d>
          </c:spPr>
          <c:invertIfNegative val="0"/>
          <c:dPt>
            <c:idx val="0"/>
            <c:invertIfNegative val="0"/>
            <c:bubble3D val="0"/>
            <c:spPr>
              <a:solidFill>
                <a:srgbClr val="F36633"/>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1-B17A-4513-859D-8BCCA6EAB1E3}"/>
              </c:ext>
            </c:extLst>
          </c:dPt>
          <c:dPt>
            <c:idx val="1"/>
            <c:invertIfNegative val="0"/>
            <c:bubble3D val="0"/>
            <c:spPr>
              <a:solidFill>
                <a:srgbClr val="008A00"/>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3-B17A-4513-859D-8BCCA6EAB1E3}"/>
              </c:ext>
            </c:extLst>
          </c:dPt>
          <c:dPt>
            <c:idx val="2"/>
            <c:invertIfNegative val="0"/>
            <c:bubble3D val="0"/>
            <c:spPr>
              <a:solidFill>
                <a:srgbClr val="40488D"/>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5-B17A-4513-859D-8BCCA6EAB1E3}"/>
              </c:ext>
            </c:extLst>
          </c:dPt>
          <c:dPt>
            <c:idx val="4"/>
            <c:invertIfNegative val="0"/>
            <c:bubble3D val="0"/>
            <c:spPr>
              <a:solidFill>
                <a:srgbClr val="F36633"/>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8-B17A-4513-859D-8BCCA6EAB1E3}"/>
              </c:ext>
            </c:extLst>
          </c:dPt>
          <c:dPt>
            <c:idx val="5"/>
            <c:invertIfNegative val="0"/>
            <c:bubble3D val="0"/>
            <c:spPr>
              <a:solidFill>
                <a:srgbClr val="008A00"/>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9-B17A-4513-859D-8BCCA6EAB1E3}"/>
              </c:ext>
            </c:extLst>
          </c:dPt>
          <c:dPt>
            <c:idx val="6"/>
            <c:invertIfNegative val="0"/>
            <c:bubble3D val="0"/>
            <c:spPr>
              <a:solidFill>
                <a:srgbClr val="40488D"/>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A-B17A-4513-859D-8BCCA6EAB1E3}"/>
              </c:ext>
            </c:extLst>
          </c:dPt>
          <c:dLbls>
            <c:dLbl>
              <c:idx val="0"/>
              <c:layout>
                <c:manualLayout>
                  <c:x val="0"/>
                  <c:y val="0.1177644710578842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17A-4513-859D-8BCCA6EAB1E3}"/>
                </c:ext>
              </c:extLst>
            </c:dLbl>
            <c:dLbl>
              <c:idx val="1"/>
              <c:layout>
                <c:manualLayout>
                  <c:x val="-4.1820636549868923E-17"/>
                  <c:y val="0.1177644710578842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17A-4513-859D-8BCCA6EAB1E3}"/>
                </c:ext>
              </c:extLst>
            </c:dLbl>
            <c:dLbl>
              <c:idx val="2"/>
              <c:layout>
                <c:manualLayout>
                  <c:x val="0"/>
                  <c:y val="0.1337325349301397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17A-4513-859D-8BCCA6EAB1E3}"/>
                </c:ext>
              </c:extLst>
            </c:dLbl>
            <c:dLbl>
              <c:idx val="3"/>
              <c:delete val="1"/>
              <c:extLst>
                <c:ext xmlns:c15="http://schemas.microsoft.com/office/drawing/2012/chart" uri="{CE6537A1-D6FC-4f65-9D91-7224C49458BB}"/>
                <c:ext xmlns:c16="http://schemas.microsoft.com/office/drawing/2014/chart" uri="{C3380CC4-5D6E-409C-BE32-E72D297353CC}">
                  <c16:uniqueId val="{00000007-B17A-4513-859D-8BCCA6EAB1E3}"/>
                </c:ext>
              </c:extLst>
            </c:dLbl>
            <c:dLbl>
              <c:idx val="4"/>
              <c:layout>
                <c:manualLayout>
                  <c:x val="0"/>
                  <c:y val="0.1177644710578842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B17A-4513-859D-8BCCA6EAB1E3}"/>
                </c:ext>
              </c:extLst>
            </c:dLbl>
            <c:dLbl>
              <c:idx val="5"/>
              <c:layout>
                <c:manualLayout>
                  <c:x val="0"/>
                  <c:y val="0.11377245508982035"/>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17A-4513-859D-8BCCA6EAB1E3}"/>
                </c:ext>
              </c:extLst>
            </c:dLbl>
            <c:dLbl>
              <c:idx val="6"/>
              <c:layout>
                <c:manualLayout>
                  <c:x val="-1.6728254619947569E-16"/>
                  <c:y val="0.1417165668662674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B17A-4513-859D-8BCCA6EAB1E3}"/>
                </c:ext>
              </c:extLst>
            </c:dLbl>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Arial"/>
                    <a:ea typeface="Arial"/>
                    <a:cs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errBars>
            <c:errBarType val="both"/>
            <c:errValType val="cust"/>
            <c:noEndCap val="0"/>
            <c:plus>
              <c:numRef>
                <c:f>Sheet1!$E$2:$E$8</c:f>
                <c:numCache>
                  <c:formatCode>General</c:formatCode>
                  <c:ptCount val="7"/>
                  <c:pt idx="0">
                    <c:v>5.9999999999999942E-2</c:v>
                  </c:pt>
                  <c:pt idx="1">
                    <c:v>7.0000000000000062E-2</c:v>
                  </c:pt>
                  <c:pt idx="2">
                    <c:v>0.10000000000000009</c:v>
                  </c:pt>
                  <c:pt idx="4">
                    <c:v>4.9999999999999933E-2</c:v>
                  </c:pt>
                  <c:pt idx="5">
                    <c:v>6.0000000000000053E-2</c:v>
                  </c:pt>
                  <c:pt idx="6">
                    <c:v>0.1100000000000001</c:v>
                  </c:pt>
                </c:numCache>
              </c:numRef>
            </c:plus>
            <c:minus>
              <c:numRef>
                <c:f>Sheet1!$F$2:$F$8</c:f>
                <c:numCache>
                  <c:formatCode>General</c:formatCode>
                  <c:ptCount val="7"/>
                  <c:pt idx="0">
                    <c:v>6.0000000000000053E-2</c:v>
                  </c:pt>
                  <c:pt idx="1">
                    <c:v>6.999999999999984E-2</c:v>
                  </c:pt>
                  <c:pt idx="2">
                    <c:v>0.10999999999999988</c:v>
                  </c:pt>
                  <c:pt idx="4">
                    <c:v>6.0000000000000053E-2</c:v>
                  </c:pt>
                  <c:pt idx="5">
                    <c:v>6.0000000000000053E-2</c:v>
                  </c:pt>
                  <c:pt idx="6">
                    <c:v>0.10999999999999988</c:v>
                  </c:pt>
                </c:numCache>
              </c:numRef>
            </c:minus>
            <c:spPr>
              <a:noFill/>
              <a:ln w="9525" cap="flat" cmpd="sng" algn="ctr">
                <a:solidFill>
                  <a:srgbClr val="ED003C"/>
                </a:solidFill>
                <a:round/>
              </a:ln>
              <a:effectLst/>
            </c:spPr>
          </c:errBars>
          <c:cat>
            <c:strRef>
              <c:f>Sheet1!$A$2:$A$8</c:f>
              <c:strCache>
                <c:ptCount val="2"/>
                <c:pt idx="0">
                  <c:v>Category 1</c:v>
                </c:pt>
                <c:pt idx="1">
                  <c:v>Category 2</c:v>
                </c:pt>
              </c:strCache>
            </c:strRef>
          </c:cat>
          <c:val>
            <c:numRef>
              <c:f>Sheet1!$B$2:$B$8</c:f>
              <c:numCache>
                <c:formatCode>General</c:formatCode>
                <c:ptCount val="7"/>
                <c:pt idx="0">
                  <c:v>0.86</c:v>
                </c:pt>
                <c:pt idx="1">
                  <c:v>1.08</c:v>
                </c:pt>
                <c:pt idx="2">
                  <c:v>1.08</c:v>
                </c:pt>
                <c:pt idx="4">
                  <c:v>0.94</c:v>
                </c:pt>
                <c:pt idx="5">
                  <c:v>1.06</c:v>
                </c:pt>
                <c:pt idx="6">
                  <c:v>1.32</c:v>
                </c:pt>
              </c:numCache>
            </c:numRef>
          </c:val>
          <c:extLst>
            <c:ext xmlns:c16="http://schemas.microsoft.com/office/drawing/2014/chart" uri="{C3380CC4-5D6E-409C-BE32-E72D297353CC}">
              <c16:uniqueId val="{00000006-B17A-4513-859D-8BCCA6EAB1E3}"/>
            </c:ext>
          </c:extLst>
        </c:ser>
        <c:dLbls>
          <c:showLegendKey val="0"/>
          <c:showVal val="0"/>
          <c:showCatName val="0"/>
          <c:showSerName val="0"/>
          <c:showPercent val="0"/>
          <c:showBubbleSize val="0"/>
        </c:dLbls>
        <c:gapWidth val="140"/>
        <c:overlap val="67"/>
        <c:axId val="629532264"/>
        <c:axId val="629537840"/>
      </c:barChart>
      <c:catAx>
        <c:axId val="629532264"/>
        <c:scaling>
          <c:orientation val="minMax"/>
        </c:scaling>
        <c:delete val="0"/>
        <c:axPos val="b"/>
        <c:numFmt formatCode="General" sourceLinked="1"/>
        <c:majorTickMark val="out"/>
        <c:minorTickMark val="none"/>
        <c:tickLblPos val="none"/>
        <c:spPr>
          <a:noFill/>
          <a:ln w="9525" cap="flat" cmpd="sng" algn="ctr">
            <a:solidFill>
              <a:srgbClr val="544F40"/>
            </a:solidFill>
            <a:round/>
          </a:ln>
          <a:effectLst/>
        </c:spPr>
        <c:txPr>
          <a:bodyPr rot="-6000000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crossAx val="629537840"/>
        <c:crosses val="autoZero"/>
        <c:auto val="1"/>
        <c:lblAlgn val="ctr"/>
        <c:lblOffset val="100"/>
        <c:noMultiLvlLbl val="0"/>
      </c:catAx>
      <c:valAx>
        <c:axId val="629537840"/>
        <c:scaling>
          <c:orientation val="minMax"/>
          <c:max val="2"/>
          <c:min val="0"/>
        </c:scaling>
        <c:delete val="0"/>
        <c:axPos val="l"/>
        <c:numFmt formatCode="#,##0.0" sourceLinked="0"/>
        <c:majorTickMark val="out"/>
        <c:minorTickMark val="none"/>
        <c:tickLblPos val="nextTo"/>
        <c:spPr>
          <a:noFill/>
          <a:ln>
            <a:solidFill>
              <a:srgbClr val="544F40"/>
            </a:solidFill>
          </a:ln>
          <a:effectLst/>
        </c:spPr>
        <c:txPr>
          <a:bodyPr rot="-6000000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crossAx val="629532264"/>
        <c:crosses val="autoZero"/>
        <c:crossBetween val="between"/>
      </c:valAx>
      <c:spPr>
        <a:noFill/>
        <a:ln>
          <a:noFill/>
        </a:ln>
        <a:effectLst>
          <a:innerShdw>
            <a:scrgbClr r="0" g="0" b="0"/>
          </a:innerShdw>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a:innerShdw>
        <a:scrgbClr r="0" g="0" b="0"/>
      </a:innerShdw>
    </a:effectLst>
    <a:extLst>
      <a:ext uri="{91240B29-F687-4F45-9708-019B960494DF}">
        <a14:hiddenLine xmlns:a14="http://schemas.microsoft.com/office/drawing/2010/main">
          <a:noFill/>
        </a14:hiddenLine>
      </a:ext>
    </a:extLst>
  </c:spPr>
  <c:txPr>
    <a:bodyPr/>
    <a:lstStyle/>
    <a:p>
      <a:pPr>
        <a:defRPr sz="1000">
          <a:solidFill>
            <a:srgbClr val="544F40"/>
          </a:solidFill>
          <a:latin typeface="Arial" panose="020B0604020202020204" pitchFamily="34" charset="0"/>
        </a:defRPr>
      </a:pPr>
      <a:endParaRPr lang="en-US"/>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594938338323258E-2"/>
          <c:y val="7.3713764058685738E-2"/>
          <c:w val="0.90892556404313618"/>
          <c:h val="0.88667730965485381"/>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a:outerShdw blurRad="63500" dist="37357" dir="2700000" rotWithShape="0">
                <a:scrgbClr r="0" g="0" b="0">
                  <a:alpha val="0"/>
                </a:scrgbClr>
              </a:outerShdw>
            </a:effectLst>
            <a:scene3d>
              <a:camera prst="orthographicFront"/>
              <a:lightRig rig="threePt" dir="t"/>
            </a:scene3d>
          </c:spPr>
          <c:invertIfNegative val="0"/>
          <c:dPt>
            <c:idx val="0"/>
            <c:invertIfNegative val="0"/>
            <c:bubble3D val="0"/>
            <c:spPr>
              <a:solidFill>
                <a:srgbClr val="F36633"/>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1-6118-44EF-AD86-ACDEFA263032}"/>
              </c:ext>
            </c:extLst>
          </c:dPt>
          <c:dPt>
            <c:idx val="1"/>
            <c:invertIfNegative val="0"/>
            <c:bubble3D val="0"/>
            <c:spPr>
              <a:solidFill>
                <a:srgbClr val="40488D"/>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3-6118-44EF-AD86-ACDEFA263032}"/>
              </c:ext>
            </c:extLst>
          </c:dPt>
          <c:cat>
            <c:strRef>
              <c:f>Sheet1!$A$2:$A$3</c:f>
              <c:strCache>
                <c:ptCount val="2"/>
                <c:pt idx="0">
                  <c:v>Category 1</c:v>
                </c:pt>
                <c:pt idx="1">
                  <c:v>Category 2</c:v>
                </c:pt>
              </c:strCache>
            </c:strRef>
          </c:cat>
          <c:val>
            <c:numRef>
              <c:f>Sheet1!$B$2:$B$3</c:f>
              <c:numCache>
                <c:formatCode>General</c:formatCode>
                <c:ptCount val="2"/>
                <c:pt idx="0">
                  <c:v>0.85</c:v>
                </c:pt>
                <c:pt idx="1">
                  <c:v>0.97</c:v>
                </c:pt>
              </c:numCache>
            </c:numRef>
          </c:val>
          <c:extLst>
            <c:ext xmlns:c16="http://schemas.microsoft.com/office/drawing/2014/chart" uri="{C3380CC4-5D6E-409C-BE32-E72D297353CC}">
              <c16:uniqueId val="{00000004-6118-44EF-AD86-ACDEFA263032}"/>
            </c:ext>
          </c:extLst>
        </c:ser>
        <c:dLbls>
          <c:showLegendKey val="0"/>
          <c:showVal val="0"/>
          <c:showCatName val="0"/>
          <c:showSerName val="0"/>
          <c:showPercent val="0"/>
          <c:showBubbleSize val="0"/>
        </c:dLbls>
        <c:gapWidth val="250"/>
        <c:overlap val="-27"/>
        <c:axId val="830206096"/>
        <c:axId val="830207408"/>
      </c:barChart>
      <c:catAx>
        <c:axId val="830206096"/>
        <c:scaling>
          <c:orientation val="minMax"/>
        </c:scaling>
        <c:delete val="0"/>
        <c:axPos val="b"/>
        <c:numFmt formatCode="General" sourceLinked="1"/>
        <c:majorTickMark val="out"/>
        <c:minorTickMark val="none"/>
        <c:tickLblPos val="none"/>
        <c:spPr>
          <a:noFill/>
          <a:ln w="9525" cap="flat" cmpd="sng" algn="ctr">
            <a:solidFill>
              <a:srgbClr val="544F40"/>
            </a:solidFill>
            <a:round/>
          </a:ln>
          <a:effectLst/>
        </c:spPr>
        <c:txPr>
          <a:bodyPr rot="-6000000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crossAx val="830207408"/>
        <c:crosses val="autoZero"/>
        <c:auto val="1"/>
        <c:lblAlgn val="ctr"/>
        <c:lblOffset val="100"/>
        <c:noMultiLvlLbl val="0"/>
      </c:catAx>
      <c:valAx>
        <c:axId val="830207408"/>
        <c:scaling>
          <c:orientation val="minMax"/>
          <c:max val="1.8"/>
          <c:min val="0"/>
        </c:scaling>
        <c:delete val="0"/>
        <c:axPos val="l"/>
        <c:numFmt formatCode="General" sourceLinked="1"/>
        <c:majorTickMark val="out"/>
        <c:minorTickMark val="none"/>
        <c:tickLblPos val="nextTo"/>
        <c:spPr>
          <a:noFill/>
          <a:ln>
            <a:solidFill>
              <a:srgbClr val="544F40"/>
            </a:solidFill>
          </a:ln>
          <a:effectLst/>
        </c:spPr>
        <c:txPr>
          <a:bodyPr rot="-6000000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crossAx val="830206096"/>
        <c:crosses val="autoZero"/>
        <c:crossBetween val="between"/>
      </c:valAx>
      <c:spPr>
        <a:noFill/>
        <a:ln>
          <a:noFill/>
        </a:ln>
        <a:effectLst>
          <a:innerShdw>
            <a:scrgbClr r="0" g="0" b="0"/>
          </a:innerShdw>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a:innerShdw>
        <a:scrgbClr r="0" g="0" b="0"/>
      </a:innerShdw>
    </a:effectLst>
    <a:extLst>
      <a:ext uri="{91240B29-F687-4F45-9708-019B960494DF}">
        <a14:hiddenLine xmlns:a14="http://schemas.microsoft.com/office/drawing/2010/main">
          <a:noFill/>
        </a14:hiddenLine>
      </a:ext>
    </a:extLst>
  </c:spPr>
  <c:txPr>
    <a:bodyPr/>
    <a:lstStyle/>
    <a:p>
      <a:pPr>
        <a:defRPr sz="1000">
          <a:solidFill>
            <a:srgbClr val="544F40"/>
          </a:solidFill>
          <a:latin typeface="Arial" panose="020B060402020202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594938338323258E-2"/>
          <c:y val="7.3713764058685738E-2"/>
          <c:w val="0.90892556404313618"/>
          <c:h val="0.88667730965485381"/>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a:outerShdw blurRad="63500" dist="37357" dir="2700000" rotWithShape="0">
                <a:scrgbClr r="0" g="0" b="0">
                  <a:alpha val="0"/>
                </a:scrgbClr>
              </a:outerShdw>
            </a:effectLst>
            <a:scene3d>
              <a:camera prst="orthographicFront"/>
              <a:lightRig rig="threePt" dir="t"/>
            </a:scene3d>
          </c:spPr>
          <c:invertIfNegative val="0"/>
          <c:dPt>
            <c:idx val="0"/>
            <c:invertIfNegative val="0"/>
            <c:bubble3D val="0"/>
            <c:spPr>
              <a:solidFill>
                <a:srgbClr val="F36633"/>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1-6118-44EF-AD86-ACDEFA263032}"/>
              </c:ext>
            </c:extLst>
          </c:dPt>
          <c:dPt>
            <c:idx val="1"/>
            <c:invertIfNegative val="0"/>
            <c:bubble3D val="0"/>
            <c:spPr>
              <a:solidFill>
                <a:srgbClr val="40488D"/>
              </a:solidFill>
              <a:ln>
                <a:noFill/>
              </a:ln>
              <a:effectLst>
                <a:outerShdw blurRad="63500" dist="37357" dir="2700000" rotWithShape="0">
                  <a:scrgbClr r="0" g="0" b="0">
                    <a:alpha val="0"/>
                  </a:scrgbClr>
                </a:outerShdw>
              </a:effectLst>
              <a:scene3d>
                <a:camera prst="orthographicFront"/>
                <a:lightRig rig="threePt" dir="t"/>
              </a:scene3d>
            </c:spPr>
            <c:extLst>
              <c:ext xmlns:c16="http://schemas.microsoft.com/office/drawing/2014/chart" uri="{C3380CC4-5D6E-409C-BE32-E72D297353CC}">
                <c16:uniqueId val="{00000003-6118-44EF-AD86-ACDEFA263032}"/>
              </c:ext>
            </c:extLst>
          </c:dPt>
          <c:cat>
            <c:strRef>
              <c:f>Sheet1!$A$2:$A$3</c:f>
              <c:strCache>
                <c:ptCount val="2"/>
                <c:pt idx="0">
                  <c:v>Category 1</c:v>
                </c:pt>
                <c:pt idx="1">
                  <c:v>Category 2</c:v>
                </c:pt>
              </c:strCache>
            </c:strRef>
          </c:cat>
          <c:val>
            <c:numRef>
              <c:f>Sheet1!$B$2:$B$3</c:f>
              <c:numCache>
                <c:formatCode>General</c:formatCode>
                <c:ptCount val="2"/>
                <c:pt idx="0">
                  <c:v>0.95</c:v>
                </c:pt>
                <c:pt idx="1">
                  <c:v>1.39</c:v>
                </c:pt>
              </c:numCache>
            </c:numRef>
          </c:val>
          <c:extLst>
            <c:ext xmlns:c16="http://schemas.microsoft.com/office/drawing/2014/chart" uri="{C3380CC4-5D6E-409C-BE32-E72D297353CC}">
              <c16:uniqueId val="{00000004-6118-44EF-AD86-ACDEFA263032}"/>
            </c:ext>
          </c:extLst>
        </c:ser>
        <c:dLbls>
          <c:showLegendKey val="0"/>
          <c:showVal val="0"/>
          <c:showCatName val="0"/>
          <c:showSerName val="0"/>
          <c:showPercent val="0"/>
          <c:showBubbleSize val="0"/>
        </c:dLbls>
        <c:gapWidth val="250"/>
        <c:overlap val="-27"/>
        <c:axId val="830206096"/>
        <c:axId val="830207408"/>
      </c:barChart>
      <c:catAx>
        <c:axId val="830206096"/>
        <c:scaling>
          <c:orientation val="minMax"/>
        </c:scaling>
        <c:delete val="0"/>
        <c:axPos val="b"/>
        <c:numFmt formatCode="General" sourceLinked="1"/>
        <c:majorTickMark val="out"/>
        <c:minorTickMark val="none"/>
        <c:tickLblPos val="none"/>
        <c:spPr>
          <a:noFill/>
          <a:ln w="9525" cap="flat" cmpd="sng" algn="ctr">
            <a:solidFill>
              <a:srgbClr val="544F40"/>
            </a:solidFill>
            <a:round/>
          </a:ln>
          <a:effectLst/>
        </c:spPr>
        <c:txPr>
          <a:bodyPr rot="-6000000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crossAx val="830207408"/>
        <c:crosses val="autoZero"/>
        <c:auto val="1"/>
        <c:lblAlgn val="ctr"/>
        <c:lblOffset val="100"/>
        <c:noMultiLvlLbl val="0"/>
      </c:catAx>
      <c:valAx>
        <c:axId val="830207408"/>
        <c:scaling>
          <c:orientation val="minMax"/>
          <c:max val="1.8"/>
          <c:min val="0"/>
        </c:scaling>
        <c:delete val="0"/>
        <c:axPos val="l"/>
        <c:numFmt formatCode="General" sourceLinked="1"/>
        <c:majorTickMark val="out"/>
        <c:minorTickMark val="none"/>
        <c:tickLblPos val="nextTo"/>
        <c:spPr>
          <a:noFill/>
          <a:ln>
            <a:solidFill>
              <a:srgbClr val="544F40"/>
            </a:solidFill>
          </a:ln>
          <a:effectLst/>
        </c:spPr>
        <c:txPr>
          <a:bodyPr rot="-60000000" spcFirstLastPara="1" vertOverflow="ellipsis" vert="horz" wrap="square" anchor="ctr" anchorCtr="1"/>
          <a:lstStyle/>
          <a:p>
            <a:pPr>
              <a:defRPr sz="1000" b="0" i="0" u="none" strike="noStrike" kern="1200" baseline="0">
                <a:solidFill>
                  <a:srgbClr val="544F40"/>
                </a:solidFill>
                <a:latin typeface="Arial"/>
                <a:ea typeface="Arial"/>
                <a:cs typeface="Arial"/>
              </a:defRPr>
            </a:pPr>
            <a:endParaRPr lang="en-US"/>
          </a:p>
        </c:txPr>
        <c:crossAx val="830206096"/>
        <c:crosses val="autoZero"/>
        <c:crossBetween val="between"/>
      </c:valAx>
      <c:spPr>
        <a:noFill/>
        <a:ln>
          <a:noFill/>
        </a:ln>
        <a:effectLst>
          <a:innerShdw>
            <a:scrgbClr r="0" g="0" b="0"/>
          </a:innerShdw>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a:innerShdw>
        <a:scrgbClr r="0" g="0" b="0"/>
      </a:innerShdw>
    </a:effectLst>
    <a:extLst>
      <a:ext uri="{91240B29-F687-4F45-9708-019B960494DF}">
        <a14:hiddenLine xmlns:a14="http://schemas.microsoft.com/office/drawing/2010/main">
          <a:noFill/>
        </a14:hiddenLine>
      </a:ext>
    </a:extLst>
  </c:spPr>
  <c:txPr>
    <a:bodyPr/>
    <a:lstStyle/>
    <a:p>
      <a:pPr>
        <a:defRPr sz="1000">
          <a:solidFill>
            <a:srgbClr val="544F40"/>
          </a:solidFill>
          <a:latin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C5DC5B-BF83-D0F8-F17D-E458477D6A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CA5C446-58AD-F05A-78BC-F13AD7A39D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FE7CBA-E269-484E-BC88-4EF08BDBC0FE}" type="datetimeFigureOut">
              <a:rPr lang="en-GB" smtClean="0"/>
              <a:t>22/07/2025</a:t>
            </a:fld>
            <a:endParaRPr lang="en-GB"/>
          </a:p>
        </p:txBody>
      </p:sp>
      <p:sp>
        <p:nvSpPr>
          <p:cNvPr id="4" name="Footer Placeholder 3">
            <a:extLst>
              <a:ext uri="{FF2B5EF4-FFF2-40B4-BE49-F238E27FC236}">
                <a16:creationId xmlns:a16="http://schemas.microsoft.com/office/drawing/2014/main" id="{1BBAEC85-53EE-AA3F-A105-CB67500BDB5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61DCF5B-A081-B9F4-9E5F-FDA0297F20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59F402-05D6-4C19-804E-80C8EBA9A784}" type="slidenum">
              <a:rPr lang="en-GB" smtClean="0"/>
              <a:t>‹#›</a:t>
            </a:fld>
            <a:endParaRPr lang="en-GB"/>
          </a:p>
        </p:txBody>
      </p:sp>
    </p:spTree>
    <p:extLst>
      <p:ext uri="{BB962C8B-B14F-4D97-AF65-F5344CB8AC3E}">
        <p14:creationId xmlns:p14="http://schemas.microsoft.com/office/powerpoint/2010/main" val="20826926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fld id="{050A8971-52B8-4C5A-99D8-986A596F2912}" type="datetimeFigureOut">
              <a:rPr lang="en-GB" smtClean="0"/>
              <a:pPr/>
              <a:t>22/07/2025</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026B53C8-14E4-49A7-A1A5-3BF810B81EBE}" type="slidenum">
              <a:rPr lang="en-GB" smtClean="0"/>
              <a:pPr/>
              <a:t>‹#›</a:t>
            </a:fld>
            <a:endParaRPr lang="en-GB" dirty="0"/>
          </a:p>
        </p:txBody>
      </p:sp>
    </p:spTree>
    <p:extLst>
      <p:ext uri="{BB962C8B-B14F-4D97-AF65-F5344CB8AC3E}">
        <p14:creationId xmlns:p14="http://schemas.microsoft.com/office/powerpoint/2010/main" val="4209032733"/>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a:p>
        </p:txBody>
      </p:sp>
      <p:sp>
        <p:nvSpPr>
          <p:cNvPr id="4" name="Slide Number Placeholder 3"/>
          <p:cNvSpPr>
            <a:spLocks noGrp="1"/>
          </p:cNvSpPr>
          <p:nvPr>
            <p:ph type="sldNum" sz="quarter" idx="5"/>
          </p:nvPr>
        </p:nvSpPr>
        <p:spPr/>
        <p:txBody>
          <a:bodyPr/>
          <a:lstStyle/>
          <a:p>
            <a:fld id="{953A0CC3-FF33-41F8-9865-2C0277BEC2FF}" type="slidenum">
              <a:rPr lang="en-US" smtClean="0"/>
              <a:t>2</a:t>
            </a:fld>
            <a:endParaRPr lang="en-US"/>
          </a:p>
        </p:txBody>
      </p:sp>
    </p:spTree>
    <p:extLst>
      <p:ext uri="{BB962C8B-B14F-4D97-AF65-F5344CB8AC3E}">
        <p14:creationId xmlns:p14="http://schemas.microsoft.com/office/powerpoint/2010/main" val="934694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a:p>
            <a:endParaRPr lang="en-GB"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63CC9B-F1CD-4072-827A-B616240FBB0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5208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63CC9B-F1CD-4072-827A-B616240FBB0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5824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026B53C8-14E4-49A7-A1A5-3BF810B81EBE}" type="slidenum">
              <a:rPr kumimoji="0" lang="en-GB"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srgbClr val="000000"/>
              </a:solidFill>
              <a:effectLst/>
              <a:uLnTx/>
              <a:uFillTx/>
              <a:latin typeface="Arial" panose="020B0604020202020204" pitchFamily="34" charset="0"/>
              <a:ea typeface="+mn-ea"/>
              <a:cs typeface="Noto Sans"/>
            </a:endParaRPr>
          </a:p>
        </p:txBody>
      </p:sp>
    </p:spTree>
    <p:extLst>
      <p:ext uri="{BB962C8B-B14F-4D97-AF65-F5344CB8AC3E}">
        <p14:creationId xmlns:p14="http://schemas.microsoft.com/office/powerpoint/2010/main" val="3243590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DA9FCD-D547-4516-828C-98A63C4A9D7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0678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a:p>
        </p:txBody>
      </p:sp>
      <p:sp>
        <p:nvSpPr>
          <p:cNvPr id="4" name="Slide Number Placeholder 3"/>
          <p:cNvSpPr>
            <a:spLocks noGrp="1"/>
          </p:cNvSpPr>
          <p:nvPr>
            <p:ph type="sldNum" sz="quarter" idx="5"/>
          </p:nvPr>
        </p:nvSpPr>
        <p:spPr/>
        <p:txBody>
          <a:bodyPr/>
          <a:lstStyle/>
          <a:p>
            <a:fld id="{953A0CC3-FF33-41F8-9865-2C0277BEC2FF}" type="slidenum">
              <a:rPr lang="en-US" smtClean="0"/>
              <a:t>24</a:t>
            </a:fld>
            <a:endParaRPr lang="en-US"/>
          </a:p>
        </p:txBody>
      </p:sp>
    </p:spTree>
    <p:extLst>
      <p:ext uri="{BB962C8B-B14F-4D97-AF65-F5344CB8AC3E}">
        <p14:creationId xmlns:p14="http://schemas.microsoft.com/office/powerpoint/2010/main" val="358087203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3.jpg"/><Relationship Id="rId7" Type="http://schemas.openxmlformats.org/officeDocument/2006/relationships/image" Target="../media/image11.svg"/><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10.png"/><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1.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892896-0027-443A-D01E-0CE282B3A5CC}"/>
              </a:ext>
            </a:extLst>
          </p:cNvPr>
          <p:cNvGraphicFramePr>
            <a:graphicFrameLocks noChangeAspect="1"/>
          </p:cNvGraphicFramePr>
          <p:nvPr userDrawn="1">
            <p:custDataLst>
              <p:tags r:id="rId1"/>
            </p:custDataLst>
            <p:extLst>
              <p:ext uri="{D42A27DB-BD31-4B8C-83A1-F6EECF244321}">
                <p14:modId xmlns:p14="http://schemas.microsoft.com/office/powerpoint/2010/main" val="869136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C2892896-0027-443A-D01E-0CE282B3A5C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9" name="Freeform: Shape 38">
            <a:extLst>
              <a:ext uri="{FF2B5EF4-FFF2-40B4-BE49-F238E27FC236}">
                <a16:creationId xmlns:a16="http://schemas.microsoft.com/office/drawing/2014/main" id="{8ADD59A9-81EE-0DF4-BF97-645E59790906}"/>
              </a:ext>
            </a:extLst>
          </p:cNvPr>
          <p:cNvSpPr>
            <a:spLocks/>
          </p:cNvSpPr>
          <p:nvPr userDrawn="1"/>
        </p:nvSpPr>
        <p:spPr bwMode="auto">
          <a:xfrm>
            <a:off x="0" y="0"/>
            <a:ext cx="12192000" cy="3382710"/>
          </a:xfrm>
          <a:custGeom>
            <a:avLst/>
            <a:gdLst>
              <a:gd name="connsiteX0" fmla="*/ 0 w 12192000"/>
              <a:gd name="connsiteY0" fmla="*/ 0 h 3382710"/>
              <a:gd name="connsiteX1" fmla="*/ 12192000 w 12192000"/>
              <a:gd name="connsiteY1" fmla="*/ 0 h 3382710"/>
              <a:gd name="connsiteX2" fmla="*/ 12192000 w 12192000"/>
              <a:gd name="connsiteY2" fmla="*/ 2525484 h 3382710"/>
              <a:gd name="connsiteX3" fmla="*/ 10930890 w 12192000"/>
              <a:gd name="connsiteY3" fmla="*/ 2525484 h 3382710"/>
              <a:gd name="connsiteX4" fmla="*/ 8755659 w 12192000"/>
              <a:gd name="connsiteY4" fmla="*/ 2525484 h 3382710"/>
              <a:gd name="connsiteX5" fmla="*/ 7004114 w 12192000"/>
              <a:gd name="connsiteY5" fmla="*/ 2525484 h 3382710"/>
              <a:gd name="connsiteX6" fmla="*/ 6113526 w 12192000"/>
              <a:gd name="connsiteY6" fmla="*/ 3366922 h 3382710"/>
              <a:gd name="connsiteX7" fmla="*/ 6078476 w 12192000"/>
              <a:gd name="connsiteY7" fmla="*/ 3366922 h 3382710"/>
              <a:gd name="connsiteX8" fmla="*/ 5187887 w 12192000"/>
              <a:gd name="connsiteY8" fmla="*/ 2525484 h 3382710"/>
              <a:gd name="connsiteX9" fmla="*/ 3436341 w 12192000"/>
              <a:gd name="connsiteY9" fmla="*/ 2525484 h 3382710"/>
              <a:gd name="connsiteX10" fmla="*/ 1261112 w 12192000"/>
              <a:gd name="connsiteY10" fmla="*/ 2525484 h 3382710"/>
              <a:gd name="connsiteX11" fmla="*/ 0 w 12192000"/>
              <a:gd name="connsiteY11" fmla="*/ 2525484 h 33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382710">
                <a:moveTo>
                  <a:pt x="0" y="0"/>
                </a:moveTo>
                <a:lnTo>
                  <a:pt x="12192000" y="0"/>
                </a:lnTo>
                <a:lnTo>
                  <a:pt x="12192000" y="2525484"/>
                </a:lnTo>
                <a:lnTo>
                  <a:pt x="10930890" y="2525484"/>
                </a:lnTo>
                <a:lnTo>
                  <a:pt x="8755659" y="2525484"/>
                </a:lnTo>
                <a:lnTo>
                  <a:pt x="7004114" y="2525484"/>
                </a:lnTo>
                <a:cubicBezTo>
                  <a:pt x="6541294" y="2525484"/>
                  <a:pt x="6260783" y="2827046"/>
                  <a:pt x="6113526" y="3366922"/>
                </a:cubicBezTo>
                <a:cubicBezTo>
                  <a:pt x="6106478" y="3387973"/>
                  <a:pt x="6085525" y="3387973"/>
                  <a:pt x="6078476" y="3366922"/>
                </a:cubicBezTo>
                <a:cubicBezTo>
                  <a:pt x="5931221" y="2827046"/>
                  <a:pt x="5650707" y="2525484"/>
                  <a:pt x="5187887" y="2525484"/>
                </a:cubicBezTo>
                <a:lnTo>
                  <a:pt x="3436341" y="2525484"/>
                </a:lnTo>
                <a:lnTo>
                  <a:pt x="1261112" y="2525484"/>
                </a:lnTo>
                <a:lnTo>
                  <a:pt x="0" y="2525484"/>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dirty="0" err="1">
              <a:solidFill>
                <a:schemeClr val="tx1"/>
              </a:solidFill>
            </a:endParaRPr>
          </a:p>
        </p:txBody>
      </p:sp>
      <p:sp>
        <p:nvSpPr>
          <p:cNvPr id="17" name="Title 1"/>
          <p:cNvSpPr>
            <a:spLocks noGrp="1"/>
          </p:cNvSpPr>
          <p:nvPr>
            <p:ph type="ctrTitle" hasCustomPrompt="1"/>
          </p:nvPr>
        </p:nvSpPr>
        <p:spPr>
          <a:xfrm>
            <a:off x="520700" y="3940216"/>
            <a:ext cx="11150600" cy="548009"/>
          </a:xfrm>
          <a:prstGeom prst="rect">
            <a:avLst/>
          </a:prstGeom>
        </p:spPr>
        <p:txBody>
          <a:bodyPr vert="horz" anchor="b" anchorCtr="0">
            <a:noAutofit/>
          </a:bodyPr>
          <a:lstStyle>
            <a:lvl1pPr algn="ctr">
              <a:lnSpc>
                <a:spcPct val="100000"/>
              </a:lnSpc>
              <a:defRPr sz="3600">
                <a:solidFill>
                  <a:schemeClr val="bg1"/>
                </a:solidFill>
              </a:defRPr>
            </a:lvl1pPr>
          </a:lstStyle>
          <a:p>
            <a:r>
              <a:rPr lang="en-GB" dirty="0"/>
              <a:t>Click to enter presentation title</a:t>
            </a:r>
          </a:p>
        </p:txBody>
      </p:sp>
      <p:sp>
        <p:nvSpPr>
          <p:cNvPr id="20" name="Subtitle 2"/>
          <p:cNvSpPr>
            <a:spLocks noGrp="1"/>
          </p:cNvSpPr>
          <p:nvPr>
            <p:ph type="subTitle" idx="1" hasCustomPrompt="1"/>
          </p:nvPr>
        </p:nvSpPr>
        <p:spPr>
          <a:xfrm>
            <a:off x="520700" y="4502943"/>
            <a:ext cx="11150600" cy="475200"/>
          </a:xfrm>
          <a:prstGeom prst="rect">
            <a:avLst/>
          </a:prstGeom>
        </p:spPr>
        <p:txBody>
          <a:bodyPr wrap="square" lIns="0" tIns="0" rIns="0" bIns="0" anchor="t" anchorCtr="0">
            <a:noAutofit/>
          </a:bodyPr>
          <a:lstStyle>
            <a:lvl1pPr marL="0" indent="0" algn="ctr">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094470" y="6137672"/>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24" name="Picture 23" descr="Icon&#10;&#10;Description automatically generated with medium confidence">
            <a:extLst>
              <a:ext uri="{FF2B5EF4-FFF2-40B4-BE49-F238E27FC236}">
                <a16:creationId xmlns:a16="http://schemas.microsoft.com/office/drawing/2014/main" id="{40DDF016-D509-BED0-161C-B51B4CFCB427}"/>
              </a:ext>
            </a:extLst>
          </p:cNvPr>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4" name="TextBox 3">
            <a:extLst>
              <a:ext uri="{FF2B5EF4-FFF2-40B4-BE49-F238E27FC236}">
                <a16:creationId xmlns:a16="http://schemas.microsoft.com/office/drawing/2014/main" id="{27066925-A9FD-D8EA-F55B-638CB196E28C}"/>
              </a:ext>
            </a:extLst>
          </p:cNvPr>
          <p:cNvSpPr txBox="1"/>
          <p:nvPr userDrawn="1"/>
        </p:nvSpPr>
        <p:spPr>
          <a:xfrm>
            <a:off x="3047308" y="6621660"/>
            <a:ext cx="6097384" cy="261610"/>
          </a:xfrm>
          <a:prstGeom prst="rect">
            <a:avLst/>
          </a:prstGeom>
          <a:noFill/>
        </p:spPr>
        <p:txBody>
          <a:bodyPr wrap="square">
            <a:spAutoFit/>
          </a:bodyPr>
          <a:lstStyle/>
          <a:p>
            <a:pPr algn="ctr"/>
            <a:r>
              <a:rPr lang="en-GB" sz="1100" dirty="0"/>
              <a:t>For internal GSK use only</a:t>
            </a:r>
          </a:p>
        </p:txBody>
      </p:sp>
    </p:spTree>
    <p:extLst>
      <p:ext uri="{BB962C8B-B14F-4D97-AF65-F5344CB8AC3E}">
        <p14:creationId xmlns:p14="http://schemas.microsoft.com/office/powerpoint/2010/main" val="3665715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hit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30D3666-6EB4-2815-6D2E-EFE946A218AB}"/>
              </a:ext>
            </a:extLst>
          </p:cNvPr>
          <p:cNvGraphicFramePr>
            <a:graphicFrameLocks noChangeAspect="1"/>
          </p:cNvGraphicFramePr>
          <p:nvPr userDrawn="1">
            <p:custDataLst>
              <p:tags r:id="rId1"/>
            </p:custDataLst>
            <p:extLst>
              <p:ext uri="{D42A27DB-BD31-4B8C-83A1-F6EECF244321}">
                <p14:modId xmlns:p14="http://schemas.microsoft.com/office/powerpoint/2010/main" val="2224432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5" name="Object 4" hidden="1">
                        <a:extLst>
                          <a:ext uri="{FF2B5EF4-FFF2-40B4-BE49-F238E27FC236}">
                            <a16:creationId xmlns:a16="http://schemas.microsoft.com/office/drawing/2014/main" id="{F30D3666-6EB4-2815-6D2E-EFE946A218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descr="Icon&#10;&#10;Description automatically generated with medium confidence">
            <a:extLst>
              <a:ext uri="{FF2B5EF4-FFF2-40B4-BE49-F238E27FC236}">
                <a16:creationId xmlns:a16="http://schemas.microsoft.com/office/drawing/2014/main" id="{CD0C9FF5-5269-0182-FD37-55478A13B6D1}"/>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11" name="Text Placeholder 8">
            <a:extLst>
              <a:ext uri="{FF2B5EF4-FFF2-40B4-BE49-F238E27FC236}">
                <a16:creationId xmlns:a16="http://schemas.microsoft.com/office/drawing/2014/main" id="{8D015E68-9B94-B2B9-2F33-1D9732CC14B4}"/>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sp>
        <p:nvSpPr>
          <p:cNvPr id="12" name="Freeform: Shape 11">
            <a:extLst>
              <a:ext uri="{FF2B5EF4-FFF2-40B4-BE49-F238E27FC236}">
                <a16:creationId xmlns:a16="http://schemas.microsoft.com/office/drawing/2014/main" id="{458F29C9-8F7E-1D4B-3005-616565FA7753}"/>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5" name="Title 1">
            <a:extLst>
              <a:ext uri="{FF2B5EF4-FFF2-40B4-BE49-F238E27FC236}">
                <a16:creationId xmlns:a16="http://schemas.microsoft.com/office/drawing/2014/main" id="{4DF7007A-5965-5814-8FF8-29077566CBED}"/>
              </a:ext>
            </a:extLst>
          </p:cNvPr>
          <p:cNvSpPr>
            <a:spLocks noGrp="1"/>
          </p:cNvSpPr>
          <p:nvPr>
            <p:ph type="ctrTitle" hasCustomPrompt="1"/>
          </p:nvPr>
        </p:nvSpPr>
        <p:spPr>
          <a:xfrm>
            <a:off x="520700" y="5010784"/>
            <a:ext cx="11150600" cy="548009"/>
          </a:xfrm>
          <a:prstGeom prst="rect">
            <a:avLst/>
          </a:prstGeom>
        </p:spPr>
        <p:txBody>
          <a:bodyPr vert="horz" anchor="b" anchorCtr="0">
            <a:noAutofit/>
          </a:bodyPr>
          <a:lstStyle>
            <a:lvl1pPr>
              <a:lnSpc>
                <a:spcPct val="100000"/>
              </a:lnSpc>
              <a:defRPr sz="3600">
                <a:solidFill>
                  <a:schemeClr val="tx2"/>
                </a:solidFill>
              </a:defRPr>
            </a:lvl1pPr>
          </a:lstStyle>
          <a:p>
            <a:r>
              <a:rPr lang="en-GB" dirty="0"/>
              <a:t>Click to enter presentation title</a:t>
            </a:r>
          </a:p>
        </p:txBody>
      </p:sp>
      <p:sp>
        <p:nvSpPr>
          <p:cNvPr id="16" name="Subtitle 2">
            <a:extLst>
              <a:ext uri="{FF2B5EF4-FFF2-40B4-BE49-F238E27FC236}">
                <a16:creationId xmlns:a16="http://schemas.microsoft.com/office/drawing/2014/main" id="{F6A64F09-F5D8-B6EE-7ED5-2B69A4668CD5}"/>
              </a:ext>
            </a:extLst>
          </p:cNvPr>
          <p:cNvSpPr>
            <a:spLocks noGrp="1"/>
          </p:cNvSpPr>
          <p:nvPr>
            <p:ph type="subTitle" idx="1" hasCustomPrompt="1"/>
          </p:nvPr>
        </p:nvSpPr>
        <p:spPr>
          <a:xfrm>
            <a:off x="520700" y="5558794"/>
            <a:ext cx="11150600" cy="4752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sp>
        <p:nvSpPr>
          <p:cNvPr id="10" name="Rectangle 9">
            <a:extLst>
              <a:ext uri="{FF2B5EF4-FFF2-40B4-BE49-F238E27FC236}">
                <a16:creationId xmlns:a16="http://schemas.microsoft.com/office/drawing/2014/main" id="{1811AA76-84DB-E6D7-7F67-E7CF37FEEDBC}"/>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chemeClr val="tx2"/>
                </a:solidFill>
                <a:latin typeface="+mn-lt"/>
              </a:rPr>
              <a:t>gsk.com</a:t>
            </a:r>
          </a:p>
        </p:txBody>
      </p:sp>
      <p:pic>
        <p:nvPicPr>
          <p:cNvPr id="14" name="Graphic 13">
            <a:extLst>
              <a:ext uri="{FF2B5EF4-FFF2-40B4-BE49-F238E27FC236}">
                <a16:creationId xmlns:a16="http://schemas.microsoft.com/office/drawing/2014/main" id="{F8155D66-36CA-D9A7-7EDA-E532E62376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094470" y="6137672"/>
            <a:ext cx="159543" cy="159543"/>
          </a:xfrm>
          <a:prstGeom prst="rect">
            <a:avLst/>
          </a:prstGeom>
        </p:spPr>
      </p:pic>
    </p:spTree>
    <p:extLst>
      <p:ext uri="{BB962C8B-B14F-4D97-AF65-F5344CB8AC3E}">
        <p14:creationId xmlns:p14="http://schemas.microsoft.com/office/powerpoint/2010/main" val="385931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DIA Slide">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717EDF-9AA4-491F-3311-9F14A5CFB89C}"/>
              </a:ext>
            </a:extLst>
          </p:cNvPr>
          <p:cNvSpPr/>
          <p:nvPr userDrawn="1"/>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dirty="0">
                <a:solidFill>
                  <a:schemeClr val="tx2"/>
                </a:solidFill>
              </a:rPr>
              <a:t>Owner</a:t>
            </a:r>
          </a:p>
        </p:txBody>
      </p:sp>
      <p:sp>
        <p:nvSpPr>
          <p:cNvPr id="47" name="Rectangle 46">
            <a:extLst>
              <a:ext uri="{FF2B5EF4-FFF2-40B4-BE49-F238E27FC236}">
                <a16:creationId xmlns:a16="http://schemas.microsoft.com/office/drawing/2014/main" id="{D4AC67F3-7D0E-A071-327B-17B446179DB8}"/>
              </a:ext>
            </a:extLst>
          </p:cNvPr>
          <p:cNvSpPr/>
          <p:nvPr userDrawn="1"/>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dirty="0">
                <a:solidFill>
                  <a:schemeClr val="tx2"/>
                </a:solidFill>
              </a:rPr>
              <a:t>Objectives</a:t>
            </a:r>
          </a:p>
        </p:txBody>
      </p:sp>
      <p:sp>
        <p:nvSpPr>
          <p:cNvPr id="25" name="Text Placeholder 24">
            <a:extLst>
              <a:ext uri="{FF2B5EF4-FFF2-40B4-BE49-F238E27FC236}">
                <a16:creationId xmlns:a16="http://schemas.microsoft.com/office/drawing/2014/main" id="{4E30BA3B-88CD-41DE-E089-7100E3E52AF4}"/>
              </a:ext>
            </a:extLst>
          </p:cNvPr>
          <p:cNvSpPr>
            <a:spLocks noGrp="1"/>
          </p:cNvSpPr>
          <p:nvPr>
            <p:ph type="body" sz="quarter" idx="13" hasCustomPrompt="1"/>
          </p:nvPr>
        </p:nvSpPr>
        <p:spPr>
          <a:xfrm>
            <a:off x="2407432" y="4557510"/>
            <a:ext cx="9414362" cy="1473605"/>
          </a:xfrm>
          <a:prstGeom prst="rect">
            <a:avLst/>
          </a:prstGeom>
          <a:solidFill>
            <a:schemeClr val="bg1">
              <a:lumMod val="95000"/>
            </a:schemeClr>
          </a:solidFill>
          <a:ln>
            <a:noFill/>
          </a:ln>
        </p:spPr>
        <p:txBody>
          <a:bodyPr wrap="square" lIns="180000" tIns="144000" rIns="18000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DECISION: To seek X’s [single point accountable decision maker] decision to implement A</a:t>
            </a:r>
            <a:br>
              <a:rPr lang="en-US" dirty="0"/>
            </a:br>
            <a:r>
              <a:rPr lang="en-US" dirty="0"/>
              <a:t>INPUT: To receive input to the proposed plan for B</a:t>
            </a:r>
            <a:br>
              <a:rPr lang="en-US" dirty="0"/>
            </a:br>
            <a:r>
              <a:rPr lang="en-US" dirty="0"/>
              <a:t>AWARENESS: To update XXX regarding C</a:t>
            </a:r>
          </a:p>
        </p:txBody>
      </p:sp>
      <p:sp>
        <p:nvSpPr>
          <p:cNvPr id="31" name="Text Placeholder 30">
            <a:extLst>
              <a:ext uri="{FF2B5EF4-FFF2-40B4-BE49-F238E27FC236}">
                <a16:creationId xmlns:a16="http://schemas.microsoft.com/office/drawing/2014/main" id="{DC6E06B6-BD9A-7A5E-5A90-56308009FF5E}"/>
              </a:ext>
            </a:extLst>
          </p:cNvPr>
          <p:cNvSpPr>
            <a:spLocks noGrp="1"/>
          </p:cNvSpPr>
          <p:nvPr>
            <p:ph type="body" sz="quarter" idx="41" hasCustomPrompt="1"/>
          </p:nvPr>
        </p:nvSpPr>
        <p:spPr>
          <a:xfrm>
            <a:off x="2407432" y="6107998"/>
            <a:ext cx="9414362" cy="505527"/>
          </a:xfrm>
          <a:prstGeom prst="rect">
            <a:avLst/>
          </a:prstGeom>
          <a:solidFill>
            <a:schemeClr val="bg1">
              <a:lumMod val="95000"/>
            </a:schemeClr>
          </a:solidFill>
          <a:ln>
            <a:noFill/>
          </a:ln>
        </p:spPr>
        <p:txBody>
          <a:bodyPr wrap="square" lIns="180000" tIns="72000" rIns="180000" bIns="72000" anchor="ctr" anchorCtr="0">
            <a:noAutofit/>
          </a:bodyPr>
          <a:lstStyle>
            <a:lvl1pPr marL="0" indent="0">
              <a:buFont typeface="+mj-lt"/>
              <a:buNone/>
              <a:defRPr sz="1200"/>
            </a:lvl1pPr>
            <a:lvl2pPr marL="357542" indent="0">
              <a:buNone/>
              <a:defRPr/>
            </a:lvl2pPr>
          </a:lstStyle>
          <a:p>
            <a:pPr lvl="0"/>
            <a:r>
              <a:rPr lang="en-US" dirty="0"/>
              <a:t>Single person accountable for this topic / paper</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523973" y="4990763"/>
            <a:ext cx="1806576" cy="1040352"/>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clear, focused objectives </a:t>
            </a:r>
            <a:br>
              <a:rPr lang="en-US" dirty="0"/>
            </a:br>
            <a:r>
              <a:rPr lang="en-US" dirty="0"/>
              <a:t>(</a:t>
            </a:r>
            <a:r>
              <a:rPr lang="en-US" dirty="0" err="1"/>
              <a:t>i</a:t>
            </a:r>
            <a:r>
              <a:rPr lang="en-US" dirty="0"/>
              <a:t>) for decision, </a:t>
            </a:r>
            <a:br>
              <a:rPr lang="en-US" dirty="0"/>
            </a:br>
            <a:r>
              <a:rPr lang="en-US" dirty="0"/>
              <a:t>(ii) for input </a:t>
            </a:r>
            <a:br>
              <a:rPr lang="en-US" dirty="0"/>
            </a:br>
            <a:r>
              <a:rPr lang="en-US" dirty="0"/>
              <a:t>(iii) for awareness</a:t>
            </a:r>
          </a:p>
        </p:txBody>
      </p:sp>
      <p:sp>
        <p:nvSpPr>
          <p:cNvPr id="52" name="Freeform: Shape 51">
            <a:extLst>
              <a:ext uri="{FF2B5EF4-FFF2-40B4-BE49-F238E27FC236}">
                <a16:creationId xmlns:a16="http://schemas.microsoft.com/office/drawing/2014/main" id="{4E683597-5ADE-F2A0-A01C-FD8E476ABB8B}"/>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2" name="Text Placeholder 8">
            <a:extLst>
              <a:ext uri="{FF2B5EF4-FFF2-40B4-BE49-F238E27FC236}">
                <a16:creationId xmlns:a16="http://schemas.microsoft.com/office/drawing/2014/main" id="{7A99F019-A435-B954-ABA9-68CA4DD19B21}"/>
              </a:ext>
            </a:extLst>
          </p:cNvPr>
          <p:cNvSpPr>
            <a:spLocks noGrp="1"/>
          </p:cNvSpPr>
          <p:nvPr>
            <p:ph type="body" sz="quarter" idx="42"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3" name="Picture 2" descr="Icon&#10;&#10;Description automatically generated with medium confidence">
            <a:extLst>
              <a:ext uri="{FF2B5EF4-FFF2-40B4-BE49-F238E27FC236}">
                <a16:creationId xmlns:a16="http://schemas.microsoft.com/office/drawing/2014/main" id="{81F87534-B1D7-C46B-9E66-8AC88439308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custDataLst>
      <p:tags r:id="rId1"/>
    </p:custDataLst>
    <p:extLst>
      <p:ext uri="{BB962C8B-B14F-4D97-AF65-F5344CB8AC3E}">
        <p14:creationId xmlns:p14="http://schemas.microsoft.com/office/powerpoint/2010/main" val="1901832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SPADM">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AC59E1C-A015-4BA4-AB7D-EC00F37B815F}"/>
              </a:ext>
            </a:extLst>
          </p:cNvPr>
          <p:cNvSpPr/>
          <p:nvPr userDrawn="1"/>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Objectives</a:t>
            </a:r>
          </a:p>
        </p:txBody>
      </p:sp>
      <p:sp>
        <p:nvSpPr>
          <p:cNvPr id="34" name="Rectangle 33">
            <a:extLst>
              <a:ext uri="{FF2B5EF4-FFF2-40B4-BE49-F238E27FC236}">
                <a16:creationId xmlns:a16="http://schemas.microsoft.com/office/drawing/2014/main" id="{D4EBA022-30B3-B17F-5D7C-3A3D869D35FA}"/>
              </a:ext>
            </a:extLst>
          </p:cNvPr>
          <p:cNvSpPr>
            <a:spLocks/>
          </p:cNvSpPr>
          <p:nvPr userDrawn="1"/>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Key questions</a:t>
            </a:r>
          </a:p>
        </p:txBody>
      </p:sp>
      <p:sp>
        <p:nvSpPr>
          <p:cNvPr id="35" name="Rectangle 34">
            <a:extLst>
              <a:ext uri="{FF2B5EF4-FFF2-40B4-BE49-F238E27FC236}">
                <a16:creationId xmlns:a16="http://schemas.microsoft.com/office/drawing/2014/main" id="{FF5A742C-A049-77AC-C2E5-4272D118CC96}"/>
              </a:ext>
            </a:extLst>
          </p:cNvPr>
          <p:cNvSpPr>
            <a:spLocks/>
          </p:cNvSpPr>
          <p:nvPr userDrawn="1"/>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Next steps</a:t>
            </a:r>
          </a:p>
        </p:txBody>
      </p:sp>
      <p:sp>
        <p:nvSpPr>
          <p:cNvPr id="21" name="Rectangle 20">
            <a:extLst>
              <a:ext uri="{FF2B5EF4-FFF2-40B4-BE49-F238E27FC236}">
                <a16:creationId xmlns:a16="http://schemas.microsoft.com/office/drawing/2014/main" id="{E66507E6-44A7-B4B5-33F1-9F0C0DC0FDE1}"/>
              </a:ext>
            </a:extLst>
          </p:cNvPr>
          <p:cNvSpPr/>
          <p:nvPr userDrawn="1"/>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Owner</a:t>
            </a:r>
          </a:p>
        </p:txBody>
      </p:sp>
      <p:sp>
        <p:nvSpPr>
          <p:cNvPr id="3" name="Footer Placeholder 2">
            <a:extLst>
              <a:ext uri="{FF2B5EF4-FFF2-40B4-BE49-F238E27FC236}">
                <a16:creationId xmlns:a16="http://schemas.microsoft.com/office/drawing/2014/main" id="{9B773ECA-2D04-B6E9-1FB4-377F08AA5D14}"/>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C3976886-926E-8975-E95D-5BCD6F82EEEF}"/>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A15E9B4D-B613-11AE-72F8-5A0C3EBFD95A}"/>
              </a:ext>
            </a:extLst>
          </p:cNvPr>
          <p:cNvSpPr>
            <a:spLocks noGrp="1"/>
          </p:cNvSpPr>
          <p:nvPr>
            <p:ph type="dt" sz="half" idx="12"/>
          </p:nvPr>
        </p:nvSpPr>
        <p:spPr/>
        <p:txBody>
          <a:bodyPr/>
          <a:lstStyle/>
          <a:p>
            <a:fld id="{346B58B4-0D72-4C8B-9355-854FB5782278}" type="datetime4">
              <a:rPr lang="en-GB" smtClean="0"/>
              <a:t>22 July 2025</a:t>
            </a:fld>
            <a:endParaRPr lang="en-GB" dirty="0"/>
          </a:p>
        </p:txBody>
      </p:sp>
      <p:sp>
        <p:nvSpPr>
          <p:cNvPr id="6" name="Title 1">
            <a:extLst>
              <a:ext uri="{FF2B5EF4-FFF2-40B4-BE49-F238E27FC236}">
                <a16:creationId xmlns:a16="http://schemas.microsoft.com/office/drawing/2014/main" id="{25ABB6F2-78D4-BCC3-D950-5FAF7FCB8FDD}"/>
              </a:ext>
            </a:extLst>
          </p:cNvPr>
          <p:cNvSpPr>
            <a:spLocks noGrp="1"/>
          </p:cNvSpPr>
          <p:nvPr>
            <p:ph type="title" hasCustomPrompt="1"/>
          </p:nvPr>
        </p:nvSpPr>
        <p:spPr>
          <a:xfrm>
            <a:off x="365126" y="242888"/>
            <a:ext cx="7554912" cy="430887"/>
          </a:xfrm>
        </p:spPr>
        <p:txBody>
          <a:bodyPr/>
          <a:lstStyle>
            <a:lvl1pPr>
              <a:defRPr/>
            </a:lvl1pPr>
          </a:lstStyle>
          <a:p>
            <a:r>
              <a:rPr lang="en-US" dirty="0"/>
              <a:t>Click to add topic / paper title</a:t>
            </a:r>
          </a:p>
        </p:txBody>
      </p:sp>
      <p:sp>
        <p:nvSpPr>
          <p:cNvPr id="7" name="Subtitle 2">
            <a:extLst>
              <a:ext uri="{FF2B5EF4-FFF2-40B4-BE49-F238E27FC236}">
                <a16:creationId xmlns:a16="http://schemas.microsoft.com/office/drawing/2014/main" id="{FA46E8B4-4C83-8DD1-80BB-CC03BD24AFCC}"/>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0" name="Text Placeholder 9">
            <a:extLst>
              <a:ext uri="{FF2B5EF4-FFF2-40B4-BE49-F238E27FC236}">
                <a16:creationId xmlns:a16="http://schemas.microsoft.com/office/drawing/2014/main" id="{8E19B5E4-F2A8-7F44-855D-F41DDE3B3D9F}"/>
              </a:ext>
            </a:extLst>
          </p:cNvPr>
          <p:cNvSpPr>
            <a:spLocks noGrp="1"/>
          </p:cNvSpPr>
          <p:nvPr>
            <p:ph type="body" sz="quarter" idx="34" hasCustomPrompt="1"/>
          </p:nvPr>
        </p:nvSpPr>
        <p:spPr>
          <a:xfrm>
            <a:off x="8172450" y="694948"/>
            <a:ext cx="3649661" cy="352801"/>
          </a:xfrm>
        </p:spPr>
        <p:txBody>
          <a:bodyPr lIns="0" tIns="0" rIns="0" bIns="18000" anchor="b" anchorCtr="0">
            <a:noAutofit/>
          </a:bodyPr>
          <a:lstStyle>
            <a:lvl1pPr marL="0" indent="0" algn="r">
              <a:buNone/>
              <a:defRPr sz="1400" b="0">
                <a:solidFill>
                  <a:schemeClr val="tx1"/>
                </a:solidFill>
              </a:defRPr>
            </a:lvl1pPr>
          </a:lstStyle>
          <a:p>
            <a:pPr lvl="0"/>
            <a:r>
              <a:rPr lang="en-US" dirty="0"/>
              <a:t>Click to insert date of session </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365126" y="1777158"/>
            <a:ext cx="1695450" cy="926921"/>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clear, focused objectives </a:t>
            </a:r>
            <a:br>
              <a:rPr lang="en-US" dirty="0"/>
            </a:br>
            <a:r>
              <a:rPr lang="en-US" dirty="0"/>
              <a:t>(</a:t>
            </a:r>
            <a:r>
              <a:rPr lang="en-US" dirty="0" err="1"/>
              <a:t>i</a:t>
            </a:r>
            <a:r>
              <a:rPr lang="en-US" dirty="0"/>
              <a:t>) for decision, </a:t>
            </a:r>
            <a:br>
              <a:rPr lang="en-US" dirty="0"/>
            </a:br>
            <a:r>
              <a:rPr lang="en-US" dirty="0"/>
              <a:t>(ii) for input </a:t>
            </a:r>
            <a:br>
              <a:rPr lang="en-US" dirty="0"/>
            </a:br>
            <a:r>
              <a:rPr lang="en-US" dirty="0"/>
              <a:t>(iii) for awareness</a:t>
            </a:r>
          </a:p>
        </p:txBody>
      </p:sp>
      <p:sp>
        <p:nvSpPr>
          <p:cNvPr id="25" name="Rectangle 24">
            <a:extLst>
              <a:ext uri="{FF2B5EF4-FFF2-40B4-BE49-F238E27FC236}">
                <a16:creationId xmlns:a16="http://schemas.microsoft.com/office/drawing/2014/main" id="{1BD6FC89-B057-E6C5-C8EA-1FC8CB31B6CA}"/>
              </a:ext>
            </a:extLst>
          </p:cNvPr>
          <p:cNvSpPr/>
          <p:nvPr userDrawn="1"/>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dirty="0">
                <a:solidFill>
                  <a:schemeClr val="tx2"/>
                </a:solidFill>
              </a:rPr>
              <a:t>Session date:</a:t>
            </a:r>
          </a:p>
        </p:txBody>
      </p:sp>
      <p:sp>
        <p:nvSpPr>
          <p:cNvPr id="24" name="Text Placeholder 6">
            <a:extLst>
              <a:ext uri="{FF2B5EF4-FFF2-40B4-BE49-F238E27FC236}">
                <a16:creationId xmlns:a16="http://schemas.microsoft.com/office/drawing/2014/main" id="{B166E02B-F260-FEAF-DDEB-67922AA11E6E}"/>
              </a:ext>
            </a:extLst>
          </p:cNvPr>
          <p:cNvSpPr>
            <a:spLocks noGrp="1"/>
          </p:cNvSpPr>
          <p:nvPr userDrawn="1">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key questions to be addressed at the meeting</a:t>
            </a:r>
          </a:p>
        </p:txBody>
      </p:sp>
      <p:sp>
        <p:nvSpPr>
          <p:cNvPr id="90" name="Freeform: Shape 89">
            <a:extLst>
              <a:ext uri="{FF2B5EF4-FFF2-40B4-BE49-F238E27FC236}">
                <a16:creationId xmlns:a16="http://schemas.microsoft.com/office/drawing/2014/main" id="{9EA22563-2363-AB1F-DC9F-7A545793364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4" name="Text Placeholder 53">
            <a:extLst>
              <a:ext uri="{FF2B5EF4-FFF2-40B4-BE49-F238E27FC236}">
                <a16:creationId xmlns:a16="http://schemas.microsoft.com/office/drawing/2014/main" id="{82C5C591-14F5-449A-187A-1D9A683E961E}"/>
              </a:ext>
            </a:extLst>
          </p:cNvPr>
          <p:cNvSpPr>
            <a:spLocks noGrp="1"/>
          </p:cNvSpPr>
          <p:nvPr>
            <p:ph type="body" sz="quarter" idx="44" hasCustomPrompt="1"/>
          </p:nvPr>
        </p:nvSpPr>
        <p:spPr>
          <a:xfrm>
            <a:off x="2260405" y="1307574"/>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DECISION: To seek X’s [single point accountable decision maker] decision to implement A</a:t>
            </a:r>
            <a:br>
              <a:rPr lang="en-US" dirty="0"/>
            </a:br>
            <a:r>
              <a:rPr lang="en-US" dirty="0"/>
              <a:t>INPUT: To receive input to the proposed plan for B</a:t>
            </a:r>
            <a:br>
              <a:rPr lang="en-US" dirty="0"/>
            </a:br>
            <a:r>
              <a:rPr lang="en-US" dirty="0"/>
              <a:t>AWARENESS: To update XXX regarding C</a:t>
            </a:r>
          </a:p>
        </p:txBody>
      </p:sp>
      <p:sp>
        <p:nvSpPr>
          <p:cNvPr id="55" name="Text Placeholder 54">
            <a:extLst>
              <a:ext uri="{FF2B5EF4-FFF2-40B4-BE49-F238E27FC236}">
                <a16:creationId xmlns:a16="http://schemas.microsoft.com/office/drawing/2014/main" id="{54077D3A-2E14-68B6-5E16-413475F36C3A}"/>
              </a:ext>
            </a:extLst>
          </p:cNvPr>
          <p:cNvSpPr>
            <a:spLocks noGrp="1"/>
          </p:cNvSpPr>
          <p:nvPr>
            <p:ph type="body" sz="quarter" idx="45" hasCustomPrompt="1"/>
          </p:nvPr>
        </p:nvSpPr>
        <p:spPr>
          <a:xfrm>
            <a:off x="2260405" y="2778690"/>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Does XXX have further input on the proposals set out or require additional information?</a:t>
            </a:r>
            <a:br>
              <a:rPr lang="en-US" dirty="0"/>
            </a:br>
            <a:r>
              <a:rPr lang="en-US" dirty="0"/>
              <a:t>Is XXX supportive of the recommendation to x, y, z?</a:t>
            </a:r>
            <a:br>
              <a:rPr lang="en-US" dirty="0"/>
            </a:br>
            <a:r>
              <a:rPr lang="en-US" dirty="0"/>
              <a:t>Does XXX support the approach outlined to x, y, z?</a:t>
            </a:r>
          </a:p>
        </p:txBody>
      </p:sp>
      <p:sp>
        <p:nvSpPr>
          <p:cNvPr id="56" name="Text Placeholder 55">
            <a:extLst>
              <a:ext uri="{FF2B5EF4-FFF2-40B4-BE49-F238E27FC236}">
                <a16:creationId xmlns:a16="http://schemas.microsoft.com/office/drawing/2014/main" id="{5DE7D720-AF89-6DE4-D2E5-33C7B01B7E91}"/>
              </a:ext>
            </a:extLst>
          </p:cNvPr>
          <p:cNvSpPr>
            <a:spLocks noGrp="1"/>
          </p:cNvSpPr>
          <p:nvPr>
            <p:ph type="body" sz="quarter" idx="46" hasCustomPrompt="1"/>
          </p:nvPr>
        </p:nvSpPr>
        <p:spPr>
          <a:xfrm>
            <a:off x="2260405" y="4249806"/>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Key steps following XXX review / decision</a:t>
            </a:r>
          </a:p>
        </p:txBody>
      </p:sp>
      <p:sp>
        <p:nvSpPr>
          <p:cNvPr id="57" name="Text Placeholder 56">
            <a:extLst>
              <a:ext uri="{FF2B5EF4-FFF2-40B4-BE49-F238E27FC236}">
                <a16:creationId xmlns:a16="http://schemas.microsoft.com/office/drawing/2014/main" id="{8C53FB3B-975B-80D5-29B3-81DC27DCAC8F}"/>
              </a:ext>
            </a:extLst>
          </p:cNvPr>
          <p:cNvSpPr>
            <a:spLocks noGrp="1"/>
          </p:cNvSpPr>
          <p:nvPr>
            <p:ph type="body" sz="quarter" idx="48" hasCustomPrompt="1"/>
          </p:nvPr>
        </p:nvSpPr>
        <p:spPr>
          <a:xfrm>
            <a:off x="2260405" y="5720922"/>
            <a:ext cx="9557738" cy="363373"/>
          </a:xfrm>
          <a:prstGeom prst="rect">
            <a:avLst/>
          </a:prstGeom>
          <a:solidFill>
            <a:schemeClr val="bg1">
              <a:lumMod val="95000"/>
            </a:schemeClr>
          </a:solidFill>
          <a:ln>
            <a:noFill/>
          </a:ln>
        </p:spPr>
        <p:txBody>
          <a:bodyPr wrap="square" lIns="180000" tIns="36000" rIns="0" bIns="36000" anchor="ctr" anchorCtr="0">
            <a:noAutofit/>
          </a:bodyPr>
          <a:lstStyle>
            <a:lvl1pPr marL="0" indent="0">
              <a:spcBef>
                <a:spcPts val="0"/>
              </a:spcBef>
              <a:spcAft>
                <a:spcPts val="0"/>
              </a:spcAft>
              <a:buSzPct val="100000"/>
              <a:buFont typeface="+mj-lt"/>
              <a:buNone/>
              <a:defRPr sz="1200"/>
            </a:lvl1pPr>
            <a:lvl2pPr marL="357542" indent="0">
              <a:buNone/>
              <a:defRPr/>
            </a:lvl2pPr>
          </a:lstStyle>
          <a:p>
            <a:pPr lvl="0"/>
            <a:r>
              <a:rPr lang="en-US" dirty="0"/>
              <a:t>Single person accountable for this topic / paper</a:t>
            </a:r>
          </a:p>
        </p:txBody>
      </p:sp>
    </p:spTree>
    <p:custDataLst>
      <p:tags r:id="rId1"/>
    </p:custDataLst>
    <p:extLst>
      <p:ext uri="{BB962C8B-B14F-4D97-AF65-F5344CB8AC3E}">
        <p14:creationId xmlns:p14="http://schemas.microsoft.com/office/powerpoint/2010/main" val="3562571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000430-8A32-4EA0-BAD1-A7727B812F8C}"/>
              </a:ext>
            </a:extLst>
          </p:cNvPr>
          <p:cNvSpPr>
            <a:spLocks noGrp="1"/>
          </p:cNvSpPr>
          <p:nvPr>
            <p:ph type="dt" sz="half" idx="10"/>
          </p:nvPr>
        </p:nvSpPr>
        <p:spPr/>
        <p:txBody>
          <a:bodyPr/>
          <a:lstStyle/>
          <a:p>
            <a:fld id="{02542794-638D-4328-B0BC-C610FB243ADC}" type="datetime4">
              <a:rPr lang="en-GB" smtClean="0"/>
              <a:t>22 July 2025</a:t>
            </a:fld>
            <a:endParaRPr lang="en-GB" dirty="0"/>
          </a:p>
        </p:txBody>
      </p:sp>
      <p:sp>
        <p:nvSpPr>
          <p:cNvPr id="4" name="Footer Placeholder 3">
            <a:extLst>
              <a:ext uri="{FF2B5EF4-FFF2-40B4-BE49-F238E27FC236}">
                <a16:creationId xmlns:a16="http://schemas.microsoft.com/office/drawing/2014/main" id="{F706E0BB-62AD-47AF-909C-4F33FB5616E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253CEE5C-8451-457A-BD36-F438731DB091}"/>
              </a:ext>
            </a:extLst>
          </p:cNvPr>
          <p:cNvSpPr>
            <a:spLocks noGrp="1"/>
          </p:cNvSpPr>
          <p:nvPr>
            <p:ph type="sldNum" sz="quarter" idx="12"/>
          </p:nvPr>
        </p:nvSpPr>
        <p:spPr/>
        <p:txBody>
          <a:bodyPr/>
          <a:lstStyle/>
          <a:p>
            <a:fld id="{9F9F533D-B52E-4A2F-BF72-0ADD2D94BD75}" type="slidenum">
              <a:rPr lang="en-GB" smtClean="0"/>
              <a:pPr/>
              <a:t>‹#›</a:t>
            </a:fld>
            <a:endParaRPr lang="en-GB" dirty="0"/>
          </a:p>
        </p:txBody>
      </p:sp>
      <p:sp>
        <p:nvSpPr>
          <p:cNvPr id="19" name="Text Placeholder 18">
            <a:extLst>
              <a:ext uri="{FF2B5EF4-FFF2-40B4-BE49-F238E27FC236}">
                <a16:creationId xmlns:a16="http://schemas.microsoft.com/office/drawing/2014/main" id="{61071252-BD8E-4D3D-BF35-8427544DDF49}"/>
              </a:ext>
            </a:extLst>
          </p:cNvPr>
          <p:cNvSpPr>
            <a:spLocks noGrp="1"/>
          </p:cNvSpPr>
          <p:nvPr>
            <p:ph type="body" sz="quarter" idx="13" hasCustomPrompt="1"/>
          </p:nvPr>
        </p:nvSpPr>
        <p:spPr>
          <a:xfrm>
            <a:off x="5113176" y="242888"/>
            <a:ext cx="6712112" cy="5848350"/>
          </a:xfrm>
        </p:spPr>
        <p:txBody>
          <a:bodyPr lIns="0" tIns="180000" rIns="0" bIns="180000" anchor="t">
            <a:noAutofit/>
          </a:bodyPr>
          <a:lstStyle>
            <a:lvl1pPr marL="720000" indent="-720000">
              <a:spcBef>
                <a:spcPts val="1200"/>
              </a:spcBef>
              <a:spcAft>
                <a:spcPts val="1200"/>
              </a:spcAft>
              <a:buClr>
                <a:schemeClr val="tx2"/>
              </a:buClr>
              <a:buSzPct val="100000"/>
              <a:buFont typeface="+mj-lt"/>
              <a:buAutoNum type="arabicPeriod"/>
              <a:defRPr sz="2800"/>
            </a:lvl1pPr>
            <a:lvl2pPr marL="814742" indent="-457200">
              <a:buClr>
                <a:schemeClr val="tx2"/>
              </a:buClr>
              <a:buFont typeface="+mj-lt"/>
              <a:buAutoNum type="arabicPeriod"/>
              <a:defRPr/>
            </a:lvl2pPr>
            <a:lvl3pPr marL="1177182" indent="-457200">
              <a:buClr>
                <a:schemeClr val="tx2"/>
              </a:buClr>
              <a:buFont typeface="+mj-lt"/>
              <a:buAutoNum type="arabicPeriod"/>
              <a:defRPr/>
            </a:lvl3pPr>
            <a:lvl4pPr>
              <a:buClr>
                <a:schemeClr val="tx2"/>
              </a:buClr>
              <a:buFont typeface="+mj-lt"/>
              <a:buAutoNum type="arabicPeriod"/>
              <a:defRPr/>
            </a:lvl4pPr>
            <a:lvl5pPr>
              <a:buClr>
                <a:schemeClr val="tx2"/>
              </a:buClr>
              <a:buFont typeface="+mj-lt"/>
              <a:buAutoNum type="arabicPeriod"/>
              <a:defRPr/>
            </a:lvl5pPr>
          </a:lstStyle>
          <a:p>
            <a:pPr lvl="0"/>
            <a:r>
              <a:rPr lang="en-GB" dirty="0"/>
              <a:t>Agenda point 1, add text here.</a:t>
            </a:r>
            <a:br>
              <a:rPr lang="en-GB" dirty="0"/>
            </a:br>
            <a:r>
              <a:rPr lang="en-GB" dirty="0"/>
              <a:t>Agenda point 2, add text here.</a:t>
            </a:r>
            <a:br>
              <a:rPr lang="en-GB" dirty="0"/>
            </a:br>
            <a:r>
              <a:rPr lang="en-GB" dirty="0"/>
              <a:t>Agenda point 3, add text here.</a:t>
            </a:r>
            <a:br>
              <a:rPr lang="en-GB" dirty="0"/>
            </a:br>
            <a:r>
              <a:rPr lang="en-GB" dirty="0"/>
              <a:t>Agenda point 4, add text here.</a:t>
            </a:r>
            <a:br>
              <a:rPr lang="en-GB" dirty="0"/>
            </a:br>
            <a:r>
              <a:rPr lang="en-GB" dirty="0"/>
              <a:t>Agenda point 5, add text here.</a:t>
            </a:r>
          </a:p>
        </p:txBody>
      </p:sp>
      <p:sp>
        <p:nvSpPr>
          <p:cNvPr id="8" name="Title 1">
            <a:extLst>
              <a:ext uri="{FF2B5EF4-FFF2-40B4-BE49-F238E27FC236}">
                <a16:creationId xmlns:a16="http://schemas.microsoft.com/office/drawing/2014/main" id="{0630E13A-9E76-B161-1416-CBE84BD22827}"/>
              </a:ext>
            </a:extLst>
          </p:cNvPr>
          <p:cNvSpPr>
            <a:spLocks noGrp="1"/>
          </p:cNvSpPr>
          <p:nvPr>
            <p:ph type="title"/>
          </p:nvPr>
        </p:nvSpPr>
        <p:spPr>
          <a:xfrm>
            <a:off x="365126" y="242888"/>
            <a:ext cx="4748050"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2202868D-ACDF-6434-3575-872690D6A783}"/>
              </a:ext>
            </a:extLst>
          </p:cNvPr>
          <p:cNvSpPr>
            <a:spLocks noGrp="1"/>
          </p:cNvSpPr>
          <p:nvPr>
            <p:ph type="subTitle" idx="1" hasCustomPrompt="1"/>
          </p:nvPr>
        </p:nvSpPr>
        <p:spPr>
          <a:xfrm>
            <a:off x="365125" y="694950"/>
            <a:ext cx="47480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1" name="Freeform: Shape 10">
            <a:extLst>
              <a:ext uri="{FF2B5EF4-FFF2-40B4-BE49-F238E27FC236}">
                <a16:creationId xmlns:a16="http://schemas.microsoft.com/office/drawing/2014/main" id="{B674B05C-AADA-DE64-7CCE-6E374DE8A94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680473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dirty="0"/>
              <a:t>Click to enter TEXT content ONLY.</a:t>
            </a:r>
            <a:br>
              <a:rPr lang="en-US" dirty="0"/>
            </a:br>
            <a:r>
              <a:rPr lang="en-US" dirty="0"/>
              <a:t>If text content appears outside of grey 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fld id="{DB124F8D-6A21-41BB-B641-CA493D4F9456}" type="datetime4">
              <a:rPr lang="en-GB" smtClean="0"/>
              <a:t>22 July 2025</a:t>
            </a:fld>
            <a:endParaRPr lang="en-GB" dirty="0"/>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endParaRPr lang="en-GB" dirty="0"/>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314054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Bullet">
    <p:spTree>
      <p:nvGrpSpPr>
        <p:cNvPr id="1" name=""/>
        <p:cNvGrpSpPr/>
        <p:nvPr/>
      </p:nvGrpSpPr>
      <p:grpSpPr>
        <a:xfrm>
          <a:off x="0" y="0"/>
          <a:ext cx="0" cy="0"/>
          <a:chOff x="0" y="0"/>
          <a:chExt cx="0" cy="0"/>
        </a:xfrm>
      </p:grpSpPr>
      <p:sp>
        <p:nvSpPr>
          <p:cNvPr id="15" name="Text Placeholder 5"/>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2" name="Date Placeholder 1">
            <a:extLst>
              <a:ext uri="{FF2B5EF4-FFF2-40B4-BE49-F238E27FC236}">
                <a16:creationId xmlns:a16="http://schemas.microsoft.com/office/drawing/2014/main" id="{2E151742-951B-4B8B-93F8-F6814A0074E2}"/>
              </a:ext>
            </a:extLst>
          </p:cNvPr>
          <p:cNvSpPr>
            <a:spLocks noGrp="1"/>
          </p:cNvSpPr>
          <p:nvPr>
            <p:ph type="dt" sz="half" idx="19"/>
          </p:nvPr>
        </p:nvSpPr>
        <p:spPr/>
        <p:txBody>
          <a:bodyPr/>
          <a:lstStyle/>
          <a:p>
            <a:fld id="{397F4CD0-83C1-4C99-A2BD-6DA4A1CC9D00}" type="datetime4">
              <a:rPr lang="en-GB" smtClean="0"/>
              <a:t>22 July 2025</a:t>
            </a:fld>
            <a:endParaRPr lang="en-GB" dirty="0"/>
          </a:p>
        </p:txBody>
      </p:sp>
      <p:sp>
        <p:nvSpPr>
          <p:cNvPr id="3" name="Footer Placeholder 2">
            <a:extLst>
              <a:ext uri="{FF2B5EF4-FFF2-40B4-BE49-F238E27FC236}">
                <a16:creationId xmlns:a16="http://schemas.microsoft.com/office/drawing/2014/main" id="{5E4920F6-7DEA-40DB-B124-F0789E56046F}"/>
              </a:ext>
            </a:extLst>
          </p:cNvPr>
          <p:cNvSpPr>
            <a:spLocks noGrp="1"/>
          </p:cNvSpPr>
          <p:nvPr>
            <p:ph type="ftr" sz="quarter" idx="20"/>
          </p:nvPr>
        </p:nvSpPr>
        <p:spPr/>
        <p:txBody>
          <a:bodyPr/>
          <a:lstStyle/>
          <a:p>
            <a:endParaRPr lang="en-GB" dirty="0"/>
          </a:p>
        </p:txBody>
      </p:sp>
      <p:sp>
        <p:nvSpPr>
          <p:cNvPr id="4" name="Slide Number Placeholder 3">
            <a:extLst>
              <a:ext uri="{FF2B5EF4-FFF2-40B4-BE49-F238E27FC236}">
                <a16:creationId xmlns:a16="http://schemas.microsoft.com/office/drawing/2014/main" id="{D4DDB722-CBB2-49EC-937E-10206DEB6BD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7" name="Text Placeholder 6">
            <a:extLst>
              <a:ext uri="{FF2B5EF4-FFF2-40B4-BE49-F238E27FC236}">
                <a16:creationId xmlns:a16="http://schemas.microsoft.com/office/drawing/2014/main" id="{D4E53DDB-FDB6-66D3-FC50-5426FF978D71}"/>
              </a:ext>
            </a:extLst>
          </p:cNvPr>
          <p:cNvSpPr>
            <a:spLocks noGrp="1"/>
          </p:cNvSpPr>
          <p:nvPr>
            <p:ph type="body" sz="quarter" idx="22" hasCustomPrompt="1"/>
          </p:nvPr>
        </p:nvSpPr>
        <p:spPr>
          <a:xfrm>
            <a:off x="365125" y="1303338"/>
            <a:ext cx="11460163" cy="4489450"/>
          </a:xfrm>
        </p:spPr>
        <p:txBody>
          <a:bodyPr lIns="0" tIns="180000" rIns="0" bIns="180000">
            <a:noAutofit/>
          </a:bodyPr>
          <a:lstStyle>
            <a:lvl1pPr>
              <a:defRPr/>
            </a:lvl1pPr>
          </a:lstStyle>
          <a:p>
            <a:pPr lvl="0"/>
            <a:r>
              <a:rPr lang="en-US" dirty="0"/>
              <a:t>Click to enter TEXT content ONLY. </a:t>
            </a:r>
            <a:br>
              <a:rPr lang="en-US" dirty="0"/>
            </a:br>
            <a:r>
              <a:rPr lang="en-US" dirty="0"/>
              <a:t>If text content appears too large please reduce the size of this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itle 1">
            <a:extLst>
              <a:ext uri="{FF2B5EF4-FFF2-40B4-BE49-F238E27FC236}">
                <a16:creationId xmlns:a16="http://schemas.microsoft.com/office/drawing/2014/main" id="{3A7A86B9-637F-F18A-3604-5A44F7C4442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0" name="Subtitle 2">
            <a:extLst>
              <a:ext uri="{FF2B5EF4-FFF2-40B4-BE49-F238E27FC236}">
                <a16:creationId xmlns:a16="http://schemas.microsoft.com/office/drawing/2014/main" id="{5A89E078-B97D-529E-FF83-DF5AD69D51F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3" name="Freeform: Shape 12">
            <a:extLst>
              <a:ext uri="{FF2B5EF4-FFF2-40B4-BE49-F238E27FC236}">
                <a16:creationId xmlns:a16="http://schemas.microsoft.com/office/drawing/2014/main" id="{22D601A5-6CEE-D258-CCEB-85D1BB27BD8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317225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dirty="0"/>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5C36D2BF-D8B1-4705-ABD7-209D78E9EBFF}" type="datetime4">
              <a:rPr lang="en-GB" smtClean="0"/>
              <a:t>22 July 2025</a:t>
            </a:fld>
            <a:endParaRPr lang="en-GB" dirty="0"/>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endParaRPr lang="en-GB" dirty="0"/>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dirty="0"/>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dirty="0"/>
              <a:t>Click to edit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512332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8172451" y="1303338"/>
            <a:ext cx="3652838" cy="4477804"/>
          </a:xfrm>
          <a:prstGeom prst="roundRect">
            <a:avLst>
              <a:gd name="adj" fmla="val 4585"/>
            </a:avLst>
          </a:prstGeom>
          <a:solidFill>
            <a:schemeClr val="bg1">
              <a:lumMod val="95000"/>
            </a:schemeClr>
          </a:solidFill>
          <a:ln>
            <a:noFill/>
          </a:ln>
        </p:spPr>
        <p:txBody>
          <a:bodyPr wrap="square">
            <a:noAutofit/>
          </a:bodyPr>
          <a:lstStyle>
            <a:lvl1pPr>
              <a:defRPr/>
            </a:lvl1pPr>
          </a:lstStyle>
          <a:p>
            <a:pPr lvl="0"/>
            <a:r>
              <a:rPr lang="en-US" dirty="0"/>
              <a:t>Click to edit TEXT content ONLY. </a:t>
            </a:r>
            <a:br>
              <a:rPr lang="en-US" dirty="0"/>
            </a:br>
            <a:r>
              <a:rPr lang="en-US" dirty="0"/>
              <a:t>If text content appears outside of the grey placeholder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5"/>
          <p:cNvSpPr>
            <a:spLocks noGrp="1"/>
          </p:cNvSpPr>
          <p:nvPr>
            <p:ph type="body" sz="quarter" idx="20" hasCustomPrompt="1"/>
          </p:nvPr>
        </p:nvSpPr>
        <p:spPr>
          <a:xfrm>
            <a:off x="8172451"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39AF67FF-E09E-42E7-8CF4-0C88178FECBB}" type="datetime4">
              <a:rPr lang="en-GB" smtClean="0"/>
              <a:t>22 July 2025</a:t>
            </a:fld>
            <a:endParaRPr lang="en-GB" dirty="0"/>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dirty="0"/>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dirty="0"/>
          </a:p>
        </p:txBody>
      </p:sp>
      <p:sp>
        <p:nvSpPr>
          <p:cNvPr id="19" name="Text Placeholder 5"/>
          <p:cNvSpPr>
            <a:spLocks noGrp="1"/>
          </p:cNvSpPr>
          <p:nvPr>
            <p:ph type="body" sz="quarter" idx="19" hasCustomPrompt="1"/>
          </p:nvPr>
        </p:nvSpPr>
        <p:spPr>
          <a:xfrm>
            <a:off x="365125"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365125" y="1303338"/>
            <a:ext cx="7554913" cy="4478337"/>
          </a:xfrm>
        </p:spPr>
        <p:txBody>
          <a:bodyPr lIns="0" tIns="234000" rIns="0" bIns="180000">
            <a:noAutofit/>
          </a:bodyPr>
          <a:lstStyle>
            <a:lvl1pPr>
              <a:defRPr/>
            </a:lvl1pPr>
          </a:lstStyle>
          <a:p>
            <a:pPr lvl="0"/>
            <a:r>
              <a:rPr lang="en-US" dirty="0"/>
              <a:t>Click to enter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706052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365125" y="1303338"/>
            <a:ext cx="3652838" cy="4477804"/>
          </a:xfrm>
          <a:prstGeom prst="roundRect">
            <a:avLst>
              <a:gd name="adj" fmla="val 4585"/>
            </a:avLst>
          </a:prstGeom>
          <a:solidFill>
            <a:schemeClr val="tx2"/>
          </a:solidFill>
          <a:ln>
            <a:noFill/>
          </a:ln>
        </p:spPr>
        <p:txBody>
          <a:bodyPr wrap="square">
            <a:no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TEXT content ONLY. </a:t>
            </a:r>
            <a:br>
              <a:rPr lang="en-US" dirty="0"/>
            </a:br>
            <a:r>
              <a:rPr lang="en-US" dirty="0"/>
              <a:t>If text content appears outside of the grey placeholder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5"/>
          <p:cNvSpPr>
            <a:spLocks noGrp="1"/>
          </p:cNvSpPr>
          <p:nvPr>
            <p:ph type="body" sz="quarter" idx="20" hasCustomPrompt="1"/>
          </p:nvPr>
        </p:nvSpPr>
        <p:spPr>
          <a:xfrm>
            <a:off x="365125"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39AF67FF-E09E-42E7-8CF4-0C88178FECBB}" type="datetime4">
              <a:rPr lang="en-GB" smtClean="0"/>
              <a:t>22 July 2025</a:t>
            </a:fld>
            <a:endParaRPr lang="en-GB" dirty="0"/>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dirty="0"/>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dirty="0"/>
          </a:p>
        </p:txBody>
      </p:sp>
      <p:sp>
        <p:nvSpPr>
          <p:cNvPr id="19" name="Text Placeholder 5"/>
          <p:cNvSpPr>
            <a:spLocks noGrp="1"/>
          </p:cNvSpPr>
          <p:nvPr>
            <p:ph type="body" sz="quarter" idx="19" hasCustomPrompt="1"/>
          </p:nvPr>
        </p:nvSpPr>
        <p:spPr>
          <a:xfrm>
            <a:off x="4270374"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4270374" y="1303338"/>
            <a:ext cx="7554913" cy="4478337"/>
          </a:xfrm>
        </p:spPr>
        <p:txBody>
          <a:bodyPr lIns="252000" tIns="234000" rIns="0" bIns="180000">
            <a:noAutofit/>
          </a:bodyPr>
          <a:lstStyle>
            <a:lvl1pPr>
              <a:defRPr/>
            </a:lvl1pPr>
          </a:lstStyle>
          <a:p>
            <a:pPr lvl="0"/>
            <a:r>
              <a:rPr lang="en-US" dirty="0"/>
              <a:t>Click to enter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4" name="Freeform: Shape 13">
            <a:extLst>
              <a:ext uri="{FF2B5EF4-FFF2-40B4-BE49-F238E27FC236}">
                <a16:creationId xmlns:a16="http://schemas.microsoft.com/office/drawing/2014/main" id="{17107491-B576-4FBA-DF55-410D54CA7B16}"/>
              </a:ext>
            </a:extLst>
          </p:cNvPr>
          <p:cNvSpPr/>
          <p:nvPr userDrawn="1"/>
        </p:nvSpPr>
        <p:spPr>
          <a:xfrm>
            <a:off x="4017963" y="1820564"/>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238325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1A35D6C9-1CA0-9878-3F7C-4F790C689C5F}"/>
              </a:ext>
            </a:extLst>
          </p:cNvPr>
          <p:cNvSpPr>
            <a:spLocks noGrp="1"/>
          </p:cNvSpPr>
          <p:nvPr>
            <p:ph type="body" sz="quarter" idx="36" hasCustomPrompt="1"/>
          </p:nvPr>
        </p:nvSpPr>
        <p:spPr>
          <a:xfrm>
            <a:off x="6223000" y="1303338"/>
            <a:ext cx="5602288" cy="4488605"/>
          </a:xfrm>
          <a:prstGeom prst="roundRect">
            <a:avLst>
              <a:gd name="adj" fmla="val 4253"/>
            </a:avLst>
          </a:prstGeom>
          <a:solidFill>
            <a:schemeClr val="bg1">
              <a:lumMod val="95000"/>
            </a:schemeClr>
          </a:solidFill>
          <a:ln>
            <a:noFill/>
          </a:ln>
        </p:spPr>
        <p:txBody>
          <a:bodyPr wrap="square" tIns="1080000">
            <a:noAutofit/>
          </a:bodyPr>
          <a:lstStyle>
            <a:lvl1pPr>
              <a:defRPr/>
            </a:lvl1pPr>
          </a:lstStyle>
          <a:p>
            <a:pPr lvl="0"/>
            <a:r>
              <a:rPr lang="en-US" dirty="0"/>
              <a:t>Click to enter TEXT content ONLY.</a:t>
            </a:r>
            <a:br>
              <a:rPr lang="en-US" dirty="0"/>
            </a:br>
            <a:r>
              <a:rPr lang="en-US" dirty="0"/>
              <a:t>If text appears outside of grey placeholder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2" name="Text Placeholder 21">
            <a:extLst>
              <a:ext uri="{FF2B5EF4-FFF2-40B4-BE49-F238E27FC236}">
                <a16:creationId xmlns:a16="http://schemas.microsoft.com/office/drawing/2014/main" id="{3637B329-27DE-51CE-F4B6-EB1199B2177F}"/>
              </a:ext>
            </a:extLst>
          </p:cNvPr>
          <p:cNvSpPr>
            <a:spLocks noGrp="1"/>
          </p:cNvSpPr>
          <p:nvPr>
            <p:ph type="body" sz="quarter" idx="35" hasCustomPrompt="1"/>
          </p:nvPr>
        </p:nvSpPr>
        <p:spPr>
          <a:xfrm>
            <a:off x="365125" y="1303338"/>
            <a:ext cx="5601600" cy="4488605"/>
          </a:xfrm>
          <a:prstGeom prst="roundRect">
            <a:avLst>
              <a:gd name="adj" fmla="val 3915"/>
            </a:avLst>
          </a:prstGeom>
          <a:solidFill>
            <a:schemeClr val="bg1">
              <a:lumMod val="95000"/>
            </a:schemeClr>
          </a:solidFill>
          <a:ln>
            <a:noFill/>
          </a:ln>
        </p:spPr>
        <p:txBody>
          <a:bodyPr wrap="square" tIns="1080000">
            <a:noAutofit/>
          </a:bodyPr>
          <a:lstStyle>
            <a:lvl1pPr>
              <a:defRPr/>
            </a:lvl1pPr>
          </a:lstStyle>
          <a:p>
            <a:pPr lvl="0"/>
            <a:r>
              <a:rPr lang="en-US" dirty="0"/>
              <a:t>Click to enter TEXT content ONLY.</a:t>
            </a:r>
            <a:br>
              <a:rPr lang="en-US" dirty="0"/>
            </a:br>
            <a:r>
              <a:rPr lang="en-US" dirty="0"/>
              <a:t>If text appears outside of grey placeholder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3" name="Text Placeholder 5"/>
          <p:cNvSpPr>
            <a:spLocks noGrp="1"/>
          </p:cNvSpPr>
          <p:nvPr>
            <p:ph type="body" sz="quarter" idx="31" hasCustomPrompt="1"/>
          </p:nvPr>
        </p:nvSpPr>
        <p:spPr>
          <a:xfrm>
            <a:off x="365125" y="5791943"/>
            <a:ext cx="5607050"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24" name="Text Placeholder 5"/>
          <p:cNvSpPr>
            <a:spLocks noGrp="1"/>
          </p:cNvSpPr>
          <p:nvPr>
            <p:ph type="body" sz="quarter" idx="20" hasCustomPrompt="1"/>
          </p:nvPr>
        </p:nvSpPr>
        <p:spPr>
          <a:xfrm>
            <a:off x="6216325" y="5792438"/>
            <a:ext cx="56089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4" name="Date Placeholder 3">
            <a:extLst>
              <a:ext uri="{FF2B5EF4-FFF2-40B4-BE49-F238E27FC236}">
                <a16:creationId xmlns:a16="http://schemas.microsoft.com/office/drawing/2014/main" id="{888E3DBB-00A9-4F08-A07C-9ED9733E007D}"/>
              </a:ext>
            </a:extLst>
          </p:cNvPr>
          <p:cNvSpPr>
            <a:spLocks noGrp="1"/>
          </p:cNvSpPr>
          <p:nvPr>
            <p:ph type="dt" sz="half" idx="32"/>
          </p:nvPr>
        </p:nvSpPr>
        <p:spPr/>
        <p:txBody>
          <a:bodyPr/>
          <a:lstStyle/>
          <a:p>
            <a:fld id="{D2390426-9D2D-4F00-A428-511448A9836C}" type="datetime4">
              <a:rPr lang="en-GB" smtClean="0"/>
              <a:t>22 July 2025</a:t>
            </a:fld>
            <a:endParaRPr lang="en-GB" dirty="0"/>
          </a:p>
        </p:txBody>
      </p:sp>
      <p:sp>
        <p:nvSpPr>
          <p:cNvPr id="5" name="Footer Placeholder 4">
            <a:extLst>
              <a:ext uri="{FF2B5EF4-FFF2-40B4-BE49-F238E27FC236}">
                <a16:creationId xmlns:a16="http://schemas.microsoft.com/office/drawing/2014/main" id="{6EE37A7E-4BE8-4B01-BC5B-6FE33BA2DB0A}"/>
              </a:ext>
            </a:extLst>
          </p:cNvPr>
          <p:cNvSpPr>
            <a:spLocks noGrp="1"/>
          </p:cNvSpPr>
          <p:nvPr>
            <p:ph type="ftr" sz="quarter" idx="33"/>
          </p:nvPr>
        </p:nvSpPr>
        <p:spPr/>
        <p:txBody>
          <a:bodyPr/>
          <a:lstStyle/>
          <a:p>
            <a:endParaRPr lang="en-GB" dirty="0"/>
          </a:p>
        </p:txBody>
      </p:sp>
      <p:sp>
        <p:nvSpPr>
          <p:cNvPr id="9" name="Slide Number Placeholder 8">
            <a:extLst>
              <a:ext uri="{FF2B5EF4-FFF2-40B4-BE49-F238E27FC236}">
                <a16:creationId xmlns:a16="http://schemas.microsoft.com/office/drawing/2014/main" id="{2D87596A-DFCB-4141-B4D9-E82973630099}"/>
              </a:ext>
            </a:extLst>
          </p:cNvPr>
          <p:cNvSpPr>
            <a:spLocks noGrp="1"/>
          </p:cNvSpPr>
          <p:nvPr>
            <p:ph type="sldNum" sz="quarter" idx="34"/>
          </p:nvPr>
        </p:nvSpPr>
        <p:spPr/>
        <p:txBody>
          <a:bodyPr/>
          <a:lstStyle/>
          <a:p>
            <a:fld id="{9F9F533D-B52E-4A2F-BF72-0ADD2D94BD75}" type="slidenum">
              <a:rPr lang="en-GB" smtClean="0"/>
              <a:pPr/>
              <a:t>‹#›</a:t>
            </a:fld>
            <a:endParaRPr lang="en-GB" dirty="0"/>
          </a:p>
        </p:txBody>
      </p:sp>
      <p:sp>
        <p:nvSpPr>
          <p:cNvPr id="29" name="Text Placeholder 2">
            <a:extLst>
              <a:ext uri="{FF2B5EF4-FFF2-40B4-BE49-F238E27FC236}">
                <a16:creationId xmlns:a16="http://schemas.microsoft.com/office/drawing/2014/main" id="{ED8B1503-3382-4C3A-A672-A88D048E0DA0}"/>
              </a:ext>
            </a:extLst>
          </p:cNvPr>
          <p:cNvSpPr>
            <a:spLocks noGrp="1"/>
          </p:cNvSpPr>
          <p:nvPr>
            <p:ph type="body" idx="19" hasCustomPrompt="1"/>
          </p:nvPr>
        </p:nvSpPr>
        <p:spPr>
          <a:xfrm>
            <a:off x="532525" y="1454538"/>
            <a:ext cx="52668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enter</a:t>
            </a:r>
            <a:br>
              <a:rPr lang="en-GB" dirty="0"/>
            </a:br>
            <a:r>
              <a:rPr lang="en-GB" dirty="0"/>
              <a:t>subheading text</a:t>
            </a:r>
          </a:p>
        </p:txBody>
      </p:sp>
      <p:sp>
        <p:nvSpPr>
          <p:cNvPr id="30" name="Text Placeholder 2">
            <a:extLst>
              <a:ext uri="{FF2B5EF4-FFF2-40B4-BE49-F238E27FC236}">
                <a16:creationId xmlns:a16="http://schemas.microsoft.com/office/drawing/2014/main" id="{7CC1C57B-5831-4901-8605-655DBB075B25}"/>
              </a:ext>
            </a:extLst>
          </p:cNvPr>
          <p:cNvSpPr>
            <a:spLocks noGrp="1"/>
          </p:cNvSpPr>
          <p:nvPr>
            <p:ph type="body" idx="21" hasCustomPrompt="1"/>
          </p:nvPr>
        </p:nvSpPr>
        <p:spPr>
          <a:xfrm>
            <a:off x="6391644" y="1454538"/>
            <a:ext cx="52650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enter</a:t>
            </a:r>
            <a:br>
              <a:rPr lang="en-GB" dirty="0"/>
            </a:br>
            <a:r>
              <a:rPr lang="en-GB" dirty="0"/>
              <a:t>subheading text</a:t>
            </a:r>
          </a:p>
        </p:txBody>
      </p:sp>
      <p:sp>
        <p:nvSpPr>
          <p:cNvPr id="15" name="Title 1">
            <a:extLst>
              <a:ext uri="{FF2B5EF4-FFF2-40B4-BE49-F238E27FC236}">
                <a16:creationId xmlns:a16="http://schemas.microsoft.com/office/drawing/2014/main" id="{2B8AF01B-B7EE-69F0-3113-1E07C2D58722}"/>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6" name="Subtitle 2">
            <a:extLst>
              <a:ext uri="{FF2B5EF4-FFF2-40B4-BE49-F238E27FC236}">
                <a16:creationId xmlns:a16="http://schemas.microsoft.com/office/drawing/2014/main" id="{A10D87C1-85C7-40B7-3EF5-0997E04A30B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7" name="Freeform: Shape 16">
            <a:extLst>
              <a:ext uri="{FF2B5EF4-FFF2-40B4-BE49-F238E27FC236}">
                <a16:creationId xmlns:a16="http://schemas.microsoft.com/office/drawing/2014/main" id="{00DBE383-AB10-CC3B-D342-10443E02C9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618036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deo, Title and Subtitle (16x9)">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106790" y="1303338"/>
            <a:ext cx="7978421" cy="4487862"/>
          </a:xfrm>
          <a:prstGeom prst="roundRect">
            <a:avLst>
              <a:gd name="adj" fmla="val 3818"/>
            </a:avLst>
          </a:prstGeom>
          <a:solidFill>
            <a:schemeClr val="bg1">
              <a:lumMod val="95000"/>
            </a:schemeClr>
          </a:solidFill>
          <a:ln>
            <a:noFill/>
          </a:ln>
        </p:spPr>
        <p:txBody>
          <a:bodyPr lIns="108000" tIns="1008000">
            <a:noAutofit/>
          </a:bodyPr>
          <a:lstStyle>
            <a:lvl1pPr marL="0" indent="0" algn="ctr">
              <a:buNone/>
              <a:defRPr sz="2200" baseline="0">
                <a:solidFill>
                  <a:schemeClr val="tx1"/>
                </a:solidFill>
              </a:defRPr>
            </a:lvl1pPr>
          </a:lstStyle>
          <a:p>
            <a:r>
              <a:rPr lang="en-GB" dirty="0"/>
              <a:t>[Click on the film icon to insert video]</a:t>
            </a:r>
          </a:p>
        </p:txBody>
      </p:sp>
      <p:sp>
        <p:nvSpPr>
          <p:cNvPr id="3" name="Date Placeholder 2">
            <a:extLst>
              <a:ext uri="{FF2B5EF4-FFF2-40B4-BE49-F238E27FC236}">
                <a16:creationId xmlns:a16="http://schemas.microsoft.com/office/drawing/2014/main" id="{EFF92204-289D-4897-A24D-92B4E89E417A}"/>
              </a:ext>
            </a:extLst>
          </p:cNvPr>
          <p:cNvSpPr>
            <a:spLocks noGrp="1"/>
          </p:cNvSpPr>
          <p:nvPr>
            <p:ph type="dt" sz="half" idx="15"/>
          </p:nvPr>
        </p:nvSpPr>
        <p:spPr/>
        <p:txBody>
          <a:bodyPr/>
          <a:lstStyle/>
          <a:p>
            <a:fld id="{8E42D3BA-5EF1-4DB6-ACB2-E19A79A4A64E}" type="datetime4">
              <a:rPr lang="en-GB" smtClean="0"/>
              <a:t>22 July 2025</a:t>
            </a:fld>
            <a:endParaRPr lang="en-GB" dirty="0"/>
          </a:p>
        </p:txBody>
      </p:sp>
      <p:sp>
        <p:nvSpPr>
          <p:cNvPr id="4" name="Footer Placeholder 3">
            <a:extLst>
              <a:ext uri="{FF2B5EF4-FFF2-40B4-BE49-F238E27FC236}">
                <a16:creationId xmlns:a16="http://schemas.microsoft.com/office/drawing/2014/main" id="{9D8A5764-43D8-49B1-8CCF-1E44D258B4F9}"/>
              </a:ext>
            </a:extLst>
          </p:cNvPr>
          <p:cNvSpPr>
            <a:spLocks noGrp="1"/>
          </p:cNvSpPr>
          <p:nvPr>
            <p:ph type="ftr" sz="quarter" idx="16"/>
          </p:nvPr>
        </p:nvSpPr>
        <p:spPr/>
        <p:txBody>
          <a:bodyPr/>
          <a:lstStyle/>
          <a:p>
            <a:endParaRPr lang="en-GB" dirty="0"/>
          </a:p>
        </p:txBody>
      </p:sp>
      <p:sp>
        <p:nvSpPr>
          <p:cNvPr id="9" name="Slide Number Placeholder 8">
            <a:extLst>
              <a:ext uri="{FF2B5EF4-FFF2-40B4-BE49-F238E27FC236}">
                <a16:creationId xmlns:a16="http://schemas.microsoft.com/office/drawing/2014/main" id="{2BA25ACE-65A6-48E3-AD24-12A240BC4B44}"/>
              </a:ext>
            </a:extLst>
          </p:cNvPr>
          <p:cNvSpPr>
            <a:spLocks noGrp="1"/>
          </p:cNvSpPr>
          <p:nvPr>
            <p:ph type="sldNum" sz="quarter" idx="17"/>
          </p:nvPr>
        </p:nvSpPr>
        <p:spPr/>
        <p:txBody>
          <a:bodyPr/>
          <a:lstStyle/>
          <a:p>
            <a:fld id="{9F9F533D-B52E-4A2F-BF72-0ADD2D94BD75}" type="slidenum">
              <a:rPr lang="en-GB" smtClean="0"/>
              <a:pPr/>
              <a:t>‹#›</a:t>
            </a:fld>
            <a:endParaRPr lang="en-GB" dirty="0"/>
          </a:p>
        </p:txBody>
      </p:sp>
      <p:sp>
        <p:nvSpPr>
          <p:cNvPr id="11" name="Title 1">
            <a:extLst>
              <a:ext uri="{FF2B5EF4-FFF2-40B4-BE49-F238E27FC236}">
                <a16:creationId xmlns:a16="http://schemas.microsoft.com/office/drawing/2014/main" id="{BF9DC526-9754-7DE6-EAC5-B9EB6B6E3CF3}"/>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F9C0347F-097D-6010-8D87-88D141F8B2F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3" name="Text Placeholder 5">
            <a:extLst>
              <a:ext uri="{FF2B5EF4-FFF2-40B4-BE49-F238E27FC236}">
                <a16:creationId xmlns:a16="http://schemas.microsoft.com/office/drawing/2014/main" id="{A123D2E9-B2C7-255F-E578-0BCEF8C8BFCD}"/>
              </a:ext>
            </a:extLst>
          </p:cNvPr>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15" name="Freeform: Shape 14">
            <a:extLst>
              <a:ext uri="{FF2B5EF4-FFF2-40B4-BE49-F238E27FC236}">
                <a16:creationId xmlns:a16="http://schemas.microsoft.com/office/drawing/2014/main" id="{73180677-148E-F381-0168-9327D51EF5C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85134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Video Widescreen (16x9)">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85344A2-1C9C-FB10-07A8-CED6CF027454}"/>
              </a:ext>
            </a:extLst>
          </p:cNvPr>
          <p:cNvSpPr>
            <a:spLocks noGrp="1"/>
          </p:cNvSpPr>
          <p:nvPr>
            <p:ph type="sldNum" sz="quarter" idx="15"/>
          </p:nvPr>
        </p:nvSpPr>
        <p:spPr/>
        <p:txBody>
          <a:bodyPr/>
          <a:lstStyle/>
          <a:p>
            <a:fld id="{9F9F533D-B52E-4A2F-BF72-0ADD2D94BD75}" type="slidenum">
              <a:rPr lang="en-GB" smtClean="0"/>
              <a:pPr/>
              <a:t>‹#›</a:t>
            </a:fld>
            <a:endParaRPr lang="en-GB" dirty="0"/>
          </a:p>
        </p:txBody>
      </p:sp>
      <p:sp>
        <p:nvSpPr>
          <p:cNvPr id="5" name="Media Placeholder 5"/>
          <p:cNvSpPr>
            <a:spLocks noGrp="1" noChangeAspect="1"/>
          </p:cNvSpPr>
          <p:nvPr>
            <p:ph type="media" sz="quarter" idx="12" hasCustomPrompt="1"/>
          </p:nvPr>
        </p:nvSpPr>
        <p:spPr>
          <a:xfrm>
            <a:off x="242888" y="242888"/>
            <a:ext cx="11352439" cy="6384013"/>
          </a:xfrm>
          <a:prstGeom prst="roundRect">
            <a:avLst>
              <a:gd name="adj" fmla="val 2727"/>
            </a:avLst>
          </a:prstGeom>
          <a:solidFill>
            <a:schemeClr val="bg1">
              <a:lumMod val="95000"/>
            </a:schemeClr>
          </a:solidFill>
          <a:ln>
            <a:noFill/>
          </a:ln>
        </p:spPr>
        <p:txBody>
          <a:bodyPr lIns="108000" tIns="108000" bIns="1224000" anchor="ctr">
            <a:noAutofit/>
          </a:bodyPr>
          <a:lstStyle>
            <a:lvl1pPr marL="0" indent="0" algn="ctr">
              <a:buNone/>
              <a:defRPr sz="2200" i="0" baseline="0">
                <a:solidFill>
                  <a:schemeClr val="tx1"/>
                </a:solidFill>
              </a:defRPr>
            </a:lvl1pPr>
          </a:lstStyle>
          <a:p>
            <a:r>
              <a:rPr lang="en-GB" dirty="0"/>
              <a:t>[Click on the film icon to insert video]</a:t>
            </a:r>
          </a:p>
        </p:txBody>
      </p:sp>
    </p:spTree>
    <p:extLst>
      <p:ext uri="{BB962C8B-B14F-4D97-AF65-F5344CB8AC3E}">
        <p14:creationId xmlns:p14="http://schemas.microsoft.com/office/powerpoint/2010/main" val="259932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 and Text 1">
    <p:spTree>
      <p:nvGrpSpPr>
        <p:cNvPr id="1" name=""/>
        <p:cNvGrpSpPr/>
        <p:nvPr/>
      </p:nvGrpSpPr>
      <p:grpSpPr>
        <a:xfrm>
          <a:off x="0" y="0"/>
          <a:ext cx="0" cy="0"/>
          <a:chOff x="0" y="0"/>
          <a:chExt cx="0" cy="0"/>
        </a:xfrm>
      </p:grpSpPr>
      <p:sp>
        <p:nvSpPr>
          <p:cNvPr id="13" name="Picture Placeholder 8"/>
          <p:cNvSpPr>
            <a:spLocks noGrp="1"/>
          </p:cNvSpPr>
          <p:nvPr>
            <p:ph type="pic" sz="quarter" idx="14" hasCustomPrompt="1"/>
          </p:nvPr>
        </p:nvSpPr>
        <p:spPr>
          <a:xfrm>
            <a:off x="8172451" y="1303338"/>
            <a:ext cx="3652838" cy="4787862"/>
          </a:xfrm>
          <a:prstGeom prst="roundRect">
            <a:avLst>
              <a:gd name="adj" fmla="val 4782"/>
            </a:avLst>
          </a:prstGeom>
          <a:solidFill>
            <a:schemeClr val="bg1">
              <a:lumMod val="95000"/>
            </a:schemeClr>
          </a:solidFill>
          <a:ln>
            <a:noFill/>
          </a:ln>
        </p:spPr>
        <p:txBody>
          <a:bodyPr lIns="180000" tIns="576000" bIns="72000" anchor="ctr">
            <a:noAutofit/>
          </a:bodyPr>
          <a:lstStyle>
            <a:lvl1pPr marL="0" indent="0" algn="ctr">
              <a:buNone/>
              <a:defRPr sz="20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r>
              <a:rPr lang="en-GB" dirty="0"/>
              <a:t>[The image can then be scaled within the frame by using the ‘Crop’ feature in the ‘Picture Format’ tab of the ribbon.</a:t>
            </a:r>
            <a:r>
              <a:rPr lang="en-US" dirty="0"/>
              <a:t> Right click on image to add/edit alt text</a:t>
            </a:r>
            <a:r>
              <a:rPr lang="en-GB" dirty="0"/>
              <a:t>]</a:t>
            </a:r>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E018087B-459D-4729-B449-CCF6702E8E13}" type="datetime4">
              <a:rPr lang="en-GB" smtClean="0"/>
              <a:t>22 July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175B623F-E1ED-BC6F-EAB9-2F7C7BB5A0A7}"/>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4" name="Subtitle 2">
            <a:extLst>
              <a:ext uri="{FF2B5EF4-FFF2-40B4-BE49-F238E27FC236}">
                <a16:creationId xmlns:a16="http://schemas.microsoft.com/office/drawing/2014/main" id="{05B934E4-D94D-494D-8E16-6927D2105C4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34C03FD5-9F96-2D56-07D6-C43A8485D860}"/>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490162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and Text 2">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10E2EBD-4DBA-A411-89A3-C363C68F935D}"/>
              </a:ext>
            </a:extLst>
          </p:cNvPr>
          <p:cNvGraphicFramePr>
            <a:graphicFrameLocks noChangeAspect="1"/>
          </p:cNvGraphicFramePr>
          <p:nvPr userDrawn="1">
            <p:custDataLst>
              <p:tags r:id="rId1"/>
            </p:custDataLst>
            <p:extLst>
              <p:ext uri="{D42A27DB-BD31-4B8C-83A1-F6EECF244321}">
                <p14:modId xmlns:p14="http://schemas.microsoft.com/office/powerpoint/2010/main" val="1796079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710E2EBD-4DBA-A411-89A3-C363C68F935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E9163369-E20E-4F1F-9100-6DD4DDB346C3}" type="datetime4">
              <a:rPr lang="en-GB" smtClean="0"/>
              <a:t>22 July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18" name="Picture Placeholder 17">
            <a:extLst>
              <a:ext uri="{FF2B5EF4-FFF2-40B4-BE49-F238E27FC236}">
                <a16:creationId xmlns:a16="http://schemas.microsoft.com/office/drawing/2014/main" id="{E219C323-6E00-D14B-433A-AFFED48030D6}"/>
              </a:ext>
            </a:extLst>
          </p:cNvPr>
          <p:cNvSpPr>
            <a:spLocks noGrp="1"/>
          </p:cNvSpPr>
          <p:nvPr>
            <p:ph type="pic" sz="quarter" idx="14" hasCustomPrompt="1"/>
          </p:nvPr>
        </p:nvSpPr>
        <p:spPr>
          <a:xfrm>
            <a:off x="4270375" y="1303337"/>
            <a:ext cx="7554913" cy="4788000"/>
          </a:xfrm>
          <a:custGeom>
            <a:avLst/>
            <a:gdLst>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26638 w 7554913"/>
              <a:gd name="connsiteY8" fmla="*/ 1402309 h 4788000"/>
              <a:gd name="connsiteX9" fmla="*/ 807326 w 7554913"/>
              <a:gd name="connsiteY9" fmla="*/ 937371 h 4788000"/>
              <a:gd name="connsiteX10" fmla="*/ 850924 w 7554913"/>
              <a:gd name="connsiteY10" fmla="*/ 893772 h 4788000"/>
              <a:gd name="connsiteX11" fmla="*/ 850924 w 7554913"/>
              <a:gd name="connsiteY11" fmla="*/ 639447 h 4788000"/>
              <a:gd name="connsiteX12" fmla="*/ 1360669 w 7554913"/>
              <a:gd name="connsiteY12" fmla="*/ 12872 h 4788000"/>
              <a:gd name="connsiteX13" fmla="*/ 1482160 w 7554913"/>
              <a:gd name="connsiteY13" fmla="*/ 815 h 4788000"/>
              <a:gd name="connsiteX14" fmla="*/ 1697038 w 7554913"/>
              <a:gd name="connsiteY14" fmla="*/ 815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8000">
                <a:moveTo>
                  <a:pt x="1697038" y="0"/>
                </a:moveTo>
                <a:lnTo>
                  <a:pt x="7378379" y="0"/>
                </a:lnTo>
                <a:cubicBezTo>
                  <a:pt x="7475876" y="0"/>
                  <a:pt x="7554913" y="79037"/>
                  <a:pt x="7554913" y="176534"/>
                </a:cubicBezTo>
                <a:lnTo>
                  <a:pt x="7554913" y="4611466"/>
                </a:lnTo>
                <a:cubicBezTo>
                  <a:pt x="7554913" y="4708963"/>
                  <a:pt x="7475876" y="4788000"/>
                  <a:pt x="7378379" y="4788000"/>
                </a:cubicBezTo>
                <a:lnTo>
                  <a:pt x="176534" y="4788000"/>
                </a:lnTo>
                <a:cubicBezTo>
                  <a:pt x="79037" y="4788000"/>
                  <a:pt x="0" y="4708963"/>
                  <a:pt x="0" y="4611466"/>
                </a:cubicBezTo>
                <a:lnTo>
                  <a:pt x="0" y="1552711"/>
                </a:lnTo>
                <a:cubicBezTo>
                  <a:pt x="8759" y="1063964"/>
                  <a:pt x="590287" y="923198"/>
                  <a:pt x="807326" y="937371"/>
                </a:cubicBezTo>
                <a:cubicBezTo>
                  <a:pt x="836392" y="937371"/>
                  <a:pt x="850924" y="915573"/>
                  <a:pt x="850924" y="893772"/>
                </a:cubicBezTo>
                <a:lnTo>
                  <a:pt x="850924" y="639447"/>
                </a:lnTo>
                <a:cubicBezTo>
                  <a:pt x="850924" y="327898"/>
                  <a:pt x="1067897" y="71983"/>
                  <a:pt x="1360669" y="12872"/>
                </a:cubicBezTo>
                <a:lnTo>
                  <a:pt x="1482160" y="815"/>
                </a:lnTo>
                <a:lnTo>
                  <a:pt x="1697038" y="815"/>
                </a:lnTo>
                <a:lnTo>
                  <a:pt x="1697038" y="0"/>
                </a:ln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10" name="Title 1">
            <a:extLst>
              <a:ext uri="{FF2B5EF4-FFF2-40B4-BE49-F238E27FC236}">
                <a16:creationId xmlns:a16="http://schemas.microsoft.com/office/drawing/2014/main" id="{A2B84926-EEA3-D13A-C1FB-3FEC18A73AF9}"/>
              </a:ext>
            </a:extLst>
          </p:cNvPr>
          <p:cNvSpPr>
            <a:spLocks noGrp="1"/>
          </p:cNvSpPr>
          <p:nvPr>
            <p:ph type="title"/>
          </p:nvPr>
        </p:nvSpPr>
        <p:spPr>
          <a:xfrm>
            <a:off x="365125" y="242888"/>
            <a:ext cx="11460163" cy="430887"/>
          </a:xfrm>
        </p:spPr>
        <p:txBody>
          <a:bodyPr vert="horz"/>
          <a:lstStyle/>
          <a:p>
            <a:r>
              <a:rPr lang="en-US"/>
              <a:t>Click to edit Master title style</a:t>
            </a:r>
            <a:endParaRPr lang="en-US" dirty="0"/>
          </a:p>
        </p:txBody>
      </p:sp>
      <p:sp>
        <p:nvSpPr>
          <p:cNvPr id="11" name="Subtitle 2">
            <a:extLst>
              <a:ext uri="{FF2B5EF4-FFF2-40B4-BE49-F238E27FC236}">
                <a16:creationId xmlns:a16="http://schemas.microsoft.com/office/drawing/2014/main" id="{E1464933-1F00-DED1-00C8-C81A38AE38F7}"/>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62DCCF40-1773-437E-7AB4-DDD201CB4D4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41240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and Text 3">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B729584D-3365-47B8-9AC0-24723AB0A2D0}" type="datetime4">
              <a:rPr lang="en-GB" smtClean="0"/>
              <a:t>22 July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17" name="Picture Placeholder 16">
            <a:extLst>
              <a:ext uri="{FF2B5EF4-FFF2-40B4-BE49-F238E27FC236}">
                <a16:creationId xmlns:a16="http://schemas.microsoft.com/office/drawing/2014/main" id="{78DB8D52-5A42-AF02-A231-C38CC50C6F79}"/>
              </a:ext>
            </a:extLst>
          </p:cNvPr>
          <p:cNvSpPr>
            <a:spLocks noGrp="1"/>
          </p:cNvSpPr>
          <p:nvPr>
            <p:ph type="pic" sz="quarter" idx="14" hasCustomPrompt="1"/>
          </p:nvPr>
        </p:nvSpPr>
        <p:spPr>
          <a:xfrm>
            <a:off x="4270375" y="1303337"/>
            <a:ext cx="7554913" cy="4787900"/>
          </a:xfrm>
          <a:custGeom>
            <a:avLst/>
            <a:gdLst>
              <a:gd name="connsiteX0" fmla="*/ 176482 w 7554913"/>
              <a:gd name="connsiteY0" fmla="*/ 0 h 4787900"/>
              <a:gd name="connsiteX1" fmla="*/ 7378431 w 7554913"/>
              <a:gd name="connsiteY1" fmla="*/ 0 h 4787900"/>
              <a:gd name="connsiteX2" fmla="*/ 7554913 w 7554913"/>
              <a:gd name="connsiteY2" fmla="*/ 176482 h 4787900"/>
              <a:gd name="connsiteX3" fmla="*/ 7554913 w 7554913"/>
              <a:gd name="connsiteY3" fmla="*/ 4611418 h 4787900"/>
              <a:gd name="connsiteX4" fmla="*/ 7378431 w 7554913"/>
              <a:gd name="connsiteY4" fmla="*/ 4787900 h 4787900"/>
              <a:gd name="connsiteX5" fmla="*/ 176482 w 7554913"/>
              <a:gd name="connsiteY5" fmla="*/ 4787900 h 4787900"/>
              <a:gd name="connsiteX6" fmla="*/ 0 w 7554913"/>
              <a:gd name="connsiteY6" fmla="*/ 4611418 h 4787900"/>
              <a:gd name="connsiteX7" fmla="*/ 0 w 7554913"/>
              <a:gd name="connsiteY7" fmla="*/ 2799479 h 4787900"/>
              <a:gd name="connsiteX8" fmla="*/ 3012 w 7554913"/>
              <a:gd name="connsiteY8" fmla="*/ 2763995 h 4787900"/>
              <a:gd name="connsiteX9" fmla="*/ 415133 w 7554913"/>
              <a:gd name="connsiteY9" fmla="*/ 2402680 h 4787900"/>
              <a:gd name="connsiteX10" fmla="*/ 415133 w 7554913"/>
              <a:gd name="connsiteY10" fmla="*/ 2385217 h 4787900"/>
              <a:gd name="connsiteX11" fmla="*/ 3012 w 7554913"/>
              <a:gd name="connsiteY11" fmla="*/ 2023907 h 4787900"/>
              <a:gd name="connsiteX12" fmla="*/ 0 w 7554913"/>
              <a:gd name="connsiteY12" fmla="*/ 1988423 h 4787900"/>
              <a:gd name="connsiteX13" fmla="*/ 0 w 7554913"/>
              <a:gd name="connsiteY13" fmla="*/ 176482 h 4787900"/>
              <a:gd name="connsiteX14" fmla="*/ 176482 w 7554913"/>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7900">
                <a:moveTo>
                  <a:pt x="176482" y="0"/>
                </a:moveTo>
                <a:lnTo>
                  <a:pt x="7378431" y="0"/>
                </a:lnTo>
                <a:cubicBezTo>
                  <a:pt x="7475899" y="0"/>
                  <a:pt x="7554913" y="79014"/>
                  <a:pt x="7554913" y="176482"/>
                </a:cubicBezTo>
                <a:lnTo>
                  <a:pt x="7554913" y="4611418"/>
                </a:lnTo>
                <a:cubicBezTo>
                  <a:pt x="7554913" y="4708886"/>
                  <a:pt x="7475899" y="4787900"/>
                  <a:pt x="7378431" y="4787900"/>
                </a:cubicBezTo>
                <a:lnTo>
                  <a:pt x="176482" y="4787900"/>
                </a:lnTo>
                <a:cubicBezTo>
                  <a:pt x="79014" y="4787900"/>
                  <a:pt x="0" y="4708886"/>
                  <a:pt x="0" y="4611418"/>
                </a:cubicBezTo>
                <a:lnTo>
                  <a:pt x="0" y="2799479"/>
                </a:lnTo>
                <a:lnTo>
                  <a:pt x="3012" y="2763995"/>
                </a:lnTo>
                <a:cubicBezTo>
                  <a:pt x="35433" y="2581833"/>
                  <a:pt x="179824" y="2466853"/>
                  <a:pt x="415133" y="2402680"/>
                </a:cubicBezTo>
                <a:cubicBezTo>
                  <a:pt x="425612" y="2399188"/>
                  <a:pt x="425612" y="2388709"/>
                  <a:pt x="415133" y="2385217"/>
                </a:cubicBezTo>
                <a:cubicBezTo>
                  <a:pt x="179824" y="2321043"/>
                  <a:pt x="35433" y="2206068"/>
                  <a:pt x="3012" y="2023907"/>
                </a:cubicBezTo>
                <a:lnTo>
                  <a:pt x="0" y="1988423"/>
                </a:lnTo>
                <a:lnTo>
                  <a:pt x="0" y="176482"/>
                </a:lnTo>
                <a:cubicBezTo>
                  <a:pt x="0" y="79014"/>
                  <a:pt x="79014" y="0"/>
                  <a:pt x="176482" y="0"/>
                </a:cubicBez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10" name="Title 1">
            <a:extLst>
              <a:ext uri="{FF2B5EF4-FFF2-40B4-BE49-F238E27FC236}">
                <a16:creationId xmlns:a16="http://schemas.microsoft.com/office/drawing/2014/main" id="{D7744E32-9E6E-5A11-A7A0-D8AFCFEDB90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1" name="Subtitle 2">
            <a:extLst>
              <a:ext uri="{FF2B5EF4-FFF2-40B4-BE49-F238E27FC236}">
                <a16:creationId xmlns:a16="http://schemas.microsoft.com/office/drawing/2014/main" id="{89AF8F91-23D2-DD88-482D-7FAFF27C513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9FB64EB2-7F66-5CCC-3945-F5156896877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602049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and Text 4">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CDFB8F13-AB38-63DB-D1F1-86B6EF73DD2A}"/>
              </a:ext>
            </a:extLst>
          </p:cNvPr>
          <p:cNvSpPr>
            <a:spLocks noGrp="1"/>
          </p:cNvSpPr>
          <p:nvPr>
            <p:ph type="pic" sz="quarter" idx="14" hasCustomPrompt="1"/>
          </p:nvPr>
        </p:nvSpPr>
        <p:spPr>
          <a:xfrm>
            <a:off x="8172451" y="242888"/>
            <a:ext cx="3652838" cy="5848312"/>
          </a:xfrm>
          <a:custGeom>
            <a:avLst/>
            <a:gdLst>
              <a:gd name="connsiteX0" fmla="*/ 190569 w 3652838"/>
              <a:gd name="connsiteY0" fmla="*/ 0 h 5848312"/>
              <a:gd name="connsiteX1" fmla="*/ 3462269 w 3652838"/>
              <a:gd name="connsiteY1" fmla="*/ 0 h 5848312"/>
              <a:gd name="connsiteX2" fmla="*/ 3652838 w 3652838"/>
              <a:gd name="connsiteY2" fmla="*/ 190569 h 5848312"/>
              <a:gd name="connsiteX3" fmla="*/ 3652838 w 3652838"/>
              <a:gd name="connsiteY3" fmla="*/ 5657743 h 5848312"/>
              <a:gd name="connsiteX4" fmla="*/ 3462269 w 3652838"/>
              <a:gd name="connsiteY4" fmla="*/ 5848312 h 5848312"/>
              <a:gd name="connsiteX5" fmla="*/ 190569 w 3652838"/>
              <a:gd name="connsiteY5" fmla="*/ 5848312 h 5848312"/>
              <a:gd name="connsiteX6" fmla="*/ 0 w 3652838"/>
              <a:gd name="connsiteY6" fmla="*/ 5657743 h 5848312"/>
              <a:gd name="connsiteX7" fmla="*/ 0 w 3652838"/>
              <a:gd name="connsiteY7" fmla="*/ 3402065 h 5848312"/>
              <a:gd name="connsiteX8" fmla="*/ 7373 w 3652838"/>
              <a:gd name="connsiteY8" fmla="*/ 3315183 h 5848312"/>
              <a:gd name="connsiteX9" fmla="*/ 442863 w 3652838"/>
              <a:gd name="connsiteY9" fmla="*/ 2933380 h 5848312"/>
              <a:gd name="connsiteX10" fmla="*/ 442863 w 3652838"/>
              <a:gd name="connsiteY10" fmla="*/ 2914928 h 5848312"/>
              <a:gd name="connsiteX11" fmla="*/ 7373 w 3652838"/>
              <a:gd name="connsiteY11" fmla="*/ 2533130 h 5848312"/>
              <a:gd name="connsiteX12" fmla="*/ 0 w 3652838"/>
              <a:gd name="connsiteY12" fmla="*/ 2446249 h 5848312"/>
              <a:gd name="connsiteX13" fmla="*/ 0 w 3652838"/>
              <a:gd name="connsiteY13" fmla="*/ 190569 h 5848312"/>
              <a:gd name="connsiteX14" fmla="*/ 190569 w 3652838"/>
              <a:gd name="connsiteY14" fmla="*/ 0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838" h="5848312">
                <a:moveTo>
                  <a:pt x="190569" y="0"/>
                </a:moveTo>
                <a:lnTo>
                  <a:pt x="3462269" y="0"/>
                </a:lnTo>
                <a:cubicBezTo>
                  <a:pt x="3567517" y="0"/>
                  <a:pt x="3652838" y="85321"/>
                  <a:pt x="3652838" y="190569"/>
                </a:cubicBezTo>
                <a:lnTo>
                  <a:pt x="3652838" y="5657743"/>
                </a:lnTo>
                <a:cubicBezTo>
                  <a:pt x="3652838" y="5762991"/>
                  <a:pt x="3567517" y="5848312"/>
                  <a:pt x="3462269" y="5848312"/>
                </a:cubicBezTo>
                <a:lnTo>
                  <a:pt x="190569" y="5848312"/>
                </a:lnTo>
                <a:cubicBezTo>
                  <a:pt x="85321" y="5848312"/>
                  <a:pt x="0" y="5762991"/>
                  <a:pt x="0" y="5657743"/>
                </a:cubicBezTo>
                <a:lnTo>
                  <a:pt x="0" y="3402065"/>
                </a:lnTo>
                <a:lnTo>
                  <a:pt x="7373" y="3315183"/>
                </a:lnTo>
                <a:cubicBezTo>
                  <a:pt x="41632" y="3122692"/>
                  <a:pt x="194211" y="3001193"/>
                  <a:pt x="442863" y="2933380"/>
                </a:cubicBezTo>
                <a:cubicBezTo>
                  <a:pt x="453936" y="2929691"/>
                  <a:pt x="453936" y="2918617"/>
                  <a:pt x="442863" y="2914928"/>
                </a:cubicBezTo>
                <a:cubicBezTo>
                  <a:pt x="194211" y="2847115"/>
                  <a:pt x="41632" y="2725620"/>
                  <a:pt x="7373" y="2533130"/>
                </a:cubicBezTo>
                <a:lnTo>
                  <a:pt x="0" y="2446249"/>
                </a:lnTo>
                <a:lnTo>
                  <a:pt x="0" y="190569"/>
                </a:lnTo>
                <a:cubicBezTo>
                  <a:pt x="0" y="85321"/>
                  <a:pt x="85321" y="0"/>
                  <a:pt x="190569" y="0"/>
                </a:cubicBezTo>
                <a:close/>
              </a:path>
            </a:pathLst>
          </a:custGeom>
          <a:solidFill>
            <a:schemeClr val="bg1">
              <a:lumMod val="95000"/>
            </a:schemeClr>
          </a:solidFill>
          <a:ln>
            <a:noFill/>
          </a:ln>
        </p:spPr>
        <p:txBody>
          <a:bodyPr wrap="square" lIns="108000" tIns="576000" rIns="108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E018087B-459D-4729-B449-CCF6702E8E13}" type="datetime4">
              <a:rPr lang="en-GB" smtClean="0"/>
              <a:t>22 July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C102126E-B6A8-2921-6EF1-1AB371E2B266}"/>
              </a:ext>
            </a:extLst>
          </p:cNvPr>
          <p:cNvSpPr>
            <a:spLocks noGrp="1"/>
          </p:cNvSpPr>
          <p:nvPr>
            <p:ph type="title"/>
          </p:nvPr>
        </p:nvSpPr>
        <p:spPr>
          <a:xfrm>
            <a:off x="365126" y="242888"/>
            <a:ext cx="7554912"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6475D3A0-2D66-AC67-134B-77A55D269BD2}"/>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721FF2E9-41D3-FCB0-8100-2CB5AD7B06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4110501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Text 5">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C1E2B43-F98E-82F3-DBAA-FC13402D7C79}"/>
              </a:ext>
            </a:extLst>
          </p:cNvPr>
          <p:cNvSpPr>
            <a:spLocks noGrp="1"/>
          </p:cNvSpPr>
          <p:nvPr>
            <p:ph type="pic" sz="quarter" idx="14" hasCustomPrompt="1"/>
          </p:nvPr>
        </p:nvSpPr>
        <p:spPr>
          <a:xfrm>
            <a:off x="4270375" y="242888"/>
            <a:ext cx="7554914" cy="5848312"/>
          </a:xfrm>
          <a:custGeom>
            <a:avLst/>
            <a:gdLst>
              <a:gd name="connsiteX0" fmla="*/ 2145019 w 7554914"/>
              <a:gd name="connsiteY0" fmla="*/ 0 h 5848312"/>
              <a:gd name="connsiteX1" fmla="*/ 7370751 w 7554914"/>
              <a:gd name="connsiteY1" fmla="*/ 0 h 5848312"/>
              <a:gd name="connsiteX2" fmla="*/ 7554914 w 7554914"/>
              <a:gd name="connsiteY2" fmla="*/ 184163 h 5848312"/>
              <a:gd name="connsiteX3" fmla="*/ 7554914 w 7554914"/>
              <a:gd name="connsiteY3" fmla="*/ 5664149 h 5848312"/>
              <a:gd name="connsiteX4" fmla="*/ 7370751 w 7554914"/>
              <a:gd name="connsiteY4" fmla="*/ 5848312 h 5848312"/>
              <a:gd name="connsiteX5" fmla="*/ 184163 w 7554914"/>
              <a:gd name="connsiteY5" fmla="*/ 5848312 h 5848312"/>
              <a:gd name="connsiteX6" fmla="*/ 0 w 7554914"/>
              <a:gd name="connsiteY6" fmla="*/ 5664149 h 5848312"/>
              <a:gd name="connsiteX7" fmla="*/ 0 w 7554914"/>
              <a:gd name="connsiteY7" fmla="*/ 2161063 h 5848312"/>
              <a:gd name="connsiteX8" fmla="*/ 38324 w 7554914"/>
              <a:gd name="connsiteY8" fmla="*/ 2036037 h 5848312"/>
              <a:gd name="connsiteX9" fmla="*/ 1172960 w 7554914"/>
              <a:gd name="connsiteY9" fmla="*/ 1360305 h 5848312"/>
              <a:gd name="connsiteX10" fmla="*/ 1236325 w 7554914"/>
              <a:gd name="connsiteY10" fmla="*/ 1296939 h 5848312"/>
              <a:gd name="connsiteX11" fmla="*/ 1236325 w 7554914"/>
              <a:gd name="connsiteY11" fmla="*/ 927309 h 5848312"/>
              <a:gd name="connsiteX12" fmla="*/ 1977178 w 7554914"/>
              <a:gd name="connsiteY12" fmla="*/ 16657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54914" h="5848312">
                <a:moveTo>
                  <a:pt x="2145019" y="0"/>
                </a:moveTo>
                <a:lnTo>
                  <a:pt x="7370751" y="0"/>
                </a:lnTo>
                <a:cubicBezTo>
                  <a:pt x="7472461" y="0"/>
                  <a:pt x="7554914" y="82453"/>
                  <a:pt x="7554914" y="184163"/>
                </a:cubicBezTo>
                <a:lnTo>
                  <a:pt x="7554914" y="5664149"/>
                </a:lnTo>
                <a:cubicBezTo>
                  <a:pt x="7554914" y="5765859"/>
                  <a:pt x="7472461" y="5848312"/>
                  <a:pt x="7370751" y="5848312"/>
                </a:cubicBezTo>
                <a:lnTo>
                  <a:pt x="184163" y="5848312"/>
                </a:lnTo>
                <a:cubicBezTo>
                  <a:pt x="82453" y="5848312"/>
                  <a:pt x="0" y="5765859"/>
                  <a:pt x="0" y="5664149"/>
                </a:cubicBezTo>
                <a:lnTo>
                  <a:pt x="0" y="2161063"/>
                </a:lnTo>
                <a:lnTo>
                  <a:pt x="38324" y="2036037"/>
                </a:lnTo>
                <a:cubicBezTo>
                  <a:pt x="232381" y="1588024"/>
                  <a:pt x="681881" y="1376146"/>
                  <a:pt x="1172960" y="1360305"/>
                </a:cubicBezTo>
                <a:cubicBezTo>
                  <a:pt x="1215204" y="1360305"/>
                  <a:pt x="1236325" y="1328624"/>
                  <a:pt x="1236325" y="1296939"/>
                </a:cubicBezTo>
                <a:lnTo>
                  <a:pt x="1236325" y="927309"/>
                </a:lnTo>
                <a:cubicBezTo>
                  <a:pt x="1236325" y="474509"/>
                  <a:pt x="1551669" y="102568"/>
                  <a:pt x="1977178" y="16657"/>
                </a:cubicBezTo>
                <a:close/>
              </a:path>
            </a:pathLst>
          </a:custGeom>
          <a:solidFill>
            <a:schemeClr val="bg1">
              <a:lumMod val="95000"/>
            </a:schemeClr>
          </a:solidFill>
          <a:ln>
            <a:noFill/>
          </a:ln>
        </p:spPr>
        <p:txBody>
          <a:bodyPr wrap="square" lIns="180000" tIns="576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9" name="Text Placeholder 6"/>
          <p:cNvSpPr>
            <a:spLocks noGrp="1"/>
          </p:cNvSpPr>
          <p:nvPr>
            <p:ph type="body" sz="quarter" idx="13" hasCustomPrompt="1"/>
          </p:nvPr>
        </p:nvSpPr>
        <p:spPr>
          <a:xfrm>
            <a:off x="365126" y="1304101"/>
            <a:ext cx="3652839"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E018087B-459D-4729-B449-CCF6702E8E13}" type="datetime4">
              <a:rPr lang="en-GB" smtClean="0"/>
              <a:t>22 July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6" y="5792400"/>
            <a:ext cx="3652993"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D08CFF33-B49E-9711-53F9-19D0CC0A16DD}"/>
              </a:ext>
            </a:extLst>
          </p:cNvPr>
          <p:cNvSpPr>
            <a:spLocks noGrp="1"/>
          </p:cNvSpPr>
          <p:nvPr>
            <p:ph type="title" hasCustomPrompt="1"/>
          </p:nvPr>
        </p:nvSpPr>
        <p:spPr>
          <a:xfrm>
            <a:off x="365126" y="242888"/>
            <a:ext cx="3905250" cy="430887"/>
          </a:xfrm>
        </p:spPr>
        <p:txBody>
          <a:bodyPr/>
          <a:lstStyle>
            <a:lvl1pPr>
              <a:defRPr/>
            </a:lvl1pPr>
          </a:lstStyle>
          <a:p>
            <a:r>
              <a:rPr lang="en-US" dirty="0"/>
              <a:t>Click to add title</a:t>
            </a:r>
          </a:p>
        </p:txBody>
      </p:sp>
      <p:sp>
        <p:nvSpPr>
          <p:cNvPr id="13" name="Subtitle 2">
            <a:extLst>
              <a:ext uri="{FF2B5EF4-FFF2-40B4-BE49-F238E27FC236}">
                <a16:creationId xmlns:a16="http://schemas.microsoft.com/office/drawing/2014/main" id="{FA3CE1FB-D5F5-92E1-9D34-DB8E8889C90B}"/>
              </a:ext>
            </a:extLst>
          </p:cNvPr>
          <p:cNvSpPr>
            <a:spLocks noGrp="1"/>
          </p:cNvSpPr>
          <p:nvPr>
            <p:ph type="subTitle" idx="1" hasCustomPrompt="1"/>
          </p:nvPr>
        </p:nvSpPr>
        <p:spPr>
          <a:xfrm>
            <a:off x="365125" y="694950"/>
            <a:ext cx="39052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CB91AF96-43AB-49E0-5AA2-71826DA9639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426319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Text with Subheading">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2100262"/>
            <a:ext cx="3652838" cy="3692137"/>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2DC6169B-19DB-4994-BA6B-38503C57DC8A}" type="datetime4">
              <a:rPr lang="en-GB" smtClean="0"/>
              <a:t>22 July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25" name="Text Placeholder 24">
            <a:extLst>
              <a:ext uri="{FF2B5EF4-FFF2-40B4-BE49-F238E27FC236}">
                <a16:creationId xmlns:a16="http://schemas.microsoft.com/office/drawing/2014/main" id="{0FC42DF1-9B7E-9A5C-E40E-35292FD97B55}"/>
              </a:ext>
            </a:extLst>
          </p:cNvPr>
          <p:cNvSpPr>
            <a:spLocks noGrp="1"/>
          </p:cNvSpPr>
          <p:nvPr>
            <p:ph type="body" sz="quarter" idx="32" hasCustomPrompt="1"/>
          </p:nvPr>
        </p:nvSpPr>
        <p:spPr>
          <a:xfrm>
            <a:off x="365126" y="1303338"/>
            <a:ext cx="3480970" cy="796925"/>
          </a:xfrm>
        </p:spPr>
        <p:txBody>
          <a:bodyPr lIns="0" tIns="72000" rIns="0" bIns="72000">
            <a:noAutofit/>
          </a:bodyPr>
          <a:lstStyle>
            <a:lvl1pPr marL="0" indent="0">
              <a:buNone/>
              <a:defRPr sz="2400" b="1">
                <a:solidFill>
                  <a:schemeClr val="tx2"/>
                </a:solidFill>
              </a:defRPr>
            </a:lvl1pPr>
            <a:lvl2pPr marL="357542" indent="0">
              <a:buNone/>
              <a:defRPr/>
            </a:lvl2pPr>
            <a:lvl3pPr marL="719982" indent="0">
              <a:buNone/>
              <a:defRPr/>
            </a:lvl3pPr>
            <a:lvl4pPr marL="1081424" indent="0">
              <a:buNone/>
              <a:defRPr/>
            </a:lvl4pPr>
            <a:lvl5pPr marL="1439964" indent="0">
              <a:buNone/>
              <a:defRPr/>
            </a:lvl5pPr>
          </a:lstStyle>
          <a:p>
            <a:pPr lvl="0"/>
            <a:r>
              <a:rPr lang="en-US" dirty="0"/>
              <a:t>Click to edit subheading text</a:t>
            </a:r>
            <a:endParaRPr lang="en-GB" dirty="0"/>
          </a:p>
        </p:txBody>
      </p:sp>
      <p:sp>
        <p:nvSpPr>
          <p:cNvPr id="19" name="Picture Placeholder 18">
            <a:extLst>
              <a:ext uri="{FF2B5EF4-FFF2-40B4-BE49-F238E27FC236}">
                <a16:creationId xmlns:a16="http://schemas.microsoft.com/office/drawing/2014/main" id="{842A83F9-173D-2F5C-840B-653949B4C528}"/>
              </a:ext>
            </a:extLst>
          </p:cNvPr>
          <p:cNvSpPr>
            <a:spLocks noGrp="1"/>
          </p:cNvSpPr>
          <p:nvPr>
            <p:ph type="pic" sz="quarter" idx="14" hasCustomPrompt="1"/>
          </p:nvPr>
        </p:nvSpPr>
        <p:spPr>
          <a:xfrm>
            <a:off x="3848179" y="1303337"/>
            <a:ext cx="7977108" cy="4787900"/>
          </a:xfrm>
          <a:custGeom>
            <a:avLst/>
            <a:gdLst>
              <a:gd name="connsiteX0" fmla="*/ 594703 w 7977108"/>
              <a:gd name="connsiteY0" fmla="*/ 0 h 4787900"/>
              <a:gd name="connsiteX1" fmla="*/ 7804600 w 7977108"/>
              <a:gd name="connsiteY1" fmla="*/ 0 h 4787900"/>
              <a:gd name="connsiteX2" fmla="*/ 7977108 w 7977108"/>
              <a:gd name="connsiteY2" fmla="*/ 172508 h 4787900"/>
              <a:gd name="connsiteX3" fmla="*/ 7977108 w 7977108"/>
              <a:gd name="connsiteY3" fmla="*/ 4615392 h 4787900"/>
              <a:gd name="connsiteX4" fmla="*/ 7804600 w 7977108"/>
              <a:gd name="connsiteY4" fmla="*/ 4787900 h 4787900"/>
              <a:gd name="connsiteX5" fmla="*/ 594703 w 7977108"/>
              <a:gd name="connsiteY5" fmla="*/ 4787900 h 4787900"/>
              <a:gd name="connsiteX6" fmla="*/ 422195 w 7977108"/>
              <a:gd name="connsiteY6" fmla="*/ 4615392 h 4787900"/>
              <a:gd name="connsiteX7" fmla="*/ 422195 w 7977108"/>
              <a:gd name="connsiteY7" fmla="*/ 1002316 h 4787900"/>
              <a:gd name="connsiteX8" fmla="*/ 419981 w 7977108"/>
              <a:gd name="connsiteY8" fmla="*/ 976226 h 4787900"/>
              <a:gd name="connsiteX9" fmla="*/ 7859 w 7977108"/>
              <a:gd name="connsiteY9" fmla="*/ 614915 h 4787900"/>
              <a:gd name="connsiteX10" fmla="*/ 7859 w 7977108"/>
              <a:gd name="connsiteY10" fmla="*/ 597453 h 4787900"/>
              <a:gd name="connsiteX11" fmla="*/ 419981 w 7977108"/>
              <a:gd name="connsiteY11" fmla="*/ 236137 h 4787900"/>
              <a:gd name="connsiteX12" fmla="*/ 422195 w 7977108"/>
              <a:gd name="connsiteY12" fmla="*/ 210041 h 4787900"/>
              <a:gd name="connsiteX13" fmla="*/ 422195 w 7977108"/>
              <a:gd name="connsiteY13" fmla="*/ 172508 h 4787900"/>
              <a:gd name="connsiteX14" fmla="*/ 594703 w 7977108"/>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77108" h="4787900">
                <a:moveTo>
                  <a:pt x="594703" y="0"/>
                </a:moveTo>
                <a:lnTo>
                  <a:pt x="7804600" y="0"/>
                </a:lnTo>
                <a:cubicBezTo>
                  <a:pt x="7899874" y="0"/>
                  <a:pt x="7977108" y="77234"/>
                  <a:pt x="7977108" y="172508"/>
                </a:cubicBezTo>
                <a:lnTo>
                  <a:pt x="7977108" y="4615392"/>
                </a:lnTo>
                <a:cubicBezTo>
                  <a:pt x="7977108" y="4710666"/>
                  <a:pt x="7899874" y="4787900"/>
                  <a:pt x="7804600" y="4787900"/>
                </a:cubicBezTo>
                <a:lnTo>
                  <a:pt x="594703" y="4787900"/>
                </a:lnTo>
                <a:cubicBezTo>
                  <a:pt x="499429" y="4787900"/>
                  <a:pt x="422195" y="4710666"/>
                  <a:pt x="422195" y="4615392"/>
                </a:cubicBezTo>
                <a:lnTo>
                  <a:pt x="422195" y="1002316"/>
                </a:lnTo>
                <a:lnTo>
                  <a:pt x="419981" y="976226"/>
                </a:lnTo>
                <a:cubicBezTo>
                  <a:pt x="387560" y="794064"/>
                  <a:pt x="243169" y="679089"/>
                  <a:pt x="7859" y="614915"/>
                </a:cubicBezTo>
                <a:cubicBezTo>
                  <a:pt x="-2620" y="611423"/>
                  <a:pt x="-2620" y="600944"/>
                  <a:pt x="7859" y="597453"/>
                </a:cubicBezTo>
                <a:cubicBezTo>
                  <a:pt x="243169" y="533278"/>
                  <a:pt x="387560" y="418299"/>
                  <a:pt x="419981" y="236137"/>
                </a:cubicBezTo>
                <a:lnTo>
                  <a:pt x="422195" y="210041"/>
                </a:lnTo>
                <a:lnTo>
                  <a:pt x="422195" y="172508"/>
                </a:lnTo>
                <a:cubicBezTo>
                  <a:pt x="422195" y="77234"/>
                  <a:pt x="499429" y="0"/>
                  <a:pt x="594703" y="0"/>
                </a:cubicBezTo>
                <a:close/>
              </a:path>
            </a:pathLst>
          </a:custGeom>
          <a:solidFill>
            <a:schemeClr val="bg1">
              <a:lumMod val="95000"/>
            </a:schemeClr>
          </a:solidFill>
          <a:ln>
            <a:noFill/>
          </a:ln>
        </p:spPr>
        <p:txBody>
          <a:bodyPr wrap="square" lIns="900000" tIns="216000" rIns="540000" bIns="72000" anchor="ctr">
            <a:noAutofit/>
          </a:bodyPr>
          <a:lstStyle>
            <a:lvl1pPr marL="0" indent="0" algn="ctr">
              <a:lnSpc>
                <a:spcPct val="100000"/>
              </a:lnSpc>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11" name="Title 1">
            <a:extLst>
              <a:ext uri="{FF2B5EF4-FFF2-40B4-BE49-F238E27FC236}">
                <a16:creationId xmlns:a16="http://schemas.microsoft.com/office/drawing/2014/main" id="{7E92BEDA-CC1A-B239-4AEA-C3F37E21462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0750812B-2C47-57D4-77B8-4674E64952E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7DE5D052-D1E8-918C-87BF-6E3142B87FE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4124558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Image and Text 1">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6" y="1303338"/>
            <a:ext cx="560228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 </a:t>
            </a: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Picture Placeholder 8"/>
          <p:cNvSpPr>
            <a:spLocks noGrp="1"/>
          </p:cNvSpPr>
          <p:nvPr>
            <p:ph type="pic" sz="quarter" idx="14" hasCustomPrompt="1"/>
          </p:nvPr>
        </p:nvSpPr>
        <p:spPr>
          <a:xfrm>
            <a:off x="6223001" y="1303338"/>
            <a:ext cx="5602288" cy="2049077"/>
          </a:xfrm>
          <a:prstGeom prst="roundRect">
            <a:avLst>
              <a:gd name="adj" fmla="val 8542"/>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dirty="0"/>
              <a:t>[Click here to insert image]</a:t>
            </a:r>
            <a:br>
              <a:rPr lang="en-GB" dirty="0"/>
            </a:br>
            <a:br>
              <a:rPr lang="en-GB" dirty="0"/>
            </a:br>
            <a:br>
              <a:rPr lang="en-GB" dirty="0"/>
            </a:br>
            <a:r>
              <a:rPr lang="en-GB" dirty="0"/>
              <a:t>[</a:t>
            </a:r>
            <a:r>
              <a:rPr lang="en-US" dirty="0"/>
              <a:t>The image can then be scaled within the frame by </a:t>
            </a:r>
            <a:br>
              <a:rPr lang="en-US" dirty="0"/>
            </a:br>
            <a:r>
              <a:rPr lang="en-US" dirty="0"/>
              <a:t>using the ‘Crop’ feature in the ‘Picture Format’ tab </a:t>
            </a:r>
            <a:br>
              <a:rPr lang="en-US" dirty="0"/>
            </a:br>
            <a:r>
              <a:rPr lang="en-US" dirty="0"/>
              <a:t>of the ribbon. Right click on image to add/edit alt text]</a:t>
            </a:r>
            <a:endParaRPr lang="en-GB" dirty="0"/>
          </a:p>
        </p:txBody>
      </p:sp>
      <p:sp>
        <p:nvSpPr>
          <p:cNvPr id="21" name="Text Placeholder 7"/>
          <p:cNvSpPr>
            <a:spLocks noGrp="1"/>
          </p:cNvSpPr>
          <p:nvPr>
            <p:ph type="body" sz="quarter" idx="26" hasCustomPrompt="1"/>
          </p:nvPr>
        </p:nvSpPr>
        <p:spPr>
          <a:xfrm>
            <a:off x="6223001" y="3383480"/>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35" name="Picture Placeholder 8"/>
          <p:cNvSpPr>
            <a:spLocks noGrp="1" noChangeAspect="1"/>
          </p:cNvSpPr>
          <p:nvPr>
            <p:ph type="pic" sz="quarter" idx="27" hasCustomPrompt="1"/>
          </p:nvPr>
        </p:nvSpPr>
        <p:spPr>
          <a:xfrm>
            <a:off x="6223001" y="3713345"/>
            <a:ext cx="5602288" cy="2048029"/>
          </a:xfrm>
          <a:prstGeom prst="roundRect">
            <a:avLst>
              <a:gd name="adj" fmla="val 8498"/>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dirty="0"/>
              <a:t>[Click here to insert image]</a:t>
            </a:r>
            <a:br>
              <a:rPr lang="en-GB" dirty="0"/>
            </a:br>
            <a:br>
              <a:rPr lang="en-GB" dirty="0"/>
            </a:br>
            <a:br>
              <a:rPr lang="en-GB" dirty="0"/>
            </a:br>
            <a:r>
              <a:rPr lang="en-GB" dirty="0"/>
              <a:t>[</a:t>
            </a:r>
            <a:r>
              <a:rPr lang="en-US" dirty="0"/>
              <a:t>The image can then be scaled within the frame by </a:t>
            </a:r>
            <a:br>
              <a:rPr lang="en-US" dirty="0"/>
            </a:br>
            <a:r>
              <a:rPr lang="en-US" dirty="0"/>
              <a:t>using the ‘Crop’ feature in the ‘Picture Format’ tab </a:t>
            </a:r>
            <a:br>
              <a:rPr lang="en-US" dirty="0"/>
            </a:br>
            <a:r>
              <a:rPr lang="en-US" dirty="0"/>
              <a:t>of the ribbon. Right click on image to add/edit alt text]</a:t>
            </a:r>
            <a:endParaRPr lang="en-GB" dirty="0"/>
          </a:p>
        </p:txBody>
      </p:sp>
      <p:sp>
        <p:nvSpPr>
          <p:cNvPr id="36" name="Text Placeholder 7"/>
          <p:cNvSpPr>
            <a:spLocks noGrp="1"/>
          </p:cNvSpPr>
          <p:nvPr>
            <p:ph type="body" sz="quarter" idx="28" hasCustomPrompt="1"/>
          </p:nvPr>
        </p:nvSpPr>
        <p:spPr>
          <a:xfrm>
            <a:off x="6223001" y="5792438"/>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5" name="Date Placeholder 4"/>
          <p:cNvSpPr>
            <a:spLocks noGrp="1"/>
          </p:cNvSpPr>
          <p:nvPr>
            <p:ph type="dt" sz="half" idx="30"/>
          </p:nvPr>
        </p:nvSpPr>
        <p:spPr/>
        <p:txBody>
          <a:bodyPr/>
          <a:lstStyle>
            <a:lvl1pPr algn="r">
              <a:defRPr/>
            </a:lvl1pPr>
          </a:lstStyle>
          <a:p>
            <a:fld id="{D35EAFE1-FE5F-44CC-825D-16EBF058F4AD}" type="datetime4">
              <a:rPr lang="en-GB" smtClean="0"/>
              <a:t>22 July 2025</a:t>
            </a:fld>
            <a:endParaRPr lang="en-GB" dirty="0"/>
          </a:p>
        </p:txBody>
      </p:sp>
      <p:sp>
        <p:nvSpPr>
          <p:cNvPr id="7" name="Footer Placeholder 6"/>
          <p:cNvSpPr>
            <a:spLocks noGrp="1"/>
          </p:cNvSpPr>
          <p:nvPr>
            <p:ph type="ftr" sz="quarter" idx="31"/>
          </p:nvPr>
        </p:nvSpPr>
        <p:spPr/>
        <p:txBody>
          <a:bodyPr/>
          <a:lstStyle>
            <a:lvl1pPr>
              <a:defRPr/>
            </a:lvl1pPr>
          </a:lstStyle>
          <a:p>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A6A279A2-5C44-FF2E-B384-6E6E2D4B3927}"/>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AA0BC10E-676C-5CAF-16CC-96A54F223F7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3C5935EB-46DA-41B4-C62C-331192886E84}"/>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12721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Image and Text 2">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5" y="1303338"/>
            <a:ext cx="365283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 </a:t>
            </a: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Picture Placeholder 8"/>
          <p:cNvSpPr>
            <a:spLocks noGrp="1"/>
          </p:cNvSpPr>
          <p:nvPr>
            <p:ph type="pic" sz="quarter" idx="14" hasCustomPrompt="1"/>
          </p:nvPr>
        </p:nvSpPr>
        <p:spPr>
          <a:xfrm>
            <a:off x="4270375" y="1303338"/>
            <a:ext cx="3649663" cy="4471820"/>
          </a:xfrm>
          <a:prstGeom prst="roundRect">
            <a:avLst>
              <a:gd name="adj" fmla="val 4843"/>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21" name="Text Placeholder 7"/>
          <p:cNvSpPr>
            <a:spLocks noGrp="1"/>
          </p:cNvSpPr>
          <p:nvPr>
            <p:ph type="body" sz="quarter" idx="26" hasCustomPrompt="1"/>
          </p:nvPr>
        </p:nvSpPr>
        <p:spPr>
          <a:xfrm>
            <a:off x="4270376" y="5790465"/>
            <a:ext cx="3650970"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35" name="Picture Placeholder 8"/>
          <p:cNvSpPr>
            <a:spLocks noGrp="1"/>
          </p:cNvSpPr>
          <p:nvPr>
            <p:ph type="pic" sz="quarter" idx="27" hasCustomPrompt="1"/>
          </p:nvPr>
        </p:nvSpPr>
        <p:spPr>
          <a:xfrm>
            <a:off x="8172450" y="1303338"/>
            <a:ext cx="3650400" cy="4471200"/>
          </a:xfrm>
          <a:prstGeom prst="roundRect">
            <a:avLst>
              <a:gd name="adj" fmla="val 5084"/>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36" name="Text Placeholder 7"/>
          <p:cNvSpPr>
            <a:spLocks noGrp="1"/>
          </p:cNvSpPr>
          <p:nvPr>
            <p:ph type="body" sz="quarter" idx="28" hasCustomPrompt="1"/>
          </p:nvPr>
        </p:nvSpPr>
        <p:spPr>
          <a:xfrm>
            <a:off x="8172450" y="5792438"/>
            <a:ext cx="3652838"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5" name="Date Placeholder 4"/>
          <p:cNvSpPr>
            <a:spLocks noGrp="1"/>
          </p:cNvSpPr>
          <p:nvPr>
            <p:ph type="dt" sz="half" idx="30"/>
          </p:nvPr>
        </p:nvSpPr>
        <p:spPr/>
        <p:txBody>
          <a:bodyPr/>
          <a:lstStyle>
            <a:lvl1pPr algn="r">
              <a:defRPr/>
            </a:lvl1pPr>
          </a:lstStyle>
          <a:p>
            <a:fld id="{B03DE9E3-FCC4-44C9-9C9C-3C907C61E776}" type="datetime4">
              <a:rPr lang="en-GB" smtClean="0"/>
              <a:t>22 July 2025</a:t>
            </a:fld>
            <a:endParaRPr lang="en-GB" dirty="0"/>
          </a:p>
        </p:txBody>
      </p:sp>
      <p:sp>
        <p:nvSpPr>
          <p:cNvPr id="7" name="Footer Placeholder 6"/>
          <p:cNvSpPr>
            <a:spLocks noGrp="1"/>
          </p:cNvSpPr>
          <p:nvPr>
            <p:ph type="ftr" sz="quarter" idx="31"/>
          </p:nvPr>
        </p:nvSpPr>
        <p:spPr/>
        <p:txBody>
          <a:bodyPr/>
          <a:lstStyle>
            <a:lvl1pPr>
              <a:defRPr/>
            </a:lvl1pPr>
          </a:lstStyle>
          <a:p>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62258698-286C-88FD-70CB-ECDC7EEFE76B}"/>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9D5C8553-9D06-642B-D0A0-1E6DF4F5CE6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6C8E6EBF-1077-88CA-250A-BC3D173D625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66071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11AFB533-57EF-4766-9D87-DAD3C67F4A40}" type="datetime4">
              <a:rPr lang="en-GB" smtClean="0"/>
              <a:t>22 July 2025</a:t>
            </a:fld>
            <a:endParaRPr lang="en-GB" dirty="0"/>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dirty="0"/>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5125" y="5792400"/>
            <a:ext cx="11460163"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7" name="Table Placeholder 6">
            <a:extLst>
              <a:ext uri="{FF2B5EF4-FFF2-40B4-BE49-F238E27FC236}">
                <a16:creationId xmlns:a16="http://schemas.microsoft.com/office/drawing/2014/main" id="{2E2FA657-3A41-6C8A-7C73-5FF4D5761F76}"/>
              </a:ext>
            </a:extLst>
          </p:cNvPr>
          <p:cNvSpPr>
            <a:spLocks noGrp="1"/>
          </p:cNvSpPr>
          <p:nvPr>
            <p:ph type="tbl" sz="quarter" idx="34" hasCustomPrompt="1"/>
          </p:nvPr>
        </p:nvSpPr>
        <p:spPr>
          <a:xfrm>
            <a:off x="365119" y="1303338"/>
            <a:ext cx="11459625" cy="4489450"/>
          </a:xfrm>
        </p:spPr>
        <p:txBody>
          <a:bodyPr lIns="0" rIns="0">
            <a:noAutofit/>
          </a:bodyPr>
          <a:lstStyle>
            <a:lvl1pPr>
              <a:defRPr/>
            </a:lvl1pPr>
          </a:lstStyle>
          <a:p>
            <a:r>
              <a:rPr lang="en-GB" dirty="0"/>
              <a:t>Click TABLE icon to insert table.</a:t>
            </a:r>
          </a:p>
        </p:txBody>
      </p:sp>
      <p:sp>
        <p:nvSpPr>
          <p:cNvPr id="10" name="Title 1">
            <a:extLst>
              <a:ext uri="{FF2B5EF4-FFF2-40B4-BE49-F238E27FC236}">
                <a16:creationId xmlns:a16="http://schemas.microsoft.com/office/drawing/2014/main" id="{F7A4EB32-D948-C409-F1E5-9F712310D58D}"/>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1E30107F-6B57-65E7-BD35-CCB493B8D6D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F611BFB-31C6-6656-90B9-BB1C81967B2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059827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Graph">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84741D83-B006-4893-8541-66BA34E08C4B}" type="datetime4">
              <a:rPr lang="en-GB" smtClean="0"/>
              <a:t>22 July 2025</a:t>
            </a:fld>
            <a:endParaRPr lang="en-GB" dirty="0"/>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dirty="0"/>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6713"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7" name="Chart Placeholder 6">
            <a:extLst>
              <a:ext uri="{FF2B5EF4-FFF2-40B4-BE49-F238E27FC236}">
                <a16:creationId xmlns:a16="http://schemas.microsoft.com/office/drawing/2014/main" id="{8994D5C1-7836-1E91-87FA-56E472221EB3}"/>
              </a:ext>
            </a:extLst>
          </p:cNvPr>
          <p:cNvSpPr>
            <a:spLocks noGrp="1"/>
          </p:cNvSpPr>
          <p:nvPr>
            <p:ph type="chart" sz="quarter" idx="34" hasCustomPrompt="1"/>
          </p:nvPr>
        </p:nvSpPr>
        <p:spPr>
          <a:xfrm>
            <a:off x="365125" y="1303338"/>
            <a:ext cx="11460163" cy="4489062"/>
          </a:xfrm>
        </p:spPr>
        <p:txBody>
          <a:bodyPr lIns="0" rIns="0">
            <a:noAutofit/>
          </a:bodyPr>
          <a:lstStyle>
            <a:lvl1pPr>
              <a:defRPr/>
            </a:lvl1pPr>
          </a:lstStyle>
          <a:p>
            <a:r>
              <a:rPr lang="en-GB" dirty="0"/>
              <a:t>Click CHART icons to insert chart.</a:t>
            </a:r>
            <a:br>
              <a:rPr lang="en-GB" dirty="0"/>
            </a:br>
            <a:r>
              <a:rPr lang="en-US" dirty="0"/>
              <a:t>Please ensure your chart title, legend, x and y axis titles are minimum 12 </a:t>
            </a:r>
            <a:r>
              <a:rPr lang="en-US" dirty="0" err="1"/>
              <a:t>pt</a:t>
            </a:r>
            <a:r>
              <a:rPr lang="en-US" dirty="0"/>
              <a:t>, Arial black for accessibility. </a:t>
            </a:r>
          </a:p>
          <a:p>
            <a:endParaRPr lang="en-GB" dirty="0"/>
          </a:p>
          <a:p>
            <a:endParaRPr lang="en-GB" dirty="0"/>
          </a:p>
        </p:txBody>
      </p:sp>
      <p:sp>
        <p:nvSpPr>
          <p:cNvPr id="10" name="Title 1">
            <a:extLst>
              <a:ext uri="{FF2B5EF4-FFF2-40B4-BE49-F238E27FC236}">
                <a16:creationId xmlns:a16="http://schemas.microsoft.com/office/drawing/2014/main" id="{20CCEE79-8221-4C6C-2397-0791C954AA8D}"/>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4091ECF0-259D-F144-9708-B8296C87B04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C3FC0E92-53E2-6353-15B7-7028E9E80A8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987482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E57A6D-CCB0-DF2D-0D9A-6184CE396941}"/>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fld id="{346B58B4-0D72-4C8B-9355-854FB5782278}" type="datetime4">
              <a:rPr lang="en-GB" smtClean="0"/>
              <a:t>22 July 2025</a:t>
            </a:fld>
            <a:endParaRPr lang="en-GB" dirty="0"/>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14041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DFB0EC8B-993B-9701-B3D4-2FBFA2652AA7}"/>
              </a:ext>
            </a:extLst>
          </p:cNvPr>
          <p:cNvSpPr>
            <a:spLocks noGrp="1"/>
          </p:cNvSpPr>
          <p:nvPr>
            <p:ph type="dt" sz="half" idx="11"/>
          </p:nvPr>
        </p:nvSpPr>
        <p:spPr/>
        <p:txBody>
          <a:bodyPr/>
          <a:lstStyle>
            <a:lvl1pPr>
              <a:defRPr>
                <a:solidFill>
                  <a:schemeClr val="bg1"/>
                </a:solidFill>
              </a:defRPr>
            </a:lvl1pPr>
          </a:lstStyle>
          <a:p>
            <a:fld id="{71B7B165-5683-4F5F-9FF2-907EF7B970C8}" type="datetime4">
              <a:rPr lang="en-GB" smtClean="0"/>
              <a:t>22 July 2025</a:t>
            </a:fld>
            <a:endParaRPr lang="en-GB" dirty="0"/>
          </a:p>
        </p:txBody>
      </p:sp>
      <p:sp>
        <p:nvSpPr>
          <p:cNvPr id="11" name="Footer Placeholder 10">
            <a:extLst>
              <a:ext uri="{FF2B5EF4-FFF2-40B4-BE49-F238E27FC236}">
                <a16:creationId xmlns:a16="http://schemas.microsoft.com/office/drawing/2014/main" id="{F4B64CB0-473B-DCCB-4EF6-AD2596727230}"/>
              </a:ext>
            </a:extLst>
          </p:cNvPr>
          <p:cNvSpPr>
            <a:spLocks noGrp="1"/>
          </p:cNvSpPr>
          <p:nvPr>
            <p:ph type="ftr" sz="quarter" idx="12"/>
          </p:nvPr>
        </p:nvSpPr>
        <p:spPr/>
        <p:txBody>
          <a:bodyPr/>
          <a:lstStyle>
            <a:lvl1pPr>
              <a:defRPr>
                <a:solidFill>
                  <a:schemeClr val="bg1"/>
                </a:solidFill>
              </a:defRPr>
            </a:lvl1pPr>
          </a:lstStyle>
          <a:p>
            <a:endParaRPr lang="en-GB" dirty="0"/>
          </a:p>
        </p:txBody>
      </p:sp>
      <p:sp>
        <p:nvSpPr>
          <p:cNvPr id="12" name="Slide Number Placeholder 11">
            <a:extLst>
              <a:ext uri="{FF2B5EF4-FFF2-40B4-BE49-F238E27FC236}">
                <a16:creationId xmlns:a16="http://schemas.microsoft.com/office/drawing/2014/main" id="{C70C223B-EC3F-01A9-ECD3-7E6A591C405E}"/>
              </a:ext>
            </a:extLst>
          </p:cNvPr>
          <p:cNvSpPr>
            <a:spLocks noGrp="1"/>
          </p:cNvSpPr>
          <p:nvPr>
            <p:ph type="sldNum" sz="quarter" idx="13"/>
          </p:nvPr>
        </p:nvSpPr>
        <p:spPr/>
        <p:txBody>
          <a:bodyPr/>
          <a:lstStyle>
            <a:lvl1pPr>
              <a:defRPr>
                <a:solidFill>
                  <a:schemeClr val="bg1"/>
                </a:solidFill>
              </a:defRPr>
            </a:lvl1pPr>
          </a:lstStyle>
          <a:p>
            <a:fld id="{9F9F533D-B52E-4A2F-BF72-0ADD2D94BD75}" type="slidenum">
              <a:rPr lang="en-GB" smtClean="0"/>
              <a:pPr/>
              <a:t>‹#›</a:t>
            </a:fld>
            <a:endParaRPr lang="en-GB" dirty="0"/>
          </a:p>
        </p:txBody>
      </p:sp>
      <p:sp>
        <p:nvSpPr>
          <p:cNvPr id="13" name="Text Placeholder 2">
            <a:extLst>
              <a:ext uri="{FF2B5EF4-FFF2-40B4-BE49-F238E27FC236}">
                <a16:creationId xmlns:a16="http://schemas.microsoft.com/office/drawing/2014/main" id="{B3466546-C07E-BFBF-4B2F-E4D299013F56}"/>
              </a:ext>
            </a:extLst>
          </p:cNvPr>
          <p:cNvSpPr>
            <a:spLocks noGrp="1"/>
          </p:cNvSpPr>
          <p:nvPr>
            <p:ph type="body" sz="quarter" idx="33" hasCustomPrompt="1"/>
          </p:nvPr>
        </p:nvSpPr>
        <p:spPr>
          <a:xfrm>
            <a:off x="364800" y="5792400"/>
            <a:ext cx="11460164" cy="298800"/>
          </a:xfrm>
        </p:spPr>
        <p:txBody>
          <a:bodyPr lIns="0" tIns="72000" rIns="0" bIns="72000" anchor="b">
            <a:noAutofit/>
          </a:bodyPr>
          <a:lstStyle>
            <a:lvl1pPr marL="0" indent="0">
              <a:buNone/>
              <a:defRPr sz="1200">
                <a:solidFill>
                  <a:schemeClr val="bg1"/>
                </a:solidFill>
              </a:defRPr>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pic>
        <p:nvPicPr>
          <p:cNvPr id="6" name="Graphic 5">
            <a:extLst>
              <a:ext uri="{FF2B5EF4-FFF2-40B4-BE49-F238E27FC236}">
                <a16:creationId xmlns:a16="http://schemas.microsoft.com/office/drawing/2014/main" id="{A8F5241F-6CBA-AE82-8AEE-138E90E20FA2}"/>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7328" t="12162" r="1499" b="12843"/>
          <a:stretch/>
        </p:blipFill>
        <p:spPr>
          <a:xfrm>
            <a:off x="219299" y="6191252"/>
            <a:ext cx="1215582" cy="563804"/>
          </a:xfrm>
          <a:prstGeom prst="rect">
            <a:avLst/>
          </a:prstGeom>
        </p:spPr>
      </p:pic>
      <p:sp>
        <p:nvSpPr>
          <p:cNvPr id="9" name="Title 1">
            <a:extLst>
              <a:ext uri="{FF2B5EF4-FFF2-40B4-BE49-F238E27FC236}">
                <a16:creationId xmlns:a16="http://schemas.microsoft.com/office/drawing/2014/main" id="{70C54E86-8E74-E1E1-9919-BF95D8B21B8F}"/>
              </a:ext>
            </a:extLst>
          </p:cNvPr>
          <p:cNvSpPr>
            <a:spLocks noGrp="1"/>
          </p:cNvSpPr>
          <p:nvPr>
            <p:ph type="title"/>
          </p:nvPr>
        </p:nvSpPr>
        <p:spPr>
          <a:xfrm>
            <a:off x="365125" y="242888"/>
            <a:ext cx="11460163" cy="430887"/>
          </a:xfrm>
        </p:spPr>
        <p:txBody>
          <a:bodyPr/>
          <a:lstStyle>
            <a:lvl1pPr>
              <a:defRPr>
                <a:solidFill>
                  <a:schemeClr val="bg1"/>
                </a:solidFill>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936C739-784E-0B16-D78E-DAACEC459BE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7" name="Freeform: Shape 16">
            <a:extLst>
              <a:ext uri="{FF2B5EF4-FFF2-40B4-BE49-F238E27FC236}">
                <a16:creationId xmlns:a16="http://schemas.microsoft.com/office/drawing/2014/main" id="{A8BE41CA-ABEC-55CB-D62E-31831DAD300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517228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3EA56-5111-4037-9D95-99472C98B371}"/>
              </a:ext>
            </a:extLst>
          </p:cNvPr>
          <p:cNvSpPr>
            <a:spLocks noGrp="1"/>
          </p:cNvSpPr>
          <p:nvPr>
            <p:ph type="dt" sz="half" idx="10"/>
          </p:nvPr>
        </p:nvSpPr>
        <p:spPr/>
        <p:txBody>
          <a:bodyPr/>
          <a:lstStyle/>
          <a:p>
            <a:fld id="{18AF44B5-6D56-4B59-9C1D-2022F9BFF5DA}" type="datetime4">
              <a:rPr lang="en-GB" smtClean="0"/>
              <a:t>22 July 2025</a:t>
            </a:fld>
            <a:endParaRPr lang="en-GB" dirty="0"/>
          </a:p>
        </p:txBody>
      </p:sp>
      <p:sp>
        <p:nvSpPr>
          <p:cNvPr id="3" name="Footer Placeholder 2">
            <a:extLst>
              <a:ext uri="{FF2B5EF4-FFF2-40B4-BE49-F238E27FC236}">
                <a16:creationId xmlns:a16="http://schemas.microsoft.com/office/drawing/2014/main" id="{D0CE7BCF-23E0-421B-8A21-1CDDB167314E}"/>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FB1F21D1-F1DD-4945-8EF8-43393EDC3F66}"/>
              </a:ext>
            </a:extLst>
          </p:cNvPr>
          <p:cNvSpPr>
            <a:spLocks noGrp="1"/>
          </p:cNvSpPr>
          <p:nvPr>
            <p:ph type="sldNum" sz="quarter" idx="12"/>
          </p:nvPr>
        </p:nvSpPr>
        <p:spPr/>
        <p:txBody>
          <a:bodyPr/>
          <a:lstStyle/>
          <a:p>
            <a:fld id="{9F9F533D-B52E-4A2F-BF72-0ADD2D94BD75}" type="slidenum">
              <a:rPr lang="en-GB" smtClean="0"/>
              <a:pPr/>
              <a:t>‹#›</a:t>
            </a:fld>
            <a:endParaRPr lang="en-GB" dirty="0"/>
          </a:p>
        </p:txBody>
      </p:sp>
      <p:sp>
        <p:nvSpPr>
          <p:cNvPr id="7" name="Text Placeholder 6">
            <a:extLst>
              <a:ext uri="{FF2B5EF4-FFF2-40B4-BE49-F238E27FC236}">
                <a16:creationId xmlns:a16="http://schemas.microsoft.com/office/drawing/2014/main" id="{F2A2858F-078E-2E59-C8A6-5102082DA345}"/>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Tree>
    <p:extLst>
      <p:ext uri="{BB962C8B-B14F-4D97-AF65-F5344CB8AC3E}">
        <p14:creationId xmlns:p14="http://schemas.microsoft.com/office/powerpoint/2010/main" val="1448223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userDrawn="1">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dirty="0"/>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32399666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Section Header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userDrawn="1">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dirty="0"/>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1521580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8276E86-C9B6-1B20-0470-A93E9FE76804}"/>
              </a:ext>
            </a:extLst>
          </p:cNvPr>
          <p:cNvGraphicFramePr>
            <a:graphicFrameLocks noChangeAspect="1"/>
          </p:cNvGraphicFramePr>
          <p:nvPr userDrawn="1">
            <p:custDataLst>
              <p:tags r:id="rId1"/>
            </p:custDataLst>
            <p:extLst>
              <p:ext uri="{D42A27DB-BD31-4B8C-83A1-F6EECF244321}">
                <p14:modId xmlns:p14="http://schemas.microsoft.com/office/powerpoint/2010/main" val="4036347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C8276E86-C9B6-1B20-0470-A93E9FE7680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1">
            <a:extLst>
              <a:ext uri="{FF2B5EF4-FFF2-40B4-BE49-F238E27FC236}">
                <a16:creationId xmlns:a16="http://schemas.microsoft.com/office/drawing/2014/main" id="{7905DD1F-ADCE-21F5-3B42-348B73562E77}"/>
              </a:ext>
            </a:extLst>
          </p:cNvPr>
          <p:cNvSpPr>
            <a:spLocks noGrp="1"/>
          </p:cNvSpPr>
          <p:nvPr>
            <p:ph type="title" hasCustomPrompt="1"/>
          </p:nvPr>
        </p:nvSpPr>
        <p:spPr>
          <a:xfrm>
            <a:off x="365125" y="3235800"/>
            <a:ext cx="8651875" cy="1260000"/>
          </a:xfrm>
        </p:spPr>
        <p:txBody>
          <a:bodyPr vert="horz">
            <a:noAutofit/>
          </a:bodyPr>
          <a:lstStyle>
            <a:lvl1pPr>
              <a:defRPr sz="3600">
                <a:solidFill>
                  <a:schemeClr val="bg1"/>
                </a:solidFill>
              </a:defRPr>
            </a:lvl1pPr>
          </a:lstStyle>
          <a:p>
            <a:r>
              <a:rPr lang="en-US" dirty="0"/>
              <a:t>Click to enter section header title</a:t>
            </a:r>
          </a:p>
        </p:txBody>
      </p:sp>
      <p:sp>
        <p:nvSpPr>
          <p:cNvPr id="7" name="Subtitle 2">
            <a:extLst>
              <a:ext uri="{FF2B5EF4-FFF2-40B4-BE49-F238E27FC236}">
                <a16:creationId xmlns:a16="http://schemas.microsoft.com/office/drawing/2014/main" id="{1A65F606-CDCB-0367-61AA-199FECCB3A72}"/>
              </a:ext>
            </a:extLst>
          </p:cNvPr>
          <p:cNvSpPr>
            <a:spLocks noGrp="1"/>
          </p:cNvSpPr>
          <p:nvPr>
            <p:ph type="subTitle" idx="1" hasCustomPrompt="1"/>
          </p:nvPr>
        </p:nvSpPr>
        <p:spPr>
          <a:xfrm>
            <a:off x="365125" y="4514654"/>
            <a:ext cx="8651876"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8" name="Graphic 7">
            <a:extLst>
              <a:ext uri="{FF2B5EF4-FFF2-40B4-BE49-F238E27FC236}">
                <a16:creationId xmlns:a16="http://schemas.microsoft.com/office/drawing/2014/main" id="{FE066BEF-B097-8826-7B68-974384A3DA4A}"/>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772" t="25173" r="16016" b="28870"/>
          <a:stretch/>
        </p:blipFill>
        <p:spPr>
          <a:xfrm>
            <a:off x="322824" y="5861243"/>
            <a:ext cx="1586940" cy="585704"/>
          </a:xfrm>
          <a:prstGeom prst="rect">
            <a:avLst/>
          </a:prstGeom>
        </p:spPr>
      </p:pic>
    </p:spTree>
    <p:extLst>
      <p:ext uri="{BB962C8B-B14F-4D97-AF65-F5344CB8AC3E}">
        <p14:creationId xmlns:p14="http://schemas.microsoft.com/office/powerpoint/2010/main" val="2138752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B20AFD6-6925-491B-B024-5E0A32A58D07}"/>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2" name="Rectangle 1">
            <a:extLst>
              <a:ext uri="{FF2B5EF4-FFF2-40B4-BE49-F238E27FC236}">
                <a16:creationId xmlns:a16="http://schemas.microsoft.com/office/drawing/2014/main" id="{2B90B266-F3BD-2613-5CB9-7E4A4FDFC416}"/>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3" name="Graphic 2">
            <a:extLst>
              <a:ext uri="{FF2B5EF4-FFF2-40B4-BE49-F238E27FC236}">
                <a16:creationId xmlns:a16="http://schemas.microsoft.com/office/drawing/2014/main" id="{FF8659A8-C764-F3A5-40B7-A3CB7A35D23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spTree>
    <p:extLst>
      <p:ext uri="{BB962C8B-B14F-4D97-AF65-F5344CB8AC3E}">
        <p14:creationId xmlns:p14="http://schemas.microsoft.com/office/powerpoint/2010/main" val="1887936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WARNING">
    <p:bg>
      <p:bgPr>
        <a:solidFill>
          <a:schemeClr val="accent4"/>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3810C-0168-8013-6BD1-DF4493DB8F41}"/>
              </a:ext>
            </a:extLst>
          </p:cNvPr>
          <p:cNvSpPr/>
          <p:nvPr userDrawn="1"/>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dirty="0">
                <a:solidFill>
                  <a:schemeClr val="bg1"/>
                </a:solidFill>
              </a:rPr>
              <a:t>Do not use </a:t>
            </a:r>
            <a:br>
              <a:rPr lang="en-GB" sz="9600" kern="0" dirty="0">
                <a:solidFill>
                  <a:schemeClr val="bg1"/>
                </a:solidFill>
              </a:rPr>
            </a:br>
            <a:r>
              <a:rPr lang="en-GB" sz="9600" kern="0" dirty="0">
                <a:solidFill>
                  <a:schemeClr val="bg1"/>
                </a:solidFill>
              </a:rPr>
              <a:t>layouts that appear </a:t>
            </a:r>
            <a:br>
              <a:rPr lang="en-GB" sz="9600" kern="0" dirty="0">
                <a:solidFill>
                  <a:schemeClr val="bg1"/>
                </a:solidFill>
              </a:rPr>
            </a:br>
            <a:r>
              <a:rPr lang="en-GB" sz="9600" kern="0" dirty="0">
                <a:solidFill>
                  <a:schemeClr val="bg1"/>
                </a:solidFill>
              </a:rPr>
              <a:t>after this point</a:t>
            </a:r>
          </a:p>
        </p:txBody>
      </p:sp>
      <p:pic>
        <p:nvPicPr>
          <p:cNvPr id="4" name="Graphic 3">
            <a:extLst>
              <a:ext uri="{FF2B5EF4-FFF2-40B4-BE49-F238E27FC236}">
                <a16:creationId xmlns:a16="http://schemas.microsoft.com/office/drawing/2014/main" id="{1AFE542C-8ECE-F9C9-8F96-80B2751FAA98}"/>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Tree>
    <p:extLst>
      <p:ext uri="{BB962C8B-B14F-4D97-AF65-F5344CB8AC3E}">
        <p14:creationId xmlns:p14="http://schemas.microsoft.com/office/powerpoint/2010/main" val="844819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Slide Number Placeholder 4"/>
          <p:cNvSpPr>
            <a:spLocks noGrp="1"/>
          </p:cNvSpPr>
          <p:nvPr>
            <p:ph type="sldNum" sz="quarter" idx="12"/>
          </p:nvPr>
        </p:nvSpPr>
        <p:spPr>
          <a:xfrm>
            <a:off x="11248846" y="6321254"/>
            <a:ext cx="511153" cy="365125"/>
          </a:xfrm>
          <a:prstGeom prst="rect">
            <a:avLst/>
          </a:prstGeom>
        </p:spPr>
        <p:txBody>
          <a:bodyPr rIns="0"/>
          <a:lstStyle>
            <a:lvl1pPr algn="r">
              <a:defRPr sz="1200">
                <a:solidFill>
                  <a:schemeClr val="tx2"/>
                </a:solidFill>
              </a:defRPr>
            </a:lvl1pPr>
          </a:lstStyle>
          <a:p>
            <a:fld id="{2A603147-C618-4EA3-8F82-359C170F62BB}" type="slidenum">
              <a:rPr lang="en-GB" smtClean="0"/>
              <a:pPr/>
              <a:t>‹#›</a:t>
            </a:fld>
            <a:endParaRPr lang="en-GB" dirty="0"/>
          </a:p>
        </p:txBody>
      </p:sp>
      <p:sp>
        <p:nvSpPr>
          <p:cNvPr id="9" name="Text Placeholder 8"/>
          <p:cNvSpPr>
            <a:spLocks noGrp="1"/>
          </p:cNvSpPr>
          <p:nvPr>
            <p:ph type="body" sz="quarter" idx="13" hasCustomPrompt="1"/>
          </p:nvPr>
        </p:nvSpPr>
        <p:spPr>
          <a:xfrm>
            <a:off x="336000" y="771649"/>
            <a:ext cx="9984000" cy="504000"/>
          </a:xfrm>
        </p:spPr>
        <p:txBody>
          <a:bodyPr vert="horz" lIns="91440" tIns="45720" rIns="91440" bIns="45720" rtlCol="0" anchor="ctr">
            <a:noAutofit/>
          </a:bodyPr>
          <a:lstStyle>
            <a:lvl1pPr marL="0" indent="0">
              <a:buFont typeface="Arial" panose="020B0604020202020204" pitchFamily="34" charset="0"/>
              <a:buNone/>
              <a:defRPr lang="en-US" sz="1600" dirty="0"/>
            </a:lvl1pPr>
          </a:lstStyle>
          <a:p>
            <a:pPr marL="228600" lvl="0" indent="-228600">
              <a:spcAft>
                <a:spcPts val="0"/>
              </a:spcAft>
            </a:pPr>
            <a:r>
              <a:rPr lang="en-GB" dirty="0"/>
              <a:t>Supporting heading 16pt</a:t>
            </a:r>
            <a:endParaRPr lang="en-US" dirty="0"/>
          </a:p>
        </p:txBody>
      </p:sp>
      <p:sp>
        <p:nvSpPr>
          <p:cNvPr id="10" name="Text Placeholder 14"/>
          <p:cNvSpPr>
            <a:spLocks noGrp="1"/>
          </p:cNvSpPr>
          <p:nvPr>
            <p:ph type="body" sz="quarter" idx="21" hasCustomPrompt="1"/>
          </p:nvPr>
        </p:nvSpPr>
        <p:spPr>
          <a:xfrm>
            <a:off x="426921" y="6221528"/>
            <a:ext cx="10752000" cy="468000"/>
          </a:xfrm>
        </p:spPr>
        <p:txBody>
          <a:bodyPr lIns="0" tIns="0" rIns="0" bIns="0" anchor="t" anchorCtr="0"/>
          <a:lstStyle>
            <a:lvl1pPr marL="0" indent="0" algn="l">
              <a:lnSpc>
                <a:spcPct val="100000"/>
              </a:lnSpc>
              <a:spcBef>
                <a:spcPts val="0"/>
              </a:spcBef>
              <a:spcAft>
                <a:spcPts val="0"/>
              </a:spcAft>
              <a:buNone/>
              <a:defRPr sz="800"/>
            </a:lvl1pPr>
          </a:lstStyle>
          <a:p>
            <a:pPr lvl="0"/>
            <a:r>
              <a:rPr lang="en-GB" dirty="0"/>
              <a:t>References</a:t>
            </a:r>
          </a:p>
        </p:txBody>
      </p:sp>
      <p:sp>
        <p:nvSpPr>
          <p:cNvPr id="11" name="Text Placeholder 14"/>
          <p:cNvSpPr>
            <a:spLocks noGrp="1"/>
          </p:cNvSpPr>
          <p:nvPr>
            <p:ph type="body" sz="quarter" idx="19" hasCustomPrompt="1"/>
          </p:nvPr>
        </p:nvSpPr>
        <p:spPr>
          <a:xfrm>
            <a:off x="434888" y="5962569"/>
            <a:ext cx="11251200" cy="194733"/>
          </a:xfrm>
        </p:spPr>
        <p:txBody>
          <a:bodyPr lIns="0" tIns="0" rIns="0" bIns="0" anchor="b" anchorCtr="0">
            <a:noAutofit/>
          </a:bodyPr>
          <a:lstStyle>
            <a:lvl1pPr marL="0" indent="0" algn="l">
              <a:lnSpc>
                <a:spcPct val="100000"/>
              </a:lnSpc>
              <a:spcBef>
                <a:spcPts val="0"/>
              </a:spcBef>
              <a:spcAft>
                <a:spcPts val="0"/>
              </a:spcAft>
              <a:buNone/>
              <a:defRPr sz="800"/>
            </a:lvl1pPr>
          </a:lstStyle>
          <a:p>
            <a:pPr lvl="0"/>
            <a:r>
              <a:rPr lang="en-GB" dirty="0"/>
              <a:t>Abbreviations</a:t>
            </a:r>
          </a:p>
        </p:txBody>
      </p:sp>
      <p:sp>
        <p:nvSpPr>
          <p:cNvPr id="4" name="TextBox 3">
            <a:extLst>
              <a:ext uri="{FF2B5EF4-FFF2-40B4-BE49-F238E27FC236}">
                <a16:creationId xmlns:a16="http://schemas.microsoft.com/office/drawing/2014/main" id="{786C628B-DB62-BFD8-85D5-4E3D822BF7EB}"/>
              </a:ext>
            </a:extLst>
          </p:cNvPr>
          <p:cNvSpPr txBox="1"/>
          <p:nvPr userDrawn="1"/>
        </p:nvSpPr>
        <p:spPr>
          <a:xfrm>
            <a:off x="3406140" y="6635001"/>
            <a:ext cx="6097384" cy="261610"/>
          </a:xfrm>
          <a:prstGeom prst="rect">
            <a:avLst/>
          </a:prstGeom>
          <a:noFill/>
        </p:spPr>
        <p:txBody>
          <a:bodyPr wrap="square">
            <a:spAutoFit/>
          </a:bodyPr>
          <a:lstStyle/>
          <a:p>
            <a:pPr algn="ctr"/>
            <a:r>
              <a:rPr lang="en-GB" sz="1050" dirty="0"/>
              <a:t>For internal GSK use only</a:t>
            </a:r>
          </a:p>
        </p:txBody>
      </p:sp>
    </p:spTree>
    <p:extLst>
      <p:ext uri="{BB962C8B-B14F-4D97-AF65-F5344CB8AC3E}">
        <p14:creationId xmlns:p14="http://schemas.microsoft.com/office/powerpoint/2010/main" val="455874376"/>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 and Content ">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dirty="0"/>
              <a:t>Click to enter TEXT content ONLY.</a:t>
            </a:r>
            <a:br>
              <a:rPr lang="en-US" dirty="0"/>
            </a:br>
            <a:r>
              <a:rPr lang="en-US" dirty="0"/>
              <a:t>If text content appears outside of grey 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endParaRPr lang="en-US"/>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endParaRPr lang="en-US"/>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BEE2726F-1D7E-4D71-9048-9F50C83A58CE}" type="slidenum">
              <a:rPr lang="en-US" smtClean="0"/>
              <a:t>‹#›</a:t>
            </a:fld>
            <a:endParaRPr lang="en-US"/>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4106228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5" name="Title 4"/>
          <p:cNvSpPr>
            <a:spLocks noGrp="1"/>
          </p:cNvSpPr>
          <p:nvPr>
            <p:ph type="title"/>
          </p:nvPr>
        </p:nvSpPr>
        <p:spPr>
          <a:xfrm>
            <a:off x="486834" y="294810"/>
            <a:ext cx="10102852" cy="338554"/>
          </a:xfrm>
        </p:spPr>
        <p:txBody>
          <a:bodyPr/>
          <a:lstStyle/>
          <a:p>
            <a:r>
              <a:rPr lang="en-US" dirty="0"/>
              <a:t>Click to edit Master title style</a:t>
            </a:r>
            <a:endParaRPr lang="en-GB" dirty="0"/>
          </a:p>
        </p:txBody>
      </p:sp>
      <p:sp>
        <p:nvSpPr>
          <p:cNvPr id="16" name="Content Placeholder 15"/>
          <p:cNvSpPr>
            <a:spLocks noGrp="1"/>
          </p:cNvSpPr>
          <p:nvPr>
            <p:ph sz="quarter" idx="12"/>
          </p:nvPr>
        </p:nvSpPr>
        <p:spPr>
          <a:xfrm>
            <a:off x="486834" y="1196154"/>
            <a:ext cx="11231033" cy="4658549"/>
          </a:xfrm>
        </p:spPr>
        <p:txBody>
          <a:bodyPr/>
          <a:lstStyle>
            <a:lvl1pPr algn="l" rtl="0">
              <a:defRPr sz="1500">
                <a:solidFill>
                  <a:schemeClr val="tx1"/>
                </a:solidFill>
                <a:latin typeface="Calibri" panose="020F0502020204030204" pitchFamily="34" charset="0"/>
              </a:defRPr>
            </a:lvl1pPr>
            <a:lvl2pPr algn="l" rtl="0">
              <a:defRPr sz="1500">
                <a:solidFill>
                  <a:schemeClr val="tx1"/>
                </a:solidFill>
                <a:latin typeface="Calibri" panose="020F0502020204030204" pitchFamily="34" charset="0"/>
              </a:defRPr>
            </a:lvl2pPr>
            <a:lvl3pPr algn="l" rtl="0">
              <a:defRPr sz="1500">
                <a:solidFill>
                  <a:schemeClr val="tx1"/>
                </a:solidFill>
                <a:latin typeface="Calibri" panose="020F0502020204030204" pitchFamily="34" charset="0"/>
              </a:defRPr>
            </a:lvl3pPr>
            <a:lvl4pPr algn="l" rtl="0">
              <a:defRPr sz="1500">
                <a:solidFill>
                  <a:schemeClr val="tx1"/>
                </a:solidFill>
                <a:latin typeface="Calibri" panose="020F0502020204030204" pitchFamily="34" charset="0"/>
              </a:defRPr>
            </a:lvl4pPr>
            <a:lvl5pPr algn="l" rtl="0">
              <a:defRPr sz="1500">
                <a:solidFill>
                  <a:schemeClr val="tx1"/>
                </a:solidFill>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2"/>
          <p:cNvSpPr>
            <a:spLocks noGrp="1"/>
          </p:cNvSpPr>
          <p:nvPr>
            <p:ph type="body" sz="quarter" idx="14" hasCustomPrompt="1"/>
          </p:nvPr>
        </p:nvSpPr>
        <p:spPr>
          <a:xfrm>
            <a:off x="486832" y="692554"/>
            <a:ext cx="10130368" cy="234950"/>
          </a:xfrm>
        </p:spPr>
        <p:txBody>
          <a:bodyPr anchor="t" anchorCtr="0"/>
          <a:lstStyle>
            <a:lvl1pPr marL="0" indent="0">
              <a:spcAft>
                <a:spcPts val="0"/>
              </a:spcAft>
              <a:buNone/>
              <a:defRPr sz="1350"/>
            </a:lvl1pPr>
            <a:lvl2pPr marL="203597" indent="0">
              <a:buNone/>
              <a:defRPr/>
            </a:lvl2pPr>
            <a:lvl3pPr marL="400050" indent="0">
              <a:buNone/>
              <a:defRPr/>
            </a:lvl3pPr>
            <a:lvl4pPr marL="611981" indent="0">
              <a:buNone/>
              <a:defRPr/>
            </a:lvl4pPr>
            <a:lvl5pPr marL="828675" indent="0">
              <a:buNone/>
              <a:defRPr/>
            </a:lvl5pPr>
          </a:lstStyle>
          <a:p>
            <a:pPr lvl="0"/>
            <a:r>
              <a:rPr lang="en-US" dirty="0"/>
              <a:t>Subtitle here if required</a:t>
            </a:r>
          </a:p>
        </p:txBody>
      </p:sp>
      <p:sp>
        <p:nvSpPr>
          <p:cNvPr id="9" name="Slide Number Placeholder 8"/>
          <p:cNvSpPr>
            <a:spLocks noGrp="1"/>
          </p:cNvSpPr>
          <p:nvPr>
            <p:ph type="sldNum" sz="quarter" idx="17"/>
          </p:nvPr>
        </p:nvSpPr>
        <p:spPr/>
        <p:txBody>
          <a:bodyPr/>
          <a:lstStyle/>
          <a:p>
            <a:fld id="{9F9F533D-B52E-4A2F-BF72-0ADD2D94BD75}" type="slidenum">
              <a:rPr lang="en-GB" smtClean="0">
                <a:solidFill>
                  <a:srgbClr val="9A8B7D"/>
                </a:solidFill>
              </a:rPr>
              <a:pPr/>
              <a:t>‹#›</a:t>
            </a:fld>
            <a:endParaRPr lang="en-GB" dirty="0">
              <a:solidFill>
                <a:srgbClr val="9A8B7D"/>
              </a:solidFill>
            </a:endParaRPr>
          </a:p>
        </p:txBody>
      </p:sp>
    </p:spTree>
    <p:extLst>
      <p:ext uri="{BB962C8B-B14F-4D97-AF65-F5344CB8AC3E}">
        <p14:creationId xmlns:p14="http://schemas.microsoft.com/office/powerpoint/2010/main" val="1885311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7/22/2025</a:t>
            </a:fld>
            <a:endParaRPr lang="en-US"/>
          </a:p>
        </p:txBody>
      </p:sp>
      <p:sp>
        <p:nvSpPr>
          <p:cNvPr id="5" name="Footer Placeholder 4"/>
          <p:cNvSpPr>
            <a:spLocks noGrp="1"/>
          </p:cNvSpPr>
          <p:nvPr>
            <p:ph type="ftr" sz="quarter" idx="11"/>
          </p:nvPr>
        </p:nvSpPr>
        <p:spPr/>
        <p:txBody>
          <a:bodyPr/>
          <a:lstStyle/>
          <a:p>
            <a:r>
              <a:rPr lang="en-GB" dirty="0"/>
              <a:t>For internal GSK use only</a:t>
            </a:r>
          </a:p>
          <a:p>
            <a:endParaRPr lang="en-US" dirty="0"/>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18436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7322117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744374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787438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7/22/2025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8225485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7/22/2025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741732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7/22/2025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58523634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4349851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0429852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933982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11085686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Video Widescreen (16x9)">
    <p:spTree>
      <p:nvGrpSpPr>
        <p:cNvPr id="1" name=""/>
        <p:cNvGrpSpPr/>
        <p:nvPr/>
      </p:nvGrpSpPr>
      <p:grpSpPr>
        <a:xfrm>
          <a:off x="0" y="0"/>
          <a:ext cx="0" cy="0"/>
          <a:chOff x="0" y="0"/>
          <a:chExt cx="0" cy="0"/>
        </a:xfrm>
      </p:grpSpPr>
      <p:sp>
        <p:nvSpPr>
          <p:cNvPr id="5" name="Media Placeholder 5"/>
          <p:cNvSpPr>
            <a:spLocks noGrp="1" noChangeAspect="1"/>
          </p:cNvSpPr>
          <p:nvPr>
            <p:ph type="media" sz="quarter" idx="12" hasCustomPrompt="1"/>
          </p:nvPr>
        </p:nvSpPr>
        <p:spPr>
          <a:xfrm>
            <a:off x="2169600" y="1591733"/>
            <a:ext cx="7852800" cy="4416000"/>
          </a:xfrm>
        </p:spPr>
        <p:txBody>
          <a:bodyPr lIns="108000" tIns="108000"/>
          <a:lstStyle>
            <a:lvl1pPr marL="0" indent="0">
              <a:buNone/>
              <a:defRPr baseline="0">
                <a:solidFill>
                  <a:schemeClr val="tx1"/>
                </a:solidFill>
              </a:defRPr>
            </a:lvl1pPr>
          </a:lstStyle>
          <a:p>
            <a:r>
              <a:rPr lang="en-GB"/>
              <a:t>Click on the film icon to insert your widescreen (16:9) video</a:t>
            </a:r>
          </a:p>
        </p:txBody>
      </p:sp>
      <p:sp>
        <p:nvSpPr>
          <p:cNvPr id="10" name="Title 9"/>
          <p:cNvSpPr>
            <a:spLocks noGrp="1"/>
          </p:cNvSpPr>
          <p:nvPr>
            <p:ph type="title" hasCustomPrompt="1"/>
          </p:nvPr>
        </p:nvSpPr>
        <p:spPr/>
        <p:txBody>
          <a:bodyPr/>
          <a:lstStyle/>
          <a:p>
            <a:r>
              <a:rPr lang="en-US"/>
              <a:t>Click to edit Master heading style</a:t>
            </a:r>
            <a:endParaRPr lang="en-GB"/>
          </a:p>
        </p:txBody>
      </p:sp>
      <p:sp>
        <p:nvSpPr>
          <p:cNvPr id="12" name="Text Placeholder 2"/>
          <p:cNvSpPr>
            <a:spLocks noGrp="1"/>
          </p:cNvSpPr>
          <p:nvPr>
            <p:ph type="body" sz="quarter" idx="16" hasCustomPrompt="1"/>
          </p:nvPr>
        </p:nvSpPr>
        <p:spPr>
          <a:xfrm>
            <a:off x="478869" y="924738"/>
            <a:ext cx="10104000" cy="369332"/>
          </a:xfrm>
        </p:spPr>
        <p:txBody>
          <a:bodyPr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2" name="Date Placeholder 1"/>
          <p:cNvSpPr>
            <a:spLocks noGrp="1"/>
          </p:cNvSpPr>
          <p:nvPr>
            <p:ph type="dt" sz="half" idx="17"/>
          </p:nvPr>
        </p:nvSpPr>
        <p:spPr/>
        <p:txBody>
          <a:bodyPr/>
          <a:lstStyle/>
          <a:p>
            <a:pPr algn="ctr"/>
            <a:r>
              <a:rPr lang="en-US"/>
              <a:t>Insert your date / confidentiality text here</a:t>
            </a:r>
            <a:endParaRPr lang="en-GB"/>
          </a:p>
        </p:txBody>
      </p:sp>
      <p:sp>
        <p:nvSpPr>
          <p:cNvPr id="3" name="Footer Placeholder 2"/>
          <p:cNvSpPr>
            <a:spLocks noGrp="1"/>
          </p:cNvSpPr>
          <p:nvPr>
            <p:ph type="ftr" sz="quarter" idx="18"/>
          </p:nvPr>
        </p:nvSpPr>
        <p:spPr/>
        <p:txBody>
          <a:bodyPr/>
          <a:lstStyle>
            <a:lvl1pPr>
              <a:defRPr/>
            </a:lvl1pPr>
          </a:lstStyle>
          <a:p>
            <a:r>
              <a:rPr lang="en-GB"/>
              <a:t>16x9 presentation kit</a:t>
            </a:r>
          </a:p>
        </p:txBody>
      </p:sp>
      <p:sp>
        <p:nvSpPr>
          <p:cNvPr id="4" name="Slide Number Placeholder 3"/>
          <p:cNvSpPr>
            <a:spLocks noGrp="1"/>
          </p:cNvSpPr>
          <p:nvPr>
            <p:ph type="sldNum" sz="quarter" idx="19"/>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9894791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55416880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90232986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6743910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6047848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7/22/2025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6101447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7/22/2025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37425542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7/22/2025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643454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523401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6746329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25490668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50618837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Video Widescreen (16x9)">
    <p:spTree>
      <p:nvGrpSpPr>
        <p:cNvPr id="1" name=""/>
        <p:cNvGrpSpPr/>
        <p:nvPr/>
      </p:nvGrpSpPr>
      <p:grpSpPr>
        <a:xfrm>
          <a:off x="0" y="0"/>
          <a:ext cx="0" cy="0"/>
          <a:chOff x="0" y="0"/>
          <a:chExt cx="0" cy="0"/>
        </a:xfrm>
      </p:grpSpPr>
      <p:sp>
        <p:nvSpPr>
          <p:cNvPr id="5" name="Media Placeholder 5"/>
          <p:cNvSpPr>
            <a:spLocks noGrp="1" noChangeAspect="1"/>
          </p:cNvSpPr>
          <p:nvPr>
            <p:ph type="media" sz="quarter" idx="12" hasCustomPrompt="1"/>
          </p:nvPr>
        </p:nvSpPr>
        <p:spPr>
          <a:xfrm>
            <a:off x="2169600" y="1591733"/>
            <a:ext cx="7852800" cy="4416000"/>
          </a:xfrm>
        </p:spPr>
        <p:txBody>
          <a:bodyPr lIns="108000" tIns="108000"/>
          <a:lstStyle>
            <a:lvl1pPr marL="0" indent="0">
              <a:buNone/>
              <a:defRPr baseline="0">
                <a:solidFill>
                  <a:schemeClr val="tx1"/>
                </a:solidFill>
              </a:defRPr>
            </a:lvl1pPr>
          </a:lstStyle>
          <a:p>
            <a:r>
              <a:rPr lang="en-GB"/>
              <a:t>Click on the film icon to insert your widescreen (16:9) video</a:t>
            </a:r>
          </a:p>
        </p:txBody>
      </p:sp>
      <p:sp>
        <p:nvSpPr>
          <p:cNvPr id="10" name="Title 9"/>
          <p:cNvSpPr>
            <a:spLocks noGrp="1"/>
          </p:cNvSpPr>
          <p:nvPr>
            <p:ph type="title" hasCustomPrompt="1"/>
          </p:nvPr>
        </p:nvSpPr>
        <p:spPr/>
        <p:txBody>
          <a:bodyPr/>
          <a:lstStyle/>
          <a:p>
            <a:r>
              <a:rPr lang="en-US"/>
              <a:t>Click to edit Master heading style</a:t>
            </a:r>
            <a:endParaRPr lang="en-GB"/>
          </a:p>
        </p:txBody>
      </p:sp>
      <p:sp>
        <p:nvSpPr>
          <p:cNvPr id="12" name="Text Placeholder 2"/>
          <p:cNvSpPr>
            <a:spLocks noGrp="1"/>
          </p:cNvSpPr>
          <p:nvPr>
            <p:ph type="body" sz="quarter" idx="16" hasCustomPrompt="1"/>
          </p:nvPr>
        </p:nvSpPr>
        <p:spPr>
          <a:xfrm>
            <a:off x="478869" y="924738"/>
            <a:ext cx="10104000" cy="369332"/>
          </a:xfrm>
        </p:spPr>
        <p:txBody>
          <a:bodyPr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2" name="Date Placeholder 1"/>
          <p:cNvSpPr>
            <a:spLocks noGrp="1"/>
          </p:cNvSpPr>
          <p:nvPr>
            <p:ph type="dt" sz="half" idx="17"/>
          </p:nvPr>
        </p:nvSpPr>
        <p:spPr/>
        <p:txBody>
          <a:bodyPr/>
          <a:lstStyle/>
          <a:p>
            <a:pPr algn="ctr"/>
            <a:r>
              <a:rPr lang="en-US"/>
              <a:t>Insert your date / confidentiality text here</a:t>
            </a:r>
            <a:endParaRPr lang="en-GB"/>
          </a:p>
        </p:txBody>
      </p:sp>
      <p:sp>
        <p:nvSpPr>
          <p:cNvPr id="3" name="Footer Placeholder 2"/>
          <p:cNvSpPr>
            <a:spLocks noGrp="1"/>
          </p:cNvSpPr>
          <p:nvPr>
            <p:ph type="ftr" sz="quarter" idx="18"/>
          </p:nvPr>
        </p:nvSpPr>
        <p:spPr/>
        <p:txBody>
          <a:bodyPr/>
          <a:lstStyle>
            <a:lvl1pPr>
              <a:defRPr/>
            </a:lvl1pPr>
          </a:lstStyle>
          <a:p>
            <a:r>
              <a:rPr lang="en-GB"/>
              <a:t>16x9 presentation kit</a:t>
            </a:r>
          </a:p>
        </p:txBody>
      </p:sp>
      <p:sp>
        <p:nvSpPr>
          <p:cNvPr id="4" name="Slide Number Placeholder 3"/>
          <p:cNvSpPr>
            <a:spLocks noGrp="1"/>
          </p:cNvSpPr>
          <p:nvPr>
            <p:ph type="sldNum" sz="quarter" idx="19"/>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04839797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oleObject" Target="../embeddings/oleObject1.bin"/><Relationship Id="rId40" Type="http://schemas.openxmlformats.org/officeDocument/2006/relationships/image" Target="../media/image3.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3.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2280360-3C6D-A798-8CAC-A26D562C3683}"/>
              </a:ext>
            </a:extLst>
          </p:cNvPr>
          <p:cNvGraphicFramePr>
            <a:graphicFrameLocks noChangeAspect="1"/>
          </p:cNvGraphicFramePr>
          <p:nvPr userDrawn="1">
            <p:custDataLst>
              <p:tags r:id="rId36"/>
            </p:custDataLst>
            <p:extLst>
              <p:ext uri="{D42A27DB-BD31-4B8C-83A1-F6EECF244321}">
                <p14:modId xmlns:p14="http://schemas.microsoft.com/office/powerpoint/2010/main" val="966259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7" imgW="425" imgH="424" progId="TCLayout.ActiveDocument.1">
                  <p:embed/>
                </p:oleObj>
              </mc:Choice>
              <mc:Fallback>
                <p:oleObj name="think-cell Slide" r:id="rId37" imgW="425" imgH="424" progId="TCLayout.ActiveDocument.1">
                  <p:embed/>
                  <p:pic>
                    <p:nvPicPr>
                      <p:cNvPr id="3" name="Object 2" hidden="1">
                        <a:extLst>
                          <a:ext uri="{FF2B5EF4-FFF2-40B4-BE49-F238E27FC236}">
                            <a16:creationId xmlns:a16="http://schemas.microsoft.com/office/drawing/2014/main" id="{92280360-3C6D-A798-8CAC-A26D562C3683}"/>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a:xfrm>
            <a:off x="2319338" y="6343650"/>
            <a:ext cx="5600700" cy="269875"/>
          </a:xfrm>
          <a:prstGeom prst="rect">
            <a:avLst/>
          </a:prstGeom>
        </p:spPr>
        <p:txBody>
          <a:bodyPr vert="horz" lIns="0" tIns="0" rIns="0" bIns="0" rtlCol="0" anchor="b" anchorCtr="0">
            <a:noAutofit/>
          </a:bodyPr>
          <a:lstStyle>
            <a:lvl1pPr algn="ctr">
              <a:defRPr sz="1200">
                <a:solidFill>
                  <a:schemeClr val="tx1"/>
                </a:solidFill>
              </a:defRPr>
            </a:lvl1pPr>
          </a:lstStyle>
          <a:p>
            <a:r>
              <a:rPr lang="en-GB" dirty="0"/>
              <a:t>For internal GSK use only</a:t>
            </a:r>
          </a:p>
          <a:p>
            <a:endParaRPr lang="en-GB" dirty="0"/>
          </a:p>
        </p:txBody>
      </p:sp>
      <p:sp>
        <p:nvSpPr>
          <p:cNvPr id="6" name="Slide Number Placeholder 5"/>
          <p:cNvSpPr>
            <a:spLocks noGrp="1"/>
          </p:cNvSpPr>
          <p:nvPr>
            <p:ph type="sldNum" sz="quarter" idx="4"/>
          </p:nvPr>
        </p:nvSpPr>
        <p:spPr>
          <a:xfrm>
            <a:off x="11285288" y="6343650"/>
            <a:ext cx="540000" cy="269875"/>
          </a:xfrm>
          <a:prstGeom prst="rect">
            <a:avLst/>
          </a:prstGeom>
        </p:spPr>
        <p:txBody>
          <a:bodyPr vert="horz" lIns="0" tIns="0" rIns="0" bIns="0" rtlCol="0" anchor="b" anchorCtr="0">
            <a:noAutofit/>
          </a:bodyPr>
          <a:lstStyle>
            <a:lvl1pPr algn="r">
              <a:defRPr sz="1000">
                <a:solidFill>
                  <a:schemeClr val="tx1"/>
                </a:solidFill>
              </a:defRPr>
            </a:lvl1pPr>
          </a:lstStyle>
          <a:p>
            <a:fld id="{9F9F533D-B52E-4A2F-BF72-0ADD2D94BD75}" type="slidenum">
              <a:rPr lang="en-GB" smtClean="0"/>
              <a:pPr/>
              <a:t>‹#›</a:t>
            </a:fld>
            <a:endParaRPr lang="en-GB" dirty="0"/>
          </a:p>
        </p:txBody>
      </p:sp>
      <p:sp>
        <p:nvSpPr>
          <p:cNvPr id="4" name="Title Placeholder 3"/>
          <p:cNvSpPr>
            <a:spLocks noGrp="1"/>
          </p:cNvSpPr>
          <p:nvPr>
            <p:ph type="title"/>
          </p:nvPr>
        </p:nvSpPr>
        <p:spPr>
          <a:xfrm>
            <a:off x="365125" y="242888"/>
            <a:ext cx="11460163" cy="430887"/>
          </a:xfrm>
          <a:prstGeom prst="rect">
            <a:avLst/>
          </a:prstGeom>
        </p:spPr>
        <p:txBody>
          <a:bodyPr vert="horz" lIns="0" tIns="0" rIns="0" bIns="0" rtlCol="0" anchor="b" anchorCtr="0">
            <a:noAutofit/>
          </a:bodyPr>
          <a:lstStyle/>
          <a:p>
            <a:r>
              <a:rPr lang="en-GB" dirty="0"/>
              <a:t>Click to enter slide title</a:t>
            </a:r>
          </a:p>
        </p:txBody>
      </p:sp>
      <p:sp>
        <p:nvSpPr>
          <p:cNvPr id="7" name="Date Placeholder 6"/>
          <p:cNvSpPr>
            <a:spLocks noGrp="1"/>
          </p:cNvSpPr>
          <p:nvPr>
            <p:ph type="dt" sz="half" idx="2"/>
          </p:nvPr>
        </p:nvSpPr>
        <p:spPr>
          <a:xfrm>
            <a:off x="8172450" y="6343650"/>
            <a:ext cx="2776537" cy="269875"/>
          </a:xfrm>
          <a:prstGeom prst="rect">
            <a:avLst/>
          </a:prstGeom>
        </p:spPr>
        <p:txBody>
          <a:bodyPr vert="horz" lIns="0" tIns="0" rIns="0" bIns="0" rtlCol="0" anchor="b" anchorCtr="0">
            <a:noAutofit/>
          </a:bodyPr>
          <a:lstStyle>
            <a:lvl1pPr algn="r">
              <a:defRPr sz="1000">
                <a:solidFill>
                  <a:schemeClr val="tx1"/>
                </a:solidFill>
              </a:defRPr>
            </a:lvl1pPr>
          </a:lstStyle>
          <a:p>
            <a:fld id="{346B58B4-0D72-4C8B-9355-854FB5782278}" type="datetime4">
              <a:rPr lang="en-GB" smtClean="0"/>
              <a:t>22 July 2025</a:t>
            </a:fld>
            <a:endParaRPr lang="en-GB" dirty="0"/>
          </a:p>
        </p:txBody>
      </p:sp>
      <p:sp>
        <p:nvSpPr>
          <p:cNvPr id="8" name="Text Placeholder 2">
            <a:extLst>
              <a:ext uri="{FF2B5EF4-FFF2-40B4-BE49-F238E27FC236}">
                <a16:creationId xmlns:a16="http://schemas.microsoft.com/office/drawing/2014/main" id="{BBC2AD35-7761-4742-BEF1-3D0CAD2E1DED}"/>
              </a:ext>
            </a:extLst>
          </p:cNvPr>
          <p:cNvSpPr>
            <a:spLocks noGrp="1"/>
          </p:cNvSpPr>
          <p:nvPr>
            <p:ph type="body" idx="1"/>
          </p:nvPr>
        </p:nvSpPr>
        <p:spPr>
          <a:xfrm>
            <a:off x="365125" y="1303338"/>
            <a:ext cx="11460163" cy="4787899"/>
          </a:xfrm>
          <a:prstGeom prst="rect">
            <a:avLst/>
          </a:prstGeom>
        </p:spPr>
        <p:txBody>
          <a:bodyPr vert="horz" lIns="180000" tIns="180000" rIns="180000" bIns="180000" rtlCol="0">
            <a:noAutofit/>
          </a:bodyPr>
          <a:lstStyle/>
          <a:p>
            <a:pPr lvl="0"/>
            <a:r>
              <a:rPr lang="en-GB" dirty="0"/>
              <a:t>Click to enter text content.</a:t>
            </a:r>
            <a:br>
              <a:rPr lang="en-GB" dirty="0"/>
            </a:br>
            <a:r>
              <a:rPr lang="en-GB" dirty="0"/>
              <a:t>To increase bullet level, select your text &gt; press ‘Tab’.</a:t>
            </a:r>
            <a:br>
              <a:rPr lang="en-GB" dirty="0"/>
            </a:br>
            <a:r>
              <a:rPr lang="en-GB" dirty="0"/>
              <a:t>To decrease bullet level, select your text &gt; press ‘Shift’ + ‘Tab’.</a:t>
            </a:r>
            <a:br>
              <a:rPr lang="en-GB" dirty="0"/>
            </a:br>
            <a:r>
              <a:rPr lang="en-GB" dirty="0"/>
              <a:t>To remove bullet levels, select your text &gt; right click &gt; press ‘bullets’.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a:p>
            <a:pPr lvl="4"/>
            <a:endParaRPr lang="en-GB" dirty="0"/>
          </a:p>
        </p:txBody>
      </p:sp>
      <p:pic>
        <p:nvPicPr>
          <p:cNvPr id="26" name="Graphic 25">
            <a:extLst>
              <a:ext uri="{FF2B5EF4-FFF2-40B4-BE49-F238E27FC236}">
                <a16:creationId xmlns:a16="http://schemas.microsoft.com/office/drawing/2014/main" id="{7B7C2D6E-A9EC-414F-8A58-3207DA98D6C5}"/>
              </a:ext>
            </a:extLst>
          </p:cNvPr>
          <p:cNvPicPr>
            <a:picLocks noChangeAspect="1"/>
          </p:cNvPicPr>
          <p:nvPr userDrawn="1"/>
        </p:nvPicPr>
        <p:blipFill>
          <a:blip r:embed="rId39" cstate="print">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376239" y="6354213"/>
            <a:ext cx="820737" cy="247406"/>
          </a:xfrm>
          <a:prstGeom prst="rect">
            <a:avLst/>
          </a:prstGeom>
        </p:spPr>
      </p:pic>
    </p:spTree>
    <p:extLst>
      <p:ext uri="{BB962C8B-B14F-4D97-AF65-F5344CB8AC3E}">
        <p14:creationId xmlns:p14="http://schemas.microsoft.com/office/powerpoint/2010/main" val="4260756284"/>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82" r:id="rId3"/>
    <p:sldLayoutId id="2147483785" r:id="rId4"/>
    <p:sldLayoutId id="2147483787" r:id="rId5"/>
    <p:sldLayoutId id="2147483663" r:id="rId6"/>
    <p:sldLayoutId id="2147483664" r:id="rId7"/>
    <p:sldLayoutId id="2147483665" r:id="rId8"/>
    <p:sldLayoutId id="2147483668" r:id="rId9"/>
    <p:sldLayoutId id="2147483786" r:id="rId10"/>
    <p:sldLayoutId id="2147483669" r:id="rId11"/>
    <p:sldLayoutId id="2147483670" r:id="rId12"/>
    <p:sldLayoutId id="2147483671" r:id="rId13"/>
    <p:sldLayoutId id="2147483728" r:id="rId14"/>
    <p:sldLayoutId id="2147483730" r:id="rId15"/>
    <p:sldLayoutId id="2147483765" r:id="rId16"/>
    <p:sldLayoutId id="2147483773" r:id="rId17"/>
    <p:sldLayoutId id="2147483774" r:id="rId18"/>
    <p:sldLayoutId id="2147483766" r:id="rId19"/>
    <p:sldLayoutId id="2147483673" r:id="rId20"/>
    <p:sldLayoutId id="2147483771" r:id="rId21"/>
    <p:sldLayoutId id="2147483768" r:id="rId22"/>
    <p:sldLayoutId id="2147483767" r:id="rId23"/>
    <p:sldLayoutId id="2147483776" r:id="rId24"/>
    <p:sldLayoutId id="2147483763" r:id="rId25"/>
    <p:sldLayoutId id="2147483675" r:id="rId26"/>
    <p:sldLayoutId id="2147483777" r:id="rId27"/>
    <p:sldLayoutId id="2147483788" r:id="rId28"/>
    <p:sldLayoutId id="2147483778" r:id="rId29"/>
    <p:sldLayoutId id="2147483762" r:id="rId30"/>
    <p:sldLayoutId id="2147483764" r:id="rId31"/>
    <p:sldLayoutId id="2147483827" r:id="rId32"/>
    <p:sldLayoutId id="2147483828" r:id="rId33"/>
    <p:sldLayoutId id="2147483829"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txStyles>
    <p:title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p:titleStyle>
    <p:body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A6A6A6"/>
          </p15:clr>
        </p15:guide>
        <p15:guide id="2" pos="7680" userDrawn="1">
          <p15:clr>
            <a:srgbClr val="A6A6A6"/>
          </p15:clr>
        </p15:guide>
        <p15:guide id="3" pos="230" userDrawn="1">
          <p15:clr>
            <a:srgbClr val="A6A6A6"/>
          </p15:clr>
        </p15:guide>
        <p15:guide id="4" pos="1301" userDrawn="1">
          <p15:clr>
            <a:srgbClr val="A6A6A6"/>
          </p15:clr>
        </p15:guide>
        <p15:guide id="5" pos="1461" userDrawn="1">
          <p15:clr>
            <a:srgbClr val="A6A6A6"/>
          </p15:clr>
        </p15:guide>
        <p15:guide id="6" pos="2531" userDrawn="1">
          <p15:clr>
            <a:srgbClr val="A6A6A6"/>
          </p15:clr>
        </p15:guide>
        <p15:guide id="7" pos="2690" userDrawn="1">
          <p15:clr>
            <a:srgbClr val="A6A6A6"/>
          </p15:clr>
        </p15:guide>
        <p15:guide id="8" pos="3759" userDrawn="1">
          <p15:clr>
            <a:srgbClr val="A6A6A6"/>
          </p15:clr>
        </p15:guide>
        <p15:guide id="9" pos="3920" userDrawn="1">
          <p15:clr>
            <a:srgbClr val="A6A6A6"/>
          </p15:clr>
        </p15:guide>
        <p15:guide id="10" pos="4989" userDrawn="1">
          <p15:clr>
            <a:srgbClr val="A6A6A6"/>
          </p15:clr>
        </p15:guide>
        <p15:guide id="11" pos="5148" userDrawn="1">
          <p15:clr>
            <a:srgbClr val="A6A6A6"/>
          </p15:clr>
        </p15:guide>
        <p15:guide id="12" pos="6218" userDrawn="1">
          <p15:clr>
            <a:srgbClr val="A6A6A6"/>
          </p15:clr>
        </p15:guide>
        <p15:guide id="13" pos="6378" userDrawn="1">
          <p15:clr>
            <a:srgbClr val="A6A6A6"/>
          </p15:clr>
        </p15:guide>
        <p15:guide id="14" pos="7449" userDrawn="1">
          <p15:clr>
            <a:srgbClr val="A6A6A6"/>
          </p15:clr>
        </p15:guide>
        <p15:guide id="15" orient="horz" userDrawn="1">
          <p15:clr>
            <a:srgbClr val="A6A6A6"/>
          </p15:clr>
        </p15:guide>
        <p15:guide id="16" orient="horz" pos="4315" userDrawn="1">
          <p15:clr>
            <a:srgbClr val="A6A6A6"/>
          </p15:clr>
        </p15:guide>
        <p15:guide id="17" orient="horz" pos="153" userDrawn="1">
          <p15:clr>
            <a:srgbClr val="A6A6A6"/>
          </p15:clr>
        </p15:guide>
        <p15:guide id="18" orient="horz" pos="686" userDrawn="1">
          <p15:clr>
            <a:srgbClr val="A6A6A6"/>
          </p15:clr>
        </p15:guide>
        <p15:guide id="19" orient="horz" pos="821" userDrawn="1">
          <p15:clr>
            <a:srgbClr val="A6A6A6"/>
          </p15:clr>
        </p15:guide>
        <p15:guide id="20" orient="horz" pos="1323" userDrawn="1">
          <p15:clr>
            <a:srgbClr val="A6A6A6"/>
          </p15:clr>
        </p15:guide>
        <p15:guide id="21" orient="horz" pos="2330" userDrawn="1">
          <p15:clr>
            <a:srgbClr val="A6A6A6"/>
          </p15:clr>
        </p15:guide>
        <p15:guide id="22" orient="horz" pos="3335" userDrawn="1">
          <p15:clr>
            <a:srgbClr val="A6A6A6"/>
          </p15:clr>
        </p15:guide>
        <p15:guide id="23" orient="horz" pos="3837" userDrawn="1">
          <p15:clr>
            <a:srgbClr val="A6A6A6"/>
          </p15:clr>
        </p15:guide>
        <p15:guide id="24" orient="horz" pos="4166" userDrawn="1">
          <p15:clr>
            <a:srgbClr val="A6A6A6"/>
          </p15:clr>
        </p15:guide>
        <p15:guide id="25" orient="horz" pos="1827" userDrawn="1">
          <p15:clr>
            <a:srgbClr val="A4A3A4"/>
          </p15:clr>
        </p15:guide>
        <p15:guide id="26" orient="horz" pos="2832" userDrawn="1">
          <p15:clr>
            <a:srgbClr val="A4A3A4"/>
          </p15:clr>
        </p15:guide>
        <p15:guide id="27" orient="horz" pos="3996"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7/22/2025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dirty="0"/>
              <a:t>For internal GSK use only</a:t>
            </a:r>
          </a:p>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944536023"/>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7/22/2025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678749389"/>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2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15.emf"/><Relationship Id="rId4" Type="http://schemas.openxmlformats.org/officeDocument/2006/relationships/oleObject" Target="../embeddings/oleObject7.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1.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2.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3.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32.xml"/><Relationship Id="rId5" Type="http://schemas.openxmlformats.org/officeDocument/2006/relationships/image" Target="../media/image16.png"/><Relationship Id="rId4" Type="http://schemas.openxmlformats.org/officeDocument/2006/relationships/chart" Target="../charts/chart6.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7.xml"/><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xml"/><Relationship Id="rId1" Type="http://schemas.openxmlformats.org/officeDocument/2006/relationships/slideLayout" Target="../slideLayouts/slideLayout32.xml"/><Relationship Id="rId5" Type="http://schemas.openxmlformats.org/officeDocument/2006/relationships/image" Target="../media/image16.png"/><Relationship Id="rId4" Type="http://schemas.openxmlformats.org/officeDocument/2006/relationships/chart" Target="../charts/char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33.xml"/><Relationship Id="rId5" Type="http://schemas.openxmlformats.org/officeDocument/2006/relationships/hyperlink" Target="mailto:MI.Egypt@gsk.com" TargetMode="External"/><Relationship Id="rId4" Type="http://schemas.openxmlformats.org/officeDocument/2006/relationships/hyperlink" Target="mailto:ae.egypt@gsk.com"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74D6CAE-2D82-65F4-A235-7BA68290EC6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6" imgH="306" progId="TCLayout.ActiveDocument.1">
                  <p:embed/>
                </p:oleObj>
              </mc:Choice>
              <mc:Fallback>
                <p:oleObj name="think-cell Slide" r:id="rId4" imgW="306" imgH="306" progId="TCLayout.ActiveDocument.1">
                  <p:embed/>
                  <p:pic>
                    <p:nvPicPr>
                      <p:cNvPr id="5" name="Object 4" hidden="1">
                        <a:extLst>
                          <a:ext uri="{FF2B5EF4-FFF2-40B4-BE49-F238E27FC236}">
                            <a16:creationId xmlns:a16="http://schemas.microsoft.com/office/drawing/2014/main" id="{974D6CAE-2D82-65F4-A235-7BA68290EC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733A37B-02D0-8890-CFD2-49C17F16C6C4}"/>
              </a:ext>
            </a:extLst>
          </p:cNvPr>
          <p:cNvSpPr>
            <a:spLocks noGrp="1"/>
          </p:cNvSpPr>
          <p:nvPr>
            <p:ph type="ctrTitle"/>
          </p:nvPr>
        </p:nvSpPr>
        <p:spPr/>
        <p:txBody>
          <a:bodyPr vert="horz"/>
          <a:lstStyle/>
          <a:p>
            <a:r>
              <a:rPr lang="en-US" dirty="0" err="1"/>
              <a:t>Trelegy</a:t>
            </a:r>
            <a:r>
              <a:rPr lang="en-US" dirty="0"/>
              <a:t> Ellipta Learning Module</a:t>
            </a:r>
            <a:endParaRPr lang="en-GB" dirty="0"/>
          </a:p>
        </p:txBody>
      </p:sp>
      <p:sp>
        <p:nvSpPr>
          <p:cNvPr id="3" name="Subtitle 2">
            <a:extLst>
              <a:ext uri="{FF2B5EF4-FFF2-40B4-BE49-F238E27FC236}">
                <a16:creationId xmlns:a16="http://schemas.microsoft.com/office/drawing/2014/main" id="{15E23B74-EBA6-E3E1-4E30-B2A18106C6E1}"/>
              </a:ext>
            </a:extLst>
          </p:cNvPr>
          <p:cNvSpPr>
            <a:spLocks noGrp="1"/>
          </p:cNvSpPr>
          <p:nvPr>
            <p:ph type="subTitle" idx="1"/>
          </p:nvPr>
        </p:nvSpPr>
        <p:spPr/>
        <p:txBody>
          <a:bodyPr/>
          <a:lstStyle/>
          <a:p>
            <a:r>
              <a:rPr lang="en-US" sz="3600" b="1" dirty="0"/>
              <a:t>The IMPACT trial</a:t>
            </a:r>
            <a:endParaRPr lang="en-GB" sz="3600" b="1" dirty="0"/>
          </a:p>
        </p:txBody>
      </p:sp>
      <p:sp>
        <p:nvSpPr>
          <p:cNvPr id="4" name="Text Placeholder 3">
            <a:extLst>
              <a:ext uri="{FF2B5EF4-FFF2-40B4-BE49-F238E27FC236}">
                <a16:creationId xmlns:a16="http://schemas.microsoft.com/office/drawing/2014/main" id="{38F42EE0-5C3F-AA55-7540-6D5361F1B19B}"/>
              </a:ext>
            </a:extLst>
          </p:cNvPr>
          <p:cNvSpPr>
            <a:spLocks noGrp="1"/>
          </p:cNvSpPr>
          <p:nvPr>
            <p:ph type="body" sz="quarter" idx="11"/>
          </p:nvPr>
        </p:nvSpPr>
        <p:spPr>
          <a:xfrm>
            <a:off x="501650" y="151002"/>
            <a:ext cx="2286000" cy="986918"/>
          </a:xfrm>
        </p:spPr>
        <p:txBody>
          <a:bodyPr/>
          <a:lstStyle/>
          <a:p>
            <a:pPr algn="l" fontAlgn="base">
              <a:lnSpc>
                <a:spcPts val="1200"/>
              </a:lnSpc>
              <a:spcAft>
                <a:spcPts val="375"/>
              </a:spcAft>
              <a:buNone/>
            </a:pPr>
            <a:endParaRPr lang="en-GB" dirty="0"/>
          </a:p>
          <a:p>
            <a:pPr algn="l" fontAlgn="base">
              <a:lnSpc>
                <a:spcPts val="1200"/>
              </a:lnSpc>
              <a:spcAft>
                <a:spcPts val="375"/>
              </a:spcAft>
              <a:buNone/>
            </a:pPr>
            <a:r>
              <a:rPr lang="en-GB" sz="1050" dirty="0"/>
              <a:t>CL code: </a:t>
            </a:r>
            <a:r>
              <a:rPr lang="en-US" sz="1050" i="0" dirty="0">
                <a:effectLst/>
              </a:rPr>
              <a:t>NP-EG-FVU-PPT-250003       </a:t>
            </a:r>
            <a:r>
              <a:rPr lang="en-US" sz="1050" dirty="0"/>
              <a:t>Date of preparation: May 2025</a:t>
            </a:r>
          </a:p>
        </p:txBody>
      </p:sp>
    </p:spTree>
    <p:custDataLst>
      <p:tags r:id="rId1"/>
    </p:custDataLst>
    <p:extLst>
      <p:ext uri="{BB962C8B-B14F-4D97-AF65-F5344CB8AC3E}">
        <p14:creationId xmlns:p14="http://schemas.microsoft.com/office/powerpoint/2010/main" val="1972642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1617B-3C30-0E8E-1AA5-E9E15C11C17C}"/>
              </a:ext>
            </a:extLst>
          </p:cNvPr>
          <p:cNvSpPr>
            <a:spLocks noGrp="1"/>
          </p:cNvSpPr>
          <p:nvPr>
            <p:ph type="body" sz="quarter" idx="22"/>
          </p:nvPr>
        </p:nvSpPr>
        <p:spPr/>
        <p:txBody>
          <a:bodyPr/>
          <a:lstStyle/>
          <a:p>
            <a:r>
              <a:rPr lang="en-US" sz="2400" dirty="0"/>
              <a:t>These slides are for internal training only.</a:t>
            </a:r>
          </a:p>
          <a:p>
            <a:r>
              <a:rPr lang="en-US" sz="2400" dirty="0"/>
              <a:t>These slides are not for onward distribution outside GSK.</a:t>
            </a:r>
          </a:p>
          <a:p>
            <a:r>
              <a:rPr lang="en-US" sz="2400" dirty="0"/>
              <a:t>These slides are not to be used for any external promotional purposes.</a:t>
            </a:r>
          </a:p>
          <a:p>
            <a:r>
              <a:rPr lang="en-US" sz="2400" dirty="0"/>
              <a:t>For any product information, </a:t>
            </a:r>
            <a:r>
              <a:rPr lang="en-US" sz="2400" b="0" i="0" dirty="0">
                <a:solidFill>
                  <a:srgbClr val="1D1D1D"/>
                </a:solidFill>
                <a:effectLst/>
                <a:latin typeface="Arial" panose="020B0604020202020204" pitchFamily="34" charset="0"/>
              </a:rPr>
              <a:t>p</a:t>
            </a:r>
            <a:r>
              <a:rPr lang="en-US" sz="2400" dirty="0"/>
              <a:t>lease refer to the local approved prescribing information for </a:t>
            </a:r>
            <a:r>
              <a:rPr lang="en-US" sz="2400" dirty="0" err="1"/>
              <a:t>Trelegy</a:t>
            </a:r>
            <a:r>
              <a:rPr lang="en-US" sz="2400" dirty="0"/>
              <a:t>.</a:t>
            </a:r>
          </a:p>
          <a:p>
            <a:endParaRPr lang="ar-EG" dirty="0"/>
          </a:p>
        </p:txBody>
      </p:sp>
      <p:sp>
        <p:nvSpPr>
          <p:cNvPr id="3" name="Text Placeholder 2">
            <a:extLst>
              <a:ext uri="{FF2B5EF4-FFF2-40B4-BE49-F238E27FC236}">
                <a16:creationId xmlns:a16="http://schemas.microsoft.com/office/drawing/2014/main" id="{659EC8F6-6A2D-BD25-F235-0B0C7F702BCF}"/>
              </a:ext>
            </a:extLst>
          </p:cNvPr>
          <p:cNvSpPr>
            <a:spLocks noGrp="1"/>
          </p:cNvSpPr>
          <p:nvPr>
            <p:ph type="body" sz="quarter" idx="18"/>
          </p:nvPr>
        </p:nvSpPr>
        <p:spPr/>
        <p:txBody>
          <a:bodyPr/>
          <a:lstStyle/>
          <a:p>
            <a:endParaRPr lang="ar-EG"/>
          </a:p>
        </p:txBody>
      </p:sp>
      <p:sp>
        <p:nvSpPr>
          <p:cNvPr id="6" name="Title 5">
            <a:extLst>
              <a:ext uri="{FF2B5EF4-FFF2-40B4-BE49-F238E27FC236}">
                <a16:creationId xmlns:a16="http://schemas.microsoft.com/office/drawing/2014/main" id="{F82F5BAA-A725-9041-AB9D-91C94B9DC03E}"/>
              </a:ext>
            </a:extLst>
          </p:cNvPr>
          <p:cNvSpPr>
            <a:spLocks noGrp="1"/>
          </p:cNvSpPr>
          <p:nvPr>
            <p:ph type="title"/>
          </p:nvPr>
        </p:nvSpPr>
        <p:spPr/>
        <p:txBody>
          <a:bodyPr/>
          <a:lstStyle/>
          <a:p>
            <a:r>
              <a:rPr lang="en-US" dirty="0"/>
              <a:t>Disclaimer</a:t>
            </a:r>
            <a:endParaRPr lang="ar-EG" dirty="0"/>
          </a:p>
        </p:txBody>
      </p:sp>
      <p:sp>
        <p:nvSpPr>
          <p:cNvPr id="7" name="Subtitle 6">
            <a:extLst>
              <a:ext uri="{FF2B5EF4-FFF2-40B4-BE49-F238E27FC236}">
                <a16:creationId xmlns:a16="http://schemas.microsoft.com/office/drawing/2014/main" id="{DE2787AF-3A94-17CC-89C0-E7FAB36A604D}"/>
              </a:ext>
            </a:extLst>
          </p:cNvPr>
          <p:cNvSpPr>
            <a:spLocks noGrp="1"/>
          </p:cNvSpPr>
          <p:nvPr>
            <p:ph type="subTitle" idx="1"/>
          </p:nvPr>
        </p:nvSpPr>
        <p:spPr/>
        <p:txBody>
          <a:bodyPr/>
          <a:lstStyle/>
          <a:p>
            <a:endParaRPr lang="ar-EG"/>
          </a:p>
        </p:txBody>
      </p:sp>
      <p:sp>
        <p:nvSpPr>
          <p:cNvPr id="8" name="Footer Placeholder 7">
            <a:extLst>
              <a:ext uri="{FF2B5EF4-FFF2-40B4-BE49-F238E27FC236}">
                <a16:creationId xmlns:a16="http://schemas.microsoft.com/office/drawing/2014/main" id="{43A0178A-1E62-7A39-6ECA-30F9FAF7A7A9}"/>
              </a:ext>
            </a:extLst>
          </p:cNvPr>
          <p:cNvSpPr>
            <a:spLocks noGrp="1"/>
          </p:cNvSpPr>
          <p:nvPr>
            <p:ph type="ftr" sz="quarter" idx="20"/>
          </p:nvPr>
        </p:nvSpPr>
        <p:spPr/>
        <p:txBody>
          <a:bodyPr/>
          <a:lstStyle/>
          <a:p>
            <a:r>
              <a:rPr lang="en-GB"/>
              <a:t>For Internal Use Only</a:t>
            </a:r>
            <a:endParaRPr lang="en-GB" dirty="0"/>
          </a:p>
        </p:txBody>
      </p:sp>
    </p:spTree>
    <p:extLst>
      <p:ext uri="{BB962C8B-B14F-4D97-AF65-F5344CB8AC3E}">
        <p14:creationId xmlns:p14="http://schemas.microsoft.com/office/powerpoint/2010/main" val="3115010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The IMPACT trial</a:t>
            </a:r>
          </a:p>
        </p:txBody>
      </p:sp>
      <p:pic>
        <p:nvPicPr>
          <p:cNvPr id="4" name="Picture 3">
            <a:extLst>
              <a:ext uri="{FF2B5EF4-FFF2-40B4-BE49-F238E27FC236}">
                <a16:creationId xmlns:a16="http://schemas.microsoft.com/office/drawing/2014/main" id="{F89C67CB-48BA-4A88-9301-0CB397AE4EB8}"/>
              </a:ext>
            </a:extLst>
          </p:cNvPr>
          <p:cNvPicPr>
            <a:picLocks noChangeAspect="1"/>
          </p:cNvPicPr>
          <p:nvPr/>
        </p:nvPicPr>
        <p:blipFill>
          <a:blip r:embed="rId2"/>
          <a:stretch>
            <a:fillRect/>
          </a:stretch>
        </p:blipFill>
        <p:spPr>
          <a:xfrm>
            <a:off x="10678159" y="6145862"/>
            <a:ext cx="1094741" cy="356619"/>
          </a:xfrm>
          <a:prstGeom prst="rect">
            <a:avLst/>
          </a:prstGeom>
        </p:spPr>
      </p:pic>
    </p:spTree>
    <p:extLst>
      <p:ext uri="{BB962C8B-B14F-4D97-AF65-F5344CB8AC3E}">
        <p14:creationId xmlns:p14="http://schemas.microsoft.com/office/powerpoint/2010/main" val="2286486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25"/>
          <p:cNvSpPr/>
          <p:nvPr/>
        </p:nvSpPr>
        <p:spPr>
          <a:xfrm rot="5400000" flipH="1">
            <a:off x="449052" y="4003468"/>
            <a:ext cx="1479971" cy="1523998"/>
          </a:xfrm>
          <a:custGeom>
            <a:avLst/>
            <a:gdLst>
              <a:gd name="connsiteX0" fmla="*/ 1479971 w 1479971"/>
              <a:gd name="connsiteY0" fmla="*/ 1407177 h 1523998"/>
              <a:gd name="connsiteX1" fmla="*/ 1479971 w 1479971"/>
              <a:gd name="connsiteY1" fmla="*/ 894694 h 1523998"/>
              <a:gd name="connsiteX2" fmla="*/ 1475714 w 1479971"/>
              <a:gd name="connsiteY2" fmla="*/ 872248 h 1523998"/>
              <a:gd name="connsiteX3" fmla="*/ 1468410 w 1479971"/>
              <a:gd name="connsiteY3" fmla="*/ 860759 h 1523998"/>
              <a:gd name="connsiteX4" fmla="*/ 1476377 w 1479971"/>
              <a:gd name="connsiteY4" fmla="*/ 860424 h 1523998"/>
              <a:gd name="connsiteX5" fmla="*/ 1428466 w 1479971"/>
              <a:gd name="connsiteY5" fmla="*/ 832412 h 1523998"/>
              <a:gd name="connsiteX6" fmla="*/ 1422352 w 1479971"/>
              <a:gd name="connsiteY6" fmla="*/ 828758 h 1523998"/>
              <a:gd name="connsiteX7" fmla="*/ 1422190 w 1479971"/>
              <a:gd name="connsiteY7" fmla="*/ 828742 h 1523998"/>
              <a:gd name="connsiteX8" fmla="*/ 4764 w 1479971"/>
              <a:gd name="connsiteY8" fmla="*/ 0 h 1523998"/>
              <a:gd name="connsiteX9" fmla="*/ 4764 w 1479971"/>
              <a:gd name="connsiteY9" fmla="*/ 871173 h 1523998"/>
              <a:gd name="connsiteX10" fmla="*/ 0 w 1479971"/>
              <a:gd name="connsiteY10" fmla="*/ 894694 h 1523998"/>
              <a:gd name="connsiteX11" fmla="*/ 0 w 1479971"/>
              <a:gd name="connsiteY11" fmla="*/ 1407177 h 1523998"/>
              <a:gd name="connsiteX12" fmla="*/ 117198 w 1479971"/>
              <a:gd name="connsiteY12" fmla="*/ 1523998 h 1523998"/>
              <a:gd name="connsiteX13" fmla="*/ 1362773 w 1479971"/>
              <a:gd name="connsiteY13" fmla="*/ 1523998 h 1523998"/>
              <a:gd name="connsiteX14" fmla="*/ 1479971 w 1479971"/>
              <a:gd name="connsiteY14" fmla="*/ 1407177 h 152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79971" h="1523998">
                <a:moveTo>
                  <a:pt x="1479971" y="1407177"/>
                </a:moveTo>
                <a:lnTo>
                  <a:pt x="1479971" y="894694"/>
                </a:lnTo>
                <a:cubicBezTo>
                  <a:pt x="1479971" y="886629"/>
                  <a:pt x="1478479" y="879127"/>
                  <a:pt x="1475714" y="872248"/>
                </a:cubicBezTo>
                <a:lnTo>
                  <a:pt x="1468410" y="860759"/>
                </a:lnTo>
                <a:lnTo>
                  <a:pt x="1476377" y="860424"/>
                </a:lnTo>
                <a:lnTo>
                  <a:pt x="1428466" y="832412"/>
                </a:lnTo>
                <a:lnTo>
                  <a:pt x="1422352" y="828758"/>
                </a:lnTo>
                <a:lnTo>
                  <a:pt x="1422190" y="828742"/>
                </a:lnTo>
                <a:lnTo>
                  <a:pt x="4764" y="0"/>
                </a:lnTo>
                <a:lnTo>
                  <a:pt x="4764" y="871173"/>
                </a:lnTo>
                <a:lnTo>
                  <a:pt x="0" y="894694"/>
                </a:lnTo>
                <a:lnTo>
                  <a:pt x="0" y="1407177"/>
                </a:lnTo>
                <a:cubicBezTo>
                  <a:pt x="0" y="1471695"/>
                  <a:pt x="52472" y="1523998"/>
                  <a:pt x="117198" y="1523998"/>
                </a:cubicBezTo>
                <a:lnTo>
                  <a:pt x="1362773" y="1523998"/>
                </a:lnTo>
                <a:cubicBezTo>
                  <a:pt x="1427499" y="1523998"/>
                  <a:pt x="1479971" y="1471695"/>
                  <a:pt x="1479971" y="1407177"/>
                </a:cubicBezTo>
                <a:close/>
              </a:path>
            </a:pathLst>
          </a:cu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5" name="Freeform 24"/>
          <p:cNvSpPr/>
          <p:nvPr/>
        </p:nvSpPr>
        <p:spPr>
          <a:xfrm rot="5400000" flipH="1">
            <a:off x="449052" y="2341353"/>
            <a:ext cx="1479971" cy="1523998"/>
          </a:xfrm>
          <a:custGeom>
            <a:avLst/>
            <a:gdLst>
              <a:gd name="connsiteX0" fmla="*/ 1479971 w 1479971"/>
              <a:gd name="connsiteY0" fmla="*/ 1407177 h 1523998"/>
              <a:gd name="connsiteX1" fmla="*/ 1479971 w 1479971"/>
              <a:gd name="connsiteY1" fmla="*/ 894694 h 1523998"/>
              <a:gd name="connsiteX2" fmla="*/ 1475714 w 1479971"/>
              <a:gd name="connsiteY2" fmla="*/ 872248 h 1523998"/>
              <a:gd name="connsiteX3" fmla="*/ 1468410 w 1479971"/>
              <a:gd name="connsiteY3" fmla="*/ 860759 h 1523998"/>
              <a:gd name="connsiteX4" fmla="*/ 1476377 w 1479971"/>
              <a:gd name="connsiteY4" fmla="*/ 860424 h 1523998"/>
              <a:gd name="connsiteX5" fmla="*/ 1428466 w 1479971"/>
              <a:gd name="connsiteY5" fmla="*/ 832412 h 1523998"/>
              <a:gd name="connsiteX6" fmla="*/ 1422352 w 1479971"/>
              <a:gd name="connsiteY6" fmla="*/ 828758 h 1523998"/>
              <a:gd name="connsiteX7" fmla="*/ 1422190 w 1479971"/>
              <a:gd name="connsiteY7" fmla="*/ 828742 h 1523998"/>
              <a:gd name="connsiteX8" fmla="*/ 4764 w 1479971"/>
              <a:gd name="connsiteY8" fmla="*/ 0 h 1523998"/>
              <a:gd name="connsiteX9" fmla="*/ 4764 w 1479971"/>
              <a:gd name="connsiteY9" fmla="*/ 871173 h 1523998"/>
              <a:gd name="connsiteX10" fmla="*/ 0 w 1479971"/>
              <a:gd name="connsiteY10" fmla="*/ 894694 h 1523998"/>
              <a:gd name="connsiteX11" fmla="*/ 0 w 1479971"/>
              <a:gd name="connsiteY11" fmla="*/ 1407177 h 1523998"/>
              <a:gd name="connsiteX12" fmla="*/ 117198 w 1479971"/>
              <a:gd name="connsiteY12" fmla="*/ 1523998 h 1523998"/>
              <a:gd name="connsiteX13" fmla="*/ 1362773 w 1479971"/>
              <a:gd name="connsiteY13" fmla="*/ 1523998 h 1523998"/>
              <a:gd name="connsiteX14" fmla="*/ 1479971 w 1479971"/>
              <a:gd name="connsiteY14" fmla="*/ 1407177 h 152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79971" h="1523998">
                <a:moveTo>
                  <a:pt x="1479971" y="1407177"/>
                </a:moveTo>
                <a:lnTo>
                  <a:pt x="1479971" y="894694"/>
                </a:lnTo>
                <a:cubicBezTo>
                  <a:pt x="1479971" y="886629"/>
                  <a:pt x="1478479" y="879127"/>
                  <a:pt x="1475714" y="872248"/>
                </a:cubicBezTo>
                <a:lnTo>
                  <a:pt x="1468410" y="860759"/>
                </a:lnTo>
                <a:lnTo>
                  <a:pt x="1476377" y="860424"/>
                </a:lnTo>
                <a:lnTo>
                  <a:pt x="1428466" y="832412"/>
                </a:lnTo>
                <a:lnTo>
                  <a:pt x="1422352" y="828758"/>
                </a:lnTo>
                <a:lnTo>
                  <a:pt x="1422190" y="828742"/>
                </a:lnTo>
                <a:lnTo>
                  <a:pt x="4764" y="0"/>
                </a:lnTo>
                <a:lnTo>
                  <a:pt x="4764" y="871173"/>
                </a:lnTo>
                <a:lnTo>
                  <a:pt x="0" y="894694"/>
                </a:lnTo>
                <a:lnTo>
                  <a:pt x="0" y="1407177"/>
                </a:lnTo>
                <a:cubicBezTo>
                  <a:pt x="0" y="1471695"/>
                  <a:pt x="52472" y="1523998"/>
                  <a:pt x="117198" y="1523998"/>
                </a:cubicBezTo>
                <a:lnTo>
                  <a:pt x="1362773" y="1523998"/>
                </a:lnTo>
                <a:cubicBezTo>
                  <a:pt x="1427499" y="1523998"/>
                  <a:pt x="1479971" y="1471695"/>
                  <a:pt x="1479971" y="1407177"/>
                </a:cubicBezTo>
                <a:close/>
              </a:path>
            </a:pathLst>
          </a:cu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40" name="Rounded Rectangle 39"/>
          <p:cNvSpPr/>
          <p:nvPr/>
        </p:nvSpPr>
        <p:spPr>
          <a:xfrm>
            <a:off x="426920" y="4024217"/>
            <a:ext cx="11345979" cy="1476375"/>
          </a:xfrm>
          <a:prstGeom prst="roundRect">
            <a:avLst>
              <a:gd name="adj" fmla="val 6976"/>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1" name="Rounded Rectangle 30"/>
          <p:cNvSpPr/>
          <p:nvPr/>
        </p:nvSpPr>
        <p:spPr>
          <a:xfrm>
            <a:off x="426920" y="2363368"/>
            <a:ext cx="11345979" cy="1476375"/>
          </a:xfrm>
          <a:prstGeom prst="roundRect">
            <a:avLst>
              <a:gd name="adj" fmla="val 6976"/>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 name="Title 1"/>
          <p:cNvSpPr>
            <a:spLocks noGrp="1"/>
          </p:cNvSpPr>
          <p:nvPr>
            <p:ph type="title"/>
          </p:nvPr>
        </p:nvSpPr>
        <p:spPr/>
        <p:txBody>
          <a:bodyPr/>
          <a:lstStyle/>
          <a:p>
            <a:r>
              <a:rPr lang="en-US" sz="2400" dirty="0"/>
              <a:t>IMPACT: InforMing the PAthway of COPD Treatment</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24" name="Text Placeholder 23"/>
          <p:cNvSpPr>
            <a:spLocks noGrp="1"/>
          </p:cNvSpPr>
          <p:nvPr>
            <p:ph type="body" sz="quarter" idx="21"/>
          </p:nvPr>
        </p:nvSpPr>
        <p:spPr/>
        <p:txBody>
          <a:bodyPr/>
          <a:lstStyle/>
          <a:p>
            <a:r>
              <a:rPr lang="fr-FR" dirty="0"/>
              <a:t>1. Pascoe SJ, et al. </a:t>
            </a:r>
            <a:r>
              <a:rPr lang="fr-FR" i="1" dirty="0"/>
              <a:t>Eur Respir J</a:t>
            </a:r>
            <a:r>
              <a:rPr lang="fr-FR" dirty="0"/>
              <a:t>. 2016; 48: 320-330; 2. </a:t>
            </a:r>
            <a:r>
              <a:rPr lang="da-DK" dirty="0"/>
              <a:t>Lipson DA, et al. </a:t>
            </a:r>
            <a:r>
              <a:rPr lang="da-DK" i="1" dirty="0"/>
              <a:t>N Engl J Med.</a:t>
            </a:r>
            <a:r>
              <a:rPr lang="da-DK" dirty="0"/>
              <a:t> 2018;378:1671–1680</a:t>
            </a:r>
            <a:r>
              <a:rPr lang="fr-FR" dirty="0"/>
              <a:t>; 3. </a:t>
            </a:r>
            <a:r>
              <a:rPr lang="en-GB" dirty="0"/>
              <a:t>DATA ON FILE;RF/CPD/0003/18; 1-6</a:t>
            </a:r>
            <a:r>
              <a:rPr lang="fr-FR" dirty="0"/>
              <a:t>.</a:t>
            </a:r>
            <a:endParaRPr lang="en-US" dirty="0"/>
          </a:p>
        </p:txBody>
      </p:sp>
      <p:sp>
        <p:nvSpPr>
          <p:cNvPr id="8" name="Text Placeholder 7"/>
          <p:cNvSpPr>
            <a:spLocks noGrp="1"/>
          </p:cNvSpPr>
          <p:nvPr>
            <p:ph type="body" sz="quarter" idx="19"/>
          </p:nvPr>
        </p:nvSpPr>
        <p:spPr/>
        <p:txBody>
          <a:bodyPr/>
          <a:lstStyle/>
          <a:p>
            <a:r>
              <a:rPr lang="en-US" dirty="0"/>
              <a:t>COPD, chronic obstructive pulmonary disease; FF, fluticasone furoate; ICS, inhaled corticosteroids; LABA, long-acting beta-agonist; LAMA, long-acting muscarinic antagonist; UMEC, umeclidinium.</a:t>
            </a:r>
          </a:p>
        </p:txBody>
      </p:sp>
      <p:sp>
        <p:nvSpPr>
          <p:cNvPr id="11" name="Round Diagonal Corner Rectangle 10"/>
          <p:cNvSpPr/>
          <p:nvPr/>
        </p:nvSpPr>
        <p:spPr>
          <a:xfrm>
            <a:off x="1152204" y="2461475"/>
            <a:ext cx="10539053" cy="1280160"/>
          </a:xfrm>
          <a:prstGeom prst="round2DiagRect">
            <a:avLst>
              <a:gd name="adj1" fmla="val 6560"/>
              <a:gd name="adj2" fmla="val 0"/>
            </a:avLst>
          </a:prstGeom>
          <a:noFill/>
        </p:spPr>
        <p:txBody>
          <a:bodyPr wrap="square" lIns="100584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rgbClr val="544F40"/>
                </a:solidFill>
                <a:effectLst/>
                <a:uLnTx/>
                <a:uFillTx/>
                <a:latin typeface="Arial" panose="020B0604020202020204"/>
                <a:ea typeface="+mn-ea"/>
                <a:cs typeface="+mn-cs"/>
              </a:rPr>
              <a:t>Landmark study in &gt;10,000 patients with a history of ≥1 exacerbation in the year prior</a:t>
            </a:r>
            <a:r>
              <a:rPr kumimoji="0" lang="en-GB" sz="1600" b="0" i="0" u="none" strike="noStrike" kern="0" cap="none" spc="0" normalizeH="0" baseline="30000" noProof="0" dirty="0">
                <a:ln>
                  <a:noFill/>
                </a:ln>
                <a:solidFill>
                  <a:srgbClr val="544F40"/>
                </a:solidFill>
                <a:effectLst/>
                <a:uLnTx/>
                <a:uFillTx/>
                <a:latin typeface="Arial" panose="020B0604020202020204"/>
                <a:ea typeface="+mn-ea"/>
                <a:cs typeface="+mn-cs"/>
              </a:rPr>
              <a:t>1,2</a:t>
            </a:r>
            <a:endParaRPr kumimoji="0" lang="en-US" sz="16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7" name="Oval 6"/>
          <p:cNvSpPr/>
          <p:nvPr/>
        </p:nvSpPr>
        <p:spPr>
          <a:xfrm>
            <a:off x="612719" y="2501060"/>
            <a:ext cx="1200990" cy="1200990"/>
          </a:xfrm>
          <a:prstGeom prst="ellipse">
            <a:avLst/>
          </a:prstGeom>
          <a:solidFill>
            <a:srgbClr val="F36633"/>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0" name="Freeform 12"/>
          <p:cNvSpPr>
            <a:spLocks noEditPoints="1"/>
          </p:cNvSpPr>
          <p:nvPr/>
        </p:nvSpPr>
        <p:spPr bwMode="auto">
          <a:xfrm>
            <a:off x="947414" y="2786810"/>
            <a:ext cx="531600" cy="604090"/>
          </a:xfrm>
          <a:custGeom>
            <a:avLst/>
            <a:gdLst>
              <a:gd name="T0" fmla="*/ 74 w 155"/>
              <a:gd name="T1" fmla="*/ 130 h 196"/>
              <a:gd name="T2" fmla="*/ 63 w 155"/>
              <a:gd name="T3" fmla="*/ 144 h 196"/>
              <a:gd name="T4" fmla="*/ 81 w 155"/>
              <a:gd name="T5" fmla="*/ 155 h 196"/>
              <a:gd name="T6" fmla="*/ 92 w 155"/>
              <a:gd name="T7" fmla="*/ 141 h 196"/>
              <a:gd name="T8" fmla="*/ 85 w 155"/>
              <a:gd name="T9" fmla="*/ 144 h 196"/>
              <a:gd name="T10" fmla="*/ 74 w 155"/>
              <a:gd name="T11" fmla="*/ 148 h 196"/>
              <a:gd name="T12" fmla="*/ 70 w 155"/>
              <a:gd name="T13" fmla="*/ 141 h 196"/>
              <a:gd name="T14" fmla="*/ 81 w 155"/>
              <a:gd name="T15" fmla="*/ 137 h 196"/>
              <a:gd name="T16" fmla="*/ 85 w 155"/>
              <a:gd name="T17" fmla="*/ 144 h 196"/>
              <a:gd name="T18" fmla="*/ 139 w 155"/>
              <a:gd name="T19" fmla="*/ 22 h 196"/>
              <a:gd name="T20" fmla="*/ 130 w 155"/>
              <a:gd name="T21" fmla="*/ 14 h 196"/>
              <a:gd name="T22" fmla="*/ 80 w 155"/>
              <a:gd name="T23" fmla="*/ 66 h 196"/>
              <a:gd name="T24" fmla="*/ 76 w 155"/>
              <a:gd name="T25" fmla="*/ 64 h 196"/>
              <a:gd name="T26" fmla="*/ 123 w 155"/>
              <a:gd name="T27" fmla="*/ 11 h 196"/>
              <a:gd name="T28" fmla="*/ 56 w 155"/>
              <a:gd name="T29" fmla="*/ 53 h 196"/>
              <a:gd name="T30" fmla="*/ 52 w 155"/>
              <a:gd name="T31" fmla="*/ 49 h 196"/>
              <a:gd name="T32" fmla="*/ 82 w 155"/>
              <a:gd name="T33" fmla="*/ 37 h 196"/>
              <a:gd name="T34" fmla="*/ 100 w 155"/>
              <a:gd name="T35" fmla="*/ 3 h 196"/>
              <a:gd name="T36" fmla="*/ 41 w 155"/>
              <a:gd name="T37" fmla="*/ 35 h 196"/>
              <a:gd name="T38" fmla="*/ 41 w 155"/>
              <a:gd name="T39" fmla="*/ 28 h 196"/>
              <a:gd name="T40" fmla="*/ 92 w 155"/>
              <a:gd name="T41" fmla="*/ 1 h 196"/>
              <a:gd name="T42" fmla="*/ 34 w 155"/>
              <a:gd name="T43" fmla="*/ 12 h 196"/>
              <a:gd name="T44" fmla="*/ 27 w 155"/>
              <a:gd name="T45" fmla="*/ 12 h 196"/>
              <a:gd name="T46" fmla="*/ 18 w 155"/>
              <a:gd name="T47" fmla="*/ 22 h 196"/>
              <a:gd name="T48" fmla="*/ 0 w 155"/>
              <a:gd name="T49" fmla="*/ 99 h 196"/>
              <a:gd name="T50" fmla="*/ 42 w 155"/>
              <a:gd name="T51" fmla="*/ 196 h 196"/>
              <a:gd name="T52" fmla="*/ 133 w 155"/>
              <a:gd name="T53" fmla="*/ 186 h 196"/>
              <a:gd name="T54" fmla="*/ 136 w 155"/>
              <a:gd name="T55" fmla="*/ 33 h 196"/>
              <a:gd name="T56" fmla="*/ 113 w 155"/>
              <a:gd name="T57" fmla="*/ 181 h 196"/>
              <a:gd name="T58" fmla="*/ 34 w 155"/>
              <a:gd name="T59" fmla="*/ 178 h 196"/>
              <a:gd name="T60" fmla="*/ 29 w 155"/>
              <a:gd name="T61" fmla="*/ 45 h 196"/>
              <a:gd name="T62" fmla="*/ 81 w 155"/>
              <a:gd name="T63" fmla="*/ 82 h 196"/>
              <a:gd name="T64" fmla="*/ 102 w 155"/>
              <a:gd name="T65" fmla="*/ 110 h 196"/>
              <a:gd name="T66" fmla="*/ 125 w 155"/>
              <a:gd name="T67" fmla="*/ 170 h 196"/>
              <a:gd name="T68" fmla="*/ 128 w 155"/>
              <a:gd name="T69" fmla="*/ 163 h 196"/>
              <a:gd name="T70" fmla="*/ 110 w 155"/>
              <a:gd name="T71" fmla="*/ 110 h 196"/>
              <a:gd name="T72" fmla="*/ 93 w 155"/>
              <a:gd name="T73" fmla="*/ 79 h 196"/>
              <a:gd name="T74" fmla="*/ 140 w 155"/>
              <a:gd name="T75" fmla="*/ 99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5" h="196">
                <a:moveTo>
                  <a:pt x="81" y="130"/>
                </a:moveTo>
                <a:cubicBezTo>
                  <a:pt x="74" y="130"/>
                  <a:pt x="74" y="130"/>
                  <a:pt x="74" y="130"/>
                </a:cubicBezTo>
                <a:cubicBezTo>
                  <a:pt x="68" y="130"/>
                  <a:pt x="63" y="135"/>
                  <a:pt x="63" y="141"/>
                </a:cubicBezTo>
                <a:cubicBezTo>
                  <a:pt x="63" y="144"/>
                  <a:pt x="63" y="144"/>
                  <a:pt x="63" y="144"/>
                </a:cubicBezTo>
                <a:cubicBezTo>
                  <a:pt x="63" y="150"/>
                  <a:pt x="68" y="155"/>
                  <a:pt x="74" y="155"/>
                </a:cubicBezTo>
                <a:cubicBezTo>
                  <a:pt x="81" y="155"/>
                  <a:pt x="81" y="155"/>
                  <a:pt x="81" y="155"/>
                </a:cubicBezTo>
                <a:cubicBezTo>
                  <a:pt x="87" y="155"/>
                  <a:pt x="92" y="150"/>
                  <a:pt x="92" y="144"/>
                </a:cubicBezTo>
                <a:cubicBezTo>
                  <a:pt x="92" y="141"/>
                  <a:pt x="92" y="141"/>
                  <a:pt x="92" y="141"/>
                </a:cubicBezTo>
                <a:cubicBezTo>
                  <a:pt x="92" y="135"/>
                  <a:pt x="87" y="130"/>
                  <a:pt x="81" y="130"/>
                </a:cubicBezTo>
                <a:moveTo>
                  <a:pt x="85" y="144"/>
                </a:moveTo>
                <a:cubicBezTo>
                  <a:pt x="85" y="146"/>
                  <a:pt x="83" y="148"/>
                  <a:pt x="81" y="148"/>
                </a:cubicBezTo>
                <a:cubicBezTo>
                  <a:pt x="74" y="148"/>
                  <a:pt x="74" y="148"/>
                  <a:pt x="74" y="148"/>
                </a:cubicBezTo>
                <a:cubicBezTo>
                  <a:pt x="72" y="148"/>
                  <a:pt x="70" y="146"/>
                  <a:pt x="70" y="144"/>
                </a:cubicBezTo>
                <a:cubicBezTo>
                  <a:pt x="70" y="141"/>
                  <a:pt x="70" y="141"/>
                  <a:pt x="70" y="141"/>
                </a:cubicBezTo>
                <a:cubicBezTo>
                  <a:pt x="70" y="139"/>
                  <a:pt x="72" y="137"/>
                  <a:pt x="74" y="137"/>
                </a:cubicBezTo>
                <a:cubicBezTo>
                  <a:pt x="81" y="137"/>
                  <a:pt x="81" y="137"/>
                  <a:pt x="81" y="137"/>
                </a:cubicBezTo>
                <a:cubicBezTo>
                  <a:pt x="83" y="137"/>
                  <a:pt x="85" y="139"/>
                  <a:pt x="85" y="141"/>
                </a:cubicBezTo>
                <a:lnTo>
                  <a:pt x="85" y="144"/>
                </a:lnTo>
                <a:close/>
                <a:moveTo>
                  <a:pt x="136" y="33"/>
                </a:moveTo>
                <a:cubicBezTo>
                  <a:pt x="137" y="29"/>
                  <a:pt x="138" y="26"/>
                  <a:pt x="139" y="22"/>
                </a:cubicBezTo>
                <a:cubicBezTo>
                  <a:pt x="140" y="20"/>
                  <a:pt x="139" y="17"/>
                  <a:pt x="137" y="16"/>
                </a:cubicBezTo>
                <a:cubicBezTo>
                  <a:pt x="135" y="14"/>
                  <a:pt x="133" y="13"/>
                  <a:pt x="130" y="14"/>
                </a:cubicBezTo>
                <a:cubicBezTo>
                  <a:pt x="130" y="14"/>
                  <a:pt x="130" y="14"/>
                  <a:pt x="130" y="14"/>
                </a:cubicBezTo>
                <a:cubicBezTo>
                  <a:pt x="119" y="56"/>
                  <a:pt x="81" y="66"/>
                  <a:pt x="80" y="66"/>
                </a:cubicBezTo>
                <a:cubicBezTo>
                  <a:pt x="80" y="67"/>
                  <a:pt x="80" y="67"/>
                  <a:pt x="79" y="67"/>
                </a:cubicBezTo>
                <a:cubicBezTo>
                  <a:pt x="78" y="67"/>
                  <a:pt x="76" y="65"/>
                  <a:pt x="76" y="64"/>
                </a:cubicBezTo>
                <a:cubicBezTo>
                  <a:pt x="75" y="62"/>
                  <a:pt x="76" y="60"/>
                  <a:pt x="78" y="59"/>
                </a:cubicBezTo>
                <a:cubicBezTo>
                  <a:pt x="80" y="59"/>
                  <a:pt x="113" y="50"/>
                  <a:pt x="123" y="11"/>
                </a:cubicBezTo>
                <a:cubicBezTo>
                  <a:pt x="120" y="10"/>
                  <a:pt x="118" y="9"/>
                  <a:pt x="115" y="8"/>
                </a:cubicBezTo>
                <a:cubicBezTo>
                  <a:pt x="104" y="47"/>
                  <a:pt x="57" y="53"/>
                  <a:pt x="56" y="53"/>
                </a:cubicBezTo>
                <a:cubicBezTo>
                  <a:pt x="56" y="53"/>
                  <a:pt x="56" y="53"/>
                  <a:pt x="56" y="53"/>
                </a:cubicBezTo>
                <a:cubicBezTo>
                  <a:pt x="54" y="53"/>
                  <a:pt x="52" y="51"/>
                  <a:pt x="52" y="49"/>
                </a:cubicBezTo>
                <a:cubicBezTo>
                  <a:pt x="52" y="47"/>
                  <a:pt x="53" y="46"/>
                  <a:pt x="55" y="45"/>
                </a:cubicBezTo>
                <a:cubicBezTo>
                  <a:pt x="56" y="45"/>
                  <a:pt x="68" y="44"/>
                  <a:pt x="82" y="37"/>
                </a:cubicBezTo>
                <a:cubicBezTo>
                  <a:pt x="96" y="29"/>
                  <a:pt x="104" y="19"/>
                  <a:pt x="108" y="5"/>
                </a:cubicBezTo>
                <a:cubicBezTo>
                  <a:pt x="105" y="4"/>
                  <a:pt x="103" y="3"/>
                  <a:pt x="100" y="3"/>
                </a:cubicBezTo>
                <a:cubicBezTo>
                  <a:pt x="84" y="34"/>
                  <a:pt x="46" y="35"/>
                  <a:pt x="42" y="35"/>
                </a:cubicBezTo>
                <a:cubicBezTo>
                  <a:pt x="41" y="35"/>
                  <a:pt x="41" y="35"/>
                  <a:pt x="41" y="35"/>
                </a:cubicBezTo>
                <a:cubicBezTo>
                  <a:pt x="39" y="35"/>
                  <a:pt x="37" y="33"/>
                  <a:pt x="38" y="31"/>
                </a:cubicBezTo>
                <a:cubicBezTo>
                  <a:pt x="38" y="29"/>
                  <a:pt x="39" y="28"/>
                  <a:pt x="41" y="28"/>
                </a:cubicBezTo>
                <a:cubicBezTo>
                  <a:pt x="41" y="28"/>
                  <a:pt x="53" y="28"/>
                  <a:pt x="66" y="23"/>
                </a:cubicBezTo>
                <a:cubicBezTo>
                  <a:pt x="78" y="19"/>
                  <a:pt x="87" y="11"/>
                  <a:pt x="92" y="1"/>
                </a:cubicBezTo>
                <a:cubicBezTo>
                  <a:pt x="89" y="1"/>
                  <a:pt x="85" y="0"/>
                  <a:pt x="82" y="0"/>
                </a:cubicBezTo>
                <a:cubicBezTo>
                  <a:pt x="55" y="0"/>
                  <a:pt x="41" y="8"/>
                  <a:pt x="34" y="12"/>
                </a:cubicBezTo>
                <a:cubicBezTo>
                  <a:pt x="33" y="12"/>
                  <a:pt x="32" y="13"/>
                  <a:pt x="31" y="13"/>
                </a:cubicBezTo>
                <a:cubicBezTo>
                  <a:pt x="30" y="13"/>
                  <a:pt x="28" y="12"/>
                  <a:pt x="27" y="12"/>
                </a:cubicBezTo>
                <a:cubicBezTo>
                  <a:pt x="24" y="11"/>
                  <a:pt x="22" y="12"/>
                  <a:pt x="20" y="14"/>
                </a:cubicBezTo>
                <a:cubicBezTo>
                  <a:pt x="18" y="16"/>
                  <a:pt x="17" y="19"/>
                  <a:pt x="18" y="22"/>
                </a:cubicBezTo>
                <a:cubicBezTo>
                  <a:pt x="19" y="24"/>
                  <a:pt x="20" y="26"/>
                  <a:pt x="21" y="29"/>
                </a:cubicBezTo>
                <a:cubicBezTo>
                  <a:pt x="14" y="39"/>
                  <a:pt x="0" y="69"/>
                  <a:pt x="0" y="99"/>
                </a:cubicBezTo>
                <a:cubicBezTo>
                  <a:pt x="0" y="135"/>
                  <a:pt x="7" y="163"/>
                  <a:pt x="22" y="186"/>
                </a:cubicBezTo>
                <a:cubicBezTo>
                  <a:pt x="26" y="192"/>
                  <a:pt x="31" y="196"/>
                  <a:pt x="42" y="196"/>
                </a:cubicBezTo>
                <a:cubicBezTo>
                  <a:pt x="113" y="196"/>
                  <a:pt x="113" y="196"/>
                  <a:pt x="113" y="196"/>
                </a:cubicBezTo>
                <a:cubicBezTo>
                  <a:pt x="124" y="196"/>
                  <a:pt x="129" y="192"/>
                  <a:pt x="133" y="186"/>
                </a:cubicBezTo>
                <a:cubicBezTo>
                  <a:pt x="148" y="163"/>
                  <a:pt x="155" y="135"/>
                  <a:pt x="155" y="99"/>
                </a:cubicBezTo>
                <a:cubicBezTo>
                  <a:pt x="155" y="72"/>
                  <a:pt x="144" y="46"/>
                  <a:pt x="136" y="33"/>
                </a:cubicBezTo>
                <a:moveTo>
                  <a:pt x="121" y="178"/>
                </a:moveTo>
                <a:cubicBezTo>
                  <a:pt x="119" y="181"/>
                  <a:pt x="119" y="181"/>
                  <a:pt x="113" y="181"/>
                </a:cubicBezTo>
                <a:cubicBezTo>
                  <a:pt x="42" y="181"/>
                  <a:pt x="42" y="181"/>
                  <a:pt x="42" y="181"/>
                </a:cubicBezTo>
                <a:cubicBezTo>
                  <a:pt x="36" y="181"/>
                  <a:pt x="36" y="181"/>
                  <a:pt x="34" y="178"/>
                </a:cubicBezTo>
                <a:cubicBezTo>
                  <a:pt x="21" y="157"/>
                  <a:pt x="15" y="132"/>
                  <a:pt x="15" y="99"/>
                </a:cubicBezTo>
                <a:cubicBezTo>
                  <a:pt x="15" y="79"/>
                  <a:pt x="22" y="58"/>
                  <a:pt x="29" y="45"/>
                </a:cubicBezTo>
                <a:cubicBezTo>
                  <a:pt x="39" y="61"/>
                  <a:pt x="54" y="73"/>
                  <a:pt x="75" y="80"/>
                </a:cubicBezTo>
                <a:cubicBezTo>
                  <a:pt x="76" y="81"/>
                  <a:pt x="81" y="82"/>
                  <a:pt x="81" y="82"/>
                </a:cubicBezTo>
                <a:cubicBezTo>
                  <a:pt x="91" y="86"/>
                  <a:pt x="103" y="91"/>
                  <a:pt x="103" y="102"/>
                </a:cubicBezTo>
                <a:cubicBezTo>
                  <a:pt x="103" y="104"/>
                  <a:pt x="102" y="107"/>
                  <a:pt x="102" y="110"/>
                </a:cubicBezTo>
                <a:cubicBezTo>
                  <a:pt x="102" y="119"/>
                  <a:pt x="101" y="129"/>
                  <a:pt x="105" y="140"/>
                </a:cubicBezTo>
                <a:cubicBezTo>
                  <a:pt x="111" y="155"/>
                  <a:pt x="120" y="165"/>
                  <a:pt x="125" y="170"/>
                </a:cubicBezTo>
                <a:cubicBezTo>
                  <a:pt x="124" y="173"/>
                  <a:pt x="122" y="176"/>
                  <a:pt x="121" y="178"/>
                </a:cubicBezTo>
                <a:moveTo>
                  <a:pt x="128" y="163"/>
                </a:moveTo>
                <a:cubicBezTo>
                  <a:pt x="124" y="158"/>
                  <a:pt x="117" y="149"/>
                  <a:pt x="112" y="137"/>
                </a:cubicBezTo>
                <a:cubicBezTo>
                  <a:pt x="109" y="128"/>
                  <a:pt x="109" y="119"/>
                  <a:pt x="110" y="110"/>
                </a:cubicBezTo>
                <a:cubicBezTo>
                  <a:pt x="110" y="107"/>
                  <a:pt x="110" y="104"/>
                  <a:pt x="110" y="102"/>
                </a:cubicBezTo>
                <a:cubicBezTo>
                  <a:pt x="110" y="95"/>
                  <a:pt x="107" y="86"/>
                  <a:pt x="93" y="79"/>
                </a:cubicBezTo>
                <a:cubicBezTo>
                  <a:pt x="103" y="75"/>
                  <a:pt x="118" y="67"/>
                  <a:pt x="129" y="50"/>
                </a:cubicBezTo>
                <a:cubicBezTo>
                  <a:pt x="134" y="63"/>
                  <a:pt x="140" y="81"/>
                  <a:pt x="140" y="99"/>
                </a:cubicBezTo>
                <a:cubicBezTo>
                  <a:pt x="140" y="125"/>
                  <a:pt x="136" y="146"/>
                  <a:pt x="128" y="16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ysClr val="windowText" lastClr="000000"/>
              </a:solidFill>
              <a:effectLst/>
              <a:uLnTx/>
              <a:uFillTx/>
              <a:latin typeface="Arial" panose="020B0604020202020204"/>
              <a:ea typeface="+mn-ea"/>
              <a:cs typeface="+mn-cs"/>
            </a:endParaRPr>
          </a:p>
        </p:txBody>
      </p:sp>
      <p:sp>
        <p:nvSpPr>
          <p:cNvPr id="34" name="Round Diagonal Corner Rectangle 33"/>
          <p:cNvSpPr/>
          <p:nvPr/>
        </p:nvSpPr>
        <p:spPr>
          <a:xfrm>
            <a:off x="1152204" y="4122474"/>
            <a:ext cx="10533884" cy="1279861"/>
          </a:xfrm>
          <a:prstGeom prst="round2DiagRect">
            <a:avLst>
              <a:gd name="adj1" fmla="val 0"/>
              <a:gd name="adj2" fmla="val 0"/>
            </a:avLst>
          </a:prstGeom>
          <a:noFill/>
        </p:spPr>
        <p:txBody>
          <a:bodyPr wrap="square" lIns="1005840" anchor="ctr" anchorCtr="0">
            <a:noAutofit/>
          </a:bodyPr>
          <a:lstStyle/>
          <a:p>
            <a:pPr marL="274320" marR="0" lvl="0" indent="-27432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544F40"/>
                </a:solidFill>
                <a:effectLst/>
                <a:uLnTx/>
                <a:uFillTx/>
                <a:latin typeface="Arial" panose="020B0604020202020204"/>
                <a:ea typeface="+mn-ea"/>
                <a:cs typeface="+mn-cs"/>
              </a:rPr>
              <a:t>IMPACT included a typical COPD patient population on maintenance treatments with a history of exacerbations in the past 12 months</a:t>
            </a:r>
            <a:r>
              <a:rPr kumimoji="0" lang="en-US" sz="1600" b="0" i="0" u="none" strike="noStrike" kern="0" cap="none" spc="0" normalizeH="0" baseline="30000" noProof="0" dirty="0">
                <a:ln>
                  <a:noFill/>
                </a:ln>
                <a:solidFill>
                  <a:srgbClr val="544F40"/>
                </a:solidFill>
                <a:effectLst/>
                <a:uLnTx/>
                <a:uFillTx/>
                <a:latin typeface="Arial" panose="020B0604020202020204"/>
                <a:ea typeface="+mn-ea"/>
                <a:cs typeface="+mn-cs"/>
              </a:rPr>
              <a:t>1,2</a:t>
            </a:r>
          </a:p>
          <a:p>
            <a:pPr marL="274320" marR="0" lvl="0" indent="-27432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544F40"/>
                </a:solidFill>
                <a:effectLst/>
                <a:uLnTx/>
                <a:uFillTx/>
                <a:latin typeface="Arial" panose="020B0604020202020204"/>
                <a:ea typeface="+mn-ea"/>
                <a:cs typeface="+mn-cs"/>
              </a:rPr>
              <a:t>According to cohort studies, the proportion of patients with COPD who are on maintenance therapy and have experienced ≥1 exacerbation over 12 months is ~50%</a:t>
            </a:r>
            <a:r>
              <a:rPr kumimoji="0" lang="en-US" sz="1600" b="0" i="0" u="none" strike="noStrike" kern="0" cap="none" spc="0" normalizeH="0" baseline="30000" noProof="0" dirty="0">
                <a:ln>
                  <a:noFill/>
                </a:ln>
                <a:solidFill>
                  <a:srgbClr val="544F40"/>
                </a:solidFill>
                <a:effectLst/>
                <a:uLnTx/>
                <a:uFillTx/>
                <a:latin typeface="Arial" panose="020B0604020202020204"/>
                <a:ea typeface="+mn-ea"/>
                <a:cs typeface="+mn-cs"/>
              </a:rPr>
              <a:t>3</a:t>
            </a:r>
            <a:endParaRPr kumimoji="0" lang="en-US" sz="1600" b="0" i="0" u="none" strike="noStrike" kern="1200" cap="none" spc="0" normalizeH="0" baseline="30000" noProof="0" dirty="0">
              <a:ln>
                <a:noFill/>
              </a:ln>
              <a:solidFill>
                <a:srgbClr val="544F40"/>
              </a:solidFill>
              <a:effectLst/>
              <a:uLnTx/>
              <a:uFillTx/>
              <a:latin typeface="Arial" panose="020B0604020202020204"/>
              <a:ea typeface="+mn-ea"/>
              <a:cs typeface="+mn-cs"/>
            </a:endParaRPr>
          </a:p>
        </p:txBody>
      </p:sp>
      <p:sp>
        <p:nvSpPr>
          <p:cNvPr id="35" name="Oval 34"/>
          <p:cNvSpPr/>
          <p:nvPr/>
        </p:nvSpPr>
        <p:spPr>
          <a:xfrm>
            <a:off x="616218" y="4165408"/>
            <a:ext cx="1193992" cy="1193992"/>
          </a:xfrm>
          <a:prstGeom prst="ellipse">
            <a:avLst/>
          </a:prstGeom>
          <a:solidFill>
            <a:srgbClr val="F36633"/>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17" name="Group 16"/>
          <p:cNvGrpSpPr/>
          <p:nvPr/>
        </p:nvGrpSpPr>
        <p:grpSpPr>
          <a:xfrm>
            <a:off x="1007107" y="4298758"/>
            <a:ext cx="404968" cy="914592"/>
            <a:chOff x="850170" y="4160892"/>
            <a:chExt cx="540365" cy="1220376"/>
          </a:xfrm>
        </p:grpSpPr>
        <p:sp>
          <p:nvSpPr>
            <p:cNvPr id="36" name="Freeform 1440">
              <a:extLst>
                <a:ext uri="{FF2B5EF4-FFF2-40B4-BE49-F238E27FC236}">
                  <a16:creationId xmlns:a16="http://schemas.microsoft.com/office/drawing/2014/main" id="{4F485680-3655-4DFF-9D8E-7F2E4BBABD0B}"/>
                </a:ext>
              </a:extLst>
            </p:cNvPr>
            <p:cNvSpPr>
              <a:spLocks noChangeAspect="1" noEditPoints="1"/>
            </p:cNvSpPr>
            <p:nvPr/>
          </p:nvSpPr>
          <p:spPr bwMode="auto">
            <a:xfrm>
              <a:off x="850170" y="4160892"/>
              <a:ext cx="202227" cy="586228"/>
            </a:xfrm>
            <a:custGeom>
              <a:avLst/>
              <a:gdLst>
                <a:gd name="T0" fmla="*/ 753 w 755"/>
                <a:gd name="T1" fmla="*/ 1188 h 2200"/>
                <a:gd name="T2" fmla="*/ 753 w 755"/>
                <a:gd name="T3" fmla="*/ 1187 h 2200"/>
                <a:gd name="T4" fmla="*/ 716 w 755"/>
                <a:gd name="T5" fmla="*/ 595 h 2200"/>
                <a:gd name="T6" fmla="*/ 677 w 755"/>
                <a:gd name="T7" fmla="*/ 536 h 2200"/>
                <a:gd name="T8" fmla="*/ 520 w 755"/>
                <a:gd name="T9" fmla="*/ 457 h 2200"/>
                <a:gd name="T10" fmla="*/ 488 w 755"/>
                <a:gd name="T11" fmla="*/ 442 h 2200"/>
                <a:gd name="T12" fmla="*/ 564 w 755"/>
                <a:gd name="T13" fmla="*/ 293 h 2200"/>
                <a:gd name="T14" fmla="*/ 564 w 755"/>
                <a:gd name="T15" fmla="*/ 186 h 2200"/>
                <a:gd name="T16" fmla="*/ 377 w 755"/>
                <a:gd name="T17" fmla="*/ 0 h 2200"/>
                <a:gd name="T18" fmla="*/ 191 w 755"/>
                <a:gd name="T19" fmla="*/ 186 h 2200"/>
                <a:gd name="T20" fmla="*/ 191 w 755"/>
                <a:gd name="T21" fmla="*/ 293 h 2200"/>
                <a:gd name="T22" fmla="*/ 267 w 755"/>
                <a:gd name="T23" fmla="*/ 442 h 2200"/>
                <a:gd name="T24" fmla="*/ 235 w 755"/>
                <a:gd name="T25" fmla="*/ 457 h 2200"/>
                <a:gd name="T26" fmla="*/ 78 w 755"/>
                <a:gd name="T27" fmla="*/ 536 h 2200"/>
                <a:gd name="T28" fmla="*/ 38 w 755"/>
                <a:gd name="T29" fmla="*/ 595 h 2200"/>
                <a:gd name="T30" fmla="*/ 2 w 755"/>
                <a:gd name="T31" fmla="*/ 1187 h 2200"/>
                <a:gd name="T32" fmla="*/ 2 w 755"/>
                <a:gd name="T33" fmla="*/ 1188 h 2200"/>
                <a:gd name="T34" fmla="*/ 0 w 755"/>
                <a:gd name="T35" fmla="*/ 1229 h 2200"/>
                <a:gd name="T36" fmla="*/ 118 w 755"/>
                <a:gd name="T37" fmla="*/ 1383 h 2200"/>
                <a:gd name="T38" fmla="*/ 118 w 755"/>
                <a:gd name="T39" fmla="*/ 2200 h 2200"/>
                <a:gd name="T40" fmla="*/ 218 w 755"/>
                <a:gd name="T41" fmla="*/ 2200 h 2200"/>
                <a:gd name="T42" fmla="*/ 264 w 755"/>
                <a:gd name="T43" fmla="*/ 2159 h 2200"/>
                <a:gd name="T44" fmla="*/ 354 w 755"/>
                <a:gd name="T45" fmla="*/ 1389 h 2200"/>
                <a:gd name="T46" fmla="*/ 400 w 755"/>
                <a:gd name="T47" fmla="*/ 1389 h 2200"/>
                <a:gd name="T48" fmla="*/ 491 w 755"/>
                <a:gd name="T49" fmla="*/ 2159 h 2200"/>
                <a:gd name="T50" fmla="*/ 537 w 755"/>
                <a:gd name="T51" fmla="*/ 2200 h 2200"/>
                <a:gd name="T52" fmla="*/ 637 w 755"/>
                <a:gd name="T53" fmla="*/ 2200 h 2200"/>
                <a:gd name="T54" fmla="*/ 637 w 755"/>
                <a:gd name="T55" fmla="*/ 1383 h 2200"/>
                <a:gd name="T56" fmla="*/ 755 w 755"/>
                <a:gd name="T57" fmla="*/ 1229 h 2200"/>
                <a:gd name="T58" fmla="*/ 753 w 755"/>
                <a:gd name="T59" fmla="*/ 1188 h 2200"/>
                <a:gd name="T60" fmla="*/ 118 w 755"/>
                <a:gd name="T61" fmla="*/ 1340 h 2200"/>
                <a:gd name="T62" fmla="*/ 41 w 755"/>
                <a:gd name="T63" fmla="*/ 1230 h 2200"/>
                <a:gd name="T64" fmla="*/ 41 w 755"/>
                <a:gd name="T65" fmla="*/ 1229 h 2200"/>
                <a:gd name="T66" fmla="*/ 118 w 755"/>
                <a:gd name="T67" fmla="*/ 1229 h 2200"/>
                <a:gd name="T68" fmla="*/ 118 w 755"/>
                <a:gd name="T69" fmla="*/ 1340 h 2200"/>
                <a:gd name="T70" fmla="*/ 377 w 755"/>
                <a:gd name="T71" fmla="*/ 438 h 2200"/>
                <a:gd name="T72" fmla="*/ 233 w 755"/>
                <a:gd name="T73" fmla="*/ 293 h 2200"/>
                <a:gd name="T74" fmla="*/ 233 w 755"/>
                <a:gd name="T75" fmla="*/ 202 h 2200"/>
                <a:gd name="T76" fmla="*/ 302 w 755"/>
                <a:gd name="T77" fmla="*/ 133 h 2200"/>
                <a:gd name="T78" fmla="*/ 302 w 755"/>
                <a:gd name="T79" fmla="*/ 133 h 2200"/>
                <a:gd name="T80" fmla="*/ 377 w 755"/>
                <a:gd name="T81" fmla="*/ 141 h 2200"/>
                <a:gd name="T82" fmla="*/ 503 w 755"/>
                <a:gd name="T83" fmla="*/ 114 h 2200"/>
                <a:gd name="T84" fmla="*/ 522 w 755"/>
                <a:gd name="T85" fmla="*/ 186 h 2200"/>
                <a:gd name="T86" fmla="*/ 522 w 755"/>
                <a:gd name="T87" fmla="*/ 293 h 2200"/>
                <a:gd name="T88" fmla="*/ 377 w 755"/>
                <a:gd name="T89" fmla="*/ 438 h 2200"/>
                <a:gd name="T90" fmla="*/ 637 w 755"/>
                <a:gd name="T91" fmla="*/ 1340 h 2200"/>
                <a:gd name="T92" fmla="*/ 637 w 755"/>
                <a:gd name="T93" fmla="*/ 1229 h 2200"/>
                <a:gd name="T94" fmla="*/ 714 w 755"/>
                <a:gd name="T95" fmla="*/ 1229 h 2200"/>
                <a:gd name="T96" fmla="*/ 714 w 755"/>
                <a:gd name="T97" fmla="*/ 1230 h 2200"/>
                <a:gd name="T98" fmla="*/ 637 w 755"/>
                <a:gd name="T99" fmla="*/ 1340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55" h="2200">
                  <a:moveTo>
                    <a:pt x="753" y="1188"/>
                  </a:moveTo>
                  <a:cubicBezTo>
                    <a:pt x="753" y="1188"/>
                    <a:pt x="753" y="1188"/>
                    <a:pt x="753" y="1187"/>
                  </a:cubicBezTo>
                  <a:cubicBezTo>
                    <a:pt x="716" y="595"/>
                    <a:pt x="716" y="595"/>
                    <a:pt x="716" y="595"/>
                  </a:cubicBezTo>
                  <a:cubicBezTo>
                    <a:pt x="713" y="562"/>
                    <a:pt x="697" y="546"/>
                    <a:pt x="677" y="536"/>
                  </a:cubicBezTo>
                  <a:cubicBezTo>
                    <a:pt x="520" y="457"/>
                    <a:pt x="520" y="457"/>
                    <a:pt x="520" y="457"/>
                  </a:cubicBezTo>
                  <a:cubicBezTo>
                    <a:pt x="488" y="442"/>
                    <a:pt x="488" y="442"/>
                    <a:pt x="488" y="442"/>
                  </a:cubicBezTo>
                  <a:cubicBezTo>
                    <a:pt x="534" y="408"/>
                    <a:pt x="564" y="354"/>
                    <a:pt x="564" y="293"/>
                  </a:cubicBezTo>
                  <a:cubicBezTo>
                    <a:pt x="564" y="186"/>
                    <a:pt x="564" y="186"/>
                    <a:pt x="564" y="186"/>
                  </a:cubicBezTo>
                  <a:cubicBezTo>
                    <a:pt x="564" y="83"/>
                    <a:pt x="480" y="0"/>
                    <a:pt x="377" y="0"/>
                  </a:cubicBezTo>
                  <a:cubicBezTo>
                    <a:pt x="275" y="0"/>
                    <a:pt x="191" y="83"/>
                    <a:pt x="191" y="186"/>
                  </a:cubicBezTo>
                  <a:cubicBezTo>
                    <a:pt x="191" y="293"/>
                    <a:pt x="191" y="293"/>
                    <a:pt x="191" y="293"/>
                  </a:cubicBezTo>
                  <a:cubicBezTo>
                    <a:pt x="191" y="354"/>
                    <a:pt x="221" y="408"/>
                    <a:pt x="267" y="442"/>
                  </a:cubicBezTo>
                  <a:cubicBezTo>
                    <a:pt x="235" y="457"/>
                    <a:pt x="235" y="457"/>
                    <a:pt x="235" y="457"/>
                  </a:cubicBezTo>
                  <a:cubicBezTo>
                    <a:pt x="78" y="536"/>
                    <a:pt x="78" y="536"/>
                    <a:pt x="78" y="536"/>
                  </a:cubicBezTo>
                  <a:cubicBezTo>
                    <a:pt x="57" y="546"/>
                    <a:pt x="41" y="561"/>
                    <a:pt x="38" y="595"/>
                  </a:cubicBezTo>
                  <a:cubicBezTo>
                    <a:pt x="2" y="1187"/>
                    <a:pt x="2" y="1187"/>
                    <a:pt x="2" y="1187"/>
                  </a:cubicBezTo>
                  <a:cubicBezTo>
                    <a:pt x="2" y="1188"/>
                    <a:pt x="2" y="1188"/>
                    <a:pt x="2" y="1188"/>
                  </a:cubicBezTo>
                  <a:cubicBezTo>
                    <a:pt x="0" y="1229"/>
                    <a:pt x="0" y="1229"/>
                    <a:pt x="0" y="1229"/>
                  </a:cubicBezTo>
                  <a:cubicBezTo>
                    <a:pt x="0" y="1303"/>
                    <a:pt x="50" y="1365"/>
                    <a:pt x="118" y="1383"/>
                  </a:cubicBezTo>
                  <a:cubicBezTo>
                    <a:pt x="118" y="2200"/>
                    <a:pt x="118" y="2200"/>
                    <a:pt x="118" y="2200"/>
                  </a:cubicBezTo>
                  <a:cubicBezTo>
                    <a:pt x="218" y="2200"/>
                    <a:pt x="218" y="2200"/>
                    <a:pt x="218" y="2200"/>
                  </a:cubicBezTo>
                  <a:cubicBezTo>
                    <a:pt x="240" y="2200"/>
                    <a:pt x="261" y="2182"/>
                    <a:pt x="264" y="2159"/>
                  </a:cubicBezTo>
                  <a:cubicBezTo>
                    <a:pt x="354" y="1389"/>
                    <a:pt x="354" y="1389"/>
                    <a:pt x="354" y="1389"/>
                  </a:cubicBezTo>
                  <a:cubicBezTo>
                    <a:pt x="400" y="1389"/>
                    <a:pt x="400" y="1389"/>
                    <a:pt x="400" y="1389"/>
                  </a:cubicBezTo>
                  <a:cubicBezTo>
                    <a:pt x="491" y="2159"/>
                    <a:pt x="491" y="2159"/>
                    <a:pt x="491" y="2159"/>
                  </a:cubicBezTo>
                  <a:cubicBezTo>
                    <a:pt x="494" y="2182"/>
                    <a:pt x="515" y="2200"/>
                    <a:pt x="537" y="2200"/>
                  </a:cubicBezTo>
                  <a:cubicBezTo>
                    <a:pt x="637" y="2200"/>
                    <a:pt x="637" y="2200"/>
                    <a:pt x="637" y="2200"/>
                  </a:cubicBezTo>
                  <a:cubicBezTo>
                    <a:pt x="637" y="1383"/>
                    <a:pt x="637" y="1383"/>
                    <a:pt x="637" y="1383"/>
                  </a:cubicBezTo>
                  <a:cubicBezTo>
                    <a:pt x="705" y="1365"/>
                    <a:pt x="755" y="1303"/>
                    <a:pt x="755" y="1229"/>
                  </a:cubicBezTo>
                  <a:lnTo>
                    <a:pt x="753" y="1188"/>
                  </a:lnTo>
                  <a:close/>
                  <a:moveTo>
                    <a:pt x="118" y="1340"/>
                  </a:moveTo>
                  <a:cubicBezTo>
                    <a:pt x="73" y="1323"/>
                    <a:pt x="41" y="1280"/>
                    <a:pt x="41" y="1230"/>
                  </a:cubicBezTo>
                  <a:cubicBezTo>
                    <a:pt x="41" y="1229"/>
                    <a:pt x="41" y="1229"/>
                    <a:pt x="41" y="1229"/>
                  </a:cubicBezTo>
                  <a:cubicBezTo>
                    <a:pt x="118" y="1229"/>
                    <a:pt x="118" y="1229"/>
                    <a:pt x="118" y="1229"/>
                  </a:cubicBezTo>
                  <a:lnTo>
                    <a:pt x="118" y="1340"/>
                  </a:lnTo>
                  <a:close/>
                  <a:moveTo>
                    <a:pt x="377" y="438"/>
                  </a:moveTo>
                  <a:cubicBezTo>
                    <a:pt x="298" y="438"/>
                    <a:pt x="233" y="373"/>
                    <a:pt x="233" y="293"/>
                  </a:cubicBezTo>
                  <a:cubicBezTo>
                    <a:pt x="233" y="202"/>
                    <a:pt x="233" y="202"/>
                    <a:pt x="233" y="202"/>
                  </a:cubicBezTo>
                  <a:cubicBezTo>
                    <a:pt x="233" y="164"/>
                    <a:pt x="264" y="133"/>
                    <a:pt x="302" y="133"/>
                  </a:cubicBezTo>
                  <a:cubicBezTo>
                    <a:pt x="302" y="133"/>
                    <a:pt x="302" y="133"/>
                    <a:pt x="302" y="133"/>
                  </a:cubicBezTo>
                  <a:cubicBezTo>
                    <a:pt x="324" y="138"/>
                    <a:pt x="350" y="141"/>
                    <a:pt x="377" y="141"/>
                  </a:cubicBezTo>
                  <a:cubicBezTo>
                    <a:pt x="430" y="141"/>
                    <a:pt x="477" y="131"/>
                    <a:pt x="503" y="114"/>
                  </a:cubicBezTo>
                  <a:cubicBezTo>
                    <a:pt x="515" y="136"/>
                    <a:pt x="522" y="160"/>
                    <a:pt x="522" y="186"/>
                  </a:cubicBezTo>
                  <a:cubicBezTo>
                    <a:pt x="522" y="293"/>
                    <a:pt x="522" y="293"/>
                    <a:pt x="522" y="293"/>
                  </a:cubicBezTo>
                  <a:cubicBezTo>
                    <a:pt x="522" y="373"/>
                    <a:pt x="457" y="438"/>
                    <a:pt x="377" y="438"/>
                  </a:cubicBezTo>
                  <a:moveTo>
                    <a:pt x="637" y="1340"/>
                  </a:moveTo>
                  <a:cubicBezTo>
                    <a:pt x="637" y="1229"/>
                    <a:pt x="637" y="1229"/>
                    <a:pt x="637" y="1229"/>
                  </a:cubicBezTo>
                  <a:cubicBezTo>
                    <a:pt x="714" y="1229"/>
                    <a:pt x="714" y="1229"/>
                    <a:pt x="714" y="1229"/>
                  </a:cubicBezTo>
                  <a:cubicBezTo>
                    <a:pt x="714" y="1230"/>
                    <a:pt x="714" y="1230"/>
                    <a:pt x="714" y="1230"/>
                  </a:cubicBezTo>
                  <a:cubicBezTo>
                    <a:pt x="713" y="1280"/>
                    <a:pt x="681" y="1323"/>
                    <a:pt x="637" y="134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37" name="Freeform 1440">
              <a:extLst>
                <a:ext uri="{FF2B5EF4-FFF2-40B4-BE49-F238E27FC236}">
                  <a16:creationId xmlns:a16="http://schemas.microsoft.com/office/drawing/2014/main" id="{4F485680-3655-4DFF-9D8E-7F2E4BBABD0B}"/>
                </a:ext>
              </a:extLst>
            </p:cNvPr>
            <p:cNvSpPr>
              <a:spLocks noChangeAspect="1" noEditPoints="1"/>
            </p:cNvSpPr>
            <p:nvPr/>
          </p:nvSpPr>
          <p:spPr bwMode="auto">
            <a:xfrm>
              <a:off x="1188308" y="4160892"/>
              <a:ext cx="202227" cy="586228"/>
            </a:xfrm>
            <a:custGeom>
              <a:avLst/>
              <a:gdLst>
                <a:gd name="T0" fmla="*/ 753 w 755"/>
                <a:gd name="T1" fmla="*/ 1188 h 2200"/>
                <a:gd name="T2" fmla="*/ 753 w 755"/>
                <a:gd name="T3" fmla="*/ 1187 h 2200"/>
                <a:gd name="T4" fmla="*/ 716 w 755"/>
                <a:gd name="T5" fmla="*/ 595 h 2200"/>
                <a:gd name="T6" fmla="*/ 677 w 755"/>
                <a:gd name="T7" fmla="*/ 536 h 2200"/>
                <a:gd name="T8" fmla="*/ 520 w 755"/>
                <a:gd name="T9" fmla="*/ 457 h 2200"/>
                <a:gd name="T10" fmla="*/ 488 w 755"/>
                <a:gd name="T11" fmla="*/ 442 h 2200"/>
                <a:gd name="T12" fmla="*/ 564 w 755"/>
                <a:gd name="T13" fmla="*/ 293 h 2200"/>
                <a:gd name="T14" fmla="*/ 564 w 755"/>
                <a:gd name="T15" fmla="*/ 186 h 2200"/>
                <a:gd name="T16" fmla="*/ 377 w 755"/>
                <a:gd name="T17" fmla="*/ 0 h 2200"/>
                <a:gd name="T18" fmla="*/ 191 w 755"/>
                <a:gd name="T19" fmla="*/ 186 h 2200"/>
                <a:gd name="T20" fmla="*/ 191 w 755"/>
                <a:gd name="T21" fmla="*/ 293 h 2200"/>
                <a:gd name="T22" fmla="*/ 267 w 755"/>
                <a:gd name="T23" fmla="*/ 442 h 2200"/>
                <a:gd name="T24" fmla="*/ 235 w 755"/>
                <a:gd name="T25" fmla="*/ 457 h 2200"/>
                <a:gd name="T26" fmla="*/ 78 w 755"/>
                <a:gd name="T27" fmla="*/ 536 h 2200"/>
                <a:gd name="T28" fmla="*/ 38 w 755"/>
                <a:gd name="T29" fmla="*/ 595 h 2200"/>
                <a:gd name="T30" fmla="*/ 2 w 755"/>
                <a:gd name="T31" fmla="*/ 1187 h 2200"/>
                <a:gd name="T32" fmla="*/ 2 w 755"/>
                <a:gd name="T33" fmla="*/ 1188 h 2200"/>
                <a:gd name="T34" fmla="*/ 0 w 755"/>
                <a:gd name="T35" fmla="*/ 1229 h 2200"/>
                <a:gd name="T36" fmla="*/ 118 w 755"/>
                <a:gd name="T37" fmla="*/ 1383 h 2200"/>
                <a:gd name="T38" fmla="*/ 118 w 755"/>
                <a:gd name="T39" fmla="*/ 2200 h 2200"/>
                <a:gd name="T40" fmla="*/ 218 w 755"/>
                <a:gd name="T41" fmla="*/ 2200 h 2200"/>
                <a:gd name="T42" fmla="*/ 264 w 755"/>
                <a:gd name="T43" fmla="*/ 2159 h 2200"/>
                <a:gd name="T44" fmla="*/ 354 w 755"/>
                <a:gd name="T45" fmla="*/ 1389 h 2200"/>
                <a:gd name="T46" fmla="*/ 400 w 755"/>
                <a:gd name="T47" fmla="*/ 1389 h 2200"/>
                <a:gd name="T48" fmla="*/ 491 w 755"/>
                <a:gd name="T49" fmla="*/ 2159 h 2200"/>
                <a:gd name="T50" fmla="*/ 537 w 755"/>
                <a:gd name="T51" fmla="*/ 2200 h 2200"/>
                <a:gd name="T52" fmla="*/ 637 w 755"/>
                <a:gd name="T53" fmla="*/ 2200 h 2200"/>
                <a:gd name="T54" fmla="*/ 637 w 755"/>
                <a:gd name="T55" fmla="*/ 1383 h 2200"/>
                <a:gd name="T56" fmla="*/ 755 w 755"/>
                <a:gd name="T57" fmla="*/ 1229 h 2200"/>
                <a:gd name="T58" fmla="*/ 753 w 755"/>
                <a:gd name="T59" fmla="*/ 1188 h 2200"/>
                <a:gd name="T60" fmla="*/ 118 w 755"/>
                <a:gd name="T61" fmla="*/ 1340 h 2200"/>
                <a:gd name="T62" fmla="*/ 41 w 755"/>
                <a:gd name="T63" fmla="*/ 1230 h 2200"/>
                <a:gd name="T64" fmla="*/ 41 w 755"/>
                <a:gd name="T65" fmla="*/ 1229 h 2200"/>
                <a:gd name="T66" fmla="*/ 118 w 755"/>
                <a:gd name="T67" fmla="*/ 1229 h 2200"/>
                <a:gd name="T68" fmla="*/ 118 w 755"/>
                <a:gd name="T69" fmla="*/ 1340 h 2200"/>
                <a:gd name="T70" fmla="*/ 377 w 755"/>
                <a:gd name="T71" fmla="*/ 438 h 2200"/>
                <a:gd name="T72" fmla="*/ 233 w 755"/>
                <a:gd name="T73" fmla="*/ 293 h 2200"/>
                <a:gd name="T74" fmla="*/ 233 w 755"/>
                <a:gd name="T75" fmla="*/ 202 h 2200"/>
                <a:gd name="T76" fmla="*/ 302 w 755"/>
                <a:gd name="T77" fmla="*/ 133 h 2200"/>
                <a:gd name="T78" fmla="*/ 302 w 755"/>
                <a:gd name="T79" fmla="*/ 133 h 2200"/>
                <a:gd name="T80" fmla="*/ 377 w 755"/>
                <a:gd name="T81" fmla="*/ 141 h 2200"/>
                <a:gd name="T82" fmla="*/ 503 w 755"/>
                <a:gd name="T83" fmla="*/ 114 h 2200"/>
                <a:gd name="T84" fmla="*/ 522 w 755"/>
                <a:gd name="T85" fmla="*/ 186 h 2200"/>
                <a:gd name="T86" fmla="*/ 522 w 755"/>
                <a:gd name="T87" fmla="*/ 293 h 2200"/>
                <a:gd name="T88" fmla="*/ 377 w 755"/>
                <a:gd name="T89" fmla="*/ 438 h 2200"/>
                <a:gd name="T90" fmla="*/ 637 w 755"/>
                <a:gd name="T91" fmla="*/ 1340 h 2200"/>
                <a:gd name="T92" fmla="*/ 637 w 755"/>
                <a:gd name="T93" fmla="*/ 1229 h 2200"/>
                <a:gd name="T94" fmla="*/ 714 w 755"/>
                <a:gd name="T95" fmla="*/ 1229 h 2200"/>
                <a:gd name="T96" fmla="*/ 714 w 755"/>
                <a:gd name="T97" fmla="*/ 1230 h 2200"/>
                <a:gd name="T98" fmla="*/ 637 w 755"/>
                <a:gd name="T99" fmla="*/ 1340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55" h="2200">
                  <a:moveTo>
                    <a:pt x="753" y="1188"/>
                  </a:moveTo>
                  <a:cubicBezTo>
                    <a:pt x="753" y="1188"/>
                    <a:pt x="753" y="1188"/>
                    <a:pt x="753" y="1187"/>
                  </a:cubicBezTo>
                  <a:cubicBezTo>
                    <a:pt x="716" y="595"/>
                    <a:pt x="716" y="595"/>
                    <a:pt x="716" y="595"/>
                  </a:cubicBezTo>
                  <a:cubicBezTo>
                    <a:pt x="713" y="562"/>
                    <a:pt x="697" y="546"/>
                    <a:pt x="677" y="536"/>
                  </a:cubicBezTo>
                  <a:cubicBezTo>
                    <a:pt x="520" y="457"/>
                    <a:pt x="520" y="457"/>
                    <a:pt x="520" y="457"/>
                  </a:cubicBezTo>
                  <a:cubicBezTo>
                    <a:pt x="488" y="442"/>
                    <a:pt x="488" y="442"/>
                    <a:pt x="488" y="442"/>
                  </a:cubicBezTo>
                  <a:cubicBezTo>
                    <a:pt x="534" y="408"/>
                    <a:pt x="564" y="354"/>
                    <a:pt x="564" y="293"/>
                  </a:cubicBezTo>
                  <a:cubicBezTo>
                    <a:pt x="564" y="186"/>
                    <a:pt x="564" y="186"/>
                    <a:pt x="564" y="186"/>
                  </a:cubicBezTo>
                  <a:cubicBezTo>
                    <a:pt x="564" y="83"/>
                    <a:pt x="480" y="0"/>
                    <a:pt x="377" y="0"/>
                  </a:cubicBezTo>
                  <a:cubicBezTo>
                    <a:pt x="275" y="0"/>
                    <a:pt x="191" y="83"/>
                    <a:pt x="191" y="186"/>
                  </a:cubicBezTo>
                  <a:cubicBezTo>
                    <a:pt x="191" y="293"/>
                    <a:pt x="191" y="293"/>
                    <a:pt x="191" y="293"/>
                  </a:cubicBezTo>
                  <a:cubicBezTo>
                    <a:pt x="191" y="354"/>
                    <a:pt x="221" y="408"/>
                    <a:pt x="267" y="442"/>
                  </a:cubicBezTo>
                  <a:cubicBezTo>
                    <a:pt x="235" y="457"/>
                    <a:pt x="235" y="457"/>
                    <a:pt x="235" y="457"/>
                  </a:cubicBezTo>
                  <a:cubicBezTo>
                    <a:pt x="78" y="536"/>
                    <a:pt x="78" y="536"/>
                    <a:pt x="78" y="536"/>
                  </a:cubicBezTo>
                  <a:cubicBezTo>
                    <a:pt x="57" y="546"/>
                    <a:pt x="41" y="561"/>
                    <a:pt x="38" y="595"/>
                  </a:cubicBezTo>
                  <a:cubicBezTo>
                    <a:pt x="2" y="1187"/>
                    <a:pt x="2" y="1187"/>
                    <a:pt x="2" y="1187"/>
                  </a:cubicBezTo>
                  <a:cubicBezTo>
                    <a:pt x="2" y="1188"/>
                    <a:pt x="2" y="1188"/>
                    <a:pt x="2" y="1188"/>
                  </a:cubicBezTo>
                  <a:cubicBezTo>
                    <a:pt x="0" y="1229"/>
                    <a:pt x="0" y="1229"/>
                    <a:pt x="0" y="1229"/>
                  </a:cubicBezTo>
                  <a:cubicBezTo>
                    <a:pt x="0" y="1303"/>
                    <a:pt x="50" y="1365"/>
                    <a:pt x="118" y="1383"/>
                  </a:cubicBezTo>
                  <a:cubicBezTo>
                    <a:pt x="118" y="2200"/>
                    <a:pt x="118" y="2200"/>
                    <a:pt x="118" y="2200"/>
                  </a:cubicBezTo>
                  <a:cubicBezTo>
                    <a:pt x="218" y="2200"/>
                    <a:pt x="218" y="2200"/>
                    <a:pt x="218" y="2200"/>
                  </a:cubicBezTo>
                  <a:cubicBezTo>
                    <a:pt x="240" y="2200"/>
                    <a:pt x="261" y="2182"/>
                    <a:pt x="264" y="2159"/>
                  </a:cubicBezTo>
                  <a:cubicBezTo>
                    <a:pt x="354" y="1389"/>
                    <a:pt x="354" y="1389"/>
                    <a:pt x="354" y="1389"/>
                  </a:cubicBezTo>
                  <a:cubicBezTo>
                    <a:pt x="400" y="1389"/>
                    <a:pt x="400" y="1389"/>
                    <a:pt x="400" y="1389"/>
                  </a:cubicBezTo>
                  <a:cubicBezTo>
                    <a:pt x="491" y="2159"/>
                    <a:pt x="491" y="2159"/>
                    <a:pt x="491" y="2159"/>
                  </a:cubicBezTo>
                  <a:cubicBezTo>
                    <a:pt x="494" y="2182"/>
                    <a:pt x="515" y="2200"/>
                    <a:pt x="537" y="2200"/>
                  </a:cubicBezTo>
                  <a:cubicBezTo>
                    <a:pt x="637" y="2200"/>
                    <a:pt x="637" y="2200"/>
                    <a:pt x="637" y="2200"/>
                  </a:cubicBezTo>
                  <a:cubicBezTo>
                    <a:pt x="637" y="1383"/>
                    <a:pt x="637" y="1383"/>
                    <a:pt x="637" y="1383"/>
                  </a:cubicBezTo>
                  <a:cubicBezTo>
                    <a:pt x="705" y="1365"/>
                    <a:pt x="755" y="1303"/>
                    <a:pt x="755" y="1229"/>
                  </a:cubicBezTo>
                  <a:lnTo>
                    <a:pt x="753" y="1188"/>
                  </a:lnTo>
                  <a:close/>
                  <a:moveTo>
                    <a:pt x="118" y="1340"/>
                  </a:moveTo>
                  <a:cubicBezTo>
                    <a:pt x="73" y="1323"/>
                    <a:pt x="41" y="1280"/>
                    <a:pt x="41" y="1230"/>
                  </a:cubicBezTo>
                  <a:cubicBezTo>
                    <a:pt x="41" y="1229"/>
                    <a:pt x="41" y="1229"/>
                    <a:pt x="41" y="1229"/>
                  </a:cubicBezTo>
                  <a:cubicBezTo>
                    <a:pt x="118" y="1229"/>
                    <a:pt x="118" y="1229"/>
                    <a:pt x="118" y="1229"/>
                  </a:cubicBezTo>
                  <a:lnTo>
                    <a:pt x="118" y="1340"/>
                  </a:lnTo>
                  <a:close/>
                  <a:moveTo>
                    <a:pt x="377" y="438"/>
                  </a:moveTo>
                  <a:cubicBezTo>
                    <a:pt x="298" y="438"/>
                    <a:pt x="233" y="373"/>
                    <a:pt x="233" y="293"/>
                  </a:cubicBezTo>
                  <a:cubicBezTo>
                    <a:pt x="233" y="202"/>
                    <a:pt x="233" y="202"/>
                    <a:pt x="233" y="202"/>
                  </a:cubicBezTo>
                  <a:cubicBezTo>
                    <a:pt x="233" y="164"/>
                    <a:pt x="264" y="133"/>
                    <a:pt x="302" y="133"/>
                  </a:cubicBezTo>
                  <a:cubicBezTo>
                    <a:pt x="302" y="133"/>
                    <a:pt x="302" y="133"/>
                    <a:pt x="302" y="133"/>
                  </a:cubicBezTo>
                  <a:cubicBezTo>
                    <a:pt x="324" y="138"/>
                    <a:pt x="350" y="141"/>
                    <a:pt x="377" y="141"/>
                  </a:cubicBezTo>
                  <a:cubicBezTo>
                    <a:pt x="430" y="141"/>
                    <a:pt x="477" y="131"/>
                    <a:pt x="503" y="114"/>
                  </a:cubicBezTo>
                  <a:cubicBezTo>
                    <a:pt x="515" y="136"/>
                    <a:pt x="522" y="160"/>
                    <a:pt x="522" y="186"/>
                  </a:cubicBezTo>
                  <a:cubicBezTo>
                    <a:pt x="522" y="293"/>
                    <a:pt x="522" y="293"/>
                    <a:pt x="522" y="293"/>
                  </a:cubicBezTo>
                  <a:cubicBezTo>
                    <a:pt x="522" y="373"/>
                    <a:pt x="457" y="438"/>
                    <a:pt x="377" y="438"/>
                  </a:cubicBezTo>
                  <a:moveTo>
                    <a:pt x="637" y="1340"/>
                  </a:moveTo>
                  <a:cubicBezTo>
                    <a:pt x="637" y="1229"/>
                    <a:pt x="637" y="1229"/>
                    <a:pt x="637" y="1229"/>
                  </a:cubicBezTo>
                  <a:cubicBezTo>
                    <a:pt x="714" y="1229"/>
                    <a:pt x="714" y="1229"/>
                    <a:pt x="714" y="1229"/>
                  </a:cubicBezTo>
                  <a:cubicBezTo>
                    <a:pt x="714" y="1230"/>
                    <a:pt x="714" y="1230"/>
                    <a:pt x="714" y="1230"/>
                  </a:cubicBezTo>
                  <a:cubicBezTo>
                    <a:pt x="713" y="1280"/>
                    <a:pt x="681" y="1323"/>
                    <a:pt x="637" y="1340"/>
                  </a:cubicBezTo>
                </a:path>
              </a:pathLst>
            </a:custGeom>
            <a:solidFill>
              <a:srgbClr val="544F4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38" name="Freeform 1440">
              <a:extLst>
                <a:ext uri="{FF2B5EF4-FFF2-40B4-BE49-F238E27FC236}">
                  <a16:creationId xmlns:a16="http://schemas.microsoft.com/office/drawing/2014/main" id="{4F485680-3655-4DFF-9D8E-7F2E4BBABD0B}"/>
                </a:ext>
              </a:extLst>
            </p:cNvPr>
            <p:cNvSpPr>
              <a:spLocks noChangeAspect="1" noEditPoints="1"/>
            </p:cNvSpPr>
            <p:nvPr/>
          </p:nvSpPr>
          <p:spPr bwMode="auto">
            <a:xfrm>
              <a:off x="850170" y="4795040"/>
              <a:ext cx="202227" cy="586228"/>
            </a:xfrm>
            <a:custGeom>
              <a:avLst/>
              <a:gdLst>
                <a:gd name="T0" fmla="*/ 753 w 755"/>
                <a:gd name="T1" fmla="*/ 1188 h 2200"/>
                <a:gd name="T2" fmla="*/ 753 w 755"/>
                <a:gd name="T3" fmla="*/ 1187 h 2200"/>
                <a:gd name="T4" fmla="*/ 716 w 755"/>
                <a:gd name="T5" fmla="*/ 595 h 2200"/>
                <a:gd name="T6" fmla="*/ 677 w 755"/>
                <a:gd name="T7" fmla="*/ 536 h 2200"/>
                <a:gd name="T8" fmla="*/ 520 w 755"/>
                <a:gd name="T9" fmla="*/ 457 h 2200"/>
                <a:gd name="T10" fmla="*/ 488 w 755"/>
                <a:gd name="T11" fmla="*/ 442 h 2200"/>
                <a:gd name="T12" fmla="*/ 564 w 755"/>
                <a:gd name="T13" fmla="*/ 293 h 2200"/>
                <a:gd name="T14" fmla="*/ 564 w 755"/>
                <a:gd name="T15" fmla="*/ 186 h 2200"/>
                <a:gd name="T16" fmla="*/ 377 w 755"/>
                <a:gd name="T17" fmla="*/ 0 h 2200"/>
                <a:gd name="T18" fmla="*/ 191 w 755"/>
                <a:gd name="T19" fmla="*/ 186 h 2200"/>
                <a:gd name="T20" fmla="*/ 191 w 755"/>
                <a:gd name="T21" fmla="*/ 293 h 2200"/>
                <a:gd name="T22" fmla="*/ 267 w 755"/>
                <a:gd name="T23" fmla="*/ 442 h 2200"/>
                <a:gd name="T24" fmla="*/ 235 w 755"/>
                <a:gd name="T25" fmla="*/ 457 h 2200"/>
                <a:gd name="T26" fmla="*/ 78 w 755"/>
                <a:gd name="T27" fmla="*/ 536 h 2200"/>
                <a:gd name="T28" fmla="*/ 38 w 755"/>
                <a:gd name="T29" fmla="*/ 595 h 2200"/>
                <a:gd name="T30" fmla="*/ 2 w 755"/>
                <a:gd name="T31" fmla="*/ 1187 h 2200"/>
                <a:gd name="T32" fmla="*/ 2 w 755"/>
                <a:gd name="T33" fmla="*/ 1188 h 2200"/>
                <a:gd name="T34" fmla="*/ 0 w 755"/>
                <a:gd name="T35" fmla="*/ 1229 h 2200"/>
                <a:gd name="T36" fmla="*/ 118 w 755"/>
                <a:gd name="T37" fmla="*/ 1383 h 2200"/>
                <a:gd name="T38" fmla="*/ 118 w 755"/>
                <a:gd name="T39" fmla="*/ 2200 h 2200"/>
                <a:gd name="T40" fmla="*/ 218 w 755"/>
                <a:gd name="T41" fmla="*/ 2200 h 2200"/>
                <a:gd name="T42" fmla="*/ 264 w 755"/>
                <a:gd name="T43" fmla="*/ 2159 h 2200"/>
                <a:gd name="T44" fmla="*/ 354 w 755"/>
                <a:gd name="T45" fmla="*/ 1389 h 2200"/>
                <a:gd name="T46" fmla="*/ 400 w 755"/>
                <a:gd name="T47" fmla="*/ 1389 h 2200"/>
                <a:gd name="T48" fmla="*/ 491 w 755"/>
                <a:gd name="T49" fmla="*/ 2159 h 2200"/>
                <a:gd name="T50" fmla="*/ 537 w 755"/>
                <a:gd name="T51" fmla="*/ 2200 h 2200"/>
                <a:gd name="T52" fmla="*/ 637 w 755"/>
                <a:gd name="T53" fmla="*/ 2200 h 2200"/>
                <a:gd name="T54" fmla="*/ 637 w 755"/>
                <a:gd name="T55" fmla="*/ 1383 h 2200"/>
                <a:gd name="T56" fmla="*/ 755 w 755"/>
                <a:gd name="T57" fmla="*/ 1229 h 2200"/>
                <a:gd name="T58" fmla="*/ 753 w 755"/>
                <a:gd name="T59" fmla="*/ 1188 h 2200"/>
                <a:gd name="T60" fmla="*/ 118 w 755"/>
                <a:gd name="T61" fmla="*/ 1340 h 2200"/>
                <a:gd name="T62" fmla="*/ 41 w 755"/>
                <a:gd name="T63" fmla="*/ 1230 h 2200"/>
                <a:gd name="T64" fmla="*/ 41 w 755"/>
                <a:gd name="T65" fmla="*/ 1229 h 2200"/>
                <a:gd name="T66" fmla="*/ 118 w 755"/>
                <a:gd name="T67" fmla="*/ 1229 h 2200"/>
                <a:gd name="T68" fmla="*/ 118 w 755"/>
                <a:gd name="T69" fmla="*/ 1340 h 2200"/>
                <a:gd name="T70" fmla="*/ 377 w 755"/>
                <a:gd name="T71" fmla="*/ 438 h 2200"/>
                <a:gd name="T72" fmla="*/ 233 w 755"/>
                <a:gd name="T73" fmla="*/ 293 h 2200"/>
                <a:gd name="T74" fmla="*/ 233 w 755"/>
                <a:gd name="T75" fmla="*/ 202 h 2200"/>
                <a:gd name="T76" fmla="*/ 302 w 755"/>
                <a:gd name="T77" fmla="*/ 133 h 2200"/>
                <a:gd name="T78" fmla="*/ 302 w 755"/>
                <a:gd name="T79" fmla="*/ 133 h 2200"/>
                <a:gd name="T80" fmla="*/ 377 w 755"/>
                <a:gd name="T81" fmla="*/ 141 h 2200"/>
                <a:gd name="T82" fmla="*/ 503 w 755"/>
                <a:gd name="T83" fmla="*/ 114 h 2200"/>
                <a:gd name="T84" fmla="*/ 522 w 755"/>
                <a:gd name="T85" fmla="*/ 186 h 2200"/>
                <a:gd name="T86" fmla="*/ 522 w 755"/>
                <a:gd name="T87" fmla="*/ 293 h 2200"/>
                <a:gd name="T88" fmla="*/ 377 w 755"/>
                <a:gd name="T89" fmla="*/ 438 h 2200"/>
                <a:gd name="T90" fmla="*/ 637 w 755"/>
                <a:gd name="T91" fmla="*/ 1340 h 2200"/>
                <a:gd name="T92" fmla="*/ 637 w 755"/>
                <a:gd name="T93" fmla="*/ 1229 h 2200"/>
                <a:gd name="T94" fmla="*/ 714 w 755"/>
                <a:gd name="T95" fmla="*/ 1229 h 2200"/>
                <a:gd name="T96" fmla="*/ 714 w 755"/>
                <a:gd name="T97" fmla="*/ 1230 h 2200"/>
                <a:gd name="T98" fmla="*/ 637 w 755"/>
                <a:gd name="T99" fmla="*/ 1340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55" h="2200">
                  <a:moveTo>
                    <a:pt x="753" y="1188"/>
                  </a:moveTo>
                  <a:cubicBezTo>
                    <a:pt x="753" y="1188"/>
                    <a:pt x="753" y="1188"/>
                    <a:pt x="753" y="1187"/>
                  </a:cubicBezTo>
                  <a:cubicBezTo>
                    <a:pt x="716" y="595"/>
                    <a:pt x="716" y="595"/>
                    <a:pt x="716" y="595"/>
                  </a:cubicBezTo>
                  <a:cubicBezTo>
                    <a:pt x="713" y="562"/>
                    <a:pt x="697" y="546"/>
                    <a:pt x="677" y="536"/>
                  </a:cubicBezTo>
                  <a:cubicBezTo>
                    <a:pt x="520" y="457"/>
                    <a:pt x="520" y="457"/>
                    <a:pt x="520" y="457"/>
                  </a:cubicBezTo>
                  <a:cubicBezTo>
                    <a:pt x="488" y="442"/>
                    <a:pt x="488" y="442"/>
                    <a:pt x="488" y="442"/>
                  </a:cubicBezTo>
                  <a:cubicBezTo>
                    <a:pt x="534" y="408"/>
                    <a:pt x="564" y="354"/>
                    <a:pt x="564" y="293"/>
                  </a:cubicBezTo>
                  <a:cubicBezTo>
                    <a:pt x="564" y="186"/>
                    <a:pt x="564" y="186"/>
                    <a:pt x="564" y="186"/>
                  </a:cubicBezTo>
                  <a:cubicBezTo>
                    <a:pt x="564" y="83"/>
                    <a:pt x="480" y="0"/>
                    <a:pt x="377" y="0"/>
                  </a:cubicBezTo>
                  <a:cubicBezTo>
                    <a:pt x="275" y="0"/>
                    <a:pt x="191" y="83"/>
                    <a:pt x="191" y="186"/>
                  </a:cubicBezTo>
                  <a:cubicBezTo>
                    <a:pt x="191" y="293"/>
                    <a:pt x="191" y="293"/>
                    <a:pt x="191" y="293"/>
                  </a:cubicBezTo>
                  <a:cubicBezTo>
                    <a:pt x="191" y="354"/>
                    <a:pt x="221" y="408"/>
                    <a:pt x="267" y="442"/>
                  </a:cubicBezTo>
                  <a:cubicBezTo>
                    <a:pt x="235" y="457"/>
                    <a:pt x="235" y="457"/>
                    <a:pt x="235" y="457"/>
                  </a:cubicBezTo>
                  <a:cubicBezTo>
                    <a:pt x="78" y="536"/>
                    <a:pt x="78" y="536"/>
                    <a:pt x="78" y="536"/>
                  </a:cubicBezTo>
                  <a:cubicBezTo>
                    <a:pt x="57" y="546"/>
                    <a:pt x="41" y="561"/>
                    <a:pt x="38" y="595"/>
                  </a:cubicBezTo>
                  <a:cubicBezTo>
                    <a:pt x="2" y="1187"/>
                    <a:pt x="2" y="1187"/>
                    <a:pt x="2" y="1187"/>
                  </a:cubicBezTo>
                  <a:cubicBezTo>
                    <a:pt x="2" y="1188"/>
                    <a:pt x="2" y="1188"/>
                    <a:pt x="2" y="1188"/>
                  </a:cubicBezTo>
                  <a:cubicBezTo>
                    <a:pt x="0" y="1229"/>
                    <a:pt x="0" y="1229"/>
                    <a:pt x="0" y="1229"/>
                  </a:cubicBezTo>
                  <a:cubicBezTo>
                    <a:pt x="0" y="1303"/>
                    <a:pt x="50" y="1365"/>
                    <a:pt x="118" y="1383"/>
                  </a:cubicBezTo>
                  <a:cubicBezTo>
                    <a:pt x="118" y="2200"/>
                    <a:pt x="118" y="2200"/>
                    <a:pt x="118" y="2200"/>
                  </a:cubicBezTo>
                  <a:cubicBezTo>
                    <a:pt x="218" y="2200"/>
                    <a:pt x="218" y="2200"/>
                    <a:pt x="218" y="2200"/>
                  </a:cubicBezTo>
                  <a:cubicBezTo>
                    <a:pt x="240" y="2200"/>
                    <a:pt x="261" y="2182"/>
                    <a:pt x="264" y="2159"/>
                  </a:cubicBezTo>
                  <a:cubicBezTo>
                    <a:pt x="354" y="1389"/>
                    <a:pt x="354" y="1389"/>
                    <a:pt x="354" y="1389"/>
                  </a:cubicBezTo>
                  <a:cubicBezTo>
                    <a:pt x="400" y="1389"/>
                    <a:pt x="400" y="1389"/>
                    <a:pt x="400" y="1389"/>
                  </a:cubicBezTo>
                  <a:cubicBezTo>
                    <a:pt x="491" y="2159"/>
                    <a:pt x="491" y="2159"/>
                    <a:pt x="491" y="2159"/>
                  </a:cubicBezTo>
                  <a:cubicBezTo>
                    <a:pt x="494" y="2182"/>
                    <a:pt x="515" y="2200"/>
                    <a:pt x="537" y="2200"/>
                  </a:cubicBezTo>
                  <a:cubicBezTo>
                    <a:pt x="637" y="2200"/>
                    <a:pt x="637" y="2200"/>
                    <a:pt x="637" y="2200"/>
                  </a:cubicBezTo>
                  <a:cubicBezTo>
                    <a:pt x="637" y="1383"/>
                    <a:pt x="637" y="1383"/>
                    <a:pt x="637" y="1383"/>
                  </a:cubicBezTo>
                  <a:cubicBezTo>
                    <a:pt x="705" y="1365"/>
                    <a:pt x="755" y="1303"/>
                    <a:pt x="755" y="1229"/>
                  </a:cubicBezTo>
                  <a:lnTo>
                    <a:pt x="753" y="1188"/>
                  </a:lnTo>
                  <a:close/>
                  <a:moveTo>
                    <a:pt x="118" y="1340"/>
                  </a:moveTo>
                  <a:cubicBezTo>
                    <a:pt x="73" y="1323"/>
                    <a:pt x="41" y="1280"/>
                    <a:pt x="41" y="1230"/>
                  </a:cubicBezTo>
                  <a:cubicBezTo>
                    <a:pt x="41" y="1229"/>
                    <a:pt x="41" y="1229"/>
                    <a:pt x="41" y="1229"/>
                  </a:cubicBezTo>
                  <a:cubicBezTo>
                    <a:pt x="118" y="1229"/>
                    <a:pt x="118" y="1229"/>
                    <a:pt x="118" y="1229"/>
                  </a:cubicBezTo>
                  <a:lnTo>
                    <a:pt x="118" y="1340"/>
                  </a:lnTo>
                  <a:close/>
                  <a:moveTo>
                    <a:pt x="377" y="438"/>
                  </a:moveTo>
                  <a:cubicBezTo>
                    <a:pt x="298" y="438"/>
                    <a:pt x="233" y="373"/>
                    <a:pt x="233" y="293"/>
                  </a:cubicBezTo>
                  <a:cubicBezTo>
                    <a:pt x="233" y="202"/>
                    <a:pt x="233" y="202"/>
                    <a:pt x="233" y="202"/>
                  </a:cubicBezTo>
                  <a:cubicBezTo>
                    <a:pt x="233" y="164"/>
                    <a:pt x="264" y="133"/>
                    <a:pt x="302" y="133"/>
                  </a:cubicBezTo>
                  <a:cubicBezTo>
                    <a:pt x="302" y="133"/>
                    <a:pt x="302" y="133"/>
                    <a:pt x="302" y="133"/>
                  </a:cubicBezTo>
                  <a:cubicBezTo>
                    <a:pt x="324" y="138"/>
                    <a:pt x="350" y="141"/>
                    <a:pt x="377" y="141"/>
                  </a:cubicBezTo>
                  <a:cubicBezTo>
                    <a:pt x="430" y="141"/>
                    <a:pt x="477" y="131"/>
                    <a:pt x="503" y="114"/>
                  </a:cubicBezTo>
                  <a:cubicBezTo>
                    <a:pt x="515" y="136"/>
                    <a:pt x="522" y="160"/>
                    <a:pt x="522" y="186"/>
                  </a:cubicBezTo>
                  <a:cubicBezTo>
                    <a:pt x="522" y="293"/>
                    <a:pt x="522" y="293"/>
                    <a:pt x="522" y="293"/>
                  </a:cubicBezTo>
                  <a:cubicBezTo>
                    <a:pt x="522" y="373"/>
                    <a:pt x="457" y="438"/>
                    <a:pt x="377" y="438"/>
                  </a:cubicBezTo>
                  <a:moveTo>
                    <a:pt x="637" y="1340"/>
                  </a:moveTo>
                  <a:cubicBezTo>
                    <a:pt x="637" y="1229"/>
                    <a:pt x="637" y="1229"/>
                    <a:pt x="637" y="1229"/>
                  </a:cubicBezTo>
                  <a:cubicBezTo>
                    <a:pt x="714" y="1229"/>
                    <a:pt x="714" y="1229"/>
                    <a:pt x="714" y="1229"/>
                  </a:cubicBezTo>
                  <a:cubicBezTo>
                    <a:pt x="714" y="1230"/>
                    <a:pt x="714" y="1230"/>
                    <a:pt x="714" y="1230"/>
                  </a:cubicBezTo>
                  <a:cubicBezTo>
                    <a:pt x="713" y="1280"/>
                    <a:pt x="681" y="1323"/>
                    <a:pt x="637" y="1340"/>
                  </a:cubicBezTo>
                </a:path>
              </a:pathLst>
            </a:custGeom>
            <a:solidFill>
              <a:srgbClr val="544F4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39" name="Freeform 1440">
              <a:extLst>
                <a:ext uri="{FF2B5EF4-FFF2-40B4-BE49-F238E27FC236}">
                  <a16:creationId xmlns:a16="http://schemas.microsoft.com/office/drawing/2014/main" id="{4F485680-3655-4DFF-9D8E-7F2E4BBABD0B}"/>
                </a:ext>
              </a:extLst>
            </p:cNvPr>
            <p:cNvSpPr>
              <a:spLocks noChangeAspect="1" noEditPoints="1"/>
            </p:cNvSpPr>
            <p:nvPr/>
          </p:nvSpPr>
          <p:spPr bwMode="auto">
            <a:xfrm>
              <a:off x="1188308" y="4795040"/>
              <a:ext cx="202227" cy="586228"/>
            </a:xfrm>
            <a:custGeom>
              <a:avLst/>
              <a:gdLst>
                <a:gd name="T0" fmla="*/ 753 w 755"/>
                <a:gd name="T1" fmla="*/ 1188 h 2200"/>
                <a:gd name="T2" fmla="*/ 753 w 755"/>
                <a:gd name="T3" fmla="*/ 1187 h 2200"/>
                <a:gd name="T4" fmla="*/ 716 w 755"/>
                <a:gd name="T5" fmla="*/ 595 h 2200"/>
                <a:gd name="T6" fmla="*/ 677 w 755"/>
                <a:gd name="T7" fmla="*/ 536 h 2200"/>
                <a:gd name="T8" fmla="*/ 520 w 755"/>
                <a:gd name="T9" fmla="*/ 457 h 2200"/>
                <a:gd name="T10" fmla="*/ 488 w 755"/>
                <a:gd name="T11" fmla="*/ 442 h 2200"/>
                <a:gd name="T12" fmla="*/ 564 w 755"/>
                <a:gd name="T13" fmla="*/ 293 h 2200"/>
                <a:gd name="T14" fmla="*/ 564 w 755"/>
                <a:gd name="T15" fmla="*/ 186 h 2200"/>
                <a:gd name="T16" fmla="*/ 377 w 755"/>
                <a:gd name="T17" fmla="*/ 0 h 2200"/>
                <a:gd name="T18" fmla="*/ 191 w 755"/>
                <a:gd name="T19" fmla="*/ 186 h 2200"/>
                <a:gd name="T20" fmla="*/ 191 w 755"/>
                <a:gd name="T21" fmla="*/ 293 h 2200"/>
                <a:gd name="T22" fmla="*/ 267 w 755"/>
                <a:gd name="T23" fmla="*/ 442 h 2200"/>
                <a:gd name="T24" fmla="*/ 235 w 755"/>
                <a:gd name="T25" fmla="*/ 457 h 2200"/>
                <a:gd name="T26" fmla="*/ 78 w 755"/>
                <a:gd name="T27" fmla="*/ 536 h 2200"/>
                <a:gd name="T28" fmla="*/ 38 w 755"/>
                <a:gd name="T29" fmla="*/ 595 h 2200"/>
                <a:gd name="T30" fmla="*/ 2 w 755"/>
                <a:gd name="T31" fmla="*/ 1187 h 2200"/>
                <a:gd name="T32" fmla="*/ 2 w 755"/>
                <a:gd name="T33" fmla="*/ 1188 h 2200"/>
                <a:gd name="T34" fmla="*/ 0 w 755"/>
                <a:gd name="T35" fmla="*/ 1229 h 2200"/>
                <a:gd name="T36" fmla="*/ 118 w 755"/>
                <a:gd name="T37" fmla="*/ 1383 h 2200"/>
                <a:gd name="T38" fmla="*/ 118 w 755"/>
                <a:gd name="T39" fmla="*/ 2200 h 2200"/>
                <a:gd name="T40" fmla="*/ 218 w 755"/>
                <a:gd name="T41" fmla="*/ 2200 h 2200"/>
                <a:gd name="T42" fmla="*/ 264 w 755"/>
                <a:gd name="T43" fmla="*/ 2159 h 2200"/>
                <a:gd name="T44" fmla="*/ 354 w 755"/>
                <a:gd name="T45" fmla="*/ 1389 h 2200"/>
                <a:gd name="T46" fmla="*/ 400 w 755"/>
                <a:gd name="T47" fmla="*/ 1389 h 2200"/>
                <a:gd name="T48" fmla="*/ 491 w 755"/>
                <a:gd name="T49" fmla="*/ 2159 h 2200"/>
                <a:gd name="T50" fmla="*/ 537 w 755"/>
                <a:gd name="T51" fmla="*/ 2200 h 2200"/>
                <a:gd name="T52" fmla="*/ 637 w 755"/>
                <a:gd name="T53" fmla="*/ 2200 h 2200"/>
                <a:gd name="T54" fmla="*/ 637 w 755"/>
                <a:gd name="T55" fmla="*/ 1383 h 2200"/>
                <a:gd name="T56" fmla="*/ 755 w 755"/>
                <a:gd name="T57" fmla="*/ 1229 h 2200"/>
                <a:gd name="T58" fmla="*/ 753 w 755"/>
                <a:gd name="T59" fmla="*/ 1188 h 2200"/>
                <a:gd name="T60" fmla="*/ 118 w 755"/>
                <a:gd name="T61" fmla="*/ 1340 h 2200"/>
                <a:gd name="T62" fmla="*/ 41 w 755"/>
                <a:gd name="T63" fmla="*/ 1230 h 2200"/>
                <a:gd name="T64" fmla="*/ 41 w 755"/>
                <a:gd name="T65" fmla="*/ 1229 h 2200"/>
                <a:gd name="T66" fmla="*/ 118 w 755"/>
                <a:gd name="T67" fmla="*/ 1229 h 2200"/>
                <a:gd name="T68" fmla="*/ 118 w 755"/>
                <a:gd name="T69" fmla="*/ 1340 h 2200"/>
                <a:gd name="T70" fmla="*/ 377 w 755"/>
                <a:gd name="T71" fmla="*/ 438 h 2200"/>
                <a:gd name="T72" fmla="*/ 233 w 755"/>
                <a:gd name="T73" fmla="*/ 293 h 2200"/>
                <a:gd name="T74" fmla="*/ 233 w 755"/>
                <a:gd name="T75" fmla="*/ 202 h 2200"/>
                <a:gd name="T76" fmla="*/ 302 w 755"/>
                <a:gd name="T77" fmla="*/ 133 h 2200"/>
                <a:gd name="T78" fmla="*/ 302 w 755"/>
                <a:gd name="T79" fmla="*/ 133 h 2200"/>
                <a:gd name="T80" fmla="*/ 377 w 755"/>
                <a:gd name="T81" fmla="*/ 141 h 2200"/>
                <a:gd name="T82" fmla="*/ 503 w 755"/>
                <a:gd name="T83" fmla="*/ 114 h 2200"/>
                <a:gd name="T84" fmla="*/ 522 w 755"/>
                <a:gd name="T85" fmla="*/ 186 h 2200"/>
                <a:gd name="T86" fmla="*/ 522 w 755"/>
                <a:gd name="T87" fmla="*/ 293 h 2200"/>
                <a:gd name="T88" fmla="*/ 377 w 755"/>
                <a:gd name="T89" fmla="*/ 438 h 2200"/>
                <a:gd name="T90" fmla="*/ 637 w 755"/>
                <a:gd name="T91" fmla="*/ 1340 h 2200"/>
                <a:gd name="T92" fmla="*/ 637 w 755"/>
                <a:gd name="T93" fmla="*/ 1229 h 2200"/>
                <a:gd name="T94" fmla="*/ 714 w 755"/>
                <a:gd name="T95" fmla="*/ 1229 h 2200"/>
                <a:gd name="T96" fmla="*/ 714 w 755"/>
                <a:gd name="T97" fmla="*/ 1230 h 2200"/>
                <a:gd name="T98" fmla="*/ 637 w 755"/>
                <a:gd name="T99" fmla="*/ 1340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55" h="2200">
                  <a:moveTo>
                    <a:pt x="753" y="1188"/>
                  </a:moveTo>
                  <a:cubicBezTo>
                    <a:pt x="753" y="1188"/>
                    <a:pt x="753" y="1188"/>
                    <a:pt x="753" y="1187"/>
                  </a:cubicBezTo>
                  <a:cubicBezTo>
                    <a:pt x="716" y="595"/>
                    <a:pt x="716" y="595"/>
                    <a:pt x="716" y="595"/>
                  </a:cubicBezTo>
                  <a:cubicBezTo>
                    <a:pt x="713" y="562"/>
                    <a:pt x="697" y="546"/>
                    <a:pt x="677" y="536"/>
                  </a:cubicBezTo>
                  <a:cubicBezTo>
                    <a:pt x="520" y="457"/>
                    <a:pt x="520" y="457"/>
                    <a:pt x="520" y="457"/>
                  </a:cubicBezTo>
                  <a:cubicBezTo>
                    <a:pt x="488" y="442"/>
                    <a:pt x="488" y="442"/>
                    <a:pt x="488" y="442"/>
                  </a:cubicBezTo>
                  <a:cubicBezTo>
                    <a:pt x="534" y="408"/>
                    <a:pt x="564" y="354"/>
                    <a:pt x="564" y="293"/>
                  </a:cubicBezTo>
                  <a:cubicBezTo>
                    <a:pt x="564" y="186"/>
                    <a:pt x="564" y="186"/>
                    <a:pt x="564" y="186"/>
                  </a:cubicBezTo>
                  <a:cubicBezTo>
                    <a:pt x="564" y="83"/>
                    <a:pt x="480" y="0"/>
                    <a:pt x="377" y="0"/>
                  </a:cubicBezTo>
                  <a:cubicBezTo>
                    <a:pt x="275" y="0"/>
                    <a:pt x="191" y="83"/>
                    <a:pt x="191" y="186"/>
                  </a:cubicBezTo>
                  <a:cubicBezTo>
                    <a:pt x="191" y="293"/>
                    <a:pt x="191" y="293"/>
                    <a:pt x="191" y="293"/>
                  </a:cubicBezTo>
                  <a:cubicBezTo>
                    <a:pt x="191" y="354"/>
                    <a:pt x="221" y="408"/>
                    <a:pt x="267" y="442"/>
                  </a:cubicBezTo>
                  <a:cubicBezTo>
                    <a:pt x="235" y="457"/>
                    <a:pt x="235" y="457"/>
                    <a:pt x="235" y="457"/>
                  </a:cubicBezTo>
                  <a:cubicBezTo>
                    <a:pt x="78" y="536"/>
                    <a:pt x="78" y="536"/>
                    <a:pt x="78" y="536"/>
                  </a:cubicBezTo>
                  <a:cubicBezTo>
                    <a:pt x="57" y="546"/>
                    <a:pt x="41" y="561"/>
                    <a:pt x="38" y="595"/>
                  </a:cubicBezTo>
                  <a:cubicBezTo>
                    <a:pt x="2" y="1187"/>
                    <a:pt x="2" y="1187"/>
                    <a:pt x="2" y="1187"/>
                  </a:cubicBezTo>
                  <a:cubicBezTo>
                    <a:pt x="2" y="1188"/>
                    <a:pt x="2" y="1188"/>
                    <a:pt x="2" y="1188"/>
                  </a:cubicBezTo>
                  <a:cubicBezTo>
                    <a:pt x="0" y="1229"/>
                    <a:pt x="0" y="1229"/>
                    <a:pt x="0" y="1229"/>
                  </a:cubicBezTo>
                  <a:cubicBezTo>
                    <a:pt x="0" y="1303"/>
                    <a:pt x="50" y="1365"/>
                    <a:pt x="118" y="1383"/>
                  </a:cubicBezTo>
                  <a:cubicBezTo>
                    <a:pt x="118" y="2200"/>
                    <a:pt x="118" y="2200"/>
                    <a:pt x="118" y="2200"/>
                  </a:cubicBezTo>
                  <a:cubicBezTo>
                    <a:pt x="218" y="2200"/>
                    <a:pt x="218" y="2200"/>
                    <a:pt x="218" y="2200"/>
                  </a:cubicBezTo>
                  <a:cubicBezTo>
                    <a:pt x="240" y="2200"/>
                    <a:pt x="261" y="2182"/>
                    <a:pt x="264" y="2159"/>
                  </a:cubicBezTo>
                  <a:cubicBezTo>
                    <a:pt x="354" y="1389"/>
                    <a:pt x="354" y="1389"/>
                    <a:pt x="354" y="1389"/>
                  </a:cubicBezTo>
                  <a:cubicBezTo>
                    <a:pt x="400" y="1389"/>
                    <a:pt x="400" y="1389"/>
                    <a:pt x="400" y="1389"/>
                  </a:cubicBezTo>
                  <a:cubicBezTo>
                    <a:pt x="491" y="2159"/>
                    <a:pt x="491" y="2159"/>
                    <a:pt x="491" y="2159"/>
                  </a:cubicBezTo>
                  <a:cubicBezTo>
                    <a:pt x="494" y="2182"/>
                    <a:pt x="515" y="2200"/>
                    <a:pt x="537" y="2200"/>
                  </a:cubicBezTo>
                  <a:cubicBezTo>
                    <a:pt x="637" y="2200"/>
                    <a:pt x="637" y="2200"/>
                    <a:pt x="637" y="2200"/>
                  </a:cubicBezTo>
                  <a:cubicBezTo>
                    <a:pt x="637" y="1383"/>
                    <a:pt x="637" y="1383"/>
                    <a:pt x="637" y="1383"/>
                  </a:cubicBezTo>
                  <a:cubicBezTo>
                    <a:pt x="705" y="1365"/>
                    <a:pt x="755" y="1303"/>
                    <a:pt x="755" y="1229"/>
                  </a:cubicBezTo>
                  <a:lnTo>
                    <a:pt x="753" y="1188"/>
                  </a:lnTo>
                  <a:close/>
                  <a:moveTo>
                    <a:pt x="118" y="1340"/>
                  </a:moveTo>
                  <a:cubicBezTo>
                    <a:pt x="73" y="1323"/>
                    <a:pt x="41" y="1280"/>
                    <a:pt x="41" y="1230"/>
                  </a:cubicBezTo>
                  <a:cubicBezTo>
                    <a:pt x="41" y="1229"/>
                    <a:pt x="41" y="1229"/>
                    <a:pt x="41" y="1229"/>
                  </a:cubicBezTo>
                  <a:cubicBezTo>
                    <a:pt x="118" y="1229"/>
                    <a:pt x="118" y="1229"/>
                    <a:pt x="118" y="1229"/>
                  </a:cubicBezTo>
                  <a:lnTo>
                    <a:pt x="118" y="1340"/>
                  </a:lnTo>
                  <a:close/>
                  <a:moveTo>
                    <a:pt x="377" y="438"/>
                  </a:moveTo>
                  <a:cubicBezTo>
                    <a:pt x="298" y="438"/>
                    <a:pt x="233" y="373"/>
                    <a:pt x="233" y="293"/>
                  </a:cubicBezTo>
                  <a:cubicBezTo>
                    <a:pt x="233" y="202"/>
                    <a:pt x="233" y="202"/>
                    <a:pt x="233" y="202"/>
                  </a:cubicBezTo>
                  <a:cubicBezTo>
                    <a:pt x="233" y="164"/>
                    <a:pt x="264" y="133"/>
                    <a:pt x="302" y="133"/>
                  </a:cubicBezTo>
                  <a:cubicBezTo>
                    <a:pt x="302" y="133"/>
                    <a:pt x="302" y="133"/>
                    <a:pt x="302" y="133"/>
                  </a:cubicBezTo>
                  <a:cubicBezTo>
                    <a:pt x="324" y="138"/>
                    <a:pt x="350" y="141"/>
                    <a:pt x="377" y="141"/>
                  </a:cubicBezTo>
                  <a:cubicBezTo>
                    <a:pt x="430" y="141"/>
                    <a:pt x="477" y="131"/>
                    <a:pt x="503" y="114"/>
                  </a:cubicBezTo>
                  <a:cubicBezTo>
                    <a:pt x="515" y="136"/>
                    <a:pt x="522" y="160"/>
                    <a:pt x="522" y="186"/>
                  </a:cubicBezTo>
                  <a:cubicBezTo>
                    <a:pt x="522" y="293"/>
                    <a:pt x="522" y="293"/>
                    <a:pt x="522" y="293"/>
                  </a:cubicBezTo>
                  <a:cubicBezTo>
                    <a:pt x="522" y="373"/>
                    <a:pt x="457" y="438"/>
                    <a:pt x="377" y="438"/>
                  </a:cubicBezTo>
                  <a:moveTo>
                    <a:pt x="637" y="1340"/>
                  </a:moveTo>
                  <a:cubicBezTo>
                    <a:pt x="637" y="1229"/>
                    <a:pt x="637" y="1229"/>
                    <a:pt x="637" y="1229"/>
                  </a:cubicBezTo>
                  <a:cubicBezTo>
                    <a:pt x="714" y="1229"/>
                    <a:pt x="714" y="1229"/>
                    <a:pt x="714" y="1229"/>
                  </a:cubicBezTo>
                  <a:cubicBezTo>
                    <a:pt x="714" y="1230"/>
                    <a:pt x="714" y="1230"/>
                    <a:pt x="714" y="1230"/>
                  </a:cubicBezTo>
                  <a:cubicBezTo>
                    <a:pt x="713" y="1280"/>
                    <a:pt x="681" y="1323"/>
                    <a:pt x="637" y="134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10" name="Group 9"/>
          <p:cNvGrpSpPr/>
          <p:nvPr/>
        </p:nvGrpSpPr>
        <p:grpSpPr>
          <a:xfrm>
            <a:off x="426920" y="1362269"/>
            <a:ext cx="11345979" cy="783772"/>
            <a:chOff x="426921" y="1384299"/>
            <a:chExt cx="10589160" cy="655371"/>
          </a:xfrm>
        </p:grpSpPr>
        <p:sp>
          <p:nvSpPr>
            <p:cNvPr id="5" name="Round Diagonal Corner Rectangle 4"/>
            <p:cNvSpPr/>
            <p:nvPr/>
          </p:nvSpPr>
          <p:spPr>
            <a:xfrm>
              <a:off x="426921" y="1389191"/>
              <a:ext cx="10589160" cy="650479"/>
            </a:xfrm>
            <a:prstGeom prst="round2DiagRect">
              <a:avLst>
                <a:gd name="adj1" fmla="val 25615"/>
                <a:gd name="adj2" fmla="val 0"/>
              </a:avLst>
            </a:prstGeom>
            <a:solidFill>
              <a:srgbClr val="40488D"/>
            </a:solidFill>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Arial" panose="020B0604020202020204"/>
                  <a:ea typeface="+mn-ea"/>
                  <a:cs typeface="+mn-cs"/>
                </a:rPr>
                <a:t>IMPACT was designed to address unanswered questions on the role of ICS (FF) added to maximal</a:t>
              </a:r>
              <a:br>
                <a:rPr kumimoji="0" lang="en-US" sz="16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sz="1600" b="1" i="0" u="none" strike="noStrike" kern="1200" cap="none" spc="0" normalizeH="0" baseline="0" noProof="0" dirty="0">
                  <a:ln>
                    <a:noFill/>
                  </a:ln>
                  <a:solidFill>
                    <a:prstClr val="white"/>
                  </a:solidFill>
                  <a:effectLst/>
                  <a:uLnTx/>
                  <a:uFillTx/>
                  <a:latin typeface="Arial" panose="020B0604020202020204"/>
                  <a:ea typeface="+mn-ea"/>
                  <a:cs typeface="+mn-cs"/>
                </a:rPr>
                <a:t>bronchodilation with LAMA/LABA (UMEC/VI)</a:t>
              </a:r>
              <a:r>
                <a:rPr kumimoji="0" lang="en-US" sz="1600" b="1" i="0" u="none" strike="noStrike" kern="1200" cap="none" spc="0" normalizeH="0" baseline="30000" noProof="0" dirty="0">
                  <a:ln>
                    <a:noFill/>
                  </a:ln>
                  <a:solidFill>
                    <a:prstClr val="white"/>
                  </a:solidFill>
                  <a:effectLst/>
                  <a:uLnTx/>
                  <a:uFillTx/>
                  <a:latin typeface="Arial" panose="020B0604020202020204"/>
                  <a:ea typeface="+mn-ea"/>
                  <a:cs typeface="+mn-cs"/>
                </a:rPr>
                <a:t>1,2</a:t>
              </a:r>
              <a:endParaRPr kumimoji="0" lang="en-US" sz="1600" b="0" i="0" u="none" strike="noStrike" kern="1200" cap="none" spc="0" normalizeH="0" baseline="30000" noProof="0" dirty="0">
                <a:ln>
                  <a:noFill/>
                </a:ln>
                <a:solidFill>
                  <a:prstClr val="white"/>
                </a:solidFill>
                <a:effectLst/>
                <a:uLnTx/>
                <a:uFillTx/>
                <a:latin typeface="Arial" panose="020B0604020202020204"/>
                <a:ea typeface="+mn-ea"/>
                <a:cs typeface="+mn-cs"/>
              </a:endParaRPr>
            </a:p>
          </p:txBody>
        </p:sp>
        <p:sp>
          <p:nvSpPr>
            <p:cNvPr id="33" name="Isosceles Triangle 32"/>
            <p:cNvSpPr/>
            <p:nvPr/>
          </p:nvSpPr>
          <p:spPr>
            <a:xfrm>
              <a:off x="6933825" y="1384299"/>
              <a:ext cx="4082256" cy="655371"/>
            </a:xfrm>
            <a:prstGeom prst="triangle">
              <a:avLst>
                <a:gd name="adj" fmla="val 100000"/>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F89C67CB-48BA-4A88-9301-0CB397AE4EB8}"/>
              </a:ext>
            </a:extLst>
          </p:cNvPr>
          <p:cNvPicPr>
            <a:picLocks noChangeAspect="1"/>
          </p:cNvPicPr>
          <p:nvPr/>
        </p:nvPicPr>
        <p:blipFill>
          <a:blip r:embed="rId2"/>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312429906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4155440" y="3901440"/>
            <a:ext cx="7620000" cy="2072640"/>
          </a:xfrm>
          <a:prstGeom prst="rect">
            <a:avLst/>
          </a:prstGeom>
          <a:noFill/>
          <a:ln w="19050">
            <a:solidFill>
              <a:srgbClr val="E49B1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5" name="Rectangle 4"/>
          <p:cNvSpPr/>
          <p:nvPr/>
        </p:nvSpPr>
        <p:spPr>
          <a:xfrm>
            <a:off x="1828800" y="1625600"/>
            <a:ext cx="9946640" cy="2153920"/>
          </a:xfrm>
          <a:prstGeom prst="rect">
            <a:avLst/>
          </a:prstGeom>
          <a:solidFill>
            <a:schemeClr val="bg1"/>
          </a:solidFill>
          <a:ln w="19050">
            <a:solidFill>
              <a:srgbClr val="E49B1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 name="Title 1"/>
          <p:cNvSpPr>
            <a:spLocks noGrp="1"/>
          </p:cNvSpPr>
          <p:nvPr>
            <p:ph type="title"/>
          </p:nvPr>
        </p:nvSpPr>
        <p:spPr/>
        <p:txBody>
          <a:bodyPr/>
          <a:lstStyle/>
          <a:p>
            <a:r>
              <a:rPr lang="en-US" sz="2400" dirty="0"/>
              <a:t>IMPACT: Study design</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4" name="Text Placeholder 3"/>
          <p:cNvSpPr>
            <a:spLocks noGrp="1"/>
          </p:cNvSpPr>
          <p:nvPr>
            <p:ph type="body" sz="quarter" idx="19"/>
          </p:nvPr>
        </p:nvSpPr>
        <p:spPr/>
        <p:txBody>
          <a:bodyPr/>
          <a:lstStyle/>
          <a:p>
            <a:r>
              <a:rPr lang="en-US" dirty="0"/>
              <a:t>The graph has been independently created by GSK from original data </a:t>
            </a:r>
          </a:p>
          <a:p>
            <a:r>
              <a:rPr lang="en-US" dirty="0"/>
              <a:t>COPD, chronic obstructive pulmonary disease; FF, fluticasone furoate; ICS, inhaled corticosteroids; LABA, long-acting beta-agonist; LAMA, long-acting muscarinic antagonist; R; randomised; UMEC, umeclidinium; VI, vilanterol; </a:t>
            </a:r>
          </a:p>
        </p:txBody>
      </p:sp>
      <p:sp>
        <p:nvSpPr>
          <p:cNvPr id="10" name="Text Placeholder 9"/>
          <p:cNvSpPr>
            <a:spLocks noGrp="1"/>
          </p:cNvSpPr>
          <p:nvPr>
            <p:ph type="body" sz="quarter" idx="21"/>
          </p:nvPr>
        </p:nvSpPr>
        <p:spPr>
          <a:xfrm>
            <a:off x="426921" y="6221528"/>
            <a:ext cx="9088554" cy="468000"/>
          </a:xfrm>
        </p:spPr>
        <p:txBody>
          <a:bodyPr/>
          <a:lstStyle/>
          <a:p>
            <a:r>
              <a:rPr lang="en-US" dirty="0"/>
              <a:t>1. </a:t>
            </a:r>
            <a:r>
              <a:rPr lang="da-DK" dirty="0"/>
              <a:t>Lipson DA, et al. </a:t>
            </a:r>
            <a:r>
              <a:rPr lang="da-DK" i="1" dirty="0"/>
              <a:t>N Engl J Med.</a:t>
            </a:r>
            <a:r>
              <a:rPr lang="da-DK" dirty="0"/>
              <a:t> 2018;378:1671–1680;</a:t>
            </a:r>
            <a:r>
              <a:rPr lang="en-US" dirty="0"/>
              <a:t> 2. </a:t>
            </a:r>
            <a:r>
              <a:rPr lang="fr-FR" dirty="0"/>
              <a:t>Pascoe SJ, et al. </a:t>
            </a:r>
            <a:r>
              <a:rPr lang="fr-FR" i="1" dirty="0"/>
              <a:t>Eur Respir J</a:t>
            </a:r>
            <a:r>
              <a:rPr lang="fr-FR" dirty="0"/>
              <a:t>. 2016; 48: 320-330;</a:t>
            </a:r>
            <a:r>
              <a:rPr lang="en-US" dirty="0"/>
              <a:t> 3. Suppl-Lipson DA, et al. </a:t>
            </a:r>
            <a:r>
              <a:rPr lang="da-DK" i="1" dirty="0"/>
              <a:t>N Engl J Med.</a:t>
            </a:r>
            <a:r>
              <a:rPr lang="da-DK" dirty="0"/>
              <a:t> 2018;378:1671–1680</a:t>
            </a:r>
            <a:r>
              <a:rPr lang="en-US" dirty="0"/>
              <a:t>.</a:t>
            </a:r>
          </a:p>
        </p:txBody>
      </p:sp>
      <p:grpSp>
        <p:nvGrpSpPr>
          <p:cNvPr id="53" name="Group 52"/>
          <p:cNvGrpSpPr/>
          <p:nvPr/>
        </p:nvGrpSpPr>
        <p:grpSpPr>
          <a:xfrm>
            <a:off x="1844468" y="1118844"/>
            <a:ext cx="9877631" cy="2517866"/>
            <a:chOff x="1895268" y="1230604"/>
            <a:chExt cx="9877631" cy="2517866"/>
          </a:xfrm>
        </p:grpSpPr>
        <p:sp>
          <p:nvSpPr>
            <p:cNvPr id="93" name="Rounded Rectangle 92"/>
            <p:cNvSpPr/>
            <p:nvPr/>
          </p:nvSpPr>
          <p:spPr>
            <a:xfrm>
              <a:off x="1895268" y="1230604"/>
              <a:ext cx="9877631" cy="328295"/>
            </a:xfrm>
            <a:prstGeom prst="roundRect">
              <a:avLst>
                <a:gd name="adj" fmla="val 50000"/>
              </a:avLst>
            </a:prstGeom>
            <a:solidFill>
              <a:srgbClr val="544F40"/>
            </a:solidFill>
            <a:ln w="6350">
              <a:solidFill>
                <a:schemeClr val="bg1"/>
              </a:solidFill>
            </a:ln>
          </p:spPr>
          <p:txBody>
            <a:bodyPr wrap="square" lIns="91440" tIns="45720" rIns="91440" bIns="4572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Arial" panose="020B0604020202020204"/>
                  <a:ea typeface="+mn-ea"/>
                  <a:cs typeface="+mn-cs"/>
                </a:rPr>
                <a:t>Randomized, double-blind, parallel-group, global multicenter study</a:t>
              </a:r>
              <a:r>
                <a:rPr kumimoji="0" lang="en-US" sz="1400" b="0" i="0" u="none" strike="noStrike" kern="1200" cap="none" spc="0" normalizeH="0" baseline="30000" noProof="0" dirty="0">
                  <a:ln>
                    <a:noFill/>
                  </a:ln>
                  <a:solidFill>
                    <a:prstClr val="white"/>
                  </a:solidFill>
                  <a:effectLst/>
                  <a:uLnTx/>
                  <a:uFillTx/>
                  <a:latin typeface="Arial" panose="020B0604020202020204"/>
                  <a:ea typeface="+mn-ea"/>
                  <a:cs typeface="+mn-cs"/>
                </a:rPr>
                <a:t>1,2</a:t>
              </a:r>
            </a:p>
          </p:txBody>
        </p:sp>
        <p:sp>
          <p:nvSpPr>
            <p:cNvPr id="31" name="Rounded Rectangle 30"/>
            <p:cNvSpPr/>
            <p:nvPr/>
          </p:nvSpPr>
          <p:spPr>
            <a:xfrm>
              <a:off x="4233905" y="2149468"/>
              <a:ext cx="5959576" cy="457200"/>
            </a:xfrm>
            <a:prstGeom prst="roundRect">
              <a:avLst>
                <a:gd name="adj" fmla="val 12652"/>
              </a:avLst>
            </a:prstGeom>
            <a:solidFill>
              <a:srgbClr val="F36633"/>
            </a:solidFill>
            <a:ln w="6350">
              <a:solidFill>
                <a:schemeClr val="bg1"/>
              </a:solidFill>
            </a:ln>
          </p:spPr>
          <p:txBody>
            <a:bodyPr wrap="square" lIns="0" tIns="45720" rIns="0" bIns="4572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20" normalizeH="0" baseline="0" noProof="0" dirty="0">
                  <a:ln>
                    <a:noFill/>
                  </a:ln>
                  <a:solidFill>
                    <a:prstClr val="white"/>
                  </a:solidFill>
                  <a:effectLst/>
                  <a:uLnTx/>
                  <a:uFillTx/>
                  <a:latin typeface="Arial" panose="020B0604020202020204"/>
                  <a:ea typeface="+mn-ea"/>
                  <a:cs typeface="+mn-cs"/>
                </a:rPr>
                <a:t>TRELEGY ELLIPTA (FF/UMEC/VI 100/62.5/25 mcg) QD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(n=4,151)</a:t>
              </a:r>
            </a:p>
          </p:txBody>
        </p:sp>
        <p:sp>
          <p:nvSpPr>
            <p:cNvPr id="33" name="Rounded Rectangle 32"/>
            <p:cNvSpPr/>
            <p:nvPr/>
          </p:nvSpPr>
          <p:spPr>
            <a:xfrm>
              <a:off x="4233905" y="3291270"/>
              <a:ext cx="5959576" cy="457200"/>
            </a:xfrm>
            <a:prstGeom prst="roundRect">
              <a:avLst>
                <a:gd name="adj" fmla="val 12652"/>
              </a:avLst>
            </a:prstGeom>
            <a:solidFill>
              <a:srgbClr val="40488D"/>
            </a:solidFill>
            <a:ln w="6350">
              <a:solidFill>
                <a:schemeClr val="bg1"/>
              </a:solidFill>
            </a:ln>
          </p:spPr>
          <p:txBody>
            <a:bodyPr wrap="square" lIns="91440" tIns="45720" rIns="91440" bIns="4572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a:ea typeface="+mn-ea"/>
                  <a:cs typeface="+mn-cs"/>
                </a:rPr>
                <a:t>ANORO ELLIPTA (UMEC/VI 62.5/25 mcg) QD</a:t>
              </a:r>
              <a:br>
                <a:rPr kumimoji="0" lang="en-US" sz="12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(n=2,070)</a:t>
              </a:r>
            </a:p>
          </p:txBody>
        </p:sp>
        <p:sp>
          <p:nvSpPr>
            <p:cNvPr id="37" name="Rounded Rectangle 36"/>
            <p:cNvSpPr/>
            <p:nvPr/>
          </p:nvSpPr>
          <p:spPr>
            <a:xfrm>
              <a:off x="1947884" y="2720369"/>
              <a:ext cx="1439282" cy="457200"/>
            </a:xfrm>
            <a:prstGeom prst="roundRect">
              <a:avLst>
                <a:gd name="adj" fmla="val 11291"/>
              </a:avLst>
            </a:prstGeom>
            <a:solidFill>
              <a:schemeClr val="tx1">
                <a:lumMod val="60000"/>
                <a:lumOff val="40000"/>
              </a:schemeClr>
            </a:solidFill>
            <a:ln w="6350">
              <a:solidFill>
                <a:schemeClr val="bg1"/>
              </a:solidFill>
            </a:ln>
          </p:spPr>
          <p:txBody>
            <a:bodyPr wrap="square" lIns="45720" tIns="45720" rIns="18288" bIns="45720" anchor="ctr" anchorCtr="0">
              <a:noAutofit/>
            </a:bodyPr>
            <a:lstStyle/>
            <a:p>
              <a:pPr marL="0" marR="0" lvl="0" indent="0" algn="ctr" defTabSz="914400" rtl="0" eaLnBrk="1" fontAlgn="auto" latinLnBrk="0" hangingPunct="1">
                <a:lnSpc>
                  <a:spcPct val="100000"/>
                </a:lnSpc>
                <a:spcBef>
                  <a:spcPts val="0"/>
                </a:spcBef>
                <a:spcAft>
                  <a:spcPts val="90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a:ea typeface="+mn-ea"/>
                  <a:cs typeface="+mn-cs"/>
                </a:rPr>
                <a:t>Current COPD medications</a:t>
              </a:r>
            </a:p>
          </p:txBody>
        </p:sp>
        <p:cxnSp>
          <p:nvCxnSpPr>
            <p:cNvPr id="38" name="Straight Arrow Connector 37"/>
            <p:cNvCxnSpPr>
              <a:stCxn id="37" idx="3"/>
              <a:endCxn id="31" idx="1"/>
            </p:cNvCxnSpPr>
            <p:nvPr/>
          </p:nvCxnSpPr>
          <p:spPr>
            <a:xfrm flipV="1">
              <a:off x="3387166" y="2378068"/>
              <a:ext cx="846739" cy="570901"/>
            </a:xfrm>
            <a:prstGeom prst="bentConnector3">
              <a:avLst>
                <a:gd name="adj1" fmla="val 50000"/>
              </a:avLst>
            </a:prstGeom>
            <a:ln w="6350">
              <a:solidFill>
                <a:srgbClr val="544F4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37"/>
            <p:cNvCxnSpPr>
              <a:stCxn id="37" idx="3"/>
              <a:endCxn id="33" idx="1"/>
            </p:cNvCxnSpPr>
            <p:nvPr/>
          </p:nvCxnSpPr>
          <p:spPr>
            <a:xfrm>
              <a:off x="3387166" y="2948969"/>
              <a:ext cx="846739" cy="570901"/>
            </a:xfrm>
            <a:prstGeom prst="bentConnector3">
              <a:avLst>
                <a:gd name="adj1" fmla="val 50000"/>
              </a:avLst>
            </a:prstGeom>
            <a:ln w="6350">
              <a:solidFill>
                <a:srgbClr val="544F40"/>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1947884" y="1796749"/>
              <a:ext cx="9794648" cy="276999"/>
              <a:chOff x="1947884" y="1862066"/>
              <a:chExt cx="9794648" cy="276999"/>
            </a:xfrm>
          </p:grpSpPr>
          <p:cxnSp>
            <p:nvCxnSpPr>
              <p:cNvPr id="7" name="Straight Arrow Connector 6"/>
              <p:cNvCxnSpPr/>
              <p:nvPr/>
            </p:nvCxnSpPr>
            <p:spPr>
              <a:xfrm>
                <a:off x="4233905" y="2000565"/>
                <a:ext cx="5959576" cy="0"/>
              </a:xfrm>
              <a:prstGeom prst="straightConnector1">
                <a:avLst/>
              </a:prstGeom>
              <a:ln w="9525">
                <a:solidFill>
                  <a:srgbClr val="544F4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4" name="Rectangle 93"/>
              <p:cNvSpPr/>
              <p:nvPr/>
            </p:nvSpPr>
            <p:spPr>
              <a:xfrm>
                <a:off x="6826887" y="1862066"/>
                <a:ext cx="773610" cy="276999"/>
              </a:xfrm>
              <a:prstGeom prst="rect">
                <a:avLst/>
              </a:prstGeom>
              <a:solidFill>
                <a:schemeClr val="bg1"/>
              </a:solidFill>
            </p:spPr>
            <p:txBody>
              <a:bodyPr wrap="none" lIns="45720" rIns="4572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44F40"/>
                    </a:solidFill>
                    <a:effectLst/>
                    <a:uLnTx/>
                    <a:uFillTx/>
                    <a:latin typeface="Arial" panose="020B0604020202020204"/>
                    <a:ea typeface="+mn-ea"/>
                    <a:cs typeface="+mn-cs"/>
                  </a:rPr>
                  <a:t>52-weeks</a:t>
                </a:r>
              </a:p>
            </p:txBody>
          </p:sp>
          <p:cxnSp>
            <p:nvCxnSpPr>
              <p:cNvPr id="58" name="Straight Arrow Connector 57"/>
              <p:cNvCxnSpPr/>
              <p:nvPr/>
            </p:nvCxnSpPr>
            <p:spPr>
              <a:xfrm flipV="1">
                <a:off x="1947884" y="2000565"/>
                <a:ext cx="1435608" cy="0"/>
              </a:xfrm>
              <a:prstGeom prst="straightConnector1">
                <a:avLst/>
              </a:prstGeom>
              <a:ln w="9525">
                <a:solidFill>
                  <a:srgbClr val="544F4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9" name="Rectangle 58"/>
              <p:cNvSpPr/>
              <p:nvPr/>
            </p:nvSpPr>
            <p:spPr>
              <a:xfrm>
                <a:off x="2321363" y="1862066"/>
                <a:ext cx="688650" cy="276999"/>
              </a:xfrm>
              <a:prstGeom prst="rect">
                <a:avLst/>
              </a:prstGeom>
              <a:solidFill>
                <a:schemeClr val="bg1"/>
              </a:solidFill>
            </p:spPr>
            <p:txBody>
              <a:bodyPr wrap="none" lIns="45720" rIns="4572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44F40"/>
                    </a:solidFill>
                    <a:effectLst/>
                    <a:uLnTx/>
                    <a:uFillTx/>
                    <a:latin typeface="Arial" panose="020B0604020202020204"/>
                    <a:ea typeface="+mn-ea"/>
                    <a:cs typeface="+mn-cs"/>
                  </a:rPr>
                  <a:t>2-weeks</a:t>
                </a:r>
              </a:p>
            </p:txBody>
          </p:sp>
          <p:cxnSp>
            <p:nvCxnSpPr>
              <p:cNvPr id="119" name="Straight Arrow Connector 118"/>
              <p:cNvCxnSpPr/>
              <p:nvPr/>
            </p:nvCxnSpPr>
            <p:spPr>
              <a:xfrm>
                <a:off x="10636250" y="2000565"/>
                <a:ext cx="1106282" cy="0"/>
              </a:xfrm>
              <a:prstGeom prst="straightConnector1">
                <a:avLst/>
              </a:prstGeom>
              <a:ln w="9525">
                <a:solidFill>
                  <a:srgbClr val="544F4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0" name="Rectangle 119"/>
              <p:cNvSpPr/>
              <p:nvPr/>
            </p:nvSpPr>
            <p:spPr>
              <a:xfrm>
                <a:off x="10887547" y="1862066"/>
                <a:ext cx="603691" cy="276999"/>
              </a:xfrm>
              <a:prstGeom prst="rect">
                <a:avLst/>
              </a:prstGeom>
              <a:solidFill>
                <a:schemeClr val="bg1"/>
              </a:solidFill>
            </p:spPr>
            <p:txBody>
              <a:bodyPr wrap="none" lIns="45720" rIns="4572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44F40"/>
                    </a:solidFill>
                    <a:effectLst/>
                    <a:uLnTx/>
                    <a:uFillTx/>
                    <a:latin typeface="Arial" panose="020B0604020202020204"/>
                    <a:ea typeface="+mn-ea"/>
                    <a:cs typeface="+mn-cs"/>
                  </a:rPr>
                  <a:t>1-week</a:t>
                </a:r>
              </a:p>
            </p:txBody>
          </p:sp>
        </p:grpSp>
        <p:sp>
          <p:nvSpPr>
            <p:cNvPr id="133" name="Rounded Rectangle 132"/>
            <p:cNvSpPr/>
            <p:nvPr/>
          </p:nvSpPr>
          <p:spPr>
            <a:xfrm>
              <a:off x="10664889" y="2720369"/>
              <a:ext cx="1095109" cy="457200"/>
            </a:xfrm>
            <a:prstGeom prst="roundRect">
              <a:avLst>
                <a:gd name="adj" fmla="val 17323"/>
              </a:avLst>
            </a:prstGeom>
            <a:solidFill>
              <a:schemeClr val="tx1">
                <a:lumMod val="60000"/>
                <a:lumOff val="40000"/>
              </a:schemeClr>
            </a:solidFill>
            <a:ln w="6350">
              <a:solidFill>
                <a:schemeClr val="bg1"/>
              </a:solidFill>
            </a:ln>
          </p:spPr>
          <p:txBody>
            <a:bodyPr wrap="square" lIns="45720" tIns="45720" rIns="45720" bIns="4572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Follow-up</a:t>
              </a:r>
            </a:p>
          </p:txBody>
        </p:sp>
        <p:cxnSp>
          <p:nvCxnSpPr>
            <p:cNvPr id="134" name="Straight Arrow Connector 37"/>
            <p:cNvCxnSpPr>
              <a:stCxn id="31" idx="3"/>
              <a:endCxn id="133" idx="1"/>
            </p:cNvCxnSpPr>
            <p:nvPr/>
          </p:nvCxnSpPr>
          <p:spPr>
            <a:xfrm>
              <a:off x="10193481" y="2378068"/>
              <a:ext cx="471408" cy="570901"/>
            </a:xfrm>
            <a:prstGeom prst="bentConnector3">
              <a:avLst>
                <a:gd name="adj1" fmla="val 50000"/>
              </a:avLst>
            </a:prstGeom>
            <a:ln w="6350">
              <a:solidFill>
                <a:srgbClr val="544F4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37"/>
            <p:cNvCxnSpPr>
              <a:stCxn id="33" idx="3"/>
              <a:endCxn id="133" idx="1"/>
            </p:cNvCxnSpPr>
            <p:nvPr/>
          </p:nvCxnSpPr>
          <p:spPr>
            <a:xfrm flipV="1">
              <a:off x="10193481" y="2948969"/>
              <a:ext cx="471408" cy="570901"/>
            </a:xfrm>
            <a:prstGeom prst="bentConnector3">
              <a:avLst>
                <a:gd name="adj1" fmla="val 50000"/>
              </a:avLst>
            </a:prstGeom>
            <a:ln w="6350">
              <a:solidFill>
                <a:srgbClr val="544F4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3" name="Rounded Rectangle 42"/>
            <p:cNvSpPr/>
            <p:nvPr/>
          </p:nvSpPr>
          <p:spPr>
            <a:xfrm>
              <a:off x="4233905" y="2720369"/>
              <a:ext cx="5959576" cy="457200"/>
            </a:xfrm>
            <a:prstGeom prst="roundRect">
              <a:avLst>
                <a:gd name="adj" fmla="val 12652"/>
              </a:avLst>
            </a:prstGeom>
            <a:solidFill>
              <a:srgbClr val="E49B13"/>
            </a:solidFill>
            <a:ln w="6350">
              <a:solidFill>
                <a:schemeClr val="bg1"/>
              </a:solidFill>
            </a:ln>
          </p:spPr>
          <p:txBody>
            <a:bodyPr wrap="square" lIns="91440" tIns="45720" rIns="91440" bIns="4572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a:ea typeface="+mn-ea"/>
                  <a:cs typeface="+mn-cs"/>
                </a:rPr>
                <a:t>RELVAR/BREO ELLIPTA (FF/VI 100/25 mcg) QD</a:t>
              </a:r>
              <a:br>
                <a:rPr kumimoji="0" lang="en-US" sz="12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(n=4,134)</a:t>
              </a:r>
            </a:p>
          </p:txBody>
        </p:sp>
        <p:cxnSp>
          <p:nvCxnSpPr>
            <p:cNvPr id="44" name="Straight Arrow Connector 37"/>
            <p:cNvCxnSpPr>
              <a:stCxn id="37" idx="3"/>
              <a:endCxn id="43" idx="1"/>
            </p:cNvCxnSpPr>
            <p:nvPr/>
          </p:nvCxnSpPr>
          <p:spPr>
            <a:xfrm>
              <a:off x="3387166" y="2948969"/>
              <a:ext cx="846739" cy="0"/>
            </a:xfrm>
            <a:prstGeom prst="straightConnector1">
              <a:avLst/>
            </a:prstGeom>
            <a:ln w="6350">
              <a:solidFill>
                <a:srgbClr val="544F4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37"/>
            <p:cNvCxnSpPr>
              <a:stCxn id="43" idx="3"/>
              <a:endCxn id="133" idx="1"/>
            </p:cNvCxnSpPr>
            <p:nvPr/>
          </p:nvCxnSpPr>
          <p:spPr>
            <a:xfrm>
              <a:off x="10193481" y="2948969"/>
              <a:ext cx="471408" cy="0"/>
            </a:xfrm>
            <a:prstGeom prst="straightConnector1">
              <a:avLst/>
            </a:prstGeom>
            <a:ln w="6350">
              <a:solidFill>
                <a:srgbClr val="544F4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7" name="Oval 56"/>
            <p:cNvSpPr/>
            <p:nvPr/>
          </p:nvSpPr>
          <p:spPr>
            <a:xfrm>
              <a:off x="3675755" y="2811809"/>
              <a:ext cx="274320" cy="274320"/>
            </a:xfrm>
            <a:prstGeom prst="ellipse">
              <a:avLst/>
            </a:prstGeom>
            <a:solidFill>
              <a:srgbClr val="544F40"/>
            </a:solidFill>
            <a:ln w="6350">
              <a:solidFill>
                <a:schemeClr val="bg1"/>
              </a:solidFill>
            </a:ln>
          </p:spPr>
          <p:txBody>
            <a:bodyPr wrap="square" lIns="91440" tIns="45720" rIns="91440" bIns="4572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a:ea typeface="+mn-ea"/>
                  <a:cs typeface="+mn-cs"/>
                </a:rPr>
                <a:t>R</a:t>
              </a:r>
            </a:p>
          </p:txBody>
        </p:sp>
      </p:grpSp>
      <p:sp>
        <p:nvSpPr>
          <p:cNvPr id="19" name="Bent-Up Arrow 18"/>
          <p:cNvSpPr/>
          <p:nvPr/>
        </p:nvSpPr>
        <p:spPr>
          <a:xfrm rot="5400000">
            <a:off x="2119394" y="3537651"/>
            <a:ext cx="2320630" cy="1483567"/>
          </a:xfrm>
          <a:prstGeom prst="bentUpArrow">
            <a:avLst>
              <a:gd name="adj1" fmla="val 13031"/>
              <a:gd name="adj2" fmla="val 18795"/>
              <a:gd name="adj3" fmla="val 16469"/>
            </a:avLst>
          </a:prstGeom>
          <a:solidFill>
            <a:srgbClr val="544F4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aphicFrame>
        <p:nvGraphicFramePr>
          <p:cNvPr id="30" name="Chart 29"/>
          <p:cNvGraphicFramePr/>
          <p:nvPr/>
        </p:nvGraphicFramePr>
        <p:xfrm>
          <a:off x="4185920" y="4165601"/>
          <a:ext cx="7487920" cy="1737360"/>
        </p:xfrm>
        <a:graphic>
          <a:graphicData uri="http://schemas.openxmlformats.org/drawingml/2006/chart">
            <c:chart xmlns:c="http://schemas.openxmlformats.org/drawingml/2006/chart" xmlns:r="http://schemas.openxmlformats.org/officeDocument/2006/relationships" r:id="rId2"/>
          </a:graphicData>
        </a:graphic>
      </p:graphicFrame>
      <p:sp>
        <p:nvSpPr>
          <p:cNvPr id="32" name="Rounded Rectangle 31"/>
          <p:cNvSpPr/>
          <p:nvPr/>
        </p:nvSpPr>
        <p:spPr>
          <a:xfrm>
            <a:off x="6165643" y="3904950"/>
            <a:ext cx="3538634" cy="289888"/>
          </a:xfrm>
          <a:prstGeom prst="roundRect">
            <a:avLst>
              <a:gd name="adj" fmla="val 50000"/>
            </a:avLst>
          </a:prstGeom>
          <a:noFill/>
          <a:ln w="6350">
            <a:noFill/>
          </a:ln>
        </p:spPr>
        <p:txBody>
          <a:bodyPr wrap="non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44F40"/>
                </a:solidFill>
                <a:effectLst/>
                <a:uLnTx/>
                <a:uFillTx/>
                <a:latin typeface="Arial" panose="020B0604020202020204"/>
                <a:ea typeface="+mn-ea"/>
                <a:cs typeface="+mn-cs"/>
              </a:rPr>
              <a:t>Concomitant medications at study entry</a:t>
            </a:r>
            <a:r>
              <a:rPr kumimoji="0" lang="en-US" sz="1200" b="1" i="0" u="none" strike="noStrike" kern="1200" cap="none" spc="0" normalizeH="0" baseline="30000" noProof="0" dirty="0">
                <a:ln>
                  <a:noFill/>
                </a:ln>
                <a:solidFill>
                  <a:srgbClr val="544F40"/>
                </a:solidFill>
                <a:effectLst/>
                <a:uLnTx/>
                <a:uFillTx/>
                <a:latin typeface="Arial" panose="020B0604020202020204"/>
                <a:ea typeface="+mn-ea"/>
                <a:cs typeface="+mn-cs"/>
              </a:rPr>
              <a:t>3</a:t>
            </a:r>
            <a:endParaRPr kumimoji="0" lang="en-US" sz="1200" b="0" i="0" u="none" strike="noStrike" kern="1200" cap="none" spc="0" normalizeH="0" baseline="30000" noProof="0" dirty="0">
              <a:ln>
                <a:noFill/>
              </a:ln>
              <a:solidFill>
                <a:srgbClr val="544F40"/>
              </a:solidFill>
              <a:effectLst/>
              <a:uLnTx/>
              <a:uFillTx/>
              <a:latin typeface="Arial" panose="020B0604020202020204"/>
              <a:ea typeface="+mn-ea"/>
              <a:cs typeface="+mn-cs"/>
            </a:endParaRPr>
          </a:p>
        </p:txBody>
      </p:sp>
      <p:sp>
        <p:nvSpPr>
          <p:cNvPr id="42" name="Rectangle 41"/>
          <p:cNvSpPr/>
          <p:nvPr/>
        </p:nvSpPr>
        <p:spPr>
          <a:xfrm>
            <a:off x="1830747" y="3964621"/>
            <a:ext cx="1602440" cy="1015663"/>
          </a:xfrm>
          <a:prstGeom prst="rect">
            <a:avLst/>
          </a:prstGeom>
          <a:solidFill>
            <a:schemeClr val="bg1"/>
          </a:solidFill>
          <a:ln w="3175">
            <a:solidFill>
              <a:schemeClr val="tx1"/>
            </a:solidFill>
          </a:ln>
        </p:spPr>
        <p:txBody>
          <a:bodyPr wrap="square" lIns="45720" tIns="45720" rIns="45720" bIns="45720">
            <a:spAutoFit/>
          </a:bodyPr>
          <a:lstStyle/>
          <a:p>
            <a:pPr lvl="0" algn="ctr">
              <a:defRPr/>
            </a:pPr>
            <a:r>
              <a:rPr lang="en-US" sz="1200" dirty="0">
                <a:solidFill>
                  <a:srgbClr val="544F40"/>
                </a:solidFill>
              </a:rPr>
              <a:t>What were the COPD</a:t>
            </a:r>
          </a:p>
          <a:p>
            <a:pPr lvl="0" algn="ctr">
              <a:defRPr/>
            </a:pPr>
            <a:r>
              <a:rPr lang="en-US" sz="1200" dirty="0">
                <a:solidFill>
                  <a:srgbClr val="544F40"/>
                </a:solidFill>
              </a:rPr>
              <a:t>medications used in patients at the start of the</a:t>
            </a:r>
          </a:p>
          <a:p>
            <a:pPr lvl="0" algn="ctr">
              <a:defRPr/>
            </a:pPr>
            <a:r>
              <a:rPr lang="en-US" sz="1200" dirty="0">
                <a:solidFill>
                  <a:srgbClr val="544F40"/>
                </a:solidFill>
              </a:rPr>
              <a:t>study?</a:t>
            </a:r>
            <a:endParaRPr kumimoji="0" lang="en-US" sz="1200" b="0" i="0" u="none" strike="noStrike" kern="1200" cap="none" spc="0" normalizeH="0" baseline="0" noProof="0" dirty="0">
              <a:ln>
                <a:noFill/>
              </a:ln>
              <a:solidFill>
                <a:srgbClr val="544F40"/>
              </a:solidFill>
              <a:effectLst/>
              <a:uLnTx/>
              <a:uFillTx/>
              <a:latin typeface="Arial" panose="020B0604020202020204"/>
            </a:endParaRPr>
          </a:p>
        </p:txBody>
      </p:sp>
      <p:grpSp>
        <p:nvGrpSpPr>
          <p:cNvPr id="11" name="Group 10"/>
          <p:cNvGrpSpPr/>
          <p:nvPr/>
        </p:nvGrpSpPr>
        <p:grpSpPr>
          <a:xfrm>
            <a:off x="128616" y="2729072"/>
            <a:ext cx="1433484" cy="1570848"/>
            <a:chOff x="82896" y="2713832"/>
            <a:chExt cx="1433484" cy="1570848"/>
          </a:xfrm>
        </p:grpSpPr>
        <p:sp>
          <p:nvSpPr>
            <p:cNvPr id="9" name="Oval 8"/>
            <p:cNvSpPr/>
            <p:nvPr/>
          </p:nvSpPr>
          <p:spPr>
            <a:xfrm>
              <a:off x="82896" y="2713832"/>
              <a:ext cx="1433484" cy="1433484"/>
            </a:xfrm>
            <a:prstGeom prst="ellipse">
              <a:avLst/>
            </a:prstGeom>
            <a:solidFill>
              <a:schemeClr val="bg1"/>
            </a:solidFill>
            <a:ln>
              <a:solidFill>
                <a:srgbClr val="E49B1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6" name="Rounded Rectangle 5"/>
            <p:cNvSpPr/>
            <p:nvPr/>
          </p:nvSpPr>
          <p:spPr>
            <a:xfrm>
              <a:off x="134370" y="3929790"/>
              <a:ext cx="1330536" cy="354890"/>
            </a:xfrm>
            <a:prstGeom prst="roundRect">
              <a:avLst>
                <a:gd name="adj" fmla="val 50000"/>
              </a:avLst>
            </a:prstGeom>
            <a:solidFill>
              <a:schemeClr val="bg1"/>
            </a:solidFill>
            <a:ln>
              <a:noFill/>
            </a:ln>
            <a:effectLst>
              <a:outerShdw blurRad="50800" dist="38100" dir="2700000" algn="tl" rotWithShape="0">
                <a:prstClr val="black">
                  <a:alpha val="40000"/>
                </a:prstClr>
              </a:outerShdw>
            </a:effectLst>
          </p:spPr>
          <p:txBody>
            <a:bodyPr wrap="square" lIns="45720" tIns="18288" rIns="45720" bIns="18288"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5717D"/>
                  </a:solidFill>
                  <a:effectLst/>
                  <a:uLnTx/>
                  <a:uFillTx/>
                  <a:latin typeface="Arial" panose="020B0604020202020204" pitchFamily="34" charset="0"/>
                  <a:ea typeface="+mn-ea"/>
                  <a:cs typeface="+mn-cs"/>
                </a:rPr>
                <a:t>Trial design</a:t>
              </a:r>
              <a:endParaRPr kumimoji="0" lang="en-US" sz="1400" b="1" i="0" u="none" strike="noStrike" kern="1200" cap="none" spc="0" normalizeH="0" baseline="0" noProof="0" dirty="0">
                <a:ln>
                  <a:noFill/>
                </a:ln>
                <a:solidFill>
                  <a:srgbClr val="15717D"/>
                </a:solidFill>
                <a:effectLst/>
                <a:uLnTx/>
                <a:uFillTx/>
                <a:latin typeface="Arial" panose="020B0604020202020204"/>
                <a:ea typeface="+mn-ea"/>
                <a:cs typeface="+mn-cs"/>
              </a:endParaRPr>
            </a:p>
          </p:txBody>
        </p:sp>
        <p:grpSp>
          <p:nvGrpSpPr>
            <p:cNvPr id="56" name="Group 55"/>
            <p:cNvGrpSpPr/>
            <p:nvPr/>
          </p:nvGrpSpPr>
          <p:grpSpPr>
            <a:xfrm>
              <a:off x="257279" y="3029466"/>
              <a:ext cx="1084718" cy="704334"/>
              <a:chOff x="8637729" y="401263"/>
              <a:chExt cx="1235672" cy="802352"/>
            </a:xfrm>
          </p:grpSpPr>
          <p:sp>
            <p:nvSpPr>
              <p:cNvPr id="61" name="Freeform 9">
                <a:extLst>
                  <a:ext uri="{FF2B5EF4-FFF2-40B4-BE49-F238E27FC236}">
                    <a16:creationId xmlns:a16="http://schemas.microsoft.com/office/drawing/2014/main" id="{4CC36072-CF85-4C58-A7E2-C5A8BF0AC44B}"/>
                  </a:ext>
                </a:extLst>
              </p:cNvPr>
              <p:cNvSpPr>
                <a:spLocks noEditPoints="1"/>
              </p:cNvSpPr>
              <p:nvPr/>
            </p:nvSpPr>
            <p:spPr bwMode="auto">
              <a:xfrm>
                <a:off x="9329622" y="401263"/>
                <a:ext cx="543779" cy="586291"/>
              </a:xfrm>
              <a:custGeom>
                <a:avLst/>
                <a:gdLst>
                  <a:gd name="T0" fmla="*/ 2022 w 2042"/>
                  <a:gd name="T1" fmla="*/ 1891 h 2200"/>
                  <a:gd name="T2" fmla="*/ 1879 w 2042"/>
                  <a:gd name="T3" fmla="*/ 1690 h 2200"/>
                  <a:gd name="T4" fmla="*/ 1401 w 2042"/>
                  <a:gd name="T5" fmla="*/ 1466 h 2200"/>
                  <a:gd name="T6" fmla="*/ 1444 w 2042"/>
                  <a:gd name="T7" fmla="*/ 1429 h 2200"/>
                  <a:gd name="T8" fmla="*/ 1706 w 2042"/>
                  <a:gd name="T9" fmla="*/ 1429 h 2200"/>
                  <a:gd name="T10" fmla="*/ 1766 w 2042"/>
                  <a:gd name="T11" fmla="*/ 1395 h 2200"/>
                  <a:gd name="T12" fmla="*/ 1769 w 2042"/>
                  <a:gd name="T13" fmla="*/ 1326 h 2200"/>
                  <a:gd name="T14" fmla="*/ 1641 w 2042"/>
                  <a:gd name="T15" fmla="*/ 798 h 2200"/>
                  <a:gd name="T16" fmla="*/ 1641 w 2042"/>
                  <a:gd name="T17" fmla="*/ 621 h 2200"/>
                  <a:gd name="T18" fmla="*/ 1021 w 2042"/>
                  <a:gd name="T19" fmla="*/ 0 h 2200"/>
                  <a:gd name="T20" fmla="*/ 400 w 2042"/>
                  <a:gd name="T21" fmla="*/ 621 h 2200"/>
                  <a:gd name="T22" fmla="*/ 400 w 2042"/>
                  <a:gd name="T23" fmla="*/ 627 h 2200"/>
                  <a:gd name="T24" fmla="*/ 400 w 2042"/>
                  <a:gd name="T25" fmla="*/ 798 h 2200"/>
                  <a:gd name="T26" fmla="*/ 273 w 2042"/>
                  <a:gd name="T27" fmla="*/ 1326 h 2200"/>
                  <a:gd name="T28" fmla="*/ 275 w 2042"/>
                  <a:gd name="T29" fmla="*/ 1395 h 2200"/>
                  <a:gd name="T30" fmla="*/ 336 w 2042"/>
                  <a:gd name="T31" fmla="*/ 1429 h 2200"/>
                  <a:gd name="T32" fmla="*/ 597 w 2042"/>
                  <a:gd name="T33" fmla="*/ 1429 h 2200"/>
                  <a:gd name="T34" fmla="*/ 641 w 2042"/>
                  <a:gd name="T35" fmla="*/ 1466 h 2200"/>
                  <a:gd name="T36" fmla="*/ 162 w 2042"/>
                  <a:gd name="T37" fmla="*/ 1690 h 2200"/>
                  <a:gd name="T38" fmla="*/ 20 w 2042"/>
                  <a:gd name="T39" fmla="*/ 1891 h 2200"/>
                  <a:gd name="T40" fmla="*/ 2 w 2042"/>
                  <a:gd name="T41" fmla="*/ 2060 h 2200"/>
                  <a:gd name="T42" fmla="*/ 6 w 2042"/>
                  <a:gd name="T43" fmla="*/ 2114 h 2200"/>
                  <a:gd name="T44" fmla="*/ 128 w 2042"/>
                  <a:gd name="T45" fmla="*/ 2200 h 2200"/>
                  <a:gd name="T46" fmla="*/ 1913 w 2042"/>
                  <a:gd name="T47" fmla="*/ 2200 h 2200"/>
                  <a:gd name="T48" fmla="*/ 2036 w 2042"/>
                  <a:gd name="T49" fmla="*/ 2114 h 2200"/>
                  <a:gd name="T50" fmla="*/ 2040 w 2042"/>
                  <a:gd name="T51" fmla="*/ 2060 h 2200"/>
                  <a:gd name="T52" fmla="*/ 2022 w 2042"/>
                  <a:gd name="T53" fmla="*/ 1891 h 2200"/>
                  <a:gd name="T54" fmla="*/ 1021 w 2042"/>
                  <a:gd name="T55" fmla="*/ 1455 h 2200"/>
                  <a:gd name="T56" fmla="*/ 542 w 2042"/>
                  <a:gd name="T57" fmla="*/ 976 h 2200"/>
                  <a:gd name="T58" fmla="*/ 542 w 2042"/>
                  <a:gd name="T59" fmla="*/ 858 h 2200"/>
                  <a:gd name="T60" fmla="*/ 775 w 2042"/>
                  <a:gd name="T61" fmla="*/ 627 h 2200"/>
                  <a:gd name="T62" fmla="*/ 1094 w 2042"/>
                  <a:gd name="T63" fmla="*/ 627 h 2200"/>
                  <a:gd name="T64" fmla="*/ 1327 w 2042"/>
                  <a:gd name="T65" fmla="*/ 394 h 2200"/>
                  <a:gd name="T66" fmla="*/ 1327 w 2042"/>
                  <a:gd name="T67" fmla="*/ 253 h 2200"/>
                  <a:gd name="T68" fmla="*/ 1500 w 2042"/>
                  <a:gd name="T69" fmla="*/ 621 h 2200"/>
                  <a:gd name="T70" fmla="*/ 1500 w 2042"/>
                  <a:gd name="T71" fmla="*/ 976 h 2200"/>
                  <a:gd name="T72" fmla="*/ 1021 w 2042"/>
                  <a:gd name="T73" fmla="*/ 1455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2" h="2200">
                    <a:moveTo>
                      <a:pt x="2022" y="1891"/>
                    </a:moveTo>
                    <a:cubicBezTo>
                      <a:pt x="2007" y="1775"/>
                      <a:pt x="1950" y="1723"/>
                      <a:pt x="1879" y="1690"/>
                    </a:cubicBezTo>
                    <a:cubicBezTo>
                      <a:pt x="1401" y="1466"/>
                      <a:pt x="1401" y="1466"/>
                      <a:pt x="1401" y="1466"/>
                    </a:cubicBezTo>
                    <a:cubicBezTo>
                      <a:pt x="1416" y="1455"/>
                      <a:pt x="1430" y="1442"/>
                      <a:pt x="1444" y="1429"/>
                    </a:cubicBezTo>
                    <a:cubicBezTo>
                      <a:pt x="1706" y="1429"/>
                      <a:pt x="1706" y="1429"/>
                      <a:pt x="1706" y="1429"/>
                    </a:cubicBezTo>
                    <a:cubicBezTo>
                      <a:pt x="1731" y="1429"/>
                      <a:pt x="1753" y="1416"/>
                      <a:pt x="1766" y="1395"/>
                    </a:cubicBezTo>
                    <a:cubicBezTo>
                      <a:pt x="1779" y="1374"/>
                      <a:pt x="1780" y="1348"/>
                      <a:pt x="1769" y="1326"/>
                    </a:cubicBezTo>
                    <a:cubicBezTo>
                      <a:pt x="1641" y="1080"/>
                      <a:pt x="1641" y="1032"/>
                      <a:pt x="1641" y="798"/>
                    </a:cubicBezTo>
                    <a:cubicBezTo>
                      <a:pt x="1641" y="621"/>
                      <a:pt x="1641" y="621"/>
                      <a:pt x="1641" y="621"/>
                    </a:cubicBezTo>
                    <a:cubicBezTo>
                      <a:pt x="1641" y="278"/>
                      <a:pt x="1363" y="0"/>
                      <a:pt x="1021" y="0"/>
                    </a:cubicBezTo>
                    <a:cubicBezTo>
                      <a:pt x="678" y="0"/>
                      <a:pt x="400" y="278"/>
                      <a:pt x="400" y="621"/>
                    </a:cubicBezTo>
                    <a:cubicBezTo>
                      <a:pt x="400" y="627"/>
                      <a:pt x="400" y="627"/>
                      <a:pt x="400" y="627"/>
                    </a:cubicBezTo>
                    <a:cubicBezTo>
                      <a:pt x="400" y="798"/>
                      <a:pt x="400" y="798"/>
                      <a:pt x="400" y="798"/>
                    </a:cubicBezTo>
                    <a:cubicBezTo>
                      <a:pt x="400" y="1032"/>
                      <a:pt x="400" y="1080"/>
                      <a:pt x="273" y="1326"/>
                    </a:cubicBezTo>
                    <a:cubicBezTo>
                      <a:pt x="262" y="1348"/>
                      <a:pt x="263" y="1374"/>
                      <a:pt x="275" y="1395"/>
                    </a:cubicBezTo>
                    <a:cubicBezTo>
                      <a:pt x="288" y="1417"/>
                      <a:pt x="311" y="1429"/>
                      <a:pt x="336" y="1429"/>
                    </a:cubicBezTo>
                    <a:cubicBezTo>
                      <a:pt x="597" y="1429"/>
                      <a:pt x="597" y="1429"/>
                      <a:pt x="597" y="1429"/>
                    </a:cubicBezTo>
                    <a:cubicBezTo>
                      <a:pt x="611" y="1442"/>
                      <a:pt x="626" y="1455"/>
                      <a:pt x="641" y="1466"/>
                    </a:cubicBezTo>
                    <a:cubicBezTo>
                      <a:pt x="162" y="1690"/>
                      <a:pt x="162" y="1690"/>
                      <a:pt x="162" y="1690"/>
                    </a:cubicBezTo>
                    <a:cubicBezTo>
                      <a:pt x="92" y="1723"/>
                      <a:pt x="35" y="1775"/>
                      <a:pt x="20" y="1891"/>
                    </a:cubicBezTo>
                    <a:cubicBezTo>
                      <a:pt x="2" y="2060"/>
                      <a:pt x="2" y="2060"/>
                      <a:pt x="2" y="2060"/>
                    </a:cubicBezTo>
                    <a:cubicBezTo>
                      <a:pt x="0" y="2079"/>
                      <a:pt x="0" y="2097"/>
                      <a:pt x="6" y="2114"/>
                    </a:cubicBezTo>
                    <a:cubicBezTo>
                      <a:pt x="22" y="2165"/>
                      <a:pt x="70" y="2200"/>
                      <a:pt x="128" y="2200"/>
                    </a:cubicBezTo>
                    <a:cubicBezTo>
                      <a:pt x="1913" y="2200"/>
                      <a:pt x="1913" y="2200"/>
                      <a:pt x="1913" y="2200"/>
                    </a:cubicBezTo>
                    <a:cubicBezTo>
                      <a:pt x="1972" y="2200"/>
                      <a:pt x="2020" y="2165"/>
                      <a:pt x="2036" y="2114"/>
                    </a:cubicBezTo>
                    <a:cubicBezTo>
                      <a:pt x="2041" y="2098"/>
                      <a:pt x="2042" y="2079"/>
                      <a:pt x="2040" y="2060"/>
                    </a:cubicBezTo>
                    <a:lnTo>
                      <a:pt x="2022" y="1891"/>
                    </a:lnTo>
                    <a:close/>
                    <a:moveTo>
                      <a:pt x="1021" y="1455"/>
                    </a:moveTo>
                    <a:cubicBezTo>
                      <a:pt x="757" y="1455"/>
                      <a:pt x="542" y="1240"/>
                      <a:pt x="542" y="976"/>
                    </a:cubicBezTo>
                    <a:cubicBezTo>
                      <a:pt x="542" y="858"/>
                      <a:pt x="542" y="858"/>
                      <a:pt x="542" y="858"/>
                    </a:cubicBezTo>
                    <a:cubicBezTo>
                      <a:pt x="542" y="730"/>
                      <a:pt x="646" y="627"/>
                      <a:pt x="775" y="627"/>
                    </a:cubicBezTo>
                    <a:cubicBezTo>
                      <a:pt x="1094" y="627"/>
                      <a:pt x="1094" y="627"/>
                      <a:pt x="1094" y="627"/>
                    </a:cubicBezTo>
                    <a:cubicBezTo>
                      <a:pt x="1222" y="627"/>
                      <a:pt x="1327" y="523"/>
                      <a:pt x="1327" y="394"/>
                    </a:cubicBezTo>
                    <a:cubicBezTo>
                      <a:pt x="1327" y="253"/>
                      <a:pt x="1327" y="253"/>
                      <a:pt x="1327" y="253"/>
                    </a:cubicBezTo>
                    <a:cubicBezTo>
                      <a:pt x="1433" y="341"/>
                      <a:pt x="1500" y="473"/>
                      <a:pt x="1500" y="621"/>
                    </a:cubicBezTo>
                    <a:cubicBezTo>
                      <a:pt x="1500" y="976"/>
                      <a:pt x="1500" y="976"/>
                      <a:pt x="1500" y="976"/>
                    </a:cubicBezTo>
                    <a:cubicBezTo>
                      <a:pt x="1500" y="1240"/>
                      <a:pt x="1285" y="1455"/>
                      <a:pt x="1021" y="1455"/>
                    </a:cubicBez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62" name="Freeform 5">
                <a:extLst>
                  <a:ext uri="{FF2B5EF4-FFF2-40B4-BE49-F238E27FC236}">
                    <a16:creationId xmlns:a16="http://schemas.microsoft.com/office/drawing/2014/main" id="{32D2ED2E-DB46-4100-974C-223310B63E6F}"/>
                  </a:ext>
                </a:extLst>
              </p:cNvPr>
              <p:cNvSpPr>
                <a:spLocks noEditPoints="1"/>
              </p:cNvSpPr>
              <p:nvPr/>
            </p:nvSpPr>
            <p:spPr bwMode="auto">
              <a:xfrm>
                <a:off x="8637729" y="401263"/>
                <a:ext cx="584519" cy="586291"/>
              </a:xfrm>
              <a:custGeom>
                <a:avLst/>
                <a:gdLst>
                  <a:gd name="T0" fmla="*/ 2197 w 2201"/>
                  <a:gd name="T1" fmla="*/ 2014 h 2200"/>
                  <a:gd name="T2" fmla="*/ 2192 w 2201"/>
                  <a:gd name="T3" fmla="*/ 1934 h 2200"/>
                  <a:gd name="T4" fmla="*/ 2061 w 2201"/>
                  <a:gd name="T5" fmla="*/ 1735 h 2200"/>
                  <a:gd name="T6" fmla="*/ 1458 w 2201"/>
                  <a:gd name="T7" fmla="*/ 1435 h 2200"/>
                  <a:gd name="T8" fmla="*/ 1704 w 2201"/>
                  <a:gd name="T9" fmla="*/ 949 h 2200"/>
                  <a:gd name="T10" fmla="*/ 1704 w 2201"/>
                  <a:gd name="T11" fmla="*/ 604 h 2200"/>
                  <a:gd name="T12" fmla="*/ 1562 w 2201"/>
                  <a:gd name="T13" fmla="*/ 215 h 2200"/>
                  <a:gd name="T14" fmla="*/ 1560 w 2201"/>
                  <a:gd name="T15" fmla="*/ 212 h 2200"/>
                  <a:gd name="T16" fmla="*/ 1101 w 2201"/>
                  <a:gd name="T17" fmla="*/ 0 h 2200"/>
                  <a:gd name="T18" fmla="*/ 641 w 2201"/>
                  <a:gd name="T19" fmla="*/ 213 h 2200"/>
                  <a:gd name="T20" fmla="*/ 639 w 2201"/>
                  <a:gd name="T21" fmla="*/ 215 h 2200"/>
                  <a:gd name="T22" fmla="*/ 497 w 2201"/>
                  <a:gd name="T23" fmla="*/ 604 h 2200"/>
                  <a:gd name="T24" fmla="*/ 497 w 2201"/>
                  <a:gd name="T25" fmla="*/ 949 h 2200"/>
                  <a:gd name="T26" fmla="*/ 743 w 2201"/>
                  <a:gd name="T27" fmla="*/ 1435 h 2200"/>
                  <a:gd name="T28" fmla="*/ 140 w 2201"/>
                  <a:gd name="T29" fmla="*/ 1735 h 2200"/>
                  <a:gd name="T30" fmla="*/ 9 w 2201"/>
                  <a:gd name="T31" fmla="*/ 1934 h 2200"/>
                  <a:gd name="T32" fmla="*/ 1 w 2201"/>
                  <a:gd name="T33" fmla="*/ 2063 h 2200"/>
                  <a:gd name="T34" fmla="*/ 7 w 2201"/>
                  <a:gd name="T35" fmla="*/ 2116 h 2200"/>
                  <a:gd name="T36" fmla="*/ 130 w 2201"/>
                  <a:gd name="T37" fmla="*/ 2200 h 2200"/>
                  <a:gd name="T38" fmla="*/ 2071 w 2201"/>
                  <a:gd name="T39" fmla="*/ 2200 h 2200"/>
                  <a:gd name="T40" fmla="*/ 2193 w 2201"/>
                  <a:gd name="T41" fmla="*/ 2118 h 2200"/>
                  <a:gd name="T42" fmla="*/ 2200 w 2201"/>
                  <a:gd name="T43" fmla="*/ 2063 h 2200"/>
                  <a:gd name="T44" fmla="*/ 2197 w 2201"/>
                  <a:gd name="T45" fmla="*/ 2014 h 2200"/>
                  <a:gd name="T46" fmla="*/ 1101 w 2201"/>
                  <a:gd name="T47" fmla="*/ 1415 h 2200"/>
                  <a:gd name="T48" fmla="*/ 634 w 2201"/>
                  <a:gd name="T49" fmla="*/ 949 h 2200"/>
                  <a:gd name="T50" fmla="*/ 634 w 2201"/>
                  <a:gd name="T51" fmla="*/ 659 h 2200"/>
                  <a:gd name="T52" fmla="*/ 635 w 2201"/>
                  <a:gd name="T53" fmla="*/ 659 h 2200"/>
                  <a:gd name="T54" fmla="*/ 860 w 2201"/>
                  <a:gd name="T55" fmla="*/ 433 h 2200"/>
                  <a:gd name="T56" fmla="*/ 1101 w 2201"/>
                  <a:gd name="T57" fmla="*/ 458 h 2200"/>
                  <a:gd name="T58" fmla="*/ 1505 w 2201"/>
                  <a:gd name="T59" fmla="*/ 373 h 2200"/>
                  <a:gd name="T60" fmla="*/ 1567 w 2201"/>
                  <a:gd name="T61" fmla="*/ 604 h 2200"/>
                  <a:gd name="T62" fmla="*/ 1567 w 2201"/>
                  <a:gd name="T63" fmla="*/ 949 h 2200"/>
                  <a:gd name="T64" fmla="*/ 1101 w 2201"/>
                  <a:gd name="T65" fmla="*/ 1415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01" h="2200">
                    <a:moveTo>
                      <a:pt x="2197" y="2014"/>
                    </a:moveTo>
                    <a:cubicBezTo>
                      <a:pt x="2192" y="1934"/>
                      <a:pt x="2192" y="1934"/>
                      <a:pt x="2192" y="1934"/>
                    </a:cubicBezTo>
                    <a:cubicBezTo>
                      <a:pt x="2181" y="1824"/>
                      <a:pt x="2129" y="1769"/>
                      <a:pt x="2061" y="1735"/>
                    </a:cubicBezTo>
                    <a:cubicBezTo>
                      <a:pt x="1458" y="1435"/>
                      <a:pt x="1458" y="1435"/>
                      <a:pt x="1458" y="1435"/>
                    </a:cubicBezTo>
                    <a:cubicBezTo>
                      <a:pt x="1607" y="1325"/>
                      <a:pt x="1704" y="1148"/>
                      <a:pt x="1704" y="949"/>
                    </a:cubicBezTo>
                    <a:cubicBezTo>
                      <a:pt x="1704" y="604"/>
                      <a:pt x="1704" y="604"/>
                      <a:pt x="1704" y="604"/>
                    </a:cubicBezTo>
                    <a:cubicBezTo>
                      <a:pt x="1704" y="456"/>
                      <a:pt x="1651" y="320"/>
                      <a:pt x="1562" y="215"/>
                    </a:cubicBezTo>
                    <a:cubicBezTo>
                      <a:pt x="1561" y="214"/>
                      <a:pt x="1561" y="213"/>
                      <a:pt x="1560" y="212"/>
                    </a:cubicBezTo>
                    <a:cubicBezTo>
                      <a:pt x="1449" y="82"/>
                      <a:pt x="1285" y="0"/>
                      <a:pt x="1101" y="0"/>
                    </a:cubicBezTo>
                    <a:cubicBezTo>
                      <a:pt x="916" y="0"/>
                      <a:pt x="751" y="83"/>
                      <a:pt x="641" y="213"/>
                    </a:cubicBezTo>
                    <a:cubicBezTo>
                      <a:pt x="640" y="214"/>
                      <a:pt x="640" y="214"/>
                      <a:pt x="639" y="215"/>
                    </a:cubicBezTo>
                    <a:cubicBezTo>
                      <a:pt x="550" y="320"/>
                      <a:pt x="497" y="455"/>
                      <a:pt x="497" y="604"/>
                    </a:cubicBezTo>
                    <a:cubicBezTo>
                      <a:pt x="497" y="949"/>
                      <a:pt x="497" y="949"/>
                      <a:pt x="497" y="949"/>
                    </a:cubicBezTo>
                    <a:cubicBezTo>
                      <a:pt x="497" y="1148"/>
                      <a:pt x="594" y="1325"/>
                      <a:pt x="743" y="1435"/>
                    </a:cubicBezTo>
                    <a:cubicBezTo>
                      <a:pt x="140" y="1735"/>
                      <a:pt x="140" y="1735"/>
                      <a:pt x="140" y="1735"/>
                    </a:cubicBezTo>
                    <a:cubicBezTo>
                      <a:pt x="73" y="1769"/>
                      <a:pt x="20" y="1824"/>
                      <a:pt x="9" y="1934"/>
                    </a:cubicBezTo>
                    <a:cubicBezTo>
                      <a:pt x="1" y="2063"/>
                      <a:pt x="1" y="2063"/>
                      <a:pt x="1" y="2063"/>
                    </a:cubicBezTo>
                    <a:cubicBezTo>
                      <a:pt x="0" y="2081"/>
                      <a:pt x="1" y="2100"/>
                      <a:pt x="7" y="2116"/>
                    </a:cubicBezTo>
                    <a:cubicBezTo>
                      <a:pt x="25" y="2165"/>
                      <a:pt x="73" y="2200"/>
                      <a:pt x="130" y="2200"/>
                    </a:cubicBezTo>
                    <a:cubicBezTo>
                      <a:pt x="2071" y="2200"/>
                      <a:pt x="2071" y="2200"/>
                      <a:pt x="2071" y="2200"/>
                    </a:cubicBezTo>
                    <a:cubicBezTo>
                      <a:pt x="2127" y="2200"/>
                      <a:pt x="2175" y="2166"/>
                      <a:pt x="2193" y="2118"/>
                    </a:cubicBezTo>
                    <a:cubicBezTo>
                      <a:pt x="2200" y="2101"/>
                      <a:pt x="2201" y="2082"/>
                      <a:pt x="2200" y="2063"/>
                    </a:cubicBezTo>
                    <a:lnTo>
                      <a:pt x="2197" y="2014"/>
                    </a:lnTo>
                    <a:close/>
                    <a:moveTo>
                      <a:pt x="1101" y="1415"/>
                    </a:moveTo>
                    <a:cubicBezTo>
                      <a:pt x="844" y="1415"/>
                      <a:pt x="634" y="1206"/>
                      <a:pt x="634" y="949"/>
                    </a:cubicBezTo>
                    <a:cubicBezTo>
                      <a:pt x="634" y="659"/>
                      <a:pt x="634" y="659"/>
                      <a:pt x="634" y="659"/>
                    </a:cubicBezTo>
                    <a:cubicBezTo>
                      <a:pt x="635" y="659"/>
                      <a:pt x="635" y="659"/>
                      <a:pt x="635" y="659"/>
                    </a:cubicBezTo>
                    <a:cubicBezTo>
                      <a:pt x="635" y="535"/>
                      <a:pt x="735" y="434"/>
                      <a:pt x="860" y="433"/>
                    </a:cubicBezTo>
                    <a:cubicBezTo>
                      <a:pt x="931" y="449"/>
                      <a:pt x="1013" y="458"/>
                      <a:pt x="1101" y="458"/>
                    </a:cubicBezTo>
                    <a:cubicBezTo>
                      <a:pt x="1270" y="458"/>
                      <a:pt x="1419" y="424"/>
                      <a:pt x="1505" y="373"/>
                    </a:cubicBezTo>
                    <a:cubicBezTo>
                      <a:pt x="1544" y="441"/>
                      <a:pt x="1567" y="520"/>
                      <a:pt x="1567" y="604"/>
                    </a:cubicBezTo>
                    <a:cubicBezTo>
                      <a:pt x="1567" y="949"/>
                      <a:pt x="1567" y="949"/>
                      <a:pt x="1567" y="949"/>
                    </a:cubicBezTo>
                    <a:cubicBezTo>
                      <a:pt x="1567" y="1206"/>
                      <a:pt x="1357" y="1415"/>
                      <a:pt x="1101" y="1415"/>
                    </a:cubicBez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nvGrpSpPr>
              <p:cNvPr id="63" name="Group 62"/>
              <p:cNvGrpSpPr/>
              <p:nvPr/>
            </p:nvGrpSpPr>
            <p:grpSpPr>
              <a:xfrm>
                <a:off x="8953036" y="617324"/>
                <a:ext cx="586889" cy="586291"/>
                <a:chOff x="8986377" y="577634"/>
                <a:chExt cx="586889" cy="586291"/>
              </a:xfrm>
            </p:grpSpPr>
            <p:sp>
              <p:nvSpPr>
                <p:cNvPr id="64" name="Oval 63"/>
                <p:cNvSpPr/>
                <p:nvPr/>
              </p:nvSpPr>
              <p:spPr>
                <a:xfrm>
                  <a:off x="9131300" y="606425"/>
                  <a:ext cx="288925" cy="355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65" name="Group 64">
                  <a:extLst>
                    <a:ext uri="{FF2B5EF4-FFF2-40B4-BE49-F238E27FC236}">
                      <a16:creationId xmlns:a16="http://schemas.microsoft.com/office/drawing/2014/main" id="{823A656B-6542-4EDE-9913-76B16529E577}"/>
                    </a:ext>
                  </a:extLst>
                </p:cNvPr>
                <p:cNvGrpSpPr>
                  <a:grpSpLocks noChangeAspect="1"/>
                </p:cNvGrpSpPr>
                <p:nvPr/>
              </p:nvGrpSpPr>
              <p:grpSpPr>
                <a:xfrm>
                  <a:off x="8986377" y="577634"/>
                  <a:ext cx="586889" cy="586291"/>
                  <a:chOff x="-1019175" y="-1980407"/>
                  <a:chExt cx="1558925" cy="1557338"/>
                </a:xfrm>
                <a:solidFill>
                  <a:srgbClr val="E49B13"/>
                </a:solidFill>
              </p:grpSpPr>
              <p:sp>
                <p:nvSpPr>
                  <p:cNvPr id="66" name="Freeform 1477">
                    <a:extLst>
                      <a:ext uri="{FF2B5EF4-FFF2-40B4-BE49-F238E27FC236}">
                        <a16:creationId xmlns:a16="http://schemas.microsoft.com/office/drawing/2014/main" id="{34697F9B-B64C-4AF3-9E69-25FE0DC20029}"/>
                      </a:ext>
                    </a:extLst>
                  </p:cNvPr>
                  <p:cNvSpPr>
                    <a:spLocks/>
                  </p:cNvSpPr>
                  <p:nvPr/>
                </p:nvSpPr>
                <p:spPr bwMode="auto">
                  <a:xfrm>
                    <a:off x="107950" y="-916782"/>
                    <a:ext cx="431800" cy="493713"/>
                  </a:xfrm>
                  <a:custGeom>
                    <a:avLst/>
                    <a:gdLst>
                      <a:gd name="T0" fmla="*/ 605 w 609"/>
                      <a:gd name="T1" fmla="*/ 512 h 698"/>
                      <a:gd name="T2" fmla="*/ 600 w 609"/>
                      <a:gd name="T3" fmla="*/ 432 h 698"/>
                      <a:gd name="T4" fmla="*/ 468 w 609"/>
                      <a:gd name="T5" fmla="*/ 233 h 698"/>
                      <a:gd name="T6" fmla="*/ 0 w 609"/>
                      <a:gd name="T7" fmla="*/ 0 h 698"/>
                      <a:gd name="T8" fmla="*/ 0 w 609"/>
                      <a:gd name="T9" fmla="*/ 277 h 698"/>
                      <a:gd name="T10" fmla="*/ 167 w 609"/>
                      <a:gd name="T11" fmla="*/ 485 h 698"/>
                      <a:gd name="T12" fmla="*/ 169 w 609"/>
                      <a:gd name="T13" fmla="*/ 502 h 698"/>
                      <a:gd name="T14" fmla="*/ 169 w 609"/>
                      <a:gd name="T15" fmla="*/ 698 h 698"/>
                      <a:gd name="T16" fmla="*/ 478 w 609"/>
                      <a:gd name="T17" fmla="*/ 698 h 698"/>
                      <a:gd name="T18" fmla="*/ 601 w 609"/>
                      <a:gd name="T19" fmla="*/ 616 h 698"/>
                      <a:gd name="T20" fmla="*/ 608 w 609"/>
                      <a:gd name="T21" fmla="*/ 561 h 698"/>
                      <a:gd name="T22" fmla="*/ 605 w 609"/>
                      <a:gd name="T23" fmla="*/ 512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9" h="698">
                        <a:moveTo>
                          <a:pt x="605" y="512"/>
                        </a:moveTo>
                        <a:cubicBezTo>
                          <a:pt x="600" y="432"/>
                          <a:pt x="600" y="432"/>
                          <a:pt x="600" y="432"/>
                        </a:cubicBezTo>
                        <a:cubicBezTo>
                          <a:pt x="588" y="323"/>
                          <a:pt x="536" y="267"/>
                          <a:pt x="468" y="233"/>
                        </a:cubicBezTo>
                        <a:cubicBezTo>
                          <a:pt x="0" y="0"/>
                          <a:pt x="0" y="0"/>
                          <a:pt x="0" y="0"/>
                        </a:cubicBezTo>
                        <a:cubicBezTo>
                          <a:pt x="0" y="277"/>
                          <a:pt x="0" y="277"/>
                          <a:pt x="0" y="277"/>
                        </a:cubicBezTo>
                        <a:cubicBezTo>
                          <a:pt x="92" y="304"/>
                          <a:pt x="160" y="386"/>
                          <a:pt x="167" y="485"/>
                        </a:cubicBezTo>
                        <a:cubicBezTo>
                          <a:pt x="168" y="491"/>
                          <a:pt x="169" y="496"/>
                          <a:pt x="169" y="502"/>
                        </a:cubicBezTo>
                        <a:cubicBezTo>
                          <a:pt x="169" y="698"/>
                          <a:pt x="169" y="698"/>
                          <a:pt x="169" y="698"/>
                        </a:cubicBezTo>
                        <a:cubicBezTo>
                          <a:pt x="478" y="698"/>
                          <a:pt x="478" y="698"/>
                          <a:pt x="478" y="698"/>
                        </a:cubicBezTo>
                        <a:cubicBezTo>
                          <a:pt x="534" y="698"/>
                          <a:pt x="582" y="665"/>
                          <a:pt x="601" y="616"/>
                        </a:cubicBezTo>
                        <a:cubicBezTo>
                          <a:pt x="607" y="599"/>
                          <a:pt x="609" y="581"/>
                          <a:pt x="608" y="561"/>
                        </a:cubicBezTo>
                        <a:lnTo>
                          <a:pt x="605" y="512"/>
                        </a:lnTo>
                        <a:close/>
                      </a:path>
                    </a:pathLst>
                  </a:custGeom>
                  <a:solidFill>
                    <a:srgbClr val="1571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67" name="Freeform 1478">
                    <a:extLst>
                      <a:ext uri="{FF2B5EF4-FFF2-40B4-BE49-F238E27FC236}">
                        <a16:creationId xmlns:a16="http://schemas.microsoft.com/office/drawing/2014/main" id="{3DF792A9-8876-4927-875E-B723BAA601CD}"/>
                      </a:ext>
                    </a:extLst>
                  </p:cNvPr>
                  <p:cNvSpPr>
                    <a:spLocks noEditPoints="1"/>
                  </p:cNvSpPr>
                  <p:nvPr/>
                </p:nvSpPr>
                <p:spPr bwMode="auto">
                  <a:xfrm>
                    <a:off x="-1019175" y="-1980407"/>
                    <a:ext cx="1206500" cy="1557338"/>
                  </a:xfrm>
                  <a:custGeom>
                    <a:avLst/>
                    <a:gdLst>
                      <a:gd name="T0" fmla="*/ 1458 w 1704"/>
                      <a:gd name="T1" fmla="*/ 1435 h 2199"/>
                      <a:gd name="T2" fmla="*/ 1704 w 1704"/>
                      <a:gd name="T3" fmla="*/ 948 h 2199"/>
                      <a:gd name="T4" fmla="*/ 1704 w 1704"/>
                      <a:gd name="T5" fmla="*/ 603 h 2199"/>
                      <a:gd name="T6" fmla="*/ 1563 w 1704"/>
                      <a:gd name="T7" fmla="*/ 215 h 2199"/>
                      <a:gd name="T8" fmla="*/ 1560 w 1704"/>
                      <a:gd name="T9" fmla="*/ 212 h 2199"/>
                      <a:gd name="T10" fmla="*/ 1101 w 1704"/>
                      <a:gd name="T11" fmla="*/ 0 h 2199"/>
                      <a:gd name="T12" fmla="*/ 641 w 1704"/>
                      <a:gd name="T13" fmla="*/ 212 h 2199"/>
                      <a:gd name="T14" fmla="*/ 639 w 1704"/>
                      <a:gd name="T15" fmla="*/ 214 h 2199"/>
                      <a:gd name="T16" fmla="*/ 497 w 1704"/>
                      <a:gd name="T17" fmla="*/ 603 h 2199"/>
                      <a:gd name="T18" fmla="*/ 497 w 1704"/>
                      <a:gd name="T19" fmla="*/ 948 h 2199"/>
                      <a:gd name="T20" fmla="*/ 743 w 1704"/>
                      <a:gd name="T21" fmla="*/ 1435 h 2199"/>
                      <a:gd name="T22" fmla="*/ 743 w 1704"/>
                      <a:gd name="T23" fmla="*/ 1743 h 2199"/>
                      <a:gd name="T24" fmla="*/ 855 w 1704"/>
                      <a:gd name="T25" fmla="*/ 1909 h 2199"/>
                      <a:gd name="T26" fmla="*/ 676 w 1704"/>
                      <a:gd name="T27" fmla="*/ 2088 h 2199"/>
                      <a:gd name="T28" fmla="*/ 497 w 1704"/>
                      <a:gd name="T29" fmla="*/ 1909 h 2199"/>
                      <a:gd name="T30" fmla="*/ 609 w 1704"/>
                      <a:gd name="T31" fmla="*/ 1743 h 2199"/>
                      <a:gd name="T32" fmla="*/ 609 w 1704"/>
                      <a:gd name="T33" fmla="*/ 1501 h 2199"/>
                      <a:gd name="T34" fmla="*/ 140 w 1704"/>
                      <a:gd name="T35" fmla="*/ 1734 h 2199"/>
                      <a:gd name="T36" fmla="*/ 9 w 1704"/>
                      <a:gd name="T37" fmla="*/ 1933 h 2199"/>
                      <a:gd name="T38" fmla="*/ 1 w 1704"/>
                      <a:gd name="T39" fmla="*/ 2062 h 2199"/>
                      <a:gd name="T40" fmla="*/ 7 w 1704"/>
                      <a:gd name="T41" fmla="*/ 2116 h 2199"/>
                      <a:gd name="T42" fmla="*/ 130 w 1704"/>
                      <a:gd name="T43" fmla="*/ 2199 h 2199"/>
                      <a:gd name="T44" fmla="*/ 1289 w 1704"/>
                      <a:gd name="T45" fmla="*/ 2199 h 2199"/>
                      <a:gd name="T46" fmla="*/ 1289 w 1704"/>
                      <a:gd name="T47" fmla="*/ 2003 h 2199"/>
                      <a:gd name="T48" fmla="*/ 1291 w 1704"/>
                      <a:gd name="T49" fmla="*/ 1990 h 2199"/>
                      <a:gd name="T50" fmla="*/ 1458 w 1704"/>
                      <a:gd name="T51" fmla="*/ 1778 h 2199"/>
                      <a:gd name="T52" fmla="*/ 1458 w 1704"/>
                      <a:gd name="T53" fmla="*/ 1435 h 2199"/>
                      <a:gd name="T54" fmla="*/ 1101 w 1704"/>
                      <a:gd name="T55" fmla="*/ 1414 h 2199"/>
                      <a:gd name="T56" fmla="*/ 635 w 1704"/>
                      <a:gd name="T57" fmla="*/ 948 h 2199"/>
                      <a:gd name="T58" fmla="*/ 635 w 1704"/>
                      <a:gd name="T59" fmla="*/ 659 h 2199"/>
                      <a:gd name="T60" fmla="*/ 635 w 1704"/>
                      <a:gd name="T61" fmla="*/ 659 h 2199"/>
                      <a:gd name="T62" fmla="*/ 860 w 1704"/>
                      <a:gd name="T63" fmla="*/ 432 h 2199"/>
                      <a:gd name="T64" fmla="*/ 1101 w 1704"/>
                      <a:gd name="T65" fmla="*/ 458 h 2199"/>
                      <a:gd name="T66" fmla="*/ 1505 w 1704"/>
                      <a:gd name="T67" fmla="*/ 372 h 2199"/>
                      <a:gd name="T68" fmla="*/ 1567 w 1704"/>
                      <a:gd name="T69" fmla="*/ 603 h 2199"/>
                      <a:gd name="T70" fmla="*/ 1567 w 1704"/>
                      <a:gd name="T71" fmla="*/ 948 h 2199"/>
                      <a:gd name="T72" fmla="*/ 1101 w 1704"/>
                      <a:gd name="T73" fmla="*/ 1414 h 2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04" h="2199">
                        <a:moveTo>
                          <a:pt x="1458" y="1435"/>
                        </a:moveTo>
                        <a:cubicBezTo>
                          <a:pt x="1608" y="1325"/>
                          <a:pt x="1704" y="1148"/>
                          <a:pt x="1704" y="948"/>
                        </a:cubicBezTo>
                        <a:cubicBezTo>
                          <a:pt x="1704" y="603"/>
                          <a:pt x="1704" y="603"/>
                          <a:pt x="1704" y="603"/>
                        </a:cubicBezTo>
                        <a:cubicBezTo>
                          <a:pt x="1704" y="455"/>
                          <a:pt x="1651" y="319"/>
                          <a:pt x="1563" y="215"/>
                        </a:cubicBezTo>
                        <a:cubicBezTo>
                          <a:pt x="1562" y="214"/>
                          <a:pt x="1561" y="213"/>
                          <a:pt x="1560" y="212"/>
                        </a:cubicBezTo>
                        <a:cubicBezTo>
                          <a:pt x="1450" y="82"/>
                          <a:pt x="1285" y="0"/>
                          <a:pt x="1101" y="0"/>
                        </a:cubicBezTo>
                        <a:cubicBezTo>
                          <a:pt x="917" y="0"/>
                          <a:pt x="752" y="82"/>
                          <a:pt x="641" y="212"/>
                        </a:cubicBezTo>
                        <a:cubicBezTo>
                          <a:pt x="640" y="213"/>
                          <a:pt x="640" y="214"/>
                          <a:pt x="639" y="214"/>
                        </a:cubicBezTo>
                        <a:cubicBezTo>
                          <a:pt x="551" y="319"/>
                          <a:pt x="497" y="455"/>
                          <a:pt x="497" y="603"/>
                        </a:cubicBezTo>
                        <a:cubicBezTo>
                          <a:pt x="497" y="948"/>
                          <a:pt x="497" y="948"/>
                          <a:pt x="497" y="948"/>
                        </a:cubicBezTo>
                        <a:cubicBezTo>
                          <a:pt x="497" y="1148"/>
                          <a:pt x="594" y="1325"/>
                          <a:pt x="743" y="1435"/>
                        </a:cubicBezTo>
                        <a:cubicBezTo>
                          <a:pt x="743" y="1743"/>
                          <a:pt x="743" y="1743"/>
                          <a:pt x="743" y="1743"/>
                        </a:cubicBezTo>
                        <a:cubicBezTo>
                          <a:pt x="809" y="1770"/>
                          <a:pt x="855" y="1834"/>
                          <a:pt x="855" y="1909"/>
                        </a:cubicBezTo>
                        <a:cubicBezTo>
                          <a:pt x="855" y="2008"/>
                          <a:pt x="775" y="2088"/>
                          <a:pt x="676" y="2088"/>
                        </a:cubicBezTo>
                        <a:cubicBezTo>
                          <a:pt x="577" y="2088"/>
                          <a:pt x="497" y="2008"/>
                          <a:pt x="497" y="1909"/>
                        </a:cubicBezTo>
                        <a:cubicBezTo>
                          <a:pt x="497" y="1834"/>
                          <a:pt x="544" y="1770"/>
                          <a:pt x="609" y="1743"/>
                        </a:cubicBezTo>
                        <a:cubicBezTo>
                          <a:pt x="609" y="1501"/>
                          <a:pt x="609" y="1501"/>
                          <a:pt x="609" y="1501"/>
                        </a:cubicBezTo>
                        <a:cubicBezTo>
                          <a:pt x="140" y="1734"/>
                          <a:pt x="140" y="1734"/>
                          <a:pt x="140" y="1734"/>
                        </a:cubicBezTo>
                        <a:cubicBezTo>
                          <a:pt x="73" y="1768"/>
                          <a:pt x="21" y="1824"/>
                          <a:pt x="9" y="1933"/>
                        </a:cubicBezTo>
                        <a:cubicBezTo>
                          <a:pt x="1" y="2062"/>
                          <a:pt x="1" y="2062"/>
                          <a:pt x="1" y="2062"/>
                        </a:cubicBezTo>
                        <a:cubicBezTo>
                          <a:pt x="0" y="2081"/>
                          <a:pt x="1" y="2099"/>
                          <a:pt x="7" y="2116"/>
                        </a:cubicBezTo>
                        <a:cubicBezTo>
                          <a:pt x="25" y="2165"/>
                          <a:pt x="73" y="2199"/>
                          <a:pt x="130" y="2199"/>
                        </a:cubicBezTo>
                        <a:cubicBezTo>
                          <a:pt x="1289" y="2199"/>
                          <a:pt x="1289" y="2199"/>
                          <a:pt x="1289" y="2199"/>
                        </a:cubicBezTo>
                        <a:cubicBezTo>
                          <a:pt x="1289" y="2003"/>
                          <a:pt x="1289" y="2003"/>
                          <a:pt x="1289" y="2003"/>
                        </a:cubicBezTo>
                        <a:cubicBezTo>
                          <a:pt x="1289" y="1999"/>
                          <a:pt x="1290" y="1994"/>
                          <a:pt x="1291" y="1990"/>
                        </a:cubicBezTo>
                        <a:cubicBezTo>
                          <a:pt x="1297" y="1889"/>
                          <a:pt x="1365" y="1806"/>
                          <a:pt x="1458" y="1778"/>
                        </a:cubicBezTo>
                        <a:lnTo>
                          <a:pt x="1458" y="1435"/>
                        </a:lnTo>
                        <a:close/>
                        <a:moveTo>
                          <a:pt x="1101" y="1414"/>
                        </a:moveTo>
                        <a:cubicBezTo>
                          <a:pt x="844" y="1414"/>
                          <a:pt x="635" y="1205"/>
                          <a:pt x="635" y="948"/>
                        </a:cubicBezTo>
                        <a:cubicBezTo>
                          <a:pt x="635" y="659"/>
                          <a:pt x="635" y="659"/>
                          <a:pt x="635" y="659"/>
                        </a:cubicBezTo>
                        <a:cubicBezTo>
                          <a:pt x="635" y="659"/>
                          <a:pt x="635" y="659"/>
                          <a:pt x="635" y="659"/>
                        </a:cubicBezTo>
                        <a:cubicBezTo>
                          <a:pt x="635" y="534"/>
                          <a:pt x="736" y="433"/>
                          <a:pt x="860" y="432"/>
                        </a:cubicBezTo>
                        <a:cubicBezTo>
                          <a:pt x="931" y="448"/>
                          <a:pt x="1013" y="458"/>
                          <a:pt x="1101" y="458"/>
                        </a:cubicBezTo>
                        <a:cubicBezTo>
                          <a:pt x="1270" y="458"/>
                          <a:pt x="1419" y="424"/>
                          <a:pt x="1505" y="372"/>
                        </a:cubicBezTo>
                        <a:cubicBezTo>
                          <a:pt x="1544" y="440"/>
                          <a:pt x="1567" y="519"/>
                          <a:pt x="1567" y="603"/>
                        </a:cubicBezTo>
                        <a:cubicBezTo>
                          <a:pt x="1567" y="948"/>
                          <a:pt x="1567" y="948"/>
                          <a:pt x="1567" y="948"/>
                        </a:cubicBezTo>
                        <a:cubicBezTo>
                          <a:pt x="1567" y="1205"/>
                          <a:pt x="1358" y="1414"/>
                          <a:pt x="1101" y="1414"/>
                        </a:cubicBezTo>
                        <a:close/>
                      </a:path>
                    </a:pathLst>
                  </a:custGeom>
                  <a:solidFill>
                    <a:srgbClr val="1571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68" name="Freeform 1479">
                    <a:extLst>
                      <a:ext uri="{FF2B5EF4-FFF2-40B4-BE49-F238E27FC236}">
                        <a16:creationId xmlns:a16="http://schemas.microsoft.com/office/drawing/2014/main" id="{381C79B9-E136-4C78-ACE7-4F62B2A5B843}"/>
                      </a:ext>
                    </a:extLst>
                  </p:cNvPr>
                  <p:cNvSpPr>
                    <a:spLocks/>
                  </p:cNvSpPr>
                  <p:nvPr/>
                </p:nvSpPr>
                <p:spPr bwMode="auto">
                  <a:xfrm>
                    <a:off x="-11113" y="-634207"/>
                    <a:ext cx="144463" cy="211138"/>
                  </a:xfrm>
                  <a:custGeom>
                    <a:avLst/>
                    <a:gdLst>
                      <a:gd name="T0" fmla="*/ 101 w 204"/>
                      <a:gd name="T1" fmla="*/ 0 h 299"/>
                      <a:gd name="T2" fmla="*/ 0 w 204"/>
                      <a:gd name="T3" fmla="*/ 102 h 299"/>
                      <a:gd name="T4" fmla="*/ 0 w 204"/>
                      <a:gd name="T5" fmla="*/ 299 h 299"/>
                      <a:gd name="T6" fmla="*/ 204 w 204"/>
                      <a:gd name="T7" fmla="*/ 299 h 299"/>
                      <a:gd name="T8" fmla="*/ 204 w 204"/>
                      <a:gd name="T9" fmla="*/ 109 h 299"/>
                      <a:gd name="T10" fmla="*/ 203 w 204"/>
                      <a:gd name="T11" fmla="*/ 102 h 299"/>
                      <a:gd name="T12" fmla="*/ 101 w 204"/>
                      <a:gd name="T13" fmla="*/ 0 h 299"/>
                    </a:gdLst>
                    <a:ahLst/>
                    <a:cxnLst>
                      <a:cxn ang="0">
                        <a:pos x="T0" y="T1"/>
                      </a:cxn>
                      <a:cxn ang="0">
                        <a:pos x="T2" y="T3"/>
                      </a:cxn>
                      <a:cxn ang="0">
                        <a:pos x="T4" y="T5"/>
                      </a:cxn>
                      <a:cxn ang="0">
                        <a:pos x="T6" y="T7"/>
                      </a:cxn>
                      <a:cxn ang="0">
                        <a:pos x="T8" y="T9"/>
                      </a:cxn>
                      <a:cxn ang="0">
                        <a:pos x="T10" y="T11"/>
                      </a:cxn>
                      <a:cxn ang="0">
                        <a:pos x="T12" y="T13"/>
                      </a:cxn>
                    </a:cxnLst>
                    <a:rect l="0" t="0" r="r" b="b"/>
                    <a:pathLst>
                      <a:path w="204" h="299">
                        <a:moveTo>
                          <a:pt x="101" y="0"/>
                        </a:moveTo>
                        <a:cubicBezTo>
                          <a:pt x="45" y="0"/>
                          <a:pt x="0" y="46"/>
                          <a:pt x="0" y="102"/>
                        </a:cubicBezTo>
                        <a:cubicBezTo>
                          <a:pt x="0" y="299"/>
                          <a:pt x="0" y="299"/>
                          <a:pt x="0" y="299"/>
                        </a:cubicBezTo>
                        <a:cubicBezTo>
                          <a:pt x="204" y="299"/>
                          <a:pt x="204" y="299"/>
                          <a:pt x="204" y="299"/>
                        </a:cubicBezTo>
                        <a:cubicBezTo>
                          <a:pt x="204" y="109"/>
                          <a:pt x="204" y="109"/>
                          <a:pt x="204" y="109"/>
                        </a:cubicBezTo>
                        <a:cubicBezTo>
                          <a:pt x="204" y="106"/>
                          <a:pt x="203" y="104"/>
                          <a:pt x="203" y="102"/>
                        </a:cubicBezTo>
                        <a:cubicBezTo>
                          <a:pt x="203" y="46"/>
                          <a:pt x="158" y="0"/>
                          <a:pt x="101" y="0"/>
                        </a:cubicBezTo>
                        <a:close/>
                      </a:path>
                    </a:pathLst>
                  </a:custGeom>
                  <a:solidFill>
                    <a:srgbClr val="1571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grpSp>
      </p:grpSp>
      <p:pic>
        <p:nvPicPr>
          <p:cNvPr id="46" name="Picture 45">
            <a:extLst>
              <a:ext uri="{FF2B5EF4-FFF2-40B4-BE49-F238E27FC236}">
                <a16:creationId xmlns:a16="http://schemas.microsoft.com/office/drawing/2014/main" id="{F89C67CB-48BA-4A88-9301-0CB397AE4EB8}"/>
              </a:ext>
            </a:extLst>
          </p:cNvPr>
          <p:cNvPicPr>
            <a:picLocks noChangeAspect="1"/>
          </p:cNvPicPr>
          <p:nvPr/>
        </p:nvPicPr>
        <p:blipFill>
          <a:blip r:embed="rId3"/>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93880231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Group 62"/>
          <p:cNvGrpSpPr/>
          <p:nvPr/>
        </p:nvGrpSpPr>
        <p:grpSpPr>
          <a:xfrm>
            <a:off x="7525936" y="3900196"/>
            <a:ext cx="2189352" cy="2206556"/>
            <a:chOff x="8668139" y="4282750"/>
            <a:chExt cx="1666458" cy="1679553"/>
          </a:xfrm>
        </p:grpSpPr>
        <p:grpSp>
          <p:nvGrpSpPr>
            <p:cNvPr id="50" name="Group 49"/>
            <p:cNvGrpSpPr/>
            <p:nvPr/>
          </p:nvGrpSpPr>
          <p:grpSpPr>
            <a:xfrm>
              <a:off x="8766700" y="4336412"/>
              <a:ext cx="1497550" cy="1587708"/>
              <a:chOff x="10327154" y="1289037"/>
              <a:chExt cx="842497" cy="893220"/>
            </a:xfrm>
          </p:grpSpPr>
          <p:sp>
            <p:nvSpPr>
              <p:cNvPr id="51" name="Freeform 50"/>
              <p:cNvSpPr>
                <a:spLocks noEditPoints="1"/>
              </p:cNvSpPr>
              <p:nvPr/>
            </p:nvSpPr>
            <p:spPr bwMode="auto">
              <a:xfrm>
                <a:off x="10327154" y="1528378"/>
                <a:ext cx="616063" cy="459340"/>
              </a:xfrm>
              <a:custGeom>
                <a:avLst/>
                <a:gdLst>
                  <a:gd name="T0" fmla="*/ 749 w 13069"/>
                  <a:gd name="T1" fmla="*/ 4497 h 9762"/>
                  <a:gd name="T2" fmla="*/ 4994 w 13069"/>
                  <a:gd name="T3" fmla="*/ 1636 h 9762"/>
                  <a:gd name="T4" fmla="*/ 4909 w 13069"/>
                  <a:gd name="T5" fmla="*/ 2766 h 9762"/>
                  <a:gd name="T6" fmla="*/ 1345 w 13069"/>
                  <a:gd name="T7" fmla="*/ 4486 h 9762"/>
                  <a:gd name="T8" fmla="*/ 1587 w 13069"/>
                  <a:gd name="T9" fmla="*/ 9224 h 9762"/>
                  <a:gd name="T10" fmla="*/ 5570 w 13069"/>
                  <a:gd name="T11" fmla="*/ 6875 h 9762"/>
                  <a:gd name="T12" fmla="*/ 5532 w 13069"/>
                  <a:gd name="T13" fmla="*/ 4510 h 9762"/>
                  <a:gd name="T14" fmla="*/ 6146 w 13069"/>
                  <a:gd name="T15" fmla="*/ 6196 h 9762"/>
                  <a:gd name="T16" fmla="*/ 2885 w 13069"/>
                  <a:gd name="T17" fmla="*/ 9598 h 9762"/>
                  <a:gd name="T18" fmla="*/ 10093 w 13069"/>
                  <a:gd name="T19" fmla="*/ 9558 h 9762"/>
                  <a:gd name="T20" fmla="*/ 6936 w 13069"/>
                  <a:gd name="T21" fmla="*/ 6133 h 9762"/>
                  <a:gd name="T22" fmla="*/ 7716 w 13069"/>
                  <a:gd name="T23" fmla="*/ 4610 h 9762"/>
                  <a:gd name="T24" fmla="*/ 7537 w 13069"/>
                  <a:gd name="T25" fmla="*/ 6933 h 9762"/>
                  <a:gd name="T26" fmla="*/ 10251 w 13069"/>
                  <a:gd name="T27" fmla="*/ 9050 h 9762"/>
                  <a:gd name="T28" fmla="*/ 12469 w 13069"/>
                  <a:gd name="T29" fmla="*/ 7017 h 9762"/>
                  <a:gd name="T30" fmla="*/ 9085 w 13069"/>
                  <a:gd name="T31" fmla="*/ 1739 h 9762"/>
                  <a:gd name="T32" fmla="*/ 7738 w 13069"/>
                  <a:gd name="T33" fmla="*/ 2729 h 9762"/>
                  <a:gd name="T34" fmla="*/ 9401 w 13069"/>
                  <a:gd name="T35" fmla="*/ 1249 h 9762"/>
                  <a:gd name="T36" fmla="*/ 12800 w 13069"/>
                  <a:gd name="T37" fmla="*/ 8750 h 9762"/>
                  <a:gd name="T38" fmla="*/ 10192 w 13069"/>
                  <a:gd name="T39" fmla="*/ 7432 h 9762"/>
                  <a:gd name="T40" fmla="*/ 9996 w 13069"/>
                  <a:gd name="T41" fmla="*/ 5895 h 9762"/>
                  <a:gd name="T42" fmla="*/ 9323 w 13069"/>
                  <a:gd name="T43" fmla="*/ 5708 h 9762"/>
                  <a:gd name="T44" fmla="*/ 9132 w 13069"/>
                  <a:gd name="T45" fmla="*/ 7467 h 9762"/>
                  <a:gd name="T46" fmla="*/ 9643 w 13069"/>
                  <a:gd name="T47" fmla="*/ 8270 h 9762"/>
                  <a:gd name="T48" fmla="*/ 8904 w 13069"/>
                  <a:gd name="T49" fmla="*/ 7746 h 9762"/>
                  <a:gd name="T50" fmla="*/ 8768 w 13069"/>
                  <a:gd name="T51" fmla="*/ 5056 h 9762"/>
                  <a:gd name="T52" fmla="*/ 6531 w 13069"/>
                  <a:gd name="T53" fmla="*/ 3045 h 9762"/>
                  <a:gd name="T54" fmla="*/ 4276 w 13069"/>
                  <a:gd name="T55" fmla="*/ 5074 h 9762"/>
                  <a:gd name="T56" fmla="*/ 4168 w 13069"/>
                  <a:gd name="T57" fmla="*/ 7672 h 9762"/>
                  <a:gd name="T58" fmla="*/ 3514 w 13069"/>
                  <a:gd name="T59" fmla="*/ 8102 h 9762"/>
                  <a:gd name="T60" fmla="*/ 3835 w 13069"/>
                  <a:gd name="T61" fmla="*/ 6767 h 9762"/>
                  <a:gd name="T62" fmla="*/ 3201 w 13069"/>
                  <a:gd name="T63" fmla="*/ 5718 h 9762"/>
                  <a:gd name="T64" fmla="*/ 3020 w 13069"/>
                  <a:gd name="T65" fmla="*/ 6505 h 9762"/>
                  <a:gd name="T66" fmla="*/ 2400 w 13069"/>
                  <a:gd name="T67" fmla="*/ 8425 h 9762"/>
                  <a:gd name="T68" fmla="*/ 2600 w 13069"/>
                  <a:gd name="T69" fmla="*/ 6421 h 9762"/>
                  <a:gd name="T70" fmla="*/ 1555 w 13069"/>
                  <a:gd name="T71" fmla="*/ 6708 h 9762"/>
                  <a:gd name="T72" fmla="*/ 3553 w 13069"/>
                  <a:gd name="T73" fmla="*/ 5169 h 9762"/>
                  <a:gd name="T74" fmla="*/ 4101 w 13069"/>
                  <a:gd name="T75" fmla="*/ 4435 h 9762"/>
                  <a:gd name="T76" fmla="*/ 3401 w 13069"/>
                  <a:gd name="T77" fmla="*/ 3818 h 9762"/>
                  <a:gd name="T78" fmla="*/ 3218 w 13069"/>
                  <a:gd name="T79" fmla="*/ 3652 h 9762"/>
                  <a:gd name="T80" fmla="*/ 3769 w 13069"/>
                  <a:gd name="T81" fmla="*/ 3337 h 9762"/>
                  <a:gd name="T82" fmla="*/ 3450 w 13069"/>
                  <a:gd name="T83" fmla="*/ 2341 h 9762"/>
                  <a:gd name="T84" fmla="*/ 3939 w 13069"/>
                  <a:gd name="T85" fmla="*/ 3058 h 9762"/>
                  <a:gd name="T86" fmla="*/ 4693 w 13069"/>
                  <a:gd name="T87" fmla="*/ 3421 h 9762"/>
                  <a:gd name="T88" fmla="*/ 6043 w 13069"/>
                  <a:gd name="T89" fmla="*/ 2342 h 9762"/>
                  <a:gd name="T90" fmla="*/ 7042 w 13069"/>
                  <a:gd name="T91" fmla="*/ 0 h 9762"/>
                  <a:gd name="T92" fmla="*/ 7649 w 13069"/>
                  <a:gd name="T93" fmla="*/ 3156 h 9762"/>
                  <a:gd name="T94" fmla="*/ 9217 w 13069"/>
                  <a:gd name="T95" fmla="*/ 2985 h 9762"/>
                  <a:gd name="T96" fmla="*/ 9326 w 13069"/>
                  <a:gd name="T97" fmla="*/ 3274 h 9762"/>
                  <a:gd name="T98" fmla="*/ 10130 w 13069"/>
                  <a:gd name="T99" fmla="*/ 3695 h 9762"/>
                  <a:gd name="T100" fmla="*/ 9076 w 13069"/>
                  <a:gd name="T101" fmla="*/ 3774 h 9762"/>
                  <a:gd name="T102" fmla="*/ 9296 w 13069"/>
                  <a:gd name="T103" fmla="*/ 5064 h 9762"/>
                  <a:gd name="T104" fmla="*/ 10823 w 13069"/>
                  <a:gd name="T105" fmla="*/ 6542 h 9762"/>
                  <a:gd name="T106" fmla="*/ 11370 w 13069"/>
                  <a:gd name="T107" fmla="*/ 6878 h 9762"/>
                  <a:gd name="T108" fmla="*/ 10280 w 13069"/>
                  <a:gd name="T109" fmla="*/ 6570 h 9762"/>
                  <a:gd name="T110" fmla="*/ 10540 w 13069"/>
                  <a:gd name="T111" fmla="*/ 8304 h 9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069" h="9762">
                    <a:moveTo>
                      <a:pt x="1460" y="9706"/>
                    </a:moveTo>
                    <a:cubicBezTo>
                      <a:pt x="1061" y="9640"/>
                      <a:pt x="745" y="9453"/>
                      <a:pt x="490" y="9135"/>
                    </a:cubicBezTo>
                    <a:cubicBezTo>
                      <a:pt x="155" y="8716"/>
                      <a:pt x="3" y="8224"/>
                      <a:pt x="2" y="7550"/>
                    </a:cubicBezTo>
                    <a:cubicBezTo>
                      <a:pt x="0" y="6793"/>
                      <a:pt x="221" y="5893"/>
                      <a:pt x="749" y="4497"/>
                    </a:cubicBezTo>
                    <a:cubicBezTo>
                      <a:pt x="1002" y="3830"/>
                      <a:pt x="1190" y="3406"/>
                      <a:pt x="1414" y="3002"/>
                    </a:cubicBezTo>
                    <a:cubicBezTo>
                      <a:pt x="1619" y="2630"/>
                      <a:pt x="1826" y="2344"/>
                      <a:pt x="2064" y="2102"/>
                    </a:cubicBezTo>
                    <a:cubicBezTo>
                      <a:pt x="2511" y="1647"/>
                      <a:pt x="3117" y="1332"/>
                      <a:pt x="3751" y="1225"/>
                    </a:cubicBezTo>
                    <a:cubicBezTo>
                      <a:pt x="4211" y="1147"/>
                      <a:pt x="4639" y="1289"/>
                      <a:pt x="4994" y="1636"/>
                    </a:cubicBezTo>
                    <a:cubicBezTo>
                      <a:pt x="5218" y="1855"/>
                      <a:pt x="5314" y="2047"/>
                      <a:pt x="5392" y="2430"/>
                    </a:cubicBezTo>
                    <a:cubicBezTo>
                      <a:pt x="5428" y="2608"/>
                      <a:pt x="5425" y="2616"/>
                      <a:pt x="5267" y="2763"/>
                    </a:cubicBezTo>
                    <a:cubicBezTo>
                      <a:pt x="5137" y="2885"/>
                      <a:pt x="4958" y="3004"/>
                      <a:pt x="4936" y="2982"/>
                    </a:cubicBezTo>
                    <a:cubicBezTo>
                      <a:pt x="4931" y="2977"/>
                      <a:pt x="4919" y="2880"/>
                      <a:pt x="4909" y="2766"/>
                    </a:cubicBezTo>
                    <a:cubicBezTo>
                      <a:pt x="4874" y="2350"/>
                      <a:pt x="4820" y="2208"/>
                      <a:pt x="4628" y="2015"/>
                    </a:cubicBezTo>
                    <a:cubicBezTo>
                      <a:pt x="4455" y="1842"/>
                      <a:pt x="4228" y="1733"/>
                      <a:pt x="4036" y="1733"/>
                    </a:cubicBezTo>
                    <a:cubicBezTo>
                      <a:pt x="3843" y="1733"/>
                      <a:pt x="3394" y="1858"/>
                      <a:pt x="3154" y="1978"/>
                    </a:cubicBezTo>
                    <a:cubicBezTo>
                      <a:pt x="2343" y="2383"/>
                      <a:pt x="1916" y="2975"/>
                      <a:pt x="1345" y="4486"/>
                    </a:cubicBezTo>
                    <a:cubicBezTo>
                      <a:pt x="876" y="5725"/>
                      <a:pt x="672" y="6406"/>
                      <a:pt x="584" y="7017"/>
                    </a:cubicBezTo>
                    <a:cubicBezTo>
                      <a:pt x="545" y="7285"/>
                      <a:pt x="545" y="7754"/>
                      <a:pt x="584" y="7983"/>
                    </a:cubicBezTo>
                    <a:cubicBezTo>
                      <a:pt x="664" y="8454"/>
                      <a:pt x="868" y="8825"/>
                      <a:pt x="1173" y="9053"/>
                    </a:cubicBezTo>
                    <a:cubicBezTo>
                      <a:pt x="1296" y="9145"/>
                      <a:pt x="1415" y="9194"/>
                      <a:pt x="1587" y="9224"/>
                    </a:cubicBezTo>
                    <a:cubicBezTo>
                      <a:pt x="1853" y="9271"/>
                      <a:pt x="2129" y="9248"/>
                      <a:pt x="2714" y="9132"/>
                    </a:cubicBezTo>
                    <a:cubicBezTo>
                      <a:pt x="2804" y="9114"/>
                      <a:pt x="2980" y="9081"/>
                      <a:pt x="3106" y="9058"/>
                    </a:cubicBezTo>
                    <a:cubicBezTo>
                      <a:pt x="3684" y="8952"/>
                      <a:pt x="4151" y="8808"/>
                      <a:pt x="4453" y="8640"/>
                    </a:cubicBezTo>
                    <a:cubicBezTo>
                      <a:pt x="5113" y="8274"/>
                      <a:pt x="5421" y="7787"/>
                      <a:pt x="5570" y="6875"/>
                    </a:cubicBezTo>
                    <a:cubicBezTo>
                      <a:pt x="5614" y="6605"/>
                      <a:pt x="5614" y="5886"/>
                      <a:pt x="5570" y="5675"/>
                    </a:cubicBezTo>
                    <a:cubicBezTo>
                      <a:pt x="5524" y="5453"/>
                      <a:pt x="5456" y="5188"/>
                      <a:pt x="5376" y="4921"/>
                    </a:cubicBezTo>
                    <a:cubicBezTo>
                      <a:pt x="5337" y="4790"/>
                      <a:pt x="5307" y="4681"/>
                      <a:pt x="5311" y="4678"/>
                    </a:cubicBezTo>
                    <a:cubicBezTo>
                      <a:pt x="5315" y="4675"/>
                      <a:pt x="5414" y="4599"/>
                      <a:pt x="5532" y="4510"/>
                    </a:cubicBezTo>
                    <a:cubicBezTo>
                      <a:pt x="5649" y="4420"/>
                      <a:pt x="5748" y="4350"/>
                      <a:pt x="5752" y="4353"/>
                    </a:cubicBezTo>
                    <a:cubicBezTo>
                      <a:pt x="5762" y="4364"/>
                      <a:pt x="5868" y="4674"/>
                      <a:pt x="5924" y="4858"/>
                    </a:cubicBezTo>
                    <a:cubicBezTo>
                      <a:pt x="6026" y="5196"/>
                      <a:pt x="6088" y="5480"/>
                      <a:pt x="6136" y="5831"/>
                    </a:cubicBezTo>
                    <a:cubicBezTo>
                      <a:pt x="6162" y="6017"/>
                      <a:pt x="6163" y="6071"/>
                      <a:pt x="6146" y="6196"/>
                    </a:cubicBezTo>
                    <a:cubicBezTo>
                      <a:pt x="6136" y="6276"/>
                      <a:pt x="6122" y="6409"/>
                      <a:pt x="6117" y="6492"/>
                    </a:cubicBezTo>
                    <a:cubicBezTo>
                      <a:pt x="6036" y="7779"/>
                      <a:pt x="5579" y="8591"/>
                      <a:pt x="4660" y="9080"/>
                    </a:cubicBezTo>
                    <a:cubicBezTo>
                      <a:pt x="4310" y="9265"/>
                      <a:pt x="3803" y="9430"/>
                      <a:pt x="3293" y="9523"/>
                    </a:cubicBezTo>
                    <a:cubicBezTo>
                      <a:pt x="3215" y="9537"/>
                      <a:pt x="3031" y="9571"/>
                      <a:pt x="2885" y="9598"/>
                    </a:cubicBezTo>
                    <a:cubicBezTo>
                      <a:pt x="2142" y="9735"/>
                      <a:pt x="1793" y="9762"/>
                      <a:pt x="1460" y="9706"/>
                    </a:cubicBezTo>
                    <a:close/>
                    <a:moveTo>
                      <a:pt x="10893" y="9691"/>
                    </a:moveTo>
                    <a:cubicBezTo>
                      <a:pt x="10642" y="9663"/>
                      <a:pt x="10374" y="9621"/>
                      <a:pt x="10260" y="9592"/>
                    </a:cubicBezTo>
                    <a:cubicBezTo>
                      <a:pt x="10209" y="9580"/>
                      <a:pt x="10134" y="9565"/>
                      <a:pt x="10093" y="9558"/>
                    </a:cubicBezTo>
                    <a:cubicBezTo>
                      <a:pt x="9937" y="9536"/>
                      <a:pt x="9510" y="9445"/>
                      <a:pt x="9295" y="9389"/>
                    </a:cubicBezTo>
                    <a:cubicBezTo>
                      <a:pt x="8692" y="9233"/>
                      <a:pt x="8253" y="9025"/>
                      <a:pt x="7890" y="8723"/>
                    </a:cubicBezTo>
                    <a:cubicBezTo>
                      <a:pt x="7448" y="8354"/>
                      <a:pt x="7141" y="7761"/>
                      <a:pt x="7011" y="7025"/>
                    </a:cubicBezTo>
                    <a:cubicBezTo>
                      <a:pt x="6948" y="6672"/>
                      <a:pt x="6936" y="6525"/>
                      <a:pt x="6936" y="6133"/>
                    </a:cubicBezTo>
                    <a:cubicBezTo>
                      <a:pt x="6936" y="5719"/>
                      <a:pt x="6943" y="5661"/>
                      <a:pt x="7037" y="5267"/>
                    </a:cubicBezTo>
                    <a:cubicBezTo>
                      <a:pt x="7077" y="5101"/>
                      <a:pt x="7306" y="4315"/>
                      <a:pt x="7318" y="4303"/>
                    </a:cubicBezTo>
                    <a:cubicBezTo>
                      <a:pt x="7321" y="4300"/>
                      <a:pt x="7401" y="4360"/>
                      <a:pt x="7496" y="4436"/>
                    </a:cubicBezTo>
                    <a:cubicBezTo>
                      <a:pt x="7590" y="4513"/>
                      <a:pt x="7690" y="4591"/>
                      <a:pt x="7716" y="4610"/>
                    </a:cubicBezTo>
                    <a:lnTo>
                      <a:pt x="7764" y="4644"/>
                    </a:lnTo>
                    <a:lnTo>
                      <a:pt x="7739" y="4726"/>
                    </a:lnTo>
                    <a:cubicBezTo>
                      <a:pt x="7725" y="4771"/>
                      <a:pt x="7687" y="4895"/>
                      <a:pt x="7654" y="5000"/>
                    </a:cubicBezTo>
                    <a:cubicBezTo>
                      <a:pt x="7436" y="5709"/>
                      <a:pt x="7405" y="6206"/>
                      <a:pt x="7537" y="6933"/>
                    </a:cubicBezTo>
                    <a:cubicBezTo>
                      <a:pt x="7589" y="7224"/>
                      <a:pt x="7659" y="7446"/>
                      <a:pt x="7777" y="7696"/>
                    </a:cubicBezTo>
                    <a:cubicBezTo>
                      <a:pt x="8068" y="8314"/>
                      <a:pt x="8588" y="8675"/>
                      <a:pt x="9510" y="8900"/>
                    </a:cubicBezTo>
                    <a:cubicBezTo>
                      <a:pt x="9578" y="8917"/>
                      <a:pt x="9758" y="8954"/>
                      <a:pt x="9910" y="8982"/>
                    </a:cubicBezTo>
                    <a:cubicBezTo>
                      <a:pt x="10061" y="9011"/>
                      <a:pt x="10215" y="9041"/>
                      <a:pt x="10251" y="9050"/>
                    </a:cubicBezTo>
                    <a:cubicBezTo>
                      <a:pt x="10948" y="9215"/>
                      <a:pt x="11519" y="9225"/>
                      <a:pt x="11805" y="9077"/>
                    </a:cubicBezTo>
                    <a:cubicBezTo>
                      <a:pt x="11890" y="9033"/>
                      <a:pt x="12055" y="8888"/>
                      <a:pt x="12136" y="8786"/>
                    </a:cubicBezTo>
                    <a:cubicBezTo>
                      <a:pt x="12299" y="8581"/>
                      <a:pt x="12399" y="8348"/>
                      <a:pt x="12462" y="8031"/>
                    </a:cubicBezTo>
                    <a:cubicBezTo>
                      <a:pt x="12509" y="7789"/>
                      <a:pt x="12513" y="7313"/>
                      <a:pt x="12469" y="7017"/>
                    </a:cubicBezTo>
                    <a:cubicBezTo>
                      <a:pt x="12407" y="6591"/>
                      <a:pt x="12278" y="6087"/>
                      <a:pt x="12084" y="5508"/>
                    </a:cubicBezTo>
                    <a:cubicBezTo>
                      <a:pt x="11939" y="5074"/>
                      <a:pt x="11879" y="4914"/>
                      <a:pt x="11620" y="4250"/>
                    </a:cubicBezTo>
                    <a:cubicBezTo>
                      <a:pt x="11337" y="3524"/>
                      <a:pt x="11097" y="3069"/>
                      <a:pt x="10799" y="2693"/>
                    </a:cubicBezTo>
                    <a:cubicBezTo>
                      <a:pt x="10401" y="2190"/>
                      <a:pt x="9682" y="1790"/>
                      <a:pt x="9085" y="1739"/>
                    </a:cubicBezTo>
                    <a:cubicBezTo>
                      <a:pt x="8888" y="1722"/>
                      <a:pt x="8654" y="1807"/>
                      <a:pt x="8474" y="1961"/>
                    </a:cubicBezTo>
                    <a:cubicBezTo>
                      <a:pt x="8247" y="2155"/>
                      <a:pt x="8179" y="2303"/>
                      <a:pt x="8152" y="2667"/>
                    </a:cubicBezTo>
                    <a:cubicBezTo>
                      <a:pt x="8132" y="2950"/>
                      <a:pt x="8124" y="3000"/>
                      <a:pt x="8101" y="3000"/>
                    </a:cubicBezTo>
                    <a:cubicBezTo>
                      <a:pt x="8073" y="3000"/>
                      <a:pt x="7890" y="2863"/>
                      <a:pt x="7738" y="2729"/>
                    </a:cubicBezTo>
                    <a:lnTo>
                      <a:pt x="7625" y="2629"/>
                    </a:lnTo>
                    <a:lnTo>
                      <a:pt x="7635" y="2510"/>
                    </a:lnTo>
                    <a:cubicBezTo>
                      <a:pt x="7679" y="2025"/>
                      <a:pt x="7921" y="1650"/>
                      <a:pt x="8351" y="1397"/>
                    </a:cubicBezTo>
                    <a:cubicBezTo>
                      <a:pt x="8658" y="1216"/>
                      <a:pt x="9038" y="1163"/>
                      <a:pt x="9401" y="1249"/>
                    </a:cubicBezTo>
                    <a:cubicBezTo>
                      <a:pt x="10388" y="1482"/>
                      <a:pt x="11117" y="2058"/>
                      <a:pt x="11647" y="3025"/>
                    </a:cubicBezTo>
                    <a:cubicBezTo>
                      <a:pt x="12011" y="3687"/>
                      <a:pt x="12576" y="5219"/>
                      <a:pt x="12856" y="6300"/>
                    </a:cubicBezTo>
                    <a:cubicBezTo>
                      <a:pt x="12961" y="6704"/>
                      <a:pt x="13001" y="6950"/>
                      <a:pt x="13030" y="7348"/>
                    </a:cubicBezTo>
                    <a:cubicBezTo>
                      <a:pt x="13069" y="7912"/>
                      <a:pt x="12996" y="8360"/>
                      <a:pt x="12800" y="8750"/>
                    </a:cubicBezTo>
                    <a:cubicBezTo>
                      <a:pt x="12626" y="9097"/>
                      <a:pt x="12346" y="9392"/>
                      <a:pt x="12051" y="9539"/>
                    </a:cubicBezTo>
                    <a:cubicBezTo>
                      <a:pt x="11735" y="9696"/>
                      <a:pt x="11365" y="9745"/>
                      <a:pt x="10893" y="9691"/>
                    </a:cubicBezTo>
                    <a:close/>
                    <a:moveTo>
                      <a:pt x="10540" y="8304"/>
                    </a:moveTo>
                    <a:cubicBezTo>
                      <a:pt x="10488" y="8169"/>
                      <a:pt x="10320" y="7748"/>
                      <a:pt x="10192" y="7432"/>
                    </a:cubicBezTo>
                    <a:cubicBezTo>
                      <a:pt x="10142" y="7309"/>
                      <a:pt x="10060" y="6972"/>
                      <a:pt x="10034" y="6783"/>
                    </a:cubicBezTo>
                    <a:cubicBezTo>
                      <a:pt x="9999" y="6531"/>
                      <a:pt x="10003" y="6370"/>
                      <a:pt x="10050" y="6167"/>
                    </a:cubicBezTo>
                    <a:lnTo>
                      <a:pt x="10090" y="5992"/>
                    </a:lnTo>
                    <a:lnTo>
                      <a:pt x="9996" y="5895"/>
                    </a:lnTo>
                    <a:cubicBezTo>
                      <a:pt x="9944" y="5841"/>
                      <a:pt x="9866" y="5771"/>
                      <a:pt x="9822" y="5739"/>
                    </a:cubicBezTo>
                    <a:cubicBezTo>
                      <a:pt x="9734" y="5674"/>
                      <a:pt x="9535" y="5604"/>
                      <a:pt x="9415" y="5597"/>
                    </a:cubicBezTo>
                    <a:lnTo>
                      <a:pt x="9335" y="5592"/>
                    </a:lnTo>
                    <a:lnTo>
                      <a:pt x="9323" y="5708"/>
                    </a:lnTo>
                    <a:cubicBezTo>
                      <a:pt x="9317" y="5773"/>
                      <a:pt x="9303" y="5889"/>
                      <a:pt x="9293" y="5967"/>
                    </a:cubicBezTo>
                    <a:cubicBezTo>
                      <a:pt x="9271" y="6128"/>
                      <a:pt x="9253" y="6280"/>
                      <a:pt x="9217" y="6600"/>
                    </a:cubicBezTo>
                    <a:cubicBezTo>
                      <a:pt x="9203" y="6724"/>
                      <a:pt x="9180" y="6915"/>
                      <a:pt x="9166" y="7025"/>
                    </a:cubicBezTo>
                    <a:cubicBezTo>
                      <a:pt x="9151" y="7135"/>
                      <a:pt x="9136" y="7334"/>
                      <a:pt x="9132" y="7467"/>
                    </a:cubicBezTo>
                    <a:lnTo>
                      <a:pt x="9125" y="7708"/>
                    </a:lnTo>
                    <a:lnTo>
                      <a:pt x="9201" y="7835"/>
                    </a:lnTo>
                    <a:cubicBezTo>
                      <a:pt x="9276" y="7962"/>
                      <a:pt x="9382" y="8060"/>
                      <a:pt x="9514" y="8127"/>
                    </a:cubicBezTo>
                    <a:cubicBezTo>
                      <a:pt x="9600" y="8170"/>
                      <a:pt x="9643" y="8218"/>
                      <a:pt x="9643" y="8270"/>
                    </a:cubicBezTo>
                    <a:cubicBezTo>
                      <a:pt x="9643" y="8346"/>
                      <a:pt x="9582" y="8364"/>
                      <a:pt x="9482" y="8317"/>
                    </a:cubicBezTo>
                    <a:cubicBezTo>
                      <a:pt x="9438" y="8297"/>
                      <a:pt x="9384" y="8273"/>
                      <a:pt x="9363" y="8265"/>
                    </a:cubicBezTo>
                    <a:cubicBezTo>
                      <a:pt x="9283" y="8235"/>
                      <a:pt x="9061" y="8046"/>
                      <a:pt x="9009" y="7965"/>
                    </a:cubicBezTo>
                    <a:cubicBezTo>
                      <a:pt x="8980" y="7921"/>
                      <a:pt x="8933" y="7822"/>
                      <a:pt x="8904" y="7746"/>
                    </a:cubicBezTo>
                    <a:lnTo>
                      <a:pt x="8851" y="7608"/>
                    </a:lnTo>
                    <a:lnTo>
                      <a:pt x="8851" y="7242"/>
                    </a:lnTo>
                    <a:cubicBezTo>
                      <a:pt x="8851" y="7040"/>
                      <a:pt x="8862" y="6621"/>
                      <a:pt x="8874" y="6311"/>
                    </a:cubicBezTo>
                    <a:cubicBezTo>
                      <a:pt x="8909" y="5472"/>
                      <a:pt x="8896" y="5325"/>
                      <a:pt x="8768" y="5056"/>
                    </a:cubicBezTo>
                    <a:cubicBezTo>
                      <a:pt x="8723" y="4964"/>
                      <a:pt x="8681" y="4910"/>
                      <a:pt x="8578" y="4813"/>
                    </a:cubicBezTo>
                    <a:cubicBezTo>
                      <a:pt x="8441" y="4684"/>
                      <a:pt x="8373" y="4628"/>
                      <a:pt x="7810" y="4183"/>
                    </a:cubicBezTo>
                    <a:cubicBezTo>
                      <a:pt x="7262" y="3750"/>
                      <a:pt x="6871" y="3410"/>
                      <a:pt x="6649" y="3172"/>
                    </a:cubicBezTo>
                    <a:lnTo>
                      <a:pt x="6531" y="3045"/>
                    </a:lnTo>
                    <a:lnTo>
                      <a:pt x="6341" y="3235"/>
                    </a:lnTo>
                    <a:cubicBezTo>
                      <a:pt x="6236" y="3340"/>
                      <a:pt x="6053" y="3510"/>
                      <a:pt x="5934" y="3615"/>
                    </a:cubicBezTo>
                    <a:cubicBezTo>
                      <a:pt x="5737" y="3788"/>
                      <a:pt x="5571" y="3923"/>
                      <a:pt x="4837" y="4507"/>
                    </a:cubicBezTo>
                    <a:cubicBezTo>
                      <a:pt x="4457" y="4809"/>
                      <a:pt x="4352" y="4915"/>
                      <a:pt x="4276" y="5074"/>
                    </a:cubicBezTo>
                    <a:cubicBezTo>
                      <a:pt x="4165" y="5306"/>
                      <a:pt x="4153" y="5412"/>
                      <a:pt x="4167" y="6007"/>
                    </a:cubicBezTo>
                    <a:cubicBezTo>
                      <a:pt x="4173" y="6290"/>
                      <a:pt x="4185" y="6582"/>
                      <a:pt x="4194" y="6657"/>
                    </a:cubicBezTo>
                    <a:cubicBezTo>
                      <a:pt x="4202" y="6731"/>
                      <a:pt x="4209" y="6959"/>
                      <a:pt x="4209" y="7163"/>
                    </a:cubicBezTo>
                    <a:cubicBezTo>
                      <a:pt x="4210" y="7514"/>
                      <a:pt x="4207" y="7543"/>
                      <a:pt x="4168" y="7672"/>
                    </a:cubicBezTo>
                    <a:cubicBezTo>
                      <a:pt x="4089" y="7928"/>
                      <a:pt x="4015" y="8034"/>
                      <a:pt x="3810" y="8188"/>
                    </a:cubicBezTo>
                    <a:cubicBezTo>
                      <a:pt x="3727" y="8250"/>
                      <a:pt x="3522" y="8350"/>
                      <a:pt x="3478" y="8350"/>
                    </a:cubicBezTo>
                    <a:cubicBezTo>
                      <a:pt x="3433" y="8350"/>
                      <a:pt x="3410" y="8315"/>
                      <a:pt x="3410" y="8251"/>
                    </a:cubicBezTo>
                    <a:cubicBezTo>
                      <a:pt x="3410" y="8174"/>
                      <a:pt x="3424" y="8155"/>
                      <a:pt x="3514" y="8102"/>
                    </a:cubicBezTo>
                    <a:cubicBezTo>
                      <a:pt x="3675" y="8008"/>
                      <a:pt x="3711" y="7977"/>
                      <a:pt x="3790" y="7870"/>
                    </a:cubicBezTo>
                    <a:cubicBezTo>
                      <a:pt x="3835" y="7808"/>
                      <a:pt x="3880" y="7742"/>
                      <a:pt x="3891" y="7722"/>
                    </a:cubicBezTo>
                    <a:cubicBezTo>
                      <a:pt x="3917" y="7671"/>
                      <a:pt x="3914" y="7411"/>
                      <a:pt x="3884" y="7175"/>
                    </a:cubicBezTo>
                    <a:cubicBezTo>
                      <a:pt x="3870" y="7065"/>
                      <a:pt x="3848" y="6881"/>
                      <a:pt x="3835" y="6767"/>
                    </a:cubicBezTo>
                    <a:cubicBezTo>
                      <a:pt x="3786" y="6328"/>
                      <a:pt x="3754" y="6063"/>
                      <a:pt x="3708" y="5729"/>
                    </a:cubicBezTo>
                    <a:lnTo>
                      <a:pt x="3686" y="5567"/>
                    </a:lnTo>
                    <a:lnTo>
                      <a:pt x="3631" y="5567"/>
                    </a:lnTo>
                    <a:cubicBezTo>
                      <a:pt x="3553" y="5567"/>
                      <a:pt x="3281" y="5662"/>
                      <a:pt x="3201" y="5718"/>
                    </a:cubicBezTo>
                    <a:cubicBezTo>
                      <a:pt x="3165" y="5743"/>
                      <a:pt x="3090" y="5809"/>
                      <a:pt x="3036" y="5864"/>
                    </a:cubicBezTo>
                    <a:lnTo>
                      <a:pt x="2937" y="5965"/>
                    </a:lnTo>
                    <a:lnTo>
                      <a:pt x="2984" y="6141"/>
                    </a:lnTo>
                    <a:cubicBezTo>
                      <a:pt x="3027" y="6304"/>
                      <a:pt x="3030" y="6333"/>
                      <a:pt x="3020" y="6505"/>
                    </a:cubicBezTo>
                    <a:cubicBezTo>
                      <a:pt x="3000" y="6830"/>
                      <a:pt x="2938" y="7112"/>
                      <a:pt x="2808" y="7479"/>
                    </a:cubicBezTo>
                    <a:cubicBezTo>
                      <a:pt x="2755" y="7628"/>
                      <a:pt x="2706" y="7760"/>
                      <a:pt x="2698" y="7771"/>
                    </a:cubicBezTo>
                    <a:cubicBezTo>
                      <a:pt x="2691" y="7782"/>
                      <a:pt x="2628" y="7934"/>
                      <a:pt x="2558" y="8108"/>
                    </a:cubicBezTo>
                    <a:cubicBezTo>
                      <a:pt x="2456" y="8364"/>
                      <a:pt x="2425" y="8425"/>
                      <a:pt x="2400" y="8425"/>
                    </a:cubicBezTo>
                    <a:cubicBezTo>
                      <a:pt x="2349" y="8425"/>
                      <a:pt x="2342" y="8456"/>
                      <a:pt x="2550" y="7775"/>
                    </a:cubicBezTo>
                    <a:cubicBezTo>
                      <a:pt x="2717" y="7230"/>
                      <a:pt x="2765" y="6950"/>
                      <a:pt x="2755" y="6592"/>
                    </a:cubicBezTo>
                    <a:cubicBezTo>
                      <a:pt x="2749" y="6352"/>
                      <a:pt x="2739" y="6283"/>
                      <a:pt x="2709" y="6283"/>
                    </a:cubicBezTo>
                    <a:cubicBezTo>
                      <a:pt x="2702" y="6283"/>
                      <a:pt x="2653" y="6345"/>
                      <a:pt x="2600" y="6421"/>
                    </a:cubicBezTo>
                    <a:cubicBezTo>
                      <a:pt x="2460" y="6622"/>
                      <a:pt x="2301" y="6771"/>
                      <a:pt x="2190" y="6805"/>
                    </a:cubicBezTo>
                    <a:cubicBezTo>
                      <a:pt x="2047" y="6850"/>
                      <a:pt x="1887" y="6866"/>
                      <a:pt x="1588" y="6866"/>
                    </a:cubicBezTo>
                    <a:cubicBezTo>
                      <a:pt x="1296" y="6867"/>
                      <a:pt x="1243" y="6856"/>
                      <a:pt x="1243" y="6799"/>
                    </a:cubicBezTo>
                    <a:cubicBezTo>
                      <a:pt x="1243" y="6752"/>
                      <a:pt x="1297" y="6736"/>
                      <a:pt x="1555" y="6708"/>
                    </a:cubicBezTo>
                    <a:cubicBezTo>
                      <a:pt x="2009" y="6657"/>
                      <a:pt x="2125" y="6631"/>
                      <a:pt x="2190" y="6562"/>
                    </a:cubicBezTo>
                    <a:cubicBezTo>
                      <a:pt x="2208" y="6541"/>
                      <a:pt x="2303" y="6396"/>
                      <a:pt x="2399" y="6238"/>
                    </a:cubicBezTo>
                    <a:cubicBezTo>
                      <a:pt x="2755" y="5655"/>
                      <a:pt x="3007" y="5378"/>
                      <a:pt x="3299" y="5249"/>
                    </a:cubicBezTo>
                    <a:cubicBezTo>
                      <a:pt x="3341" y="5231"/>
                      <a:pt x="3455" y="5195"/>
                      <a:pt x="3553" y="5169"/>
                    </a:cubicBezTo>
                    <a:lnTo>
                      <a:pt x="3731" y="5123"/>
                    </a:lnTo>
                    <a:lnTo>
                      <a:pt x="3779" y="4986"/>
                    </a:lnTo>
                    <a:cubicBezTo>
                      <a:pt x="3806" y="4910"/>
                      <a:pt x="3841" y="4825"/>
                      <a:pt x="3858" y="4795"/>
                    </a:cubicBezTo>
                    <a:cubicBezTo>
                      <a:pt x="3951" y="4634"/>
                      <a:pt x="4017" y="4536"/>
                      <a:pt x="4101" y="4435"/>
                    </a:cubicBezTo>
                    <a:cubicBezTo>
                      <a:pt x="4195" y="4322"/>
                      <a:pt x="4535" y="4004"/>
                      <a:pt x="4660" y="3912"/>
                    </a:cubicBezTo>
                    <a:cubicBezTo>
                      <a:pt x="4733" y="3859"/>
                      <a:pt x="4740" y="3842"/>
                      <a:pt x="4699" y="3826"/>
                    </a:cubicBezTo>
                    <a:cubicBezTo>
                      <a:pt x="4638" y="3803"/>
                      <a:pt x="4336" y="3778"/>
                      <a:pt x="4093" y="3775"/>
                    </a:cubicBezTo>
                    <a:cubicBezTo>
                      <a:pt x="3839" y="3773"/>
                      <a:pt x="3766" y="3778"/>
                      <a:pt x="3401" y="3818"/>
                    </a:cubicBezTo>
                    <a:cubicBezTo>
                      <a:pt x="3111" y="3850"/>
                      <a:pt x="2835" y="3832"/>
                      <a:pt x="2780" y="3777"/>
                    </a:cubicBezTo>
                    <a:cubicBezTo>
                      <a:pt x="2741" y="3739"/>
                      <a:pt x="2798" y="3700"/>
                      <a:pt x="2893" y="3700"/>
                    </a:cubicBezTo>
                    <a:cubicBezTo>
                      <a:pt x="2937" y="3700"/>
                      <a:pt x="3010" y="3693"/>
                      <a:pt x="3054" y="3684"/>
                    </a:cubicBezTo>
                    <a:cubicBezTo>
                      <a:pt x="3098" y="3675"/>
                      <a:pt x="3172" y="3661"/>
                      <a:pt x="3218" y="3652"/>
                    </a:cubicBezTo>
                    <a:cubicBezTo>
                      <a:pt x="3264" y="3643"/>
                      <a:pt x="3391" y="3609"/>
                      <a:pt x="3501" y="3576"/>
                    </a:cubicBezTo>
                    <a:cubicBezTo>
                      <a:pt x="3611" y="3544"/>
                      <a:pt x="3730" y="3509"/>
                      <a:pt x="3765" y="3499"/>
                    </a:cubicBezTo>
                    <a:cubicBezTo>
                      <a:pt x="3800" y="3489"/>
                      <a:pt x="3832" y="3471"/>
                      <a:pt x="3837" y="3458"/>
                    </a:cubicBezTo>
                    <a:cubicBezTo>
                      <a:pt x="3842" y="3445"/>
                      <a:pt x="3812" y="3391"/>
                      <a:pt x="3769" y="3337"/>
                    </a:cubicBezTo>
                    <a:cubicBezTo>
                      <a:pt x="3727" y="3283"/>
                      <a:pt x="3693" y="3233"/>
                      <a:pt x="3693" y="3225"/>
                    </a:cubicBezTo>
                    <a:cubicBezTo>
                      <a:pt x="3693" y="3217"/>
                      <a:pt x="3682" y="3199"/>
                      <a:pt x="3670" y="3185"/>
                    </a:cubicBezTo>
                    <a:cubicBezTo>
                      <a:pt x="3578" y="3081"/>
                      <a:pt x="3434" y="2688"/>
                      <a:pt x="3416" y="2493"/>
                    </a:cubicBezTo>
                    <a:cubicBezTo>
                      <a:pt x="3406" y="2373"/>
                      <a:pt x="3406" y="2370"/>
                      <a:pt x="3450" y="2341"/>
                    </a:cubicBezTo>
                    <a:cubicBezTo>
                      <a:pt x="3508" y="2303"/>
                      <a:pt x="3529" y="2324"/>
                      <a:pt x="3559" y="2447"/>
                    </a:cubicBezTo>
                    <a:cubicBezTo>
                      <a:pt x="3583" y="2549"/>
                      <a:pt x="3690" y="2806"/>
                      <a:pt x="3744" y="2893"/>
                    </a:cubicBezTo>
                    <a:cubicBezTo>
                      <a:pt x="3764" y="2926"/>
                      <a:pt x="3809" y="2971"/>
                      <a:pt x="3845" y="2993"/>
                    </a:cubicBezTo>
                    <a:cubicBezTo>
                      <a:pt x="3881" y="3016"/>
                      <a:pt x="3923" y="3045"/>
                      <a:pt x="3939" y="3058"/>
                    </a:cubicBezTo>
                    <a:cubicBezTo>
                      <a:pt x="3955" y="3071"/>
                      <a:pt x="4001" y="3108"/>
                      <a:pt x="4041" y="3141"/>
                    </a:cubicBezTo>
                    <a:cubicBezTo>
                      <a:pt x="4127" y="3212"/>
                      <a:pt x="4235" y="3343"/>
                      <a:pt x="4259" y="3408"/>
                    </a:cubicBezTo>
                    <a:cubicBezTo>
                      <a:pt x="4273" y="3442"/>
                      <a:pt x="4284" y="3450"/>
                      <a:pt x="4306" y="3441"/>
                    </a:cubicBezTo>
                    <a:cubicBezTo>
                      <a:pt x="4322" y="3434"/>
                      <a:pt x="4496" y="3425"/>
                      <a:pt x="4693" y="3421"/>
                    </a:cubicBezTo>
                    <a:cubicBezTo>
                      <a:pt x="5073" y="3413"/>
                      <a:pt x="5158" y="3400"/>
                      <a:pt x="5270" y="3329"/>
                    </a:cubicBezTo>
                    <a:cubicBezTo>
                      <a:pt x="5369" y="3266"/>
                      <a:pt x="5500" y="3142"/>
                      <a:pt x="5610" y="3008"/>
                    </a:cubicBezTo>
                    <a:cubicBezTo>
                      <a:pt x="5739" y="2850"/>
                      <a:pt x="6026" y="2417"/>
                      <a:pt x="6026" y="2381"/>
                    </a:cubicBezTo>
                    <a:cubicBezTo>
                      <a:pt x="6026" y="2365"/>
                      <a:pt x="6034" y="2347"/>
                      <a:pt x="6043" y="2342"/>
                    </a:cubicBezTo>
                    <a:cubicBezTo>
                      <a:pt x="6054" y="2335"/>
                      <a:pt x="6060" y="1925"/>
                      <a:pt x="6060" y="1166"/>
                    </a:cubicBezTo>
                    <a:lnTo>
                      <a:pt x="6060" y="0"/>
                    </a:lnTo>
                    <a:lnTo>
                      <a:pt x="6551" y="0"/>
                    </a:lnTo>
                    <a:lnTo>
                      <a:pt x="7042" y="0"/>
                    </a:lnTo>
                    <a:lnTo>
                      <a:pt x="7047" y="1181"/>
                    </a:lnTo>
                    <a:lnTo>
                      <a:pt x="7051" y="2362"/>
                    </a:lnTo>
                    <a:lnTo>
                      <a:pt x="7166" y="2535"/>
                    </a:lnTo>
                    <a:cubicBezTo>
                      <a:pt x="7360" y="2826"/>
                      <a:pt x="7505" y="3013"/>
                      <a:pt x="7649" y="3156"/>
                    </a:cubicBezTo>
                    <a:cubicBezTo>
                      <a:pt x="7892" y="3396"/>
                      <a:pt x="8013" y="3436"/>
                      <a:pt x="8397" y="3400"/>
                    </a:cubicBezTo>
                    <a:cubicBezTo>
                      <a:pt x="8618" y="3380"/>
                      <a:pt x="8669" y="3381"/>
                      <a:pt x="8793" y="3409"/>
                    </a:cubicBezTo>
                    <a:cubicBezTo>
                      <a:pt x="8830" y="3417"/>
                      <a:pt x="8840" y="3408"/>
                      <a:pt x="8883" y="3325"/>
                    </a:cubicBezTo>
                    <a:cubicBezTo>
                      <a:pt x="8929" y="3237"/>
                      <a:pt x="9114" y="3048"/>
                      <a:pt x="9217" y="2985"/>
                    </a:cubicBezTo>
                    <a:cubicBezTo>
                      <a:pt x="9292" y="2939"/>
                      <a:pt x="9448" y="2643"/>
                      <a:pt x="9494" y="2458"/>
                    </a:cubicBezTo>
                    <a:cubicBezTo>
                      <a:pt x="9520" y="2352"/>
                      <a:pt x="9538" y="2330"/>
                      <a:pt x="9592" y="2337"/>
                    </a:cubicBezTo>
                    <a:cubicBezTo>
                      <a:pt x="9634" y="2342"/>
                      <a:pt x="9635" y="2344"/>
                      <a:pt x="9629" y="2458"/>
                    </a:cubicBezTo>
                    <a:cubicBezTo>
                      <a:pt x="9618" y="2718"/>
                      <a:pt x="9477" y="3098"/>
                      <a:pt x="9326" y="3274"/>
                    </a:cubicBezTo>
                    <a:cubicBezTo>
                      <a:pt x="9255" y="3357"/>
                      <a:pt x="9210" y="3428"/>
                      <a:pt x="9210" y="3456"/>
                    </a:cubicBezTo>
                    <a:cubicBezTo>
                      <a:pt x="9210" y="3473"/>
                      <a:pt x="9235" y="3489"/>
                      <a:pt x="9280" y="3501"/>
                    </a:cubicBezTo>
                    <a:cubicBezTo>
                      <a:pt x="9319" y="3511"/>
                      <a:pt x="9445" y="3546"/>
                      <a:pt x="9560" y="3579"/>
                    </a:cubicBezTo>
                    <a:cubicBezTo>
                      <a:pt x="9822" y="3654"/>
                      <a:pt x="9967" y="3684"/>
                      <a:pt x="10130" y="3695"/>
                    </a:cubicBezTo>
                    <a:cubicBezTo>
                      <a:pt x="10281" y="3705"/>
                      <a:pt x="10319" y="3731"/>
                      <a:pt x="10264" y="3786"/>
                    </a:cubicBezTo>
                    <a:cubicBezTo>
                      <a:pt x="10237" y="3814"/>
                      <a:pt x="10199" y="3823"/>
                      <a:pt x="10066" y="3833"/>
                    </a:cubicBezTo>
                    <a:cubicBezTo>
                      <a:pt x="9975" y="3840"/>
                      <a:pt x="9894" y="3843"/>
                      <a:pt x="9885" y="3840"/>
                    </a:cubicBezTo>
                    <a:cubicBezTo>
                      <a:pt x="9828" y="3821"/>
                      <a:pt x="9308" y="3779"/>
                      <a:pt x="9076" y="3774"/>
                    </a:cubicBezTo>
                    <a:cubicBezTo>
                      <a:pt x="8748" y="3766"/>
                      <a:pt x="8354" y="3808"/>
                      <a:pt x="8348" y="3850"/>
                    </a:cubicBezTo>
                    <a:cubicBezTo>
                      <a:pt x="8346" y="3864"/>
                      <a:pt x="8426" y="3945"/>
                      <a:pt x="8530" y="4033"/>
                    </a:cubicBezTo>
                    <a:cubicBezTo>
                      <a:pt x="8783" y="4250"/>
                      <a:pt x="8956" y="4426"/>
                      <a:pt x="9048" y="4563"/>
                    </a:cubicBezTo>
                    <a:cubicBezTo>
                      <a:pt x="9140" y="4701"/>
                      <a:pt x="9271" y="4964"/>
                      <a:pt x="9296" y="5064"/>
                    </a:cubicBezTo>
                    <a:cubicBezTo>
                      <a:pt x="9317" y="5146"/>
                      <a:pt x="9322" y="5149"/>
                      <a:pt x="9526" y="5202"/>
                    </a:cubicBezTo>
                    <a:cubicBezTo>
                      <a:pt x="9801" y="5272"/>
                      <a:pt x="9975" y="5379"/>
                      <a:pt x="10188" y="5606"/>
                    </a:cubicBezTo>
                    <a:cubicBezTo>
                      <a:pt x="10323" y="5751"/>
                      <a:pt x="10595" y="6141"/>
                      <a:pt x="10712" y="6356"/>
                    </a:cubicBezTo>
                    <a:cubicBezTo>
                      <a:pt x="10758" y="6440"/>
                      <a:pt x="10808" y="6523"/>
                      <a:pt x="10823" y="6542"/>
                    </a:cubicBezTo>
                    <a:cubicBezTo>
                      <a:pt x="10910" y="6646"/>
                      <a:pt x="11030" y="6684"/>
                      <a:pt x="11368" y="6716"/>
                    </a:cubicBezTo>
                    <a:cubicBezTo>
                      <a:pt x="11783" y="6754"/>
                      <a:pt x="11775" y="6753"/>
                      <a:pt x="11785" y="6785"/>
                    </a:cubicBezTo>
                    <a:cubicBezTo>
                      <a:pt x="11790" y="6802"/>
                      <a:pt x="11786" y="6832"/>
                      <a:pt x="11775" y="6852"/>
                    </a:cubicBezTo>
                    <a:cubicBezTo>
                      <a:pt x="11756" y="6888"/>
                      <a:pt x="11755" y="6889"/>
                      <a:pt x="11370" y="6878"/>
                    </a:cubicBezTo>
                    <a:cubicBezTo>
                      <a:pt x="10946" y="6866"/>
                      <a:pt x="10872" y="6853"/>
                      <a:pt x="10734" y="6764"/>
                    </a:cubicBezTo>
                    <a:cubicBezTo>
                      <a:pt x="10608" y="6683"/>
                      <a:pt x="10582" y="6656"/>
                      <a:pt x="10447" y="6461"/>
                    </a:cubicBezTo>
                    <a:cubicBezTo>
                      <a:pt x="10361" y="6337"/>
                      <a:pt x="10317" y="6286"/>
                      <a:pt x="10305" y="6298"/>
                    </a:cubicBezTo>
                    <a:cubicBezTo>
                      <a:pt x="10295" y="6308"/>
                      <a:pt x="10284" y="6427"/>
                      <a:pt x="10280" y="6570"/>
                    </a:cubicBezTo>
                    <a:cubicBezTo>
                      <a:pt x="10269" y="6955"/>
                      <a:pt x="10320" y="7272"/>
                      <a:pt x="10477" y="7786"/>
                    </a:cubicBezTo>
                    <a:cubicBezTo>
                      <a:pt x="10634" y="8298"/>
                      <a:pt x="10674" y="8440"/>
                      <a:pt x="10666" y="8453"/>
                    </a:cubicBezTo>
                    <a:cubicBezTo>
                      <a:pt x="10661" y="8460"/>
                      <a:pt x="10645" y="8467"/>
                      <a:pt x="10629" y="8467"/>
                    </a:cubicBezTo>
                    <a:cubicBezTo>
                      <a:pt x="10609" y="8466"/>
                      <a:pt x="10584" y="8421"/>
                      <a:pt x="10540" y="8304"/>
                    </a:cubicBezTo>
                    <a:close/>
                  </a:path>
                </a:pathLst>
              </a:custGeom>
              <a:solidFill>
                <a:schemeClr val="bg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nvGrpSpPr>
              <p:cNvPr id="52" name="Group 51"/>
              <p:cNvGrpSpPr/>
              <p:nvPr/>
            </p:nvGrpSpPr>
            <p:grpSpPr>
              <a:xfrm>
                <a:off x="10658099" y="1289037"/>
                <a:ext cx="511552" cy="893220"/>
                <a:chOff x="8296275" y="1321150"/>
                <a:chExt cx="2847973" cy="4972840"/>
              </a:xfrm>
            </p:grpSpPr>
            <p:grpSp>
              <p:nvGrpSpPr>
                <p:cNvPr id="53" name="Group 52"/>
                <p:cNvGrpSpPr/>
                <p:nvPr/>
              </p:nvGrpSpPr>
              <p:grpSpPr>
                <a:xfrm flipH="1">
                  <a:off x="8357830" y="1321150"/>
                  <a:ext cx="2786418" cy="4972840"/>
                  <a:chOff x="-1761168" y="2586756"/>
                  <a:chExt cx="516318" cy="921460"/>
                </a:xfrm>
                <a:solidFill>
                  <a:schemeClr val="tx2"/>
                </a:solidFill>
              </p:grpSpPr>
              <p:sp>
                <p:nvSpPr>
                  <p:cNvPr id="58" name="Freeform 22"/>
                  <p:cNvSpPr>
                    <a:spLocks/>
                  </p:cNvSpPr>
                  <p:nvPr/>
                </p:nvSpPr>
                <p:spPr bwMode="auto">
                  <a:xfrm>
                    <a:off x="-1761168" y="2738917"/>
                    <a:ext cx="516318" cy="769299"/>
                  </a:xfrm>
                  <a:custGeom>
                    <a:avLst/>
                    <a:gdLst>
                      <a:gd name="T0" fmla="*/ 1469 w 6303"/>
                      <a:gd name="T1" fmla="*/ 9561 h 9670"/>
                      <a:gd name="T2" fmla="*/ 1628 w 6303"/>
                      <a:gd name="T3" fmla="*/ 6756 h 9670"/>
                      <a:gd name="T4" fmla="*/ 1825 w 6303"/>
                      <a:gd name="T5" fmla="*/ 5868 h 9670"/>
                      <a:gd name="T6" fmla="*/ 762 w 6303"/>
                      <a:gd name="T7" fmla="*/ 4506 h 9670"/>
                      <a:gd name="T8" fmla="*/ 180 w 6303"/>
                      <a:gd name="T9" fmla="*/ 2798 h 9670"/>
                      <a:gd name="T10" fmla="*/ 2036 w 6303"/>
                      <a:gd name="T11" fmla="*/ 208 h 9670"/>
                      <a:gd name="T12" fmla="*/ 3368 w 6303"/>
                      <a:gd name="T13" fmla="*/ 331 h 9670"/>
                      <a:gd name="T14" fmla="*/ 3688 w 6303"/>
                      <a:gd name="T15" fmla="*/ 906 h 9670"/>
                      <a:gd name="T16" fmla="*/ 4054 w 6303"/>
                      <a:gd name="T17" fmla="*/ 1651 h 9670"/>
                      <a:gd name="T18" fmla="*/ 5065 w 6303"/>
                      <a:gd name="T19" fmla="*/ 799 h 9670"/>
                      <a:gd name="T20" fmla="*/ 5003 w 6303"/>
                      <a:gd name="T21" fmla="*/ 595 h 9670"/>
                      <a:gd name="T22" fmla="*/ 5124 w 6303"/>
                      <a:gd name="T23" fmla="*/ 348 h 9670"/>
                      <a:gd name="T24" fmla="*/ 5366 w 6303"/>
                      <a:gd name="T25" fmla="*/ 495 h 9670"/>
                      <a:gd name="T26" fmla="*/ 5903 w 6303"/>
                      <a:gd name="T27" fmla="*/ 115 h 9670"/>
                      <a:gd name="T28" fmla="*/ 6102 w 6303"/>
                      <a:gd name="T29" fmla="*/ 5 h 9670"/>
                      <a:gd name="T30" fmla="*/ 6186 w 6303"/>
                      <a:gd name="T31" fmla="*/ 357 h 9670"/>
                      <a:gd name="T32" fmla="*/ 5928 w 6303"/>
                      <a:gd name="T33" fmla="*/ 632 h 9670"/>
                      <a:gd name="T34" fmla="*/ 5821 w 6303"/>
                      <a:gd name="T35" fmla="*/ 906 h 9670"/>
                      <a:gd name="T36" fmla="*/ 5781 w 6303"/>
                      <a:gd name="T37" fmla="*/ 1257 h 9670"/>
                      <a:gd name="T38" fmla="*/ 3899 w 6303"/>
                      <a:gd name="T39" fmla="*/ 2764 h 9670"/>
                      <a:gd name="T40" fmla="*/ 3478 w 6303"/>
                      <a:gd name="T41" fmla="*/ 2436 h 9670"/>
                      <a:gd name="T42" fmla="*/ 3453 w 6303"/>
                      <a:gd name="T43" fmla="*/ 2099 h 9670"/>
                      <a:gd name="T44" fmla="*/ 2986 w 6303"/>
                      <a:gd name="T45" fmla="*/ 1569 h 9670"/>
                      <a:gd name="T46" fmla="*/ 2985 w 6303"/>
                      <a:gd name="T47" fmla="*/ 1441 h 9670"/>
                      <a:gd name="T48" fmla="*/ 2719 w 6303"/>
                      <a:gd name="T49" fmla="*/ 574 h 9670"/>
                      <a:gd name="T50" fmla="*/ 1959 w 6303"/>
                      <a:gd name="T51" fmla="*/ 1006 h 9670"/>
                      <a:gd name="T52" fmla="*/ 1020 w 6303"/>
                      <a:gd name="T53" fmla="*/ 2242 h 9670"/>
                      <a:gd name="T54" fmla="*/ 1845 w 6303"/>
                      <a:gd name="T55" fmla="*/ 2947 h 9670"/>
                      <a:gd name="T56" fmla="*/ 2246 w 6303"/>
                      <a:gd name="T57" fmla="*/ 2852 h 9670"/>
                      <a:gd name="T58" fmla="*/ 1906 w 6303"/>
                      <a:gd name="T59" fmla="*/ 3479 h 9670"/>
                      <a:gd name="T60" fmla="*/ 2578 w 6303"/>
                      <a:gd name="T61" fmla="*/ 4714 h 9670"/>
                      <a:gd name="T62" fmla="*/ 3173 w 6303"/>
                      <a:gd name="T63" fmla="*/ 5694 h 9670"/>
                      <a:gd name="T64" fmla="*/ 2904 w 6303"/>
                      <a:gd name="T65" fmla="*/ 7014 h 9670"/>
                      <a:gd name="T66" fmla="*/ 2459 w 6303"/>
                      <a:gd name="T67" fmla="*/ 9023 h 9670"/>
                      <a:gd name="T68" fmla="*/ 1924 w 6303"/>
                      <a:gd name="T69" fmla="*/ 9638 h 9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03" h="9670">
                        <a:moveTo>
                          <a:pt x="1653" y="9634"/>
                        </a:moveTo>
                        <a:cubicBezTo>
                          <a:pt x="1593" y="9618"/>
                          <a:pt x="1510" y="9586"/>
                          <a:pt x="1469" y="9561"/>
                        </a:cubicBezTo>
                        <a:cubicBezTo>
                          <a:pt x="1245" y="9430"/>
                          <a:pt x="1110" y="9146"/>
                          <a:pt x="1155" y="8901"/>
                        </a:cubicBezTo>
                        <a:cubicBezTo>
                          <a:pt x="1171" y="8814"/>
                          <a:pt x="1573" y="6989"/>
                          <a:pt x="1628" y="6756"/>
                        </a:cubicBezTo>
                        <a:cubicBezTo>
                          <a:pt x="1640" y="6701"/>
                          <a:pt x="1690" y="6478"/>
                          <a:pt x="1738" y="6262"/>
                        </a:cubicBezTo>
                        <a:lnTo>
                          <a:pt x="1825" y="5868"/>
                        </a:lnTo>
                        <a:lnTo>
                          <a:pt x="1475" y="5420"/>
                        </a:lnTo>
                        <a:cubicBezTo>
                          <a:pt x="1283" y="5174"/>
                          <a:pt x="962" y="4763"/>
                          <a:pt x="762" y="4506"/>
                        </a:cubicBezTo>
                        <a:cubicBezTo>
                          <a:pt x="562" y="4249"/>
                          <a:pt x="360" y="3998"/>
                          <a:pt x="313" y="3947"/>
                        </a:cubicBezTo>
                        <a:cubicBezTo>
                          <a:pt x="43" y="3653"/>
                          <a:pt x="0" y="3280"/>
                          <a:pt x="180" y="2798"/>
                        </a:cubicBezTo>
                        <a:cubicBezTo>
                          <a:pt x="530" y="1860"/>
                          <a:pt x="878" y="1306"/>
                          <a:pt x="1553" y="608"/>
                        </a:cubicBezTo>
                        <a:cubicBezTo>
                          <a:pt x="1756" y="398"/>
                          <a:pt x="1885" y="292"/>
                          <a:pt x="2036" y="208"/>
                        </a:cubicBezTo>
                        <a:cubicBezTo>
                          <a:pt x="2247" y="93"/>
                          <a:pt x="2413" y="49"/>
                          <a:pt x="2645" y="48"/>
                        </a:cubicBezTo>
                        <a:cubicBezTo>
                          <a:pt x="2942" y="47"/>
                          <a:pt x="3173" y="137"/>
                          <a:pt x="3368" y="331"/>
                        </a:cubicBezTo>
                        <a:cubicBezTo>
                          <a:pt x="3457" y="419"/>
                          <a:pt x="3490" y="467"/>
                          <a:pt x="3544" y="589"/>
                        </a:cubicBezTo>
                        <a:cubicBezTo>
                          <a:pt x="3580" y="672"/>
                          <a:pt x="3645" y="814"/>
                          <a:pt x="3688" y="906"/>
                        </a:cubicBezTo>
                        <a:cubicBezTo>
                          <a:pt x="3730" y="998"/>
                          <a:pt x="3781" y="1106"/>
                          <a:pt x="3800" y="1148"/>
                        </a:cubicBezTo>
                        <a:cubicBezTo>
                          <a:pt x="3961" y="1501"/>
                          <a:pt x="4039" y="1655"/>
                          <a:pt x="4054" y="1651"/>
                        </a:cubicBezTo>
                        <a:cubicBezTo>
                          <a:pt x="4064" y="1649"/>
                          <a:pt x="4276" y="1472"/>
                          <a:pt x="4525" y="1259"/>
                        </a:cubicBezTo>
                        <a:cubicBezTo>
                          <a:pt x="4774" y="1046"/>
                          <a:pt x="5017" y="839"/>
                          <a:pt x="5065" y="799"/>
                        </a:cubicBezTo>
                        <a:cubicBezTo>
                          <a:pt x="5114" y="759"/>
                          <a:pt x="5153" y="720"/>
                          <a:pt x="5153" y="712"/>
                        </a:cubicBezTo>
                        <a:cubicBezTo>
                          <a:pt x="5153" y="705"/>
                          <a:pt x="5085" y="652"/>
                          <a:pt x="5003" y="595"/>
                        </a:cubicBezTo>
                        <a:cubicBezTo>
                          <a:pt x="4920" y="538"/>
                          <a:pt x="4853" y="487"/>
                          <a:pt x="4854" y="482"/>
                        </a:cubicBezTo>
                        <a:cubicBezTo>
                          <a:pt x="4854" y="472"/>
                          <a:pt x="5105" y="348"/>
                          <a:pt x="5124" y="348"/>
                        </a:cubicBezTo>
                        <a:cubicBezTo>
                          <a:pt x="5130" y="348"/>
                          <a:pt x="5184" y="382"/>
                          <a:pt x="5244" y="424"/>
                        </a:cubicBezTo>
                        <a:cubicBezTo>
                          <a:pt x="5304" y="466"/>
                          <a:pt x="5359" y="498"/>
                          <a:pt x="5366" y="495"/>
                        </a:cubicBezTo>
                        <a:cubicBezTo>
                          <a:pt x="5373" y="492"/>
                          <a:pt x="5488" y="401"/>
                          <a:pt x="5622" y="293"/>
                        </a:cubicBezTo>
                        <a:cubicBezTo>
                          <a:pt x="5853" y="107"/>
                          <a:pt x="5903" y="76"/>
                          <a:pt x="5903" y="115"/>
                        </a:cubicBezTo>
                        <a:cubicBezTo>
                          <a:pt x="5903" y="124"/>
                          <a:pt x="5944" y="101"/>
                          <a:pt x="5994" y="63"/>
                        </a:cubicBezTo>
                        <a:cubicBezTo>
                          <a:pt x="6044" y="26"/>
                          <a:pt x="6093" y="0"/>
                          <a:pt x="6102" y="5"/>
                        </a:cubicBezTo>
                        <a:cubicBezTo>
                          <a:pt x="6123" y="18"/>
                          <a:pt x="6303" y="242"/>
                          <a:pt x="6303" y="254"/>
                        </a:cubicBezTo>
                        <a:cubicBezTo>
                          <a:pt x="6303" y="259"/>
                          <a:pt x="6250" y="305"/>
                          <a:pt x="6186" y="357"/>
                        </a:cubicBezTo>
                        <a:cubicBezTo>
                          <a:pt x="6103" y="424"/>
                          <a:pt x="6071" y="460"/>
                          <a:pt x="6078" y="480"/>
                        </a:cubicBezTo>
                        <a:cubicBezTo>
                          <a:pt x="6084" y="500"/>
                          <a:pt x="6042" y="542"/>
                          <a:pt x="5928" y="632"/>
                        </a:cubicBezTo>
                        <a:cubicBezTo>
                          <a:pt x="5825" y="712"/>
                          <a:pt x="5772" y="765"/>
                          <a:pt x="5777" y="781"/>
                        </a:cubicBezTo>
                        <a:cubicBezTo>
                          <a:pt x="5781" y="795"/>
                          <a:pt x="5801" y="851"/>
                          <a:pt x="5821" y="906"/>
                        </a:cubicBezTo>
                        <a:cubicBezTo>
                          <a:pt x="5854" y="996"/>
                          <a:pt x="5855" y="1015"/>
                          <a:pt x="5837" y="1103"/>
                        </a:cubicBezTo>
                        <a:cubicBezTo>
                          <a:pt x="5826" y="1157"/>
                          <a:pt x="5801" y="1226"/>
                          <a:pt x="5781" y="1257"/>
                        </a:cubicBezTo>
                        <a:cubicBezTo>
                          <a:pt x="5761" y="1288"/>
                          <a:pt x="5383" y="1623"/>
                          <a:pt x="4940" y="2001"/>
                        </a:cubicBezTo>
                        <a:cubicBezTo>
                          <a:pt x="4106" y="2715"/>
                          <a:pt x="4041" y="2763"/>
                          <a:pt x="3899" y="2764"/>
                        </a:cubicBezTo>
                        <a:cubicBezTo>
                          <a:pt x="3801" y="2764"/>
                          <a:pt x="3663" y="2704"/>
                          <a:pt x="3597" y="2631"/>
                        </a:cubicBezTo>
                        <a:cubicBezTo>
                          <a:pt x="3565" y="2595"/>
                          <a:pt x="3511" y="2508"/>
                          <a:pt x="3478" y="2436"/>
                        </a:cubicBezTo>
                        <a:cubicBezTo>
                          <a:pt x="3429" y="2329"/>
                          <a:pt x="3421" y="2299"/>
                          <a:pt x="3436" y="2268"/>
                        </a:cubicBezTo>
                        <a:cubicBezTo>
                          <a:pt x="3445" y="2247"/>
                          <a:pt x="3453" y="2171"/>
                          <a:pt x="3453" y="2099"/>
                        </a:cubicBezTo>
                        <a:cubicBezTo>
                          <a:pt x="3453" y="1988"/>
                          <a:pt x="3446" y="1955"/>
                          <a:pt x="3402" y="1868"/>
                        </a:cubicBezTo>
                        <a:cubicBezTo>
                          <a:pt x="3318" y="1699"/>
                          <a:pt x="3167" y="1591"/>
                          <a:pt x="2986" y="1569"/>
                        </a:cubicBezTo>
                        <a:cubicBezTo>
                          <a:pt x="2940" y="1564"/>
                          <a:pt x="2903" y="1557"/>
                          <a:pt x="2903" y="1554"/>
                        </a:cubicBezTo>
                        <a:cubicBezTo>
                          <a:pt x="2903" y="1552"/>
                          <a:pt x="2940" y="1501"/>
                          <a:pt x="2985" y="1441"/>
                        </a:cubicBezTo>
                        <a:cubicBezTo>
                          <a:pt x="3112" y="1273"/>
                          <a:pt x="3145" y="1122"/>
                          <a:pt x="3093" y="948"/>
                        </a:cubicBezTo>
                        <a:cubicBezTo>
                          <a:pt x="3036" y="754"/>
                          <a:pt x="2913" y="632"/>
                          <a:pt x="2719" y="574"/>
                        </a:cubicBezTo>
                        <a:cubicBezTo>
                          <a:pt x="2609" y="541"/>
                          <a:pt x="2535" y="541"/>
                          <a:pt x="2430" y="572"/>
                        </a:cubicBezTo>
                        <a:cubicBezTo>
                          <a:pt x="2270" y="621"/>
                          <a:pt x="2217" y="670"/>
                          <a:pt x="1959" y="1006"/>
                        </a:cubicBezTo>
                        <a:cubicBezTo>
                          <a:pt x="1867" y="1125"/>
                          <a:pt x="1626" y="1437"/>
                          <a:pt x="1423" y="1700"/>
                        </a:cubicBezTo>
                        <a:cubicBezTo>
                          <a:pt x="1220" y="1963"/>
                          <a:pt x="1039" y="2207"/>
                          <a:pt x="1020" y="2242"/>
                        </a:cubicBezTo>
                        <a:cubicBezTo>
                          <a:pt x="846" y="2576"/>
                          <a:pt x="1082" y="2986"/>
                          <a:pt x="1461" y="3010"/>
                        </a:cubicBezTo>
                        <a:cubicBezTo>
                          <a:pt x="1560" y="3017"/>
                          <a:pt x="1618" y="3007"/>
                          <a:pt x="1845" y="2947"/>
                        </a:cubicBezTo>
                        <a:cubicBezTo>
                          <a:pt x="1991" y="2908"/>
                          <a:pt x="2140" y="2869"/>
                          <a:pt x="2174" y="2860"/>
                        </a:cubicBezTo>
                        <a:cubicBezTo>
                          <a:pt x="2209" y="2851"/>
                          <a:pt x="2241" y="2847"/>
                          <a:pt x="2246" y="2852"/>
                        </a:cubicBezTo>
                        <a:cubicBezTo>
                          <a:pt x="2251" y="2856"/>
                          <a:pt x="2201" y="2949"/>
                          <a:pt x="2135" y="3058"/>
                        </a:cubicBezTo>
                        <a:cubicBezTo>
                          <a:pt x="2069" y="3167"/>
                          <a:pt x="1966" y="3356"/>
                          <a:pt x="1906" y="3479"/>
                        </a:cubicBezTo>
                        <a:cubicBezTo>
                          <a:pt x="1809" y="3679"/>
                          <a:pt x="1800" y="3705"/>
                          <a:pt x="1820" y="3737"/>
                        </a:cubicBezTo>
                        <a:cubicBezTo>
                          <a:pt x="1840" y="3769"/>
                          <a:pt x="2365" y="4446"/>
                          <a:pt x="2578" y="4714"/>
                        </a:cubicBezTo>
                        <a:cubicBezTo>
                          <a:pt x="2750" y="4931"/>
                          <a:pt x="3063" y="5340"/>
                          <a:pt x="3088" y="5381"/>
                        </a:cubicBezTo>
                        <a:cubicBezTo>
                          <a:pt x="3141" y="5469"/>
                          <a:pt x="3173" y="5584"/>
                          <a:pt x="3173" y="5694"/>
                        </a:cubicBezTo>
                        <a:cubicBezTo>
                          <a:pt x="3174" y="5789"/>
                          <a:pt x="3068" y="6325"/>
                          <a:pt x="2970" y="6723"/>
                        </a:cubicBezTo>
                        <a:cubicBezTo>
                          <a:pt x="2961" y="6759"/>
                          <a:pt x="2931" y="6890"/>
                          <a:pt x="2904" y="7014"/>
                        </a:cubicBezTo>
                        <a:cubicBezTo>
                          <a:pt x="2831" y="7346"/>
                          <a:pt x="2674" y="8056"/>
                          <a:pt x="2560" y="8564"/>
                        </a:cubicBezTo>
                        <a:cubicBezTo>
                          <a:pt x="2526" y="8715"/>
                          <a:pt x="2481" y="8922"/>
                          <a:pt x="2459" y="9023"/>
                        </a:cubicBezTo>
                        <a:cubicBezTo>
                          <a:pt x="2437" y="9123"/>
                          <a:pt x="2400" y="9245"/>
                          <a:pt x="2377" y="9293"/>
                        </a:cubicBezTo>
                        <a:cubicBezTo>
                          <a:pt x="2293" y="9464"/>
                          <a:pt x="2139" y="9582"/>
                          <a:pt x="1924" y="9638"/>
                        </a:cubicBezTo>
                        <a:cubicBezTo>
                          <a:pt x="1801" y="9670"/>
                          <a:pt x="1789" y="9670"/>
                          <a:pt x="1653" y="963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59" name="Freeform 23"/>
                  <p:cNvSpPr>
                    <a:spLocks/>
                  </p:cNvSpPr>
                  <p:nvPr/>
                </p:nvSpPr>
                <p:spPr bwMode="auto">
                  <a:xfrm>
                    <a:off x="-1671422" y="2792469"/>
                    <a:ext cx="189833" cy="177275"/>
                  </a:xfrm>
                  <a:custGeom>
                    <a:avLst/>
                    <a:gdLst>
                      <a:gd name="T0" fmla="*/ 268 w 2318"/>
                      <a:gd name="T1" fmla="*/ 2195 h 2228"/>
                      <a:gd name="T2" fmla="*/ 46 w 2318"/>
                      <a:gd name="T3" fmla="*/ 2008 h 2228"/>
                      <a:gd name="T4" fmla="*/ 0 w 2318"/>
                      <a:gd name="T5" fmla="*/ 1805 h 2228"/>
                      <a:gd name="T6" fmla="*/ 204 w 2318"/>
                      <a:gd name="T7" fmla="*/ 1385 h 2228"/>
                      <a:gd name="T8" fmla="*/ 773 w 2318"/>
                      <a:gd name="T9" fmla="*/ 650 h 2228"/>
                      <a:gd name="T10" fmla="*/ 1493 w 2318"/>
                      <a:gd name="T11" fmla="*/ 8 h 2228"/>
                      <a:gd name="T12" fmla="*/ 1832 w 2318"/>
                      <a:gd name="T13" fmla="*/ 195 h 2228"/>
                      <a:gd name="T14" fmla="*/ 1861 w 2318"/>
                      <a:gd name="T15" fmla="*/ 582 h 2228"/>
                      <a:gd name="T16" fmla="*/ 1625 w 2318"/>
                      <a:gd name="T17" fmla="*/ 910 h 2228"/>
                      <a:gd name="T18" fmla="*/ 1315 w 2318"/>
                      <a:gd name="T19" fmla="*/ 1005 h 2228"/>
                      <a:gd name="T20" fmla="*/ 963 w 2318"/>
                      <a:gd name="T21" fmla="*/ 1150 h 2228"/>
                      <a:gd name="T22" fmla="*/ 937 w 2318"/>
                      <a:gd name="T23" fmla="*/ 1232 h 2228"/>
                      <a:gd name="T24" fmla="*/ 1200 w 2318"/>
                      <a:gd name="T25" fmla="*/ 1163 h 2228"/>
                      <a:gd name="T26" fmla="*/ 1583 w 2318"/>
                      <a:gd name="T27" fmla="*/ 1060 h 2228"/>
                      <a:gd name="T28" fmla="*/ 2023 w 2318"/>
                      <a:gd name="T29" fmla="*/ 1064 h 2228"/>
                      <a:gd name="T30" fmla="*/ 2067 w 2318"/>
                      <a:gd name="T31" fmla="*/ 1764 h 2228"/>
                      <a:gd name="T32" fmla="*/ 1091 w 2318"/>
                      <a:gd name="T33" fmla="*/ 2054 h 2228"/>
                      <a:gd name="T34" fmla="*/ 579 w 2318"/>
                      <a:gd name="T35" fmla="*/ 2190 h 2228"/>
                      <a:gd name="T36" fmla="*/ 268 w 2318"/>
                      <a:gd name="T37" fmla="*/ 2195 h 2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18" h="2228">
                        <a:moveTo>
                          <a:pt x="268" y="2195"/>
                        </a:moveTo>
                        <a:cubicBezTo>
                          <a:pt x="173" y="2161"/>
                          <a:pt x="98" y="2098"/>
                          <a:pt x="46" y="2008"/>
                        </a:cubicBezTo>
                        <a:cubicBezTo>
                          <a:pt x="6" y="1941"/>
                          <a:pt x="0" y="1912"/>
                          <a:pt x="0" y="1805"/>
                        </a:cubicBezTo>
                        <a:cubicBezTo>
                          <a:pt x="0" y="1654"/>
                          <a:pt x="9" y="1637"/>
                          <a:pt x="204" y="1385"/>
                        </a:cubicBezTo>
                        <a:cubicBezTo>
                          <a:pt x="285" y="1282"/>
                          <a:pt x="541" y="951"/>
                          <a:pt x="773" y="650"/>
                        </a:cubicBezTo>
                        <a:cubicBezTo>
                          <a:pt x="1268" y="9"/>
                          <a:pt x="1278" y="0"/>
                          <a:pt x="1493" y="8"/>
                        </a:cubicBezTo>
                        <a:cubicBezTo>
                          <a:pt x="1652" y="14"/>
                          <a:pt x="1756" y="72"/>
                          <a:pt x="1832" y="195"/>
                        </a:cubicBezTo>
                        <a:cubicBezTo>
                          <a:pt x="1899" y="304"/>
                          <a:pt x="1913" y="481"/>
                          <a:pt x="1861" y="582"/>
                        </a:cubicBezTo>
                        <a:cubicBezTo>
                          <a:pt x="1834" y="635"/>
                          <a:pt x="1678" y="851"/>
                          <a:pt x="1625" y="910"/>
                        </a:cubicBezTo>
                        <a:cubicBezTo>
                          <a:pt x="1618" y="917"/>
                          <a:pt x="1479" y="960"/>
                          <a:pt x="1315" y="1005"/>
                        </a:cubicBezTo>
                        <a:cubicBezTo>
                          <a:pt x="1032" y="1083"/>
                          <a:pt x="1015" y="1090"/>
                          <a:pt x="963" y="1150"/>
                        </a:cubicBezTo>
                        <a:cubicBezTo>
                          <a:pt x="902" y="1222"/>
                          <a:pt x="895" y="1244"/>
                          <a:pt x="937" y="1232"/>
                        </a:cubicBezTo>
                        <a:cubicBezTo>
                          <a:pt x="953" y="1227"/>
                          <a:pt x="1071" y="1196"/>
                          <a:pt x="1200" y="1163"/>
                        </a:cubicBezTo>
                        <a:cubicBezTo>
                          <a:pt x="1328" y="1130"/>
                          <a:pt x="1500" y="1084"/>
                          <a:pt x="1583" y="1060"/>
                        </a:cubicBezTo>
                        <a:cubicBezTo>
                          <a:pt x="1788" y="1002"/>
                          <a:pt x="1912" y="1003"/>
                          <a:pt x="2023" y="1064"/>
                        </a:cubicBezTo>
                        <a:cubicBezTo>
                          <a:pt x="2296" y="1212"/>
                          <a:pt x="2318" y="1572"/>
                          <a:pt x="2067" y="1764"/>
                        </a:cubicBezTo>
                        <a:cubicBezTo>
                          <a:pt x="2008" y="1809"/>
                          <a:pt x="1894" y="1843"/>
                          <a:pt x="1091" y="2054"/>
                        </a:cubicBezTo>
                        <a:cubicBezTo>
                          <a:pt x="876" y="2111"/>
                          <a:pt x="645" y="2172"/>
                          <a:pt x="579" y="2190"/>
                        </a:cubicBezTo>
                        <a:cubicBezTo>
                          <a:pt x="438" y="2227"/>
                          <a:pt x="358" y="2228"/>
                          <a:pt x="268" y="219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60" name="Freeform 26"/>
                  <p:cNvSpPr>
                    <a:spLocks/>
                  </p:cNvSpPr>
                  <p:nvPr/>
                </p:nvSpPr>
                <p:spPr bwMode="auto">
                  <a:xfrm>
                    <a:off x="-1497100" y="2586756"/>
                    <a:ext cx="193158" cy="186508"/>
                  </a:xfrm>
                  <a:custGeom>
                    <a:avLst/>
                    <a:gdLst>
                      <a:gd name="T0" fmla="*/ 981 w 2360"/>
                      <a:gd name="T1" fmla="*/ 2324 h 2347"/>
                      <a:gd name="T2" fmla="*/ 30 w 2360"/>
                      <a:gd name="T3" fmla="*/ 1400 h 2347"/>
                      <a:gd name="T4" fmla="*/ 45 w 2360"/>
                      <a:gd name="T5" fmla="*/ 873 h 2347"/>
                      <a:gd name="T6" fmla="*/ 826 w 2360"/>
                      <a:gd name="T7" fmla="*/ 48 h 2347"/>
                      <a:gd name="T8" fmla="*/ 1180 w 2360"/>
                      <a:gd name="T9" fmla="*/ 1 h 2347"/>
                      <a:gd name="T10" fmla="*/ 1507 w 2360"/>
                      <a:gd name="T11" fmla="*/ 38 h 2347"/>
                      <a:gd name="T12" fmla="*/ 2342 w 2360"/>
                      <a:gd name="T13" fmla="*/ 1094 h 2347"/>
                      <a:gd name="T14" fmla="*/ 2010 w 2360"/>
                      <a:gd name="T15" fmla="*/ 1988 h 2347"/>
                      <a:gd name="T16" fmla="*/ 1499 w 2360"/>
                      <a:gd name="T17" fmla="*/ 2294 h 2347"/>
                      <a:gd name="T18" fmla="*/ 981 w 2360"/>
                      <a:gd name="T19" fmla="*/ 2324 h 2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60" h="2347">
                        <a:moveTo>
                          <a:pt x="981" y="2324"/>
                        </a:moveTo>
                        <a:cubicBezTo>
                          <a:pt x="507" y="2239"/>
                          <a:pt x="135" y="1879"/>
                          <a:pt x="30" y="1400"/>
                        </a:cubicBezTo>
                        <a:cubicBezTo>
                          <a:pt x="0" y="1267"/>
                          <a:pt x="7" y="1017"/>
                          <a:pt x="45" y="873"/>
                        </a:cubicBezTo>
                        <a:cubicBezTo>
                          <a:pt x="147" y="478"/>
                          <a:pt x="432" y="177"/>
                          <a:pt x="826" y="48"/>
                        </a:cubicBezTo>
                        <a:cubicBezTo>
                          <a:pt x="955" y="6"/>
                          <a:pt x="995" y="0"/>
                          <a:pt x="1180" y="1"/>
                        </a:cubicBezTo>
                        <a:cubicBezTo>
                          <a:pt x="1348" y="1"/>
                          <a:pt x="1411" y="8"/>
                          <a:pt x="1507" y="38"/>
                        </a:cubicBezTo>
                        <a:cubicBezTo>
                          <a:pt x="1996" y="191"/>
                          <a:pt x="2318" y="598"/>
                          <a:pt x="2342" y="1094"/>
                        </a:cubicBezTo>
                        <a:cubicBezTo>
                          <a:pt x="2360" y="1458"/>
                          <a:pt x="2252" y="1749"/>
                          <a:pt x="2010" y="1988"/>
                        </a:cubicBezTo>
                        <a:cubicBezTo>
                          <a:pt x="1846" y="2149"/>
                          <a:pt x="1703" y="2235"/>
                          <a:pt x="1499" y="2294"/>
                        </a:cubicBezTo>
                        <a:cubicBezTo>
                          <a:pt x="1368" y="2331"/>
                          <a:pt x="1108" y="2347"/>
                          <a:pt x="981" y="232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grpSp>
            <p:sp>
              <p:nvSpPr>
                <p:cNvPr id="54" name="Freeform 53"/>
                <p:cNvSpPr/>
                <p:nvPr/>
              </p:nvSpPr>
              <p:spPr>
                <a:xfrm>
                  <a:off x="8296275" y="2056834"/>
                  <a:ext cx="704850" cy="438716"/>
                </a:xfrm>
                <a:custGeom>
                  <a:avLst/>
                  <a:gdLst>
                    <a:gd name="connsiteX0" fmla="*/ 9525 w 704850"/>
                    <a:gd name="connsiteY0" fmla="*/ 105341 h 400616"/>
                    <a:gd name="connsiteX1" fmla="*/ 9525 w 704850"/>
                    <a:gd name="connsiteY1" fmla="*/ 105341 h 400616"/>
                    <a:gd name="connsiteX2" fmla="*/ 200025 w 704850"/>
                    <a:gd name="connsiteY2" fmla="*/ 566 h 400616"/>
                    <a:gd name="connsiteX3" fmla="*/ 228600 w 704850"/>
                    <a:gd name="connsiteY3" fmla="*/ 29141 h 400616"/>
                    <a:gd name="connsiteX4" fmla="*/ 266700 w 704850"/>
                    <a:gd name="connsiteY4" fmla="*/ 67241 h 400616"/>
                    <a:gd name="connsiteX5" fmla="*/ 333375 w 704850"/>
                    <a:gd name="connsiteY5" fmla="*/ 124391 h 400616"/>
                    <a:gd name="connsiteX6" fmla="*/ 466725 w 704850"/>
                    <a:gd name="connsiteY6" fmla="*/ 191066 h 400616"/>
                    <a:gd name="connsiteX7" fmla="*/ 676275 w 704850"/>
                    <a:gd name="connsiteY7" fmla="*/ 248216 h 400616"/>
                    <a:gd name="connsiteX8" fmla="*/ 704850 w 704850"/>
                    <a:gd name="connsiteY8" fmla="*/ 314891 h 400616"/>
                    <a:gd name="connsiteX9" fmla="*/ 628650 w 704850"/>
                    <a:gd name="connsiteY9" fmla="*/ 400616 h 400616"/>
                    <a:gd name="connsiteX10" fmla="*/ 514350 w 704850"/>
                    <a:gd name="connsiteY10" fmla="*/ 400616 h 400616"/>
                    <a:gd name="connsiteX11" fmla="*/ 409575 w 704850"/>
                    <a:gd name="connsiteY11" fmla="*/ 362516 h 400616"/>
                    <a:gd name="connsiteX12" fmla="*/ 333375 w 704850"/>
                    <a:gd name="connsiteY12" fmla="*/ 352991 h 400616"/>
                    <a:gd name="connsiteX13" fmla="*/ 285750 w 704850"/>
                    <a:gd name="connsiteY13" fmla="*/ 400616 h 400616"/>
                    <a:gd name="connsiteX14" fmla="*/ 219075 w 704850"/>
                    <a:gd name="connsiteY14" fmla="*/ 400616 h 400616"/>
                    <a:gd name="connsiteX15" fmla="*/ 85725 w 704850"/>
                    <a:gd name="connsiteY15" fmla="*/ 333941 h 400616"/>
                    <a:gd name="connsiteX16" fmla="*/ 0 w 704850"/>
                    <a:gd name="connsiteY16" fmla="*/ 229166 h 400616"/>
                    <a:gd name="connsiteX17" fmla="*/ 9525 w 704850"/>
                    <a:gd name="connsiteY17" fmla="*/ 105341 h 400616"/>
                    <a:gd name="connsiteX0" fmla="*/ 9525 w 704850"/>
                    <a:gd name="connsiteY0" fmla="*/ 105341 h 400616"/>
                    <a:gd name="connsiteX1" fmla="*/ 9525 w 704850"/>
                    <a:gd name="connsiteY1" fmla="*/ 105341 h 400616"/>
                    <a:gd name="connsiteX2" fmla="*/ 200025 w 704850"/>
                    <a:gd name="connsiteY2" fmla="*/ 566 h 400616"/>
                    <a:gd name="connsiteX3" fmla="*/ 228600 w 704850"/>
                    <a:gd name="connsiteY3" fmla="*/ 29141 h 400616"/>
                    <a:gd name="connsiteX4" fmla="*/ 266700 w 704850"/>
                    <a:gd name="connsiteY4" fmla="*/ 67241 h 400616"/>
                    <a:gd name="connsiteX5" fmla="*/ 333375 w 704850"/>
                    <a:gd name="connsiteY5" fmla="*/ 124391 h 400616"/>
                    <a:gd name="connsiteX6" fmla="*/ 466725 w 704850"/>
                    <a:gd name="connsiteY6" fmla="*/ 191066 h 400616"/>
                    <a:gd name="connsiteX7" fmla="*/ 676275 w 704850"/>
                    <a:gd name="connsiteY7" fmla="*/ 248216 h 400616"/>
                    <a:gd name="connsiteX8" fmla="*/ 704850 w 704850"/>
                    <a:gd name="connsiteY8" fmla="*/ 314891 h 400616"/>
                    <a:gd name="connsiteX9" fmla="*/ 628650 w 704850"/>
                    <a:gd name="connsiteY9" fmla="*/ 400616 h 400616"/>
                    <a:gd name="connsiteX10" fmla="*/ 514350 w 704850"/>
                    <a:gd name="connsiteY10" fmla="*/ 400616 h 400616"/>
                    <a:gd name="connsiteX11" fmla="*/ 409575 w 704850"/>
                    <a:gd name="connsiteY11" fmla="*/ 362516 h 400616"/>
                    <a:gd name="connsiteX12" fmla="*/ 333375 w 704850"/>
                    <a:gd name="connsiteY12" fmla="*/ 352991 h 400616"/>
                    <a:gd name="connsiteX13" fmla="*/ 285750 w 704850"/>
                    <a:gd name="connsiteY13" fmla="*/ 400616 h 400616"/>
                    <a:gd name="connsiteX14" fmla="*/ 219075 w 704850"/>
                    <a:gd name="connsiteY14" fmla="*/ 400616 h 400616"/>
                    <a:gd name="connsiteX15" fmla="*/ 85725 w 704850"/>
                    <a:gd name="connsiteY15" fmla="*/ 333941 h 400616"/>
                    <a:gd name="connsiteX16" fmla="*/ 0 w 704850"/>
                    <a:gd name="connsiteY16" fmla="*/ 229166 h 400616"/>
                    <a:gd name="connsiteX17" fmla="*/ 9525 w 704850"/>
                    <a:gd name="connsiteY17" fmla="*/ 105341 h 400616"/>
                    <a:gd name="connsiteX0" fmla="*/ 9525 w 704850"/>
                    <a:gd name="connsiteY0" fmla="*/ 105341 h 432366"/>
                    <a:gd name="connsiteX1" fmla="*/ 9525 w 704850"/>
                    <a:gd name="connsiteY1" fmla="*/ 105341 h 432366"/>
                    <a:gd name="connsiteX2" fmla="*/ 200025 w 704850"/>
                    <a:gd name="connsiteY2" fmla="*/ 566 h 432366"/>
                    <a:gd name="connsiteX3" fmla="*/ 228600 w 704850"/>
                    <a:gd name="connsiteY3" fmla="*/ 29141 h 432366"/>
                    <a:gd name="connsiteX4" fmla="*/ 266700 w 704850"/>
                    <a:gd name="connsiteY4" fmla="*/ 67241 h 432366"/>
                    <a:gd name="connsiteX5" fmla="*/ 333375 w 704850"/>
                    <a:gd name="connsiteY5" fmla="*/ 124391 h 432366"/>
                    <a:gd name="connsiteX6" fmla="*/ 466725 w 704850"/>
                    <a:gd name="connsiteY6" fmla="*/ 191066 h 432366"/>
                    <a:gd name="connsiteX7" fmla="*/ 676275 w 704850"/>
                    <a:gd name="connsiteY7" fmla="*/ 248216 h 432366"/>
                    <a:gd name="connsiteX8" fmla="*/ 704850 w 704850"/>
                    <a:gd name="connsiteY8" fmla="*/ 314891 h 432366"/>
                    <a:gd name="connsiteX9" fmla="*/ 628650 w 704850"/>
                    <a:gd name="connsiteY9" fmla="*/ 400616 h 432366"/>
                    <a:gd name="connsiteX10" fmla="*/ 514350 w 704850"/>
                    <a:gd name="connsiteY10" fmla="*/ 400616 h 432366"/>
                    <a:gd name="connsiteX11" fmla="*/ 409575 w 704850"/>
                    <a:gd name="connsiteY11" fmla="*/ 362516 h 432366"/>
                    <a:gd name="connsiteX12" fmla="*/ 333375 w 704850"/>
                    <a:gd name="connsiteY12" fmla="*/ 352991 h 432366"/>
                    <a:gd name="connsiteX13" fmla="*/ 295275 w 704850"/>
                    <a:gd name="connsiteY13" fmla="*/ 432366 h 432366"/>
                    <a:gd name="connsiteX14" fmla="*/ 219075 w 704850"/>
                    <a:gd name="connsiteY14" fmla="*/ 400616 h 432366"/>
                    <a:gd name="connsiteX15" fmla="*/ 85725 w 704850"/>
                    <a:gd name="connsiteY15" fmla="*/ 333941 h 432366"/>
                    <a:gd name="connsiteX16" fmla="*/ 0 w 704850"/>
                    <a:gd name="connsiteY16" fmla="*/ 229166 h 432366"/>
                    <a:gd name="connsiteX17" fmla="*/ 9525 w 704850"/>
                    <a:gd name="connsiteY17" fmla="*/ 105341 h 432366"/>
                    <a:gd name="connsiteX0" fmla="*/ 9525 w 704850"/>
                    <a:gd name="connsiteY0" fmla="*/ 105341 h 432366"/>
                    <a:gd name="connsiteX1" fmla="*/ 9525 w 704850"/>
                    <a:gd name="connsiteY1" fmla="*/ 105341 h 432366"/>
                    <a:gd name="connsiteX2" fmla="*/ 200025 w 704850"/>
                    <a:gd name="connsiteY2" fmla="*/ 566 h 432366"/>
                    <a:gd name="connsiteX3" fmla="*/ 228600 w 704850"/>
                    <a:gd name="connsiteY3" fmla="*/ 29141 h 432366"/>
                    <a:gd name="connsiteX4" fmla="*/ 266700 w 704850"/>
                    <a:gd name="connsiteY4" fmla="*/ 67241 h 432366"/>
                    <a:gd name="connsiteX5" fmla="*/ 333375 w 704850"/>
                    <a:gd name="connsiteY5" fmla="*/ 124391 h 432366"/>
                    <a:gd name="connsiteX6" fmla="*/ 466725 w 704850"/>
                    <a:gd name="connsiteY6" fmla="*/ 191066 h 432366"/>
                    <a:gd name="connsiteX7" fmla="*/ 676275 w 704850"/>
                    <a:gd name="connsiteY7" fmla="*/ 248216 h 432366"/>
                    <a:gd name="connsiteX8" fmla="*/ 704850 w 704850"/>
                    <a:gd name="connsiteY8" fmla="*/ 314891 h 432366"/>
                    <a:gd name="connsiteX9" fmla="*/ 628650 w 704850"/>
                    <a:gd name="connsiteY9" fmla="*/ 400616 h 432366"/>
                    <a:gd name="connsiteX10" fmla="*/ 514350 w 704850"/>
                    <a:gd name="connsiteY10" fmla="*/ 400616 h 432366"/>
                    <a:gd name="connsiteX11" fmla="*/ 409575 w 704850"/>
                    <a:gd name="connsiteY11" fmla="*/ 362516 h 432366"/>
                    <a:gd name="connsiteX12" fmla="*/ 352425 w 704850"/>
                    <a:gd name="connsiteY12" fmla="*/ 352991 h 432366"/>
                    <a:gd name="connsiteX13" fmla="*/ 295275 w 704850"/>
                    <a:gd name="connsiteY13" fmla="*/ 432366 h 432366"/>
                    <a:gd name="connsiteX14" fmla="*/ 219075 w 704850"/>
                    <a:gd name="connsiteY14" fmla="*/ 400616 h 432366"/>
                    <a:gd name="connsiteX15" fmla="*/ 85725 w 704850"/>
                    <a:gd name="connsiteY15" fmla="*/ 333941 h 432366"/>
                    <a:gd name="connsiteX16" fmla="*/ 0 w 704850"/>
                    <a:gd name="connsiteY16" fmla="*/ 229166 h 432366"/>
                    <a:gd name="connsiteX17" fmla="*/ 9525 w 704850"/>
                    <a:gd name="connsiteY17" fmla="*/ 105341 h 432366"/>
                    <a:gd name="connsiteX0" fmla="*/ 9525 w 704850"/>
                    <a:gd name="connsiteY0" fmla="*/ 105341 h 432366"/>
                    <a:gd name="connsiteX1" fmla="*/ 9525 w 704850"/>
                    <a:gd name="connsiteY1" fmla="*/ 105341 h 432366"/>
                    <a:gd name="connsiteX2" fmla="*/ 200025 w 704850"/>
                    <a:gd name="connsiteY2" fmla="*/ 566 h 432366"/>
                    <a:gd name="connsiteX3" fmla="*/ 228600 w 704850"/>
                    <a:gd name="connsiteY3" fmla="*/ 29141 h 432366"/>
                    <a:gd name="connsiteX4" fmla="*/ 266700 w 704850"/>
                    <a:gd name="connsiteY4" fmla="*/ 67241 h 432366"/>
                    <a:gd name="connsiteX5" fmla="*/ 333375 w 704850"/>
                    <a:gd name="connsiteY5" fmla="*/ 124391 h 432366"/>
                    <a:gd name="connsiteX6" fmla="*/ 466725 w 704850"/>
                    <a:gd name="connsiteY6" fmla="*/ 191066 h 432366"/>
                    <a:gd name="connsiteX7" fmla="*/ 676275 w 704850"/>
                    <a:gd name="connsiteY7" fmla="*/ 248216 h 432366"/>
                    <a:gd name="connsiteX8" fmla="*/ 704850 w 704850"/>
                    <a:gd name="connsiteY8" fmla="*/ 314891 h 432366"/>
                    <a:gd name="connsiteX9" fmla="*/ 628650 w 704850"/>
                    <a:gd name="connsiteY9" fmla="*/ 400616 h 432366"/>
                    <a:gd name="connsiteX10" fmla="*/ 514350 w 704850"/>
                    <a:gd name="connsiteY10" fmla="*/ 400616 h 432366"/>
                    <a:gd name="connsiteX11" fmla="*/ 409575 w 704850"/>
                    <a:gd name="connsiteY11" fmla="*/ 362516 h 432366"/>
                    <a:gd name="connsiteX12" fmla="*/ 352425 w 704850"/>
                    <a:gd name="connsiteY12" fmla="*/ 352991 h 432366"/>
                    <a:gd name="connsiteX13" fmla="*/ 295275 w 704850"/>
                    <a:gd name="connsiteY13" fmla="*/ 432366 h 432366"/>
                    <a:gd name="connsiteX14" fmla="*/ 219075 w 704850"/>
                    <a:gd name="connsiteY14" fmla="*/ 400616 h 432366"/>
                    <a:gd name="connsiteX15" fmla="*/ 85725 w 704850"/>
                    <a:gd name="connsiteY15" fmla="*/ 333941 h 432366"/>
                    <a:gd name="connsiteX16" fmla="*/ 0 w 704850"/>
                    <a:gd name="connsiteY16" fmla="*/ 229166 h 432366"/>
                    <a:gd name="connsiteX17" fmla="*/ 9525 w 704850"/>
                    <a:gd name="connsiteY17" fmla="*/ 105341 h 432366"/>
                    <a:gd name="connsiteX0" fmla="*/ 9525 w 704850"/>
                    <a:gd name="connsiteY0" fmla="*/ 105341 h 432366"/>
                    <a:gd name="connsiteX1" fmla="*/ 9525 w 704850"/>
                    <a:gd name="connsiteY1" fmla="*/ 105341 h 432366"/>
                    <a:gd name="connsiteX2" fmla="*/ 200025 w 704850"/>
                    <a:gd name="connsiteY2" fmla="*/ 566 h 432366"/>
                    <a:gd name="connsiteX3" fmla="*/ 228600 w 704850"/>
                    <a:gd name="connsiteY3" fmla="*/ 29141 h 432366"/>
                    <a:gd name="connsiteX4" fmla="*/ 266700 w 704850"/>
                    <a:gd name="connsiteY4" fmla="*/ 67241 h 432366"/>
                    <a:gd name="connsiteX5" fmla="*/ 333375 w 704850"/>
                    <a:gd name="connsiteY5" fmla="*/ 124391 h 432366"/>
                    <a:gd name="connsiteX6" fmla="*/ 466725 w 704850"/>
                    <a:gd name="connsiteY6" fmla="*/ 191066 h 432366"/>
                    <a:gd name="connsiteX7" fmla="*/ 676275 w 704850"/>
                    <a:gd name="connsiteY7" fmla="*/ 248216 h 432366"/>
                    <a:gd name="connsiteX8" fmla="*/ 704850 w 704850"/>
                    <a:gd name="connsiteY8" fmla="*/ 314891 h 432366"/>
                    <a:gd name="connsiteX9" fmla="*/ 628650 w 704850"/>
                    <a:gd name="connsiteY9" fmla="*/ 400616 h 432366"/>
                    <a:gd name="connsiteX10" fmla="*/ 514350 w 704850"/>
                    <a:gd name="connsiteY10" fmla="*/ 400616 h 432366"/>
                    <a:gd name="connsiteX11" fmla="*/ 409575 w 704850"/>
                    <a:gd name="connsiteY11" fmla="*/ 362516 h 432366"/>
                    <a:gd name="connsiteX12" fmla="*/ 330200 w 704850"/>
                    <a:gd name="connsiteY12" fmla="*/ 365691 h 432366"/>
                    <a:gd name="connsiteX13" fmla="*/ 295275 w 704850"/>
                    <a:gd name="connsiteY13" fmla="*/ 432366 h 432366"/>
                    <a:gd name="connsiteX14" fmla="*/ 219075 w 704850"/>
                    <a:gd name="connsiteY14" fmla="*/ 400616 h 432366"/>
                    <a:gd name="connsiteX15" fmla="*/ 85725 w 704850"/>
                    <a:gd name="connsiteY15" fmla="*/ 333941 h 432366"/>
                    <a:gd name="connsiteX16" fmla="*/ 0 w 704850"/>
                    <a:gd name="connsiteY16" fmla="*/ 229166 h 432366"/>
                    <a:gd name="connsiteX17" fmla="*/ 9525 w 704850"/>
                    <a:gd name="connsiteY17" fmla="*/ 105341 h 432366"/>
                    <a:gd name="connsiteX0" fmla="*/ 9525 w 704850"/>
                    <a:gd name="connsiteY0" fmla="*/ 105341 h 432366"/>
                    <a:gd name="connsiteX1" fmla="*/ 9525 w 704850"/>
                    <a:gd name="connsiteY1" fmla="*/ 105341 h 432366"/>
                    <a:gd name="connsiteX2" fmla="*/ 200025 w 704850"/>
                    <a:gd name="connsiteY2" fmla="*/ 566 h 432366"/>
                    <a:gd name="connsiteX3" fmla="*/ 228600 w 704850"/>
                    <a:gd name="connsiteY3" fmla="*/ 29141 h 432366"/>
                    <a:gd name="connsiteX4" fmla="*/ 266700 w 704850"/>
                    <a:gd name="connsiteY4" fmla="*/ 67241 h 432366"/>
                    <a:gd name="connsiteX5" fmla="*/ 333375 w 704850"/>
                    <a:gd name="connsiteY5" fmla="*/ 124391 h 432366"/>
                    <a:gd name="connsiteX6" fmla="*/ 466725 w 704850"/>
                    <a:gd name="connsiteY6" fmla="*/ 191066 h 432366"/>
                    <a:gd name="connsiteX7" fmla="*/ 676275 w 704850"/>
                    <a:gd name="connsiteY7" fmla="*/ 248216 h 432366"/>
                    <a:gd name="connsiteX8" fmla="*/ 704850 w 704850"/>
                    <a:gd name="connsiteY8" fmla="*/ 314891 h 432366"/>
                    <a:gd name="connsiteX9" fmla="*/ 628650 w 704850"/>
                    <a:gd name="connsiteY9" fmla="*/ 400616 h 432366"/>
                    <a:gd name="connsiteX10" fmla="*/ 517525 w 704850"/>
                    <a:gd name="connsiteY10" fmla="*/ 397441 h 432366"/>
                    <a:gd name="connsiteX11" fmla="*/ 409575 w 704850"/>
                    <a:gd name="connsiteY11" fmla="*/ 362516 h 432366"/>
                    <a:gd name="connsiteX12" fmla="*/ 330200 w 704850"/>
                    <a:gd name="connsiteY12" fmla="*/ 365691 h 432366"/>
                    <a:gd name="connsiteX13" fmla="*/ 295275 w 704850"/>
                    <a:gd name="connsiteY13" fmla="*/ 432366 h 432366"/>
                    <a:gd name="connsiteX14" fmla="*/ 219075 w 704850"/>
                    <a:gd name="connsiteY14" fmla="*/ 400616 h 432366"/>
                    <a:gd name="connsiteX15" fmla="*/ 85725 w 704850"/>
                    <a:gd name="connsiteY15" fmla="*/ 333941 h 432366"/>
                    <a:gd name="connsiteX16" fmla="*/ 0 w 704850"/>
                    <a:gd name="connsiteY16" fmla="*/ 229166 h 432366"/>
                    <a:gd name="connsiteX17" fmla="*/ 9525 w 704850"/>
                    <a:gd name="connsiteY17" fmla="*/ 105341 h 432366"/>
                    <a:gd name="connsiteX0" fmla="*/ 9525 w 704850"/>
                    <a:gd name="connsiteY0" fmla="*/ 105341 h 426016"/>
                    <a:gd name="connsiteX1" fmla="*/ 9525 w 704850"/>
                    <a:gd name="connsiteY1" fmla="*/ 105341 h 426016"/>
                    <a:gd name="connsiteX2" fmla="*/ 200025 w 704850"/>
                    <a:gd name="connsiteY2" fmla="*/ 566 h 426016"/>
                    <a:gd name="connsiteX3" fmla="*/ 228600 w 704850"/>
                    <a:gd name="connsiteY3" fmla="*/ 29141 h 426016"/>
                    <a:gd name="connsiteX4" fmla="*/ 266700 w 704850"/>
                    <a:gd name="connsiteY4" fmla="*/ 67241 h 426016"/>
                    <a:gd name="connsiteX5" fmla="*/ 333375 w 704850"/>
                    <a:gd name="connsiteY5" fmla="*/ 124391 h 426016"/>
                    <a:gd name="connsiteX6" fmla="*/ 466725 w 704850"/>
                    <a:gd name="connsiteY6" fmla="*/ 191066 h 426016"/>
                    <a:gd name="connsiteX7" fmla="*/ 676275 w 704850"/>
                    <a:gd name="connsiteY7" fmla="*/ 248216 h 426016"/>
                    <a:gd name="connsiteX8" fmla="*/ 704850 w 704850"/>
                    <a:gd name="connsiteY8" fmla="*/ 314891 h 426016"/>
                    <a:gd name="connsiteX9" fmla="*/ 628650 w 704850"/>
                    <a:gd name="connsiteY9" fmla="*/ 400616 h 426016"/>
                    <a:gd name="connsiteX10" fmla="*/ 517525 w 704850"/>
                    <a:gd name="connsiteY10" fmla="*/ 397441 h 426016"/>
                    <a:gd name="connsiteX11" fmla="*/ 409575 w 704850"/>
                    <a:gd name="connsiteY11" fmla="*/ 362516 h 426016"/>
                    <a:gd name="connsiteX12" fmla="*/ 330200 w 704850"/>
                    <a:gd name="connsiteY12" fmla="*/ 365691 h 426016"/>
                    <a:gd name="connsiteX13" fmla="*/ 276225 w 704850"/>
                    <a:gd name="connsiteY13" fmla="*/ 426016 h 426016"/>
                    <a:gd name="connsiteX14" fmla="*/ 219075 w 704850"/>
                    <a:gd name="connsiteY14" fmla="*/ 400616 h 426016"/>
                    <a:gd name="connsiteX15" fmla="*/ 85725 w 704850"/>
                    <a:gd name="connsiteY15" fmla="*/ 333941 h 426016"/>
                    <a:gd name="connsiteX16" fmla="*/ 0 w 704850"/>
                    <a:gd name="connsiteY16" fmla="*/ 229166 h 426016"/>
                    <a:gd name="connsiteX17" fmla="*/ 9525 w 704850"/>
                    <a:gd name="connsiteY17" fmla="*/ 105341 h 426016"/>
                    <a:gd name="connsiteX0" fmla="*/ 9525 w 704850"/>
                    <a:gd name="connsiteY0" fmla="*/ 105341 h 432366"/>
                    <a:gd name="connsiteX1" fmla="*/ 9525 w 704850"/>
                    <a:gd name="connsiteY1" fmla="*/ 105341 h 432366"/>
                    <a:gd name="connsiteX2" fmla="*/ 200025 w 704850"/>
                    <a:gd name="connsiteY2" fmla="*/ 566 h 432366"/>
                    <a:gd name="connsiteX3" fmla="*/ 228600 w 704850"/>
                    <a:gd name="connsiteY3" fmla="*/ 29141 h 432366"/>
                    <a:gd name="connsiteX4" fmla="*/ 266700 w 704850"/>
                    <a:gd name="connsiteY4" fmla="*/ 67241 h 432366"/>
                    <a:gd name="connsiteX5" fmla="*/ 333375 w 704850"/>
                    <a:gd name="connsiteY5" fmla="*/ 124391 h 432366"/>
                    <a:gd name="connsiteX6" fmla="*/ 466725 w 704850"/>
                    <a:gd name="connsiteY6" fmla="*/ 191066 h 432366"/>
                    <a:gd name="connsiteX7" fmla="*/ 676275 w 704850"/>
                    <a:gd name="connsiteY7" fmla="*/ 248216 h 432366"/>
                    <a:gd name="connsiteX8" fmla="*/ 704850 w 704850"/>
                    <a:gd name="connsiteY8" fmla="*/ 314891 h 432366"/>
                    <a:gd name="connsiteX9" fmla="*/ 628650 w 704850"/>
                    <a:gd name="connsiteY9" fmla="*/ 400616 h 432366"/>
                    <a:gd name="connsiteX10" fmla="*/ 517525 w 704850"/>
                    <a:gd name="connsiteY10" fmla="*/ 397441 h 432366"/>
                    <a:gd name="connsiteX11" fmla="*/ 409575 w 704850"/>
                    <a:gd name="connsiteY11" fmla="*/ 362516 h 432366"/>
                    <a:gd name="connsiteX12" fmla="*/ 330200 w 704850"/>
                    <a:gd name="connsiteY12" fmla="*/ 365691 h 432366"/>
                    <a:gd name="connsiteX13" fmla="*/ 282575 w 704850"/>
                    <a:gd name="connsiteY13" fmla="*/ 432366 h 432366"/>
                    <a:gd name="connsiteX14" fmla="*/ 219075 w 704850"/>
                    <a:gd name="connsiteY14" fmla="*/ 400616 h 432366"/>
                    <a:gd name="connsiteX15" fmla="*/ 85725 w 704850"/>
                    <a:gd name="connsiteY15" fmla="*/ 333941 h 432366"/>
                    <a:gd name="connsiteX16" fmla="*/ 0 w 704850"/>
                    <a:gd name="connsiteY16" fmla="*/ 229166 h 432366"/>
                    <a:gd name="connsiteX17" fmla="*/ 9525 w 704850"/>
                    <a:gd name="connsiteY17" fmla="*/ 105341 h 432366"/>
                    <a:gd name="connsiteX0" fmla="*/ 9525 w 704850"/>
                    <a:gd name="connsiteY0" fmla="*/ 105341 h 432366"/>
                    <a:gd name="connsiteX1" fmla="*/ 9525 w 704850"/>
                    <a:gd name="connsiteY1" fmla="*/ 105341 h 432366"/>
                    <a:gd name="connsiteX2" fmla="*/ 200025 w 704850"/>
                    <a:gd name="connsiteY2" fmla="*/ 566 h 432366"/>
                    <a:gd name="connsiteX3" fmla="*/ 228600 w 704850"/>
                    <a:gd name="connsiteY3" fmla="*/ 29141 h 432366"/>
                    <a:gd name="connsiteX4" fmla="*/ 266700 w 704850"/>
                    <a:gd name="connsiteY4" fmla="*/ 67241 h 432366"/>
                    <a:gd name="connsiteX5" fmla="*/ 333375 w 704850"/>
                    <a:gd name="connsiteY5" fmla="*/ 124391 h 432366"/>
                    <a:gd name="connsiteX6" fmla="*/ 466725 w 704850"/>
                    <a:gd name="connsiteY6" fmla="*/ 191066 h 432366"/>
                    <a:gd name="connsiteX7" fmla="*/ 676275 w 704850"/>
                    <a:gd name="connsiteY7" fmla="*/ 248216 h 432366"/>
                    <a:gd name="connsiteX8" fmla="*/ 704850 w 704850"/>
                    <a:gd name="connsiteY8" fmla="*/ 314891 h 432366"/>
                    <a:gd name="connsiteX9" fmla="*/ 628650 w 704850"/>
                    <a:gd name="connsiteY9" fmla="*/ 400616 h 432366"/>
                    <a:gd name="connsiteX10" fmla="*/ 517525 w 704850"/>
                    <a:gd name="connsiteY10" fmla="*/ 397441 h 432366"/>
                    <a:gd name="connsiteX11" fmla="*/ 409575 w 704850"/>
                    <a:gd name="connsiteY11" fmla="*/ 362516 h 432366"/>
                    <a:gd name="connsiteX12" fmla="*/ 336550 w 704850"/>
                    <a:gd name="connsiteY12" fmla="*/ 378391 h 432366"/>
                    <a:gd name="connsiteX13" fmla="*/ 282575 w 704850"/>
                    <a:gd name="connsiteY13" fmla="*/ 432366 h 432366"/>
                    <a:gd name="connsiteX14" fmla="*/ 219075 w 704850"/>
                    <a:gd name="connsiteY14" fmla="*/ 400616 h 432366"/>
                    <a:gd name="connsiteX15" fmla="*/ 85725 w 704850"/>
                    <a:gd name="connsiteY15" fmla="*/ 333941 h 432366"/>
                    <a:gd name="connsiteX16" fmla="*/ 0 w 704850"/>
                    <a:gd name="connsiteY16" fmla="*/ 229166 h 432366"/>
                    <a:gd name="connsiteX17" fmla="*/ 9525 w 704850"/>
                    <a:gd name="connsiteY17" fmla="*/ 105341 h 432366"/>
                    <a:gd name="connsiteX0" fmla="*/ 9525 w 704850"/>
                    <a:gd name="connsiteY0" fmla="*/ 105341 h 432366"/>
                    <a:gd name="connsiteX1" fmla="*/ 9525 w 704850"/>
                    <a:gd name="connsiteY1" fmla="*/ 105341 h 432366"/>
                    <a:gd name="connsiteX2" fmla="*/ 200025 w 704850"/>
                    <a:gd name="connsiteY2" fmla="*/ 566 h 432366"/>
                    <a:gd name="connsiteX3" fmla="*/ 228600 w 704850"/>
                    <a:gd name="connsiteY3" fmla="*/ 29141 h 432366"/>
                    <a:gd name="connsiteX4" fmla="*/ 266700 w 704850"/>
                    <a:gd name="connsiteY4" fmla="*/ 67241 h 432366"/>
                    <a:gd name="connsiteX5" fmla="*/ 333375 w 704850"/>
                    <a:gd name="connsiteY5" fmla="*/ 124391 h 432366"/>
                    <a:gd name="connsiteX6" fmla="*/ 466725 w 704850"/>
                    <a:gd name="connsiteY6" fmla="*/ 191066 h 432366"/>
                    <a:gd name="connsiteX7" fmla="*/ 676275 w 704850"/>
                    <a:gd name="connsiteY7" fmla="*/ 248216 h 432366"/>
                    <a:gd name="connsiteX8" fmla="*/ 704850 w 704850"/>
                    <a:gd name="connsiteY8" fmla="*/ 314891 h 432366"/>
                    <a:gd name="connsiteX9" fmla="*/ 628650 w 704850"/>
                    <a:gd name="connsiteY9" fmla="*/ 400616 h 432366"/>
                    <a:gd name="connsiteX10" fmla="*/ 517525 w 704850"/>
                    <a:gd name="connsiteY10" fmla="*/ 397441 h 432366"/>
                    <a:gd name="connsiteX11" fmla="*/ 409575 w 704850"/>
                    <a:gd name="connsiteY11" fmla="*/ 362516 h 432366"/>
                    <a:gd name="connsiteX12" fmla="*/ 336550 w 704850"/>
                    <a:gd name="connsiteY12" fmla="*/ 378391 h 432366"/>
                    <a:gd name="connsiteX13" fmla="*/ 282575 w 704850"/>
                    <a:gd name="connsiteY13" fmla="*/ 432366 h 432366"/>
                    <a:gd name="connsiteX14" fmla="*/ 219075 w 704850"/>
                    <a:gd name="connsiteY14" fmla="*/ 400616 h 432366"/>
                    <a:gd name="connsiteX15" fmla="*/ 85725 w 704850"/>
                    <a:gd name="connsiteY15" fmla="*/ 333941 h 432366"/>
                    <a:gd name="connsiteX16" fmla="*/ 0 w 704850"/>
                    <a:gd name="connsiteY16" fmla="*/ 229166 h 432366"/>
                    <a:gd name="connsiteX17" fmla="*/ 9525 w 704850"/>
                    <a:gd name="connsiteY17" fmla="*/ 105341 h 432366"/>
                    <a:gd name="connsiteX0" fmla="*/ 9525 w 704850"/>
                    <a:gd name="connsiteY0" fmla="*/ 105341 h 432366"/>
                    <a:gd name="connsiteX1" fmla="*/ 9525 w 704850"/>
                    <a:gd name="connsiteY1" fmla="*/ 105341 h 432366"/>
                    <a:gd name="connsiteX2" fmla="*/ 200025 w 704850"/>
                    <a:gd name="connsiteY2" fmla="*/ 566 h 432366"/>
                    <a:gd name="connsiteX3" fmla="*/ 228600 w 704850"/>
                    <a:gd name="connsiteY3" fmla="*/ 29141 h 432366"/>
                    <a:gd name="connsiteX4" fmla="*/ 266700 w 704850"/>
                    <a:gd name="connsiteY4" fmla="*/ 67241 h 432366"/>
                    <a:gd name="connsiteX5" fmla="*/ 333375 w 704850"/>
                    <a:gd name="connsiteY5" fmla="*/ 124391 h 432366"/>
                    <a:gd name="connsiteX6" fmla="*/ 466725 w 704850"/>
                    <a:gd name="connsiteY6" fmla="*/ 191066 h 432366"/>
                    <a:gd name="connsiteX7" fmla="*/ 676275 w 704850"/>
                    <a:gd name="connsiteY7" fmla="*/ 248216 h 432366"/>
                    <a:gd name="connsiteX8" fmla="*/ 704850 w 704850"/>
                    <a:gd name="connsiteY8" fmla="*/ 314891 h 432366"/>
                    <a:gd name="connsiteX9" fmla="*/ 628650 w 704850"/>
                    <a:gd name="connsiteY9" fmla="*/ 400616 h 432366"/>
                    <a:gd name="connsiteX10" fmla="*/ 523875 w 704850"/>
                    <a:gd name="connsiteY10" fmla="*/ 381566 h 432366"/>
                    <a:gd name="connsiteX11" fmla="*/ 409575 w 704850"/>
                    <a:gd name="connsiteY11" fmla="*/ 362516 h 432366"/>
                    <a:gd name="connsiteX12" fmla="*/ 336550 w 704850"/>
                    <a:gd name="connsiteY12" fmla="*/ 378391 h 432366"/>
                    <a:gd name="connsiteX13" fmla="*/ 282575 w 704850"/>
                    <a:gd name="connsiteY13" fmla="*/ 432366 h 432366"/>
                    <a:gd name="connsiteX14" fmla="*/ 219075 w 704850"/>
                    <a:gd name="connsiteY14" fmla="*/ 400616 h 432366"/>
                    <a:gd name="connsiteX15" fmla="*/ 85725 w 704850"/>
                    <a:gd name="connsiteY15" fmla="*/ 333941 h 432366"/>
                    <a:gd name="connsiteX16" fmla="*/ 0 w 704850"/>
                    <a:gd name="connsiteY16" fmla="*/ 229166 h 432366"/>
                    <a:gd name="connsiteX17" fmla="*/ 9525 w 704850"/>
                    <a:gd name="connsiteY17" fmla="*/ 105341 h 432366"/>
                    <a:gd name="connsiteX0" fmla="*/ 9525 w 704850"/>
                    <a:gd name="connsiteY0" fmla="*/ 105341 h 432366"/>
                    <a:gd name="connsiteX1" fmla="*/ 9525 w 704850"/>
                    <a:gd name="connsiteY1" fmla="*/ 105341 h 432366"/>
                    <a:gd name="connsiteX2" fmla="*/ 200025 w 704850"/>
                    <a:gd name="connsiteY2" fmla="*/ 566 h 432366"/>
                    <a:gd name="connsiteX3" fmla="*/ 228600 w 704850"/>
                    <a:gd name="connsiteY3" fmla="*/ 29141 h 432366"/>
                    <a:gd name="connsiteX4" fmla="*/ 266700 w 704850"/>
                    <a:gd name="connsiteY4" fmla="*/ 67241 h 432366"/>
                    <a:gd name="connsiteX5" fmla="*/ 333375 w 704850"/>
                    <a:gd name="connsiteY5" fmla="*/ 124391 h 432366"/>
                    <a:gd name="connsiteX6" fmla="*/ 466725 w 704850"/>
                    <a:gd name="connsiteY6" fmla="*/ 191066 h 432366"/>
                    <a:gd name="connsiteX7" fmla="*/ 676275 w 704850"/>
                    <a:gd name="connsiteY7" fmla="*/ 248216 h 432366"/>
                    <a:gd name="connsiteX8" fmla="*/ 704850 w 704850"/>
                    <a:gd name="connsiteY8" fmla="*/ 314891 h 432366"/>
                    <a:gd name="connsiteX9" fmla="*/ 606425 w 704850"/>
                    <a:gd name="connsiteY9" fmla="*/ 403791 h 432366"/>
                    <a:gd name="connsiteX10" fmla="*/ 523875 w 704850"/>
                    <a:gd name="connsiteY10" fmla="*/ 381566 h 432366"/>
                    <a:gd name="connsiteX11" fmla="*/ 409575 w 704850"/>
                    <a:gd name="connsiteY11" fmla="*/ 362516 h 432366"/>
                    <a:gd name="connsiteX12" fmla="*/ 336550 w 704850"/>
                    <a:gd name="connsiteY12" fmla="*/ 378391 h 432366"/>
                    <a:gd name="connsiteX13" fmla="*/ 282575 w 704850"/>
                    <a:gd name="connsiteY13" fmla="*/ 432366 h 432366"/>
                    <a:gd name="connsiteX14" fmla="*/ 219075 w 704850"/>
                    <a:gd name="connsiteY14" fmla="*/ 400616 h 432366"/>
                    <a:gd name="connsiteX15" fmla="*/ 85725 w 704850"/>
                    <a:gd name="connsiteY15" fmla="*/ 333941 h 432366"/>
                    <a:gd name="connsiteX16" fmla="*/ 0 w 704850"/>
                    <a:gd name="connsiteY16" fmla="*/ 229166 h 432366"/>
                    <a:gd name="connsiteX17" fmla="*/ 9525 w 704850"/>
                    <a:gd name="connsiteY17" fmla="*/ 105341 h 432366"/>
                    <a:gd name="connsiteX0" fmla="*/ 9525 w 704850"/>
                    <a:gd name="connsiteY0" fmla="*/ 105341 h 432366"/>
                    <a:gd name="connsiteX1" fmla="*/ 9525 w 704850"/>
                    <a:gd name="connsiteY1" fmla="*/ 105341 h 432366"/>
                    <a:gd name="connsiteX2" fmla="*/ 200025 w 704850"/>
                    <a:gd name="connsiteY2" fmla="*/ 566 h 432366"/>
                    <a:gd name="connsiteX3" fmla="*/ 228600 w 704850"/>
                    <a:gd name="connsiteY3" fmla="*/ 29141 h 432366"/>
                    <a:gd name="connsiteX4" fmla="*/ 266700 w 704850"/>
                    <a:gd name="connsiteY4" fmla="*/ 67241 h 432366"/>
                    <a:gd name="connsiteX5" fmla="*/ 333375 w 704850"/>
                    <a:gd name="connsiteY5" fmla="*/ 124391 h 432366"/>
                    <a:gd name="connsiteX6" fmla="*/ 466725 w 704850"/>
                    <a:gd name="connsiteY6" fmla="*/ 191066 h 432366"/>
                    <a:gd name="connsiteX7" fmla="*/ 676275 w 704850"/>
                    <a:gd name="connsiteY7" fmla="*/ 248216 h 432366"/>
                    <a:gd name="connsiteX8" fmla="*/ 704850 w 704850"/>
                    <a:gd name="connsiteY8" fmla="*/ 314891 h 432366"/>
                    <a:gd name="connsiteX9" fmla="*/ 606425 w 704850"/>
                    <a:gd name="connsiteY9" fmla="*/ 403791 h 432366"/>
                    <a:gd name="connsiteX10" fmla="*/ 523875 w 704850"/>
                    <a:gd name="connsiteY10" fmla="*/ 381566 h 432366"/>
                    <a:gd name="connsiteX11" fmla="*/ 425450 w 704850"/>
                    <a:gd name="connsiteY11" fmla="*/ 356166 h 432366"/>
                    <a:gd name="connsiteX12" fmla="*/ 336550 w 704850"/>
                    <a:gd name="connsiteY12" fmla="*/ 378391 h 432366"/>
                    <a:gd name="connsiteX13" fmla="*/ 282575 w 704850"/>
                    <a:gd name="connsiteY13" fmla="*/ 432366 h 432366"/>
                    <a:gd name="connsiteX14" fmla="*/ 219075 w 704850"/>
                    <a:gd name="connsiteY14" fmla="*/ 400616 h 432366"/>
                    <a:gd name="connsiteX15" fmla="*/ 85725 w 704850"/>
                    <a:gd name="connsiteY15" fmla="*/ 333941 h 432366"/>
                    <a:gd name="connsiteX16" fmla="*/ 0 w 704850"/>
                    <a:gd name="connsiteY16" fmla="*/ 229166 h 432366"/>
                    <a:gd name="connsiteX17" fmla="*/ 9525 w 704850"/>
                    <a:gd name="connsiteY17" fmla="*/ 105341 h 432366"/>
                    <a:gd name="connsiteX0" fmla="*/ 9525 w 704850"/>
                    <a:gd name="connsiteY0" fmla="*/ 105341 h 432366"/>
                    <a:gd name="connsiteX1" fmla="*/ 9525 w 704850"/>
                    <a:gd name="connsiteY1" fmla="*/ 105341 h 432366"/>
                    <a:gd name="connsiteX2" fmla="*/ 200025 w 704850"/>
                    <a:gd name="connsiteY2" fmla="*/ 566 h 432366"/>
                    <a:gd name="connsiteX3" fmla="*/ 228600 w 704850"/>
                    <a:gd name="connsiteY3" fmla="*/ 29141 h 432366"/>
                    <a:gd name="connsiteX4" fmla="*/ 266700 w 704850"/>
                    <a:gd name="connsiteY4" fmla="*/ 67241 h 432366"/>
                    <a:gd name="connsiteX5" fmla="*/ 333375 w 704850"/>
                    <a:gd name="connsiteY5" fmla="*/ 124391 h 432366"/>
                    <a:gd name="connsiteX6" fmla="*/ 466725 w 704850"/>
                    <a:gd name="connsiteY6" fmla="*/ 191066 h 432366"/>
                    <a:gd name="connsiteX7" fmla="*/ 676275 w 704850"/>
                    <a:gd name="connsiteY7" fmla="*/ 248216 h 432366"/>
                    <a:gd name="connsiteX8" fmla="*/ 704850 w 704850"/>
                    <a:gd name="connsiteY8" fmla="*/ 314891 h 432366"/>
                    <a:gd name="connsiteX9" fmla="*/ 606425 w 704850"/>
                    <a:gd name="connsiteY9" fmla="*/ 403791 h 432366"/>
                    <a:gd name="connsiteX10" fmla="*/ 523875 w 704850"/>
                    <a:gd name="connsiteY10" fmla="*/ 381566 h 432366"/>
                    <a:gd name="connsiteX11" fmla="*/ 425450 w 704850"/>
                    <a:gd name="connsiteY11" fmla="*/ 356166 h 432366"/>
                    <a:gd name="connsiteX12" fmla="*/ 336550 w 704850"/>
                    <a:gd name="connsiteY12" fmla="*/ 378391 h 432366"/>
                    <a:gd name="connsiteX13" fmla="*/ 282575 w 704850"/>
                    <a:gd name="connsiteY13" fmla="*/ 432366 h 432366"/>
                    <a:gd name="connsiteX14" fmla="*/ 219075 w 704850"/>
                    <a:gd name="connsiteY14" fmla="*/ 400616 h 432366"/>
                    <a:gd name="connsiteX15" fmla="*/ 85725 w 704850"/>
                    <a:gd name="connsiteY15" fmla="*/ 333941 h 432366"/>
                    <a:gd name="connsiteX16" fmla="*/ 0 w 704850"/>
                    <a:gd name="connsiteY16" fmla="*/ 229166 h 432366"/>
                    <a:gd name="connsiteX17" fmla="*/ 9525 w 704850"/>
                    <a:gd name="connsiteY17" fmla="*/ 105341 h 432366"/>
                    <a:gd name="connsiteX0" fmla="*/ 9525 w 704850"/>
                    <a:gd name="connsiteY0" fmla="*/ 105341 h 451416"/>
                    <a:gd name="connsiteX1" fmla="*/ 9525 w 704850"/>
                    <a:gd name="connsiteY1" fmla="*/ 105341 h 451416"/>
                    <a:gd name="connsiteX2" fmla="*/ 200025 w 704850"/>
                    <a:gd name="connsiteY2" fmla="*/ 566 h 451416"/>
                    <a:gd name="connsiteX3" fmla="*/ 228600 w 704850"/>
                    <a:gd name="connsiteY3" fmla="*/ 29141 h 451416"/>
                    <a:gd name="connsiteX4" fmla="*/ 266700 w 704850"/>
                    <a:gd name="connsiteY4" fmla="*/ 67241 h 451416"/>
                    <a:gd name="connsiteX5" fmla="*/ 333375 w 704850"/>
                    <a:gd name="connsiteY5" fmla="*/ 124391 h 451416"/>
                    <a:gd name="connsiteX6" fmla="*/ 466725 w 704850"/>
                    <a:gd name="connsiteY6" fmla="*/ 191066 h 451416"/>
                    <a:gd name="connsiteX7" fmla="*/ 676275 w 704850"/>
                    <a:gd name="connsiteY7" fmla="*/ 248216 h 451416"/>
                    <a:gd name="connsiteX8" fmla="*/ 704850 w 704850"/>
                    <a:gd name="connsiteY8" fmla="*/ 314891 h 451416"/>
                    <a:gd name="connsiteX9" fmla="*/ 606425 w 704850"/>
                    <a:gd name="connsiteY9" fmla="*/ 403791 h 451416"/>
                    <a:gd name="connsiteX10" fmla="*/ 523875 w 704850"/>
                    <a:gd name="connsiteY10" fmla="*/ 381566 h 451416"/>
                    <a:gd name="connsiteX11" fmla="*/ 425450 w 704850"/>
                    <a:gd name="connsiteY11" fmla="*/ 356166 h 451416"/>
                    <a:gd name="connsiteX12" fmla="*/ 336550 w 704850"/>
                    <a:gd name="connsiteY12" fmla="*/ 378391 h 451416"/>
                    <a:gd name="connsiteX13" fmla="*/ 279400 w 704850"/>
                    <a:gd name="connsiteY13" fmla="*/ 451416 h 451416"/>
                    <a:gd name="connsiteX14" fmla="*/ 219075 w 704850"/>
                    <a:gd name="connsiteY14" fmla="*/ 400616 h 451416"/>
                    <a:gd name="connsiteX15" fmla="*/ 85725 w 704850"/>
                    <a:gd name="connsiteY15" fmla="*/ 333941 h 451416"/>
                    <a:gd name="connsiteX16" fmla="*/ 0 w 704850"/>
                    <a:gd name="connsiteY16" fmla="*/ 229166 h 451416"/>
                    <a:gd name="connsiteX17" fmla="*/ 9525 w 704850"/>
                    <a:gd name="connsiteY17" fmla="*/ 105341 h 451416"/>
                    <a:gd name="connsiteX0" fmla="*/ 9525 w 704850"/>
                    <a:gd name="connsiteY0" fmla="*/ 105341 h 438716"/>
                    <a:gd name="connsiteX1" fmla="*/ 9525 w 704850"/>
                    <a:gd name="connsiteY1" fmla="*/ 105341 h 438716"/>
                    <a:gd name="connsiteX2" fmla="*/ 200025 w 704850"/>
                    <a:gd name="connsiteY2" fmla="*/ 566 h 438716"/>
                    <a:gd name="connsiteX3" fmla="*/ 228600 w 704850"/>
                    <a:gd name="connsiteY3" fmla="*/ 29141 h 438716"/>
                    <a:gd name="connsiteX4" fmla="*/ 266700 w 704850"/>
                    <a:gd name="connsiteY4" fmla="*/ 67241 h 438716"/>
                    <a:gd name="connsiteX5" fmla="*/ 333375 w 704850"/>
                    <a:gd name="connsiteY5" fmla="*/ 124391 h 438716"/>
                    <a:gd name="connsiteX6" fmla="*/ 466725 w 704850"/>
                    <a:gd name="connsiteY6" fmla="*/ 191066 h 438716"/>
                    <a:gd name="connsiteX7" fmla="*/ 676275 w 704850"/>
                    <a:gd name="connsiteY7" fmla="*/ 248216 h 438716"/>
                    <a:gd name="connsiteX8" fmla="*/ 704850 w 704850"/>
                    <a:gd name="connsiteY8" fmla="*/ 314891 h 438716"/>
                    <a:gd name="connsiteX9" fmla="*/ 606425 w 704850"/>
                    <a:gd name="connsiteY9" fmla="*/ 403791 h 438716"/>
                    <a:gd name="connsiteX10" fmla="*/ 523875 w 704850"/>
                    <a:gd name="connsiteY10" fmla="*/ 381566 h 438716"/>
                    <a:gd name="connsiteX11" fmla="*/ 425450 w 704850"/>
                    <a:gd name="connsiteY11" fmla="*/ 356166 h 438716"/>
                    <a:gd name="connsiteX12" fmla="*/ 336550 w 704850"/>
                    <a:gd name="connsiteY12" fmla="*/ 378391 h 438716"/>
                    <a:gd name="connsiteX13" fmla="*/ 285750 w 704850"/>
                    <a:gd name="connsiteY13" fmla="*/ 438716 h 438716"/>
                    <a:gd name="connsiteX14" fmla="*/ 219075 w 704850"/>
                    <a:gd name="connsiteY14" fmla="*/ 400616 h 438716"/>
                    <a:gd name="connsiteX15" fmla="*/ 85725 w 704850"/>
                    <a:gd name="connsiteY15" fmla="*/ 333941 h 438716"/>
                    <a:gd name="connsiteX16" fmla="*/ 0 w 704850"/>
                    <a:gd name="connsiteY16" fmla="*/ 229166 h 438716"/>
                    <a:gd name="connsiteX17" fmla="*/ 9525 w 704850"/>
                    <a:gd name="connsiteY17" fmla="*/ 105341 h 438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04850" h="438716">
                      <a:moveTo>
                        <a:pt x="9525" y="105341"/>
                      </a:moveTo>
                      <a:lnTo>
                        <a:pt x="9525" y="105341"/>
                      </a:lnTo>
                      <a:cubicBezTo>
                        <a:pt x="73025" y="70416"/>
                        <a:pt x="131577" y="24374"/>
                        <a:pt x="200025" y="566"/>
                      </a:cubicBezTo>
                      <a:cubicBezTo>
                        <a:pt x="212748" y="-3859"/>
                        <a:pt x="219976" y="18793"/>
                        <a:pt x="228600" y="29141"/>
                      </a:cubicBezTo>
                      <a:cubicBezTo>
                        <a:pt x="261440" y="68549"/>
                        <a:pt x="231301" y="49541"/>
                        <a:pt x="266700" y="67241"/>
                      </a:cubicBezTo>
                      <a:lnTo>
                        <a:pt x="333375" y="124391"/>
                      </a:lnTo>
                      <a:lnTo>
                        <a:pt x="466725" y="191066"/>
                      </a:lnTo>
                      <a:lnTo>
                        <a:pt x="676275" y="248216"/>
                      </a:lnTo>
                      <a:lnTo>
                        <a:pt x="704850" y="314891"/>
                      </a:lnTo>
                      <a:lnTo>
                        <a:pt x="606425" y="403791"/>
                      </a:lnTo>
                      <a:lnTo>
                        <a:pt x="523875" y="381566"/>
                      </a:lnTo>
                      <a:cubicBezTo>
                        <a:pt x="491067" y="373099"/>
                        <a:pt x="474133" y="355108"/>
                        <a:pt x="425450" y="356166"/>
                      </a:cubicBezTo>
                      <a:cubicBezTo>
                        <a:pt x="395287" y="348228"/>
                        <a:pt x="359833" y="364633"/>
                        <a:pt x="336550" y="378391"/>
                      </a:cubicBezTo>
                      <a:cubicBezTo>
                        <a:pt x="313267" y="392149"/>
                        <a:pt x="304800" y="430779"/>
                        <a:pt x="285750" y="438716"/>
                      </a:cubicBezTo>
                      <a:lnTo>
                        <a:pt x="219075" y="400616"/>
                      </a:lnTo>
                      <a:lnTo>
                        <a:pt x="85725" y="333941"/>
                      </a:lnTo>
                      <a:lnTo>
                        <a:pt x="0" y="229166"/>
                      </a:lnTo>
                      <a:lnTo>
                        <a:pt x="9525" y="10534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55" name="Group 54"/>
                <p:cNvGrpSpPr/>
                <p:nvPr/>
              </p:nvGrpSpPr>
              <p:grpSpPr>
                <a:xfrm rot="20226441">
                  <a:off x="8674255" y="2170642"/>
                  <a:ext cx="237925" cy="286225"/>
                  <a:chOff x="8619582" y="2150887"/>
                  <a:chExt cx="265087" cy="318901"/>
                </a:xfrm>
              </p:grpSpPr>
              <p:sp>
                <p:nvSpPr>
                  <p:cNvPr id="56" name="Freeform 24"/>
                  <p:cNvSpPr>
                    <a:spLocks/>
                  </p:cNvSpPr>
                  <p:nvPr/>
                </p:nvSpPr>
                <p:spPr bwMode="auto">
                  <a:xfrm flipH="1">
                    <a:off x="8619582" y="2154875"/>
                    <a:ext cx="221238" cy="314913"/>
                  </a:xfrm>
                  <a:custGeom>
                    <a:avLst/>
                    <a:gdLst>
                      <a:gd name="T0" fmla="*/ 15 w 501"/>
                      <a:gd name="T1" fmla="*/ 693 h 730"/>
                      <a:gd name="T2" fmla="*/ 130 w 501"/>
                      <a:gd name="T3" fmla="*/ 586 h 730"/>
                      <a:gd name="T4" fmla="*/ 389 w 501"/>
                      <a:gd name="T5" fmla="*/ 152 h 730"/>
                      <a:gd name="T6" fmla="*/ 416 w 501"/>
                      <a:gd name="T7" fmla="*/ 3 h 730"/>
                      <a:gd name="T8" fmla="*/ 470 w 501"/>
                      <a:gd name="T9" fmla="*/ 27 h 730"/>
                      <a:gd name="T10" fmla="*/ 465 w 501"/>
                      <a:gd name="T11" fmla="*/ 388 h 730"/>
                      <a:gd name="T12" fmla="*/ 202 w 501"/>
                      <a:gd name="T13" fmla="*/ 666 h 730"/>
                      <a:gd name="T14" fmla="*/ 15 w 501"/>
                      <a:gd name="T15" fmla="*/ 693 h 7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1" h="730">
                        <a:moveTo>
                          <a:pt x="15" y="693"/>
                        </a:moveTo>
                        <a:cubicBezTo>
                          <a:pt x="0" y="655"/>
                          <a:pt x="20" y="636"/>
                          <a:pt x="130" y="586"/>
                        </a:cubicBezTo>
                        <a:cubicBezTo>
                          <a:pt x="329" y="494"/>
                          <a:pt x="398" y="378"/>
                          <a:pt x="389" y="152"/>
                        </a:cubicBezTo>
                        <a:cubicBezTo>
                          <a:pt x="384" y="22"/>
                          <a:pt x="386" y="9"/>
                          <a:pt x="416" y="3"/>
                        </a:cubicBezTo>
                        <a:cubicBezTo>
                          <a:pt x="433" y="0"/>
                          <a:pt x="458" y="10"/>
                          <a:pt x="470" y="27"/>
                        </a:cubicBezTo>
                        <a:cubicBezTo>
                          <a:pt x="501" y="69"/>
                          <a:pt x="498" y="293"/>
                          <a:pt x="465" y="388"/>
                        </a:cubicBezTo>
                        <a:cubicBezTo>
                          <a:pt x="428" y="499"/>
                          <a:pt x="327" y="606"/>
                          <a:pt x="202" y="666"/>
                        </a:cubicBezTo>
                        <a:cubicBezTo>
                          <a:pt x="88" y="722"/>
                          <a:pt x="29" y="730"/>
                          <a:pt x="15" y="693"/>
                        </a:cubicBez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57" name="Freeform 25"/>
                  <p:cNvSpPr>
                    <a:spLocks/>
                  </p:cNvSpPr>
                  <p:nvPr/>
                </p:nvSpPr>
                <p:spPr bwMode="auto">
                  <a:xfrm flipH="1">
                    <a:off x="8729206" y="2150887"/>
                    <a:ext cx="155463" cy="243159"/>
                  </a:xfrm>
                  <a:custGeom>
                    <a:avLst/>
                    <a:gdLst>
                      <a:gd name="T0" fmla="*/ 13 w 348"/>
                      <a:gd name="T1" fmla="*/ 489 h 569"/>
                      <a:gd name="T2" fmla="*/ 78 w 348"/>
                      <a:gd name="T3" fmla="*/ 407 h 569"/>
                      <a:gd name="T4" fmla="*/ 234 w 348"/>
                      <a:gd name="T5" fmla="*/ 251 h 569"/>
                      <a:gd name="T6" fmla="*/ 235 w 348"/>
                      <a:gd name="T7" fmla="*/ 120 h 569"/>
                      <a:gd name="T8" fmla="*/ 257 w 348"/>
                      <a:gd name="T9" fmla="*/ 13 h 569"/>
                      <a:gd name="T10" fmla="*/ 314 w 348"/>
                      <a:gd name="T11" fmla="*/ 34 h 569"/>
                      <a:gd name="T12" fmla="*/ 316 w 348"/>
                      <a:gd name="T13" fmla="*/ 316 h 569"/>
                      <a:gd name="T14" fmla="*/ 13 w 348"/>
                      <a:gd name="T15" fmla="*/ 489 h 5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8" h="569">
                        <a:moveTo>
                          <a:pt x="13" y="489"/>
                        </a:moveTo>
                        <a:cubicBezTo>
                          <a:pt x="0" y="455"/>
                          <a:pt x="17" y="433"/>
                          <a:pt x="78" y="407"/>
                        </a:cubicBezTo>
                        <a:cubicBezTo>
                          <a:pt x="146" y="379"/>
                          <a:pt x="221" y="304"/>
                          <a:pt x="234" y="251"/>
                        </a:cubicBezTo>
                        <a:cubicBezTo>
                          <a:pt x="239" y="229"/>
                          <a:pt x="240" y="170"/>
                          <a:pt x="235" y="120"/>
                        </a:cubicBezTo>
                        <a:cubicBezTo>
                          <a:pt x="227" y="44"/>
                          <a:pt x="230" y="28"/>
                          <a:pt x="257" y="13"/>
                        </a:cubicBezTo>
                        <a:cubicBezTo>
                          <a:pt x="281" y="0"/>
                          <a:pt x="293" y="4"/>
                          <a:pt x="314" y="34"/>
                        </a:cubicBezTo>
                        <a:cubicBezTo>
                          <a:pt x="347" y="81"/>
                          <a:pt x="348" y="240"/>
                          <a:pt x="316" y="316"/>
                        </a:cubicBezTo>
                        <a:cubicBezTo>
                          <a:pt x="262" y="444"/>
                          <a:pt x="43" y="569"/>
                          <a:pt x="13" y="489"/>
                        </a:cubicBez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grpSp>
          </p:grpSp>
        </p:grpSp>
        <p:sp>
          <p:nvSpPr>
            <p:cNvPr id="62" name="Rectangle 61"/>
            <p:cNvSpPr/>
            <p:nvPr/>
          </p:nvSpPr>
          <p:spPr>
            <a:xfrm>
              <a:off x="8668139" y="4282750"/>
              <a:ext cx="1666458" cy="1679553"/>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49" name="Oval 48"/>
          <p:cNvSpPr/>
          <p:nvPr/>
        </p:nvSpPr>
        <p:spPr>
          <a:xfrm>
            <a:off x="434888" y="2772891"/>
            <a:ext cx="1155302" cy="11553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 name="Title 1"/>
          <p:cNvSpPr>
            <a:spLocks noGrp="1"/>
          </p:cNvSpPr>
          <p:nvPr>
            <p:ph type="title"/>
          </p:nvPr>
        </p:nvSpPr>
        <p:spPr/>
        <p:txBody>
          <a:bodyPr/>
          <a:lstStyle/>
          <a:p>
            <a:r>
              <a:rPr lang="en-US" sz="2400" dirty="0"/>
              <a:t>IMPACT: Study endpoints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5" name="Text Placeholder 4"/>
          <p:cNvSpPr>
            <a:spLocks noGrp="1"/>
          </p:cNvSpPr>
          <p:nvPr>
            <p:ph type="body" sz="quarter" idx="21"/>
          </p:nvPr>
        </p:nvSpPr>
        <p:spPr>
          <a:xfrm>
            <a:off x="426921" y="6221528"/>
            <a:ext cx="9088554" cy="468000"/>
          </a:xfrm>
        </p:spPr>
        <p:txBody>
          <a:bodyPr/>
          <a:lstStyle/>
          <a:p>
            <a:r>
              <a:rPr lang="en-US" dirty="0"/>
              <a:t>1. </a:t>
            </a:r>
            <a:r>
              <a:rPr lang="da-DK" dirty="0"/>
              <a:t>Lipson DA, et al. </a:t>
            </a:r>
            <a:r>
              <a:rPr lang="da-DK" i="1" dirty="0"/>
              <a:t>N Engl J Med.</a:t>
            </a:r>
            <a:r>
              <a:rPr lang="da-DK" dirty="0"/>
              <a:t> 2018;378:1671–1680;</a:t>
            </a:r>
            <a:r>
              <a:rPr lang="en-US" dirty="0"/>
              <a:t> 2. </a:t>
            </a:r>
            <a:r>
              <a:rPr lang="fr-FR" dirty="0"/>
              <a:t>Pascoe SJ, et al. </a:t>
            </a:r>
            <a:r>
              <a:rPr lang="fr-FR" i="1" dirty="0"/>
              <a:t>Eur Respir J</a:t>
            </a:r>
            <a:r>
              <a:rPr lang="fr-FR" dirty="0"/>
              <a:t>. 2016; 48: 320-330;</a:t>
            </a:r>
            <a:r>
              <a:rPr lang="en-US" dirty="0"/>
              <a:t> 3. GSK clinical trial registry, study CTT116855 clinical study protocol. GSK Web site. https://www.gsk-studyregister.com/en/trial-details/?id=116855. Accessed on February 2021.</a:t>
            </a:r>
          </a:p>
        </p:txBody>
      </p:sp>
      <p:sp>
        <p:nvSpPr>
          <p:cNvPr id="6" name="Text Placeholder 5"/>
          <p:cNvSpPr>
            <a:spLocks noGrp="1"/>
          </p:cNvSpPr>
          <p:nvPr>
            <p:ph type="body" sz="quarter" idx="19"/>
          </p:nvPr>
        </p:nvSpPr>
        <p:spPr/>
        <p:txBody>
          <a:bodyPr/>
          <a:lstStyle/>
          <a:p>
            <a:r>
              <a:rPr lang="en-US" dirty="0"/>
              <a:t>AE - adverse event; COPD, chronic obstructive pulmonary disease; CV, cardiovascular; FEV</a:t>
            </a:r>
            <a:r>
              <a:rPr lang="en-US" baseline="-25000" dirty="0"/>
              <a:t>1</a:t>
            </a:r>
            <a:r>
              <a:rPr lang="en-US" dirty="0"/>
              <a:t>, forced expiratory volume in 1 second; SGRQ, St. George's respiratory questionnaire</a:t>
            </a:r>
          </a:p>
        </p:txBody>
      </p:sp>
      <p:sp>
        <p:nvSpPr>
          <p:cNvPr id="11" name="Oval 10"/>
          <p:cNvSpPr/>
          <p:nvPr/>
        </p:nvSpPr>
        <p:spPr>
          <a:xfrm>
            <a:off x="434888" y="1414479"/>
            <a:ext cx="842952" cy="84295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8" name="Rectangle 7"/>
          <p:cNvSpPr/>
          <p:nvPr/>
        </p:nvSpPr>
        <p:spPr>
          <a:xfrm>
            <a:off x="784542" y="1589733"/>
            <a:ext cx="1078764" cy="492443"/>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36633"/>
                </a:solidFill>
                <a:effectLst/>
                <a:uLnTx/>
                <a:uFillTx/>
                <a:latin typeface="Arial" panose="020B0604020202020204"/>
                <a:ea typeface="+mn-ea"/>
                <a:cs typeface="+mn-cs"/>
              </a:rPr>
              <a:t>Primary Endpoint</a:t>
            </a:r>
            <a:r>
              <a:rPr kumimoji="0" lang="en-US" sz="1600" b="1" i="0" u="none" strike="noStrike" kern="1200" cap="none" spc="0" normalizeH="0" baseline="30000" noProof="0" dirty="0">
                <a:ln>
                  <a:noFill/>
                </a:ln>
                <a:solidFill>
                  <a:srgbClr val="F36633"/>
                </a:solidFill>
                <a:effectLst/>
                <a:uLnTx/>
                <a:uFillTx/>
                <a:latin typeface="Arial" panose="020B0604020202020204"/>
                <a:ea typeface="+mn-ea"/>
                <a:cs typeface="+mn-cs"/>
              </a:rPr>
              <a:t>1,2</a:t>
            </a:r>
          </a:p>
        </p:txBody>
      </p:sp>
      <p:sp>
        <p:nvSpPr>
          <p:cNvPr id="9" name="Rectangle 8"/>
          <p:cNvSpPr/>
          <p:nvPr/>
        </p:nvSpPr>
        <p:spPr>
          <a:xfrm>
            <a:off x="784542" y="3104321"/>
            <a:ext cx="1805611" cy="492443"/>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0488D"/>
                </a:solidFill>
                <a:effectLst/>
                <a:uLnTx/>
                <a:uFillTx/>
                <a:latin typeface="Arial" panose="020B0604020202020204"/>
                <a:ea typeface="+mn-ea"/>
                <a:cs typeface="+mn-cs"/>
              </a:rPr>
              <a:t>Secondary &amp;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0488D"/>
                </a:solidFill>
                <a:effectLst/>
                <a:uLnTx/>
                <a:uFillTx/>
                <a:latin typeface="Arial" panose="020B0604020202020204"/>
                <a:ea typeface="+mn-ea"/>
                <a:cs typeface="+mn-cs"/>
              </a:rPr>
              <a:t>Other Endpoints</a:t>
            </a:r>
            <a:r>
              <a:rPr kumimoji="0" lang="en-US" sz="1600" b="1" i="0" u="none" strike="noStrike" kern="1200" cap="none" spc="0" normalizeH="0" baseline="30000" noProof="0" dirty="0">
                <a:ln>
                  <a:noFill/>
                </a:ln>
                <a:solidFill>
                  <a:srgbClr val="40488D"/>
                </a:solidFill>
                <a:effectLst/>
                <a:uLnTx/>
                <a:uFillTx/>
                <a:latin typeface="Arial" panose="020B0604020202020204"/>
                <a:ea typeface="+mn-ea"/>
                <a:cs typeface="+mn-cs"/>
              </a:rPr>
              <a:t>1,2</a:t>
            </a:r>
          </a:p>
        </p:txBody>
      </p:sp>
      <p:grpSp>
        <p:nvGrpSpPr>
          <p:cNvPr id="16" name="Group 15"/>
          <p:cNvGrpSpPr/>
          <p:nvPr/>
        </p:nvGrpSpPr>
        <p:grpSpPr>
          <a:xfrm>
            <a:off x="2641600" y="1567544"/>
            <a:ext cx="9131300" cy="536822"/>
            <a:chOff x="2500604" y="1559148"/>
            <a:chExt cx="8562130" cy="529167"/>
          </a:xfrm>
        </p:grpSpPr>
        <p:sp>
          <p:nvSpPr>
            <p:cNvPr id="14" name="Round Diagonal Corner Rectangle 13"/>
            <p:cNvSpPr/>
            <p:nvPr/>
          </p:nvSpPr>
          <p:spPr>
            <a:xfrm>
              <a:off x="2500604" y="1564040"/>
              <a:ext cx="8562130" cy="524275"/>
            </a:xfrm>
            <a:prstGeom prst="round2DiagRect">
              <a:avLst>
                <a:gd name="adj1" fmla="val 25615"/>
                <a:gd name="adj2" fmla="val 0"/>
              </a:avLst>
            </a:prstGeom>
            <a:solidFill>
              <a:srgbClr val="F36633"/>
            </a:solidFill>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Arial" panose="020B0604020202020204"/>
                  <a:ea typeface="+mn-ea"/>
                  <a:cs typeface="+mn-cs"/>
                </a:rPr>
                <a:t>Annual rate of moderate or severe exacerbations during treatment</a:t>
              </a:r>
            </a:p>
          </p:txBody>
        </p:sp>
        <p:sp>
          <p:nvSpPr>
            <p:cNvPr id="15" name="Isosceles Triangle 14"/>
            <p:cNvSpPr/>
            <p:nvPr/>
          </p:nvSpPr>
          <p:spPr>
            <a:xfrm>
              <a:off x="7268546" y="1559148"/>
              <a:ext cx="3794187" cy="529167"/>
            </a:xfrm>
            <a:prstGeom prst="triangle">
              <a:avLst>
                <a:gd name="adj" fmla="val 100000"/>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grpSp>
        <p:nvGrpSpPr>
          <p:cNvPr id="41" name="Group 40"/>
          <p:cNvGrpSpPr/>
          <p:nvPr/>
        </p:nvGrpSpPr>
        <p:grpSpPr>
          <a:xfrm>
            <a:off x="2641600" y="2401561"/>
            <a:ext cx="2768600" cy="1787887"/>
            <a:chOff x="2641600" y="2336244"/>
            <a:chExt cx="2768600" cy="1787887"/>
          </a:xfrm>
        </p:grpSpPr>
        <p:grpSp>
          <p:nvGrpSpPr>
            <p:cNvPr id="32" name="Group 31"/>
            <p:cNvGrpSpPr/>
            <p:nvPr/>
          </p:nvGrpSpPr>
          <p:grpSpPr>
            <a:xfrm>
              <a:off x="2733353" y="2696546"/>
              <a:ext cx="2589169" cy="1427585"/>
              <a:chOff x="2733353" y="2696546"/>
              <a:chExt cx="2589169" cy="1427585"/>
            </a:xfrm>
          </p:grpSpPr>
          <p:sp>
            <p:nvSpPr>
              <p:cNvPr id="31" name="Isosceles Triangle 30"/>
              <p:cNvSpPr/>
              <p:nvPr/>
            </p:nvSpPr>
            <p:spPr>
              <a:xfrm>
                <a:off x="2888457" y="3390898"/>
                <a:ext cx="2434065" cy="732969"/>
              </a:xfrm>
              <a:custGeom>
                <a:avLst/>
                <a:gdLst>
                  <a:gd name="connsiteX0" fmla="*/ 0 w 2427611"/>
                  <a:gd name="connsiteY0" fmla="*/ 728469 h 728469"/>
                  <a:gd name="connsiteX1" fmla="*/ 2427611 w 2427611"/>
                  <a:gd name="connsiteY1" fmla="*/ 0 h 728469"/>
                  <a:gd name="connsiteX2" fmla="*/ 2427611 w 2427611"/>
                  <a:gd name="connsiteY2" fmla="*/ 728469 h 728469"/>
                  <a:gd name="connsiteX3" fmla="*/ 0 w 2427611"/>
                  <a:gd name="connsiteY3" fmla="*/ 728469 h 728469"/>
                  <a:gd name="connsiteX0" fmla="*/ 0 w 2427611"/>
                  <a:gd name="connsiteY0" fmla="*/ 728469 h 728469"/>
                  <a:gd name="connsiteX1" fmla="*/ 2427611 w 2427611"/>
                  <a:gd name="connsiteY1" fmla="*/ 0 h 728469"/>
                  <a:gd name="connsiteX2" fmla="*/ 2387129 w 2427611"/>
                  <a:gd name="connsiteY2" fmla="*/ 695131 h 728469"/>
                  <a:gd name="connsiteX3" fmla="*/ 0 w 2427611"/>
                  <a:gd name="connsiteY3" fmla="*/ 728469 h 728469"/>
                  <a:gd name="connsiteX0" fmla="*/ 0 w 2430676"/>
                  <a:gd name="connsiteY0" fmla="*/ 728469 h 728469"/>
                  <a:gd name="connsiteX1" fmla="*/ 2427611 w 2430676"/>
                  <a:gd name="connsiteY1" fmla="*/ 0 h 728469"/>
                  <a:gd name="connsiteX2" fmla="*/ 2387129 w 2430676"/>
                  <a:gd name="connsiteY2" fmla="*/ 695131 h 728469"/>
                  <a:gd name="connsiteX3" fmla="*/ 0 w 2430676"/>
                  <a:gd name="connsiteY3" fmla="*/ 728469 h 728469"/>
                  <a:gd name="connsiteX0" fmla="*/ 0 w 2429411"/>
                  <a:gd name="connsiteY0" fmla="*/ 728469 h 728469"/>
                  <a:gd name="connsiteX1" fmla="*/ 2427611 w 2429411"/>
                  <a:gd name="connsiteY1" fmla="*/ 0 h 728469"/>
                  <a:gd name="connsiteX2" fmla="*/ 2384748 w 2429411"/>
                  <a:gd name="connsiteY2" fmla="*/ 695131 h 728469"/>
                  <a:gd name="connsiteX3" fmla="*/ 0 w 2429411"/>
                  <a:gd name="connsiteY3" fmla="*/ 728469 h 728469"/>
                  <a:gd name="connsiteX0" fmla="*/ 0 w 2429411"/>
                  <a:gd name="connsiteY0" fmla="*/ 728469 h 728469"/>
                  <a:gd name="connsiteX1" fmla="*/ 2427611 w 2429411"/>
                  <a:gd name="connsiteY1" fmla="*/ 0 h 728469"/>
                  <a:gd name="connsiteX2" fmla="*/ 2384748 w 2429411"/>
                  <a:gd name="connsiteY2" fmla="*/ 695131 h 728469"/>
                  <a:gd name="connsiteX3" fmla="*/ 0 w 2429411"/>
                  <a:gd name="connsiteY3" fmla="*/ 728469 h 728469"/>
                  <a:gd name="connsiteX0" fmla="*/ 0 w 2427611"/>
                  <a:gd name="connsiteY0" fmla="*/ 728469 h 733196"/>
                  <a:gd name="connsiteX1" fmla="*/ 2427611 w 2427611"/>
                  <a:gd name="connsiteY1" fmla="*/ 0 h 733196"/>
                  <a:gd name="connsiteX2" fmla="*/ 2363316 w 2427611"/>
                  <a:gd name="connsiteY2" fmla="*/ 704656 h 733196"/>
                  <a:gd name="connsiteX3" fmla="*/ 0 w 2427611"/>
                  <a:gd name="connsiteY3" fmla="*/ 728469 h 733196"/>
                  <a:gd name="connsiteX0" fmla="*/ 0 w 2428711"/>
                  <a:gd name="connsiteY0" fmla="*/ 728469 h 733196"/>
                  <a:gd name="connsiteX1" fmla="*/ 2427611 w 2428711"/>
                  <a:gd name="connsiteY1" fmla="*/ 0 h 733196"/>
                  <a:gd name="connsiteX2" fmla="*/ 2363316 w 2428711"/>
                  <a:gd name="connsiteY2" fmla="*/ 704656 h 733196"/>
                  <a:gd name="connsiteX3" fmla="*/ 0 w 2428711"/>
                  <a:gd name="connsiteY3" fmla="*/ 728469 h 733196"/>
                  <a:gd name="connsiteX0" fmla="*/ 0 w 2428711"/>
                  <a:gd name="connsiteY0" fmla="*/ 728469 h 733196"/>
                  <a:gd name="connsiteX1" fmla="*/ 2427611 w 2428711"/>
                  <a:gd name="connsiteY1" fmla="*/ 0 h 733196"/>
                  <a:gd name="connsiteX2" fmla="*/ 2363316 w 2428711"/>
                  <a:gd name="connsiteY2" fmla="*/ 704656 h 733196"/>
                  <a:gd name="connsiteX3" fmla="*/ 0 w 2428711"/>
                  <a:gd name="connsiteY3" fmla="*/ 728469 h 733196"/>
                  <a:gd name="connsiteX0" fmla="*/ 0 w 2428711"/>
                  <a:gd name="connsiteY0" fmla="*/ 728469 h 728469"/>
                  <a:gd name="connsiteX1" fmla="*/ 2427611 w 2428711"/>
                  <a:gd name="connsiteY1" fmla="*/ 0 h 728469"/>
                  <a:gd name="connsiteX2" fmla="*/ 2363316 w 2428711"/>
                  <a:gd name="connsiteY2" fmla="*/ 704656 h 728469"/>
                  <a:gd name="connsiteX3" fmla="*/ 0 w 2428711"/>
                  <a:gd name="connsiteY3" fmla="*/ 728469 h 728469"/>
                  <a:gd name="connsiteX0" fmla="*/ 0 w 2427611"/>
                  <a:gd name="connsiteY0" fmla="*/ 728469 h 745793"/>
                  <a:gd name="connsiteX1" fmla="*/ 2427611 w 2427611"/>
                  <a:gd name="connsiteY1" fmla="*/ 0 h 745793"/>
                  <a:gd name="connsiteX2" fmla="*/ 2310928 w 2427611"/>
                  <a:gd name="connsiteY2" fmla="*/ 730849 h 745793"/>
                  <a:gd name="connsiteX3" fmla="*/ 0 w 2427611"/>
                  <a:gd name="connsiteY3" fmla="*/ 728469 h 745793"/>
                  <a:gd name="connsiteX0" fmla="*/ 0 w 2427611"/>
                  <a:gd name="connsiteY0" fmla="*/ 728469 h 737626"/>
                  <a:gd name="connsiteX1" fmla="*/ 2427611 w 2427611"/>
                  <a:gd name="connsiteY1" fmla="*/ 0 h 737626"/>
                  <a:gd name="connsiteX2" fmla="*/ 2310928 w 2427611"/>
                  <a:gd name="connsiteY2" fmla="*/ 730849 h 737626"/>
                  <a:gd name="connsiteX3" fmla="*/ 0 w 2427611"/>
                  <a:gd name="connsiteY3" fmla="*/ 728469 h 737626"/>
                  <a:gd name="connsiteX0" fmla="*/ 0 w 2427611"/>
                  <a:gd name="connsiteY0" fmla="*/ 728469 h 735615"/>
                  <a:gd name="connsiteX1" fmla="*/ 2427611 w 2427611"/>
                  <a:gd name="connsiteY1" fmla="*/ 0 h 735615"/>
                  <a:gd name="connsiteX2" fmla="*/ 2315690 w 2427611"/>
                  <a:gd name="connsiteY2" fmla="*/ 728468 h 735615"/>
                  <a:gd name="connsiteX3" fmla="*/ 0 w 2427611"/>
                  <a:gd name="connsiteY3" fmla="*/ 728469 h 735615"/>
                  <a:gd name="connsiteX0" fmla="*/ 0 w 2427611"/>
                  <a:gd name="connsiteY0" fmla="*/ 728469 h 732630"/>
                  <a:gd name="connsiteX1" fmla="*/ 2427611 w 2427611"/>
                  <a:gd name="connsiteY1" fmla="*/ 0 h 732630"/>
                  <a:gd name="connsiteX2" fmla="*/ 2315690 w 2427611"/>
                  <a:gd name="connsiteY2" fmla="*/ 728468 h 732630"/>
                  <a:gd name="connsiteX3" fmla="*/ 0 w 2427611"/>
                  <a:gd name="connsiteY3" fmla="*/ 728469 h 732630"/>
                  <a:gd name="connsiteX0" fmla="*/ 0 w 2429992"/>
                  <a:gd name="connsiteY0" fmla="*/ 730850 h 732969"/>
                  <a:gd name="connsiteX1" fmla="*/ 2429992 w 2429992"/>
                  <a:gd name="connsiteY1" fmla="*/ 0 h 732969"/>
                  <a:gd name="connsiteX2" fmla="*/ 2318071 w 2429992"/>
                  <a:gd name="connsiteY2" fmla="*/ 728468 h 732969"/>
                  <a:gd name="connsiteX3" fmla="*/ 0 w 2429992"/>
                  <a:gd name="connsiteY3" fmla="*/ 730850 h 732969"/>
                  <a:gd name="connsiteX0" fmla="*/ 0 w 2434012"/>
                  <a:gd name="connsiteY0" fmla="*/ 730850 h 732969"/>
                  <a:gd name="connsiteX1" fmla="*/ 2429992 w 2434012"/>
                  <a:gd name="connsiteY1" fmla="*/ 0 h 732969"/>
                  <a:gd name="connsiteX2" fmla="*/ 2318071 w 2434012"/>
                  <a:gd name="connsiteY2" fmla="*/ 728468 h 732969"/>
                  <a:gd name="connsiteX3" fmla="*/ 0 w 2434012"/>
                  <a:gd name="connsiteY3" fmla="*/ 730850 h 732969"/>
                  <a:gd name="connsiteX0" fmla="*/ 0 w 2436027"/>
                  <a:gd name="connsiteY0" fmla="*/ 730850 h 732969"/>
                  <a:gd name="connsiteX1" fmla="*/ 2429992 w 2436027"/>
                  <a:gd name="connsiteY1" fmla="*/ 0 h 732969"/>
                  <a:gd name="connsiteX2" fmla="*/ 2318071 w 2436027"/>
                  <a:gd name="connsiteY2" fmla="*/ 728468 h 732969"/>
                  <a:gd name="connsiteX3" fmla="*/ 0 w 2436027"/>
                  <a:gd name="connsiteY3" fmla="*/ 730850 h 732969"/>
                  <a:gd name="connsiteX0" fmla="*/ 0 w 2440627"/>
                  <a:gd name="connsiteY0" fmla="*/ 730850 h 732969"/>
                  <a:gd name="connsiteX1" fmla="*/ 2429992 w 2440627"/>
                  <a:gd name="connsiteY1" fmla="*/ 0 h 732969"/>
                  <a:gd name="connsiteX2" fmla="*/ 2318071 w 2440627"/>
                  <a:gd name="connsiteY2" fmla="*/ 728468 h 732969"/>
                  <a:gd name="connsiteX3" fmla="*/ 0 w 2440627"/>
                  <a:gd name="connsiteY3" fmla="*/ 730850 h 732969"/>
                  <a:gd name="connsiteX0" fmla="*/ 0 w 2433971"/>
                  <a:gd name="connsiteY0" fmla="*/ 730850 h 732969"/>
                  <a:gd name="connsiteX1" fmla="*/ 2429992 w 2433971"/>
                  <a:gd name="connsiteY1" fmla="*/ 0 h 732969"/>
                  <a:gd name="connsiteX2" fmla="*/ 2318071 w 2433971"/>
                  <a:gd name="connsiteY2" fmla="*/ 728468 h 732969"/>
                  <a:gd name="connsiteX3" fmla="*/ 0 w 2433971"/>
                  <a:gd name="connsiteY3" fmla="*/ 730850 h 732969"/>
                  <a:gd name="connsiteX0" fmla="*/ 0 w 2435845"/>
                  <a:gd name="connsiteY0" fmla="*/ 730850 h 732969"/>
                  <a:gd name="connsiteX1" fmla="*/ 2429992 w 2435845"/>
                  <a:gd name="connsiteY1" fmla="*/ 0 h 732969"/>
                  <a:gd name="connsiteX2" fmla="*/ 2318071 w 2435845"/>
                  <a:gd name="connsiteY2" fmla="*/ 728468 h 732969"/>
                  <a:gd name="connsiteX3" fmla="*/ 0 w 2435845"/>
                  <a:gd name="connsiteY3" fmla="*/ 730850 h 732969"/>
                  <a:gd name="connsiteX0" fmla="*/ 0 w 2435845"/>
                  <a:gd name="connsiteY0" fmla="*/ 730850 h 732969"/>
                  <a:gd name="connsiteX1" fmla="*/ 2429992 w 2435845"/>
                  <a:gd name="connsiteY1" fmla="*/ 0 h 732969"/>
                  <a:gd name="connsiteX2" fmla="*/ 2318071 w 2435845"/>
                  <a:gd name="connsiteY2" fmla="*/ 728468 h 732969"/>
                  <a:gd name="connsiteX3" fmla="*/ 0 w 2435845"/>
                  <a:gd name="connsiteY3" fmla="*/ 730850 h 732969"/>
                  <a:gd name="connsiteX0" fmla="*/ 0 w 2433042"/>
                  <a:gd name="connsiteY0" fmla="*/ 730850 h 732969"/>
                  <a:gd name="connsiteX1" fmla="*/ 2429992 w 2433042"/>
                  <a:gd name="connsiteY1" fmla="*/ 0 h 732969"/>
                  <a:gd name="connsiteX2" fmla="*/ 2318071 w 2433042"/>
                  <a:gd name="connsiteY2" fmla="*/ 728468 h 732969"/>
                  <a:gd name="connsiteX3" fmla="*/ 0 w 2433042"/>
                  <a:gd name="connsiteY3" fmla="*/ 730850 h 732969"/>
                  <a:gd name="connsiteX0" fmla="*/ 0 w 2432188"/>
                  <a:gd name="connsiteY0" fmla="*/ 730850 h 732969"/>
                  <a:gd name="connsiteX1" fmla="*/ 2429992 w 2432188"/>
                  <a:gd name="connsiteY1" fmla="*/ 0 h 732969"/>
                  <a:gd name="connsiteX2" fmla="*/ 2318071 w 2432188"/>
                  <a:gd name="connsiteY2" fmla="*/ 728468 h 732969"/>
                  <a:gd name="connsiteX3" fmla="*/ 0 w 2432188"/>
                  <a:gd name="connsiteY3" fmla="*/ 730850 h 732969"/>
                  <a:gd name="connsiteX0" fmla="*/ 0 w 2434065"/>
                  <a:gd name="connsiteY0" fmla="*/ 730850 h 732969"/>
                  <a:gd name="connsiteX1" fmla="*/ 2429992 w 2434065"/>
                  <a:gd name="connsiteY1" fmla="*/ 0 h 732969"/>
                  <a:gd name="connsiteX2" fmla="*/ 2318071 w 2434065"/>
                  <a:gd name="connsiteY2" fmla="*/ 728468 h 732969"/>
                  <a:gd name="connsiteX3" fmla="*/ 0 w 2434065"/>
                  <a:gd name="connsiteY3" fmla="*/ 730850 h 732969"/>
                </a:gdLst>
                <a:ahLst/>
                <a:cxnLst>
                  <a:cxn ang="0">
                    <a:pos x="connsiteX0" y="connsiteY0"/>
                  </a:cxn>
                  <a:cxn ang="0">
                    <a:pos x="connsiteX1" y="connsiteY1"/>
                  </a:cxn>
                  <a:cxn ang="0">
                    <a:pos x="connsiteX2" y="connsiteY2"/>
                  </a:cxn>
                  <a:cxn ang="0">
                    <a:pos x="connsiteX3" y="connsiteY3"/>
                  </a:cxn>
                </a:cxnLst>
                <a:rect l="l" t="t" r="r" b="b"/>
                <a:pathLst>
                  <a:path w="2434065" h="732969">
                    <a:moveTo>
                      <a:pt x="0" y="730850"/>
                    </a:moveTo>
                    <a:lnTo>
                      <a:pt x="2429992" y="0"/>
                    </a:lnTo>
                    <a:cubicBezTo>
                      <a:pt x="2406972" y="312672"/>
                      <a:pt x="2500632" y="720594"/>
                      <a:pt x="2318071" y="728468"/>
                    </a:cubicBezTo>
                    <a:cubicBezTo>
                      <a:pt x="1999404" y="741961"/>
                      <a:pt x="794916" y="719737"/>
                      <a:pt x="0" y="730850"/>
                    </a:cubicBezTo>
                    <a:close/>
                  </a:path>
                </a:pathLst>
              </a:custGeom>
              <a:solidFill>
                <a:schemeClr val="tx1">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0" name="Round Same Side Corner Rectangle 29"/>
              <p:cNvSpPr/>
              <p:nvPr/>
            </p:nvSpPr>
            <p:spPr>
              <a:xfrm rot="10800000">
                <a:off x="2733353" y="2696546"/>
                <a:ext cx="2585096" cy="1427585"/>
              </a:xfrm>
              <a:prstGeom prst="round2SameRect">
                <a:avLst>
                  <a:gd name="adj1" fmla="val 10667"/>
                  <a:gd name="adj2" fmla="val 0"/>
                </a:avLst>
              </a:prstGeom>
              <a:noFill/>
              <a:ln w="6350">
                <a:solidFill>
                  <a:srgbClr val="4048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4" name="Rectangle 3"/>
              <p:cNvSpPr/>
              <p:nvPr/>
            </p:nvSpPr>
            <p:spPr>
              <a:xfrm>
                <a:off x="2876549" y="2912671"/>
                <a:ext cx="2298701" cy="1000274"/>
              </a:xfrm>
              <a:prstGeom prst="rect">
                <a:avLst/>
              </a:prstGeom>
            </p:spPr>
            <p:txBody>
              <a:bodyPr wrap="square" lIns="0" tIns="0" rIns="0" bIns="0">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544F40"/>
                    </a:solidFill>
                    <a:effectLst/>
                    <a:uLnTx/>
                    <a:uFillTx/>
                    <a:latin typeface="Arial" panose="020B0604020202020204" pitchFamily="34" charset="0"/>
                    <a:ea typeface="+mn-ea"/>
                    <a:cs typeface="+mn-cs"/>
                  </a:rPr>
                  <a:t>Annual rate of severe exacerbations (hospitalizations)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544F40"/>
                    </a:solidFill>
                    <a:effectLst/>
                    <a:uLnTx/>
                    <a:uFillTx/>
                    <a:latin typeface="Arial" panose="020B0604020202020204" pitchFamily="34" charset="0"/>
                    <a:ea typeface="+mn-ea"/>
                    <a:cs typeface="+mn-cs"/>
                  </a:rPr>
                  <a:t>Annual rate of moderate/ severe exacerbations by blood eosinophil count</a:t>
                </a:r>
                <a:endParaRPr kumimoji="0" lang="en-US" sz="12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29" name="Group 28"/>
            <p:cNvGrpSpPr/>
            <p:nvPr/>
          </p:nvGrpSpPr>
          <p:grpSpPr>
            <a:xfrm>
              <a:off x="2641600" y="2336244"/>
              <a:ext cx="2768600" cy="464610"/>
              <a:chOff x="2641600" y="2252267"/>
              <a:chExt cx="2768600" cy="464610"/>
            </a:xfrm>
          </p:grpSpPr>
          <p:sp>
            <p:nvSpPr>
              <p:cNvPr id="17" name="Rounded Rectangle 16"/>
              <p:cNvSpPr/>
              <p:nvPr/>
            </p:nvSpPr>
            <p:spPr>
              <a:xfrm>
                <a:off x="2641600" y="2252267"/>
                <a:ext cx="2768600" cy="464610"/>
              </a:xfrm>
              <a:prstGeom prst="roundRect">
                <a:avLst>
                  <a:gd name="adj" fmla="val 50000"/>
                </a:avLst>
              </a:prstGeom>
              <a:solidFill>
                <a:srgbClr val="40488D"/>
              </a:solidFill>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a:ea typeface="+mn-ea"/>
                    <a:cs typeface="+mn-cs"/>
                  </a:rPr>
                  <a:t>Exacerbations</a:t>
                </a:r>
              </a:p>
            </p:txBody>
          </p:sp>
          <p:grpSp>
            <p:nvGrpSpPr>
              <p:cNvPr id="12" name="Group 11"/>
              <p:cNvGrpSpPr/>
              <p:nvPr/>
            </p:nvGrpSpPr>
            <p:grpSpPr>
              <a:xfrm>
                <a:off x="3254376" y="2280010"/>
                <a:ext cx="2122918" cy="406400"/>
                <a:chOff x="3244850" y="2284773"/>
                <a:chExt cx="2122918" cy="406400"/>
              </a:xfrm>
            </p:grpSpPr>
            <p:sp>
              <p:nvSpPr>
                <p:cNvPr id="21" name="Isosceles Triangle 20"/>
                <p:cNvSpPr/>
                <p:nvPr/>
              </p:nvSpPr>
              <p:spPr>
                <a:xfrm>
                  <a:off x="3244850" y="2284773"/>
                  <a:ext cx="1920875" cy="406400"/>
                </a:xfrm>
                <a:prstGeom prst="triangle">
                  <a:avLst>
                    <a:gd name="adj" fmla="val 100000"/>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0" name="Pie 9"/>
                <p:cNvSpPr/>
                <p:nvPr/>
              </p:nvSpPr>
              <p:spPr>
                <a:xfrm rot="10800000">
                  <a:off x="4961729" y="2284773"/>
                  <a:ext cx="406039" cy="406039"/>
                </a:xfrm>
                <a:prstGeom prst="pie">
                  <a:avLst>
                    <a:gd name="adj1" fmla="val 5383955"/>
                    <a:gd name="adj2" fmla="val 16186664"/>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grpSp>
      </p:grpSp>
      <p:grpSp>
        <p:nvGrpSpPr>
          <p:cNvPr id="42" name="Group 41"/>
          <p:cNvGrpSpPr/>
          <p:nvPr/>
        </p:nvGrpSpPr>
        <p:grpSpPr>
          <a:xfrm>
            <a:off x="5822950" y="2401561"/>
            <a:ext cx="2768600" cy="1787887"/>
            <a:chOff x="5822950" y="2336244"/>
            <a:chExt cx="2768600" cy="1787887"/>
          </a:xfrm>
        </p:grpSpPr>
        <p:grpSp>
          <p:nvGrpSpPr>
            <p:cNvPr id="33" name="Group 32"/>
            <p:cNvGrpSpPr/>
            <p:nvPr/>
          </p:nvGrpSpPr>
          <p:grpSpPr>
            <a:xfrm>
              <a:off x="5912666" y="2696546"/>
              <a:ext cx="2589169" cy="1427585"/>
              <a:chOff x="2733353" y="2696546"/>
              <a:chExt cx="2589169" cy="1427585"/>
            </a:xfrm>
          </p:grpSpPr>
          <p:sp>
            <p:nvSpPr>
              <p:cNvPr id="34" name="Isosceles Triangle 30"/>
              <p:cNvSpPr/>
              <p:nvPr/>
            </p:nvSpPr>
            <p:spPr>
              <a:xfrm>
                <a:off x="2888457" y="3390898"/>
                <a:ext cx="2434065" cy="732969"/>
              </a:xfrm>
              <a:custGeom>
                <a:avLst/>
                <a:gdLst>
                  <a:gd name="connsiteX0" fmla="*/ 0 w 2427611"/>
                  <a:gd name="connsiteY0" fmla="*/ 728469 h 728469"/>
                  <a:gd name="connsiteX1" fmla="*/ 2427611 w 2427611"/>
                  <a:gd name="connsiteY1" fmla="*/ 0 h 728469"/>
                  <a:gd name="connsiteX2" fmla="*/ 2427611 w 2427611"/>
                  <a:gd name="connsiteY2" fmla="*/ 728469 h 728469"/>
                  <a:gd name="connsiteX3" fmla="*/ 0 w 2427611"/>
                  <a:gd name="connsiteY3" fmla="*/ 728469 h 728469"/>
                  <a:gd name="connsiteX0" fmla="*/ 0 w 2427611"/>
                  <a:gd name="connsiteY0" fmla="*/ 728469 h 728469"/>
                  <a:gd name="connsiteX1" fmla="*/ 2427611 w 2427611"/>
                  <a:gd name="connsiteY1" fmla="*/ 0 h 728469"/>
                  <a:gd name="connsiteX2" fmla="*/ 2387129 w 2427611"/>
                  <a:gd name="connsiteY2" fmla="*/ 695131 h 728469"/>
                  <a:gd name="connsiteX3" fmla="*/ 0 w 2427611"/>
                  <a:gd name="connsiteY3" fmla="*/ 728469 h 728469"/>
                  <a:gd name="connsiteX0" fmla="*/ 0 w 2430676"/>
                  <a:gd name="connsiteY0" fmla="*/ 728469 h 728469"/>
                  <a:gd name="connsiteX1" fmla="*/ 2427611 w 2430676"/>
                  <a:gd name="connsiteY1" fmla="*/ 0 h 728469"/>
                  <a:gd name="connsiteX2" fmla="*/ 2387129 w 2430676"/>
                  <a:gd name="connsiteY2" fmla="*/ 695131 h 728469"/>
                  <a:gd name="connsiteX3" fmla="*/ 0 w 2430676"/>
                  <a:gd name="connsiteY3" fmla="*/ 728469 h 728469"/>
                  <a:gd name="connsiteX0" fmla="*/ 0 w 2429411"/>
                  <a:gd name="connsiteY0" fmla="*/ 728469 h 728469"/>
                  <a:gd name="connsiteX1" fmla="*/ 2427611 w 2429411"/>
                  <a:gd name="connsiteY1" fmla="*/ 0 h 728469"/>
                  <a:gd name="connsiteX2" fmla="*/ 2384748 w 2429411"/>
                  <a:gd name="connsiteY2" fmla="*/ 695131 h 728469"/>
                  <a:gd name="connsiteX3" fmla="*/ 0 w 2429411"/>
                  <a:gd name="connsiteY3" fmla="*/ 728469 h 728469"/>
                  <a:gd name="connsiteX0" fmla="*/ 0 w 2429411"/>
                  <a:gd name="connsiteY0" fmla="*/ 728469 h 728469"/>
                  <a:gd name="connsiteX1" fmla="*/ 2427611 w 2429411"/>
                  <a:gd name="connsiteY1" fmla="*/ 0 h 728469"/>
                  <a:gd name="connsiteX2" fmla="*/ 2384748 w 2429411"/>
                  <a:gd name="connsiteY2" fmla="*/ 695131 h 728469"/>
                  <a:gd name="connsiteX3" fmla="*/ 0 w 2429411"/>
                  <a:gd name="connsiteY3" fmla="*/ 728469 h 728469"/>
                  <a:gd name="connsiteX0" fmla="*/ 0 w 2427611"/>
                  <a:gd name="connsiteY0" fmla="*/ 728469 h 733196"/>
                  <a:gd name="connsiteX1" fmla="*/ 2427611 w 2427611"/>
                  <a:gd name="connsiteY1" fmla="*/ 0 h 733196"/>
                  <a:gd name="connsiteX2" fmla="*/ 2363316 w 2427611"/>
                  <a:gd name="connsiteY2" fmla="*/ 704656 h 733196"/>
                  <a:gd name="connsiteX3" fmla="*/ 0 w 2427611"/>
                  <a:gd name="connsiteY3" fmla="*/ 728469 h 733196"/>
                  <a:gd name="connsiteX0" fmla="*/ 0 w 2428711"/>
                  <a:gd name="connsiteY0" fmla="*/ 728469 h 733196"/>
                  <a:gd name="connsiteX1" fmla="*/ 2427611 w 2428711"/>
                  <a:gd name="connsiteY1" fmla="*/ 0 h 733196"/>
                  <a:gd name="connsiteX2" fmla="*/ 2363316 w 2428711"/>
                  <a:gd name="connsiteY2" fmla="*/ 704656 h 733196"/>
                  <a:gd name="connsiteX3" fmla="*/ 0 w 2428711"/>
                  <a:gd name="connsiteY3" fmla="*/ 728469 h 733196"/>
                  <a:gd name="connsiteX0" fmla="*/ 0 w 2428711"/>
                  <a:gd name="connsiteY0" fmla="*/ 728469 h 733196"/>
                  <a:gd name="connsiteX1" fmla="*/ 2427611 w 2428711"/>
                  <a:gd name="connsiteY1" fmla="*/ 0 h 733196"/>
                  <a:gd name="connsiteX2" fmla="*/ 2363316 w 2428711"/>
                  <a:gd name="connsiteY2" fmla="*/ 704656 h 733196"/>
                  <a:gd name="connsiteX3" fmla="*/ 0 w 2428711"/>
                  <a:gd name="connsiteY3" fmla="*/ 728469 h 733196"/>
                  <a:gd name="connsiteX0" fmla="*/ 0 w 2428711"/>
                  <a:gd name="connsiteY0" fmla="*/ 728469 h 728469"/>
                  <a:gd name="connsiteX1" fmla="*/ 2427611 w 2428711"/>
                  <a:gd name="connsiteY1" fmla="*/ 0 h 728469"/>
                  <a:gd name="connsiteX2" fmla="*/ 2363316 w 2428711"/>
                  <a:gd name="connsiteY2" fmla="*/ 704656 h 728469"/>
                  <a:gd name="connsiteX3" fmla="*/ 0 w 2428711"/>
                  <a:gd name="connsiteY3" fmla="*/ 728469 h 728469"/>
                  <a:gd name="connsiteX0" fmla="*/ 0 w 2427611"/>
                  <a:gd name="connsiteY0" fmla="*/ 728469 h 745793"/>
                  <a:gd name="connsiteX1" fmla="*/ 2427611 w 2427611"/>
                  <a:gd name="connsiteY1" fmla="*/ 0 h 745793"/>
                  <a:gd name="connsiteX2" fmla="*/ 2310928 w 2427611"/>
                  <a:gd name="connsiteY2" fmla="*/ 730849 h 745793"/>
                  <a:gd name="connsiteX3" fmla="*/ 0 w 2427611"/>
                  <a:gd name="connsiteY3" fmla="*/ 728469 h 745793"/>
                  <a:gd name="connsiteX0" fmla="*/ 0 w 2427611"/>
                  <a:gd name="connsiteY0" fmla="*/ 728469 h 737626"/>
                  <a:gd name="connsiteX1" fmla="*/ 2427611 w 2427611"/>
                  <a:gd name="connsiteY1" fmla="*/ 0 h 737626"/>
                  <a:gd name="connsiteX2" fmla="*/ 2310928 w 2427611"/>
                  <a:gd name="connsiteY2" fmla="*/ 730849 h 737626"/>
                  <a:gd name="connsiteX3" fmla="*/ 0 w 2427611"/>
                  <a:gd name="connsiteY3" fmla="*/ 728469 h 737626"/>
                  <a:gd name="connsiteX0" fmla="*/ 0 w 2427611"/>
                  <a:gd name="connsiteY0" fmla="*/ 728469 h 735615"/>
                  <a:gd name="connsiteX1" fmla="*/ 2427611 w 2427611"/>
                  <a:gd name="connsiteY1" fmla="*/ 0 h 735615"/>
                  <a:gd name="connsiteX2" fmla="*/ 2315690 w 2427611"/>
                  <a:gd name="connsiteY2" fmla="*/ 728468 h 735615"/>
                  <a:gd name="connsiteX3" fmla="*/ 0 w 2427611"/>
                  <a:gd name="connsiteY3" fmla="*/ 728469 h 735615"/>
                  <a:gd name="connsiteX0" fmla="*/ 0 w 2427611"/>
                  <a:gd name="connsiteY0" fmla="*/ 728469 h 732630"/>
                  <a:gd name="connsiteX1" fmla="*/ 2427611 w 2427611"/>
                  <a:gd name="connsiteY1" fmla="*/ 0 h 732630"/>
                  <a:gd name="connsiteX2" fmla="*/ 2315690 w 2427611"/>
                  <a:gd name="connsiteY2" fmla="*/ 728468 h 732630"/>
                  <a:gd name="connsiteX3" fmla="*/ 0 w 2427611"/>
                  <a:gd name="connsiteY3" fmla="*/ 728469 h 732630"/>
                  <a:gd name="connsiteX0" fmla="*/ 0 w 2429992"/>
                  <a:gd name="connsiteY0" fmla="*/ 730850 h 732969"/>
                  <a:gd name="connsiteX1" fmla="*/ 2429992 w 2429992"/>
                  <a:gd name="connsiteY1" fmla="*/ 0 h 732969"/>
                  <a:gd name="connsiteX2" fmla="*/ 2318071 w 2429992"/>
                  <a:gd name="connsiteY2" fmla="*/ 728468 h 732969"/>
                  <a:gd name="connsiteX3" fmla="*/ 0 w 2429992"/>
                  <a:gd name="connsiteY3" fmla="*/ 730850 h 732969"/>
                  <a:gd name="connsiteX0" fmla="*/ 0 w 2434012"/>
                  <a:gd name="connsiteY0" fmla="*/ 730850 h 732969"/>
                  <a:gd name="connsiteX1" fmla="*/ 2429992 w 2434012"/>
                  <a:gd name="connsiteY1" fmla="*/ 0 h 732969"/>
                  <a:gd name="connsiteX2" fmla="*/ 2318071 w 2434012"/>
                  <a:gd name="connsiteY2" fmla="*/ 728468 h 732969"/>
                  <a:gd name="connsiteX3" fmla="*/ 0 w 2434012"/>
                  <a:gd name="connsiteY3" fmla="*/ 730850 h 732969"/>
                  <a:gd name="connsiteX0" fmla="*/ 0 w 2436027"/>
                  <a:gd name="connsiteY0" fmla="*/ 730850 h 732969"/>
                  <a:gd name="connsiteX1" fmla="*/ 2429992 w 2436027"/>
                  <a:gd name="connsiteY1" fmla="*/ 0 h 732969"/>
                  <a:gd name="connsiteX2" fmla="*/ 2318071 w 2436027"/>
                  <a:gd name="connsiteY2" fmla="*/ 728468 h 732969"/>
                  <a:gd name="connsiteX3" fmla="*/ 0 w 2436027"/>
                  <a:gd name="connsiteY3" fmla="*/ 730850 h 732969"/>
                  <a:gd name="connsiteX0" fmla="*/ 0 w 2440627"/>
                  <a:gd name="connsiteY0" fmla="*/ 730850 h 732969"/>
                  <a:gd name="connsiteX1" fmla="*/ 2429992 w 2440627"/>
                  <a:gd name="connsiteY1" fmla="*/ 0 h 732969"/>
                  <a:gd name="connsiteX2" fmla="*/ 2318071 w 2440627"/>
                  <a:gd name="connsiteY2" fmla="*/ 728468 h 732969"/>
                  <a:gd name="connsiteX3" fmla="*/ 0 w 2440627"/>
                  <a:gd name="connsiteY3" fmla="*/ 730850 h 732969"/>
                  <a:gd name="connsiteX0" fmla="*/ 0 w 2433971"/>
                  <a:gd name="connsiteY0" fmla="*/ 730850 h 732969"/>
                  <a:gd name="connsiteX1" fmla="*/ 2429992 w 2433971"/>
                  <a:gd name="connsiteY1" fmla="*/ 0 h 732969"/>
                  <a:gd name="connsiteX2" fmla="*/ 2318071 w 2433971"/>
                  <a:gd name="connsiteY2" fmla="*/ 728468 h 732969"/>
                  <a:gd name="connsiteX3" fmla="*/ 0 w 2433971"/>
                  <a:gd name="connsiteY3" fmla="*/ 730850 h 732969"/>
                  <a:gd name="connsiteX0" fmla="*/ 0 w 2435845"/>
                  <a:gd name="connsiteY0" fmla="*/ 730850 h 732969"/>
                  <a:gd name="connsiteX1" fmla="*/ 2429992 w 2435845"/>
                  <a:gd name="connsiteY1" fmla="*/ 0 h 732969"/>
                  <a:gd name="connsiteX2" fmla="*/ 2318071 w 2435845"/>
                  <a:gd name="connsiteY2" fmla="*/ 728468 h 732969"/>
                  <a:gd name="connsiteX3" fmla="*/ 0 w 2435845"/>
                  <a:gd name="connsiteY3" fmla="*/ 730850 h 732969"/>
                  <a:gd name="connsiteX0" fmla="*/ 0 w 2435845"/>
                  <a:gd name="connsiteY0" fmla="*/ 730850 h 732969"/>
                  <a:gd name="connsiteX1" fmla="*/ 2429992 w 2435845"/>
                  <a:gd name="connsiteY1" fmla="*/ 0 h 732969"/>
                  <a:gd name="connsiteX2" fmla="*/ 2318071 w 2435845"/>
                  <a:gd name="connsiteY2" fmla="*/ 728468 h 732969"/>
                  <a:gd name="connsiteX3" fmla="*/ 0 w 2435845"/>
                  <a:gd name="connsiteY3" fmla="*/ 730850 h 732969"/>
                  <a:gd name="connsiteX0" fmla="*/ 0 w 2433042"/>
                  <a:gd name="connsiteY0" fmla="*/ 730850 h 732969"/>
                  <a:gd name="connsiteX1" fmla="*/ 2429992 w 2433042"/>
                  <a:gd name="connsiteY1" fmla="*/ 0 h 732969"/>
                  <a:gd name="connsiteX2" fmla="*/ 2318071 w 2433042"/>
                  <a:gd name="connsiteY2" fmla="*/ 728468 h 732969"/>
                  <a:gd name="connsiteX3" fmla="*/ 0 w 2433042"/>
                  <a:gd name="connsiteY3" fmla="*/ 730850 h 732969"/>
                  <a:gd name="connsiteX0" fmla="*/ 0 w 2432188"/>
                  <a:gd name="connsiteY0" fmla="*/ 730850 h 732969"/>
                  <a:gd name="connsiteX1" fmla="*/ 2429992 w 2432188"/>
                  <a:gd name="connsiteY1" fmla="*/ 0 h 732969"/>
                  <a:gd name="connsiteX2" fmla="*/ 2318071 w 2432188"/>
                  <a:gd name="connsiteY2" fmla="*/ 728468 h 732969"/>
                  <a:gd name="connsiteX3" fmla="*/ 0 w 2432188"/>
                  <a:gd name="connsiteY3" fmla="*/ 730850 h 732969"/>
                  <a:gd name="connsiteX0" fmla="*/ 0 w 2434065"/>
                  <a:gd name="connsiteY0" fmla="*/ 730850 h 732969"/>
                  <a:gd name="connsiteX1" fmla="*/ 2429992 w 2434065"/>
                  <a:gd name="connsiteY1" fmla="*/ 0 h 732969"/>
                  <a:gd name="connsiteX2" fmla="*/ 2318071 w 2434065"/>
                  <a:gd name="connsiteY2" fmla="*/ 728468 h 732969"/>
                  <a:gd name="connsiteX3" fmla="*/ 0 w 2434065"/>
                  <a:gd name="connsiteY3" fmla="*/ 730850 h 732969"/>
                </a:gdLst>
                <a:ahLst/>
                <a:cxnLst>
                  <a:cxn ang="0">
                    <a:pos x="connsiteX0" y="connsiteY0"/>
                  </a:cxn>
                  <a:cxn ang="0">
                    <a:pos x="connsiteX1" y="connsiteY1"/>
                  </a:cxn>
                  <a:cxn ang="0">
                    <a:pos x="connsiteX2" y="connsiteY2"/>
                  </a:cxn>
                  <a:cxn ang="0">
                    <a:pos x="connsiteX3" y="connsiteY3"/>
                  </a:cxn>
                </a:cxnLst>
                <a:rect l="l" t="t" r="r" b="b"/>
                <a:pathLst>
                  <a:path w="2434065" h="732969">
                    <a:moveTo>
                      <a:pt x="0" y="730850"/>
                    </a:moveTo>
                    <a:lnTo>
                      <a:pt x="2429992" y="0"/>
                    </a:lnTo>
                    <a:cubicBezTo>
                      <a:pt x="2406972" y="312672"/>
                      <a:pt x="2500632" y="720594"/>
                      <a:pt x="2318071" y="728468"/>
                    </a:cubicBezTo>
                    <a:cubicBezTo>
                      <a:pt x="1999404" y="741961"/>
                      <a:pt x="794916" y="719737"/>
                      <a:pt x="0" y="730850"/>
                    </a:cubicBezTo>
                    <a:close/>
                  </a:path>
                </a:pathLst>
              </a:custGeom>
              <a:solidFill>
                <a:schemeClr val="tx1">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5" name="Round Same Side Corner Rectangle 34"/>
              <p:cNvSpPr/>
              <p:nvPr/>
            </p:nvSpPr>
            <p:spPr>
              <a:xfrm rot="10800000">
                <a:off x="2733353" y="2696546"/>
                <a:ext cx="2585096" cy="1427585"/>
              </a:xfrm>
              <a:prstGeom prst="round2SameRect">
                <a:avLst>
                  <a:gd name="adj1" fmla="val 10667"/>
                  <a:gd name="adj2" fmla="val 0"/>
                </a:avLst>
              </a:prstGeom>
              <a:noFill/>
              <a:ln w="6350">
                <a:solidFill>
                  <a:srgbClr val="4048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6" name="Rectangle 35"/>
              <p:cNvSpPr/>
              <p:nvPr/>
            </p:nvSpPr>
            <p:spPr>
              <a:xfrm>
                <a:off x="2876549" y="2912671"/>
                <a:ext cx="2298701" cy="815608"/>
              </a:xfrm>
              <a:prstGeom prst="rect">
                <a:avLst/>
              </a:prstGeom>
            </p:spPr>
            <p:txBody>
              <a:bodyPr wrap="square" lIns="0" tIns="0" rIns="0" bIns="0">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544F40"/>
                    </a:solidFill>
                    <a:effectLst/>
                    <a:uLnTx/>
                    <a:uFillTx/>
                    <a:latin typeface="Arial" panose="020B0604020202020204" pitchFamily="34" charset="0"/>
                    <a:ea typeface="+mn-ea"/>
                    <a:cs typeface="+mn-cs"/>
                  </a:rPr>
                  <a:t>Change from baseline in trough FEV</a:t>
                </a:r>
                <a:r>
                  <a:rPr kumimoji="0" lang="en-US" sz="1200" b="0" i="0" u="none" strike="noStrike" kern="1200" cap="none" spc="0" normalizeH="0" baseline="-25000" noProof="0" dirty="0">
                    <a:ln>
                      <a:noFill/>
                    </a:ln>
                    <a:solidFill>
                      <a:srgbClr val="544F40"/>
                    </a:solidFill>
                    <a:effectLst/>
                    <a:uLnTx/>
                    <a:uFillTx/>
                    <a:latin typeface="Arial" panose="020B0604020202020204" pitchFamily="34" charset="0"/>
                    <a:ea typeface="+mn-ea"/>
                    <a:cs typeface="+mn-cs"/>
                  </a:rPr>
                  <a:t>1</a:t>
                </a:r>
                <a:r>
                  <a:rPr kumimoji="0" lang="en-US" sz="1200" b="0" i="0" u="none" strike="noStrike" kern="1200" cap="none" spc="0" normalizeH="0" baseline="0" noProof="0" dirty="0">
                    <a:ln>
                      <a:noFill/>
                    </a:ln>
                    <a:solidFill>
                      <a:srgbClr val="544F40"/>
                    </a:solidFill>
                    <a:effectLst/>
                    <a:uLnTx/>
                    <a:uFillTx/>
                    <a:latin typeface="Arial" panose="020B0604020202020204" pitchFamily="34" charset="0"/>
                    <a:ea typeface="+mn-ea"/>
                    <a:cs typeface="+mn-cs"/>
                  </a:rPr>
                  <a:t> at Week 52</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544F40"/>
                    </a:solidFill>
                    <a:effectLst/>
                    <a:uLnTx/>
                    <a:uFillTx/>
                    <a:latin typeface="Arial" panose="020B0604020202020204" pitchFamily="34" charset="0"/>
                    <a:ea typeface="+mn-ea"/>
                    <a:cs typeface="+mn-cs"/>
                  </a:rPr>
                  <a:t>Change from baseline in SGRQ total score at Week 52</a:t>
                </a:r>
                <a:endParaRPr kumimoji="0" lang="en-US" sz="12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28" name="Group 27"/>
            <p:cNvGrpSpPr/>
            <p:nvPr/>
          </p:nvGrpSpPr>
          <p:grpSpPr>
            <a:xfrm>
              <a:off x="5822950" y="2336244"/>
              <a:ext cx="2768600" cy="464610"/>
              <a:chOff x="5822950" y="2252267"/>
              <a:chExt cx="2768600" cy="464610"/>
            </a:xfrm>
          </p:grpSpPr>
          <p:sp>
            <p:nvSpPr>
              <p:cNvPr id="19" name="Rounded Rectangle 18"/>
              <p:cNvSpPr/>
              <p:nvPr/>
            </p:nvSpPr>
            <p:spPr>
              <a:xfrm>
                <a:off x="5822950" y="2252267"/>
                <a:ext cx="2768600" cy="464610"/>
              </a:xfrm>
              <a:prstGeom prst="roundRect">
                <a:avLst>
                  <a:gd name="adj" fmla="val 50000"/>
                </a:avLst>
              </a:prstGeom>
              <a:solidFill>
                <a:srgbClr val="40488D"/>
              </a:solidFill>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a:ea typeface="+mn-ea"/>
                    <a:cs typeface="+mn-cs"/>
                  </a:rPr>
                  <a:t>Lung Function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a:ea typeface="+mn-ea"/>
                    <a:cs typeface="+mn-cs"/>
                  </a:rPr>
                  <a:t>Quality of Life</a:t>
                </a:r>
              </a:p>
            </p:txBody>
          </p:sp>
          <p:grpSp>
            <p:nvGrpSpPr>
              <p:cNvPr id="22" name="Group 21"/>
              <p:cNvGrpSpPr/>
              <p:nvPr/>
            </p:nvGrpSpPr>
            <p:grpSpPr>
              <a:xfrm>
                <a:off x="6435726" y="2272609"/>
                <a:ext cx="2122918" cy="413440"/>
                <a:chOff x="3244850" y="2277372"/>
                <a:chExt cx="2122918" cy="413440"/>
              </a:xfrm>
            </p:grpSpPr>
            <p:sp>
              <p:nvSpPr>
                <p:cNvPr id="23" name="Isosceles Triangle 22"/>
                <p:cNvSpPr/>
                <p:nvPr/>
              </p:nvSpPr>
              <p:spPr>
                <a:xfrm>
                  <a:off x="3244850" y="2277372"/>
                  <a:ext cx="1920875" cy="406400"/>
                </a:xfrm>
                <a:prstGeom prst="triangle">
                  <a:avLst>
                    <a:gd name="adj" fmla="val 100000"/>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4" name="Pie 23"/>
                <p:cNvSpPr/>
                <p:nvPr/>
              </p:nvSpPr>
              <p:spPr>
                <a:xfrm rot="10800000">
                  <a:off x="4961729" y="2284773"/>
                  <a:ext cx="406039" cy="406039"/>
                </a:xfrm>
                <a:prstGeom prst="pie">
                  <a:avLst>
                    <a:gd name="adj1" fmla="val 5383955"/>
                    <a:gd name="adj2" fmla="val 16186664"/>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grpSp>
      </p:grpSp>
      <p:grpSp>
        <p:nvGrpSpPr>
          <p:cNvPr id="43" name="Group 42"/>
          <p:cNvGrpSpPr/>
          <p:nvPr/>
        </p:nvGrpSpPr>
        <p:grpSpPr>
          <a:xfrm>
            <a:off x="9004300" y="2401561"/>
            <a:ext cx="2768600" cy="1787887"/>
            <a:chOff x="9004300" y="2336244"/>
            <a:chExt cx="2768600" cy="1787887"/>
          </a:xfrm>
        </p:grpSpPr>
        <p:grpSp>
          <p:nvGrpSpPr>
            <p:cNvPr id="37" name="Group 36"/>
            <p:cNvGrpSpPr/>
            <p:nvPr/>
          </p:nvGrpSpPr>
          <p:grpSpPr>
            <a:xfrm>
              <a:off x="9094016" y="2696546"/>
              <a:ext cx="2589169" cy="1427585"/>
              <a:chOff x="2733353" y="2696546"/>
              <a:chExt cx="2589169" cy="1427585"/>
            </a:xfrm>
          </p:grpSpPr>
          <p:sp>
            <p:nvSpPr>
              <p:cNvPr id="38" name="Isosceles Triangle 30"/>
              <p:cNvSpPr/>
              <p:nvPr/>
            </p:nvSpPr>
            <p:spPr>
              <a:xfrm>
                <a:off x="2888457" y="3390898"/>
                <a:ext cx="2434065" cy="732969"/>
              </a:xfrm>
              <a:custGeom>
                <a:avLst/>
                <a:gdLst>
                  <a:gd name="connsiteX0" fmla="*/ 0 w 2427611"/>
                  <a:gd name="connsiteY0" fmla="*/ 728469 h 728469"/>
                  <a:gd name="connsiteX1" fmla="*/ 2427611 w 2427611"/>
                  <a:gd name="connsiteY1" fmla="*/ 0 h 728469"/>
                  <a:gd name="connsiteX2" fmla="*/ 2427611 w 2427611"/>
                  <a:gd name="connsiteY2" fmla="*/ 728469 h 728469"/>
                  <a:gd name="connsiteX3" fmla="*/ 0 w 2427611"/>
                  <a:gd name="connsiteY3" fmla="*/ 728469 h 728469"/>
                  <a:gd name="connsiteX0" fmla="*/ 0 w 2427611"/>
                  <a:gd name="connsiteY0" fmla="*/ 728469 h 728469"/>
                  <a:gd name="connsiteX1" fmla="*/ 2427611 w 2427611"/>
                  <a:gd name="connsiteY1" fmla="*/ 0 h 728469"/>
                  <a:gd name="connsiteX2" fmla="*/ 2387129 w 2427611"/>
                  <a:gd name="connsiteY2" fmla="*/ 695131 h 728469"/>
                  <a:gd name="connsiteX3" fmla="*/ 0 w 2427611"/>
                  <a:gd name="connsiteY3" fmla="*/ 728469 h 728469"/>
                  <a:gd name="connsiteX0" fmla="*/ 0 w 2430676"/>
                  <a:gd name="connsiteY0" fmla="*/ 728469 h 728469"/>
                  <a:gd name="connsiteX1" fmla="*/ 2427611 w 2430676"/>
                  <a:gd name="connsiteY1" fmla="*/ 0 h 728469"/>
                  <a:gd name="connsiteX2" fmla="*/ 2387129 w 2430676"/>
                  <a:gd name="connsiteY2" fmla="*/ 695131 h 728469"/>
                  <a:gd name="connsiteX3" fmla="*/ 0 w 2430676"/>
                  <a:gd name="connsiteY3" fmla="*/ 728469 h 728469"/>
                  <a:gd name="connsiteX0" fmla="*/ 0 w 2429411"/>
                  <a:gd name="connsiteY0" fmla="*/ 728469 h 728469"/>
                  <a:gd name="connsiteX1" fmla="*/ 2427611 w 2429411"/>
                  <a:gd name="connsiteY1" fmla="*/ 0 h 728469"/>
                  <a:gd name="connsiteX2" fmla="*/ 2384748 w 2429411"/>
                  <a:gd name="connsiteY2" fmla="*/ 695131 h 728469"/>
                  <a:gd name="connsiteX3" fmla="*/ 0 w 2429411"/>
                  <a:gd name="connsiteY3" fmla="*/ 728469 h 728469"/>
                  <a:gd name="connsiteX0" fmla="*/ 0 w 2429411"/>
                  <a:gd name="connsiteY0" fmla="*/ 728469 h 728469"/>
                  <a:gd name="connsiteX1" fmla="*/ 2427611 w 2429411"/>
                  <a:gd name="connsiteY1" fmla="*/ 0 h 728469"/>
                  <a:gd name="connsiteX2" fmla="*/ 2384748 w 2429411"/>
                  <a:gd name="connsiteY2" fmla="*/ 695131 h 728469"/>
                  <a:gd name="connsiteX3" fmla="*/ 0 w 2429411"/>
                  <a:gd name="connsiteY3" fmla="*/ 728469 h 728469"/>
                  <a:gd name="connsiteX0" fmla="*/ 0 w 2427611"/>
                  <a:gd name="connsiteY0" fmla="*/ 728469 h 733196"/>
                  <a:gd name="connsiteX1" fmla="*/ 2427611 w 2427611"/>
                  <a:gd name="connsiteY1" fmla="*/ 0 h 733196"/>
                  <a:gd name="connsiteX2" fmla="*/ 2363316 w 2427611"/>
                  <a:gd name="connsiteY2" fmla="*/ 704656 h 733196"/>
                  <a:gd name="connsiteX3" fmla="*/ 0 w 2427611"/>
                  <a:gd name="connsiteY3" fmla="*/ 728469 h 733196"/>
                  <a:gd name="connsiteX0" fmla="*/ 0 w 2428711"/>
                  <a:gd name="connsiteY0" fmla="*/ 728469 h 733196"/>
                  <a:gd name="connsiteX1" fmla="*/ 2427611 w 2428711"/>
                  <a:gd name="connsiteY1" fmla="*/ 0 h 733196"/>
                  <a:gd name="connsiteX2" fmla="*/ 2363316 w 2428711"/>
                  <a:gd name="connsiteY2" fmla="*/ 704656 h 733196"/>
                  <a:gd name="connsiteX3" fmla="*/ 0 w 2428711"/>
                  <a:gd name="connsiteY3" fmla="*/ 728469 h 733196"/>
                  <a:gd name="connsiteX0" fmla="*/ 0 w 2428711"/>
                  <a:gd name="connsiteY0" fmla="*/ 728469 h 733196"/>
                  <a:gd name="connsiteX1" fmla="*/ 2427611 w 2428711"/>
                  <a:gd name="connsiteY1" fmla="*/ 0 h 733196"/>
                  <a:gd name="connsiteX2" fmla="*/ 2363316 w 2428711"/>
                  <a:gd name="connsiteY2" fmla="*/ 704656 h 733196"/>
                  <a:gd name="connsiteX3" fmla="*/ 0 w 2428711"/>
                  <a:gd name="connsiteY3" fmla="*/ 728469 h 733196"/>
                  <a:gd name="connsiteX0" fmla="*/ 0 w 2428711"/>
                  <a:gd name="connsiteY0" fmla="*/ 728469 h 728469"/>
                  <a:gd name="connsiteX1" fmla="*/ 2427611 w 2428711"/>
                  <a:gd name="connsiteY1" fmla="*/ 0 h 728469"/>
                  <a:gd name="connsiteX2" fmla="*/ 2363316 w 2428711"/>
                  <a:gd name="connsiteY2" fmla="*/ 704656 h 728469"/>
                  <a:gd name="connsiteX3" fmla="*/ 0 w 2428711"/>
                  <a:gd name="connsiteY3" fmla="*/ 728469 h 728469"/>
                  <a:gd name="connsiteX0" fmla="*/ 0 w 2427611"/>
                  <a:gd name="connsiteY0" fmla="*/ 728469 h 745793"/>
                  <a:gd name="connsiteX1" fmla="*/ 2427611 w 2427611"/>
                  <a:gd name="connsiteY1" fmla="*/ 0 h 745793"/>
                  <a:gd name="connsiteX2" fmla="*/ 2310928 w 2427611"/>
                  <a:gd name="connsiteY2" fmla="*/ 730849 h 745793"/>
                  <a:gd name="connsiteX3" fmla="*/ 0 w 2427611"/>
                  <a:gd name="connsiteY3" fmla="*/ 728469 h 745793"/>
                  <a:gd name="connsiteX0" fmla="*/ 0 w 2427611"/>
                  <a:gd name="connsiteY0" fmla="*/ 728469 h 737626"/>
                  <a:gd name="connsiteX1" fmla="*/ 2427611 w 2427611"/>
                  <a:gd name="connsiteY1" fmla="*/ 0 h 737626"/>
                  <a:gd name="connsiteX2" fmla="*/ 2310928 w 2427611"/>
                  <a:gd name="connsiteY2" fmla="*/ 730849 h 737626"/>
                  <a:gd name="connsiteX3" fmla="*/ 0 w 2427611"/>
                  <a:gd name="connsiteY3" fmla="*/ 728469 h 737626"/>
                  <a:gd name="connsiteX0" fmla="*/ 0 w 2427611"/>
                  <a:gd name="connsiteY0" fmla="*/ 728469 h 735615"/>
                  <a:gd name="connsiteX1" fmla="*/ 2427611 w 2427611"/>
                  <a:gd name="connsiteY1" fmla="*/ 0 h 735615"/>
                  <a:gd name="connsiteX2" fmla="*/ 2315690 w 2427611"/>
                  <a:gd name="connsiteY2" fmla="*/ 728468 h 735615"/>
                  <a:gd name="connsiteX3" fmla="*/ 0 w 2427611"/>
                  <a:gd name="connsiteY3" fmla="*/ 728469 h 735615"/>
                  <a:gd name="connsiteX0" fmla="*/ 0 w 2427611"/>
                  <a:gd name="connsiteY0" fmla="*/ 728469 h 732630"/>
                  <a:gd name="connsiteX1" fmla="*/ 2427611 w 2427611"/>
                  <a:gd name="connsiteY1" fmla="*/ 0 h 732630"/>
                  <a:gd name="connsiteX2" fmla="*/ 2315690 w 2427611"/>
                  <a:gd name="connsiteY2" fmla="*/ 728468 h 732630"/>
                  <a:gd name="connsiteX3" fmla="*/ 0 w 2427611"/>
                  <a:gd name="connsiteY3" fmla="*/ 728469 h 732630"/>
                  <a:gd name="connsiteX0" fmla="*/ 0 w 2429992"/>
                  <a:gd name="connsiteY0" fmla="*/ 730850 h 732969"/>
                  <a:gd name="connsiteX1" fmla="*/ 2429992 w 2429992"/>
                  <a:gd name="connsiteY1" fmla="*/ 0 h 732969"/>
                  <a:gd name="connsiteX2" fmla="*/ 2318071 w 2429992"/>
                  <a:gd name="connsiteY2" fmla="*/ 728468 h 732969"/>
                  <a:gd name="connsiteX3" fmla="*/ 0 w 2429992"/>
                  <a:gd name="connsiteY3" fmla="*/ 730850 h 732969"/>
                  <a:gd name="connsiteX0" fmla="*/ 0 w 2434012"/>
                  <a:gd name="connsiteY0" fmla="*/ 730850 h 732969"/>
                  <a:gd name="connsiteX1" fmla="*/ 2429992 w 2434012"/>
                  <a:gd name="connsiteY1" fmla="*/ 0 h 732969"/>
                  <a:gd name="connsiteX2" fmla="*/ 2318071 w 2434012"/>
                  <a:gd name="connsiteY2" fmla="*/ 728468 h 732969"/>
                  <a:gd name="connsiteX3" fmla="*/ 0 w 2434012"/>
                  <a:gd name="connsiteY3" fmla="*/ 730850 h 732969"/>
                  <a:gd name="connsiteX0" fmla="*/ 0 w 2436027"/>
                  <a:gd name="connsiteY0" fmla="*/ 730850 h 732969"/>
                  <a:gd name="connsiteX1" fmla="*/ 2429992 w 2436027"/>
                  <a:gd name="connsiteY1" fmla="*/ 0 h 732969"/>
                  <a:gd name="connsiteX2" fmla="*/ 2318071 w 2436027"/>
                  <a:gd name="connsiteY2" fmla="*/ 728468 h 732969"/>
                  <a:gd name="connsiteX3" fmla="*/ 0 w 2436027"/>
                  <a:gd name="connsiteY3" fmla="*/ 730850 h 732969"/>
                  <a:gd name="connsiteX0" fmla="*/ 0 w 2440627"/>
                  <a:gd name="connsiteY0" fmla="*/ 730850 h 732969"/>
                  <a:gd name="connsiteX1" fmla="*/ 2429992 w 2440627"/>
                  <a:gd name="connsiteY1" fmla="*/ 0 h 732969"/>
                  <a:gd name="connsiteX2" fmla="*/ 2318071 w 2440627"/>
                  <a:gd name="connsiteY2" fmla="*/ 728468 h 732969"/>
                  <a:gd name="connsiteX3" fmla="*/ 0 w 2440627"/>
                  <a:gd name="connsiteY3" fmla="*/ 730850 h 732969"/>
                  <a:gd name="connsiteX0" fmla="*/ 0 w 2433971"/>
                  <a:gd name="connsiteY0" fmla="*/ 730850 h 732969"/>
                  <a:gd name="connsiteX1" fmla="*/ 2429992 w 2433971"/>
                  <a:gd name="connsiteY1" fmla="*/ 0 h 732969"/>
                  <a:gd name="connsiteX2" fmla="*/ 2318071 w 2433971"/>
                  <a:gd name="connsiteY2" fmla="*/ 728468 h 732969"/>
                  <a:gd name="connsiteX3" fmla="*/ 0 w 2433971"/>
                  <a:gd name="connsiteY3" fmla="*/ 730850 h 732969"/>
                  <a:gd name="connsiteX0" fmla="*/ 0 w 2435845"/>
                  <a:gd name="connsiteY0" fmla="*/ 730850 h 732969"/>
                  <a:gd name="connsiteX1" fmla="*/ 2429992 w 2435845"/>
                  <a:gd name="connsiteY1" fmla="*/ 0 h 732969"/>
                  <a:gd name="connsiteX2" fmla="*/ 2318071 w 2435845"/>
                  <a:gd name="connsiteY2" fmla="*/ 728468 h 732969"/>
                  <a:gd name="connsiteX3" fmla="*/ 0 w 2435845"/>
                  <a:gd name="connsiteY3" fmla="*/ 730850 h 732969"/>
                  <a:gd name="connsiteX0" fmla="*/ 0 w 2435845"/>
                  <a:gd name="connsiteY0" fmla="*/ 730850 h 732969"/>
                  <a:gd name="connsiteX1" fmla="*/ 2429992 w 2435845"/>
                  <a:gd name="connsiteY1" fmla="*/ 0 h 732969"/>
                  <a:gd name="connsiteX2" fmla="*/ 2318071 w 2435845"/>
                  <a:gd name="connsiteY2" fmla="*/ 728468 h 732969"/>
                  <a:gd name="connsiteX3" fmla="*/ 0 w 2435845"/>
                  <a:gd name="connsiteY3" fmla="*/ 730850 h 732969"/>
                  <a:gd name="connsiteX0" fmla="*/ 0 w 2433042"/>
                  <a:gd name="connsiteY0" fmla="*/ 730850 h 732969"/>
                  <a:gd name="connsiteX1" fmla="*/ 2429992 w 2433042"/>
                  <a:gd name="connsiteY1" fmla="*/ 0 h 732969"/>
                  <a:gd name="connsiteX2" fmla="*/ 2318071 w 2433042"/>
                  <a:gd name="connsiteY2" fmla="*/ 728468 h 732969"/>
                  <a:gd name="connsiteX3" fmla="*/ 0 w 2433042"/>
                  <a:gd name="connsiteY3" fmla="*/ 730850 h 732969"/>
                  <a:gd name="connsiteX0" fmla="*/ 0 w 2432188"/>
                  <a:gd name="connsiteY0" fmla="*/ 730850 h 732969"/>
                  <a:gd name="connsiteX1" fmla="*/ 2429992 w 2432188"/>
                  <a:gd name="connsiteY1" fmla="*/ 0 h 732969"/>
                  <a:gd name="connsiteX2" fmla="*/ 2318071 w 2432188"/>
                  <a:gd name="connsiteY2" fmla="*/ 728468 h 732969"/>
                  <a:gd name="connsiteX3" fmla="*/ 0 w 2432188"/>
                  <a:gd name="connsiteY3" fmla="*/ 730850 h 732969"/>
                  <a:gd name="connsiteX0" fmla="*/ 0 w 2434065"/>
                  <a:gd name="connsiteY0" fmla="*/ 730850 h 732969"/>
                  <a:gd name="connsiteX1" fmla="*/ 2429992 w 2434065"/>
                  <a:gd name="connsiteY1" fmla="*/ 0 h 732969"/>
                  <a:gd name="connsiteX2" fmla="*/ 2318071 w 2434065"/>
                  <a:gd name="connsiteY2" fmla="*/ 728468 h 732969"/>
                  <a:gd name="connsiteX3" fmla="*/ 0 w 2434065"/>
                  <a:gd name="connsiteY3" fmla="*/ 730850 h 732969"/>
                </a:gdLst>
                <a:ahLst/>
                <a:cxnLst>
                  <a:cxn ang="0">
                    <a:pos x="connsiteX0" y="connsiteY0"/>
                  </a:cxn>
                  <a:cxn ang="0">
                    <a:pos x="connsiteX1" y="connsiteY1"/>
                  </a:cxn>
                  <a:cxn ang="0">
                    <a:pos x="connsiteX2" y="connsiteY2"/>
                  </a:cxn>
                  <a:cxn ang="0">
                    <a:pos x="connsiteX3" y="connsiteY3"/>
                  </a:cxn>
                </a:cxnLst>
                <a:rect l="l" t="t" r="r" b="b"/>
                <a:pathLst>
                  <a:path w="2434065" h="732969">
                    <a:moveTo>
                      <a:pt x="0" y="730850"/>
                    </a:moveTo>
                    <a:lnTo>
                      <a:pt x="2429992" y="0"/>
                    </a:lnTo>
                    <a:cubicBezTo>
                      <a:pt x="2406972" y="312672"/>
                      <a:pt x="2500632" y="720594"/>
                      <a:pt x="2318071" y="728468"/>
                    </a:cubicBezTo>
                    <a:cubicBezTo>
                      <a:pt x="1999404" y="741961"/>
                      <a:pt x="794916" y="719737"/>
                      <a:pt x="0" y="730850"/>
                    </a:cubicBezTo>
                    <a:close/>
                  </a:path>
                </a:pathLst>
              </a:custGeom>
              <a:solidFill>
                <a:schemeClr val="tx1">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9" name="Round Same Side Corner Rectangle 38"/>
              <p:cNvSpPr/>
              <p:nvPr/>
            </p:nvSpPr>
            <p:spPr>
              <a:xfrm rot="10800000">
                <a:off x="2733353" y="2696546"/>
                <a:ext cx="2585096" cy="1427585"/>
              </a:xfrm>
              <a:prstGeom prst="round2SameRect">
                <a:avLst>
                  <a:gd name="adj1" fmla="val 10667"/>
                  <a:gd name="adj2" fmla="val 0"/>
                </a:avLst>
              </a:prstGeom>
              <a:noFill/>
              <a:ln w="6350">
                <a:solidFill>
                  <a:srgbClr val="4048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40" name="Rectangle 39"/>
              <p:cNvSpPr/>
              <p:nvPr/>
            </p:nvSpPr>
            <p:spPr>
              <a:xfrm>
                <a:off x="2876549" y="2912671"/>
                <a:ext cx="2211449" cy="815608"/>
              </a:xfrm>
              <a:prstGeom prst="rect">
                <a:avLst/>
              </a:prstGeom>
            </p:spPr>
            <p:txBody>
              <a:bodyPr wrap="square" lIns="0" tIns="0" rIns="0" bIns="0">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544F40"/>
                    </a:solidFill>
                    <a:effectLst/>
                    <a:uLnTx/>
                    <a:uFillTx/>
                    <a:latin typeface="Arial" panose="020B0604020202020204" pitchFamily="34" charset="0"/>
                    <a:ea typeface="+mn-ea"/>
                    <a:cs typeface="+mn-cs"/>
                  </a:rPr>
                  <a:t>All cause mortality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544F40"/>
                    </a:solidFill>
                    <a:effectLst/>
                    <a:uLnTx/>
                    <a:uFillTx/>
                    <a:latin typeface="Arial" panose="020B0604020202020204" pitchFamily="34" charset="0"/>
                    <a:ea typeface="+mn-ea"/>
                    <a:cs typeface="+mn-cs"/>
                  </a:rPr>
                  <a:t>Incidence of AEs, serious AEs, including pneumonia and CV events</a:t>
                </a:r>
                <a:endParaRPr kumimoji="0" lang="en-US" sz="12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13" name="Group 12"/>
            <p:cNvGrpSpPr/>
            <p:nvPr/>
          </p:nvGrpSpPr>
          <p:grpSpPr>
            <a:xfrm>
              <a:off x="9004300" y="2336244"/>
              <a:ext cx="2768600" cy="464610"/>
              <a:chOff x="9004300" y="2252267"/>
              <a:chExt cx="2768600" cy="464610"/>
            </a:xfrm>
          </p:grpSpPr>
          <p:sp>
            <p:nvSpPr>
              <p:cNvPr id="20" name="Rounded Rectangle 19"/>
              <p:cNvSpPr/>
              <p:nvPr/>
            </p:nvSpPr>
            <p:spPr>
              <a:xfrm>
                <a:off x="9004300" y="2252267"/>
                <a:ext cx="2768600" cy="464610"/>
              </a:xfrm>
              <a:prstGeom prst="roundRect">
                <a:avLst>
                  <a:gd name="adj" fmla="val 50000"/>
                </a:avLst>
              </a:prstGeom>
              <a:solidFill>
                <a:srgbClr val="40488D"/>
              </a:solidFill>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a:ea typeface="+mn-ea"/>
                    <a:cs typeface="+mn-cs"/>
                  </a:rPr>
                  <a:t>Other</a:t>
                </a:r>
              </a:p>
            </p:txBody>
          </p:sp>
          <p:grpSp>
            <p:nvGrpSpPr>
              <p:cNvPr id="25" name="Group 24"/>
              <p:cNvGrpSpPr/>
              <p:nvPr/>
            </p:nvGrpSpPr>
            <p:grpSpPr>
              <a:xfrm>
                <a:off x="9618663" y="2280010"/>
                <a:ext cx="2122918" cy="407627"/>
                <a:chOff x="3244850" y="2284773"/>
                <a:chExt cx="2122918" cy="407627"/>
              </a:xfrm>
            </p:grpSpPr>
            <p:sp>
              <p:nvSpPr>
                <p:cNvPr id="26" name="Isosceles Triangle 25"/>
                <p:cNvSpPr/>
                <p:nvPr/>
              </p:nvSpPr>
              <p:spPr>
                <a:xfrm>
                  <a:off x="3244850" y="2286000"/>
                  <a:ext cx="1920875" cy="406400"/>
                </a:xfrm>
                <a:prstGeom prst="triangle">
                  <a:avLst>
                    <a:gd name="adj" fmla="val 100000"/>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7" name="Pie 26"/>
                <p:cNvSpPr/>
                <p:nvPr/>
              </p:nvSpPr>
              <p:spPr>
                <a:xfrm rot="10800000">
                  <a:off x="4961729" y="2284773"/>
                  <a:ext cx="406039" cy="406039"/>
                </a:xfrm>
                <a:prstGeom prst="pie">
                  <a:avLst>
                    <a:gd name="adj1" fmla="val 5383955"/>
                    <a:gd name="adj2" fmla="val 16186664"/>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grpSp>
      </p:grpSp>
      <p:sp>
        <p:nvSpPr>
          <p:cNvPr id="44" name="Arrow: Down 308">
            <a:extLst>
              <a:ext uri="{FF2B5EF4-FFF2-40B4-BE49-F238E27FC236}">
                <a16:creationId xmlns:a16="http://schemas.microsoft.com/office/drawing/2014/main" id="{3742F3F4-5121-4FF8-B1F4-034E8845DEEB}"/>
              </a:ext>
            </a:extLst>
          </p:cNvPr>
          <p:cNvSpPr/>
          <p:nvPr/>
        </p:nvSpPr>
        <p:spPr>
          <a:xfrm>
            <a:off x="3815078" y="4194084"/>
            <a:ext cx="421642" cy="449918"/>
          </a:xfrm>
          <a:prstGeom prst="downArrow">
            <a:avLst>
              <a:gd name="adj1" fmla="val 52559"/>
              <a:gd name="adj2" fmla="val 50000"/>
            </a:avLst>
          </a:prstGeom>
          <a:solidFill>
            <a:srgbClr val="544F4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48" name="Group 47"/>
          <p:cNvGrpSpPr/>
          <p:nvPr/>
        </p:nvGrpSpPr>
        <p:grpSpPr>
          <a:xfrm>
            <a:off x="941871" y="4676881"/>
            <a:ext cx="6168056" cy="846841"/>
            <a:chOff x="1258373" y="4676881"/>
            <a:chExt cx="5535051" cy="1015663"/>
          </a:xfrm>
        </p:grpSpPr>
        <p:sp>
          <p:nvSpPr>
            <p:cNvPr id="45" name="Rectangle 44"/>
            <p:cNvSpPr/>
            <p:nvPr/>
          </p:nvSpPr>
          <p:spPr>
            <a:xfrm>
              <a:off x="3105834" y="4676881"/>
              <a:ext cx="1840129" cy="1015663"/>
            </a:xfrm>
            <a:prstGeom prst="rect">
              <a:avLst/>
            </a:prstGeom>
            <a:solidFill>
              <a:srgbClr val="15717D"/>
            </a:solid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a:ea typeface="+mn-ea"/>
                  <a:cs typeface="+mn-cs"/>
                </a:rPr>
                <a:t>Moderate: </a:t>
              </a: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Exacerbations leading to treatment with oral corticosteroids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and/or antibiotics</a:t>
              </a:r>
              <a:r>
                <a:rPr kumimoji="0" lang="en-US" sz="1200" b="0" i="0" u="none" strike="noStrike" kern="1200" cap="none" spc="0" normalizeH="0" baseline="30000" noProof="0" dirty="0">
                  <a:ln>
                    <a:noFill/>
                  </a:ln>
                  <a:solidFill>
                    <a:prstClr val="white"/>
                  </a:solidFill>
                  <a:effectLst/>
                  <a:uLnTx/>
                  <a:uFillTx/>
                  <a:latin typeface="Arial" panose="020B0604020202020204"/>
                  <a:ea typeface="+mn-ea"/>
                  <a:cs typeface="+mn-cs"/>
                </a:rPr>
                <a:t>3</a:t>
              </a:r>
            </a:p>
          </p:txBody>
        </p:sp>
        <p:sp>
          <p:nvSpPr>
            <p:cNvPr id="46" name="Rectangle 45"/>
            <p:cNvSpPr/>
            <p:nvPr/>
          </p:nvSpPr>
          <p:spPr>
            <a:xfrm>
              <a:off x="1258373" y="4676881"/>
              <a:ext cx="1840129" cy="1015663"/>
            </a:xfrm>
            <a:prstGeom prst="rect">
              <a:avLst/>
            </a:prstGeom>
            <a:solidFill>
              <a:srgbClr val="15717D"/>
            </a:solid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a:ea typeface="+mn-ea"/>
                  <a:cs typeface="+mn-cs"/>
                </a:rPr>
                <a:t>Mild exacerbation: </a:t>
              </a: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Worsening of COPD symptoms self-managed by the patient</a:t>
              </a:r>
              <a:r>
                <a:rPr kumimoji="0" lang="en-US" sz="1200" b="0" i="0" u="none" strike="noStrike" kern="1200" cap="none" spc="0" normalizeH="0" baseline="30000" noProof="0" dirty="0">
                  <a:ln>
                    <a:noFill/>
                  </a:ln>
                  <a:solidFill>
                    <a:prstClr val="white"/>
                  </a:solidFill>
                  <a:effectLst/>
                  <a:uLnTx/>
                  <a:uFillTx/>
                  <a:latin typeface="Arial" panose="020B0604020202020204"/>
                  <a:ea typeface="+mn-ea"/>
                  <a:cs typeface="+mn-cs"/>
                </a:rPr>
                <a:t>3</a:t>
              </a:r>
            </a:p>
          </p:txBody>
        </p:sp>
        <p:sp>
          <p:nvSpPr>
            <p:cNvPr id="47" name="Rectangle 46"/>
            <p:cNvSpPr/>
            <p:nvPr/>
          </p:nvSpPr>
          <p:spPr>
            <a:xfrm>
              <a:off x="4953295" y="4676881"/>
              <a:ext cx="1840129" cy="1015663"/>
            </a:xfrm>
            <a:prstGeom prst="rect">
              <a:avLst/>
            </a:prstGeom>
            <a:solidFill>
              <a:srgbClr val="15717D"/>
            </a:solid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anose="020B0604020202020204"/>
                  <a:ea typeface="+mn-ea"/>
                  <a:cs typeface="+mn-cs"/>
                </a:rPr>
                <a:t>Severe: </a:t>
              </a: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Exacerbations leading to hospitalization or worsening symptoms of COPD resulting in death</a:t>
              </a:r>
              <a:r>
                <a:rPr kumimoji="0" lang="en-US" sz="1200" b="0" i="0" u="none" strike="noStrike" kern="1200" cap="none" spc="0" normalizeH="0" baseline="30000" noProof="0" dirty="0">
                  <a:ln>
                    <a:noFill/>
                  </a:ln>
                  <a:solidFill>
                    <a:prstClr val="white"/>
                  </a:solidFill>
                  <a:effectLst/>
                  <a:uLnTx/>
                  <a:uFillTx/>
                  <a:latin typeface="Arial" panose="020B0604020202020204"/>
                  <a:ea typeface="+mn-ea"/>
                  <a:cs typeface="+mn-cs"/>
                </a:rPr>
                <a:t>3</a:t>
              </a:r>
            </a:p>
          </p:txBody>
        </p:sp>
      </p:grpSp>
      <p:pic>
        <p:nvPicPr>
          <p:cNvPr id="64" name="Picture 63">
            <a:extLst>
              <a:ext uri="{FF2B5EF4-FFF2-40B4-BE49-F238E27FC236}">
                <a16:creationId xmlns:a16="http://schemas.microsoft.com/office/drawing/2014/main" id="{F89C67CB-48BA-4A88-9301-0CB397AE4EB8}"/>
              </a:ext>
            </a:extLst>
          </p:cNvPr>
          <p:cNvPicPr>
            <a:picLocks noChangeAspect="1"/>
          </p:cNvPicPr>
          <p:nvPr/>
        </p:nvPicPr>
        <p:blipFill>
          <a:blip r:embed="rId2"/>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141587742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IMPACT: Inclusion and exclusion</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24" name="Text Placeholder 23"/>
          <p:cNvSpPr>
            <a:spLocks noGrp="1"/>
          </p:cNvSpPr>
          <p:nvPr>
            <p:ph type="body" sz="quarter" idx="21"/>
          </p:nvPr>
        </p:nvSpPr>
        <p:spPr/>
        <p:txBody>
          <a:bodyPr/>
          <a:lstStyle/>
          <a:p>
            <a:r>
              <a:rPr lang="da-DK" dirty="0"/>
              <a:t>1. Lipson DA, et al. </a:t>
            </a:r>
            <a:r>
              <a:rPr lang="da-DK" i="1" dirty="0"/>
              <a:t>N Engl J Med.</a:t>
            </a:r>
            <a:r>
              <a:rPr lang="da-DK" dirty="0"/>
              <a:t> 2018;378:1671–1680;</a:t>
            </a:r>
            <a:r>
              <a:rPr lang="nb-NO" dirty="0"/>
              <a:t> 2. </a:t>
            </a:r>
            <a:r>
              <a:rPr lang="en-US" dirty="0"/>
              <a:t>GSK clinical trial registry, study CTT116855 clinical study report. GSK Web site. https://www.gsk-studyregister.com/en/trial-details/?id=116855. Accessed on February 2021</a:t>
            </a:r>
            <a:r>
              <a:rPr lang="fr-FR" dirty="0"/>
              <a:t>;</a:t>
            </a:r>
            <a:r>
              <a:rPr lang="nb-NO" dirty="0"/>
              <a:t> </a:t>
            </a:r>
          </a:p>
          <a:p>
            <a:r>
              <a:rPr lang="nb-NO" dirty="0"/>
              <a:t>3. </a:t>
            </a:r>
            <a:r>
              <a:rPr lang="en-US" dirty="0"/>
              <a:t>ClinicalTrials.gov Web site. https://clinicaltrials.gov/show/NCT02164513. Accessed on February 2021. </a:t>
            </a:r>
          </a:p>
        </p:txBody>
      </p:sp>
      <p:sp>
        <p:nvSpPr>
          <p:cNvPr id="8" name="Text Placeholder 7"/>
          <p:cNvSpPr>
            <a:spLocks noGrp="1"/>
          </p:cNvSpPr>
          <p:nvPr>
            <p:ph type="body" sz="quarter" idx="19"/>
          </p:nvPr>
        </p:nvSpPr>
        <p:spPr/>
        <p:txBody>
          <a:bodyPr/>
          <a:lstStyle/>
          <a:p>
            <a:r>
              <a:rPr lang="en-US" dirty="0"/>
              <a:t>* Significant is defined as any disease that, in the opinion of the Investigator, would put the safety of the subject at risk through participation, or which would affect the efficacy or safety analysis if the disease/condition exacerbated during the study. CVD, cardiovascular disease; COPD, chronic obstructive pulmonary disease; CAT, COPD assessment test; ECG, electrocardiogram; FEV</a:t>
            </a:r>
            <a:r>
              <a:rPr lang="en-US" baseline="-25000" dirty="0"/>
              <a:t>1</a:t>
            </a:r>
            <a:r>
              <a:rPr lang="en-US" dirty="0"/>
              <a:t>, forced expiratory volume in 1 second.</a:t>
            </a:r>
          </a:p>
        </p:txBody>
      </p:sp>
      <p:grpSp>
        <p:nvGrpSpPr>
          <p:cNvPr id="10" name="Group 9"/>
          <p:cNvGrpSpPr/>
          <p:nvPr/>
        </p:nvGrpSpPr>
        <p:grpSpPr>
          <a:xfrm>
            <a:off x="426720" y="1065298"/>
            <a:ext cx="11348845" cy="1352781"/>
            <a:chOff x="491913" y="1065298"/>
            <a:chExt cx="11283652" cy="1352781"/>
          </a:xfrm>
        </p:grpSpPr>
        <p:sp>
          <p:nvSpPr>
            <p:cNvPr id="92" name="Round Same Side Corner Rectangle 91"/>
            <p:cNvSpPr/>
            <p:nvPr/>
          </p:nvSpPr>
          <p:spPr>
            <a:xfrm>
              <a:off x="552873" y="1280159"/>
              <a:ext cx="11222692" cy="1137920"/>
            </a:xfrm>
            <a:prstGeom prst="round2SameRect">
              <a:avLst>
                <a:gd name="adj1" fmla="val 11608"/>
                <a:gd name="adj2" fmla="val 0"/>
              </a:avLst>
            </a:prstGeom>
            <a:solidFill>
              <a:srgbClr val="E49B13"/>
            </a:solidFill>
            <a:ln>
              <a:solidFill>
                <a:srgbClr val="E49B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7" name="Round Same Side Corner Rectangle 6"/>
            <p:cNvSpPr/>
            <p:nvPr/>
          </p:nvSpPr>
          <p:spPr>
            <a:xfrm>
              <a:off x="491913" y="1065298"/>
              <a:ext cx="11222692" cy="1296000"/>
            </a:xfrm>
            <a:prstGeom prst="round2SameRect">
              <a:avLst/>
            </a:prstGeom>
            <a:solidFill>
              <a:schemeClr val="bg1"/>
            </a:solidFill>
            <a:ln>
              <a:solidFill>
                <a:srgbClr val="E49B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0" name="Rectangle 29"/>
            <p:cNvSpPr/>
            <p:nvPr/>
          </p:nvSpPr>
          <p:spPr>
            <a:xfrm>
              <a:off x="666700" y="1130325"/>
              <a:ext cx="10722660" cy="1192634"/>
            </a:xfrm>
            <a:prstGeom prst="rect">
              <a:avLst/>
            </a:prstGeom>
          </p:spPr>
          <p:txBody>
            <a:bodyPr wrap="square" lIns="0" tIns="0" rIns="0" bIns="0">
              <a:spAutoFit/>
            </a:bodyPr>
            <a:lstStyle/>
            <a:p>
              <a:pPr>
                <a:spcAft>
                  <a:spcPts val="300"/>
                </a:spcAft>
                <a:defRPr/>
              </a:pPr>
              <a:r>
                <a:rPr kumimoji="0" lang="en-US" sz="1400" b="1" i="0" u="none" strike="noStrike" kern="1200" cap="none" spc="0" normalizeH="0" baseline="0" noProof="0" dirty="0">
                  <a:ln>
                    <a:noFill/>
                  </a:ln>
                  <a:solidFill>
                    <a:srgbClr val="544F40"/>
                  </a:solidFill>
                  <a:effectLst/>
                  <a:uLnTx/>
                  <a:uFillTx/>
                  <a:latin typeface="Arial" panose="020B0604020202020204"/>
                  <a:ea typeface="+mn-ea"/>
                  <a:cs typeface="+mn-cs"/>
                </a:rPr>
                <a:t>Inclusion</a:t>
              </a:r>
              <a:r>
                <a:rPr lang="en-US" sz="1400" baseline="30000" dirty="0">
                  <a:solidFill>
                    <a:srgbClr val="544F40"/>
                  </a:solidFill>
                </a:rPr>
                <a:t>1</a:t>
              </a:r>
            </a:p>
            <a:p>
              <a:pPr marL="274320" marR="0" lvl="0" indent="-27432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544F40"/>
                  </a:solidFill>
                  <a:effectLst/>
                  <a:uLnTx/>
                  <a:uFillTx/>
                  <a:latin typeface="Arial" panose="020B0604020202020204"/>
                  <a:ea typeface="+mn-ea"/>
                  <a:cs typeface="+mn-cs"/>
                </a:rPr>
                <a:t>Age 40+ and COPD diagnosis (ATS/ERS definition)</a:t>
              </a:r>
            </a:p>
            <a:p>
              <a:pPr marL="274320" marR="0" lvl="0" indent="-27432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544F40"/>
                  </a:solidFill>
                  <a:effectLst/>
                  <a:uLnTx/>
                  <a:uFillTx/>
                  <a:latin typeface="Arial" panose="020B0604020202020204"/>
                  <a:ea typeface="+mn-ea"/>
                  <a:cs typeface="+mn-cs"/>
                </a:rPr>
                <a:t>CAT ≥10</a:t>
              </a:r>
              <a:endParaRPr kumimoji="0" lang="en-US" sz="1400" b="0" i="0" u="none" strike="noStrike" kern="1200" cap="none" spc="0" normalizeH="0" baseline="30000" noProof="0" dirty="0">
                <a:ln>
                  <a:noFill/>
                </a:ln>
                <a:solidFill>
                  <a:srgbClr val="544F40"/>
                </a:solidFill>
                <a:effectLst/>
                <a:uLnTx/>
                <a:uFillTx/>
                <a:latin typeface="Arial" panose="020B0604020202020204"/>
                <a:ea typeface="+mn-ea"/>
                <a:cs typeface="+mn-cs"/>
              </a:endParaRPr>
            </a:p>
            <a:p>
              <a:pPr marL="274320" marR="0" lvl="0" indent="-27432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544F40"/>
                  </a:solidFill>
                  <a:effectLst/>
                  <a:uLnTx/>
                  <a:uFillTx/>
                  <a:latin typeface="Arial" panose="020B0604020202020204"/>
                  <a:ea typeface="+mn-ea"/>
                  <a:cs typeface="+mn-cs"/>
                </a:rPr>
                <a:t>FEV</a:t>
              </a:r>
              <a:r>
                <a:rPr kumimoji="0" lang="en-US" sz="1400" b="0" i="0" u="none" strike="noStrike" kern="1200" cap="none" spc="0" normalizeH="0" baseline="-25000" noProof="0" dirty="0">
                  <a:ln>
                    <a:noFill/>
                  </a:ln>
                  <a:solidFill>
                    <a:srgbClr val="544F40"/>
                  </a:solidFill>
                  <a:effectLst/>
                  <a:uLnTx/>
                  <a:uFillTx/>
                  <a:latin typeface="Arial" panose="020B0604020202020204"/>
                  <a:ea typeface="+mn-ea"/>
                  <a:cs typeface="+mn-cs"/>
                </a:rPr>
                <a:t>1</a:t>
              </a:r>
              <a:r>
                <a:rPr kumimoji="0" lang="en-US" sz="1400" b="0" i="0" u="none" strike="noStrike" kern="1200" cap="none" spc="0" normalizeH="0" baseline="0" noProof="0" dirty="0">
                  <a:ln>
                    <a:noFill/>
                  </a:ln>
                  <a:solidFill>
                    <a:srgbClr val="544F40"/>
                  </a:solidFill>
                  <a:effectLst/>
                  <a:uLnTx/>
                  <a:uFillTx/>
                  <a:latin typeface="Arial" panose="020B0604020202020204"/>
                  <a:ea typeface="+mn-ea"/>
                  <a:cs typeface="+mn-cs"/>
                </a:rPr>
                <a:t> &lt;50% + ≥1 moderate/severe exacerbations in past year; </a:t>
              </a:r>
              <a:r>
                <a:rPr kumimoji="0" lang="en-US" sz="1400" b="1" i="0" u="none" strike="noStrike" kern="1200" cap="none" spc="0" normalizeH="0" baseline="0" noProof="0" dirty="0">
                  <a:ln>
                    <a:noFill/>
                  </a:ln>
                  <a:solidFill>
                    <a:srgbClr val="544F40"/>
                  </a:solidFill>
                  <a:effectLst/>
                  <a:uLnTx/>
                  <a:uFillTx/>
                  <a:latin typeface="Arial" panose="020B0604020202020204"/>
                  <a:ea typeface="+mn-ea"/>
                  <a:cs typeface="+mn-cs"/>
                </a:rPr>
                <a:t>OR</a:t>
              </a:r>
              <a:r>
                <a:rPr kumimoji="0" lang="en-US" sz="1400" b="0" i="0" u="none" strike="noStrike" kern="1200" cap="none" spc="0" normalizeH="0" baseline="0" noProof="0" dirty="0">
                  <a:ln>
                    <a:noFill/>
                  </a:ln>
                  <a:solidFill>
                    <a:srgbClr val="544F40"/>
                  </a:solidFill>
                  <a:effectLst/>
                  <a:uLnTx/>
                  <a:uFillTx/>
                  <a:latin typeface="Arial" panose="020B0604020202020204"/>
                  <a:ea typeface="+mn-ea"/>
                  <a:cs typeface="+mn-cs"/>
                </a:rPr>
                <a:t> FEV</a:t>
              </a:r>
              <a:r>
                <a:rPr kumimoji="0" lang="en-US" sz="1400" b="0" i="0" u="none" strike="noStrike" kern="1200" cap="none" spc="0" normalizeH="0" baseline="-25000" noProof="0" dirty="0">
                  <a:ln>
                    <a:noFill/>
                  </a:ln>
                  <a:solidFill>
                    <a:srgbClr val="544F40"/>
                  </a:solidFill>
                  <a:effectLst/>
                  <a:uLnTx/>
                  <a:uFillTx/>
                  <a:latin typeface="Arial" panose="020B0604020202020204"/>
                  <a:ea typeface="+mn-ea"/>
                  <a:cs typeface="+mn-cs"/>
                </a:rPr>
                <a:t>1</a:t>
              </a:r>
              <a:r>
                <a:rPr kumimoji="0" lang="en-US" sz="1400" b="0" i="0" u="none" strike="noStrike" kern="1200" cap="none" spc="0" normalizeH="0" baseline="0" noProof="0" dirty="0">
                  <a:ln>
                    <a:noFill/>
                  </a:ln>
                  <a:solidFill>
                    <a:srgbClr val="544F40"/>
                  </a:solidFill>
                  <a:effectLst/>
                  <a:uLnTx/>
                  <a:uFillTx/>
                  <a:latin typeface="Arial" panose="020B0604020202020204"/>
                  <a:ea typeface="+mn-ea"/>
                  <a:cs typeface="+mn-cs"/>
                </a:rPr>
                <a:t> &lt;80% + ≥2 moderate exacerbations or ≥1 severe exacerbation in past year</a:t>
              </a:r>
              <a:endParaRPr kumimoji="0" lang="en-US" sz="1400" b="0" i="0" u="none" strike="noStrike" kern="1200" cap="none" spc="0" normalizeH="0" baseline="30000" noProof="0" dirty="0">
                <a:ln>
                  <a:noFill/>
                </a:ln>
                <a:solidFill>
                  <a:srgbClr val="544F40"/>
                </a:solidFill>
                <a:effectLst/>
                <a:uLnTx/>
                <a:uFillTx/>
                <a:latin typeface="Arial" panose="020B0604020202020204"/>
                <a:ea typeface="+mn-ea"/>
                <a:cs typeface="+mn-cs"/>
              </a:endParaRPr>
            </a:p>
          </p:txBody>
        </p:sp>
      </p:grpSp>
      <p:grpSp>
        <p:nvGrpSpPr>
          <p:cNvPr id="9" name="Group 8"/>
          <p:cNvGrpSpPr/>
          <p:nvPr/>
        </p:nvGrpSpPr>
        <p:grpSpPr>
          <a:xfrm>
            <a:off x="434888" y="2600057"/>
            <a:ext cx="11344712" cy="2240280"/>
            <a:chOff x="434888" y="2600057"/>
            <a:chExt cx="11344712" cy="2240280"/>
          </a:xfrm>
        </p:grpSpPr>
        <p:sp>
          <p:nvSpPr>
            <p:cNvPr id="66" name="Rounded Rectangle 65"/>
            <p:cNvSpPr/>
            <p:nvPr/>
          </p:nvSpPr>
          <p:spPr>
            <a:xfrm>
              <a:off x="6106160" y="2602299"/>
              <a:ext cx="5673440" cy="2235797"/>
            </a:xfrm>
            <a:prstGeom prst="roundRect">
              <a:avLst>
                <a:gd name="adj" fmla="val 5326"/>
              </a:avLst>
            </a:prstGeom>
            <a:solidFill>
              <a:srgbClr val="FFD5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4" name="Rounded Rectangle 33"/>
            <p:cNvSpPr/>
            <p:nvPr/>
          </p:nvSpPr>
          <p:spPr>
            <a:xfrm>
              <a:off x="434888" y="2602299"/>
              <a:ext cx="5668066" cy="2235797"/>
            </a:xfrm>
            <a:prstGeom prst="roundRect">
              <a:avLst>
                <a:gd name="adj" fmla="val 5540"/>
              </a:avLst>
            </a:prstGeom>
            <a:solidFill>
              <a:srgbClr val="D1FF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5" name="Oval 34"/>
            <p:cNvSpPr/>
            <p:nvPr/>
          </p:nvSpPr>
          <p:spPr>
            <a:xfrm>
              <a:off x="4976590" y="2600057"/>
              <a:ext cx="2240280" cy="2240280"/>
            </a:xfrm>
            <a:prstGeom prst="ellipse">
              <a:avLst/>
            </a:prstGeom>
            <a:solidFill>
              <a:schemeClr val="bg1"/>
            </a:solidFill>
            <a:ln w="3175">
              <a:solidFill>
                <a:schemeClr val="tx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8" name="Rectangle 37"/>
            <p:cNvSpPr/>
            <p:nvPr/>
          </p:nvSpPr>
          <p:spPr>
            <a:xfrm>
              <a:off x="554939" y="2670450"/>
              <a:ext cx="3823413" cy="151580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US" sz="1600" b="1" i="0" u="none" strike="noStrike" kern="1200" cap="none" spc="0" normalizeH="0" baseline="0" noProof="0" dirty="0">
                  <a:ln>
                    <a:noFill/>
                  </a:ln>
                  <a:solidFill>
                    <a:srgbClr val="544F40"/>
                  </a:solidFill>
                  <a:effectLst/>
                  <a:uLnTx/>
                  <a:uFillTx/>
                  <a:latin typeface="Arial" panose="020B0604020202020204"/>
                  <a:ea typeface="+mn-ea"/>
                  <a:cs typeface="+mn-cs"/>
                </a:rPr>
                <a:t>Allowed inclusion of patients with co-morbidities such as:</a:t>
              </a:r>
              <a:r>
                <a:rPr kumimoji="0" lang="en-US" sz="1600" b="1" i="0" u="none" strike="noStrike" kern="1200" cap="none" spc="0" normalizeH="0" baseline="30000" noProof="0" dirty="0">
                  <a:ln>
                    <a:noFill/>
                  </a:ln>
                  <a:solidFill>
                    <a:srgbClr val="544F40"/>
                  </a:solidFill>
                  <a:effectLst/>
                  <a:uLnTx/>
                  <a:uFillTx/>
                  <a:latin typeface="Arial" panose="020B0604020202020204"/>
                  <a:ea typeface="+mn-ea"/>
                  <a:cs typeface="+mn-cs"/>
                </a:rPr>
                <a:t>2,3</a:t>
              </a:r>
            </a:p>
            <a:p>
              <a:pPr marL="285750" marR="0" lvl="0" indent="-285750" algn="l" defTabSz="914400" rtl="0" eaLnBrk="1" fontAlgn="auto" latinLnBrk="0" hangingPunct="1">
                <a:lnSpc>
                  <a:spcPct val="100000"/>
                </a:lnSpc>
                <a:spcBef>
                  <a:spcPts val="0"/>
                </a:spcBef>
                <a:spcAft>
                  <a:spcPts val="500"/>
                </a:spcAft>
                <a:buClr>
                  <a:srgbClr val="008A00"/>
                </a:buClr>
                <a:buSzTx/>
                <a:buFont typeface="Wingdings" panose="05000000000000000000" pitchFamily="2" charset="2"/>
                <a:buChar char=""/>
                <a:tabLst/>
                <a:defRPr/>
              </a:pPr>
              <a:r>
                <a:rPr kumimoji="0" lang="en-US" sz="1600" b="0" i="0" u="none" strike="noStrike" kern="1200" cap="none" spc="0" normalizeH="0" baseline="0" noProof="0" dirty="0">
                  <a:ln>
                    <a:noFill/>
                  </a:ln>
                  <a:solidFill>
                    <a:srgbClr val="544F40"/>
                  </a:solidFill>
                  <a:effectLst/>
                  <a:uLnTx/>
                  <a:uFillTx/>
                  <a:latin typeface="Arial" panose="020B0604020202020204"/>
                  <a:ea typeface="+mn-ea"/>
                  <a:cs typeface="+mn-cs"/>
                </a:rPr>
                <a:t>CV risk/disease</a:t>
              </a:r>
            </a:p>
            <a:p>
              <a:pPr marL="285750" indent="-285750">
                <a:spcAft>
                  <a:spcPts val="500"/>
                </a:spcAft>
                <a:buClr>
                  <a:srgbClr val="008A00"/>
                </a:buClr>
                <a:buFont typeface="Wingdings" panose="05000000000000000000" pitchFamily="2" charset="2"/>
                <a:buChar char=""/>
                <a:defRPr/>
              </a:pPr>
              <a:r>
                <a:rPr lang="en-US" sz="1600" dirty="0">
                  <a:solidFill>
                    <a:srgbClr val="544F40"/>
                  </a:solidFill>
                </a:rPr>
                <a:t>Diabetes</a:t>
              </a:r>
              <a:endParaRPr kumimoji="0" lang="en-US" sz="1600" b="0" i="0" u="none" strike="noStrike" kern="1200" cap="none" spc="0" normalizeH="0" baseline="0" noProof="0" dirty="0">
                <a:ln>
                  <a:noFill/>
                </a:ln>
                <a:solidFill>
                  <a:srgbClr val="544F4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500"/>
                </a:spcAft>
                <a:buClr>
                  <a:srgbClr val="008A00"/>
                </a:buClr>
                <a:buSzTx/>
                <a:buFont typeface="Wingdings" panose="05000000000000000000" pitchFamily="2" charset="2"/>
                <a:buChar char=""/>
                <a:tabLst/>
                <a:defRPr/>
              </a:pPr>
              <a:r>
                <a:rPr kumimoji="0" lang="en-US" sz="1600" b="0" i="0" u="none" strike="noStrike" kern="1200" cap="none" spc="0" normalizeH="0" baseline="0" noProof="0" dirty="0">
                  <a:ln>
                    <a:noFill/>
                  </a:ln>
                  <a:solidFill>
                    <a:srgbClr val="544F40"/>
                  </a:solidFill>
                  <a:effectLst/>
                  <a:uLnTx/>
                  <a:uFillTx/>
                  <a:latin typeface="Arial" panose="020B0604020202020204"/>
                  <a:ea typeface="+mn-ea"/>
                  <a:cs typeface="+mn-cs"/>
                </a:rPr>
                <a:t>Prior history of asthma</a:t>
              </a:r>
            </a:p>
          </p:txBody>
        </p:sp>
        <p:sp>
          <p:nvSpPr>
            <p:cNvPr id="86" name="Rectangle 85"/>
            <p:cNvSpPr/>
            <p:nvPr/>
          </p:nvSpPr>
          <p:spPr>
            <a:xfrm>
              <a:off x="7379814" y="2670450"/>
              <a:ext cx="4316430" cy="189026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a:pPr>
              <a:r>
                <a:rPr kumimoji="0" lang="en-US" sz="1600" b="1" i="0" u="none" strike="noStrike" kern="1200" cap="none" spc="0" normalizeH="0" baseline="0" noProof="0" dirty="0">
                  <a:ln>
                    <a:noFill/>
                  </a:ln>
                  <a:solidFill>
                    <a:srgbClr val="544F40"/>
                  </a:solidFill>
                  <a:effectLst/>
                  <a:uLnTx/>
                  <a:uFillTx/>
                  <a:latin typeface="Arial" panose="020B0604020202020204"/>
                  <a:ea typeface="+mn-ea"/>
                  <a:cs typeface="+mn-cs"/>
                </a:rPr>
                <a:t>Some excluded co-morbidities, including:</a:t>
              </a:r>
              <a:r>
                <a:rPr kumimoji="0" lang="en-US" sz="1600" b="1" i="0" u="none" strike="noStrike" kern="1200" cap="none" spc="0" normalizeH="0" baseline="30000" noProof="0" dirty="0">
                  <a:ln>
                    <a:noFill/>
                  </a:ln>
                  <a:solidFill>
                    <a:srgbClr val="544F40"/>
                  </a:solidFill>
                  <a:effectLst/>
                  <a:uLnTx/>
                  <a:uFillTx/>
                  <a:latin typeface="Arial" panose="020B0604020202020204"/>
                  <a:ea typeface="+mn-ea"/>
                  <a:cs typeface="+mn-cs"/>
                </a:rPr>
                <a:t>3</a:t>
              </a:r>
            </a:p>
            <a:p>
              <a:pPr marL="285750" marR="0" lvl="0" indent="-285750" algn="l" defTabSz="914400" rtl="0" eaLnBrk="1" fontAlgn="auto" latinLnBrk="0" hangingPunct="1">
                <a:lnSpc>
                  <a:spcPct val="100000"/>
                </a:lnSpc>
                <a:spcBef>
                  <a:spcPts val="0"/>
                </a:spcBef>
                <a:spcAft>
                  <a:spcPts val="500"/>
                </a:spcAft>
                <a:buClr>
                  <a:srgbClr val="ED003C"/>
                </a:buClr>
                <a:buSzTx/>
                <a:buFont typeface="Wingdings" panose="05000000000000000000" pitchFamily="2" charset="2"/>
                <a:buChar char=""/>
                <a:tabLst/>
                <a:defRPr/>
              </a:pPr>
              <a:r>
                <a:rPr kumimoji="0" lang="en-US" sz="1600" b="0" i="0" u="none" strike="noStrike" kern="1200" cap="none" spc="0" normalizeH="0" baseline="0" noProof="0" dirty="0">
                  <a:ln>
                    <a:noFill/>
                  </a:ln>
                  <a:solidFill>
                    <a:srgbClr val="544F40"/>
                  </a:solidFill>
                  <a:effectLst/>
                  <a:uLnTx/>
                  <a:uFillTx/>
                  <a:latin typeface="Arial" panose="020B0604020202020204"/>
                  <a:ea typeface="+mn-ea"/>
                  <a:cs typeface="+mn-cs"/>
                </a:rPr>
                <a:t>Significant* CVD, unstable</a:t>
              </a:r>
            </a:p>
            <a:p>
              <a:pPr marL="285750" marR="0" lvl="0" indent="-285750" algn="l" defTabSz="914400" rtl="0" eaLnBrk="1" fontAlgn="auto" latinLnBrk="0" hangingPunct="1">
                <a:lnSpc>
                  <a:spcPct val="100000"/>
                </a:lnSpc>
                <a:spcBef>
                  <a:spcPts val="0"/>
                </a:spcBef>
                <a:spcAft>
                  <a:spcPts val="500"/>
                </a:spcAft>
                <a:buClr>
                  <a:srgbClr val="ED003C"/>
                </a:buClr>
                <a:buSzTx/>
                <a:buFont typeface="Wingdings" panose="05000000000000000000" pitchFamily="2" charset="2"/>
                <a:buChar char=""/>
                <a:tabLst/>
                <a:defRPr/>
              </a:pPr>
              <a:r>
                <a:rPr lang="en-US" sz="1600" dirty="0">
                  <a:solidFill>
                    <a:srgbClr val="544F40"/>
                  </a:solidFill>
                  <a:latin typeface="Arial" panose="020B0604020202020204"/>
                </a:rPr>
                <a:t>C</a:t>
              </a:r>
              <a:r>
                <a:rPr kumimoji="0" lang="en-US" sz="1600" b="0" i="0" u="none" strike="noStrike" kern="1200" cap="none" spc="0" normalizeH="0" baseline="0" noProof="0" dirty="0">
                  <a:ln>
                    <a:noFill/>
                  </a:ln>
                  <a:solidFill>
                    <a:srgbClr val="544F40"/>
                  </a:solidFill>
                  <a:effectLst/>
                  <a:uLnTx/>
                  <a:uFillTx/>
                  <a:latin typeface="Arial" panose="020B0604020202020204"/>
                  <a:ea typeface="+mn-ea"/>
                  <a:cs typeface="+mn-cs"/>
                </a:rPr>
                <a:t>ardiac disease, abnormal</a:t>
              </a:r>
            </a:p>
            <a:p>
              <a:pPr marL="285750" marR="0" lvl="0" indent="-285750" algn="l" defTabSz="914400" rtl="0" eaLnBrk="1" fontAlgn="auto" latinLnBrk="0" hangingPunct="1">
                <a:lnSpc>
                  <a:spcPct val="100000"/>
                </a:lnSpc>
                <a:spcBef>
                  <a:spcPts val="0"/>
                </a:spcBef>
                <a:spcAft>
                  <a:spcPts val="500"/>
                </a:spcAft>
                <a:buClr>
                  <a:srgbClr val="ED003C"/>
                </a:buClr>
                <a:buSzTx/>
                <a:buFont typeface="Wingdings" panose="05000000000000000000" pitchFamily="2" charset="2"/>
                <a:buChar char=""/>
                <a:tabLst/>
                <a:defRPr/>
              </a:pPr>
              <a:r>
                <a:rPr lang="en-US" sz="1600" noProof="0" dirty="0">
                  <a:solidFill>
                    <a:srgbClr val="544F40"/>
                  </a:solidFill>
                  <a:latin typeface="Arial" panose="020B0604020202020204"/>
                </a:rPr>
                <a:t>C</a:t>
              </a:r>
              <a:r>
                <a:rPr kumimoji="0" lang="en-US" sz="1600" b="0" i="0" u="none" strike="noStrike" kern="1200" cap="none" spc="0" normalizeH="0" baseline="0" noProof="0" dirty="0">
                  <a:ln>
                    <a:noFill/>
                  </a:ln>
                  <a:solidFill>
                    <a:srgbClr val="544F40"/>
                  </a:solidFill>
                  <a:effectLst/>
                  <a:uLnTx/>
                  <a:uFillTx/>
                  <a:latin typeface="Arial" panose="020B0604020202020204"/>
                  <a:ea typeface="+mn-ea"/>
                  <a:cs typeface="+mn-cs"/>
                </a:rPr>
                <a:t>linically significant ECG finding</a:t>
              </a:r>
            </a:p>
            <a:p>
              <a:pPr marL="285750" marR="0" lvl="0" indent="-285750" algn="l" defTabSz="914400" rtl="0" eaLnBrk="1" fontAlgn="auto" latinLnBrk="0" hangingPunct="1">
                <a:lnSpc>
                  <a:spcPct val="100000"/>
                </a:lnSpc>
                <a:spcBef>
                  <a:spcPts val="0"/>
                </a:spcBef>
                <a:spcAft>
                  <a:spcPts val="500"/>
                </a:spcAft>
                <a:buClr>
                  <a:srgbClr val="ED003C"/>
                </a:buClr>
                <a:buSzTx/>
                <a:buFont typeface="Wingdings" panose="05000000000000000000" pitchFamily="2" charset="2"/>
                <a:buChar char=""/>
                <a:tabLst/>
                <a:defRPr/>
              </a:pPr>
              <a:r>
                <a:rPr kumimoji="0" lang="en-US" sz="1600" b="0" i="0" u="none" strike="noStrike" kern="1200" cap="none" spc="0" normalizeH="0" baseline="0" noProof="0" dirty="0">
                  <a:ln>
                    <a:noFill/>
                  </a:ln>
                  <a:solidFill>
                    <a:srgbClr val="544F40"/>
                  </a:solidFill>
                  <a:effectLst/>
                  <a:uLnTx/>
                  <a:uFillTx/>
                  <a:latin typeface="Arial" panose="020B0604020202020204"/>
                  <a:ea typeface="+mn-ea"/>
                  <a:cs typeface="+mn-cs"/>
                </a:rPr>
                <a:t>Uncontrolled diabetes</a:t>
              </a:r>
            </a:p>
            <a:p>
              <a:pPr marL="285750" marR="0" lvl="0" indent="-285750" algn="l" defTabSz="914400" rtl="0" eaLnBrk="1" fontAlgn="auto" latinLnBrk="0" hangingPunct="1">
                <a:lnSpc>
                  <a:spcPct val="100000"/>
                </a:lnSpc>
                <a:spcBef>
                  <a:spcPts val="0"/>
                </a:spcBef>
                <a:spcAft>
                  <a:spcPts val="500"/>
                </a:spcAft>
                <a:buClr>
                  <a:srgbClr val="ED003C"/>
                </a:buClr>
                <a:buSzTx/>
                <a:buFont typeface="Wingdings" panose="05000000000000000000" pitchFamily="2" charset="2"/>
                <a:buChar char=""/>
                <a:tabLst/>
                <a:defRPr/>
              </a:pPr>
              <a:r>
                <a:rPr kumimoji="0" lang="en-US" sz="1600" b="0" i="0" u="none" strike="noStrike" kern="1200" cap="none" spc="0" normalizeH="0" baseline="0" noProof="0" dirty="0">
                  <a:ln>
                    <a:noFill/>
                  </a:ln>
                  <a:solidFill>
                    <a:srgbClr val="544F40"/>
                  </a:solidFill>
                  <a:effectLst/>
                  <a:uLnTx/>
                  <a:uFillTx/>
                  <a:latin typeface="Arial" panose="020B0604020202020204"/>
                  <a:ea typeface="+mn-ea"/>
                  <a:cs typeface="+mn-cs"/>
                </a:rPr>
                <a:t>Current asthma diagnosis</a:t>
              </a:r>
            </a:p>
          </p:txBody>
        </p:sp>
        <p:grpSp>
          <p:nvGrpSpPr>
            <p:cNvPr id="5" name="Group 4"/>
            <p:cNvGrpSpPr/>
            <p:nvPr/>
          </p:nvGrpSpPr>
          <p:grpSpPr>
            <a:xfrm>
              <a:off x="5393285" y="2895600"/>
              <a:ext cx="1408700" cy="1733772"/>
              <a:chOff x="5426170" y="2995764"/>
              <a:chExt cx="1342930" cy="1652824"/>
            </a:xfrm>
          </p:grpSpPr>
          <p:grpSp>
            <p:nvGrpSpPr>
              <p:cNvPr id="55" name="Group 54"/>
              <p:cNvGrpSpPr/>
              <p:nvPr/>
            </p:nvGrpSpPr>
            <p:grpSpPr>
              <a:xfrm>
                <a:off x="5576760" y="2995764"/>
                <a:ext cx="1039940" cy="923210"/>
                <a:chOff x="606580" y="2571151"/>
                <a:chExt cx="551446" cy="489549"/>
              </a:xfrm>
              <a:solidFill>
                <a:schemeClr val="bg1">
                  <a:lumMod val="85000"/>
                </a:schemeClr>
              </a:solidFill>
            </p:grpSpPr>
            <p:grpSp>
              <p:nvGrpSpPr>
                <p:cNvPr id="56" name="Group 55"/>
                <p:cNvGrpSpPr/>
                <p:nvPr/>
              </p:nvGrpSpPr>
              <p:grpSpPr>
                <a:xfrm>
                  <a:off x="606580" y="2571151"/>
                  <a:ext cx="165322" cy="424027"/>
                  <a:chOff x="1708812" y="2331396"/>
                  <a:chExt cx="248262" cy="636757"/>
                </a:xfrm>
                <a:grpFill/>
              </p:grpSpPr>
              <p:sp>
                <p:nvSpPr>
                  <p:cNvPr id="65" name="Freeform 6"/>
                  <p:cNvSpPr>
                    <a:spLocks/>
                  </p:cNvSpPr>
                  <p:nvPr/>
                </p:nvSpPr>
                <p:spPr bwMode="auto">
                  <a:xfrm>
                    <a:off x="1708812" y="2456475"/>
                    <a:ext cx="248262" cy="511678"/>
                  </a:xfrm>
                  <a:custGeom>
                    <a:avLst/>
                    <a:gdLst>
                      <a:gd name="T0" fmla="*/ 1830 w 5294"/>
                      <a:gd name="T1" fmla="*/ 11079 h 11194"/>
                      <a:gd name="T2" fmla="*/ 1443 w 5294"/>
                      <a:gd name="T3" fmla="*/ 10774 h 11194"/>
                      <a:gd name="T4" fmla="*/ 1397 w 5294"/>
                      <a:gd name="T5" fmla="*/ 10687 h 11194"/>
                      <a:gd name="T6" fmla="*/ 1388 w 5294"/>
                      <a:gd name="T7" fmla="*/ 5945 h 11194"/>
                      <a:gd name="T8" fmla="*/ 1375 w 5294"/>
                      <a:gd name="T9" fmla="*/ 1200 h 11194"/>
                      <a:gd name="T10" fmla="*/ 1249 w 5294"/>
                      <a:gd name="T11" fmla="*/ 1145 h 11194"/>
                      <a:gd name="T12" fmla="*/ 1186 w 5294"/>
                      <a:gd name="T13" fmla="*/ 1177 h 11194"/>
                      <a:gd name="T14" fmla="*/ 1147 w 5294"/>
                      <a:gd name="T15" fmla="*/ 1209 h 11194"/>
                      <a:gd name="T16" fmla="*/ 1146 w 5294"/>
                      <a:gd name="T17" fmla="*/ 3148 h 11194"/>
                      <a:gd name="T18" fmla="*/ 1145 w 5294"/>
                      <a:gd name="T19" fmla="*/ 5087 h 11194"/>
                      <a:gd name="T20" fmla="*/ 1091 w 5294"/>
                      <a:gd name="T21" fmla="*/ 5204 h 11194"/>
                      <a:gd name="T22" fmla="*/ 805 w 5294"/>
                      <a:gd name="T23" fmla="*/ 5498 h 11194"/>
                      <a:gd name="T24" fmla="*/ 22 w 5294"/>
                      <a:gd name="T25" fmla="*/ 5112 h 11194"/>
                      <a:gd name="T26" fmla="*/ 28 w 5294"/>
                      <a:gd name="T27" fmla="*/ 881 h 11194"/>
                      <a:gd name="T28" fmla="*/ 98 w 5294"/>
                      <a:gd name="T29" fmla="*/ 699 h 11194"/>
                      <a:gd name="T30" fmla="*/ 980 w 5294"/>
                      <a:gd name="T31" fmla="*/ 27 h 11194"/>
                      <a:gd name="T32" fmla="*/ 4447 w 5294"/>
                      <a:gd name="T33" fmla="*/ 44 h 11194"/>
                      <a:gd name="T34" fmla="*/ 5046 w 5294"/>
                      <a:gd name="T35" fmla="*/ 452 h 11194"/>
                      <a:gd name="T36" fmla="*/ 5255 w 5294"/>
                      <a:gd name="T37" fmla="*/ 894 h 11194"/>
                      <a:gd name="T38" fmla="*/ 5288 w 5294"/>
                      <a:gd name="T39" fmla="*/ 3048 h 11194"/>
                      <a:gd name="T40" fmla="*/ 5178 w 5294"/>
                      <a:gd name="T41" fmla="*/ 5317 h 11194"/>
                      <a:gd name="T42" fmla="*/ 4645 w 5294"/>
                      <a:gd name="T43" fmla="*/ 5548 h 11194"/>
                      <a:gd name="T44" fmla="*/ 4324 w 5294"/>
                      <a:gd name="T45" fmla="*/ 5389 h 11194"/>
                      <a:gd name="T46" fmla="*/ 4216 w 5294"/>
                      <a:gd name="T47" fmla="*/ 5237 h 11194"/>
                      <a:gd name="T48" fmla="*/ 4163 w 5294"/>
                      <a:gd name="T49" fmla="*/ 5137 h 11194"/>
                      <a:gd name="T50" fmla="*/ 4155 w 5294"/>
                      <a:gd name="T51" fmla="*/ 3181 h 11194"/>
                      <a:gd name="T52" fmla="*/ 4147 w 5294"/>
                      <a:gd name="T53" fmla="*/ 1226 h 11194"/>
                      <a:gd name="T54" fmla="*/ 4100 w 5294"/>
                      <a:gd name="T55" fmla="*/ 1185 h 11194"/>
                      <a:gd name="T56" fmla="*/ 3949 w 5294"/>
                      <a:gd name="T57" fmla="*/ 1180 h 11194"/>
                      <a:gd name="T58" fmla="*/ 3905 w 5294"/>
                      <a:gd name="T59" fmla="*/ 1214 h 11194"/>
                      <a:gd name="T60" fmla="*/ 3901 w 5294"/>
                      <a:gd name="T61" fmla="*/ 5943 h 11194"/>
                      <a:gd name="T62" fmla="*/ 3897 w 5294"/>
                      <a:gd name="T63" fmla="*/ 10672 h 11194"/>
                      <a:gd name="T64" fmla="*/ 3839 w 5294"/>
                      <a:gd name="T65" fmla="*/ 10785 h 11194"/>
                      <a:gd name="T66" fmla="*/ 2975 w 5294"/>
                      <a:gd name="T67" fmla="*/ 10954 h 11194"/>
                      <a:gd name="T68" fmla="*/ 2794 w 5294"/>
                      <a:gd name="T69" fmla="*/ 10704 h 11194"/>
                      <a:gd name="T70" fmla="*/ 2772 w 5294"/>
                      <a:gd name="T71" fmla="*/ 8135 h 11194"/>
                      <a:gd name="T72" fmla="*/ 2740 w 5294"/>
                      <a:gd name="T73" fmla="*/ 5589 h 11194"/>
                      <a:gd name="T74" fmla="*/ 2640 w 5294"/>
                      <a:gd name="T75" fmla="*/ 5565 h 11194"/>
                      <a:gd name="T76" fmla="*/ 2543 w 5294"/>
                      <a:gd name="T77" fmla="*/ 5612 h 11194"/>
                      <a:gd name="T78" fmla="*/ 2522 w 5294"/>
                      <a:gd name="T79" fmla="*/ 8129 h 11194"/>
                      <a:gd name="T80" fmla="*/ 2522 w 5294"/>
                      <a:gd name="T81" fmla="*/ 10605 h 11194"/>
                      <a:gd name="T82" fmla="*/ 2485 w 5294"/>
                      <a:gd name="T83" fmla="*/ 10713 h 11194"/>
                      <a:gd name="T84" fmla="*/ 2139 w 5294"/>
                      <a:gd name="T85" fmla="*/ 11059 h 11194"/>
                      <a:gd name="T86" fmla="*/ 1830 w 5294"/>
                      <a:gd name="T87" fmla="*/ 11079 h 1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294" h="11194">
                        <a:moveTo>
                          <a:pt x="1830" y="11079"/>
                        </a:moveTo>
                        <a:cubicBezTo>
                          <a:pt x="1659" y="11035"/>
                          <a:pt x="1523" y="10927"/>
                          <a:pt x="1443" y="10774"/>
                        </a:cubicBezTo>
                        <a:lnTo>
                          <a:pt x="1397" y="10687"/>
                        </a:lnTo>
                        <a:lnTo>
                          <a:pt x="1388" y="5945"/>
                        </a:lnTo>
                        <a:cubicBezTo>
                          <a:pt x="1383" y="3337"/>
                          <a:pt x="1378" y="1202"/>
                          <a:pt x="1375" y="1200"/>
                        </a:cubicBezTo>
                        <a:cubicBezTo>
                          <a:pt x="1360" y="1185"/>
                          <a:pt x="1269" y="1145"/>
                          <a:pt x="1249" y="1145"/>
                        </a:cubicBezTo>
                        <a:cubicBezTo>
                          <a:pt x="1236" y="1145"/>
                          <a:pt x="1208" y="1159"/>
                          <a:pt x="1186" y="1177"/>
                        </a:cubicBezTo>
                        <a:lnTo>
                          <a:pt x="1147" y="1209"/>
                        </a:lnTo>
                        <a:lnTo>
                          <a:pt x="1146" y="3148"/>
                        </a:lnTo>
                        <a:lnTo>
                          <a:pt x="1145" y="5087"/>
                        </a:lnTo>
                        <a:lnTo>
                          <a:pt x="1091" y="5204"/>
                        </a:lnTo>
                        <a:cubicBezTo>
                          <a:pt x="1022" y="5351"/>
                          <a:pt x="942" y="5434"/>
                          <a:pt x="805" y="5498"/>
                        </a:cubicBezTo>
                        <a:cubicBezTo>
                          <a:pt x="483" y="5647"/>
                          <a:pt x="95" y="5456"/>
                          <a:pt x="22" y="5112"/>
                        </a:cubicBezTo>
                        <a:cubicBezTo>
                          <a:pt x="0" y="5006"/>
                          <a:pt x="5" y="978"/>
                          <a:pt x="28" y="881"/>
                        </a:cubicBezTo>
                        <a:cubicBezTo>
                          <a:pt x="35" y="850"/>
                          <a:pt x="67" y="768"/>
                          <a:pt x="98" y="699"/>
                        </a:cubicBezTo>
                        <a:cubicBezTo>
                          <a:pt x="266" y="331"/>
                          <a:pt x="605" y="72"/>
                          <a:pt x="980" y="27"/>
                        </a:cubicBezTo>
                        <a:cubicBezTo>
                          <a:pt x="1195" y="0"/>
                          <a:pt x="4363" y="16"/>
                          <a:pt x="4447" y="44"/>
                        </a:cubicBezTo>
                        <a:cubicBezTo>
                          <a:pt x="4693" y="125"/>
                          <a:pt x="4915" y="276"/>
                          <a:pt x="5046" y="452"/>
                        </a:cubicBezTo>
                        <a:cubicBezTo>
                          <a:pt x="5166" y="613"/>
                          <a:pt x="5215" y="716"/>
                          <a:pt x="5255" y="894"/>
                        </a:cubicBezTo>
                        <a:cubicBezTo>
                          <a:pt x="5287" y="1041"/>
                          <a:pt x="5288" y="1100"/>
                          <a:pt x="5288" y="3048"/>
                        </a:cubicBezTo>
                        <a:cubicBezTo>
                          <a:pt x="5288" y="5271"/>
                          <a:pt x="5294" y="5158"/>
                          <a:pt x="5178" y="5317"/>
                        </a:cubicBezTo>
                        <a:cubicBezTo>
                          <a:pt x="5062" y="5478"/>
                          <a:pt x="4819" y="5583"/>
                          <a:pt x="4645" y="5548"/>
                        </a:cubicBezTo>
                        <a:cubicBezTo>
                          <a:pt x="4534" y="5525"/>
                          <a:pt x="4397" y="5457"/>
                          <a:pt x="4324" y="5389"/>
                        </a:cubicBezTo>
                        <a:cubicBezTo>
                          <a:pt x="4294" y="5360"/>
                          <a:pt x="4245" y="5292"/>
                          <a:pt x="4216" y="5237"/>
                        </a:cubicBezTo>
                        <a:lnTo>
                          <a:pt x="4163" y="5137"/>
                        </a:lnTo>
                        <a:lnTo>
                          <a:pt x="4155" y="3181"/>
                        </a:lnTo>
                        <a:lnTo>
                          <a:pt x="4147" y="1226"/>
                        </a:lnTo>
                        <a:lnTo>
                          <a:pt x="4100" y="1185"/>
                        </a:lnTo>
                        <a:cubicBezTo>
                          <a:pt x="4043" y="1136"/>
                          <a:pt x="4006" y="1135"/>
                          <a:pt x="3949" y="1180"/>
                        </a:cubicBezTo>
                        <a:lnTo>
                          <a:pt x="3905" y="1214"/>
                        </a:lnTo>
                        <a:lnTo>
                          <a:pt x="3901" y="5943"/>
                        </a:lnTo>
                        <a:lnTo>
                          <a:pt x="3897" y="10672"/>
                        </a:lnTo>
                        <a:lnTo>
                          <a:pt x="3839" y="10785"/>
                        </a:lnTo>
                        <a:cubicBezTo>
                          <a:pt x="3675" y="11109"/>
                          <a:pt x="3242" y="11194"/>
                          <a:pt x="2975" y="10954"/>
                        </a:cubicBezTo>
                        <a:cubicBezTo>
                          <a:pt x="2881" y="10869"/>
                          <a:pt x="2812" y="10774"/>
                          <a:pt x="2794" y="10704"/>
                        </a:cubicBezTo>
                        <a:cubicBezTo>
                          <a:pt x="2787" y="10676"/>
                          <a:pt x="2777" y="9520"/>
                          <a:pt x="2772" y="8135"/>
                        </a:cubicBezTo>
                        <a:cubicBezTo>
                          <a:pt x="2765" y="6000"/>
                          <a:pt x="2760" y="5613"/>
                          <a:pt x="2740" y="5589"/>
                        </a:cubicBezTo>
                        <a:cubicBezTo>
                          <a:pt x="2723" y="5568"/>
                          <a:pt x="2696" y="5562"/>
                          <a:pt x="2640" y="5565"/>
                        </a:cubicBezTo>
                        <a:cubicBezTo>
                          <a:pt x="2578" y="5569"/>
                          <a:pt x="2560" y="5578"/>
                          <a:pt x="2543" y="5612"/>
                        </a:cubicBezTo>
                        <a:cubicBezTo>
                          <a:pt x="2527" y="5645"/>
                          <a:pt x="2522" y="6173"/>
                          <a:pt x="2522" y="8129"/>
                        </a:cubicBezTo>
                        <a:lnTo>
                          <a:pt x="2522" y="10605"/>
                        </a:lnTo>
                        <a:lnTo>
                          <a:pt x="2485" y="10713"/>
                        </a:lnTo>
                        <a:cubicBezTo>
                          <a:pt x="2434" y="10865"/>
                          <a:pt x="2291" y="11008"/>
                          <a:pt x="2139" y="11059"/>
                        </a:cubicBezTo>
                        <a:cubicBezTo>
                          <a:pt x="2031" y="11096"/>
                          <a:pt x="1922" y="11103"/>
                          <a:pt x="1830" y="1107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84" name="Freeform 7"/>
                  <p:cNvSpPr>
                    <a:spLocks/>
                  </p:cNvSpPr>
                  <p:nvPr/>
                </p:nvSpPr>
                <p:spPr bwMode="auto">
                  <a:xfrm>
                    <a:off x="1773247" y="2331396"/>
                    <a:ext cx="123184" cy="115602"/>
                  </a:xfrm>
                  <a:custGeom>
                    <a:avLst/>
                    <a:gdLst>
                      <a:gd name="T0" fmla="*/ 957 w 2601"/>
                      <a:gd name="T1" fmla="*/ 2492 h 2528"/>
                      <a:gd name="T2" fmla="*/ 48 w 2601"/>
                      <a:gd name="T3" fmla="*/ 1645 h 2528"/>
                      <a:gd name="T4" fmla="*/ 1 w 2601"/>
                      <a:gd name="T5" fmla="*/ 1257 h 2528"/>
                      <a:gd name="T6" fmla="*/ 46 w 2601"/>
                      <a:gd name="T7" fmla="*/ 885 h 2528"/>
                      <a:gd name="T8" fmla="*/ 366 w 2601"/>
                      <a:gd name="T9" fmla="*/ 382 h 2528"/>
                      <a:gd name="T10" fmla="*/ 1143 w 2601"/>
                      <a:gd name="T11" fmla="*/ 15 h 2528"/>
                      <a:gd name="T12" fmla="*/ 1717 w 2601"/>
                      <a:gd name="T13" fmla="*/ 97 h 2528"/>
                      <a:gd name="T14" fmla="*/ 2112 w 2601"/>
                      <a:gd name="T15" fmla="*/ 355 h 2528"/>
                      <a:gd name="T16" fmla="*/ 2443 w 2601"/>
                      <a:gd name="T17" fmla="*/ 1663 h 2528"/>
                      <a:gd name="T18" fmla="*/ 1230 w 2601"/>
                      <a:gd name="T19" fmla="*/ 2522 h 2528"/>
                      <a:gd name="T20" fmla="*/ 957 w 2601"/>
                      <a:gd name="T21" fmla="*/ 2492 h 2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01" h="2528">
                        <a:moveTo>
                          <a:pt x="957" y="2492"/>
                        </a:moveTo>
                        <a:cubicBezTo>
                          <a:pt x="534" y="2394"/>
                          <a:pt x="186" y="2070"/>
                          <a:pt x="48" y="1645"/>
                        </a:cubicBezTo>
                        <a:cubicBezTo>
                          <a:pt x="4" y="1511"/>
                          <a:pt x="0" y="1479"/>
                          <a:pt x="1" y="1257"/>
                        </a:cubicBezTo>
                        <a:cubicBezTo>
                          <a:pt x="1" y="1038"/>
                          <a:pt x="6" y="1003"/>
                          <a:pt x="46" y="885"/>
                        </a:cubicBezTo>
                        <a:cubicBezTo>
                          <a:pt x="126" y="655"/>
                          <a:pt x="186" y="562"/>
                          <a:pt x="366" y="382"/>
                        </a:cubicBezTo>
                        <a:cubicBezTo>
                          <a:pt x="611" y="137"/>
                          <a:pt x="826" y="36"/>
                          <a:pt x="1143" y="15"/>
                        </a:cubicBezTo>
                        <a:cubicBezTo>
                          <a:pt x="1375" y="0"/>
                          <a:pt x="1537" y="23"/>
                          <a:pt x="1717" y="97"/>
                        </a:cubicBezTo>
                        <a:cubicBezTo>
                          <a:pt x="1891" y="168"/>
                          <a:pt x="1960" y="213"/>
                          <a:pt x="2112" y="355"/>
                        </a:cubicBezTo>
                        <a:cubicBezTo>
                          <a:pt x="2473" y="694"/>
                          <a:pt x="2601" y="1199"/>
                          <a:pt x="2443" y="1663"/>
                        </a:cubicBezTo>
                        <a:cubicBezTo>
                          <a:pt x="2263" y="2192"/>
                          <a:pt x="1789" y="2528"/>
                          <a:pt x="1230" y="2522"/>
                        </a:cubicBezTo>
                        <a:cubicBezTo>
                          <a:pt x="1149" y="2521"/>
                          <a:pt x="1026" y="2508"/>
                          <a:pt x="957" y="249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57" name="Group 56"/>
                <p:cNvGrpSpPr/>
                <p:nvPr/>
              </p:nvGrpSpPr>
              <p:grpSpPr>
                <a:xfrm>
                  <a:off x="800683" y="2636673"/>
                  <a:ext cx="165322" cy="424027"/>
                  <a:chOff x="1683171" y="2153080"/>
                  <a:chExt cx="248262" cy="636756"/>
                </a:xfrm>
                <a:grpFill/>
              </p:grpSpPr>
              <p:sp>
                <p:nvSpPr>
                  <p:cNvPr id="61" name="Freeform 6"/>
                  <p:cNvSpPr>
                    <a:spLocks/>
                  </p:cNvSpPr>
                  <p:nvPr/>
                </p:nvSpPr>
                <p:spPr bwMode="auto">
                  <a:xfrm>
                    <a:off x="1683171" y="2278158"/>
                    <a:ext cx="248262" cy="511678"/>
                  </a:xfrm>
                  <a:custGeom>
                    <a:avLst/>
                    <a:gdLst>
                      <a:gd name="T0" fmla="*/ 1830 w 5294"/>
                      <a:gd name="T1" fmla="*/ 11079 h 11194"/>
                      <a:gd name="T2" fmla="*/ 1443 w 5294"/>
                      <a:gd name="T3" fmla="*/ 10774 h 11194"/>
                      <a:gd name="T4" fmla="*/ 1397 w 5294"/>
                      <a:gd name="T5" fmla="*/ 10687 h 11194"/>
                      <a:gd name="T6" fmla="*/ 1388 w 5294"/>
                      <a:gd name="T7" fmla="*/ 5945 h 11194"/>
                      <a:gd name="T8" fmla="*/ 1375 w 5294"/>
                      <a:gd name="T9" fmla="*/ 1200 h 11194"/>
                      <a:gd name="T10" fmla="*/ 1249 w 5294"/>
                      <a:gd name="T11" fmla="*/ 1145 h 11194"/>
                      <a:gd name="T12" fmla="*/ 1186 w 5294"/>
                      <a:gd name="T13" fmla="*/ 1177 h 11194"/>
                      <a:gd name="T14" fmla="*/ 1147 w 5294"/>
                      <a:gd name="T15" fmla="*/ 1209 h 11194"/>
                      <a:gd name="T16" fmla="*/ 1146 w 5294"/>
                      <a:gd name="T17" fmla="*/ 3148 h 11194"/>
                      <a:gd name="T18" fmla="*/ 1145 w 5294"/>
                      <a:gd name="T19" fmla="*/ 5087 h 11194"/>
                      <a:gd name="T20" fmla="*/ 1091 w 5294"/>
                      <a:gd name="T21" fmla="*/ 5204 h 11194"/>
                      <a:gd name="T22" fmla="*/ 805 w 5294"/>
                      <a:gd name="T23" fmla="*/ 5498 h 11194"/>
                      <a:gd name="T24" fmla="*/ 22 w 5294"/>
                      <a:gd name="T25" fmla="*/ 5112 h 11194"/>
                      <a:gd name="T26" fmla="*/ 28 w 5294"/>
                      <a:gd name="T27" fmla="*/ 881 h 11194"/>
                      <a:gd name="T28" fmla="*/ 98 w 5294"/>
                      <a:gd name="T29" fmla="*/ 699 h 11194"/>
                      <a:gd name="T30" fmla="*/ 980 w 5294"/>
                      <a:gd name="T31" fmla="*/ 27 h 11194"/>
                      <a:gd name="T32" fmla="*/ 4447 w 5294"/>
                      <a:gd name="T33" fmla="*/ 44 h 11194"/>
                      <a:gd name="T34" fmla="*/ 5046 w 5294"/>
                      <a:gd name="T35" fmla="*/ 452 h 11194"/>
                      <a:gd name="T36" fmla="*/ 5255 w 5294"/>
                      <a:gd name="T37" fmla="*/ 894 h 11194"/>
                      <a:gd name="T38" fmla="*/ 5288 w 5294"/>
                      <a:gd name="T39" fmla="*/ 3048 h 11194"/>
                      <a:gd name="T40" fmla="*/ 5178 w 5294"/>
                      <a:gd name="T41" fmla="*/ 5317 h 11194"/>
                      <a:gd name="T42" fmla="*/ 4645 w 5294"/>
                      <a:gd name="T43" fmla="*/ 5548 h 11194"/>
                      <a:gd name="T44" fmla="*/ 4324 w 5294"/>
                      <a:gd name="T45" fmla="*/ 5389 h 11194"/>
                      <a:gd name="T46" fmla="*/ 4216 w 5294"/>
                      <a:gd name="T47" fmla="*/ 5237 h 11194"/>
                      <a:gd name="T48" fmla="*/ 4163 w 5294"/>
                      <a:gd name="T49" fmla="*/ 5137 h 11194"/>
                      <a:gd name="T50" fmla="*/ 4155 w 5294"/>
                      <a:gd name="T51" fmla="*/ 3181 h 11194"/>
                      <a:gd name="T52" fmla="*/ 4147 w 5294"/>
                      <a:gd name="T53" fmla="*/ 1226 h 11194"/>
                      <a:gd name="T54" fmla="*/ 4100 w 5294"/>
                      <a:gd name="T55" fmla="*/ 1185 h 11194"/>
                      <a:gd name="T56" fmla="*/ 3949 w 5294"/>
                      <a:gd name="T57" fmla="*/ 1180 h 11194"/>
                      <a:gd name="T58" fmla="*/ 3905 w 5294"/>
                      <a:gd name="T59" fmla="*/ 1214 h 11194"/>
                      <a:gd name="T60" fmla="*/ 3901 w 5294"/>
                      <a:gd name="T61" fmla="*/ 5943 h 11194"/>
                      <a:gd name="T62" fmla="*/ 3897 w 5294"/>
                      <a:gd name="T63" fmla="*/ 10672 h 11194"/>
                      <a:gd name="T64" fmla="*/ 3839 w 5294"/>
                      <a:gd name="T65" fmla="*/ 10785 h 11194"/>
                      <a:gd name="T66" fmla="*/ 2975 w 5294"/>
                      <a:gd name="T67" fmla="*/ 10954 h 11194"/>
                      <a:gd name="T68" fmla="*/ 2794 w 5294"/>
                      <a:gd name="T69" fmla="*/ 10704 h 11194"/>
                      <a:gd name="T70" fmla="*/ 2772 w 5294"/>
                      <a:gd name="T71" fmla="*/ 8135 h 11194"/>
                      <a:gd name="T72" fmla="*/ 2740 w 5294"/>
                      <a:gd name="T73" fmla="*/ 5589 h 11194"/>
                      <a:gd name="T74" fmla="*/ 2640 w 5294"/>
                      <a:gd name="T75" fmla="*/ 5565 h 11194"/>
                      <a:gd name="T76" fmla="*/ 2543 w 5294"/>
                      <a:gd name="T77" fmla="*/ 5612 h 11194"/>
                      <a:gd name="T78" fmla="*/ 2522 w 5294"/>
                      <a:gd name="T79" fmla="*/ 8129 h 11194"/>
                      <a:gd name="T80" fmla="*/ 2522 w 5294"/>
                      <a:gd name="T81" fmla="*/ 10605 h 11194"/>
                      <a:gd name="T82" fmla="*/ 2485 w 5294"/>
                      <a:gd name="T83" fmla="*/ 10713 h 11194"/>
                      <a:gd name="T84" fmla="*/ 2139 w 5294"/>
                      <a:gd name="T85" fmla="*/ 11059 h 11194"/>
                      <a:gd name="T86" fmla="*/ 1830 w 5294"/>
                      <a:gd name="T87" fmla="*/ 11079 h 1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294" h="11194">
                        <a:moveTo>
                          <a:pt x="1830" y="11079"/>
                        </a:moveTo>
                        <a:cubicBezTo>
                          <a:pt x="1659" y="11035"/>
                          <a:pt x="1523" y="10927"/>
                          <a:pt x="1443" y="10774"/>
                        </a:cubicBezTo>
                        <a:lnTo>
                          <a:pt x="1397" y="10687"/>
                        </a:lnTo>
                        <a:lnTo>
                          <a:pt x="1388" y="5945"/>
                        </a:lnTo>
                        <a:cubicBezTo>
                          <a:pt x="1383" y="3337"/>
                          <a:pt x="1378" y="1202"/>
                          <a:pt x="1375" y="1200"/>
                        </a:cubicBezTo>
                        <a:cubicBezTo>
                          <a:pt x="1360" y="1185"/>
                          <a:pt x="1269" y="1145"/>
                          <a:pt x="1249" y="1145"/>
                        </a:cubicBezTo>
                        <a:cubicBezTo>
                          <a:pt x="1236" y="1145"/>
                          <a:pt x="1208" y="1159"/>
                          <a:pt x="1186" y="1177"/>
                        </a:cubicBezTo>
                        <a:lnTo>
                          <a:pt x="1147" y="1209"/>
                        </a:lnTo>
                        <a:lnTo>
                          <a:pt x="1146" y="3148"/>
                        </a:lnTo>
                        <a:lnTo>
                          <a:pt x="1145" y="5087"/>
                        </a:lnTo>
                        <a:lnTo>
                          <a:pt x="1091" y="5204"/>
                        </a:lnTo>
                        <a:cubicBezTo>
                          <a:pt x="1022" y="5351"/>
                          <a:pt x="942" y="5434"/>
                          <a:pt x="805" y="5498"/>
                        </a:cubicBezTo>
                        <a:cubicBezTo>
                          <a:pt x="483" y="5647"/>
                          <a:pt x="95" y="5456"/>
                          <a:pt x="22" y="5112"/>
                        </a:cubicBezTo>
                        <a:cubicBezTo>
                          <a:pt x="0" y="5006"/>
                          <a:pt x="5" y="978"/>
                          <a:pt x="28" y="881"/>
                        </a:cubicBezTo>
                        <a:cubicBezTo>
                          <a:pt x="35" y="850"/>
                          <a:pt x="67" y="768"/>
                          <a:pt x="98" y="699"/>
                        </a:cubicBezTo>
                        <a:cubicBezTo>
                          <a:pt x="266" y="331"/>
                          <a:pt x="605" y="72"/>
                          <a:pt x="980" y="27"/>
                        </a:cubicBezTo>
                        <a:cubicBezTo>
                          <a:pt x="1195" y="0"/>
                          <a:pt x="4363" y="16"/>
                          <a:pt x="4447" y="44"/>
                        </a:cubicBezTo>
                        <a:cubicBezTo>
                          <a:pt x="4693" y="125"/>
                          <a:pt x="4915" y="276"/>
                          <a:pt x="5046" y="452"/>
                        </a:cubicBezTo>
                        <a:cubicBezTo>
                          <a:pt x="5166" y="613"/>
                          <a:pt x="5215" y="716"/>
                          <a:pt x="5255" y="894"/>
                        </a:cubicBezTo>
                        <a:cubicBezTo>
                          <a:pt x="5287" y="1041"/>
                          <a:pt x="5288" y="1100"/>
                          <a:pt x="5288" y="3048"/>
                        </a:cubicBezTo>
                        <a:cubicBezTo>
                          <a:pt x="5288" y="5271"/>
                          <a:pt x="5294" y="5158"/>
                          <a:pt x="5178" y="5317"/>
                        </a:cubicBezTo>
                        <a:cubicBezTo>
                          <a:pt x="5062" y="5478"/>
                          <a:pt x="4819" y="5583"/>
                          <a:pt x="4645" y="5548"/>
                        </a:cubicBezTo>
                        <a:cubicBezTo>
                          <a:pt x="4534" y="5525"/>
                          <a:pt x="4397" y="5457"/>
                          <a:pt x="4324" y="5389"/>
                        </a:cubicBezTo>
                        <a:cubicBezTo>
                          <a:pt x="4294" y="5360"/>
                          <a:pt x="4245" y="5292"/>
                          <a:pt x="4216" y="5237"/>
                        </a:cubicBezTo>
                        <a:lnTo>
                          <a:pt x="4163" y="5137"/>
                        </a:lnTo>
                        <a:lnTo>
                          <a:pt x="4155" y="3181"/>
                        </a:lnTo>
                        <a:lnTo>
                          <a:pt x="4147" y="1226"/>
                        </a:lnTo>
                        <a:lnTo>
                          <a:pt x="4100" y="1185"/>
                        </a:lnTo>
                        <a:cubicBezTo>
                          <a:pt x="4043" y="1136"/>
                          <a:pt x="4006" y="1135"/>
                          <a:pt x="3949" y="1180"/>
                        </a:cubicBezTo>
                        <a:lnTo>
                          <a:pt x="3905" y="1214"/>
                        </a:lnTo>
                        <a:lnTo>
                          <a:pt x="3901" y="5943"/>
                        </a:lnTo>
                        <a:lnTo>
                          <a:pt x="3897" y="10672"/>
                        </a:lnTo>
                        <a:lnTo>
                          <a:pt x="3839" y="10785"/>
                        </a:lnTo>
                        <a:cubicBezTo>
                          <a:pt x="3675" y="11109"/>
                          <a:pt x="3242" y="11194"/>
                          <a:pt x="2975" y="10954"/>
                        </a:cubicBezTo>
                        <a:cubicBezTo>
                          <a:pt x="2881" y="10869"/>
                          <a:pt x="2812" y="10774"/>
                          <a:pt x="2794" y="10704"/>
                        </a:cubicBezTo>
                        <a:cubicBezTo>
                          <a:pt x="2787" y="10676"/>
                          <a:pt x="2777" y="9520"/>
                          <a:pt x="2772" y="8135"/>
                        </a:cubicBezTo>
                        <a:cubicBezTo>
                          <a:pt x="2765" y="6000"/>
                          <a:pt x="2760" y="5613"/>
                          <a:pt x="2740" y="5589"/>
                        </a:cubicBezTo>
                        <a:cubicBezTo>
                          <a:pt x="2723" y="5568"/>
                          <a:pt x="2696" y="5562"/>
                          <a:pt x="2640" y="5565"/>
                        </a:cubicBezTo>
                        <a:cubicBezTo>
                          <a:pt x="2578" y="5569"/>
                          <a:pt x="2560" y="5578"/>
                          <a:pt x="2543" y="5612"/>
                        </a:cubicBezTo>
                        <a:cubicBezTo>
                          <a:pt x="2527" y="5645"/>
                          <a:pt x="2522" y="6173"/>
                          <a:pt x="2522" y="8129"/>
                        </a:cubicBezTo>
                        <a:lnTo>
                          <a:pt x="2522" y="10605"/>
                        </a:lnTo>
                        <a:lnTo>
                          <a:pt x="2485" y="10713"/>
                        </a:lnTo>
                        <a:cubicBezTo>
                          <a:pt x="2434" y="10865"/>
                          <a:pt x="2291" y="11008"/>
                          <a:pt x="2139" y="11059"/>
                        </a:cubicBezTo>
                        <a:cubicBezTo>
                          <a:pt x="2031" y="11096"/>
                          <a:pt x="1922" y="11103"/>
                          <a:pt x="1830" y="1107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64" name="Freeform 7"/>
                  <p:cNvSpPr>
                    <a:spLocks/>
                  </p:cNvSpPr>
                  <p:nvPr/>
                </p:nvSpPr>
                <p:spPr bwMode="auto">
                  <a:xfrm>
                    <a:off x="1747606" y="2153080"/>
                    <a:ext cx="123184" cy="115602"/>
                  </a:xfrm>
                  <a:custGeom>
                    <a:avLst/>
                    <a:gdLst>
                      <a:gd name="T0" fmla="*/ 957 w 2601"/>
                      <a:gd name="T1" fmla="*/ 2492 h 2528"/>
                      <a:gd name="T2" fmla="*/ 48 w 2601"/>
                      <a:gd name="T3" fmla="*/ 1645 h 2528"/>
                      <a:gd name="T4" fmla="*/ 1 w 2601"/>
                      <a:gd name="T5" fmla="*/ 1257 h 2528"/>
                      <a:gd name="T6" fmla="*/ 46 w 2601"/>
                      <a:gd name="T7" fmla="*/ 885 h 2528"/>
                      <a:gd name="T8" fmla="*/ 366 w 2601"/>
                      <a:gd name="T9" fmla="*/ 382 h 2528"/>
                      <a:gd name="T10" fmla="*/ 1143 w 2601"/>
                      <a:gd name="T11" fmla="*/ 15 h 2528"/>
                      <a:gd name="T12" fmla="*/ 1717 w 2601"/>
                      <a:gd name="T13" fmla="*/ 97 h 2528"/>
                      <a:gd name="T14" fmla="*/ 2112 w 2601"/>
                      <a:gd name="T15" fmla="*/ 355 h 2528"/>
                      <a:gd name="T16" fmla="*/ 2443 w 2601"/>
                      <a:gd name="T17" fmla="*/ 1663 h 2528"/>
                      <a:gd name="T18" fmla="*/ 1230 w 2601"/>
                      <a:gd name="T19" fmla="*/ 2522 h 2528"/>
                      <a:gd name="T20" fmla="*/ 957 w 2601"/>
                      <a:gd name="T21" fmla="*/ 2492 h 2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01" h="2528">
                        <a:moveTo>
                          <a:pt x="957" y="2492"/>
                        </a:moveTo>
                        <a:cubicBezTo>
                          <a:pt x="534" y="2394"/>
                          <a:pt x="186" y="2070"/>
                          <a:pt x="48" y="1645"/>
                        </a:cubicBezTo>
                        <a:cubicBezTo>
                          <a:pt x="4" y="1511"/>
                          <a:pt x="0" y="1479"/>
                          <a:pt x="1" y="1257"/>
                        </a:cubicBezTo>
                        <a:cubicBezTo>
                          <a:pt x="1" y="1038"/>
                          <a:pt x="6" y="1003"/>
                          <a:pt x="46" y="885"/>
                        </a:cubicBezTo>
                        <a:cubicBezTo>
                          <a:pt x="126" y="655"/>
                          <a:pt x="186" y="562"/>
                          <a:pt x="366" y="382"/>
                        </a:cubicBezTo>
                        <a:cubicBezTo>
                          <a:pt x="611" y="137"/>
                          <a:pt x="826" y="36"/>
                          <a:pt x="1143" y="15"/>
                        </a:cubicBezTo>
                        <a:cubicBezTo>
                          <a:pt x="1375" y="0"/>
                          <a:pt x="1537" y="23"/>
                          <a:pt x="1717" y="97"/>
                        </a:cubicBezTo>
                        <a:cubicBezTo>
                          <a:pt x="1891" y="168"/>
                          <a:pt x="1960" y="213"/>
                          <a:pt x="2112" y="355"/>
                        </a:cubicBezTo>
                        <a:cubicBezTo>
                          <a:pt x="2473" y="694"/>
                          <a:pt x="2601" y="1199"/>
                          <a:pt x="2443" y="1663"/>
                        </a:cubicBezTo>
                        <a:cubicBezTo>
                          <a:pt x="2263" y="2192"/>
                          <a:pt x="1789" y="2528"/>
                          <a:pt x="1230" y="2522"/>
                        </a:cubicBezTo>
                        <a:cubicBezTo>
                          <a:pt x="1149" y="2521"/>
                          <a:pt x="1026" y="2508"/>
                          <a:pt x="957" y="249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58" name="Group 57"/>
                <p:cNvGrpSpPr/>
                <p:nvPr/>
              </p:nvGrpSpPr>
              <p:grpSpPr>
                <a:xfrm>
                  <a:off x="992704" y="2578261"/>
                  <a:ext cx="165322" cy="424027"/>
                  <a:chOff x="1654401" y="2331396"/>
                  <a:chExt cx="248262" cy="636756"/>
                </a:xfrm>
                <a:grpFill/>
              </p:grpSpPr>
              <p:sp>
                <p:nvSpPr>
                  <p:cNvPr id="59" name="Freeform 6"/>
                  <p:cNvSpPr>
                    <a:spLocks/>
                  </p:cNvSpPr>
                  <p:nvPr/>
                </p:nvSpPr>
                <p:spPr bwMode="auto">
                  <a:xfrm>
                    <a:off x="1654401" y="2456474"/>
                    <a:ext cx="248262" cy="511678"/>
                  </a:xfrm>
                  <a:custGeom>
                    <a:avLst/>
                    <a:gdLst>
                      <a:gd name="T0" fmla="*/ 1830 w 5294"/>
                      <a:gd name="T1" fmla="*/ 11079 h 11194"/>
                      <a:gd name="T2" fmla="*/ 1443 w 5294"/>
                      <a:gd name="T3" fmla="*/ 10774 h 11194"/>
                      <a:gd name="T4" fmla="*/ 1397 w 5294"/>
                      <a:gd name="T5" fmla="*/ 10687 h 11194"/>
                      <a:gd name="T6" fmla="*/ 1388 w 5294"/>
                      <a:gd name="T7" fmla="*/ 5945 h 11194"/>
                      <a:gd name="T8" fmla="*/ 1375 w 5294"/>
                      <a:gd name="T9" fmla="*/ 1200 h 11194"/>
                      <a:gd name="T10" fmla="*/ 1249 w 5294"/>
                      <a:gd name="T11" fmla="*/ 1145 h 11194"/>
                      <a:gd name="T12" fmla="*/ 1186 w 5294"/>
                      <a:gd name="T13" fmla="*/ 1177 h 11194"/>
                      <a:gd name="T14" fmla="*/ 1147 w 5294"/>
                      <a:gd name="T15" fmla="*/ 1209 h 11194"/>
                      <a:gd name="T16" fmla="*/ 1146 w 5294"/>
                      <a:gd name="T17" fmla="*/ 3148 h 11194"/>
                      <a:gd name="T18" fmla="*/ 1145 w 5294"/>
                      <a:gd name="T19" fmla="*/ 5087 h 11194"/>
                      <a:gd name="T20" fmla="*/ 1091 w 5294"/>
                      <a:gd name="T21" fmla="*/ 5204 h 11194"/>
                      <a:gd name="T22" fmla="*/ 805 w 5294"/>
                      <a:gd name="T23" fmla="*/ 5498 h 11194"/>
                      <a:gd name="T24" fmla="*/ 22 w 5294"/>
                      <a:gd name="T25" fmla="*/ 5112 h 11194"/>
                      <a:gd name="T26" fmla="*/ 28 w 5294"/>
                      <a:gd name="T27" fmla="*/ 881 h 11194"/>
                      <a:gd name="T28" fmla="*/ 98 w 5294"/>
                      <a:gd name="T29" fmla="*/ 699 h 11194"/>
                      <a:gd name="T30" fmla="*/ 980 w 5294"/>
                      <a:gd name="T31" fmla="*/ 27 h 11194"/>
                      <a:gd name="T32" fmla="*/ 4447 w 5294"/>
                      <a:gd name="T33" fmla="*/ 44 h 11194"/>
                      <a:gd name="T34" fmla="*/ 5046 w 5294"/>
                      <a:gd name="T35" fmla="*/ 452 h 11194"/>
                      <a:gd name="T36" fmla="*/ 5255 w 5294"/>
                      <a:gd name="T37" fmla="*/ 894 h 11194"/>
                      <a:gd name="T38" fmla="*/ 5288 w 5294"/>
                      <a:gd name="T39" fmla="*/ 3048 h 11194"/>
                      <a:gd name="T40" fmla="*/ 5178 w 5294"/>
                      <a:gd name="T41" fmla="*/ 5317 h 11194"/>
                      <a:gd name="T42" fmla="*/ 4645 w 5294"/>
                      <a:gd name="T43" fmla="*/ 5548 h 11194"/>
                      <a:gd name="T44" fmla="*/ 4324 w 5294"/>
                      <a:gd name="T45" fmla="*/ 5389 h 11194"/>
                      <a:gd name="T46" fmla="*/ 4216 w 5294"/>
                      <a:gd name="T47" fmla="*/ 5237 h 11194"/>
                      <a:gd name="T48" fmla="*/ 4163 w 5294"/>
                      <a:gd name="T49" fmla="*/ 5137 h 11194"/>
                      <a:gd name="T50" fmla="*/ 4155 w 5294"/>
                      <a:gd name="T51" fmla="*/ 3181 h 11194"/>
                      <a:gd name="T52" fmla="*/ 4147 w 5294"/>
                      <a:gd name="T53" fmla="*/ 1226 h 11194"/>
                      <a:gd name="T54" fmla="*/ 4100 w 5294"/>
                      <a:gd name="T55" fmla="*/ 1185 h 11194"/>
                      <a:gd name="T56" fmla="*/ 3949 w 5294"/>
                      <a:gd name="T57" fmla="*/ 1180 h 11194"/>
                      <a:gd name="T58" fmla="*/ 3905 w 5294"/>
                      <a:gd name="T59" fmla="*/ 1214 h 11194"/>
                      <a:gd name="T60" fmla="*/ 3901 w 5294"/>
                      <a:gd name="T61" fmla="*/ 5943 h 11194"/>
                      <a:gd name="T62" fmla="*/ 3897 w 5294"/>
                      <a:gd name="T63" fmla="*/ 10672 h 11194"/>
                      <a:gd name="T64" fmla="*/ 3839 w 5294"/>
                      <a:gd name="T65" fmla="*/ 10785 h 11194"/>
                      <a:gd name="T66" fmla="*/ 2975 w 5294"/>
                      <a:gd name="T67" fmla="*/ 10954 h 11194"/>
                      <a:gd name="T68" fmla="*/ 2794 w 5294"/>
                      <a:gd name="T69" fmla="*/ 10704 h 11194"/>
                      <a:gd name="T70" fmla="*/ 2772 w 5294"/>
                      <a:gd name="T71" fmla="*/ 8135 h 11194"/>
                      <a:gd name="T72" fmla="*/ 2740 w 5294"/>
                      <a:gd name="T73" fmla="*/ 5589 h 11194"/>
                      <a:gd name="T74" fmla="*/ 2640 w 5294"/>
                      <a:gd name="T75" fmla="*/ 5565 h 11194"/>
                      <a:gd name="T76" fmla="*/ 2543 w 5294"/>
                      <a:gd name="T77" fmla="*/ 5612 h 11194"/>
                      <a:gd name="T78" fmla="*/ 2522 w 5294"/>
                      <a:gd name="T79" fmla="*/ 8129 h 11194"/>
                      <a:gd name="T80" fmla="*/ 2522 w 5294"/>
                      <a:gd name="T81" fmla="*/ 10605 h 11194"/>
                      <a:gd name="T82" fmla="*/ 2485 w 5294"/>
                      <a:gd name="T83" fmla="*/ 10713 h 11194"/>
                      <a:gd name="T84" fmla="*/ 2139 w 5294"/>
                      <a:gd name="T85" fmla="*/ 11059 h 11194"/>
                      <a:gd name="T86" fmla="*/ 1830 w 5294"/>
                      <a:gd name="T87" fmla="*/ 11079 h 1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294" h="11194">
                        <a:moveTo>
                          <a:pt x="1830" y="11079"/>
                        </a:moveTo>
                        <a:cubicBezTo>
                          <a:pt x="1659" y="11035"/>
                          <a:pt x="1523" y="10927"/>
                          <a:pt x="1443" y="10774"/>
                        </a:cubicBezTo>
                        <a:lnTo>
                          <a:pt x="1397" y="10687"/>
                        </a:lnTo>
                        <a:lnTo>
                          <a:pt x="1388" y="5945"/>
                        </a:lnTo>
                        <a:cubicBezTo>
                          <a:pt x="1383" y="3337"/>
                          <a:pt x="1378" y="1202"/>
                          <a:pt x="1375" y="1200"/>
                        </a:cubicBezTo>
                        <a:cubicBezTo>
                          <a:pt x="1360" y="1185"/>
                          <a:pt x="1269" y="1145"/>
                          <a:pt x="1249" y="1145"/>
                        </a:cubicBezTo>
                        <a:cubicBezTo>
                          <a:pt x="1236" y="1145"/>
                          <a:pt x="1208" y="1159"/>
                          <a:pt x="1186" y="1177"/>
                        </a:cubicBezTo>
                        <a:lnTo>
                          <a:pt x="1147" y="1209"/>
                        </a:lnTo>
                        <a:lnTo>
                          <a:pt x="1146" y="3148"/>
                        </a:lnTo>
                        <a:lnTo>
                          <a:pt x="1145" y="5087"/>
                        </a:lnTo>
                        <a:lnTo>
                          <a:pt x="1091" y="5204"/>
                        </a:lnTo>
                        <a:cubicBezTo>
                          <a:pt x="1022" y="5351"/>
                          <a:pt x="942" y="5434"/>
                          <a:pt x="805" y="5498"/>
                        </a:cubicBezTo>
                        <a:cubicBezTo>
                          <a:pt x="483" y="5647"/>
                          <a:pt x="95" y="5456"/>
                          <a:pt x="22" y="5112"/>
                        </a:cubicBezTo>
                        <a:cubicBezTo>
                          <a:pt x="0" y="5006"/>
                          <a:pt x="5" y="978"/>
                          <a:pt x="28" y="881"/>
                        </a:cubicBezTo>
                        <a:cubicBezTo>
                          <a:pt x="35" y="850"/>
                          <a:pt x="67" y="768"/>
                          <a:pt x="98" y="699"/>
                        </a:cubicBezTo>
                        <a:cubicBezTo>
                          <a:pt x="266" y="331"/>
                          <a:pt x="605" y="72"/>
                          <a:pt x="980" y="27"/>
                        </a:cubicBezTo>
                        <a:cubicBezTo>
                          <a:pt x="1195" y="0"/>
                          <a:pt x="4363" y="16"/>
                          <a:pt x="4447" y="44"/>
                        </a:cubicBezTo>
                        <a:cubicBezTo>
                          <a:pt x="4693" y="125"/>
                          <a:pt x="4915" y="276"/>
                          <a:pt x="5046" y="452"/>
                        </a:cubicBezTo>
                        <a:cubicBezTo>
                          <a:pt x="5166" y="613"/>
                          <a:pt x="5215" y="716"/>
                          <a:pt x="5255" y="894"/>
                        </a:cubicBezTo>
                        <a:cubicBezTo>
                          <a:pt x="5287" y="1041"/>
                          <a:pt x="5288" y="1100"/>
                          <a:pt x="5288" y="3048"/>
                        </a:cubicBezTo>
                        <a:cubicBezTo>
                          <a:pt x="5288" y="5271"/>
                          <a:pt x="5294" y="5158"/>
                          <a:pt x="5178" y="5317"/>
                        </a:cubicBezTo>
                        <a:cubicBezTo>
                          <a:pt x="5062" y="5478"/>
                          <a:pt x="4819" y="5583"/>
                          <a:pt x="4645" y="5548"/>
                        </a:cubicBezTo>
                        <a:cubicBezTo>
                          <a:pt x="4534" y="5525"/>
                          <a:pt x="4397" y="5457"/>
                          <a:pt x="4324" y="5389"/>
                        </a:cubicBezTo>
                        <a:cubicBezTo>
                          <a:pt x="4294" y="5360"/>
                          <a:pt x="4245" y="5292"/>
                          <a:pt x="4216" y="5237"/>
                        </a:cubicBezTo>
                        <a:lnTo>
                          <a:pt x="4163" y="5137"/>
                        </a:lnTo>
                        <a:lnTo>
                          <a:pt x="4155" y="3181"/>
                        </a:lnTo>
                        <a:lnTo>
                          <a:pt x="4147" y="1226"/>
                        </a:lnTo>
                        <a:lnTo>
                          <a:pt x="4100" y="1185"/>
                        </a:lnTo>
                        <a:cubicBezTo>
                          <a:pt x="4043" y="1136"/>
                          <a:pt x="4006" y="1135"/>
                          <a:pt x="3949" y="1180"/>
                        </a:cubicBezTo>
                        <a:lnTo>
                          <a:pt x="3905" y="1214"/>
                        </a:lnTo>
                        <a:lnTo>
                          <a:pt x="3901" y="5943"/>
                        </a:lnTo>
                        <a:lnTo>
                          <a:pt x="3897" y="10672"/>
                        </a:lnTo>
                        <a:lnTo>
                          <a:pt x="3839" y="10785"/>
                        </a:lnTo>
                        <a:cubicBezTo>
                          <a:pt x="3675" y="11109"/>
                          <a:pt x="3242" y="11194"/>
                          <a:pt x="2975" y="10954"/>
                        </a:cubicBezTo>
                        <a:cubicBezTo>
                          <a:pt x="2881" y="10869"/>
                          <a:pt x="2812" y="10774"/>
                          <a:pt x="2794" y="10704"/>
                        </a:cubicBezTo>
                        <a:cubicBezTo>
                          <a:pt x="2787" y="10676"/>
                          <a:pt x="2777" y="9520"/>
                          <a:pt x="2772" y="8135"/>
                        </a:cubicBezTo>
                        <a:cubicBezTo>
                          <a:pt x="2765" y="6000"/>
                          <a:pt x="2760" y="5613"/>
                          <a:pt x="2740" y="5589"/>
                        </a:cubicBezTo>
                        <a:cubicBezTo>
                          <a:pt x="2723" y="5568"/>
                          <a:pt x="2696" y="5562"/>
                          <a:pt x="2640" y="5565"/>
                        </a:cubicBezTo>
                        <a:cubicBezTo>
                          <a:pt x="2578" y="5569"/>
                          <a:pt x="2560" y="5578"/>
                          <a:pt x="2543" y="5612"/>
                        </a:cubicBezTo>
                        <a:cubicBezTo>
                          <a:pt x="2527" y="5645"/>
                          <a:pt x="2522" y="6173"/>
                          <a:pt x="2522" y="8129"/>
                        </a:cubicBezTo>
                        <a:lnTo>
                          <a:pt x="2522" y="10605"/>
                        </a:lnTo>
                        <a:lnTo>
                          <a:pt x="2485" y="10713"/>
                        </a:lnTo>
                        <a:cubicBezTo>
                          <a:pt x="2434" y="10865"/>
                          <a:pt x="2291" y="11008"/>
                          <a:pt x="2139" y="11059"/>
                        </a:cubicBezTo>
                        <a:cubicBezTo>
                          <a:pt x="2031" y="11096"/>
                          <a:pt x="1922" y="11103"/>
                          <a:pt x="1830" y="1107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60" name="Freeform 7"/>
                  <p:cNvSpPr>
                    <a:spLocks/>
                  </p:cNvSpPr>
                  <p:nvPr/>
                </p:nvSpPr>
                <p:spPr bwMode="auto">
                  <a:xfrm>
                    <a:off x="1718836" y="2331396"/>
                    <a:ext cx="123184" cy="115602"/>
                  </a:xfrm>
                  <a:custGeom>
                    <a:avLst/>
                    <a:gdLst>
                      <a:gd name="T0" fmla="*/ 957 w 2601"/>
                      <a:gd name="T1" fmla="*/ 2492 h 2528"/>
                      <a:gd name="T2" fmla="*/ 48 w 2601"/>
                      <a:gd name="T3" fmla="*/ 1645 h 2528"/>
                      <a:gd name="T4" fmla="*/ 1 w 2601"/>
                      <a:gd name="T5" fmla="*/ 1257 h 2528"/>
                      <a:gd name="T6" fmla="*/ 46 w 2601"/>
                      <a:gd name="T7" fmla="*/ 885 h 2528"/>
                      <a:gd name="T8" fmla="*/ 366 w 2601"/>
                      <a:gd name="T9" fmla="*/ 382 h 2528"/>
                      <a:gd name="T10" fmla="*/ 1143 w 2601"/>
                      <a:gd name="T11" fmla="*/ 15 h 2528"/>
                      <a:gd name="T12" fmla="*/ 1717 w 2601"/>
                      <a:gd name="T13" fmla="*/ 97 h 2528"/>
                      <a:gd name="T14" fmla="*/ 2112 w 2601"/>
                      <a:gd name="T15" fmla="*/ 355 h 2528"/>
                      <a:gd name="T16" fmla="*/ 2443 w 2601"/>
                      <a:gd name="T17" fmla="*/ 1663 h 2528"/>
                      <a:gd name="T18" fmla="*/ 1230 w 2601"/>
                      <a:gd name="T19" fmla="*/ 2522 h 2528"/>
                      <a:gd name="T20" fmla="*/ 957 w 2601"/>
                      <a:gd name="T21" fmla="*/ 2492 h 2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01" h="2528">
                        <a:moveTo>
                          <a:pt x="957" y="2492"/>
                        </a:moveTo>
                        <a:cubicBezTo>
                          <a:pt x="534" y="2394"/>
                          <a:pt x="186" y="2070"/>
                          <a:pt x="48" y="1645"/>
                        </a:cubicBezTo>
                        <a:cubicBezTo>
                          <a:pt x="4" y="1511"/>
                          <a:pt x="0" y="1479"/>
                          <a:pt x="1" y="1257"/>
                        </a:cubicBezTo>
                        <a:cubicBezTo>
                          <a:pt x="1" y="1038"/>
                          <a:pt x="6" y="1003"/>
                          <a:pt x="46" y="885"/>
                        </a:cubicBezTo>
                        <a:cubicBezTo>
                          <a:pt x="126" y="655"/>
                          <a:pt x="186" y="562"/>
                          <a:pt x="366" y="382"/>
                        </a:cubicBezTo>
                        <a:cubicBezTo>
                          <a:pt x="611" y="137"/>
                          <a:pt x="826" y="36"/>
                          <a:pt x="1143" y="15"/>
                        </a:cubicBezTo>
                        <a:cubicBezTo>
                          <a:pt x="1375" y="0"/>
                          <a:pt x="1537" y="23"/>
                          <a:pt x="1717" y="97"/>
                        </a:cubicBezTo>
                        <a:cubicBezTo>
                          <a:pt x="1891" y="168"/>
                          <a:pt x="1960" y="213"/>
                          <a:pt x="2112" y="355"/>
                        </a:cubicBezTo>
                        <a:cubicBezTo>
                          <a:pt x="2473" y="694"/>
                          <a:pt x="2601" y="1199"/>
                          <a:pt x="2443" y="1663"/>
                        </a:cubicBezTo>
                        <a:cubicBezTo>
                          <a:pt x="2263" y="2192"/>
                          <a:pt x="1789" y="2528"/>
                          <a:pt x="1230" y="2522"/>
                        </a:cubicBezTo>
                        <a:cubicBezTo>
                          <a:pt x="1149" y="2521"/>
                          <a:pt x="1026" y="2508"/>
                          <a:pt x="957" y="249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grpSp>
            <p:nvGrpSpPr>
              <p:cNvPr id="36" name="Group 35"/>
              <p:cNvGrpSpPr/>
              <p:nvPr/>
            </p:nvGrpSpPr>
            <p:grpSpPr>
              <a:xfrm>
                <a:off x="5426170" y="3314930"/>
                <a:ext cx="1342930" cy="1333658"/>
                <a:chOff x="5319174" y="3426681"/>
                <a:chExt cx="1547807" cy="1537121"/>
              </a:xfrm>
            </p:grpSpPr>
            <p:grpSp>
              <p:nvGrpSpPr>
                <p:cNvPr id="67" name="Group 66"/>
                <p:cNvGrpSpPr/>
                <p:nvPr/>
              </p:nvGrpSpPr>
              <p:grpSpPr>
                <a:xfrm>
                  <a:off x="5625363" y="3426681"/>
                  <a:ext cx="935428" cy="1090080"/>
                  <a:chOff x="788056" y="2571151"/>
                  <a:chExt cx="369970" cy="431137"/>
                </a:xfrm>
                <a:solidFill>
                  <a:schemeClr val="bg1">
                    <a:lumMod val="85000"/>
                  </a:schemeClr>
                </a:solidFill>
              </p:grpSpPr>
              <p:grpSp>
                <p:nvGrpSpPr>
                  <p:cNvPr id="68" name="Group 67"/>
                  <p:cNvGrpSpPr/>
                  <p:nvPr/>
                </p:nvGrpSpPr>
                <p:grpSpPr>
                  <a:xfrm>
                    <a:off x="788056" y="2571151"/>
                    <a:ext cx="165322" cy="424027"/>
                    <a:chOff x="1981333" y="2331396"/>
                    <a:chExt cx="248262" cy="636757"/>
                  </a:xfrm>
                  <a:grpFill/>
                </p:grpSpPr>
                <p:sp>
                  <p:nvSpPr>
                    <p:cNvPr id="72" name="Freeform 6"/>
                    <p:cNvSpPr>
                      <a:spLocks/>
                    </p:cNvSpPr>
                    <p:nvPr/>
                  </p:nvSpPr>
                  <p:spPr bwMode="auto">
                    <a:xfrm>
                      <a:off x="1981333" y="2456475"/>
                      <a:ext cx="248262" cy="511678"/>
                    </a:xfrm>
                    <a:custGeom>
                      <a:avLst/>
                      <a:gdLst>
                        <a:gd name="T0" fmla="*/ 1830 w 5294"/>
                        <a:gd name="T1" fmla="*/ 11079 h 11194"/>
                        <a:gd name="T2" fmla="*/ 1443 w 5294"/>
                        <a:gd name="T3" fmla="*/ 10774 h 11194"/>
                        <a:gd name="T4" fmla="*/ 1397 w 5294"/>
                        <a:gd name="T5" fmla="*/ 10687 h 11194"/>
                        <a:gd name="T6" fmla="*/ 1388 w 5294"/>
                        <a:gd name="T7" fmla="*/ 5945 h 11194"/>
                        <a:gd name="T8" fmla="*/ 1375 w 5294"/>
                        <a:gd name="T9" fmla="*/ 1200 h 11194"/>
                        <a:gd name="T10" fmla="*/ 1249 w 5294"/>
                        <a:gd name="T11" fmla="*/ 1145 h 11194"/>
                        <a:gd name="T12" fmla="*/ 1186 w 5294"/>
                        <a:gd name="T13" fmla="*/ 1177 h 11194"/>
                        <a:gd name="T14" fmla="*/ 1147 w 5294"/>
                        <a:gd name="T15" fmla="*/ 1209 h 11194"/>
                        <a:gd name="T16" fmla="*/ 1146 w 5294"/>
                        <a:gd name="T17" fmla="*/ 3148 h 11194"/>
                        <a:gd name="T18" fmla="*/ 1145 w 5294"/>
                        <a:gd name="T19" fmla="*/ 5087 h 11194"/>
                        <a:gd name="T20" fmla="*/ 1091 w 5294"/>
                        <a:gd name="T21" fmla="*/ 5204 h 11194"/>
                        <a:gd name="T22" fmla="*/ 805 w 5294"/>
                        <a:gd name="T23" fmla="*/ 5498 h 11194"/>
                        <a:gd name="T24" fmla="*/ 22 w 5294"/>
                        <a:gd name="T25" fmla="*/ 5112 h 11194"/>
                        <a:gd name="T26" fmla="*/ 28 w 5294"/>
                        <a:gd name="T27" fmla="*/ 881 h 11194"/>
                        <a:gd name="T28" fmla="*/ 98 w 5294"/>
                        <a:gd name="T29" fmla="*/ 699 h 11194"/>
                        <a:gd name="T30" fmla="*/ 980 w 5294"/>
                        <a:gd name="T31" fmla="*/ 27 h 11194"/>
                        <a:gd name="T32" fmla="*/ 4447 w 5294"/>
                        <a:gd name="T33" fmla="*/ 44 h 11194"/>
                        <a:gd name="T34" fmla="*/ 5046 w 5294"/>
                        <a:gd name="T35" fmla="*/ 452 h 11194"/>
                        <a:gd name="T36" fmla="*/ 5255 w 5294"/>
                        <a:gd name="T37" fmla="*/ 894 h 11194"/>
                        <a:gd name="T38" fmla="*/ 5288 w 5294"/>
                        <a:gd name="T39" fmla="*/ 3048 h 11194"/>
                        <a:gd name="T40" fmla="*/ 5178 w 5294"/>
                        <a:gd name="T41" fmla="*/ 5317 h 11194"/>
                        <a:gd name="T42" fmla="*/ 4645 w 5294"/>
                        <a:gd name="T43" fmla="*/ 5548 h 11194"/>
                        <a:gd name="T44" fmla="*/ 4324 w 5294"/>
                        <a:gd name="T45" fmla="*/ 5389 h 11194"/>
                        <a:gd name="T46" fmla="*/ 4216 w 5294"/>
                        <a:gd name="T47" fmla="*/ 5237 h 11194"/>
                        <a:gd name="T48" fmla="*/ 4163 w 5294"/>
                        <a:gd name="T49" fmla="*/ 5137 h 11194"/>
                        <a:gd name="T50" fmla="*/ 4155 w 5294"/>
                        <a:gd name="T51" fmla="*/ 3181 h 11194"/>
                        <a:gd name="T52" fmla="*/ 4147 w 5294"/>
                        <a:gd name="T53" fmla="*/ 1226 h 11194"/>
                        <a:gd name="T54" fmla="*/ 4100 w 5294"/>
                        <a:gd name="T55" fmla="*/ 1185 h 11194"/>
                        <a:gd name="T56" fmla="*/ 3949 w 5294"/>
                        <a:gd name="T57" fmla="*/ 1180 h 11194"/>
                        <a:gd name="T58" fmla="*/ 3905 w 5294"/>
                        <a:gd name="T59" fmla="*/ 1214 h 11194"/>
                        <a:gd name="T60" fmla="*/ 3901 w 5294"/>
                        <a:gd name="T61" fmla="*/ 5943 h 11194"/>
                        <a:gd name="T62" fmla="*/ 3897 w 5294"/>
                        <a:gd name="T63" fmla="*/ 10672 h 11194"/>
                        <a:gd name="T64" fmla="*/ 3839 w 5294"/>
                        <a:gd name="T65" fmla="*/ 10785 h 11194"/>
                        <a:gd name="T66" fmla="*/ 2975 w 5294"/>
                        <a:gd name="T67" fmla="*/ 10954 h 11194"/>
                        <a:gd name="T68" fmla="*/ 2794 w 5294"/>
                        <a:gd name="T69" fmla="*/ 10704 h 11194"/>
                        <a:gd name="T70" fmla="*/ 2772 w 5294"/>
                        <a:gd name="T71" fmla="*/ 8135 h 11194"/>
                        <a:gd name="T72" fmla="*/ 2740 w 5294"/>
                        <a:gd name="T73" fmla="*/ 5589 h 11194"/>
                        <a:gd name="T74" fmla="*/ 2640 w 5294"/>
                        <a:gd name="T75" fmla="*/ 5565 h 11194"/>
                        <a:gd name="T76" fmla="*/ 2543 w 5294"/>
                        <a:gd name="T77" fmla="*/ 5612 h 11194"/>
                        <a:gd name="T78" fmla="*/ 2522 w 5294"/>
                        <a:gd name="T79" fmla="*/ 8129 h 11194"/>
                        <a:gd name="T80" fmla="*/ 2522 w 5294"/>
                        <a:gd name="T81" fmla="*/ 10605 h 11194"/>
                        <a:gd name="T82" fmla="*/ 2485 w 5294"/>
                        <a:gd name="T83" fmla="*/ 10713 h 11194"/>
                        <a:gd name="T84" fmla="*/ 2139 w 5294"/>
                        <a:gd name="T85" fmla="*/ 11059 h 11194"/>
                        <a:gd name="T86" fmla="*/ 1830 w 5294"/>
                        <a:gd name="T87" fmla="*/ 11079 h 1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294" h="11194">
                          <a:moveTo>
                            <a:pt x="1830" y="11079"/>
                          </a:moveTo>
                          <a:cubicBezTo>
                            <a:pt x="1659" y="11035"/>
                            <a:pt x="1523" y="10927"/>
                            <a:pt x="1443" y="10774"/>
                          </a:cubicBezTo>
                          <a:lnTo>
                            <a:pt x="1397" y="10687"/>
                          </a:lnTo>
                          <a:lnTo>
                            <a:pt x="1388" y="5945"/>
                          </a:lnTo>
                          <a:cubicBezTo>
                            <a:pt x="1383" y="3337"/>
                            <a:pt x="1378" y="1202"/>
                            <a:pt x="1375" y="1200"/>
                          </a:cubicBezTo>
                          <a:cubicBezTo>
                            <a:pt x="1360" y="1185"/>
                            <a:pt x="1269" y="1145"/>
                            <a:pt x="1249" y="1145"/>
                          </a:cubicBezTo>
                          <a:cubicBezTo>
                            <a:pt x="1236" y="1145"/>
                            <a:pt x="1208" y="1159"/>
                            <a:pt x="1186" y="1177"/>
                          </a:cubicBezTo>
                          <a:lnTo>
                            <a:pt x="1147" y="1209"/>
                          </a:lnTo>
                          <a:lnTo>
                            <a:pt x="1146" y="3148"/>
                          </a:lnTo>
                          <a:lnTo>
                            <a:pt x="1145" y="5087"/>
                          </a:lnTo>
                          <a:lnTo>
                            <a:pt x="1091" y="5204"/>
                          </a:lnTo>
                          <a:cubicBezTo>
                            <a:pt x="1022" y="5351"/>
                            <a:pt x="942" y="5434"/>
                            <a:pt x="805" y="5498"/>
                          </a:cubicBezTo>
                          <a:cubicBezTo>
                            <a:pt x="483" y="5647"/>
                            <a:pt x="95" y="5456"/>
                            <a:pt x="22" y="5112"/>
                          </a:cubicBezTo>
                          <a:cubicBezTo>
                            <a:pt x="0" y="5006"/>
                            <a:pt x="5" y="978"/>
                            <a:pt x="28" y="881"/>
                          </a:cubicBezTo>
                          <a:cubicBezTo>
                            <a:pt x="35" y="850"/>
                            <a:pt x="67" y="768"/>
                            <a:pt x="98" y="699"/>
                          </a:cubicBezTo>
                          <a:cubicBezTo>
                            <a:pt x="266" y="331"/>
                            <a:pt x="605" y="72"/>
                            <a:pt x="980" y="27"/>
                          </a:cubicBezTo>
                          <a:cubicBezTo>
                            <a:pt x="1195" y="0"/>
                            <a:pt x="4363" y="16"/>
                            <a:pt x="4447" y="44"/>
                          </a:cubicBezTo>
                          <a:cubicBezTo>
                            <a:pt x="4693" y="125"/>
                            <a:pt x="4915" y="276"/>
                            <a:pt x="5046" y="452"/>
                          </a:cubicBezTo>
                          <a:cubicBezTo>
                            <a:pt x="5166" y="613"/>
                            <a:pt x="5215" y="716"/>
                            <a:pt x="5255" y="894"/>
                          </a:cubicBezTo>
                          <a:cubicBezTo>
                            <a:pt x="5287" y="1041"/>
                            <a:pt x="5288" y="1100"/>
                            <a:pt x="5288" y="3048"/>
                          </a:cubicBezTo>
                          <a:cubicBezTo>
                            <a:pt x="5288" y="5271"/>
                            <a:pt x="5294" y="5158"/>
                            <a:pt x="5178" y="5317"/>
                          </a:cubicBezTo>
                          <a:cubicBezTo>
                            <a:pt x="5062" y="5478"/>
                            <a:pt x="4819" y="5583"/>
                            <a:pt x="4645" y="5548"/>
                          </a:cubicBezTo>
                          <a:cubicBezTo>
                            <a:pt x="4534" y="5525"/>
                            <a:pt x="4397" y="5457"/>
                            <a:pt x="4324" y="5389"/>
                          </a:cubicBezTo>
                          <a:cubicBezTo>
                            <a:pt x="4294" y="5360"/>
                            <a:pt x="4245" y="5292"/>
                            <a:pt x="4216" y="5237"/>
                          </a:cubicBezTo>
                          <a:lnTo>
                            <a:pt x="4163" y="5137"/>
                          </a:lnTo>
                          <a:lnTo>
                            <a:pt x="4155" y="3181"/>
                          </a:lnTo>
                          <a:lnTo>
                            <a:pt x="4147" y="1226"/>
                          </a:lnTo>
                          <a:lnTo>
                            <a:pt x="4100" y="1185"/>
                          </a:lnTo>
                          <a:cubicBezTo>
                            <a:pt x="4043" y="1136"/>
                            <a:pt x="4006" y="1135"/>
                            <a:pt x="3949" y="1180"/>
                          </a:cubicBezTo>
                          <a:lnTo>
                            <a:pt x="3905" y="1214"/>
                          </a:lnTo>
                          <a:lnTo>
                            <a:pt x="3901" y="5943"/>
                          </a:lnTo>
                          <a:lnTo>
                            <a:pt x="3897" y="10672"/>
                          </a:lnTo>
                          <a:lnTo>
                            <a:pt x="3839" y="10785"/>
                          </a:lnTo>
                          <a:cubicBezTo>
                            <a:pt x="3675" y="11109"/>
                            <a:pt x="3242" y="11194"/>
                            <a:pt x="2975" y="10954"/>
                          </a:cubicBezTo>
                          <a:cubicBezTo>
                            <a:pt x="2881" y="10869"/>
                            <a:pt x="2812" y="10774"/>
                            <a:pt x="2794" y="10704"/>
                          </a:cubicBezTo>
                          <a:cubicBezTo>
                            <a:pt x="2787" y="10676"/>
                            <a:pt x="2777" y="9520"/>
                            <a:pt x="2772" y="8135"/>
                          </a:cubicBezTo>
                          <a:cubicBezTo>
                            <a:pt x="2765" y="6000"/>
                            <a:pt x="2760" y="5613"/>
                            <a:pt x="2740" y="5589"/>
                          </a:cubicBezTo>
                          <a:cubicBezTo>
                            <a:pt x="2723" y="5568"/>
                            <a:pt x="2696" y="5562"/>
                            <a:pt x="2640" y="5565"/>
                          </a:cubicBezTo>
                          <a:cubicBezTo>
                            <a:pt x="2578" y="5569"/>
                            <a:pt x="2560" y="5578"/>
                            <a:pt x="2543" y="5612"/>
                          </a:cubicBezTo>
                          <a:cubicBezTo>
                            <a:pt x="2527" y="5645"/>
                            <a:pt x="2522" y="6173"/>
                            <a:pt x="2522" y="8129"/>
                          </a:cubicBezTo>
                          <a:lnTo>
                            <a:pt x="2522" y="10605"/>
                          </a:lnTo>
                          <a:lnTo>
                            <a:pt x="2485" y="10713"/>
                          </a:lnTo>
                          <a:cubicBezTo>
                            <a:pt x="2434" y="10865"/>
                            <a:pt x="2291" y="11008"/>
                            <a:pt x="2139" y="11059"/>
                          </a:cubicBezTo>
                          <a:cubicBezTo>
                            <a:pt x="2031" y="11096"/>
                            <a:pt x="1922" y="11103"/>
                            <a:pt x="1830" y="11079"/>
                          </a:cubicBezTo>
                          <a:close/>
                        </a:path>
                      </a:pathLst>
                    </a:custGeom>
                    <a:solidFill>
                      <a:srgbClr val="544F4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73" name="Freeform 7"/>
                    <p:cNvSpPr>
                      <a:spLocks/>
                    </p:cNvSpPr>
                    <p:nvPr/>
                  </p:nvSpPr>
                  <p:spPr bwMode="auto">
                    <a:xfrm>
                      <a:off x="2045769" y="2331396"/>
                      <a:ext cx="123184" cy="115602"/>
                    </a:xfrm>
                    <a:custGeom>
                      <a:avLst/>
                      <a:gdLst>
                        <a:gd name="T0" fmla="*/ 957 w 2601"/>
                        <a:gd name="T1" fmla="*/ 2492 h 2528"/>
                        <a:gd name="T2" fmla="*/ 48 w 2601"/>
                        <a:gd name="T3" fmla="*/ 1645 h 2528"/>
                        <a:gd name="T4" fmla="*/ 1 w 2601"/>
                        <a:gd name="T5" fmla="*/ 1257 h 2528"/>
                        <a:gd name="T6" fmla="*/ 46 w 2601"/>
                        <a:gd name="T7" fmla="*/ 885 h 2528"/>
                        <a:gd name="T8" fmla="*/ 366 w 2601"/>
                        <a:gd name="T9" fmla="*/ 382 h 2528"/>
                        <a:gd name="T10" fmla="*/ 1143 w 2601"/>
                        <a:gd name="T11" fmla="*/ 15 h 2528"/>
                        <a:gd name="T12" fmla="*/ 1717 w 2601"/>
                        <a:gd name="T13" fmla="*/ 97 h 2528"/>
                        <a:gd name="T14" fmla="*/ 2112 w 2601"/>
                        <a:gd name="T15" fmla="*/ 355 h 2528"/>
                        <a:gd name="T16" fmla="*/ 2443 w 2601"/>
                        <a:gd name="T17" fmla="*/ 1663 h 2528"/>
                        <a:gd name="T18" fmla="*/ 1230 w 2601"/>
                        <a:gd name="T19" fmla="*/ 2522 h 2528"/>
                        <a:gd name="T20" fmla="*/ 957 w 2601"/>
                        <a:gd name="T21" fmla="*/ 2492 h 2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01" h="2528">
                          <a:moveTo>
                            <a:pt x="957" y="2492"/>
                          </a:moveTo>
                          <a:cubicBezTo>
                            <a:pt x="534" y="2394"/>
                            <a:pt x="186" y="2070"/>
                            <a:pt x="48" y="1645"/>
                          </a:cubicBezTo>
                          <a:cubicBezTo>
                            <a:pt x="4" y="1511"/>
                            <a:pt x="0" y="1479"/>
                            <a:pt x="1" y="1257"/>
                          </a:cubicBezTo>
                          <a:cubicBezTo>
                            <a:pt x="1" y="1038"/>
                            <a:pt x="6" y="1003"/>
                            <a:pt x="46" y="885"/>
                          </a:cubicBezTo>
                          <a:cubicBezTo>
                            <a:pt x="126" y="655"/>
                            <a:pt x="186" y="562"/>
                            <a:pt x="366" y="382"/>
                          </a:cubicBezTo>
                          <a:cubicBezTo>
                            <a:pt x="611" y="137"/>
                            <a:pt x="826" y="36"/>
                            <a:pt x="1143" y="15"/>
                          </a:cubicBezTo>
                          <a:cubicBezTo>
                            <a:pt x="1375" y="0"/>
                            <a:pt x="1537" y="23"/>
                            <a:pt x="1717" y="97"/>
                          </a:cubicBezTo>
                          <a:cubicBezTo>
                            <a:pt x="1891" y="168"/>
                            <a:pt x="1960" y="213"/>
                            <a:pt x="2112" y="355"/>
                          </a:cubicBezTo>
                          <a:cubicBezTo>
                            <a:pt x="2473" y="694"/>
                            <a:pt x="2601" y="1199"/>
                            <a:pt x="2443" y="1663"/>
                          </a:cubicBezTo>
                          <a:cubicBezTo>
                            <a:pt x="2263" y="2192"/>
                            <a:pt x="1789" y="2528"/>
                            <a:pt x="1230" y="2522"/>
                          </a:cubicBezTo>
                          <a:cubicBezTo>
                            <a:pt x="1149" y="2521"/>
                            <a:pt x="1026" y="2508"/>
                            <a:pt x="957" y="2492"/>
                          </a:cubicBezTo>
                          <a:close/>
                        </a:path>
                      </a:pathLst>
                    </a:custGeom>
                    <a:solidFill>
                      <a:srgbClr val="544F4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69" name="Group 68"/>
                  <p:cNvGrpSpPr/>
                  <p:nvPr/>
                </p:nvGrpSpPr>
                <p:grpSpPr>
                  <a:xfrm>
                    <a:off x="992704" y="2578261"/>
                    <a:ext cx="165322" cy="424027"/>
                    <a:chOff x="1654401" y="2331396"/>
                    <a:chExt cx="248262" cy="636756"/>
                  </a:xfrm>
                  <a:grpFill/>
                </p:grpSpPr>
                <p:sp>
                  <p:nvSpPr>
                    <p:cNvPr id="70" name="Freeform 6"/>
                    <p:cNvSpPr>
                      <a:spLocks/>
                    </p:cNvSpPr>
                    <p:nvPr/>
                  </p:nvSpPr>
                  <p:spPr bwMode="auto">
                    <a:xfrm>
                      <a:off x="1654401" y="2456474"/>
                      <a:ext cx="248262" cy="511678"/>
                    </a:xfrm>
                    <a:custGeom>
                      <a:avLst/>
                      <a:gdLst>
                        <a:gd name="T0" fmla="*/ 1830 w 5294"/>
                        <a:gd name="T1" fmla="*/ 11079 h 11194"/>
                        <a:gd name="T2" fmla="*/ 1443 w 5294"/>
                        <a:gd name="T3" fmla="*/ 10774 h 11194"/>
                        <a:gd name="T4" fmla="*/ 1397 w 5294"/>
                        <a:gd name="T5" fmla="*/ 10687 h 11194"/>
                        <a:gd name="T6" fmla="*/ 1388 w 5294"/>
                        <a:gd name="T7" fmla="*/ 5945 h 11194"/>
                        <a:gd name="T8" fmla="*/ 1375 w 5294"/>
                        <a:gd name="T9" fmla="*/ 1200 h 11194"/>
                        <a:gd name="T10" fmla="*/ 1249 w 5294"/>
                        <a:gd name="T11" fmla="*/ 1145 h 11194"/>
                        <a:gd name="T12" fmla="*/ 1186 w 5294"/>
                        <a:gd name="T13" fmla="*/ 1177 h 11194"/>
                        <a:gd name="T14" fmla="*/ 1147 w 5294"/>
                        <a:gd name="T15" fmla="*/ 1209 h 11194"/>
                        <a:gd name="T16" fmla="*/ 1146 w 5294"/>
                        <a:gd name="T17" fmla="*/ 3148 h 11194"/>
                        <a:gd name="T18" fmla="*/ 1145 w 5294"/>
                        <a:gd name="T19" fmla="*/ 5087 h 11194"/>
                        <a:gd name="T20" fmla="*/ 1091 w 5294"/>
                        <a:gd name="T21" fmla="*/ 5204 h 11194"/>
                        <a:gd name="T22" fmla="*/ 805 w 5294"/>
                        <a:gd name="T23" fmla="*/ 5498 h 11194"/>
                        <a:gd name="T24" fmla="*/ 22 w 5294"/>
                        <a:gd name="T25" fmla="*/ 5112 h 11194"/>
                        <a:gd name="T26" fmla="*/ 28 w 5294"/>
                        <a:gd name="T27" fmla="*/ 881 h 11194"/>
                        <a:gd name="T28" fmla="*/ 98 w 5294"/>
                        <a:gd name="T29" fmla="*/ 699 h 11194"/>
                        <a:gd name="T30" fmla="*/ 980 w 5294"/>
                        <a:gd name="T31" fmla="*/ 27 h 11194"/>
                        <a:gd name="T32" fmla="*/ 4447 w 5294"/>
                        <a:gd name="T33" fmla="*/ 44 h 11194"/>
                        <a:gd name="T34" fmla="*/ 5046 w 5294"/>
                        <a:gd name="T35" fmla="*/ 452 h 11194"/>
                        <a:gd name="T36" fmla="*/ 5255 w 5294"/>
                        <a:gd name="T37" fmla="*/ 894 h 11194"/>
                        <a:gd name="T38" fmla="*/ 5288 w 5294"/>
                        <a:gd name="T39" fmla="*/ 3048 h 11194"/>
                        <a:gd name="T40" fmla="*/ 5178 w 5294"/>
                        <a:gd name="T41" fmla="*/ 5317 h 11194"/>
                        <a:gd name="T42" fmla="*/ 4645 w 5294"/>
                        <a:gd name="T43" fmla="*/ 5548 h 11194"/>
                        <a:gd name="T44" fmla="*/ 4324 w 5294"/>
                        <a:gd name="T45" fmla="*/ 5389 h 11194"/>
                        <a:gd name="T46" fmla="*/ 4216 w 5294"/>
                        <a:gd name="T47" fmla="*/ 5237 h 11194"/>
                        <a:gd name="T48" fmla="*/ 4163 w 5294"/>
                        <a:gd name="T49" fmla="*/ 5137 h 11194"/>
                        <a:gd name="T50" fmla="*/ 4155 w 5294"/>
                        <a:gd name="T51" fmla="*/ 3181 h 11194"/>
                        <a:gd name="T52" fmla="*/ 4147 w 5294"/>
                        <a:gd name="T53" fmla="*/ 1226 h 11194"/>
                        <a:gd name="T54" fmla="*/ 4100 w 5294"/>
                        <a:gd name="T55" fmla="*/ 1185 h 11194"/>
                        <a:gd name="T56" fmla="*/ 3949 w 5294"/>
                        <a:gd name="T57" fmla="*/ 1180 h 11194"/>
                        <a:gd name="T58" fmla="*/ 3905 w 5294"/>
                        <a:gd name="T59" fmla="*/ 1214 h 11194"/>
                        <a:gd name="T60" fmla="*/ 3901 w 5294"/>
                        <a:gd name="T61" fmla="*/ 5943 h 11194"/>
                        <a:gd name="T62" fmla="*/ 3897 w 5294"/>
                        <a:gd name="T63" fmla="*/ 10672 h 11194"/>
                        <a:gd name="T64" fmla="*/ 3839 w 5294"/>
                        <a:gd name="T65" fmla="*/ 10785 h 11194"/>
                        <a:gd name="T66" fmla="*/ 2975 w 5294"/>
                        <a:gd name="T67" fmla="*/ 10954 h 11194"/>
                        <a:gd name="T68" fmla="*/ 2794 w 5294"/>
                        <a:gd name="T69" fmla="*/ 10704 h 11194"/>
                        <a:gd name="T70" fmla="*/ 2772 w 5294"/>
                        <a:gd name="T71" fmla="*/ 8135 h 11194"/>
                        <a:gd name="T72" fmla="*/ 2740 w 5294"/>
                        <a:gd name="T73" fmla="*/ 5589 h 11194"/>
                        <a:gd name="T74" fmla="*/ 2640 w 5294"/>
                        <a:gd name="T75" fmla="*/ 5565 h 11194"/>
                        <a:gd name="T76" fmla="*/ 2543 w 5294"/>
                        <a:gd name="T77" fmla="*/ 5612 h 11194"/>
                        <a:gd name="T78" fmla="*/ 2522 w 5294"/>
                        <a:gd name="T79" fmla="*/ 8129 h 11194"/>
                        <a:gd name="T80" fmla="*/ 2522 w 5294"/>
                        <a:gd name="T81" fmla="*/ 10605 h 11194"/>
                        <a:gd name="T82" fmla="*/ 2485 w 5294"/>
                        <a:gd name="T83" fmla="*/ 10713 h 11194"/>
                        <a:gd name="T84" fmla="*/ 2139 w 5294"/>
                        <a:gd name="T85" fmla="*/ 11059 h 11194"/>
                        <a:gd name="T86" fmla="*/ 1830 w 5294"/>
                        <a:gd name="T87" fmla="*/ 11079 h 1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294" h="11194">
                          <a:moveTo>
                            <a:pt x="1830" y="11079"/>
                          </a:moveTo>
                          <a:cubicBezTo>
                            <a:pt x="1659" y="11035"/>
                            <a:pt x="1523" y="10927"/>
                            <a:pt x="1443" y="10774"/>
                          </a:cubicBezTo>
                          <a:lnTo>
                            <a:pt x="1397" y="10687"/>
                          </a:lnTo>
                          <a:lnTo>
                            <a:pt x="1388" y="5945"/>
                          </a:lnTo>
                          <a:cubicBezTo>
                            <a:pt x="1383" y="3337"/>
                            <a:pt x="1378" y="1202"/>
                            <a:pt x="1375" y="1200"/>
                          </a:cubicBezTo>
                          <a:cubicBezTo>
                            <a:pt x="1360" y="1185"/>
                            <a:pt x="1269" y="1145"/>
                            <a:pt x="1249" y="1145"/>
                          </a:cubicBezTo>
                          <a:cubicBezTo>
                            <a:pt x="1236" y="1145"/>
                            <a:pt x="1208" y="1159"/>
                            <a:pt x="1186" y="1177"/>
                          </a:cubicBezTo>
                          <a:lnTo>
                            <a:pt x="1147" y="1209"/>
                          </a:lnTo>
                          <a:lnTo>
                            <a:pt x="1146" y="3148"/>
                          </a:lnTo>
                          <a:lnTo>
                            <a:pt x="1145" y="5087"/>
                          </a:lnTo>
                          <a:lnTo>
                            <a:pt x="1091" y="5204"/>
                          </a:lnTo>
                          <a:cubicBezTo>
                            <a:pt x="1022" y="5351"/>
                            <a:pt x="942" y="5434"/>
                            <a:pt x="805" y="5498"/>
                          </a:cubicBezTo>
                          <a:cubicBezTo>
                            <a:pt x="483" y="5647"/>
                            <a:pt x="95" y="5456"/>
                            <a:pt x="22" y="5112"/>
                          </a:cubicBezTo>
                          <a:cubicBezTo>
                            <a:pt x="0" y="5006"/>
                            <a:pt x="5" y="978"/>
                            <a:pt x="28" y="881"/>
                          </a:cubicBezTo>
                          <a:cubicBezTo>
                            <a:pt x="35" y="850"/>
                            <a:pt x="67" y="768"/>
                            <a:pt x="98" y="699"/>
                          </a:cubicBezTo>
                          <a:cubicBezTo>
                            <a:pt x="266" y="331"/>
                            <a:pt x="605" y="72"/>
                            <a:pt x="980" y="27"/>
                          </a:cubicBezTo>
                          <a:cubicBezTo>
                            <a:pt x="1195" y="0"/>
                            <a:pt x="4363" y="16"/>
                            <a:pt x="4447" y="44"/>
                          </a:cubicBezTo>
                          <a:cubicBezTo>
                            <a:pt x="4693" y="125"/>
                            <a:pt x="4915" y="276"/>
                            <a:pt x="5046" y="452"/>
                          </a:cubicBezTo>
                          <a:cubicBezTo>
                            <a:pt x="5166" y="613"/>
                            <a:pt x="5215" y="716"/>
                            <a:pt x="5255" y="894"/>
                          </a:cubicBezTo>
                          <a:cubicBezTo>
                            <a:pt x="5287" y="1041"/>
                            <a:pt x="5288" y="1100"/>
                            <a:pt x="5288" y="3048"/>
                          </a:cubicBezTo>
                          <a:cubicBezTo>
                            <a:pt x="5288" y="5271"/>
                            <a:pt x="5294" y="5158"/>
                            <a:pt x="5178" y="5317"/>
                          </a:cubicBezTo>
                          <a:cubicBezTo>
                            <a:pt x="5062" y="5478"/>
                            <a:pt x="4819" y="5583"/>
                            <a:pt x="4645" y="5548"/>
                          </a:cubicBezTo>
                          <a:cubicBezTo>
                            <a:pt x="4534" y="5525"/>
                            <a:pt x="4397" y="5457"/>
                            <a:pt x="4324" y="5389"/>
                          </a:cubicBezTo>
                          <a:cubicBezTo>
                            <a:pt x="4294" y="5360"/>
                            <a:pt x="4245" y="5292"/>
                            <a:pt x="4216" y="5237"/>
                          </a:cubicBezTo>
                          <a:lnTo>
                            <a:pt x="4163" y="5137"/>
                          </a:lnTo>
                          <a:lnTo>
                            <a:pt x="4155" y="3181"/>
                          </a:lnTo>
                          <a:lnTo>
                            <a:pt x="4147" y="1226"/>
                          </a:lnTo>
                          <a:lnTo>
                            <a:pt x="4100" y="1185"/>
                          </a:lnTo>
                          <a:cubicBezTo>
                            <a:pt x="4043" y="1136"/>
                            <a:pt x="4006" y="1135"/>
                            <a:pt x="3949" y="1180"/>
                          </a:cubicBezTo>
                          <a:lnTo>
                            <a:pt x="3905" y="1214"/>
                          </a:lnTo>
                          <a:lnTo>
                            <a:pt x="3901" y="5943"/>
                          </a:lnTo>
                          <a:lnTo>
                            <a:pt x="3897" y="10672"/>
                          </a:lnTo>
                          <a:lnTo>
                            <a:pt x="3839" y="10785"/>
                          </a:lnTo>
                          <a:cubicBezTo>
                            <a:pt x="3675" y="11109"/>
                            <a:pt x="3242" y="11194"/>
                            <a:pt x="2975" y="10954"/>
                          </a:cubicBezTo>
                          <a:cubicBezTo>
                            <a:pt x="2881" y="10869"/>
                            <a:pt x="2812" y="10774"/>
                            <a:pt x="2794" y="10704"/>
                          </a:cubicBezTo>
                          <a:cubicBezTo>
                            <a:pt x="2787" y="10676"/>
                            <a:pt x="2777" y="9520"/>
                            <a:pt x="2772" y="8135"/>
                          </a:cubicBezTo>
                          <a:cubicBezTo>
                            <a:pt x="2765" y="6000"/>
                            <a:pt x="2760" y="5613"/>
                            <a:pt x="2740" y="5589"/>
                          </a:cubicBezTo>
                          <a:cubicBezTo>
                            <a:pt x="2723" y="5568"/>
                            <a:pt x="2696" y="5562"/>
                            <a:pt x="2640" y="5565"/>
                          </a:cubicBezTo>
                          <a:cubicBezTo>
                            <a:pt x="2578" y="5569"/>
                            <a:pt x="2560" y="5578"/>
                            <a:pt x="2543" y="5612"/>
                          </a:cubicBezTo>
                          <a:cubicBezTo>
                            <a:pt x="2527" y="5645"/>
                            <a:pt x="2522" y="6173"/>
                            <a:pt x="2522" y="8129"/>
                          </a:cubicBezTo>
                          <a:lnTo>
                            <a:pt x="2522" y="10605"/>
                          </a:lnTo>
                          <a:lnTo>
                            <a:pt x="2485" y="10713"/>
                          </a:lnTo>
                          <a:cubicBezTo>
                            <a:pt x="2434" y="10865"/>
                            <a:pt x="2291" y="11008"/>
                            <a:pt x="2139" y="11059"/>
                          </a:cubicBezTo>
                          <a:cubicBezTo>
                            <a:pt x="2031" y="11096"/>
                            <a:pt x="1922" y="11103"/>
                            <a:pt x="1830" y="11079"/>
                          </a:cubicBezTo>
                          <a:close/>
                        </a:path>
                      </a:pathLst>
                    </a:custGeom>
                    <a:solidFill>
                      <a:srgbClr val="008A0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71" name="Freeform 7"/>
                    <p:cNvSpPr>
                      <a:spLocks/>
                    </p:cNvSpPr>
                    <p:nvPr/>
                  </p:nvSpPr>
                  <p:spPr bwMode="auto">
                    <a:xfrm>
                      <a:off x="1718836" y="2331396"/>
                      <a:ext cx="123184" cy="115602"/>
                    </a:xfrm>
                    <a:custGeom>
                      <a:avLst/>
                      <a:gdLst>
                        <a:gd name="T0" fmla="*/ 957 w 2601"/>
                        <a:gd name="T1" fmla="*/ 2492 h 2528"/>
                        <a:gd name="T2" fmla="*/ 48 w 2601"/>
                        <a:gd name="T3" fmla="*/ 1645 h 2528"/>
                        <a:gd name="T4" fmla="*/ 1 w 2601"/>
                        <a:gd name="T5" fmla="*/ 1257 h 2528"/>
                        <a:gd name="T6" fmla="*/ 46 w 2601"/>
                        <a:gd name="T7" fmla="*/ 885 h 2528"/>
                        <a:gd name="T8" fmla="*/ 366 w 2601"/>
                        <a:gd name="T9" fmla="*/ 382 h 2528"/>
                        <a:gd name="T10" fmla="*/ 1143 w 2601"/>
                        <a:gd name="T11" fmla="*/ 15 h 2528"/>
                        <a:gd name="T12" fmla="*/ 1717 w 2601"/>
                        <a:gd name="T13" fmla="*/ 97 h 2528"/>
                        <a:gd name="T14" fmla="*/ 2112 w 2601"/>
                        <a:gd name="T15" fmla="*/ 355 h 2528"/>
                        <a:gd name="T16" fmla="*/ 2443 w 2601"/>
                        <a:gd name="T17" fmla="*/ 1663 h 2528"/>
                        <a:gd name="T18" fmla="*/ 1230 w 2601"/>
                        <a:gd name="T19" fmla="*/ 2522 h 2528"/>
                        <a:gd name="T20" fmla="*/ 957 w 2601"/>
                        <a:gd name="T21" fmla="*/ 2492 h 2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01" h="2528">
                          <a:moveTo>
                            <a:pt x="957" y="2492"/>
                          </a:moveTo>
                          <a:cubicBezTo>
                            <a:pt x="534" y="2394"/>
                            <a:pt x="186" y="2070"/>
                            <a:pt x="48" y="1645"/>
                          </a:cubicBezTo>
                          <a:cubicBezTo>
                            <a:pt x="4" y="1511"/>
                            <a:pt x="0" y="1479"/>
                            <a:pt x="1" y="1257"/>
                          </a:cubicBezTo>
                          <a:cubicBezTo>
                            <a:pt x="1" y="1038"/>
                            <a:pt x="6" y="1003"/>
                            <a:pt x="46" y="885"/>
                          </a:cubicBezTo>
                          <a:cubicBezTo>
                            <a:pt x="126" y="655"/>
                            <a:pt x="186" y="562"/>
                            <a:pt x="366" y="382"/>
                          </a:cubicBezTo>
                          <a:cubicBezTo>
                            <a:pt x="611" y="137"/>
                            <a:pt x="826" y="36"/>
                            <a:pt x="1143" y="15"/>
                          </a:cubicBezTo>
                          <a:cubicBezTo>
                            <a:pt x="1375" y="0"/>
                            <a:pt x="1537" y="23"/>
                            <a:pt x="1717" y="97"/>
                          </a:cubicBezTo>
                          <a:cubicBezTo>
                            <a:pt x="1891" y="168"/>
                            <a:pt x="1960" y="213"/>
                            <a:pt x="2112" y="355"/>
                          </a:cubicBezTo>
                          <a:cubicBezTo>
                            <a:pt x="2473" y="694"/>
                            <a:pt x="2601" y="1199"/>
                            <a:pt x="2443" y="1663"/>
                          </a:cubicBezTo>
                          <a:cubicBezTo>
                            <a:pt x="2263" y="2192"/>
                            <a:pt x="1789" y="2528"/>
                            <a:pt x="1230" y="2522"/>
                          </a:cubicBezTo>
                          <a:cubicBezTo>
                            <a:pt x="1149" y="2521"/>
                            <a:pt x="1026" y="2508"/>
                            <a:pt x="957" y="2492"/>
                          </a:cubicBezTo>
                          <a:close/>
                        </a:path>
                      </a:pathLst>
                    </a:custGeom>
                    <a:solidFill>
                      <a:srgbClr val="008A0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grpSp>
              <p:nvGrpSpPr>
                <p:cNvPr id="74" name="Group 73"/>
                <p:cNvGrpSpPr/>
                <p:nvPr/>
              </p:nvGrpSpPr>
              <p:grpSpPr>
                <a:xfrm>
                  <a:off x="5319174" y="3589729"/>
                  <a:ext cx="1547807" cy="1374073"/>
                  <a:chOff x="606580" y="2571151"/>
                  <a:chExt cx="551446" cy="489549"/>
                </a:xfrm>
                <a:solidFill>
                  <a:schemeClr val="tx2"/>
                </a:solidFill>
              </p:grpSpPr>
              <p:grpSp>
                <p:nvGrpSpPr>
                  <p:cNvPr id="75" name="Group 74"/>
                  <p:cNvGrpSpPr/>
                  <p:nvPr/>
                </p:nvGrpSpPr>
                <p:grpSpPr>
                  <a:xfrm>
                    <a:off x="606580" y="2571151"/>
                    <a:ext cx="165322" cy="424027"/>
                    <a:chOff x="1708812" y="2331396"/>
                    <a:chExt cx="248262" cy="636757"/>
                  </a:xfrm>
                  <a:grpFill/>
                </p:grpSpPr>
                <p:sp>
                  <p:nvSpPr>
                    <p:cNvPr id="82" name="Freeform 6"/>
                    <p:cNvSpPr>
                      <a:spLocks/>
                    </p:cNvSpPr>
                    <p:nvPr/>
                  </p:nvSpPr>
                  <p:spPr bwMode="auto">
                    <a:xfrm>
                      <a:off x="1708812" y="2456475"/>
                      <a:ext cx="248262" cy="511678"/>
                    </a:xfrm>
                    <a:custGeom>
                      <a:avLst/>
                      <a:gdLst>
                        <a:gd name="T0" fmla="*/ 1830 w 5294"/>
                        <a:gd name="T1" fmla="*/ 11079 h 11194"/>
                        <a:gd name="T2" fmla="*/ 1443 w 5294"/>
                        <a:gd name="T3" fmla="*/ 10774 h 11194"/>
                        <a:gd name="T4" fmla="*/ 1397 w 5294"/>
                        <a:gd name="T5" fmla="*/ 10687 h 11194"/>
                        <a:gd name="T6" fmla="*/ 1388 w 5294"/>
                        <a:gd name="T7" fmla="*/ 5945 h 11194"/>
                        <a:gd name="T8" fmla="*/ 1375 w 5294"/>
                        <a:gd name="T9" fmla="*/ 1200 h 11194"/>
                        <a:gd name="T10" fmla="*/ 1249 w 5294"/>
                        <a:gd name="T11" fmla="*/ 1145 h 11194"/>
                        <a:gd name="T12" fmla="*/ 1186 w 5294"/>
                        <a:gd name="T13" fmla="*/ 1177 h 11194"/>
                        <a:gd name="T14" fmla="*/ 1147 w 5294"/>
                        <a:gd name="T15" fmla="*/ 1209 h 11194"/>
                        <a:gd name="T16" fmla="*/ 1146 w 5294"/>
                        <a:gd name="T17" fmla="*/ 3148 h 11194"/>
                        <a:gd name="T18" fmla="*/ 1145 w 5294"/>
                        <a:gd name="T19" fmla="*/ 5087 h 11194"/>
                        <a:gd name="T20" fmla="*/ 1091 w 5294"/>
                        <a:gd name="T21" fmla="*/ 5204 h 11194"/>
                        <a:gd name="T22" fmla="*/ 805 w 5294"/>
                        <a:gd name="T23" fmla="*/ 5498 h 11194"/>
                        <a:gd name="T24" fmla="*/ 22 w 5294"/>
                        <a:gd name="T25" fmla="*/ 5112 h 11194"/>
                        <a:gd name="T26" fmla="*/ 28 w 5294"/>
                        <a:gd name="T27" fmla="*/ 881 h 11194"/>
                        <a:gd name="T28" fmla="*/ 98 w 5294"/>
                        <a:gd name="T29" fmla="*/ 699 h 11194"/>
                        <a:gd name="T30" fmla="*/ 980 w 5294"/>
                        <a:gd name="T31" fmla="*/ 27 h 11194"/>
                        <a:gd name="T32" fmla="*/ 4447 w 5294"/>
                        <a:gd name="T33" fmla="*/ 44 h 11194"/>
                        <a:gd name="T34" fmla="*/ 5046 w 5294"/>
                        <a:gd name="T35" fmla="*/ 452 h 11194"/>
                        <a:gd name="T36" fmla="*/ 5255 w 5294"/>
                        <a:gd name="T37" fmla="*/ 894 h 11194"/>
                        <a:gd name="T38" fmla="*/ 5288 w 5294"/>
                        <a:gd name="T39" fmla="*/ 3048 h 11194"/>
                        <a:gd name="T40" fmla="*/ 5178 w 5294"/>
                        <a:gd name="T41" fmla="*/ 5317 h 11194"/>
                        <a:gd name="T42" fmla="*/ 4645 w 5294"/>
                        <a:gd name="T43" fmla="*/ 5548 h 11194"/>
                        <a:gd name="T44" fmla="*/ 4324 w 5294"/>
                        <a:gd name="T45" fmla="*/ 5389 h 11194"/>
                        <a:gd name="T46" fmla="*/ 4216 w 5294"/>
                        <a:gd name="T47" fmla="*/ 5237 h 11194"/>
                        <a:gd name="T48" fmla="*/ 4163 w 5294"/>
                        <a:gd name="T49" fmla="*/ 5137 h 11194"/>
                        <a:gd name="T50" fmla="*/ 4155 w 5294"/>
                        <a:gd name="T51" fmla="*/ 3181 h 11194"/>
                        <a:gd name="T52" fmla="*/ 4147 w 5294"/>
                        <a:gd name="T53" fmla="*/ 1226 h 11194"/>
                        <a:gd name="T54" fmla="*/ 4100 w 5294"/>
                        <a:gd name="T55" fmla="*/ 1185 h 11194"/>
                        <a:gd name="T56" fmla="*/ 3949 w 5294"/>
                        <a:gd name="T57" fmla="*/ 1180 h 11194"/>
                        <a:gd name="T58" fmla="*/ 3905 w 5294"/>
                        <a:gd name="T59" fmla="*/ 1214 h 11194"/>
                        <a:gd name="T60" fmla="*/ 3901 w 5294"/>
                        <a:gd name="T61" fmla="*/ 5943 h 11194"/>
                        <a:gd name="T62" fmla="*/ 3897 w 5294"/>
                        <a:gd name="T63" fmla="*/ 10672 h 11194"/>
                        <a:gd name="T64" fmla="*/ 3839 w 5294"/>
                        <a:gd name="T65" fmla="*/ 10785 h 11194"/>
                        <a:gd name="T66" fmla="*/ 2975 w 5294"/>
                        <a:gd name="T67" fmla="*/ 10954 h 11194"/>
                        <a:gd name="T68" fmla="*/ 2794 w 5294"/>
                        <a:gd name="T69" fmla="*/ 10704 h 11194"/>
                        <a:gd name="T70" fmla="*/ 2772 w 5294"/>
                        <a:gd name="T71" fmla="*/ 8135 h 11194"/>
                        <a:gd name="T72" fmla="*/ 2740 w 5294"/>
                        <a:gd name="T73" fmla="*/ 5589 h 11194"/>
                        <a:gd name="T74" fmla="*/ 2640 w 5294"/>
                        <a:gd name="T75" fmla="*/ 5565 h 11194"/>
                        <a:gd name="T76" fmla="*/ 2543 w 5294"/>
                        <a:gd name="T77" fmla="*/ 5612 h 11194"/>
                        <a:gd name="T78" fmla="*/ 2522 w 5294"/>
                        <a:gd name="T79" fmla="*/ 8129 h 11194"/>
                        <a:gd name="T80" fmla="*/ 2522 w 5294"/>
                        <a:gd name="T81" fmla="*/ 10605 h 11194"/>
                        <a:gd name="T82" fmla="*/ 2485 w 5294"/>
                        <a:gd name="T83" fmla="*/ 10713 h 11194"/>
                        <a:gd name="T84" fmla="*/ 2139 w 5294"/>
                        <a:gd name="T85" fmla="*/ 11059 h 11194"/>
                        <a:gd name="T86" fmla="*/ 1830 w 5294"/>
                        <a:gd name="T87" fmla="*/ 11079 h 1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294" h="11194">
                          <a:moveTo>
                            <a:pt x="1830" y="11079"/>
                          </a:moveTo>
                          <a:cubicBezTo>
                            <a:pt x="1659" y="11035"/>
                            <a:pt x="1523" y="10927"/>
                            <a:pt x="1443" y="10774"/>
                          </a:cubicBezTo>
                          <a:lnTo>
                            <a:pt x="1397" y="10687"/>
                          </a:lnTo>
                          <a:lnTo>
                            <a:pt x="1388" y="5945"/>
                          </a:lnTo>
                          <a:cubicBezTo>
                            <a:pt x="1383" y="3337"/>
                            <a:pt x="1378" y="1202"/>
                            <a:pt x="1375" y="1200"/>
                          </a:cubicBezTo>
                          <a:cubicBezTo>
                            <a:pt x="1360" y="1185"/>
                            <a:pt x="1269" y="1145"/>
                            <a:pt x="1249" y="1145"/>
                          </a:cubicBezTo>
                          <a:cubicBezTo>
                            <a:pt x="1236" y="1145"/>
                            <a:pt x="1208" y="1159"/>
                            <a:pt x="1186" y="1177"/>
                          </a:cubicBezTo>
                          <a:lnTo>
                            <a:pt x="1147" y="1209"/>
                          </a:lnTo>
                          <a:lnTo>
                            <a:pt x="1146" y="3148"/>
                          </a:lnTo>
                          <a:lnTo>
                            <a:pt x="1145" y="5087"/>
                          </a:lnTo>
                          <a:lnTo>
                            <a:pt x="1091" y="5204"/>
                          </a:lnTo>
                          <a:cubicBezTo>
                            <a:pt x="1022" y="5351"/>
                            <a:pt x="942" y="5434"/>
                            <a:pt x="805" y="5498"/>
                          </a:cubicBezTo>
                          <a:cubicBezTo>
                            <a:pt x="483" y="5647"/>
                            <a:pt x="95" y="5456"/>
                            <a:pt x="22" y="5112"/>
                          </a:cubicBezTo>
                          <a:cubicBezTo>
                            <a:pt x="0" y="5006"/>
                            <a:pt x="5" y="978"/>
                            <a:pt x="28" y="881"/>
                          </a:cubicBezTo>
                          <a:cubicBezTo>
                            <a:pt x="35" y="850"/>
                            <a:pt x="67" y="768"/>
                            <a:pt x="98" y="699"/>
                          </a:cubicBezTo>
                          <a:cubicBezTo>
                            <a:pt x="266" y="331"/>
                            <a:pt x="605" y="72"/>
                            <a:pt x="980" y="27"/>
                          </a:cubicBezTo>
                          <a:cubicBezTo>
                            <a:pt x="1195" y="0"/>
                            <a:pt x="4363" y="16"/>
                            <a:pt x="4447" y="44"/>
                          </a:cubicBezTo>
                          <a:cubicBezTo>
                            <a:pt x="4693" y="125"/>
                            <a:pt x="4915" y="276"/>
                            <a:pt x="5046" y="452"/>
                          </a:cubicBezTo>
                          <a:cubicBezTo>
                            <a:pt x="5166" y="613"/>
                            <a:pt x="5215" y="716"/>
                            <a:pt x="5255" y="894"/>
                          </a:cubicBezTo>
                          <a:cubicBezTo>
                            <a:pt x="5287" y="1041"/>
                            <a:pt x="5288" y="1100"/>
                            <a:pt x="5288" y="3048"/>
                          </a:cubicBezTo>
                          <a:cubicBezTo>
                            <a:pt x="5288" y="5271"/>
                            <a:pt x="5294" y="5158"/>
                            <a:pt x="5178" y="5317"/>
                          </a:cubicBezTo>
                          <a:cubicBezTo>
                            <a:pt x="5062" y="5478"/>
                            <a:pt x="4819" y="5583"/>
                            <a:pt x="4645" y="5548"/>
                          </a:cubicBezTo>
                          <a:cubicBezTo>
                            <a:pt x="4534" y="5525"/>
                            <a:pt x="4397" y="5457"/>
                            <a:pt x="4324" y="5389"/>
                          </a:cubicBezTo>
                          <a:cubicBezTo>
                            <a:pt x="4294" y="5360"/>
                            <a:pt x="4245" y="5292"/>
                            <a:pt x="4216" y="5237"/>
                          </a:cubicBezTo>
                          <a:lnTo>
                            <a:pt x="4163" y="5137"/>
                          </a:lnTo>
                          <a:lnTo>
                            <a:pt x="4155" y="3181"/>
                          </a:lnTo>
                          <a:lnTo>
                            <a:pt x="4147" y="1226"/>
                          </a:lnTo>
                          <a:lnTo>
                            <a:pt x="4100" y="1185"/>
                          </a:lnTo>
                          <a:cubicBezTo>
                            <a:pt x="4043" y="1136"/>
                            <a:pt x="4006" y="1135"/>
                            <a:pt x="3949" y="1180"/>
                          </a:cubicBezTo>
                          <a:lnTo>
                            <a:pt x="3905" y="1214"/>
                          </a:lnTo>
                          <a:lnTo>
                            <a:pt x="3901" y="5943"/>
                          </a:lnTo>
                          <a:lnTo>
                            <a:pt x="3897" y="10672"/>
                          </a:lnTo>
                          <a:lnTo>
                            <a:pt x="3839" y="10785"/>
                          </a:lnTo>
                          <a:cubicBezTo>
                            <a:pt x="3675" y="11109"/>
                            <a:pt x="3242" y="11194"/>
                            <a:pt x="2975" y="10954"/>
                          </a:cubicBezTo>
                          <a:cubicBezTo>
                            <a:pt x="2881" y="10869"/>
                            <a:pt x="2812" y="10774"/>
                            <a:pt x="2794" y="10704"/>
                          </a:cubicBezTo>
                          <a:cubicBezTo>
                            <a:pt x="2787" y="10676"/>
                            <a:pt x="2777" y="9520"/>
                            <a:pt x="2772" y="8135"/>
                          </a:cubicBezTo>
                          <a:cubicBezTo>
                            <a:pt x="2765" y="6000"/>
                            <a:pt x="2760" y="5613"/>
                            <a:pt x="2740" y="5589"/>
                          </a:cubicBezTo>
                          <a:cubicBezTo>
                            <a:pt x="2723" y="5568"/>
                            <a:pt x="2696" y="5562"/>
                            <a:pt x="2640" y="5565"/>
                          </a:cubicBezTo>
                          <a:cubicBezTo>
                            <a:pt x="2578" y="5569"/>
                            <a:pt x="2560" y="5578"/>
                            <a:pt x="2543" y="5612"/>
                          </a:cubicBezTo>
                          <a:cubicBezTo>
                            <a:pt x="2527" y="5645"/>
                            <a:pt x="2522" y="6173"/>
                            <a:pt x="2522" y="8129"/>
                          </a:cubicBezTo>
                          <a:lnTo>
                            <a:pt x="2522" y="10605"/>
                          </a:lnTo>
                          <a:lnTo>
                            <a:pt x="2485" y="10713"/>
                          </a:lnTo>
                          <a:cubicBezTo>
                            <a:pt x="2434" y="10865"/>
                            <a:pt x="2291" y="11008"/>
                            <a:pt x="2139" y="11059"/>
                          </a:cubicBezTo>
                          <a:cubicBezTo>
                            <a:pt x="2031" y="11096"/>
                            <a:pt x="1922" y="11103"/>
                            <a:pt x="1830" y="11079"/>
                          </a:cubicBezTo>
                          <a:close/>
                        </a:path>
                      </a:pathLst>
                    </a:custGeom>
                    <a:solidFill>
                      <a:srgbClr val="15717D"/>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83" name="Freeform 7"/>
                    <p:cNvSpPr>
                      <a:spLocks/>
                    </p:cNvSpPr>
                    <p:nvPr/>
                  </p:nvSpPr>
                  <p:spPr bwMode="auto">
                    <a:xfrm>
                      <a:off x="1773247" y="2331396"/>
                      <a:ext cx="123184" cy="115602"/>
                    </a:xfrm>
                    <a:custGeom>
                      <a:avLst/>
                      <a:gdLst>
                        <a:gd name="T0" fmla="*/ 957 w 2601"/>
                        <a:gd name="T1" fmla="*/ 2492 h 2528"/>
                        <a:gd name="T2" fmla="*/ 48 w 2601"/>
                        <a:gd name="T3" fmla="*/ 1645 h 2528"/>
                        <a:gd name="T4" fmla="*/ 1 w 2601"/>
                        <a:gd name="T5" fmla="*/ 1257 h 2528"/>
                        <a:gd name="T6" fmla="*/ 46 w 2601"/>
                        <a:gd name="T7" fmla="*/ 885 h 2528"/>
                        <a:gd name="T8" fmla="*/ 366 w 2601"/>
                        <a:gd name="T9" fmla="*/ 382 h 2528"/>
                        <a:gd name="T10" fmla="*/ 1143 w 2601"/>
                        <a:gd name="T11" fmla="*/ 15 h 2528"/>
                        <a:gd name="T12" fmla="*/ 1717 w 2601"/>
                        <a:gd name="T13" fmla="*/ 97 h 2528"/>
                        <a:gd name="T14" fmla="*/ 2112 w 2601"/>
                        <a:gd name="T15" fmla="*/ 355 h 2528"/>
                        <a:gd name="T16" fmla="*/ 2443 w 2601"/>
                        <a:gd name="T17" fmla="*/ 1663 h 2528"/>
                        <a:gd name="T18" fmla="*/ 1230 w 2601"/>
                        <a:gd name="T19" fmla="*/ 2522 h 2528"/>
                        <a:gd name="T20" fmla="*/ 957 w 2601"/>
                        <a:gd name="T21" fmla="*/ 2492 h 2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01" h="2528">
                          <a:moveTo>
                            <a:pt x="957" y="2492"/>
                          </a:moveTo>
                          <a:cubicBezTo>
                            <a:pt x="534" y="2394"/>
                            <a:pt x="186" y="2070"/>
                            <a:pt x="48" y="1645"/>
                          </a:cubicBezTo>
                          <a:cubicBezTo>
                            <a:pt x="4" y="1511"/>
                            <a:pt x="0" y="1479"/>
                            <a:pt x="1" y="1257"/>
                          </a:cubicBezTo>
                          <a:cubicBezTo>
                            <a:pt x="1" y="1038"/>
                            <a:pt x="6" y="1003"/>
                            <a:pt x="46" y="885"/>
                          </a:cubicBezTo>
                          <a:cubicBezTo>
                            <a:pt x="126" y="655"/>
                            <a:pt x="186" y="562"/>
                            <a:pt x="366" y="382"/>
                          </a:cubicBezTo>
                          <a:cubicBezTo>
                            <a:pt x="611" y="137"/>
                            <a:pt x="826" y="36"/>
                            <a:pt x="1143" y="15"/>
                          </a:cubicBezTo>
                          <a:cubicBezTo>
                            <a:pt x="1375" y="0"/>
                            <a:pt x="1537" y="23"/>
                            <a:pt x="1717" y="97"/>
                          </a:cubicBezTo>
                          <a:cubicBezTo>
                            <a:pt x="1891" y="168"/>
                            <a:pt x="1960" y="213"/>
                            <a:pt x="2112" y="355"/>
                          </a:cubicBezTo>
                          <a:cubicBezTo>
                            <a:pt x="2473" y="694"/>
                            <a:pt x="2601" y="1199"/>
                            <a:pt x="2443" y="1663"/>
                          </a:cubicBezTo>
                          <a:cubicBezTo>
                            <a:pt x="2263" y="2192"/>
                            <a:pt x="1789" y="2528"/>
                            <a:pt x="1230" y="2522"/>
                          </a:cubicBezTo>
                          <a:cubicBezTo>
                            <a:pt x="1149" y="2521"/>
                            <a:pt x="1026" y="2508"/>
                            <a:pt x="957" y="2492"/>
                          </a:cubicBezTo>
                          <a:close/>
                        </a:path>
                      </a:pathLst>
                    </a:custGeom>
                    <a:solidFill>
                      <a:srgbClr val="15717D"/>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76" name="Group 75"/>
                  <p:cNvGrpSpPr/>
                  <p:nvPr/>
                </p:nvGrpSpPr>
                <p:grpSpPr>
                  <a:xfrm>
                    <a:off x="800683" y="2636673"/>
                    <a:ext cx="165322" cy="424027"/>
                    <a:chOff x="1683171" y="2153080"/>
                    <a:chExt cx="248262" cy="636756"/>
                  </a:xfrm>
                  <a:grpFill/>
                </p:grpSpPr>
                <p:sp>
                  <p:nvSpPr>
                    <p:cNvPr id="80" name="Freeform 6"/>
                    <p:cNvSpPr>
                      <a:spLocks/>
                    </p:cNvSpPr>
                    <p:nvPr/>
                  </p:nvSpPr>
                  <p:spPr bwMode="auto">
                    <a:xfrm>
                      <a:off x="1683171" y="2278158"/>
                      <a:ext cx="248262" cy="511678"/>
                    </a:xfrm>
                    <a:custGeom>
                      <a:avLst/>
                      <a:gdLst>
                        <a:gd name="T0" fmla="*/ 1830 w 5294"/>
                        <a:gd name="T1" fmla="*/ 11079 h 11194"/>
                        <a:gd name="T2" fmla="*/ 1443 w 5294"/>
                        <a:gd name="T3" fmla="*/ 10774 h 11194"/>
                        <a:gd name="T4" fmla="*/ 1397 w 5294"/>
                        <a:gd name="T5" fmla="*/ 10687 h 11194"/>
                        <a:gd name="T6" fmla="*/ 1388 w 5294"/>
                        <a:gd name="T7" fmla="*/ 5945 h 11194"/>
                        <a:gd name="T8" fmla="*/ 1375 w 5294"/>
                        <a:gd name="T9" fmla="*/ 1200 h 11194"/>
                        <a:gd name="T10" fmla="*/ 1249 w 5294"/>
                        <a:gd name="T11" fmla="*/ 1145 h 11194"/>
                        <a:gd name="T12" fmla="*/ 1186 w 5294"/>
                        <a:gd name="T13" fmla="*/ 1177 h 11194"/>
                        <a:gd name="T14" fmla="*/ 1147 w 5294"/>
                        <a:gd name="T15" fmla="*/ 1209 h 11194"/>
                        <a:gd name="T16" fmla="*/ 1146 w 5294"/>
                        <a:gd name="T17" fmla="*/ 3148 h 11194"/>
                        <a:gd name="T18" fmla="*/ 1145 w 5294"/>
                        <a:gd name="T19" fmla="*/ 5087 h 11194"/>
                        <a:gd name="T20" fmla="*/ 1091 w 5294"/>
                        <a:gd name="T21" fmla="*/ 5204 h 11194"/>
                        <a:gd name="T22" fmla="*/ 805 w 5294"/>
                        <a:gd name="T23" fmla="*/ 5498 h 11194"/>
                        <a:gd name="T24" fmla="*/ 22 w 5294"/>
                        <a:gd name="T25" fmla="*/ 5112 h 11194"/>
                        <a:gd name="T26" fmla="*/ 28 w 5294"/>
                        <a:gd name="T27" fmla="*/ 881 h 11194"/>
                        <a:gd name="T28" fmla="*/ 98 w 5294"/>
                        <a:gd name="T29" fmla="*/ 699 h 11194"/>
                        <a:gd name="T30" fmla="*/ 980 w 5294"/>
                        <a:gd name="T31" fmla="*/ 27 h 11194"/>
                        <a:gd name="T32" fmla="*/ 4447 w 5294"/>
                        <a:gd name="T33" fmla="*/ 44 h 11194"/>
                        <a:gd name="T34" fmla="*/ 5046 w 5294"/>
                        <a:gd name="T35" fmla="*/ 452 h 11194"/>
                        <a:gd name="T36" fmla="*/ 5255 w 5294"/>
                        <a:gd name="T37" fmla="*/ 894 h 11194"/>
                        <a:gd name="T38" fmla="*/ 5288 w 5294"/>
                        <a:gd name="T39" fmla="*/ 3048 h 11194"/>
                        <a:gd name="T40" fmla="*/ 5178 w 5294"/>
                        <a:gd name="T41" fmla="*/ 5317 h 11194"/>
                        <a:gd name="T42" fmla="*/ 4645 w 5294"/>
                        <a:gd name="T43" fmla="*/ 5548 h 11194"/>
                        <a:gd name="T44" fmla="*/ 4324 w 5294"/>
                        <a:gd name="T45" fmla="*/ 5389 h 11194"/>
                        <a:gd name="T46" fmla="*/ 4216 w 5294"/>
                        <a:gd name="T47" fmla="*/ 5237 h 11194"/>
                        <a:gd name="T48" fmla="*/ 4163 w 5294"/>
                        <a:gd name="T49" fmla="*/ 5137 h 11194"/>
                        <a:gd name="T50" fmla="*/ 4155 w 5294"/>
                        <a:gd name="T51" fmla="*/ 3181 h 11194"/>
                        <a:gd name="T52" fmla="*/ 4147 w 5294"/>
                        <a:gd name="T53" fmla="*/ 1226 h 11194"/>
                        <a:gd name="T54" fmla="*/ 4100 w 5294"/>
                        <a:gd name="T55" fmla="*/ 1185 h 11194"/>
                        <a:gd name="T56" fmla="*/ 3949 w 5294"/>
                        <a:gd name="T57" fmla="*/ 1180 h 11194"/>
                        <a:gd name="T58" fmla="*/ 3905 w 5294"/>
                        <a:gd name="T59" fmla="*/ 1214 h 11194"/>
                        <a:gd name="T60" fmla="*/ 3901 w 5294"/>
                        <a:gd name="T61" fmla="*/ 5943 h 11194"/>
                        <a:gd name="T62" fmla="*/ 3897 w 5294"/>
                        <a:gd name="T63" fmla="*/ 10672 h 11194"/>
                        <a:gd name="T64" fmla="*/ 3839 w 5294"/>
                        <a:gd name="T65" fmla="*/ 10785 h 11194"/>
                        <a:gd name="T66" fmla="*/ 2975 w 5294"/>
                        <a:gd name="T67" fmla="*/ 10954 h 11194"/>
                        <a:gd name="T68" fmla="*/ 2794 w 5294"/>
                        <a:gd name="T69" fmla="*/ 10704 h 11194"/>
                        <a:gd name="T70" fmla="*/ 2772 w 5294"/>
                        <a:gd name="T71" fmla="*/ 8135 h 11194"/>
                        <a:gd name="T72" fmla="*/ 2740 w 5294"/>
                        <a:gd name="T73" fmla="*/ 5589 h 11194"/>
                        <a:gd name="T74" fmla="*/ 2640 w 5294"/>
                        <a:gd name="T75" fmla="*/ 5565 h 11194"/>
                        <a:gd name="T76" fmla="*/ 2543 w 5294"/>
                        <a:gd name="T77" fmla="*/ 5612 h 11194"/>
                        <a:gd name="T78" fmla="*/ 2522 w 5294"/>
                        <a:gd name="T79" fmla="*/ 8129 h 11194"/>
                        <a:gd name="T80" fmla="*/ 2522 w 5294"/>
                        <a:gd name="T81" fmla="*/ 10605 h 11194"/>
                        <a:gd name="T82" fmla="*/ 2485 w 5294"/>
                        <a:gd name="T83" fmla="*/ 10713 h 11194"/>
                        <a:gd name="T84" fmla="*/ 2139 w 5294"/>
                        <a:gd name="T85" fmla="*/ 11059 h 11194"/>
                        <a:gd name="T86" fmla="*/ 1830 w 5294"/>
                        <a:gd name="T87" fmla="*/ 11079 h 1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294" h="11194">
                          <a:moveTo>
                            <a:pt x="1830" y="11079"/>
                          </a:moveTo>
                          <a:cubicBezTo>
                            <a:pt x="1659" y="11035"/>
                            <a:pt x="1523" y="10927"/>
                            <a:pt x="1443" y="10774"/>
                          </a:cubicBezTo>
                          <a:lnTo>
                            <a:pt x="1397" y="10687"/>
                          </a:lnTo>
                          <a:lnTo>
                            <a:pt x="1388" y="5945"/>
                          </a:lnTo>
                          <a:cubicBezTo>
                            <a:pt x="1383" y="3337"/>
                            <a:pt x="1378" y="1202"/>
                            <a:pt x="1375" y="1200"/>
                          </a:cubicBezTo>
                          <a:cubicBezTo>
                            <a:pt x="1360" y="1185"/>
                            <a:pt x="1269" y="1145"/>
                            <a:pt x="1249" y="1145"/>
                          </a:cubicBezTo>
                          <a:cubicBezTo>
                            <a:pt x="1236" y="1145"/>
                            <a:pt x="1208" y="1159"/>
                            <a:pt x="1186" y="1177"/>
                          </a:cubicBezTo>
                          <a:lnTo>
                            <a:pt x="1147" y="1209"/>
                          </a:lnTo>
                          <a:lnTo>
                            <a:pt x="1146" y="3148"/>
                          </a:lnTo>
                          <a:lnTo>
                            <a:pt x="1145" y="5087"/>
                          </a:lnTo>
                          <a:lnTo>
                            <a:pt x="1091" y="5204"/>
                          </a:lnTo>
                          <a:cubicBezTo>
                            <a:pt x="1022" y="5351"/>
                            <a:pt x="942" y="5434"/>
                            <a:pt x="805" y="5498"/>
                          </a:cubicBezTo>
                          <a:cubicBezTo>
                            <a:pt x="483" y="5647"/>
                            <a:pt x="95" y="5456"/>
                            <a:pt x="22" y="5112"/>
                          </a:cubicBezTo>
                          <a:cubicBezTo>
                            <a:pt x="0" y="5006"/>
                            <a:pt x="5" y="978"/>
                            <a:pt x="28" y="881"/>
                          </a:cubicBezTo>
                          <a:cubicBezTo>
                            <a:pt x="35" y="850"/>
                            <a:pt x="67" y="768"/>
                            <a:pt x="98" y="699"/>
                          </a:cubicBezTo>
                          <a:cubicBezTo>
                            <a:pt x="266" y="331"/>
                            <a:pt x="605" y="72"/>
                            <a:pt x="980" y="27"/>
                          </a:cubicBezTo>
                          <a:cubicBezTo>
                            <a:pt x="1195" y="0"/>
                            <a:pt x="4363" y="16"/>
                            <a:pt x="4447" y="44"/>
                          </a:cubicBezTo>
                          <a:cubicBezTo>
                            <a:pt x="4693" y="125"/>
                            <a:pt x="4915" y="276"/>
                            <a:pt x="5046" y="452"/>
                          </a:cubicBezTo>
                          <a:cubicBezTo>
                            <a:pt x="5166" y="613"/>
                            <a:pt x="5215" y="716"/>
                            <a:pt x="5255" y="894"/>
                          </a:cubicBezTo>
                          <a:cubicBezTo>
                            <a:pt x="5287" y="1041"/>
                            <a:pt x="5288" y="1100"/>
                            <a:pt x="5288" y="3048"/>
                          </a:cubicBezTo>
                          <a:cubicBezTo>
                            <a:pt x="5288" y="5271"/>
                            <a:pt x="5294" y="5158"/>
                            <a:pt x="5178" y="5317"/>
                          </a:cubicBezTo>
                          <a:cubicBezTo>
                            <a:pt x="5062" y="5478"/>
                            <a:pt x="4819" y="5583"/>
                            <a:pt x="4645" y="5548"/>
                          </a:cubicBezTo>
                          <a:cubicBezTo>
                            <a:pt x="4534" y="5525"/>
                            <a:pt x="4397" y="5457"/>
                            <a:pt x="4324" y="5389"/>
                          </a:cubicBezTo>
                          <a:cubicBezTo>
                            <a:pt x="4294" y="5360"/>
                            <a:pt x="4245" y="5292"/>
                            <a:pt x="4216" y="5237"/>
                          </a:cubicBezTo>
                          <a:lnTo>
                            <a:pt x="4163" y="5137"/>
                          </a:lnTo>
                          <a:lnTo>
                            <a:pt x="4155" y="3181"/>
                          </a:lnTo>
                          <a:lnTo>
                            <a:pt x="4147" y="1226"/>
                          </a:lnTo>
                          <a:lnTo>
                            <a:pt x="4100" y="1185"/>
                          </a:lnTo>
                          <a:cubicBezTo>
                            <a:pt x="4043" y="1136"/>
                            <a:pt x="4006" y="1135"/>
                            <a:pt x="3949" y="1180"/>
                          </a:cubicBezTo>
                          <a:lnTo>
                            <a:pt x="3905" y="1214"/>
                          </a:lnTo>
                          <a:lnTo>
                            <a:pt x="3901" y="5943"/>
                          </a:lnTo>
                          <a:lnTo>
                            <a:pt x="3897" y="10672"/>
                          </a:lnTo>
                          <a:lnTo>
                            <a:pt x="3839" y="10785"/>
                          </a:lnTo>
                          <a:cubicBezTo>
                            <a:pt x="3675" y="11109"/>
                            <a:pt x="3242" y="11194"/>
                            <a:pt x="2975" y="10954"/>
                          </a:cubicBezTo>
                          <a:cubicBezTo>
                            <a:pt x="2881" y="10869"/>
                            <a:pt x="2812" y="10774"/>
                            <a:pt x="2794" y="10704"/>
                          </a:cubicBezTo>
                          <a:cubicBezTo>
                            <a:pt x="2787" y="10676"/>
                            <a:pt x="2777" y="9520"/>
                            <a:pt x="2772" y="8135"/>
                          </a:cubicBezTo>
                          <a:cubicBezTo>
                            <a:pt x="2765" y="6000"/>
                            <a:pt x="2760" y="5613"/>
                            <a:pt x="2740" y="5589"/>
                          </a:cubicBezTo>
                          <a:cubicBezTo>
                            <a:pt x="2723" y="5568"/>
                            <a:pt x="2696" y="5562"/>
                            <a:pt x="2640" y="5565"/>
                          </a:cubicBezTo>
                          <a:cubicBezTo>
                            <a:pt x="2578" y="5569"/>
                            <a:pt x="2560" y="5578"/>
                            <a:pt x="2543" y="5612"/>
                          </a:cubicBezTo>
                          <a:cubicBezTo>
                            <a:pt x="2527" y="5645"/>
                            <a:pt x="2522" y="6173"/>
                            <a:pt x="2522" y="8129"/>
                          </a:cubicBezTo>
                          <a:lnTo>
                            <a:pt x="2522" y="10605"/>
                          </a:lnTo>
                          <a:lnTo>
                            <a:pt x="2485" y="10713"/>
                          </a:lnTo>
                          <a:cubicBezTo>
                            <a:pt x="2434" y="10865"/>
                            <a:pt x="2291" y="11008"/>
                            <a:pt x="2139" y="11059"/>
                          </a:cubicBezTo>
                          <a:cubicBezTo>
                            <a:pt x="2031" y="11096"/>
                            <a:pt x="1922" y="11103"/>
                            <a:pt x="1830" y="1107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81" name="Freeform 7"/>
                    <p:cNvSpPr>
                      <a:spLocks/>
                    </p:cNvSpPr>
                    <p:nvPr/>
                  </p:nvSpPr>
                  <p:spPr bwMode="auto">
                    <a:xfrm>
                      <a:off x="1747606" y="2153080"/>
                      <a:ext cx="123184" cy="115602"/>
                    </a:xfrm>
                    <a:custGeom>
                      <a:avLst/>
                      <a:gdLst>
                        <a:gd name="T0" fmla="*/ 957 w 2601"/>
                        <a:gd name="T1" fmla="*/ 2492 h 2528"/>
                        <a:gd name="T2" fmla="*/ 48 w 2601"/>
                        <a:gd name="T3" fmla="*/ 1645 h 2528"/>
                        <a:gd name="T4" fmla="*/ 1 w 2601"/>
                        <a:gd name="T5" fmla="*/ 1257 h 2528"/>
                        <a:gd name="T6" fmla="*/ 46 w 2601"/>
                        <a:gd name="T7" fmla="*/ 885 h 2528"/>
                        <a:gd name="T8" fmla="*/ 366 w 2601"/>
                        <a:gd name="T9" fmla="*/ 382 h 2528"/>
                        <a:gd name="T10" fmla="*/ 1143 w 2601"/>
                        <a:gd name="T11" fmla="*/ 15 h 2528"/>
                        <a:gd name="T12" fmla="*/ 1717 w 2601"/>
                        <a:gd name="T13" fmla="*/ 97 h 2528"/>
                        <a:gd name="T14" fmla="*/ 2112 w 2601"/>
                        <a:gd name="T15" fmla="*/ 355 h 2528"/>
                        <a:gd name="T16" fmla="*/ 2443 w 2601"/>
                        <a:gd name="T17" fmla="*/ 1663 h 2528"/>
                        <a:gd name="T18" fmla="*/ 1230 w 2601"/>
                        <a:gd name="T19" fmla="*/ 2522 h 2528"/>
                        <a:gd name="T20" fmla="*/ 957 w 2601"/>
                        <a:gd name="T21" fmla="*/ 2492 h 2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01" h="2528">
                          <a:moveTo>
                            <a:pt x="957" y="2492"/>
                          </a:moveTo>
                          <a:cubicBezTo>
                            <a:pt x="534" y="2394"/>
                            <a:pt x="186" y="2070"/>
                            <a:pt x="48" y="1645"/>
                          </a:cubicBezTo>
                          <a:cubicBezTo>
                            <a:pt x="4" y="1511"/>
                            <a:pt x="0" y="1479"/>
                            <a:pt x="1" y="1257"/>
                          </a:cubicBezTo>
                          <a:cubicBezTo>
                            <a:pt x="1" y="1038"/>
                            <a:pt x="6" y="1003"/>
                            <a:pt x="46" y="885"/>
                          </a:cubicBezTo>
                          <a:cubicBezTo>
                            <a:pt x="126" y="655"/>
                            <a:pt x="186" y="562"/>
                            <a:pt x="366" y="382"/>
                          </a:cubicBezTo>
                          <a:cubicBezTo>
                            <a:pt x="611" y="137"/>
                            <a:pt x="826" y="36"/>
                            <a:pt x="1143" y="15"/>
                          </a:cubicBezTo>
                          <a:cubicBezTo>
                            <a:pt x="1375" y="0"/>
                            <a:pt x="1537" y="23"/>
                            <a:pt x="1717" y="97"/>
                          </a:cubicBezTo>
                          <a:cubicBezTo>
                            <a:pt x="1891" y="168"/>
                            <a:pt x="1960" y="213"/>
                            <a:pt x="2112" y="355"/>
                          </a:cubicBezTo>
                          <a:cubicBezTo>
                            <a:pt x="2473" y="694"/>
                            <a:pt x="2601" y="1199"/>
                            <a:pt x="2443" y="1663"/>
                          </a:cubicBezTo>
                          <a:cubicBezTo>
                            <a:pt x="2263" y="2192"/>
                            <a:pt x="1789" y="2528"/>
                            <a:pt x="1230" y="2522"/>
                          </a:cubicBezTo>
                          <a:cubicBezTo>
                            <a:pt x="1149" y="2521"/>
                            <a:pt x="1026" y="2508"/>
                            <a:pt x="957" y="249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77" name="Group 76"/>
                  <p:cNvGrpSpPr/>
                  <p:nvPr/>
                </p:nvGrpSpPr>
                <p:grpSpPr>
                  <a:xfrm>
                    <a:off x="992704" y="2578261"/>
                    <a:ext cx="165322" cy="424027"/>
                    <a:chOff x="1654401" y="2331396"/>
                    <a:chExt cx="248262" cy="636756"/>
                  </a:xfrm>
                  <a:grpFill/>
                </p:grpSpPr>
                <p:sp>
                  <p:nvSpPr>
                    <p:cNvPr id="78" name="Freeform 6"/>
                    <p:cNvSpPr>
                      <a:spLocks/>
                    </p:cNvSpPr>
                    <p:nvPr/>
                  </p:nvSpPr>
                  <p:spPr bwMode="auto">
                    <a:xfrm>
                      <a:off x="1654401" y="2456474"/>
                      <a:ext cx="248262" cy="511678"/>
                    </a:xfrm>
                    <a:custGeom>
                      <a:avLst/>
                      <a:gdLst>
                        <a:gd name="T0" fmla="*/ 1830 w 5294"/>
                        <a:gd name="T1" fmla="*/ 11079 h 11194"/>
                        <a:gd name="T2" fmla="*/ 1443 w 5294"/>
                        <a:gd name="T3" fmla="*/ 10774 h 11194"/>
                        <a:gd name="T4" fmla="*/ 1397 w 5294"/>
                        <a:gd name="T5" fmla="*/ 10687 h 11194"/>
                        <a:gd name="T6" fmla="*/ 1388 w 5294"/>
                        <a:gd name="T7" fmla="*/ 5945 h 11194"/>
                        <a:gd name="T8" fmla="*/ 1375 w 5294"/>
                        <a:gd name="T9" fmla="*/ 1200 h 11194"/>
                        <a:gd name="T10" fmla="*/ 1249 w 5294"/>
                        <a:gd name="T11" fmla="*/ 1145 h 11194"/>
                        <a:gd name="T12" fmla="*/ 1186 w 5294"/>
                        <a:gd name="T13" fmla="*/ 1177 h 11194"/>
                        <a:gd name="T14" fmla="*/ 1147 w 5294"/>
                        <a:gd name="T15" fmla="*/ 1209 h 11194"/>
                        <a:gd name="T16" fmla="*/ 1146 w 5294"/>
                        <a:gd name="T17" fmla="*/ 3148 h 11194"/>
                        <a:gd name="T18" fmla="*/ 1145 w 5294"/>
                        <a:gd name="T19" fmla="*/ 5087 h 11194"/>
                        <a:gd name="T20" fmla="*/ 1091 w 5294"/>
                        <a:gd name="T21" fmla="*/ 5204 h 11194"/>
                        <a:gd name="T22" fmla="*/ 805 w 5294"/>
                        <a:gd name="T23" fmla="*/ 5498 h 11194"/>
                        <a:gd name="T24" fmla="*/ 22 w 5294"/>
                        <a:gd name="T25" fmla="*/ 5112 h 11194"/>
                        <a:gd name="T26" fmla="*/ 28 w 5294"/>
                        <a:gd name="T27" fmla="*/ 881 h 11194"/>
                        <a:gd name="T28" fmla="*/ 98 w 5294"/>
                        <a:gd name="T29" fmla="*/ 699 h 11194"/>
                        <a:gd name="T30" fmla="*/ 980 w 5294"/>
                        <a:gd name="T31" fmla="*/ 27 h 11194"/>
                        <a:gd name="T32" fmla="*/ 4447 w 5294"/>
                        <a:gd name="T33" fmla="*/ 44 h 11194"/>
                        <a:gd name="T34" fmla="*/ 5046 w 5294"/>
                        <a:gd name="T35" fmla="*/ 452 h 11194"/>
                        <a:gd name="T36" fmla="*/ 5255 w 5294"/>
                        <a:gd name="T37" fmla="*/ 894 h 11194"/>
                        <a:gd name="T38" fmla="*/ 5288 w 5294"/>
                        <a:gd name="T39" fmla="*/ 3048 h 11194"/>
                        <a:gd name="T40" fmla="*/ 5178 w 5294"/>
                        <a:gd name="T41" fmla="*/ 5317 h 11194"/>
                        <a:gd name="T42" fmla="*/ 4645 w 5294"/>
                        <a:gd name="T43" fmla="*/ 5548 h 11194"/>
                        <a:gd name="T44" fmla="*/ 4324 w 5294"/>
                        <a:gd name="T45" fmla="*/ 5389 h 11194"/>
                        <a:gd name="T46" fmla="*/ 4216 w 5294"/>
                        <a:gd name="T47" fmla="*/ 5237 h 11194"/>
                        <a:gd name="T48" fmla="*/ 4163 w 5294"/>
                        <a:gd name="T49" fmla="*/ 5137 h 11194"/>
                        <a:gd name="T50" fmla="*/ 4155 w 5294"/>
                        <a:gd name="T51" fmla="*/ 3181 h 11194"/>
                        <a:gd name="T52" fmla="*/ 4147 w 5294"/>
                        <a:gd name="T53" fmla="*/ 1226 h 11194"/>
                        <a:gd name="T54" fmla="*/ 4100 w 5294"/>
                        <a:gd name="T55" fmla="*/ 1185 h 11194"/>
                        <a:gd name="T56" fmla="*/ 3949 w 5294"/>
                        <a:gd name="T57" fmla="*/ 1180 h 11194"/>
                        <a:gd name="T58" fmla="*/ 3905 w 5294"/>
                        <a:gd name="T59" fmla="*/ 1214 h 11194"/>
                        <a:gd name="T60" fmla="*/ 3901 w 5294"/>
                        <a:gd name="T61" fmla="*/ 5943 h 11194"/>
                        <a:gd name="T62" fmla="*/ 3897 w 5294"/>
                        <a:gd name="T63" fmla="*/ 10672 h 11194"/>
                        <a:gd name="T64" fmla="*/ 3839 w 5294"/>
                        <a:gd name="T65" fmla="*/ 10785 h 11194"/>
                        <a:gd name="T66" fmla="*/ 2975 w 5294"/>
                        <a:gd name="T67" fmla="*/ 10954 h 11194"/>
                        <a:gd name="T68" fmla="*/ 2794 w 5294"/>
                        <a:gd name="T69" fmla="*/ 10704 h 11194"/>
                        <a:gd name="T70" fmla="*/ 2772 w 5294"/>
                        <a:gd name="T71" fmla="*/ 8135 h 11194"/>
                        <a:gd name="T72" fmla="*/ 2740 w 5294"/>
                        <a:gd name="T73" fmla="*/ 5589 h 11194"/>
                        <a:gd name="T74" fmla="*/ 2640 w 5294"/>
                        <a:gd name="T75" fmla="*/ 5565 h 11194"/>
                        <a:gd name="T76" fmla="*/ 2543 w 5294"/>
                        <a:gd name="T77" fmla="*/ 5612 h 11194"/>
                        <a:gd name="T78" fmla="*/ 2522 w 5294"/>
                        <a:gd name="T79" fmla="*/ 8129 h 11194"/>
                        <a:gd name="T80" fmla="*/ 2522 w 5294"/>
                        <a:gd name="T81" fmla="*/ 10605 h 11194"/>
                        <a:gd name="T82" fmla="*/ 2485 w 5294"/>
                        <a:gd name="T83" fmla="*/ 10713 h 11194"/>
                        <a:gd name="T84" fmla="*/ 2139 w 5294"/>
                        <a:gd name="T85" fmla="*/ 11059 h 11194"/>
                        <a:gd name="T86" fmla="*/ 1830 w 5294"/>
                        <a:gd name="T87" fmla="*/ 11079 h 1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294" h="11194">
                          <a:moveTo>
                            <a:pt x="1830" y="11079"/>
                          </a:moveTo>
                          <a:cubicBezTo>
                            <a:pt x="1659" y="11035"/>
                            <a:pt x="1523" y="10927"/>
                            <a:pt x="1443" y="10774"/>
                          </a:cubicBezTo>
                          <a:lnTo>
                            <a:pt x="1397" y="10687"/>
                          </a:lnTo>
                          <a:lnTo>
                            <a:pt x="1388" y="5945"/>
                          </a:lnTo>
                          <a:cubicBezTo>
                            <a:pt x="1383" y="3337"/>
                            <a:pt x="1378" y="1202"/>
                            <a:pt x="1375" y="1200"/>
                          </a:cubicBezTo>
                          <a:cubicBezTo>
                            <a:pt x="1360" y="1185"/>
                            <a:pt x="1269" y="1145"/>
                            <a:pt x="1249" y="1145"/>
                          </a:cubicBezTo>
                          <a:cubicBezTo>
                            <a:pt x="1236" y="1145"/>
                            <a:pt x="1208" y="1159"/>
                            <a:pt x="1186" y="1177"/>
                          </a:cubicBezTo>
                          <a:lnTo>
                            <a:pt x="1147" y="1209"/>
                          </a:lnTo>
                          <a:lnTo>
                            <a:pt x="1146" y="3148"/>
                          </a:lnTo>
                          <a:lnTo>
                            <a:pt x="1145" y="5087"/>
                          </a:lnTo>
                          <a:lnTo>
                            <a:pt x="1091" y="5204"/>
                          </a:lnTo>
                          <a:cubicBezTo>
                            <a:pt x="1022" y="5351"/>
                            <a:pt x="942" y="5434"/>
                            <a:pt x="805" y="5498"/>
                          </a:cubicBezTo>
                          <a:cubicBezTo>
                            <a:pt x="483" y="5647"/>
                            <a:pt x="95" y="5456"/>
                            <a:pt x="22" y="5112"/>
                          </a:cubicBezTo>
                          <a:cubicBezTo>
                            <a:pt x="0" y="5006"/>
                            <a:pt x="5" y="978"/>
                            <a:pt x="28" y="881"/>
                          </a:cubicBezTo>
                          <a:cubicBezTo>
                            <a:pt x="35" y="850"/>
                            <a:pt x="67" y="768"/>
                            <a:pt x="98" y="699"/>
                          </a:cubicBezTo>
                          <a:cubicBezTo>
                            <a:pt x="266" y="331"/>
                            <a:pt x="605" y="72"/>
                            <a:pt x="980" y="27"/>
                          </a:cubicBezTo>
                          <a:cubicBezTo>
                            <a:pt x="1195" y="0"/>
                            <a:pt x="4363" y="16"/>
                            <a:pt x="4447" y="44"/>
                          </a:cubicBezTo>
                          <a:cubicBezTo>
                            <a:pt x="4693" y="125"/>
                            <a:pt x="4915" y="276"/>
                            <a:pt x="5046" y="452"/>
                          </a:cubicBezTo>
                          <a:cubicBezTo>
                            <a:pt x="5166" y="613"/>
                            <a:pt x="5215" y="716"/>
                            <a:pt x="5255" y="894"/>
                          </a:cubicBezTo>
                          <a:cubicBezTo>
                            <a:pt x="5287" y="1041"/>
                            <a:pt x="5288" y="1100"/>
                            <a:pt x="5288" y="3048"/>
                          </a:cubicBezTo>
                          <a:cubicBezTo>
                            <a:pt x="5288" y="5271"/>
                            <a:pt x="5294" y="5158"/>
                            <a:pt x="5178" y="5317"/>
                          </a:cubicBezTo>
                          <a:cubicBezTo>
                            <a:pt x="5062" y="5478"/>
                            <a:pt x="4819" y="5583"/>
                            <a:pt x="4645" y="5548"/>
                          </a:cubicBezTo>
                          <a:cubicBezTo>
                            <a:pt x="4534" y="5525"/>
                            <a:pt x="4397" y="5457"/>
                            <a:pt x="4324" y="5389"/>
                          </a:cubicBezTo>
                          <a:cubicBezTo>
                            <a:pt x="4294" y="5360"/>
                            <a:pt x="4245" y="5292"/>
                            <a:pt x="4216" y="5237"/>
                          </a:cubicBezTo>
                          <a:lnTo>
                            <a:pt x="4163" y="5137"/>
                          </a:lnTo>
                          <a:lnTo>
                            <a:pt x="4155" y="3181"/>
                          </a:lnTo>
                          <a:lnTo>
                            <a:pt x="4147" y="1226"/>
                          </a:lnTo>
                          <a:lnTo>
                            <a:pt x="4100" y="1185"/>
                          </a:lnTo>
                          <a:cubicBezTo>
                            <a:pt x="4043" y="1136"/>
                            <a:pt x="4006" y="1135"/>
                            <a:pt x="3949" y="1180"/>
                          </a:cubicBezTo>
                          <a:lnTo>
                            <a:pt x="3905" y="1214"/>
                          </a:lnTo>
                          <a:lnTo>
                            <a:pt x="3901" y="5943"/>
                          </a:lnTo>
                          <a:lnTo>
                            <a:pt x="3897" y="10672"/>
                          </a:lnTo>
                          <a:lnTo>
                            <a:pt x="3839" y="10785"/>
                          </a:lnTo>
                          <a:cubicBezTo>
                            <a:pt x="3675" y="11109"/>
                            <a:pt x="3242" y="11194"/>
                            <a:pt x="2975" y="10954"/>
                          </a:cubicBezTo>
                          <a:cubicBezTo>
                            <a:pt x="2881" y="10869"/>
                            <a:pt x="2812" y="10774"/>
                            <a:pt x="2794" y="10704"/>
                          </a:cubicBezTo>
                          <a:cubicBezTo>
                            <a:pt x="2787" y="10676"/>
                            <a:pt x="2777" y="9520"/>
                            <a:pt x="2772" y="8135"/>
                          </a:cubicBezTo>
                          <a:cubicBezTo>
                            <a:pt x="2765" y="6000"/>
                            <a:pt x="2760" y="5613"/>
                            <a:pt x="2740" y="5589"/>
                          </a:cubicBezTo>
                          <a:cubicBezTo>
                            <a:pt x="2723" y="5568"/>
                            <a:pt x="2696" y="5562"/>
                            <a:pt x="2640" y="5565"/>
                          </a:cubicBezTo>
                          <a:cubicBezTo>
                            <a:pt x="2578" y="5569"/>
                            <a:pt x="2560" y="5578"/>
                            <a:pt x="2543" y="5612"/>
                          </a:cubicBezTo>
                          <a:cubicBezTo>
                            <a:pt x="2527" y="5645"/>
                            <a:pt x="2522" y="6173"/>
                            <a:pt x="2522" y="8129"/>
                          </a:cubicBezTo>
                          <a:lnTo>
                            <a:pt x="2522" y="10605"/>
                          </a:lnTo>
                          <a:lnTo>
                            <a:pt x="2485" y="10713"/>
                          </a:lnTo>
                          <a:cubicBezTo>
                            <a:pt x="2434" y="10865"/>
                            <a:pt x="2291" y="11008"/>
                            <a:pt x="2139" y="11059"/>
                          </a:cubicBezTo>
                          <a:cubicBezTo>
                            <a:pt x="2031" y="11096"/>
                            <a:pt x="1922" y="11103"/>
                            <a:pt x="1830" y="11079"/>
                          </a:cubicBezTo>
                          <a:close/>
                        </a:path>
                      </a:pathLst>
                    </a:custGeom>
                    <a:solidFill>
                      <a:srgbClr val="40488D"/>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79" name="Freeform 7"/>
                    <p:cNvSpPr>
                      <a:spLocks/>
                    </p:cNvSpPr>
                    <p:nvPr/>
                  </p:nvSpPr>
                  <p:spPr bwMode="auto">
                    <a:xfrm>
                      <a:off x="1718836" y="2331396"/>
                      <a:ext cx="123184" cy="115602"/>
                    </a:xfrm>
                    <a:custGeom>
                      <a:avLst/>
                      <a:gdLst>
                        <a:gd name="T0" fmla="*/ 957 w 2601"/>
                        <a:gd name="T1" fmla="*/ 2492 h 2528"/>
                        <a:gd name="T2" fmla="*/ 48 w 2601"/>
                        <a:gd name="T3" fmla="*/ 1645 h 2528"/>
                        <a:gd name="T4" fmla="*/ 1 w 2601"/>
                        <a:gd name="T5" fmla="*/ 1257 h 2528"/>
                        <a:gd name="T6" fmla="*/ 46 w 2601"/>
                        <a:gd name="T7" fmla="*/ 885 h 2528"/>
                        <a:gd name="T8" fmla="*/ 366 w 2601"/>
                        <a:gd name="T9" fmla="*/ 382 h 2528"/>
                        <a:gd name="T10" fmla="*/ 1143 w 2601"/>
                        <a:gd name="T11" fmla="*/ 15 h 2528"/>
                        <a:gd name="T12" fmla="*/ 1717 w 2601"/>
                        <a:gd name="T13" fmla="*/ 97 h 2528"/>
                        <a:gd name="T14" fmla="*/ 2112 w 2601"/>
                        <a:gd name="T15" fmla="*/ 355 h 2528"/>
                        <a:gd name="T16" fmla="*/ 2443 w 2601"/>
                        <a:gd name="T17" fmla="*/ 1663 h 2528"/>
                        <a:gd name="T18" fmla="*/ 1230 w 2601"/>
                        <a:gd name="T19" fmla="*/ 2522 h 2528"/>
                        <a:gd name="T20" fmla="*/ 957 w 2601"/>
                        <a:gd name="T21" fmla="*/ 2492 h 2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01" h="2528">
                          <a:moveTo>
                            <a:pt x="957" y="2492"/>
                          </a:moveTo>
                          <a:cubicBezTo>
                            <a:pt x="534" y="2394"/>
                            <a:pt x="186" y="2070"/>
                            <a:pt x="48" y="1645"/>
                          </a:cubicBezTo>
                          <a:cubicBezTo>
                            <a:pt x="4" y="1511"/>
                            <a:pt x="0" y="1479"/>
                            <a:pt x="1" y="1257"/>
                          </a:cubicBezTo>
                          <a:cubicBezTo>
                            <a:pt x="1" y="1038"/>
                            <a:pt x="6" y="1003"/>
                            <a:pt x="46" y="885"/>
                          </a:cubicBezTo>
                          <a:cubicBezTo>
                            <a:pt x="126" y="655"/>
                            <a:pt x="186" y="562"/>
                            <a:pt x="366" y="382"/>
                          </a:cubicBezTo>
                          <a:cubicBezTo>
                            <a:pt x="611" y="137"/>
                            <a:pt x="826" y="36"/>
                            <a:pt x="1143" y="15"/>
                          </a:cubicBezTo>
                          <a:cubicBezTo>
                            <a:pt x="1375" y="0"/>
                            <a:pt x="1537" y="23"/>
                            <a:pt x="1717" y="97"/>
                          </a:cubicBezTo>
                          <a:cubicBezTo>
                            <a:pt x="1891" y="168"/>
                            <a:pt x="1960" y="213"/>
                            <a:pt x="2112" y="355"/>
                          </a:cubicBezTo>
                          <a:cubicBezTo>
                            <a:pt x="2473" y="694"/>
                            <a:pt x="2601" y="1199"/>
                            <a:pt x="2443" y="1663"/>
                          </a:cubicBezTo>
                          <a:cubicBezTo>
                            <a:pt x="2263" y="2192"/>
                            <a:pt x="1789" y="2528"/>
                            <a:pt x="1230" y="2522"/>
                          </a:cubicBezTo>
                          <a:cubicBezTo>
                            <a:pt x="1149" y="2521"/>
                            <a:pt x="1026" y="2508"/>
                            <a:pt x="957" y="2492"/>
                          </a:cubicBezTo>
                          <a:close/>
                        </a:path>
                      </a:pathLst>
                    </a:custGeom>
                    <a:solidFill>
                      <a:srgbClr val="40488D"/>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grpSp>
        </p:grpSp>
      </p:grpSp>
      <p:grpSp>
        <p:nvGrpSpPr>
          <p:cNvPr id="6" name="Group 5"/>
          <p:cNvGrpSpPr/>
          <p:nvPr/>
        </p:nvGrpSpPr>
        <p:grpSpPr>
          <a:xfrm>
            <a:off x="426920" y="5046113"/>
            <a:ext cx="11352679" cy="863690"/>
            <a:chOff x="426920" y="5046113"/>
            <a:chExt cx="11352679" cy="863690"/>
          </a:xfrm>
        </p:grpSpPr>
        <p:grpSp>
          <p:nvGrpSpPr>
            <p:cNvPr id="39" name="Group 38"/>
            <p:cNvGrpSpPr/>
            <p:nvPr/>
          </p:nvGrpSpPr>
          <p:grpSpPr>
            <a:xfrm>
              <a:off x="426920" y="5046113"/>
              <a:ext cx="11352679" cy="863690"/>
              <a:chOff x="2525249" y="5225362"/>
              <a:chExt cx="8853892" cy="634261"/>
            </a:xfrm>
          </p:grpSpPr>
          <p:sp>
            <p:nvSpPr>
              <p:cNvPr id="62" name="Rounded Rectangle 61"/>
              <p:cNvSpPr/>
              <p:nvPr/>
            </p:nvSpPr>
            <p:spPr>
              <a:xfrm>
                <a:off x="2575937" y="5268173"/>
                <a:ext cx="8752516" cy="548640"/>
              </a:xfrm>
              <a:prstGeom prst="roundRect">
                <a:avLst>
                  <a:gd name="adj" fmla="val 50000"/>
                </a:avLst>
              </a:prstGeom>
              <a:solidFill>
                <a:srgbClr val="40488D"/>
              </a:solidFill>
              <a:ln w="6350">
                <a:solidFill>
                  <a:schemeClr val="bg1"/>
                </a:solidFill>
              </a:ln>
            </p:spPr>
            <p:txBody>
              <a:bodyPr wrap="square" lIns="91440" tIns="45720" rIns="91440" bIns="4572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panose="020B0604020202020204"/>
                    <a:ea typeface="+mn-ea"/>
                    <a:cs typeface="+mn-cs"/>
                  </a:rPr>
                  <a:t>IMPACT had broad inclusion criteria, representative of patients with COPD in clinical practice, including a range of disease severities, co-morbidities and exacerbation frequencies</a:t>
                </a:r>
                <a:r>
                  <a:rPr kumimoji="0" lang="en-US" sz="1600" b="0" i="0" u="none" strike="noStrike" kern="1200" cap="none" spc="0" normalizeH="0" baseline="30000" noProof="0" dirty="0">
                    <a:ln>
                      <a:noFill/>
                    </a:ln>
                    <a:solidFill>
                      <a:prstClr val="white"/>
                    </a:solidFill>
                    <a:effectLst/>
                    <a:uLnTx/>
                    <a:uFillTx/>
                    <a:latin typeface="Arial" panose="020B0604020202020204"/>
                    <a:ea typeface="+mn-ea"/>
                    <a:cs typeface="+mn-cs"/>
                  </a:rPr>
                  <a:t>1,2</a:t>
                </a:r>
              </a:p>
            </p:txBody>
          </p:sp>
          <p:sp>
            <p:nvSpPr>
              <p:cNvPr id="63" name="Rounded Rectangle 62"/>
              <p:cNvSpPr/>
              <p:nvPr/>
            </p:nvSpPr>
            <p:spPr>
              <a:xfrm>
                <a:off x="2525249" y="5225362"/>
                <a:ext cx="8853892" cy="634261"/>
              </a:xfrm>
              <a:prstGeom prst="roundRect">
                <a:avLst>
                  <a:gd name="adj" fmla="val 50000"/>
                </a:avLst>
              </a:prstGeom>
              <a:noFill/>
              <a:ln w="6350">
                <a:solidFill>
                  <a:srgbClr val="F36633"/>
                </a:solidFill>
              </a:ln>
            </p:spPr>
            <p:txBody>
              <a:bodyPr wrap="square" lIns="91440" tIns="45720" rIns="91440" bIns="4572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30000" noProof="0" dirty="0">
                  <a:ln>
                    <a:noFill/>
                  </a:ln>
                  <a:solidFill>
                    <a:prstClr val="white"/>
                  </a:solidFill>
                  <a:effectLst/>
                  <a:uLnTx/>
                  <a:uFillTx/>
                  <a:latin typeface="Arial" panose="020B0604020202020204"/>
                  <a:ea typeface="+mn-ea"/>
                  <a:cs typeface="+mn-cs"/>
                </a:endParaRPr>
              </a:p>
            </p:txBody>
          </p:sp>
        </p:grpSp>
        <p:sp>
          <p:nvSpPr>
            <p:cNvPr id="51" name="Freeform 50"/>
            <p:cNvSpPr/>
            <p:nvPr/>
          </p:nvSpPr>
          <p:spPr>
            <a:xfrm rot="10800000">
              <a:off x="7715249" y="5153689"/>
              <a:ext cx="3946461" cy="653386"/>
            </a:xfrm>
            <a:custGeom>
              <a:avLst/>
              <a:gdLst>
                <a:gd name="connsiteX0" fmla="*/ 203967 w 2122918"/>
                <a:gd name="connsiteY0" fmla="*/ 407625 h 407627"/>
                <a:gd name="connsiteX1" fmla="*/ 27648 w 2122918"/>
                <a:gd name="connsiteY1" fmla="*/ 306891 h 407627"/>
                <a:gd name="connsiteX2" fmla="*/ 26780 w 2122918"/>
                <a:gd name="connsiteY2" fmla="*/ 103827 h 407627"/>
                <a:gd name="connsiteX3" fmla="*/ 149275 w 2122918"/>
                <a:gd name="connsiteY3" fmla="*/ 8826 h 407627"/>
                <a:gd name="connsiteX4" fmla="*/ 202043 w 2122918"/>
                <a:gd name="connsiteY4" fmla="*/ 1615 h 407627"/>
                <a:gd name="connsiteX5" fmla="*/ 202043 w 2122918"/>
                <a:gd name="connsiteY5" fmla="*/ 0 h 407627"/>
                <a:gd name="connsiteX6" fmla="*/ 2122918 w 2122918"/>
                <a:gd name="connsiteY6" fmla="*/ 0 h 407627"/>
                <a:gd name="connsiteX7" fmla="*/ 203959 w 2122918"/>
                <a:gd name="connsiteY7" fmla="*/ 405995 h 407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2918" h="407627">
                  <a:moveTo>
                    <a:pt x="203967" y="407625"/>
                  </a:moveTo>
                  <a:cubicBezTo>
                    <a:pt x="131417" y="407964"/>
                    <a:pt x="64200" y="369561"/>
                    <a:pt x="27648" y="306891"/>
                  </a:cubicBezTo>
                  <a:cubicBezTo>
                    <a:pt x="-8904" y="244220"/>
                    <a:pt x="-9235" y="166807"/>
                    <a:pt x="26780" y="103827"/>
                  </a:cubicBezTo>
                  <a:cubicBezTo>
                    <a:pt x="53791" y="56591"/>
                    <a:pt x="98168" y="22859"/>
                    <a:pt x="149275" y="8826"/>
                  </a:cubicBezTo>
                  <a:lnTo>
                    <a:pt x="202043" y="1615"/>
                  </a:lnTo>
                  <a:lnTo>
                    <a:pt x="202043" y="0"/>
                  </a:lnTo>
                  <a:lnTo>
                    <a:pt x="2122918" y="0"/>
                  </a:lnTo>
                  <a:lnTo>
                    <a:pt x="203959" y="405995"/>
                  </a:lnTo>
                  <a:close/>
                </a:path>
              </a:pathLst>
            </a:cu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pic>
        <p:nvPicPr>
          <p:cNvPr id="52" name="Picture 51">
            <a:extLst>
              <a:ext uri="{FF2B5EF4-FFF2-40B4-BE49-F238E27FC236}">
                <a16:creationId xmlns:a16="http://schemas.microsoft.com/office/drawing/2014/main" id="{F89C67CB-48BA-4A88-9301-0CB397AE4EB8}"/>
              </a:ext>
            </a:extLst>
          </p:cNvPr>
          <p:cNvPicPr>
            <a:picLocks noChangeAspect="1"/>
          </p:cNvPicPr>
          <p:nvPr/>
        </p:nvPicPr>
        <p:blipFill>
          <a:blip r:embed="rId2"/>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91362116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IMPACT: Disposition of patients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24" name="Text Placeholder 23"/>
          <p:cNvSpPr>
            <a:spLocks noGrp="1"/>
          </p:cNvSpPr>
          <p:nvPr>
            <p:ph type="body" sz="quarter" idx="21"/>
          </p:nvPr>
        </p:nvSpPr>
        <p:spPr>
          <a:xfrm>
            <a:off x="426920" y="6218379"/>
            <a:ext cx="10752000" cy="468000"/>
          </a:xfrm>
        </p:spPr>
        <p:txBody>
          <a:bodyPr/>
          <a:lstStyle/>
          <a:p>
            <a:r>
              <a:rPr lang="en-US" dirty="0"/>
              <a:t>Suppl-Lipson DA, et al. </a:t>
            </a:r>
            <a:r>
              <a:rPr lang="da-DK" i="1" dirty="0"/>
              <a:t>N Engl J Med.</a:t>
            </a:r>
            <a:r>
              <a:rPr lang="da-DK" dirty="0"/>
              <a:t> 2018;378:1671–1680</a:t>
            </a:r>
            <a:endParaRPr lang="en-US" dirty="0"/>
          </a:p>
        </p:txBody>
      </p:sp>
      <p:sp>
        <p:nvSpPr>
          <p:cNvPr id="8" name="Text Placeholder 7"/>
          <p:cNvSpPr>
            <a:spLocks noGrp="1"/>
          </p:cNvSpPr>
          <p:nvPr>
            <p:ph type="body" sz="quarter" idx="19"/>
          </p:nvPr>
        </p:nvSpPr>
        <p:spPr/>
        <p:txBody>
          <a:bodyPr/>
          <a:lstStyle/>
          <a:p>
            <a:r>
              <a:rPr lang="en-US" dirty="0"/>
              <a:t>UMEC, umeclidinium; VI, vilanterol; FF, fluticasone furoate </a:t>
            </a:r>
          </a:p>
        </p:txBody>
      </p:sp>
      <p:grpSp>
        <p:nvGrpSpPr>
          <p:cNvPr id="87" name="Group 86"/>
          <p:cNvGrpSpPr/>
          <p:nvPr/>
        </p:nvGrpSpPr>
        <p:grpSpPr>
          <a:xfrm>
            <a:off x="527541" y="2315155"/>
            <a:ext cx="8468965" cy="3571333"/>
            <a:chOff x="387841" y="2315155"/>
            <a:chExt cx="8468965" cy="3571333"/>
          </a:xfrm>
        </p:grpSpPr>
        <p:grpSp>
          <p:nvGrpSpPr>
            <p:cNvPr id="35" name="Group 34"/>
            <p:cNvGrpSpPr/>
            <p:nvPr/>
          </p:nvGrpSpPr>
          <p:grpSpPr>
            <a:xfrm>
              <a:off x="3742525" y="2315155"/>
              <a:ext cx="2120982" cy="580787"/>
              <a:chOff x="3975018" y="2326399"/>
              <a:chExt cx="2120982" cy="580787"/>
            </a:xfrm>
          </p:grpSpPr>
          <p:sp>
            <p:nvSpPr>
              <p:cNvPr id="11" name="Rounded Rectangle 10"/>
              <p:cNvSpPr/>
              <p:nvPr/>
            </p:nvSpPr>
            <p:spPr>
              <a:xfrm>
                <a:off x="3975018" y="2326399"/>
                <a:ext cx="2120982" cy="580787"/>
              </a:xfrm>
              <a:prstGeom prst="roundRect">
                <a:avLst>
                  <a:gd name="adj" fmla="val 8530"/>
                </a:avLst>
              </a:prstGeom>
              <a:solidFill>
                <a:srgbClr val="15717D"/>
              </a:solidFill>
            </p:spPr>
            <p:txBody>
              <a:bodyPr wrap="square" lIns="73152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prstClr val="white"/>
                    </a:solidFill>
                    <a:effectLst/>
                    <a:uLnTx/>
                    <a:uFillTx/>
                    <a:latin typeface="Arial" panose="020B0604020202020204"/>
                    <a:ea typeface="+mn-ea"/>
                    <a:cs typeface="+mn-cs"/>
                  </a:rPr>
                  <a:t>13,906</a:t>
                </a:r>
                <a:br>
                  <a:rPr kumimoji="0" lang="en-GB" sz="1400" b="0" i="0" u="none" strike="noStrike" kern="0" cap="none" spc="0" normalizeH="0" baseline="0" noProof="0" dirty="0">
                    <a:ln>
                      <a:noFill/>
                    </a:ln>
                    <a:solidFill>
                      <a:prstClr val="white"/>
                    </a:solidFill>
                    <a:effectLst/>
                    <a:uLnTx/>
                    <a:uFillTx/>
                    <a:latin typeface="Arial" panose="020B0604020202020204"/>
                    <a:ea typeface="+mn-ea"/>
                    <a:cs typeface="+mn-cs"/>
                  </a:rPr>
                </a:br>
                <a:r>
                  <a:rPr kumimoji="0" lang="en-GB" sz="1200" b="0" i="0" u="none" strike="noStrike" kern="0" cap="none" spc="0" normalizeH="0" baseline="0" noProof="0" dirty="0">
                    <a:ln>
                      <a:noFill/>
                    </a:ln>
                    <a:solidFill>
                      <a:prstClr val="white"/>
                    </a:solidFill>
                    <a:effectLst/>
                    <a:uLnTx/>
                    <a:uFillTx/>
                    <a:latin typeface="Arial" panose="020B0604020202020204"/>
                    <a:ea typeface="+mn-ea"/>
                    <a:cs typeface="+mn-cs"/>
                  </a:rPr>
                  <a:t>patients enrolled</a:t>
                </a:r>
                <a:endPar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27" name="Group 26"/>
              <p:cNvGrpSpPr/>
              <p:nvPr/>
            </p:nvGrpSpPr>
            <p:grpSpPr>
              <a:xfrm>
                <a:off x="4054394" y="2475317"/>
                <a:ext cx="450932" cy="295652"/>
                <a:chOff x="9893510" y="2414078"/>
                <a:chExt cx="317190" cy="207964"/>
              </a:xfrm>
              <a:solidFill>
                <a:schemeClr val="bg1"/>
              </a:solidFill>
            </p:grpSpPr>
            <p:sp>
              <p:nvSpPr>
                <p:cNvPr id="67" name="Freeform 2235">
                  <a:extLst>
                    <a:ext uri="{FF2B5EF4-FFF2-40B4-BE49-F238E27FC236}">
                      <a16:creationId xmlns:a16="http://schemas.microsoft.com/office/drawing/2014/main" id="{4662B1DA-4F0E-4A95-8E4E-0639E68B9B6B}"/>
                    </a:ext>
                  </a:extLst>
                </p:cNvPr>
                <p:cNvSpPr>
                  <a:spLocks noEditPoints="1"/>
                </p:cNvSpPr>
                <p:nvPr/>
              </p:nvSpPr>
              <p:spPr bwMode="auto">
                <a:xfrm>
                  <a:off x="9893510" y="2414078"/>
                  <a:ext cx="317190" cy="163270"/>
                </a:xfrm>
                <a:custGeom>
                  <a:avLst/>
                  <a:gdLst>
                    <a:gd name="T0" fmla="*/ 2193 w 2205"/>
                    <a:gd name="T1" fmla="*/ 912 h 1133"/>
                    <a:gd name="T2" fmla="*/ 1903 w 2205"/>
                    <a:gd name="T3" fmla="*/ 714 h 1133"/>
                    <a:gd name="T4" fmla="*/ 2044 w 2205"/>
                    <a:gd name="T5" fmla="*/ 696 h 1133"/>
                    <a:gd name="T6" fmla="*/ 2075 w 2205"/>
                    <a:gd name="T7" fmla="*/ 646 h 1133"/>
                    <a:gd name="T8" fmla="*/ 2015 w 2205"/>
                    <a:gd name="T9" fmla="*/ 400 h 1133"/>
                    <a:gd name="T10" fmla="*/ 1811 w 2205"/>
                    <a:gd name="T11" fmla="*/ 42 h 1133"/>
                    <a:gd name="T12" fmla="*/ 1639 w 2205"/>
                    <a:gd name="T13" fmla="*/ 42 h 1133"/>
                    <a:gd name="T14" fmla="*/ 1435 w 2205"/>
                    <a:gd name="T15" fmla="*/ 400 h 1133"/>
                    <a:gd name="T16" fmla="*/ 1386 w 2205"/>
                    <a:gd name="T17" fmla="*/ 625 h 1133"/>
                    <a:gd name="T18" fmla="*/ 1318 w 2205"/>
                    <a:gd name="T19" fmla="*/ 484 h 1133"/>
                    <a:gd name="T20" fmla="*/ 883 w 2205"/>
                    <a:gd name="T21" fmla="*/ 485 h 1133"/>
                    <a:gd name="T22" fmla="*/ 811 w 2205"/>
                    <a:gd name="T23" fmla="*/ 677 h 1133"/>
                    <a:gd name="T24" fmla="*/ 702 w 2205"/>
                    <a:gd name="T25" fmla="*/ 690 h 1133"/>
                    <a:gd name="T26" fmla="*/ 821 w 2205"/>
                    <a:gd name="T27" fmla="*/ 290 h 1133"/>
                    <a:gd name="T28" fmla="*/ 748 w 2205"/>
                    <a:gd name="T29" fmla="*/ 98 h 1133"/>
                    <a:gd name="T30" fmla="*/ 312 w 2205"/>
                    <a:gd name="T31" fmla="*/ 100 h 1133"/>
                    <a:gd name="T32" fmla="*/ 240 w 2205"/>
                    <a:gd name="T33" fmla="*/ 290 h 1133"/>
                    <a:gd name="T34" fmla="*/ 359 w 2205"/>
                    <a:gd name="T35" fmla="*/ 690 h 1133"/>
                    <a:gd name="T36" fmla="*/ 7 w 2205"/>
                    <a:gd name="T37" fmla="*/ 928 h 1133"/>
                    <a:gd name="T38" fmla="*/ 63 w 2205"/>
                    <a:gd name="T39" fmla="*/ 1058 h 1133"/>
                    <a:gd name="T40" fmla="*/ 862 w 2205"/>
                    <a:gd name="T41" fmla="*/ 1051 h 1133"/>
                    <a:gd name="T42" fmla="*/ 1101 w 2205"/>
                    <a:gd name="T43" fmla="*/ 1133 h 1133"/>
                    <a:gd name="T44" fmla="*/ 1340 w 2205"/>
                    <a:gd name="T45" fmla="*/ 1050 h 1133"/>
                    <a:gd name="T46" fmla="*/ 2144 w 2205"/>
                    <a:gd name="T47" fmla="*/ 1058 h 1133"/>
                    <a:gd name="T48" fmla="*/ 531 w 2205"/>
                    <a:gd name="T49" fmla="*/ 682 h 1133"/>
                    <a:gd name="T50" fmla="*/ 305 w 2205"/>
                    <a:gd name="T51" fmla="*/ 316 h 1133"/>
                    <a:gd name="T52" fmla="*/ 414 w 2205"/>
                    <a:gd name="T53" fmla="*/ 208 h 1133"/>
                    <a:gd name="T54" fmla="*/ 727 w 2205"/>
                    <a:gd name="T55" fmla="*/ 178 h 1133"/>
                    <a:gd name="T56" fmla="*/ 756 w 2205"/>
                    <a:gd name="T57" fmla="*/ 456 h 1133"/>
                    <a:gd name="T58" fmla="*/ 1327 w 2205"/>
                    <a:gd name="T59" fmla="*/ 843 h 1133"/>
                    <a:gd name="T60" fmla="*/ 875 w 2205"/>
                    <a:gd name="T61" fmla="*/ 843 h 1133"/>
                    <a:gd name="T62" fmla="*/ 984 w 2205"/>
                    <a:gd name="T63" fmla="*/ 594 h 1133"/>
                    <a:gd name="T64" fmla="*/ 1101 w 2205"/>
                    <a:gd name="T65" fmla="*/ 607 h 1133"/>
                    <a:gd name="T66" fmla="*/ 1327 w 2205"/>
                    <a:gd name="T67" fmla="*/ 677 h 1133"/>
                    <a:gd name="T68" fmla="*/ 1391 w 2205"/>
                    <a:gd name="T69" fmla="*/ 788 h 1133"/>
                    <a:gd name="T70" fmla="*/ 1406 w 2205"/>
                    <a:gd name="T71" fmla="*/ 696 h 1133"/>
                    <a:gd name="T72" fmla="*/ 1547 w 2205"/>
                    <a:gd name="T73" fmla="*/ 714 h 1133"/>
                    <a:gd name="T74" fmla="*/ 1725 w 2205"/>
                    <a:gd name="T75" fmla="*/ 711 h 1133"/>
                    <a:gd name="T76" fmla="*/ 1499 w 2205"/>
                    <a:gd name="T77" fmla="*/ 485 h 1133"/>
                    <a:gd name="T78" fmla="*/ 1608 w 2205"/>
                    <a:gd name="T79" fmla="*/ 322 h 1133"/>
                    <a:gd name="T80" fmla="*/ 1868 w 2205"/>
                    <a:gd name="T81" fmla="*/ 213 h 1133"/>
                    <a:gd name="T82" fmla="*/ 1951 w 2205"/>
                    <a:gd name="T83" fmla="*/ 319 h 1133"/>
                    <a:gd name="T84" fmla="*/ 1950 w 2205"/>
                    <a:gd name="T85" fmla="*/ 508 h 1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05" h="1133">
                      <a:moveTo>
                        <a:pt x="2202" y="994"/>
                      </a:moveTo>
                      <a:cubicBezTo>
                        <a:pt x="2193" y="912"/>
                        <a:pt x="2193" y="912"/>
                        <a:pt x="2193" y="912"/>
                      </a:cubicBezTo>
                      <a:cubicBezTo>
                        <a:pt x="2189" y="876"/>
                        <a:pt x="2160" y="835"/>
                        <a:pt x="2128" y="820"/>
                      </a:cubicBezTo>
                      <a:cubicBezTo>
                        <a:pt x="1903" y="714"/>
                        <a:pt x="1903" y="714"/>
                        <a:pt x="1903" y="714"/>
                      </a:cubicBezTo>
                      <a:cubicBezTo>
                        <a:pt x="1910" y="709"/>
                        <a:pt x="1917" y="703"/>
                        <a:pt x="1923" y="696"/>
                      </a:cubicBezTo>
                      <a:cubicBezTo>
                        <a:pt x="2044" y="696"/>
                        <a:pt x="2044" y="696"/>
                        <a:pt x="2044" y="696"/>
                      </a:cubicBezTo>
                      <a:cubicBezTo>
                        <a:pt x="2056" y="696"/>
                        <a:pt x="2067" y="690"/>
                        <a:pt x="2073" y="680"/>
                      </a:cubicBezTo>
                      <a:cubicBezTo>
                        <a:pt x="2080" y="669"/>
                        <a:pt x="2080" y="657"/>
                        <a:pt x="2075" y="646"/>
                      </a:cubicBezTo>
                      <a:cubicBezTo>
                        <a:pt x="2016" y="533"/>
                        <a:pt x="2016" y="511"/>
                        <a:pt x="2016" y="405"/>
                      </a:cubicBezTo>
                      <a:cubicBezTo>
                        <a:pt x="2016" y="403"/>
                        <a:pt x="2015" y="401"/>
                        <a:pt x="2015" y="400"/>
                      </a:cubicBezTo>
                      <a:cubicBezTo>
                        <a:pt x="2015" y="319"/>
                        <a:pt x="2015" y="319"/>
                        <a:pt x="2015" y="319"/>
                      </a:cubicBezTo>
                      <a:cubicBezTo>
                        <a:pt x="2015" y="189"/>
                        <a:pt x="1930" y="79"/>
                        <a:pt x="1811" y="42"/>
                      </a:cubicBezTo>
                      <a:cubicBezTo>
                        <a:pt x="1784" y="34"/>
                        <a:pt x="1755" y="29"/>
                        <a:pt x="1725" y="29"/>
                      </a:cubicBezTo>
                      <a:cubicBezTo>
                        <a:pt x="1695" y="29"/>
                        <a:pt x="1666" y="34"/>
                        <a:pt x="1639" y="42"/>
                      </a:cubicBezTo>
                      <a:cubicBezTo>
                        <a:pt x="1521" y="79"/>
                        <a:pt x="1435" y="189"/>
                        <a:pt x="1435" y="319"/>
                      </a:cubicBezTo>
                      <a:cubicBezTo>
                        <a:pt x="1435" y="400"/>
                        <a:pt x="1435" y="400"/>
                        <a:pt x="1435" y="400"/>
                      </a:cubicBezTo>
                      <a:cubicBezTo>
                        <a:pt x="1435" y="401"/>
                        <a:pt x="1434" y="403"/>
                        <a:pt x="1434" y="405"/>
                      </a:cubicBezTo>
                      <a:cubicBezTo>
                        <a:pt x="1434" y="504"/>
                        <a:pt x="1434" y="530"/>
                        <a:pt x="1386" y="625"/>
                      </a:cubicBezTo>
                      <a:cubicBezTo>
                        <a:pt x="1377" y="575"/>
                        <a:pt x="1355" y="528"/>
                        <a:pt x="1323" y="490"/>
                      </a:cubicBezTo>
                      <a:cubicBezTo>
                        <a:pt x="1321" y="488"/>
                        <a:pt x="1320" y="486"/>
                        <a:pt x="1318" y="484"/>
                      </a:cubicBezTo>
                      <a:cubicBezTo>
                        <a:pt x="1264" y="424"/>
                        <a:pt x="1187" y="387"/>
                        <a:pt x="1101" y="387"/>
                      </a:cubicBezTo>
                      <a:cubicBezTo>
                        <a:pt x="1014" y="387"/>
                        <a:pt x="937" y="425"/>
                        <a:pt x="883" y="485"/>
                      </a:cubicBezTo>
                      <a:cubicBezTo>
                        <a:pt x="882" y="487"/>
                        <a:pt x="880" y="489"/>
                        <a:pt x="879" y="490"/>
                      </a:cubicBezTo>
                      <a:cubicBezTo>
                        <a:pt x="836" y="541"/>
                        <a:pt x="811" y="606"/>
                        <a:pt x="811" y="677"/>
                      </a:cubicBezTo>
                      <a:cubicBezTo>
                        <a:pt x="811" y="744"/>
                        <a:pt x="811" y="744"/>
                        <a:pt x="811" y="744"/>
                      </a:cubicBezTo>
                      <a:cubicBezTo>
                        <a:pt x="702" y="690"/>
                        <a:pt x="702" y="690"/>
                        <a:pt x="702" y="690"/>
                      </a:cubicBezTo>
                      <a:cubicBezTo>
                        <a:pt x="774" y="637"/>
                        <a:pt x="821" y="552"/>
                        <a:pt x="821" y="456"/>
                      </a:cubicBezTo>
                      <a:cubicBezTo>
                        <a:pt x="821" y="290"/>
                        <a:pt x="821" y="290"/>
                        <a:pt x="821" y="290"/>
                      </a:cubicBezTo>
                      <a:cubicBezTo>
                        <a:pt x="821" y="219"/>
                        <a:pt x="795" y="154"/>
                        <a:pt x="753" y="104"/>
                      </a:cubicBezTo>
                      <a:cubicBezTo>
                        <a:pt x="751" y="102"/>
                        <a:pt x="749" y="100"/>
                        <a:pt x="748" y="98"/>
                      </a:cubicBezTo>
                      <a:cubicBezTo>
                        <a:pt x="694" y="38"/>
                        <a:pt x="617" y="0"/>
                        <a:pt x="531" y="0"/>
                      </a:cubicBezTo>
                      <a:cubicBezTo>
                        <a:pt x="443" y="0"/>
                        <a:pt x="365" y="39"/>
                        <a:pt x="312" y="100"/>
                      </a:cubicBezTo>
                      <a:cubicBezTo>
                        <a:pt x="311" y="101"/>
                        <a:pt x="310" y="102"/>
                        <a:pt x="309" y="104"/>
                      </a:cubicBezTo>
                      <a:cubicBezTo>
                        <a:pt x="266" y="154"/>
                        <a:pt x="240" y="219"/>
                        <a:pt x="240" y="290"/>
                      </a:cubicBezTo>
                      <a:cubicBezTo>
                        <a:pt x="240" y="456"/>
                        <a:pt x="240" y="456"/>
                        <a:pt x="240" y="456"/>
                      </a:cubicBezTo>
                      <a:cubicBezTo>
                        <a:pt x="240" y="552"/>
                        <a:pt x="287" y="637"/>
                        <a:pt x="359" y="690"/>
                      </a:cubicBezTo>
                      <a:cubicBezTo>
                        <a:pt x="68" y="835"/>
                        <a:pt x="68" y="835"/>
                        <a:pt x="68" y="835"/>
                      </a:cubicBezTo>
                      <a:cubicBezTo>
                        <a:pt x="36" y="851"/>
                        <a:pt x="9" y="893"/>
                        <a:pt x="7" y="928"/>
                      </a:cubicBezTo>
                      <a:cubicBezTo>
                        <a:pt x="2" y="994"/>
                        <a:pt x="2" y="994"/>
                        <a:pt x="2" y="994"/>
                      </a:cubicBezTo>
                      <a:cubicBezTo>
                        <a:pt x="0" y="1029"/>
                        <a:pt x="27" y="1058"/>
                        <a:pt x="63" y="1058"/>
                      </a:cubicBezTo>
                      <a:cubicBezTo>
                        <a:pt x="864" y="1058"/>
                        <a:pt x="864" y="1058"/>
                        <a:pt x="864" y="1058"/>
                      </a:cubicBezTo>
                      <a:cubicBezTo>
                        <a:pt x="862" y="1051"/>
                        <a:pt x="862" y="1051"/>
                        <a:pt x="862" y="1051"/>
                      </a:cubicBezTo>
                      <a:cubicBezTo>
                        <a:pt x="857" y="1038"/>
                        <a:pt x="859" y="1024"/>
                        <a:pt x="866" y="1013"/>
                      </a:cubicBezTo>
                      <a:cubicBezTo>
                        <a:pt x="919" y="1085"/>
                        <a:pt x="1004" y="1133"/>
                        <a:pt x="1101" y="1133"/>
                      </a:cubicBezTo>
                      <a:cubicBezTo>
                        <a:pt x="1198" y="1133"/>
                        <a:pt x="1283" y="1085"/>
                        <a:pt x="1336" y="1013"/>
                      </a:cubicBezTo>
                      <a:cubicBezTo>
                        <a:pt x="1342" y="1024"/>
                        <a:pt x="1344" y="1038"/>
                        <a:pt x="1340" y="1050"/>
                      </a:cubicBezTo>
                      <a:cubicBezTo>
                        <a:pt x="1338" y="1058"/>
                        <a:pt x="1338" y="1058"/>
                        <a:pt x="1338" y="1058"/>
                      </a:cubicBezTo>
                      <a:cubicBezTo>
                        <a:pt x="2144" y="1058"/>
                        <a:pt x="2144" y="1058"/>
                        <a:pt x="2144" y="1058"/>
                      </a:cubicBezTo>
                      <a:cubicBezTo>
                        <a:pt x="2180" y="1058"/>
                        <a:pt x="2205" y="1029"/>
                        <a:pt x="2202" y="994"/>
                      </a:cubicBezTo>
                      <a:moveTo>
                        <a:pt x="531" y="682"/>
                      </a:moveTo>
                      <a:cubicBezTo>
                        <a:pt x="406" y="682"/>
                        <a:pt x="305" y="581"/>
                        <a:pt x="305" y="456"/>
                      </a:cubicBezTo>
                      <a:cubicBezTo>
                        <a:pt x="305" y="316"/>
                        <a:pt x="305" y="316"/>
                        <a:pt x="305" y="316"/>
                      </a:cubicBezTo>
                      <a:cubicBezTo>
                        <a:pt x="305" y="256"/>
                        <a:pt x="354" y="208"/>
                        <a:pt x="413" y="208"/>
                      </a:cubicBezTo>
                      <a:cubicBezTo>
                        <a:pt x="414" y="208"/>
                        <a:pt x="414" y="208"/>
                        <a:pt x="414" y="208"/>
                      </a:cubicBezTo>
                      <a:cubicBezTo>
                        <a:pt x="448" y="216"/>
                        <a:pt x="488" y="221"/>
                        <a:pt x="531" y="221"/>
                      </a:cubicBezTo>
                      <a:cubicBezTo>
                        <a:pt x="613" y="221"/>
                        <a:pt x="685" y="204"/>
                        <a:pt x="727" y="178"/>
                      </a:cubicBezTo>
                      <a:cubicBezTo>
                        <a:pt x="745" y="211"/>
                        <a:pt x="756" y="250"/>
                        <a:pt x="756" y="290"/>
                      </a:cubicBezTo>
                      <a:cubicBezTo>
                        <a:pt x="756" y="456"/>
                        <a:pt x="756" y="456"/>
                        <a:pt x="756" y="456"/>
                      </a:cubicBezTo>
                      <a:cubicBezTo>
                        <a:pt x="756" y="581"/>
                        <a:pt x="655" y="682"/>
                        <a:pt x="531" y="682"/>
                      </a:cubicBezTo>
                      <a:moveTo>
                        <a:pt x="1327" y="843"/>
                      </a:moveTo>
                      <a:cubicBezTo>
                        <a:pt x="1327" y="967"/>
                        <a:pt x="1226" y="1068"/>
                        <a:pt x="1101" y="1068"/>
                      </a:cubicBezTo>
                      <a:cubicBezTo>
                        <a:pt x="976" y="1068"/>
                        <a:pt x="875" y="967"/>
                        <a:pt x="875" y="843"/>
                      </a:cubicBezTo>
                      <a:cubicBezTo>
                        <a:pt x="875" y="702"/>
                        <a:pt x="875" y="702"/>
                        <a:pt x="875" y="702"/>
                      </a:cubicBezTo>
                      <a:cubicBezTo>
                        <a:pt x="876" y="643"/>
                        <a:pt x="924" y="595"/>
                        <a:pt x="984" y="594"/>
                      </a:cubicBezTo>
                      <a:cubicBezTo>
                        <a:pt x="984" y="594"/>
                        <a:pt x="984" y="594"/>
                        <a:pt x="984" y="594"/>
                      </a:cubicBezTo>
                      <a:cubicBezTo>
                        <a:pt x="1018" y="602"/>
                        <a:pt x="1058" y="607"/>
                        <a:pt x="1101" y="607"/>
                      </a:cubicBezTo>
                      <a:cubicBezTo>
                        <a:pt x="1183" y="607"/>
                        <a:pt x="1255" y="590"/>
                        <a:pt x="1297" y="565"/>
                      </a:cubicBezTo>
                      <a:cubicBezTo>
                        <a:pt x="1316" y="598"/>
                        <a:pt x="1327" y="636"/>
                        <a:pt x="1327" y="677"/>
                      </a:cubicBezTo>
                      <a:lnTo>
                        <a:pt x="1327" y="843"/>
                      </a:lnTo>
                      <a:close/>
                      <a:moveTo>
                        <a:pt x="1391" y="788"/>
                      </a:moveTo>
                      <a:cubicBezTo>
                        <a:pt x="1391" y="693"/>
                        <a:pt x="1391" y="693"/>
                        <a:pt x="1391" y="693"/>
                      </a:cubicBezTo>
                      <a:cubicBezTo>
                        <a:pt x="1396" y="695"/>
                        <a:pt x="1401" y="696"/>
                        <a:pt x="1406" y="696"/>
                      </a:cubicBezTo>
                      <a:cubicBezTo>
                        <a:pt x="1526" y="696"/>
                        <a:pt x="1526" y="696"/>
                        <a:pt x="1526" y="696"/>
                      </a:cubicBezTo>
                      <a:cubicBezTo>
                        <a:pt x="1533" y="703"/>
                        <a:pt x="1540" y="709"/>
                        <a:pt x="1547" y="714"/>
                      </a:cubicBezTo>
                      <a:lnTo>
                        <a:pt x="1391" y="788"/>
                      </a:lnTo>
                      <a:close/>
                      <a:moveTo>
                        <a:pt x="1725" y="711"/>
                      </a:moveTo>
                      <a:cubicBezTo>
                        <a:pt x="1609" y="711"/>
                        <a:pt x="1512" y="622"/>
                        <a:pt x="1500" y="508"/>
                      </a:cubicBezTo>
                      <a:cubicBezTo>
                        <a:pt x="1500" y="501"/>
                        <a:pt x="1499" y="493"/>
                        <a:pt x="1499" y="485"/>
                      </a:cubicBezTo>
                      <a:cubicBezTo>
                        <a:pt x="1499" y="430"/>
                        <a:pt x="1499" y="430"/>
                        <a:pt x="1499" y="430"/>
                      </a:cubicBezTo>
                      <a:cubicBezTo>
                        <a:pt x="1500" y="370"/>
                        <a:pt x="1548" y="322"/>
                        <a:pt x="1608" y="322"/>
                      </a:cubicBezTo>
                      <a:cubicBezTo>
                        <a:pt x="1759" y="322"/>
                        <a:pt x="1759" y="322"/>
                        <a:pt x="1759" y="322"/>
                      </a:cubicBezTo>
                      <a:cubicBezTo>
                        <a:pt x="1819" y="322"/>
                        <a:pt x="1868" y="273"/>
                        <a:pt x="1868" y="213"/>
                      </a:cubicBezTo>
                      <a:cubicBezTo>
                        <a:pt x="1868" y="145"/>
                        <a:pt x="1868" y="145"/>
                        <a:pt x="1868" y="145"/>
                      </a:cubicBezTo>
                      <a:cubicBezTo>
                        <a:pt x="1919" y="186"/>
                        <a:pt x="1951" y="249"/>
                        <a:pt x="1951" y="319"/>
                      </a:cubicBezTo>
                      <a:cubicBezTo>
                        <a:pt x="1951" y="485"/>
                        <a:pt x="1951" y="485"/>
                        <a:pt x="1951" y="485"/>
                      </a:cubicBezTo>
                      <a:cubicBezTo>
                        <a:pt x="1951" y="493"/>
                        <a:pt x="1950" y="501"/>
                        <a:pt x="1950" y="508"/>
                      </a:cubicBezTo>
                      <a:cubicBezTo>
                        <a:pt x="1938" y="622"/>
                        <a:pt x="1842" y="711"/>
                        <a:pt x="1725" y="7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68" name="Freeform 2236">
                  <a:extLst>
                    <a:ext uri="{FF2B5EF4-FFF2-40B4-BE49-F238E27FC236}">
                      <a16:creationId xmlns:a16="http://schemas.microsoft.com/office/drawing/2014/main" id="{45608866-215A-44F6-B342-63C9E5364BD2}"/>
                    </a:ext>
                  </a:extLst>
                </p:cNvPr>
                <p:cNvSpPr>
                  <a:spLocks/>
                </p:cNvSpPr>
                <p:nvPr/>
              </p:nvSpPr>
              <p:spPr bwMode="auto">
                <a:xfrm>
                  <a:off x="10068637" y="2572787"/>
                  <a:ext cx="59516" cy="49255"/>
                </a:xfrm>
                <a:custGeom>
                  <a:avLst/>
                  <a:gdLst>
                    <a:gd name="T0" fmla="*/ 347 w 414"/>
                    <a:gd name="T1" fmla="*/ 119 h 342"/>
                    <a:gd name="T2" fmla="*/ 107 w 414"/>
                    <a:gd name="T3" fmla="*/ 0 h 342"/>
                    <a:gd name="T4" fmla="*/ 0 w 414"/>
                    <a:gd name="T5" fmla="*/ 342 h 342"/>
                    <a:gd name="T6" fmla="*/ 352 w 414"/>
                    <a:gd name="T7" fmla="*/ 342 h 342"/>
                    <a:gd name="T8" fmla="*/ 412 w 414"/>
                    <a:gd name="T9" fmla="*/ 278 h 342"/>
                    <a:gd name="T10" fmla="*/ 408 w 414"/>
                    <a:gd name="T11" fmla="*/ 212 h 342"/>
                    <a:gd name="T12" fmla="*/ 347 w 414"/>
                    <a:gd name="T13" fmla="*/ 119 h 342"/>
                  </a:gdLst>
                  <a:ahLst/>
                  <a:cxnLst>
                    <a:cxn ang="0">
                      <a:pos x="T0" y="T1"/>
                    </a:cxn>
                    <a:cxn ang="0">
                      <a:pos x="T2" y="T3"/>
                    </a:cxn>
                    <a:cxn ang="0">
                      <a:pos x="T4" y="T5"/>
                    </a:cxn>
                    <a:cxn ang="0">
                      <a:pos x="T6" y="T7"/>
                    </a:cxn>
                    <a:cxn ang="0">
                      <a:pos x="T8" y="T9"/>
                    </a:cxn>
                    <a:cxn ang="0">
                      <a:pos x="T10" y="T11"/>
                    </a:cxn>
                    <a:cxn ang="0">
                      <a:pos x="T12" y="T13"/>
                    </a:cxn>
                  </a:cxnLst>
                  <a:rect l="0" t="0" r="r" b="b"/>
                  <a:pathLst>
                    <a:path w="414" h="342">
                      <a:moveTo>
                        <a:pt x="347" y="119"/>
                      </a:moveTo>
                      <a:cubicBezTo>
                        <a:pt x="107" y="0"/>
                        <a:pt x="107" y="0"/>
                        <a:pt x="107" y="0"/>
                      </a:cubicBezTo>
                      <a:cubicBezTo>
                        <a:pt x="0" y="342"/>
                        <a:pt x="0" y="342"/>
                        <a:pt x="0" y="342"/>
                      </a:cubicBezTo>
                      <a:cubicBezTo>
                        <a:pt x="352" y="342"/>
                        <a:pt x="352" y="342"/>
                        <a:pt x="352" y="342"/>
                      </a:cubicBezTo>
                      <a:cubicBezTo>
                        <a:pt x="387" y="342"/>
                        <a:pt x="414" y="313"/>
                        <a:pt x="412" y="278"/>
                      </a:cubicBezTo>
                      <a:cubicBezTo>
                        <a:pt x="408" y="212"/>
                        <a:pt x="408" y="212"/>
                        <a:pt x="408" y="212"/>
                      </a:cubicBezTo>
                      <a:cubicBezTo>
                        <a:pt x="406" y="177"/>
                        <a:pt x="378" y="135"/>
                        <a:pt x="34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69" name="Freeform 2237">
                  <a:extLst>
                    <a:ext uri="{FF2B5EF4-FFF2-40B4-BE49-F238E27FC236}">
                      <a16:creationId xmlns:a16="http://schemas.microsoft.com/office/drawing/2014/main" id="{EC8A09B1-A2F4-40F1-B4C9-C14A99FBBC45}"/>
                    </a:ext>
                  </a:extLst>
                </p:cNvPr>
                <p:cNvSpPr>
                  <a:spLocks/>
                </p:cNvSpPr>
                <p:nvPr/>
              </p:nvSpPr>
              <p:spPr bwMode="auto">
                <a:xfrm>
                  <a:off x="9975601" y="2572787"/>
                  <a:ext cx="60428" cy="49255"/>
                </a:xfrm>
                <a:custGeom>
                  <a:avLst/>
                  <a:gdLst>
                    <a:gd name="T0" fmla="*/ 67 w 419"/>
                    <a:gd name="T1" fmla="*/ 119 h 342"/>
                    <a:gd name="T2" fmla="*/ 6 w 419"/>
                    <a:gd name="T3" fmla="*/ 212 h 342"/>
                    <a:gd name="T4" fmla="*/ 2 w 419"/>
                    <a:gd name="T5" fmla="*/ 278 h 342"/>
                    <a:gd name="T6" fmla="*/ 62 w 419"/>
                    <a:gd name="T7" fmla="*/ 342 h 342"/>
                    <a:gd name="T8" fmla="*/ 419 w 419"/>
                    <a:gd name="T9" fmla="*/ 342 h 342"/>
                    <a:gd name="T10" fmla="*/ 307 w 419"/>
                    <a:gd name="T11" fmla="*/ 0 h 342"/>
                    <a:gd name="T12" fmla="*/ 67 w 419"/>
                    <a:gd name="T13" fmla="*/ 119 h 342"/>
                  </a:gdLst>
                  <a:ahLst/>
                  <a:cxnLst>
                    <a:cxn ang="0">
                      <a:pos x="T0" y="T1"/>
                    </a:cxn>
                    <a:cxn ang="0">
                      <a:pos x="T2" y="T3"/>
                    </a:cxn>
                    <a:cxn ang="0">
                      <a:pos x="T4" y="T5"/>
                    </a:cxn>
                    <a:cxn ang="0">
                      <a:pos x="T6" y="T7"/>
                    </a:cxn>
                    <a:cxn ang="0">
                      <a:pos x="T8" y="T9"/>
                    </a:cxn>
                    <a:cxn ang="0">
                      <a:pos x="T10" y="T11"/>
                    </a:cxn>
                    <a:cxn ang="0">
                      <a:pos x="T12" y="T13"/>
                    </a:cxn>
                  </a:cxnLst>
                  <a:rect l="0" t="0" r="r" b="b"/>
                  <a:pathLst>
                    <a:path w="419" h="342">
                      <a:moveTo>
                        <a:pt x="67" y="119"/>
                      </a:moveTo>
                      <a:cubicBezTo>
                        <a:pt x="36" y="135"/>
                        <a:pt x="8" y="177"/>
                        <a:pt x="6" y="212"/>
                      </a:cubicBezTo>
                      <a:cubicBezTo>
                        <a:pt x="2" y="278"/>
                        <a:pt x="2" y="278"/>
                        <a:pt x="2" y="278"/>
                      </a:cubicBezTo>
                      <a:cubicBezTo>
                        <a:pt x="0" y="313"/>
                        <a:pt x="27" y="342"/>
                        <a:pt x="62" y="342"/>
                      </a:cubicBezTo>
                      <a:cubicBezTo>
                        <a:pt x="419" y="342"/>
                        <a:pt x="419" y="342"/>
                        <a:pt x="419" y="342"/>
                      </a:cubicBezTo>
                      <a:cubicBezTo>
                        <a:pt x="307" y="0"/>
                        <a:pt x="307" y="0"/>
                        <a:pt x="307" y="0"/>
                      </a:cubicBezTo>
                      <a:lnTo>
                        <a:pt x="67" y="1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70" name="Freeform 2238">
                  <a:extLst>
                    <a:ext uri="{FF2B5EF4-FFF2-40B4-BE49-F238E27FC236}">
                      <a16:creationId xmlns:a16="http://schemas.microsoft.com/office/drawing/2014/main" id="{092E7ADB-B523-443F-ABDC-A21F67F60491}"/>
                    </a:ext>
                  </a:extLst>
                </p:cNvPr>
                <p:cNvSpPr>
                  <a:spLocks/>
                </p:cNvSpPr>
                <p:nvPr/>
              </p:nvSpPr>
              <p:spPr bwMode="auto">
                <a:xfrm>
                  <a:off x="10039221" y="2583733"/>
                  <a:ext cx="25311" cy="38309"/>
                </a:xfrm>
                <a:custGeom>
                  <a:avLst/>
                  <a:gdLst>
                    <a:gd name="T0" fmla="*/ 141 w 175"/>
                    <a:gd name="T1" fmla="*/ 0 h 266"/>
                    <a:gd name="T2" fmla="*/ 34 w 175"/>
                    <a:gd name="T3" fmla="*/ 0 h 266"/>
                    <a:gd name="T4" fmla="*/ 0 w 175"/>
                    <a:gd name="T5" fmla="*/ 34 h 266"/>
                    <a:gd name="T6" fmla="*/ 0 w 175"/>
                    <a:gd name="T7" fmla="*/ 62 h 266"/>
                    <a:gd name="T8" fmla="*/ 57 w 175"/>
                    <a:gd name="T9" fmla="*/ 143 h 266"/>
                    <a:gd name="T10" fmla="*/ 40 w 175"/>
                    <a:gd name="T11" fmla="*/ 266 h 266"/>
                    <a:gd name="T12" fmla="*/ 138 w 175"/>
                    <a:gd name="T13" fmla="*/ 266 h 266"/>
                    <a:gd name="T14" fmla="*/ 119 w 175"/>
                    <a:gd name="T15" fmla="*/ 143 h 266"/>
                    <a:gd name="T16" fmla="*/ 175 w 175"/>
                    <a:gd name="T17" fmla="*/ 62 h 266"/>
                    <a:gd name="T18" fmla="*/ 175 w 175"/>
                    <a:gd name="T19" fmla="*/ 62 h 266"/>
                    <a:gd name="T20" fmla="*/ 175 w 175"/>
                    <a:gd name="T21" fmla="*/ 34 h 266"/>
                    <a:gd name="T22" fmla="*/ 141 w 175"/>
                    <a:gd name="T2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5" h="266">
                      <a:moveTo>
                        <a:pt x="141" y="0"/>
                      </a:moveTo>
                      <a:cubicBezTo>
                        <a:pt x="34" y="0"/>
                        <a:pt x="34" y="0"/>
                        <a:pt x="34" y="0"/>
                      </a:cubicBezTo>
                      <a:cubicBezTo>
                        <a:pt x="15" y="0"/>
                        <a:pt x="0" y="15"/>
                        <a:pt x="0" y="34"/>
                      </a:cubicBezTo>
                      <a:cubicBezTo>
                        <a:pt x="0" y="62"/>
                        <a:pt x="0" y="62"/>
                        <a:pt x="0" y="62"/>
                      </a:cubicBezTo>
                      <a:cubicBezTo>
                        <a:pt x="0" y="100"/>
                        <a:pt x="23" y="131"/>
                        <a:pt x="57" y="143"/>
                      </a:cubicBezTo>
                      <a:cubicBezTo>
                        <a:pt x="40" y="266"/>
                        <a:pt x="40" y="266"/>
                        <a:pt x="40" y="266"/>
                      </a:cubicBezTo>
                      <a:cubicBezTo>
                        <a:pt x="138" y="266"/>
                        <a:pt x="138" y="266"/>
                        <a:pt x="138" y="266"/>
                      </a:cubicBezTo>
                      <a:cubicBezTo>
                        <a:pt x="119" y="143"/>
                        <a:pt x="119" y="143"/>
                        <a:pt x="119" y="143"/>
                      </a:cubicBezTo>
                      <a:cubicBezTo>
                        <a:pt x="152" y="131"/>
                        <a:pt x="175" y="99"/>
                        <a:pt x="175" y="62"/>
                      </a:cubicBezTo>
                      <a:cubicBezTo>
                        <a:pt x="175" y="62"/>
                        <a:pt x="175" y="62"/>
                        <a:pt x="175" y="62"/>
                      </a:cubicBezTo>
                      <a:cubicBezTo>
                        <a:pt x="175" y="34"/>
                        <a:pt x="175" y="34"/>
                        <a:pt x="175" y="34"/>
                      </a:cubicBezTo>
                      <a:cubicBezTo>
                        <a:pt x="175" y="15"/>
                        <a:pt x="160" y="0"/>
                        <a:pt x="14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cxnSp>
            <p:nvCxnSpPr>
              <p:cNvPr id="29" name="Straight Connector 28"/>
              <p:cNvCxnSpPr/>
              <p:nvPr/>
            </p:nvCxnSpPr>
            <p:spPr>
              <a:xfrm>
                <a:off x="4608514" y="2421531"/>
                <a:ext cx="0" cy="40957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3742525" y="3276050"/>
              <a:ext cx="2120982" cy="580787"/>
              <a:chOff x="3975018" y="3119036"/>
              <a:chExt cx="2120982" cy="580787"/>
            </a:xfrm>
          </p:grpSpPr>
          <p:sp>
            <p:nvSpPr>
              <p:cNvPr id="66" name="Rounded Rectangle 65"/>
              <p:cNvSpPr/>
              <p:nvPr/>
            </p:nvSpPr>
            <p:spPr>
              <a:xfrm>
                <a:off x="3975018" y="3119036"/>
                <a:ext cx="2120982" cy="580787"/>
              </a:xfrm>
              <a:prstGeom prst="roundRect">
                <a:avLst>
                  <a:gd name="adj" fmla="val 8530"/>
                </a:avLst>
              </a:prstGeom>
              <a:solidFill>
                <a:srgbClr val="15717D"/>
              </a:solidFill>
            </p:spPr>
            <p:txBody>
              <a:bodyPr wrap="square" lIns="73152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prstClr val="white"/>
                    </a:solidFill>
                    <a:effectLst/>
                    <a:uLnTx/>
                    <a:uFillTx/>
                    <a:latin typeface="Arial" panose="020B0604020202020204"/>
                    <a:ea typeface="+mn-ea"/>
                    <a:cs typeface="+mn-cs"/>
                  </a:rPr>
                  <a:t>10,367</a:t>
                </a:r>
                <a:br>
                  <a:rPr kumimoji="0" lang="en-GB" sz="1400" b="0" i="0" u="none" strike="noStrike" kern="0" cap="none" spc="0" normalizeH="0" baseline="0" noProof="0" dirty="0">
                    <a:ln>
                      <a:noFill/>
                    </a:ln>
                    <a:solidFill>
                      <a:prstClr val="white"/>
                    </a:solidFill>
                    <a:effectLst/>
                    <a:uLnTx/>
                    <a:uFillTx/>
                    <a:latin typeface="Arial" panose="020B0604020202020204"/>
                    <a:ea typeface="+mn-ea"/>
                    <a:cs typeface="+mn-cs"/>
                  </a:rPr>
                </a:br>
                <a:r>
                  <a:rPr kumimoji="0" lang="en-GB" sz="1200" b="0" i="0" u="none" strike="noStrike" kern="0" cap="none" spc="0" normalizeH="0" baseline="0" noProof="0" dirty="0">
                    <a:ln>
                      <a:noFill/>
                    </a:ln>
                    <a:solidFill>
                      <a:prstClr val="white"/>
                    </a:solidFill>
                    <a:effectLst/>
                    <a:uLnTx/>
                    <a:uFillTx/>
                    <a:latin typeface="Arial" panose="020B0604020202020204"/>
                    <a:ea typeface="+mn-ea"/>
                    <a:cs typeface="+mn-cs"/>
                  </a:rPr>
                  <a:t>randomised</a:t>
                </a:r>
                <a:endPar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cxnSp>
            <p:nvCxnSpPr>
              <p:cNvPr id="76" name="Straight Connector 75"/>
              <p:cNvCxnSpPr/>
              <p:nvPr/>
            </p:nvCxnSpPr>
            <p:spPr>
              <a:xfrm>
                <a:off x="4608514" y="3204642"/>
                <a:ext cx="0" cy="40957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7" name="Group 76"/>
              <p:cNvGrpSpPr/>
              <p:nvPr/>
            </p:nvGrpSpPr>
            <p:grpSpPr>
              <a:xfrm>
                <a:off x="4043288" y="3235656"/>
                <a:ext cx="466800" cy="306058"/>
                <a:chOff x="9893510" y="2414078"/>
                <a:chExt cx="317190" cy="207964"/>
              </a:xfrm>
              <a:solidFill>
                <a:schemeClr val="bg1"/>
              </a:solidFill>
            </p:grpSpPr>
            <p:sp>
              <p:nvSpPr>
                <p:cNvPr id="78" name="Freeform 2235">
                  <a:extLst>
                    <a:ext uri="{FF2B5EF4-FFF2-40B4-BE49-F238E27FC236}">
                      <a16:creationId xmlns:a16="http://schemas.microsoft.com/office/drawing/2014/main" id="{4662B1DA-4F0E-4A95-8E4E-0639E68B9B6B}"/>
                    </a:ext>
                  </a:extLst>
                </p:cNvPr>
                <p:cNvSpPr>
                  <a:spLocks noEditPoints="1"/>
                </p:cNvSpPr>
                <p:nvPr/>
              </p:nvSpPr>
              <p:spPr bwMode="auto">
                <a:xfrm>
                  <a:off x="9893510" y="2414078"/>
                  <a:ext cx="317190" cy="163270"/>
                </a:xfrm>
                <a:custGeom>
                  <a:avLst/>
                  <a:gdLst>
                    <a:gd name="T0" fmla="*/ 2193 w 2205"/>
                    <a:gd name="T1" fmla="*/ 912 h 1133"/>
                    <a:gd name="T2" fmla="*/ 1903 w 2205"/>
                    <a:gd name="T3" fmla="*/ 714 h 1133"/>
                    <a:gd name="T4" fmla="*/ 2044 w 2205"/>
                    <a:gd name="T5" fmla="*/ 696 h 1133"/>
                    <a:gd name="T6" fmla="*/ 2075 w 2205"/>
                    <a:gd name="T7" fmla="*/ 646 h 1133"/>
                    <a:gd name="T8" fmla="*/ 2015 w 2205"/>
                    <a:gd name="T9" fmla="*/ 400 h 1133"/>
                    <a:gd name="T10" fmla="*/ 1811 w 2205"/>
                    <a:gd name="T11" fmla="*/ 42 h 1133"/>
                    <a:gd name="T12" fmla="*/ 1639 w 2205"/>
                    <a:gd name="T13" fmla="*/ 42 h 1133"/>
                    <a:gd name="T14" fmla="*/ 1435 w 2205"/>
                    <a:gd name="T15" fmla="*/ 400 h 1133"/>
                    <a:gd name="T16" fmla="*/ 1386 w 2205"/>
                    <a:gd name="T17" fmla="*/ 625 h 1133"/>
                    <a:gd name="T18" fmla="*/ 1318 w 2205"/>
                    <a:gd name="T19" fmla="*/ 484 h 1133"/>
                    <a:gd name="T20" fmla="*/ 883 w 2205"/>
                    <a:gd name="T21" fmla="*/ 485 h 1133"/>
                    <a:gd name="T22" fmla="*/ 811 w 2205"/>
                    <a:gd name="T23" fmla="*/ 677 h 1133"/>
                    <a:gd name="T24" fmla="*/ 702 w 2205"/>
                    <a:gd name="T25" fmla="*/ 690 h 1133"/>
                    <a:gd name="T26" fmla="*/ 821 w 2205"/>
                    <a:gd name="T27" fmla="*/ 290 h 1133"/>
                    <a:gd name="T28" fmla="*/ 748 w 2205"/>
                    <a:gd name="T29" fmla="*/ 98 h 1133"/>
                    <a:gd name="T30" fmla="*/ 312 w 2205"/>
                    <a:gd name="T31" fmla="*/ 100 h 1133"/>
                    <a:gd name="T32" fmla="*/ 240 w 2205"/>
                    <a:gd name="T33" fmla="*/ 290 h 1133"/>
                    <a:gd name="T34" fmla="*/ 359 w 2205"/>
                    <a:gd name="T35" fmla="*/ 690 h 1133"/>
                    <a:gd name="T36" fmla="*/ 7 w 2205"/>
                    <a:gd name="T37" fmla="*/ 928 h 1133"/>
                    <a:gd name="T38" fmla="*/ 63 w 2205"/>
                    <a:gd name="T39" fmla="*/ 1058 h 1133"/>
                    <a:gd name="T40" fmla="*/ 862 w 2205"/>
                    <a:gd name="T41" fmla="*/ 1051 h 1133"/>
                    <a:gd name="T42" fmla="*/ 1101 w 2205"/>
                    <a:gd name="T43" fmla="*/ 1133 h 1133"/>
                    <a:gd name="T44" fmla="*/ 1340 w 2205"/>
                    <a:gd name="T45" fmla="*/ 1050 h 1133"/>
                    <a:gd name="T46" fmla="*/ 2144 w 2205"/>
                    <a:gd name="T47" fmla="*/ 1058 h 1133"/>
                    <a:gd name="T48" fmla="*/ 531 w 2205"/>
                    <a:gd name="T49" fmla="*/ 682 h 1133"/>
                    <a:gd name="T50" fmla="*/ 305 w 2205"/>
                    <a:gd name="T51" fmla="*/ 316 h 1133"/>
                    <a:gd name="T52" fmla="*/ 414 w 2205"/>
                    <a:gd name="T53" fmla="*/ 208 h 1133"/>
                    <a:gd name="T54" fmla="*/ 727 w 2205"/>
                    <a:gd name="T55" fmla="*/ 178 h 1133"/>
                    <a:gd name="T56" fmla="*/ 756 w 2205"/>
                    <a:gd name="T57" fmla="*/ 456 h 1133"/>
                    <a:gd name="T58" fmla="*/ 1327 w 2205"/>
                    <a:gd name="T59" fmla="*/ 843 h 1133"/>
                    <a:gd name="T60" fmla="*/ 875 w 2205"/>
                    <a:gd name="T61" fmla="*/ 843 h 1133"/>
                    <a:gd name="T62" fmla="*/ 984 w 2205"/>
                    <a:gd name="T63" fmla="*/ 594 h 1133"/>
                    <a:gd name="T64" fmla="*/ 1101 w 2205"/>
                    <a:gd name="T65" fmla="*/ 607 h 1133"/>
                    <a:gd name="T66" fmla="*/ 1327 w 2205"/>
                    <a:gd name="T67" fmla="*/ 677 h 1133"/>
                    <a:gd name="T68" fmla="*/ 1391 w 2205"/>
                    <a:gd name="T69" fmla="*/ 788 h 1133"/>
                    <a:gd name="T70" fmla="*/ 1406 w 2205"/>
                    <a:gd name="T71" fmla="*/ 696 h 1133"/>
                    <a:gd name="T72" fmla="*/ 1547 w 2205"/>
                    <a:gd name="T73" fmla="*/ 714 h 1133"/>
                    <a:gd name="T74" fmla="*/ 1725 w 2205"/>
                    <a:gd name="T75" fmla="*/ 711 h 1133"/>
                    <a:gd name="T76" fmla="*/ 1499 w 2205"/>
                    <a:gd name="T77" fmla="*/ 485 h 1133"/>
                    <a:gd name="T78" fmla="*/ 1608 w 2205"/>
                    <a:gd name="T79" fmla="*/ 322 h 1133"/>
                    <a:gd name="T80" fmla="*/ 1868 w 2205"/>
                    <a:gd name="T81" fmla="*/ 213 h 1133"/>
                    <a:gd name="T82" fmla="*/ 1951 w 2205"/>
                    <a:gd name="T83" fmla="*/ 319 h 1133"/>
                    <a:gd name="T84" fmla="*/ 1950 w 2205"/>
                    <a:gd name="T85" fmla="*/ 508 h 1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05" h="1133">
                      <a:moveTo>
                        <a:pt x="2202" y="994"/>
                      </a:moveTo>
                      <a:cubicBezTo>
                        <a:pt x="2193" y="912"/>
                        <a:pt x="2193" y="912"/>
                        <a:pt x="2193" y="912"/>
                      </a:cubicBezTo>
                      <a:cubicBezTo>
                        <a:pt x="2189" y="876"/>
                        <a:pt x="2160" y="835"/>
                        <a:pt x="2128" y="820"/>
                      </a:cubicBezTo>
                      <a:cubicBezTo>
                        <a:pt x="1903" y="714"/>
                        <a:pt x="1903" y="714"/>
                        <a:pt x="1903" y="714"/>
                      </a:cubicBezTo>
                      <a:cubicBezTo>
                        <a:pt x="1910" y="709"/>
                        <a:pt x="1917" y="703"/>
                        <a:pt x="1923" y="696"/>
                      </a:cubicBezTo>
                      <a:cubicBezTo>
                        <a:pt x="2044" y="696"/>
                        <a:pt x="2044" y="696"/>
                        <a:pt x="2044" y="696"/>
                      </a:cubicBezTo>
                      <a:cubicBezTo>
                        <a:pt x="2056" y="696"/>
                        <a:pt x="2067" y="690"/>
                        <a:pt x="2073" y="680"/>
                      </a:cubicBezTo>
                      <a:cubicBezTo>
                        <a:pt x="2080" y="669"/>
                        <a:pt x="2080" y="657"/>
                        <a:pt x="2075" y="646"/>
                      </a:cubicBezTo>
                      <a:cubicBezTo>
                        <a:pt x="2016" y="533"/>
                        <a:pt x="2016" y="511"/>
                        <a:pt x="2016" y="405"/>
                      </a:cubicBezTo>
                      <a:cubicBezTo>
                        <a:pt x="2016" y="403"/>
                        <a:pt x="2015" y="401"/>
                        <a:pt x="2015" y="400"/>
                      </a:cubicBezTo>
                      <a:cubicBezTo>
                        <a:pt x="2015" y="319"/>
                        <a:pt x="2015" y="319"/>
                        <a:pt x="2015" y="319"/>
                      </a:cubicBezTo>
                      <a:cubicBezTo>
                        <a:pt x="2015" y="189"/>
                        <a:pt x="1930" y="79"/>
                        <a:pt x="1811" y="42"/>
                      </a:cubicBezTo>
                      <a:cubicBezTo>
                        <a:pt x="1784" y="34"/>
                        <a:pt x="1755" y="29"/>
                        <a:pt x="1725" y="29"/>
                      </a:cubicBezTo>
                      <a:cubicBezTo>
                        <a:pt x="1695" y="29"/>
                        <a:pt x="1666" y="34"/>
                        <a:pt x="1639" y="42"/>
                      </a:cubicBezTo>
                      <a:cubicBezTo>
                        <a:pt x="1521" y="79"/>
                        <a:pt x="1435" y="189"/>
                        <a:pt x="1435" y="319"/>
                      </a:cubicBezTo>
                      <a:cubicBezTo>
                        <a:pt x="1435" y="400"/>
                        <a:pt x="1435" y="400"/>
                        <a:pt x="1435" y="400"/>
                      </a:cubicBezTo>
                      <a:cubicBezTo>
                        <a:pt x="1435" y="401"/>
                        <a:pt x="1434" y="403"/>
                        <a:pt x="1434" y="405"/>
                      </a:cubicBezTo>
                      <a:cubicBezTo>
                        <a:pt x="1434" y="504"/>
                        <a:pt x="1434" y="530"/>
                        <a:pt x="1386" y="625"/>
                      </a:cubicBezTo>
                      <a:cubicBezTo>
                        <a:pt x="1377" y="575"/>
                        <a:pt x="1355" y="528"/>
                        <a:pt x="1323" y="490"/>
                      </a:cubicBezTo>
                      <a:cubicBezTo>
                        <a:pt x="1321" y="488"/>
                        <a:pt x="1320" y="486"/>
                        <a:pt x="1318" y="484"/>
                      </a:cubicBezTo>
                      <a:cubicBezTo>
                        <a:pt x="1264" y="424"/>
                        <a:pt x="1187" y="387"/>
                        <a:pt x="1101" y="387"/>
                      </a:cubicBezTo>
                      <a:cubicBezTo>
                        <a:pt x="1014" y="387"/>
                        <a:pt x="937" y="425"/>
                        <a:pt x="883" y="485"/>
                      </a:cubicBezTo>
                      <a:cubicBezTo>
                        <a:pt x="882" y="487"/>
                        <a:pt x="880" y="489"/>
                        <a:pt x="879" y="490"/>
                      </a:cubicBezTo>
                      <a:cubicBezTo>
                        <a:pt x="836" y="541"/>
                        <a:pt x="811" y="606"/>
                        <a:pt x="811" y="677"/>
                      </a:cubicBezTo>
                      <a:cubicBezTo>
                        <a:pt x="811" y="744"/>
                        <a:pt x="811" y="744"/>
                        <a:pt x="811" y="744"/>
                      </a:cubicBezTo>
                      <a:cubicBezTo>
                        <a:pt x="702" y="690"/>
                        <a:pt x="702" y="690"/>
                        <a:pt x="702" y="690"/>
                      </a:cubicBezTo>
                      <a:cubicBezTo>
                        <a:pt x="774" y="637"/>
                        <a:pt x="821" y="552"/>
                        <a:pt x="821" y="456"/>
                      </a:cubicBezTo>
                      <a:cubicBezTo>
                        <a:pt x="821" y="290"/>
                        <a:pt x="821" y="290"/>
                        <a:pt x="821" y="290"/>
                      </a:cubicBezTo>
                      <a:cubicBezTo>
                        <a:pt x="821" y="219"/>
                        <a:pt x="795" y="154"/>
                        <a:pt x="753" y="104"/>
                      </a:cubicBezTo>
                      <a:cubicBezTo>
                        <a:pt x="751" y="102"/>
                        <a:pt x="749" y="100"/>
                        <a:pt x="748" y="98"/>
                      </a:cubicBezTo>
                      <a:cubicBezTo>
                        <a:pt x="694" y="38"/>
                        <a:pt x="617" y="0"/>
                        <a:pt x="531" y="0"/>
                      </a:cubicBezTo>
                      <a:cubicBezTo>
                        <a:pt x="443" y="0"/>
                        <a:pt x="365" y="39"/>
                        <a:pt x="312" y="100"/>
                      </a:cubicBezTo>
                      <a:cubicBezTo>
                        <a:pt x="311" y="101"/>
                        <a:pt x="310" y="102"/>
                        <a:pt x="309" y="104"/>
                      </a:cubicBezTo>
                      <a:cubicBezTo>
                        <a:pt x="266" y="154"/>
                        <a:pt x="240" y="219"/>
                        <a:pt x="240" y="290"/>
                      </a:cubicBezTo>
                      <a:cubicBezTo>
                        <a:pt x="240" y="456"/>
                        <a:pt x="240" y="456"/>
                        <a:pt x="240" y="456"/>
                      </a:cubicBezTo>
                      <a:cubicBezTo>
                        <a:pt x="240" y="552"/>
                        <a:pt x="287" y="637"/>
                        <a:pt x="359" y="690"/>
                      </a:cubicBezTo>
                      <a:cubicBezTo>
                        <a:pt x="68" y="835"/>
                        <a:pt x="68" y="835"/>
                        <a:pt x="68" y="835"/>
                      </a:cubicBezTo>
                      <a:cubicBezTo>
                        <a:pt x="36" y="851"/>
                        <a:pt x="9" y="893"/>
                        <a:pt x="7" y="928"/>
                      </a:cubicBezTo>
                      <a:cubicBezTo>
                        <a:pt x="2" y="994"/>
                        <a:pt x="2" y="994"/>
                        <a:pt x="2" y="994"/>
                      </a:cubicBezTo>
                      <a:cubicBezTo>
                        <a:pt x="0" y="1029"/>
                        <a:pt x="27" y="1058"/>
                        <a:pt x="63" y="1058"/>
                      </a:cubicBezTo>
                      <a:cubicBezTo>
                        <a:pt x="864" y="1058"/>
                        <a:pt x="864" y="1058"/>
                        <a:pt x="864" y="1058"/>
                      </a:cubicBezTo>
                      <a:cubicBezTo>
                        <a:pt x="862" y="1051"/>
                        <a:pt x="862" y="1051"/>
                        <a:pt x="862" y="1051"/>
                      </a:cubicBezTo>
                      <a:cubicBezTo>
                        <a:pt x="857" y="1038"/>
                        <a:pt x="859" y="1024"/>
                        <a:pt x="866" y="1013"/>
                      </a:cubicBezTo>
                      <a:cubicBezTo>
                        <a:pt x="919" y="1085"/>
                        <a:pt x="1004" y="1133"/>
                        <a:pt x="1101" y="1133"/>
                      </a:cubicBezTo>
                      <a:cubicBezTo>
                        <a:pt x="1198" y="1133"/>
                        <a:pt x="1283" y="1085"/>
                        <a:pt x="1336" y="1013"/>
                      </a:cubicBezTo>
                      <a:cubicBezTo>
                        <a:pt x="1342" y="1024"/>
                        <a:pt x="1344" y="1038"/>
                        <a:pt x="1340" y="1050"/>
                      </a:cubicBezTo>
                      <a:cubicBezTo>
                        <a:pt x="1338" y="1058"/>
                        <a:pt x="1338" y="1058"/>
                        <a:pt x="1338" y="1058"/>
                      </a:cubicBezTo>
                      <a:cubicBezTo>
                        <a:pt x="2144" y="1058"/>
                        <a:pt x="2144" y="1058"/>
                        <a:pt x="2144" y="1058"/>
                      </a:cubicBezTo>
                      <a:cubicBezTo>
                        <a:pt x="2180" y="1058"/>
                        <a:pt x="2205" y="1029"/>
                        <a:pt x="2202" y="994"/>
                      </a:cubicBezTo>
                      <a:moveTo>
                        <a:pt x="531" y="682"/>
                      </a:moveTo>
                      <a:cubicBezTo>
                        <a:pt x="406" y="682"/>
                        <a:pt x="305" y="581"/>
                        <a:pt x="305" y="456"/>
                      </a:cubicBezTo>
                      <a:cubicBezTo>
                        <a:pt x="305" y="316"/>
                        <a:pt x="305" y="316"/>
                        <a:pt x="305" y="316"/>
                      </a:cubicBezTo>
                      <a:cubicBezTo>
                        <a:pt x="305" y="256"/>
                        <a:pt x="354" y="208"/>
                        <a:pt x="413" y="208"/>
                      </a:cubicBezTo>
                      <a:cubicBezTo>
                        <a:pt x="414" y="208"/>
                        <a:pt x="414" y="208"/>
                        <a:pt x="414" y="208"/>
                      </a:cubicBezTo>
                      <a:cubicBezTo>
                        <a:pt x="448" y="216"/>
                        <a:pt x="488" y="221"/>
                        <a:pt x="531" y="221"/>
                      </a:cubicBezTo>
                      <a:cubicBezTo>
                        <a:pt x="613" y="221"/>
                        <a:pt x="685" y="204"/>
                        <a:pt x="727" y="178"/>
                      </a:cubicBezTo>
                      <a:cubicBezTo>
                        <a:pt x="745" y="211"/>
                        <a:pt x="756" y="250"/>
                        <a:pt x="756" y="290"/>
                      </a:cubicBezTo>
                      <a:cubicBezTo>
                        <a:pt x="756" y="456"/>
                        <a:pt x="756" y="456"/>
                        <a:pt x="756" y="456"/>
                      </a:cubicBezTo>
                      <a:cubicBezTo>
                        <a:pt x="756" y="581"/>
                        <a:pt x="655" y="682"/>
                        <a:pt x="531" y="682"/>
                      </a:cubicBezTo>
                      <a:moveTo>
                        <a:pt x="1327" y="843"/>
                      </a:moveTo>
                      <a:cubicBezTo>
                        <a:pt x="1327" y="967"/>
                        <a:pt x="1226" y="1068"/>
                        <a:pt x="1101" y="1068"/>
                      </a:cubicBezTo>
                      <a:cubicBezTo>
                        <a:pt x="976" y="1068"/>
                        <a:pt x="875" y="967"/>
                        <a:pt x="875" y="843"/>
                      </a:cubicBezTo>
                      <a:cubicBezTo>
                        <a:pt x="875" y="702"/>
                        <a:pt x="875" y="702"/>
                        <a:pt x="875" y="702"/>
                      </a:cubicBezTo>
                      <a:cubicBezTo>
                        <a:pt x="876" y="643"/>
                        <a:pt x="924" y="595"/>
                        <a:pt x="984" y="594"/>
                      </a:cubicBezTo>
                      <a:cubicBezTo>
                        <a:pt x="984" y="594"/>
                        <a:pt x="984" y="594"/>
                        <a:pt x="984" y="594"/>
                      </a:cubicBezTo>
                      <a:cubicBezTo>
                        <a:pt x="1018" y="602"/>
                        <a:pt x="1058" y="607"/>
                        <a:pt x="1101" y="607"/>
                      </a:cubicBezTo>
                      <a:cubicBezTo>
                        <a:pt x="1183" y="607"/>
                        <a:pt x="1255" y="590"/>
                        <a:pt x="1297" y="565"/>
                      </a:cubicBezTo>
                      <a:cubicBezTo>
                        <a:pt x="1316" y="598"/>
                        <a:pt x="1327" y="636"/>
                        <a:pt x="1327" y="677"/>
                      </a:cubicBezTo>
                      <a:lnTo>
                        <a:pt x="1327" y="843"/>
                      </a:lnTo>
                      <a:close/>
                      <a:moveTo>
                        <a:pt x="1391" y="788"/>
                      </a:moveTo>
                      <a:cubicBezTo>
                        <a:pt x="1391" y="693"/>
                        <a:pt x="1391" y="693"/>
                        <a:pt x="1391" y="693"/>
                      </a:cubicBezTo>
                      <a:cubicBezTo>
                        <a:pt x="1396" y="695"/>
                        <a:pt x="1401" y="696"/>
                        <a:pt x="1406" y="696"/>
                      </a:cubicBezTo>
                      <a:cubicBezTo>
                        <a:pt x="1526" y="696"/>
                        <a:pt x="1526" y="696"/>
                        <a:pt x="1526" y="696"/>
                      </a:cubicBezTo>
                      <a:cubicBezTo>
                        <a:pt x="1533" y="703"/>
                        <a:pt x="1540" y="709"/>
                        <a:pt x="1547" y="714"/>
                      </a:cubicBezTo>
                      <a:lnTo>
                        <a:pt x="1391" y="788"/>
                      </a:lnTo>
                      <a:close/>
                      <a:moveTo>
                        <a:pt x="1725" y="711"/>
                      </a:moveTo>
                      <a:cubicBezTo>
                        <a:pt x="1609" y="711"/>
                        <a:pt x="1512" y="622"/>
                        <a:pt x="1500" y="508"/>
                      </a:cubicBezTo>
                      <a:cubicBezTo>
                        <a:pt x="1500" y="501"/>
                        <a:pt x="1499" y="493"/>
                        <a:pt x="1499" y="485"/>
                      </a:cubicBezTo>
                      <a:cubicBezTo>
                        <a:pt x="1499" y="430"/>
                        <a:pt x="1499" y="430"/>
                        <a:pt x="1499" y="430"/>
                      </a:cubicBezTo>
                      <a:cubicBezTo>
                        <a:pt x="1500" y="370"/>
                        <a:pt x="1548" y="322"/>
                        <a:pt x="1608" y="322"/>
                      </a:cubicBezTo>
                      <a:cubicBezTo>
                        <a:pt x="1759" y="322"/>
                        <a:pt x="1759" y="322"/>
                        <a:pt x="1759" y="322"/>
                      </a:cubicBezTo>
                      <a:cubicBezTo>
                        <a:pt x="1819" y="322"/>
                        <a:pt x="1868" y="273"/>
                        <a:pt x="1868" y="213"/>
                      </a:cubicBezTo>
                      <a:cubicBezTo>
                        <a:pt x="1868" y="145"/>
                        <a:pt x="1868" y="145"/>
                        <a:pt x="1868" y="145"/>
                      </a:cubicBezTo>
                      <a:cubicBezTo>
                        <a:pt x="1919" y="186"/>
                        <a:pt x="1951" y="249"/>
                        <a:pt x="1951" y="319"/>
                      </a:cubicBezTo>
                      <a:cubicBezTo>
                        <a:pt x="1951" y="485"/>
                        <a:pt x="1951" y="485"/>
                        <a:pt x="1951" y="485"/>
                      </a:cubicBezTo>
                      <a:cubicBezTo>
                        <a:pt x="1951" y="493"/>
                        <a:pt x="1950" y="501"/>
                        <a:pt x="1950" y="508"/>
                      </a:cubicBezTo>
                      <a:cubicBezTo>
                        <a:pt x="1938" y="622"/>
                        <a:pt x="1842" y="711"/>
                        <a:pt x="1725" y="7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79" name="Freeform 2236">
                  <a:extLst>
                    <a:ext uri="{FF2B5EF4-FFF2-40B4-BE49-F238E27FC236}">
                      <a16:creationId xmlns:a16="http://schemas.microsoft.com/office/drawing/2014/main" id="{45608866-215A-44F6-B342-63C9E5364BD2}"/>
                    </a:ext>
                  </a:extLst>
                </p:cNvPr>
                <p:cNvSpPr>
                  <a:spLocks/>
                </p:cNvSpPr>
                <p:nvPr/>
              </p:nvSpPr>
              <p:spPr bwMode="auto">
                <a:xfrm>
                  <a:off x="10068637" y="2572787"/>
                  <a:ext cx="59516" cy="49255"/>
                </a:xfrm>
                <a:custGeom>
                  <a:avLst/>
                  <a:gdLst>
                    <a:gd name="T0" fmla="*/ 347 w 414"/>
                    <a:gd name="T1" fmla="*/ 119 h 342"/>
                    <a:gd name="T2" fmla="*/ 107 w 414"/>
                    <a:gd name="T3" fmla="*/ 0 h 342"/>
                    <a:gd name="T4" fmla="*/ 0 w 414"/>
                    <a:gd name="T5" fmla="*/ 342 h 342"/>
                    <a:gd name="T6" fmla="*/ 352 w 414"/>
                    <a:gd name="T7" fmla="*/ 342 h 342"/>
                    <a:gd name="T8" fmla="*/ 412 w 414"/>
                    <a:gd name="T9" fmla="*/ 278 h 342"/>
                    <a:gd name="T10" fmla="*/ 408 w 414"/>
                    <a:gd name="T11" fmla="*/ 212 h 342"/>
                    <a:gd name="T12" fmla="*/ 347 w 414"/>
                    <a:gd name="T13" fmla="*/ 119 h 342"/>
                  </a:gdLst>
                  <a:ahLst/>
                  <a:cxnLst>
                    <a:cxn ang="0">
                      <a:pos x="T0" y="T1"/>
                    </a:cxn>
                    <a:cxn ang="0">
                      <a:pos x="T2" y="T3"/>
                    </a:cxn>
                    <a:cxn ang="0">
                      <a:pos x="T4" y="T5"/>
                    </a:cxn>
                    <a:cxn ang="0">
                      <a:pos x="T6" y="T7"/>
                    </a:cxn>
                    <a:cxn ang="0">
                      <a:pos x="T8" y="T9"/>
                    </a:cxn>
                    <a:cxn ang="0">
                      <a:pos x="T10" y="T11"/>
                    </a:cxn>
                    <a:cxn ang="0">
                      <a:pos x="T12" y="T13"/>
                    </a:cxn>
                  </a:cxnLst>
                  <a:rect l="0" t="0" r="r" b="b"/>
                  <a:pathLst>
                    <a:path w="414" h="342">
                      <a:moveTo>
                        <a:pt x="347" y="119"/>
                      </a:moveTo>
                      <a:cubicBezTo>
                        <a:pt x="107" y="0"/>
                        <a:pt x="107" y="0"/>
                        <a:pt x="107" y="0"/>
                      </a:cubicBezTo>
                      <a:cubicBezTo>
                        <a:pt x="0" y="342"/>
                        <a:pt x="0" y="342"/>
                        <a:pt x="0" y="342"/>
                      </a:cubicBezTo>
                      <a:cubicBezTo>
                        <a:pt x="352" y="342"/>
                        <a:pt x="352" y="342"/>
                        <a:pt x="352" y="342"/>
                      </a:cubicBezTo>
                      <a:cubicBezTo>
                        <a:pt x="387" y="342"/>
                        <a:pt x="414" y="313"/>
                        <a:pt x="412" y="278"/>
                      </a:cubicBezTo>
                      <a:cubicBezTo>
                        <a:pt x="408" y="212"/>
                        <a:pt x="408" y="212"/>
                        <a:pt x="408" y="212"/>
                      </a:cubicBezTo>
                      <a:cubicBezTo>
                        <a:pt x="406" y="177"/>
                        <a:pt x="378" y="135"/>
                        <a:pt x="34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80" name="Freeform 2237">
                  <a:extLst>
                    <a:ext uri="{FF2B5EF4-FFF2-40B4-BE49-F238E27FC236}">
                      <a16:creationId xmlns:a16="http://schemas.microsoft.com/office/drawing/2014/main" id="{EC8A09B1-A2F4-40F1-B4C9-C14A99FBBC45}"/>
                    </a:ext>
                  </a:extLst>
                </p:cNvPr>
                <p:cNvSpPr>
                  <a:spLocks/>
                </p:cNvSpPr>
                <p:nvPr/>
              </p:nvSpPr>
              <p:spPr bwMode="auto">
                <a:xfrm>
                  <a:off x="9975601" y="2572787"/>
                  <a:ext cx="60428" cy="49255"/>
                </a:xfrm>
                <a:custGeom>
                  <a:avLst/>
                  <a:gdLst>
                    <a:gd name="T0" fmla="*/ 67 w 419"/>
                    <a:gd name="T1" fmla="*/ 119 h 342"/>
                    <a:gd name="T2" fmla="*/ 6 w 419"/>
                    <a:gd name="T3" fmla="*/ 212 h 342"/>
                    <a:gd name="T4" fmla="*/ 2 w 419"/>
                    <a:gd name="T5" fmla="*/ 278 h 342"/>
                    <a:gd name="T6" fmla="*/ 62 w 419"/>
                    <a:gd name="T7" fmla="*/ 342 h 342"/>
                    <a:gd name="T8" fmla="*/ 419 w 419"/>
                    <a:gd name="T9" fmla="*/ 342 h 342"/>
                    <a:gd name="T10" fmla="*/ 307 w 419"/>
                    <a:gd name="T11" fmla="*/ 0 h 342"/>
                    <a:gd name="T12" fmla="*/ 67 w 419"/>
                    <a:gd name="T13" fmla="*/ 119 h 342"/>
                  </a:gdLst>
                  <a:ahLst/>
                  <a:cxnLst>
                    <a:cxn ang="0">
                      <a:pos x="T0" y="T1"/>
                    </a:cxn>
                    <a:cxn ang="0">
                      <a:pos x="T2" y="T3"/>
                    </a:cxn>
                    <a:cxn ang="0">
                      <a:pos x="T4" y="T5"/>
                    </a:cxn>
                    <a:cxn ang="0">
                      <a:pos x="T6" y="T7"/>
                    </a:cxn>
                    <a:cxn ang="0">
                      <a:pos x="T8" y="T9"/>
                    </a:cxn>
                    <a:cxn ang="0">
                      <a:pos x="T10" y="T11"/>
                    </a:cxn>
                    <a:cxn ang="0">
                      <a:pos x="T12" y="T13"/>
                    </a:cxn>
                  </a:cxnLst>
                  <a:rect l="0" t="0" r="r" b="b"/>
                  <a:pathLst>
                    <a:path w="419" h="342">
                      <a:moveTo>
                        <a:pt x="67" y="119"/>
                      </a:moveTo>
                      <a:cubicBezTo>
                        <a:pt x="36" y="135"/>
                        <a:pt x="8" y="177"/>
                        <a:pt x="6" y="212"/>
                      </a:cubicBezTo>
                      <a:cubicBezTo>
                        <a:pt x="2" y="278"/>
                        <a:pt x="2" y="278"/>
                        <a:pt x="2" y="278"/>
                      </a:cubicBezTo>
                      <a:cubicBezTo>
                        <a:pt x="0" y="313"/>
                        <a:pt x="27" y="342"/>
                        <a:pt x="62" y="342"/>
                      </a:cubicBezTo>
                      <a:cubicBezTo>
                        <a:pt x="419" y="342"/>
                        <a:pt x="419" y="342"/>
                        <a:pt x="419" y="342"/>
                      </a:cubicBezTo>
                      <a:cubicBezTo>
                        <a:pt x="307" y="0"/>
                        <a:pt x="307" y="0"/>
                        <a:pt x="307" y="0"/>
                      </a:cubicBezTo>
                      <a:lnTo>
                        <a:pt x="67" y="1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81" name="Freeform 2238">
                  <a:extLst>
                    <a:ext uri="{FF2B5EF4-FFF2-40B4-BE49-F238E27FC236}">
                      <a16:creationId xmlns:a16="http://schemas.microsoft.com/office/drawing/2014/main" id="{092E7ADB-B523-443F-ABDC-A21F67F60491}"/>
                    </a:ext>
                  </a:extLst>
                </p:cNvPr>
                <p:cNvSpPr>
                  <a:spLocks/>
                </p:cNvSpPr>
                <p:nvPr/>
              </p:nvSpPr>
              <p:spPr bwMode="auto">
                <a:xfrm>
                  <a:off x="10039221" y="2583733"/>
                  <a:ext cx="25311" cy="38309"/>
                </a:xfrm>
                <a:custGeom>
                  <a:avLst/>
                  <a:gdLst>
                    <a:gd name="T0" fmla="*/ 141 w 175"/>
                    <a:gd name="T1" fmla="*/ 0 h 266"/>
                    <a:gd name="T2" fmla="*/ 34 w 175"/>
                    <a:gd name="T3" fmla="*/ 0 h 266"/>
                    <a:gd name="T4" fmla="*/ 0 w 175"/>
                    <a:gd name="T5" fmla="*/ 34 h 266"/>
                    <a:gd name="T6" fmla="*/ 0 w 175"/>
                    <a:gd name="T7" fmla="*/ 62 h 266"/>
                    <a:gd name="T8" fmla="*/ 57 w 175"/>
                    <a:gd name="T9" fmla="*/ 143 h 266"/>
                    <a:gd name="T10" fmla="*/ 40 w 175"/>
                    <a:gd name="T11" fmla="*/ 266 h 266"/>
                    <a:gd name="T12" fmla="*/ 138 w 175"/>
                    <a:gd name="T13" fmla="*/ 266 h 266"/>
                    <a:gd name="T14" fmla="*/ 119 w 175"/>
                    <a:gd name="T15" fmla="*/ 143 h 266"/>
                    <a:gd name="T16" fmla="*/ 175 w 175"/>
                    <a:gd name="T17" fmla="*/ 62 h 266"/>
                    <a:gd name="T18" fmla="*/ 175 w 175"/>
                    <a:gd name="T19" fmla="*/ 62 h 266"/>
                    <a:gd name="T20" fmla="*/ 175 w 175"/>
                    <a:gd name="T21" fmla="*/ 34 h 266"/>
                    <a:gd name="T22" fmla="*/ 141 w 175"/>
                    <a:gd name="T2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5" h="266">
                      <a:moveTo>
                        <a:pt x="141" y="0"/>
                      </a:moveTo>
                      <a:cubicBezTo>
                        <a:pt x="34" y="0"/>
                        <a:pt x="34" y="0"/>
                        <a:pt x="34" y="0"/>
                      </a:cubicBezTo>
                      <a:cubicBezTo>
                        <a:pt x="15" y="0"/>
                        <a:pt x="0" y="15"/>
                        <a:pt x="0" y="34"/>
                      </a:cubicBezTo>
                      <a:cubicBezTo>
                        <a:pt x="0" y="62"/>
                        <a:pt x="0" y="62"/>
                        <a:pt x="0" y="62"/>
                      </a:cubicBezTo>
                      <a:cubicBezTo>
                        <a:pt x="0" y="100"/>
                        <a:pt x="23" y="131"/>
                        <a:pt x="57" y="143"/>
                      </a:cubicBezTo>
                      <a:cubicBezTo>
                        <a:pt x="40" y="266"/>
                        <a:pt x="40" y="266"/>
                        <a:pt x="40" y="266"/>
                      </a:cubicBezTo>
                      <a:cubicBezTo>
                        <a:pt x="138" y="266"/>
                        <a:pt x="138" y="266"/>
                        <a:pt x="138" y="266"/>
                      </a:cubicBezTo>
                      <a:cubicBezTo>
                        <a:pt x="119" y="143"/>
                        <a:pt x="119" y="143"/>
                        <a:pt x="119" y="143"/>
                      </a:cubicBezTo>
                      <a:cubicBezTo>
                        <a:pt x="152" y="131"/>
                        <a:pt x="175" y="99"/>
                        <a:pt x="175" y="62"/>
                      </a:cubicBezTo>
                      <a:cubicBezTo>
                        <a:pt x="175" y="62"/>
                        <a:pt x="175" y="62"/>
                        <a:pt x="175" y="62"/>
                      </a:cubicBezTo>
                      <a:cubicBezTo>
                        <a:pt x="175" y="34"/>
                        <a:pt x="175" y="34"/>
                        <a:pt x="175" y="34"/>
                      </a:cubicBezTo>
                      <a:cubicBezTo>
                        <a:pt x="175" y="15"/>
                        <a:pt x="160" y="0"/>
                        <a:pt x="14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cxnSp>
          <p:nvCxnSpPr>
            <p:cNvPr id="38" name="Straight Arrow Connector 37"/>
            <p:cNvCxnSpPr>
              <a:stCxn id="11" idx="2"/>
              <a:endCxn id="66" idx="0"/>
            </p:cNvCxnSpPr>
            <p:nvPr/>
          </p:nvCxnSpPr>
          <p:spPr>
            <a:xfrm>
              <a:off x="4803016" y="2895942"/>
              <a:ext cx="0" cy="380108"/>
            </a:xfrm>
            <a:prstGeom prst="straightConnector1">
              <a:avLst/>
            </a:prstGeom>
            <a:ln w="9525">
              <a:solidFill>
                <a:srgbClr val="544F40"/>
              </a:solidFill>
              <a:tailEnd type="triangle"/>
            </a:ln>
          </p:spPr>
          <p:style>
            <a:lnRef idx="1">
              <a:schemeClr val="accent1"/>
            </a:lnRef>
            <a:fillRef idx="0">
              <a:schemeClr val="accent1"/>
            </a:fillRef>
            <a:effectRef idx="0">
              <a:schemeClr val="accent1"/>
            </a:effectRef>
            <a:fontRef idx="minor">
              <a:schemeClr val="tx1"/>
            </a:fontRef>
          </p:style>
        </p:cxnSp>
        <p:grpSp>
          <p:nvGrpSpPr>
            <p:cNvPr id="39" name="Group 38"/>
            <p:cNvGrpSpPr/>
            <p:nvPr/>
          </p:nvGrpSpPr>
          <p:grpSpPr>
            <a:xfrm>
              <a:off x="387841" y="4644900"/>
              <a:ext cx="2742420" cy="1241588"/>
              <a:chOff x="416416" y="4420303"/>
              <a:chExt cx="2742420" cy="1241588"/>
            </a:xfrm>
          </p:grpSpPr>
          <p:sp>
            <p:nvSpPr>
              <p:cNvPr id="92" name="Rounded Rectangle 91"/>
              <p:cNvSpPr/>
              <p:nvPr/>
            </p:nvSpPr>
            <p:spPr>
              <a:xfrm>
                <a:off x="777801" y="4577040"/>
                <a:ext cx="2381035" cy="1084851"/>
              </a:xfrm>
              <a:prstGeom prst="roundRect">
                <a:avLst>
                  <a:gd name="adj" fmla="val 5699"/>
                </a:avLst>
              </a:prstGeom>
              <a:solidFill>
                <a:schemeClr val="bg1"/>
              </a:solidFill>
              <a:ln>
                <a:solidFill>
                  <a:srgbClr val="544F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94" name="Rectangle 93"/>
              <p:cNvSpPr/>
              <p:nvPr/>
            </p:nvSpPr>
            <p:spPr>
              <a:xfrm>
                <a:off x="1288334" y="4882494"/>
                <a:ext cx="1704247"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srgbClr val="F36633"/>
                    </a:solidFill>
                    <a:effectLst/>
                    <a:uLnTx/>
                    <a:uFillTx/>
                    <a:latin typeface="Arial" panose="020B0604020202020204"/>
                    <a:ea typeface="+mn-ea"/>
                    <a:cs typeface="+mn-cs"/>
                  </a:rPr>
                  <a:t>82%</a:t>
                </a:r>
                <a:br>
                  <a:rPr kumimoji="0" lang="en-GB" sz="2000" b="1" i="0" u="none" strike="noStrike" kern="0" cap="none" spc="0" normalizeH="0" baseline="0" noProof="0" dirty="0">
                    <a:ln>
                      <a:noFill/>
                    </a:ln>
                    <a:solidFill>
                      <a:srgbClr val="F36633"/>
                    </a:solidFill>
                    <a:effectLst/>
                    <a:uLnTx/>
                    <a:uFillTx/>
                    <a:latin typeface="Arial" panose="020B0604020202020204"/>
                    <a:ea typeface="+mn-ea"/>
                    <a:cs typeface="+mn-cs"/>
                  </a:rPr>
                </a:br>
                <a:r>
                  <a:rPr kumimoji="0" lang="en-GB" sz="1200" b="1" i="0" u="none" strike="noStrike" kern="0" cap="none" spc="0" normalizeH="0" baseline="0" noProof="0" dirty="0">
                    <a:ln>
                      <a:noFill/>
                    </a:ln>
                    <a:solidFill>
                      <a:srgbClr val="544F40"/>
                    </a:solidFill>
                    <a:effectLst/>
                    <a:uLnTx/>
                    <a:uFillTx/>
                    <a:latin typeface="Arial" panose="020B0604020202020204"/>
                    <a:ea typeface="+mn-ea"/>
                    <a:cs typeface="+mn-cs"/>
                  </a:rPr>
                  <a:t>completed treatment</a:t>
                </a:r>
                <a:endParaRPr kumimoji="0" lang="en-US" sz="12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98" name="Oval 97"/>
              <p:cNvSpPr/>
              <p:nvPr/>
            </p:nvSpPr>
            <p:spPr>
              <a:xfrm>
                <a:off x="416416" y="4796284"/>
                <a:ext cx="757194" cy="757194"/>
              </a:xfrm>
              <a:prstGeom prst="ellipse">
                <a:avLst/>
              </a:prstGeom>
              <a:solidFill>
                <a:schemeClr val="bg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99" name="Group 98"/>
              <p:cNvGrpSpPr/>
              <p:nvPr/>
            </p:nvGrpSpPr>
            <p:grpSpPr>
              <a:xfrm>
                <a:off x="493834" y="5026641"/>
                <a:ext cx="602359" cy="296480"/>
                <a:chOff x="585965" y="1906158"/>
                <a:chExt cx="649117" cy="319496"/>
              </a:xfrm>
              <a:solidFill>
                <a:srgbClr val="40488D"/>
              </a:solidFill>
            </p:grpSpPr>
            <p:grpSp>
              <p:nvGrpSpPr>
                <p:cNvPr id="100" name="Group 49">
                  <a:extLst>
                    <a:ext uri="{FF2B5EF4-FFF2-40B4-BE49-F238E27FC236}">
                      <a16:creationId xmlns:a16="http://schemas.microsoft.com/office/drawing/2014/main" id="{FB193B8B-7DA0-49AA-A85D-7125B1D5053C}"/>
                    </a:ext>
                  </a:extLst>
                </p:cNvPr>
                <p:cNvGrpSpPr>
                  <a:grpSpLocks noChangeAspect="1"/>
                </p:cNvGrpSpPr>
                <p:nvPr/>
              </p:nvGrpSpPr>
              <p:grpSpPr bwMode="auto">
                <a:xfrm>
                  <a:off x="938682" y="1906158"/>
                  <a:ext cx="296400" cy="319496"/>
                  <a:chOff x="880" y="2"/>
                  <a:chExt cx="4004" cy="4316"/>
                </a:xfrm>
                <a:grpFill/>
              </p:grpSpPr>
              <p:sp>
                <p:nvSpPr>
                  <p:cNvPr id="105" name="Freeform 50">
                    <a:extLst>
                      <a:ext uri="{FF2B5EF4-FFF2-40B4-BE49-F238E27FC236}">
                        <a16:creationId xmlns:a16="http://schemas.microsoft.com/office/drawing/2014/main" id="{FA10BB8D-F9F3-4AE7-880D-F73D2A84139D}"/>
                      </a:ext>
                    </a:extLst>
                  </p:cNvPr>
                  <p:cNvSpPr>
                    <a:spLocks noEditPoints="1"/>
                  </p:cNvSpPr>
                  <p:nvPr/>
                </p:nvSpPr>
                <p:spPr bwMode="auto">
                  <a:xfrm>
                    <a:off x="1392" y="2"/>
                    <a:ext cx="2976" cy="3131"/>
                  </a:xfrm>
                  <a:custGeom>
                    <a:avLst/>
                    <a:gdLst>
                      <a:gd name="T0" fmla="*/ 1507 w 1518"/>
                      <a:gd name="T1" fmla="*/ 1326 h 1596"/>
                      <a:gd name="T2" fmla="*/ 1380 w 1518"/>
                      <a:gd name="T3" fmla="*/ 798 h 1596"/>
                      <a:gd name="T4" fmla="*/ 1380 w 1518"/>
                      <a:gd name="T5" fmla="*/ 621 h 1596"/>
                      <a:gd name="T6" fmla="*/ 759 w 1518"/>
                      <a:gd name="T7" fmla="*/ 0 h 1596"/>
                      <a:gd name="T8" fmla="*/ 139 w 1518"/>
                      <a:gd name="T9" fmla="*/ 621 h 1596"/>
                      <a:gd name="T10" fmla="*/ 139 w 1518"/>
                      <a:gd name="T11" fmla="*/ 798 h 1596"/>
                      <a:gd name="T12" fmla="*/ 11 w 1518"/>
                      <a:gd name="T13" fmla="*/ 1326 h 1596"/>
                      <a:gd name="T14" fmla="*/ 14 w 1518"/>
                      <a:gd name="T15" fmla="*/ 1395 h 1596"/>
                      <a:gd name="T16" fmla="*/ 74 w 1518"/>
                      <a:gd name="T17" fmla="*/ 1429 h 1596"/>
                      <a:gd name="T18" fmla="*/ 336 w 1518"/>
                      <a:gd name="T19" fmla="*/ 1429 h 1596"/>
                      <a:gd name="T20" fmla="*/ 759 w 1518"/>
                      <a:gd name="T21" fmla="*/ 1596 h 1596"/>
                      <a:gd name="T22" fmla="*/ 1183 w 1518"/>
                      <a:gd name="T23" fmla="*/ 1429 h 1596"/>
                      <a:gd name="T24" fmla="*/ 1444 w 1518"/>
                      <a:gd name="T25" fmla="*/ 1429 h 1596"/>
                      <a:gd name="T26" fmla="*/ 1505 w 1518"/>
                      <a:gd name="T27" fmla="*/ 1395 h 1596"/>
                      <a:gd name="T28" fmla="*/ 1507 w 1518"/>
                      <a:gd name="T29" fmla="*/ 1326 h 1596"/>
                      <a:gd name="T30" fmla="*/ 1238 w 1518"/>
                      <a:gd name="T31" fmla="*/ 976 h 1596"/>
                      <a:gd name="T32" fmla="*/ 759 w 1518"/>
                      <a:gd name="T33" fmla="*/ 1455 h 1596"/>
                      <a:gd name="T34" fmla="*/ 280 w 1518"/>
                      <a:gd name="T35" fmla="*/ 976 h 1596"/>
                      <a:gd name="T36" fmla="*/ 280 w 1518"/>
                      <a:gd name="T37" fmla="*/ 858 h 1596"/>
                      <a:gd name="T38" fmla="*/ 513 w 1518"/>
                      <a:gd name="T39" fmla="*/ 627 h 1596"/>
                      <a:gd name="T40" fmla="*/ 832 w 1518"/>
                      <a:gd name="T41" fmla="*/ 627 h 1596"/>
                      <a:gd name="T42" fmla="*/ 1065 w 1518"/>
                      <a:gd name="T43" fmla="*/ 394 h 1596"/>
                      <a:gd name="T44" fmla="*/ 1065 w 1518"/>
                      <a:gd name="T45" fmla="*/ 252 h 1596"/>
                      <a:gd name="T46" fmla="*/ 1238 w 1518"/>
                      <a:gd name="T47" fmla="*/ 621 h 1596"/>
                      <a:gd name="T48" fmla="*/ 1238 w 1518"/>
                      <a:gd name="T49" fmla="*/ 976 h 1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18" h="1596">
                        <a:moveTo>
                          <a:pt x="1507" y="1326"/>
                        </a:moveTo>
                        <a:cubicBezTo>
                          <a:pt x="1380" y="1080"/>
                          <a:pt x="1380" y="1031"/>
                          <a:pt x="1380" y="798"/>
                        </a:cubicBezTo>
                        <a:cubicBezTo>
                          <a:pt x="1380" y="621"/>
                          <a:pt x="1380" y="621"/>
                          <a:pt x="1380" y="621"/>
                        </a:cubicBezTo>
                        <a:cubicBezTo>
                          <a:pt x="1380" y="278"/>
                          <a:pt x="1102" y="0"/>
                          <a:pt x="759" y="0"/>
                        </a:cubicBezTo>
                        <a:cubicBezTo>
                          <a:pt x="417" y="0"/>
                          <a:pt x="139" y="278"/>
                          <a:pt x="139" y="621"/>
                        </a:cubicBezTo>
                        <a:cubicBezTo>
                          <a:pt x="139" y="798"/>
                          <a:pt x="139" y="798"/>
                          <a:pt x="139" y="798"/>
                        </a:cubicBezTo>
                        <a:cubicBezTo>
                          <a:pt x="139" y="1031"/>
                          <a:pt x="139" y="1080"/>
                          <a:pt x="11" y="1326"/>
                        </a:cubicBezTo>
                        <a:cubicBezTo>
                          <a:pt x="0" y="1348"/>
                          <a:pt x="1" y="1374"/>
                          <a:pt x="14" y="1395"/>
                        </a:cubicBezTo>
                        <a:cubicBezTo>
                          <a:pt x="27" y="1416"/>
                          <a:pt x="50" y="1429"/>
                          <a:pt x="74" y="1429"/>
                        </a:cubicBezTo>
                        <a:cubicBezTo>
                          <a:pt x="336" y="1429"/>
                          <a:pt x="336" y="1429"/>
                          <a:pt x="336" y="1429"/>
                        </a:cubicBezTo>
                        <a:cubicBezTo>
                          <a:pt x="447" y="1533"/>
                          <a:pt x="596" y="1596"/>
                          <a:pt x="759" y="1596"/>
                        </a:cubicBezTo>
                        <a:cubicBezTo>
                          <a:pt x="923" y="1596"/>
                          <a:pt x="1072" y="1533"/>
                          <a:pt x="1183" y="1429"/>
                        </a:cubicBezTo>
                        <a:cubicBezTo>
                          <a:pt x="1444" y="1429"/>
                          <a:pt x="1444" y="1429"/>
                          <a:pt x="1444" y="1429"/>
                        </a:cubicBezTo>
                        <a:cubicBezTo>
                          <a:pt x="1469" y="1429"/>
                          <a:pt x="1492" y="1416"/>
                          <a:pt x="1505" y="1395"/>
                        </a:cubicBezTo>
                        <a:cubicBezTo>
                          <a:pt x="1518" y="1374"/>
                          <a:pt x="1518" y="1348"/>
                          <a:pt x="1507" y="1326"/>
                        </a:cubicBezTo>
                        <a:moveTo>
                          <a:pt x="1238" y="976"/>
                        </a:moveTo>
                        <a:cubicBezTo>
                          <a:pt x="1238" y="1240"/>
                          <a:pt x="1024" y="1455"/>
                          <a:pt x="759" y="1455"/>
                        </a:cubicBezTo>
                        <a:cubicBezTo>
                          <a:pt x="495" y="1455"/>
                          <a:pt x="280" y="1240"/>
                          <a:pt x="280" y="976"/>
                        </a:cubicBezTo>
                        <a:cubicBezTo>
                          <a:pt x="280" y="858"/>
                          <a:pt x="280" y="858"/>
                          <a:pt x="280" y="858"/>
                        </a:cubicBezTo>
                        <a:cubicBezTo>
                          <a:pt x="281" y="730"/>
                          <a:pt x="385" y="627"/>
                          <a:pt x="513" y="627"/>
                        </a:cubicBezTo>
                        <a:cubicBezTo>
                          <a:pt x="832" y="627"/>
                          <a:pt x="832" y="627"/>
                          <a:pt x="832" y="627"/>
                        </a:cubicBezTo>
                        <a:cubicBezTo>
                          <a:pt x="961" y="627"/>
                          <a:pt x="1065" y="522"/>
                          <a:pt x="1065" y="394"/>
                        </a:cubicBezTo>
                        <a:cubicBezTo>
                          <a:pt x="1065" y="252"/>
                          <a:pt x="1065" y="252"/>
                          <a:pt x="1065" y="252"/>
                        </a:cubicBezTo>
                        <a:cubicBezTo>
                          <a:pt x="1171" y="340"/>
                          <a:pt x="1238" y="473"/>
                          <a:pt x="1238" y="621"/>
                        </a:cubicBezTo>
                        <a:lnTo>
                          <a:pt x="1238" y="976"/>
                        </a:ln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106" name="Freeform 51">
                    <a:extLst>
                      <a:ext uri="{FF2B5EF4-FFF2-40B4-BE49-F238E27FC236}">
                        <a16:creationId xmlns:a16="http://schemas.microsoft.com/office/drawing/2014/main" id="{D5BF3EC2-BEF4-414D-A0D4-0403D5065E7F}"/>
                      </a:ext>
                    </a:extLst>
                  </p:cNvPr>
                  <p:cNvSpPr>
                    <a:spLocks/>
                  </p:cNvSpPr>
                  <p:nvPr/>
                </p:nvSpPr>
                <p:spPr bwMode="auto">
                  <a:xfrm>
                    <a:off x="880" y="2957"/>
                    <a:ext cx="4004" cy="1361"/>
                  </a:xfrm>
                  <a:custGeom>
                    <a:avLst/>
                    <a:gdLst>
                      <a:gd name="T0" fmla="*/ 1020 w 2042"/>
                      <a:gd name="T1" fmla="*/ 204 h 694"/>
                      <a:gd name="T2" fmla="*/ 650 w 2042"/>
                      <a:gd name="T3" fmla="*/ 345 h 694"/>
                      <a:gd name="T4" fmla="*/ 625 w 2042"/>
                      <a:gd name="T5" fmla="*/ 349 h 694"/>
                      <a:gd name="T6" fmla="*/ 584 w 2042"/>
                      <a:gd name="T7" fmla="*/ 337 h 694"/>
                      <a:gd name="T8" fmla="*/ 554 w 2042"/>
                      <a:gd name="T9" fmla="*/ 279 h 694"/>
                      <a:gd name="T10" fmla="*/ 554 w 2042"/>
                      <a:gd name="T11" fmla="*/ 0 h 694"/>
                      <a:gd name="T12" fmla="*/ 162 w 2042"/>
                      <a:gd name="T13" fmla="*/ 184 h 694"/>
                      <a:gd name="T14" fmla="*/ 19 w 2042"/>
                      <a:gd name="T15" fmla="*/ 385 h 694"/>
                      <a:gd name="T16" fmla="*/ 2 w 2042"/>
                      <a:gd name="T17" fmla="*/ 554 h 694"/>
                      <a:gd name="T18" fmla="*/ 6 w 2042"/>
                      <a:gd name="T19" fmla="*/ 608 h 694"/>
                      <a:gd name="T20" fmla="*/ 128 w 2042"/>
                      <a:gd name="T21" fmla="*/ 694 h 694"/>
                      <a:gd name="T22" fmla="*/ 1913 w 2042"/>
                      <a:gd name="T23" fmla="*/ 694 h 694"/>
                      <a:gd name="T24" fmla="*/ 2035 w 2042"/>
                      <a:gd name="T25" fmla="*/ 610 h 694"/>
                      <a:gd name="T26" fmla="*/ 2040 w 2042"/>
                      <a:gd name="T27" fmla="*/ 554 h 694"/>
                      <a:gd name="T28" fmla="*/ 2022 w 2042"/>
                      <a:gd name="T29" fmla="*/ 385 h 694"/>
                      <a:gd name="T30" fmla="*/ 1879 w 2042"/>
                      <a:gd name="T31" fmla="*/ 184 h 694"/>
                      <a:gd name="T32" fmla="*/ 1488 w 2042"/>
                      <a:gd name="T33" fmla="*/ 0 h 694"/>
                      <a:gd name="T34" fmla="*/ 1488 w 2042"/>
                      <a:gd name="T35" fmla="*/ 279 h 694"/>
                      <a:gd name="T36" fmla="*/ 1457 w 2042"/>
                      <a:gd name="T37" fmla="*/ 337 h 694"/>
                      <a:gd name="T38" fmla="*/ 1417 w 2042"/>
                      <a:gd name="T39" fmla="*/ 349 h 694"/>
                      <a:gd name="T40" fmla="*/ 1392 w 2042"/>
                      <a:gd name="T41" fmla="*/ 345 h 694"/>
                      <a:gd name="T42" fmla="*/ 1020 w 2042"/>
                      <a:gd name="T43" fmla="*/ 204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42" h="694">
                        <a:moveTo>
                          <a:pt x="1020" y="204"/>
                        </a:moveTo>
                        <a:cubicBezTo>
                          <a:pt x="650" y="345"/>
                          <a:pt x="650" y="345"/>
                          <a:pt x="650" y="345"/>
                        </a:cubicBezTo>
                        <a:cubicBezTo>
                          <a:pt x="641" y="348"/>
                          <a:pt x="633" y="349"/>
                          <a:pt x="625" y="349"/>
                        </a:cubicBezTo>
                        <a:cubicBezTo>
                          <a:pt x="610" y="349"/>
                          <a:pt x="596" y="345"/>
                          <a:pt x="584" y="337"/>
                        </a:cubicBezTo>
                        <a:cubicBezTo>
                          <a:pt x="565" y="323"/>
                          <a:pt x="554" y="302"/>
                          <a:pt x="554" y="279"/>
                        </a:cubicBezTo>
                        <a:cubicBezTo>
                          <a:pt x="554" y="0"/>
                          <a:pt x="554" y="0"/>
                          <a:pt x="554" y="0"/>
                        </a:cubicBezTo>
                        <a:cubicBezTo>
                          <a:pt x="162" y="184"/>
                          <a:pt x="162" y="184"/>
                          <a:pt x="162" y="184"/>
                        </a:cubicBezTo>
                        <a:cubicBezTo>
                          <a:pt x="92" y="217"/>
                          <a:pt x="35" y="269"/>
                          <a:pt x="19" y="385"/>
                        </a:cubicBezTo>
                        <a:cubicBezTo>
                          <a:pt x="2" y="554"/>
                          <a:pt x="2" y="554"/>
                          <a:pt x="2" y="554"/>
                        </a:cubicBezTo>
                        <a:cubicBezTo>
                          <a:pt x="0" y="573"/>
                          <a:pt x="0" y="591"/>
                          <a:pt x="6" y="608"/>
                        </a:cubicBezTo>
                        <a:cubicBezTo>
                          <a:pt x="22" y="659"/>
                          <a:pt x="70" y="694"/>
                          <a:pt x="128" y="694"/>
                        </a:cubicBezTo>
                        <a:cubicBezTo>
                          <a:pt x="1913" y="694"/>
                          <a:pt x="1913" y="694"/>
                          <a:pt x="1913" y="694"/>
                        </a:cubicBezTo>
                        <a:cubicBezTo>
                          <a:pt x="1971" y="694"/>
                          <a:pt x="2019" y="659"/>
                          <a:pt x="2035" y="610"/>
                        </a:cubicBezTo>
                        <a:cubicBezTo>
                          <a:pt x="2041" y="592"/>
                          <a:pt x="2042" y="573"/>
                          <a:pt x="2040" y="554"/>
                        </a:cubicBezTo>
                        <a:cubicBezTo>
                          <a:pt x="2022" y="385"/>
                          <a:pt x="2022" y="385"/>
                          <a:pt x="2022" y="385"/>
                        </a:cubicBezTo>
                        <a:cubicBezTo>
                          <a:pt x="2007" y="269"/>
                          <a:pt x="1950" y="217"/>
                          <a:pt x="1879" y="184"/>
                        </a:cubicBezTo>
                        <a:cubicBezTo>
                          <a:pt x="1488" y="0"/>
                          <a:pt x="1488" y="0"/>
                          <a:pt x="1488" y="0"/>
                        </a:cubicBezTo>
                        <a:cubicBezTo>
                          <a:pt x="1488" y="279"/>
                          <a:pt x="1488" y="279"/>
                          <a:pt x="1488" y="279"/>
                        </a:cubicBezTo>
                        <a:cubicBezTo>
                          <a:pt x="1488" y="302"/>
                          <a:pt x="1476" y="323"/>
                          <a:pt x="1457" y="337"/>
                        </a:cubicBezTo>
                        <a:cubicBezTo>
                          <a:pt x="1445" y="345"/>
                          <a:pt x="1431" y="349"/>
                          <a:pt x="1417" y="349"/>
                        </a:cubicBezTo>
                        <a:cubicBezTo>
                          <a:pt x="1408" y="349"/>
                          <a:pt x="1400" y="348"/>
                          <a:pt x="1392" y="345"/>
                        </a:cubicBezTo>
                        <a:lnTo>
                          <a:pt x="1020" y="204"/>
                        </a:ln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101" name="Group 43">
                  <a:extLst>
                    <a:ext uri="{FF2B5EF4-FFF2-40B4-BE49-F238E27FC236}">
                      <a16:creationId xmlns:a16="http://schemas.microsoft.com/office/drawing/2014/main" id="{69FA521D-A80C-4247-B879-BB480614D8BF}"/>
                    </a:ext>
                  </a:extLst>
                </p:cNvPr>
                <p:cNvGrpSpPr>
                  <a:grpSpLocks noChangeAspect="1"/>
                </p:cNvGrpSpPr>
                <p:nvPr/>
              </p:nvGrpSpPr>
              <p:grpSpPr bwMode="auto">
                <a:xfrm>
                  <a:off x="585965" y="1906158"/>
                  <a:ext cx="320678" cy="319496"/>
                  <a:chOff x="710" y="-2"/>
                  <a:chExt cx="4338" cy="4322"/>
                </a:xfrm>
                <a:grpFill/>
              </p:grpSpPr>
              <p:sp>
                <p:nvSpPr>
                  <p:cNvPr id="102" name="Freeform 44">
                    <a:extLst>
                      <a:ext uri="{FF2B5EF4-FFF2-40B4-BE49-F238E27FC236}">
                        <a16:creationId xmlns:a16="http://schemas.microsoft.com/office/drawing/2014/main" id="{9CD9F0C5-3331-4120-A49D-4A8EBDD2CBD6}"/>
                      </a:ext>
                    </a:extLst>
                  </p:cNvPr>
                  <p:cNvSpPr>
                    <a:spLocks noEditPoints="1"/>
                  </p:cNvSpPr>
                  <p:nvPr/>
                </p:nvSpPr>
                <p:spPr bwMode="auto">
                  <a:xfrm>
                    <a:off x="1694" y="-2"/>
                    <a:ext cx="2370" cy="3051"/>
                  </a:xfrm>
                  <a:custGeom>
                    <a:avLst/>
                    <a:gdLst>
                      <a:gd name="T0" fmla="*/ 1065 w 1207"/>
                      <a:gd name="T1" fmla="*/ 215 h 1553"/>
                      <a:gd name="T2" fmla="*/ 1063 w 1207"/>
                      <a:gd name="T3" fmla="*/ 213 h 1553"/>
                      <a:gd name="T4" fmla="*/ 604 w 1207"/>
                      <a:gd name="T5" fmla="*/ 0 h 1553"/>
                      <a:gd name="T6" fmla="*/ 144 w 1207"/>
                      <a:gd name="T7" fmla="*/ 213 h 1553"/>
                      <a:gd name="T8" fmla="*/ 142 w 1207"/>
                      <a:gd name="T9" fmla="*/ 215 h 1553"/>
                      <a:gd name="T10" fmla="*/ 0 w 1207"/>
                      <a:gd name="T11" fmla="*/ 604 h 1553"/>
                      <a:gd name="T12" fmla="*/ 0 w 1207"/>
                      <a:gd name="T13" fmla="*/ 949 h 1553"/>
                      <a:gd name="T14" fmla="*/ 604 w 1207"/>
                      <a:gd name="T15" fmla="*/ 1553 h 1553"/>
                      <a:gd name="T16" fmla="*/ 1207 w 1207"/>
                      <a:gd name="T17" fmla="*/ 949 h 1553"/>
                      <a:gd name="T18" fmla="*/ 1207 w 1207"/>
                      <a:gd name="T19" fmla="*/ 604 h 1553"/>
                      <a:gd name="T20" fmla="*/ 1065 w 1207"/>
                      <a:gd name="T21" fmla="*/ 215 h 1553"/>
                      <a:gd name="T22" fmla="*/ 1070 w 1207"/>
                      <a:gd name="T23" fmla="*/ 949 h 1553"/>
                      <a:gd name="T24" fmla="*/ 604 w 1207"/>
                      <a:gd name="T25" fmla="*/ 1415 h 1553"/>
                      <a:gd name="T26" fmla="*/ 138 w 1207"/>
                      <a:gd name="T27" fmla="*/ 949 h 1553"/>
                      <a:gd name="T28" fmla="*/ 138 w 1207"/>
                      <a:gd name="T29" fmla="*/ 660 h 1553"/>
                      <a:gd name="T30" fmla="*/ 363 w 1207"/>
                      <a:gd name="T31" fmla="*/ 433 h 1553"/>
                      <a:gd name="T32" fmla="*/ 604 w 1207"/>
                      <a:gd name="T33" fmla="*/ 458 h 1553"/>
                      <a:gd name="T34" fmla="*/ 1008 w 1207"/>
                      <a:gd name="T35" fmla="*/ 373 h 1553"/>
                      <a:gd name="T36" fmla="*/ 1070 w 1207"/>
                      <a:gd name="T37" fmla="*/ 604 h 1553"/>
                      <a:gd name="T38" fmla="*/ 1070 w 1207"/>
                      <a:gd name="T39" fmla="*/ 949 h 1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07" h="1553">
                        <a:moveTo>
                          <a:pt x="1065" y="215"/>
                        </a:moveTo>
                        <a:cubicBezTo>
                          <a:pt x="1065" y="214"/>
                          <a:pt x="1064" y="214"/>
                          <a:pt x="1063" y="213"/>
                        </a:cubicBezTo>
                        <a:cubicBezTo>
                          <a:pt x="952" y="83"/>
                          <a:pt x="788" y="0"/>
                          <a:pt x="604" y="0"/>
                        </a:cubicBezTo>
                        <a:cubicBezTo>
                          <a:pt x="419" y="0"/>
                          <a:pt x="255" y="83"/>
                          <a:pt x="144" y="213"/>
                        </a:cubicBezTo>
                        <a:cubicBezTo>
                          <a:pt x="143" y="214"/>
                          <a:pt x="143" y="214"/>
                          <a:pt x="142" y="215"/>
                        </a:cubicBezTo>
                        <a:cubicBezTo>
                          <a:pt x="54" y="320"/>
                          <a:pt x="0" y="456"/>
                          <a:pt x="0" y="604"/>
                        </a:cubicBezTo>
                        <a:cubicBezTo>
                          <a:pt x="0" y="949"/>
                          <a:pt x="0" y="949"/>
                          <a:pt x="0" y="949"/>
                        </a:cubicBezTo>
                        <a:cubicBezTo>
                          <a:pt x="0" y="1283"/>
                          <a:pt x="270" y="1553"/>
                          <a:pt x="604" y="1553"/>
                        </a:cubicBezTo>
                        <a:cubicBezTo>
                          <a:pt x="937" y="1553"/>
                          <a:pt x="1207" y="1283"/>
                          <a:pt x="1207" y="949"/>
                        </a:cubicBezTo>
                        <a:cubicBezTo>
                          <a:pt x="1207" y="604"/>
                          <a:pt x="1207" y="604"/>
                          <a:pt x="1207" y="604"/>
                        </a:cubicBezTo>
                        <a:cubicBezTo>
                          <a:pt x="1207" y="456"/>
                          <a:pt x="1154" y="320"/>
                          <a:pt x="1065" y="215"/>
                        </a:cubicBezTo>
                        <a:moveTo>
                          <a:pt x="1070" y="949"/>
                        </a:moveTo>
                        <a:cubicBezTo>
                          <a:pt x="1070" y="1206"/>
                          <a:pt x="861" y="1415"/>
                          <a:pt x="604" y="1415"/>
                        </a:cubicBezTo>
                        <a:cubicBezTo>
                          <a:pt x="347" y="1415"/>
                          <a:pt x="138" y="1206"/>
                          <a:pt x="138" y="949"/>
                        </a:cubicBezTo>
                        <a:cubicBezTo>
                          <a:pt x="138" y="660"/>
                          <a:pt x="138" y="660"/>
                          <a:pt x="138" y="660"/>
                        </a:cubicBezTo>
                        <a:cubicBezTo>
                          <a:pt x="138" y="535"/>
                          <a:pt x="238" y="434"/>
                          <a:pt x="363" y="433"/>
                        </a:cubicBezTo>
                        <a:cubicBezTo>
                          <a:pt x="434" y="449"/>
                          <a:pt x="516" y="458"/>
                          <a:pt x="604" y="458"/>
                        </a:cubicBezTo>
                        <a:cubicBezTo>
                          <a:pt x="773" y="458"/>
                          <a:pt x="922" y="424"/>
                          <a:pt x="1008" y="373"/>
                        </a:cubicBezTo>
                        <a:cubicBezTo>
                          <a:pt x="1047" y="441"/>
                          <a:pt x="1070" y="520"/>
                          <a:pt x="1070" y="604"/>
                        </a:cubicBezTo>
                        <a:lnTo>
                          <a:pt x="1070" y="949"/>
                        </a:ln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103" name="Freeform 45">
                    <a:extLst>
                      <a:ext uri="{FF2B5EF4-FFF2-40B4-BE49-F238E27FC236}">
                        <a16:creationId xmlns:a16="http://schemas.microsoft.com/office/drawing/2014/main" id="{13303606-36A6-468C-BE2D-3E23ADF6F901}"/>
                      </a:ext>
                    </a:extLst>
                  </p:cNvPr>
                  <p:cNvSpPr>
                    <a:spLocks/>
                  </p:cNvSpPr>
                  <p:nvPr/>
                </p:nvSpPr>
                <p:spPr bwMode="auto">
                  <a:xfrm>
                    <a:off x="710" y="2913"/>
                    <a:ext cx="2027" cy="1407"/>
                  </a:xfrm>
                  <a:custGeom>
                    <a:avLst/>
                    <a:gdLst>
                      <a:gd name="T0" fmla="*/ 144 w 1032"/>
                      <a:gd name="T1" fmla="*/ 251 h 716"/>
                      <a:gd name="T2" fmla="*/ 13 w 1032"/>
                      <a:gd name="T3" fmla="*/ 450 h 716"/>
                      <a:gd name="T4" fmla="*/ 5 w 1032"/>
                      <a:gd name="T5" fmla="*/ 579 h 716"/>
                      <a:gd name="T6" fmla="*/ 134 w 1032"/>
                      <a:gd name="T7" fmla="*/ 716 h 716"/>
                      <a:gd name="T8" fmla="*/ 1032 w 1032"/>
                      <a:gd name="T9" fmla="*/ 716 h 716"/>
                      <a:gd name="T10" fmla="*/ 910 w 1032"/>
                      <a:gd name="T11" fmla="*/ 313 h 716"/>
                      <a:gd name="T12" fmla="*/ 743 w 1032"/>
                      <a:gd name="T13" fmla="*/ 376 h 716"/>
                      <a:gd name="T14" fmla="*/ 718 w 1032"/>
                      <a:gd name="T15" fmla="*/ 381 h 716"/>
                      <a:gd name="T16" fmla="*/ 679 w 1032"/>
                      <a:gd name="T17" fmla="*/ 369 h 716"/>
                      <a:gd name="T18" fmla="*/ 649 w 1032"/>
                      <a:gd name="T19" fmla="*/ 312 h 716"/>
                      <a:gd name="T20" fmla="*/ 649 w 1032"/>
                      <a:gd name="T21" fmla="*/ 0 h 716"/>
                      <a:gd name="T22" fmla="*/ 144 w 1032"/>
                      <a:gd name="T23" fmla="*/ 251 h 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32" h="716">
                        <a:moveTo>
                          <a:pt x="144" y="251"/>
                        </a:moveTo>
                        <a:cubicBezTo>
                          <a:pt x="77" y="285"/>
                          <a:pt x="24" y="341"/>
                          <a:pt x="13" y="450"/>
                        </a:cubicBezTo>
                        <a:cubicBezTo>
                          <a:pt x="5" y="579"/>
                          <a:pt x="5" y="579"/>
                          <a:pt x="5" y="579"/>
                        </a:cubicBezTo>
                        <a:cubicBezTo>
                          <a:pt x="0" y="655"/>
                          <a:pt x="58" y="716"/>
                          <a:pt x="134" y="716"/>
                        </a:cubicBezTo>
                        <a:cubicBezTo>
                          <a:pt x="1032" y="716"/>
                          <a:pt x="1032" y="716"/>
                          <a:pt x="1032" y="716"/>
                        </a:cubicBezTo>
                        <a:cubicBezTo>
                          <a:pt x="910" y="313"/>
                          <a:pt x="910" y="313"/>
                          <a:pt x="910" y="313"/>
                        </a:cubicBezTo>
                        <a:cubicBezTo>
                          <a:pt x="743" y="376"/>
                          <a:pt x="743" y="376"/>
                          <a:pt x="743" y="376"/>
                        </a:cubicBezTo>
                        <a:cubicBezTo>
                          <a:pt x="735" y="379"/>
                          <a:pt x="726" y="381"/>
                          <a:pt x="718" y="381"/>
                        </a:cubicBezTo>
                        <a:cubicBezTo>
                          <a:pt x="704" y="381"/>
                          <a:pt x="691" y="377"/>
                          <a:pt x="679" y="369"/>
                        </a:cubicBezTo>
                        <a:cubicBezTo>
                          <a:pt x="661" y="356"/>
                          <a:pt x="649" y="335"/>
                          <a:pt x="649" y="312"/>
                        </a:cubicBezTo>
                        <a:cubicBezTo>
                          <a:pt x="649" y="0"/>
                          <a:pt x="649" y="0"/>
                          <a:pt x="649" y="0"/>
                        </a:cubicBezTo>
                        <a:lnTo>
                          <a:pt x="144" y="251"/>
                        </a:ln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104" name="Freeform 46">
                    <a:extLst>
                      <a:ext uri="{FF2B5EF4-FFF2-40B4-BE49-F238E27FC236}">
                        <a16:creationId xmlns:a16="http://schemas.microsoft.com/office/drawing/2014/main" id="{94E88205-73CA-4C18-A991-2483F7E2B1AF}"/>
                      </a:ext>
                    </a:extLst>
                  </p:cNvPr>
                  <p:cNvSpPr>
                    <a:spLocks/>
                  </p:cNvSpPr>
                  <p:nvPr/>
                </p:nvSpPr>
                <p:spPr bwMode="auto">
                  <a:xfrm>
                    <a:off x="3023" y="2913"/>
                    <a:ext cx="2025" cy="1407"/>
                  </a:xfrm>
                  <a:custGeom>
                    <a:avLst/>
                    <a:gdLst>
                      <a:gd name="T0" fmla="*/ 897 w 1031"/>
                      <a:gd name="T1" fmla="*/ 716 h 716"/>
                      <a:gd name="T2" fmla="*/ 1026 w 1031"/>
                      <a:gd name="T3" fmla="*/ 579 h 716"/>
                      <a:gd name="T4" fmla="*/ 1018 w 1031"/>
                      <a:gd name="T5" fmla="*/ 450 h 716"/>
                      <a:gd name="T6" fmla="*/ 887 w 1031"/>
                      <a:gd name="T7" fmla="*/ 251 h 716"/>
                      <a:gd name="T8" fmla="*/ 382 w 1031"/>
                      <a:gd name="T9" fmla="*/ 0 h 716"/>
                      <a:gd name="T10" fmla="*/ 382 w 1031"/>
                      <a:gd name="T11" fmla="*/ 312 h 716"/>
                      <a:gd name="T12" fmla="*/ 352 w 1031"/>
                      <a:gd name="T13" fmla="*/ 369 h 716"/>
                      <a:gd name="T14" fmla="*/ 313 w 1031"/>
                      <a:gd name="T15" fmla="*/ 381 h 716"/>
                      <a:gd name="T16" fmla="*/ 289 w 1031"/>
                      <a:gd name="T17" fmla="*/ 376 h 716"/>
                      <a:gd name="T18" fmla="*/ 122 w 1031"/>
                      <a:gd name="T19" fmla="*/ 313 h 716"/>
                      <a:gd name="T20" fmla="*/ 0 w 1031"/>
                      <a:gd name="T21" fmla="*/ 716 h 716"/>
                      <a:gd name="T22" fmla="*/ 897 w 1031"/>
                      <a:gd name="T23" fmla="*/ 716 h 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31" h="716">
                        <a:moveTo>
                          <a:pt x="897" y="716"/>
                        </a:moveTo>
                        <a:cubicBezTo>
                          <a:pt x="973" y="716"/>
                          <a:pt x="1031" y="655"/>
                          <a:pt x="1026" y="579"/>
                        </a:cubicBezTo>
                        <a:cubicBezTo>
                          <a:pt x="1018" y="450"/>
                          <a:pt x="1018" y="450"/>
                          <a:pt x="1018" y="450"/>
                        </a:cubicBezTo>
                        <a:cubicBezTo>
                          <a:pt x="1007" y="341"/>
                          <a:pt x="955" y="285"/>
                          <a:pt x="887" y="251"/>
                        </a:cubicBezTo>
                        <a:cubicBezTo>
                          <a:pt x="382" y="0"/>
                          <a:pt x="382" y="0"/>
                          <a:pt x="382" y="0"/>
                        </a:cubicBezTo>
                        <a:cubicBezTo>
                          <a:pt x="382" y="312"/>
                          <a:pt x="382" y="312"/>
                          <a:pt x="382" y="312"/>
                        </a:cubicBezTo>
                        <a:cubicBezTo>
                          <a:pt x="382" y="335"/>
                          <a:pt x="371" y="356"/>
                          <a:pt x="352" y="369"/>
                        </a:cubicBezTo>
                        <a:cubicBezTo>
                          <a:pt x="341" y="377"/>
                          <a:pt x="327" y="381"/>
                          <a:pt x="313" y="381"/>
                        </a:cubicBezTo>
                        <a:cubicBezTo>
                          <a:pt x="305" y="381"/>
                          <a:pt x="297" y="379"/>
                          <a:pt x="289" y="376"/>
                        </a:cubicBezTo>
                        <a:cubicBezTo>
                          <a:pt x="122" y="313"/>
                          <a:pt x="122" y="313"/>
                          <a:pt x="122" y="313"/>
                        </a:cubicBezTo>
                        <a:cubicBezTo>
                          <a:pt x="0" y="716"/>
                          <a:pt x="0" y="716"/>
                          <a:pt x="0" y="716"/>
                        </a:cubicBezTo>
                        <a:lnTo>
                          <a:pt x="897" y="716"/>
                        </a:lnTo>
                        <a:close/>
                      </a:path>
                    </a:pathLst>
                  </a:custGeom>
                  <a:solidFill>
                    <a:srgbClr val="F366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sp>
            <p:nvSpPr>
              <p:cNvPr id="97" name="Rounded Rectangle 96"/>
              <p:cNvSpPr/>
              <p:nvPr/>
            </p:nvSpPr>
            <p:spPr>
              <a:xfrm>
                <a:off x="877978" y="4420303"/>
                <a:ext cx="2180679" cy="319297"/>
              </a:xfrm>
              <a:prstGeom prst="roundRect">
                <a:avLst>
                  <a:gd name="adj" fmla="val 50000"/>
                </a:avLst>
              </a:prstGeom>
              <a:solidFill>
                <a:srgbClr val="F36633"/>
              </a:solidFill>
              <a:ln>
                <a:solidFill>
                  <a:schemeClr val="bg1"/>
                </a:solidFill>
              </a:ln>
            </p:spPr>
            <p:txBody>
              <a:bodyPr wrap="square" lIns="45720" tIns="45720" rIns="45720" bIns="45720" anchor="ctr" anchorCtr="0">
                <a:noAutofit/>
              </a:bodyPr>
              <a:lstStyle/>
              <a:p>
                <a:pPr marL="0" marR="0" lvl="0" indent="0" algn="ctr" defTabSz="321503" rtl="0" eaLnBrk="0" fontAlgn="auto" latinLnBrk="0" hangingPunct="0">
                  <a:lnSpc>
                    <a:spcPct val="85000"/>
                  </a:lnSpc>
                  <a:spcBef>
                    <a:spcPts val="0"/>
                  </a:spcBef>
                  <a:spcAft>
                    <a:spcPts val="0"/>
                  </a:spcAft>
                  <a:buClr>
                    <a:srgbClr val="FFFFFF"/>
                  </a:buClr>
                  <a:buSzTx/>
                  <a:buFontTx/>
                  <a:buNone/>
                  <a:tabLst/>
                  <a:defRPr/>
                </a:pPr>
                <a:r>
                  <a:rPr kumimoji="0" lang="en-US" sz="1200" b="1" i="0" u="none" strike="noStrike" kern="0" cap="none" spc="0" normalizeH="0" baseline="0" noProof="0" dirty="0">
                    <a:ln>
                      <a:noFill/>
                    </a:ln>
                    <a:solidFill>
                      <a:prstClr val="white"/>
                    </a:solidFill>
                    <a:effectLst/>
                    <a:uLnTx/>
                    <a:uFillTx/>
                    <a:latin typeface="Arial" panose="020B0604020202020204"/>
                    <a:ea typeface="+mn-ea"/>
                    <a:cs typeface="+mn-cs"/>
                  </a:rPr>
                  <a:t>4,151</a:t>
                </a:r>
                <a:r>
                  <a:rPr kumimoji="0" lang="en-US" sz="1100" b="1" i="0" u="none" strike="noStrike" kern="0" cap="none" spc="0" normalizeH="0" baseline="0" noProof="0" dirty="0">
                    <a:ln>
                      <a:noFill/>
                    </a:ln>
                    <a:solidFill>
                      <a:prstClr val="white"/>
                    </a:solidFill>
                    <a:effectLst/>
                    <a:uLnTx/>
                    <a:uFillTx/>
                    <a:latin typeface="Arial" panose="020B0604020202020204"/>
                    <a:ea typeface="+mn-ea"/>
                    <a:cs typeface="+mn-cs"/>
                  </a:rPr>
                  <a:t> received FF/UMEC/VI</a:t>
                </a:r>
                <a:endParaRPr kumimoji="0" lang="en-US" sz="1100" b="0" i="0" u="none" strike="noStrike" kern="0" cap="none" spc="0" normalizeH="0" baseline="30000" noProof="0" dirty="0">
                  <a:ln>
                    <a:noFill/>
                  </a:ln>
                  <a:solidFill>
                    <a:prstClr val="white"/>
                  </a:solidFill>
                  <a:effectLst/>
                  <a:uLnTx/>
                  <a:uFillTx/>
                  <a:latin typeface="Arial" panose="020B0604020202020204"/>
                  <a:ea typeface="+mn-ea"/>
                  <a:cs typeface="+mn-cs"/>
                </a:endParaRPr>
              </a:p>
            </p:txBody>
          </p:sp>
        </p:grpSp>
        <p:grpSp>
          <p:nvGrpSpPr>
            <p:cNvPr id="64" name="Group 63"/>
            <p:cNvGrpSpPr/>
            <p:nvPr/>
          </p:nvGrpSpPr>
          <p:grpSpPr>
            <a:xfrm>
              <a:off x="3251114" y="4644900"/>
              <a:ext cx="2742420" cy="1241588"/>
              <a:chOff x="3270164" y="4457247"/>
              <a:chExt cx="2742420" cy="1241588"/>
            </a:xfrm>
          </p:grpSpPr>
          <p:sp>
            <p:nvSpPr>
              <p:cNvPr id="153" name="Rounded Rectangle 152"/>
              <p:cNvSpPr/>
              <p:nvPr/>
            </p:nvSpPr>
            <p:spPr>
              <a:xfrm>
                <a:off x="3631549" y="4613984"/>
                <a:ext cx="2381035" cy="1084851"/>
              </a:xfrm>
              <a:prstGeom prst="roundRect">
                <a:avLst>
                  <a:gd name="adj" fmla="val 5699"/>
                </a:avLst>
              </a:prstGeom>
              <a:solidFill>
                <a:schemeClr val="bg1"/>
              </a:solidFill>
              <a:ln>
                <a:solidFill>
                  <a:srgbClr val="544F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55" name="Rectangle 154"/>
              <p:cNvSpPr/>
              <p:nvPr/>
            </p:nvSpPr>
            <p:spPr>
              <a:xfrm>
                <a:off x="4142082" y="4919438"/>
                <a:ext cx="1704247"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srgbClr val="008A00"/>
                    </a:solidFill>
                    <a:effectLst/>
                    <a:uLnTx/>
                    <a:uFillTx/>
                    <a:latin typeface="Arial" panose="020B0604020202020204"/>
                    <a:ea typeface="+mn-ea"/>
                    <a:cs typeface="+mn-cs"/>
                  </a:rPr>
                  <a:t>75%</a:t>
                </a:r>
                <a:br>
                  <a:rPr kumimoji="0" lang="en-GB" sz="2000" b="1" i="0" u="none" strike="noStrike" kern="0" cap="none" spc="0" normalizeH="0" baseline="0" noProof="0" dirty="0">
                    <a:ln>
                      <a:noFill/>
                    </a:ln>
                    <a:solidFill>
                      <a:srgbClr val="F36633"/>
                    </a:solidFill>
                    <a:effectLst/>
                    <a:uLnTx/>
                    <a:uFillTx/>
                    <a:latin typeface="Arial" panose="020B0604020202020204"/>
                    <a:ea typeface="+mn-ea"/>
                    <a:cs typeface="+mn-cs"/>
                  </a:rPr>
                </a:br>
                <a:r>
                  <a:rPr kumimoji="0" lang="en-GB" sz="1200" b="1" i="0" u="none" strike="noStrike" kern="0" cap="none" spc="0" normalizeH="0" baseline="0" noProof="0" dirty="0">
                    <a:ln>
                      <a:noFill/>
                    </a:ln>
                    <a:solidFill>
                      <a:srgbClr val="544F40"/>
                    </a:solidFill>
                    <a:effectLst/>
                    <a:uLnTx/>
                    <a:uFillTx/>
                    <a:latin typeface="Arial" panose="020B0604020202020204"/>
                    <a:ea typeface="+mn-ea"/>
                    <a:cs typeface="+mn-cs"/>
                  </a:rPr>
                  <a:t>completed treatment</a:t>
                </a:r>
                <a:endParaRPr kumimoji="0" lang="en-US" sz="12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157" name="Oval 156"/>
              <p:cNvSpPr/>
              <p:nvPr/>
            </p:nvSpPr>
            <p:spPr>
              <a:xfrm>
                <a:off x="3270164" y="4833228"/>
                <a:ext cx="757194" cy="757194"/>
              </a:xfrm>
              <a:prstGeom prst="ellipse">
                <a:avLst/>
              </a:prstGeom>
              <a:solidFill>
                <a:schemeClr val="bg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162" name="Group 161"/>
              <p:cNvGrpSpPr/>
              <p:nvPr/>
            </p:nvGrpSpPr>
            <p:grpSpPr>
              <a:xfrm>
                <a:off x="3347582" y="5063585"/>
                <a:ext cx="602359" cy="296480"/>
                <a:chOff x="585965" y="1906158"/>
                <a:chExt cx="649117" cy="319496"/>
              </a:xfrm>
              <a:solidFill>
                <a:srgbClr val="008A00"/>
              </a:solidFill>
            </p:grpSpPr>
            <p:grpSp>
              <p:nvGrpSpPr>
                <p:cNvPr id="164" name="Group 49">
                  <a:extLst>
                    <a:ext uri="{FF2B5EF4-FFF2-40B4-BE49-F238E27FC236}">
                      <a16:creationId xmlns:a16="http://schemas.microsoft.com/office/drawing/2014/main" id="{FB193B8B-7DA0-49AA-A85D-7125B1D5053C}"/>
                    </a:ext>
                  </a:extLst>
                </p:cNvPr>
                <p:cNvGrpSpPr>
                  <a:grpSpLocks noChangeAspect="1"/>
                </p:cNvGrpSpPr>
                <p:nvPr/>
              </p:nvGrpSpPr>
              <p:grpSpPr bwMode="auto">
                <a:xfrm>
                  <a:off x="938682" y="1906158"/>
                  <a:ext cx="296400" cy="319496"/>
                  <a:chOff x="880" y="2"/>
                  <a:chExt cx="4004" cy="4316"/>
                </a:xfrm>
                <a:grpFill/>
              </p:grpSpPr>
              <p:sp>
                <p:nvSpPr>
                  <p:cNvPr id="169" name="Freeform 50">
                    <a:extLst>
                      <a:ext uri="{FF2B5EF4-FFF2-40B4-BE49-F238E27FC236}">
                        <a16:creationId xmlns:a16="http://schemas.microsoft.com/office/drawing/2014/main" id="{FA10BB8D-F9F3-4AE7-880D-F73D2A84139D}"/>
                      </a:ext>
                    </a:extLst>
                  </p:cNvPr>
                  <p:cNvSpPr>
                    <a:spLocks noEditPoints="1"/>
                  </p:cNvSpPr>
                  <p:nvPr/>
                </p:nvSpPr>
                <p:spPr bwMode="auto">
                  <a:xfrm>
                    <a:off x="1392" y="2"/>
                    <a:ext cx="2976" cy="3131"/>
                  </a:xfrm>
                  <a:custGeom>
                    <a:avLst/>
                    <a:gdLst>
                      <a:gd name="T0" fmla="*/ 1507 w 1518"/>
                      <a:gd name="T1" fmla="*/ 1326 h 1596"/>
                      <a:gd name="T2" fmla="*/ 1380 w 1518"/>
                      <a:gd name="T3" fmla="*/ 798 h 1596"/>
                      <a:gd name="T4" fmla="*/ 1380 w 1518"/>
                      <a:gd name="T5" fmla="*/ 621 h 1596"/>
                      <a:gd name="T6" fmla="*/ 759 w 1518"/>
                      <a:gd name="T7" fmla="*/ 0 h 1596"/>
                      <a:gd name="T8" fmla="*/ 139 w 1518"/>
                      <a:gd name="T9" fmla="*/ 621 h 1596"/>
                      <a:gd name="T10" fmla="*/ 139 w 1518"/>
                      <a:gd name="T11" fmla="*/ 798 h 1596"/>
                      <a:gd name="T12" fmla="*/ 11 w 1518"/>
                      <a:gd name="T13" fmla="*/ 1326 h 1596"/>
                      <a:gd name="T14" fmla="*/ 14 w 1518"/>
                      <a:gd name="T15" fmla="*/ 1395 h 1596"/>
                      <a:gd name="T16" fmla="*/ 74 w 1518"/>
                      <a:gd name="T17" fmla="*/ 1429 h 1596"/>
                      <a:gd name="T18" fmla="*/ 336 w 1518"/>
                      <a:gd name="T19" fmla="*/ 1429 h 1596"/>
                      <a:gd name="T20" fmla="*/ 759 w 1518"/>
                      <a:gd name="T21" fmla="*/ 1596 h 1596"/>
                      <a:gd name="T22" fmla="*/ 1183 w 1518"/>
                      <a:gd name="T23" fmla="*/ 1429 h 1596"/>
                      <a:gd name="T24" fmla="*/ 1444 w 1518"/>
                      <a:gd name="T25" fmla="*/ 1429 h 1596"/>
                      <a:gd name="T26" fmla="*/ 1505 w 1518"/>
                      <a:gd name="T27" fmla="*/ 1395 h 1596"/>
                      <a:gd name="T28" fmla="*/ 1507 w 1518"/>
                      <a:gd name="T29" fmla="*/ 1326 h 1596"/>
                      <a:gd name="T30" fmla="*/ 1238 w 1518"/>
                      <a:gd name="T31" fmla="*/ 976 h 1596"/>
                      <a:gd name="T32" fmla="*/ 759 w 1518"/>
                      <a:gd name="T33" fmla="*/ 1455 h 1596"/>
                      <a:gd name="T34" fmla="*/ 280 w 1518"/>
                      <a:gd name="T35" fmla="*/ 976 h 1596"/>
                      <a:gd name="T36" fmla="*/ 280 w 1518"/>
                      <a:gd name="T37" fmla="*/ 858 h 1596"/>
                      <a:gd name="T38" fmla="*/ 513 w 1518"/>
                      <a:gd name="T39" fmla="*/ 627 h 1596"/>
                      <a:gd name="T40" fmla="*/ 832 w 1518"/>
                      <a:gd name="T41" fmla="*/ 627 h 1596"/>
                      <a:gd name="T42" fmla="*/ 1065 w 1518"/>
                      <a:gd name="T43" fmla="*/ 394 h 1596"/>
                      <a:gd name="T44" fmla="*/ 1065 w 1518"/>
                      <a:gd name="T45" fmla="*/ 252 h 1596"/>
                      <a:gd name="T46" fmla="*/ 1238 w 1518"/>
                      <a:gd name="T47" fmla="*/ 621 h 1596"/>
                      <a:gd name="T48" fmla="*/ 1238 w 1518"/>
                      <a:gd name="T49" fmla="*/ 976 h 1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18" h="1596">
                        <a:moveTo>
                          <a:pt x="1507" y="1326"/>
                        </a:moveTo>
                        <a:cubicBezTo>
                          <a:pt x="1380" y="1080"/>
                          <a:pt x="1380" y="1031"/>
                          <a:pt x="1380" y="798"/>
                        </a:cubicBezTo>
                        <a:cubicBezTo>
                          <a:pt x="1380" y="621"/>
                          <a:pt x="1380" y="621"/>
                          <a:pt x="1380" y="621"/>
                        </a:cubicBezTo>
                        <a:cubicBezTo>
                          <a:pt x="1380" y="278"/>
                          <a:pt x="1102" y="0"/>
                          <a:pt x="759" y="0"/>
                        </a:cubicBezTo>
                        <a:cubicBezTo>
                          <a:pt x="417" y="0"/>
                          <a:pt x="139" y="278"/>
                          <a:pt x="139" y="621"/>
                        </a:cubicBezTo>
                        <a:cubicBezTo>
                          <a:pt x="139" y="798"/>
                          <a:pt x="139" y="798"/>
                          <a:pt x="139" y="798"/>
                        </a:cubicBezTo>
                        <a:cubicBezTo>
                          <a:pt x="139" y="1031"/>
                          <a:pt x="139" y="1080"/>
                          <a:pt x="11" y="1326"/>
                        </a:cubicBezTo>
                        <a:cubicBezTo>
                          <a:pt x="0" y="1348"/>
                          <a:pt x="1" y="1374"/>
                          <a:pt x="14" y="1395"/>
                        </a:cubicBezTo>
                        <a:cubicBezTo>
                          <a:pt x="27" y="1416"/>
                          <a:pt x="50" y="1429"/>
                          <a:pt x="74" y="1429"/>
                        </a:cubicBezTo>
                        <a:cubicBezTo>
                          <a:pt x="336" y="1429"/>
                          <a:pt x="336" y="1429"/>
                          <a:pt x="336" y="1429"/>
                        </a:cubicBezTo>
                        <a:cubicBezTo>
                          <a:pt x="447" y="1533"/>
                          <a:pt x="596" y="1596"/>
                          <a:pt x="759" y="1596"/>
                        </a:cubicBezTo>
                        <a:cubicBezTo>
                          <a:pt x="923" y="1596"/>
                          <a:pt x="1072" y="1533"/>
                          <a:pt x="1183" y="1429"/>
                        </a:cubicBezTo>
                        <a:cubicBezTo>
                          <a:pt x="1444" y="1429"/>
                          <a:pt x="1444" y="1429"/>
                          <a:pt x="1444" y="1429"/>
                        </a:cubicBezTo>
                        <a:cubicBezTo>
                          <a:pt x="1469" y="1429"/>
                          <a:pt x="1492" y="1416"/>
                          <a:pt x="1505" y="1395"/>
                        </a:cubicBezTo>
                        <a:cubicBezTo>
                          <a:pt x="1518" y="1374"/>
                          <a:pt x="1518" y="1348"/>
                          <a:pt x="1507" y="1326"/>
                        </a:cubicBezTo>
                        <a:moveTo>
                          <a:pt x="1238" y="976"/>
                        </a:moveTo>
                        <a:cubicBezTo>
                          <a:pt x="1238" y="1240"/>
                          <a:pt x="1024" y="1455"/>
                          <a:pt x="759" y="1455"/>
                        </a:cubicBezTo>
                        <a:cubicBezTo>
                          <a:pt x="495" y="1455"/>
                          <a:pt x="280" y="1240"/>
                          <a:pt x="280" y="976"/>
                        </a:cubicBezTo>
                        <a:cubicBezTo>
                          <a:pt x="280" y="858"/>
                          <a:pt x="280" y="858"/>
                          <a:pt x="280" y="858"/>
                        </a:cubicBezTo>
                        <a:cubicBezTo>
                          <a:pt x="281" y="730"/>
                          <a:pt x="385" y="627"/>
                          <a:pt x="513" y="627"/>
                        </a:cubicBezTo>
                        <a:cubicBezTo>
                          <a:pt x="832" y="627"/>
                          <a:pt x="832" y="627"/>
                          <a:pt x="832" y="627"/>
                        </a:cubicBezTo>
                        <a:cubicBezTo>
                          <a:pt x="961" y="627"/>
                          <a:pt x="1065" y="522"/>
                          <a:pt x="1065" y="394"/>
                        </a:cubicBezTo>
                        <a:cubicBezTo>
                          <a:pt x="1065" y="252"/>
                          <a:pt x="1065" y="252"/>
                          <a:pt x="1065" y="252"/>
                        </a:cubicBezTo>
                        <a:cubicBezTo>
                          <a:pt x="1171" y="340"/>
                          <a:pt x="1238" y="473"/>
                          <a:pt x="1238" y="621"/>
                        </a:cubicBezTo>
                        <a:lnTo>
                          <a:pt x="1238" y="9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170" name="Freeform 51">
                    <a:extLst>
                      <a:ext uri="{FF2B5EF4-FFF2-40B4-BE49-F238E27FC236}">
                        <a16:creationId xmlns:a16="http://schemas.microsoft.com/office/drawing/2014/main" id="{D5BF3EC2-BEF4-414D-A0D4-0403D5065E7F}"/>
                      </a:ext>
                    </a:extLst>
                  </p:cNvPr>
                  <p:cNvSpPr>
                    <a:spLocks/>
                  </p:cNvSpPr>
                  <p:nvPr/>
                </p:nvSpPr>
                <p:spPr bwMode="auto">
                  <a:xfrm>
                    <a:off x="880" y="2957"/>
                    <a:ext cx="4004" cy="1361"/>
                  </a:xfrm>
                  <a:custGeom>
                    <a:avLst/>
                    <a:gdLst>
                      <a:gd name="T0" fmla="*/ 1020 w 2042"/>
                      <a:gd name="T1" fmla="*/ 204 h 694"/>
                      <a:gd name="T2" fmla="*/ 650 w 2042"/>
                      <a:gd name="T3" fmla="*/ 345 h 694"/>
                      <a:gd name="T4" fmla="*/ 625 w 2042"/>
                      <a:gd name="T5" fmla="*/ 349 h 694"/>
                      <a:gd name="T6" fmla="*/ 584 w 2042"/>
                      <a:gd name="T7" fmla="*/ 337 h 694"/>
                      <a:gd name="T8" fmla="*/ 554 w 2042"/>
                      <a:gd name="T9" fmla="*/ 279 h 694"/>
                      <a:gd name="T10" fmla="*/ 554 w 2042"/>
                      <a:gd name="T11" fmla="*/ 0 h 694"/>
                      <a:gd name="T12" fmla="*/ 162 w 2042"/>
                      <a:gd name="T13" fmla="*/ 184 h 694"/>
                      <a:gd name="T14" fmla="*/ 19 w 2042"/>
                      <a:gd name="T15" fmla="*/ 385 h 694"/>
                      <a:gd name="T16" fmla="*/ 2 w 2042"/>
                      <a:gd name="T17" fmla="*/ 554 h 694"/>
                      <a:gd name="T18" fmla="*/ 6 w 2042"/>
                      <a:gd name="T19" fmla="*/ 608 h 694"/>
                      <a:gd name="T20" fmla="*/ 128 w 2042"/>
                      <a:gd name="T21" fmla="*/ 694 h 694"/>
                      <a:gd name="T22" fmla="*/ 1913 w 2042"/>
                      <a:gd name="T23" fmla="*/ 694 h 694"/>
                      <a:gd name="T24" fmla="*/ 2035 w 2042"/>
                      <a:gd name="T25" fmla="*/ 610 h 694"/>
                      <a:gd name="T26" fmla="*/ 2040 w 2042"/>
                      <a:gd name="T27" fmla="*/ 554 h 694"/>
                      <a:gd name="T28" fmla="*/ 2022 w 2042"/>
                      <a:gd name="T29" fmla="*/ 385 h 694"/>
                      <a:gd name="T30" fmla="*/ 1879 w 2042"/>
                      <a:gd name="T31" fmla="*/ 184 h 694"/>
                      <a:gd name="T32" fmla="*/ 1488 w 2042"/>
                      <a:gd name="T33" fmla="*/ 0 h 694"/>
                      <a:gd name="T34" fmla="*/ 1488 w 2042"/>
                      <a:gd name="T35" fmla="*/ 279 h 694"/>
                      <a:gd name="T36" fmla="*/ 1457 w 2042"/>
                      <a:gd name="T37" fmla="*/ 337 h 694"/>
                      <a:gd name="T38" fmla="*/ 1417 w 2042"/>
                      <a:gd name="T39" fmla="*/ 349 h 694"/>
                      <a:gd name="T40" fmla="*/ 1392 w 2042"/>
                      <a:gd name="T41" fmla="*/ 345 h 694"/>
                      <a:gd name="T42" fmla="*/ 1020 w 2042"/>
                      <a:gd name="T43" fmla="*/ 204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42" h="694">
                        <a:moveTo>
                          <a:pt x="1020" y="204"/>
                        </a:moveTo>
                        <a:cubicBezTo>
                          <a:pt x="650" y="345"/>
                          <a:pt x="650" y="345"/>
                          <a:pt x="650" y="345"/>
                        </a:cubicBezTo>
                        <a:cubicBezTo>
                          <a:pt x="641" y="348"/>
                          <a:pt x="633" y="349"/>
                          <a:pt x="625" y="349"/>
                        </a:cubicBezTo>
                        <a:cubicBezTo>
                          <a:pt x="610" y="349"/>
                          <a:pt x="596" y="345"/>
                          <a:pt x="584" y="337"/>
                        </a:cubicBezTo>
                        <a:cubicBezTo>
                          <a:pt x="565" y="323"/>
                          <a:pt x="554" y="302"/>
                          <a:pt x="554" y="279"/>
                        </a:cubicBezTo>
                        <a:cubicBezTo>
                          <a:pt x="554" y="0"/>
                          <a:pt x="554" y="0"/>
                          <a:pt x="554" y="0"/>
                        </a:cubicBezTo>
                        <a:cubicBezTo>
                          <a:pt x="162" y="184"/>
                          <a:pt x="162" y="184"/>
                          <a:pt x="162" y="184"/>
                        </a:cubicBezTo>
                        <a:cubicBezTo>
                          <a:pt x="92" y="217"/>
                          <a:pt x="35" y="269"/>
                          <a:pt x="19" y="385"/>
                        </a:cubicBezTo>
                        <a:cubicBezTo>
                          <a:pt x="2" y="554"/>
                          <a:pt x="2" y="554"/>
                          <a:pt x="2" y="554"/>
                        </a:cubicBezTo>
                        <a:cubicBezTo>
                          <a:pt x="0" y="573"/>
                          <a:pt x="0" y="591"/>
                          <a:pt x="6" y="608"/>
                        </a:cubicBezTo>
                        <a:cubicBezTo>
                          <a:pt x="22" y="659"/>
                          <a:pt x="70" y="694"/>
                          <a:pt x="128" y="694"/>
                        </a:cubicBezTo>
                        <a:cubicBezTo>
                          <a:pt x="1913" y="694"/>
                          <a:pt x="1913" y="694"/>
                          <a:pt x="1913" y="694"/>
                        </a:cubicBezTo>
                        <a:cubicBezTo>
                          <a:pt x="1971" y="694"/>
                          <a:pt x="2019" y="659"/>
                          <a:pt x="2035" y="610"/>
                        </a:cubicBezTo>
                        <a:cubicBezTo>
                          <a:pt x="2041" y="592"/>
                          <a:pt x="2042" y="573"/>
                          <a:pt x="2040" y="554"/>
                        </a:cubicBezTo>
                        <a:cubicBezTo>
                          <a:pt x="2022" y="385"/>
                          <a:pt x="2022" y="385"/>
                          <a:pt x="2022" y="385"/>
                        </a:cubicBezTo>
                        <a:cubicBezTo>
                          <a:pt x="2007" y="269"/>
                          <a:pt x="1950" y="217"/>
                          <a:pt x="1879" y="184"/>
                        </a:cubicBezTo>
                        <a:cubicBezTo>
                          <a:pt x="1488" y="0"/>
                          <a:pt x="1488" y="0"/>
                          <a:pt x="1488" y="0"/>
                        </a:cubicBezTo>
                        <a:cubicBezTo>
                          <a:pt x="1488" y="279"/>
                          <a:pt x="1488" y="279"/>
                          <a:pt x="1488" y="279"/>
                        </a:cubicBezTo>
                        <a:cubicBezTo>
                          <a:pt x="1488" y="302"/>
                          <a:pt x="1476" y="323"/>
                          <a:pt x="1457" y="337"/>
                        </a:cubicBezTo>
                        <a:cubicBezTo>
                          <a:pt x="1445" y="345"/>
                          <a:pt x="1431" y="349"/>
                          <a:pt x="1417" y="349"/>
                        </a:cubicBezTo>
                        <a:cubicBezTo>
                          <a:pt x="1408" y="349"/>
                          <a:pt x="1400" y="348"/>
                          <a:pt x="1392" y="345"/>
                        </a:cubicBezTo>
                        <a:lnTo>
                          <a:pt x="1020"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165" name="Group 43">
                  <a:extLst>
                    <a:ext uri="{FF2B5EF4-FFF2-40B4-BE49-F238E27FC236}">
                      <a16:creationId xmlns:a16="http://schemas.microsoft.com/office/drawing/2014/main" id="{69FA521D-A80C-4247-B879-BB480614D8BF}"/>
                    </a:ext>
                  </a:extLst>
                </p:cNvPr>
                <p:cNvGrpSpPr>
                  <a:grpSpLocks noChangeAspect="1"/>
                </p:cNvGrpSpPr>
                <p:nvPr/>
              </p:nvGrpSpPr>
              <p:grpSpPr bwMode="auto">
                <a:xfrm>
                  <a:off x="585965" y="1906158"/>
                  <a:ext cx="320678" cy="319496"/>
                  <a:chOff x="710" y="-2"/>
                  <a:chExt cx="4338" cy="4322"/>
                </a:xfrm>
                <a:grpFill/>
              </p:grpSpPr>
              <p:sp>
                <p:nvSpPr>
                  <p:cNvPr id="166" name="Freeform 44">
                    <a:extLst>
                      <a:ext uri="{FF2B5EF4-FFF2-40B4-BE49-F238E27FC236}">
                        <a16:creationId xmlns:a16="http://schemas.microsoft.com/office/drawing/2014/main" id="{9CD9F0C5-3331-4120-A49D-4A8EBDD2CBD6}"/>
                      </a:ext>
                    </a:extLst>
                  </p:cNvPr>
                  <p:cNvSpPr>
                    <a:spLocks noEditPoints="1"/>
                  </p:cNvSpPr>
                  <p:nvPr/>
                </p:nvSpPr>
                <p:spPr bwMode="auto">
                  <a:xfrm>
                    <a:off x="1694" y="-2"/>
                    <a:ext cx="2370" cy="3051"/>
                  </a:xfrm>
                  <a:custGeom>
                    <a:avLst/>
                    <a:gdLst>
                      <a:gd name="T0" fmla="*/ 1065 w 1207"/>
                      <a:gd name="T1" fmla="*/ 215 h 1553"/>
                      <a:gd name="T2" fmla="*/ 1063 w 1207"/>
                      <a:gd name="T3" fmla="*/ 213 h 1553"/>
                      <a:gd name="T4" fmla="*/ 604 w 1207"/>
                      <a:gd name="T5" fmla="*/ 0 h 1553"/>
                      <a:gd name="T6" fmla="*/ 144 w 1207"/>
                      <a:gd name="T7" fmla="*/ 213 h 1553"/>
                      <a:gd name="T8" fmla="*/ 142 w 1207"/>
                      <a:gd name="T9" fmla="*/ 215 h 1553"/>
                      <a:gd name="T10" fmla="*/ 0 w 1207"/>
                      <a:gd name="T11" fmla="*/ 604 h 1553"/>
                      <a:gd name="T12" fmla="*/ 0 w 1207"/>
                      <a:gd name="T13" fmla="*/ 949 h 1553"/>
                      <a:gd name="T14" fmla="*/ 604 w 1207"/>
                      <a:gd name="T15" fmla="*/ 1553 h 1553"/>
                      <a:gd name="T16" fmla="*/ 1207 w 1207"/>
                      <a:gd name="T17" fmla="*/ 949 h 1553"/>
                      <a:gd name="T18" fmla="*/ 1207 w 1207"/>
                      <a:gd name="T19" fmla="*/ 604 h 1553"/>
                      <a:gd name="T20" fmla="*/ 1065 w 1207"/>
                      <a:gd name="T21" fmla="*/ 215 h 1553"/>
                      <a:gd name="T22" fmla="*/ 1070 w 1207"/>
                      <a:gd name="T23" fmla="*/ 949 h 1553"/>
                      <a:gd name="T24" fmla="*/ 604 w 1207"/>
                      <a:gd name="T25" fmla="*/ 1415 h 1553"/>
                      <a:gd name="T26" fmla="*/ 138 w 1207"/>
                      <a:gd name="T27" fmla="*/ 949 h 1553"/>
                      <a:gd name="T28" fmla="*/ 138 w 1207"/>
                      <a:gd name="T29" fmla="*/ 660 h 1553"/>
                      <a:gd name="T30" fmla="*/ 363 w 1207"/>
                      <a:gd name="T31" fmla="*/ 433 h 1553"/>
                      <a:gd name="T32" fmla="*/ 604 w 1207"/>
                      <a:gd name="T33" fmla="*/ 458 h 1553"/>
                      <a:gd name="T34" fmla="*/ 1008 w 1207"/>
                      <a:gd name="T35" fmla="*/ 373 h 1553"/>
                      <a:gd name="T36" fmla="*/ 1070 w 1207"/>
                      <a:gd name="T37" fmla="*/ 604 h 1553"/>
                      <a:gd name="T38" fmla="*/ 1070 w 1207"/>
                      <a:gd name="T39" fmla="*/ 949 h 1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07" h="1553">
                        <a:moveTo>
                          <a:pt x="1065" y="215"/>
                        </a:moveTo>
                        <a:cubicBezTo>
                          <a:pt x="1065" y="214"/>
                          <a:pt x="1064" y="214"/>
                          <a:pt x="1063" y="213"/>
                        </a:cubicBezTo>
                        <a:cubicBezTo>
                          <a:pt x="952" y="83"/>
                          <a:pt x="788" y="0"/>
                          <a:pt x="604" y="0"/>
                        </a:cubicBezTo>
                        <a:cubicBezTo>
                          <a:pt x="419" y="0"/>
                          <a:pt x="255" y="83"/>
                          <a:pt x="144" y="213"/>
                        </a:cubicBezTo>
                        <a:cubicBezTo>
                          <a:pt x="143" y="214"/>
                          <a:pt x="143" y="214"/>
                          <a:pt x="142" y="215"/>
                        </a:cubicBezTo>
                        <a:cubicBezTo>
                          <a:pt x="54" y="320"/>
                          <a:pt x="0" y="456"/>
                          <a:pt x="0" y="604"/>
                        </a:cubicBezTo>
                        <a:cubicBezTo>
                          <a:pt x="0" y="949"/>
                          <a:pt x="0" y="949"/>
                          <a:pt x="0" y="949"/>
                        </a:cubicBezTo>
                        <a:cubicBezTo>
                          <a:pt x="0" y="1283"/>
                          <a:pt x="270" y="1553"/>
                          <a:pt x="604" y="1553"/>
                        </a:cubicBezTo>
                        <a:cubicBezTo>
                          <a:pt x="937" y="1553"/>
                          <a:pt x="1207" y="1283"/>
                          <a:pt x="1207" y="949"/>
                        </a:cubicBezTo>
                        <a:cubicBezTo>
                          <a:pt x="1207" y="604"/>
                          <a:pt x="1207" y="604"/>
                          <a:pt x="1207" y="604"/>
                        </a:cubicBezTo>
                        <a:cubicBezTo>
                          <a:pt x="1207" y="456"/>
                          <a:pt x="1154" y="320"/>
                          <a:pt x="1065" y="215"/>
                        </a:cubicBezTo>
                        <a:moveTo>
                          <a:pt x="1070" y="949"/>
                        </a:moveTo>
                        <a:cubicBezTo>
                          <a:pt x="1070" y="1206"/>
                          <a:pt x="861" y="1415"/>
                          <a:pt x="604" y="1415"/>
                        </a:cubicBezTo>
                        <a:cubicBezTo>
                          <a:pt x="347" y="1415"/>
                          <a:pt x="138" y="1206"/>
                          <a:pt x="138" y="949"/>
                        </a:cubicBezTo>
                        <a:cubicBezTo>
                          <a:pt x="138" y="660"/>
                          <a:pt x="138" y="660"/>
                          <a:pt x="138" y="660"/>
                        </a:cubicBezTo>
                        <a:cubicBezTo>
                          <a:pt x="138" y="535"/>
                          <a:pt x="238" y="434"/>
                          <a:pt x="363" y="433"/>
                        </a:cubicBezTo>
                        <a:cubicBezTo>
                          <a:pt x="434" y="449"/>
                          <a:pt x="516" y="458"/>
                          <a:pt x="604" y="458"/>
                        </a:cubicBezTo>
                        <a:cubicBezTo>
                          <a:pt x="773" y="458"/>
                          <a:pt x="922" y="424"/>
                          <a:pt x="1008" y="373"/>
                        </a:cubicBezTo>
                        <a:cubicBezTo>
                          <a:pt x="1047" y="441"/>
                          <a:pt x="1070" y="520"/>
                          <a:pt x="1070" y="604"/>
                        </a:cubicBezTo>
                        <a:lnTo>
                          <a:pt x="1070" y="9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167" name="Freeform 45">
                    <a:extLst>
                      <a:ext uri="{FF2B5EF4-FFF2-40B4-BE49-F238E27FC236}">
                        <a16:creationId xmlns:a16="http://schemas.microsoft.com/office/drawing/2014/main" id="{13303606-36A6-468C-BE2D-3E23ADF6F901}"/>
                      </a:ext>
                    </a:extLst>
                  </p:cNvPr>
                  <p:cNvSpPr>
                    <a:spLocks/>
                  </p:cNvSpPr>
                  <p:nvPr/>
                </p:nvSpPr>
                <p:spPr bwMode="auto">
                  <a:xfrm>
                    <a:off x="710" y="2913"/>
                    <a:ext cx="2027" cy="1407"/>
                  </a:xfrm>
                  <a:custGeom>
                    <a:avLst/>
                    <a:gdLst>
                      <a:gd name="T0" fmla="*/ 144 w 1032"/>
                      <a:gd name="T1" fmla="*/ 251 h 716"/>
                      <a:gd name="T2" fmla="*/ 13 w 1032"/>
                      <a:gd name="T3" fmla="*/ 450 h 716"/>
                      <a:gd name="T4" fmla="*/ 5 w 1032"/>
                      <a:gd name="T5" fmla="*/ 579 h 716"/>
                      <a:gd name="T6" fmla="*/ 134 w 1032"/>
                      <a:gd name="T7" fmla="*/ 716 h 716"/>
                      <a:gd name="T8" fmla="*/ 1032 w 1032"/>
                      <a:gd name="T9" fmla="*/ 716 h 716"/>
                      <a:gd name="T10" fmla="*/ 910 w 1032"/>
                      <a:gd name="T11" fmla="*/ 313 h 716"/>
                      <a:gd name="T12" fmla="*/ 743 w 1032"/>
                      <a:gd name="T13" fmla="*/ 376 h 716"/>
                      <a:gd name="T14" fmla="*/ 718 w 1032"/>
                      <a:gd name="T15" fmla="*/ 381 h 716"/>
                      <a:gd name="T16" fmla="*/ 679 w 1032"/>
                      <a:gd name="T17" fmla="*/ 369 h 716"/>
                      <a:gd name="T18" fmla="*/ 649 w 1032"/>
                      <a:gd name="T19" fmla="*/ 312 h 716"/>
                      <a:gd name="T20" fmla="*/ 649 w 1032"/>
                      <a:gd name="T21" fmla="*/ 0 h 716"/>
                      <a:gd name="T22" fmla="*/ 144 w 1032"/>
                      <a:gd name="T23" fmla="*/ 251 h 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32" h="716">
                        <a:moveTo>
                          <a:pt x="144" y="251"/>
                        </a:moveTo>
                        <a:cubicBezTo>
                          <a:pt x="77" y="285"/>
                          <a:pt x="24" y="341"/>
                          <a:pt x="13" y="450"/>
                        </a:cubicBezTo>
                        <a:cubicBezTo>
                          <a:pt x="5" y="579"/>
                          <a:pt x="5" y="579"/>
                          <a:pt x="5" y="579"/>
                        </a:cubicBezTo>
                        <a:cubicBezTo>
                          <a:pt x="0" y="655"/>
                          <a:pt x="58" y="716"/>
                          <a:pt x="134" y="716"/>
                        </a:cubicBezTo>
                        <a:cubicBezTo>
                          <a:pt x="1032" y="716"/>
                          <a:pt x="1032" y="716"/>
                          <a:pt x="1032" y="716"/>
                        </a:cubicBezTo>
                        <a:cubicBezTo>
                          <a:pt x="910" y="313"/>
                          <a:pt x="910" y="313"/>
                          <a:pt x="910" y="313"/>
                        </a:cubicBezTo>
                        <a:cubicBezTo>
                          <a:pt x="743" y="376"/>
                          <a:pt x="743" y="376"/>
                          <a:pt x="743" y="376"/>
                        </a:cubicBezTo>
                        <a:cubicBezTo>
                          <a:pt x="735" y="379"/>
                          <a:pt x="726" y="381"/>
                          <a:pt x="718" y="381"/>
                        </a:cubicBezTo>
                        <a:cubicBezTo>
                          <a:pt x="704" y="381"/>
                          <a:pt x="691" y="377"/>
                          <a:pt x="679" y="369"/>
                        </a:cubicBezTo>
                        <a:cubicBezTo>
                          <a:pt x="661" y="356"/>
                          <a:pt x="649" y="335"/>
                          <a:pt x="649" y="312"/>
                        </a:cubicBezTo>
                        <a:cubicBezTo>
                          <a:pt x="649" y="0"/>
                          <a:pt x="649" y="0"/>
                          <a:pt x="649" y="0"/>
                        </a:cubicBezTo>
                        <a:lnTo>
                          <a:pt x="144" y="2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168" name="Freeform 46">
                    <a:extLst>
                      <a:ext uri="{FF2B5EF4-FFF2-40B4-BE49-F238E27FC236}">
                        <a16:creationId xmlns:a16="http://schemas.microsoft.com/office/drawing/2014/main" id="{94E88205-73CA-4C18-A991-2483F7E2B1AF}"/>
                      </a:ext>
                    </a:extLst>
                  </p:cNvPr>
                  <p:cNvSpPr>
                    <a:spLocks/>
                  </p:cNvSpPr>
                  <p:nvPr/>
                </p:nvSpPr>
                <p:spPr bwMode="auto">
                  <a:xfrm>
                    <a:off x="3023" y="2913"/>
                    <a:ext cx="2025" cy="1407"/>
                  </a:xfrm>
                  <a:custGeom>
                    <a:avLst/>
                    <a:gdLst>
                      <a:gd name="T0" fmla="*/ 897 w 1031"/>
                      <a:gd name="T1" fmla="*/ 716 h 716"/>
                      <a:gd name="T2" fmla="*/ 1026 w 1031"/>
                      <a:gd name="T3" fmla="*/ 579 h 716"/>
                      <a:gd name="T4" fmla="*/ 1018 w 1031"/>
                      <a:gd name="T5" fmla="*/ 450 h 716"/>
                      <a:gd name="T6" fmla="*/ 887 w 1031"/>
                      <a:gd name="T7" fmla="*/ 251 h 716"/>
                      <a:gd name="T8" fmla="*/ 382 w 1031"/>
                      <a:gd name="T9" fmla="*/ 0 h 716"/>
                      <a:gd name="T10" fmla="*/ 382 w 1031"/>
                      <a:gd name="T11" fmla="*/ 312 h 716"/>
                      <a:gd name="T12" fmla="*/ 352 w 1031"/>
                      <a:gd name="T13" fmla="*/ 369 h 716"/>
                      <a:gd name="T14" fmla="*/ 313 w 1031"/>
                      <a:gd name="T15" fmla="*/ 381 h 716"/>
                      <a:gd name="T16" fmla="*/ 289 w 1031"/>
                      <a:gd name="T17" fmla="*/ 376 h 716"/>
                      <a:gd name="T18" fmla="*/ 122 w 1031"/>
                      <a:gd name="T19" fmla="*/ 313 h 716"/>
                      <a:gd name="T20" fmla="*/ 0 w 1031"/>
                      <a:gd name="T21" fmla="*/ 716 h 716"/>
                      <a:gd name="T22" fmla="*/ 897 w 1031"/>
                      <a:gd name="T23" fmla="*/ 716 h 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31" h="716">
                        <a:moveTo>
                          <a:pt x="897" y="716"/>
                        </a:moveTo>
                        <a:cubicBezTo>
                          <a:pt x="973" y="716"/>
                          <a:pt x="1031" y="655"/>
                          <a:pt x="1026" y="579"/>
                        </a:cubicBezTo>
                        <a:cubicBezTo>
                          <a:pt x="1018" y="450"/>
                          <a:pt x="1018" y="450"/>
                          <a:pt x="1018" y="450"/>
                        </a:cubicBezTo>
                        <a:cubicBezTo>
                          <a:pt x="1007" y="341"/>
                          <a:pt x="955" y="285"/>
                          <a:pt x="887" y="251"/>
                        </a:cubicBezTo>
                        <a:cubicBezTo>
                          <a:pt x="382" y="0"/>
                          <a:pt x="382" y="0"/>
                          <a:pt x="382" y="0"/>
                        </a:cubicBezTo>
                        <a:cubicBezTo>
                          <a:pt x="382" y="312"/>
                          <a:pt x="382" y="312"/>
                          <a:pt x="382" y="312"/>
                        </a:cubicBezTo>
                        <a:cubicBezTo>
                          <a:pt x="382" y="335"/>
                          <a:pt x="371" y="356"/>
                          <a:pt x="352" y="369"/>
                        </a:cubicBezTo>
                        <a:cubicBezTo>
                          <a:pt x="341" y="377"/>
                          <a:pt x="327" y="381"/>
                          <a:pt x="313" y="381"/>
                        </a:cubicBezTo>
                        <a:cubicBezTo>
                          <a:pt x="305" y="381"/>
                          <a:pt x="297" y="379"/>
                          <a:pt x="289" y="376"/>
                        </a:cubicBezTo>
                        <a:cubicBezTo>
                          <a:pt x="122" y="313"/>
                          <a:pt x="122" y="313"/>
                          <a:pt x="122" y="313"/>
                        </a:cubicBezTo>
                        <a:cubicBezTo>
                          <a:pt x="0" y="716"/>
                          <a:pt x="0" y="716"/>
                          <a:pt x="0" y="716"/>
                        </a:cubicBezTo>
                        <a:lnTo>
                          <a:pt x="897" y="7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sp>
            <p:nvSpPr>
              <p:cNvPr id="163" name="Rounded Rectangle 162"/>
              <p:cNvSpPr/>
              <p:nvPr/>
            </p:nvSpPr>
            <p:spPr>
              <a:xfrm>
                <a:off x="3731727" y="4457247"/>
                <a:ext cx="2180678" cy="319297"/>
              </a:xfrm>
              <a:prstGeom prst="roundRect">
                <a:avLst>
                  <a:gd name="adj" fmla="val 50000"/>
                </a:avLst>
              </a:prstGeom>
              <a:solidFill>
                <a:srgbClr val="008A00"/>
              </a:solidFill>
              <a:ln>
                <a:solidFill>
                  <a:schemeClr val="bg1"/>
                </a:solidFill>
              </a:ln>
            </p:spPr>
            <p:txBody>
              <a:bodyPr wrap="square" lIns="45720" tIns="45720" rIns="45720" bIns="45720" anchor="ctr" anchorCtr="0">
                <a:noAutofit/>
              </a:bodyPr>
              <a:lstStyle/>
              <a:p>
                <a:pPr marL="0" marR="0" lvl="0" indent="0" algn="ctr" defTabSz="321503" rtl="0" eaLnBrk="0" fontAlgn="auto" latinLnBrk="0" hangingPunct="0">
                  <a:lnSpc>
                    <a:spcPct val="85000"/>
                  </a:lnSpc>
                  <a:spcBef>
                    <a:spcPts val="0"/>
                  </a:spcBef>
                  <a:spcAft>
                    <a:spcPts val="0"/>
                  </a:spcAft>
                  <a:buClr>
                    <a:srgbClr val="FFFFFF"/>
                  </a:buClr>
                  <a:buSzTx/>
                  <a:buFontTx/>
                  <a:buNone/>
                  <a:tabLst/>
                  <a:defRPr/>
                </a:pPr>
                <a:r>
                  <a:rPr kumimoji="0" lang="en-US" sz="1200" b="1" i="0" u="none" strike="noStrike" kern="0" cap="none" spc="0" normalizeH="0" baseline="0" noProof="0" dirty="0">
                    <a:ln>
                      <a:noFill/>
                    </a:ln>
                    <a:solidFill>
                      <a:prstClr val="white"/>
                    </a:solidFill>
                    <a:effectLst/>
                    <a:uLnTx/>
                    <a:uFillTx/>
                    <a:latin typeface="Arial" panose="020B0604020202020204"/>
                    <a:ea typeface="+mn-ea"/>
                    <a:cs typeface="+mn-cs"/>
                  </a:rPr>
                  <a:t>4,134</a:t>
                </a:r>
                <a:r>
                  <a:rPr kumimoji="0" lang="en-US" sz="1100" b="1" i="0" u="none" strike="noStrike" kern="0" cap="none" spc="0" normalizeH="0" baseline="0" noProof="0" dirty="0">
                    <a:ln>
                      <a:noFill/>
                    </a:ln>
                    <a:solidFill>
                      <a:prstClr val="white"/>
                    </a:solidFill>
                    <a:effectLst/>
                    <a:uLnTx/>
                    <a:uFillTx/>
                    <a:latin typeface="Arial" panose="020B0604020202020204"/>
                    <a:ea typeface="+mn-ea"/>
                    <a:cs typeface="+mn-cs"/>
                  </a:rPr>
                  <a:t> received FF/VI</a:t>
                </a:r>
                <a:endParaRPr kumimoji="0" lang="en-US" sz="1100" b="0" i="0" u="none" strike="noStrike" kern="0" cap="none" spc="0" normalizeH="0" baseline="30000" noProof="0" dirty="0">
                  <a:ln>
                    <a:noFill/>
                  </a:ln>
                  <a:solidFill>
                    <a:prstClr val="white"/>
                  </a:solidFill>
                  <a:effectLst/>
                  <a:uLnTx/>
                  <a:uFillTx/>
                  <a:latin typeface="Arial" panose="020B0604020202020204"/>
                  <a:ea typeface="+mn-ea"/>
                  <a:cs typeface="+mn-cs"/>
                </a:endParaRPr>
              </a:p>
            </p:txBody>
          </p:sp>
        </p:grpSp>
        <p:grpSp>
          <p:nvGrpSpPr>
            <p:cNvPr id="41" name="Group 40"/>
            <p:cNvGrpSpPr/>
            <p:nvPr/>
          </p:nvGrpSpPr>
          <p:grpSpPr>
            <a:xfrm>
              <a:off x="6114386" y="4644900"/>
              <a:ext cx="2742420" cy="1241588"/>
              <a:chOff x="6142961" y="4457247"/>
              <a:chExt cx="2742420" cy="1241588"/>
            </a:xfrm>
          </p:grpSpPr>
          <p:sp>
            <p:nvSpPr>
              <p:cNvPr id="172" name="Rounded Rectangle 171"/>
              <p:cNvSpPr/>
              <p:nvPr/>
            </p:nvSpPr>
            <p:spPr>
              <a:xfrm>
                <a:off x="6504346" y="4613984"/>
                <a:ext cx="2381035" cy="1084851"/>
              </a:xfrm>
              <a:prstGeom prst="roundRect">
                <a:avLst>
                  <a:gd name="adj" fmla="val 5699"/>
                </a:avLst>
              </a:prstGeom>
              <a:solidFill>
                <a:schemeClr val="bg1"/>
              </a:solidFill>
              <a:ln>
                <a:solidFill>
                  <a:srgbClr val="544F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73" name="Rectangle 172"/>
              <p:cNvSpPr/>
              <p:nvPr/>
            </p:nvSpPr>
            <p:spPr>
              <a:xfrm>
                <a:off x="7014879" y="4919438"/>
                <a:ext cx="1704247"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srgbClr val="40488D"/>
                    </a:solidFill>
                    <a:effectLst/>
                    <a:uLnTx/>
                    <a:uFillTx/>
                    <a:latin typeface="Arial" panose="020B0604020202020204"/>
                    <a:ea typeface="+mn-ea"/>
                    <a:cs typeface="+mn-cs"/>
                  </a:rPr>
                  <a:t>73%</a:t>
                </a:r>
                <a:br>
                  <a:rPr kumimoji="0" lang="en-GB" sz="2000" b="1" i="0" u="none" strike="noStrike" kern="0" cap="none" spc="0" normalizeH="0" baseline="0" noProof="0" dirty="0">
                    <a:ln>
                      <a:noFill/>
                    </a:ln>
                    <a:solidFill>
                      <a:srgbClr val="F36633"/>
                    </a:solidFill>
                    <a:effectLst/>
                    <a:uLnTx/>
                    <a:uFillTx/>
                    <a:latin typeface="Arial" panose="020B0604020202020204"/>
                    <a:ea typeface="+mn-ea"/>
                    <a:cs typeface="+mn-cs"/>
                  </a:rPr>
                </a:br>
                <a:r>
                  <a:rPr kumimoji="0" lang="en-GB" sz="1200" b="1" i="0" u="none" strike="noStrike" kern="0" cap="none" spc="0" normalizeH="0" baseline="0" noProof="0" dirty="0">
                    <a:ln>
                      <a:noFill/>
                    </a:ln>
                    <a:solidFill>
                      <a:srgbClr val="544F40"/>
                    </a:solidFill>
                    <a:effectLst/>
                    <a:uLnTx/>
                    <a:uFillTx/>
                    <a:latin typeface="Arial" panose="020B0604020202020204"/>
                    <a:ea typeface="+mn-ea"/>
                    <a:cs typeface="+mn-cs"/>
                  </a:rPr>
                  <a:t>completed treatment</a:t>
                </a:r>
                <a:endParaRPr kumimoji="0" lang="en-US" sz="12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174" name="Oval 173"/>
              <p:cNvSpPr/>
              <p:nvPr/>
            </p:nvSpPr>
            <p:spPr>
              <a:xfrm>
                <a:off x="6142961" y="4833228"/>
                <a:ext cx="757194" cy="757194"/>
              </a:xfrm>
              <a:prstGeom prst="ellipse">
                <a:avLst/>
              </a:prstGeom>
              <a:solidFill>
                <a:schemeClr val="bg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175" name="Group 174"/>
              <p:cNvGrpSpPr/>
              <p:nvPr/>
            </p:nvGrpSpPr>
            <p:grpSpPr>
              <a:xfrm>
                <a:off x="6220379" y="5063585"/>
                <a:ext cx="602359" cy="296480"/>
                <a:chOff x="585965" y="1906158"/>
                <a:chExt cx="649117" cy="319496"/>
              </a:xfrm>
              <a:solidFill>
                <a:srgbClr val="BC1077"/>
              </a:solidFill>
            </p:grpSpPr>
            <p:grpSp>
              <p:nvGrpSpPr>
                <p:cNvPr id="177" name="Group 49">
                  <a:extLst>
                    <a:ext uri="{FF2B5EF4-FFF2-40B4-BE49-F238E27FC236}">
                      <a16:creationId xmlns:a16="http://schemas.microsoft.com/office/drawing/2014/main" id="{FB193B8B-7DA0-49AA-A85D-7125B1D5053C}"/>
                    </a:ext>
                  </a:extLst>
                </p:cNvPr>
                <p:cNvGrpSpPr>
                  <a:grpSpLocks noChangeAspect="1"/>
                </p:cNvGrpSpPr>
                <p:nvPr/>
              </p:nvGrpSpPr>
              <p:grpSpPr bwMode="auto">
                <a:xfrm>
                  <a:off x="938682" y="1906158"/>
                  <a:ext cx="296400" cy="319496"/>
                  <a:chOff x="880" y="2"/>
                  <a:chExt cx="4004" cy="4316"/>
                </a:xfrm>
                <a:grpFill/>
              </p:grpSpPr>
              <p:sp>
                <p:nvSpPr>
                  <p:cNvPr id="182" name="Freeform 50">
                    <a:extLst>
                      <a:ext uri="{FF2B5EF4-FFF2-40B4-BE49-F238E27FC236}">
                        <a16:creationId xmlns:a16="http://schemas.microsoft.com/office/drawing/2014/main" id="{FA10BB8D-F9F3-4AE7-880D-F73D2A84139D}"/>
                      </a:ext>
                    </a:extLst>
                  </p:cNvPr>
                  <p:cNvSpPr>
                    <a:spLocks noEditPoints="1"/>
                  </p:cNvSpPr>
                  <p:nvPr/>
                </p:nvSpPr>
                <p:spPr bwMode="auto">
                  <a:xfrm>
                    <a:off x="1392" y="2"/>
                    <a:ext cx="2976" cy="3131"/>
                  </a:xfrm>
                  <a:custGeom>
                    <a:avLst/>
                    <a:gdLst>
                      <a:gd name="T0" fmla="*/ 1507 w 1518"/>
                      <a:gd name="T1" fmla="*/ 1326 h 1596"/>
                      <a:gd name="T2" fmla="*/ 1380 w 1518"/>
                      <a:gd name="T3" fmla="*/ 798 h 1596"/>
                      <a:gd name="T4" fmla="*/ 1380 w 1518"/>
                      <a:gd name="T5" fmla="*/ 621 h 1596"/>
                      <a:gd name="T6" fmla="*/ 759 w 1518"/>
                      <a:gd name="T7" fmla="*/ 0 h 1596"/>
                      <a:gd name="T8" fmla="*/ 139 w 1518"/>
                      <a:gd name="T9" fmla="*/ 621 h 1596"/>
                      <a:gd name="T10" fmla="*/ 139 w 1518"/>
                      <a:gd name="T11" fmla="*/ 798 h 1596"/>
                      <a:gd name="T12" fmla="*/ 11 w 1518"/>
                      <a:gd name="T13" fmla="*/ 1326 h 1596"/>
                      <a:gd name="T14" fmla="*/ 14 w 1518"/>
                      <a:gd name="T15" fmla="*/ 1395 h 1596"/>
                      <a:gd name="T16" fmla="*/ 74 w 1518"/>
                      <a:gd name="T17" fmla="*/ 1429 h 1596"/>
                      <a:gd name="T18" fmla="*/ 336 w 1518"/>
                      <a:gd name="T19" fmla="*/ 1429 h 1596"/>
                      <a:gd name="T20" fmla="*/ 759 w 1518"/>
                      <a:gd name="T21" fmla="*/ 1596 h 1596"/>
                      <a:gd name="T22" fmla="*/ 1183 w 1518"/>
                      <a:gd name="T23" fmla="*/ 1429 h 1596"/>
                      <a:gd name="T24" fmla="*/ 1444 w 1518"/>
                      <a:gd name="T25" fmla="*/ 1429 h 1596"/>
                      <a:gd name="T26" fmla="*/ 1505 w 1518"/>
                      <a:gd name="T27" fmla="*/ 1395 h 1596"/>
                      <a:gd name="T28" fmla="*/ 1507 w 1518"/>
                      <a:gd name="T29" fmla="*/ 1326 h 1596"/>
                      <a:gd name="T30" fmla="*/ 1238 w 1518"/>
                      <a:gd name="T31" fmla="*/ 976 h 1596"/>
                      <a:gd name="T32" fmla="*/ 759 w 1518"/>
                      <a:gd name="T33" fmla="*/ 1455 h 1596"/>
                      <a:gd name="T34" fmla="*/ 280 w 1518"/>
                      <a:gd name="T35" fmla="*/ 976 h 1596"/>
                      <a:gd name="T36" fmla="*/ 280 w 1518"/>
                      <a:gd name="T37" fmla="*/ 858 h 1596"/>
                      <a:gd name="T38" fmla="*/ 513 w 1518"/>
                      <a:gd name="T39" fmla="*/ 627 h 1596"/>
                      <a:gd name="T40" fmla="*/ 832 w 1518"/>
                      <a:gd name="T41" fmla="*/ 627 h 1596"/>
                      <a:gd name="T42" fmla="*/ 1065 w 1518"/>
                      <a:gd name="T43" fmla="*/ 394 h 1596"/>
                      <a:gd name="T44" fmla="*/ 1065 w 1518"/>
                      <a:gd name="T45" fmla="*/ 252 h 1596"/>
                      <a:gd name="T46" fmla="*/ 1238 w 1518"/>
                      <a:gd name="T47" fmla="*/ 621 h 1596"/>
                      <a:gd name="T48" fmla="*/ 1238 w 1518"/>
                      <a:gd name="T49" fmla="*/ 976 h 1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18" h="1596">
                        <a:moveTo>
                          <a:pt x="1507" y="1326"/>
                        </a:moveTo>
                        <a:cubicBezTo>
                          <a:pt x="1380" y="1080"/>
                          <a:pt x="1380" y="1031"/>
                          <a:pt x="1380" y="798"/>
                        </a:cubicBezTo>
                        <a:cubicBezTo>
                          <a:pt x="1380" y="621"/>
                          <a:pt x="1380" y="621"/>
                          <a:pt x="1380" y="621"/>
                        </a:cubicBezTo>
                        <a:cubicBezTo>
                          <a:pt x="1380" y="278"/>
                          <a:pt x="1102" y="0"/>
                          <a:pt x="759" y="0"/>
                        </a:cubicBezTo>
                        <a:cubicBezTo>
                          <a:pt x="417" y="0"/>
                          <a:pt x="139" y="278"/>
                          <a:pt x="139" y="621"/>
                        </a:cubicBezTo>
                        <a:cubicBezTo>
                          <a:pt x="139" y="798"/>
                          <a:pt x="139" y="798"/>
                          <a:pt x="139" y="798"/>
                        </a:cubicBezTo>
                        <a:cubicBezTo>
                          <a:pt x="139" y="1031"/>
                          <a:pt x="139" y="1080"/>
                          <a:pt x="11" y="1326"/>
                        </a:cubicBezTo>
                        <a:cubicBezTo>
                          <a:pt x="0" y="1348"/>
                          <a:pt x="1" y="1374"/>
                          <a:pt x="14" y="1395"/>
                        </a:cubicBezTo>
                        <a:cubicBezTo>
                          <a:pt x="27" y="1416"/>
                          <a:pt x="50" y="1429"/>
                          <a:pt x="74" y="1429"/>
                        </a:cubicBezTo>
                        <a:cubicBezTo>
                          <a:pt x="336" y="1429"/>
                          <a:pt x="336" y="1429"/>
                          <a:pt x="336" y="1429"/>
                        </a:cubicBezTo>
                        <a:cubicBezTo>
                          <a:pt x="447" y="1533"/>
                          <a:pt x="596" y="1596"/>
                          <a:pt x="759" y="1596"/>
                        </a:cubicBezTo>
                        <a:cubicBezTo>
                          <a:pt x="923" y="1596"/>
                          <a:pt x="1072" y="1533"/>
                          <a:pt x="1183" y="1429"/>
                        </a:cubicBezTo>
                        <a:cubicBezTo>
                          <a:pt x="1444" y="1429"/>
                          <a:pt x="1444" y="1429"/>
                          <a:pt x="1444" y="1429"/>
                        </a:cubicBezTo>
                        <a:cubicBezTo>
                          <a:pt x="1469" y="1429"/>
                          <a:pt x="1492" y="1416"/>
                          <a:pt x="1505" y="1395"/>
                        </a:cubicBezTo>
                        <a:cubicBezTo>
                          <a:pt x="1518" y="1374"/>
                          <a:pt x="1518" y="1348"/>
                          <a:pt x="1507" y="1326"/>
                        </a:cubicBezTo>
                        <a:moveTo>
                          <a:pt x="1238" y="976"/>
                        </a:moveTo>
                        <a:cubicBezTo>
                          <a:pt x="1238" y="1240"/>
                          <a:pt x="1024" y="1455"/>
                          <a:pt x="759" y="1455"/>
                        </a:cubicBezTo>
                        <a:cubicBezTo>
                          <a:pt x="495" y="1455"/>
                          <a:pt x="280" y="1240"/>
                          <a:pt x="280" y="976"/>
                        </a:cubicBezTo>
                        <a:cubicBezTo>
                          <a:pt x="280" y="858"/>
                          <a:pt x="280" y="858"/>
                          <a:pt x="280" y="858"/>
                        </a:cubicBezTo>
                        <a:cubicBezTo>
                          <a:pt x="281" y="730"/>
                          <a:pt x="385" y="627"/>
                          <a:pt x="513" y="627"/>
                        </a:cubicBezTo>
                        <a:cubicBezTo>
                          <a:pt x="832" y="627"/>
                          <a:pt x="832" y="627"/>
                          <a:pt x="832" y="627"/>
                        </a:cubicBezTo>
                        <a:cubicBezTo>
                          <a:pt x="961" y="627"/>
                          <a:pt x="1065" y="522"/>
                          <a:pt x="1065" y="394"/>
                        </a:cubicBezTo>
                        <a:cubicBezTo>
                          <a:pt x="1065" y="252"/>
                          <a:pt x="1065" y="252"/>
                          <a:pt x="1065" y="252"/>
                        </a:cubicBezTo>
                        <a:cubicBezTo>
                          <a:pt x="1171" y="340"/>
                          <a:pt x="1238" y="473"/>
                          <a:pt x="1238" y="621"/>
                        </a:cubicBezTo>
                        <a:lnTo>
                          <a:pt x="1238" y="976"/>
                        </a:lnTo>
                        <a:close/>
                      </a:path>
                    </a:pathLst>
                  </a:custGeom>
                  <a:solidFill>
                    <a:srgbClr val="4048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183" name="Freeform 51">
                    <a:extLst>
                      <a:ext uri="{FF2B5EF4-FFF2-40B4-BE49-F238E27FC236}">
                        <a16:creationId xmlns:a16="http://schemas.microsoft.com/office/drawing/2014/main" id="{D5BF3EC2-BEF4-414D-A0D4-0403D5065E7F}"/>
                      </a:ext>
                    </a:extLst>
                  </p:cNvPr>
                  <p:cNvSpPr>
                    <a:spLocks/>
                  </p:cNvSpPr>
                  <p:nvPr/>
                </p:nvSpPr>
                <p:spPr bwMode="auto">
                  <a:xfrm>
                    <a:off x="880" y="2957"/>
                    <a:ext cx="4004" cy="1361"/>
                  </a:xfrm>
                  <a:custGeom>
                    <a:avLst/>
                    <a:gdLst>
                      <a:gd name="T0" fmla="*/ 1020 w 2042"/>
                      <a:gd name="T1" fmla="*/ 204 h 694"/>
                      <a:gd name="T2" fmla="*/ 650 w 2042"/>
                      <a:gd name="T3" fmla="*/ 345 h 694"/>
                      <a:gd name="T4" fmla="*/ 625 w 2042"/>
                      <a:gd name="T5" fmla="*/ 349 h 694"/>
                      <a:gd name="T6" fmla="*/ 584 w 2042"/>
                      <a:gd name="T7" fmla="*/ 337 h 694"/>
                      <a:gd name="T8" fmla="*/ 554 w 2042"/>
                      <a:gd name="T9" fmla="*/ 279 h 694"/>
                      <a:gd name="T10" fmla="*/ 554 w 2042"/>
                      <a:gd name="T11" fmla="*/ 0 h 694"/>
                      <a:gd name="T12" fmla="*/ 162 w 2042"/>
                      <a:gd name="T13" fmla="*/ 184 h 694"/>
                      <a:gd name="T14" fmla="*/ 19 w 2042"/>
                      <a:gd name="T15" fmla="*/ 385 h 694"/>
                      <a:gd name="T16" fmla="*/ 2 w 2042"/>
                      <a:gd name="T17" fmla="*/ 554 h 694"/>
                      <a:gd name="T18" fmla="*/ 6 w 2042"/>
                      <a:gd name="T19" fmla="*/ 608 h 694"/>
                      <a:gd name="T20" fmla="*/ 128 w 2042"/>
                      <a:gd name="T21" fmla="*/ 694 h 694"/>
                      <a:gd name="T22" fmla="*/ 1913 w 2042"/>
                      <a:gd name="T23" fmla="*/ 694 h 694"/>
                      <a:gd name="T24" fmla="*/ 2035 w 2042"/>
                      <a:gd name="T25" fmla="*/ 610 h 694"/>
                      <a:gd name="T26" fmla="*/ 2040 w 2042"/>
                      <a:gd name="T27" fmla="*/ 554 h 694"/>
                      <a:gd name="T28" fmla="*/ 2022 w 2042"/>
                      <a:gd name="T29" fmla="*/ 385 h 694"/>
                      <a:gd name="T30" fmla="*/ 1879 w 2042"/>
                      <a:gd name="T31" fmla="*/ 184 h 694"/>
                      <a:gd name="T32" fmla="*/ 1488 w 2042"/>
                      <a:gd name="T33" fmla="*/ 0 h 694"/>
                      <a:gd name="T34" fmla="*/ 1488 w 2042"/>
                      <a:gd name="T35" fmla="*/ 279 h 694"/>
                      <a:gd name="T36" fmla="*/ 1457 w 2042"/>
                      <a:gd name="T37" fmla="*/ 337 h 694"/>
                      <a:gd name="T38" fmla="*/ 1417 w 2042"/>
                      <a:gd name="T39" fmla="*/ 349 h 694"/>
                      <a:gd name="T40" fmla="*/ 1392 w 2042"/>
                      <a:gd name="T41" fmla="*/ 345 h 694"/>
                      <a:gd name="T42" fmla="*/ 1020 w 2042"/>
                      <a:gd name="T43" fmla="*/ 204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42" h="694">
                        <a:moveTo>
                          <a:pt x="1020" y="204"/>
                        </a:moveTo>
                        <a:cubicBezTo>
                          <a:pt x="650" y="345"/>
                          <a:pt x="650" y="345"/>
                          <a:pt x="650" y="345"/>
                        </a:cubicBezTo>
                        <a:cubicBezTo>
                          <a:pt x="641" y="348"/>
                          <a:pt x="633" y="349"/>
                          <a:pt x="625" y="349"/>
                        </a:cubicBezTo>
                        <a:cubicBezTo>
                          <a:pt x="610" y="349"/>
                          <a:pt x="596" y="345"/>
                          <a:pt x="584" y="337"/>
                        </a:cubicBezTo>
                        <a:cubicBezTo>
                          <a:pt x="565" y="323"/>
                          <a:pt x="554" y="302"/>
                          <a:pt x="554" y="279"/>
                        </a:cubicBezTo>
                        <a:cubicBezTo>
                          <a:pt x="554" y="0"/>
                          <a:pt x="554" y="0"/>
                          <a:pt x="554" y="0"/>
                        </a:cubicBezTo>
                        <a:cubicBezTo>
                          <a:pt x="162" y="184"/>
                          <a:pt x="162" y="184"/>
                          <a:pt x="162" y="184"/>
                        </a:cubicBezTo>
                        <a:cubicBezTo>
                          <a:pt x="92" y="217"/>
                          <a:pt x="35" y="269"/>
                          <a:pt x="19" y="385"/>
                        </a:cubicBezTo>
                        <a:cubicBezTo>
                          <a:pt x="2" y="554"/>
                          <a:pt x="2" y="554"/>
                          <a:pt x="2" y="554"/>
                        </a:cubicBezTo>
                        <a:cubicBezTo>
                          <a:pt x="0" y="573"/>
                          <a:pt x="0" y="591"/>
                          <a:pt x="6" y="608"/>
                        </a:cubicBezTo>
                        <a:cubicBezTo>
                          <a:pt x="22" y="659"/>
                          <a:pt x="70" y="694"/>
                          <a:pt x="128" y="694"/>
                        </a:cubicBezTo>
                        <a:cubicBezTo>
                          <a:pt x="1913" y="694"/>
                          <a:pt x="1913" y="694"/>
                          <a:pt x="1913" y="694"/>
                        </a:cubicBezTo>
                        <a:cubicBezTo>
                          <a:pt x="1971" y="694"/>
                          <a:pt x="2019" y="659"/>
                          <a:pt x="2035" y="610"/>
                        </a:cubicBezTo>
                        <a:cubicBezTo>
                          <a:pt x="2041" y="592"/>
                          <a:pt x="2042" y="573"/>
                          <a:pt x="2040" y="554"/>
                        </a:cubicBezTo>
                        <a:cubicBezTo>
                          <a:pt x="2022" y="385"/>
                          <a:pt x="2022" y="385"/>
                          <a:pt x="2022" y="385"/>
                        </a:cubicBezTo>
                        <a:cubicBezTo>
                          <a:pt x="2007" y="269"/>
                          <a:pt x="1950" y="217"/>
                          <a:pt x="1879" y="184"/>
                        </a:cubicBezTo>
                        <a:cubicBezTo>
                          <a:pt x="1488" y="0"/>
                          <a:pt x="1488" y="0"/>
                          <a:pt x="1488" y="0"/>
                        </a:cubicBezTo>
                        <a:cubicBezTo>
                          <a:pt x="1488" y="279"/>
                          <a:pt x="1488" y="279"/>
                          <a:pt x="1488" y="279"/>
                        </a:cubicBezTo>
                        <a:cubicBezTo>
                          <a:pt x="1488" y="302"/>
                          <a:pt x="1476" y="323"/>
                          <a:pt x="1457" y="337"/>
                        </a:cubicBezTo>
                        <a:cubicBezTo>
                          <a:pt x="1445" y="345"/>
                          <a:pt x="1431" y="349"/>
                          <a:pt x="1417" y="349"/>
                        </a:cubicBezTo>
                        <a:cubicBezTo>
                          <a:pt x="1408" y="349"/>
                          <a:pt x="1400" y="348"/>
                          <a:pt x="1392" y="345"/>
                        </a:cubicBezTo>
                        <a:lnTo>
                          <a:pt x="1020" y="204"/>
                        </a:lnTo>
                        <a:close/>
                      </a:path>
                    </a:pathLst>
                  </a:custGeom>
                  <a:solidFill>
                    <a:srgbClr val="4048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178" name="Group 43">
                  <a:extLst>
                    <a:ext uri="{FF2B5EF4-FFF2-40B4-BE49-F238E27FC236}">
                      <a16:creationId xmlns:a16="http://schemas.microsoft.com/office/drawing/2014/main" id="{69FA521D-A80C-4247-B879-BB480614D8BF}"/>
                    </a:ext>
                  </a:extLst>
                </p:cNvPr>
                <p:cNvGrpSpPr>
                  <a:grpSpLocks noChangeAspect="1"/>
                </p:cNvGrpSpPr>
                <p:nvPr/>
              </p:nvGrpSpPr>
              <p:grpSpPr bwMode="auto">
                <a:xfrm>
                  <a:off x="585965" y="1906158"/>
                  <a:ext cx="320678" cy="319496"/>
                  <a:chOff x="710" y="-2"/>
                  <a:chExt cx="4338" cy="4322"/>
                </a:xfrm>
                <a:grpFill/>
              </p:grpSpPr>
              <p:sp>
                <p:nvSpPr>
                  <p:cNvPr id="179" name="Freeform 44">
                    <a:extLst>
                      <a:ext uri="{FF2B5EF4-FFF2-40B4-BE49-F238E27FC236}">
                        <a16:creationId xmlns:a16="http://schemas.microsoft.com/office/drawing/2014/main" id="{9CD9F0C5-3331-4120-A49D-4A8EBDD2CBD6}"/>
                      </a:ext>
                    </a:extLst>
                  </p:cNvPr>
                  <p:cNvSpPr>
                    <a:spLocks noEditPoints="1"/>
                  </p:cNvSpPr>
                  <p:nvPr/>
                </p:nvSpPr>
                <p:spPr bwMode="auto">
                  <a:xfrm>
                    <a:off x="1694" y="-2"/>
                    <a:ext cx="2370" cy="3051"/>
                  </a:xfrm>
                  <a:custGeom>
                    <a:avLst/>
                    <a:gdLst>
                      <a:gd name="T0" fmla="*/ 1065 w 1207"/>
                      <a:gd name="T1" fmla="*/ 215 h 1553"/>
                      <a:gd name="T2" fmla="*/ 1063 w 1207"/>
                      <a:gd name="T3" fmla="*/ 213 h 1553"/>
                      <a:gd name="T4" fmla="*/ 604 w 1207"/>
                      <a:gd name="T5" fmla="*/ 0 h 1553"/>
                      <a:gd name="T6" fmla="*/ 144 w 1207"/>
                      <a:gd name="T7" fmla="*/ 213 h 1553"/>
                      <a:gd name="T8" fmla="*/ 142 w 1207"/>
                      <a:gd name="T9" fmla="*/ 215 h 1553"/>
                      <a:gd name="T10" fmla="*/ 0 w 1207"/>
                      <a:gd name="T11" fmla="*/ 604 h 1553"/>
                      <a:gd name="T12" fmla="*/ 0 w 1207"/>
                      <a:gd name="T13" fmla="*/ 949 h 1553"/>
                      <a:gd name="T14" fmla="*/ 604 w 1207"/>
                      <a:gd name="T15" fmla="*/ 1553 h 1553"/>
                      <a:gd name="T16" fmla="*/ 1207 w 1207"/>
                      <a:gd name="T17" fmla="*/ 949 h 1553"/>
                      <a:gd name="T18" fmla="*/ 1207 w 1207"/>
                      <a:gd name="T19" fmla="*/ 604 h 1553"/>
                      <a:gd name="T20" fmla="*/ 1065 w 1207"/>
                      <a:gd name="T21" fmla="*/ 215 h 1553"/>
                      <a:gd name="T22" fmla="*/ 1070 w 1207"/>
                      <a:gd name="T23" fmla="*/ 949 h 1553"/>
                      <a:gd name="T24" fmla="*/ 604 w 1207"/>
                      <a:gd name="T25" fmla="*/ 1415 h 1553"/>
                      <a:gd name="T26" fmla="*/ 138 w 1207"/>
                      <a:gd name="T27" fmla="*/ 949 h 1553"/>
                      <a:gd name="T28" fmla="*/ 138 w 1207"/>
                      <a:gd name="T29" fmla="*/ 660 h 1553"/>
                      <a:gd name="T30" fmla="*/ 363 w 1207"/>
                      <a:gd name="T31" fmla="*/ 433 h 1553"/>
                      <a:gd name="T32" fmla="*/ 604 w 1207"/>
                      <a:gd name="T33" fmla="*/ 458 h 1553"/>
                      <a:gd name="T34" fmla="*/ 1008 w 1207"/>
                      <a:gd name="T35" fmla="*/ 373 h 1553"/>
                      <a:gd name="T36" fmla="*/ 1070 w 1207"/>
                      <a:gd name="T37" fmla="*/ 604 h 1553"/>
                      <a:gd name="T38" fmla="*/ 1070 w 1207"/>
                      <a:gd name="T39" fmla="*/ 949 h 1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07" h="1553">
                        <a:moveTo>
                          <a:pt x="1065" y="215"/>
                        </a:moveTo>
                        <a:cubicBezTo>
                          <a:pt x="1065" y="214"/>
                          <a:pt x="1064" y="214"/>
                          <a:pt x="1063" y="213"/>
                        </a:cubicBezTo>
                        <a:cubicBezTo>
                          <a:pt x="952" y="83"/>
                          <a:pt x="788" y="0"/>
                          <a:pt x="604" y="0"/>
                        </a:cubicBezTo>
                        <a:cubicBezTo>
                          <a:pt x="419" y="0"/>
                          <a:pt x="255" y="83"/>
                          <a:pt x="144" y="213"/>
                        </a:cubicBezTo>
                        <a:cubicBezTo>
                          <a:pt x="143" y="214"/>
                          <a:pt x="143" y="214"/>
                          <a:pt x="142" y="215"/>
                        </a:cubicBezTo>
                        <a:cubicBezTo>
                          <a:pt x="54" y="320"/>
                          <a:pt x="0" y="456"/>
                          <a:pt x="0" y="604"/>
                        </a:cubicBezTo>
                        <a:cubicBezTo>
                          <a:pt x="0" y="949"/>
                          <a:pt x="0" y="949"/>
                          <a:pt x="0" y="949"/>
                        </a:cubicBezTo>
                        <a:cubicBezTo>
                          <a:pt x="0" y="1283"/>
                          <a:pt x="270" y="1553"/>
                          <a:pt x="604" y="1553"/>
                        </a:cubicBezTo>
                        <a:cubicBezTo>
                          <a:pt x="937" y="1553"/>
                          <a:pt x="1207" y="1283"/>
                          <a:pt x="1207" y="949"/>
                        </a:cubicBezTo>
                        <a:cubicBezTo>
                          <a:pt x="1207" y="604"/>
                          <a:pt x="1207" y="604"/>
                          <a:pt x="1207" y="604"/>
                        </a:cubicBezTo>
                        <a:cubicBezTo>
                          <a:pt x="1207" y="456"/>
                          <a:pt x="1154" y="320"/>
                          <a:pt x="1065" y="215"/>
                        </a:cubicBezTo>
                        <a:moveTo>
                          <a:pt x="1070" y="949"/>
                        </a:moveTo>
                        <a:cubicBezTo>
                          <a:pt x="1070" y="1206"/>
                          <a:pt x="861" y="1415"/>
                          <a:pt x="604" y="1415"/>
                        </a:cubicBezTo>
                        <a:cubicBezTo>
                          <a:pt x="347" y="1415"/>
                          <a:pt x="138" y="1206"/>
                          <a:pt x="138" y="949"/>
                        </a:cubicBezTo>
                        <a:cubicBezTo>
                          <a:pt x="138" y="660"/>
                          <a:pt x="138" y="660"/>
                          <a:pt x="138" y="660"/>
                        </a:cubicBezTo>
                        <a:cubicBezTo>
                          <a:pt x="138" y="535"/>
                          <a:pt x="238" y="434"/>
                          <a:pt x="363" y="433"/>
                        </a:cubicBezTo>
                        <a:cubicBezTo>
                          <a:pt x="434" y="449"/>
                          <a:pt x="516" y="458"/>
                          <a:pt x="604" y="458"/>
                        </a:cubicBezTo>
                        <a:cubicBezTo>
                          <a:pt x="773" y="458"/>
                          <a:pt x="922" y="424"/>
                          <a:pt x="1008" y="373"/>
                        </a:cubicBezTo>
                        <a:cubicBezTo>
                          <a:pt x="1047" y="441"/>
                          <a:pt x="1070" y="520"/>
                          <a:pt x="1070" y="604"/>
                        </a:cubicBezTo>
                        <a:lnTo>
                          <a:pt x="1070" y="949"/>
                        </a:lnTo>
                        <a:close/>
                      </a:path>
                    </a:pathLst>
                  </a:custGeom>
                  <a:solidFill>
                    <a:srgbClr val="4048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180" name="Freeform 45">
                    <a:extLst>
                      <a:ext uri="{FF2B5EF4-FFF2-40B4-BE49-F238E27FC236}">
                        <a16:creationId xmlns:a16="http://schemas.microsoft.com/office/drawing/2014/main" id="{13303606-36A6-468C-BE2D-3E23ADF6F901}"/>
                      </a:ext>
                    </a:extLst>
                  </p:cNvPr>
                  <p:cNvSpPr>
                    <a:spLocks/>
                  </p:cNvSpPr>
                  <p:nvPr/>
                </p:nvSpPr>
                <p:spPr bwMode="auto">
                  <a:xfrm>
                    <a:off x="710" y="2913"/>
                    <a:ext cx="2027" cy="1407"/>
                  </a:xfrm>
                  <a:custGeom>
                    <a:avLst/>
                    <a:gdLst>
                      <a:gd name="T0" fmla="*/ 144 w 1032"/>
                      <a:gd name="T1" fmla="*/ 251 h 716"/>
                      <a:gd name="T2" fmla="*/ 13 w 1032"/>
                      <a:gd name="T3" fmla="*/ 450 h 716"/>
                      <a:gd name="T4" fmla="*/ 5 w 1032"/>
                      <a:gd name="T5" fmla="*/ 579 h 716"/>
                      <a:gd name="T6" fmla="*/ 134 w 1032"/>
                      <a:gd name="T7" fmla="*/ 716 h 716"/>
                      <a:gd name="T8" fmla="*/ 1032 w 1032"/>
                      <a:gd name="T9" fmla="*/ 716 h 716"/>
                      <a:gd name="T10" fmla="*/ 910 w 1032"/>
                      <a:gd name="T11" fmla="*/ 313 h 716"/>
                      <a:gd name="T12" fmla="*/ 743 w 1032"/>
                      <a:gd name="T13" fmla="*/ 376 h 716"/>
                      <a:gd name="T14" fmla="*/ 718 w 1032"/>
                      <a:gd name="T15" fmla="*/ 381 h 716"/>
                      <a:gd name="T16" fmla="*/ 679 w 1032"/>
                      <a:gd name="T17" fmla="*/ 369 h 716"/>
                      <a:gd name="T18" fmla="*/ 649 w 1032"/>
                      <a:gd name="T19" fmla="*/ 312 h 716"/>
                      <a:gd name="T20" fmla="*/ 649 w 1032"/>
                      <a:gd name="T21" fmla="*/ 0 h 716"/>
                      <a:gd name="T22" fmla="*/ 144 w 1032"/>
                      <a:gd name="T23" fmla="*/ 251 h 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32" h="716">
                        <a:moveTo>
                          <a:pt x="144" y="251"/>
                        </a:moveTo>
                        <a:cubicBezTo>
                          <a:pt x="77" y="285"/>
                          <a:pt x="24" y="341"/>
                          <a:pt x="13" y="450"/>
                        </a:cubicBezTo>
                        <a:cubicBezTo>
                          <a:pt x="5" y="579"/>
                          <a:pt x="5" y="579"/>
                          <a:pt x="5" y="579"/>
                        </a:cubicBezTo>
                        <a:cubicBezTo>
                          <a:pt x="0" y="655"/>
                          <a:pt x="58" y="716"/>
                          <a:pt x="134" y="716"/>
                        </a:cubicBezTo>
                        <a:cubicBezTo>
                          <a:pt x="1032" y="716"/>
                          <a:pt x="1032" y="716"/>
                          <a:pt x="1032" y="716"/>
                        </a:cubicBezTo>
                        <a:cubicBezTo>
                          <a:pt x="910" y="313"/>
                          <a:pt x="910" y="313"/>
                          <a:pt x="910" y="313"/>
                        </a:cubicBezTo>
                        <a:cubicBezTo>
                          <a:pt x="743" y="376"/>
                          <a:pt x="743" y="376"/>
                          <a:pt x="743" y="376"/>
                        </a:cubicBezTo>
                        <a:cubicBezTo>
                          <a:pt x="735" y="379"/>
                          <a:pt x="726" y="381"/>
                          <a:pt x="718" y="381"/>
                        </a:cubicBezTo>
                        <a:cubicBezTo>
                          <a:pt x="704" y="381"/>
                          <a:pt x="691" y="377"/>
                          <a:pt x="679" y="369"/>
                        </a:cubicBezTo>
                        <a:cubicBezTo>
                          <a:pt x="661" y="356"/>
                          <a:pt x="649" y="335"/>
                          <a:pt x="649" y="312"/>
                        </a:cubicBezTo>
                        <a:cubicBezTo>
                          <a:pt x="649" y="0"/>
                          <a:pt x="649" y="0"/>
                          <a:pt x="649" y="0"/>
                        </a:cubicBezTo>
                        <a:lnTo>
                          <a:pt x="144" y="251"/>
                        </a:lnTo>
                        <a:close/>
                      </a:path>
                    </a:pathLst>
                  </a:custGeom>
                  <a:solidFill>
                    <a:srgbClr val="4048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181" name="Freeform 46">
                    <a:extLst>
                      <a:ext uri="{FF2B5EF4-FFF2-40B4-BE49-F238E27FC236}">
                        <a16:creationId xmlns:a16="http://schemas.microsoft.com/office/drawing/2014/main" id="{94E88205-73CA-4C18-A991-2483F7E2B1AF}"/>
                      </a:ext>
                    </a:extLst>
                  </p:cNvPr>
                  <p:cNvSpPr>
                    <a:spLocks/>
                  </p:cNvSpPr>
                  <p:nvPr/>
                </p:nvSpPr>
                <p:spPr bwMode="auto">
                  <a:xfrm>
                    <a:off x="3023" y="2913"/>
                    <a:ext cx="2025" cy="1407"/>
                  </a:xfrm>
                  <a:custGeom>
                    <a:avLst/>
                    <a:gdLst>
                      <a:gd name="T0" fmla="*/ 897 w 1031"/>
                      <a:gd name="T1" fmla="*/ 716 h 716"/>
                      <a:gd name="T2" fmla="*/ 1026 w 1031"/>
                      <a:gd name="T3" fmla="*/ 579 h 716"/>
                      <a:gd name="T4" fmla="*/ 1018 w 1031"/>
                      <a:gd name="T5" fmla="*/ 450 h 716"/>
                      <a:gd name="T6" fmla="*/ 887 w 1031"/>
                      <a:gd name="T7" fmla="*/ 251 h 716"/>
                      <a:gd name="T8" fmla="*/ 382 w 1031"/>
                      <a:gd name="T9" fmla="*/ 0 h 716"/>
                      <a:gd name="T10" fmla="*/ 382 w 1031"/>
                      <a:gd name="T11" fmla="*/ 312 h 716"/>
                      <a:gd name="T12" fmla="*/ 352 w 1031"/>
                      <a:gd name="T13" fmla="*/ 369 h 716"/>
                      <a:gd name="T14" fmla="*/ 313 w 1031"/>
                      <a:gd name="T15" fmla="*/ 381 h 716"/>
                      <a:gd name="T16" fmla="*/ 289 w 1031"/>
                      <a:gd name="T17" fmla="*/ 376 h 716"/>
                      <a:gd name="T18" fmla="*/ 122 w 1031"/>
                      <a:gd name="T19" fmla="*/ 313 h 716"/>
                      <a:gd name="T20" fmla="*/ 0 w 1031"/>
                      <a:gd name="T21" fmla="*/ 716 h 716"/>
                      <a:gd name="T22" fmla="*/ 897 w 1031"/>
                      <a:gd name="T23" fmla="*/ 716 h 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31" h="716">
                        <a:moveTo>
                          <a:pt x="897" y="716"/>
                        </a:moveTo>
                        <a:cubicBezTo>
                          <a:pt x="973" y="716"/>
                          <a:pt x="1031" y="655"/>
                          <a:pt x="1026" y="579"/>
                        </a:cubicBezTo>
                        <a:cubicBezTo>
                          <a:pt x="1018" y="450"/>
                          <a:pt x="1018" y="450"/>
                          <a:pt x="1018" y="450"/>
                        </a:cubicBezTo>
                        <a:cubicBezTo>
                          <a:pt x="1007" y="341"/>
                          <a:pt x="955" y="285"/>
                          <a:pt x="887" y="251"/>
                        </a:cubicBezTo>
                        <a:cubicBezTo>
                          <a:pt x="382" y="0"/>
                          <a:pt x="382" y="0"/>
                          <a:pt x="382" y="0"/>
                        </a:cubicBezTo>
                        <a:cubicBezTo>
                          <a:pt x="382" y="312"/>
                          <a:pt x="382" y="312"/>
                          <a:pt x="382" y="312"/>
                        </a:cubicBezTo>
                        <a:cubicBezTo>
                          <a:pt x="382" y="335"/>
                          <a:pt x="371" y="356"/>
                          <a:pt x="352" y="369"/>
                        </a:cubicBezTo>
                        <a:cubicBezTo>
                          <a:pt x="341" y="377"/>
                          <a:pt x="327" y="381"/>
                          <a:pt x="313" y="381"/>
                        </a:cubicBezTo>
                        <a:cubicBezTo>
                          <a:pt x="305" y="381"/>
                          <a:pt x="297" y="379"/>
                          <a:pt x="289" y="376"/>
                        </a:cubicBezTo>
                        <a:cubicBezTo>
                          <a:pt x="122" y="313"/>
                          <a:pt x="122" y="313"/>
                          <a:pt x="122" y="313"/>
                        </a:cubicBezTo>
                        <a:cubicBezTo>
                          <a:pt x="0" y="716"/>
                          <a:pt x="0" y="716"/>
                          <a:pt x="0" y="716"/>
                        </a:cubicBezTo>
                        <a:lnTo>
                          <a:pt x="897" y="716"/>
                        </a:lnTo>
                        <a:close/>
                      </a:path>
                    </a:pathLst>
                  </a:custGeom>
                  <a:solidFill>
                    <a:srgbClr val="4048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sp>
            <p:nvSpPr>
              <p:cNvPr id="176" name="Rounded Rectangle 175"/>
              <p:cNvSpPr/>
              <p:nvPr/>
            </p:nvSpPr>
            <p:spPr>
              <a:xfrm>
                <a:off x="6604524" y="4457247"/>
                <a:ext cx="2180678" cy="319297"/>
              </a:xfrm>
              <a:prstGeom prst="roundRect">
                <a:avLst>
                  <a:gd name="adj" fmla="val 50000"/>
                </a:avLst>
              </a:prstGeom>
              <a:solidFill>
                <a:srgbClr val="40488D"/>
              </a:solidFill>
              <a:ln>
                <a:solidFill>
                  <a:schemeClr val="bg1"/>
                </a:solidFill>
              </a:ln>
            </p:spPr>
            <p:txBody>
              <a:bodyPr wrap="square" lIns="45720" tIns="45720" rIns="45720" bIns="45720" anchor="ctr" anchorCtr="0">
                <a:noAutofit/>
              </a:bodyPr>
              <a:lstStyle/>
              <a:p>
                <a:pPr marL="0" marR="0" lvl="0" indent="0" algn="ctr" defTabSz="321503" rtl="0" eaLnBrk="0" fontAlgn="auto" latinLnBrk="0" hangingPunct="0">
                  <a:lnSpc>
                    <a:spcPct val="85000"/>
                  </a:lnSpc>
                  <a:spcBef>
                    <a:spcPts val="0"/>
                  </a:spcBef>
                  <a:spcAft>
                    <a:spcPts val="0"/>
                  </a:spcAft>
                  <a:buClr>
                    <a:srgbClr val="FFFFFF"/>
                  </a:buClr>
                  <a:buSzTx/>
                  <a:buFontTx/>
                  <a:buNone/>
                  <a:tabLst/>
                  <a:defRPr/>
                </a:pPr>
                <a:r>
                  <a:rPr kumimoji="0" lang="en-US" sz="1200" b="1" i="0" u="none" strike="noStrike" kern="0" cap="none" spc="0" normalizeH="0" baseline="0" noProof="0" dirty="0">
                    <a:ln>
                      <a:noFill/>
                    </a:ln>
                    <a:solidFill>
                      <a:prstClr val="white"/>
                    </a:solidFill>
                    <a:effectLst/>
                    <a:uLnTx/>
                    <a:uFillTx/>
                    <a:latin typeface="Arial" panose="020B0604020202020204"/>
                    <a:ea typeface="+mn-ea"/>
                    <a:cs typeface="+mn-cs"/>
                  </a:rPr>
                  <a:t>2,070</a:t>
                </a:r>
                <a:r>
                  <a:rPr kumimoji="0" lang="en-US" sz="1100" b="1" i="0" u="none" strike="noStrike" kern="0" cap="none" spc="0" normalizeH="0" baseline="0" noProof="0" dirty="0">
                    <a:ln>
                      <a:noFill/>
                    </a:ln>
                    <a:solidFill>
                      <a:prstClr val="white"/>
                    </a:solidFill>
                    <a:effectLst/>
                    <a:uLnTx/>
                    <a:uFillTx/>
                    <a:latin typeface="Arial" panose="020B0604020202020204"/>
                    <a:ea typeface="+mn-ea"/>
                    <a:cs typeface="+mn-cs"/>
                  </a:rPr>
                  <a:t> received UMEC/VI</a:t>
                </a:r>
                <a:endParaRPr kumimoji="0" lang="en-US" sz="1100" b="0" i="0" u="none" strike="noStrike" kern="0" cap="none" spc="0" normalizeH="0" baseline="30000" noProof="0" dirty="0">
                  <a:ln>
                    <a:noFill/>
                  </a:ln>
                  <a:solidFill>
                    <a:prstClr val="white"/>
                  </a:solidFill>
                  <a:effectLst/>
                  <a:uLnTx/>
                  <a:uFillTx/>
                  <a:latin typeface="Arial" panose="020B0604020202020204"/>
                  <a:ea typeface="+mn-ea"/>
                  <a:cs typeface="+mn-cs"/>
                </a:endParaRPr>
              </a:p>
            </p:txBody>
          </p:sp>
        </p:grpSp>
        <p:cxnSp>
          <p:nvCxnSpPr>
            <p:cNvPr id="184" name="Straight Arrow Connector 183"/>
            <p:cNvCxnSpPr>
              <a:stCxn id="66" idx="2"/>
              <a:endCxn id="163" idx="0"/>
            </p:cNvCxnSpPr>
            <p:nvPr/>
          </p:nvCxnSpPr>
          <p:spPr>
            <a:xfrm>
              <a:off x="4803016" y="3856837"/>
              <a:ext cx="0" cy="788063"/>
            </a:xfrm>
            <a:prstGeom prst="straightConnector1">
              <a:avLst/>
            </a:prstGeom>
            <a:ln w="9525">
              <a:solidFill>
                <a:srgbClr val="544F40"/>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Straight Arrow Connector 184"/>
            <p:cNvCxnSpPr>
              <a:stCxn id="66" idx="2"/>
              <a:endCxn id="176" idx="0"/>
            </p:cNvCxnSpPr>
            <p:nvPr/>
          </p:nvCxnSpPr>
          <p:spPr>
            <a:xfrm rot="16200000" flipH="1">
              <a:off x="5840621" y="2819232"/>
              <a:ext cx="788063" cy="2863272"/>
            </a:xfrm>
            <a:prstGeom prst="bentConnector3">
              <a:avLst>
                <a:gd name="adj1" fmla="val 70547"/>
              </a:avLst>
            </a:prstGeom>
            <a:ln w="9525">
              <a:solidFill>
                <a:srgbClr val="544F40"/>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Straight Arrow Connector 184"/>
            <p:cNvCxnSpPr>
              <a:stCxn id="66" idx="2"/>
              <a:endCxn id="97" idx="0"/>
            </p:cNvCxnSpPr>
            <p:nvPr/>
          </p:nvCxnSpPr>
          <p:spPr>
            <a:xfrm rot="5400000">
              <a:off x="2977349" y="2819232"/>
              <a:ext cx="788063" cy="2863273"/>
            </a:xfrm>
            <a:prstGeom prst="bentConnector3">
              <a:avLst>
                <a:gd name="adj1" fmla="val 50000"/>
              </a:avLst>
            </a:prstGeom>
            <a:ln w="9525">
              <a:solidFill>
                <a:srgbClr val="544F40"/>
              </a:solidFill>
              <a:tailEnd type="triangle"/>
            </a:ln>
          </p:spPr>
          <p:style>
            <a:lnRef idx="1">
              <a:schemeClr val="accent1"/>
            </a:lnRef>
            <a:fillRef idx="0">
              <a:schemeClr val="accent1"/>
            </a:fillRef>
            <a:effectRef idx="0">
              <a:schemeClr val="accent1"/>
            </a:effectRef>
            <a:fontRef idx="minor">
              <a:schemeClr val="tx1"/>
            </a:fontRef>
          </p:style>
        </p:cxnSp>
        <p:sp>
          <p:nvSpPr>
            <p:cNvPr id="187" name="Rectangle: Rounded Corners 54"/>
            <p:cNvSpPr/>
            <p:nvPr/>
          </p:nvSpPr>
          <p:spPr>
            <a:xfrm>
              <a:off x="6479366" y="2770922"/>
              <a:ext cx="2377440" cy="548640"/>
            </a:xfrm>
            <a:prstGeom prst="roundRect">
              <a:avLst>
                <a:gd name="adj" fmla="val 12190"/>
              </a:avLst>
            </a:prstGeom>
            <a:solidFill>
              <a:schemeClr val="tx1">
                <a:lumMod val="20000"/>
                <a:lumOff val="80000"/>
              </a:schemeClr>
            </a:solidFill>
            <a:ln w="19050" cap="flat" cmpd="sng" algn="ctr">
              <a:noFill/>
              <a:prstDash val="solid"/>
              <a:miter lim="800000"/>
            </a:ln>
            <a:effectLst/>
          </p:spPr>
          <p:txBody>
            <a:bodyPr wrap="square" lIns="137160" rIns="0" rtlCol="0" anchor="ctr">
              <a:noAutofit/>
            </a:bodyPr>
            <a:lstStyle/>
            <a:p>
              <a:pPr marL="0" marR="0" lvl="0" indent="0" algn="l" defTabSz="685800" rtl="0" eaLnBrk="1" fontAlgn="auto" latinLnBrk="0" hangingPunct="1">
                <a:lnSpc>
                  <a:spcPct val="100000"/>
                </a:lnSpc>
                <a:spcBef>
                  <a:spcPts val="0"/>
                </a:spcBef>
                <a:spcAft>
                  <a:spcPts val="300"/>
                </a:spcAft>
                <a:buClrTx/>
                <a:buSzTx/>
                <a:buFontTx/>
                <a:buNone/>
                <a:tabLst/>
                <a:defRPr/>
              </a:pPr>
              <a:r>
                <a:rPr kumimoji="0" lang="en-GB" sz="1400" b="1" i="0" u="none" strike="noStrike" kern="0" cap="none" spc="0" normalizeH="0" baseline="0" noProof="0" dirty="0">
                  <a:ln>
                    <a:noFill/>
                  </a:ln>
                  <a:solidFill>
                    <a:srgbClr val="544F40"/>
                  </a:solidFill>
                  <a:effectLst/>
                  <a:uLnTx/>
                  <a:uFillTx/>
                  <a:latin typeface="Arial" panose="020B0604020202020204"/>
                  <a:ea typeface="+mn-ea"/>
                  <a:cs typeface="+mn-cs"/>
                </a:rPr>
                <a:t>807 (6%) </a:t>
              </a:r>
              <a:r>
                <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rPr>
                <a:t>failed pre-screening</a:t>
              </a:r>
            </a:p>
            <a:p>
              <a:pPr marL="0" marR="0" lvl="0" indent="0" algn="l" defTabSz="914400" rtl="0" eaLnBrk="0" fontAlgn="base" latinLnBrk="0" hangingPunct="0">
                <a:lnSpc>
                  <a:spcPct val="100000"/>
                </a:lnSpc>
                <a:spcBef>
                  <a:spcPts val="0"/>
                </a:spcBef>
                <a:spcAft>
                  <a:spcPts val="600"/>
                </a:spcAft>
                <a:buClrTx/>
                <a:buSzTx/>
                <a:buFontTx/>
                <a:buNone/>
                <a:tabLst/>
                <a:defRPr/>
              </a:pPr>
              <a:r>
                <a:rPr kumimoji="0" lang="en-US" altLang="en-US" sz="1400" b="1" i="0" u="none" strike="noStrike" kern="0" cap="none" spc="0" normalizeH="0" baseline="0" noProof="0" dirty="0">
                  <a:ln>
                    <a:noFill/>
                  </a:ln>
                  <a:solidFill>
                    <a:srgbClr val="544F40"/>
                  </a:solidFill>
                  <a:effectLst/>
                  <a:uLnTx/>
                  <a:uFillTx/>
                  <a:latin typeface="Arial" panose="020B0604020202020204"/>
                  <a:ea typeface="+mn-ea"/>
                  <a:cs typeface="+mn-cs"/>
                </a:rPr>
                <a:t>2744 (21%) </a:t>
              </a:r>
              <a:r>
                <a:rPr kumimoji="0" lang="en-US" altLang="en-US" sz="1200" b="0" i="0" u="none" strike="noStrike" kern="0" cap="none" spc="0" normalizeH="0" baseline="0" noProof="0" dirty="0">
                  <a:ln>
                    <a:noFill/>
                  </a:ln>
                  <a:solidFill>
                    <a:srgbClr val="544F40"/>
                  </a:solidFill>
                  <a:effectLst/>
                  <a:uLnTx/>
                  <a:uFillTx/>
                  <a:latin typeface="Arial" panose="020B0604020202020204"/>
                  <a:ea typeface="+mn-ea"/>
                  <a:cs typeface="+mn-cs"/>
                </a:rPr>
                <a:t>failed screening</a:t>
              </a:r>
            </a:p>
          </p:txBody>
        </p:sp>
        <p:sp>
          <p:nvSpPr>
            <p:cNvPr id="188" name="Rectangle: Rounded Corners 58"/>
            <p:cNvSpPr/>
            <p:nvPr/>
          </p:nvSpPr>
          <p:spPr>
            <a:xfrm>
              <a:off x="6479366" y="3760313"/>
              <a:ext cx="2377440" cy="548640"/>
            </a:xfrm>
            <a:prstGeom prst="roundRect">
              <a:avLst>
                <a:gd name="adj" fmla="val 12190"/>
              </a:avLst>
            </a:prstGeom>
            <a:solidFill>
              <a:schemeClr val="tx1">
                <a:lumMod val="20000"/>
                <a:lumOff val="80000"/>
              </a:schemeClr>
            </a:solidFill>
            <a:ln w="19050" cap="flat" cmpd="sng" algn="ctr">
              <a:noFill/>
              <a:prstDash val="solid"/>
              <a:miter lim="800000"/>
            </a:ln>
            <a:effectLst/>
          </p:spPr>
          <p:txBody>
            <a:bodyPr wrap="square" lIns="137160" rIns="0" rtlCol="0" anchor="ctr">
              <a:noAutofit/>
            </a:bodyPr>
            <a:lstStyle/>
            <a:p>
              <a:pPr marL="0" marR="0" lvl="0" indent="0" algn="l" defTabSz="685800" rtl="0" eaLnBrk="1" fontAlgn="auto" latinLnBrk="0" hangingPunct="1">
                <a:lnSpc>
                  <a:spcPct val="100000"/>
                </a:lnSpc>
                <a:spcBef>
                  <a:spcPts val="0"/>
                </a:spcBef>
                <a:spcAft>
                  <a:spcPts val="600"/>
                </a:spcAft>
                <a:buClrTx/>
                <a:buSzTx/>
                <a:buFontTx/>
                <a:buNone/>
                <a:tabLst/>
                <a:defRPr/>
              </a:pPr>
              <a:r>
                <a:rPr kumimoji="0" lang="en-US" sz="1400" b="1" i="0" u="none" strike="noStrike" kern="0" cap="none" spc="0" normalizeH="0" baseline="0" noProof="0" dirty="0">
                  <a:ln>
                    <a:noFill/>
                  </a:ln>
                  <a:solidFill>
                    <a:srgbClr val="544F40"/>
                  </a:solidFill>
                  <a:effectLst/>
                  <a:uLnTx/>
                  <a:uFillTx/>
                  <a:latin typeface="Arial" panose="020B0604020202020204"/>
                  <a:ea typeface="+mn-ea"/>
                  <a:cs typeface="+mn-cs"/>
                </a:rPr>
                <a:t>12</a:t>
              </a:r>
              <a:r>
                <a:rPr kumimoji="0" lang="en-US" sz="1200" b="0" i="0" u="none" strike="noStrike" kern="0" cap="none" spc="0" normalizeH="0" baseline="0" noProof="0" dirty="0">
                  <a:ln>
                    <a:noFill/>
                  </a:ln>
                  <a:solidFill>
                    <a:srgbClr val="544F40"/>
                  </a:solidFill>
                  <a:effectLst/>
                  <a:uLnTx/>
                  <a:uFillTx/>
                  <a:latin typeface="Arial" panose="020B0604020202020204"/>
                  <a:ea typeface="+mn-ea"/>
                  <a:cs typeface="+mn-cs"/>
                </a:rPr>
                <a:t> randomised in error and did </a:t>
              </a:r>
              <a:r>
                <a:rPr kumimoji="0" lang="en-US" altLang="en-US" sz="1200" b="0" i="0" u="none" strike="noStrike" kern="0" cap="none" spc="0" normalizeH="0" baseline="0" noProof="0" dirty="0">
                  <a:ln>
                    <a:noFill/>
                  </a:ln>
                  <a:solidFill>
                    <a:srgbClr val="544F40"/>
                  </a:solidFill>
                  <a:effectLst/>
                  <a:uLnTx/>
                  <a:uFillTx/>
                  <a:latin typeface="Arial" panose="020B0604020202020204"/>
                  <a:ea typeface="+mn-ea"/>
                  <a:cs typeface="+mn-cs"/>
                </a:rPr>
                <a:t>not receive study medication</a:t>
              </a:r>
              <a:r>
                <a:rPr kumimoji="0" lang="en-US" sz="1200" b="0" i="0" u="none" strike="noStrike" kern="0" cap="none" spc="0" normalizeH="0" baseline="0" noProof="0" dirty="0">
                  <a:ln>
                    <a:noFill/>
                  </a:ln>
                  <a:solidFill>
                    <a:srgbClr val="544F40"/>
                  </a:solidFill>
                  <a:effectLst/>
                  <a:uLnTx/>
                  <a:uFillTx/>
                  <a:latin typeface="Arial" panose="020B0604020202020204"/>
                  <a:ea typeface="+mn-ea"/>
                  <a:cs typeface="+mn-cs"/>
                </a:rPr>
                <a:t> </a:t>
              </a:r>
              <a:endParaRPr kumimoji="0" lang="en-US" altLang="en-US" sz="12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cxnSp>
          <p:nvCxnSpPr>
            <p:cNvPr id="189" name="Straight Arrow Connector 184"/>
            <p:cNvCxnSpPr>
              <a:stCxn id="66" idx="2"/>
              <a:endCxn id="188" idx="1"/>
            </p:cNvCxnSpPr>
            <p:nvPr/>
          </p:nvCxnSpPr>
          <p:spPr>
            <a:xfrm rot="16200000" flipH="1">
              <a:off x="5552293" y="3107560"/>
              <a:ext cx="177796" cy="1676350"/>
            </a:xfrm>
            <a:prstGeom prst="bentConnector2">
              <a:avLst/>
            </a:prstGeom>
            <a:ln w="9525">
              <a:solidFill>
                <a:srgbClr val="544F4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84"/>
            <p:cNvCxnSpPr>
              <a:stCxn id="11" idx="2"/>
              <a:endCxn id="187" idx="1"/>
            </p:cNvCxnSpPr>
            <p:nvPr/>
          </p:nvCxnSpPr>
          <p:spPr>
            <a:xfrm rot="16200000" flipH="1">
              <a:off x="5566541" y="2132417"/>
              <a:ext cx="149300" cy="1676350"/>
            </a:xfrm>
            <a:prstGeom prst="bentConnector2">
              <a:avLst/>
            </a:prstGeom>
            <a:ln w="9525">
              <a:solidFill>
                <a:srgbClr val="544F4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3" name="Group 92"/>
          <p:cNvGrpSpPr/>
          <p:nvPr/>
        </p:nvGrpSpPr>
        <p:grpSpPr>
          <a:xfrm>
            <a:off x="426920" y="1362269"/>
            <a:ext cx="11345979" cy="783772"/>
            <a:chOff x="426921" y="1384299"/>
            <a:chExt cx="10589160" cy="655371"/>
          </a:xfrm>
        </p:grpSpPr>
        <p:sp>
          <p:nvSpPr>
            <p:cNvPr id="95" name="Round Diagonal Corner Rectangle 94"/>
            <p:cNvSpPr/>
            <p:nvPr/>
          </p:nvSpPr>
          <p:spPr>
            <a:xfrm>
              <a:off x="426921" y="1389191"/>
              <a:ext cx="10589160" cy="650479"/>
            </a:xfrm>
            <a:prstGeom prst="round2DiagRect">
              <a:avLst>
                <a:gd name="adj1" fmla="val 25615"/>
                <a:gd name="adj2" fmla="val 0"/>
              </a:avLst>
            </a:prstGeom>
            <a:solidFill>
              <a:srgbClr val="40488D"/>
            </a:solidFill>
          </p:spPr>
          <p:txBody>
            <a:bodyPr wrap="square" lIns="27432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Arial" panose="020B0604020202020204"/>
                  <a:ea typeface="+mn-ea"/>
                  <a:cs typeface="+mn-cs"/>
                </a:rPr>
                <a:t>Patients were encouraged to remain in the study even if they discontinued randomised treatment;</a:t>
              </a:r>
              <a:br>
                <a:rPr kumimoji="0" lang="en-US" sz="16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sz="1600" b="1" i="0" u="none" strike="noStrike" kern="1200" cap="none" spc="0" normalizeH="0" baseline="0" noProof="0" dirty="0">
                  <a:ln>
                    <a:noFill/>
                  </a:ln>
                  <a:solidFill>
                    <a:prstClr val="white"/>
                  </a:solidFill>
                  <a:effectLst/>
                  <a:uLnTx/>
                  <a:uFillTx/>
                  <a:latin typeface="Arial" panose="020B0604020202020204"/>
                  <a:ea typeface="+mn-ea"/>
                  <a:cs typeface="+mn-cs"/>
                </a:rPr>
                <a:t>88% of patients completed the 52-week study and 77% completed treatment</a:t>
              </a:r>
            </a:p>
          </p:txBody>
        </p:sp>
        <p:sp>
          <p:nvSpPr>
            <p:cNvPr id="96" name="Isosceles Triangle 95"/>
            <p:cNvSpPr/>
            <p:nvPr/>
          </p:nvSpPr>
          <p:spPr>
            <a:xfrm>
              <a:off x="6933825" y="1384299"/>
              <a:ext cx="4082256" cy="655371"/>
            </a:xfrm>
            <a:prstGeom prst="triangle">
              <a:avLst>
                <a:gd name="adj" fmla="val 87893"/>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grpSp>
        <p:nvGrpSpPr>
          <p:cNvPr id="49" name="Group 48"/>
          <p:cNvGrpSpPr/>
          <p:nvPr/>
        </p:nvGrpSpPr>
        <p:grpSpPr>
          <a:xfrm>
            <a:off x="10522101" y="1425575"/>
            <a:ext cx="998148" cy="688698"/>
            <a:chOff x="357188" y="2298700"/>
            <a:chExt cx="2043112" cy="1409701"/>
          </a:xfrm>
          <a:solidFill>
            <a:srgbClr val="40488D"/>
          </a:solidFill>
        </p:grpSpPr>
        <p:sp>
          <p:nvSpPr>
            <p:cNvPr id="50" name="Freeform 5"/>
            <p:cNvSpPr>
              <a:spLocks/>
            </p:cNvSpPr>
            <p:nvPr/>
          </p:nvSpPr>
          <p:spPr bwMode="auto">
            <a:xfrm>
              <a:off x="1587500" y="3448050"/>
              <a:ext cx="130175" cy="57150"/>
            </a:xfrm>
            <a:custGeom>
              <a:avLst/>
              <a:gdLst>
                <a:gd name="T0" fmla="*/ 0 w 326"/>
                <a:gd name="T1" fmla="*/ 0 h 142"/>
                <a:gd name="T2" fmla="*/ 163 w 326"/>
                <a:gd name="T3" fmla="*/ 142 h 142"/>
                <a:gd name="T4" fmla="*/ 317 w 326"/>
                <a:gd name="T5" fmla="*/ 36 h 142"/>
                <a:gd name="T6" fmla="*/ 326 w 326"/>
                <a:gd name="T7" fmla="*/ 0 h 142"/>
                <a:gd name="T8" fmla="*/ 0 w 326"/>
                <a:gd name="T9" fmla="*/ 0 h 142"/>
              </a:gdLst>
              <a:ahLst/>
              <a:cxnLst>
                <a:cxn ang="0">
                  <a:pos x="T0" y="T1"/>
                </a:cxn>
                <a:cxn ang="0">
                  <a:pos x="T2" y="T3"/>
                </a:cxn>
                <a:cxn ang="0">
                  <a:pos x="T4" y="T5"/>
                </a:cxn>
                <a:cxn ang="0">
                  <a:pos x="T6" y="T7"/>
                </a:cxn>
                <a:cxn ang="0">
                  <a:pos x="T8" y="T9"/>
                </a:cxn>
              </a:cxnLst>
              <a:rect l="0" t="0" r="r" b="b"/>
              <a:pathLst>
                <a:path w="326" h="142">
                  <a:moveTo>
                    <a:pt x="0" y="0"/>
                  </a:moveTo>
                  <a:cubicBezTo>
                    <a:pt x="11" y="80"/>
                    <a:pt x="80" y="142"/>
                    <a:pt x="163" y="142"/>
                  </a:cubicBezTo>
                  <a:cubicBezTo>
                    <a:pt x="233" y="142"/>
                    <a:pt x="293" y="98"/>
                    <a:pt x="317" y="36"/>
                  </a:cubicBezTo>
                  <a:cubicBezTo>
                    <a:pt x="321" y="25"/>
                    <a:pt x="324" y="13"/>
                    <a:pt x="326"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51" name="Freeform 6"/>
            <p:cNvSpPr>
              <a:spLocks/>
            </p:cNvSpPr>
            <p:nvPr/>
          </p:nvSpPr>
          <p:spPr bwMode="auto">
            <a:xfrm>
              <a:off x="1587500" y="2884488"/>
              <a:ext cx="63500" cy="25400"/>
            </a:xfrm>
            <a:custGeom>
              <a:avLst/>
              <a:gdLst>
                <a:gd name="T0" fmla="*/ 159 w 159"/>
                <a:gd name="T1" fmla="*/ 49 h 64"/>
                <a:gd name="T2" fmla="*/ 154 w 159"/>
                <a:gd name="T3" fmla="*/ 35 h 64"/>
                <a:gd name="T4" fmla="*/ 0 w 159"/>
                <a:gd name="T5" fmla="*/ 0 h 64"/>
                <a:gd name="T6" fmla="*/ 0 w 159"/>
                <a:gd name="T7" fmla="*/ 64 h 64"/>
                <a:gd name="T8" fmla="*/ 35 w 159"/>
                <a:gd name="T9" fmla="*/ 60 h 64"/>
                <a:gd name="T10" fmla="*/ 159 w 159"/>
                <a:gd name="T11" fmla="*/ 49 h 64"/>
              </a:gdLst>
              <a:ahLst/>
              <a:cxnLst>
                <a:cxn ang="0">
                  <a:pos x="T0" y="T1"/>
                </a:cxn>
                <a:cxn ang="0">
                  <a:pos x="T2" y="T3"/>
                </a:cxn>
                <a:cxn ang="0">
                  <a:pos x="T4" y="T5"/>
                </a:cxn>
                <a:cxn ang="0">
                  <a:pos x="T6" y="T7"/>
                </a:cxn>
                <a:cxn ang="0">
                  <a:pos x="T8" y="T9"/>
                </a:cxn>
                <a:cxn ang="0">
                  <a:pos x="T10" y="T11"/>
                </a:cxn>
              </a:cxnLst>
              <a:rect l="0" t="0" r="r" b="b"/>
              <a:pathLst>
                <a:path w="159" h="64">
                  <a:moveTo>
                    <a:pt x="159" y="49"/>
                  </a:moveTo>
                  <a:lnTo>
                    <a:pt x="154" y="35"/>
                  </a:lnTo>
                  <a:cubicBezTo>
                    <a:pt x="114" y="27"/>
                    <a:pt x="59" y="16"/>
                    <a:pt x="0" y="0"/>
                  </a:cubicBezTo>
                  <a:lnTo>
                    <a:pt x="0" y="64"/>
                  </a:lnTo>
                  <a:cubicBezTo>
                    <a:pt x="12" y="63"/>
                    <a:pt x="24" y="62"/>
                    <a:pt x="35" y="60"/>
                  </a:cubicBezTo>
                  <a:cubicBezTo>
                    <a:pt x="77" y="55"/>
                    <a:pt x="118" y="51"/>
                    <a:pt x="159" y="4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52" name="Freeform 7"/>
            <p:cNvSpPr>
              <a:spLocks/>
            </p:cNvSpPr>
            <p:nvPr/>
          </p:nvSpPr>
          <p:spPr bwMode="auto">
            <a:xfrm>
              <a:off x="1744663" y="3448050"/>
              <a:ext cx="130175" cy="57150"/>
            </a:xfrm>
            <a:custGeom>
              <a:avLst/>
              <a:gdLst>
                <a:gd name="T0" fmla="*/ 164 w 327"/>
                <a:gd name="T1" fmla="*/ 142 h 142"/>
                <a:gd name="T2" fmla="*/ 327 w 327"/>
                <a:gd name="T3" fmla="*/ 0 h 142"/>
                <a:gd name="T4" fmla="*/ 0 w 327"/>
                <a:gd name="T5" fmla="*/ 0 h 142"/>
                <a:gd name="T6" fmla="*/ 164 w 327"/>
                <a:gd name="T7" fmla="*/ 142 h 142"/>
              </a:gdLst>
              <a:ahLst/>
              <a:cxnLst>
                <a:cxn ang="0">
                  <a:pos x="T0" y="T1"/>
                </a:cxn>
                <a:cxn ang="0">
                  <a:pos x="T2" y="T3"/>
                </a:cxn>
                <a:cxn ang="0">
                  <a:pos x="T4" y="T5"/>
                </a:cxn>
                <a:cxn ang="0">
                  <a:pos x="T6" y="T7"/>
                </a:cxn>
              </a:cxnLst>
              <a:rect l="0" t="0" r="r" b="b"/>
              <a:pathLst>
                <a:path w="327" h="142">
                  <a:moveTo>
                    <a:pt x="164" y="142"/>
                  </a:moveTo>
                  <a:cubicBezTo>
                    <a:pt x="247" y="142"/>
                    <a:pt x="315" y="80"/>
                    <a:pt x="327" y="0"/>
                  </a:cubicBezTo>
                  <a:lnTo>
                    <a:pt x="0" y="0"/>
                  </a:lnTo>
                  <a:cubicBezTo>
                    <a:pt x="12" y="80"/>
                    <a:pt x="80" y="142"/>
                    <a:pt x="164" y="14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53" name="Oval 8"/>
            <p:cNvSpPr>
              <a:spLocks noChangeArrowheads="1"/>
            </p:cNvSpPr>
            <p:nvPr/>
          </p:nvSpPr>
          <p:spPr bwMode="auto">
            <a:xfrm>
              <a:off x="1570038" y="2298700"/>
              <a:ext cx="238125" cy="239713"/>
            </a:xfrm>
            <a:prstGeom prst="ellipse">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54" name="Freeform 9"/>
            <p:cNvSpPr>
              <a:spLocks/>
            </p:cNvSpPr>
            <p:nvPr/>
          </p:nvSpPr>
          <p:spPr bwMode="auto">
            <a:xfrm>
              <a:off x="1746250" y="2844800"/>
              <a:ext cx="128587" cy="80963"/>
            </a:xfrm>
            <a:custGeom>
              <a:avLst/>
              <a:gdLst>
                <a:gd name="T0" fmla="*/ 0 w 321"/>
                <a:gd name="T1" fmla="*/ 154 h 206"/>
                <a:gd name="T2" fmla="*/ 321 w 321"/>
                <a:gd name="T3" fmla="*/ 206 h 206"/>
                <a:gd name="T4" fmla="*/ 321 w 321"/>
                <a:gd name="T5" fmla="*/ 184 h 206"/>
                <a:gd name="T6" fmla="*/ 321 w 321"/>
                <a:gd name="T7" fmla="*/ 0 h 206"/>
                <a:gd name="T8" fmla="*/ 220 w 321"/>
                <a:gd name="T9" fmla="*/ 20 h 206"/>
                <a:gd name="T10" fmla="*/ 237 w 321"/>
                <a:gd name="T11" fmla="*/ 65 h 206"/>
                <a:gd name="T12" fmla="*/ 0 w 321"/>
                <a:gd name="T13" fmla="*/ 154 h 206"/>
              </a:gdLst>
              <a:ahLst/>
              <a:cxnLst>
                <a:cxn ang="0">
                  <a:pos x="T0" y="T1"/>
                </a:cxn>
                <a:cxn ang="0">
                  <a:pos x="T2" y="T3"/>
                </a:cxn>
                <a:cxn ang="0">
                  <a:pos x="T4" y="T5"/>
                </a:cxn>
                <a:cxn ang="0">
                  <a:pos x="T6" y="T7"/>
                </a:cxn>
                <a:cxn ang="0">
                  <a:pos x="T8" y="T9"/>
                </a:cxn>
                <a:cxn ang="0">
                  <a:pos x="T10" y="T11"/>
                </a:cxn>
                <a:cxn ang="0">
                  <a:pos x="T12" y="T13"/>
                </a:cxn>
              </a:cxnLst>
              <a:rect l="0" t="0" r="r" b="b"/>
              <a:pathLst>
                <a:path w="321" h="206">
                  <a:moveTo>
                    <a:pt x="0" y="154"/>
                  </a:moveTo>
                  <a:cubicBezTo>
                    <a:pt x="112" y="163"/>
                    <a:pt x="221" y="181"/>
                    <a:pt x="321" y="206"/>
                  </a:cubicBezTo>
                  <a:lnTo>
                    <a:pt x="321" y="184"/>
                  </a:lnTo>
                  <a:lnTo>
                    <a:pt x="321" y="0"/>
                  </a:lnTo>
                  <a:cubicBezTo>
                    <a:pt x="290" y="9"/>
                    <a:pt x="256" y="16"/>
                    <a:pt x="220" y="20"/>
                  </a:cubicBezTo>
                  <a:lnTo>
                    <a:pt x="237" y="65"/>
                  </a:lnTo>
                  <a:lnTo>
                    <a:pt x="0" y="15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55" name="Freeform 10"/>
            <p:cNvSpPr>
              <a:spLocks noEditPoints="1"/>
            </p:cNvSpPr>
            <p:nvPr/>
          </p:nvSpPr>
          <p:spPr bwMode="auto">
            <a:xfrm>
              <a:off x="1455738" y="2511425"/>
              <a:ext cx="552450" cy="379413"/>
            </a:xfrm>
            <a:custGeom>
              <a:avLst/>
              <a:gdLst>
                <a:gd name="T0" fmla="*/ 530 w 1385"/>
                <a:gd name="T1" fmla="*/ 948 h 948"/>
                <a:gd name="T2" fmla="*/ 547 w 1385"/>
                <a:gd name="T3" fmla="*/ 736 h 948"/>
                <a:gd name="T4" fmla="*/ 333 w 1385"/>
                <a:gd name="T5" fmla="*/ 685 h 948"/>
                <a:gd name="T6" fmla="*/ 233 w 1385"/>
                <a:gd name="T7" fmla="*/ 644 h 948"/>
                <a:gd name="T8" fmla="*/ 257 w 1385"/>
                <a:gd name="T9" fmla="*/ 475 h 948"/>
                <a:gd name="T10" fmla="*/ 341 w 1385"/>
                <a:gd name="T11" fmla="*/ 659 h 948"/>
                <a:gd name="T12" fmla="*/ 287 w 1385"/>
                <a:gd name="T13" fmla="*/ 440 h 948"/>
                <a:gd name="T14" fmla="*/ 852 w 1385"/>
                <a:gd name="T15" fmla="*/ 588 h 948"/>
                <a:gd name="T16" fmla="*/ 875 w 1385"/>
                <a:gd name="T17" fmla="*/ 588 h 948"/>
                <a:gd name="T18" fmla="*/ 895 w 1385"/>
                <a:gd name="T19" fmla="*/ 589 h 948"/>
                <a:gd name="T20" fmla="*/ 1052 w 1385"/>
                <a:gd name="T21" fmla="*/ 289 h 948"/>
                <a:gd name="T22" fmla="*/ 1157 w 1385"/>
                <a:gd name="T23" fmla="*/ 521 h 948"/>
                <a:gd name="T24" fmla="*/ 1101 w 1385"/>
                <a:gd name="T25" fmla="*/ 554 h 948"/>
                <a:gd name="T26" fmla="*/ 872 w 1385"/>
                <a:gd name="T27" fmla="*/ 615 h 948"/>
                <a:gd name="T28" fmla="*/ 854 w 1385"/>
                <a:gd name="T29" fmla="*/ 827 h 948"/>
                <a:gd name="T30" fmla="*/ 1208 w 1385"/>
                <a:gd name="T31" fmla="*/ 739 h 948"/>
                <a:gd name="T32" fmla="*/ 1345 w 1385"/>
                <a:gd name="T33" fmla="*/ 650 h 948"/>
                <a:gd name="T34" fmla="*/ 1351 w 1385"/>
                <a:gd name="T35" fmla="*/ 645 h 948"/>
                <a:gd name="T36" fmla="*/ 1358 w 1385"/>
                <a:gd name="T37" fmla="*/ 638 h 948"/>
                <a:gd name="T38" fmla="*/ 1364 w 1385"/>
                <a:gd name="T39" fmla="*/ 631 h 948"/>
                <a:gd name="T40" fmla="*/ 1369 w 1385"/>
                <a:gd name="T41" fmla="*/ 623 h 948"/>
                <a:gd name="T42" fmla="*/ 1375 w 1385"/>
                <a:gd name="T43" fmla="*/ 613 h 948"/>
                <a:gd name="T44" fmla="*/ 1380 w 1385"/>
                <a:gd name="T45" fmla="*/ 599 h 948"/>
                <a:gd name="T46" fmla="*/ 1385 w 1385"/>
                <a:gd name="T47" fmla="*/ 569 h 948"/>
                <a:gd name="T48" fmla="*/ 1385 w 1385"/>
                <a:gd name="T49" fmla="*/ 561 h 948"/>
                <a:gd name="T50" fmla="*/ 1384 w 1385"/>
                <a:gd name="T51" fmla="*/ 552 h 948"/>
                <a:gd name="T52" fmla="*/ 1383 w 1385"/>
                <a:gd name="T53" fmla="*/ 546 h 948"/>
                <a:gd name="T54" fmla="*/ 1175 w 1385"/>
                <a:gd name="T55" fmla="*/ 104 h 948"/>
                <a:gd name="T56" fmla="*/ 933 w 1385"/>
                <a:gd name="T57" fmla="*/ 1 h 948"/>
                <a:gd name="T58" fmla="*/ 586 w 1385"/>
                <a:gd name="T59" fmla="*/ 93 h 948"/>
                <a:gd name="T60" fmla="*/ 232 w 1385"/>
                <a:gd name="T61" fmla="*/ 102 h 948"/>
                <a:gd name="T62" fmla="*/ 0 w 1385"/>
                <a:gd name="T63" fmla="*/ 650 h 948"/>
                <a:gd name="T64" fmla="*/ 13 w 1385"/>
                <a:gd name="T65" fmla="*/ 713 h 948"/>
                <a:gd name="T66" fmla="*/ 13 w 1385"/>
                <a:gd name="T67" fmla="*/ 714 h 948"/>
                <a:gd name="T68" fmla="*/ 169 w 1385"/>
                <a:gd name="T69" fmla="*/ 850 h 948"/>
                <a:gd name="T70" fmla="*/ 513 w 1385"/>
                <a:gd name="T71" fmla="*/ 946 h 948"/>
                <a:gd name="T72" fmla="*/ 287 w 1385"/>
                <a:gd name="T73" fmla="*/ 398 h 948"/>
                <a:gd name="T74" fmla="*/ 331 w 1385"/>
                <a:gd name="T75" fmla="*/ 381 h 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85" h="948">
                  <a:moveTo>
                    <a:pt x="513" y="946"/>
                  </a:moveTo>
                  <a:cubicBezTo>
                    <a:pt x="518" y="947"/>
                    <a:pt x="524" y="948"/>
                    <a:pt x="530" y="948"/>
                  </a:cubicBezTo>
                  <a:cubicBezTo>
                    <a:pt x="581" y="948"/>
                    <a:pt x="627" y="911"/>
                    <a:pt x="635" y="858"/>
                  </a:cubicBezTo>
                  <a:cubicBezTo>
                    <a:pt x="644" y="800"/>
                    <a:pt x="605" y="745"/>
                    <a:pt x="547" y="736"/>
                  </a:cubicBezTo>
                  <a:cubicBezTo>
                    <a:pt x="547" y="736"/>
                    <a:pt x="542" y="735"/>
                    <a:pt x="533" y="733"/>
                  </a:cubicBezTo>
                  <a:cubicBezTo>
                    <a:pt x="499" y="728"/>
                    <a:pt x="412" y="710"/>
                    <a:pt x="333" y="685"/>
                  </a:cubicBezTo>
                  <a:cubicBezTo>
                    <a:pt x="304" y="675"/>
                    <a:pt x="275" y="664"/>
                    <a:pt x="253" y="654"/>
                  </a:cubicBezTo>
                  <a:cubicBezTo>
                    <a:pt x="246" y="650"/>
                    <a:pt x="239" y="647"/>
                    <a:pt x="233" y="644"/>
                  </a:cubicBezTo>
                  <a:cubicBezTo>
                    <a:pt x="227" y="640"/>
                    <a:pt x="221" y="637"/>
                    <a:pt x="217" y="634"/>
                  </a:cubicBezTo>
                  <a:cubicBezTo>
                    <a:pt x="229" y="572"/>
                    <a:pt x="243" y="519"/>
                    <a:pt x="257" y="475"/>
                  </a:cubicBezTo>
                  <a:lnTo>
                    <a:pt x="324" y="654"/>
                  </a:lnTo>
                  <a:cubicBezTo>
                    <a:pt x="330" y="656"/>
                    <a:pt x="336" y="657"/>
                    <a:pt x="341" y="659"/>
                  </a:cubicBezTo>
                  <a:cubicBezTo>
                    <a:pt x="352" y="663"/>
                    <a:pt x="362" y="666"/>
                    <a:pt x="373" y="669"/>
                  </a:cubicBezTo>
                  <a:lnTo>
                    <a:pt x="287" y="440"/>
                  </a:lnTo>
                  <a:lnTo>
                    <a:pt x="734" y="273"/>
                  </a:lnTo>
                  <a:lnTo>
                    <a:pt x="852" y="588"/>
                  </a:lnTo>
                  <a:cubicBezTo>
                    <a:pt x="856" y="588"/>
                    <a:pt x="859" y="588"/>
                    <a:pt x="863" y="588"/>
                  </a:cubicBezTo>
                  <a:cubicBezTo>
                    <a:pt x="867" y="588"/>
                    <a:pt x="871" y="588"/>
                    <a:pt x="875" y="588"/>
                  </a:cubicBezTo>
                  <a:cubicBezTo>
                    <a:pt x="880" y="589"/>
                    <a:pt x="886" y="589"/>
                    <a:pt x="893" y="589"/>
                  </a:cubicBezTo>
                  <a:lnTo>
                    <a:pt x="895" y="589"/>
                  </a:lnTo>
                  <a:cubicBezTo>
                    <a:pt x="938" y="589"/>
                    <a:pt x="995" y="574"/>
                    <a:pt x="1052" y="548"/>
                  </a:cubicBezTo>
                  <a:lnTo>
                    <a:pt x="1052" y="289"/>
                  </a:lnTo>
                  <a:cubicBezTo>
                    <a:pt x="1086" y="336"/>
                    <a:pt x="1116" y="400"/>
                    <a:pt x="1136" y="457"/>
                  </a:cubicBezTo>
                  <a:cubicBezTo>
                    <a:pt x="1144" y="480"/>
                    <a:pt x="1151" y="502"/>
                    <a:pt x="1157" y="521"/>
                  </a:cubicBezTo>
                  <a:cubicBezTo>
                    <a:pt x="1150" y="526"/>
                    <a:pt x="1142" y="530"/>
                    <a:pt x="1134" y="535"/>
                  </a:cubicBezTo>
                  <a:cubicBezTo>
                    <a:pt x="1124" y="541"/>
                    <a:pt x="1113" y="548"/>
                    <a:pt x="1101" y="554"/>
                  </a:cubicBezTo>
                  <a:cubicBezTo>
                    <a:pt x="1038" y="587"/>
                    <a:pt x="957" y="617"/>
                    <a:pt x="893" y="616"/>
                  </a:cubicBezTo>
                  <a:cubicBezTo>
                    <a:pt x="886" y="616"/>
                    <a:pt x="879" y="616"/>
                    <a:pt x="872" y="615"/>
                  </a:cubicBezTo>
                  <a:cubicBezTo>
                    <a:pt x="814" y="610"/>
                    <a:pt x="762" y="653"/>
                    <a:pt x="757" y="712"/>
                  </a:cubicBezTo>
                  <a:cubicBezTo>
                    <a:pt x="752" y="770"/>
                    <a:pt x="795" y="822"/>
                    <a:pt x="854" y="827"/>
                  </a:cubicBezTo>
                  <a:cubicBezTo>
                    <a:pt x="867" y="829"/>
                    <a:pt x="880" y="829"/>
                    <a:pt x="893" y="829"/>
                  </a:cubicBezTo>
                  <a:cubicBezTo>
                    <a:pt x="1017" y="828"/>
                    <a:pt x="1126" y="782"/>
                    <a:pt x="1208" y="739"/>
                  </a:cubicBezTo>
                  <a:cubicBezTo>
                    <a:pt x="1215" y="735"/>
                    <a:pt x="1222" y="731"/>
                    <a:pt x="1229" y="727"/>
                  </a:cubicBezTo>
                  <a:cubicBezTo>
                    <a:pt x="1298" y="688"/>
                    <a:pt x="1342" y="652"/>
                    <a:pt x="1345" y="650"/>
                  </a:cubicBezTo>
                  <a:cubicBezTo>
                    <a:pt x="1345" y="650"/>
                    <a:pt x="1346" y="650"/>
                    <a:pt x="1346" y="649"/>
                  </a:cubicBezTo>
                  <a:cubicBezTo>
                    <a:pt x="1348" y="648"/>
                    <a:pt x="1349" y="646"/>
                    <a:pt x="1351" y="645"/>
                  </a:cubicBezTo>
                  <a:cubicBezTo>
                    <a:pt x="1352" y="644"/>
                    <a:pt x="1353" y="643"/>
                    <a:pt x="1354" y="642"/>
                  </a:cubicBezTo>
                  <a:cubicBezTo>
                    <a:pt x="1355" y="641"/>
                    <a:pt x="1357" y="639"/>
                    <a:pt x="1358" y="638"/>
                  </a:cubicBezTo>
                  <a:cubicBezTo>
                    <a:pt x="1359" y="637"/>
                    <a:pt x="1360" y="636"/>
                    <a:pt x="1361" y="634"/>
                  </a:cubicBezTo>
                  <a:cubicBezTo>
                    <a:pt x="1362" y="633"/>
                    <a:pt x="1363" y="632"/>
                    <a:pt x="1364" y="631"/>
                  </a:cubicBezTo>
                  <a:cubicBezTo>
                    <a:pt x="1365" y="629"/>
                    <a:pt x="1366" y="628"/>
                    <a:pt x="1367" y="626"/>
                  </a:cubicBezTo>
                  <a:cubicBezTo>
                    <a:pt x="1368" y="625"/>
                    <a:pt x="1369" y="624"/>
                    <a:pt x="1369" y="623"/>
                  </a:cubicBezTo>
                  <a:cubicBezTo>
                    <a:pt x="1370" y="621"/>
                    <a:pt x="1372" y="619"/>
                    <a:pt x="1373" y="617"/>
                  </a:cubicBezTo>
                  <a:cubicBezTo>
                    <a:pt x="1373" y="616"/>
                    <a:pt x="1374" y="614"/>
                    <a:pt x="1375" y="613"/>
                  </a:cubicBezTo>
                  <a:cubicBezTo>
                    <a:pt x="1376" y="611"/>
                    <a:pt x="1376" y="610"/>
                    <a:pt x="1377" y="608"/>
                  </a:cubicBezTo>
                  <a:cubicBezTo>
                    <a:pt x="1378" y="605"/>
                    <a:pt x="1379" y="602"/>
                    <a:pt x="1380" y="599"/>
                  </a:cubicBezTo>
                  <a:cubicBezTo>
                    <a:pt x="1380" y="599"/>
                    <a:pt x="1380" y="599"/>
                    <a:pt x="1380" y="599"/>
                  </a:cubicBezTo>
                  <a:cubicBezTo>
                    <a:pt x="1383" y="589"/>
                    <a:pt x="1385" y="579"/>
                    <a:pt x="1385" y="569"/>
                  </a:cubicBezTo>
                  <a:cubicBezTo>
                    <a:pt x="1385" y="569"/>
                    <a:pt x="1385" y="569"/>
                    <a:pt x="1385" y="568"/>
                  </a:cubicBezTo>
                  <a:cubicBezTo>
                    <a:pt x="1385" y="566"/>
                    <a:pt x="1385" y="563"/>
                    <a:pt x="1385" y="561"/>
                  </a:cubicBezTo>
                  <a:cubicBezTo>
                    <a:pt x="1385" y="560"/>
                    <a:pt x="1385" y="559"/>
                    <a:pt x="1385" y="558"/>
                  </a:cubicBezTo>
                  <a:cubicBezTo>
                    <a:pt x="1385" y="556"/>
                    <a:pt x="1384" y="554"/>
                    <a:pt x="1384" y="552"/>
                  </a:cubicBezTo>
                  <a:cubicBezTo>
                    <a:pt x="1384" y="550"/>
                    <a:pt x="1384" y="549"/>
                    <a:pt x="1383" y="547"/>
                  </a:cubicBezTo>
                  <a:cubicBezTo>
                    <a:pt x="1383" y="546"/>
                    <a:pt x="1383" y="546"/>
                    <a:pt x="1383" y="546"/>
                  </a:cubicBezTo>
                  <a:cubicBezTo>
                    <a:pt x="1382" y="541"/>
                    <a:pt x="1358" y="420"/>
                    <a:pt x="1299" y="292"/>
                  </a:cubicBezTo>
                  <a:cubicBezTo>
                    <a:pt x="1269" y="227"/>
                    <a:pt x="1230" y="160"/>
                    <a:pt x="1175" y="104"/>
                  </a:cubicBezTo>
                  <a:cubicBezTo>
                    <a:pt x="1120" y="48"/>
                    <a:pt x="1041" y="0"/>
                    <a:pt x="946" y="0"/>
                  </a:cubicBezTo>
                  <a:cubicBezTo>
                    <a:pt x="941" y="0"/>
                    <a:pt x="937" y="0"/>
                    <a:pt x="933" y="1"/>
                  </a:cubicBezTo>
                  <a:lnTo>
                    <a:pt x="813" y="1"/>
                  </a:lnTo>
                  <a:cubicBezTo>
                    <a:pt x="754" y="58"/>
                    <a:pt x="674" y="93"/>
                    <a:pt x="586" y="93"/>
                  </a:cubicBezTo>
                  <a:cubicBezTo>
                    <a:pt x="504" y="93"/>
                    <a:pt x="430" y="63"/>
                    <a:pt x="372" y="13"/>
                  </a:cubicBezTo>
                  <a:cubicBezTo>
                    <a:pt x="335" y="26"/>
                    <a:pt x="284" y="52"/>
                    <a:pt x="232" y="102"/>
                  </a:cubicBezTo>
                  <a:cubicBezTo>
                    <a:pt x="140" y="191"/>
                    <a:pt x="49" y="348"/>
                    <a:pt x="2" y="623"/>
                  </a:cubicBezTo>
                  <a:cubicBezTo>
                    <a:pt x="1" y="632"/>
                    <a:pt x="0" y="641"/>
                    <a:pt x="0" y="650"/>
                  </a:cubicBezTo>
                  <a:cubicBezTo>
                    <a:pt x="0" y="673"/>
                    <a:pt x="5" y="695"/>
                    <a:pt x="13" y="713"/>
                  </a:cubicBezTo>
                  <a:cubicBezTo>
                    <a:pt x="13" y="713"/>
                    <a:pt x="13" y="713"/>
                    <a:pt x="13" y="713"/>
                  </a:cubicBezTo>
                  <a:cubicBezTo>
                    <a:pt x="13" y="713"/>
                    <a:pt x="13" y="714"/>
                    <a:pt x="13" y="714"/>
                  </a:cubicBezTo>
                  <a:lnTo>
                    <a:pt x="13" y="714"/>
                  </a:lnTo>
                  <a:cubicBezTo>
                    <a:pt x="28" y="750"/>
                    <a:pt x="51" y="774"/>
                    <a:pt x="74" y="793"/>
                  </a:cubicBezTo>
                  <a:cubicBezTo>
                    <a:pt x="104" y="817"/>
                    <a:pt x="136" y="835"/>
                    <a:pt x="169" y="850"/>
                  </a:cubicBezTo>
                  <a:cubicBezTo>
                    <a:pt x="181" y="856"/>
                    <a:pt x="194" y="861"/>
                    <a:pt x="207" y="866"/>
                  </a:cubicBezTo>
                  <a:cubicBezTo>
                    <a:pt x="346" y="920"/>
                    <a:pt x="509" y="946"/>
                    <a:pt x="513" y="946"/>
                  </a:cubicBezTo>
                  <a:close/>
                  <a:moveTo>
                    <a:pt x="331" y="381"/>
                  </a:moveTo>
                  <a:lnTo>
                    <a:pt x="287" y="398"/>
                  </a:lnTo>
                  <a:cubicBezTo>
                    <a:pt x="301" y="365"/>
                    <a:pt x="317" y="338"/>
                    <a:pt x="331" y="315"/>
                  </a:cubicBezTo>
                  <a:lnTo>
                    <a:pt x="331" y="38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56" name="Freeform 11"/>
            <p:cNvSpPr>
              <a:spLocks/>
            </p:cNvSpPr>
            <p:nvPr/>
          </p:nvSpPr>
          <p:spPr bwMode="auto">
            <a:xfrm>
              <a:off x="804863" y="2498725"/>
              <a:ext cx="273050" cy="273050"/>
            </a:xfrm>
            <a:custGeom>
              <a:avLst/>
              <a:gdLst>
                <a:gd name="T0" fmla="*/ 503 w 684"/>
                <a:gd name="T1" fmla="*/ 89 h 684"/>
                <a:gd name="T2" fmla="*/ 595 w 684"/>
                <a:gd name="T3" fmla="*/ 503 h 684"/>
                <a:gd name="T4" fmla="*/ 180 w 684"/>
                <a:gd name="T5" fmla="*/ 595 h 684"/>
                <a:gd name="T6" fmla="*/ 89 w 684"/>
                <a:gd name="T7" fmla="*/ 180 h 684"/>
                <a:gd name="T8" fmla="*/ 503 w 684"/>
                <a:gd name="T9" fmla="*/ 89 h 684"/>
              </a:gdLst>
              <a:ahLst/>
              <a:cxnLst>
                <a:cxn ang="0">
                  <a:pos x="T0" y="T1"/>
                </a:cxn>
                <a:cxn ang="0">
                  <a:pos x="T2" y="T3"/>
                </a:cxn>
                <a:cxn ang="0">
                  <a:pos x="T4" y="T5"/>
                </a:cxn>
                <a:cxn ang="0">
                  <a:pos x="T6" y="T7"/>
                </a:cxn>
                <a:cxn ang="0">
                  <a:pos x="T8" y="T9"/>
                </a:cxn>
              </a:cxnLst>
              <a:rect l="0" t="0" r="r" b="b"/>
              <a:pathLst>
                <a:path w="684" h="684">
                  <a:moveTo>
                    <a:pt x="503" y="89"/>
                  </a:moveTo>
                  <a:cubicBezTo>
                    <a:pt x="643" y="178"/>
                    <a:pt x="684" y="364"/>
                    <a:pt x="595" y="503"/>
                  </a:cubicBezTo>
                  <a:cubicBezTo>
                    <a:pt x="505" y="643"/>
                    <a:pt x="320" y="684"/>
                    <a:pt x="180" y="595"/>
                  </a:cubicBezTo>
                  <a:cubicBezTo>
                    <a:pt x="41" y="505"/>
                    <a:pt x="0" y="320"/>
                    <a:pt x="89" y="180"/>
                  </a:cubicBezTo>
                  <a:cubicBezTo>
                    <a:pt x="178" y="41"/>
                    <a:pt x="364" y="0"/>
                    <a:pt x="503" y="8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57" name="Freeform 12"/>
            <p:cNvSpPr>
              <a:spLocks/>
            </p:cNvSpPr>
            <p:nvPr/>
          </p:nvSpPr>
          <p:spPr bwMode="auto">
            <a:xfrm>
              <a:off x="550863" y="2625725"/>
              <a:ext cx="422275" cy="566738"/>
            </a:xfrm>
            <a:custGeom>
              <a:avLst/>
              <a:gdLst>
                <a:gd name="T0" fmla="*/ 389 w 1062"/>
                <a:gd name="T1" fmla="*/ 14 h 1417"/>
                <a:gd name="T2" fmla="*/ 36 w 1062"/>
                <a:gd name="T3" fmla="*/ 201 h 1417"/>
                <a:gd name="T4" fmla="*/ 13 w 1062"/>
                <a:gd name="T5" fmla="*/ 273 h 1417"/>
                <a:gd name="T6" fmla="*/ 601 w 1062"/>
                <a:gd name="T7" fmla="*/ 1381 h 1417"/>
                <a:gd name="T8" fmla="*/ 673 w 1062"/>
                <a:gd name="T9" fmla="*/ 1403 h 1417"/>
                <a:gd name="T10" fmla="*/ 1026 w 1062"/>
                <a:gd name="T11" fmla="*/ 1216 h 1417"/>
                <a:gd name="T12" fmla="*/ 1049 w 1062"/>
                <a:gd name="T13" fmla="*/ 1143 h 1417"/>
                <a:gd name="T14" fmla="*/ 461 w 1062"/>
                <a:gd name="T15" fmla="*/ 36 h 1417"/>
                <a:gd name="T16" fmla="*/ 389 w 1062"/>
                <a:gd name="T17" fmla="*/ 14 h 1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2" h="1417">
                  <a:moveTo>
                    <a:pt x="389" y="14"/>
                  </a:moveTo>
                  <a:lnTo>
                    <a:pt x="36" y="201"/>
                  </a:lnTo>
                  <a:cubicBezTo>
                    <a:pt x="10" y="215"/>
                    <a:pt x="0" y="247"/>
                    <a:pt x="13" y="273"/>
                  </a:cubicBezTo>
                  <a:lnTo>
                    <a:pt x="601" y="1381"/>
                  </a:lnTo>
                  <a:cubicBezTo>
                    <a:pt x="615" y="1407"/>
                    <a:pt x="647" y="1417"/>
                    <a:pt x="673" y="1403"/>
                  </a:cubicBezTo>
                  <a:lnTo>
                    <a:pt x="1026" y="1216"/>
                  </a:lnTo>
                  <a:cubicBezTo>
                    <a:pt x="1052" y="1202"/>
                    <a:pt x="1062" y="1169"/>
                    <a:pt x="1049" y="1143"/>
                  </a:cubicBezTo>
                  <a:lnTo>
                    <a:pt x="461" y="36"/>
                  </a:lnTo>
                  <a:cubicBezTo>
                    <a:pt x="447" y="10"/>
                    <a:pt x="415" y="0"/>
                    <a:pt x="389" y="1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58" name="Freeform 13"/>
            <p:cNvSpPr>
              <a:spLocks noEditPoints="1"/>
            </p:cNvSpPr>
            <p:nvPr/>
          </p:nvSpPr>
          <p:spPr bwMode="auto">
            <a:xfrm>
              <a:off x="531813" y="2851150"/>
              <a:ext cx="166687" cy="857250"/>
            </a:xfrm>
            <a:custGeom>
              <a:avLst/>
              <a:gdLst>
                <a:gd name="T0" fmla="*/ 209 w 417"/>
                <a:gd name="T1" fmla="*/ 1728 h 2145"/>
                <a:gd name="T2" fmla="*/ 154 w 417"/>
                <a:gd name="T3" fmla="*/ 1735 h 2145"/>
                <a:gd name="T4" fmla="*/ 154 w 417"/>
                <a:gd name="T5" fmla="*/ 53 h 2145"/>
                <a:gd name="T6" fmla="*/ 101 w 417"/>
                <a:gd name="T7" fmla="*/ 0 h 2145"/>
                <a:gd name="T8" fmla="*/ 74 w 417"/>
                <a:gd name="T9" fmla="*/ 0 h 2145"/>
                <a:gd name="T10" fmla="*/ 21 w 417"/>
                <a:gd name="T11" fmla="*/ 53 h 2145"/>
                <a:gd name="T12" fmla="*/ 21 w 417"/>
                <a:gd name="T13" fmla="*/ 1845 h 2145"/>
                <a:gd name="T14" fmla="*/ 0 w 417"/>
                <a:gd name="T15" fmla="*/ 1936 h 2145"/>
                <a:gd name="T16" fmla="*/ 209 w 417"/>
                <a:gd name="T17" fmla="*/ 2145 h 2145"/>
                <a:gd name="T18" fmla="*/ 417 w 417"/>
                <a:gd name="T19" fmla="*/ 1936 h 2145"/>
                <a:gd name="T20" fmla="*/ 209 w 417"/>
                <a:gd name="T21" fmla="*/ 1728 h 2145"/>
                <a:gd name="T22" fmla="*/ 209 w 417"/>
                <a:gd name="T23" fmla="*/ 2036 h 2145"/>
                <a:gd name="T24" fmla="*/ 109 w 417"/>
                <a:gd name="T25" fmla="*/ 1936 h 2145"/>
                <a:gd name="T26" fmla="*/ 209 w 417"/>
                <a:gd name="T27" fmla="*/ 1836 h 2145"/>
                <a:gd name="T28" fmla="*/ 309 w 417"/>
                <a:gd name="T29" fmla="*/ 1936 h 2145"/>
                <a:gd name="T30" fmla="*/ 209 w 417"/>
                <a:gd name="T31" fmla="*/ 2036 h 2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17" h="2145">
                  <a:moveTo>
                    <a:pt x="209" y="1728"/>
                  </a:moveTo>
                  <a:cubicBezTo>
                    <a:pt x="190" y="1728"/>
                    <a:pt x="171" y="1730"/>
                    <a:pt x="154" y="1735"/>
                  </a:cubicBezTo>
                  <a:lnTo>
                    <a:pt x="154" y="53"/>
                  </a:lnTo>
                  <a:cubicBezTo>
                    <a:pt x="154" y="24"/>
                    <a:pt x="130" y="0"/>
                    <a:pt x="101" y="0"/>
                  </a:cubicBezTo>
                  <a:lnTo>
                    <a:pt x="74" y="0"/>
                  </a:lnTo>
                  <a:cubicBezTo>
                    <a:pt x="45" y="0"/>
                    <a:pt x="21" y="24"/>
                    <a:pt x="21" y="53"/>
                  </a:cubicBezTo>
                  <a:lnTo>
                    <a:pt x="21" y="1845"/>
                  </a:lnTo>
                  <a:cubicBezTo>
                    <a:pt x="7" y="1873"/>
                    <a:pt x="0" y="1904"/>
                    <a:pt x="0" y="1936"/>
                  </a:cubicBezTo>
                  <a:cubicBezTo>
                    <a:pt x="0" y="2052"/>
                    <a:pt x="93" y="2145"/>
                    <a:pt x="209" y="2145"/>
                  </a:cubicBezTo>
                  <a:cubicBezTo>
                    <a:pt x="324" y="2145"/>
                    <a:pt x="417" y="2052"/>
                    <a:pt x="417" y="1936"/>
                  </a:cubicBezTo>
                  <a:cubicBezTo>
                    <a:pt x="417" y="1821"/>
                    <a:pt x="324" y="1728"/>
                    <a:pt x="209" y="1728"/>
                  </a:cubicBezTo>
                  <a:close/>
                  <a:moveTo>
                    <a:pt x="209" y="2036"/>
                  </a:moveTo>
                  <a:cubicBezTo>
                    <a:pt x="153" y="2036"/>
                    <a:pt x="109" y="1992"/>
                    <a:pt x="109" y="1936"/>
                  </a:cubicBezTo>
                  <a:cubicBezTo>
                    <a:pt x="109" y="1881"/>
                    <a:pt x="153" y="1836"/>
                    <a:pt x="209" y="1836"/>
                  </a:cubicBezTo>
                  <a:cubicBezTo>
                    <a:pt x="264" y="1836"/>
                    <a:pt x="309" y="1881"/>
                    <a:pt x="309" y="1936"/>
                  </a:cubicBezTo>
                  <a:cubicBezTo>
                    <a:pt x="309" y="1992"/>
                    <a:pt x="264" y="2036"/>
                    <a:pt x="209" y="203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59" name="Freeform 14"/>
            <p:cNvSpPr>
              <a:spLocks noEditPoints="1"/>
            </p:cNvSpPr>
            <p:nvPr/>
          </p:nvSpPr>
          <p:spPr bwMode="auto">
            <a:xfrm>
              <a:off x="615950" y="2754313"/>
              <a:ext cx="1624012" cy="954088"/>
            </a:xfrm>
            <a:custGeom>
              <a:avLst/>
              <a:gdLst>
                <a:gd name="T0" fmla="*/ 3839 w 4076"/>
                <a:gd name="T1" fmla="*/ 1973 h 2388"/>
                <a:gd name="T2" fmla="*/ 3786 w 4076"/>
                <a:gd name="T3" fmla="*/ 523 h 2388"/>
                <a:gd name="T4" fmla="*/ 3706 w 4076"/>
                <a:gd name="T5" fmla="*/ 576 h 2388"/>
                <a:gd name="T6" fmla="*/ 3706 w 4076"/>
                <a:gd name="T7" fmla="*/ 765 h 2388"/>
                <a:gd name="T8" fmla="*/ 2695 w 4076"/>
                <a:gd name="T9" fmla="*/ 463 h 2388"/>
                <a:gd name="T10" fmla="*/ 2340 w 4076"/>
                <a:gd name="T11" fmla="*/ 486 h 2388"/>
                <a:gd name="T12" fmla="*/ 1443 w 4076"/>
                <a:gd name="T13" fmla="*/ 327 h 2388"/>
                <a:gd name="T14" fmla="*/ 1234 w 4076"/>
                <a:gd name="T15" fmla="*/ 298 h 2388"/>
                <a:gd name="T16" fmla="*/ 777 w 4076"/>
                <a:gd name="T17" fmla="*/ 75 h 2388"/>
                <a:gd name="T18" fmla="*/ 1187 w 4076"/>
                <a:gd name="T19" fmla="*/ 913 h 2388"/>
                <a:gd name="T20" fmla="*/ 1167 w 4076"/>
                <a:gd name="T21" fmla="*/ 1135 h 2388"/>
                <a:gd name="T22" fmla="*/ 0 w 4076"/>
                <a:gd name="T23" fmla="*/ 1188 h 2388"/>
                <a:gd name="T24" fmla="*/ 53 w 4076"/>
                <a:gd name="T25" fmla="*/ 1675 h 2388"/>
                <a:gd name="T26" fmla="*/ 3391 w 4076"/>
                <a:gd name="T27" fmla="*/ 1675 h 2388"/>
                <a:gd name="T28" fmla="*/ 3613 w 4076"/>
                <a:gd name="T29" fmla="*/ 1622 h 2388"/>
                <a:gd name="T30" fmla="*/ 3706 w 4076"/>
                <a:gd name="T31" fmla="*/ 1175 h 2388"/>
                <a:gd name="T32" fmla="*/ 3658 w 4076"/>
                <a:gd name="T33" fmla="*/ 2179 h 2388"/>
                <a:gd name="T34" fmla="*/ 4076 w 4076"/>
                <a:gd name="T35" fmla="*/ 2179 h 2388"/>
                <a:gd name="T36" fmla="*/ 820 w 4076"/>
                <a:gd name="T37" fmla="*/ 325 h 2388"/>
                <a:gd name="T38" fmla="*/ 820 w 4076"/>
                <a:gd name="T39" fmla="*/ 324 h 2388"/>
                <a:gd name="T40" fmla="*/ 889 w 4076"/>
                <a:gd name="T41" fmla="*/ 148 h 2388"/>
                <a:gd name="T42" fmla="*/ 1064 w 4076"/>
                <a:gd name="T43" fmla="*/ 216 h 2388"/>
                <a:gd name="T44" fmla="*/ 1084 w 4076"/>
                <a:gd name="T45" fmla="*/ 251 h 2388"/>
                <a:gd name="T46" fmla="*/ 1269 w 4076"/>
                <a:gd name="T47" fmla="*/ 421 h 2388"/>
                <a:gd name="T48" fmla="*/ 1273 w 4076"/>
                <a:gd name="T49" fmla="*/ 414 h 2388"/>
                <a:gd name="T50" fmla="*/ 1443 w 4076"/>
                <a:gd name="T51" fmla="*/ 394 h 2388"/>
                <a:gd name="T52" fmla="*/ 1776 w 4076"/>
                <a:gd name="T53" fmla="*/ 457 h 2388"/>
                <a:gd name="T54" fmla="*/ 2340 w 4076"/>
                <a:gd name="T55" fmla="*/ 553 h 2388"/>
                <a:gd name="T56" fmla="*/ 2695 w 4076"/>
                <a:gd name="T57" fmla="*/ 530 h 2388"/>
                <a:gd name="T58" fmla="*/ 3721 w 4076"/>
                <a:gd name="T59" fmla="*/ 877 h 2388"/>
                <a:gd name="T60" fmla="*/ 3633 w 4076"/>
                <a:gd name="T61" fmla="*/ 1147 h 2388"/>
                <a:gd name="T62" fmla="*/ 3101 w 4076"/>
                <a:gd name="T63" fmla="*/ 1295 h 2388"/>
                <a:gd name="T64" fmla="*/ 3014 w 4076"/>
                <a:gd name="T65" fmla="*/ 1401 h 2388"/>
                <a:gd name="T66" fmla="*/ 3015 w 4076"/>
                <a:gd name="T67" fmla="*/ 1410 h 2388"/>
                <a:gd name="T68" fmla="*/ 3021 w 4076"/>
                <a:gd name="T69" fmla="*/ 1458 h 2388"/>
                <a:gd name="T70" fmla="*/ 2977 w 4076"/>
                <a:gd name="T71" fmla="*/ 1507 h 2388"/>
                <a:gd name="T72" fmla="*/ 2541 w 4076"/>
                <a:gd name="T73" fmla="*/ 1260 h 2388"/>
                <a:gd name="T74" fmla="*/ 2335 w 4076"/>
                <a:gd name="T75" fmla="*/ 1201 h 2388"/>
                <a:gd name="T76" fmla="*/ 1907 w 4076"/>
                <a:gd name="T77" fmla="*/ 1218 h 2388"/>
                <a:gd name="T78" fmla="*/ 1364 w 4076"/>
                <a:gd name="T79" fmla="*/ 1137 h 2388"/>
                <a:gd name="T80" fmla="*/ 1226 w 4076"/>
                <a:gd name="T81" fmla="*/ 1105 h 2388"/>
                <a:gd name="T82" fmla="*/ 1267 w 4076"/>
                <a:gd name="T83" fmla="*/ 888 h 2388"/>
                <a:gd name="T84" fmla="*/ 1296 w 4076"/>
                <a:gd name="T85" fmla="*/ 715 h 2388"/>
                <a:gd name="T86" fmla="*/ 820 w 4076"/>
                <a:gd name="T87" fmla="*/ 325 h 2388"/>
                <a:gd name="T88" fmla="*/ 3767 w 4076"/>
                <a:gd name="T89" fmla="*/ 2179 h 2388"/>
                <a:gd name="T90" fmla="*/ 3967 w 4076"/>
                <a:gd name="T91" fmla="*/ 2179 h 2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76" h="2388">
                  <a:moveTo>
                    <a:pt x="3867" y="1971"/>
                  </a:moveTo>
                  <a:cubicBezTo>
                    <a:pt x="3858" y="1971"/>
                    <a:pt x="3849" y="1971"/>
                    <a:pt x="3839" y="1973"/>
                  </a:cubicBezTo>
                  <a:lnTo>
                    <a:pt x="3839" y="576"/>
                  </a:lnTo>
                  <a:cubicBezTo>
                    <a:pt x="3839" y="547"/>
                    <a:pt x="3816" y="523"/>
                    <a:pt x="3786" y="523"/>
                  </a:cubicBezTo>
                  <a:lnTo>
                    <a:pt x="3759" y="523"/>
                  </a:lnTo>
                  <a:cubicBezTo>
                    <a:pt x="3730" y="523"/>
                    <a:pt x="3706" y="547"/>
                    <a:pt x="3706" y="576"/>
                  </a:cubicBezTo>
                  <a:lnTo>
                    <a:pt x="3706" y="685"/>
                  </a:lnTo>
                  <a:lnTo>
                    <a:pt x="3706" y="765"/>
                  </a:lnTo>
                  <a:cubicBezTo>
                    <a:pt x="3635" y="705"/>
                    <a:pt x="3528" y="647"/>
                    <a:pt x="3396" y="594"/>
                  </a:cubicBezTo>
                  <a:cubicBezTo>
                    <a:pt x="3202" y="519"/>
                    <a:pt x="2956" y="463"/>
                    <a:pt x="2695" y="463"/>
                  </a:cubicBezTo>
                  <a:cubicBezTo>
                    <a:pt x="2621" y="463"/>
                    <a:pt x="2545" y="468"/>
                    <a:pt x="2469" y="478"/>
                  </a:cubicBezTo>
                  <a:cubicBezTo>
                    <a:pt x="2426" y="484"/>
                    <a:pt x="2383" y="486"/>
                    <a:pt x="2340" y="486"/>
                  </a:cubicBezTo>
                  <a:cubicBezTo>
                    <a:pt x="2173" y="486"/>
                    <a:pt x="2005" y="447"/>
                    <a:pt x="1851" y="408"/>
                  </a:cubicBezTo>
                  <a:cubicBezTo>
                    <a:pt x="1697" y="368"/>
                    <a:pt x="1559" y="328"/>
                    <a:pt x="1443" y="327"/>
                  </a:cubicBezTo>
                  <a:cubicBezTo>
                    <a:pt x="1358" y="328"/>
                    <a:pt x="1307" y="334"/>
                    <a:pt x="1276" y="342"/>
                  </a:cubicBezTo>
                  <a:cubicBezTo>
                    <a:pt x="1262" y="327"/>
                    <a:pt x="1248" y="313"/>
                    <a:pt x="1234" y="298"/>
                  </a:cubicBezTo>
                  <a:cubicBezTo>
                    <a:pt x="1189" y="250"/>
                    <a:pt x="1147" y="203"/>
                    <a:pt x="1110" y="162"/>
                  </a:cubicBezTo>
                  <a:cubicBezTo>
                    <a:pt x="1025" y="53"/>
                    <a:pt x="867" y="0"/>
                    <a:pt x="777" y="75"/>
                  </a:cubicBezTo>
                  <a:cubicBezTo>
                    <a:pt x="687" y="150"/>
                    <a:pt x="640" y="320"/>
                    <a:pt x="758" y="489"/>
                  </a:cubicBezTo>
                  <a:cubicBezTo>
                    <a:pt x="893" y="681"/>
                    <a:pt x="1005" y="796"/>
                    <a:pt x="1187" y="913"/>
                  </a:cubicBezTo>
                  <a:cubicBezTo>
                    <a:pt x="1165" y="978"/>
                    <a:pt x="1153" y="1028"/>
                    <a:pt x="1153" y="1070"/>
                  </a:cubicBezTo>
                  <a:cubicBezTo>
                    <a:pt x="1153" y="1094"/>
                    <a:pt x="1157" y="1116"/>
                    <a:pt x="1167" y="1135"/>
                  </a:cubicBezTo>
                  <a:lnTo>
                    <a:pt x="53" y="1135"/>
                  </a:lnTo>
                  <a:cubicBezTo>
                    <a:pt x="24" y="1135"/>
                    <a:pt x="0" y="1159"/>
                    <a:pt x="0" y="1188"/>
                  </a:cubicBezTo>
                  <a:lnTo>
                    <a:pt x="0" y="1622"/>
                  </a:lnTo>
                  <a:cubicBezTo>
                    <a:pt x="0" y="1651"/>
                    <a:pt x="24" y="1675"/>
                    <a:pt x="53" y="1675"/>
                  </a:cubicBezTo>
                  <a:lnTo>
                    <a:pt x="933" y="1675"/>
                  </a:lnTo>
                  <a:lnTo>
                    <a:pt x="3391" y="1675"/>
                  </a:lnTo>
                  <a:lnTo>
                    <a:pt x="3559" y="1675"/>
                  </a:lnTo>
                  <a:cubicBezTo>
                    <a:pt x="3589" y="1675"/>
                    <a:pt x="3613" y="1651"/>
                    <a:pt x="3613" y="1622"/>
                  </a:cubicBezTo>
                  <a:lnTo>
                    <a:pt x="3613" y="1235"/>
                  </a:lnTo>
                  <a:cubicBezTo>
                    <a:pt x="3647" y="1219"/>
                    <a:pt x="3679" y="1199"/>
                    <a:pt x="3706" y="1175"/>
                  </a:cubicBezTo>
                  <a:lnTo>
                    <a:pt x="3706" y="2046"/>
                  </a:lnTo>
                  <a:cubicBezTo>
                    <a:pt x="3676" y="2083"/>
                    <a:pt x="3658" y="2129"/>
                    <a:pt x="3658" y="2179"/>
                  </a:cubicBezTo>
                  <a:cubicBezTo>
                    <a:pt x="3658" y="2295"/>
                    <a:pt x="3752" y="2388"/>
                    <a:pt x="3867" y="2388"/>
                  </a:cubicBezTo>
                  <a:cubicBezTo>
                    <a:pt x="3983" y="2388"/>
                    <a:pt x="4076" y="2295"/>
                    <a:pt x="4076" y="2179"/>
                  </a:cubicBezTo>
                  <a:cubicBezTo>
                    <a:pt x="4076" y="2064"/>
                    <a:pt x="3983" y="1971"/>
                    <a:pt x="3867" y="1971"/>
                  </a:cubicBezTo>
                  <a:close/>
                  <a:moveTo>
                    <a:pt x="820" y="325"/>
                  </a:moveTo>
                  <a:lnTo>
                    <a:pt x="820" y="325"/>
                  </a:lnTo>
                  <a:lnTo>
                    <a:pt x="820" y="324"/>
                  </a:lnTo>
                  <a:cubicBezTo>
                    <a:pt x="806" y="291"/>
                    <a:pt x="805" y="255"/>
                    <a:pt x="818" y="222"/>
                  </a:cubicBezTo>
                  <a:cubicBezTo>
                    <a:pt x="831" y="188"/>
                    <a:pt x="856" y="162"/>
                    <a:pt x="889" y="148"/>
                  </a:cubicBezTo>
                  <a:cubicBezTo>
                    <a:pt x="906" y="140"/>
                    <a:pt x="923" y="137"/>
                    <a:pt x="942" y="137"/>
                  </a:cubicBezTo>
                  <a:cubicBezTo>
                    <a:pt x="995" y="137"/>
                    <a:pt x="1042" y="168"/>
                    <a:pt x="1064" y="216"/>
                  </a:cubicBezTo>
                  <a:cubicBezTo>
                    <a:pt x="1065" y="218"/>
                    <a:pt x="1066" y="220"/>
                    <a:pt x="1067" y="223"/>
                  </a:cubicBezTo>
                  <a:cubicBezTo>
                    <a:pt x="1070" y="229"/>
                    <a:pt x="1076" y="239"/>
                    <a:pt x="1084" y="251"/>
                  </a:cubicBezTo>
                  <a:cubicBezTo>
                    <a:pt x="1098" y="274"/>
                    <a:pt x="1123" y="308"/>
                    <a:pt x="1159" y="342"/>
                  </a:cubicBezTo>
                  <a:cubicBezTo>
                    <a:pt x="1193" y="374"/>
                    <a:pt x="1230" y="400"/>
                    <a:pt x="1269" y="421"/>
                  </a:cubicBezTo>
                  <a:cubicBezTo>
                    <a:pt x="1270" y="417"/>
                    <a:pt x="1271" y="415"/>
                    <a:pt x="1272" y="414"/>
                  </a:cubicBezTo>
                  <a:cubicBezTo>
                    <a:pt x="1272" y="414"/>
                    <a:pt x="1272" y="414"/>
                    <a:pt x="1273" y="414"/>
                  </a:cubicBezTo>
                  <a:cubicBezTo>
                    <a:pt x="1273" y="414"/>
                    <a:pt x="1275" y="413"/>
                    <a:pt x="1279" y="411"/>
                  </a:cubicBezTo>
                  <a:cubicBezTo>
                    <a:pt x="1294" y="405"/>
                    <a:pt x="1340" y="394"/>
                    <a:pt x="1443" y="394"/>
                  </a:cubicBezTo>
                  <a:cubicBezTo>
                    <a:pt x="1520" y="394"/>
                    <a:pt x="1620" y="417"/>
                    <a:pt x="1732" y="446"/>
                  </a:cubicBezTo>
                  <a:cubicBezTo>
                    <a:pt x="1747" y="447"/>
                    <a:pt x="1762" y="451"/>
                    <a:pt x="1776" y="457"/>
                  </a:cubicBezTo>
                  <a:cubicBezTo>
                    <a:pt x="1795" y="462"/>
                    <a:pt x="1815" y="467"/>
                    <a:pt x="1835" y="472"/>
                  </a:cubicBezTo>
                  <a:cubicBezTo>
                    <a:pt x="1990" y="512"/>
                    <a:pt x="2163" y="553"/>
                    <a:pt x="2340" y="553"/>
                  </a:cubicBezTo>
                  <a:cubicBezTo>
                    <a:pt x="2386" y="553"/>
                    <a:pt x="2432" y="550"/>
                    <a:pt x="2478" y="544"/>
                  </a:cubicBezTo>
                  <a:cubicBezTo>
                    <a:pt x="2551" y="534"/>
                    <a:pt x="2623" y="530"/>
                    <a:pt x="2695" y="530"/>
                  </a:cubicBezTo>
                  <a:cubicBezTo>
                    <a:pt x="2946" y="530"/>
                    <a:pt x="3185" y="584"/>
                    <a:pt x="3371" y="656"/>
                  </a:cubicBezTo>
                  <a:cubicBezTo>
                    <a:pt x="3553" y="726"/>
                    <a:pt x="3684" y="817"/>
                    <a:pt x="3721" y="877"/>
                  </a:cubicBezTo>
                  <a:cubicBezTo>
                    <a:pt x="3727" y="909"/>
                    <a:pt x="3730" y="936"/>
                    <a:pt x="3730" y="961"/>
                  </a:cubicBezTo>
                  <a:cubicBezTo>
                    <a:pt x="3730" y="1053"/>
                    <a:pt x="3693" y="1105"/>
                    <a:pt x="3633" y="1147"/>
                  </a:cubicBezTo>
                  <a:cubicBezTo>
                    <a:pt x="3543" y="1210"/>
                    <a:pt x="3395" y="1233"/>
                    <a:pt x="3268" y="1254"/>
                  </a:cubicBezTo>
                  <a:cubicBezTo>
                    <a:pt x="3205" y="1265"/>
                    <a:pt x="3147" y="1276"/>
                    <a:pt x="3101" y="1295"/>
                  </a:cubicBezTo>
                  <a:cubicBezTo>
                    <a:pt x="3078" y="1305"/>
                    <a:pt x="3057" y="1317"/>
                    <a:pt x="3041" y="1334"/>
                  </a:cubicBezTo>
                  <a:cubicBezTo>
                    <a:pt x="3025" y="1351"/>
                    <a:pt x="3014" y="1375"/>
                    <a:pt x="3014" y="1401"/>
                  </a:cubicBezTo>
                  <a:cubicBezTo>
                    <a:pt x="3014" y="1403"/>
                    <a:pt x="3014" y="1405"/>
                    <a:pt x="3015" y="1408"/>
                  </a:cubicBezTo>
                  <a:lnTo>
                    <a:pt x="3015" y="1410"/>
                  </a:lnTo>
                  <a:lnTo>
                    <a:pt x="3015" y="1412"/>
                  </a:lnTo>
                  <a:cubicBezTo>
                    <a:pt x="3019" y="1430"/>
                    <a:pt x="3021" y="1446"/>
                    <a:pt x="3021" y="1458"/>
                  </a:cubicBezTo>
                  <a:cubicBezTo>
                    <a:pt x="3020" y="1482"/>
                    <a:pt x="3015" y="1493"/>
                    <a:pt x="3009" y="1498"/>
                  </a:cubicBezTo>
                  <a:cubicBezTo>
                    <a:pt x="3004" y="1503"/>
                    <a:pt x="2995" y="1507"/>
                    <a:pt x="2977" y="1507"/>
                  </a:cubicBezTo>
                  <a:cubicBezTo>
                    <a:pt x="2924" y="1508"/>
                    <a:pt x="2822" y="1463"/>
                    <a:pt x="2734" y="1407"/>
                  </a:cubicBezTo>
                  <a:cubicBezTo>
                    <a:pt x="2645" y="1352"/>
                    <a:pt x="2563" y="1287"/>
                    <a:pt x="2541" y="1260"/>
                  </a:cubicBezTo>
                  <a:cubicBezTo>
                    <a:pt x="2518" y="1234"/>
                    <a:pt x="2487" y="1220"/>
                    <a:pt x="2452" y="1212"/>
                  </a:cubicBezTo>
                  <a:cubicBezTo>
                    <a:pt x="2417" y="1204"/>
                    <a:pt x="2378" y="1201"/>
                    <a:pt x="2335" y="1201"/>
                  </a:cubicBezTo>
                  <a:cubicBezTo>
                    <a:pt x="2223" y="1201"/>
                    <a:pt x="2086" y="1220"/>
                    <a:pt x="1967" y="1219"/>
                  </a:cubicBezTo>
                  <a:cubicBezTo>
                    <a:pt x="1946" y="1219"/>
                    <a:pt x="1926" y="1219"/>
                    <a:pt x="1907" y="1218"/>
                  </a:cubicBezTo>
                  <a:lnTo>
                    <a:pt x="1905" y="1218"/>
                  </a:lnTo>
                  <a:cubicBezTo>
                    <a:pt x="1689" y="1204"/>
                    <a:pt x="1553" y="1138"/>
                    <a:pt x="1364" y="1137"/>
                  </a:cubicBezTo>
                  <a:cubicBezTo>
                    <a:pt x="1306" y="1137"/>
                    <a:pt x="1265" y="1132"/>
                    <a:pt x="1245" y="1122"/>
                  </a:cubicBezTo>
                  <a:cubicBezTo>
                    <a:pt x="1235" y="1117"/>
                    <a:pt x="1230" y="1112"/>
                    <a:pt x="1226" y="1105"/>
                  </a:cubicBezTo>
                  <a:cubicBezTo>
                    <a:pt x="1222" y="1098"/>
                    <a:pt x="1219" y="1087"/>
                    <a:pt x="1219" y="1070"/>
                  </a:cubicBezTo>
                  <a:cubicBezTo>
                    <a:pt x="1219" y="1035"/>
                    <a:pt x="1234" y="974"/>
                    <a:pt x="1267" y="888"/>
                  </a:cubicBezTo>
                  <a:cubicBezTo>
                    <a:pt x="1289" y="829"/>
                    <a:pt x="1296" y="770"/>
                    <a:pt x="1296" y="715"/>
                  </a:cubicBezTo>
                  <a:cubicBezTo>
                    <a:pt x="1296" y="715"/>
                    <a:pt x="1296" y="715"/>
                    <a:pt x="1296" y="715"/>
                  </a:cubicBezTo>
                  <a:cubicBezTo>
                    <a:pt x="1139" y="673"/>
                    <a:pt x="1032" y="591"/>
                    <a:pt x="975" y="535"/>
                  </a:cubicBezTo>
                  <a:cubicBezTo>
                    <a:pt x="881" y="445"/>
                    <a:pt x="836" y="358"/>
                    <a:pt x="820" y="325"/>
                  </a:cubicBezTo>
                  <a:close/>
                  <a:moveTo>
                    <a:pt x="3867" y="2279"/>
                  </a:moveTo>
                  <a:cubicBezTo>
                    <a:pt x="3812" y="2279"/>
                    <a:pt x="3767" y="2235"/>
                    <a:pt x="3767" y="2179"/>
                  </a:cubicBezTo>
                  <a:cubicBezTo>
                    <a:pt x="3767" y="2124"/>
                    <a:pt x="3812" y="2079"/>
                    <a:pt x="3867" y="2079"/>
                  </a:cubicBezTo>
                  <a:cubicBezTo>
                    <a:pt x="3922" y="2079"/>
                    <a:pt x="3967" y="2124"/>
                    <a:pt x="3967" y="2179"/>
                  </a:cubicBezTo>
                  <a:cubicBezTo>
                    <a:pt x="3967" y="2235"/>
                    <a:pt x="3922" y="2279"/>
                    <a:pt x="3867" y="227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60" name="Freeform 15"/>
            <p:cNvSpPr>
              <a:spLocks/>
            </p:cNvSpPr>
            <p:nvPr/>
          </p:nvSpPr>
          <p:spPr bwMode="auto">
            <a:xfrm>
              <a:off x="942975" y="2814638"/>
              <a:ext cx="404812" cy="225425"/>
            </a:xfrm>
            <a:custGeom>
              <a:avLst/>
              <a:gdLst>
                <a:gd name="T0" fmla="*/ 678 w 1018"/>
                <a:gd name="T1" fmla="*/ 565 h 565"/>
                <a:gd name="T2" fmla="*/ 680 w 1018"/>
                <a:gd name="T3" fmla="*/ 565 h 565"/>
                <a:gd name="T4" fmla="*/ 926 w 1018"/>
                <a:gd name="T5" fmla="*/ 533 h 565"/>
                <a:gd name="T6" fmla="*/ 1003 w 1018"/>
                <a:gd name="T7" fmla="*/ 403 h 565"/>
                <a:gd name="T8" fmla="*/ 874 w 1018"/>
                <a:gd name="T9" fmla="*/ 326 h 565"/>
                <a:gd name="T10" fmla="*/ 680 w 1018"/>
                <a:gd name="T11" fmla="*/ 352 h 565"/>
                <a:gd name="T12" fmla="*/ 320 w 1018"/>
                <a:gd name="T13" fmla="*/ 213 h 565"/>
                <a:gd name="T14" fmla="*/ 240 w 1018"/>
                <a:gd name="T15" fmla="*/ 116 h 565"/>
                <a:gd name="T16" fmla="*/ 223 w 1018"/>
                <a:gd name="T17" fmla="*/ 86 h 565"/>
                <a:gd name="T18" fmla="*/ 219 w 1018"/>
                <a:gd name="T19" fmla="*/ 79 h 565"/>
                <a:gd name="T20" fmla="*/ 219 w 1018"/>
                <a:gd name="T21" fmla="*/ 78 h 565"/>
                <a:gd name="T22" fmla="*/ 218 w 1018"/>
                <a:gd name="T23" fmla="*/ 78 h 565"/>
                <a:gd name="T24" fmla="*/ 78 w 1018"/>
                <a:gd name="T25" fmla="*/ 23 h 565"/>
                <a:gd name="T26" fmla="*/ 23 w 1018"/>
                <a:gd name="T27" fmla="*/ 164 h 565"/>
                <a:gd name="T28" fmla="*/ 173 w 1018"/>
                <a:gd name="T29" fmla="*/ 367 h 565"/>
                <a:gd name="T30" fmla="*/ 678 w 1018"/>
                <a:gd name="T31" fmla="*/ 565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18" h="565">
                  <a:moveTo>
                    <a:pt x="678" y="565"/>
                  </a:moveTo>
                  <a:lnTo>
                    <a:pt x="680" y="565"/>
                  </a:lnTo>
                  <a:cubicBezTo>
                    <a:pt x="756" y="565"/>
                    <a:pt x="838" y="555"/>
                    <a:pt x="926" y="533"/>
                  </a:cubicBezTo>
                  <a:cubicBezTo>
                    <a:pt x="983" y="519"/>
                    <a:pt x="1018" y="461"/>
                    <a:pt x="1003" y="403"/>
                  </a:cubicBezTo>
                  <a:cubicBezTo>
                    <a:pt x="989" y="346"/>
                    <a:pt x="931" y="312"/>
                    <a:pt x="874" y="326"/>
                  </a:cubicBezTo>
                  <a:cubicBezTo>
                    <a:pt x="801" y="344"/>
                    <a:pt x="737" y="352"/>
                    <a:pt x="680" y="352"/>
                  </a:cubicBezTo>
                  <a:cubicBezTo>
                    <a:pt x="504" y="351"/>
                    <a:pt x="394" y="283"/>
                    <a:pt x="320" y="213"/>
                  </a:cubicBezTo>
                  <a:cubicBezTo>
                    <a:pt x="283" y="178"/>
                    <a:pt x="257" y="142"/>
                    <a:pt x="240" y="116"/>
                  </a:cubicBezTo>
                  <a:cubicBezTo>
                    <a:pt x="232" y="103"/>
                    <a:pt x="226" y="93"/>
                    <a:pt x="223" y="86"/>
                  </a:cubicBezTo>
                  <a:cubicBezTo>
                    <a:pt x="221" y="83"/>
                    <a:pt x="220" y="80"/>
                    <a:pt x="219" y="79"/>
                  </a:cubicBezTo>
                  <a:cubicBezTo>
                    <a:pt x="219" y="79"/>
                    <a:pt x="219" y="78"/>
                    <a:pt x="219" y="78"/>
                  </a:cubicBezTo>
                  <a:cubicBezTo>
                    <a:pt x="219" y="78"/>
                    <a:pt x="218" y="78"/>
                    <a:pt x="218" y="78"/>
                  </a:cubicBezTo>
                  <a:cubicBezTo>
                    <a:pt x="195" y="24"/>
                    <a:pt x="132" y="0"/>
                    <a:pt x="78" y="23"/>
                  </a:cubicBezTo>
                  <a:cubicBezTo>
                    <a:pt x="24" y="47"/>
                    <a:pt x="0" y="110"/>
                    <a:pt x="23" y="164"/>
                  </a:cubicBezTo>
                  <a:cubicBezTo>
                    <a:pt x="27" y="172"/>
                    <a:pt x="69" y="268"/>
                    <a:pt x="173" y="367"/>
                  </a:cubicBezTo>
                  <a:cubicBezTo>
                    <a:pt x="274" y="465"/>
                    <a:pt x="443" y="565"/>
                    <a:pt x="678" y="56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61" name="Rectangle 16"/>
            <p:cNvSpPr>
              <a:spLocks noChangeArrowheads="1"/>
            </p:cNvSpPr>
            <p:nvPr/>
          </p:nvSpPr>
          <p:spPr bwMode="auto">
            <a:xfrm>
              <a:off x="2266950" y="3548063"/>
              <a:ext cx="133350" cy="3333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62" name="Rectangle 17"/>
            <p:cNvSpPr>
              <a:spLocks noChangeArrowheads="1"/>
            </p:cNvSpPr>
            <p:nvPr/>
          </p:nvSpPr>
          <p:spPr bwMode="auto">
            <a:xfrm>
              <a:off x="357188" y="3548063"/>
              <a:ext cx="133350" cy="3333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63" name="Rectangle 18"/>
            <p:cNvSpPr>
              <a:spLocks noChangeArrowheads="1"/>
            </p:cNvSpPr>
            <p:nvPr/>
          </p:nvSpPr>
          <p:spPr bwMode="auto">
            <a:xfrm>
              <a:off x="723900" y="3548063"/>
              <a:ext cx="1331912" cy="3333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6" name="Group 5"/>
          <p:cNvGrpSpPr/>
          <p:nvPr/>
        </p:nvGrpSpPr>
        <p:grpSpPr>
          <a:xfrm>
            <a:off x="9055389" y="2519031"/>
            <a:ext cx="2585120" cy="1041690"/>
            <a:chOff x="9052214" y="2588881"/>
            <a:chExt cx="2585120" cy="1041690"/>
          </a:xfrm>
        </p:grpSpPr>
        <p:grpSp>
          <p:nvGrpSpPr>
            <p:cNvPr id="107" name="Group 106"/>
            <p:cNvGrpSpPr/>
            <p:nvPr/>
          </p:nvGrpSpPr>
          <p:grpSpPr>
            <a:xfrm>
              <a:off x="9408720" y="2588881"/>
              <a:ext cx="2228614" cy="1041690"/>
              <a:chOff x="8845302" y="2062064"/>
              <a:chExt cx="2733797" cy="3238053"/>
            </a:xfrm>
          </p:grpSpPr>
          <p:grpSp>
            <p:nvGrpSpPr>
              <p:cNvPr id="108" name="Group 107"/>
              <p:cNvGrpSpPr/>
              <p:nvPr/>
            </p:nvGrpSpPr>
            <p:grpSpPr>
              <a:xfrm>
                <a:off x="8845302" y="2062064"/>
                <a:ext cx="2733797" cy="3238053"/>
                <a:chOff x="8906761" y="2062064"/>
                <a:chExt cx="2597015" cy="3238053"/>
              </a:xfrm>
            </p:grpSpPr>
            <p:sp>
              <p:nvSpPr>
                <p:cNvPr id="110" name="Rounded Rectangle 109"/>
                <p:cNvSpPr/>
                <p:nvPr/>
              </p:nvSpPr>
              <p:spPr>
                <a:xfrm rot="21305861">
                  <a:off x="8906761" y="2081057"/>
                  <a:ext cx="2597015" cy="3219060"/>
                </a:xfrm>
                <a:prstGeom prst="roundRect">
                  <a:avLst>
                    <a:gd name="adj" fmla="val 5653"/>
                  </a:avLst>
                </a:prstGeom>
                <a:solidFill>
                  <a:srgbClr val="E49B13"/>
                </a:solidFill>
                <a:ln>
                  <a:solidFill>
                    <a:srgbClr val="E49B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11" name="Rounded Rectangle 110"/>
                <p:cNvSpPr/>
                <p:nvPr/>
              </p:nvSpPr>
              <p:spPr>
                <a:xfrm>
                  <a:off x="8925070" y="2062064"/>
                  <a:ext cx="2565918" cy="3219061"/>
                </a:xfrm>
                <a:prstGeom prst="roundRect">
                  <a:avLst>
                    <a:gd name="adj" fmla="val 5653"/>
                  </a:avLst>
                </a:prstGeom>
                <a:solidFill>
                  <a:schemeClr val="bg1"/>
                </a:solidFill>
                <a:ln>
                  <a:solidFill>
                    <a:srgbClr val="E49B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109" name="Rectangle 108"/>
              <p:cNvSpPr/>
              <p:nvPr/>
            </p:nvSpPr>
            <p:spPr>
              <a:xfrm>
                <a:off x="8961126" y="2520015"/>
                <a:ext cx="2513716" cy="2296108"/>
              </a:xfrm>
              <a:prstGeom prst="rect">
                <a:avLst/>
              </a:prstGeom>
            </p:spPr>
            <p:txBody>
              <a:bodyPr wrap="square">
                <a:spAutoFit/>
              </a:bodyPr>
              <a:lstStyle/>
              <a:p>
                <a:pPr marL="0" marR="0" lvl="0" indent="0" algn="l" defTabSz="975208" rtl="0" eaLnBrk="0" fontAlgn="auto" latinLnBrk="0" hangingPunct="0">
                  <a:lnSpc>
                    <a:spcPct val="100000"/>
                  </a:lnSpc>
                  <a:spcBef>
                    <a:spcPts val="0"/>
                  </a:spcBef>
                  <a:spcAft>
                    <a:spcPts val="300"/>
                  </a:spcAft>
                  <a:buClrTx/>
                  <a:buSzTx/>
                  <a:buFontTx/>
                  <a:buNone/>
                  <a:tabLst/>
                  <a:defRPr/>
                </a:pPr>
                <a:r>
                  <a:rPr kumimoji="0" lang="en-US" sz="1400" b="0" i="0" u="none" strike="noStrike" kern="0" cap="none" spc="0" normalizeH="0" baseline="0" noProof="0" dirty="0">
                    <a:ln>
                      <a:noFill/>
                    </a:ln>
                    <a:solidFill>
                      <a:srgbClr val="544F40"/>
                    </a:solidFill>
                    <a:effectLst/>
                    <a:uLnTx/>
                    <a:uFillTx/>
                    <a:latin typeface="Arial" panose="020B0604020202020204"/>
                    <a:ea typeface="+mn-ea"/>
                    <a:cs typeface="+mn-cs"/>
                  </a:rPr>
                  <a:t>Broad inclusion criteria reflected in low screening failure rate</a:t>
                </a:r>
                <a:endParaRPr kumimoji="0" lang="en-US" sz="14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sp>
          <p:nvSpPr>
            <p:cNvPr id="4" name="Isosceles Triangle 3"/>
            <p:cNvSpPr/>
            <p:nvPr/>
          </p:nvSpPr>
          <p:spPr>
            <a:xfrm rot="15953273">
              <a:off x="9135844" y="2770050"/>
              <a:ext cx="191908" cy="359168"/>
            </a:xfrm>
            <a:prstGeom prst="triangle">
              <a:avLst>
                <a:gd name="adj" fmla="val 20025"/>
              </a:avLst>
            </a:prstGeom>
            <a:solidFill>
              <a:srgbClr val="E49B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pic>
        <p:nvPicPr>
          <p:cNvPr id="113" name="Picture 112">
            <a:extLst>
              <a:ext uri="{FF2B5EF4-FFF2-40B4-BE49-F238E27FC236}">
                <a16:creationId xmlns:a16="http://schemas.microsoft.com/office/drawing/2014/main" id="{F89C67CB-48BA-4A88-9301-0CB397AE4EB8}"/>
              </a:ext>
            </a:extLst>
          </p:cNvPr>
          <p:cNvPicPr>
            <a:picLocks noChangeAspect="1"/>
          </p:cNvPicPr>
          <p:nvPr/>
        </p:nvPicPr>
        <p:blipFill>
          <a:blip r:embed="rId2"/>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220492084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IMPACT: Baseline demographics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24" name="Text Placeholder 23"/>
          <p:cNvSpPr>
            <a:spLocks noGrp="1"/>
          </p:cNvSpPr>
          <p:nvPr>
            <p:ph type="body" sz="quarter" idx="21"/>
          </p:nvPr>
        </p:nvSpPr>
        <p:spPr>
          <a:xfrm>
            <a:off x="426921" y="6221528"/>
            <a:ext cx="9700535" cy="468000"/>
          </a:xfrm>
        </p:spPr>
        <p:txBody>
          <a:bodyPr/>
          <a:lstStyle/>
          <a:p>
            <a:r>
              <a:rPr lang="da-DK" dirty="0"/>
              <a:t>1. Lipson DA, et al. </a:t>
            </a:r>
            <a:r>
              <a:rPr lang="da-DK" i="1" dirty="0"/>
              <a:t>N Engl J Med.</a:t>
            </a:r>
            <a:r>
              <a:rPr lang="da-DK" dirty="0"/>
              <a:t> 2018; 378: 1671–1680; 2. </a:t>
            </a:r>
            <a:r>
              <a:rPr lang="en-US" dirty="0"/>
              <a:t>Suppl-Lipson DA, et al. </a:t>
            </a:r>
            <a:r>
              <a:rPr lang="da-DK" i="1" dirty="0"/>
              <a:t>N Engl J Med.</a:t>
            </a:r>
            <a:r>
              <a:rPr lang="da-DK" dirty="0"/>
              <a:t> 2018;378:1671–1680</a:t>
            </a:r>
            <a:r>
              <a:rPr lang="en-US" dirty="0"/>
              <a:t>; 3. GSK clinical trial registry, study CTT116855 clinical study report. GSK Web site. https://www.gsk-studyregister.com/en/trial-details/?id=116855. Accessed on February 2021. </a:t>
            </a:r>
          </a:p>
        </p:txBody>
      </p:sp>
      <p:sp>
        <p:nvSpPr>
          <p:cNvPr id="8" name="Text Placeholder 7"/>
          <p:cNvSpPr>
            <a:spLocks noGrp="1"/>
          </p:cNvSpPr>
          <p:nvPr>
            <p:ph type="body" sz="quarter" idx="19"/>
          </p:nvPr>
        </p:nvSpPr>
        <p:spPr/>
        <p:txBody>
          <a:bodyPr/>
          <a:lstStyle/>
          <a:p>
            <a:r>
              <a:rPr lang="en-US" dirty="0"/>
              <a:t>COPD, chronic obstructive pulmonary disease; FF, fluticasone furoate; SD, standard deviation; UMEC, umeclidinium; VI, vilanterol; </a:t>
            </a:r>
          </a:p>
        </p:txBody>
      </p:sp>
      <p:graphicFrame>
        <p:nvGraphicFramePr>
          <p:cNvPr id="125" name="Content Placeholder 3"/>
          <p:cNvGraphicFramePr>
            <a:graphicFrameLocks/>
          </p:cNvGraphicFramePr>
          <p:nvPr/>
        </p:nvGraphicFramePr>
        <p:xfrm>
          <a:off x="428432" y="1297518"/>
          <a:ext cx="11356846" cy="4559808"/>
        </p:xfrm>
        <a:graphic>
          <a:graphicData uri="http://schemas.openxmlformats.org/drawingml/2006/table">
            <a:tbl>
              <a:tblPr firstRow="1" bandRow="1">
                <a:tableStyleId>{073A0DAA-6AF3-43AB-8588-CEC1D06C72B9}</a:tableStyleId>
              </a:tblPr>
              <a:tblGrid>
                <a:gridCol w="4345434">
                  <a:extLst>
                    <a:ext uri="{9D8B030D-6E8A-4147-A177-3AD203B41FA5}">
                      <a16:colId xmlns:a16="http://schemas.microsoft.com/office/drawing/2014/main" val="20000"/>
                    </a:ext>
                  </a:extLst>
                </a:gridCol>
                <a:gridCol w="1752853">
                  <a:extLst>
                    <a:ext uri="{9D8B030D-6E8A-4147-A177-3AD203B41FA5}">
                      <a16:colId xmlns:a16="http://schemas.microsoft.com/office/drawing/2014/main" val="507976219"/>
                    </a:ext>
                  </a:extLst>
                </a:gridCol>
                <a:gridCol w="1752853">
                  <a:extLst>
                    <a:ext uri="{9D8B030D-6E8A-4147-A177-3AD203B41FA5}">
                      <a16:colId xmlns:a16="http://schemas.microsoft.com/office/drawing/2014/main" val="4292260921"/>
                    </a:ext>
                  </a:extLst>
                </a:gridCol>
                <a:gridCol w="1752853">
                  <a:extLst>
                    <a:ext uri="{9D8B030D-6E8A-4147-A177-3AD203B41FA5}">
                      <a16:colId xmlns:a16="http://schemas.microsoft.com/office/drawing/2014/main" val="3672373774"/>
                    </a:ext>
                  </a:extLst>
                </a:gridCol>
                <a:gridCol w="1752853">
                  <a:extLst>
                    <a:ext uri="{9D8B030D-6E8A-4147-A177-3AD203B41FA5}">
                      <a16:colId xmlns:a16="http://schemas.microsoft.com/office/drawing/2014/main" val="354775774"/>
                    </a:ext>
                  </a:extLst>
                </a:gridCol>
              </a:tblGrid>
              <a:tr h="0">
                <a:tc>
                  <a:txBody>
                    <a:bodyPr/>
                    <a:lstStyle/>
                    <a:p>
                      <a:pPr algn="l">
                        <a:lnSpc>
                          <a:spcPct val="100000"/>
                        </a:lnSpc>
                      </a:pPr>
                      <a:r>
                        <a:rPr lang="en-US" sz="1400" b="1" dirty="0">
                          <a:solidFill>
                            <a:srgbClr val="FFFFFF"/>
                          </a:solidFill>
                          <a:latin typeface="Arial" panose="020B0604020202020204" pitchFamily="34" charset="0"/>
                        </a:rPr>
                        <a:t>Baseline demographics</a:t>
                      </a:r>
                      <a:endParaRPr lang="en-US" sz="1400" b="1" baseline="30000" dirty="0">
                        <a:solidFill>
                          <a:srgbClr val="FFFFFF"/>
                        </a:solidFill>
                        <a:latin typeface="Arial" panose="020B0604020202020204" pitchFamily="34" charset="0"/>
                      </a:endParaRPr>
                    </a:p>
                  </a:txBody>
                  <a:tcPr anchor="ctr">
                    <a:lnL w="9525" cap="flat" cmpd="sng" algn="ctr">
                      <a:noFill/>
                      <a:prstDash val="solid"/>
                      <a:round/>
                      <a:headEnd type="none" w="med" len="med"/>
                      <a:tailEnd type="none" w="med" len="med"/>
                    </a:lnL>
                    <a:lnR w="9525" cap="flat" cmpd="sng" algn="ctr">
                      <a:solidFill>
                        <a:srgbClr val="FFFFFF"/>
                      </a:solidFill>
                      <a:prstDash val="solid"/>
                      <a:round/>
                      <a:headEnd type="none" w="med" len="med"/>
                      <a:tailEnd type="none" w="med" len="med"/>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544F40"/>
                    </a:solidFill>
                  </a:tcPr>
                </a:tc>
                <a:tc>
                  <a:txBody>
                    <a:bodyPr/>
                    <a:lstStyle/>
                    <a:p>
                      <a:pPr algn="ctr">
                        <a:lnSpc>
                          <a:spcPct val="100000"/>
                        </a:lnSpc>
                      </a:pPr>
                      <a:r>
                        <a:rPr lang="en-US" sz="1400" b="1" kern="1200" dirty="0">
                          <a:solidFill>
                            <a:srgbClr val="FFFFFF"/>
                          </a:solidFill>
                          <a:latin typeface="Arial" panose="020B0604020202020204" pitchFamily="34" charset="0"/>
                        </a:rPr>
                        <a:t>FF/UMEC/VI</a:t>
                      </a:r>
                    </a:p>
                    <a:p>
                      <a:pPr algn="ctr">
                        <a:lnSpc>
                          <a:spcPct val="100000"/>
                        </a:lnSpc>
                      </a:pPr>
                      <a:r>
                        <a:rPr lang="en-US" sz="1400" b="1" kern="1200" dirty="0">
                          <a:solidFill>
                            <a:srgbClr val="FFFFFF"/>
                          </a:solidFill>
                          <a:latin typeface="Arial" panose="020B0604020202020204" pitchFamily="34" charset="0"/>
                        </a:rPr>
                        <a:t>(n=4,151)</a:t>
                      </a:r>
                      <a:endParaRPr lang="en-US" sz="1400" b="1" kern="1200" dirty="0">
                        <a:solidFill>
                          <a:srgbClr val="FFFFFF"/>
                        </a:solidFill>
                        <a:latin typeface="Arial" panose="020B0604020202020204" pitchFamily="34" charset="0"/>
                        <a:ea typeface="+mn-ea"/>
                        <a:cs typeface="+mn-cs"/>
                      </a:endParaRPr>
                    </a:p>
                  </a:txBody>
                  <a:tcPr anchor="ctr" anchorCtr="1">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36633"/>
                    </a:solidFill>
                  </a:tcPr>
                </a:tc>
                <a:tc>
                  <a:txBody>
                    <a:bodyPr/>
                    <a:lstStyle/>
                    <a:p>
                      <a:pPr algn="ctr">
                        <a:lnSpc>
                          <a:spcPct val="100000"/>
                        </a:lnSpc>
                      </a:pPr>
                      <a:r>
                        <a:rPr lang="en-US" sz="1400" b="1" kern="1200" dirty="0">
                          <a:solidFill>
                            <a:srgbClr val="FFFFFF"/>
                          </a:solidFill>
                          <a:latin typeface="Arial" panose="020B0604020202020204" pitchFamily="34" charset="0"/>
                        </a:rPr>
                        <a:t>FF/VI</a:t>
                      </a:r>
                    </a:p>
                    <a:p>
                      <a:pPr algn="ctr">
                        <a:lnSpc>
                          <a:spcPct val="100000"/>
                        </a:lnSpc>
                      </a:pPr>
                      <a:r>
                        <a:rPr lang="en-US" sz="1400" b="1" kern="1200" dirty="0">
                          <a:solidFill>
                            <a:srgbClr val="FFFFFF"/>
                          </a:solidFill>
                          <a:latin typeface="Arial" panose="020B0604020202020204" pitchFamily="34" charset="0"/>
                        </a:rPr>
                        <a:t>(n=4,134)</a:t>
                      </a:r>
                      <a:endParaRPr lang="en-US" sz="1400" b="1" kern="1200" dirty="0">
                        <a:solidFill>
                          <a:srgbClr val="FFFFFF"/>
                        </a:solidFill>
                        <a:latin typeface="Arial" panose="020B0604020202020204" pitchFamily="34" charset="0"/>
                        <a:ea typeface="+mn-ea"/>
                        <a:cs typeface="+mn-cs"/>
                      </a:endParaRPr>
                    </a:p>
                  </a:txBody>
                  <a:tcPr anchor="ctr" anchorCtr="1">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008A00"/>
                    </a:solidFill>
                  </a:tcPr>
                </a:tc>
                <a:tc>
                  <a:txBody>
                    <a:bodyPr/>
                    <a:lstStyle/>
                    <a:p>
                      <a:pPr algn="ctr">
                        <a:lnSpc>
                          <a:spcPct val="100000"/>
                        </a:lnSpc>
                      </a:pPr>
                      <a:r>
                        <a:rPr lang="en-US" sz="1400" b="1" dirty="0">
                          <a:solidFill>
                            <a:srgbClr val="FFFFFF"/>
                          </a:solidFill>
                          <a:latin typeface="Arial" panose="020B0604020202020204" pitchFamily="34" charset="0"/>
                        </a:rPr>
                        <a:t>UMEC/VI</a:t>
                      </a:r>
                    </a:p>
                    <a:p>
                      <a:pPr algn="ctr">
                        <a:lnSpc>
                          <a:spcPct val="100000"/>
                        </a:lnSpc>
                      </a:pPr>
                      <a:r>
                        <a:rPr lang="en-US" sz="1400" b="1" dirty="0">
                          <a:solidFill>
                            <a:srgbClr val="FFFFFF"/>
                          </a:solidFill>
                          <a:latin typeface="Arial" panose="020B0604020202020204" pitchFamily="34" charset="0"/>
                        </a:rPr>
                        <a:t>(n=2,070)</a:t>
                      </a:r>
                    </a:p>
                  </a:txBody>
                  <a:tcPr anchor="ctr" anchorCtr="1">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40488D"/>
                    </a:solidFill>
                  </a:tcPr>
                </a:tc>
                <a:tc>
                  <a:txBody>
                    <a:bodyPr/>
                    <a:lstStyle/>
                    <a:p>
                      <a:pPr algn="ctr">
                        <a:lnSpc>
                          <a:spcPct val="100000"/>
                        </a:lnSpc>
                      </a:pPr>
                      <a:r>
                        <a:rPr lang="en-US" sz="1400" b="1" dirty="0">
                          <a:solidFill>
                            <a:srgbClr val="FFFFFF"/>
                          </a:solidFill>
                          <a:latin typeface="Arial" panose="020B0604020202020204" pitchFamily="34" charset="0"/>
                        </a:rPr>
                        <a:t>Overall </a:t>
                      </a:r>
                    </a:p>
                    <a:p>
                      <a:pPr algn="ctr">
                        <a:lnSpc>
                          <a:spcPct val="100000"/>
                        </a:lnSpc>
                      </a:pPr>
                      <a:r>
                        <a:rPr lang="en-US" sz="1400" b="1" dirty="0">
                          <a:solidFill>
                            <a:srgbClr val="FFFFFF"/>
                          </a:solidFill>
                          <a:latin typeface="Arial" panose="020B0604020202020204" pitchFamily="34" charset="0"/>
                        </a:rPr>
                        <a:t>(N=10,355)</a:t>
                      </a:r>
                    </a:p>
                  </a:txBody>
                  <a:tcPr anchor="ctr" anchorCtr="1">
                    <a:lnL w="9525" cap="flat" cmpd="sng" algn="ctr">
                      <a:solidFill>
                        <a:srgbClr val="FFFFFF"/>
                      </a:solidFill>
                      <a:prstDash val="solid"/>
                      <a:round/>
                      <a:headEnd type="none" w="med" len="med"/>
                      <a:tailEnd type="none" w="med" len="med"/>
                    </a:lnL>
                    <a:lnR w="9525" cap="flat" cmpd="sng" algn="ctr">
                      <a:noFill/>
                      <a:prstDash val="solid"/>
                      <a:round/>
                      <a:headEnd type="none" w="med" len="med"/>
                      <a:tailEnd type="none" w="med" len="med"/>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544F40"/>
                    </a:solidFill>
                  </a:tcPr>
                </a:tc>
                <a:extLst>
                  <a:ext uri="{0D108BD9-81ED-4DB2-BD59-A6C34878D82A}">
                    <a16:rowId xmlns:a16="http://schemas.microsoft.com/office/drawing/2014/main" val="10000"/>
                  </a:ext>
                </a:extLst>
              </a:tr>
              <a:tr h="310896">
                <a:tc>
                  <a:txBody>
                    <a:bodyPr/>
                    <a:lstStyle/>
                    <a:p>
                      <a:pPr marL="0" algn="l" defTabSz="914400" rtl="0" eaLnBrk="1" latinLnBrk="0" hangingPunct="1">
                        <a:lnSpc>
                          <a:spcPct val="100000"/>
                        </a:lnSpc>
                        <a:spcAft>
                          <a:spcPts val="0"/>
                        </a:spcAft>
                      </a:pPr>
                      <a:r>
                        <a:rPr lang="en-GB" sz="1400" kern="1200" dirty="0">
                          <a:solidFill>
                            <a:srgbClr val="544F40"/>
                          </a:solidFill>
                          <a:latin typeface="Arial" panose="020B0604020202020204" pitchFamily="34" charset="0"/>
                        </a:rPr>
                        <a:t>Age (y), Mean (SD)</a:t>
                      </a:r>
                      <a:r>
                        <a:rPr lang="en-GB" sz="1400" kern="1200" baseline="30000" dirty="0">
                          <a:solidFill>
                            <a:srgbClr val="544F40"/>
                          </a:solidFill>
                          <a:latin typeface="Arial" panose="020B0604020202020204" pitchFamily="34" charset="0"/>
                        </a:rPr>
                        <a:t>1</a:t>
                      </a:r>
                      <a:r>
                        <a:rPr lang="en-GB" sz="1400" kern="1200" dirty="0">
                          <a:solidFill>
                            <a:srgbClr val="544F40"/>
                          </a:solidFill>
                          <a:latin typeface="Arial" panose="020B0604020202020204" pitchFamily="34" charset="0"/>
                        </a:rPr>
                        <a:t> </a:t>
                      </a:r>
                      <a:endParaRPr lang="en-GB" sz="1400" kern="1200" dirty="0">
                        <a:solidFill>
                          <a:srgbClr val="544F40"/>
                        </a:solidFill>
                        <a:latin typeface="Arial" panose="020B0604020202020204" pitchFamily="34" charset="0"/>
                        <a:ea typeface="+mn-ea"/>
                        <a:cs typeface="+mn-cs"/>
                      </a:endParaRPr>
                    </a:p>
                  </a:txBody>
                  <a:tcPr anchor="ctr">
                    <a:lnL w="9525" cap="flat" cmpd="sng" algn="ctr">
                      <a:solidFill>
                        <a:schemeClr val="tx1"/>
                      </a:solidFill>
                      <a:prstDash val="solid"/>
                      <a:round/>
                      <a:headEnd type="none" w="med" len="med"/>
                      <a:tailEnd type="none" w="med" len="med"/>
                    </a:lnL>
                    <a:lnR w="3175" cap="flat" cmpd="sng" algn="ctr">
                      <a:solidFill>
                        <a:srgbClr val="544F40"/>
                      </a:solidFill>
                      <a:prstDash val="dash"/>
                      <a:round/>
                      <a:headEnd type="none" w="med" len="med"/>
                      <a:tailEnd type="none" w="med" len="med"/>
                    </a:lnR>
                    <a:lnT w="9525" cap="flat" cmpd="sng" algn="ctr">
                      <a:no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dirty="0">
                          <a:solidFill>
                            <a:srgbClr val="544F40"/>
                          </a:solidFill>
                          <a:latin typeface="Arial" panose="020B0604020202020204" pitchFamily="34" charset="0"/>
                        </a:rPr>
                        <a:t>65.3 (8.2)</a:t>
                      </a:r>
                      <a:endParaRPr lang="en-US" sz="1400" b="0" dirty="0">
                        <a:solidFill>
                          <a:srgbClr val="544F40"/>
                        </a:solidFill>
                        <a:latin typeface="Arial" panose="020B0604020202020204" pitchFamily="34" charset="0"/>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no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544F40"/>
                          </a:solidFill>
                          <a:latin typeface="Arial" panose="020B0604020202020204" pitchFamily="34" charset="0"/>
                        </a:rPr>
                        <a:t>65.3 (8.3)</a:t>
                      </a:r>
                      <a:endParaRPr lang="en-US" sz="1400" b="0" dirty="0">
                        <a:solidFill>
                          <a:srgbClr val="544F40"/>
                        </a:solidFill>
                        <a:latin typeface="Arial" panose="020B0604020202020204" pitchFamily="34" charset="0"/>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no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dirty="0">
                          <a:solidFill>
                            <a:srgbClr val="544F40"/>
                          </a:solidFill>
                          <a:latin typeface="Arial" panose="020B0604020202020204" pitchFamily="34" charset="0"/>
                        </a:rPr>
                        <a:t>65.2 (8.3)</a:t>
                      </a:r>
                      <a:endParaRPr lang="en-US" sz="1400" b="0" dirty="0">
                        <a:solidFill>
                          <a:srgbClr val="544F40"/>
                        </a:solidFill>
                        <a:latin typeface="Arial" panose="020B0604020202020204" pitchFamily="34" charset="0"/>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no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dirty="0">
                          <a:solidFill>
                            <a:srgbClr val="544F40"/>
                          </a:solidFill>
                          <a:latin typeface="Arial" panose="020B0604020202020204" pitchFamily="34" charset="0"/>
                        </a:rPr>
                        <a:t>65.3 (8.3)</a:t>
                      </a:r>
                      <a:endParaRPr lang="en-US" sz="1400" b="0" dirty="0">
                        <a:solidFill>
                          <a:srgbClr val="544F40"/>
                        </a:solidFill>
                        <a:latin typeface="Arial" panose="020B0604020202020204" pitchFamily="34" charset="0"/>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10896">
                <a:tc>
                  <a:txBody>
                    <a:bodyPr/>
                    <a:lstStyle/>
                    <a:p>
                      <a:pPr algn="l">
                        <a:lnSpc>
                          <a:spcPct val="100000"/>
                        </a:lnSpc>
                      </a:pPr>
                      <a:r>
                        <a:rPr lang="en-US" sz="1400" dirty="0">
                          <a:solidFill>
                            <a:srgbClr val="544F40"/>
                          </a:solidFill>
                          <a:latin typeface="Arial" panose="020B0604020202020204" pitchFamily="34" charset="0"/>
                        </a:rPr>
                        <a:t>Sex (% male)</a:t>
                      </a:r>
                      <a:r>
                        <a:rPr lang="en-US" sz="1400" baseline="30000" dirty="0">
                          <a:solidFill>
                            <a:srgbClr val="544F40"/>
                          </a:solidFill>
                          <a:latin typeface="Arial" panose="020B0604020202020204" pitchFamily="34" charset="0"/>
                        </a:rPr>
                        <a:t>1</a:t>
                      </a:r>
                      <a:endParaRPr lang="en-US" sz="1400" b="1" dirty="0">
                        <a:solidFill>
                          <a:srgbClr val="544F40"/>
                        </a:solidFill>
                        <a:latin typeface="Arial" panose="020B0604020202020204" pitchFamily="34" charset="0"/>
                      </a:endParaRPr>
                    </a:p>
                  </a:txBody>
                  <a:tcPr anchor="ctr">
                    <a:lnL w="9525" cap="flat" cmpd="sng" algn="ctr">
                      <a:solidFill>
                        <a:schemeClr val="tx1"/>
                      </a:solidFill>
                      <a:prstDash val="solid"/>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dirty="0">
                          <a:solidFill>
                            <a:srgbClr val="544F40"/>
                          </a:solidFill>
                          <a:latin typeface="Arial" panose="020B0604020202020204" pitchFamily="34" charset="0"/>
                        </a:rPr>
                        <a:t>2,766 (67)</a:t>
                      </a:r>
                      <a:endParaRPr lang="en-US" sz="1400" b="0" dirty="0">
                        <a:solidFill>
                          <a:srgbClr val="544F40"/>
                        </a:solidFill>
                        <a:latin typeface="Arial" panose="020B0604020202020204" pitchFamily="34" charset="0"/>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dirty="0">
                          <a:solidFill>
                            <a:srgbClr val="544F40"/>
                          </a:solidFill>
                          <a:latin typeface="Arial" panose="020B0604020202020204" pitchFamily="34" charset="0"/>
                        </a:rPr>
                        <a:t>2,748 (66)</a:t>
                      </a:r>
                      <a:endParaRPr lang="en-US" sz="1400" b="0" dirty="0">
                        <a:solidFill>
                          <a:srgbClr val="544F40"/>
                        </a:solidFill>
                        <a:latin typeface="Arial" panose="020B0604020202020204" pitchFamily="34" charset="0"/>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dirty="0">
                          <a:solidFill>
                            <a:srgbClr val="544F40"/>
                          </a:solidFill>
                          <a:latin typeface="Arial" panose="020B0604020202020204" pitchFamily="34" charset="0"/>
                        </a:rPr>
                        <a:t>1,356 (66)</a:t>
                      </a:r>
                      <a:endParaRPr lang="en-US" sz="1400" b="0" dirty="0">
                        <a:solidFill>
                          <a:srgbClr val="544F40"/>
                        </a:solidFill>
                        <a:latin typeface="Arial" panose="020B0604020202020204" pitchFamily="34" charset="0"/>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dirty="0">
                          <a:solidFill>
                            <a:srgbClr val="544F40"/>
                          </a:solidFill>
                          <a:latin typeface="Arial" panose="020B0604020202020204" pitchFamily="34" charset="0"/>
                        </a:rPr>
                        <a:t>6,870 (66)</a:t>
                      </a:r>
                      <a:endParaRPr lang="en-US" sz="1400" b="0" dirty="0">
                        <a:solidFill>
                          <a:srgbClr val="544F40"/>
                        </a:solidFill>
                        <a:latin typeface="Arial" panose="020B0604020202020204" pitchFamily="34" charset="0"/>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10896">
                <a:tc>
                  <a:txBody>
                    <a:bodyPr/>
                    <a:lstStyle/>
                    <a:p>
                      <a:pPr marL="0" marR="0" algn="l">
                        <a:lnSpc>
                          <a:spcPct val="100000"/>
                        </a:lnSpc>
                        <a:spcBef>
                          <a:spcPts val="0"/>
                        </a:spcBef>
                        <a:spcAft>
                          <a:spcPts val="0"/>
                        </a:spcAft>
                      </a:pPr>
                      <a:r>
                        <a:rPr lang="en-US" sz="1400" dirty="0">
                          <a:solidFill>
                            <a:srgbClr val="544F40"/>
                          </a:solidFill>
                          <a:effectLst/>
                          <a:latin typeface="Arial" panose="020B0604020202020204" pitchFamily="34" charset="0"/>
                        </a:rPr>
                        <a:t>Former smoker n, (%)</a:t>
                      </a:r>
                      <a:r>
                        <a:rPr lang="en-US" sz="1400" baseline="30000" dirty="0">
                          <a:solidFill>
                            <a:srgbClr val="544F40"/>
                          </a:solidFill>
                          <a:effectLst/>
                          <a:latin typeface="Arial" panose="020B0604020202020204" pitchFamily="34" charset="0"/>
                        </a:rPr>
                        <a:t>1</a:t>
                      </a:r>
                      <a:endParaRPr lang="en-US" sz="1400" dirty="0">
                        <a:solidFill>
                          <a:srgbClr val="544F40"/>
                        </a:solidFill>
                        <a:effectLst/>
                        <a:latin typeface="Arial" panose="020B0604020202020204" pitchFamily="34" charset="0"/>
                        <a:ea typeface="Times New Roman" panose="02020603050405020304" pitchFamily="18" charset="0"/>
                      </a:endParaRPr>
                    </a:p>
                  </a:txBody>
                  <a:tcPr anchor="ctr">
                    <a:lnL w="9525" cap="flat" cmpd="sng" algn="ctr">
                      <a:solidFill>
                        <a:schemeClr val="tx1"/>
                      </a:solidFill>
                      <a:prstDash val="solid"/>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algn="ctr">
                        <a:lnSpc>
                          <a:spcPct val="100000"/>
                        </a:lnSpc>
                        <a:spcBef>
                          <a:spcPts val="0"/>
                        </a:spcBef>
                        <a:spcAft>
                          <a:spcPts val="0"/>
                        </a:spcAft>
                      </a:pPr>
                      <a:r>
                        <a:rPr lang="en-US" sz="1400" dirty="0">
                          <a:solidFill>
                            <a:srgbClr val="544F40"/>
                          </a:solidFill>
                          <a:effectLst/>
                          <a:latin typeface="Arial" panose="020B0604020202020204" pitchFamily="34" charset="0"/>
                        </a:rPr>
                        <a:t>2,715 (65)</a:t>
                      </a:r>
                      <a:endParaRPr lang="en-US" sz="1400" dirty="0">
                        <a:solidFill>
                          <a:srgbClr val="544F40"/>
                        </a:solidFill>
                        <a:effectLst/>
                        <a:latin typeface="Arial" panose="020B0604020202020204" pitchFamily="34" charset="0"/>
                        <a:ea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algn="ctr">
                        <a:lnSpc>
                          <a:spcPct val="100000"/>
                        </a:lnSpc>
                        <a:spcBef>
                          <a:spcPts val="0"/>
                        </a:spcBef>
                        <a:spcAft>
                          <a:spcPts val="0"/>
                        </a:spcAft>
                      </a:pPr>
                      <a:r>
                        <a:rPr lang="en-US" sz="1400" dirty="0">
                          <a:solidFill>
                            <a:srgbClr val="544F40"/>
                          </a:solidFill>
                          <a:effectLst/>
                          <a:latin typeface="Arial" panose="020B0604020202020204" pitchFamily="34" charset="0"/>
                        </a:rPr>
                        <a:t>2,711 (66)</a:t>
                      </a:r>
                      <a:endParaRPr lang="en-US" sz="1400" dirty="0">
                        <a:solidFill>
                          <a:srgbClr val="544F40"/>
                        </a:solidFill>
                        <a:effectLst/>
                        <a:latin typeface="Arial" panose="020B0604020202020204" pitchFamily="34" charset="0"/>
                        <a:ea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algn="ctr">
                        <a:lnSpc>
                          <a:spcPct val="100000"/>
                        </a:lnSpc>
                        <a:spcBef>
                          <a:spcPts val="0"/>
                        </a:spcBef>
                        <a:spcAft>
                          <a:spcPts val="0"/>
                        </a:spcAft>
                      </a:pPr>
                      <a:r>
                        <a:rPr lang="en-US" sz="1400" dirty="0">
                          <a:solidFill>
                            <a:srgbClr val="544F40"/>
                          </a:solidFill>
                          <a:effectLst/>
                          <a:latin typeface="Arial" panose="020B0604020202020204" pitchFamily="34" charset="0"/>
                        </a:rPr>
                        <a:t>1,342 (65)</a:t>
                      </a:r>
                      <a:endParaRPr lang="en-US" sz="1400" dirty="0">
                        <a:solidFill>
                          <a:srgbClr val="544F40"/>
                        </a:solidFill>
                        <a:effectLst/>
                        <a:latin typeface="Arial" panose="020B0604020202020204" pitchFamily="34" charset="0"/>
                        <a:ea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algn="ctr">
                        <a:lnSpc>
                          <a:spcPct val="100000"/>
                        </a:lnSpc>
                        <a:spcBef>
                          <a:spcPts val="0"/>
                        </a:spcBef>
                        <a:spcAft>
                          <a:spcPts val="0"/>
                        </a:spcAft>
                      </a:pPr>
                      <a:r>
                        <a:rPr lang="en-US" sz="1400" dirty="0">
                          <a:solidFill>
                            <a:srgbClr val="544F40"/>
                          </a:solidFill>
                          <a:effectLst/>
                          <a:latin typeface="Arial" panose="020B0604020202020204" pitchFamily="34" charset="0"/>
                        </a:rPr>
                        <a:t>6,768 (65)</a:t>
                      </a:r>
                      <a:endParaRPr lang="en-US" sz="1400" dirty="0">
                        <a:solidFill>
                          <a:srgbClr val="544F40"/>
                        </a:solidFill>
                        <a:effectLst/>
                        <a:latin typeface="Arial" panose="020B0604020202020204" pitchFamily="34" charset="0"/>
                        <a:ea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90027839"/>
                  </a:ext>
                </a:extLst>
              </a:tr>
              <a:tr h="310896">
                <a:tc>
                  <a:txBody>
                    <a:bodyPr/>
                    <a:lstStyle/>
                    <a:p>
                      <a:pPr algn="l">
                        <a:lnSpc>
                          <a:spcPct val="100000"/>
                        </a:lnSpc>
                      </a:pPr>
                      <a:r>
                        <a:rPr lang="en-US" sz="1400" dirty="0">
                          <a:solidFill>
                            <a:srgbClr val="544F40"/>
                          </a:solidFill>
                          <a:latin typeface="Arial" panose="020B0604020202020204" pitchFamily="34" charset="0"/>
                        </a:rPr>
                        <a:t>Post-bronchodilator FEV</a:t>
                      </a:r>
                      <a:r>
                        <a:rPr lang="en-US" sz="1400" baseline="-25000" dirty="0">
                          <a:solidFill>
                            <a:srgbClr val="544F40"/>
                          </a:solidFill>
                          <a:latin typeface="Arial" panose="020B0604020202020204" pitchFamily="34" charset="0"/>
                        </a:rPr>
                        <a:t>1</a:t>
                      </a:r>
                      <a:r>
                        <a:rPr lang="en-US" sz="1400" dirty="0">
                          <a:solidFill>
                            <a:srgbClr val="544F40"/>
                          </a:solidFill>
                          <a:latin typeface="Arial" panose="020B0604020202020204" pitchFamily="34" charset="0"/>
                        </a:rPr>
                        <a:t> % predicted,</a:t>
                      </a:r>
                      <a:r>
                        <a:rPr lang="en-US" sz="1400" baseline="0" dirty="0">
                          <a:solidFill>
                            <a:srgbClr val="544F40"/>
                          </a:solidFill>
                          <a:latin typeface="Arial" panose="020B0604020202020204" pitchFamily="34" charset="0"/>
                        </a:rPr>
                        <a:t> M</a:t>
                      </a:r>
                      <a:r>
                        <a:rPr lang="en-US" sz="1400" dirty="0">
                          <a:solidFill>
                            <a:srgbClr val="544F40"/>
                          </a:solidFill>
                          <a:latin typeface="Arial" panose="020B0604020202020204" pitchFamily="34" charset="0"/>
                        </a:rPr>
                        <a:t>ean</a:t>
                      </a:r>
                      <a:r>
                        <a:rPr lang="en-US" sz="1400" baseline="0" dirty="0">
                          <a:solidFill>
                            <a:srgbClr val="544F40"/>
                          </a:solidFill>
                          <a:latin typeface="Arial" panose="020B0604020202020204" pitchFamily="34" charset="0"/>
                        </a:rPr>
                        <a:t> (SD)</a:t>
                      </a:r>
                      <a:r>
                        <a:rPr lang="en-US" sz="1400" baseline="30000" dirty="0">
                          <a:solidFill>
                            <a:srgbClr val="544F40"/>
                          </a:solidFill>
                          <a:latin typeface="Arial" panose="020B0604020202020204" pitchFamily="34" charset="0"/>
                        </a:rPr>
                        <a:t>1</a:t>
                      </a:r>
                      <a:endParaRPr lang="en-US" sz="1400" b="1" dirty="0">
                        <a:solidFill>
                          <a:srgbClr val="544F40"/>
                        </a:solidFill>
                        <a:latin typeface="Arial" panose="020B0604020202020204" pitchFamily="34" charset="0"/>
                      </a:endParaRPr>
                    </a:p>
                  </a:txBody>
                  <a:tcPr anchor="ctr">
                    <a:lnL w="9525" cap="flat" cmpd="sng" algn="ctr">
                      <a:solidFill>
                        <a:schemeClr val="tx1"/>
                      </a:solidFill>
                      <a:prstDash val="solid"/>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dirty="0">
                          <a:solidFill>
                            <a:srgbClr val="544F40"/>
                          </a:solidFill>
                          <a:latin typeface="Arial" panose="020B0604020202020204" pitchFamily="34" charset="0"/>
                        </a:rPr>
                        <a:t>45.7 (15.0)</a:t>
                      </a:r>
                      <a:endParaRPr lang="en-US" sz="1400" b="0" dirty="0">
                        <a:solidFill>
                          <a:srgbClr val="544F40"/>
                        </a:solidFill>
                        <a:latin typeface="Arial" panose="020B0604020202020204" pitchFamily="34" charset="0"/>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dirty="0">
                          <a:solidFill>
                            <a:srgbClr val="544F40"/>
                          </a:solidFill>
                          <a:latin typeface="Arial" panose="020B0604020202020204" pitchFamily="34" charset="0"/>
                        </a:rPr>
                        <a:t>45.5 (14.8)</a:t>
                      </a:r>
                      <a:endParaRPr lang="en-US" sz="1400" b="0" dirty="0">
                        <a:solidFill>
                          <a:srgbClr val="544F40"/>
                        </a:solidFill>
                        <a:latin typeface="Arial" panose="020B0604020202020204" pitchFamily="34" charset="0"/>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dirty="0">
                          <a:solidFill>
                            <a:srgbClr val="544F40"/>
                          </a:solidFill>
                          <a:latin typeface="Arial" panose="020B0604020202020204" pitchFamily="34" charset="0"/>
                        </a:rPr>
                        <a:t>45.4 (14.7)</a:t>
                      </a:r>
                      <a:endParaRPr lang="en-US" sz="1400" b="0" dirty="0">
                        <a:solidFill>
                          <a:srgbClr val="544F40"/>
                        </a:solidFill>
                        <a:latin typeface="Arial" panose="020B0604020202020204" pitchFamily="34" charset="0"/>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dirty="0">
                          <a:solidFill>
                            <a:srgbClr val="544F40"/>
                          </a:solidFill>
                          <a:latin typeface="Arial" panose="020B0604020202020204" pitchFamily="34" charset="0"/>
                        </a:rPr>
                        <a:t>45.5 (14.8)</a:t>
                      </a:r>
                      <a:endParaRPr lang="en-US" sz="1400" b="0" dirty="0">
                        <a:solidFill>
                          <a:srgbClr val="544F40"/>
                        </a:solidFill>
                        <a:latin typeface="Arial" panose="020B0604020202020204" pitchFamily="34" charset="0"/>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310896">
                <a:tc>
                  <a:txBody>
                    <a:bodyPr/>
                    <a:lstStyle/>
                    <a:p>
                      <a:pPr algn="l">
                        <a:lnSpc>
                          <a:spcPct val="100000"/>
                        </a:lnSpc>
                      </a:pPr>
                      <a:r>
                        <a:rPr lang="en-US" sz="1400" b="1" dirty="0">
                          <a:solidFill>
                            <a:srgbClr val="544F40"/>
                          </a:solidFill>
                          <a:latin typeface="Arial" panose="020B0604020202020204" pitchFamily="34" charset="0"/>
                        </a:rPr>
                        <a:t>COPD</a:t>
                      </a:r>
                      <a:r>
                        <a:rPr lang="en-US" sz="1400" b="1" baseline="0" dirty="0">
                          <a:solidFill>
                            <a:srgbClr val="544F40"/>
                          </a:solidFill>
                          <a:latin typeface="Arial" panose="020B0604020202020204" pitchFamily="34" charset="0"/>
                        </a:rPr>
                        <a:t> e</a:t>
                      </a:r>
                      <a:r>
                        <a:rPr lang="en-US" sz="1400" b="1" dirty="0">
                          <a:solidFill>
                            <a:srgbClr val="544F40"/>
                          </a:solidFill>
                          <a:latin typeface="Arial" panose="020B0604020202020204" pitchFamily="34" charset="0"/>
                        </a:rPr>
                        <a:t>xacerbations</a:t>
                      </a:r>
                      <a:r>
                        <a:rPr lang="en-US" sz="1400" b="1" baseline="0" dirty="0">
                          <a:solidFill>
                            <a:srgbClr val="544F40"/>
                          </a:solidFill>
                          <a:latin typeface="Arial" panose="020B0604020202020204" pitchFamily="34" charset="0"/>
                        </a:rPr>
                        <a:t> in prior year, n (%)</a:t>
                      </a:r>
                      <a:r>
                        <a:rPr lang="en-US" sz="1400" b="1" baseline="30000" dirty="0">
                          <a:solidFill>
                            <a:srgbClr val="544F40"/>
                          </a:solidFill>
                          <a:latin typeface="Arial" panose="020B0604020202020204" pitchFamily="34" charset="0"/>
                        </a:rPr>
                        <a:t>2,3</a:t>
                      </a:r>
                    </a:p>
                  </a:txBody>
                  <a:tcPr anchor="ctr">
                    <a:lnL w="9525" cap="flat" cmpd="sng" algn="ctr">
                      <a:solidFill>
                        <a:schemeClr val="tx1"/>
                      </a:solidFill>
                      <a:prstDash val="solid"/>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endParaRPr lang="en-GB" sz="1400" dirty="0">
                        <a:latin typeface="+mn-lt"/>
                      </a:endParaRPr>
                    </a:p>
                  </a:txBody>
                  <a:tcPr anchor="ctr">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endParaRPr lang="en-US" sz="1400" b="0" kern="1200" dirty="0">
                        <a:solidFill>
                          <a:schemeClr val="tx1"/>
                        </a:solidFill>
                        <a:latin typeface="+mn-lt"/>
                        <a:ea typeface="+mn-ea"/>
                        <a:cs typeface="Times New Roman" panose="02020603050405020304" pitchFamily="18" charset="0"/>
                      </a:endParaRPr>
                    </a:p>
                  </a:txBody>
                  <a:tcPr anchor="ctr">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endParaRPr lang="en-US" sz="1400" b="0" kern="1200" dirty="0">
                        <a:solidFill>
                          <a:schemeClr val="tx1"/>
                        </a:solidFill>
                        <a:latin typeface="+mn-lt"/>
                        <a:ea typeface="+mn-ea"/>
                        <a:cs typeface="Times New Roman" panose="02020603050405020304" pitchFamily="18" charset="0"/>
                      </a:endParaRPr>
                    </a:p>
                  </a:txBody>
                  <a:tcPr anchor="ctr">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endParaRPr lang="en-US" sz="1400" b="0" kern="1200" dirty="0">
                        <a:solidFill>
                          <a:schemeClr val="tx1"/>
                        </a:solidFill>
                        <a:latin typeface="+mn-lt"/>
                        <a:ea typeface="+mn-ea"/>
                        <a:cs typeface="Times New Roman" panose="02020603050405020304" pitchFamily="18" charset="0"/>
                      </a:endParaRPr>
                    </a:p>
                  </a:txBody>
                  <a:tcPr anchor="ctr">
                    <a:lnL w="3175" cap="flat" cmpd="sng" algn="ctr">
                      <a:solidFill>
                        <a:srgbClr val="544F40"/>
                      </a:solidFill>
                      <a:prstDash val="dash"/>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04077827"/>
                  </a:ext>
                </a:extLst>
              </a:tr>
              <a:tr h="310896">
                <a:tc>
                  <a:txBody>
                    <a:bodyPr/>
                    <a:lstStyle/>
                    <a:p>
                      <a:pPr marL="108000" algn="l">
                        <a:lnSpc>
                          <a:spcPct val="100000"/>
                        </a:lnSpc>
                      </a:pPr>
                      <a:r>
                        <a:rPr lang="en-US" sz="1400" baseline="0" dirty="0">
                          <a:solidFill>
                            <a:srgbClr val="544F40"/>
                          </a:solidFill>
                          <a:latin typeface="Arial" panose="020B0604020202020204" pitchFamily="34" charset="0"/>
                        </a:rPr>
                        <a:t>1 moderate and no severe</a:t>
                      </a:r>
                      <a:endParaRPr lang="en-US" sz="1400" b="0" baseline="30000" dirty="0">
                        <a:solidFill>
                          <a:srgbClr val="544F40"/>
                        </a:solidFill>
                        <a:latin typeface="Arial" panose="020B0604020202020204" pitchFamily="34" charset="0"/>
                      </a:endParaRPr>
                    </a:p>
                  </a:txBody>
                  <a:tcPr anchor="ctr">
                    <a:lnL w="9525" cap="flat" cmpd="sng" algn="ctr">
                      <a:solidFill>
                        <a:schemeClr val="tx1"/>
                      </a:solidFill>
                      <a:prstDash val="solid"/>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kern="1200" dirty="0">
                          <a:solidFill>
                            <a:srgbClr val="544F40"/>
                          </a:solidFill>
                          <a:latin typeface="+mn-lt"/>
                        </a:rPr>
                        <a:t>1,198 (29)</a:t>
                      </a:r>
                      <a:endParaRPr lang="en-US" sz="1400" b="0" kern="1200" dirty="0">
                        <a:solidFill>
                          <a:srgbClr val="544F40"/>
                        </a:solidFill>
                        <a:latin typeface="+mn-lt"/>
                        <a:ea typeface="+mn-ea"/>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kern="1200" dirty="0">
                          <a:solidFill>
                            <a:srgbClr val="544F40"/>
                          </a:solidFill>
                          <a:latin typeface="+mn-lt"/>
                        </a:rPr>
                        <a:t>1,242 (30)</a:t>
                      </a:r>
                      <a:endParaRPr lang="en-US" sz="1400" b="0" kern="1200" dirty="0">
                        <a:solidFill>
                          <a:srgbClr val="544F40"/>
                        </a:solidFill>
                        <a:latin typeface="+mn-lt"/>
                        <a:ea typeface="+mn-ea"/>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kern="1200" dirty="0">
                          <a:solidFill>
                            <a:srgbClr val="544F40"/>
                          </a:solidFill>
                          <a:latin typeface="+mn-lt"/>
                        </a:rPr>
                        <a:t>616 (30)</a:t>
                      </a:r>
                      <a:endParaRPr lang="en-US" sz="1400" b="0" kern="1200" dirty="0">
                        <a:solidFill>
                          <a:srgbClr val="544F40"/>
                        </a:solidFill>
                        <a:latin typeface="+mn-lt"/>
                        <a:ea typeface="+mn-ea"/>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kern="1200" dirty="0">
                          <a:solidFill>
                            <a:srgbClr val="544F40"/>
                          </a:solidFill>
                          <a:latin typeface="+mn-lt"/>
                        </a:rPr>
                        <a:t>3,056 (30)</a:t>
                      </a:r>
                      <a:endParaRPr lang="en-US" sz="1400" b="0" kern="1200" dirty="0">
                        <a:solidFill>
                          <a:srgbClr val="544F40"/>
                        </a:solidFill>
                        <a:latin typeface="+mn-lt"/>
                        <a:ea typeface="+mn-ea"/>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269028825"/>
                  </a:ext>
                </a:extLst>
              </a:tr>
              <a:tr h="310896">
                <a:tc>
                  <a:txBody>
                    <a:bodyPr/>
                    <a:lstStyle/>
                    <a:p>
                      <a:pPr marL="108000" algn="l">
                        <a:lnSpc>
                          <a:spcPct val="100000"/>
                        </a:lnSpc>
                      </a:pPr>
                      <a:r>
                        <a:rPr lang="en-US" sz="1400" dirty="0">
                          <a:solidFill>
                            <a:srgbClr val="544F40"/>
                          </a:solidFill>
                          <a:latin typeface="Arial" panose="020B0604020202020204" pitchFamily="34" charset="0"/>
                        </a:rPr>
                        <a:t>≥2 moderate or ≥1 severe</a:t>
                      </a:r>
                      <a:endParaRPr lang="en-US" sz="1400" b="0" dirty="0">
                        <a:solidFill>
                          <a:srgbClr val="544F40"/>
                        </a:solidFill>
                        <a:latin typeface="Arial" panose="020B0604020202020204" pitchFamily="34" charset="0"/>
                      </a:endParaRPr>
                    </a:p>
                  </a:txBody>
                  <a:tcPr anchor="ctr">
                    <a:lnL w="9525" cap="flat" cmpd="sng" algn="ctr">
                      <a:solidFill>
                        <a:schemeClr val="tx1"/>
                      </a:solidFill>
                      <a:prstDash val="solid"/>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kern="1200" dirty="0">
                          <a:solidFill>
                            <a:srgbClr val="544F40"/>
                          </a:solidFill>
                          <a:latin typeface="Arial" panose="020B0604020202020204" pitchFamily="34" charset="0"/>
                        </a:rPr>
                        <a:t>2,953 (71)</a:t>
                      </a:r>
                      <a:endParaRPr lang="en-US" sz="1400" b="0" kern="1200" dirty="0">
                        <a:solidFill>
                          <a:srgbClr val="544F40"/>
                        </a:solidFill>
                        <a:latin typeface="Arial" panose="020B0604020202020204" pitchFamily="34" charset="0"/>
                        <a:ea typeface="+mn-ea"/>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kern="1200" dirty="0">
                          <a:solidFill>
                            <a:srgbClr val="544F40"/>
                          </a:solidFill>
                          <a:latin typeface="Arial" panose="020B0604020202020204" pitchFamily="34" charset="0"/>
                        </a:rPr>
                        <a:t>2,892 (70)</a:t>
                      </a:r>
                      <a:endParaRPr lang="en-US" sz="1400" b="0" kern="1200" dirty="0">
                        <a:solidFill>
                          <a:srgbClr val="544F40"/>
                        </a:solidFill>
                        <a:latin typeface="Arial" panose="020B0604020202020204" pitchFamily="34" charset="0"/>
                        <a:ea typeface="+mn-ea"/>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kern="1200" dirty="0">
                          <a:solidFill>
                            <a:srgbClr val="544F40"/>
                          </a:solidFill>
                          <a:latin typeface="Arial" panose="020B0604020202020204" pitchFamily="34" charset="0"/>
                        </a:rPr>
                        <a:t>1,454 (70)</a:t>
                      </a:r>
                      <a:endParaRPr lang="en-US" sz="1400" b="0" kern="1200" dirty="0">
                        <a:solidFill>
                          <a:srgbClr val="544F40"/>
                        </a:solidFill>
                        <a:latin typeface="Arial" panose="020B0604020202020204" pitchFamily="34" charset="0"/>
                        <a:ea typeface="+mn-ea"/>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US" sz="1400" kern="1200" dirty="0">
                          <a:solidFill>
                            <a:srgbClr val="544F40"/>
                          </a:solidFill>
                          <a:latin typeface="Arial" panose="020B0604020202020204" pitchFamily="34" charset="0"/>
                        </a:rPr>
                        <a:t>7,299 (70)</a:t>
                      </a:r>
                      <a:endParaRPr lang="en-US" sz="1400" b="0" kern="1200" dirty="0">
                        <a:solidFill>
                          <a:srgbClr val="544F40"/>
                        </a:solidFill>
                        <a:latin typeface="Arial" panose="020B0604020202020204" pitchFamily="34" charset="0"/>
                        <a:ea typeface="+mn-ea"/>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57053258"/>
                  </a:ext>
                </a:extLst>
              </a:tr>
              <a:tr h="310896">
                <a:tc>
                  <a:txBody>
                    <a:bodyPr/>
                    <a:lstStyle/>
                    <a:p>
                      <a:pPr marL="10800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544F40"/>
                          </a:solidFill>
                          <a:latin typeface="Arial" panose="020B0604020202020204" pitchFamily="34" charset="0"/>
                        </a:rPr>
                        <a:t>≥2</a:t>
                      </a:r>
                      <a:r>
                        <a:rPr lang="en-US" sz="1400" baseline="0" dirty="0">
                          <a:solidFill>
                            <a:srgbClr val="544F40"/>
                          </a:solidFill>
                          <a:latin typeface="Arial" panose="020B0604020202020204" pitchFamily="34" charset="0"/>
                        </a:rPr>
                        <a:t> severe</a:t>
                      </a:r>
                      <a:endParaRPr lang="en-US" sz="1400" b="0" dirty="0">
                        <a:solidFill>
                          <a:srgbClr val="544F40"/>
                        </a:solidFill>
                        <a:latin typeface="Arial" panose="020B0604020202020204" pitchFamily="34" charset="0"/>
                      </a:endParaRPr>
                    </a:p>
                  </a:txBody>
                  <a:tcPr anchor="ctr">
                    <a:lnL w="9525" cap="flat" cmpd="sng" algn="ctr">
                      <a:solidFill>
                        <a:schemeClr val="tx1"/>
                      </a:solidFill>
                      <a:prstDash val="solid"/>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GB" sz="1400" kern="1200" dirty="0">
                          <a:solidFill>
                            <a:srgbClr val="544F40"/>
                          </a:solidFill>
                          <a:latin typeface="Arial" panose="020B0604020202020204" pitchFamily="34" charset="0"/>
                        </a:rPr>
                        <a:t>147 (4)</a:t>
                      </a:r>
                      <a:endParaRPr lang="en-US" sz="1400" b="0" kern="1200" dirty="0">
                        <a:solidFill>
                          <a:srgbClr val="544F40"/>
                        </a:solidFill>
                        <a:latin typeface="Arial" panose="020B0604020202020204" pitchFamily="34" charset="0"/>
                        <a:ea typeface="+mn-ea"/>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GB" sz="1400" kern="1200" dirty="0">
                          <a:solidFill>
                            <a:srgbClr val="544F40"/>
                          </a:solidFill>
                          <a:latin typeface="Arial" panose="020B0604020202020204" pitchFamily="34" charset="0"/>
                        </a:rPr>
                        <a:t>148 (4)</a:t>
                      </a:r>
                      <a:endParaRPr lang="en-US" sz="1400" b="0" kern="1200" dirty="0">
                        <a:solidFill>
                          <a:srgbClr val="544F40"/>
                        </a:solidFill>
                        <a:latin typeface="Arial" panose="020B0604020202020204" pitchFamily="34" charset="0"/>
                        <a:ea typeface="+mn-ea"/>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GB" sz="1400" kern="1200" dirty="0">
                          <a:solidFill>
                            <a:srgbClr val="544F40"/>
                          </a:solidFill>
                          <a:latin typeface="Arial" panose="020B0604020202020204" pitchFamily="34" charset="0"/>
                        </a:rPr>
                        <a:t>76 (4)</a:t>
                      </a:r>
                      <a:endParaRPr lang="en-US" sz="1400" b="0" kern="1200" dirty="0">
                        <a:solidFill>
                          <a:srgbClr val="544F40"/>
                        </a:solidFill>
                        <a:latin typeface="Arial" panose="020B0604020202020204" pitchFamily="34" charset="0"/>
                        <a:ea typeface="+mn-ea"/>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pPr>
                      <a:r>
                        <a:rPr lang="en-GB" sz="1400" kern="1200" dirty="0">
                          <a:solidFill>
                            <a:srgbClr val="544F40"/>
                          </a:solidFill>
                          <a:latin typeface="Arial" panose="020B0604020202020204" pitchFamily="34" charset="0"/>
                        </a:rPr>
                        <a:t>371 (4)</a:t>
                      </a:r>
                      <a:endParaRPr lang="en-US" sz="1400" b="0" kern="1200" dirty="0">
                        <a:solidFill>
                          <a:srgbClr val="544F40"/>
                        </a:solidFill>
                        <a:latin typeface="Arial" panose="020B0604020202020204" pitchFamily="34" charset="0"/>
                        <a:ea typeface="+mn-ea"/>
                        <a:cs typeface="Times New Roman" panose="02020603050405020304" pitchFamily="18" charset="0"/>
                      </a:endParaRPr>
                    </a:p>
                  </a:txBody>
                  <a:tcPr anchor="ctr" anchorCtr="1">
                    <a:lnL w="3175" cap="flat" cmpd="sng" algn="ctr">
                      <a:solidFill>
                        <a:srgbClr val="544F40"/>
                      </a:solidFill>
                      <a:prstDash val="dash"/>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2"/>
                  </a:ext>
                </a:extLst>
              </a:tr>
              <a:tr h="3108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544F40"/>
                          </a:solidFill>
                          <a:latin typeface="Arial" panose="020B0604020202020204" pitchFamily="34" charset="0"/>
                        </a:rPr>
                        <a:t>Any medical condition, n (%)</a:t>
                      </a:r>
                      <a:r>
                        <a:rPr lang="en-US" sz="1400" b="1" baseline="30000" dirty="0">
                          <a:solidFill>
                            <a:srgbClr val="544F40"/>
                          </a:solidFill>
                          <a:latin typeface="Arial" panose="020B0604020202020204" pitchFamily="34" charset="0"/>
                        </a:rPr>
                        <a:t>3</a:t>
                      </a:r>
                      <a:endParaRPr lang="en-US" sz="1400" b="1" dirty="0">
                        <a:solidFill>
                          <a:srgbClr val="544F40"/>
                        </a:solidFill>
                        <a:latin typeface="Arial" panose="020B0604020202020204" pitchFamily="34" charset="0"/>
                      </a:endParaRPr>
                    </a:p>
                  </a:txBody>
                  <a:tcPr anchor="ctr">
                    <a:lnL w="9525" cap="flat" cmpd="sng" algn="ctr">
                      <a:solidFill>
                        <a:schemeClr val="tx1"/>
                      </a:solidFill>
                      <a:prstDash val="solid"/>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2,766 (67)</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2,824 (68)</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1,422 (69)</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7,012 (68)</a:t>
                      </a:r>
                    </a:p>
                  </a:txBody>
                  <a:tcPr anchor="ctr" anchorCtr="1">
                    <a:lnL w="3175" cap="flat" cmpd="sng" algn="ctr">
                      <a:solidFill>
                        <a:srgbClr val="544F40"/>
                      </a:solidFill>
                      <a:prstDash val="dash"/>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solidFill>
                      <a:srgbClr val="FFFFFF"/>
                    </a:solidFill>
                  </a:tcPr>
                </a:tc>
                <a:extLst>
                  <a:ext uri="{0D108BD9-81ED-4DB2-BD59-A6C34878D82A}">
                    <a16:rowId xmlns:a16="http://schemas.microsoft.com/office/drawing/2014/main" val="277487146"/>
                  </a:ext>
                </a:extLst>
              </a:tr>
              <a:tr h="310896">
                <a:tc>
                  <a:txBody>
                    <a:bodyPr/>
                    <a:lstStyle/>
                    <a:p>
                      <a:pPr marL="10800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rgbClr val="544F40"/>
                          </a:solidFill>
                          <a:latin typeface="Arial" panose="020B0604020202020204" pitchFamily="34" charset="0"/>
                        </a:rPr>
                        <a:t>Hypertension</a:t>
                      </a:r>
                    </a:p>
                  </a:txBody>
                  <a:tcPr anchor="ctr">
                    <a:lnL w="9525" cap="flat" cmpd="sng" algn="ctr">
                      <a:solidFill>
                        <a:schemeClr val="tx1"/>
                      </a:solidFill>
                      <a:prstDash val="solid"/>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2,061 (50)</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2,138 (52)</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1,079 (52)</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5,278 (51)</a:t>
                      </a:r>
                    </a:p>
                  </a:txBody>
                  <a:tcPr anchor="ctr" anchorCtr="1">
                    <a:lnL w="3175" cap="flat" cmpd="sng" algn="ctr">
                      <a:solidFill>
                        <a:srgbClr val="544F40"/>
                      </a:solidFill>
                      <a:prstDash val="dash"/>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64104155"/>
                  </a:ext>
                </a:extLst>
              </a:tr>
              <a:tr h="310896">
                <a:tc>
                  <a:txBody>
                    <a:bodyPr/>
                    <a:lstStyle/>
                    <a:p>
                      <a:pPr marL="10800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rgbClr val="544F40"/>
                          </a:solidFill>
                          <a:latin typeface="Arial" panose="020B0604020202020204" pitchFamily="34" charset="0"/>
                        </a:rPr>
                        <a:t>Hypercholesterolaemia</a:t>
                      </a:r>
                    </a:p>
                  </a:txBody>
                  <a:tcPr anchor="ctr">
                    <a:lnL w="9525" cap="flat" cmpd="sng" algn="ctr">
                      <a:solidFill>
                        <a:schemeClr val="tx1"/>
                      </a:solidFill>
                      <a:prstDash val="solid"/>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1,285 (31)</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1,258 (30)</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639 (31)</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3,182 (31)</a:t>
                      </a:r>
                    </a:p>
                  </a:txBody>
                  <a:tcPr anchor="ctr" anchorCtr="1">
                    <a:lnL w="3175" cap="flat" cmpd="sng" algn="ctr">
                      <a:solidFill>
                        <a:srgbClr val="544F40"/>
                      </a:solidFill>
                      <a:prstDash val="dash"/>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5586465"/>
                  </a:ext>
                </a:extLst>
              </a:tr>
              <a:tr h="310896">
                <a:tc>
                  <a:txBody>
                    <a:bodyPr/>
                    <a:lstStyle/>
                    <a:p>
                      <a:pPr marL="10800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rgbClr val="544F40"/>
                          </a:solidFill>
                          <a:latin typeface="Arial" panose="020B0604020202020204" pitchFamily="34" charset="0"/>
                        </a:rPr>
                        <a:t>Cardiac disorders</a:t>
                      </a:r>
                    </a:p>
                  </a:txBody>
                  <a:tcPr anchor="ctr">
                    <a:lnL w="9525" cap="flat" cmpd="sng" algn="ctr">
                      <a:solidFill>
                        <a:schemeClr val="tx1"/>
                      </a:solidFill>
                      <a:prstDash val="solid"/>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656 (16)</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636 (15)</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328 (16)</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1,620 (16)</a:t>
                      </a:r>
                    </a:p>
                  </a:txBody>
                  <a:tcPr anchor="ctr" anchorCtr="1">
                    <a:lnL w="3175" cap="flat" cmpd="sng" algn="ctr">
                      <a:solidFill>
                        <a:srgbClr val="544F40"/>
                      </a:solidFill>
                      <a:prstDash val="dash"/>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09402440"/>
                  </a:ext>
                </a:extLst>
              </a:tr>
              <a:tr h="310896">
                <a:tc>
                  <a:txBody>
                    <a:bodyPr/>
                    <a:lstStyle/>
                    <a:p>
                      <a:pPr marL="10800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rgbClr val="544F40"/>
                          </a:solidFill>
                          <a:latin typeface="Arial" panose="020B0604020202020204" pitchFamily="34" charset="0"/>
                        </a:rPr>
                        <a:t>Diabetes mellitus</a:t>
                      </a:r>
                    </a:p>
                  </a:txBody>
                  <a:tcPr anchor="ctr">
                    <a:lnL w="9525" cap="flat" cmpd="sng" algn="ctr">
                      <a:solidFill>
                        <a:schemeClr val="tx1"/>
                      </a:solidFill>
                      <a:prstDash val="solid"/>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629 (15)</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631 (15)</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306 (15)</a:t>
                      </a:r>
                    </a:p>
                  </a:txBody>
                  <a:tcPr anchor="ctr" anchorCtr="1">
                    <a:lnL w="3175" cap="flat" cmpd="sng" algn="ctr">
                      <a:solidFill>
                        <a:srgbClr val="544F40"/>
                      </a:solidFill>
                      <a:prstDash val="dash"/>
                      <a:round/>
                      <a:headEnd type="none" w="med" len="med"/>
                      <a:tailEnd type="none" w="med" len="med"/>
                    </a:lnL>
                    <a:lnR w="3175" cap="flat" cmpd="sng" algn="ctr">
                      <a:solidFill>
                        <a:srgbClr val="544F40"/>
                      </a:solidFill>
                      <a:prstDash val="dash"/>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400" b="0" kern="1200" dirty="0">
                          <a:solidFill>
                            <a:srgbClr val="544F40"/>
                          </a:solidFill>
                          <a:latin typeface="Arial" panose="020B0604020202020204" pitchFamily="34" charset="0"/>
                          <a:ea typeface="+mn-ea"/>
                          <a:cs typeface="Times New Roman" panose="02020603050405020304" pitchFamily="18" charset="0"/>
                        </a:rPr>
                        <a:t>1,566 (15)</a:t>
                      </a:r>
                    </a:p>
                  </a:txBody>
                  <a:tcPr anchor="ctr" anchorCtr="1">
                    <a:lnL w="3175" cap="flat" cmpd="sng" algn="ctr">
                      <a:solidFill>
                        <a:srgbClr val="544F40"/>
                      </a:solidFill>
                      <a:prstDash val="dash"/>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rgbClr val="544F40"/>
                      </a:solidFill>
                      <a:prstDash val="solid"/>
                      <a:round/>
                      <a:headEnd type="none" w="med" len="med"/>
                      <a:tailEnd type="none" w="med" len="med"/>
                    </a:lnT>
                    <a:lnB w="9525"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689854"/>
                  </a:ext>
                </a:extLst>
              </a:tr>
            </a:tbl>
          </a:graphicData>
        </a:graphic>
      </p:graphicFrame>
      <p:grpSp>
        <p:nvGrpSpPr>
          <p:cNvPr id="5" name="Group 4"/>
          <p:cNvGrpSpPr/>
          <p:nvPr/>
        </p:nvGrpSpPr>
        <p:grpSpPr>
          <a:xfrm>
            <a:off x="331398" y="1283800"/>
            <a:ext cx="11548658" cy="85725"/>
            <a:chOff x="331398" y="1283800"/>
            <a:chExt cx="11548658" cy="85725"/>
          </a:xfrm>
        </p:grpSpPr>
        <p:sp>
          <p:nvSpPr>
            <p:cNvPr id="6" name="Isosceles Triangle 5"/>
            <p:cNvSpPr/>
            <p:nvPr/>
          </p:nvSpPr>
          <p:spPr>
            <a:xfrm rot="10800000">
              <a:off x="4678766" y="1283800"/>
              <a:ext cx="190890" cy="8572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26" name="Isosceles Triangle 125"/>
            <p:cNvSpPr/>
            <p:nvPr/>
          </p:nvSpPr>
          <p:spPr>
            <a:xfrm rot="10800000">
              <a:off x="6431366" y="1283800"/>
              <a:ext cx="190890" cy="8572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27" name="Isosceles Triangle 126"/>
            <p:cNvSpPr/>
            <p:nvPr/>
          </p:nvSpPr>
          <p:spPr>
            <a:xfrm rot="10800000">
              <a:off x="8183966" y="1283800"/>
              <a:ext cx="190890" cy="8572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28" name="Isosceles Triangle 127"/>
            <p:cNvSpPr/>
            <p:nvPr/>
          </p:nvSpPr>
          <p:spPr>
            <a:xfrm rot="10800000">
              <a:off x="9936566" y="1283800"/>
              <a:ext cx="190890" cy="8572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29" name="Isosceles Triangle 128"/>
            <p:cNvSpPr/>
            <p:nvPr/>
          </p:nvSpPr>
          <p:spPr>
            <a:xfrm rot="10800000">
              <a:off x="11689166" y="1283800"/>
              <a:ext cx="190890" cy="8572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30" name="Isosceles Triangle 129"/>
            <p:cNvSpPr/>
            <p:nvPr/>
          </p:nvSpPr>
          <p:spPr>
            <a:xfrm rot="10800000">
              <a:off x="331398" y="1283800"/>
              <a:ext cx="190890" cy="8572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pic>
        <p:nvPicPr>
          <p:cNvPr id="15" name="Picture 14">
            <a:extLst>
              <a:ext uri="{FF2B5EF4-FFF2-40B4-BE49-F238E27FC236}">
                <a16:creationId xmlns:a16="http://schemas.microsoft.com/office/drawing/2014/main" id="{F89C67CB-48BA-4A88-9301-0CB397AE4EB8}"/>
              </a:ext>
            </a:extLst>
          </p:cNvPr>
          <p:cNvPicPr>
            <a:picLocks noChangeAspect="1"/>
          </p:cNvPicPr>
          <p:nvPr/>
        </p:nvPicPr>
        <p:blipFill>
          <a:blip r:embed="rId2"/>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325643503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 name="Chart 36">
            <a:extLst>
              <a:ext uri="{FF2B5EF4-FFF2-40B4-BE49-F238E27FC236}">
                <a16:creationId xmlns:a16="http://schemas.microsoft.com/office/drawing/2014/main" id="{7C80DE30-2922-4D97-820C-CDEBD665B081}"/>
              </a:ext>
            </a:extLst>
          </p:cNvPr>
          <p:cNvGraphicFramePr/>
          <p:nvPr/>
        </p:nvGraphicFramePr>
        <p:xfrm>
          <a:off x="666750" y="1483566"/>
          <a:ext cx="11061830" cy="3507533"/>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p:cNvSpPr>
            <a:spLocks noGrp="1"/>
          </p:cNvSpPr>
          <p:nvPr>
            <p:ph type="title"/>
          </p:nvPr>
        </p:nvSpPr>
        <p:spPr/>
        <p:txBody>
          <a:bodyPr/>
          <a:lstStyle/>
          <a:p>
            <a:r>
              <a:rPr lang="en-US" sz="2400" dirty="0"/>
              <a:t>IMPACT: Moderate/severe exacerbations</a:t>
            </a:r>
            <a:endParaRPr lang="en-US" sz="2400" baseline="30000" dirty="0">
              <a:solidFill>
                <a:srgbClr val="ED003C"/>
              </a:solidFill>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17" name="Text Placeholder 16"/>
          <p:cNvSpPr>
            <a:spLocks noGrp="1"/>
          </p:cNvSpPr>
          <p:nvPr>
            <p:ph type="body" sz="quarter" idx="21"/>
          </p:nvPr>
        </p:nvSpPr>
        <p:spPr/>
        <p:txBody>
          <a:bodyPr/>
          <a:lstStyle/>
          <a:p>
            <a:r>
              <a:rPr lang="da-DK" dirty="0"/>
              <a:t>Lipson DA, et al. </a:t>
            </a:r>
            <a:r>
              <a:rPr lang="da-DK" i="1" dirty="0"/>
              <a:t>N Engl J Med</a:t>
            </a:r>
            <a:r>
              <a:rPr lang="da-DK" dirty="0"/>
              <a:t>. 2018;378:1671–1680.</a:t>
            </a:r>
            <a:endParaRPr lang="en-US" dirty="0"/>
          </a:p>
        </p:txBody>
      </p:sp>
      <p:sp>
        <p:nvSpPr>
          <p:cNvPr id="8" name="Text Placeholder 7"/>
          <p:cNvSpPr>
            <a:spLocks noGrp="1"/>
          </p:cNvSpPr>
          <p:nvPr>
            <p:ph type="body" sz="quarter" idx="19"/>
          </p:nvPr>
        </p:nvSpPr>
        <p:spPr>
          <a:xfrm>
            <a:off x="434888" y="5998781"/>
            <a:ext cx="11251200" cy="194733"/>
          </a:xfrm>
        </p:spPr>
        <p:txBody>
          <a:bodyPr/>
          <a:lstStyle/>
          <a:p>
            <a:r>
              <a:rPr lang="en-US" dirty="0"/>
              <a:t>The graph has been independently created by GSK from original data </a:t>
            </a:r>
          </a:p>
          <a:p>
            <a:r>
              <a:rPr lang="en-US" dirty="0"/>
              <a:t>Note: The n reflects the number of patients included in each analysis from the ITT population. Patients were excluded if they had pre-defined data missing; this varied according to the analysis. The ITT population comprised: 4,151 patients treated with FF/UMEC/VI; 4,134 patients treated with FF/VI; and 2,070 patients treated with UMEC/VI. </a:t>
            </a:r>
          </a:p>
          <a:p>
            <a:r>
              <a:rPr lang="en-US" dirty="0"/>
              <a:t>CI, confidence interval; FF, fluticasone furoate; UMEC, umeclidinium; VI, vilanterol.</a:t>
            </a:r>
          </a:p>
        </p:txBody>
      </p:sp>
      <p:grpSp>
        <p:nvGrpSpPr>
          <p:cNvPr id="5" name="Group 4"/>
          <p:cNvGrpSpPr/>
          <p:nvPr/>
        </p:nvGrpSpPr>
        <p:grpSpPr>
          <a:xfrm>
            <a:off x="423862" y="991380"/>
            <a:ext cx="11349037" cy="4409295"/>
            <a:chOff x="423862" y="905655"/>
            <a:chExt cx="11349037" cy="4409295"/>
          </a:xfrm>
        </p:grpSpPr>
        <p:sp>
          <p:nvSpPr>
            <p:cNvPr id="97" name="Rounded Rectangle 96"/>
            <p:cNvSpPr/>
            <p:nvPr/>
          </p:nvSpPr>
          <p:spPr>
            <a:xfrm>
              <a:off x="423862" y="1108593"/>
              <a:ext cx="11349037" cy="4206357"/>
            </a:xfrm>
            <a:prstGeom prst="roundRect">
              <a:avLst>
                <a:gd name="adj" fmla="val 215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99" name="Rounded Rectangle 98"/>
            <p:cNvSpPr/>
            <p:nvPr/>
          </p:nvSpPr>
          <p:spPr bwMode="auto">
            <a:xfrm>
              <a:off x="673455" y="905655"/>
              <a:ext cx="10845091" cy="389513"/>
            </a:xfrm>
            <a:prstGeom prst="roundRect">
              <a:avLst>
                <a:gd name="adj" fmla="val 50000"/>
              </a:avLst>
            </a:prstGeom>
            <a:solidFill>
              <a:srgbClr val="544F40"/>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818"/>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Arial" pitchFamily="34" charset="0"/>
                  <a:ea typeface="+mn-ea"/>
                  <a:cs typeface="+mn-cs"/>
                </a:rPr>
                <a:t>Significant reduction in moderate/severe exacerbations with FF/UMEC/VI vs FF/VI and UMEC/VI</a:t>
              </a:r>
              <a:endParaRPr kumimoji="0" lang="en-US" sz="1600" b="1" i="0" u="none" strike="noStrike" kern="1200" cap="none" spc="0" normalizeH="0" baseline="30000" noProof="0" dirty="0">
                <a:ln>
                  <a:noFill/>
                </a:ln>
                <a:solidFill>
                  <a:prstClr val="white"/>
                </a:solidFill>
                <a:effectLst/>
                <a:uLnTx/>
                <a:uFillTx/>
                <a:latin typeface="Arial" pitchFamily="34" charset="0"/>
                <a:ea typeface="+mn-ea"/>
                <a:cs typeface="+mn-cs"/>
              </a:endParaRPr>
            </a:p>
          </p:txBody>
        </p:sp>
      </p:grpSp>
      <p:sp>
        <p:nvSpPr>
          <p:cNvPr id="113" name="TextBox 112">
            <a:extLst>
              <a:ext uri="{FF2B5EF4-FFF2-40B4-BE49-F238E27FC236}">
                <a16:creationId xmlns:a16="http://schemas.microsoft.com/office/drawing/2014/main" id="{1D1C9EA7-F9AB-461D-BCAC-CA64415A7C3D}"/>
              </a:ext>
            </a:extLst>
          </p:cNvPr>
          <p:cNvSpPr txBox="1"/>
          <p:nvPr/>
        </p:nvSpPr>
        <p:spPr>
          <a:xfrm rot="16200000">
            <a:off x="-1126529" y="3097187"/>
            <a:ext cx="3379044" cy="27076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44F40"/>
                </a:solidFill>
                <a:effectLst/>
                <a:uLnTx/>
                <a:uFillTx/>
                <a:latin typeface="Arial" panose="020B0604020202020204"/>
                <a:ea typeface="+mn-ea"/>
                <a:cs typeface="+mn-cs"/>
              </a:rPr>
              <a:t>Moderate/severe exacerbations (annual rate)</a:t>
            </a:r>
          </a:p>
        </p:txBody>
      </p:sp>
      <p:sp>
        <p:nvSpPr>
          <p:cNvPr id="119" name="TextBox 118">
            <a:extLst>
              <a:ext uri="{FF2B5EF4-FFF2-40B4-BE49-F238E27FC236}">
                <a16:creationId xmlns:a16="http://schemas.microsoft.com/office/drawing/2014/main" id="{6BB2DB8A-09B8-44F7-8F60-3CFC3B4A552F}"/>
              </a:ext>
            </a:extLst>
          </p:cNvPr>
          <p:cNvSpPr txBox="1"/>
          <p:nvPr/>
        </p:nvSpPr>
        <p:spPr>
          <a:xfrm>
            <a:off x="2196696" y="4729402"/>
            <a:ext cx="1400728"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200" b="1" i="0" u="none" strike="noStrike" kern="0" cap="none" spc="0" normalizeH="0" baseline="0" noProof="0" dirty="0">
                <a:ln>
                  <a:noFill/>
                </a:ln>
                <a:solidFill>
                  <a:srgbClr val="544F40"/>
                </a:solidFill>
                <a:effectLst/>
                <a:uLnTx/>
                <a:uFillTx/>
                <a:latin typeface="Arial" panose="020B0604020202020204"/>
                <a:ea typeface="+mn-ea"/>
                <a:cs typeface="+mn-cs"/>
              </a:rPr>
              <a:t>FF/UMEC/VI</a:t>
            </a:r>
            <a:br>
              <a:rPr kumimoji="0" lang="pt-BR" sz="12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pt-BR" sz="1200" b="0" i="0" u="none" strike="noStrike" kern="0" cap="none" spc="0" normalizeH="0" baseline="0" noProof="0" dirty="0">
                <a:ln>
                  <a:noFill/>
                </a:ln>
                <a:solidFill>
                  <a:srgbClr val="544F40"/>
                </a:solidFill>
                <a:effectLst/>
                <a:uLnTx/>
                <a:uFillTx/>
                <a:latin typeface="Arial" panose="020B0604020202020204"/>
                <a:ea typeface="+mn-ea"/>
                <a:cs typeface="+mn-cs"/>
              </a:rPr>
              <a:t>100/62.5/25 µg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200" b="0" i="0" u="none" strike="noStrike" kern="0" cap="none" spc="0" normalizeH="0" baseline="0" noProof="0" dirty="0">
                <a:ln>
                  <a:noFill/>
                </a:ln>
                <a:solidFill>
                  <a:srgbClr val="544F40"/>
                </a:solidFill>
                <a:effectLst/>
                <a:uLnTx/>
                <a:uFillTx/>
                <a:latin typeface="Arial" panose="020B0604020202020204"/>
                <a:ea typeface="+mn-ea"/>
                <a:cs typeface="+mn-cs"/>
              </a:rPr>
              <a:t>n = 4,145</a:t>
            </a:r>
          </a:p>
        </p:txBody>
      </p:sp>
      <p:sp>
        <p:nvSpPr>
          <p:cNvPr id="120" name="TextBox 119">
            <a:extLst>
              <a:ext uri="{FF2B5EF4-FFF2-40B4-BE49-F238E27FC236}">
                <a16:creationId xmlns:a16="http://schemas.microsoft.com/office/drawing/2014/main" id="{6BB2DB8A-09B8-44F7-8F60-3CFC3B4A552F}"/>
              </a:ext>
            </a:extLst>
          </p:cNvPr>
          <p:cNvSpPr txBox="1"/>
          <p:nvPr/>
        </p:nvSpPr>
        <p:spPr>
          <a:xfrm>
            <a:off x="5682990" y="4729402"/>
            <a:ext cx="1469476"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200" b="1" i="0" u="none" strike="noStrike" kern="0" cap="none" spc="0" normalizeH="0" baseline="0" noProof="0" dirty="0">
                <a:ln>
                  <a:noFill/>
                </a:ln>
                <a:solidFill>
                  <a:srgbClr val="544F40"/>
                </a:solidFill>
                <a:effectLst/>
                <a:uLnTx/>
                <a:uFillTx/>
                <a:latin typeface="Arial" panose="020B0604020202020204"/>
                <a:ea typeface="+mn-ea"/>
                <a:cs typeface="+mn-cs"/>
              </a:rPr>
              <a:t>FF/VI</a:t>
            </a:r>
            <a:br>
              <a:rPr kumimoji="0" lang="pt-BR" sz="12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pt-BR" sz="1200" b="0" i="0" u="none" strike="noStrike" kern="0" cap="none" spc="0" normalizeH="0" baseline="0" noProof="0" dirty="0">
                <a:ln>
                  <a:noFill/>
                </a:ln>
                <a:solidFill>
                  <a:srgbClr val="544F40"/>
                </a:solidFill>
                <a:effectLst/>
                <a:uLnTx/>
                <a:uFillTx/>
                <a:latin typeface="Arial" panose="020B0604020202020204"/>
                <a:ea typeface="+mn-ea"/>
                <a:cs typeface="+mn-cs"/>
              </a:rPr>
              <a:t>100/25 µg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200" b="0" i="0" u="none" strike="noStrike" kern="0" cap="none" spc="0" normalizeH="0" baseline="0" noProof="0" dirty="0">
                <a:ln>
                  <a:noFill/>
                </a:ln>
                <a:solidFill>
                  <a:srgbClr val="544F40"/>
                </a:solidFill>
                <a:effectLst/>
                <a:uLnTx/>
                <a:uFillTx/>
                <a:latin typeface="Arial" panose="020B0604020202020204"/>
                <a:ea typeface="+mn-ea"/>
                <a:cs typeface="+mn-cs"/>
              </a:rPr>
              <a:t>n = 4,133</a:t>
            </a:r>
          </a:p>
        </p:txBody>
      </p:sp>
      <p:sp>
        <p:nvSpPr>
          <p:cNvPr id="121" name="TextBox 120">
            <a:extLst>
              <a:ext uri="{FF2B5EF4-FFF2-40B4-BE49-F238E27FC236}">
                <a16:creationId xmlns:a16="http://schemas.microsoft.com/office/drawing/2014/main" id="{6BB2DB8A-09B8-44F7-8F60-3CFC3B4A552F}"/>
              </a:ext>
            </a:extLst>
          </p:cNvPr>
          <p:cNvSpPr txBox="1"/>
          <p:nvPr/>
        </p:nvSpPr>
        <p:spPr>
          <a:xfrm>
            <a:off x="9242733" y="4729402"/>
            <a:ext cx="1469476"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200" b="1" i="0" u="none" strike="noStrike" kern="0" cap="none" spc="0" normalizeH="0" baseline="0" noProof="0" dirty="0">
                <a:ln>
                  <a:noFill/>
                </a:ln>
                <a:solidFill>
                  <a:srgbClr val="544F40"/>
                </a:solidFill>
                <a:effectLst/>
                <a:uLnTx/>
                <a:uFillTx/>
                <a:latin typeface="Arial" panose="020B0604020202020204"/>
                <a:ea typeface="+mn-ea"/>
                <a:cs typeface="+mn-cs"/>
              </a:rPr>
              <a:t>UMEC/VI</a:t>
            </a:r>
            <a:br>
              <a:rPr kumimoji="0" lang="pt-BR" sz="12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pt-BR" sz="1200" b="0" i="0" u="none" strike="noStrike" kern="0" cap="none" spc="0" normalizeH="0" baseline="0" noProof="0" dirty="0">
                <a:ln>
                  <a:noFill/>
                </a:ln>
                <a:solidFill>
                  <a:srgbClr val="544F40"/>
                </a:solidFill>
                <a:effectLst/>
                <a:uLnTx/>
                <a:uFillTx/>
                <a:latin typeface="Arial" panose="020B0604020202020204"/>
                <a:ea typeface="+mn-ea"/>
                <a:cs typeface="+mn-cs"/>
              </a:rPr>
              <a:t>62.5/25 µg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200" b="0" i="0" u="none" strike="noStrike" kern="0" cap="none" spc="0" normalizeH="0" baseline="0" noProof="0" dirty="0">
                <a:ln>
                  <a:noFill/>
                </a:ln>
                <a:solidFill>
                  <a:srgbClr val="544F40"/>
                </a:solidFill>
                <a:effectLst/>
                <a:uLnTx/>
                <a:uFillTx/>
                <a:latin typeface="Arial" panose="020B0604020202020204"/>
                <a:ea typeface="+mn-ea"/>
                <a:cs typeface="+mn-cs"/>
              </a:rPr>
              <a:t>n = 2,069</a:t>
            </a:r>
          </a:p>
        </p:txBody>
      </p:sp>
      <p:sp>
        <p:nvSpPr>
          <p:cNvPr id="124" name="TextBox 123">
            <a:extLst>
              <a:ext uri="{FF2B5EF4-FFF2-40B4-BE49-F238E27FC236}">
                <a16:creationId xmlns:a16="http://schemas.microsoft.com/office/drawing/2014/main" id="{6BB2DB8A-09B8-44F7-8F60-3CFC3B4A552F}"/>
              </a:ext>
            </a:extLst>
          </p:cNvPr>
          <p:cNvSpPr txBox="1"/>
          <p:nvPr/>
        </p:nvSpPr>
        <p:spPr>
          <a:xfrm>
            <a:off x="4926209" y="1636431"/>
            <a:ext cx="2339582" cy="40011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1400" b="1" i="0" u="none" strike="noStrike" kern="0" cap="none" spc="0" normalizeH="0" baseline="0" noProof="0" dirty="0">
                <a:ln>
                  <a:noFill/>
                </a:ln>
                <a:solidFill>
                  <a:srgbClr val="544F40"/>
                </a:solidFill>
                <a:effectLst/>
                <a:uLnTx/>
                <a:uFillTx/>
                <a:latin typeface="Arial" panose="020B0604020202020204"/>
                <a:ea typeface="+mn-ea"/>
                <a:cs typeface="+mn-cs"/>
              </a:rPr>
              <a:t>25% reduction</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1200" b="0" i="0" u="none" strike="noStrike" kern="0" cap="none" spc="0" normalizeH="0" baseline="0" noProof="0" dirty="0">
                <a:ln>
                  <a:noFill/>
                </a:ln>
                <a:solidFill>
                  <a:srgbClr val="544F40"/>
                </a:solidFill>
                <a:effectLst/>
                <a:uLnTx/>
                <a:uFillTx/>
                <a:latin typeface="Arial" panose="020B0604020202020204"/>
                <a:ea typeface="+mn-ea"/>
                <a:cs typeface="+mn-cs"/>
              </a:rPr>
              <a:t>(95% CI: 19, 30) </a:t>
            </a:r>
            <a:r>
              <a:rPr kumimoji="0" lang="fr-FR" sz="1200" b="0" i="1" u="none" strike="noStrike" kern="0" cap="none" spc="0" normalizeH="0" baseline="0" noProof="0" dirty="0">
                <a:ln>
                  <a:noFill/>
                </a:ln>
                <a:solidFill>
                  <a:srgbClr val="544F40"/>
                </a:solidFill>
                <a:effectLst/>
                <a:uLnTx/>
                <a:uFillTx/>
                <a:latin typeface="Arial" panose="020B0604020202020204"/>
                <a:ea typeface="+mn-ea"/>
                <a:cs typeface="+mn-cs"/>
              </a:rPr>
              <a:t>p</a:t>
            </a:r>
            <a:r>
              <a:rPr kumimoji="0" lang="fr-FR" sz="1200" b="0" i="0" u="none" strike="noStrike" kern="0" cap="none" spc="0" normalizeH="0" baseline="0" noProof="0" dirty="0">
                <a:ln>
                  <a:noFill/>
                </a:ln>
                <a:solidFill>
                  <a:srgbClr val="544F40"/>
                </a:solidFill>
                <a:effectLst/>
                <a:uLnTx/>
                <a:uFillTx/>
                <a:latin typeface="Arial" panose="020B0604020202020204"/>
                <a:ea typeface="+mn-ea"/>
                <a:cs typeface="+mn-cs"/>
              </a:rPr>
              <a:t> &lt; 0.001</a:t>
            </a:r>
            <a:endPar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126" name="TextBox 125">
            <a:extLst>
              <a:ext uri="{FF2B5EF4-FFF2-40B4-BE49-F238E27FC236}">
                <a16:creationId xmlns:a16="http://schemas.microsoft.com/office/drawing/2014/main" id="{6BB2DB8A-09B8-44F7-8F60-3CFC3B4A552F}"/>
              </a:ext>
            </a:extLst>
          </p:cNvPr>
          <p:cNvSpPr txBox="1"/>
          <p:nvPr/>
        </p:nvSpPr>
        <p:spPr>
          <a:xfrm>
            <a:off x="3523367" y="2243538"/>
            <a:ext cx="2339582" cy="40011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1400" b="1" i="0" u="none" strike="noStrike" kern="0" cap="none" spc="0" normalizeH="0" baseline="0" noProof="0" dirty="0">
                <a:ln>
                  <a:noFill/>
                </a:ln>
                <a:solidFill>
                  <a:srgbClr val="544F40"/>
                </a:solidFill>
                <a:effectLst/>
                <a:uLnTx/>
                <a:uFillTx/>
                <a:latin typeface="Arial" panose="020B0604020202020204"/>
                <a:ea typeface="+mn-ea"/>
                <a:cs typeface="+mn-cs"/>
              </a:rPr>
              <a:t>15% reduction</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1200" b="0" i="0" u="none" strike="noStrike" kern="0" cap="none" spc="0" normalizeH="0" baseline="0" noProof="0" dirty="0">
                <a:ln>
                  <a:noFill/>
                </a:ln>
                <a:solidFill>
                  <a:srgbClr val="544F40"/>
                </a:solidFill>
                <a:effectLst/>
                <a:uLnTx/>
                <a:uFillTx/>
                <a:latin typeface="Arial" panose="020B0604020202020204"/>
                <a:ea typeface="+mn-ea"/>
                <a:cs typeface="+mn-cs"/>
              </a:rPr>
              <a:t>(95% CI: 10, 20) </a:t>
            </a:r>
            <a:r>
              <a:rPr kumimoji="0" lang="fr-FR" sz="1200" b="0" i="1" u="none" strike="noStrike" kern="0" cap="none" spc="0" normalizeH="0" baseline="0" noProof="0" dirty="0">
                <a:ln>
                  <a:noFill/>
                </a:ln>
                <a:solidFill>
                  <a:srgbClr val="544F40"/>
                </a:solidFill>
                <a:effectLst/>
                <a:uLnTx/>
                <a:uFillTx/>
                <a:latin typeface="Arial" panose="020B0604020202020204"/>
                <a:ea typeface="+mn-ea"/>
                <a:cs typeface="+mn-cs"/>
              </a:rPr>
              <a:t>p</a:t>
            </a:r>
            <a:r>
              <a:rPr kumimoji="0" lang="fr-FR" sz="1200" b="0" i="0" u="none" strike="noStrike" kern="0" cap="none" spc="0" normalizeH="0" baseline="0" noProof="0" dirty="0">
                <a:ln>
                  <a:noFill/>
                </a:ln>
                <a:solidFill>
                  <a:srgbClr val="544F40"/>
                </a:solidFill>
                <a:effectLst/>
                <a:uLnTx/>
                <a:uFillTx/>
                <a:latin typeface="Arial" panose="020B0604020202020204"/>
                <a:ea typeface="+mn-ea"/>
                <a:cs typeface="+mn-cs"/>
              </a:rPr>
              <a:t> &lt; 0.001</a:t>
            </a:r>
            <a:endPar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grpSp>
        <p:nvGrpSpPr>
          <p:cNvPr id="6" name="Group 5"/>
          <p:cNvGrpSpPr/>
          <p:nvPr/>
        </p:nvGrpSpPr>
        <p:grpSpPr>
          <a:xfrm>
            <a:off x="3394589" y="5561848"/>
            <a:ext cx="4300387" cy="109728"/>
            <a:chOff x="2768282" y="5501778"/>
            <a:chExt cx="4300387" cy="109728"/>
          </a:xfrm>
        </p:grpSpPr>
        <p:sp>
          <p:nvSpPr>
            <p:cNvPr id="9" name="Rectangle 8"/>
            <p:cNvSpPr/>
            <p:nvPr/>
          </p:nvSpPr>
          <p:spPr>
            <a:xfrm>
              <a:off x="2768282" y="5501778"/>
              <a:ext cx="109728" cy="109728"/>
            </a:xfrm>
            <a:prstGeom prst="rect">
              <a:avLst/>
            </a:prstGeom>
            <a:solidFill>
              <a:srgbClr val="F366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2743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544F40"/>
                  </a:solidFill>
                  <a:effectLst/>
                  <a:uLnTx/>
                  <a:uFillTx/>
                  <a:latin typeface="Arial" panose="020B0604020202020204"/>
                  <a:ea typeface="+mn-ea"/>
                  <a:cs typeface="+mn-cs"/>
                </a:rPr>
                <a:t>FF/UMEC/VI </a:t>
              </a:r>
              <a:r>
                <a:rPr kumimoji="0" lang="en-US" sz="1200" b="0" i="0" u="none" strike="noStrike" kern="0" cap="none" spc="0" normalizeH="0" baseline="0" noProof="0" dirty="0">
                  <a:ln>
                    <a:noFill/>
                  </a:ln>
                  <a:solidFill>
                    <a:srgbClr val="544F40"/>
                  </a:solidFill>
                  <a:effectLst/>
                  <a:uLnTx/>
                  <a:uFillTx/>
                  <a:latin typeface="Arial" panose="020B0604020202020204"/>
                  <a:ea typeface="+mn-ea"/>
                  <a:cs typeface="+mn-cs"/>
                </a:rPr>
                <a:t>100/62.5/25 µg</a:t>
              </a:r>
              <a:endPar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28" name="Rectangle 127"/>
            <p:cNvSpPr/>
            <p:nvPr/>
          </p:nvSpPr>
          <p:spPr>
            <a:xfrm>
              <a:off x="5305859" y="5501778"/>
              <a:ext cx="109728" cy="109728"/>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2743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544F40"/>
                  </a:solidFill>
                  <a:effectLst/>
                  <a:uLnTx/>
                  <a:uFillTx/>
                  <a:latin typeface="Arial" panose="020B0604020202020204"/>
                  <a:ea typeface="+mn-ea"/>
                  <a:cs typeface="+mn-cs"/>
                </a:rPr>
                <a:t>FF/VI </a:t>
              </a:r>
              <a:r>
                <a:rPr kumimoji="0" lang="en-US" sz="1200" b="0" i="0" u="none" strike="noStrike" kern="0" cap="none" spc="0" normalizeH="0" baseline="0" noProof="0" dirty="0">
                  <a:ln>
                    <a:noFill/>
                  </a:ln>
                  <a:solidFill>
                    <a:srgbClr val="544F40"/>
                  </a:solidFill>
                  <a:effectLst/>
                  <a:uLnTx/>
                  <a:uFillTx/>
                  <a:latin typeface="Arial" panose="020B0604020202020204"/>
                  <a:ea typeface="+mn-ea"/>
                  <a:cs typeface="+mn-cs"/>
                </a:rPr>
                <a:t>100/25 µg</a:t>
              </a:r>
              <a:endPar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29" name="Rectangle 128"/>
            <p:cNvSpPr/>
            <p:nvPr/>
          </p:nvSpPr>
          <p:spPr>
            <a:xfrm>
              <a:off x="6958941" y="5501778"/>
              <a:ext cx="109728" cy="109728"/>
            </a:xfrm>
            <a:prstGeom prst="rect">
              <a:avLst/>
            </a:prstGeom>
            <a:solidFill>
              <a:srgbClr val="4048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2743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544F40"/>
                  </a:solidFill>
                  <a:effectLst/>
                  <a:uLnTx/>
                  <a:uFillTx/>
                  <a:latin typeface="Arial" panose="020B0604020202020204"/>
                  <a:ea typeface="+mn-ea"/>
                  <a:cs typeface="+mn-cs"/>
                </a:rPr>
                <a:t>UMEC/VI</a:t>
              </a:r>
              <a:r>
                <a:rPr kumimoji="0" lang="en-US" sz="1200" b="0" i="0" u="none" strike="noStrike" kern="0" cap="none" spc="0" normalizeH="0" baseline="0" noProof="0" dirty="0">
                  <a:ln>
                    <a:noFill/>
                  </a:ln>
                  <a:solidFill>
                    <a:srgbClr val="544F40"/>
                  </a:solidFill>
                  <a:effectLst/>
                  <a:uLnTx/>
                  <a:uFillTx/>
                  <a:latin typeface="Arial" panose="020B0604020202020204"/>
                  <a:ea typeface="+mn-ea"/>
                  <a:cs typeface="+mn-cs"/>
                </a:rPr>
                <a:t> 62.5/25 µg</a:t>
              </a:r>
              <a:endPar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4" name="Freeform 3"/>
          <p:cNvSpPr/>
          <p:nvPr/>
        </p:nvSpPr>
        <p:spPr>
          <a:xfrm>
            <a:off x="2889249" y="2673350"/>
            <a:ext cx="3502025" cy="425450"/>
          </a:xfrm>
          <a:custGeom>
            <a:avLst/>
            <a:gdLst>
              <a:gd name="connsiteX0" fmla="*/ 0 w 1593850"/>
              <a:gd name="connsiteY0" fmla="*/ 425450 h 425450"/>
              <a:gd name="connsiteX1" fmla="*/ 0 w 1593850"/>
              <a:gd name="connsiteY1" fmla="*/ 0 h 425450"/>
              <a:gd name="connsiteX2" fmla="*/ 1593850 w 1593850"/>
              <a:gd name="connsiteY2" fmla="*/ 0 h 425450"/>
              <a:gd name="connsiteX3" fmla="*/ 1593850 w 1593850"/>
              <a:gd name="connsiteY3" fmla="*/ 228600 h 425450"/>
            </a:gdLst>
            <a:ahLst/>
            <a:cxnLst>
              <a:cxn ang="0">
                <a:pos x="connsiteX0" y="connsiteY0"/>
              </a:cxn>
              <a:cxn ang="0">
                <a:pos x="connsiteX1" y="connsiteY1"/>
              </a:cxn>
              <a:cxn ang="0">
                <a:pos x="connsiteX2" y="connsiteY2"/>
              </a:cxn>
              <a:cxn ang="0">
                <a:pos x="connsiteX3" y="connsiteY3"/>
              </a:cxn>
            </a:cxnLst>
            <a:rect l="l" t="t" r="r" b="b"/>
            <a:pathLst>
              <a:path w="1593850" h="425450">
                <a:moveTo>
                  <a:pt x="0" y="425450"/>
                </a:moveTo>
                <a:lnTo>
                  <a:pt x="0" y="0"/>
                </a:lnTo>
                <a:lnTo>
                  <a:pt x="1593850" y="0"/>
                </a:lnTo>
                <a:lnTo>
                  <a:pt x="1593850" y="228600"/>
                </a:lnTo>
              </a:path>
            </a:pathLst>
          </a:custGeom>
          <a:noFill/>
          <a:ln w="9525" cap="flat" cmpd="sng" algn="ctr">
            <a:solidFill>
              <a:schemeClr val="tx1"/>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Arial"/>
              <a:ea typeface="+mn-ea"/>
              <a:cs typeface="+mn-cs"/>
            </a:endParaRPr>
          </a:p>
        </p:txBody>
      </p:sp>
      <p:sp>
        <p:nvSpPr>
          <p:cNvPr id="36" name="Freeform 35"/>
          <p:cNvSpPr/>
          <p:nvPr/>
        </p:nvSpPr>
        <p:spPr>
          <a:xfrm flipH="1">
            <a:off x="2889249" y="2073275"/>
            <a:ext cx="7026275" cy="520700"/>
          </a:xfrm>
          <a:custGeom>
            <a:avLst/>
            <a:gdLst>
              <a:gd name="connsiteX0" fmla="*/ 0 w 1593850"/>
              <a:gd name="connsiteY0" fmla="*/ 425450 h 425450"/>
              <a:gd name="connsiteX1" fmla="*/ 0 w 1593850"/>
              <a:gd name="connsiteY1" fmla="*/ 0 h 425450"/>
              <a:gd name="connsiteX2" fmla="*/ 1593850 w 1593850"/>
              <a:gd name="connsiteY2" fmla="*/ 0 h 425450"/>
              <a:gd name="connsiteX3" fmla="*/ 1593850 w 1593850"/>
              <a:gd name="connsiteY3" fmla="*/ 228600 h 425450"/>
              <a:gd name="connsiteX0" fmla="*/ 0 w 1593850"/>
              <a:gd name="connsiteY0" fmla="*/ 425450 h 425450"/>
              <a:gd name="connsiteX1" fmla="*/ 0 w 1593850"/>
              <a:gd name="connsiteY1" fmla="*/ 0 h 425450"/>
              <a:gd name="connsiteX2" fmla="*/ 1593850 w 1593850"/>
              <a:gd name="connsiteY2" fmla="*/ 0 h 425450"/>
              <a:gd name="connsiteX3" fmla="*/ 1593850 w 1593850"/>
              <a:gd name="connsiteY3" fmla="*/ 149225 h 425450"/>
              <a:gd name="connsiteX0" fmla="*/ 0 w 1595460"/>
              <a:gd name="connsiteY0" fmla="*/ 520700 h 520700"/>
              <a:gd name="connsiteX1" fmla="*/ 1610 w 1595460"/>
              <a:gd name="connsiteY1" fmla="*/ 0 h 520700"/>
              <a:gd name="connsiteX2" fmla="*/ 1595460 w 1595460"/>
              <a:gd name="connsiteY2" fmla="*/ 0 h 520700"/>
              <a:gd name="connsiteX3" fmla="*/ 1595460 w 1595460"/>
              <a:gd name="connsiteY3" fmla="*/ 149225 h 520700"/>
              <a:gd name="connsiteX0" fmla="*/ 156 w 1594006"/>
              <a:gd name="connsiteY0" fmla="*/ 520700 h 520700"/>
              <a:gd name="connsiteX1" fmla="*/ 156 w 1594006"/>
              <a:gd name="connsiteY1" fmla="*/ 0 h 520700"/>
              <a:gd name="connsiteX2" fmla="*/ 1594006 w 1594006"/>
              <a:gd name="connsiteY2" fmla="*/ 0 h 520700"/>
              <a:gd name="connsiteX3" fmla="*/ 1594006 w 1594006"/>
              <a:gd name="connsiteY3" fmla="*/ 149225 h 520700"/>
              <a:gd name="connsiteX0" fmla="*/ 156 w 1594006"/>
              <a:gd name="connsiteY0" fmla="*/ 520700 h 520700"/>
              <a:gd name="connsiteX1" fmla="*/ 156 w 1594006"/>
              <a:gd name="connsiteY1" fmla="*/ 0 h 520700"/>
              <a:gd name="connsiteX2" fmla="*/ 1594006 w 1594006"/>
              <a:gd name="connsiteY2" fmla="*/ 0 h 520700"/>
              <a:gd name="connsiteX3" fmla="*/ 1594006 w 1594006"/>
              <a:gd name="connsiteY3" fmla="*/ 296862 h 520700"/>
            </a:gdLst>
            <a:ahLst/>
            <a:cxnLst>
              <a:cxn ang="0">
                <a:pos x="connsiteX0" y="connsiteY0"/>
              </a:cxn>
              <a:cxn ang="0">
                <a:pos x="connsiteX1" y="connsiteY1"/>
              </a:cxn>
              <a:cxn ang="0">
                <a:pos x="connsiteX2" y="connsiteY2"/>
              </a:cxn>
              <a:cxn ang="0">
                <a:pos x="connsiteX3" y="connsiteY3"/>
              </a:cxn>
            </a:cxnLst>
            <a:rect l="l" t="t" r="r" b="b"/>
            <a:pathLst>
              <a:path w="1594006" h="520700">
                <a:moveTo>
                  <a:pt x="156" y="520700"/>
                </a:moveTo>
                <a:cubicBezTo>
                  <a:pt x="693" y="347133"/>
                  <a:pt x="-381" y="173567"/>
                  <a:pt x="156" y="0"/>
                </a:cubicBezTo>
                <a:lnTo>
                  <a:pt x="1594006" y="0"/>
                </a:lnTo>
                <a:lnTo>
                  <a:pt x="1594006" y="296862"/>
                </a:lnTo>
              </a:path>
            </a:pathLst>
          </a:custGeom>
          <a:noFill/>
          <a:ln w="9525" cap="flat" cmpd="sng" algn="ctr">
            <a:solidFill>
              <a:schemeClr val="tx1"/>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Arial"/>
              <a:ea typeface="+mn-ea"/>
              <a:cs typeface="+mn-cs"/>
            </a:endParaRPr>
          </a:p>
        </p:txBody>
      </p:sp>
      <p:pic>
        <p:nvPicPr>
          <p:cNvPr id="23" name="Picture 22">
            <a:extLst>
              <a:ext uri="{FF2B5EF4-FFF2-40B4-BE49-F238E27FC236}">
                <a16:creationId xmlns:a16="http://schemas.microsoft.com/office/drawing/2014/main" id="{F89C67CB-48BA-4A88-9301-0CB397AE4EB8}"/>
              </a:ext>
            </a:extLst>
          </p:cNvPr>
          <p:cNvPicPr>
            <a:picLocks noChangeAspect="1"/>
          </p:cNvPicPr>
          <p:nvPr/>
        </p:nvPicPr>
        <p:blipFill>
          <a:blip r:embed="rId3"/>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191515958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 name="Chart 36">
            <a:extLst>
              <a:ext uri="{FF2B5EF4-FFF2-40B4-BE49-F238E27FC236}">
                <a16:creationId xmlns:a16="http://schemas.microsoft.com/office/drawing/2014/main" id="{7C80DE30-2922-4D97-820C-CDEBD665B081}"/>
              </a:ext>
            </a:extLst>
          </p:cNvPr>
          <p:cNvGraphicFramePr/>
          <p:nvPr/>
        </p:nvGraphicFramePr>
        <p:xfrm>
          <a:off x="666750" y="1483566"/>
          <a:ext cx="11061830" cy="3507533"/>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p:cNvSpPr>
            <a:spLocks noGrp="1"/>
          </p:cNvSpPr>
          <p:nvPr>
            <p:ph type="title"/>
          </p:nvPr>
        </p:nvSpPr>
        <p:spPr/>
        <p:txBody>
          <a:bodyPr/>
          <a:lstStyle/>
          <a:p>
            <a:r>
              <a:rPr lang="en-US" dirty="0"/>
              <a:t>IMPACT: Exacerbations leading to hospitalisation (severe)</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17" name="Text Placeholder 16"/>
          <p:cNvSpPr>
            <a:spLocks noGrp="1"/>
          </p:cNvSpPr>
          <p:nvPr>
            <p:ph type="body" sz="quarter" idx="21"/>
          </p:nvPr>
        </p:nvSpPr>
        <p:spPr/>
        <p:txBody>
          <a:bodyPr/>
          <a:lstStyle/>
          <a:p>
            <a:r>
              <a:rPr lang="da-DK" dirty="0"/>
              <a:t>Lipson DA, et al. </a:t>
            </a:r>
            <a:r>
              <a:rPr lang="da-DK" i="1" dirty="0"/>
              <a:t>N Engl J Med. </a:t>
            </a:r>
            <a:r>
              <a:rPr lang="da-DK" dirty="0"/>
              <a:t>2018;378:1671–1680.</a:t>
            </a:r>
            <a:endParaRPr lang="en-US" dirty="0"/>
          </a:p>
        </p:txBody>
      </p:sp>
      <p:sp>
        <p:nvSpPr>
          <p:cNvPr id="8" name="Text Placeholder 7"/>
          <p:cNvSpPr>
            <a:spLocks noGrp="1"/>
          </p:cNvSpPr>
          <p:nvPr>
            <p:ph type="body" sz="quarter" idx="19"/>
          </p:nvPr>
        </p:nvSpPr>
        <p:spPr>
          <a:xfrm>
            <a:off x="434888" y="5998781"/>
            <a:ext cx="11251200" cy="194733"/>
          </a:xfrm>
        </p:spPr>
        <p:txBody>
          <a:bodyPr/>
          <a:lstStyle/>
          <a:p>
            <a:r>
              <a:rPr lang="en-US" dirty="0"/>
              <a:t>The graph has been independently created by GSK from original data </a:t>
            </a:r>
          </a:p>
          <a:p>
            <a:r>
              <a:rPr lang="en-US" dirty="0"/>
              <a:t>Note: The n reflects the number of patients included in each analysis from the ITT population. Patients were excluded if they had pre-defined data missing; this varied according to the analysis. The ITT population comprised: 4,151 patients treated with FF/UMEC/VI; 4,134 patients treated with FF/VI; and 2,070 patients treated with UMEC/VI.</a:t>
            </a:r>
          </a:p>
          <a:p>
            <a:r>
              <a:rPr lang="en-US" dirty="0"/>
              <a:t>CI, confidence interval; FF, fluticasone furoate; NS, not significant; UMEC, umeclidinium; VI, vilanterol.</a:t>
            </a:r>
          </a:p>
        </p:txBody>
      </p:sp>
      <p:grpSp>
        <p:nvGrpSpPr>
          <p:cNvPr id="5" name="Group 4"/>
          <p:cNvGrpSpPr/>
          <p:nvPr/>
        </p:nvGrpSpPr>
        <p:grpSpPr>
          <a:xfrm>
            <a:off x="423862" y="991380"/>
            <a:ext cx="11349037" cy="4409295"/>
            <a:chOff x="423862" y="905655"/>
            <a:chExt cx="11349037" cy="4409295"/>
          </a:xfrm>
        </p:grpSpPr>
        <p:sp>
          <p:nvSpPr>
            <p:cNvPr id="97" name="Rounded Rectangle 96"/>
            <p:cNvSpPr/>
            <p:nvPr/>
          </p:nvSpPr>
          <p:spPr>
            <a:xfrm>
              <a:off x="423862" y="1108593"/>
              <a:ext cx="11349037" cy="4206357"/>
            </a:xfrm>
            <a:prstGeom prst="roundRect">
              <a:avLst>
                <a:gd name="adj" fmla="val 215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99" name="Rounded Rectangle 98"/>
            <p:cNvSpPr/>
            <p:nvPr/>
          </p:nvSpPr>
          <p:spPr bwMode="auto">
            <a:xfrm>
              <a:off x="673455" y="905655"/>
              <a:ext cx="10845091" cy="389513"/>
            </a:xfrm>
            <a:prstGeom prst="roundRect">
              <a:avLst>
                <a:gd name="adj" fmla="val 50000"/>
              </a:avLst>
            </a:prstGeom>
            <a:solidFill>
              <a:srgbClr val="544F40"/>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818"/>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Arial" pitchFamily="34" charset="0"/>
                  <a:ea typeface="+mn-ea"/>
                  <a:cs typeface="+mn-cs"/>
                </a:rPr>
                <a:t>Reduction in severe (hospitalised) exacerbations with FF/UMEC/VI vs FF/VI and UMEC/VI</a:t>
              </a:r>
            </a:p>
          </p:txBody>
        </p:sp>
      </p:grpSp>
      <p:sp>
        <p:nvSpPr>
          <p:cNvPr id="113" name="TextBox 112">
            <a:extLst>
              <a:ext uri="{FF2B5EF4-FFF2-40B4-BE49-F238E27FC236}">
                <a16:creationId xmlns:a16="http://schemas.microsoft.com/office/drawing/2014/main" id="{1D1C9EA7-F9AB-461D-BCAC-CA64415A7C3D}"/>
              </a:ext>
            </a:extLst>
          </p:cNvPr>
          <p:cNvSpPr txBox="1"/>
          <p:nvPr/>
        </p:nvSpPr>
        <p:spPr>
          <a:xfrm rot="16200000">
            <a:off x="-1264117" y="3158147"/>
            <a:ext cx="3654222" cy="27076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44F40"/>
                </a:solidFill>
                <a:effectLst/>
                <a:uLnTx/>
                <a:uFillTx/>
                <a:latin typeface="Arial" panose="020B0604020202020204"/>
                <a:ea typeface="+mn-ea"/>
                <a:cs typeface="+mn-cs"/>
              </a:rPr>
              <a:t>Severe (hospitalised) exacerbations (annual rate)</a:t>
            </a:r>
          </a:p>
        </p:txBody>
      </p:sp>
      <p:sp>
        <p:nvSpPr>
          <p:cNvPr id="119" name="TextBox 118">
            <a:extLst>
              <a:ext uri="{FF2B5EF4-FFF2-40B4-BE49-F238E27FC236}">
                <a16:creationId xmlns:a16="http://schemas.microsoft.com/office/drawing/2014/main" id="{6BB2DB8A-09B8-44F7-8F60-3CFC3B4A552F}"/>
              </a:ext>
            </a:extLst>
          </p:cNvPr>
          <p:cNvSpPr txBox="1"/>
          <p:nvPr/>
        </p:nvSpPr>
        <p:spPr>
          <a:xfrm>
            <a:off x="2196696" y="4729402"/>
            <a:ext cx="1400728"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200" b="1" i="0" u="none" strike="noStrike" kern="0" cap="none" spc="0" normalizeH="0" baseline="0" noProof="0" dirty="0">
                <a:ln>
                  <a:noFill/>
                </a:ln>
                <a:solidFill>
                  <a:srgbClr val="544F40"/>
                </a:solidFill>
                <a:effectLst/>
                <a:uLnTx/>
                <a:uFillTx/>
                <a:latin typeface="Arial" panose="020B0604020202020204"/>
                <a:ea typeface="+mn-ea"/>
                <a:cs typeface="+mn-cs"/>
              </a:rPr>
              <a:t>FF/UMEC/VI</a:t>
            </a:r>
            <a:br>
              <a:rPr kumimoji="0" lang="pt-BR" sz="12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pt-BR" sz="1200" b="0" i="0" u="none" strike="noStrike" kern="0" cap="none" spc="0" normalizeH="0" baseline="0" noProof="0" dirty="0">
                <a:ln>
                  <a:noFill/>
                </a:ln>
                <a:solidFill>
                  <a:srgbClr val="544F40"/>
                </a:solidFill>
                <a:effectLst/>
                <a:uLnTx/>
                <a:uFillTx/>
                <a:latin typeface="Arial" panose="020B0604020202020204"/>
                <a:ea typeface="+mn-ea"/>
                <a:cs typeface="+mn-cs"/>
              </a:rPr>
              <a:t>100/62.5/25 µg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200" b="0" i="0" u="none" strike="noStrike" kern="0" cap="none" spc="0" normalizeH="0" baseline="0" noProof="0" dirty="0">
                <a:ln>
                  <a:noFill/>
                </a:ln>
                <a:solidFill>
                  <a:srgbClr val="544F40"/>
                </a:solidFill>
                <a:effectLst/>
                <a:uLnTx/>
                <a:uFillTx/>
                <a:latin typeface="Arial" panose="020B0604020202020204"/>
                <a:ea typeface="+mn-ea"/>
                <a:cs typeface="+mn-cs"/>
              </a:rPr>
              <a:t>n = 4,145</a:t>
            </a:r>
          </a:p>
        </p:txBody>
      </p:sp>
      <p:sp>
        <p:nvSpPr>
          <p:cNvPr id="120" name="TextBox 119">
            <a:extLst>
              <a:ext uri="{FF2B5EF4-FFF2-40B4-BE49-F238E27FC236}">
                <a16:creationId xmlns:a16="http://schemas.microsoft.com/office/drawing/2014/main" id="{6BB2DB8A-09B8-44F7-8F60-3CFC3B4A552F}"/>
              </a:ext>
            </a:extLst>
          </p:cNvPr>
          <p:cNvSpPr txBox="1"/>
          <p:nvPr/>
        </p:nvSpPr>
        <p:spPr>
          <a:xfrm>
            <a:off x="5682990" y="4729402"/>
            <a:ext cx="1469476"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200" b="1" i="0" u="none" strike="noStrike" kern="0" cap="none" spc="0" normalizeH="0" baseline="0" noProof="0" dirty="0">
                <a:ln>
                  <a:noFill/>
                </a:ln>
                <a:solidFill>
                  <a:srgbClr val="544F40"/>
                </a:solidFill>
                <a:effectLst/>
                <a:uLnTx/>
                <a:uFillTx/>
                <a:latin typeface="Arial" panose="020B0604020202020204"/>
                <a:ea typeface="+mn-ea"/>
                <a:cs typeface="+mn-cs"/>
              </a:rPr>
              <a:t>FF/VI</a:t>
            </a:r>
            <a:br>
              <a:rPr kumimoji="0" lang="pt-BR" sz="12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pt-BR" sz="1200" b="0" i="0" u="none" strike="noStrike" kern="0" cap="none" spc="0" normalizeH="0" baseline="0" noProof="0" dirty="0">
                <a:ln>
                  <a:noFill/>
                </a:ln>
                <a:solidFill>
                  <a:srgbClr val="544F40"/>
                </a:solidFill>
                <a:effectLst/>
                <a:uLnTx/>
                <a:uFillTx/>
                <a:latin typeface="Arial" panose="020B0604020202020204"/>
                <a:ea typeface="+mn-ea"/>
                <a:cs typeface="+mn-cs"/>
              </a:rPr>
              <a:t>100/25 µg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200" b="0" i="0" u="none" strike="noStrike" kern="0" cap="none" spc="0" normalizeH="0" baseline="0" noProof="0" dirty="0">
                <a:ln>
                  <a:noFill/>
                </a:ln>
                <a:solidFill>
                  <a:srgbClr val="544F40"/>
                </a:solidFill>
                <a:effectLst/>
                <a:uLnTx/>
                <a:uFillTx/>
                <a:latin typeface="Arial" panose="020B0604020202020204"/>
                <a:ea typeface="+mn-ea"/>
                <a:cs typeface="+mn-cs"/>
              </a:rPr>
              <a:t>n = 4,133</a:t>
            </a:r>
          </a:p>
        </p:txBody>
      </p:sp>
      <p:sp>
        <p:nvSpPr>
          <p:cNvPr id="121" name="TextBox 120">
            <a:extLst>
              <a:ext uri="{FF2B5EF4-FFF2-40B4-BE49-F238E27FC236}">
                <a16:creationId xmlns:a16="http://schemas.microsoft.com/office/drawing/2014/main" id="{6BB2DB8A-09B8-44F7-8F60-3CFC3B4A552F}"/>
              </a:ext>
            </a:extLst>
          </p:cNvPr>
          <p:cNvSpPr txBox="1"/>
          <p:nvPr/>
        </p:nvSpPr>
        <p:spPr>
          <a:xfrm>
            <a:off x="9242733" y="4729402"/>
            <a:ext cx="1469476"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200" b="1" i="0" u="none" strike="noStrike" kern="0" cap="none" spc="0" normalizeH="0" baseline="0" noProof="0" dirty="0">
                <a:ln>
                  <a:noFill/>
                </a:ln>
                <a:solidFill>
                  <a:srgbClr val="544F40"/>
                </a:solidFill>
                <a:effectLst/>
                <a:uLnTx/>
                <a:uFillTx/>
                <a:latin typeface="Arial" panose="020B0604020202020204"/>
                <a:ea typeface="+mn-ea"/>
                <a:cs typeface="+mn-cs"/>
              </a:rPr>
              <a:t>UMEC/VI</a:t>
            </a:r>
            <a:br>
              <a:rPr kumimoji="0" lang="pt-BR" sz="12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pt-BR" sz="1200" b="0" i="0" u="none" strike="noStrike" kern="0" cap="none" spc="0" normalizeH="0" baseline="0" noProof="0" dirty="0">
                <a:ln>
                  <a:noFill/>
                </a:ln>
                <a:solidFill>
                  <a:srgbClr val="544F40"/>
                </a:solidFill>
                <a:effectLst/>
                <a:uLnTx/>
                <a:uFillTx/>
                <a:latin typeface="Arial" panose="020B0604020202020204"/>
                <a:ea typeface="+mn-ea"/>
                <a:cs typeface="+mn-cs"/>
              </a:rPr>
              <a:t>62.5/25 µg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200" b="0" i="0" u="none" strike="noStrike" kern="0" cap="none" spc="0" normalizeH="0" baseline="0" noProof="0" dirty="0">
                <a:ln>
                  <a:noFill/>
                </a:ln>
                <a:solidFill>
                  <a:srgbClr val="544F40"/>
                </a:solidFill>
                <a:effectLst/>
                <a:uLnTx/>
                <a:uFillTx/>
                <a:latin typeface="Arial" panose="020B0604020202020204"/>
                <a:ea typeface="+mn-ea"/>
                <a:cs typeface="+mn-cs"/>
              </a:rPr>
              <a:t>n = 2,069</a:t>
            </a:r>
          </a:p>
        </p:txBody>
      </p:sp>
      <p:sp>
        <p:nvSpPr>
          <p:cNvPr id="124" name="TextBox 123">
            <a:extLst>
              <a:ext uri="{FF2B5EF4-FFF2-40B4-BE49-F238E27FC236}">
                <a16:creationId xmlns:a16="http://schemas.microsoft.com/office/drawing/2014/main" id="{6BB2DB8A-09B8-44F7-8F60-3CFC3B4A552F}"/>
              </a:ext>
            </a:extLst>
          </p:cNvPr>
          <p:cNvSpPr txBox="1"/>
          <p:nvPr/>
        </p:nvSpPr>
        <p:spPr>
          <a:xfrm>
            <a:off x="4926209" y="1636431"/>
            <a:ext cx="2339582" cy="40011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1400" b="1" i="0" u="none" strike="noStrike" kern="0" cap="none" spc="0" normalizeH="0" baseline="0" noProof="0" dirty="0">
                <a:ln>
                  <a:noFill/>
                </a:ln>
                <a:solidFill>
                  <a:srgbClr val="544F40"/>
                </a:solidFill>
                <a:effectLst/>
                <a:uLnTx/>
                <a:uFillTx/>
                <a:latin typeface="Arial" panose="020B0604020202020204"/>
                <a:ea typeface="+mn-ea"/>
                <a:cs typeface="+mn-cs"/>
              </a:rPr>
              <a:t>34% reduction</a:t>
            </a:r>
            <a:endParaRPr kumimoji="0" lang="fr-FR" sz="1200" b="1" i="0" u="none" strike="noStrike" kern="0" cap="none" spc="0" normalizeH="0" baseline="0" noProof="0" dirty="0">
              <a:ln>
                <a:noFill/>
              </a:ln>
              <a:solidFill>
                <a:srgbClr val="544F4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1200" b="0" i="0" u="none" strike="noStrike" kern="0" cap="none" spc="0" normalizeH="0" baseline="0" noProof="0" dirty="0">
                <a:ln>
                  <a:noFill/>
                </a:ln>
                <a:solidFill>
                  <a:srgbClr val="544F40"/>
                </a:solidFill>
                <a:effectLst/>
                <a:uLnTx/>
                <a:uFillTx/>
                <a:latin typeface="Arial" panose="020B0604020202020204"/>
                <a:ea typeface="+mn-ea"/>
                <a:cs typeface="+mn-cs"/>
              </a:rPr>
              <a:t>(95% CI: 22, 44) </a:t>
            </a:r>
            <a:r>
              <a:rPr kumimoji="0" lang="fr-FR" sz="1200" b="0" i="1" u="none" strike="noStrike" kern="0" cap="none" spc="0" normalizeH="0" baseline="0" noProof="0" dirty="0">
                <a:ln>
                  <a:noFill/>
                </a:ln>
                <a:solidFill>
                  <a:srgbClr val="544F40"/>
                </a:solidFill>
                <a:effectLst/>
                <a:uLnTx/>
                <a:uFillTx/>
                <a:latin typeface="Arial" panose="020B0604020202020204"/>
                <a:ea typeface="+mn-ea"/>
                <a:cs typeface="+mn-cs"/>
              </a:rPr>
              <a:t>p</a:t>
            </a:r>
            <a:r>
              <a:rPr kumimoji="0" lang="fr-FR" sz="1200" b="0" i="0" u="none" strike="noStrike" kern="0" cap="none" spc="0" normalizeH="0" baseline="0" noProof="0" dirty="0">
                <a:ln>
                  <a:noFill/>
                </a:ln>
                <a:solidFill>
                  <a:srgbClr val="544F40"/>
                </a:solidFill>
                <a:effectLst/>
                <a:uLnTx/>
                <a:uFillTx/>
                <a:latin typeface="Arial" panose="020B0604020202020204"/>
                <a:ea typeface="+mn-ea"/>
                <a:cs typeface="+mn-cs"/>
              </a:rPr>
              <a:t> &lt; 0.001</a:t>
            </a:r>
            <a:endPar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126" name="TextBox 125">
            <a:extLst>
              <a:ext uri="{FF2B5EF4-FFF2-40B4-BE49-F238E27FC236}">
                <a16:creationId xmlns:a16="http://schemas.microsoft.com/office/drawing/2014/main" id="{6BB2DB8A-09B8-44F7-8F60-3CFC3B4A552F}"/>
              </a:ext>
            </a:extLst>
          </p:cNvPr>
          <p:cNvSpPr txBox="1"/>
          <p:nvPr/>
        </p:nvSpPr>
        <p:spPr>
          <a:xfrm>
            <a:off x="3523367" y="2243538"/>
            <a:ext cx="2339582" cy="40011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1400" b="1" i="0" u="none" strike="noStrike" kern="0" cap="none" spc="0" normalizeH="0" baseline="0" noProof="0" dirty="0">
                <a:ln>
                  <a:noFill/>
                </a:ln>
                <a:solidFill>
                  <a:srgbClr val="544F40"/>
                </a:solidFill>
                <a:effectLst/>
                <a:uLnTx/>
                <a:uFillTx/>
                <a:latin typeface="Arial" panose="020B0604020202020204"/>
                <a:ea typeface="+mn-ea"/>
                <a:cs typeface="+mn-cs"/>
              </a:rPr>
              <a:t>13% reduction</a:t>
            </a:r>
            <a:endParaRPr kumimoji="0" lang="fr-FR" sz="1200" b="1" i="0" u="none" strike="noStrike" kern="0" cap="none" spc="0" normalizeH="0" baseline="0" noProof="0" dirty="0">
              <a:ln>
                <a:noFill/>
              </a:ln>
              <a:solidFill>
                <a:srgbClr val="544F4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1200" b="0" i="0" u="none" strike="noStrike" kern="0" cap="none" spc="0" normalizeH="0" baseline="0" noProof="0" dirty="0">
                <a:ln>
                  <a:noFill/>
                </a:ln>
                <a:solidFill>
                  <a:srgbClr val="544F40"/>
                </a:solidFill>
                <a:effectLst/>
                <a:uLnTx/>
                <a:uFillTx/>
                <a:latin typeface="Arial" panose="020B0604020202020204"/>
                <a:ea typeface="+mn-ea"/>
                <a:cs typeface="+mn-cs"/>
              </a:rPr>
              <a:t>(95% CI: –1, 24) </a:t>
            </a:r>
            <a:r>
              <a:rPr kumimoji="0" lang="fr-FR" sz="1200" b="0" i="1" u="none" strike="noStrike" kern="0" cap="none" spc="0" normalizeH="0" baseline="0" noProof="0" dirty="0">
                <a:ln>
                  <a:noFill/>
                </a:ln>
                <a:solidFill>
                  <a:srgbClr val="544F40"/>
                </a:solidFill>
                <a:effectLst/>
                <a:uLnTx/>
                <a:uFillTx/>
                <a:latin typeface="Arial" panose="020B0604020202020204"/>
                <a:ea typeface="+mn-ea"/>
                <a:cs typeface="+mn-cs"/>
              </a:rPr>
              <a:t>p</a:t>
            </a:r>
            <a:r>
              <a:rPr kumimoji="0" lang="fr-FR" sz="1200" b="0" i="0" u="none" strike="noStrike" kern="0" cap="none" spc="0" normalizeH="0" baseline="0" noProof="0" dirty="0">
                <a:ln>
                  <a:noFill/>
                </a:ln>
                <a:solidFill>
                  <a:srgbClr val="544F40"/>
                </a:solidFill>
                <a:effectLst/>
                <a:uLnTx/>
                <a:uFillTx/>
                <a:latin typeface="Arial" panose="020B0604020202020204"/>
                <a:ea typeface="+mn-ea"/>
                <a:cs typeface="+mn-cs"/>
              </a:rPr>
              <a:t> = 0.06 </a:t>
            </a:r>
            <a:r>
              <a:rPr kumimoji="0" lang="fr-FR" sz="1200" b="1" i="0" u="none" strike="noStrike" kern="0" cap="none" spc="0" normalizeH="0" baseline="0" noProof="0" dirty="0">
                <a:ln>
                  <a:noFill/>
                </a:ln>
                <a:solidFill>
                  <a:srgbClr val="544F40"/>
                </a:solidFill>
                <a:effectLst/>
                <a:uLnTx/>
                <a:uFillTx/>
                <a:latin typeface="Arial" panose="020B0604020202020204"/>
                <a:ea typeface="+mn-ea"/>
                <a:cs typeface="+mn-cs"/>
              </a:rPr>
              <a:t>(NS)</a:t>
            </a:r>
            <a:endParaRPr kumimoji="0" lang="en-GB" sz="1200" b="1" i="0" u="none" strike="noStrike" kern="0" cap="none" spc="0" normalizeH="0" baseline="0" noProof="0" dirty="0">
              <a:ln>
                <a:noFill/>
              </a:ln>
              <a:solidFill>
                <a:srgbClr val="544F40"/>
              </a:solidFill>
              <a:effectLst/>
              <a:uLnTx/>
              <a:uFillTx/>
              <a:latin typeface="Arial" panose="020B0604020202020204"/>
              <a:ea typeface="+mn-ea"/>
              <a:cs typeface="+mn-cs"/>
            </a:endParaRPr>
          </a:p>
        </p:txBody>
      </p:sp>
      <p:grpSp>
        <p:nvGrpSpPr>
          <p:cNvPr id="6" name="Group 5"/>
          <p:cNvGrpSpPr/>
          <p:nvPr/>
        </p:nvGrpSpPr>
        <p:grpSpPr>
          <a:xfrm>
            <a:off x="3394589" y="5525636"/>
            <a:ext cx="4300387" cy="109728"/>
            <a:chOff x="2768282" y="5547043"/>
            <a:chExt cx="4300387" cy="109728"/>
          </a:xfrm>
        </p:grpSpPr>
        <p:sp>
          <p:nvSpPr>
            <p:cNvPr id="9" name="Rectangle 8"/>
            <p:cNvSpPr/>
            <p:nvPr/>
          </p:nvSpPr>
          <p:spPr>
            <a:xfrm>
              <a:off x="2768282" y="5547043"/>
              <a:ext cx="109728" cy="109728"/>
            </a:xfrm>
            <a:prstGeom prst="rect">
              <a:avLst/>
            </a:prstGeom>
            <a:solidFill>
              <a:srgbClr val="F366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2743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544F40"/>
                  </a:solidFill>
                  <a:effectLst/>
                  <a:uLnTx/>
                  <a:uFillTx/>
                  <a:latin typeface="Arial" panose="020B0604020202020204"/>
                  <a:ea typeface="+mn-ea"/>
                  <a:cs typeface="+mn-cs"/>
                </a:rPr>
                <a:t>FF/UMEC/VI </a:t>
              </a:r>
              <a:r>
                <a:rPr kumimoji="0" lang="en-US" sz="1200" b="0" i="0" u="none" strike="noStrike" kern="0" cap="none" spc="0" normalizeH="0" baseline="0" noProof="0" dirty="0">
                  <a:ln>
                    <a:noFill/>
                  </a:ln>
                  <a:solidFill>
                    <a:srgbClr val="544F40"/>
                  </a:solidFill>
                  <a:effectLst/>
                  <a:uLnTx/>
                  <a:uFillTx/>
                  <a:latin typeface="Arial" panose="020B0604020202020204"/>
                  <a:ea typeface="+mn-ea"/>
                  <a:cs typeface="+mn-cs"/>
                </a:rPr>
                <a:t>100/62.5/25 µg</a:t>
              </a:r>
              <a:endPar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28" name="Rectangle 127"/>
            <p:cNvSpPr/>
            <p:nvPr/>
          </p:nvSpPr>
          <p:spPr>
            <a:xfrm>
              <a:off x="5305859" y="5547043"/>
              <a:ext cx="109728" cy="109728"/>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2743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544F40"/>
                  </a:solidFill>
                  <a:effectLst/>
                  <a:uLnTx/>
                  <a:uFillTx/>
                  <a:latin typeface="Arial" panose="020B0604020202020204"/>
                  <a:ea typeface="+mn-ea"/>
                  <a:cs typeface="+mn-cs"/>
                </a:rPr>
                <a:t>FF/VI </a:t>
              </a:r>
              <a:r>
                <a:rPr kumimoji="0" lang="en-US" sz="1200" b="0" i="0" u="none" strike="noStrike" kern="0" cap="none" spc="0" normalizeH="0" baseline="0" noProof="0" dirty="0">
                  <a:ln>
                    <a:noFill/>
                  </a:ln>
                  <a:solidFill>
                    <a:srgbClr val="544F40"/>
                  </a:solidFill>
                  <a:effectLst/>
                  <a:uLnTx/>
                  <a:uFillTx/>
                  <a:latin typeface="Arial" panose="020B0604020202020204"/>
                  <a:ea typeface="+mn-ea"/>
                  <a:cs typeface="+mn-cs"/>
                </a:rPr>
                <a:t>100/25 µg</a:t>
              </a:r>
              <a:endPar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29" name="Rectangle 128"/>
            <p:cNvSpPr/>
            <p:nvPr/>
          </p:nvSpPr>
          <p:spPr>
            <a:xfrm>
              <a:off x="6958941" y="5547043"/>
              <a:ext cx="109728" cy="109728"/>
            </a:xfrm>
            <a:prstGeom prst="rect">
              <a:avLst/>
            </a:prstGeom>
            <a:solidFill>
              <a:srgbClr val="4048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2743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544F40"/>
                  </a:solidFill>
                  <a:effectLst/>
                  <a:uLnTx/>
                  <a:uFillTx/>
                  <a:latin typeface="Arial" panose="020B0604020202020204"/>
                  <a:ea typeface="+mn-ea"/>
                  <a:cs typeface="+mn-cs"/>
                </a:rPr>
                <a:t>UMEC/VI</a:t>
              </a:r>
              <a:r>
                <a:rPr kumimoji="0" lang="en-US" sz="1200" b="0" i="0" u="none" strike="noStrike" kern="0" cap="none" spc="0" normalizeH="0" baseline="0" noProof="0" dirty="0">
                  <a:ln>
                    <a:noFill/>
                  </a:ln>
                  <a:solidFill>
                    <a:srgbClr val="544F40"/>
                  </a:solidFill>
                  <a:effectLst/>
                  <a:uLnTx/>
                  <a:uFillTx/>
                  <a:latin typeface="Arial" panose="020B0604020202020204"/>
                  <a:ea typeface="+mn-ea"/>
                  <a:cs typeface="+mn-cs"/>
                </a:rPr>
                <a:t> 62.5/25 µg</a:t>
              </a:r>
              <a:endPar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4" name="Freeform 3"/>
          <p:cNvSpPr/>
          <p:nvPr/>
        </p:nvSpPr>
        <p:spPr>
          <a:xfrm>
            <a:off x="2889249" y="2673350"/>
            <a:ext cx="3502025" cy="587375"/>
          </a:xfrm>
          <a:custGeom>
            <a:avLst/>
            <a:gdLst>
              <a:gd name="connsiteX0" fmla="*/ 0 w 1593850"/>
              <a:gd name="connsiteY0" fmla="*/ 425450 h 425450"/>
              <a:gd name="connsiteX1" fmla="*/ 0 w 1593850"/>
              <a:gd name="connsiteY1" fmla="*/ 0 h 425450"/>
              <a:gd name="connsiteX2" fmla="*/ 1593850 w 1593850"/>
              <a:gd name="connsiteY2" fmla="*/ 0 h 425450"/>
              <a:gd name="connsiteX3" fmla="*/ 1593850 w 1593850"/>
              <a:gd name="connsiteY3" fmla="*/ 228600 h 425450"/>
              <a:gd name="connsiteX0" fmla="*/ 0 w 1593850"/>
              <a:gd name="connsiteY0" fmla="*/ 587375 h 587375"/>
              <a:gd name="connsiteX1" fmla="*/ 0 w 1593850"/>
              <a:gd name="connsiteY1" fmla="*/ 0 h 587375"/>
              <a:gd name="connsiteX2" fmla="*/ 1593850 w 1593850"/>
              <a:gd name="connsiteY2" fmla="*/ 0 h 587375"/>
              <a:gd name="connsiteX3" fmla="*/ 1593850 w 1593850"/>
              <a:gd name="connsiteY3" fmla="*/ 228600 h 587375"/>
              <a:gd name="connsiteX0" fmla="*/ 0 w 1593850"/>
              <a:gd name="connsiteY0" fmla="*/ 587375 h 587375"/>
              <a:gd name="connsiteX1" fmla="*/ 0 w 1593850"/>
              <a:gd name="connsiteY1" fmla="*/ 0 h 587375"/>
              <a:gd name="connsiteX2" fmla="*/ 1593850 w 1593850"/>
              <a:gd name="connsiteY2" fmla="*/ 0 h 587375"/>
              <a:gd name="connsiteX3" fmla="*/ 1593850 w 1593850"/>
              <a:gd name="connsiteY3" fmla="*/ 323850 h 587375"/>
            </a:gdLst>
            <a:ahLst/>
            <a:cxnLst>
              <a:cxn ang="0">
                <a:pos x="connsiteX0" y="connsiteY0"/>
              </a:cxn>
              <a:cxn ang="0">
                <a:pos x="connsiteX1" y="connsiteY1"/>
              </a:cxn>
              <a:cxn ang="0">
                <a:pos x="connsiteX2" y="connsiteY2"/>
              </a:cxn>
              <a:cxn ang="0">
                <a:pos x="connsiteX3" y="connsiteY3"/>
              </a:cxn>
            </a:cxnLst>
            <a:rect l="l" t="t" r="r" b="b"/>
            <a:pathLst>
              <a:path w="1593850" h="587375">
                <a:moveTo>
                  <a:pt x="0" y="587375"/>
                </a:moveTo>
                <a:lnTo>
                  <a:pt x="0" y="0"/>
                </a:lnTo>
                <a:lnTo>
                  <a:pt x="1593850" y="0"/>
                </a:lnTo>
                <a:lnTo>
                  <a:pt x="1593850" y="323850"/>
                </a:lnTo>
              </a:path>
            </a:pathLst>
          </a:custGeom>
          <a:noFill/>
          <a:ln w="9525" cap="flat" cmpd="sng" algn="ctr">
            <a:solidFill>
              <a:schemeClr val="tx1"/>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Arial"/>
              <a:ea typeface="+mn-ea"/>
              <a:cs typeface="+mn-cs"/>
            </a:endParaRPr>
          </a:p>
        </p:txBody>
      </p:sp>
      <p:sp>
        <p:nvSpPr>
          <p:cNvPr id="39" name="Freeform 38"/>
          <p:cNvSpPr/>
          <p:nvPr/>
        </p:nvSpPr>
        <p:spPr>
          <a:xfrm flipH="1">
            <a:off x="2889249" y="2073275"/>
            <a:ext cx="7026275" cy="520700"/>
          </a:xfrm>
          <a:custGeom>
            <a:avLst/>
            <a:gdLst>
              <a:gd name="connsiteX0" fmla="*/ 0 w 1593850"/>
              <a:gd name="connsiteY0" fmla="*/ 425450 h 425450"/>
              <a:gd name="connsiteX1" fmla="*/ 0 w 1593850"/>
              <a:gd name="connsiteY1" fmla="*/ 0 h 425450"/>
              <a:gd name="connsiteX2" fmla="*/ 1593850 w 1593850"/>
              <a:gd name="connsiteY2" fmla="*/ 0 h 425450"/>
              <a:gd name="connsiteX3" fmla="*/ 1593850 w 1593850"/>
              <a:gd name="connsiteY3" fmla="*/ 228600 h 425450"/>
              <a:gd name="connsiteX0" fmla="*/ 0 w 1593850"/>
              <a:gd name="connsiteY0" fmla="*/ 425450 h 425450"/>
              <a:gd name="connsiteX1" fmla="*/ 0 w 1593850"/>
              <a:gd name="connsiteY1" fmla="*/ 0 h 425450"/>
              <a:gd name="connsiteX2" fmla="*/ 1593850 w 1593850"/>
              <a:gd name="connsiteY2" fmla="*/ 0 h 425450"/>
              <a:gd name="connsiteX3" fmla="*/ 1593850 w 1593850"/>
              <a:gd name="connsiteY3" fmla="*/ 149225 h 425450"/>
              <a:gd name="connsiteX0" fmla="*/ 0 w 1595460"/>
              <a:gd name="connsiteY0" fmla="*/ 520700 h 520700"/>
              <a:gd name="connsiteX1" fmla="*/ 1610 w 1595460"/>
              <a:gd name="connsiteY1" fmla="*/ 0 h 520700"/>
              <a:gd name="connsiteX2" fmla="*/ 1595460 w 1595460"/>
              <a:gd name="connsiteY2" fmla="*/ 0 h 520700"/>
              <a:gd name="connsiteX3" fmla="*/ 1595460 w 1595460"/>
              <a:gd name="connsiteY3" fmla="*/ 149225 h 520700"/>
              <a:gd name="connsiteX0" fmla="*/ 156 w 1594006"/>
              <a:gd name="connsiteY0" fmla="*/ 520700 h 520700"/>
              <a:gd name="connsiteX1" fmla="*/ 156 w 1594006"/>
              <a:gd name="connsiteY1" fmla="*/ 0 h 520700"/>
              <a:gd name="connsiteX2" fmla="*/ 1594006 w 1594006"/>
              <a:gd name="connsiteY2" fmla="*/ 0 h 520700"/>
              <a:gd name="connsiteX3" fmla="*/ 1594006 w 1594006"/>
              <a:gd name="connsiteY3" fmla="*/ 149225 h 520700"/>
              <a:gd name="connsiteX0" fmla="*/ 156 w 1594006"/>
              <a:gd name="connsiteY0" fmla="*/ 520700 h 520700"/>
              <a:gd name="connsiteX1" fmla="*/ 156 w 1594006"/>
              <a:gd name="connsiteY1" fmla="*/ 0 h 520700"/>
              <a:gd name="connsiteX2" fmla="*/ 1594006 w 1594006"/>
              <a:gd name="connsiteY2" fmla="*/ 0 h 520700"/>
              <a:gd name="connsiteX3" fmla="*/ 1594006 w 1594006"/>
              <a:gd name="connsiteY3" fmla="*/ 296862 h 520700"/>
            </a:gdLst>
            <a:ahLst/>
            <a:cxnLst>
              <a:cxn ang="0">
                <a:pos x="connsiteX0" y="connsiteY0"/>
              </a:cxn>
              <a:cxn ang="0">
                <a:pos x="connsiteX1" y="connsiteY1"/>
              </a:cxn>
              <a:cxn ang="0">
                <a:pos x="connsiteX2" y="connsiteY2"/>
              </a:cxn>
              <a:cxn ang="0">
                <a:pos x="connsiteX3" y="connsiteY3"/>
              </a:cxn>
            </a:cxnLst>
            <a:rect l="l" t="t" r="r" b="b"/>
            <a:pathLst>
              <a:path w="1594006" h="520700">
                <a:moveTo>
                  <a:pt x="156" y="520700"/>
                </a:moveTo>
                <a:cubicBezTo>
                  <a:pt x="693" y="347133"/>
                  <a:pt x="-381" y="173567"/>
                  <a:pt x="156" y="0"/>
                </a:cubicBezTo>
                <a:lnTo>
                  <a:pt x="1594006" y="0"/>
                </a:lnTo>
                <a:lnTo>
                  <a:pt x="1594006" y="296862"/>
                </a:lnTo>
              </a:path>
            </a:pathLst>
          </a:custGeom>
          <a:noFill/>
          <a:ln w="9525" cap="flat" cmpd="sng" algn="ctr">
            <a:solidFill>
              <a:schemeClr val="tx1"/>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Arial"/>
              <a:ea typeface="+mn-ea"/>
              <a:cs typeface="+mn-cs"/>
            </a:endParaRPr>
          </a:p>
        </p:txBody>
      </p:sp>
      <p:pic>
        <p:nvPicPr>
          <p:cNvPr id="23" name="Picture 22">
            <a:extLst>
              <a:ext uri="{FF2B5EF4-FFF2-40B4-BE49-F238E27FC236}">
                <a16:creationId xmlns:a16="http://schemas.microsoft.com/office/drawing/2014/main" id="{F89C67CB-48BA-4A88-9301-0CB397AE4EB8}"/>
              </a:ext>
            </a:extLst>
          </p:cNvPr>
          <p:cNvPicPr>
            <a:picLocks noChangeAspect="1"/>
          </p:cNvPicPr>
          <p:nvPr/>
        </p:nvPicPr>
        <p:blipFill>
          <a:blip r:embed="rId3"/>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59634344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040" y="25604"/>
            <a:ext cx="11998959" cy="925883"/>
          </a:xfrm>
        </p:spPr>
        <p:txBody>
          <a:bodyPr/>
          <a:lstStyle/>
          <a:p>
            <a:r>
              <a:rPr lang="en-US" sz="2400" dirty="0"/>
              <a:t>IMPACT: Significant improvements in lung function and quality of life with FF/UMEC/VI vs FF/VI and UMEC/VI</a:t>
            </a:r>
            <a:endParaRPr lang="en-US" sz="2400" baseline="30000" dirty="0"/>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17" name="Text Placeholder 16"/>
          <p:cNvSpPr>
            <a:spLocks noGrp="1"/>
          </p:cNvSpPr>
          <p:nvPr>
            <p:ph type="body" sz="quarter" idx="21"/>
          </p:nvPr>
        </p:nvSpPr>
        <p:spPr/>
        <p:txBody>
          <a:bodyPr/>
          <a:lstStyle/>
          <a:p>
            <a:r>
              <a:rPr lang="da-DK" dirty="0"/>
              <a:t>1. Lipson DA, et al. </a:t>
            </a:r>
            <a:r>
              <a:rPr lang="da-DK" i="1" dirty="0"/>
              <a:t>N Engl J Med</a:t>
            </a:r>
            <a:r>
              <a:rPr lang="da-DK" dirty="0"/>
              <a:t>. 2018; 378: 1671–1680; 2. Jones PW. </a:t>
            </a:r>
            <a:r>
              <a:rPr lang="da-DK" i="1" dirty="0"/>
              <a:t>COPD</a:t>
            </a:r>
            <a:r>
              <a:rPr lang="da-DK" dirty="0"/>
              <a:t>. 2005;2:75–79.</a:t>
            </a:r>
            <a:endParaRPr lang="en-US" dirty="0"/>
          </a:p>
        </p:txBody>
      </p:sp>
      <p:sp>
        <p:nvSpPr>
          <p:cNvPr id="8" name="Text Placeholder 7"/>
          <p:cNvSpPr>
            <a:spLocks noGrp="1"/>
          </p:cNvSpPr>
          <p:nvPr>
            <p:ph type="body" sz="quarter" idx="19"/>
          </p:nvPr>
        </p:nvSpPr>
        <p:spPr>
          <a:xfrm>
            <a:off x="434888" y="5998781"/>
            <a:ext cx="11251200" cy="194733"/>
          </a:xfrm>
        </p:spPr>
        <p:txBody>
          <a:bodyPr/>
          <a:lstStyle/>
          <a:p>
            <a:r>
              <a:rPr lang="en-US" dirty="0"/>
              <a:t>The graph has been independently created by GSK from original data </a:t>
            </a:r>
          </a:p>
          <a:p>
            <a:r>
              <a:rPr lang="en-US" dirty="0"/>
              <a:t>*SGRQ responder defined as a ≥4-unit decrease from baseline in SGRQ total score. Note: The n reflects the number of patients included in each analysis from the ITT population. Patients were excluded if they had pre-defined data missing; this varied according to the analysis. The ITT population comprised: 4,151 patients treated with FF/UMEC/VI, 4,134 patients treated with FF/VI and 2,070 patients treated with UMEC/VI. </a:t>
            </a:r>
          </a:p>
          <a:p>
            <a:r>
              <a:rPr lang="en-US" dirty="0"/>
              <a:t>CFB, change from baseline; CI, confidence interval; FEV</a:t>
            </a:r>
            <a:r>
              <a:rPr lang="en-US" baseline="-25000" dirty="0"/>
              <a:t>1</a:t>
            </a:r>
            <a:r>
              <a:rPr lang="en-US" dirty="0"/>
              <a:t>, forced expiratory volume in 1 second; FF, fluticasone furoate; SGRQ, LS, least square; mL, milliliter; MCID, minimal clinically important difference; OR, odds ratio; St. George's respiratory questionnaire; UMEC, umeclidinium; VI, vilanterol.</a:t>
            </a:r>
          </a:p>
        </p:txBody>
      </p:sp>
      <p:grpSp>
        <p:nvGrpSpPr>
          <p:cNvPr id="10" name="Group 9"/>
          <p:cNvGrpSpPr/>
          <p:nvPr/>
        </p:nvGrpSpPr>
        <p:grpSpPr>
          <a:xfrm>
            <a:off x="4134803" y="5465566"/>
            <a:ext cx="3227607" cy="144000"/>
            <a:chOff x="2968792" y="5540374"/>
            <a:chExt cx="3147441" cy="109728"/>
          </a:xfrm>
        </p:grpSpPr>
        <p:sp>
          <p:nvSpPr>
            <p:cNvPr id="9" name="Rectangle 8"/>
            <p:cNvSpPr/>
            <p:nvPr/>
          </p:nvSpPr>
          <p:spPr>
            <a:xfrm>
              <a:off x="2968792" y="5540374"/>
              <a:ext cx="140423" cy="109728"/>
            </a:xfrm>
            <a:prstGeom prst="rect">
              <a:avLst/>
            </a:prstGeom>
            <a:solidFill>
              <a:srgbClr val="F366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2743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544F40"/>
                  </a:solidFill>
                  <a:effectLst/>
                  <a:uLnTx/>
                  <a:uFillTx/>
                  <a:latin typeface="Arial" panose="020B0604020202020204"/>
                  <a:ea typeface="+mn-ea"/>
                  <a:cs typeface="+mn-cs"/>
                </a:rPr>
                <a:t>FF/UMEC/VI </a:t>
              </a:r>
              <a:r>
                <a:rPr kumimoji="0" lang="en-US" sz="900" b="0" i="0" u="none" strike="noStrike" kern="0" cap="none" spc="0" normalizeH="0" baseline="0" noProof="0" dirty="0">
                  <a:ln>
                    <a:noFill/>
                  </a:ln>
                  <a:solidFill>
                    <a:srgbClr val="544F40"/>
                  </a:solidFill>
                  <a:effectLst/>
                  <a:uLnTx/>
                  <a:uFillTx/>
                  <a:latin typeface="Arial" panose="020B0604020202020204"/>
                  <a:ea typeface="+mn-ea"/>
                  <a:cs typeface="+mn-cs"/>
                </a:rPr>
                <a:t>100/62.5/25 µg</a:t>
              </a:r>
              <a:endParaRPr kumimoji="0" lang="en-US"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28" name="Rectangle 127"/>
            <p:cNvSpPr/>
            <p:nvPr/>
          </p:nvSpPr>
          <p:spPr>
            <a:xfrm>
              <a:off x="4781864" y="5540374"/>
              <a:ext cx="140423" cy="109728"/>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2743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544F40"/>
                  </a:solidFill>
                  <a:effectLst/>
                  <a:uLnTx/>
                  <a:uFillTx/>
                  <a:latin typeface="Arial" panose="020B0604020202020204"/>
                  <a:ea typeface="+mn-ea"/>
                  <a:cs typeface="+mn-cs"/>
                </a:rPr>
                <a:t>FF/VI </a:t>
              </a:r>
              <a:r>
                <a:rPr kumimoji="0" lang="en-US" sz="900" b="0" i="0" u="none" strike="noStrike" kern="0" cap="none" spc="0" normalizeH="0" baseline="0" noProof="0" dirty="0">
                  <a:ln>
                    <a:noFill/>
                  </a:ln>
                  <a:solidFill>
                    <a:srgbClr val="544F40"/>
                  </a:solidFill>
                  <a:effectLst/>
                  <a:uLnTx/>
                  <a:uFillTx/>
                  <a:latin typeface="Arial" panose="020B0604020202020204"/>
                  <a:ea typeface="+mn-ea"/>
                  <a:cs typeface="+mn-cs"/>
                </a:rPr>
                <a:t>100/25 µg</a:t>
              </a:r>
              <a:endParaRPr kumimoji="0" lang="en-US"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29" name="Rectangle 128"/>
            <p:cNvSpPr/>
            <p:nvPr/>
          </p:nvSpPr>
          <p:spPr>
            <a:xfrm>
              <a:off x="5975810" y="5540374"/>
              <a:ext cx="140423" cy="109728"/>
            </a:xfrm>
            <a:prstGeom prst="rect">
              <a:avLst/>
            </a:prstGeom>
            <a:solidFill>
              <a:srgbClr val="4048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27432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544F40"/>
                  </a:solidFill>
                  <a:effectLst/>
                  <a:uLnTx/>
                  <a:uFillTx/>
                  <a:latin typeface="Arial" panose="020B0604020202020204"/>
                  <a:ea typeface="+mn-ea"/>
                  <a:cs typeface="+mn-cs"/>
                </a:rPr>
                <a:t>UMEC/VI</a:t>
              </a:r>
              <a:r>
                <a:rPr kumimoji="0" lang="en-US" sz="900" b="0" i="0" u="none" strike="noStrike" kern="0" cap="none" spc="0" normalizeH="0" baseline="0" noProof="0" dirty="0">
                  <a:ln>
                    <a:noFill/>
                  </a:ln>
                  <a:solidFill>
                    <a:srgbClr val="544F40"/>
                  </a:solidFill>
                  <a:effectLst/>
                  <a:uLnTx/>
                  <a:uFillTx/>
                  <a:latin typeface="Arial" panose="020B0604020202020204"/>
                  <a:ea typeface="+mn-ea"/>
                  <a:cs typeface="+mn-cs"/>
                </a:rPr>
                <a:t> 62.5/25 µg</a:t>
              </a:r>
              <a:endParaRPr kumimoji="0" lang="en-US" sz="9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grpSp>
        <p:nvGrpSpPr>
          <p:cNvPr id="6" name="Group 5"/>
          <p:cNvGrpSpPr/>
          <p:nvPr/>
        </p:nvGrpSpPr>
        <p:grpSpPr>
          <a:xfrm>
            <a:off x="4246722" y="1371600"/>
            <a:ext cx="7526178" cy="3982161"/>
            <a:chOff x="423863" y="1371600"/>
            <a:chExt cx="7526178" cy="3982161"/>
          </a:xfrm>
        </p:grpSpPr>
        <p:graphicFrame>
          <p:nvGraphicFramePr>
            <p:cNvPr id="38" name="Chart 37">
              <a:extLst>
                <a:ext uri="{FF2B5EF4-FFF2-40B4-BE49-F238E27FC236}">
                  <a16:creationId xmlns:a16="http://schemas.microsoft.com/office/drawing/2014/main" id="{6FB8D76E-34A2-44C9-A18B-B4458B889056}"/>
                </a:ext>
              </a:extLst>
            </p:cNvPr>
            <p:cNvGraphicFramePr/>
            <p:nvPr/>
          </p:nvGraphicFramePr>
          <p:xfrm>
            <a:off x="4556761" y="2324100"/>
            <a:ext cx="3352800" cy="2857500"/>
          </p:xfrm>
          <a:graphic>
            <a:graphicData uri="http://schemas.openxmlformats.org/drawingml/2006/chart">
              <c:chart xmlns:c="http://schemas.openxmlformats.org/drawingml/2006/chart" xmlns:r="http://schemas.openxmlformats.org/officeDocument/2006/relationships" r:id="rId2"/>
            </a:graphicData>
          </a:graphic>
        </p:graphicFrame>
        <p:cxnSp>
          <p:nvCxnSpPr>
            <p:cNvPr id="122" name="Straight Connector 121">
              <a:extLst>
                <a:ext uri="{FF2B5EF4-FFF2-40B4-BE49-F238E27FC236}">
                  <a16:creationId xmlns:a16="http://schemas.microsoft.com/office/drawing/2014/main" id="{C9E7B072-81C6-4533-B116-FCAF160F9297}"/>
                </a:ext>
              </a:extLst>
            </p:cNvPr>
            <p:cNvCxnSpPr>
              <a:cxnSpLocks/>
            </p:cNvCxnSpPr>
            <p:nvPr/>
          </p:nvCxnSpPr>
          <p:spPr>
            <a:xfrm>
              <a:off x="1004139" y="3748278"/>
              <a:ext cx="3020174" cy="0"/>
            </a:xfrm>
            <a:prstGeom prst="line">
              <a:avLst/>
            </a:prstGeom>
            <a:noFill/>
            <a:ln w="9525" cap="flat" cmpd="sng" algn="ctr">
              <a:solidFill>
                <a:srgbClr val="ED003C"/>
              </a:solidFill>
              <a:prstDash val="dash"/>
              <a:miter lim="800000"/>
            </a:ln>
            <a:effectLst/>
          </p:spPr>
        </p:cxnSp>
        <p:grpSp>
          <p:nvGrpSpPr>
            <p:cNvPr id="5" name="Group 4"/>
            <p:cNvGrpSpPr/>
            <p:nvPr/>
          </p:nvGrpSpPr>
          <p:grpSpPr>
            <a:xfrm>
              <a:off x="423863" y="1371600"/>
              <a:ext cx="3703320" cy="3974541"/>
              <a:chOff x="423863" y="1285875"/>
              <a:chExt cx="3703320" cy="3974541"/>
            </a:xfrm>
          </p:grpSpPr>
          <p:sp>
            <p:nvSpPr>
              <p:cNvPr id="97" name="Rounded Rectangle 96"/>
              <p:cNvSpPr/>
              <p:nvPr/>
            </p:nvSpPr>
            <p:spPr>
              <a:xfrm>
                <a:off x="423863" y="1465656"/>
                <a:ext cx="3703320" cy="3794760"/>
              </a:xfrm>
              <a:prstGeom prst="roundRect">
                <a:avLst>
                  <a:gd name="adj" fmla="val 215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99" name="Rounded Rectangle 98"/>
              <p:cNvSpPr/>
              <p:nvPr/>
            </p:nvSpPr>
            <p:spPr bwMode="auto">
              <a:xfrm>
                <a:off x="606997" y="1285875"/>
                <a:ext cx="3337053" cy="389513"/>
              </a:xfrm>
              <a:prstGeom prst="roundRect">
                <a:avLst>
                  <a:gd name="adj" fmla="val 50000"/>
                </a:avLst>
              </a:prstGeom>
              <a:solidFill>
                <a:srgbClr val="544F40"/>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818"/>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mn-ea"/>
                    <a:cs typeface="+mn-cs"/>
                  </a:rPr>
                  <a:t>SGRQ (total score)</a:t>
                </a:r>
                <a:r>
                  <a:rPr kumimoji="0" lang="en-US" sz="1200" b="1" i="0" u="none" strike="noStrike" kern="1200" cap="none" spc="0" normalizeH="0" baseline="30000" noProof="0" dirty="0">
                    <a:ln>
                      <a:noFill/>
                    </a:ln>
                    <a:solidFill>
                      <a:prstClr val="white"/>
                    </a:solidFill>
                    <a:effectLst/>
                    <a:uLnTx/>
                    <a:uFillTx/>
                    <a:latin typeface="Arial" pitchFamily="34" charset="0"/>
                    <a:ea typeface="+mn-ea"/>
                    <a:cs typeface="+mn-cs"/>
                  </a:rPr>
                  <a:t>1</a:t>
                </a:r>
              </a:p>
            </p:txBody>
          </p:sp>
        </p:grpSp>
        <p:grpSp>
          <p:nvGrpSpPr>
            <p:cNvPr id="101" name="Group 100"/>
            <p:cNvGrpSpPr/>
            <p:nvPr/>
          </p:nvGrpSpPr>
          <p:grpSpPr>
            <a:xfrm>
              <a:off x="4246721" y="1371600"/>
              <a:ext cx="3703320" cy="3982161"/>
              <a:chOff x="423863" y="1285875"/>
              <a:chExt cx="3703320" cy="3982161"/>
            </a:xfrm>
          </p:grpSpPr>
          <p:sp>
            <p:nvSpPr>
              <p:cNvPr id="108" name="Rounded Rectangle 107"/>
              <p:cNvSpPr/>
              <p:nvPr/>
            </p:nvSpPr>
            <p:spPr>
              <a:xfrm>
                <a:off x="423863" y="1473276"/>
                <a:ext cx="3703320" cy="3794760"/>
              </a:xfrm>
              <a:prstGeom prst="roundRect">
                <a:avLst>
                  <a:gd name="adj" fmla="val 215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09" name="Rounded Rectangle 108"/>
              <p:cNvSpPr/>
              <p:nvPr/>
            </p:nvSpPr>
            <p:spPr bwMode="auto">
              <a:xfrm>
                <a:off x="606997" y="1285875"/>
                <a:ext cx="3337053" cy="389513"/>
              </a:xfrm>
              <a:prstGeom prst="roundRect">
                <a:avLst>
                  <a:gd name="adj" fmla="val 50000"/>
                </a:avLst>
              </a:prstGeom>
              <a:solidFill>
                <a:srgbClr val="544F40"/>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818"/>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mn-ea"/>
                    <a:cs typeface="+mn-cs"/>
                  </a:rPr>
                  <a:t>SGRQ (responders)</a:t>
                </a:r>
                <a:r>
                  <a:rPr kumimoji="0" lang="en-US" sz="1200" b="1" i="0" u="none" strike="noStrike" kern="1200" cap="none" spc="0" normalizeH="0" baseline="30000" noProof="0" dirty="0">
                    <a:ln>
                      <a:noFill/>
                    </a:ln>
                    <a:solidFill>
                      <a:prstClr val="white"/>
                    </a:solidFill>
                    <a:effectLst/>
                    <a:uLnTx/>
                    <a:uFillTx/>
                    <a:latin typeface="Arial" pitchFamily="34" charset="0"/>
                    <a:ea typeface="+mn-ea"/>
                    <a:cs typeface="+mn-cs"/>
                  </a:rPr>
                  <a:t>*1</a:t>
                </a:r>
              </a:p>
            </p:txBody>
          </p:sp>
        </p:grpSp>
        <p:sp>
          <p:nvSpPr>
            <p:cNvPr id="113" name="TextBox 112">
              <a:extLst>
                <a:ext uri="{FF2B5EF4-FFF2-40B4-BE49-F238E27FC236}">
                  <a16:creationId xmlns:a16="http://schemas.microsoft.com/office/drawing/2014/main" id="{1D1C9EA7-F9AB-461D-BCAC-CA64415A7C3D}"/>
                </a:ext>
              </a:extLst>
            </p:cNvPr>
            <p:cNvSpPr txBox="1"/>
            <p:nvPr/>
          </p:nvSpPr>
          <p:spPr>
            <a:xfrm rot="16200000">
              <a:off x="-788994" y="3388163"/>
              <a:ext cx="2703968" cy="27076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44F40"/>
                  </a:solidFill>
                  <a:effectLst/>
                  <a:uLnTx/>
                  <a:uFillTx/>
                  <a:latin typeface="Arial" panose="020B0604020202020204"/>
                  <a:ea typeface="+mn-ea"/>
                  <a:cs typeface="+mn-cs"/>
                </a:rPr>
                <a:t>LS mean CFB in SGRQ total score</a:t>
              </a:r>
            </a:p>
          </p:txBody>
        </p:sp>
        <p:sp>
          <p:nvSpPr>
            <p:cNvPr id="114" name="TextBox 113">
              <a:extLst>
                <a:ext uri="{FF2B5EF4-FFF2-40B4-BE49-F238E27FC236}">
                  <a16:creationId xmlns:a16="http://schemas.microsoft.com/office/drawing/2014/main" id="{1D1C9EA7-F9AB-461D-BCAC-CA64415A7C3D}"/>
                </a:ext>
              </a:extLst>
            </p:cNvPr>
            <p:cNvSpPr txBox="1"/>
            <p:nvPr/>
          </p:nvSpPr>
          <p:spPr>
            <a:xfrm rot="16200000">
              <a:off x="3030532" y="3388163"/>
              <a:ext cx="2703968" cy="27076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44F40"/>
                  </a:solidFill>
                  <a:effectLst/>
                  <a:uLnTx/>
                  <a:uFillTx/>
                  <a:latin typeface="Arial" panose="020B0604020202020204"/>
                  <a:ea typeface="+mn-ea"/>
                  <a:cs typeface="+mn-cs"/>
                </a:rPr>
                <a:t>SGRQ responders</a:t>
              </a:r>
              <a:r>
                <a:rPr lang="en-US" sz="1000" b="1" baseline="30000" dirty="0">
                  <a:solidFill>
                    <a:srgbClr val="544F40"/>
                  </a:solidFill>
                  <a:latin typeface="Arial" panose="020B0604020202020204"/>
                </a:rPr>
                <a:t> </a:t>
              </a:r>
              <a:r>
                <a:rPr kumimoji="0" lang="en-US" sz="1000" b="1" i="0" u="none" strike="noStrike" kern="1200" cap="none" spc="0" normalizeH="0" baseline="0" noProof="0" dirty="0">
                  <a:ln>
                    <a:noFill/>
                  </a:ln>
                  <a:solidFill>
                    <a:srgbClr val="544F40"/>
                  </a:solidFill>
                  <a:effectLst/>
                  <a:uLnTx/>
                  <a:uFillTx/>
                  <a:latin typeface="Arial" panose="020B0604020202020204"/>
                  <a:ea typeface="+mn-ea"/>
                  <a:cs typeface="+mn-cs"/>
                </a:rPr>
                <a:t>(%)</a:t>
              </a:r>
            </a:p>
          </p:txBody>
        </p:sp>
        <p:graphicFrame>
          <p:nvGraphicFramePr>
            <p:cNvPr id="116" name="Chart 115">
              <a:extLst>
                <a:ext uri="{FF2B5EF4-FFF2-40B4-BE49-F238E27FC236}">
                  <a16:creationId xmlns:a16="http://schemas.microsoft.com/office/drawing/2014/main" id="{567889B2-B0CB-4336-BD96-1E1FD48484C3}"/>
                </a:ext>
              </a:extLst>
            </p:cNvPr>
            <p:cNvGraphicFramePr/>
            <p:nvPr/>
          </p:nvGraphicFramePr>
          <p:xfrm>
            <a:off x="761999" y="2181225"/>
            <a:ext cx="3305175" cy="2619376"/>
          </p:xfrm>
          <a:graphic>
            <a:graphicData uri="http://schemas.openxmlformats.org/drawingml/2006/chart">
              <c:chart xmlns:c="http://schemas.openxmlformats.org/drawingml/2006/chart" xmlns:r="http://schemas.openxmlformats.org/officeDocument/2006/relationships" r:id="rId3"/>
            </a:graphicData>
          </a:graphic>
        </p:graphicFrame>
        <p:sp>
          <p:nvSpPr>
            <p:cNvPr id="117" name="Freeform: Shape 10">
              <a:extLst>
                <a:ext uri="{FF2B5EF4-FFF2-40B4-BE49-F238E27FC236}">
                  <a16:creationId xmlns:a16="http://schemas.microsoft.com/office/drawing/2014/main" id="{12E4EEC7-A7EB-41AA-9D75-7B1AA7FA29C3}"/>
                </a:ext>
              </a:extLst>
            </p:cNvPr>
            <p:cNvSpPr/>
            <p:nvPr/>
          </p:nvSpPr>
          <p:spPr>
            <a:xfrm flipV="1">
              <a:off x="5410979" y="2656521"/>
              <a:ext cx="894571" cy="509406"/>
            </a:xfrm>
            <a:custGeom>
              <a:avLst/>
              <a:gdLst>
                <a:gd name="connsiteX0" fmla="*/ 0 w 2330450"/>
                <a:gd name="connsiteY0" fmla="*/ 0 h 79375"/>
                <a:gd name="connsiteX1" fmla="*/ 0 w 2330450"/>
                <a:gd name="connsiteY1" fmla="*/ 79375 h 79375"/>
                <a:gd name="connsiteX2" fmla="*/ 2330450 w 2330450"/>
                <a:gd name="connsiteY2" fmla="*/ 79375 h 79375"/>
                <a:gd name="connsiteX3" fmla="*/ 2330450 w 2330450"/>
                <a:gd name="connsiteY3" fmla="*/ 19050 h 79375"/>
                <a:gd name="connsiteX0" fmla="*/ 0 w 2330450"/>
                <a:gd name="connsiteY0" fmla="*/ 268135 h 347510"/>
                <a:gd name="connsiteX1" fmla="*/ 0 w 2330450"/>
                <a:gd name="connsiteY1" fmla="*/ 347510 h 347510"/>
                <a:gd name="connsiteX2" fmla="*/ 2330450 w 2330450"/>
                <a:gd name="connsiteY2" fmla="*/ 347510 h 347510"/>
                <a:gd name="connsiteX3" fmla="*/ 2320780 w 2330450"/>
                <a:gd name="connsiteY3" fmla="*/ 0 h 347510"/>
                <a:gd name="connsiteX0" fmla="*/ 0 w 2330450"/>
                <a:gd name="connsiteY0" fmla="*/ 268135 h 347510"/>
                <a:gd name="connsiteX1" fmla="*/ 0 w 2330450"/>
                <a:gd name="connsiteY1" fmla="*/ 347510 h 347510"/>
                <a:gd name="connsiteX2" fmla="*/ 2330450 w 2330450"/>
                <a:gd name="connsiteY2" fmla="*/ 347510 h 347510"/>
                <a:gd name="connsiteX3" fmla="*/ 2330450 w 2330450"/>
                <a:gd name="connsiteY3" fmla="*/ 0 h 347510"/>
                <a:gd name="connsiteX0" fmla="*/ 0 w 2342113"/>
                <a:gd name="connsiteY0" fmla="*/ 131069 h 210444"/>
                <a:gd name="connsiteX1" fmla="*/ 0 w 2342113"/>
                <a:gd name="connsiteY1" fmla="*/ 210444 h 210444"/>
                <a:gd name="connsiteX2" fmla="*/ 2330450 w 2342113"/>
                <a:gd name="connsiteY2" fmla="*/ 210444 h 210444"/>
                <a:gd name="connsiteX3" fmla="*/ 2342113 w 2342113"/>
                <a:gd name="connsiteY3" fmla="*/ 0 h 210444"/>
                <a:gd name="connsiteX0" fmla="*/ 0 w 2330450"/>
                <a:gd name="connsiteY0" fmla="*/ 131069 h 210444"/>
                <a:gd name="connsiteX1" fmla="*/ 0 w 2330450"/>
                <a:gd name="connsiteY1" fmla="*/ 210444 h 210444"/>
                <a:gd name="connsiteX2" fmla="*/ 2330450 w 2330450"/>
                <a:gd name="connsiteY2" fmla="*/ 210444 h 210444"/>
                <a:gd name="connsiteX3" fmla="*/ 2330450 w 2330450"/>
                <a:gd name="connsiteY3" fmla="*/ 0 h 210444"/>
                <a:gd name="connsiteX0" fmla="*/ 0 w 2336280"/>
                <a:gd name="connsiteY0" fmla="*/ 131069 h 210444"/>
                <a:gd name="connsiteX1" fmla="*/ 0 w 2336280"/>
                <a:gd name="connsiteY1" fmla="*/ 210444 h 210444"/>
                <a:gd name="connsiteX2" fmla="*/ 2330450 w 2336280"/>
                <a:gd name="connsiteY2" fmla="*/ 210444 h 210444"/>
                <a:gd name="connsiteX3" fmla="*/ 2336280 w 2336280"/>
                <a:gd name="connsiteY3" fmla="*/ 0 h 210444"/>
              </a:gdLst>
              <a:ahLst/>
              <a:cxnLst>
                <a:cxn ang="0">
                  <a:pos x="connsiteX0" y="connsiteY0"/>
                </a:cxn>
                <a:cxn ang="0">
                  <a:pos x="connsiteX1" y="connsiteY1"/>
                </a:cxn>
                <a:cxn ang="0">
                  <a:pos x="connsiteX2" y="connsiteY2"/>
                </a:cxn>
                <a:cxn ang="0">
                  <a:pos x="connsiteX3" y="connsiteY3"/>
                </a:cxn>
              </a:cxnLst>
              <a:rect l="l" t="t" r="r" b="b"/>
              <a:pathLst>
                <a:path w="2336280" h="210444">
                  <a:moveTo>
                    <a:pt x="0" y="131069"/>
                  </a:moveTo>
                  <a:lnTo>
                    <a:pt x="0" y="210444"/>
                  </a:lnTo>
                  <a:lnTo>
                    <a:pt x="2330450" y="210444"/>
                  </a:lnTo>
                  <a:lnTo>
                    <a:pt x="2336280" y="0"/>
                  </a:lnTo>
                </a:path>
              </a:pathLst>
            </a:custGeom>
            <a:noFill/>
            <a:ln w="9525" cap="flat" cmpd="sng" algn="ctr">
              <a:solidFill>
                <a:schemeClr val="tx1"/>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dirty="0">
                <a:ln>
                  <a:noFill/>
                </a:ln>
                <a:solidFill>
                  <a:prstClr val="white"/>
                </a:solidFill>
                <a:effectLst/>
                <a:uLnTx/>
                <a:uFillTx/>
                <a:latin typeface="Arial"/>
                <a:ea typeface="+mn-ea"/>
                <a:cs typeface="+mn-cs"/>
              </a:endParaRPr>
            </a:p>
          </p:txBody>
        </p:sp>
        <p:sp>
          <p:nvSpPr>
            <p:cNvPr id="119" name="TextBox 118">
              <a:extLst>
                <a:ext uri="{FF2B5EF4-FFF2-40B4-BE49-F238E27FC236}">
                  <a16:creationId xmlns:a16="http://schemas.microsoft.com/office/drawing/2014/main" id="{6BB2DB8A-09B8-44F7-8F60-3CFC3B4A552F}"/>
                </a:ext>
              </a:extLst>
            </p:cNvPr>
            <p:cNvSpPr txBox="1"/>
            <p:nvPr/>
          </p:nvSpPr>
          <p:spPr>
            <a:xfrm>
              <a:off x="1243012" y="1843528"/>
              <a:ext cx="776288" cy="4154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1" i="0" u="none" strike="noStrike" kern="0" cap="none" spc="0" normalizeH="0" baseline="0" noProof="0" dirty="0">
                  <a:ln>
                    <a:noFill/>
                  </a:ln>
                  <a:solidFill>
                    <a:srgbClr val="544F40"/>
                  </a:solidFill>
                  <a:effectLst/>
                  <a:uLnTx/>
                  <a:uFillTx/>
                  <a:latin typeface="Arial" panose="020B0604020202020204"/>
                  <a:ea typeface="+mn-ea"/>
                  <a:cs typeface="+mn-cs"/>
                </a:rPr>
                <a:t>FF/UMEC/VI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100/62.5/25 μg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n = 3,318</a:t>
              </a:r>
              <a:endParaRPr kumimoji="0" lang="en-GB" sz="9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120" name="TextBox 119">
              <a:extLst>
                <a:ext uri="{FF2B5EF4-FFF2-40B4-BE49-F238E27FC236}">
                  <a16:creationId xmlns:a16="http://schemas.microsoft.com/office/drawing/2014/main" id="{6BB2DB8A-09B8-44F7-8F60-3CFC3B4A552F}"/>
                </a:ext>
              </a:extLst>
            </p:cNvPr>
            <p:cNvSpPr txBox="1"/>
            <p:nvPr/>
          </p:nvSpPr>
          <p:spPr>
            <a:xfrm>
              <a:off x="2092492" y="1843528"/>
              <a:ext cx="814388" cy="4154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1" i="0" u="none" strike="noStrike" kern="0" cap="none" spc="0" normalizeH="0" baseline="0" noProof="0" dirty="0">
                  <a:ln>
                    <a:noFill/>
                  </a:ln>
                  <a:solidFill>
                    <a:srgbClr val="544F40"/>
                  </a:solidFill>
                  <a:effectLst/>
                  <a:uLnTx/>
                  <a:uFillTx/>
                  <a:latin typeface="Arial" panose="020B0604020202020204"/>
                  <a:ea typeface="+mn-ea"/>
                  <a:cs typeface="+mn-cs"/>
                </a:rPr>
                <a:t>FF/VI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100/25 </a:t>
              </a:r>
              <a:r>
                <a:rPr kumimoji="0" lang="el-GR" sz="900" b="0" i="0" u="none" strike="noStrike" kern="0" cap="none" spc="0" normalizeH="0" baseline="0" noProof="0" dirty="0">
                  <a:ln>
                    <a:noFill/>
                  </a:ln>
                  <a:solidFill>
                    <a:srgbClr val="544F40"/>
                  </a:solidFill>
                  <a:effectLst/>
                  <a:uLnTx/>
                  <a:uFillTx/>
                  <a:latin typeface="Arial" panose="020B0604020202020204"/>
                  <a:ea typeface="+mn-ea"/>
                  <a:cs typeface="+mn-cs"/>
                </a:rPr>
                <a:t>μ</a:t>
              </a: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g </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n = 3,026</a:t>
              </a:r>
              <a:endParaRPr kumimoji="0" lang="en-GB" sz="9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121" name="TextBox 120">
              <a:extLst>
                <a:ext uri="{FF2B5EF4-FFF2-40B4-BE49-F238E27FC236}">
                  <a16:creationId xmlns:a16="http://schemas.microsoft.com/office/drawing/2014/main" id="{6BB2DB8A-09B8-44F7-8F60-3CFC3B4A552F}"/>
                </a:ext>
              </a:extLst>
            </p:cNvPr>
            <p:cNvSpPr txBox="1"/>
            <p:nvPr/>
          </p:nvSpPr>
          <p:spPr>
            <a:xfrm>
              <a:off x="2968792" y="1843528"/>
              <a:ext cx="814388" cy="4154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1" i="0" u="none" strike="noStrike" kern="0" cap="none" spc="0" normalizeH="0" baseline="0" noProof="0" dirty="0">
                  <a:ln>
                    <a:noFill/>
                  </a:ln>
                  <a:solidFill>
                    <a:srgbClr val="544F40"/>
                  </a:solidFill>
                  <a:effectLst/>
                  <a:uLnTx/>
                  <a:uFillTx/>
                  <a:latin typeface="Arial" panose="020B0604020202020204"/>
                  <a:ea typeface="+mn-ea"/>
                  <a:cs typeface="+mn-cs"/>
                </a:rPr>
                <a:t>UMEC/VI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62.5/25 μg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n = 1,470</a:t>
              </a:r>
              <a:endParaRPr kumimoji="0" lang="en-GB" sz="9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123" name="TextBox 122">
              <a:extLst>
                <a:ext uri="{FF2B5EF4-FFF2-40B4-BE49-F238E27FC236}">
                  <a16:creationId xmlns:a16="http://schemas.microsoft.com/office/drawing/2014/main" id="{2D53AAB7-3063-4049-AEC1-1D19FB73B5BC}"/>
                </a:ext>
              </a:extLst>
            </p:cNvPr>
            <p:cNvSpPr txBox="1"/>
            <p:nvPr/>
          </p:nvSpPr>
          <p:spPr>
            <a:xfrm>
              <a:off x="3509611" y="3773902"/>
              <a:ext cx="533800"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0" cap="none" spc="0" normalizeH="0" baseline="0" noProof="0" dirty="0">
                  <a:ln>
                    <a:noFill/>
                  </a:ln>
                  <a:solidFill>
                    <a:srgbClr val="544F40"/>
                  </a:solidFill>
                  <a:effectLst/>
                  <a:uLnTx/>
                  <a:uFillTx/>
                  <a:latin typeface="Arial" panose="020B0604020202020204"/>
                  <a:ea typeface="+mn-ea"/>
                  <a:cs typeface="+mn-cs"/>
                </a:rPr>
                <a:t>MCID</a:t>
              </a:r>
              <a:r>
                <a:rPr kumimoji="0" lang="en-GB" sz="900" b="1" i="0" u="none" strike="noStrike" kern="0" cap="none" spc="0" normalizeH="0" baseline="30000" noProof="0" dirty="0">
                  <a:ln>
                    <a:noFill/>
                  </a:ln>
                  <a:solidFill>
                    <a:srgbClr val="544F40"/>
                  </a:solidFill>
                  <a:effectLst/>
                  <a:uLnTx/>
                  <a:uFillTx/>
                  <a:latin typeface="Arial" panose="020B0604020202020204"/>
                  <a:ea typeface="+mn-ea"/>
                  <a:cs typeface="+mn-cs"/>
                </a:rPr>
                <a:t>2</a:t>
              </a:r>
              <a:r>
                <a:rPr kumimoji="0" lang="en-GB" sz="900" b="1" i="0" u="none" strike="noStrike" kern="0" cap="none" spc="0" normalizeH="0" baseline="0" noProof="0" dirty="0">
                  <a:ln>
                    <a:noFill/>
                  </a:ln>
                  <a:solidFill>
                    <a:srgbClr val="544F40"/>
                  </a:solidFill>
                  <a:effectLst/>
                  <a:uLnTx/>
                  <a:uFillTx/>
                  <a:latin typeface="Arial" panose="020B0604020202020204"/>
                  <a:ea typeface="+mn-ea"/>
                  <a:cs typeface="+mn-cs"/>
                </a:rPr>
                <a:t> = 4</a:t>
              </a:r>
            </a:p>
          </p:txBody>
        </p:sp>
        <p:sp>
          <p:nvSpPr>
            <p:cNvPr id="7" name="Freeform 6"/>
            <p:cNvSpPr/>
            <p:nvPr/>
          </p:nvSpPr>
          <p:spPr>
            <a:xfrm>
              <a:off x="1607820" y="3810000"/>
              <a:ext cx="937260" cy="609600"/>
            </a:xfrm>
            <a:custGeom>
              <a:avLst/>
              <a:gdLst>
                <a:gd name="connsiteX0" fmla="*/ 0 w 944880"/>
                <a:gd name="connsiteY0" fmla="*/ 502920 h 609600"/>
                <a:gd name="connsiteX1" fmla="*/ 0 w 944880"/>
                <a:gd name="connsiteY1" fmla="*/ 609600 h 609600"/>
                <a:gd name="connsiteX2" fmla="*/ 937260 w 944880"/>
                <a:gd name="connsiteY2" fmla="*/ 609600 h 609600"/>
                <a:gd name="connsiteX3" fmla="*/ 937260 w 944880"/>
                <a:gd name="connsiteY3" fmla="*/ 0 h 609600"/>
                <a:gd name="connsiteX4" fmla="*/ 944880 w 944880"/>
                <a:gd name="connsiteY4" fmla="*/ 7620 h 609600"/>
                <a:gd name="connsiteX0" fmla="*/ 0 w 937260"/>
                <a:gd name="connsiteY0" fmla="*/ 502920 h 609600"/>
                <a:gd name="connsiteX1" fmla="*/ 0 w 937260"/>
                <a:gd name="connsiteY1" fmla="*/ 609600 h 609600"/>
                <a:gd name="connsiteX2" fmla="*/ 937260 w 937260"/>
                <a:gd name="connsiteY2" fmla="*/ 609600 h 609600"/>
                <a:gd name="connsiteX3" fmla="*/ 937260 w 937260"/>
                <a:gd name="connsiteY3" fmla="*/ 0 h 609600"/>
              </a:gdLst>
              <a:ahLst/>
              <a:cxnLst>
                <a:cxn ang="0">
                  <a:pos x="connsiteX0" y="connsiteY0"/>
                </a:cxn>
                <a:cxn ang="0">
                  <a:pos x="connsiteX1" y="connsiteY1"/>
                </a:cxn>
                <a:cxn ang="0">
                  <a:pos x="connsiteX2" y="connsiteY2"/>
                </a:cxn>
                <a:cxn ang="0">
                  <a:pos x="connsiteX3" y="connsiteY3"/>
                </a:cxn>
              </a:cxnLst>
              <a:rect l="l" t="t" r="r" b="b"/>
              <a:pathLst>
                <a:path w="937260" h="609600">
                  <a:moveTo>
                    <a:pt x="0" y="502920"/>
                  </a:moveTo>
                  <a:lnTo>
                    <a:pt x="0" y="609600"/>
                  </a:lnTo>
                  <a:lnTo>
                    <a:pt x="937260" y="609600"/>
                  </a:lnTo>
                  <a:lnTo>
                    <a:pt x="937260" y="0"/>
                  </a:lnTo>
                </a:path>
              </a:pathLst>
            </a:custGeom>
            <a:noFill/>
            <a:ln w="9525" cap="flat" cmpd="sng" algn="ctr">
              <a:solidFill>
                <a:schemeClr val="tx1"/>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Arial"/>
                <a:ea typeface="+mn-ea"/>
                <a:cs typeface="+mn-cs"/>
              </a:endParaRPr>
            </a:p>
          </p:txBody>
        </p:sp>
        <p:sp>
          <p:nvSpPr>
            <p:cNvPr id="124" name="TextBox 123">
              <a:extLst>
                <a:ext uri="{FF2B5EF4-FFF2-40B4-BE49-F238E27FC236}">
                  <a16:creationId xmlns:a16="http://schemas.microsoft.com/office/drawing/2014/main" id="{6BB2DB8A-09B8-44F7-8F60-3CFC3B4A552F}"/>
                </a:ext>
              </a:extLst>
            </p:cNvPr>
            <p:cNvSpPr txBox="1"/>
            <p:nvPr/>
          </p:nvSpPr>
          <p:spPr>
            <a:xfrm>
              <a:off x="1257300" y="4439077"/>
              <a:ext cx="161544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it-IT" sz="900" b="1" i="0" u="none" strike="noStrike" kern="0" cap="none" spc="0" normalizeH="0" baseline="0" noProof="0" dirty="0">
                  <a:ln>
                    <a:noFill/>
                  </a:ln>
                  <a:solidFill>
                    <a:srgbClr val="544F40"/>
                  </a:solidFill>
                  <a:effectLst/>
                  <a:uLnTx/>
                  <a:uFillTx/>
                  <a:latin typeface="Arial" panose="020B0604020202020204"/>
                  <a:ea typeface="+mn-ea"/>
                  <a:cs typeface="+mn-cs"/>
                </a:rPr>
                <a:t>Δ –1.8</a:t>
              </a:r>
              <a:br>
                <a:rPr kumimoji="0" lang="it-IT" sz="9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it-IT" sz="900" b="0" i="0" u="none" strike="noStrike" kern="0" cap="none" spc="0" normalizeH="0" baseline="0" noProof="0" dirty="0">
                  <a:ln>
                    <a:noFill/>
                  </a:ln>
                  <a:solidFill>
                    <a:srgbClr val="544F40"/>
                  </a:solidFill>
                  <a:effectLst/>
                  <a:uLnTx/>
                  <a:uFillTx/>
                  <a:latin typeface="Arial" panose="020B0604020202020204"/>
                  <a:ea typeface="+mn-ea"/>
                  <a:cs typeface="+mn-cs"/>
                </a:rPr>
                <a:t>(95% CI: –2.4, –1.1) </a:t>
              </a:r>
              <a:r>
                <a:rPr kumimoji="0" lang="it-IT" sz="900" b="0" i="1" u="none" strike="noStrike" kern="0" cap="none" spc="0" normalizeH="0" baseline="0" noProof="0" dirty="0">
                  <a:ln>
                    <a:noFill/>
                  </a:ln>
                  <a:solidFill>
                    <a:srgbClr val="544F40"/>
                  </a:solidFill>
                  <a:effectLst/>
                  <a:uLnTx/>
                  <a:uFillTx/>
                  <a:latin typeface="Arial" panose="020B0604020202020204"/>
                  <a:ea typeface="+mn-ea"/>
                  <a:cs typeface="+mn-cs"/>
                </a:rPr>
                <a:t>p</a:t>
              </a:r>
              <a:r>
                <a:rPr kumimoji="0" lang="it-IT" sz="900" b="0" i="0" u="none" strike="noStrike" kern="0" cap="none" spc="0" normalizeH="0" baseline="0" noProof="0" dirty="0">
                  <a:ln>
                    <a:noFill/>
                  </a:ln>
                  <a:solidFill>
                    <a:srgbClr val="544F40"/>
                  </a:solidFill>
                  <a:effectLst/>
                  <a:uLnTx/>
                  <a:uFillTx/>
                  <a:latin typeface="Arial" panose="020B0604020202020204"/>
                  <a:ea typeface="+mn-ea"/>
                  <a:cs typeface="+mn-cs"/>
                </a:rPr>
                <a:t> &lt; 0.001</a:t>
              </a:r>
              <a:endParaRPr kumimoji="0" lang="en-GB" sz="9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125" name="Freeform 124"/>
            <p:cNvSpPr/>
            <p:nvPr/>
          </p:nvSpPr>
          <p:spPr>
            <a:xfrm>
              <a:off x="1607820" y="3815714"/>
              <a:ext cx="1791376" cy="1114425"/>
            </a:xfrm>
            <a:custGeom>
              <a:avLst/>
              <a:gdLst>
                <a:gd name="connsiteX0" fmla="*/ 0 w 944880"/>
                <a:gd name="connsiteY0" fmla="*/ 502920 h 609600"/>
                <a:gd name="connsiteX1" fmla="*/ 0 w 944880"/>
                <a:gd name="connsiteY1" fmla="*/ 609600 h 609600"/>
                <a:gd name="connsiteX2" fmla="*/ 937260 w 944880"/>
                <a:gd name="connsiteY2" fmla="*/ 609600 h 609600"/>
                <a:gd name="connsiteX3" fmla="*/ 937260 w 944880"/>
                <a:gd name="connsiteY3" fmla="*/ 0 h 609600"/>
                <a:gd name="connsiteX4" fmla="*/ 944880 w 944880"/>
                <a:gd name="connsiteY4" fmla="*/ 7620 h 609600"/>
                <a:gd name="connsiteX0" fmla="*/ 0 w 937260"/>
                <a:gd name="connsiteY0" fmla="*/ 502920 h 609600"/>
                <a:gd name="connsiteX1" fmla="*/ 0 w 937260"/>
                <a:gd name="connsiteY1" fmla="*/ 609600 h 609600"/>
                <a:gd name="connsiteX2" fmla="*/ 937260 w 937260"/>
                <a:gd name="connsiteY2" fmla="*/ 609600 h 609600"/>
                <a:gd name="connsiteX3" fmla="*/ 937260 w 937260"/>
                <a:gd name="connsiteY3" fmla="*/ 0 h 609600"/>
                <a:gd name="connsiteX0" fmla="*/ 0 w 937260"/>
                <a:gd name="connsiteY0" fmla="*/ 1007745 h 1114425"/>
                <a:gd name="connsiteX1" fmla="*/ 0 w 937260"/>
                <a:gd name="connsiteY1" fmla="*/ 1114425 h 1114425"/>
                <a:gd name="connsiteX2" fmla="*/ 937260 w 937260"/>
                <a:gd name="connsiteY2" fmla="*/ 1114425 h 1114425"/>
                <a:gd name="connsiteX3" fmla="*/ 933522 w 937260"/>
                <a:gd name="connsiteY3" fmla="*/ 0 h 1114425"/>
                <a:gd name="connsiteX0" fmla="*/ 0 w 937260"/>
                <a:gd name="connsiteY0" fmla="*/ 1007745 h 1114425"/>
                <a:gd name="connsiteX1" fmla="*/ 0 w 937260"/>
                <a:gd name="connsiteY1" fmla="*/ 1114425 h 1114425"/>
                <a:gd name="connsiteX2" fmla="*/ 937260 w 937260"/>
                <a:gd name="connsiteY2" fmla="*/ 1114425 h 1114425"/>
                <a:gd name="connsiteX3" fmla="*/ 936014 w 937260"/>
                <a:gd name="connsiteY3" fmla="*/ 0 h 1114425"/>
              </a:gdLst>
              <a:ahLst/>
              <a:cxnLst>
                <a:cxn ang="0">
                  <a:pos x="connsiteX0" y="connsiteY0"/>
                </a:cxn>
                <a:cxn ang="0">
                  <a:pos x="connsiteX1" y="connsiteY1"/>
                </a:cxn>
                <a:cxn ang="0">
                  <a:pos x="connsiteX2" y="connsiteY2"/>
                </a:cxn>
                <a:cxn ang="0">
                  <a:pos x="connsiteX3" y="connsiteY3"/>
                </a:cxn>
              </a:cxnLst>
              <a:rect l="l" t="t" r="r" b="b"/>
              <a:pathLst>
                <a:path w="937260" h="1114425">
                  <a:moveTo>
                    <a:pt x="0" y="1007745"/>
                  </a:moveTo>
                  <a:lnTo>
                    <a:pt x="0" y="1114425"/>
                  </a:lnTo>
                  <a:lnTo>
                    <a:pt x="937260" y="1114425"/>
                  </a:lnTo>
                  <a:cubicBezTo>
                    <a:pt x="936845" y="742950"/>
                    <a:pt x="936429" y="371475"/>
                    <a:pt x="936014" y="0"/>
                  </a:cubicBezTo>
                </a:path>
              </a:pathLst>
            </a:custGeom>
            <a:noFill/>
            <a:ln w="9525" cap="flat" cmpd="sng" algn="ctr">
              <a:solidFill>
                <a:schemeClr val="tx1"/>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Arial"/>
                <a:ea typeface="+mn-ea"/>
                <a:cs typeface="+mn-cs"/>
              </a:endParaRPr>
            </a:p>
          </p:txBody>
        </p:sp>
        <p:sp>
          <p:nvSpPr>
            <p:cNvPr id="126" name="TextBox 125">
              <a:extLst>
                <a:ext uri="{FF2B5EF4-FFF2-40B4-BE49-F238E27FC236}">
                  <a16:creationId xmlns:a16="http://schemas.microsoft.com/office/drawing/2014/main" id="{6BB2DB8A-09B8-44F7-8F60-3CFC3B4A552F}"/>
                </a:ext>
              </a:extLst>
            </p:cNvPr>
            <p:cNvSpPr txBox="1"/>
            <p:nvPr/>
          </p:nvSpPr>
          <p:spPr>
            <a:xfrm>
              <a:off x="1693957" y="4980692"/>
              <a:ext cx="161544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it-IT" sz="900" b="1" i="0" u="none" strike="noStrike" kern="0" cap="none" spc="0" normalizeH="0" baseline="0" noProof="0" dirty="0">
                  <a:ln>
                    <a:noFill/>
                  </a:ln>
                  <a:solidFill>
                    <a:srgbClr val="544F40"/>
                  </a:solidFill>
                  <a:effectLst/>
                  <a:uLnTx/>
                  <a:uFillTx/>
                  <a:latin typeface="Arial" panose="020B0604020202020204"/>
                  <a:ea typeface="+mn-ea"/>
                  <a:cs typeface="+mn-cs"/>
                </a:rPr>
                <a:t>Δ –1.8</a:t>
              </a:r>
              <a:br>
                <a:rPr kumimoji="0" lang="it-IT" sz="9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it-IT" sz="900" b="0" i="0" u="none" strike="noStrike" kern="0" cap="none" spc="0" normalizeH="0" baseline="0" noProof="0" dirty="0">
                  <a:ln>
                    <a:noFill/>
                  </a:ln>
                  <a:solidFill>
                    <a:srgbClr val="544F40"/>
                  </a:solidFill>
                  <a:effectLst/>
                  <a:uLnTx/>
                  <a:uFillTx/>
                  <a:latin typeface="Arial" panose="020B0604020202020204"/>
                  <a:ea typeface="+mn-ea"/>
                  <a:cs typeface="+mn-cs"/>
                </a:rPr>
                <a:t>(95% CI: –2.6, –1.0) </a:t>
              </a:r>
              <a:r>
                <a:rPr kumimoji="0" lang="it-IT" sz="900" b="0" i="1" u="none" strike="noStrike" kern="0" cap="none" spc="0" normalizeH="0" baseline="0" noProof="0" dirty="0">
                  <a:ln>
                    <a:noFill/>
                  </a:ln>
                  <a:solidFill>
                    <a:srgbClr val="544F40"/>
                  </a:solidFill>
                  <a:effectLst/>
                  <a:uLnTx/>
                  <a:uFillTx/>
                  <a:latin typeface="Arial" panose="020B0604020202020204"/>
                  <a:ea typeface="+mn-ea"/>
                  <a:cs typeface="+mn-cs"/>
                </a:rPr>
                <a:t>p</a:t>
              </a:r>
              <a:r>
                <a:rPr kumimoji="0" lang="it-IT" sz="900" b="0" i="0" u="none" strike="noStrike" kern="0" cap="none" spc="0" normalizeH="0" baseline="0" noProof="0" dirty="0">
                  <a:ln>
                    <a:noFill/>
                  </a:ln>
                  <a:solidFill>
                    <a:srgbClr val="544F40"/>
                  </a:solidFill>
                  <a:effectLst/>
                  <a:uLnTx/>
                  <a:uFillTx/>
                  <a:latin typeface="Arial" panose="020B0604020202020204"/>
                  <a:ea typeface="+mn-ea"/>
                  <a:cs typeface="+mn-cs"/>
                </a:rPr>
                <a:t> &lt; 0.001</a:t>
              </a:r>
              <a:endParaRPr kumimoji="0" lang="en-GB" sz="9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39" name="TextBox 38">
              <a:extLst>
                <a:ext uri="{FF2B5EF4-FFF2-40B4-BE49-F238E27FC236}">
                  <a16:creationId xmlns:a16="http://schemas.microsoft.com/office/drawing/2014/main" id="{6BB2DB8A-09B8-44F7-8F60-3CFC3B4A552F}"/>
                </a:ext>
              </a:extLst>
            </p:cNvPr>
            <p:cNvSpPr txBox="1"/>
            <p:nvPr/>
          </p:nvSpPr>
          <p:spPr>
            <a:xfrm>
              <a:off x="5097780" y="2339028"/>
              <a:ext cx="161544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900" b="1" i="0" u="none" strike="noStrike" kern="0" cap="none" spc="0" normalizeH="0" baseline="0" noProof="0" dirty="0">
                  <a:ln>
                    <a:noFill/>
                  </a:ln>
                  <a:solidFill>
                    <a:srgbClr val="544F40"/>
                  </a:solidFill>
                  <a:effectLst/>
                  <a:uLnTx/>
                  <a:uFillTx/>
                  <a:latin typeface="Arial" panose="020B0604020202020204"/>
                  <a:ea typeface="+mn-ea"/>
                  <a:cs typeface="+mn-cs"/>
                </a:rPr>
                <a:t>OR 1.41</a:t>
              </a:r>
              <a:br>
                <a:rPr kumimoji="0" lang="fr-FR" sz="9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fr-FR" sz="900" b="0" i="0" u="none" strike="noStrike" kern="0" cap="none" spc="0" normalizeH="0" baseline="0" noProof="0" dirty="0">
                  <a:ln>
                    <a:noFill/>
                  </a:ln>
                  <a:solidFill>
                    <a:srgbClr val="544F40"/>
                  </a:solidFill>
                  <a:effectLst/>
                  <a:uLnTx/>
                  <a:uFillTx/>
                  <a:latin typeface="Arial" panose="020B0604020202020204"/>
                  <a:ea typeface="+mn-ea"/>
                  <a:cs typeface="+mn-cs"/>
                </a:rPr>
                <a:t>(95% CI: 1.29, 1.55) </a:t>
              </a:r>
              <a:r>
                <a:rPr kumimoji="0" lang="fr-FR" sz="900" b="0" i="1" u="none" strike="noStrike" kern="0" cap="none" spc="0" normalizeH="0" baseline="0" noProof="0" dirty="0">
                  <a:ln>
                    <a:noFill/>
                  </a:ln>
                  <a:solidFill>
                    <a:srgbClr val="544F40"/>
                  </a:solidFill>
                  <a:effectLst/>
                  <a:uLnTx/>
                  <a:uFillTx/>
                  <a:latin typeface="Arial" panose="020B0604020202020204"/>
                  <a:ea typeface="+mn-ea"/>
                  <a:cs typeface="+mn-cs"/>
                </a:rPr>
                <a:t>p</a:t>
              </a:r>
              <a:r>
                <a:rPr kumimoji="0" lang="fr-FR" sz="900" b="0" i="0" u="none" strike="noStrike" kern="0" cap="none" spc="0" normalizeH="0" baseline="0" noProof="0" dirty="0">
                  <a:ln>
                    <a:noFill/>
                  </a:ln>
                  <a:solidFill>
                    <a:srgbClr val="544F40"/>
                  </a:solidFill>
                  <a:effectLst/>
                  <a:uLnTx/>
                  <a:uFillTx/>
                  <a:latin typeface="Arial" panose="020B0604020202020204"/>
                  <a:ea typeface="+mn-ea"/>
                  <a:cs typeface="+mn-cs"/>
                </a:rPr>
                <a:t> &lt; 0.001</a:t>
              </a:r>
              <a:endParaRPr kumimoji="0" lang="en-GB" sz="9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40" name="TextBox 39">
              <a:extLst>
                <a:ext uri="{FF2B5EF4-FFF2-40B4-BE49-F238E27FC236}">
                  <a16:creationId xmlns:a16="http://schemas.microsoft.com/office/drawing/2014/main" id="{6BB2DB8A-09B8-44F7-8F60-3CFC3B4A552F}"/>
                </a:ext>
              </a:extLst>
            </p:cNvPr>
            <p:cNvSpPr txBox="1"/>
            <p:nvPr/>
          </p:nvSpPr>
          <p:spPr>
            <a:xfrm>
              <a:off x="5053012" y="4874505"/>
              <a:ext cx="776288" cy="4154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1" i="0" u="none" strike="noStrike" kern="0" cap="none" spc="0" normalizeH="0" baseline="0" noProof="0" dirty="0">
                  <a:ln>
                    <a:noFill/>
                  </a:ln>
                  <a:solidFill>
                    <a:srgbClr val="544F40"/>
                  </a:solidFill>
                  <a:effectLst/>
                  <a:uLnTx/>
                  <a:uFillTx/>
                  <a:latin typeface="Arial" panose="020B0604020202020204"/>
                  <a:ea typeface="+mn-ea"/>
                  <a:cs typeface="+mn-cs"/>
                </a:rPr>
                <a:t>FF/UMEC/VI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100/62.5/25 μg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n = 4,108</a:t>
              </a:r>
              <a:endParaRPr kumimoji="0" lang="en-GB" sz="900" b="0" i="0" u="none" strike="noStrike" kern="0" cap="none" spc="0" normalizeH="0" baseline="30000" noProof="0" dirty="0">
                <a:ln>
                  <a:noFill/>
                </a:ln>
                <a:solidFill>
                  <a:srgbClr val="544F40"/>
                </a:solidFill>
                <a:effectLst/>
                <a:uLnTx/>
                <a:uFillTx/>
                <a:latin typeface="Arial" panose="020B0604020202020204"/>
                <a:ea typeface="+mn-ea"/>
                <a:cs typeface="+mn-cs"/>
              </a:endParaRPr>
            </a:p>
          </p:txBody>
        </p:sp>
        <p:sp>
          <p:nvSpPr>
            <p:cNvPr id="41" name="TextBox 40">
              <a:extLst>
                <a:ext uri="{FF2B5EF4-FFF2-40B4-BE49-F238E27FC236}">
                  <a16:creationId xmlns:a16="http://schemas.microsoft.com/office/drawing/2014/main" id="{6BB2DB8A-09B8-44F7-8F60-3CFC3B4A552F}"/>
                </a:ext>
              </a:extLst>
            </p:cNvPr>
            <p:cNvSpPr txBox="1"/>
            <p:nvPr/>
          </p:nvSpPr>
          <p:spPr>
            <a:xfrm>
              <a:off x="5902492" y="4874505"/>
              <a:ext cx="814388" cy="4154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1" i="0" u="none" strike="noStrike" kern="0" cap="none" spc="0" normalizeH="0" baseline="0" noProof="0" dirty="0">
                  <a:ln>
                    <a:noFill/>
                  </a:ln>
                  <a:solidFill>
                    <a:srgbClr val="544F40"/>
                  </a:solidFill>
                  <a:effectLst/>
                  <a:uLnTx/>
                  <a:uFillTx/>
                  <a:latin typeface="Arial" panose="020B0604020202020204"/>
                  <a:ea typeface="+mn-ea"/>
                  <a:cs typeface="+mn-cs"/>
                </a:rPr>
                <a:t>FF/VI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100/25 </a:t>
              </a:r>
              <a:r>
                <a:rPr kumimoji="0" lang="el-GR" sz="900" b="0" i="0" u="none" strike="noStrike" kern="0" cap="none" spc="0" normalizeH="0" baseline="0" noProof="0" dirty="0">
                  <a:ln>
                    <a:noFill/>
                  </a:ln>
                  <a:solidFill>
                    <a:srgbClr val="544F40"/>
                  </a:solidFill>
                  <a:effectLst/>
                  <a:uLnTx/>
                  <a:uFillTx/>
                  <a:latin typeface="Arial" panose="020B0604020202020204"/>
                  <a:ea typeface="+mn-ea"/>
                  <a:cs typeface="+mn-cs"/>
                </a:rPr>
                <a:t>μ</a:t>
              </a: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n = 4,092</a:t>
              </a:r>
              <a:endParaRPr kumimoji="0" lang="pt-BR" sz="900" b="0" i="0" u="none" strike="noStrike" kern="0" cap="none" spc="0" normalizeH="0" baseline="30000" noProof="0" dirty="0">
                <a:ln>
                  <a:noFill/>
                </a:ln>
                <a:solidFill>
                  <a:srgbClr val="544F40"/>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6BB2DB8A-09B8-44F7-8F60-3CFC3B4A552F}"/>
                </a:ext>
              </a:extLst>
            </p:cNvPr>
            <p:cNvSpPr txBox="1"/>
            <p:nvPr/>
          </p:nvSpPr>
          <p:spPr>
            <a:xfrm>
              <a:off x="6778792" y="4874505"/>
              <a:ext cx="814388" cy="4154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1" i="0" u="none" strike="noStrike" kern="0" cap="none" spc="0" normalizeH="0" baseline="0" noProof="0" dirty="0">
                  <a:ln>
                    <a:noFill/>
                  </a:ln>
                  <a:solidFill>
                    <a:srgbClr val="544F40"/>
                  </a:solidFill>
                  <a:effectLst/>
                  <a:uLnTx/>
                  <a:uFillTx/>
                  <a:latin typeface="Arial" panose="020B0604020202020204"/>
                  <a:ea typeface="+mn-ea"/>
                  <a:cs typeface="+mn-cs"/>
                </a:rPr>
                <a:t>UMEC/VI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62.5/25 μg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n = 2,050</a:t>
              </a:r>
              <a:endParaRPr kumimoji="0" lang="en-GB" sz="900" b="0" i="0" u="none" strike="noStrike" kern="0" cap="none" spc="0" normalizeH="0" baseline="30000" noProof="0" dirty="0">
                <a:ln>
                  <a:noFill/>
                </a:ln>
                <a:solidFill>
                  <a:srgbClr val="544F40"/>
                </a:solidFill>
                <a:effectLst/>
                <a:uLnTx/>
                <a:uFillTx/>
                <a:latin typeface="Arial" panose="020B0604020202020204"/>
                <a:ea typeface="+mn-ea"/>
                <a:cs typeface="+mn-cs"/>
              </a:endParaRPr>
            </a:p>
          </p:txBody>
        </p:sp>
        <p:sp>
          <p:nvSpPr>
            <p:cNvPr id="43" name="Freeform: Shape 10">
              <a:extLst>
                <a:ext uri="{FF2B5EF4-FFF2-40B4-BE49-F238E27FC236}">
                  <a16:creationId xmlns:a16="http://schemas.microsoft.com/office/drawing/2014/main" id="{12E4EEC7-A7EB-41AA-9D75-7B1AA7FA29C3}"/>
                </a:ext>
              </a:extLst>
            </p:cNvPr>
            <p:cNvSpPr/>
            <p:nvPr/>
          </p:nvSpPr>
          <p:spPr>
            <a:xfrm flipV="1">
              <a:off x="5410979" y="2165030"/>
              <a:ext cx="1774681" cy="1047569"/>
            </a:xfrm>
            <a:custGeom>
              <a:avLst/>
              <a:gdLst>
                <a:gd name="connsiteX0" fmla="*/ 0 w 2330450"/>
                <a:gd name="connsiteY0" fmla="*/ 0 h 79375"/>
                <a:gd name="connsiteX1" fmla="*/ 0 w 2330450"/>
                <a:gd name="connsiteY1" fmla="*/ 79375 h 79375"/>
                <a:gd name="connsiteX2" fmla="*/ 2330450 w 2330450"/>
                <a:gd name="connsiteY2" fmla="*/ 79375 h 79375"/>
                <a:gd name="connsiteX3" fmla="*/ 2330450 w 2330450"/>
                <a:gd name="connsiteY3" fmla="*/ 19050 h 79375"/>
                <a:gd name="connsiteX0" fmla="*/ 0 w 2330450"/>
                <a:gd name="connsiteY0" fmla="*/ 268135 h 347510"/>
                <a:gd name="connsiteX1" fmla="*/ 0 w 2330450"/>
                <a:gd name="connsiteY1" fmla="*/ 347510 h 347510"/>
                <a:gd name="connsiteX2" fmla="*/ 2330450 w 2330450"/>
                <a:gd name="connsiteY2" fmla="*/ 347510 h 347510"/>
                <a:gd name="connsiteX3" fmla="*/ 2320780 w 2330450"/>
                <a:gd name="connsiteY3" fmla="*/ 0 h 347510"/>
                <a:gd name="connsiteX0" fmla="*/ 0 w 2330450"/>
                <a:gd name="connsiteY0" fmla="*/ 268135 h 347510"/>
                <a:gd name="connsiteX1" fmla="*/ 0 w 2330450"/>
                <a:gd name="connsiteY1" fmla="*/ 347510 h 347510"/>
                <a:gd name="connsiteX2" fmla="*/ 2330450 w 2330450"/>
                <a:gd name="connsiteY2" fmla="*/ 347510 h 347510"/>
                <a:gd name="connsiteX3" fmla="*/ 2330450 w 2330450"/>
                <a:gd name="connsiteY3" fmla="*/ 0 h 347510"/>
                <a:gd name="connsiteX0" fmla="*/ 0 w 2342113"/>
                <a:gd name="connsiteY0" fmla="*/ 131069 h 210444"/>
                <a:gd name="connsiteX1" fmla="*/ 0 w 2342113"/>
                <a:gd name="connsiteY1" fmla="*/ 210444 h 210444"/>
                <a:gd name="connsiteX2" fmla="*/ 2330450 w 2342113"/>
                <a:gd name="connsiteY2" fmla="*/ 210444 h 210444"/>
                <a:gd name="connsiteX3" fmla="*/ 2342113 w 2342113"/>
                <a:gd name="connsiteY3" fmla="*/ 0 h 210444"/>
                <a:gd name="connsiteX0" fmla="*/ 0 w 2330450"/>
                <a:gd name="connsiteY0" fmla="*/ 131069 h 210444"/>
                <a:gd name="connsiteX1" fmla="*/ 0 w 2330450"/>
                <a:gd name="connsiteY1" fmla="*/ 210444 h 210444"/>
                <a:gd name="connsiteX2" fmla="*/ 2330450 w 2330450"/>
                <a:gd name="connsiteY2" fmla="*/ 210444 h 210444"/>
                <a:gd name="connsiteX3" fmla="*/ 2330450 w 2330450"/>
                <a:gd name="connsiteY3" fmla="*/ 0 h 210444"/>
                <a:gd name="connsiteX0" fmla="*/ 0 w 2336280"/>
                <a:gd name="connsiteY0" fmla="*/ 131069 h 210444"/>
                <a:gd name="connsiteX1" fmla="*/ 0 w 2336280"/>
                <a:gd name="connsiteY1" fmla="*/ 210444 h 210444"/>
                <a:gd name="connsiteX2" fmla="*/ 2330450 w 2336280"/>
                <a:gd name="connsiteY2" fmla="*/ 210444 h 210444"/>
                <a:gd name="connsiteX3" fmla="*/ 2336280 w 2336280"/>
                <a:gd name="connsiteY3" fmla="*/ 0 h 210444"/>
                <a:gd name="connsiteX0" fmla="*/ 0 w 2345685"/>
                <a:gd name="connsiteY0" fmla="*/ 366181 h 445556"/>
                <a:gd name="connsiteX1" fmla="*/ 0 w 2345685"/>
                <a:gd name="connsiteY1" fmla="*/ 445556 h 445556"/>
                <a:gd name="connsiteX2" fmla="*/ 2330450 w 2345685"/>
                <a:gd name="connsiteY2" fmla="*/ 445556 h 445556"/>
                <a:gd name="connsiteX3" fmla="*/ 2345685 w 2345685"/>
                <a:gd name="connsiteY3" fmla="*/ 0 h 445556"/>
                <a:gd name="connsiteX0" fmla="*/ 0 w 2355088"/>
                <a:gd name="connsiteY0" fmla="*/ 366181 h 445556"/>
                <a:gd name="connsiteX1" fmla="*/ 0 w 2355088"/>
                <a:gd name="connsiteY1" fmla="*/ 445556 h 445556"/>
                <a:gd name="connsiteX2" fmla="*/ 2330450 w 2355088"/>
                <a:gd name="connsiteY2" fmla="*/ 445556 h 445556"/>
                <a:gd name="connsiteX3" fmla="*/ 2355088 w 2355088"/>
                <a:gd name="connsiteY3" fmla="*/ 0 h 445556"/>
                <a:gd name="connsiteX0" fmla="*/ 0 w 2351952"/>
                <a:gd name="connsiteY0" fmla="*/ 367165 h 446540"/>
                <a:gd name="connsiteX1" fmla="*/ 0 w 2351952"/>
                <a:gd name="connsiteY1" fmla="*/ 446540 h 446540"/>
                <a:gd name="connsiteX2" fmla="*/ 2330450 w 2351952"/>
                <a:gd name="connsiteY2" fmla="*/ 446540 h 446540"/>
                <a:gd name="connsiteX3" fmla="*/ 2351952 w 2351952"/>
                <a:gd name="connsiteY3" fmla="*/ 0 h 446540"/>
                <a:gd name="connsiteX0" fmla="*/ 0 w 2342549"/>
                <a:gd name="connsiteY0" fmla="*/ 367165 h 446540"/>
                <a:gd name="connsiteX1" fmla="*/ 0 w 2342549"/>
                <a:gd name="connsiteY1" fmla="*/ 446540 h 446540"/>
                <a:gd name="connsiteX2" fmla="*/ 2330450 w 2342549"/>
                <a:gd name="connsiteY2" fmla="*/ 446540 h 446540"/>
                <a:gd name="connsiteX3" fmla="*/ 2342549 w 2342549"/>
                <a:gd name="connsiteY3" fmla="*/ 0 h 446540"/>
                <a:gd name="connsiteX0" fmla="*/ 0 w 2342549"/>
                <a:gd name="connsiteY0" fmla="*/ 353393 h 432768"/>
                <a:gd name="connsiteX1" fmla="*/ 0 w 2342549"/>
                <a:gd name="connsiteY1" fmla="*/ 432768 h 432768"/>
                <a:gd name="connsiteX2" fmla="*/ 2330450 w 2342549"/>
                <a:gd name="connsiteY2" fmla="*/ 432768 h 432768"/>
                <a:gd name="connsiteX3" fmla="*/ 2342549 w 2342549"/>
                <a:gd name="connsiteY3" fmla="*/ 0 h 432768"/>
                <a:gd name="connsiteX0" fmla="*/ 0 w 2336280"/>
                <a:gd name="connsiteY0" fmla="*/ 353393 h 432768"/>
                <a:gd name="connsiteX1" fmla="*/ 0 w 2336280"/>
                <a:gd name="connsiteY1" fmla="*/ 432768 h 432768"/>
                <a:gd name="connsiteX2" fmla="*/ 2330450 w 2336280"/>
                <a:gd name="connsiteY2" fmla="*/ 432768 h 432768"/>
                <a:gd name="connsiteX3" fmla="*/ 2336280 w 2336280"/>
                <a:gd name="connsiteY3" fmla="*/ 0 h 432768"/>
              </a:gdLst>
              <a:ahLst/>
              <a:cxnLst>
                <a:cxn ang="0">
                  <a:pos x="connsiteX0" y="connsiteY0"/>
                </a:cxn>
                <a:cxn ang="0">
                  <a:pos x="connsiteX1" y="connsiteY1"/>
                </a:cxn>
                <a:cxn ang="0">
                  <a:pos x="connsiteX2" y="connsiteY2"/>
                </a:cxn>
                <a:cxn ang="0">
                  <a:pos x="connsiteX3" y="connsiteY3"/>
                </a:cxn>
              </a:cxnLst>
              <a:rect l="l" t="t" r="r" b="b"/>
              <a:pathLst>
                <a:path w="2336280" h="432768">
                  <a:moveTo>
                    <a:pt x="0" y="353393"/>
                  </a:moveTo>
                  <a:lnTo>
                    <a:pt x="0" y="432768"/>
                  </a:lnTo>
                  <a:lnTo>
                    <a:pt x="2330450" y="432768"/>
                  </a:lnTo>
                  <a:cubicBezTo>
                    <a:pt x="2332393" y="288512"/>
                    <a:pt x="2334337" y="144256"/>
                    <a:pt x="2336280" y="0"/>
                  </a:cubicBezTo>
                </a:path>
              </a:pathLst>
            </a:custGeom>
            <a:noFill/>
            <a:ln w="9525" cap="flat" cmpd="sng" algn="ctr">
              <a:solidFill>
                <a:schemeClr val="tx1"/>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dirty="0">
                <a:ln>
                  <a:noFill/>
                </a:ln>
                <a:solidFill>
                  <a:prstClr val="white"/>
                </a:solidFill>
                <a:effectLst/>
                <a:uLnTx/>
                <a:uFillTx/>
                <a:latin typeface="Arial"/>
                <a:ea typeface="+mn-ea"/>
                <a:cs typeface="+mn-cs"/>
              </a:endParaRPr>
            </a:p>
          </p:txBody>
        </p:sp>
        <p:sp>
          <p:nvSpPr>
            <p:cNvPr id="44" name="TextBox 43">
              <a:extLst>
                <a:ext uri="{FF2B5EF4-FFF2-40B4-BE49-F238E27FC236}">
                  <a16:creationId xmlns:a16="http://schemas.microsoft.com/office/drawing/2014/main" id="{6BB2DB8A-09B8-44F7-8F60-3CFC3B4A552F}"/>
                </a:ext>
              </a:extLst>
            </p:cNvPr>
            <p:cNvSpPr txBox="1"/>
            <p:nvPr/>
          </p:nvSpPr>
          <p:spPr>
            <a:xfrm>
              <a:off x="5496407" y="1843528"/>
              <a:ext cx="161544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900" b="1" i="0" u="none" strike="noStrike" kern="0" cap="none" spc="0" normalizeH="0" baseline="0" noProof="0" dirty="0">
                  <a:ln>
                    <a:noFill/>
                  </a:ln>
                  <a:solidFill>
                    <a:srgbClr val="544F40"/>
                  </a:solidFill>
                  <a:effectLst/>
                  <a:uLnTx/>
                  <a:uFillTx/>
                  <a:latin typeface="Arial" panose="020B0604020202020204"/>
                  <a:ea typeface="+mn-ea"/>
                  <a:cs typeface="+mn-cs"/>
                </a:rPr>
                <a:t>OR 1.41</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900" b="0" i="0" u="none" strike="noStrike" kern="0" cap="none" spc="0" normalizeH="0" baseline="0" noProof="0" dirty="0">
                  <a:ln>
                    <a:noFill/>
                  </a:ln>
                  <a:solidFill>
                    <a:srgbClr val="544F40"/>
                  </a:solidFill>
                  <a:effectLst/>
                  <a:uLnTx/>
                  <a:uFillTx/>
                  <a:latin typeface="Arial" panose="020B0604020202020204"/>
                  <a:ea typeface="+mn-ea"/>
                  <a:cs typeface="+mn-cs"/>
                </a:rPr>
                <a:t>(95% CI: 1.26, 1.57) </a:t>
              </a:r>
              <a:r>
                <a:rPr kumimoji="0" lang="fr-FR" sz="900" b="0" i="1" u="none" strike="noStrike" kern="0" cap="none" spc="0" normalizeH="0" baseline="0" noProof="0" dirty="0">
                  <a:ln>
                    <a:noFill/>
                  </a:ln>
                  <a:solidFill>
                    <a:srgbClr val="544F40"/>
                  </a:solidFill>
                  <a:effectLst/>
                  <a:uLnTx/>
                  <a:uFillTx/>
                  <a:latin typeface="Arial" panose="020B0604020202020204"/>
                  <a:ea typeface="+mn-ea"/>
                  <a:cs typeface="+mn-cs"/>
                </a:rPr>
                <a:t>p</a:t>
              </a:r>
              <a:r>
                <a:rPr kumimoji="0" lang="fr-FR" sz="900" b="0" i="0" u="none" strike="noStrike" kern="0" cap="none" spc="0" normalizeH="0" baseline="0" noProof="0" dirty="0">
                  <a:ln>
                    <a:noFill/>
                  </a:ln>
                  <a:solidFill>
                    <a:srgbClr val="544F40"/>
                  </a:solidFill>
                  <a:effectLst/>
                  <a:uLnTx/>
                  <a:uFillTx/>
                  <a:latin typeface="Arial" panose="020B0604020202020204"/>
                  <a:ea typeface="+mn-ea"/>
                  <a:cs typeface="+mn-cs"/>
                </a:rPr>
                <a:t> &lt; 0.001</a:t>
              </a:r>
              <a:endParaRPr kumimoji="0" lang="en-GB" sz="9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4" name="Group 3"/>
          <p:cNvGrpSpPr/>
          <p:nvPr/>
        </p:nvGrpSpPr>
        <p:grpSpPr>
          <a:xfrm>
            <a:off x="421482" y="1371600"/>
            <a:ext cx="3706243" cy="3974541"/>
            <a:chOff x="8066657" y="1371600"/>
            <a:chExt cx="3706243" cy="3974541"/>
          </a:xfrm>
        </p:grpSpPr>
        <p:grpSp>
          <p:nvGrpSpPr>
            <p:cNvPr id="110" name="Group 109"/>
            <p:cNvGrpSpPr/>
            <p:nvPr/>
          </p:nvGrpSpPr>
          <p:grpSpPr>
            <a:xfrm>
              <a:off x="8069580" y="1371600"/>
              <a:ext cx="3703320" cy="3974541"/>
              <a:chOff x="423863" y="1285875"/>
              <a:chExt cx="3703320" cy="3974541"/>
            </a:xfrm>
          </p:grpSpPr>
          <p:sp>
            <p:nvSpPr>
              <p:cNvPr id="111" name="Rounded Rectangle 110"/>
              <p:cNvSpPr/>
              <p:nvPr/>
            </p:nvSpPr>
            <p:spPr>
              <a:xfrm>
                <a:off x="423863" y="1465656"/>
                <a:ext cx="3703320" cy="3794760"/>
              </a:xfrm>
              <a:prstGeom prst="roundRect">
                <a:avLst>
                  <a:gd name="adj" fmla="val 215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12" name="Rounded Rectangle 111"/>
              <p:cNvSpPr/>
              <p:nvPr/>
            </p:nvSpPr>
            <p:spPr bwMode="auto">
              <a:xfrm>
                <a:off x="606997" y="1285875"/>
                <a:ext cx="3337053" cy="389513"/>
              </a:xfrm>
              <a:prstGeom prst="roundRect">
                <a:avLst>
                  <a:gd name="adj" fmla="val 50000"/>
                </a:avLst>
              </a:prstGeom>
              <a:solidFill>
                <a:srgbClr val="544F40"/>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818"/>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mn-ea"/>
                    <a:cs typeface="+mn-cs"/>
                  </a:rPr>
                  <a:t>Lung function</a:t>
                </a:r>
                <a:r>
                  <a:rPr kumimoji="0" lang="en-US" sz="1200" b="1" i="0" u="none" strike="noStrike" kern="1200" cap="none" spc="0" normalizeH="0" baseline="30000" noProof="0" dirty="0">
                    <a:ln>
                      <a:noFill/>
                    </a:ln>
                    <a:solidFill>
                      <a:prstClr val="white"/>
                    </a:solidFill>
                    <a:effectLst/>
                    <a:uLnTx/>
                    <a:uFillTx/>
                    <a:latin typeface="Arial" pitchFamily="34" charset="0"/>
                    <a:ea typeface="+mn-ea"/>
                    <a:cs typeface="+mn-cs"/>
                  </a:rPr>
                  <a:t>1</a:t>
                </a:r>
              </a:p>
            </p:txBody>
          </p:sp>
        </p:grpSp>
        <p:sp>
          <p:nvSpPr>
            <p:cNvPr id="115" name="TextBox 114">
              <a:extLst>
                <a:ext uri="{FF2B5EF4-FFF2-40B4-BE49-F238E27FC236}">
                  <a16:creationId xmlns:a16="http://schemas.microsoft.com/office/drawing/2014/main" id="{1D1C9EA7-F9AB-461D-BCAC-CA64415A7C3D}"/>
                </a:ext>
              </a:extLst>
            </p:cNvPr>
            <p:cNvSpPr txBox="1"/>
            <p:nvPr/>
          </p:nvSpPr>
          <p:spPr>
            <a:xfrm rot="16200000">
              <a:off x="6850058" y="3388163"/>
              <a:ext cx="2703968" cy="27076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44F40"/>
                  </a:solidFill>
                  <a:effectLst/>
                  <a:uLnTx/>
                  <a:uFillTx/>
                  <a:latin typeface="Arial" panose="020B0604020202020204"/>
                  <a:ea typeface="+mn-ea"/>
                  <a:cs typeface="+mn-cs"/>
                </a:rPr>
                <a:t>LS mean CFB in trough FEV</a:t>
              </a:r>
              <a:r>
                <a:rPr kumimoji="0" lang="en-US" sz="1000" b="1" i="0" u="none" strike="noStrike" kern="1200" cap="none" spc="0" normalizeH="0" baseline="-25000" noProof="0" dirty="0">
                  <a:ln>
                    <a:noFill/>
                  </a:ln>
                  <a:solidFill>
                    <a:srgbClr val="544F40"/>
                  </a:solidFill>
                  <a:effectLst/>
                  <a:uLnTx/>
                  <a:uFillTx/>
                  <a:latin typeface="Arial" panose="020B0604020202020204"/>
                  <a:ea typeface="+mn-ea"/>
                  <a:cs typeface="+mn-cs"/>
                </a:rPr>
                <a:t>1</a:t>
              </a:r>
              <a:r>
                <a:rPr kumimoji="0" lang="en-US" sz="1000" b="1" i="0" u="none" strike="noStrike" kern="1200" cap="none" spc="0" normalizeH="0" baseline="0" noProof="0" dirty="0">
                  <a:ln>
                    <a:noFill/>
                  </a:ln>
                  <a:solidFill>
                    <a:srgbClr val="544F40"/>
                  </a:solidFill>
                  <a:effectLst/>
                  <a:uLnTx/>
                  <a:uFillTx/>
                  <a:latin typeface="Arial" panose="020B0604020202020204"/>
                  <a:ea typeface="+mn-ea"/>
                  <a:cs typeface="+mn-cs"/>
                </a:rPr>
                <a:t> (mL)</a:t>
              </a:r>
              <a:endParaRPr kumimoji="0" lang="en-US" sz="1000" b="1" i="0" u="none" strike="noStrike" kern="1200" cap="none" spc="0" normalizeH="0" baseline="30000" noProof="0" dirty="0">
                <a:ln>
                  <a:noFill/>
                </a:ln>
                <a:solidFill>
                  <a:srgbClr val="544F40"/>
                </a:solidFill>
                <a:effectLst/>
                <a:uLnTx/>
                <a:uFillTx/>
                <a:latin typeface="Arial" panose="020B0604020202020204"/>
                <a:ea typeface="+mn-ea"/>
                <a:cs typeface="+mn-cs"/>
              </a:endParaRPr>
            </a:p>
          </p:txBody>
        </p:sp>
        <p:graphicFrame>
          <p:nvGraphicFramePr>
            <p:cNvPr id="45" name="Chart 44">
              <a:extLst>
                <a:ext uri="{FF2B5EF4-FFF2-40B4-BE49-F238E27FC236}">
                  <a16:creationId xmlns:a16="http://schemas.microsoft.com/office/drawing/2014/main" id="{BFFEE865-CDD8-4C09-955E-0D89AECE47A1}"/>
                </a:ext>
              </a:extLst>
            </p:cNvPr>
            <p:cNvGraphicFramePr/>
            <p:nvPr/>
          </p:nvGraphicFramePr>
          <p:xfrm>
            <a:off x="8343900" y="1937244"/>
            <a:ext cx="3409950" cy="3091956"/>
          </p:xfrm>
          <a:graphic>
            <a:graphicData uri="http://schemas.openxmlformats.org/drawingml/2006/chart">
              <c:chart xmlns:c="http://schemas.openxmlformats.org/drawingml/2006/chart" xmlns:r="http://schemas.openxmlformats.org/officeDocument/2006/relationships" r:id="rId4"/>
            </a:graphicData>
          </a:graphic>
        </p:graphicFrame>
        <p:sp>
          <p:nvSpPr>
            <p:cNvPr id="46" name="TextBox 45">
              <a:extLst>
                <a:ext uri="{FF2B5EF4-FFF2-40B4-BE49-F238E27FC236}">
                  <a16:creationId xmlns:a16="http://schemas.microsoft.com/office/drawing/2014/main" id="{6BB2DB8A-09B8-44F7-8F60-3CFC3B4A552F}"/>
                </a:ext>
              </a:extLst>
            </p:cNvPr>
            <p:cNvSpPr txBox="1"/>
            <p:nvPr/>
          </p:nvSpPr>
          <p:spPr>
            <a:xfrm>
              <a:off x="8920162" y="1843528"/>
              <a:ext cx="776288" cy="4154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1" i="0" u="none" strike="noStrike" kern="0" cap="none" spc="0" normalizeH="0" baseline="0" noProof="0" dirty="0">
                  <a:ln>
                    <a:noFill/>
                  </a:ln>
                  <a:solidFill>
                    <a:srgbClr val="544F40"/>
                  </a:solidFill>
                  <a:effectLst/>
                  <a:uLnTx/>
                  <a:uFillTx/>
                  <a:latin typeface="Arial" panose="020B0604020202020204"/>
                  <a:ea typeface="+mn-ea"/>
                  <a:cs typeface="+mn-cs"/>
                </a:rPr>
                <a:t>FF/UMEC/VI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100/62.5/25 µg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n = 3,366</a:t>
              </a:r>
              <a:endParaRPr kumimoji="0" lang="en-GB" sz="900" b="0" i="0" u="none" strike="noStrike" kern="0" cap="none" spc="0" normalizeH="0" baseline="30000" noProof="0" dirty="0">
                <a:ln>
                  <a:noFill/>
                </a:ln>
                <a:solidFill>
                  <a:srgbClr val="544F40"/>
                </a:solidFill>
                <a:effectLst/>
                <a:uLnTx/>
                <a:uFillTx/>
                <a:latin typeface="Arial" panose="020B0604020202020204"/>
                <a:ea typeface="+mn-ea"/>
                <a:cs typeface="+mn-cs"/>
              </a:endParaRPr>
            </a:p>
          </p:txBody>
        </p:sp>
        <p:sp>
          <p:nvSpPr>
            <p:cNvPr id="47" name="TextBox 46">
              <a:extLst>
                <a:ext uri="{FF2B5EF4-FFF2-40B4-BE49-F238E27FC236}">
                  <a16:creationId xmlns:a16="http://schemas.microsoft.com/office/drawing/2014/main" id="{6BB2DB8A-09B8-44F7-8F60-3CFC3B4A552F}"/>
                </a:ext>
              </a:extLst>
            </p:cNvPr>
            <p:cNvSpPr txBox="1"/>
            <p:nvPr/>
          </p:nvSpPr>
          <p:spPr>
            <a:xfrm>
              <a:off x="9760117" y="3722328"/>
              <a:ext cx="814388" cy="4154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1" i="0" u="none" strike="noStrike" kern="0" cap="none" spc="0" normalizeH="0" baseline="0" noProof="0" dirty="0">
                  <a:ln>
                    <a:noFill/>
                  </a:ln>
                  <a:solidFill>
                    <a:srgbClr val="544F40"/>
                  </a:solidFill>
                  <a:effectLst/>
                  <a:uLnTx/>
                  <a:uFillTx/>
                  <a:latin typeface="Arial" panose="020B0604020202020204"/>
                  <a:ea typeface="+mn-ea"/>
                  <a:cs typeface="+mn-cs"/>
                </a:rPr>
                <a:t>FF/VI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100/25 µg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n = 3,060</a:t>
              </a:r>
              <a:endParaRPr kumimoji="0" lang="pt-BR" sz="900" b="0" i="0" u="none" strike="noStrike" kern="0" cap="none" spc="0" normalizeH="0" baseline="30000" noProof="0" dirty="0">
                <a:ln>
                  <a:noFill/>
                </a:ln>
                <a:solidFill>
                  <a:srgbClr val="544F40"/>
                </a:solidFill>
                <a:effectLst/>
                <a:uLnTx/>
                <a:uFillTx/>
                <a:latin typeface="Arial" panose="020B0604020202020204"/>
                <a:ea typeface="+mn-ea"/>
                <a:cs typeface="+mn-cs"/>
              </a:endParaRPr>
            </a:p>
          </p:txBody>
        </p:sp>
        <p:sp>
          <p:nvSpPr>
            <p:cNvPr id="48" name="TextBox 47">
              <a:extLst>
                <a:ext uri="{FF2B5EF4-FFF2-40B4-BE49-F238E27FC236}">
                  <a16:creationId xmlns:a16="http://schemas.microsoft.com/office/drawing/2014/main" id="{6BB2DB8A-09B8-44F7-8F60-3CFC3B4A552F}"/>
                </a:ext>
              </a:extLst>
            </p:cNvPr>
            <p:cNvSpPr txBox="1"/>
            <p:nvPr/>
          </p:nvSpPr>
          <p:spPr>
            <a:xfrm>
              <a:off x="10617367" y="2928184"/>
              <a:ext cx="814388" cy="4154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1" i="0" u="none" strike="noStrike" kern="0" cap="none" spc="0" normalizeH="0" baseline="0" noProof="0" dirty="0">
                  <a:ln>
                    <a:noFill/>
                  </a:ln>
                  <a:solidFill>
                    <a:srgbClr val="544F40"/>
                  </a:solidFill>
                  <a:effectLst/>
                  <a:uLnTx/>
                  <a:uFillTx/>
                  <a:latin typeface="Arial" panose="020B0604020202020204"/>
                  <a:ea typeface="+mn-ea"/>
                  <a:cs typeface="+mn-cs"/>
                </a:rPr>
                <a:t>UMEC/VI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62.5/25 µg</a:t>
              </a:r>
              <a:b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br>
              <a:r>
                <a:rPr kumimoji="0" lang="pt-BR" sz="900" b="0" i="0" u="none" strike="noStrike" kern="0" cap="none" spc="0" normalizeH="0" baseline="0" noProof="0" dirty="0">
                  <a:ln>
                    <a:noFill/>
                  </a:ln>
                  <a:solidFill>
                    <a:srgbClr val="544F40"/>
                  </a:solidFill>
                  <a:effectLst/>
                  <a:uLnTx/>
                  <a:uFillTx/>
                  <a:latin typeface="Arial" panose="020B0604020202020204"/>
                  <a:ea typeface="+mn-ea"/>
                  <a:cs typeface="+mn-cs"/>
                </a:rPr>
                <a:t>n = 1,490</a:t>
              </a:r>
              <a:endParaRPr kumimoji="0" lang="en-GB" sz="900" b="0" i="0" u="none" strike="noStrike" kern="0" cap="none" spc="0" normalizeH="0" baseline="30000" noProof="0" dirty="0">
                <a:ln>
                  <a:noFill/>
                </a:ln>
                <a:solidFill>
                  <a:srgbClr val="544F40"/>
                </a:solidFill>
                <a:effectLst/>
                <a:uLnTx/>
                <a:uFillTx/>
                <a:latin typeface="Arial" panose="020B0604020202020204"/>
                <a:ea typeface="+mn-ea"/>
                <a:cs typeface="+mn-cs"/>
              </a:endParaRPr>
            </a:p>
          </p:txBody>
        </p:sp>
        <p:sp>
          <p:nvSpPr>
            <p:cNvPr id="49" name="Freeform 48"/>
            <p:cNvSpPr/>
            <p:nvPr/>
          </p:nvSpPr>
          <p:spPr>
            <a:xfrm flipH="1">
              <a:off x="9299574" y="4279032"/>
              <a:ext cx="880746" cy="311150"/>
            </a:xfrm>
            <a:custGeom>
              <a:avLst/>
              <a:gdLst>
                <a:gd name="connsiteX0" fmla="*/ 0 w 944880"/>
                <a:gd name="connsiteY0" fmla="*/ 502920 h 609600"/>
                <a:gd name="connsiteX1" fmla="*/ 0 w 944880"/>
                <a:gd name="connsiteY1" fmla="*/ 609600 h 609600"/>
                <a:gd name="connsiteX2" fmla="*/ 937260 w 944880"/>
                <a:gd name="connsiteY2" fmla="*/ 609600 h 609600"/>
                <a:gd name="connsiteX3" fmla="*/ 937260 w 944880"/>
                <a:gd name="connsiteY3" fmla="*/ 0 h 609600"/>
                <a:gd name="connsiteX4" fmla="*/ 944880 w 944880"/>
                <a:gd name="connsiteY4" fmla="*/ 7620 h 609600"/>
                <a:gd name="connsiteX0" fmla="*/ 0 w 937260"/>
                <a:gd name="connsiteY0" fmla="*/ 502920 h 609600"/>
                <a:gd name="connsiteX1" fmla="*/ 0 w 937260"/>
                <a:gd name="connsiteY1" fmla="*/ 609600 h 609600"/>
                <a:gd name="connsiteX2" fmla="*/ 937260 w 937260"/>
                <a:gd name="connsiteY2" fmla="*/ 609600 h 609600"/>
                <a:gd name="connsiteX3" fmla="*/ 937260 w 937260"/>
                <a:gd name="connsiteY3" fmla="*/ 0 h 609600"/>
                <a:gd name="connsiteX0" fmla="*/ 0 w 937260"/>
                <a:gd name="connsiteY0" fmla="*/ 204470 h 311150"/>
                <a:gd name="connsiteX1" fmla="*/ 0 w 937260"/>
                <a:gd name="connsiteY1" fmla="*/ 311150 h 311150"/>
                <a:gd name="connsiteX2" fmla="*/ 937260 w 937260"/>
                <a:gd name="connsiteY2" fmla="*/ 311150 h 311150"/>
                <a:gd name="connsiteX3" fmla="*/ 937260 w 937260"/>
                <a:gd name="connsiteY3" fmla="*/ 0 h 311150"/>
              </a:gdLst>
              <a:ahLst/>
              <a:cxnLst>
                <a:cxn ang="0">
                  <a:pos x="connsiteX0" y="connsiteY0"/>
                </a:cxn>
                <a:cxn ang="0">
                  <a:pos x="connsiteX1" y="connsiteY1"/>
                </a:cxn>
                <a:cxn ang="0">
                  <a:pos x="connsiteX2" y="connsiteY2"/>
                </a:cxn>
                <a:cxn ang="0">
                  <a:pos x="connsiteX3" y="connsiteY3"/>
                </a:cxn>
              </a:cxnLst>
              <a:rect l="l" t="t" r="r" b="b"/>
              <a:pathLst>
                <a:path w="937260" h="311150">
                  <a:moveTo>
                    <a:pt x="0" y="204470"/>
                  </a:moveTo>
                  <a:lnTo>
                    <a:pt x="0" y="311150"/>
                  </a:lnTo>
                  <a:lnTo>
                    <a:pt x="937260" y="311150"/>
                  </a:lnTo>
                  <a:lnTo>
                    <a:pt x="937260" y="0"/>
                  </a:lnTo>
                </a:path>
              </a:pathLst>
            </a:custGeom>
            <a:noFill/>
            <a:ln w="9525" cap="flat" cmpd="sng" algn="ctr">
              <a:solidFill>
                <a:schemeClr val="tx1"/>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Arial"/>
                <a:ea typeface="+mn-ea"/>
                <a:cs typeface="+mn-cs"/>
              </a:endParaRPr>
            </a:p>
          </p:txBody>
        </p:sp>
        <p:sp>
          <p:nvSpPr>
            <p:cNvPr id="50" name="TextBox 49">
              <a:extLst>
                <a:ext uri="{FF2B5EF4-FFF2-40B4-BE49-F238E27FC236}">
                  <a16:creationId xmlns:a16="http://schemas.microsoft.com/office/drawing/2014/main" id="{6BB2DB8A-09B8-44F7-8F60-3CFC3B4A552F}"/>
                </a:ext>
              </a:extLst>
            </p:cNvPr>
            <p:cNvSpPr txBox="1"/>
            <p:nvPr/>
          </p:nvSpPr>
          <p:spPr>
            <a:xfrm>
              <a:off x="8930490" y="4612045"/>
              <a:ext cx="161544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it-IT" sz="900" b="1" i="0" u="none" strike="noStrike" kern="0" cap="none" spc="0" normalizeH="0" baseline="0" noProof="0" dirty="0">
                  <a:ln>
                    <a:noFill/>
                  </a:ln>
                  <a:solidFill>
                    <a:srgbClr val="544F40"/>
                  </a:solidFill>
                  <a:effectLst/>
                  <a:uLnTx/>
                  <a:uFillTx/>
                  <a:latin typeface="Arial" panose="020B0604020202020204"/>
                  <a:ea typeface="+mn-ea"/>
                  <a:cs typeface="+mn-cs"/>
                </a:rPr>
                <a:t>Δ 97 mL </a:t>
              </a:r>
              <a:br>
                <a:rPr kumimoji="0" lang="it-IT" sz="9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it-IT" sz="900" b="0" i="0" u="none" strike="noStrike" kern="0" cap="none" spc="0" normalizeH="0" baseline="0" noProof="0" dirty="0">
                  <a:ln>
                    <a:noFill/>
                  </a:ln>
                  <a:solidFill>
                    <a:srgbClr val="544F40"/>
                  </a:solidFill>
                  <a:effectLst/>
                  <a:uLnTx/>
                  <a:uFillTx/>
                  <a:latin typeface="Arial" panose="020B0604020202020204"/>
                  <a:ea typeface="+mn-ea"/>
                  <a:cs typeface="+mn-cs"/>
                </a:rPr>
                <a:t>(95% CI: 85, 109) </a:t>
              </a:r>
              <a:r>
                <a:rPr kumimoji="0" lang="it-IT" sz="900" b="0" i="1" u="none" strike="noStrike" kern="0" cap="none" spc="0" normalizeH="0" baseline="0" noProof="0" dirty="0">
                  <a:ln>
                    <a:noFill/>
                  </a:ln>
                  <a:solidFill>
                    <a:srgbClr val="544F40"/>
                  </a:solidFill>
                  <a:effectLst/>
                  <a:uLnTx/>
                  <a:uFillTx/>
                  <a:latin typeface="Arial" panose="020B0604020202020204"/>
                  <a:ea typeface="+mn-ea"/>
                  <a:cs typeface="+mn-cs"/>
                </a:rPr>
                <a:t>p</a:t>
              </a:r>
              <a:r>
                <a:rPr kumimoji="0" lang="it-IT" sz="900" b="0" i="0" u="none" strike="noStrike" kern="0" cap="none" spc="0" normalizeH="0" baseline="0" noProof="0" dirty="0">
                  <a:ln>
                    <a:noFill/>
                  </a:ln>
                  <a:solidFill>
                    <a:srgbClr val="544F40"/>
                  </a:solidFill>
                  <a:effectLst/>
                  <a:uLnTx/>
                  <a:uFillTx/>
                  <a:latin typeface="Arial" panose="020B0604020202020204"/>
                  <a:ea typeface="+mn-ea"/>
                  <a:cs typeface="+mn-cs"/>
                </a:rPr>
                <a:t> &lt; 0.001</a:t>
              </a:r>
              <a:endParaRPr kumimoji="0" lang="en-GB" sz="9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53" name="Freeform 52"/>
            <p:cNvSpPr/>
            <p:nvPr/>
          </p:nvSpPr>
          <p:spPr>
            <a:xfrm flipH="1">
              <a:off x="9299348" y="4275543"/>
              <a:ext cx="1759177" cy="735330"/>
            </a:xfrm>
            <a:custGeom>
              <a:avLst/>
              <a:gdLst>
                <a:gd name="connsiteX0" fmla="*/ 0 w 944880"/>
                <a:gd name="connsiteY0" fmla="*/ 502920 h 609600"/>
                <a:gd name="connsiteX1" fmla="*/ 0 w 944880"/>
                <a:gd name="connsiteY1" fmla="*/ 609600 h 609600"/>
                <a:gd name="connsiteX2" fmla="*/ 937260 w 944880"/>
                <a:gd name="connsiteY2" fmla="*/ 609600 h 609600"/>
                <a:gd name="connsiteX3" fmla="*/ 937260 w 944880"/>
                <a:gd name="connsiteY3" fmla="*/ 0 h 609600"/>
                <a:gd name="connsiteX4" fmla="*/ 944880 w 944880"/>
                <a:gd name="connsiteY4" fmla="*/ 7620 h 609600"/>
                <a:gd name="connsiteX0" fmla="*/ 0 w 937260"/>
                <a:gd name="connsiteY0" fmla="*/ 502920 h 609600"/>
                <a:gd name="connsiteX1" fmla="*/ 0 w 937260"/>
                <a:gd name="connsiteY1" fmla="*/ 609600 h 609600"/>
                <a:gd name="connsiteX2" fmla="*/ 937260 w 937260"/>
                <a:gd name="connsiteY2" fmla="*/ 609600 h 609600"/>
                <a:gd name="connsiteX3" fmla="*/ 937260 w 937260"/>
                <a:gd name="connsiteY3" fmla="*/ 0 h 609600"/>
                <a:gd name="connsiteX0" fmla="*/ 0 w 937260"/>
                <a:gd name="connsiteY0" fmla="*/ 204470 h 311150"/>
                <a:gd name="connsiteX1" fmla="*/ 0 w 937260"/>
                <a:gd name="connsiteY1" fmla="*/ 311150 h 311150"/>
                <a:gd name="connsiteX2" fmla="*/ 937260 w 937260"/>
                <a:gd name="connsiteY2" fmla="*/ 311150 h 311150"/>
                <a:gd name="connsiteX3" fmla="*/ 937260 w 937260"/>
                <a:gd name="connsiteY3" fmla="*/ 0 h 311150"/>
                <a:gd name="connsiteX0" fmla="*/ 0 w 937260"/>
                <a:gd name="connsiteY0" fmla="*/ 21114 h 127794"/>
                <a:gd name="connsiteX1" fmla="*/ 0 w 937260"/>
                <a:gd name="connsiteY1" fmla="*/ 127794 h 127794"/>
                <a:gd name="connsiteX2" fmla="*/ 937260 w 937260"/>
                <a:gd name="connsiteY2" fmla="*/ 127794 h 127794"/>
                <a:gd name="connsiteX3" fmla="*/ 936016 w 937260"/>
                <a:gd name="connsiteY3" fmla="*/ 0 h 127794"/>
                <a:gd name="connsiteX0" fmla="*/ 0 w 938557"/>
                <a:gd name="connsiteY0" fmla="*/ 18733 h 125413"/>
                <a:gd name="connsiteX1" fmla="*/ 0 w 938557"/>
                <a:gd name="connsiteY1" fmla="*/ 125413 h 125413"/>
                <a:gd name="connsiteX2" fmla="*/ 937260 w 938557"/>
                <a:gd name="connsiteY2" fmla="*/ 125413 h 125413"/>
                <a:gd name="connsiteX3" fmla="*/ 938502 w 938557"/>
                <a:gd name="connsiteY3" fmla="*/ 0 h 125413"/>
                <a:gd name="connsiteX0" fmla="*/ 0 w 937378"/>
                <a:gd name="connsiteY0" fmla="*/ 18733 h 125413"/>
                <a:gd name="connsiteX1" fmla="*/ 0 w 937378"/>
                <a:gd name="connsiteY1" fmla="*/ 125413 h 125413"/>
                <a:gd name="connsiteX2" fmla="*/ 937260 w 937378"/>
                <a:gd name="connsiteY2" fmla="*/ 125413 h 125413"/>
                <a:gd name="connsiteX3" fmla="*/ 937259 w 937378"/>
                <a:gd name="connsiteY3" fmla="*/ 0 h 125413"/>
                <a:gd name="connsiteX0" fmla="*/ 0 w 937378"/>
                <a:gd name="connsiteY0" fmla="*/ 4446 h 111126"/>
                <a:gd name="connsiteX1" fmla="*/ 0 w 937378"/>
                <a:gd name="connsiteY1" fmla="*/ 111126 h 111126"/>
                <a:gd name="connsiteX2" fmla="*/ 937260 w 937378"/>
                <a:gd name="connsiteY2" fmla="*/ 111126 h 111126"/>
                <a:gd name="connsiteX3" fmla="*/ 937259 w 937378"/>
                <a:gd name="connsiteY3" fmla="*/ 0 h 111126"/>
                <a:gd name="connsiteX0" fmla="*/ 3730 w 937378"/>
                <a:gd name="connsiteY0" fmla="*/ 0 h 904398"/>
                <a:gd name="connsiteX1" fmla="*/ 0 w 937378"/>
                <a:gd name="connsiteY1" fmla="*/ 904398 h 904398"/>
                <a:gd name="connsiteX2" fmla="*/ 937260 w 937378"/>
                <a:gd name="connsiteY2" fmla="*/ 904398 h 904398"/>
                <a:gd name="connsiteX3" fmla="*/ 937259 w 937378"/>
                <a:gd name="connsiteY3" fmla="*/ 793272 h 904398"/>
                <a:gd name="connsiteX0" fmla="*/ 4973 w 937378"/>
                <a:gd name="connsiteY0" fmla="*/ 0 h 832961"/>
                <a:gd name="connsiteX1" fmla="*/ 0 w 937378"/>
                <a:gd name="connsiteY1" fmla="*/ 832961 h 832961"/>
                <a:gd name="connsiteX2" fmla="*/ 937260 w 937378"/>
                <a:gd name="connsiteY2" fmla="*/ 832961 h 832961"/>
                <a:gd name="connsiteX3" fmla="*/ 937259 w 937378"/>
                <a:gd name="connsiteY3" fmla="*/ 721835 h 832961"/>
                <a:gd name="connsiteX0" fmla="*/ 4973 w 937378"/>
                <a:gd name="connsiteY0" fmla="*/ 0 h 840105"/>
                <a:gd name="connsiteX1" fmla="*/ 0 w 937378"/>
                <a:gd name="connsiteY1" fmla="*/ 840105 h 840105"/>
                <a:gd name="connsiteX2" fmla="*/ 937260 w 937378"/>
                <a:gd name="connsiteY2" fmla="*/ 840105 h 840105"/>
                <a:gd name="connsiteX3" fmla="*/ 937259 w 937378"/>
                <a:gd name="connsiteY3" fmla="*/ 728979 h 840105"/>
                <a:gd name="connsiteX0" fmla="*/ 2486 w 937378"/>
                <a:gd name="connsiteY0" fmla="*/ 0 h 840105"/>
                <a:gd name="connsiteX1" fmla="*/ 0 w 937378"/>
                <a:gd name="connsiteY1" fmla="*/ 840105 h 840105"/>
                <a:gd name="connsiteX2" fmla="*/ 937260 w 937378"/>
                <a:gd name="connsiteY2" fmla="*/ 840105 h 840105"/>
                <a:gd name="connsiteX3" fmla="*/ 937259 w 937378"/>
                <a:gd name="connsiteY3" fmla="*/ 728979 h 840105"/>
                <a:gd name="connsiteX0" fmla="*/ 3729 w 937378"/>
                <a:gd name="connsiteY0" fmla="*/ 0 h 735330"/>
                <a:gd name="connsiteX1" fmla="*/ 0 w 937378"/>
                <a:gd name="connsiteY1" fmla="*/ 735330 h 735330"/>
                <a:gd name="connsiteX2" fmla="*/ 937260 w 937378"/>
                <a:gd name="connsiteY2" fmla="*/ 735330 h 735330"/>
                <a:gd name="connsiteX3" fmla="*/ 937259 w 937378"/>
                <a:gd name="connsiteY3" fmla="*/ 624204 h 735330"/>
                <a:gd name="connsiteX0" fmla="*/ 3729 w 937378"/>
                <a:gd name="connsiteY0" fmla="*/ 0 h 735330"/>
                <a:gd name="connsiteX1" fmla="*/ 0 w 937378"/>
                <a:gd name="connsiteY1" fmla="*/ 735330 h 735330"/>
                <a:gd name="connsiteX2" fmla="*/ 937260 w 937378"/>
                <a:gd name="connsiteY2" fmla="*/ 735330 h 735330"/>
                <a:gd name="connsiteX3" fmla="*/ 937259 w 937378"/>
                <a:gd name="connsiteY3" fmla="*/ 624204 h 735330"/>
                <a:gd name="connsiteX0" fmla="*/ 1243 w 937378"/>
                <a:gd name="connsiteY0" fmla="*/ 0 h 735330"/>
                <a:gd name="connsiteX1" fmla="*/ 0 w 937378"/>
                <a:gd name="connsiteY1" fmla="*/ 735330 h 735330"/>
                <a:gd name="connsiteX2" fmla="*/ 937260 w 937378"/>
                <a:gd name="connsiteY2" fmla="*/ 735330 h 735330"/>
                <a:gd name="connsiteX3" fmla="*/ 937259 w 937378"/>
                <a:gd name="connsiteY3" fmla="*/ 624204 h 735330"/>
                <a:gd name="connsiteX0" fmla="*/ 1243 w 937378"/>
                <a:gd name="connsiteY0" fmla="*/ 0 h 735330"/>
                <a:gd name="connsiteX1" fmla="*/ 0 w 937378"/>
                <a:gd name="connsiteY1" fmla="*/ 735330 h 735330"/>
                <a:gd name="connsiteX2" fmla="*/ 937260 w 937378"/>
                <a:gd name="connsiteY2" fmla="*/ 735330 h 735330"/>
                <a:gd name="connsiteX3" fmla="*/ 937259 w 937378"/>
                <a:gd name="connsiteY3" fmla="*/ 645635 h 735330"/>
                <a:gd name="connsiteX0" fmla="*/ 1243 w 937378"/>
                <a:gd name="connsiteY0" fmla="*/ 0 h 735330"/>
                <a:gd name="connsiteX1" fmla="*/ 0 w 937378"/>
                <a:gd name="connsiteY1" fmla="*/ 735330 h 735330"/>
                <a:gd name="connsiteX2" fmla="*/ 937260 w 937378"/>
                <a:gd name="connsiteY2" fmla="*/ 735330 h 735330"/>
                <a:gd name="connsiteX3" fmla="*/ 937259 w 937378"/>
                <a:gd name="connsiteY3" fmla="*/ 645635 h 735330"/>
                <a:gd name="connsiteX0" fmla="*/ 1243 w 937378"/>
                <a:gd name="connsiteY0" fmla="*/ 0 h 735330"/>
                <a:gd name="connsiteX1" fmla="*/ 0 w 937378"/>
                <a:gd name="connsiteY1" fmla="*/ 735330 h 735330"/>
                <a:gd name="connsiteX2" fmla="*/ 937260 w 937378"/>
                <a:gd name="connsiteY2" fmla="*/ 735330 h 735330"/>
                <a:gd name="connsiteX3" fmla="*/ 937259 w 937378"/>
                <a:gd name="connsiteY3" fmla="*/ 655160 h 735330"/>
                <a:gd name="connsiteX0" fmla="*/ 1243 w 937378"/>
                <a:gd name="connsiteY0" fmla="*/ 0 h 735330"/>
                <a:gd name="connsiteX1" fmla="*/ 0 w 937378"/>
                <a:gd name="connsiteY1" fmla="*/ 735330 h 735330"/>
                <a:gd name="connsiteX2" fmla="*/ 937260 w 937378"/>
                <a:gd name="connsiteY2" fmla="*/ 735330 h 735330"/>
                <a:gd name="connsiteX3" fmla="*/ 937259 w 937378"/>
                <a:gd name="connsiteY3" fmla="*/ 664685 h 735330"/>
              </a:gdLst>
              <a:ahLst/>
              <a:cxnLst>
                <a:cxn ang="0">
                  <a:pos x="connsiteX0" y="connsiteY0"/>
                </a:cxn>
                <a:cxn ang="0">
                  <a:pos x="connsiteX1" y="connsiteY1"/>
                </a:cxn>
                <a:cxn ang="0">
                  <a:pos x="connsiteX2" y="connsiteY2"/>
                </a:cxn>
                <a:cxn ang="0">
                  <a:pos x="connsiteX3" y="connsiteY3"/>
                </a:cxn>
              </a:cxnLst>
              <a:rect l="l" t="t" r="r" b="b"/>
              <a:pathLst>
                <a:path w="937378" h="735330">
                  <a:moveTo>
                    <a:pt x="1243" y="0"/>
                  </a:moveTo>
                  <a:cubicBezTo>
                    <a:pt x="0" y="301466"/>
                    <a:pt x="1243" y="433864"/>
                    <a:pt x="0" y="735330"/>
                  </a:cubicBezTo>
                  <a:lnTo>
                    <a:pt x="937260" y="735330"/>
                  </a:lnTo>
                  <a:cubicBezTo>
                    <a:pt x="936845" y="692732"/>
                    <a:pt x="937674" y="707283"/>
                    <a:pt x="937259" y="664685"/>
                  </a:cubicBezTo>
                </a:path>
              </a:pathLst>
            </a:custGeom>
            <a:noFill/>
            <a:ln w="9525" cap="flat" cmpd="sng" algn="ctr">
              <a:solidFill>
                <a:schemeClr val="tx1"/>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Arial"/>
                <a:ea typeface="+mn-ea"/>
                <a:cs typeface="+mn-cs"/>
              </a:endParaRPr>
            </a:p>
          </p:txBody>
        </p:sp>
        <p:sp>
          <p:nvSpPr>
            <p:cNvPr id="54" name="TextBox 53">
              <a:extLst>
                <a:ext uri="{FF2B5EF4-FFF2-40B4-BE49-F238E27FC236}">
                  <a16:creationId xmlns:a16="http://schemas.microsoft.com/office/drawing/2014/main" id="{6BB2DB8A-09B8-44F7-8F60-3CFC3B4A552F}"/>
                </a:ext>
              </a:extLst>
            </p:cNvPr>
            <p:cNvSpPr txBox="1"/>
            <p:nvPr/>
          </p:nvSpPr>
          <p:spPr>
            <a:xfrm>
              <a:off x="9404359" y="5030796"/>
              <a:ext cx="161544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it-IT" sz="900" b="1" i="0" u="none" strike="noStrike" kern="0" cap="none" spc="0" normalizeH="0" baseline="0" noProof="0" dirty="0">
                  <a:ln>
                    <a:noFill/>
                  </a:ln>
                  <a:solidFill>
                    <a:srgbClr val="544F40"/>
                  </a:solidFill>
                  <a:effectLst/>
                  <a:uLnTx/>
                  <a:uFillTx/>
                  <a:latin typeface="Arial" panose="020B0604020202020204"/>
                  <a:ea typeface="+mn-ea"/>
                  <a:cs typeface="+mn-cs"/>
                </a:rPr>
                <a:t>Δ 54 mL</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it-IT" sz="900" b="0" i="0" u="none" strike="noStrike" kern="0" cap="none" spc="0" normalizeH="0" baseline="0" noProof="0" dirty="0">
                  <a:ln>
                    <a:noFill/>
                  </a:ln>
                  <a:solidFill>
                    <a:srgbClr val="544F40"/>
                  </a:solidFill>
                  <a:effectLst/>
                  <a:uLnTx/>
                  <a:uFillTx/>
                  <a:latin typeface="Arial" panose="020B0604020202020204"/>
                  <a:ea typeface="+mn-ea"/>
                  <a:cs typeface="+mn-cs"/>
                </a:rPr>
                <a:t>(95% CI: 39, 69) </a:t>
              </a:r>
              <a:r>
                <a:rPr kumimoji="0" lang="it-IT" sz="900" b="0" i="1" u="none" strike="noStrike" kern="0" cap="none" spc="0" normalizeH="0" baseline="0" noProof="0" dirty="0">
                  <a:ln>
                    <a:noFill/>
                  </a:ln>
                  <a:solidFill>
                    <a:srgbClr val="544F40"/>
                  </a:solidFill>
                  <a:effectLst/>
                  <a:uLnTx/>
                  <a:uFillTx/>
                  <a:latin typeface="Arial" panose="020B0604020202020204"/>
                  <a:ea typeface="+mn-ea"/>
                  <a:cs typeface="+mn-cs"/>
                </a:rPr>
                <a:t>p</a:t>
              </a:r>
              <a:r>
                <a:rPr kumimoji="0" lang="it-IT" sz="900" b="0" i="0" u="none" strike="noStrike" kern="0" cap="none" spc="0" normalizeH="0" baseline="0" noProof="0" dirty="0">
                  <a:ln>
                    <a:noFill/>
                  </a:ln>
                  <a:solidFill>
                    <a:srgbClr val="544F40"/>
                  </a:solidFill>
                  <a:effectLst/>
                  <a:uLnTx/>
                  <a:uFillTx/>
                  <a:latin typeface="Arial" panose="020B0604020202020204"/>
                  <a:ea typeface="+mn-ea"/>
                  <a:cs typeface="+mn-cs"/>
                </a:rPr>
                <a:t> &lt; 0.001</a:t>
              </a:r>
              <a:endParaRPr kumimoji="0" lang="en-GB" sz="9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grpSp>
      <p:pic>
        <p:nvPicPr>
          <p:cNvPr id="52" name="Picture 51">
            <a:extLst>
              <a:ext uri="{FF2B5EF4-FFF2-40B4-BE49-F238E27FC236}">
                <a16:creationId xmlns:a16="http://schemas.microsoft.com/office/drawing/2014/main" id="{F89C67CB-48BA-4A88-9301-0CB397AE4EB8}"/>
              </a:ext>
            </a:extLst>
          </p:cNvPr>
          <p:cNvPicPr>
            <a:picLocks noChangeAspect="1"/>
          </p:cNvPicPr>
          <p:nvPr/>
        </p:nvPicPr>
        <p:blipFill>
          <a:blip r:embed="rId5"/>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133487737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7" name="Table 106"/>
          <p:cNvGraphicFramePr>
            <a:graphicFrameLocks noGrp="1"/>
          </p:cNvGraphicFramePr>
          <p:nvPr/>
        </p:nvGraphicFramePr>
        <p:xfrm>
          <a:off x="434892" y="4603736"/>
          <a:ext cx="11338010" cy="1133856"/>
        </p:xfrm>
        <a:graphic>
          <a:graphicData uri="http://schemas.openxmlformats.org/drawingml/2006/table">
            <a:tbl>
              <a:tblPr bandRow="1"/>
              <a:tblGrid>
                <a:gridCol w="993858">
                  <a:extLst>
                    <a:ext uri="{9D8B030D-6E8A-4147-A177-3AD203B41FA5}">
                      <a16:colId xmlns:a16="http://schemas.microsoft.com/office/drawing/2014/main" val="3014380832"/>
                    </a:ext>
                  </a:extLst>
                </a:gridCol>
                <a:gridCol w="738868">
                  <a:extLst>
                    <a:ext uri="{9D8B030D-6E8A-4147-A177-3AD203B41FA5}">
                      <a16:colId xmlns:a16="http://schemas.microsoft.com/office/drawing/2014/main" val="616635264"/>
                    </a:ext>
                  </a:extLst>
                </a:gridCol>
                <a:gridCol w="738868">
                  <a:extLst>
                    <a:ext uri="{9D8B030D-6E8A-4147-A177-3AD203B41FA5}">
                      <a16:colId xmlns:a16="http://schemas.microsoft.com/office/drawing/2014/main" val="2445297202"/>
                    </a:ext>
                  </a:extLst>
                </a:gridCol>
                <a:gridCol w="738868">
                  <a:extLst>
                    <a:ext uri="{9D8B030D-6E8A-4147-A177-3AD203B41FA5}">
                      <a16:colId xmlns:a16="http://schemas.microsoft.com/office/drawing/2014/main" val="1013414682"/>
                    </a:ext>
                  </a:extLst>
                </a:gridCol>
                <a:gridCol w="738868">
                  <a:extLst>
                    <a:ext uri="{9D8B030D-6E8A-4147-A177-3AD203B41FA5}">
                      <a16:colId xmlns:a16="http://schemas.microsoft.com/office/drawing/2014/main" val="142625598"/>
                    </a:ext>
                  </a:extLst>
                </a:gridCol>
                <a:gridCol w="738868">
                  <a:extLst>
                    <a:ext uri="{9D8B030D-6E8A-4147-A177-3AD203B41FA5}">
                      <a16:colId xmlns:a16="http://schemas.microsoft.com/office/drawing/2014/main" val="3566639417"/>
                    </a:ext>
                  </a:extLst>
                </a:gridCol>
                <a:gridCol w="738868">
                  <a:extLst>
                    <a:ext uri="{9D8B030D-6E8A-4147-A177-3AD203B41FA5}">
                      <a16:colId xmlns:a16="http://schemas.microsoft.com/office/drawing/2014/main" val="2911608941"/>
                    </a:ext>
                  </a:extLst>
                </a:gridCol>
                <a:gridCol w="738868">
                  <a:extLst>
                    <a:ext uri="{9D8B030D-6E8A-4147-A177-3AD203B41FA5}">
                      <a16:colId xmlns:a16="http://schemas.microsoft.com/office/drawing/2014/main" val="1137825628"/>
                    </a:ext>
                  </a:extLst>
                </a:gridCol>
                <a:gridCol w="738868">
                  <a:extLst>
                    <a:ext uri="{9D8B030D-6E8A-4147-A177-3AD203B41FA5}">
                      <a16:colId xmlns:a16="http://schemas.microsoft.com/office/drawing/2014/main" val="2470987296"/>
                    </a:ext>
                  </a:extLst>
                </a:gridCol>
                <a:gridCol w="738868">
                  <a:extLst>
                    <a:ext uri="{9D8B030D-6E8A-4147-A177-3AD203B41FA5}">
                      <a16:colId xmlns:a16="http://schemas.microsoft.com/office/drawing/2014/main" val="3181813347"/>
                    </a:ext>
                  </a:extLst>
                </a:gridCol>
                <a:gridCol w="738868">
                  <a:extLst>
                    <a:ext uri="{9D8B030D-6E8A-4147-A177-3AD203B41FA5}">
                      <a16:colId xmlns:a16="http://schemas.microsoft.com/office/drawing/2014/main" val="1842468694"/>
                    </a:ext>
                  </a:extLst>
                </a:gridCol>
                <a:gridCol w="738868">
                  <a:extLst>
                    <a:ext uri="{9D8B030D-6E8A-4147-A177-3AD203B41FA5}">
                      <a16:colId xmlns:a16="http://schemas.microsoft.com/office/drawing/2014/main" val="2778921321"/>
                    </a:ext>
                  </a:extLst>
                </a:gridCol>
                <a:gridCol w="738868">
                  <a:extLst>
                    <a:ext uri="{9D8B030D-6E8A-4147-A177-3AD203B41FA5}">
                      <a16:colId xmlns:a16="http://schemas.microsoft.com/office/drawing/2014/main" val="507836475"/>
                    </a:ext>
                  </a:extLst>
                </a:gridCol>
                <a:gridCol w="738868">
                  <a:extLst>
                    <a:ext uri="{9D8B030D-6E8A-4147-A177-3AD203B41FA5}">
                      <a16:colId xmlns:a16="http://schemas.microsoft.com/office/drawing/2014/main" val="1894920958"/>
                    </a:ext>
                  </a:extLst>
                </a:gridCol>
                <a:gridCol w="738868">
                  <a:extLst>
                    <a:ext uri="{9D8B030D-6E8A-4147-A177-3AD203B41FA5}">
                      <a16:colId xmlns:a16="http://schemas.microsoft.com/office/drawing/2014/main" val="2996585387"/>
                    </a:ext>
                  </a:extLst>
                </a:gridCol>
              </a:tblGrid>
              <a:tr h="91596">
                <a:tc gridSpan="2">
                  <a:txBody>
                    <a:bodyPr/>
                    <a:lstStyle/>
                    <a:p>
                      <a:pPr algn="r">
                        <a:spcAft>
                          <a:spcPts val="100"/>
                        </a:spcAft>
                      </a:pPr>
                      <a:r>
                        <a:rPr lang="en-US" sz="1200" b="1" dirty="0">
                          <a:solidFill>
                            <a:srgbClr val="544F40"/>
                          </a:solidFill>
                          <a:latin typeface="+mn-lt"/>
                        </a:rPr>
                        <a:t>Number of </a:t>
                      </a:r>
                      <a:br>
                        <a:rPr lang="en-US" sz="1200" b="1" dirty="0">
                          <a:solidFill>
                            <a:srgbClr val="544F40"/>
                          </a:solidFill>
                          <a:latin typeface="+mn-lt"/>
                        </a:rPr>
                      </a:br>
                      <a:r>
                        <a:rPr lang="en-US" sz="1200" b="1" dirty="0">
                          <a:solidFill>
                            <a:srgbClr val="544F40"/>
                          </a:solidFill>
                          <a:latin typeface="+mn-lt"/>
                        </a:rPr>
                        <a:t>subjects at risk</a:t>
                      </a:r>
                    </a:p>
                  </a:txBody>
                  <a:tcPr marL="0" marR="594360"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184299"/>
                  </a:ext>
                </a:extLst>
              </a:tr>
              <a:tr h="91596">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a:spcAft>
                          <a:spcPts val="100"/>
                        </a:spcAft>
                      </a:pPr>
                      <a:r>
                        <a:rPr lang="en-GB" sz="1200" b="1" dirty="0">
                          <a:solidFill>
                            <a:srgbClr val="F36633"/>
                          </a:solidFill>
                          <a:latin typeface="+mn-lt"/>
                        </a:rPr>
                        <a:t>FF/UMEC/VI</a:t>
                      </a:r>
                    </a:p>
                  </a:txBody>
                  <a:tcPr marL="0"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F36633"/>
                          </a:solidFill>
                          <a:latin typeface="+mn-lt"/>
                        </a:rPr>
                        <a:t>4151</a:t>
                      </a:r>
                    </a:p>
                  </a:txBody>
                  <a:tcPr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F36633"/>
                          </a:solidFill>
                          <a:latin typeface="+mn-lt"/>
                        </a:rPr>
                        <a:t>3758</a:t>
                      </a:r>
                    </a:p>
                  </a:txBody>
                  <a:tcPr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F36633"/>
                          </a:solidFill>
                          <a:latin typeface="+mn-lt"/>
                        </a:rPr>
                        <a:t>3408</a:t>
                      </a:r>
                    </a:p>
                  </a:txBody>
                  <a:tcPr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F36633"/>
                          </a:solidFill>
                          <a:latin typeface="+mn-lt"/>
                        </a:rPr>
                        <a:t>3186</a:t>
                      </a:r>
                    </a:p>
                  </a:txBody>
                  <a:tcPr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F36633"/>
                          </a:solidFill>
                          <a:latin typeface="+mn-lt"/>
                        </a:rPr>
                        <a:t>2954</a:t>
                      </a:r>
                    </a:p>
                  </a:txBody>
                  <a:tcPr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F36633"/>
                          </a:solidFill>
                          <a:latin typeface="+mn-lt"/>
                        </a:rPr>
                        <a:t>2752</a:t>
                      </a:r>
                    </a:p>
                  </a:txBody>
                  <a:tcPr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F36633"/>
                          </a:solidFill>
                          <a:latin typeface="+mn-lt"/>
                        </a:rPr>
                        <a:t>2614</a:t>
                      </a:r>
                    </a:p>
                  </a:txBody>
                  <a:tcPr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F36633"/>
                          </a:solidFill>
                          <a:latin typeface="+mn-lt"/>
                        </a:rPr>
                        <a:t>2457</a:t>
                      </a:r>
                    </a:p>
                  </a:txBody>
                  <a:tcPr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F36633"/>
                          </a:solidFill>
                          <a:latin typeface="+mn-lt"/>
                        </a:rPr>
                        <a:t>2324</a:t>
                      </a:r>
                    </a:p>
                  </a:txBody>
                  <a:tcPr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F36633"/>
                          </a:solidFill>
                          <a:latin typeface="+mn-lt"/>
                        </a:rPr>
                        <a:t>2216</a:t>
                      </a:r>
                    </a:p>
                  </a:txBody>
                  <a:tcPr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F36633"/>
                          </a:solidFill>
                          <a:latin typeface="+mn-lt"/>
                        </a:rPr>
                        <a:t>2085</a:t>
                      </a:r>
                    </a:p>
                  </a:txBody>
                  <a:tcPr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F36633"/>
                          </a:solidFill>
                          <a:latin typeface="+mn-lt"/>
                        </a:rPr>
                        <a:t>1988</a:t>
                      </a:r>
                    </a:p>
                  </a:txBody>
                  <a:tcPr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F36633"/>
                          </a:solidFill>
                          <a:latin typeface="+mn-lt"/>
                        </a:rPr>
                        <a:t>1919</a:t>
                      </a:r>
                    </a:p>
                  </a:txBody>
                  <a:tcPr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F36633"/>
                          </a:solidFill>
                          <a:latin typeface="+mn-lt"/>
                        </a:rPr>
                        <a:t>1419</a:t>
                      </a:r>
                    </a:p>
                  </a:txBody>
                  <a:tcPr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1107438"/>
                  </a:ext>
                </a:extLst>
              </a:tr>
              <a:tr h="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a:spcAft>
                          <a:spcPts val="100"/>
                        </a:spcAft>
                      </a:pPr>
                      <a:r>
                        <a:rPr lang="en-GB" sz="1200" b="1" dirty="0">
                          <a:solidFill>
                            <a:srgbClr val="008A00"/>
                          </a:solidFill>
                          <a:latin typeface="+mn-lt"/>
                        </a:rPr>
                        <a:t>FF/VI</a:t>
                      </a:r>
                    </a:p>
                  </a:txBody>
                  <a:tcPr marL="0"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008A00"/>
                          </a:solidFill>
                          <a:latin typeface="+mn-lt"/>
                        </a:rPr>
                        <a:t>4134</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008A00"/>
                          </a:solidFill>
                          <a:latin typeface="+mn-lt"/>
                        </a:rPr>
                        <a:t>3554</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008A00"/>
                          </a:solidFill>
                          <a:latin typeface="+mn-lt"/>
                        </a:rPr>
                        <a:t>3133</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008A00"/>
                          </a:solidFill>
                          <a:latin typeface="+mn-lt"/>
                        </a:rPr>
                        <a:t>2838</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008A00"/>
                          </a:solidFill>
                          <a:latin typeface="+mn-lt"/>
                        </a:rPr>
                        <a:t>2620</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008A00"/>
                          </a:solidFill>
                          <a:latin typeface="+mn-lt"/>
                        </a:rPr>
                        <a:t>2410</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008A00"/>
                          </a:solidFill>
                          <a:latin typeface="+mn-lt"/>
                        </a:rPr>
                        <a:t>2250</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008A00"/>
                          </a:solidFill>
                          <a:latin typeface="+mn-lt"/>
                        </a:rPr>
                        <a:t>2120</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008A00"/>
                          </a:solidFill>
                          <a:latin typeface="+mn-lt"/>
                        </a:rPr>
                        <a:t>2004</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008A00"/>
                          </a:solidFill>
                          <a:latin typeface="+mn-lt"/>
                        </a:rPr>
                        <a:t>1920</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008A00"/>
                          </a:solidFill>
                          <a:latin typeface="+mn-lt"/>
                        </a:rPr>
                        <a:t>1823</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008A00"/>
                          </a:solidFill>
                          <a:latin typeface="+mn-lt"/>
                        </a:rPr>
                        <a:t>1729</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008A00"/>
                          </a:solidFill>
                          <a:latin typeface="+mn-lt"/>
                        </a:rPr>
                        <a:t>1671</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008A00"/>
                          </a:solidFill>
                          <a:latin typeface="+mn-lt"/>
                        </a:rPr>
                        <a:t>1228</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2196128"/>
                  </a:ext>
                </a:extLst>
              </a:tr>
              <a:tr h="91596">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a:spcAft>
                          <a:spcPts val="100"/>
                        </a:spcAft>
                      </a:pPr>
                      <a:r>
                        <a:rPr lang="en-GB" sz="1200" b="1" dirty="0">
                          <a:solidFill>
                            <a:srgbClr val="40488D"/>
                          </a:solidFill>
                          <a:latin typeface="+mn-lt"/>
                        </a:rPr>
                        <a:t>UMEC/VI</a:t>
                      </a:r>
                    </a:p>
                  </a:txBody>
                  <a:tcPr marL="0"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40488D"/>
                          </a:solidFill>
                          <a:latin typeface="+mn-lt"/>
                        </a:rPr>
                        <a:t>2070</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40488D"/>
                          </a:solidFill>
                          <a:latin typeface="+mn-lt"/>
                        </a:rPr>
                        <a:t>1721</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40488D"/>
                          </a:solidFill>
                          <a:latin typeface="+mn-lt"/>
                        </a:rPr>
                        <a:t>1516</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40488D"/>
                          </a:solidFill>
                          <a:latin typeface="+mn-lt"/>
                        </a:rPr>
                        <a:t>1406</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40488D"/>
                          </a:solidFill>
                          <a:latin typeface="+mn-lt"/>
                        </a:rPr>
                        <a:t>1301</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40488D"/>
                          </a:solidFill>
                          <a:latin typeface="+mn-lt"/>
                        </a:rPr>
                        <a:t>1201</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40488D"/>
                          </a:solidFill>
                          <a:latin typeface="+mn-lt"/>
                        </a:rPr>
                        <a:t>1123</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40488D"/>
                          </a:solidFill>
                          <a:latin typeface="+mn-lt"/>
                        </a:rPr>
                        <a:t>1059</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40488D"/>
                          </a:solidFill>
                          <a:latin typeface="+mn-lt"/>
                        </a:rPr>
                        <a:t>1001</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40488D"/>
                          </a:solidFill>
                          <a:latin typeface="+mn-lt"/>
                        </a:rPr>
                        <a:t>971</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40488D"/>
                          </a:solidFill>
                          <a:latin typeface="+mn-lt"/>
                        </a:rPr>
                        <a:t>917</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40488D"/>
                          </a:solidFill>
                          <a:latin typeface="+mn-lt"/>
                        </a:rPr>
                        <a:t>884</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40488D"/>
                          </a:solidFill>
                          <a:latin typeface="+mn-lt"/>
                        </a:rPr>
                        <a:t>851</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spcAft>
                          <a:spcPts val="100"/>
                        </a:spcAft>
                      </a:pPr>
                      <a:r>
                        <a:rPr lang="en-GB" sz="1200" dirty="0">
                          <a:solidFill>
                            <a:srgbClr val="40488D"/>
                          </a:solidFill>
                          <a:latin typeface="+mn-lt"/>
                        </a:rPr>
                        <a:t>642</a:t>
                      </a:r>
                    </a:p>
                  </a:txBody>
                  <a:tcPr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0571439"/>
                  </a:ext>
                </a:extLst>
              </a:tr>
            </a:tbl>
          </a:graphicData>
        </a:graphic>
      </p:graphicFrame>
      <p:sp>
        <p:nvSpPr>
          <p:cNvPr id="2" name="Title 1"/>
          <p:cNvSpPr>
            <a:spLocks noGrp="1"/>
          </p:cNvSpPr>
          <p:nvPr>
            <p:ph type="title"/>
          </p:nvPr>
        </p:nvSpPr>
        <p:spPr/>
        <p:txBody>
          <a:bodyPr/>
          <a:lstStyle/>
          <a:p>
            <a:r>
              <a:rPr lang="en-US" sz="2400" dirty="0"/>
              <a:t>IMPACT: Time to first on-treatment moderate/severe exacerbation</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17" name="Text Placeholder 16"/>
          <p:cNvSpPr>
            <a:spLocks noGrp="1"/>
          </p:cNvSpPr>
          <p:nvPr>
            <p:ph type="body" sz="quarter" idx="21"/>
          </p:nvPr>
        </p:nvSpPr>
        <p:spPr/>
        <p:txBody>
          <a:bodyPr/>
          <a:lstStyle/>
          <a:p>
            <a:r>
              <a:rPr lang="da-DK" dirty="0"/>
              <a:t>1. Lipson DA. </a:t>
            </a:r>
            <a:r>
              <a:rPr lang="da-DK" i="1" dirty="0"/>
              <a:t>N Engl J Med. </a:t>
            </a:r>
            <a:r>
              <a:rPr lang="da-DK" dirty="0"/>
              <a:t>2018;378:1671-1680; 2. </a:t>
            </a:r>
            <a:r>
              <a:rPr lang="en-GB" dirty="0"/>
              <a:t>Data on </a:t>
            </a:r>
            <a:r>
              <a:rPr lang="en-GB" dirty="0" err="1"/>
              <a:t>file;RF</a:t>
            </a:r>
            <a:r>
              <a:rPr lang="en-GB" dirty="0"/>
              <a:t>/TLY/0096/17(1);1-23</a:t>
            </a:r>
            <a:endParaRPr lang="en-US" dirty="0"/>
          </a:p>
        </p:txBody>
      </p:sp>
      <p:sp>
        <p:nvSpPr>
          <p:cNvPr id="8" name="Text Placeholder 7"/>
          <p:cNvSpPr>
            <a:spLocks noGrp="1"/>
          </p:cNvSpPr>
          <p:nvPr>
            <p:ph type="body" sz="quarter" idx="19"/>
          </p:nvPr>
        </p:nvSpPr>
        <p:spPr/>
        <p:txBody>
          <a:bodyPr/>
          <a:lstStyle/>
          <a:p>
            <a:r>
              <a:rPr lang="en-US" dirty="0"/>
              <a:t>The graph has been independently created by GSK from original data </a:t>
            </a:r>
          </a:p>
          <a:p>
            <a:r>
              <a:rPr lang="en-US" dirty="0"/>
              <a:t>CI, confidence interval; FF, fluticasone furoate; ICS, Inhaled corticosteroids; LABA, long-acting beta-agonist; LAMA, long-acting muscarinic antagonist; UMEC, umeclidinium; VI, vilanterol</a:t>
            </a:r>
          </a:p>
        </p:txBody>
      </p:sp>
      <p:grpSp>
        <p:nvGrpSpPr>
          <p:cNvPr id="4" name="Group 3"/>
          <p:cNvGrpSpPr/>
          <p:nvPr/>
        </p:nvGrpSpPr>
        <p:grpSpPr>
          <a:xfrm>
            <a:off x="1110898" y="1569314"/>
            <a:ext cx="10428009" cy="3185565"/>
            <a:chOff x="1110898" y="1569314"/>
            <a:chExt cx="10428009" cy="3185565"/>
          </a:xfrm>
        </p:grpSpPr>
        <p:grpSp>
          <p:nvGrpSpPr>
            <p:cNvPr id="38" name="Group 37"/>
            <p:cNvGrpSpPr/>
            <p:nvPr/>
          </p:nvGrpSpPr>
          <p:grpSpPr>
            <a:xfrm>
              <a:off x="1471892" y="1569314"/>
              <a:ext cx="169919" cy="2671376"/>
              <a:chOff x="1767491" y="1697303"/>
              <a:chExt cx="138497" cy="3008239"/>
            </a:xfrm>
          </p:grpSpPr>
          <p:sp>
            <p:nvSpPr>
              <p:cNvPr id="98" name="TextBox 97"/>
              <p:cNvSpPr txBox="1"/>
              <p:nvPr/>
            </p:nvSpPr>
            <p:spPr>
              <a:xfrm>
                <a:off x="1836739" y="4491948"/>
                <a:ext cx="69249" cy="213594"/>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0</a:t>
                </a:r>
              </a:p>
            </p:txBody>
          </p:sp>
          <p:sp>
            <p:nvSpPr>
              <p:cNvPr id="100" name="TextBox 99"/>
              <p:cNvSpPr txBox="1"/>
              <p:nvPr/>
            </p:nvSpPr>
            <p:spPr>
              <a:xfrm>
                <a:off x="1767493" y="4028103"/>
                <a:ext cx="138495" cy="213594"/>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10</a:t>
                </a:r>
              </a:p>
            </p:txBody>
          </p:sp>
          <p:sp>
            <p:nvSpPr>
              <p:cNvPr id="101" name="TextBox 100"/>
              <p:cNvSpPr txBox="1"/>
              <p:nvPr/>
            </p:nvSpPr>
            <p:spPr>
              <a:xfrm>
                <a:off x="1767491" y="3564256"/>
                <a:ext cx="138496" cy="213594"/>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20</a:t>
                </a:r>
              </a:p>
            </p:txBody>
          </p:sp>
          <p:sp>
            <p:nvSpPr>
              <p:cNvPr id="102" name="TextBox 101"/>
              <p:cNvSpPr txBox="1"/>
              <p:nvPr/>
            </p:nvSpPr>
            <p:spPr>
              <a:xfrm>
                <a:off x="1767491" y="3100414"/>
                <a:ext cx="138496" cy="213594"/>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30</a:t>
                </a:r>
              </a:p>
            </p:txBody>
          </p:sp>
          <p:sp>
            <p:nvSpPr>
              <p:cNvPr id="103" name="TextBox 102"/>
              <p:cNvSpPr txBox="1"/>
              <p:nvPr/>
            </p:nvSpPr>
            <p:spPr>
              <a:xfrm>
                <a:off x="1767491" y="2636569"/>
                <a:ext cx="138496" cy="213594"/>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40</a:t>
                </a:r>
              </a:p>
            </p:txBody>
          </p:sp>
          <p:sp>
            <p:nvSpPr>
              <p:cNvPr id="104" name="TextBox 103"/>
              <p:cNvSpPr txBox="1"/>
              <p:nvPr/>
            </p:nvSpPr>
            <p:spPr>
              <a:xfrm>
                <a:off x="1767491" y="1697303"/>
                <a:ext cx="138496" cy="213594"/>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60</a:t>
                </a:r>
              </a:p>
            </p:txBody>
          </p:sp>
          <p:sp>
            <p:nvSpPr>
              <p:cNvPr id="105" name="TextBox 104"/>
              <p:cNvSpPr txBox="1"/>
              <p:nvPr/>
            </p:nvSpPr>
            <p:spPr>
              <a:xfrm>
                <a:off x="1767491" y="2172724"/>
                <a:ext cx="138496" cy="213594"/>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50</a:t>
                </a:r>
              </a:p>
            </p:txBody>
          </p:sp>
        </p:grpSp>
        <p:grpSp>
          <p:nvGrpSpPr>
            <p:cNvPr id="5" name="Group 4"/>
            <p:cNvGrpSpPr/>
            <p:nvPr/>
          </p:nvGrpSpPr>
          <p:grpSpPr>
            <a:xfrm>
              <a:off x="1767342" y="1674434"/>
              <a:ext cx="42772" cy="2471419"/>
              <a:chOff x="1767341" y="1964432"/>
              <a:chExt cx="42772" cy="2011328"/>
            </a:xfrm>
          </p:grpSpPr>
          <p:cxnSp>
            <p:nvCxnSpPr>
              <p:cNvPr id="90" name="Straight Connector 89"/>
              <p:cNvCxnSpPr/>
              <p:nvPr/>
            </p:nvCxnSpPr>
            <p:spPr>
              <a:xfrm rot="5400000">
                <a:off x="1788727" y="2613487"/>
                <a:ext cx="0" cy="42772"/>
              </a:xfrm>
              <a:prstGeom prst="line">
                <a:avLst/>
              </a:prstGeom>
              <a:noFill/>
              <a:ln w="9525" cap="flat" cmpd="sng" algn="ctr">
                <a:solidFill>
                  <a:srgbClr val="544F40"/>
                </a:solidFill>
                <a:prstDash val="solid"/>
                <a:miter lim="800000"/>
              </a:ln>
              <a:effectLst/>
            </p:spPr>
          </p:cxnSp>
          <p:cxnSp>
            <p:nvCxnSpPr>
              <p:cNvPr id="91" name="Straight Connector 90"/>
              <p:cNvCxnSpPr/>
              <p:nvPr/>
            </p:nvCxnSpPr>
            <p:spPr>
              <a:xfrm rot="5400000">
                <a:off x="1788727" y="2278267"/>
                <a:ext cx="0" cy="42772"/>
              </a:xfrm>
              <a:prstGeom prst="line">
                <a:avLst/>
              </a:prstGeom>
              <a:noFill/>
              <a:ln w="9525" cap="flat" cmpd="sng" algn="ctr">
                <a:solidFill>
                  <a:srgbClr val="544F40"/>
                </a:solidFill>
                <a:prstDash val="solid"/>
                <a:miter lim="800000"/>
              </a:ln>
              <a:effectLst/>
            </p:spPr>
          </p:cxnSp>
          <p:cxnSp>
            <p:nvCxnSpPr>
              <p:cNvPr id="92" name="Straight Connector 91"/>
              <p:cNvCxnSpPr/>
              <p:nvPr/>
            </p:nvCxnSpPr>
            <p:spPr>
              <a:xfrm rot="5400000">
                <a:off x="1788727" y="1943046"/>
                <a:ext cx="0" cy="42772"/>
              </a:xfrm>
              <a:prstGeom prst="line">
                <a:avLst/>
              </a:prstGeom>
              <a:noFill/>
              <a:ln w="9525" cap="flat" cmpd="sng" algn="ctr">
                <a:solidFill>
                  <a:srgbClr val="544F40"/>
                </a:solidFill>
                <a:prstDash val="solid"/>
                <a:miter lim="800000"/>
              </a:ln>
              <a:effectLst/>
            </p:spPr>
          </p:cxnSp>
          <p:cxnSp>
            <p:nvCxnSpPr>
              <p:cNvPr id="93" name="Straight Connector 92"/>
              <p:cNvCxnSpPr/>
              <p:nvPr/>
            </p:nvCxnSpPr>
            <p:spPr>
              <a:xfrm rot="5400000">
                <a:off x="1788727" y="3954374"/>
                <a:ext cx="0" cy="42772"/>
              </a:xfrm>
              <a:prstGeom prst="line">
                <a:avLst/>
              </a:prstGeom>
              <a:noFill/>
              <a:ln w="9525" cap="flat" cmpd="sng" algn="ctr">
                <a:solidFill>
                  <a:srgbClr val="544F40"/>
                </a:solidFill>
                <a:prstDash val="solid"/>
                <a:miter lim="800000"/>
              </a:ln>
              <a:effectLst/>
            </p:spPr>
          </p:cxnSp>
          <p:cxnSp>
            <p:nvCxnSpPr>
              <p:cNvPr id="94" name="Straight Connector 93"/>
              <p:cNvCxnSpPr/>
              <p:nvPr/>
            </p:nvCxnSpPr>
            <p:spPr>
              <a:xfrm rot="5400000">
                <a:off x="1788727" y="3619150"/>
                <a:ext cx="0" cy="42772"/>
              </a:xfrm>
              <a:prstGeom prst="line">
                <a:avLst/>
              </a:prstGeom>
              <a:noFill/>
              <a:ln w="9525" cap="flat" cmpd="sng" algn="ctr">
                <a:solidFill>
                  <a:srgbClr val="544F40"/>
                </a:solidFill>
                <a:prstDash val="solid"/>
                <a:miter lim="800000"/>
              </a:ln>
              <a:effectLst/>
            </p:spPr>
          </p:cxnSp>
          <p:cxnSp>
            <p:nvCxnSpPr>
              <p:cNvPr id="95" name="Straight Connector 94"/>
              <p:cNvCxnSpPr/>
              <p:nvPr/>
            </p:nvCxnSpPr>
            <p:spPr>
              <a:xfrm rot="5400000">
                <a:off x="1788727" y="3283930"/>
                <a:ext cx="0" cy="42772"/>
              </a:xfrm>
              <a:prstGeom prst="line">
                <a:avLst/>
              </a:prstGeom>
              <a:noFill/>
              <a:ln w="9525" cap="flat" cmpd="sng" algn="ctr">
                <a:solidFill>
                  <a:srgbClr val="544F40"/>
                </a:solidFill>
                <a:prstDash val="solid"/>
                <a:miter lim="800000"/>
              </a:ln>
              <a:effectLst/>
            </p:spPr>
          </p:cxnSp>
          <p:cxnSp>
            <p:nvCxnSpPr>
              <p:cNvPr id="96" name="Straight Connector 95"/>
              <p:cNvCxnSpPr/>
              <p:nvPr/>
            </p:nvCxnSpPr>
            <p:spPr>
              <a:xfrm rot="5400000">
                <a:off x="1788727" y="2948709"/>
                <a:ext cx="0" cy="42772"/>
              </a:xfrm>
              <a:prstGeom prst="line">
                <a:avLst/>
              </a:prstGeom>
              <a:noFill/>
              <a:ln w="9525" cap="flat" cmpd="sng" algn="ctr">
                <a:solidFill>
                  <a:srgbClr val="544F40"/>
                </a:solidFill>
                <a:prstDash val="solid"/>
                <a:miter lim="800000"/>
              </a:ln>
              <a:effectLst/>
            </p:spPr>
          </p:cxnSp>
        </p:grpSp>
        <p:grpSp>
          <p:nvGrpSpPr>
            <p:cNvPr id="46" name="Group 45"/>
            <p:cNvGrpSpPr/>
            <p:nvPr/>
          </p:nvGrpSpPr>
          <p:grpSpPr>
            <a:xfrm>
              <a:off x="1812496" y="4145855"/>
              <a:ext cx="9598968" cy="56178"/>
              <a:chOff x="2103172" y="4598746"/>
              <a:chExt cx="7823770" cy="90000"/>
            </a:xfrm>
          </p:grpSpPr>
          <p:cxnSp>
            <p:nvCxnSpPr>
              <p:cNvPr id="76" name="Straight Connector 75"/>
              <p:cNvCxnSpPr/>
              <p:nvPr/>
            </p:nvCxnSpPr>
            <p:spPr>
              <a:xfrm>
                <a:off x="4510485" y="4598746"/>
                <a:ext cx="0" cy="90000"/>
              </a:xfrm>
              <a:prstGeom prst="line">
                <a:avLst/>
              </a:prstGeom>
              <a:noFill/>
              <a:ln w="9525" cap="flat" cmpd="sng" algn="ctr">
                <a:solidFill>
                  <a:srgbClr val="544F40"/>
                </a:solidFill>
                <a:prstDash val="solid"/>
                <a:miter lim="800000"/>
              </a:ln>
              <a:effectLst/>
            </p:spPr>
          </p:cxnSp>
          <p:cxnSp>
            <p:nvCxnSpPr>
              <p:cNvPr id="77" name="Straight Connector 76"/>
              <p:cNvCxnSpPr/>
              <p:nvPr/>
            </p:nvCxnSpPr>
            <p:spPr>
              <a:xfrm>
                <a:off x="3908657" y="4598746"/>
                <a:ext cx="0" cy="90000"/>
              </a:xfrm>
              <a:prstGeom prst="line">
                <a:avLst/>
              </a:prstGeom>
              <a:noFill/>
              <a:ln w="9525" cap="flat" cmpd="sng" algn="ctr">
                <a:solidFill>
                  <a:srgbClr val="544F40"/>
                </a:solidFill>
                <a:prstDash val="solid"/>
                <a:miter lim="800000"/>
              </a:ln>
              <a:effectLst/>
            </p:spPr>
          </p:cxnSp>
          <p:cxnSp>
            <p:nvCxnSpPr>
              <p:cNvPr id="78" name="Straight Connector 77"/>
              <p:cNvCxnSpPr/>
              <p:nvPr/>
            </p:nvCxnSpPr>
            <p:spPr>
              <a:xfrm>
                <a:off x="3306829" y="4598746"/>
                <a:ext cx="0" cy="90000"/>
              </a:xfrm>
              <a:prstGeom prst="line">
                <a:avLst/>
              </a:prstGeom>
              <a:noFill/>
              <a:ln w="9525" cap="flat" cmpd="sng" algn="ctr">
                <a:solidFill>
                  <a:srgbClr val="544F40"/>
                </a:solidFill>
                <a:prstDash val="solid"/>
                <a:miter lim="800000"/>
              </a:ln>
              <a:effectLst/>
            </p:spPr>
          </p:cxnSp>
          <p:cxnSp>
            <p:nvCxnSpPr>
              <p:cNvPr id="79" name="Straight Connector 78"/>
              <p:cNvCxnSpPr/>
              <p:nvPr/>
            </p:nvCxnSpPr>
            <p:spPr>
              <a:xfrm>
                <a:off x="2705000" y="4598746"/>
                <a:ext cx="0" cy="90000"/>
              </a:xfrm>
              <a:prstGeom prst="line">
                <a:avLst/>
              </a:prstGeom>
              <a:noFill/>
              <a:ln w="9525" cap="flat" cmpd="sng" algn="ctr">
                <a:solidFill>
                  <a:srgbClr val="544F40"/>
                </a:solidFill>
                <a:prstDash val="solid"/>
                <a:miter lim="800000"/>
              </a:ln>
              <a:effectLst/>
            </p:spPr>
          </p:cxnSp>
          <p:cxnSp>
            <p:nvCxnSpPr>
              <p:cNvPr id="80" name="Straight Connector 79"/>
              <p:cNvCxnSpPr/>
              <p:nvPr/>
            </p:nvCxnSpPr>
            <p:spPr>
              <a:xfrm>
                <a:off x="2103172" y="4598746"/>
                <a:ext cx="0" cy="90000"/>
              </a:xfrm>
              <a:prstGeom prst="line">
                <a:avLst/>
              </a:prstGeom>
              <a:noFill/>
              <a:ln w="9525" cap="flat" cmpd="sng" algn="ctr">
                <a:solidFill>
                  <a:srgbClr val="544F40"/>
                </a:solidFill>
                <a:prstDash val="solid"/>
                <a:miter lim="800000"/>
              </a:ln>
              <a:effectLst/>
            </p:spPr>
          </p:cxnSp>
          <p:cxnSp>
            <p:nvCxnSpPr>
              <p:cNvPr id="81" name="Straight Connector 80"/>
              <p:cNvCxnSpPr/>
              <p:nvPr/>
            </p:nvCxnSpPr>
            <p:spPr>
              <a:xfrm>
                <a:off x="6917799" y="4598746"/>
                <a:ext cx="0" cy="90000"/>
              </a:xfrm>
              <a:prstGeom prst="line">
                <a:avLst/>
              </a:prstGeom>
              <a:noFill/>
              <a:ln w="9525" cap="flat" cmpd="sng" algn="ctr">
                <a:solidFill>
                  <a:srgbClr val="544F40"/>
                </a:solidFill>
                <a:prstDash val="solid"/>
                <a:miter lim="800000"/>
              </a:ln>
              <a:effectLst/>
            </p:spPr>
          </p:cxnSp>
          <p:cxnSp>
            <p:nvCxnSpPr>
              <p:cNvPr id="82" name="Straight Connector 81"/>
              <p:cNvCxnSpPr/>
              <p:nvPr/>
            </p:nvCxnSpPr>
            <p:spPr>
              <a:xfrm>
                <a:off x="6315971" y="4598746"/>
                <a:ext cx="0" cy="90000"/>
              </a:xfrm>
              <a:prstGeom prst="line">
                <a:avLst/>
              </a:prstGeom>
              <a:noFill/>
              <a:ln w="9525" cap="flat" cmpd="sng" algn="ctr">
                <a:solidFill>
                  <a:srgbClr val="544F40"/>
                </a:solidFill>
                <a:prstDash val="solid"/>
                <a:miter lim="800000"/>
              </a:ln>
              <a:effectLst/>
            </p:spPr>
          </p:cxnSp>
          <p:cxnSp>
            <p:nvCxnSpPr>
              <p:cNvPr id="83" name="Straight Connector 82"/>
              <p:cNvCxnSpPr/>
              <p:nvPr/>
            </p:nvCxnSpPr>
            <p:spPr>
              <a:xfrm>
                <a:off x="5714142" y="4598746"/>
                <a:ext cx="0" cy="90000"/>
              </a:xfrm>
              <a:prstGeom prst="line">
                <a:avLst/>
              </a:prstGeom>
              <a:noFill/>
              <a:ln w="9525" cap="flat" cmpd="sng" algn="ctr">
                <a:solidFill>
                  <a:srgbClr val="544F40"/>
                </a:solidFill>
                <a:prstDash val="solid"/>
                <a:miter lim="800000"/>
              </a:ln>
              <a:effectLst/>
            </p:spPr>
          </p:cxnSp>
          <p:cxnSp>
            <p:nvCxnSpPr>
              <p:cNvPr id="84" name="Straight Connector 83"/>
              <p:cNvCxnSpPr/>
              <p:nvPr/>
            </p:nvCxnSpPr>
            <p:spPr>
              <a:xfrm>
                <a:off x="5112314" y="4598746"/>
                <a:ext cx="0" cy="90000"/>
              </a:xfrm>
              <a:prstGeom prst="line">
                <a:avLst/>
              </a:prstGeom>
              <a:noFill/>
              <a:ln w="9525" cap="flat" cmpd="sng" algn="ctr">
                <a:solidFill>
                  <a:srgbClr val="544F40"/>
                </a:solidFill>
                <a:prstDash val="solid"/>
                <a:miter lim="800000"/>
              </a:ln>
              <a:effectLst/>
            </p:spPr>
          </p:cxnSp>
          <p:cxnSp>
            <p:nvCxnSpPr>
              <p:cNvPr id="85" name="Straight Connector 84"/>
              <p:cNvCxnSpPr/>
              <p:nvPr/>
            </p:nvCxnSpPr>
            <p:spPr>
              <a:xfrm>
                <a:off x="7519627" y="4598746"/>
                <a:ext cx="0" cy="90000"/>
              </a:xfrm>
              <a:prstGeom prst="line">
                <a:avLst/>
              </a:prstGeom>
              <a:noFill/>
              <a:ln w="9525" cap="flat" cmpd="sng" algn="ctr">
                <a:solidFill>
                  <a:srgbClr val="544F40"/>
                </a:solidFill>
                <a:prstDash val="solid"/>
                <a:miter lim="800000"/>
              </a:ln>
              <a:effectLst/>
            </p:spPr>
          </p:cxnSp>
          <p:cxnSp>
            <p:nvCxnSpPr>
              <p:cNvPr id="86" name="Straight Connector 85"/>
              <p:cNvCxnSpPr/>
              <p:nvPr/>
            </p:nvCxnSpPr>
            <p:spPr>
              <a:xfrm>
                <a:off x="8121456" y="4598746"/>
                <a:ext cx="0" cy="90000"/>
              </a:xfrm>
              <a:prstGeom prst="line">
                <a:avLst/>
              </a:prstGeom>
              <a:noFill/>
              <a:ln w="9525" cap="flat" cmpd="sng" algn="ctr">
                <a:solidFill>
                  <a:srgbClr val="544F40"/>
                </a:solidFill>
                <a:prstDash val="solid"/>
                <a:miter lim="800000"/>
              </a:ln>
              <a:effectLst/>
            </p:spPr>
          </p:cxnSp>
          <p:cxnSp>
            <p:nvCxnSpPr>
              <p:cNvPr id="87" name="Straight Connector 86"/>
              <p:cNvCxnSpPr/>
              <p:nvPr/>
            </p:nvCxnSpPr>
            <p:spPr>
              <a:xfrm>
                <a:off x="8723284" y="4598746"/>
                <a:ext cx="0" cy="90000"/>
              </a:xfrm>
              <a:prstGeom prst="line">
                <a:avLst/>
              </a:prstGeom>
              <a:noFill/>
              <a:ln w="9525" cap="flat" cmpd="sng" algn="ctr">
                <a:solidFill>
                  <a:srgbClr val="544F40"/>
                </a:solidFill>
                <a:prstDash val="solid"/>
                <a:miter lim="800000"/>
              </a:ln>
              <a:effectLst/>
            </p:spPr>
          </p:cxnSp>
          <p:cxnSp>
            <p:nvCxnSpPr>
              <p:cNvPr id="88" name="Straight Connector 87"/>
              <p:cNvCxnSpPr/>
              <p:nvPr/>
            </p:nvCxnSpPr>
            <p:spPr>
              <a:xfrm>
                <a:off x="9325112" y="4598746"/>
                <a:ext cx="0" cy="90000"/>
              </a:xfrm>
              <a:prstGeom prst="line">
                <a:avLst/>
              </a:prstGeom>
              <a:noFill/>
              <a:ln w="9525" cap="flat" cmpd="sng" algn="ctr">
                <a:solidFill>
                  <a:srgbClr val="544F40"/>
                </a:solidFill>
                <a:prstDash val="solid"/>
                <a:miter lim="800000"/>
              </a:ln>
              <a:effectLst/>
            </p:spPr>
          </p:cxnSp>
          <p:cxnSp>
            <p:nvCxnSpPr>
              <p:cNvPr id="89" name="Straight Connector 88"/>
              <p:cNvCxnSpPr/>
              <p:nvPr/>
            </p:nvCxnSpPr>
            <p:spPr>
              <a:xfrm>
                <a:off x="9926942" y="4598746"/>
                <a:ext cx="0" cy="90000"/>
              </a:xfrm>
              <a:prstGeom prst="line">
                <a:avLst/>
              </a:prstGeom>
              <a:noFill/>
              <a:ln w="9525" cap="flat" cmpd="sng" algn="ctr">
                <a:solidFill>
                  <a:srgbClr val="544F40"/>
                </a:solidFill>
                <a:prstDash val="solid"/>
                <a:miter lim="800000"/>
              </a:ln>
              <a:effectLst/>
            </p:spPr>
          </p:cxnSp>
        </p:grpSp>
        <p:grpSp>
          <p:nvGrpSpPr>
            <p:cNvPr id="47" name="Group 46"/>
            <p:cNvGrpSpPr/>
            <p:nvPr/>
          </p:nvGrpSpPr>
          <p:grpSpPr>
            <a:xfrm>
              <a:off x="1762455" y="4266507"/>
              <a:ext cx="9776452" cy="189676"/>
              <a:chOff x="2062385" y="4716452"/>
              <a:chExt cx="7968430" cy="213594"/>
            </a:xfrm>
          </p:grpSpPr>
          <p:sp>
            <p:nvSpPr>
              <p:cNvPr id="62" name="TextBox 61"/>
              <p:cNvSpPr txBox="1"/>
              <p:nvPr/>
            </p:nvSpPr>
            <p:spPr>
              <a:xfrm>
                <a:off x="2062385" y="4716452"/>
                <a:ext cx="69248"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0</a:t>
                </a:r>
              </a:p>
            </p:txBody>
          </p:sp>
          <p:sp>
            <p:nvSpPr>
              <p:cNvPr id="63" name="TextBox 62"/>
              <p:cNvSpPr txBox="1"/>
              <p:nvPr/>
            </p:nvSpPr>
            <p:spPr>
              <a:xfrm>
                <a:off x="2630063" y="4716452"/>
                <a:ext cx="138495"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28</a:t>
                </a:r>
              </a:p>
            </p:txBody>
          </p:sp>
          <p:sp>
            <p:nvSpPr>
              <p:cNvPr id="64" name="TextBox 63"/>
              <p:cNvSpPr txBox="1"/>
              <p:nvPr/>
            </p:nvSpPr>
            <p:spPr>
              <a:xfrm>
                <a:off x="3232367" y="4716452"/>
                <a:ext cx="138495"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56</a:t>
                </a:r>
              </a:p>
            </p:txBody>
          </p:sp>
          <p:sp>
            <p:nvSpPr>
              <p:cNvPr id="65" name="TextBox 64"/>
              <p:cNvSpPr txBox="1"/>
              <p:nvPr/>
            </p:nvSpPr>
            <p:spPr>
              <a:xfrm>
                <a:off x="3834669" y="4716452"/>
                <a:ext cx="138495"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84</a:t>
                </a:r>
              </a:p>
            </p:txBody>
          </p:sp>
          <p:sp>
            <p:nvSpPr>
              <p:cNvPr id="66" name="TextBox 65"/>
              <p:cNvSpPr txBox="1"/>
              <p:nvPr/>
            </p:nvSpPr>
            <p:spPr>
              <a:xfrm>
                <a:off x="4406998" y="4716452"/>
                <a:ext cx="198439"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112</a:t>
                </a:r>
              </a:p>
            </p:txBody>
          </p:sp>
          <p:sp>
            <p:nvSpPr>
              <p:cNvPr id="67" name="TextBox 66"/>
              <p:cNvSpPr txBox="1"/>
              <p:nvPr/>
            </p:nvSpPr>
            <p:spPr>
              <a:xfrm>
                <a:off x="5004649"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140</a:t>
                </a:r>
              </a:p>
            </p:txBody>
          </p:sp>
          <p:sp>
            <p:nvSpPr>
              <p:cNvPr id="68" name="TextBox 67"/>
              <p:cNvSpPr txBox="1"/>
              <p:nvPr/>
            </p:nvSpPr>
            <p:spPr>
              <a:xfrm>
                <a:off x="5606951"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168</a:t>
                </a:r>
              </a:p>
            </p:txBody>
          </p:sp>
          <p:sp>
            <p:nvSpPr>
              <p:cNvPr id="69" name="TextBox 68"/>
              <p:cNvSpPr txBox="1"/>
              <p:nvPr/>
            </p:nvSpPr>
            <p:spPr>
              <a:xfrm>
                <a:off x="6209254"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196</a:t>
                </a:r>
              </a:p>
            </p:txBody>
          </p:sp>
          <p:sp>
            <p:nvSpPr>
              <p:cNvPr id="70" name="TextBox 69"/>
              <p:cNvSpPr txBox="1"/>
              <p:nvPr/>
            </p:nvSpPr>
            <p:spPr>
              <a:xfrm>
                <a:off x="6811556"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224</a:t>
                </a:r>
              </a:p>
            </p:txBody>
          </p:sp>
          <p:sp>
            <p:nvSpPr>
              <p:cNvPr id="71" name="TextBox 70"/>
              <p:cNvSpPr txBox="1"/>
              <p:nvPr/>
            </p:nvSpPr>
            <p:spPr>
              <a:xfrm>
                <a:off x="7413856"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252</a:t>
                </a:r>
              </a:p>
            </p:txBody>
          </p:sp>
          <p:sp>
            <p:nvSpPr>
              <p:cNvPr id="72" name="TextBox 71"/>
              <p:cNvSpPr txBox="1"/>
              <p:nvPr/>
            </p:nvSpPr>
            <p:spPr>
              <a:xfrm>
                <a:off x="8016159"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280</a:t>
                </a:r>
              </a:p>
            </p:txBody>
          </p:sp>
          <p:sp>
            <p:nvSpPr>
              <p:cNvPr id="73" name="TextBox 72"/>
              <p:cNvSpPr txBox="1"/>
              <p:nvPr/>
            </p:nvSpPr>
            <p:spPr>
              <a:xfrm>
                <a:off x="8618463"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308</a:t>
                </a:r>
              </a:p>
            </p:txBody>
          </p:sp>
          <p:sp>
            <p:nvSpPr>
              <p:cNvPr id="74" name="TextBox 73"/>
              <p:cNvSpPr txBox="1"/>
              <p:nvPr/>
            </p:nvSpPr>
            <p:spPr>
              <a:xfrm>
                <a:off x="9220765"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336</a:t>
                </a:r>
              </a:p>
            </p:txBody>
          </p:sp>
          <p:sp>
            <p:nvSpPr>
              <p:cNvPr id="75" name="TextBox 74"/>
              <p:cNvSpPr txBox="1"/>
              <p:nvPr/>
            </p:nvSpPr>
            <p:spPr>
              <a:xfrm>
                <a:off x="9823073"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364</a:t>
                </a:r>
              </a:p>
            </p:txBody>
          </p:sp>
        </p:grpSp>
        <p:grpSp>
          <p:nvGrpSpPr>
            <p:cNvPr id="48" name="Group 47"/>
            <p:cNvGrpSpPr/>
            <p:nvPr/>
          </p:nvGrpSpPr>
          <p:grpSpPr>
            <a:xfrm>
              <a:off x="1818198" y="1927529"/>
              <a:ext cx="9587123" cy="2210462"/>
              <a:chOff x="2107819" y="2113601"/>
              <a:chExt cx="7814115" cy="2489200"/>
            </a:xfrm>
          </p:grpSpPr>
          <p:sp>
            <p:nvSpPr>
              <p:cNvPr id="59" name="Freeform 9"/>
              <p:cNvSpPr>
                <a:spLocks/>
              </p:cNvSpPr>
              <p:nvPr/>
            </p:nvSpPr>
            <p:spPr bwMode="auto">
              <a:xfrm>
                <a:off x="2107819" y="2285051"/>
                <a:ext cx="7810219" cy="2317750"/>
              </a:xfrm>
              <a:custGeom>
                <a:avLst/>
                <a:gdLst>
                  <a:gd name="T0" fmla="*/ 42 w 4009"/>
                  <a:gd name="T1" fmla="*/ 1444 h 1460"/>
                  <a:gd name="T2" fmla="*/ 74 w 4009"/>
                  <a:gd name="T3" fmla="*/ 1414 h 1460"/>
                  <a:gd name="T4" fmla="*/ 107 w 4009"/>
                  <a:gd name="T5" fmla="*/ 1392 h 1460"/>
                  <a:gd name="T6" fmla="*/ 148 w 4009"/>
                  <a:gd name="T7" fmla="*/ 1363 h 1460"/>
                  <a:gd name="T8" fmla="*/ 179 w 4009"/>
                  <a:gd name="T9" fmla="*/ 1331 h 1460"/>
                  <a:gd name="T10" fmla="*/ 211 w 4009"/>
                  <a:gd name="T11" fmla="*/ 1303 h 1460"/>
                  <a:gd name="T12" fmla="*/ 244 w 4009"/>
                  <a:gd name="T13" fmla="*/ 1280 h 1460"/>
                  <a:gd name="T14" fmla="*/ 277 w 4009"/>
                  <a:gd name="T15" fmla="*/ 1251 h 1460"/>
                  <a:gd name="T16" fmla="*/ 308 w 4009"/>
                  <a:gd name="T17" fmla="*/ 1222 h 1460"/>
                  <a:gd name="T18" fmla="*/ 340 w 4009"/>
                  <a:gd name="T19" fmla="*/ 1183 h 1460"/>
                  <a:gd name="T20" fmla="*/ 372 w 4009"/>
                  <a:gd name="T21" fmla="*/ 1162 h 1460"/>
                  <a:gd name="T22" fmla="*/ 405 w 4009"/>
                  <a:gd name="T23" fmla="*/ 1139 h 1460"/>
                  <a:gd name="T24" fmla="*/ 437 w 4009"/>
                  <a:gd name="T25" fmla="*/ 1117 h 1460"/>
                  <a:gd name="T26" fmla="*/ 486 w 4009"/>
                  <a:gd name="T27" fmla="*/ 1095 h 1460"/>
                  <a:gd name="T28" fmla="*/ 517 w 4009"/>
                  <a:gd name="T29" fmla="*/ 1074 h 1460"/>
                  <a:gd name="T30" fmla="*/ 557 w 4009"/>
                  <a:gd name="T31" fmla="*/ 1051 h 1460"/>
                  <a:gd name="T32" fmla="*/ 607 w 4009"/>
                  <a:gd name="T33" fmla="*/ 1029 h 1460"/>
                  <a:gd name="T34" fmla="*/ 646 w 4009"/>
                  <a:gd name="T35" fmla="*/ 1006 h 1460"/>
                  <a:gd name="T36" fmla="*/ 696 w 4009"/>
                  <a:gd name="T37" fmla="*/ 983 h 1460"/>
                  <a:gd name="T38" fmla="*/ 736 w 4009"/>
                  <a:gd name="T39" fmla="*/ 962 h 1460"/>
                  <a:gd name="T40" fmla="*/ 784 w 4009"/>
                  <a:gd name="T41" fmla="*/ 939 h 1460"/>
                  <a:gd name="T42" fmla="*/ 841 w 4009"/>
                  <a:gd name="T43" fmla="*/ 917 h 1460"/>
                  <a:gd name="T44" fmla="*/ 889 w 4009"/>
                  <a:gd name="T45" fmla="*/ 894 h 1460"/>
                  <a:gd name="T46" fmla="*/ 938 w 4009"/>
                  <a:gd name="T47" fmla="*/ 873 h 1460"/>
                  <a:gd name="T48" fmla="*/ 993 w 4009"/>
                  <a:gd name="T49" fmla="*/ 850 h 1460"/>
                  <a:gd name="T50" fmla="*/ 1027 w 4009"/>
                  <a:gd name="T51" fmla="*/ 828 h 1460"/>
                  <a:gd name="T52" fmla="*/ 1082 w 4009"/>
                  <a:gd name="T53" fmla="*/ 807 h 1460"/>
                  <a:gd name="T54" fmla="*/ 1123 w 4009"/>
                  <a:gd name="T55" fmla="*/ 784 h 1460"/>
                  <a:gd name="T56" fmla="*/ 1188 w 4009"/>
                  <a:gd name="T57" fmla="*/ 760 h 1460"/>
                  <a:gd name="T58" fmla="*/ 1236 w 4009"/>
                  <a:gd name="T59" fmla="*/ 731 h 1460"/>
                  <a:gd name="T60" fmla="*/ 1291 w 4009"/>
                  <a:gd name="T61" fmla="*/ 709 h 1460"/>
                  <a:gd name="T62" fmla="*/ 1340 w 4009"/>
                  <a:gd name="T63" fmla="*/ 686 h 1460"/>
                  <a:gd name="T64" fmla="*/ 1421 w 4009"/>
                  <a:gd name="T65" fmla="*/ 664 h 1460"/>
                  <a:gd name="T66" fmla="*/ 1484 w 4009"/>
                  <a:gd name="T67" fmla="*/ 643 h 1460"/>
                  <a:gd name="T68" fmla="*/ 1534 w 4009"/>
                  <a:gd name="T69" fmla="*/ 620 h 1460"/>
                  <a:gd name="T70" fmla="*/ 1598 w 4009"/>
                  <a:gd name="T71" fmla="*/ 597 h 1460"/>
                  <a:gd name="T72" fmla="*/ 1671 w 4009"/>
                  <a:gd name="T73" fmla="*/ 576 h 1460"/>
                  <a:gd name="T74" fmla="*/ 1751 w 4009"/>
                  <a:gd name="T75" fmla="*/ 552 h 1460"/>
                  <a:gd name="T76" fmla="*/ 1792 w 4009"/>
                  <a:gd name="T77" fmla="*/ 531 h 1460"/>
                  <a:gd name="T78" fmla="*/ 1897 w 4009"/>
                  <a:gd name="T79" fmla="*/ 507 h 1460"/>
                  <a:gd name="T80" fmla="*/ 1945 w 4009"/>
                  <a:gd name="T81" fmla="*/ 486 h 1460"/>
                  <a:gd name="T82" fmla="*/ 2025 w 4009"/>
                  <a:gd name="T83" fmla="*/ 464 h 1460"/>
                  <a:gd name="T84" fmla="*/ 2106 w 4009"/>
                  <a:gd name="T85" fmla="*/ 441 h 1460"/>
                  <a:gd name="T86" fmla="*/ 2147 w 4009"/>
                  <a:gd name="T87" fmla="*/ 418 h 1460"/>
                  <a:gd name="T88" fmla="*/ 2203 w 4009"/>
                  <a:gd name="T89" fmla="*/ 397 h 1460"/>
                  <a:gd name="T90" fmla="*/ 2299 w 4009"/>
                  <a:gd name="T91" fmla="*/ 374 h 1460"/>
                  <a:gd name="T92" fmla="*/ 2413 w 4009"/>
                  <a:gd name="T93" fmla="*/ 353 h 1460"/>
                  <a:gd name="T94" fmla="*/ 2477 w 4009"/>
                  <a:gd name="T95" fmla="*/ 330 h 1460"/>
                  <a:gd name="T96" fmla="*/ 2566 w 4009"/>
                  <a:gd name="T97" fmla="*/ 308 h 1460"/>
                  <a:gd name="T98" fmla="*/ 2678 w 4009"/>
                  <a:gd name="T99" fmla="*/ 285 h 1460"/>
                  <a:gd name="T100" fmla="*/ 2775 w 4009"/>
                  <a:gd name="T101" fmla="*/ 263 h 1460"/>
                  <a:gd name="T102" fmla="*/ 2872 w 4009"/>
                  <a:gd name="T103" fmla="*/ 241 h 1460"/>
                  <a:gd name="T104" fmla="*/ 2984 w 4009"/>
                  <a:gd name="T105" fmla="*/ 219 h 1460"/>
                  <a:gd name="T106" fmla="*/ 3040 w 4009"/>
                  <a:gd name="T107" fmla="*/ 197 h 1460"/>
                  <a:gd name="T108" fmla="*/ 3081 w 4009"/>
                  <a:gd name="T109" fmla="*/ 175 h 1460"/>
                  <a:gd name="T110" fmla="*/ 3146 w 4009"/>
                  <a:gd name="T111" fmla="*/ 151 h 1460"/>
                  <a:gd name="T112" fmla="*/ 3251 w 4009"/>
                  <a:gd name="T113" fmla="*/ 129 h 1460"/>
                  <a:gd name="T114" fmla="*/ 3436 w 4009"/>
                  <a:gd name="T115" fmla="*/ 108 h 1460"/>
                  <a:gd name="T116" fmla="*/ 3565 w 4009"/>
                  <a:gd name="T117" fmla="*/ 85 h 1460"/>
                  <a:gd name="T118" fmla="*/ 3742 w 4009"/>
                  <a:gd name="T119" fmla="*/ 62 h 1460"/>
                  <a:gd name="T120" fmla="*/ 3888 w 4009"/>
                  <a:gd name="T121" fmla="*/ 40 h 1460"/>
                  <a:gd name="T122" fmla="*/ 3985 w 4009"/>
                  <a:gd name="T123" fmla="*/ 17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009" h="1460">
                    <a:moveTo>
                      <a:pt x="0" y="1460"/>
                    </a:moveTo>
                    <a:lnTo>
                      <a:pt x="26" y="1460"/>
                    </a:lnTo>
                    <a:lnTo>
                      <a:pt x="26" y="1451"/>
                    </a:lnTo>
                    <a:lnTo>
                      <a:pt x="34" y="1451"/>
                    </a:lnTo>
                    <a:lnTo>
                      <a:pt x="34" y="1444"/>
                    </a:lnTo>
                    <a:lnTo>
                      <a:pt x="42" y="1444"/>
                    </a:lnTo>
                    <a:lnTo>
                      <a:pt x="42" y="1430"/>
                    </a:lnTo>
                    <a:lnTo>
                      <a:pt x="59" y="1430"/>
                    </a:lnTo>
                    <a:lnTo>
                      <a:pt x="59" y="1421"/>
                    </a:lnTo>
                    <a:lnTo>
                      <a:pt x="65" y="1421"/>
                    </a:lnTo>
                    <a:lnTo>
                      <a:pt x="65" y="1414"/>
                    </a:lnTo>
                    <a:lnTo>
                      <a:pt x="74" y="1414"/>
                    </a:lnTo>
                    <a:lnTo>
                      <a:pt x="74" y="1407"/>
                    </a:lnTo>
                    <a:lnTo>
                      <a:pt x="90" y="1407"/>
                    </a:lnTo>
                    <a:lnTo>
                      <a:pt x="90" y="1399"/>
                    </a:lnTo>
                    <a:lnTo>
                      <a:pt x="99" y="1399"/>
                    </a:lnTo>
                    <a:lnTo>
                      <a:pt x="99" y="1392"/>
                    </a:lnTo>
                    <a:lnTo>
                      <a:pt x="107" y="1392"/>
                    </a:lnTo>
                    <a:lnTo>
                      <a:pt x="107" y="1377"/>
                    </a:lnTo>
                    <a:lnTo>
                      <a:pt x="123" y="1377"/>
                    </a:lnTo>
                    <a:lnTo>
                      <a:pt x="123" y="1370"/>
                    </a:lnTo>
                    <a:lnTo>
                      <a:pt x="131" y="1370"/>
                    </a:lnTo>
                    <a:lnTo>
                      <a:pt x="131" y="1363"/>
                    </a:lnTo>
                    <a:lnTo>
                      <a:pt x="148" y="1363"/>
                    </a:lnTo>
                    <a:lnTo>
                      <a:pt x="148" y="1355"/>
                    </a:lnTo>
                    <a:lnTo>
                      <a:pt x="155" y="1355"/>
                    </a:lnTo>
                    <a:lnTo>
                      <a:pt x="155" y="1340"/>
                    </a:lnTo>
                    <a:lnTo>
                      <a:pt x="162" y="1340"/>
                    </a:lnTo>
                    <a:lnTo>
                      <a:pt x="162" y="1331"/>
                    </a:lnTo>
                    <a:lnTo>
                      <a:pt x="179" y="1331"/>
                    </a:lnTo>
                    <a:lnTo>
                      <a:pt x="179" y="1326"/>
                    </a:lnTo>
                    <a:lnTo>
                      <a:pt x="186" y="1326"/>
                    </a:lnTo>
                    <a:lnTo>
                      <a:pt x="186" y="1318"/>
                    </a:lnTo>
                    <a:lnTo>
                      <a:pt x="195" y="1318"/>
                    </a:lnTo>
                    <a:lnTo>
                      <a:pt x="195" y="1303"/>
                    </a:lnTo>
                    <a:lnTo>
                      <a:pt x="211" y="1303"/>
                    </a:lnTo>
                    <a:lnTo>
                      <a:pt x="211" y="1296"/>
                    </a:lnTo>
                    <a:lnTo>
                      <a:pt x="219" y="1296"/>
                    </a:lnTo>
                    <a:lnTo>
                      <a:pt x="219" y="1288"/>
                    </a:lnTo>
                    <a:lnTo>
                      <a:pt x="227" y="1288"/>
                    </a:lnTo>
                    <a:lnTo>
                      <a:pt x="227" y="1280"/>
                    </a:lnTo>
                    <a:lnTo>
                      <a:pt x="244" y="1280"/>
                    </a:lnTo>
                    <a:lnTo>
                      <a:pt x="244" y="1274"/>
                    </a:lnTo>
                    <a:lnTo>
                      <a:pt x="252" y="1274"/>
                    </a:lnTo>
                    <a:lnTo>
                      <a:pt x="252" y="1266"/>
                    </a:lnTo>
                    <a:lnTo>
                      <a:pt x="268" y="1266"/>
                    </a:lnTo>
                    <a:lnTo>
                      <a:pt x="268" y="1251"/>
                    </a:lnTo>
                    <a:lnTo>
                      <a:pt x="277" y="1251"/>
                    </a:lnTo>
                    <a:lnTo>
                      <a:pt x="277" y="1243"/>
                    </a:lnTo>
                    <a:lnTo>
                      <a:pt x="283" y="1243"/>
                    </a:lnTo>
                    <a:lnTo>
                      <a:pt x="283" y="1229"/>
                    </a:lnTo>
                    <a:lnTo>
                      <a:pt x="298" y="1229"/>
                    </a:lnTo>
                    <a:lnTo>
                      <a:pt x="298" y="1222"/>
                    </a:lnTo>
                    <a:lnTo>
                      <a:pt x="308" y="1222"/>
                    </a:lnTo>
                    <a:lnTo>
                      <a:pt x="308" y="1207"/>
                    </a:lnTo>
                    <a:lnTo>
                      <a:pt x="317" y="1207"/>
                    </a:lnTo>
                    <a:lnTo>
                      <a:pt x="317" y="1192"/>
                    </a:lnTo>
                    <a:lnTo>
                      <a:pt x="332" y="1192"/>
                    </a:lnTo>
                    <a:lnTo>
                      <a:pt x="332" y="1183"/>
                    </a:lnTo>
                    <a:lnTo>
                      <a:pt x="340" y="1183"/>
                    </a:lnTo>
                    <a:lnTo>
                      <a:pt x="340" y="1177"/>
                    </a:lnTo>
                    <a:lnTo>
                      <a:pt x="348" y="1177"/>
                    </a:lnTo>
                    <a:lnTo>
                      <a:pt x="348" y="1169"/>
                    </a:lnTo>
                    <a:lnTo>
                      <a:pt x="365" y="1169"/>
                    </a:lnTo>
                    <a:lnTo>
                      <a:pt x="365" y="1162"/>
                    </a:lnTo>
                    <a:lnTo>
                      <a:pt x="372" y="1162"/>
                    </a:lnTo>
                    <a:lnTo>
                      <a:pt x="372" y="1154"/>
                    </a:lnTo>
                    <a:lnTo>
                      <a:pt x="388" y="1154"/>
                    </a:lnTo>
                    <a:lnTo>
                      <a:pt x="388" y="1147"/>
                    </a:lnTo>
                    <a:lnTo>
                      <a:pt x="397" y="1147"/>
                    </a:lnTo>
                    <a:lnTo>
                      <a:pt x="397" y="1139"/>
                    </a:lnTo>
                    <a:lnTo>
                      <a:pt x="405" y="1139"/>
                    </a:lnTo>
                    <a:lnTo>
                      <a:pt x="405" y="1131"/>
                    </a:lnTo>
                    <a:lnTo>
                      <a:pt x="421" y="1131"/>
                    </a:lnTo>
                    <a:lnTo>
                      <a:pt x="421" y="1124"/>
                    </a:lnTo>
                    <a:lnTo>
                      <a:pt x="429" y="1124"/>
                    </a:lnTo>
                    <a:lnTo>
                      <a:pt x="429" y="1117"/>
                    </a:lnTo>
                    <a:lnTo>
                      <a:pt x="437" y="1117"/>
                    </a:lnTo>
                    <a:lnTo>
                      <a:pt x="437" y="1110"/>
                    </a:lnTo>
                    <a:lnTo>
                      <a:pt x="454" y="1110"/>
                    </a:lnTo>
                    <a:lnTo>
                      <a:pt x="454" y="1103"/>
                    </a:lnTo>
                    <a:lnTo>
                      <a:pt x="469" y="1103"/>
                    </a:lnTo>
                    <a:lnTo>
                      <a:pt x="469" y="1095"/>
                    </a:lnTo>
                    <a:lnTo>
                      <a:pt x="486" y="1095"/>
                    </a:lnTo>
                    <a:lnTo>
                      <a:pt x="486" y="1088"/>
                    </a:lnTo>
                    <a:lnTo>
                      <a:pt x="493" y="1088"/>
                    </a:lnTo>
                    <a:lnTo>
                      <a:pt x="493" y="1080"/>
                    </a:lnTo>
                    <a:lnTo>
                      <a:pt x="509" y="1080"/>
                    </a:lnTo>
                    <a:lnTo>
                      <a:pt x="509" y="1074"/>
                    </a:lnTo>
                    <a:lnTo>
                      <a:pt x="517" y="1074"/>
                    </a:lnTo>
                    <a:lnTo>
                      <a:pt x="517" y="1065"/>
                    </a:lnTo>
                    <a:lnTo>
                      <a:pt x="526" y="1065"/>
                    </a:lnTo>
                    <a:lnTo>
                      <a:pt x="526" y="1058"/>
                    </a:lnTo>
                    <a:lnTo>
                      <a:pt x="550" y="1058"/>
                    </a:lnTo>
                    <a:lnTo>
                      <a:pt x="550" y="1051"/>
                    </a:lnTo>
                    <a:lnTo>
                      <a:pt x="557" y="1051"/>
                    </a:lnTo>
                    <a:lnTo>
                      <a:pt x="557" y="1043"/>
                    </a:lnTo>
                    <a:lnTo>
                      <a:pt x="583" y="1043"/>
                    </a:lnTo>
                    <a:lnTo>
                      <a:pt x="583" y="1035"/>
                    </a:lnTo>
                    <a:lnTo>
                      <a:pt x="598" y="1035"/>
                    </a:lnTo>
                    <a:lnTo>
                      <a:pt x="598" y="1029"/>
                    </a:lnTo>
                    <a:lnTo>
                      <a:pt x="607" y="1029"/>
                    </a:lnTo>
                    <a:lnTo>
                      <a:pt x="607" y="1020"/>
                    </a:lnTo>
                    <a:lnTo>
                      <a:pt x="615" y="1020"/>
                    </a:lnTo>
                    <a:lnTo>
                      <a:pt x="615" y="1014"/>
                    </a:lnTo>
                    <a:lnTo>
                      <a:pt x="631" y="1014"/>
                    </a:lnTo>
                    <a:lnTo>
                      <a:pt x="631" y="1006"/>
                    </a:lnTo>
                    <a:lnTo>
                      <a:pt x="646" y="1006"/>
                    </a:lnTo>
                    <a:lnTo>
                      <a:pt x="646" y="998"/>
                    </a:lnTo>
                    <a:lnTo>
                      <a:pt x="664" y="998"/>
                    </a:lnTo>
                    <a:lnTo>
                      <a:pt x="664" y="991"/>
                    </a:lnTo>
                    <a:lnTo>
                      <a:pt x="679" y="991"/>
                    </a:lnTo>
                    <a:lnTo>
                      <a:pt x="679" y="983"/>
                    </a:lnTo>
                    <a:lnTo>
                      <a:pt x="696" y="983"/>
                    </a:lnTo>
                    <a:lnTo>
                      <a:pt x="696" y="976"/>
                    </a:lnTo>
                    <a:lnTo>
                      <a:pt x="704" y="976"/>
                    </a:lnTo>
                    <a:lnTo>
                      <a:pt x="704" y="969"/>
                    </a:lnTo>
                    <a:lnTo>
                      <a:pt x="720" y="969"/>
                    </a:lnTo>
                    <a:lnTo>
                      <a:pt x="720" y="962"/>
                    </a:lnTo>
                    <a:lnTo>
                      <a:pt x="736" y="962"/>
                    </a:lnTo>
                    <a:lnTo>
                      <a:pt x="736" y="954"/>
                    </a:lnTo>
                    <a:lnTo>
                      <a:pt x="751" y="954"/>
                    </a:lnTo>
                    <a:lnTo>
                      <a:pt x="751" y="946"/>
                    </a:lnTo>
                    <a:lnTo>
                      <a:pt x="769" y="946"/>
                    </a:lnTo>
                    <a:lnTo>
                      <a:pt x="769" y="939"/>
                    </a:lnTo>
                    <a:lnTo>
                      <a:pt x="784" y="939"/>
                    </a:lnTo>
                    <a:lnTo>
                      <a:pt x="784" y="932"/>
                    </a:lnTo>
                    <a:lnTo>
                      <a:pt x="800" y="932"/>
                    </a:lnTo>
                    <a:lnTo>
                      <a:pt x="800" y="923"/>
                    </a:lnTo>
                    <a:lnTo>
                      <a:pt x="816" y="923"/>
                    </a:lnTo>
                    <a:lnTo>
                      <a:pt x="816" y="917"/>
                    </a:lnTo>
                    <a:lnTo>
                      <a:pt x="841" y="917"/>
                    </a:lnTo>
                    <a:lnTo>
                      <a:pt x="841" y="910"/>
                    </a:lnTo>
                    <a:lnTo>
                      <a:pt x="858" y="910"/>
                    </a:lnTo>
                    <a:lnTo>
                      <a:pt x="858" y="903"/>
                    </a:lnTo>
                    <a:lnTo>
                      <a:pt x="873" y="903"/>
                    </a:lnTo>
                    <a:lnTo>
                      <a:pt x="873" y="894"/>
                    </a:lnTo>
                    <a:lnTo>
                      <a:pt x="889" y="894"/>
                    </a:lnTo>
                    <a:lnTo>
                      <a:pt x="889" y="887"/>
                    </a:lnTo>
                    <a:lnTo>
                      <a:pt x="906" y="887"/>
                    </a:lnTo>
                    <a:lnTo>
                      <a:pt x="906" y="880"/>
                    </a:lnTo>
                    <a:lnTo>
                      <a:pt x="921" y="880"/>
                    </a:lnTo>
                    <a:lnTo>
                      <a:pt x="921" y="873"/>
                    </a:lnTo>
                    <a:lnTo>
                      <a:pt x="938" y="873"/>
                    </a:lnTo>
                    <a:lnTo>
                      <a:pt x="938" y="865"/>
                    </a:lnTo>
                    <a:lnTo>
                      <a:pt x="962" y="865"/>
                    </a:lnTo>
                    <a:lnTo>
                      <a:pt x="962" y="857"/>
                    </a:lnTo>
                    <a:lnTo>
                      <a:pt x="970" y="857"/>
                    </a:lnTo>
                    <a:lnTo>
                      <a:pt x="970" y="850"/>
                    </a:lnTo>
                    <a:lnTo>
                      <a:pt x="993" y="850"/>
                    </a:lnTo>
                    <a:lnTo>
                      <a:pt x="993" y="842"/>
                    </a:lnTo>
                    <a:lnTo>
                      <a:pt x="1002" y="842"/>
                    </a:lnTo>
                    <a:lnTo>
                      <a:pt x="1002" y="834"/>
                    </a:lnTo>
                    <a:lnTo>
                      <a:pt x="1009" y="834"/>
                    </a:lnTo>
                    <a:lnTo>
                      <a:pt x="1009" y="828"/>
                    </a:lnTo>
                    <a:lnTo>
                      <a:pt x="1027" y="828"/>
                    </a:lnTo>
                    <a:lnTo>
                      <a:pt x="1027" y="821"/>
                    </a:lnTo>
                    <a:lnTo>
                      <a:pt x="1058" y="821"/>
                    </a:lnTo>
                    <a:lnTo>
                      <a:pt x="1058" y="812"/>
                    </a:lnTo>
                    <a:lnTo>
                      <a:pt x="1067" y="812"/>
                    </a:lnTo>
                    <a:lnTo>
                      <a:pt x="1067" y="807"/>
                    </a:lnTo>
                    <a:lnTo>
                      <a:pt x="1082" y="807"/>
                    </a:lnTo>
                    <a:lnTo>
                      <a:pt x="1082" y="798"/>
                    </a:lnTo>
                    <a:lnTo>
                      <a:pt x="1098" y="798"/>
                    </a:lnTo>
                    <a:lnTo>
                      <a:pt x="1098" y="790"/>
                    </a:lnTo>
                    <a:lnTo>
                      <a:pt x="1115" y="790"/>
                    </a:lnTo>
                    <a:lnTo>
                      <a:pt x="1115" y="784"/>
                    </a:lnTo>
                    <a:lnTo>
                      <a:pt x="1123" y="784"/>
                    </a:lnTo>
                    <a:lnTo>
                      <a:pt x="1123" y="776"/>
                    </a:lnTo>
                    <a:lnTo>
                      <a:pt x="1156" y="776"/>
                    </a:lnTo>
                    <a:lnTo>
                      <a:pt x="1156" y="768"/>
                    </a:lnTo>
                    <a:lnTo>
                      <a:pt x="1171" y="768"/>
                    </a:lnTo>
                    <a:lnTo>
                      <a:pt x="1171" y="760"/>
                    </a:lnTo>
                    <a:lnTo>
                      <a:pt x="1188" y="760"/>
                    </a:lnTo>
                    <a:lnTo>
                      <a:pt x="1188" y="746"/>
                    </a:lnTo>
                    <a:lnTo>
                      <a:pt x="1211" y="746"/>
                    </a:lnTo>
                    <a:lnTo>
                      <a:pt x="1211" y="738"/>
                    </a:lnTo>
                    <a:lnTo>
                      <a:pt x="1219" y="738"/>
                    </a:lnTo>
                    <a:lnTo>
                      <a:pt x="1219" y="731"/>
                    </a:lnTo>
                    <a:lnTo>
                      <a:pt x="1236" y="731"/>
                    </a:lnTo>
                    <a:lnTo>
                      <a:pt x="1236" y="725"/>
                    </a:lnTo>
                    <a:lnTo>
                      <a:pt x="1245" y="725"/>
                    </a:lnTo>
                    <a:lnTo>
                      <a:pt x="1245" y="717"/>
                    </a:lnTo>
                    <a:lnTo>
                      <a:pt x="1251" y="717"/>
                    </a:lnTo>
                    <a:lnTo>
                      <a:pt x="1251" y="709"/>
                    </a:lnTo>
                    <a:lnTo>
                      <a:pt x="1291" y="709"/>
                    </a:lnTo>
                    <a:lnTo>
                      <a:pt x="1291" y="702"/>
                    </a:lnTo>
                    <a:lnTo>
                      <a:pt x="1300" y="702"/>
                    </a:lnTo>
                    <a:lnTo>
                      <a:pt x="1300" y="694"/>
                    </a:lnTo>
                    <a:lnTo>
                      <a:pt x="1332" y="694"/>
                    </a:lnTo>
                    <a:lnTo>
                      <a:pt x="1332" y="686"/>
                    </a:lnTo>
                    <a:lnTo>
                      <a:pt x="1340" y="686"/>
                    </a:lnTo>
                    <a:lnTo>
                      <a:pt x="1340" y="678"/>
                    </a:lnTo>
                    <a:lnTo>
                      <a:pt x="1372" y="678"/>
                    </a:lnTo>
                    <a:lnTo>
                      <a:pt x="1372" y="671"/>
                    </a:lnTo>
                    <a:lnTo>
                      <a:pt x="1397" y="671"/>
                    </a:lnTo>
                    <a:lnTo>
                      <a:pt x="1397" y="664"/>
                    </a:lnTo>
                    <a:lnTo>
                      <a:pt x="1421" y="664"/>
                    </a:lnTo>
                    <a:lnTo>
                      <a:pt x="1421" y="657"/>
                    </a:lnTo>
                    <a:lnTo>
                      <a:pt x="1454" y="657"/>
                    </a:lnTo>
                    <a:lnTo>
                      <a:pt x="1454" y="650"/>
                    </a:lnTo>
                    <a:lnTo>
                      <a:pt x="1460" y="650"/>
                    </a:lnTo>
                    <a:lnTo>
                      <a:pt x="1460" y="643"/>
                    </a:lnTo>
                    <a:lnTo>
                      <a:pt x="1484" y="643"/>
                    </a:lnTo>
                    <a:lnTo>
                      <a:pt x="1484" y="634"/>
                    </a:lnTo>
                    <a:lnTo>
                      <a:pt x="1494" y="634"/>
                    </a:lnTo>
                    <a:lnTo>
                      <a:pt x="1494" y="627"/>
                    </a:lnTo>
                    <a:lnTo>
                      <a:pt x="1517" y="627"/>
                    </a:lnTo>
                    <a:lnTo>
                      <a:pt x="1517" y="620"/>
                    </a:lnTo>
                    <a:lnTo>
                      <a:pt x="1534" y="620"/>
                    </a:lnTo>
                    <a:lnTo>
                      <a:pt x="1534" y="612"/>
                    </a:lnTo>
                    <a:lnTo>
                      <a:pt x="1550" y="612"/>
                    </a:lnTo>
                    <a:lnTo>
                      <a:pt x="1550" y="606"/>
                    </a:lnTo>
                    <a:lnTo>
                      <a:pt x="1574" y="606"/>
                    </a:lnTo>
                    <a:lnTo>
                      <a:pt x="1574" y="597"/>
                    </a:lnTo>
                    <a:lnTo>
                      <a:pt x="1598" y="597"/>
                    </a:lnTo>
                    <a:lnTo>
                      <a:pt x="1598" y="590"/>
                    </a:lnTo>
                    <a:lnTo>
                      <a:pt x="1631" y="590"/>
                    </a:lnTo>
                    <a:lnTo>
                      <a:pt x="1631" y="583"/>
                    </a:lnTo>
                    <a:lnTo>
                      <a:pt x="1654" y="583"/>
                    </a:lnTo>
                    <a:lnTo>
                      <a:pt x="1654" y="576"/>
                    </a:lnTo>
                    <a:lnTo>
                      <a:pt x="1671" y="576"/>
                    </a:lnTo>
                    <a:lnTo>
                      <a:pt x="1671" y="568"/>
                    </a:lnTo>
                    <a:lnTo>
                      <a:pt x="1704" y="568"/>
                    </a:lnTo>
                    <a:lnTo>
                      <a:pt x="1704" y="560"/>
                    </a:lnTo>
                    <a:lnTo>
                      <a:pt x="1727" y="560"/>
                    </a:lnTo>
                    <a:lnTo>
                      <a:pt x="1727" y="552"/>
                    </a:lnTo>
                    <a:lnTo>
                      <a:pt x="1751" y="552"/>
                    </a:lnTo>
                    <a:lnTo>
                      <a:pt x="1751" y="545"/>
                    </a:lnTo>
                    <a:lnTo>
                      <a:pt x="1775" y="545"/>
                    </a:lnTo>
                    <a:lnTo>
                      <a:pt x="1775" y="537"/>
                    </a:lnTo>
                    <a:lnTo>
                      <a:pt x="1783" y="537"/>
                    </a:lnTo>
                    <a:lnTo>
                      <a:pt x="1783" y="531"/>
                    </a:lnTo>
                    <a:lnTo>
                      <a:pt x="1792" y="531"/>
                    </a:lnTo>
                    <a:lnTo>
                      <a:pt x="1792" y="523"/>
                    </a:lnTo>
                    <a:lnTo>
                      <a:pt x="1841" y="523"/>
                    </a:lnTo>
                    <a:lnTo>
                      <a:pt x="1841" y="515"/>
                    </a:lnTo>
                    <a:lnTo>
                      <a:pt x="1881" y="515"/>
                    </a:lnTo>
                    <a:lnTo>
                      <a:pt x="1881" y="507"/>
                    </a:lnTo>
                    <a:lnTo>
                      <a:pt x="1897" y="507"/>
                    </a:lnTo>
                    <a:lnTo>
                      <a:pt x="1897" y="502"/>
                    </a:lnTo>
                    <a:lnTo>
                      <a:pt x="1912" y="502"/>
                    </a:lnTo>
                    <a:lnTo>
                      <a:pt x="1912" y="494"/>
                    </a:lnTo>
                    <a:lnTo>
                      <a:pt x="1929" y="494"/>
                    </a:lnTo>
                    <a:lnTo>
                      <a:pt x="1929" y="486"/>
                    </a:lnTo>
                    <a:lnTo>
                      <a:pt x="1945" y="486"/>
                    </a:lnTo>
                    <a:lnTo>
                      <a:pt x="1945" y="478"/>
                    </a:lnTo>
                    <a:lnTo>
                      <a:pt x="1969" y="478"/>
                    </a:lnTo>
                    <a:lnTo>
                      <a:pt x="1969" y="472"/>
                    </a:lnTo>
                    <a:lnTo>
                      <a:pt x="2002" y="472"/>
                    </a:lnTo>
                    <a:lnTo>
                      <a:pt x="2002" y="464"/>
                    </a:lnTo>
                    <a:lnTo>
                      <a:pt x="2025" y="464"/>
                    </a:lnTo>
                    <a:lnTo>
                      <a:pt x="2025" y="456"/>
                    </a:lnTo>
                    <a:lnTo>
                      <a:pt x="2058" y="456"/>
                    </a:lnTo>
                    <a:lnTo>
                      <a:pt x="2058" y="449"/>
                    </a:lnTo>
                    <a:lnTo>
                      <a:pt x="2081" y="449"/>
                    </a:lnTo>
                    <a:lnTo>
                      <a:pt x="2081" y="441"/>
                    </a:lnTo>
                    <a:lnTo>
                      <a:pt x="2106" y="441"/>
                    </a:lnTo>
                    <a:lnTo>
                      <a:pt x="2106" y="434"/>
                    </a:lnTo>
                    <a:lnTo>
                      <a:pt x="2114" y="434"/>
                    </a:lnTo>
                    <a:lnTo>
                      <a:pt x="2114" y="427"/>
                    </a:lnTo>
                    <a:lnTo>
                      <a:pt x="2123" y="427"/>
                    </a:lnTo>
                    <a:lnTo>
                      <a:pt x="2123" y="418"/>
                    </a:lnTo>
                    <a:lnTo>
                      <a:pt x="2147" y="418"/>
                    </a:lnTo>
                    <a:lnTo>
                      <a:pt x="2147" y="413"/>
                    </a:lnTo>
                    <a:lnTo>
                      <a:pt x="2170" y="413"/>
                    </a:lnTo>
                    <a:lnTo>
                      <a:pt x="2170" y="404"/>
                    </a:lnTo>
                    <a:lnTo>
                      <a:pt x="2179" y="404"/>
                    </a:lnTo>
                    <a:lnTo>
                      <a:pt x="2179" y="397"/>
                    </a:lnTo>
                    <a:lnTo>
                      <a:pt x="2203" y="397"/>
                    </a:lnTo>
                    <a:lnTo>
                      <a:pt x="2203" y="390"/>
                    </a:lnTo>
                    <a:lnTo>
                      <a:pt x="2243" y="390"/>
                    </a:lnTo>
                    <a:lnTo>
                      <a:pt x="2243" y="381"/>
                    </a:lnTo>
                    <a:lnTo>
                      <a:pt x="2267" y="381"/>
                    </a:lnTo>
                    <a:lnTo>
                      <a:pt x="2267" y="374"/>
                    </a:lnTo>
                    <a:lnTo>
                      <a:pt x="2299" y="374"/>
                    </a:lnTo>
                    <a:lnTo>
                      <a:pt x="2299" y="368"/>
                    </a:lnTo>
                    <a:lnTo>
                      <a:pt x="2348" y="368"/>
                    </a:lnTo>
                    <a:lnTo>
                      <a:pt x="2348" y="359"/>
                    </a:lnTo>
                    <a:lnTo>
                      <a:pt x="2382" y="359"/>
                    </a:lnTo>
                    <a:lnTo>
                      <a:pt x="2382" y="353"/>
                    </a:lnTo>
                    <a:lnTo>
                      <a:pt x="2413" y="353"/>
                    </a:lnTo>
                    <a:lnTo>
                      <a:pt x="2413" y="345"/>
                    </a:lnTo>
                    <a:lnTo>
                      <a:pt x="2437" y="345"/>
                    </a:lnTo>
                    <a:lnTo>
                      <a:pt x="2437" y="338"/>
                    </a:lnTo>
                    <a:lnTo>
                      <a:pt x="2468" y="338"/>
                    </a:lnTo>
                    <a:lnTo>
                      <a:pt x="2468" y="330"/>
                    </a:lnTo>
                    <a:lnTo>
                      <a:pt x="2477" y="330"/>
                    </a:lnTo>
                    <a:lnTo>
                      <a:pt x="2477" y="322"/>
                    </a:lnTo>
                    <a:lnTo>
                      <a:pt x="2502" y="322"/>
                    </a:lnTo>
                    <a:lnTo>
                      <a:pt x="2502" y="315"/>
                    </a:lnTo>
                    <a:lnTo>
                      <a:pt x="2542" y="315"/>
                    </a:lnTo>
                    <a:lnTo>
                      <a:pt x="2542" y="308"/>
                    </a:lnTo>
                    <a:lnTo>
                      <a:pt x="2566" y="308"/>
                    </a:lnTo>
                    <a:lnTo>
                      <a:pt x="2566" y="300"/>
                    </a:lnTo>
                    <a:lnTo>
                      <a:pt x="2597" y="300"/>
                    </a:lnTo>
                    <a:lnTo>
                      <a:pt x="2597" y="293"/>
                    </a:lnTo>
                    <a:lnTo>
                      <a:pt x="2629" y="293"/>
                    </a:lnTo>
                    <a:lnTo>
                      <a:pt x="2629" y="285"/>
                    </a:lnTo>
                    <a:lnTo>
                      <a:pt x="2678" y="285"/>
                    </a:lnTo>
                    <a:lnTo>
                      <a:pt x="2678" y="279"/>
                    </a:lnTo>
                    <a:lnTo>
                      <a:pt x="2720" y="279"/>
                    </a:lnTo>
                    <a:lnTo>
                      <a:pt x="2720" y="270"/>
                    </a:lnTo>
                    <a:lnTo>
                      <a:pt x="2750" y="270"/>
                    </a:lnTo>
                    <a:lnTo>
                      <a:pt x="2750" y="263"/>
                    </a:lnTo>
                    <a:lnTo>
                      <a:pt x="2775" y="263"/>
                    </a:lnTo>
                    <a:lnTo>
                      <a:pt x="2775" y="255"/>
                    </a:lnTo>
                    <a:lnTo>
                      <a:pt x="2808" y="255"/>
                    </a:lnTo>
                    <a:lnTo>
                      <a:pt x="2808" y="248"/>
                    </a:lnTo>
                    <a:lnTo>
                      <a:pt x="2840" y="248"/>
                    </a:lnTo>
                    <a:lnTo>
                      <a:pt x="2840" y="241"/>
                    </a:lnTo>
                    <a:lnTo>
                      <a:pt x="2872" y="241"/>
                    </a:lnTo>
                    <a:lnTo>
                      <a:pt x="2872" y="234"/>
                    </a:lnTo>
                    <a:lnTo>
                      <a:pt x="2897" y="234"/>
                    </a:lnTo>
                    <a:lnTo>
                      <a:pt x="2897" y="226"/>
                    </a:lnTo>
                    <a:lnTo>
                      <a:pt x="2962" y="226"/>
                    </a:lnTo>
                    <a:lnTo>
                      <a:pt x="2962" y="219"/>
                    </a:lnTo>
                    <a:lnTo>
                      <a:pt x="2984" y="219"/>
                    </a:lnTo>
                    <a:lnTo>
                      <a:pt x="2984" y="211"/>
                    </a:lnTo>
                    <a:lnTo>
                      <a:pt x="2994" y="211"/>
                    </a:lnTo>
                    <a:lnTo>
                      <a:pt x="2994" y="204"/>
                    </a:lnTo>
                    <a:lnTo>
                      <a:pt x="3018" y="204"/>
                    </a:lnTo>
                    <a:lnTo>
                      <a:pt x="3018" y="197"/>
                    </a:lnTo>
                    <a:lnTo>
                      <a:pt x="3040" y="197"/>
                    </a:lnTo>
                    <a:lnTo>
                      <a:pt x="3040" y="189"/>
                    </a:lnTo>
                    <a:lnTo>
                      <a:pt x="3050" y="189"/>
                    </a:lnTo>
                    <a:lnTo>
                      <a:pt x="3050" y="181"/>
                    </a:lnTo>
                    <a:lnTo>
                      <a:pt x="3058" y="181"/>
                    </a:lnTo>
                    <a:lnTo>
                      <a:pt x="3058" y="175"/>
                    </a:lnTo>
                    <a:lnTo>
                      <a:pt x="3081" y="175"/>
                    </a:lnTo>
                    <a:lnTo>
                      <a:pt x="3081" y="167"/>
                    </a:lnTo>
                    <a:lnTo>
                      <a:pt x="3090" y="167"/>
                    </a:lnTo>
                    <a:lnTo>
                      <a:pt x="3090" y="159"/>
                    </a:lnTo>
                    <a:lnTo>
                      <a:pt x="3114" y="159"/>
                    </a:lnTo>
                    <a:lnTo>
                      <a:pt x="3114" y="151"/>
                    </a:lnTo>
                    <a:lnTo>
                      <a:pt x="3146" y="151"/>
                    </a:lnTo>
                    <a:lnTo>
                      <a:pt x="3146" y="144"/>
                    </a:lnTo>
                    <a:lnTo>
                      <a:pt x="3195" y="144"/>
                    </a:lnTo>
                    <a:lnTo>
                      <a:pt x="3195" y="137"/>
                    </a:lnTo>
                    <a:lnTo>
                      <a:pt x="3227" y="137"/>
                    </a:lnTo>
                    <a:lnTo>
                      <a:pt x="3227" y="129"/>
                    </a:lnTo>
                    <a:lnTo>
                      <a:pt x="3251" y="129"/>
                    </a:lnTo>
                    <a:lnTo>
                      <a:pt x="3251" y="122"/>
                    </a:lnTo>
                    <a:lnTo>
                      <a:pt x="3356" y="122"/>
                    </a:lnTo>
                    <a:lnTo>
                      <a:pt x="3356" y="114"/>
                    </a:lnTo>
                    <a:lnTo>
                      <a:pt x="3380" y="114"/>
                    </a:lnTo>
                    <a:lnTo>
                      <a:pt x="3380" y="108"/>
                    </a:lnTo>
                    <a:lnTo>
                      <a:pt x="3436" y="108"/>
                    </a:lnTo>
                    <a:lnTo>
                      <a:pt x="3436" y="99"/>
                    </a:lnTo>
                    <a:lnTo>
                      <a:pt x="3468" y="99"/>
                    </a:lnTo>
                    <a:lnTo>
                      <a:pt x="3468" y="92"/>
                    </a:lnTo>
                    <a:lnTo>
                      <a:pt x="3508" y="92"/>
                    </a:lnTo>
                    <a:lnTo>
                      <a:pt x="3508" y="85"/>
                    </a:lnTo>
                    <a:lnTo>
                      <a:pt x="3565" y="85"/>
                    </a:lnTo>
                    <a:lnTo>
                      <a:pt x="3565" y="78"/>
                    </a:lnTo>
                    <a:lnTo>
                      <a:pt x="3629" y="78"/>
                    </a:lnTo>
                    <a:lnTo>
                      <a:pt x="3629" y="70"/>
                    </a:lnTo>
                    <a:lnTo>
                      <a:pt x="3687" y="70"/>
                    </a:lnTo>
                    <a:lnTo>
                      <a:pt x="3687" y="62"/>
                    </a:lnTo>
                    <a:lnTo>
                      <a:pt x="3742" y="62"/>
                    </a:lnTo>
                    <a:lnTo>
                      <a:pt x="3742" y="55"/>
                    </a:lnTo>
                    <a:lnTo>
                      <a:pt x="3782" y="55"/>
                    </a:lnTo>
                    <a:lnTo>
                      <a:pt x="3782" y="47"/>
                    </a:lnTo>
                    <a:lnTo>
                      <a:pt x="3839" y="47"/>
                    </a:lnTo>
                    <a:lnTo>
                      <a:pt x="3839" y="40"/>
                    </a:lnTo>
                    <a:lnTo>
                      <a:pt x="3888" y="40"/>
                    </a:lnTo>
                    <a:lnTo>
                      <a:pt x="3888" y="33"/>
                    </a:lnTo>
                    <a:lnTo>
                      <a:pt x="3927" y="33"/>
                    </a:lnTo>
                    <a:lnTo>
                      <a:pt x="3927" y="25"/>
                    </a:lnTo>
                    <a:lnTo>
                      <a:pt x="3961" y="25"/>
                    </a:lnTo>
                    <a:lnTo>
                      <a:pt x="3961" y="17"/>
                    </a:lnTo>
                    <a:lnTo>
                      <a:pt x="3985" y="17"/>
                    </a:lnTo>
                    <a:lnTo>
                      <a:pt x="3985" y="10"/>
                    </a:lnTo>
                    <a:lnTo>
                      <a:pt x="4009" y="10"/>
                    </a:lnTo>
                    <a:lnTo>
                      <a:pt x="4009" y="0"/>
                    </a:lnTo>
                  </a:path>
                </a:pathLst>
              </a:custGeom>
              <a:noFill/>
              <a:ln w="28575" cap="flat">
                <a:solidFill>
                  <a:srgbClr val="F366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60" name="Freeform 10"/>
              <p:cNvSpPr>
                <a:spLocks/>
              </p:cNvSpPr>
              <p:nvPr/>
            </p:nvSpPr>
            <p:spPr bwMode="auto">
              <a:xfrm>
                <a:off x="2107819" y="2113601"/>
                <a:ext cx="7812167" cy="2489200"/>
              </a:xfrm>
              <a:custGeom>
                <a:avLst/>
                <a:gdLst>
                  <a:gd name="T0" fmla="*/ 25 w 4010"/>
                  <a:gd name="T1" fmla="*/ 1553 h 1568"/>
                  <a:gd name="T2" fmla="*/ 59 w 4010"/>
                  <a:gd name="T3" fmla="*/ 1523 h 1568"/>
                  <a:gd name="T4" fmla="*/ 90 w 4010"/>
                  <a:gd name="T5" fmla="*/ 1455 h 1568"/>
                  <a:gd name="T6" fmla="*/ 124 w 4010"/>
                  <a:gd name="T7" fmla="*/ 1411 h 1568"/>
                  <a:gd name="T8" fmla="*/ 148 w 4010"/>
                  <a:gd name="T9" fmla="*/ 1350 h 1568"/>
                  <a:gd name="T10" fmla="*/ 179 w 4010"/>
                  <a:gd name="T11" fmla="*/ 1321 h 1568"/>
                  <a:gd name="T12" fmla="*/ 212 w 4010"/>
                  <a:gd name="T13" fmla="*/ 1255 h 1568"/>
                  <a:gd name="T14" fmla="*/ 244 w 4010"/>
                  <a:gd name="T15" fmla="*/ 1233 h 1568"/>
                  <a:gd name="T16" fmla="*/ 275 w 4010"/>
                  <a:gd name="T17" fmla="*/ 1181 h 1568"/>
                  <a:gd name="T18" fmla="*/ 309 w 4010"/>
                  <a:gd name="T19" fmla="*/ 1151 h 1568"/>
                  <a:gd name="T20" fmla="*/ 349 w 4010"/>
                  <a:gd name="T21" fmla="*/ 1084 h 1568"/>
                  <a:gd name="T22" fmla="*/ 389 w 4010"/>
                  <a:gd name="T23" fmla="*/ 1063 h 1568"/>
                  <a:gd name="T24" fmla="*/ 437 w 4010"/>
                  <a:gd name="T25" fmla="*/ 1024 h 1568"/>
                  <a:gd name="T26" fmla="*/ 486 w 4010"/>
                  <a:gd name="T27" fmla="*/ 1002 h 1568"/>
                  <a:gd name="T28" fmla="*/ 542 w 4010"/>
                  <a:gd name="T29" fmla="*/ 958 h 1568"/>
                  <a:gd name="T30" fmla="*/ 583 w 4010"/>
                  <a:gd name="T31" fmla="*/ 936 h 1568"/>
                  <a:gd name="T32" fmla="*/ 608 w 4010"/>
                  <a:gd name="T33" fmla="*/ 906 h 1568"/>
                  <a:gd name="T34" fmla="*/ 679 w 4010"/>
                  <a:gd name="T35" fmla="*/ 884 h 1568"/>
                  <a:gd name="T36" fmla="*/ 728 w 4010"/>
                  <a:gd name="T37" fmla="*/ 862 h 1568"/>
                  <a:gd name="T38" fmla="*/ 800 w 4010"/>
                  <a:gd name="T39" fmla="*/ 840 h 1568"/>
                  <a:gd name="T40" fmla="*/ 840 w 4010"/>
                  <a:gd name="T41" fmla="*/ 817 h 1568"/>
                  <a:gd name="T42" fmla="*/ 889 w 4010"/>
                  <a:gd name="T43" fmla="*/ 794 h 1568"/>
                  <a:gd name="T44" fmla="*/ 921 w 4010"/>
                  <a:gd name="T45" fmla="*/ 765 h 1568"/>
                  <a:gd name="T46" fmla="*/ 1003 w 4010"/>
                  <a:gd name="T47" fmla="*/ 743 h 1568"/>
                  <a:gd name="T48" fmla="*/ 1033 w 4010"/>
                  <a:gd name="T49" fmla="*/ 721 h 1568"/>
                  <a:gd name="T50" fmla="*/ 1102 w 4010"/>
                  <a:gd name="T51" fmla="*/ 705 h 1568"/>
                  <a:gd name="T52" fmla="*/ 1147 w 4010"/>
                  <a:gd name="T53" fmla="*/ 675 h 1568"/>
                  <a:gd name="T54" fmla="*/ 1189 w 4010"/>
                  <a:gd name="T55" fmla="*/ 662 h 1568"/>
                  <a:gd name="T56" fmla="*/ 1235 w 4010"/>
                  <a:gd name="T57" fmla="*/ 617 h 1568"/>
                  <a:gd name="T58" fmla="*/ 1268 w 4010"/>
                  <a:gd name="T59" fmla="*/ 601 h 1568"/>
                  <a:gd name="T60" fmla="*/ 1324 w 4010"/>
                  <a:gd name="T61" fmla="*/ 571 h 1568"/>
                  <a:gd name="T62" fmla="*/ 1388 w 4010"/>
                  <a:gd name="T63" fmla="*/ 550 h 1568"/>
                  <a:gd name="T64" fmla="*/ 1461 w 4010"/>
                  <a:gd name="T65" fmla="*/ 527 h 1568"/>
                  <a:gd name="T66" fmla="*/ 1573 w 4010"/>
                  <a:gd name="T67" fmla="*/ 512 h 1568"/>
                  <a:gd name="T68" fmla="*/ 1617 w 4010"/>
                  <a:gd name="T69" fmla="*/ 484 h 1568"/>
                  <a:gd name="T70" fmla="*/ 1728 w 4010"/>
                  <a:gd name="T71" fmla="*/ 453 h 1568"/>
                  <a:gd name="T72" fmla="*/ 1760 w 4010"/>
                  <a:gd name="T73" fmla="*/ 423 h 1568"/>
                  <a:gd name="T74" fmla="*/ 1882 w 4010"/>
                  <a:gd name="T75" fmla="*/ 400 h 1568"/>
                  <a:gd name="T76" fmla="*/ 1961 w 4010"/>
                  <a:gd name="T77" fmla="*/ 371 h 1568"/>
                  <a:gd name="T78" fmla="*/ 2035 w 4010"/>
                  <a:gd name="T79" fmla="*/ 356 h 1568"/>
                  <a:gd name="T80" fmla="*/ 2139 w 4010"/>
                  <a:gd name="T81" fmla="*/ 326 h 1568"/>
                  <a:gd name="T82" fmla="*/ 2244 w 4010"/>
                  <a:gd name="T83" fmla="*/ 311 h 1568"/>
                  <a:gd name="T84" fmla="*/ 2292 w 4010"/>
                  <a:gd name="T85" fmla="*/ 289 h 1568"/>
                  <a:gd name="T86" fmla="*/ 2381 w 4010"/>
                  <a:gd name="T87" fmla="*/ 274 h 1568"/>
                  <a:gd name="T88" fmla="*/ 2510 w 4010"/>
                  <a:gd name="T89" fmla="*/ 252 h 1568"/>
                  <a:gd name="T90" fmla="*/ 2654 w 4010"/>
                  <a:gd name="T91" fmla="*/ 238 h 1568"/>
                  <a:gd name="T92" fmla="*/ 2711 w 4010"/>
                  <a:gd name="T93" fmla="*/ 216 h 1568"/>
                  <a:gd name="T94" fmla="*/ 2864 w 4010"/>
                  <a:gd name="T95" fmla="*/ 193 h 1568"/>
                  <a:gd name="T96" fmla="*/ 2938 w 4010"/>
                  <a:gd name="T97" fmla="*/ 171 h 1568"/>
                  <a:gd name="T98" fmla="*/ 3018 w 4010"/>
                  <a:gd name="T99" fmla="*/ 156 h 1568"/>
                  <a:gd name="T100" fmla="*/ 3082 w 4010"/>
                  <a:gd name="T101" fmla="*/ 134 h 1568"/>
                  <a:gd name="T102" fmla="*/ 3324 w 4010"/>
                  <a:gd name="T103" fmla="*/ 118 h 1568"/>
                  <a:gd name="T104" fmla="*/ 3405 w 4010"/>
                  <a:gd name="T105" fmla="*/ 97 h 1568"/>
                  <a:gd name="T106" fmla="*/ 3534 w 4010"/>
                  <a:gd name="T107" fmla="*/ 82 h 1568"/>
                  <a:gd name="T108" fmla="*/ 3599 w 4010"/>
                  <a:gd name="T109" fmla="*/ 59 h 1568"/>
                  <a:gd name="T110" fmla="*/ 3809 w 4010"/>
                  <a:gd name="T111" fmla="*/ 44 h 1568"/>
                  <a:gd name="T112" fmla="*/ 3897 w 4010"/>
                  <a:gd name="T113" fmla="*/ 22 h 1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010" h="1568">
                    <a:moveTo>
                      <a:pt x="0" y="1568"/>
                    </a:moveTo>
                    <a:lnTo>
                      <a:pt x="10" y="1568"/>
                    </a:lnTo>
                    <a:lnTo>
                      <a:pt x="10" y="1560"/>
                    </a:lnTo>
                    <a:lnTo>
                      <a:pt x="25" y="1560"/>
                    </a:lnTo>
                    <a:lnTo>
                      <a:pt x="25" y="1553"/>
                    </a:lnTo>
                    <a:lnTo>
                      <a:pt x="34" y="1553"/>
                    </a:lnTo>
                    <a:lnTo>
                      <a:pt x="34" y="1537"/>
                    </a:lnTo>
                    <a:lnTo>
                      <a:pt x="42" y="1537"/>
                    </a:lnTo>
                    <a:lnTo>
                      <a:pt x="42" y="1523"/>
                    </a:lnTo>
                    <a:lnTo>
                      <a:pt x="59" y="1523"/>
                    </a:lnTo>
                    <a:lnTo>
                      <a:pt x="59" y="1506"/>
                    </a:lnTo>
                    <a:lnTo>
                      <a:pt x="75" y="1506"/>
                    </a:lnTo>
                    <a:lnTo>
                      <a:pt x="75" y="1471"/>
                    </a:lnTo>
                    <a:lnTo>
                      <a:pt x="90" y="1471"/>
                    </a:lnTo>
                    <a:lnTo>
                      <a:pt x="90" y="1455"/>
                    </a:lnTo>
                    <a:lnTo>
                      <a:pt x="99" y="1455"/>
                    </a:lnTo>
                    <a:lnTo>
                      <a:pt x="99" y="1441"/>
                    </a:lnTo>
                    <a:lnTo>
                      <a:pt x="108" y="1441"/>
                    </a:lnTo>
                    <a:lnTo>
                      <a:pt x="108" y="1411"/>
                    </a:lnTo>
                    <a:lnTo>
                      <a:pt x="124" y="1411"/>
                    </a:lnTo>
                    <a:lnTo>
                      <a:pt x="124" y="1380"/>
                    </a:lnTo>
                    <a:lnTo>
                      <a:pt x="130" y="1380"/>
                    </a:lnTo>
                    <a:lnTo>
                      <a:pt x="130" y="1366"/>
                    </a:lnTo>
                    <a:lnTo>
                      <a:pt x="148" y="1366"/>
                    </a:lnTo>
                    <a:lnTo>
                      <a:pt x="148" y="1350"/>
                    </a:lnTo>
                    <a:lnTo>
                      <a:pt x="156" y="1350"/>
                    </a:lnTo>
                    <a:lnTo>
                      <a:pt x="156" y="1329"/>
                    </a:lnTo>
                    <a:lnTo>
                      <a:pt x="163" y="1329"/>
                    </a:lnTo>
                    <a:lnTo>
                      <a:pt x="163" y="1321"/>
                    </a:lnTo>
                    <a:lnTo>
                      <a:pt x="179" y="1321"/>
                    </a:lnTo>
                    <a:lnTo>
                      <a:pt x="179" y="1307"/>
                    </a:lnTo>
                    <a:lnTo>
                      <a:pt x="194" y="1307"/>
                    </a:lnTo>
                    <a:lnTo>
                      <a:pt x="194" y="1269"/>
                    </a:lnTo>
                    <a:lnTo>
                      <a:pt x="212" y="1269"/>
                    </a:lnTo>
                    <a:lnTo>
                      <a:pt x="212" y="1255"/>
                    </a:lnTo>
                    <a:lnTo>
                      <a:pt x="220" y="1255"/>
                    </a:lnTo>
                    <a:lnTo>
                      <a:pt x="220" y="1248"/>
                    </a:lnTo>
                    <a:lnTo>
                      <a:pt x="228" y="1248"/>
                    </a:lnTo>
                    <a:lnTo>
                      <a:pt x="228" y="1233"/>
                    </a:lnTo>
                    <a:lnTo>
                      <a:pt x="244" y="1233"/>
                    </a:lnTo>
                    <a:lnTo>
                      <a:pt x="244" y="1218"/>
                    </a:lnTo>
                    <a:lnTo>
                      <a:pt x="252" y="1218"/>
                    </a:lnTo>
                    <a:lnTo>
                      <a:pt x="252" y="1211"/>
                    </a:lnTo>
                    <a:lnTo>
                      <a:pt x="275" y="1211"/>
                    </a:lnTo>
                    <a:lnTo>
                      <a:pt x="275" y="1181"/>
                    </a:lnTo>
                    <a:lnTo>
                      <a:pt x="284" y="1181"/>
                    </a:lnTo>
                    <a:lnTo>
                      <a:pt x="284" y="1166"/>
                    </a:lnTo>
                    <a:lnTo>
                      <a:pt x="300" y="1166"/>
                    </a:lnTo>
                    <a:lnTo>
                      <a:pt x="300" y="1151"/>
                    </a:lnTo>
                    <a:lnTo>
                      <a:pt x="309" y="1151"/>
                    </a:lnTo>
                    <a:lnTo>
                      <a:pt x="309" y="1137"/>
                    </a:lnTo>
                    <a:lnTo>
                      <a:pt x="317" y="1137"/>
                    </a:lnTo>
                    <a:lnTo>
                      <a:pt x="317" y="1113"/>
                    </a:lnTo>
                    <a:lnTo>
                      <a:pt x="349" y="1113"/>
                    </a:lnTo>
                    <a:lnTo>
                      <a:pt x="349" y="1084"/>
                    </a:lnTo>
                    <a:lnTo>
                      <a:pt x="364" y="1084"/>
                    </a:lnTo>
                    <a:lnTo>
                      <a:pt x="364" y="1077"/>
                    </a:lnTo>
                    <a:lnTo>
                      <a:pt x="373" y="1077"/>
                    </a:lnTo>
                    <a:lnTo>
                      <a:pt x="373" y="1063"/>
                    </a:lnTo>
                    <a:lnTo>
                      <a:pt x="389" y="1063"/>
                    </a:lnTo>
                    <a:lnTo>
                      <a:pt x="389" y="1047"/>
                    </a:lnTo>
                    <a:lnTo>
                      <a:pt x="397" y="1047"/>
                    </a:lnTo>
                    <a:lnTo>
                      <a:pt x="397" y="1040"/>
                    </a:lnTo>
                    <a:lnTo>
                      <a:pt x="437" y="1040"/>
                    </a:lnTo>
                    <a:lnTo>
                      <a:pt x="437" y="1024"/>
                    </a:lnTo>
                    <a:lnTo>
                      <a:pt x="454" y="1024"/>
                    </a:lnTo>
                    <a:lnTo>
                      <a:pt x="454" y="1017"/>
                    </a:lnTo>
                    <a:lnTo>
                      <a:pt x="470" y="1017"/>
                    </a:lnTo>
                    <a:lnTo>
                      <a:pt x="470" y="1002"/>
                    </a:lnTo>
                    <a:lnTo>
                      <a:pt x="486" y="1002"/>
                    </a:lnTo>
                    <a:lnTo>
                      <a:pt x="486" y="987"/>
                    </a:lnTo>
                    <a:lnTo>
                      <a:pt x="494" y="987"/>
                    </a:lnTo>
                    <a:lnTo>
                      <a:pt x="494" y="980"/>
                    </a:lnTo>
                    <a:lnTo>
                      <a:pt x="542" y="980"/>
                    </a:lnTo>
                    <a:lnTo>
                      <a:pt x="542" y="958"/>
                    </a:lnTo>
                    <a:lnTo>
                      <a:pt x="550" y="958"/>
                    </a:lnTo>
                    <a:lnTo>
                      <a:pt x="550" y="943"/>
                    </a:lnTo>
                    <a:lnTo>
                      <a:pt x="559" y="943"/>
                    </a:lnTo>
                    <a:lnTo>
                      <a:pt x="559" y="936"/>
                    </a:lnTo>
                    <a:lnTo>
                      <a:pt x="583" y="936"/>
                    </a:lnTo>
                    <a:lnTo>
                      <a:pt x="583" y="929"/>
                    </a:lnTo>
                    <a:lnTo>
                      <a:pt x="599" y="929"/>
                    </a:lnTo>
                    <a:lnTo>
                      <a:pt x="599" y="920"/>
                    </a:lnTo>
                    <a:lnTo>
                      <a:pt x="608" y="920"/>
                    </a:lnTo>
                    <a:lnTo>
                      <a:pt x="608" y="906"/>
                    </a:lnTo>
                    <a:lnTo>
                      <a:pt x="646" y="906"/>
                    </a:lnTo>
                    <a:lnTo>
                      <a:pt x="646" y="892"/>
                    </a:lnTo>
                    <a:lnTo>
                      <a:pt x="664" y="892"/>
                    </a:lnTo>
                    <a:lnTo>
                      <a:pt x="664" y="884"/>
                    </a:lnTo>
                    <a:lnTo>
                      <a:pt x="679" y="884"/>
                    </a:lnTo>
                    <a:lnTo>
                      <a:pt x="679" y="876"/>
                    </a:lnTo>
                    <a:lnTo>
                      <a:pt x="719" y="876"/>
                    </a:lnTo>
                    <a:lnTo>
                      <a:pt x="719" y="869"/>
                    </a:lnTo>
                    <a:lnTo>
                      <a:pt x="728" y="869"/>
                    </a:lnTo>
                    <a:lnTo>
                      <a:pt x="728" y="862"/>
                    </a:lnTo>
                    <a:lnTo>
                      <a:pt x="760" y="862"/>
                    </a:lnTo>
                    <a:lnTo>
                      <a:pt x="760" y="847"/>
                    </a:lnTo>
                    <a:lnTo>
                      <a:pt x="793" y="847"/>
                    </a:lnTo>
                    <a:lnTo>
                      <a:pt x="793" y="840"/>
                    </a:lnTo>
                    <a:lnTo>
                      <a:pt x="800" y="840"/>
                    </a:lnTo>
                    <a:lnTo>
                      <a:pt x="800" y="831"/>
                    </a:lnTo>
                    <a:lnTo>
                      <a:pt x="817" y="831"/>
                    </a:lnTo>
                    <a:lnTo>
                      <a:pt x="817" y="824"/>
                    </a:lnTo>
                    <a:lnTo>
                      <a:pt x="840" y="824"/>
                    </a:lnTo>
                    <a:lnTo>
                      <a:pt x="840" y="817"/>
                    </a:lnTo>
                    <a:lnTo>
                      <a:pt x="849" y="817"/>
                    </a:lnTo>
                    <a:lnTo>
                      <a:pt x="849" y="806"/>
                    </a:lnTo>
                    <a:lnTo>
                      <a:pt x="881" y="806"/>
                    </a:lnTo>
                    <a:lnTo>
                      <a:pt x="881" y="794"/>
                    </a:lnTo>
                    <a:lnTo>
                      <a:pt x="889" y="794"/>
                    </a:lnTo>
                    <a:lnTo>
                      <a:pt x="889" y="780"/>
                    </a:lnTo>
                    <a:lnTo>
                      <a:pt x="913" y="780"/>
                    </a:lnTo>
                    <a:lnTo>
                      <a:pt x="913" y="772"/>
                    </a:lnTo>
                    <a:lnTo>
                      <a:pt x="921" y="772"/>
                    </a:lnTo>
                    <a:lnTo>
                      <a:pt x="921" y="765"/>
                    </a:lnTo>
                    <a:lnTo>
                      <a:pt x="938" y="765"/>
                    </a:lnTo>
                    <a:lnTo>
                      <a:pt x="938" y="758"/>
                    </a:lnTo>
                    <a:lnTo>
                      <a:pt x="993" y="758"/>
                    </a:lnTo>
                    <a:lnTo>
                      <a:pt x="993" y="743"/>
                    </a:lnTo>
                    <a:lnTo>
                      <a:pt x="1003" y="743"/>
                    </a:lnTo>
                    <a:lnTo>
                      <a:pt x="1003" y="736"/>
                    </a:lnTo>
                    <a:lnTo>
                      <a:pt x="1027" y="736"/>
                    </a:lnTo>
                    <a:lnTo>
                      <a:pt x="1027" y="727"/>
                    </a:lnTo>
                    <a:lnTo>
                      <a:pt x="1033" y="727"/>
                    </a:lnTo>
                    <a:lnTo>
                      <a:pt x="1033" y="721"/>
                    </a:lnTo>
                    <a:lnTo>
                      <a:pt x="1058" y="721"/>
                    </a:lnTo>
                    <a:lnTo>
                      <a:pt x="1058" y="712"/>
                    </a:lnTo>
                    <a:lnTo>
                      <a:pt x="1067" y="712"/>
                    </a:lnTo>
                    <a:lnTo>
                      <a:pt x="1067" y="705"/>
                    </a:lnTo>
                    <a:lnTo>
                      <a:pt x="1102" y="705"/>
                    </a:lnTo>
                    <a:lnTo>
                      <a:pt x="1102" y="691"/>
                    </a:lnTo>
                    <a:lnTo>
                      <a:pt x="1115" y="691"/>
                    </a:lnTo>
                    <a:lnTo>
                      <a:pt x="1115" y="683"/>
                    </a:lnTo>
                    <a:lnTo>
                      <a:pt x="1147" y="683"/>
                    </a:lnTo>
                    <a:lnTo>
                      <a:pt x="1147" y="675"/>
                    </a:lnTo>
                    <a:lnTo>
                      <a:pt x="1154" y="675"/>
                    </a:lnTo>
                    <a:lnTo>
                      <a:pt x="1154" y="667"/>
                    </a:lnTo>
                    <a:lnTo>
                      <a:pt x="1180" y="667"/>
                    </a:lnTo>
                    <a:lnTo>
                      <a:pt x="1180" y="662"/>
                    </a:lnTo>
                    <a:lnTo>
                      <a:pt x="1189" y="662"/>
                    </a:lnTo>
                    <a:lnTo>
                      <a:pt x="1189" y="654"/>
                    </a:lnTo>
                    <a:lnTo>
                      <a:pt x="1219" y="654"/>
                    </a:lnTo>
                    <a:lnTo>
                      <a:pt x="1219" y="631"/>
                    </a:lnTo>
                    <a:lnTo>
                      <a:pt x="1235" y="631"/>
                    </a:lnTo>
                    <a:lnTo>
                      <a:pt x="1235" y="617"/>
                    </a:lnTo>
                    <a:lnTo>
                      <a:pt x="1243" y="617"/>
                    </a:lnTo>
                    <a:lnTo>
                      <a:pt x="1243" y="609"/>
                    </a:lnTo>
                    <a:lnTo>
                      <a:pt x="1252" y="609"/>
                    </a:lnTo>
                    <a:lnTo>
                      <a:pt x="1252" y="601"/>
                    </a:lnTo>
                    <a:lnTo>
                      <a:pt x="1268" y="601"/>
                    </a:lnTo>
                    <a:lnTo>
                      <a:pt x="1268" y="595"/>
                    </a:lnTo>
                    <a:lnTo>
                      <a:pt x="1276" y="595"/>
                    </a:lnTo>
                    <a:lnTo>
                      <a:pt x="1276" y="587"/>
                    </a:lnTo>
                    <a:lnTo>
                      <a:pt x="1324" y="587"/>
                    </a:lnTo>
                    <a:lnTo>
                      <a:pt x="1324" y="571"/>
                    </a:lnTo>
                    <a:lnTo>
                      <a:pt x="1333" y="571"/>
                    </a:lnTo>
                    <a:lnTo>
                      <a:pt x="1333" y="556"/>
                    </a:lnTo>
                    <a:lnTo>
                      <a:pt x="1358" y="556"/>
                    </a:lnTo>
                    <a:lnTo>
                      <a:pt x="1358" y="550"/>
                    </a:lnTo>
                    <a:lnTo>
                      <a:pt x="1388" y="550"/>
                    </a:lnTo>
                    <a:lnTo>
                      <a:pt x="1388" y="541"/>
                    </a:lnTo>
                    <a:lnTo>
                      <a:pt x="1445" y="541"/>
                    </a:lnTo>
                    <a:lnTo>
                      <a:pt x="1445" y="535"/>
                    </a:lnTo>
                    <a:lnTo>
                      <a:pt x="1461" y="535"/>
                    </a:lnTo>
                    <a:lnTo>
                      <a:pt x="1461" y="527"/>
                    </a:lnTo>
                    <a:lnTo>
                      <a:pt x="1486" y="527"/>
                    </a:lnTo>
                    <a:lnTo>
                      <a:pt x="1486" y="520"/>
                    </a:lnTo>
                    <a:lnTo>
                      <a:pt x="1518" y="520"/>
                    </a:lnTo>
                    <a:lnTo>
                      <a:pt x="1518" y="512"/>
                    </a:lnTo>
                    <a:lnTo>
                      <a:pt x="1573" y="512"/>
                    </a:lnTo>
                    <a:lnTo>
                      <a:pt x="1573" y="497"/>
                    </a:lnTo>
                    <a:lnTo>
                      <a:pt x="1607" y="497"/>
                    </a:lnTo>
                    <a:lnTo>
                      <a:pt x="1607" y="490"/>
                    </a:lnTo>
                    <a:lnTo>
                      <a:pt x="1617" y="490"/>
                    </a:lnTo>
                    <a:lnTo>
                      <a:pt x="1617" y="484"/>
                    </a:lnTo>
                    <a:lnTo>
                      <a:pt x="1672" y="484"/>
                    </a:lnTo>
                    <a:lnTo>
                      <a:pt x="1672" y="475"/>
                    </a:lnTo>
                    <a:lnTo>
                      <a:pt x="1703" y="475"/>
                    </a:lnTo>
                    <a:lnTo>
                      <a:pt x="1703" y="453"/>
                    </a:lnTo>
                    <a:lnTo>
                      <a:pt x="1728" y="453"/>
                    </a:lnTo>
                    <a:lnTo>
                      <a:pt x="1728" y="446"/>
                    </a:lnTo>
                    <a:lnTo>
                      <a:pt x="1752" y="446"/>
                    </a:lnTo>
                    <a:lnTo>
                      <a:pt x="1752" y="437"/>
                    </a:lnTo>
                    <a:lnTo>
                      <a:pt x="1760" y="437"/>
                    </a:lnTo>
                    <a:lnTo>
                      <a:pt x="1760" y="423"/>
                    </a:lnTo>
                    <a:lnTo>
                      <a:pt x="1825" y="423"/>
                    </a:lnTo>
                    <a:lnTo>
                      <a:pt x="1825" y="409"/>
                    </a:lnTo>
                    <a:lnTo>
                      <a:pt x="1873" y="409"/>
                    </a:lnTo>
                    <a:lnTo>
                      <a:pt x="1873" y="400"/>
                    </a:lnTo>
                    <a:lnTo>
                      <a:pt x="1882" y="400"/>
                    </a:lnTo>
                    <a:lnTo>
                      <a:pt x="1882" y="393"/>
                    </a:lnTo>
                    <a:lnTo>
                      <a:pt x="1905" y="393"/>
                    </a:lnTo>
                    <a:lnTo>
                      <a:pt x="1905" y="386"/>
                    </a:lnTo>
                    <a:lnTo>
                      <a:pt x="1961" y="386"/>
                    </a:lnTo>
                    <a:lnTo>
                      <a:pt x="1961" y="371"/>
                    </a:lnTo>
                    <a:lnTo>
                      <a:pt x="1985" y="371"/>
                    </a:lnTo>
                    <a:lnTo>
                      <a:pt x="1985" y="363"/>
                    </a:lnTo>
                    <a:lnTo>
                      <a:pt x="2018" y="363"/>
                    </a:lnTo>
                    <a:lnTo>
                      <a:pt x="2018" y="356"/>
                    </a:lnTo>
                    <a:lnTo>
                      <a:pt x="2035" y="356"/>
                    </a:lnTo>
                    <a:lnTo>
                      <a:pt x="2035" y="348"/>
                    </a:lnTo>
                    <a:lnTo>
                      <a:pt x="2091" y="348"/>
                    </a:lnTo>
                    <a:lnTo>
                      <a:pt x="2091" y="334"/>
                    </a:lnTo>
                    <a:lnTo>
                      <a:pt x="2139" y="334"/>
                    </a:lnTo>
                    <a:lnTo>
                      <a:pt x="2139" y="326"/>
                    </a:lnTo>
                    <a:lnTo>
                      <a:pt x="2156" y="326"/>
                    </a:lnTo>
                    <a:lnTo>
                      <a:pt x="2156" y="319"/>
                    </a:lnTo>
                    <a:lnTo>
                      <a:pt x="2172" y="319"/>
                    </a:lnTo>
                    <a:lnTo>
                      <a:pt x="2172" y="311"/>
                    </a:lnTo>
                    <a:lnTo>
                      <a:pt x="2244" y="311"/>
                    </a:lnTo>
                    <a:lnTo>
                      <a:pt x="2244" y="305"/>
                    </a:lnTo>
                    <a:lnTo>
                      <a:pt x="2260" y="305"/>
                    </a:lnTo>
                    <a:lnTo>
                      <a:pt x="2260" y="298"/>
                    </a:lnTo>
                    <a:lnTo>
                      <a:pt x="2292" y="298"/>
                    </a:lnTo>
                    <a:lnTo>
                      <a:pt x="2292" y="289"/>
                    </a:lnTo>
                    <a:lnTo>
                      <a:pt x="2324" y="289"/>
                    </a:lnTo>
                    <a:lnTo>
                      <a:pt x="2324" y="282"/>
                    </a:lnTo>
                    <a:lnTo>
                      <a:pt x="2364" y="282"/>
                    </a:lnTo>
                    <a:lnTo>
                      <a:pt x="2364" y="274"/>
                    </a:lnTo>
                    <a:lnTo>
                      <a:pt x="2381" y="274"/>
                    </a:lnTo>
                    <a:lnTo>
                      <a:pt x="2381" y="267"/>
                    </a:lnTo>
                    <a:lnTo>
                      <a:pt x="2437" y="267"/>
                    </a:lnTo>
                    <a:lnTo>
                      <a:pt x="2437" y="261"/>
                    </a:lnTo>
                    <a:lnTo>
                      <a:pt x="2510" y="261"/>
                    </a:lnTo>
                    <a:lnTo>
                      <a:pt x="2510" y="252"/>
                    </a:lnTo>
                    <a:lnTo>
                      <a:pt x="2534" y="252"/>
                    </a:lnTo>
                    <a:lnTo>
                      <a:pt x="2534" y="245"/>
                    </a:lnTo>
                    <a:lnTo>
                      <a:pt x="2598" y="245"/>
                    </a:lnTo>
                    <a:lnTo>
                      <a:pt x="2598" y="238"/>
                    </a:lnTo>
                    <a:lnTo>
                      <a:pt x="2654" y="238"/>
                    </a:lnTo>
                    <a:lnTo>
                      <a:pt x="2654" y="230"/>
                    </a:lnTo>
                    <a:lnTo>
                      <a:pt x="2687" y="230"/>
                    </a:lnTo>
                    <a:lnTo>
                      <a:pt x="2687" y="223"/>
                    </a:lnTo>
                    <a:lnTo>
                      <a:pt x="2711" y="223"/>
                    </a:lnTo>
                    <a:lnTo>
                      <a:pt x="2711" y="216"/>
                    </a:lnTo>
                    <a:lnTo>
                      <a:pt x="2798" y="216"/>
                    </a:lnTo>
                    <a:lnTo>
                      <a:pt x="2798" y="201"/>
                    </a:lnTo>
                    <a:lnTo>
                      <a:pt x="2832" y="201"/>
                    </a:lnTo>
                    <a:lnTo>
                      <a:pt x="2832" y="193"/>
                    </a:lnTo>
                    <a:lnTo>
                      <a:pt x="2864" y="193"/>
                    </a:lnTo>
                    <a:lnTo>
                      <a:pt x="2864" y="186"/>
                    </a:lnTo>
                    <a:lnTo>
                      <a:pt x="2897" y="186"/>
                    </a:lnTo>
                    <a:lnTo>
                      <a:pt x="2897" y="177"/>
                    </a:lnTo>
                    <a:lnTo>
                      <a:pt x="2938" y="177"/>
                    </a:lnTo>
                    <a:lnTo>
                      <a:pt x="2938" y="171"/>
                    </a:lnTo>
                    <a:lnTo>
                      <a:pt x="2970" y="171"/>
                    </a:lnTo>
                    <a:lnTo>
                      <a:pt x="2970" y="163"/>
                    </a:lnTo>
                    <a:lnTo>
                      <a:pt x="2993" y="163"/>
                    </a:lnTo>
                    <a:lnTo>
                      <a:pt x="2993" y="156"/>
                    </a:lnTo>
                    <a:lnTo>
                      <a:pt x="3018" y="156"/>
                    </a:lnTo>
                    <a:lnTo>
                      <a:pt x="3018" y="148"/>
                    </a:lnTo>
                    <a:lnTo>
                      <a:pt x="3066" y="148"/>
                    </a:lnTo>
                    <a:lnTo>
                      <a:pt x="3066" y="141"/>
                    </a:lnTo>
                    <a:lnTo>
                      <a:pt x="3082" y="141"/>
                    </a:lnTo>
                    <a:lnTo>
                      <a:pt x="3082" y="134"/>
                    </a:lnTo>
                    <a:lnTo>
                      <a:pt x="3090" y="134"/>
                    </a:lnTo>
                    <a:lnTo>
                      <a:pt x="3090" y="125"/>
                    </a:lnTo>
                    <a:lnTo>
                      <a:pt x="3140" y="125"/>
                    </a:lnTo>
                    <a:lnTo>
                      <a:pt x="3140" y="118"/>
                    </a:lnTo>
                    <a:lnTo>
                      <a:pt x="3324" y="118"/>
                    </a:lnTo>
                    <a:lnTo>
                      <a:pt x="3324" y="111"/>
                    </a:lnTo>
                    <a:lnTo>
                      <a:pt x="3371" y="111"/>
                    </a:lnTo>
                    <a:lnTo>
                      <a:pt x="3371" y="104"/>
                    </a:lnTo>
                    <a:lnTo>
                      <a:pt x="3405" y="104"/>
                    </a:lnTo>
                    <a:lnTo>
                      <a:pt x="3405" y="97"/>
                    </a:lnTo>
                    <a:lnTo>
                      <a:pt x="3470" y="97"/>
                    </a:lnTo>
                    <a:lnTo>
                      <a:pt x="3470" y="89"/>
                    </a:lnTo>
                    <a:lnTo>
                      <a:pt x="3518" y="89"/>
                    </a:lnTo>
                    <a:lnTo>
                      <a:pt x="3518" y="82"/>
                    </a:lnTo>
                    <a:lnTo>
                      <a:pt x="3534" y="82"/>
                    </a:lnTo>
                    <a:lnTo>
                      <a:pt x="3534" y="74"/>
                    </a:lnTo>
                    <a:lnTo>
                      <a:pt x="3581" y="74"/>
                    </a:lnTo>
                    <a:lnTo>
                      <a:pt x="3581" y="68"/>
                    </a:lnTo>
                    <a:lnTo>
                      <a:pt x="3599" y="68"/>
                    </a:lnTo>
                    <a:lnTo>
                      <a:pt x="3599" y="59"/>
                    </a:lnTo>
                    <a:lnTo>
                      <a:pt x="3663" y="59"/>
                    </a:lnTo>
                    <a:lnTo>
                      <a:pt x="3663" y="51"/>
                    </a:lnTo>
                    <a:lnTo>
                      <a:pt x="3720" y="51"/>
                    </a:lnTo>
                    <a:lnTo>
                      <a:pt x="3720" y="44"/>
                    </a:lnTo>
                    <a:lnTo>
                      <a:pt x="3809" y="44"/>
                    </a:lnTo>
                    <a:lnTo>
                      <a:pt x="3809" y="37"/>
                    </a:lnTo>
                    <a:lnTo>
                      <a:pt x="3832" y="37"/>
                    </a:lnTo>
                    <a:lnTo>
                      <a:pt x="3832" y="30"/>
                    </a:lnTo>
                    <a:lnTo>
                      <a:pt x="3897" y="30"/>
                    </a:lnTo>
                    <a:lnTo>
                      <a:pt x="3897" y="22"/>
                    </a:lnTo>
                    <a:lnTo>
                      <a:pt x="3945" y="22"/>
                    </a:lnTo>
                    <a:lnTo>
                      <a:pt x="3945" y="15"/>
                    </a:lnTo>
                    <a:lnTo>
                      <a:pt x="4010" y="15"/>
                    </a:lnTo>
                    <a:lnTo>
                      <a:pt x="4010" y="0"/>
                    </a:lnTo>
                  </a:path>
                </a:pathLst>
              </a:custGeom>
              <a:noFill/>
              <a:ln w="28575" cap="flat">
                <a:solidFill>
                  <a:srgbClr val="40488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61" name="Freeform 11"/>
              <p:cNvSpPr>
                <a:spLocks/>
              </p:cNvSpPr>
              <p:nvPr/>
            </p:nvSpPr>
            <p:spPr bwMode="auto">
              <a:xfrm>
                <a:off x="2107819" y="2113601"/>
                <a:ext cx="7814115" cy="2489200"/>
              </a:xfrm>
              <a:custGeom>
                <a:avLst/>
                <a:gdLst>
                  <a:gd name="T0" fmla="*/ 25 w 4011"/>
                  <a:gd name="T1" fmla="*/ 1552 h 1568"/>
                  <a:gd name="T2" fmla="*/ 67 w 4011"/>
                  <a:gd name="T3" fmla="*/ 1507 h 1568"/>
                  <a:gd name="T4" fmla="*/ 90 w 4011"/>
                  <a:gd name="T5" fmla="*/ 1455 h 1568"/>
                  <a:gd name="T6" fmla="*/ 124 w 4011"/>
                  <a:gd name="T7" fmla="*/ 1409 h 1568"/>
                  <a:gd name="T8" fmla="*/ 155 w 4011"/>
                  <a:gd name="T9" fmla="*/ 1374 h 1568"/>
                  <a:gd name="T10" fmla="*/ 197 w 4011"/>
                  <a:gd name="T11" fmla="*/ 1344 h 1568"/>
                  <a:gd name="T12" fmla="*/ 243 w 4011"/>
                  <a:gd name="T13" fmla="*/ 1286 h 1568"/>
                  <a:gd name="T14" fmla="*/ 298 w 4011"/>
                  <a:gd name="T15" fmla="*/ 1269 h 1568"/>
                  <a:gd name="T16" fmla="*/ 331 w 4011"/>
                  <a:gd name="T17" fmla="*/ 1195 h 1568"/>
                  <a:gd name="T18" fmla="*/ 390 w 4011"/>
                  <a:gd name="T19" fmla="*/ 1181 h 1568"/>
                  <a:gd name="T20" fmla="*/ 406 w 4011"/>
                  <a:gd name="T21" fmla="*/ 1139 h 1568"/>
                  <a:gd name="T22" fmla="*/ 466 w 4011"/>
                  <a:gd name="T23" fmla="*/ 1122 h 1568"/>
                  <a:gd name="T24" fmla="*/ 517 w 4011"/>
                  <a:gd name="T25" fmla="*/ 1062 h 1568"/>
                  <a:gd name="T26" fmla="*/ 575 w 4011"/>
                  <a:gd name="T27" fmla="*/ 1033 h 1568"/>
                  <a:gd name="T28" fmla="*/ 615 w 4011"/>
                  <a:gd name="T29" fmla="*/ 1004 h 1568"/>
                  <a:gd name="T30" fmla="*/ 671 w 4011"/>
                  <a:gd name="T31" fmla="*/ 972 h 1568"/>
                  <a:gd name="T32" fmla="*/ 704 w 4011"/>
                  <a:gd name="T33" fmla="*/ 936 h 1568"/>
                  <a:gd name="T34" fmla="*/ 769 w 4011"/>
                  <a:gd name="T35" fmla="*/ 906 h 1568"/>
                  <a:gd name="T36" fmla="*/ 824 w 4011"/>
                  <a:gd name="T37" fmla="*/ 869 h 1568"/>
                  <a:gd name="T38" fmla="*/ 913 w 4011"/>
                  <a:gd name="T39" fmla="*/ 845 h 1568"/>
                  <a:gd name="T40" fmla="*/ 969 w 4011"/>
                  <a:gd name="T41" fmla="*/ 801 h 1568"/>
                  <a:gd name="T42" fmla="*/ 1033 w 4011"/>
                  <a:gd name="T43" fmla="*/ 780 h 1568"/>
                  <a:gd name="T44" fmla="*/ 1074 w 4011"/>
                  <a:gd name="T45" fmla="*/ 758 h 1568"/>
                  <a:gd name="T46" fmla="*/ 1131 w 4011"/>
                  <a:gd name="T47" fmla="*/ 742 h 1568"/>
                  <a:gd name="T48" fmla="*/ 1177 w 4011"/>
                  <a:gd name="T49" fmla="*/ 697 h 1568"/>
                  <a:gd name="T50" fmla="*/ 1272 w 4011"/>
                  <a:gd name="T51" fmla="*/ 661 h 1568"/>
                  <a:gd name="T52" fmla="*/ 1334 w 4011"/>
                  <a:gd name="T53" fmla="*/ 617 h 1568"/>
                  <a:gd name="T54" fmla="*/ 1429 w 4011"/>
                  <a:gd name="T55" fmla="*/ 603 h 1568"/>
                  <a:gd name="T56" fmla="*/ 1512 w 4011"/>
                  <a:gd name="T57" fmla="*/ 557 h 1568"/>
                  <a:gd name="T58" fmla="*/ 1583 w 4011"/>
                  <a:gd name="T59" fmla="*/ 535 h 1568"/>
                  <a:gd name="T60" fmla="*/ 1640 w 4011"/>
                  <a:gd name="T61" fmla="*/ 504 h 1568"/>
                  <a:gd name="T62" fmla="*/ 1743 w 4011"/>
                  <a:gd name="T63" fmla="*/ 482 h 1568"/>
                  <a:gd name="T64" fmla="*/ 1803 w 4011"/>
                  <a:gd name="T65" fmla="*/ 461 h 1568"/>
                  <a:gd name="T66" fmla="*/ 1881 w 4011"/>
                  <a:gd name="T67" fmla="*/ 438 h 1568"/>
                  <a:gd name="T68" fmla="*/ 2001 w 4011"/>
                  <a:gd name="T69" fmla="*/ 409 h 1568"/>
                  <a:gd name="T70" fmla="*/ 2081 w 4011"/>
                  <a:gd name="T71" fmla="*/ 387 h 1568"/>
                  <a:gd name="T72" fmla="*/ 2147 w 4011"/>
                  <a:gd name="T73" fmla="*/ 349 h 1568"/>
                  <a:gd name="T74" fmla="*/ 2314 w 4011"/>
                  <a:gd name="T75" fmla="*/ 335 h 1568"/>
                  <a:gd name="T76" fmla="*/ 2452 w 4011"/>
                  <a:gd name="T77" fmla="*/ 296 h 1568"/>
                  <a:gd name="T78" fmla="*/ 2591 w 4011"/>
                  <a:gd name="T79" fmla="*/ 282 h 1568"/>
                  <a:gd name="T80" fmla="*/ 2647 w 4011"/>
                  <a:gd name="T81" fmla="*/ 260 h 1568"/>
                  <a:gd name="T82" fmla="*/ 2726 w 4011"/>
                  <a:gd name="T83" fmla="*/ 244 h 1568"/>
                  <a:gd name="T84" fmla="*/ 2855 w 4011"/>
                  <a:gd name="T85" fmla="*/ 216 h 1568"/>
                  <a:gd name="T86" fmla="*/ 2985 w 4011"/>
                  <a:gd name="T87" fmla="*/ 193 h 1568"/>
                  <a:gd name="T88" fmla="*/ 3075 w 4011"/>
                  <a:gd name="T89" fmla="*/ 163 h 1568"/>
                  <a:gd name="T90" fmla="*/ 3171 w 4011"/>
                  <a:gd name="T91" fmla="*/ 140 h 1568"/>
                  <a:gd name="T92" fmla="*/ 3266 w 4011"/>
                  <a:gd name="T93" fmla="*/ 111 h 1568"/>
                  <a:gd name="T94" fmla="*/ 3405 w 4011"/>
                  <a:gd name="T95" fmla="*/ 97 h 1568"/>
                  <a:gd name="T96" fmla="*/ 3506 w 4011"/>
                  <a:gd name="T97" fmla="*/ 74 h 1568"/>
                  <a:gd name="T98" fmla="*/ 3725 w 4011"/>
                  <a:gd name="T99" fmla="*/ 59 h 1568"/>
                  <a:gd name="T100" fmla="*/ 3808 w 4011"/>
                  <a:gd name="T101" fmla="*/ 38 h 1568"/>
                  <a:gd name="T102" fmla="*/ 3946 w 4011"/>
                  <a:gd name="T103" fmla="*/ 22 h 1568"/>
                  <a:gd name="T104" fmla="*/ 4001 w 4011"/>
                  <a:gd name="T105" fmla="*/ 0 h 1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011" h="1568">
                    <a:moveTo>
                      <a:pt x="0" y="1568"/>
                    </a:moveTo>
                    <a:lnTo>
                      <a:pt x="10" y="1568"/>
                    </a:lnTo>
                    <a:lnTo>
                      <a:pt x="10" y="1558"/>
                    </a:lnTo>
                    <a:lnTo>
                      <a:pt x="25" y="1558"/>
                    </a:lnTo>
                    <a:lnTo>
                      <a:pt x="25" y="1552"/>
                    </a:lnTo>
                    <a:lnTo>
                      <a:pt x="34" y="1552"/>
                    </a:lnTo>
                    <a:lnTo>
                      <a:pt x="34" y="1522"/>
                    </a:lnTo>
                    <a:lnTo>
                      <a:pt x="42" y="1522"/>
                    </a:lnTo>
                    <a:lnTo>
                      <a:pt x="42" y="1507"/>
                    </a:lnTo>
                    <a:lnTo>
                      <a:pt x="67" y="1507"/>
                    </a:lnTo>
                    <a:lnTo>
                      <a:pt x="67" y="1478"/>
                    </a:lnTo>
                    <a:lnTo>
                      <a:pt x="75" y="1478"/>
                    </a:lnTo>
                    <a:lnTo>
                      <a:pt x="75" y="1462"/>
                    </a:lnTo>
                    <a:lnTo>
                      <a:pt x="90" y="1462"/>
                    </a:lnTo>
                    <a:lnTo>
                      <a:pt x="90" y="1455"/>
                    </a:lnTo>
                    <a:lnTo>
                      <a:pt x="99" y="1455"/>
                    </a:lnTo>
                    <a:lnTo>
                      <a:pt x="99" y="1427"/>
                    </a:lnTo>
                    <a:lnTo>
                      <a:pt x="108" y="1427"/>
                    </a:lnTo>
                    <a:lnTo>
                      <a:pt x="108" y="1409"/>
                    </a:lnTo>
                    <a:lnTo>
                      <a:pt x="124" y="1409"/>
                    </a:lnTo>
                    <a:lnTo>
                      <a:pt x="124" y="1396"/>
                    </a:lnTo>
                    <a:lnTo>
                      <a:pt x="148" y="1396"/>
                    </a:lnTo>
                    <a:lnTo>
                      <a:pt x="148" y="1389"/>
                    </a:lnTo>
                    <a:lnTo>
                      <a:pt x="155" y="1389"/>
                    </a:lnTo>
                    <a:lnTo>
                      <a:pt x="155" y="1374"/>
                    </a:lnTo>
                    <a:lnTo>
                      <a:pt x="177" y="1374"/>
                    </a:lnTo>
                    <a:lnTo>
                      <a:pt x="177" y="1351"/>
                    </a:lnTo>
                    <a:lnTo>
                      <a:pt x="188" y="1351"/>
                    </a:lnTo>
                    <a:lnTo>
                      <a:pt x="188" y="1344"/>
                    </a:lnTo>
                    <a:lnTo>
                      <a:pt x="197" y="1344"/>
                    </a:lnTo>
                    <a:lnTo>
                      <a:pt x="197" y="1323"/>
                    </a:lnTo>
                    <a:lnTo>
                      <a:pt x="228" y="1323"/>
                    </a:lnTo>
                    <a:lnTo>
                      <a:pt x="228" y="1305"/>
                    </a:lnTo>
                    <a:lnTo>
                      <a:pt x="243" y="1305"/>
                    </a:lnTo>
                    <a:lnTo>
                      <a:pt x="243" y="1286"/>
                    </a:lnTo>
                    <a:lnTo>
                      <a:pt x="268" y="1286"/>
                    </a:lnTo>
                    <a:lnTo>
                      <a:pt x="268" y="1277"/>
                    </a:lnTo>
                    <a:lnTo>
                      <a:pt x="275" y="1277"/>
                    </a:lnTo>
                    <a:lnTo>
                      <a:pt x="275" y="1269"/>
                    </a:lnTo>
                    <a:lnTo>
                      <a:pt x="298" y="1269"/>
                    </a:lnTo>
                    <a:lnTo>
                      <a:pt x="298" y="1241"/>
                    </a:lnTo>
                    <a:lnTo>
                      <a:pt x="309" y="1241"/>
                    </a:lnTo>
                    <a:lnTo>
                      <a:pt x="309" y="1218"/>
                    </a:lnTo>
                    <a:lnTo>
                      <a:pt x="331" y="1218"/>
                    </a:lnTo>
                    <a:lnTo>
                      <a:pt x="331" y="1195"/>
                    </a:lnTo>
                    <a:lnTo>
                      <a:pt x="340" y="1195"/>
                    </a:lnTo>
                    <a:lnTo>
                      <a:pt x="340" y="1188"/>
                    </a:lnTo>
                    <a:lnTo>
                      <a:pt x="348" y="1188"/>
                    </a:lnTo>
                    <a:lnTo>
                      <a:pt x="348" y="1181"/>
                    </a:lnTo>
                    <a:lnTo>
                      <a:pt x="390" y="1181"/>
                    </a:lnTo>
                    <a:lnTo>
                      <a:pt x="390" y="1166"/>
                    </a:lnTo>
                    <a:lnTo>
                      <a:pt x="397" y="1166"/>
                    </a:lnTo>
                    <a:lnTo>
                      <a:pt x="397" y="1159"/>
                    </a:lnTo>
                    <a:lnTo>
                      <a:pt x="406" y="1159"/>
                    </a:lnTo>
                    <a:lnTo>
                      <a:pt x="406" y="1139"/>
                    </a:lnTo>
                    <a:lnTo>
                      <a:pt x="429" y="1139"/>
                    </a:lnTo>
                    <a:lnTo>
                      <a:pt x="429" y="1128"/>
                    </a:lnTo>
                    <a:lnTo>
                      <a:pt x="438" y="1128"/>
                    </a:lnTo>
                    <a:lnTo>
                      <a:pt x="438" y="1122"/>
                    </a:lnTo>
                    <a:lnTo>
                      <a:pt x="466" y="1122"/>
                    </a:lnTo>
                    <a:lnTo>
                      <a:pt x="466" y="1100"/>
                    </a:lnTo>
                    <a:lnTo>
                      <a:pt x="486" y="1100"/>
                    </a:lnTo>
                    <a:lnTo>
                      <a:pt x="486" y="1084"/>
                    </a:lnTo>
                    <a:lnTo>
                      <a:pt x="517" y="1084"/>
                    </a:lnTo>
                    <a:lnTo>
                      <a:pt x="517" y="1062"/>
                    </a:lnTo>
                    <a:lnTo>
                      <a:pt x="526" y="1062"/>
                    </a:lnTo>
                    <a:lnTo>
                      <a:pt x="526" y="1055"/>
                    </a:lnTo>
                    <a:lnTo>
                      <a:pt x="551" y="1055"/>
                    </a:lnTo>
                    <a:lnTo>
                      <a:pt x="551" y="1033"/>
                    </a:lnTo>
                    <a:lnTo>
                      <a:pt x="575" y="1033"/>
                    </a:lnTo>
                    <a:lnTo>
                      <a:pt x="575" y="1025"/>
                    </a:lnTo>
                    <a:lnTo>
                      <a:pt x="583" y="1025"/>
                    </a:lnTo>
                    <a:lnTo>
                      <a:pt x="583" y="1016"/>
                    </a:lnTo>
                    <a:lnTo>
                      <a:pt x="615" y="1016"/>
                    </a:lnTo>
                    <a:lnTo>
                      <a:pt x="615" y="1004"/>
                    </a:lnTo>
                    <a:lnTo>
                      <a:pt x="632" y="1004"/>
                    </a:lnTo>
                    <a:lnTo>
                      <a:pt x="632" y="995"/>
                    </a:lnTo>
                    <a:lnTo>
                      <a:pt x="664" y="995"/>
                    </a:lnTo>
                    <a:lnTo>
                      <a:pt x="664" y="972"/>
                    </a:lnTo>
                    <a:lnTo>
                      <a:pt x="671" y="972"/>
                    </a:lnTo>
                    <a:lnTo>
                      <a:pt x="671" y="966"/>
                    </a:lnTo>
                    <a:lnTo>
                      <a:pt x="681" y="966"/>
                    </a:lnTo>
                    <a:lnTo>
                      <a:pt x="681" y="947"/>
                    </a:lnTo>
                    <a:lnTo>
                      <a:pt x="704" y="947"/>
                    </a:lnTo>
                    <a:lnTo>
                      <a:pt x="704" y="936"/>
                    </a:lnTo>
                    <a:lnTo>
                      <a:pt x="730" y="936"/>
                    </a:lnTo>
                    <a:lnTo>
                      <a:pt x="730" y="924"/>
                    </a:lnTo>
                    <a:lnTo>
                      <a:pt x="759" y="924"/>
                    </a:lnTo>
                    <a:lnTo>
                      <a:pt x="759" y="906"/>
                    </a:lnTo>
                    <a:lnTo>
                      <a:pt x="769" y="906"/>
                    </a:lnTo>
                    <a:lnTo>
                      <a:pt x="769" y="899"/>
                    </a:lnTo>
                    <a:lnTo>
                      <a:pt x="800" y="899"/>
                    </a:lnTo>
                    <a:lnTo>
                      <a:pt x="800" y="876"/>
                    </a:lnTo>
                    <a:lnTo>
                      <a:pt x="824" y="876"/>
                    </a:lnTo>
                    <a:lnTo>
                      <a:pt x="824" y="869"/>
                    </a:lnTo>
                    <a:lnTo>
                      <a:pt x="855" y="869"/>
                    </a:lnTo>
                    <a:lnTo>
                      <a:pt x="855" y="854"/>
                    </a:lnTo>
                    <a:lnTo>
                      <a:pt x="882" y="854"/>
                    </a:lnTo>
                    <a:lnTo>
                      <a:pt x="882" y="845"/>
                    </a:lnTo>
                    <a:lnTo>
                      <a:pt x="913" y="845"/>
                    </a:lnTo>
                    <a:lnTo>
                      <a:pt x="913" y="824"/>
                    </a:lnTo>
                    <a:lnTo>
                      <a:pt x="938" y="824"/>
                    </a:lnTo>
                    <a:lnTo>
                      <a:pt x="938" y="812"/>
                    </a:lnTo>
                    <a:lnTo>
                      <a:pt x="969" y="812"/>
                    </a:lnTo>
                    <a:lnTo>
                      <a:pt x="969" y="801"/>
                    </a:lnTo>
                    <a:lnTo>
                      <a:pt x="979" y="801"/>
                    </a:lnTo>
                    <a:lnTo>
                      <a:pt x="979" y="794"/>
                    </a:lnTo>
                    <a:lnTo>
                      <a:pt x="1016" y="794"/>
                    </a:lnTo>
                    <a:lnTo>
                      <a:pt x="1016" y="780"/>
                    </a:lnTo>
                    <a:lnTo>
                      <a:pt x="1033" y="780"/>
                    </a:lnTo>
                    <a:lnTo>
                      <a:pt x="1033" y="772"/>
                    </a:lnTo>
                    <a:lnTo>
                      <a:pt x="1043" y="772"/>
                    </a:lnTo>
                    <a:lnTo>
                      <a:pt x="1043" y="763"/>
                    </a:lnTo>
                    <a:lnTo>
                      <a:pt x="1074" y="763"/>
                    </a:lnTo>
                    <a:lnTo>
                      <a:pt x="1074" y="758"/>
                    </a:lnTo>
                    <a:lnTo>
                      <a:pt x="1084" y="758"/>
                    </a:lnTo>
                    <a:lnTo>
                      <a:pt x="1084" y="750"/>
                    </a:lnTo>
                    <a:lnTo>
                      <a:pt x="1099" y="750"/>
                    </a:lnTo>
                    <a:lnTo>
                      <a:pt x="1099" y="742"/>
                    </a:lnTo>
                    <a:lnTo>
                      <a:pt x="1131" y="742"/>
                    </a:lnTo>
                    <a:lnTo>
                      <a:pt x="1131" y="721"/>
                    </a:lnTo>
                    <a:lnTo>
                      <a:pt x="1147" y="721"/>
                    </a:lnTo>
                    <a:lnTo>
                      <a:pt x="1147" y="713"/>
                    </a:lnTo>
                    <a:lnTo>
                      <a:pt x="1177" y="713"/>
                    </a:lnTo>
                    <a:lnTo>
                      <a:pt x="1177" y="697"/>
                    </a:lnTo>
                    <a:lnTo>
                      <a:pt x="1188" y="697"/>
                    </a:lnTo>
                    <a:lnTo>
                      <a:pt x="1188" y="691"/>
                    </a:lnTo>
                    <a:lnTo>
                      <a:pt x="1237" y="691"/>
                    </a:lnTo>
                    <a:lnTo>
                      <a:pt x="1237" y="661"/>
                    </a:lnTo>
                    <a:lnTo>
                      <a:pt x="1272" y="661"/>
                    </a:lnTo>
                    <a:lnTo>
                      <a:pt x="1272" y="638"/>
                    </a:lnTo>
                    <a:lnTo>
                      <a:pt x="1301" y="638"/>
                    </a:lnTo>
                    <a:lnTo>
                      <a:pt x="1301" y="631"/>
                    </a:lnTo>
                    <a:lnTo>
                      <a:pt x="1334" y="631"/>
                    </a:lnTo>
                    <a:lnTo>
                      <a:pt x="1334" y="617"/>
                    </a:lnTo>
                    <a:lnTo>
                      <a:pt x="1357" y="617"/>
                    </a:lnTo>
                    <a:lnTo>
                      <a:pt x="1357" y="610"/>
                    </a:lnTo>
                    <a:lnTo>
                      <a:pt x="1396" y="610"/>
                    </a:lnTo>
                    <a:lnTo>
                      <a:pt x="1396" y="603"/>
                    </a:lnTo>
                    <a:lnTo>
                      <a:pt x="1429" y="603"/>
                    </a:lnTo>
                    <a:lnTo>
                      <a:pt x="1429" y="587"/>
                    </a:lnTo>
                    <a:lnTo>
                      <a:pt x="1478" y="587"/>
                    </a:lnTo>
                    <a:lnTo>
                      <a:pt x="1478" y="572"/>
                    </a:lnTo>
                    <a:lnTo>
                      <a:pt x="1512" y="572"/>
                    </a:lnTo>
                    <a:lnTo>
                      <a:pt x="1512" y="557"/>
                    </a:lnTo>
                    <a:lnTo>
                      <a:pt x="1534" y="557"/>
                    </a:lnTo>
                    <a:lnTo>
                      <a:pt x="1534" y="549"/>
                    </a:lnTo>
                    <a:lnTo>
                      <a:pt x="1575" y="549"/>
                    </a:lnTo>
                    <a:lnTo>
                      <a:pt x="1575" y="535"/>
                    </a:lnTo>
                    <a:lnTo>
                      <a:pt x="1583" y="535"/>
                    </a:lnTo>
                    <a:lnTo>
                      <a:pt x="1583" y="527"/>
                    </a:lnTo>
                    <a:lnTo>
                      <a:pt x="1630" y="527"/>
                    </a:lnTo>
                    <a:lnTo>
                      <a:pt x="1630" y="513"/>
                    </a:lnTo>
                    <a:lnTo>
                      <a:pt x="1640" y="513"/>
                    </a:lnTo>
                    <a:lnTo>
                      <a:pt x="1640" y="504"/>
                    </a:lnTo>
                    <a:lnTo>
                      <a:pt x="1685" y="504"/>
                    </a:lnTo>
                    <a:lnTo>
                      <a:pt x="1685" y="490"/>
                    </a:lnTo>
                    <a:lnTo>
                      <a:pt x="1703" y="490"/>
                    </a:lnTo>
                    <a:lnTo>
                      <a:pt x="1703" y="482"/>
                    </a:lnTo>
                    <a:lnTo>
                      <a:pt x="1743" y="482"/>
                    </a:lnTo>
                    <a:lnTo>
                      <a:pt x="1743" y="476"/>
                    </a:lnTo>
                    <a:lnTo>
                      <a:pt x="1752" y="476"/>
                    </a:lnTo>
                    <a:lnTo>
                      <a:pt x="1752" y="469"/>
                    </a:lnTo>
                    <a:lnTo>
                      <a:pt x="1803" y="469"/>
                    </a:lnTo>
                    <a:lnTo>
                      <a:pt x="1803" y="461"/>
                    </a:lnTo>
                    <a:lnTo>
                      <a:pt x="1816" y="461"/>
                    </a:lnTo>
                    <a:lnTo>
                      <a:pt x="1816" y="453"/>
                    </a:lnTo>
                    <a:lnTo>
                      <a:pt x="1840" y="453"/>
                    </a:lnTo>
                    <a:lnTo>
                      <a:pt x="1840" y="438"/>
                    </a:lnTo>
                    <a:lnTo>
                      <a:pt x="1881" y="438"/>
                    </a:lnTo>
                    <a:lnTo>
                      <a:pt x="1881" y="430"/>
                    </a:lnTo>
                    <a:lnTo>
                      <a:pt x="1925" y="430"/>
                    </a:lnTo>
                    <a:lnTo>
                      <a:pt x="1925" y="416"/>
                    </a:lnTo>
                    <a:lnTo>
                      <a:pt x="2001" y="416"/>
                    </a:lnTo>
                    <a:lnTo>
                      <a:pt x="2001" y="409"/>
                    </a:lnTo>
                    <a:lnTo>
                      <a:pt x="2019" y="409"/>
                    </a:lnTo>
                    <a:lnTo>
                      <a:pt x="2019" y="401"/>
                    </a:lnTo>
                    <a:lnTo>
                      <a:pt x="2056" y="401"/>
                    </a:lnTo>
                    <a:lnTo>
                      <a:pt x="2056" y="387"/>
                    </a:lnTo>
                    <a:lnTo>
                      <a:pt x="2081" y="387"/>
                    </a:lnTo>
                    <a:lnTo>
                      <a:pt x="2081" y="379"/>
                    </a:lnTo>
                    <a:lnTo>
                      <a:pt x="2123" y="379"/>
                    </a:lnTo>
                    <a:lnTo>
                      <a:pt x="2123" y="364"/>
                    </a:lnTo>
                    <a:lnTo>
                      <a:pt x="2147" y="364"/>
                    </a:lnTo>
                    <a:lnTo>
                      <a:pt x="2147" y="349"/>
                    </a:lnTo>
                    <a:lnTo>
                      <a:pt x="2204" y="349"/>
                    </a:lnTo>
                    <a:lnTo>
                      <a:pt x="2204" y="341"/>
                    </a:lnTo>
                    <a:lnTo>
                      <a:pt x="2251" y="341"/>
                    </a:lnTo>
                    <a:lnTo>
                      <a:pt x="2251" y="335"/>
                    </a:lnTo>
                    <a:lnTo>
                      <a:pt x="2314" y="335"/>
                    </a:lnTo>
                    <a:lnTo>
                      <a:pt x="2314" y="319"/>
                    </a:lnTo>
                    <a:lnTo>
                      <a:pt x="2388" y="319"/>
                    </a:lnTo>
                    <a:lnTo>
                      <a:pt x="2388" y="305"/>
                    </a:lnTo>
                    <a:lnTo>
                      <a:pt x="2452" y="305"/>
                    </a:lnTo>
                    <a:lnTo>
                      <a:pt x="2452" y="296"/>
                    </a:lnTo>
                    <a:lnTo>
                      <a:pt x="2516" y="296"/>
                    </a:lnTo>
                    <a:lnTo>
                      <a:pt x="2516" y="290"/>
                    </a:lnTo>
                    <a:lnTo>
                      <a:pt x="2534" y="290"/>
                    </a:lnTo>
                    <a:lnTo>
                      <a:pt x="2534" y="282"/>
                    </a:lnTo>
                    <a:lnTo>
                      <a:pt x="2591" y="282"/>
                    </a:lnTo>
                    <a:lnTo>
                      <a:pt x="2591" y="275"/>
                    </a:lnTo>
                    <a:lnTo>
                      <a:pt x="2606" y="275"/>
                    </a:lnTo>
                    <a:lnTo>
                      <a:pt x="2606" y="268"/>
                    </a:lnTo>
                    <a:lnTo>
                      <a:pt x="2647" y="268"/>
                    </a:lnTo>
                    <a:lnTo>
                      <a:pt x="2647" y="260"/>
                    </a:lnTo>
                    <a:lnTo>
                      <a:pt x="2655" y="260"/>
                    </a:lnTo>
                    <a:lnTo>
                      <a:pt x="2655" y="252"/>
                    </a:lnTo>
                    <a:lnTo>
                      <a:pt x="2720" y="252"/>
                    </a:lnTo>
                    <a:lnTo>
                      <a:pt x="2720" y="244"/>
                    </a:lnTo>
                    <a:lnTo>
                      <a:pt x="2726" y="244"/>
                    </a:lnTo>
                    <a:lnTo>
                      <a:pt x="2726" y="238"/>
                    </a:lnTo>
                    <a:lnTo>
                      <a:pt x="2781" y="238"/>
                    </a:lnTo>
                    <a:lnTo>
                      <a:pt x="2781" y="230"/>
                    </a:lnTo>
                    <a:lnTo>
                      <a:pt x="2855" y="230"/>
                    </a:lnTo>
                    <a:lnTo>
                      <a:pt x="2855" y="216"/>
                    </a:lnTo>
                    <a:lnTo>
                      <a:pt x="2891" y="216"/>
                    </a:lnTo>
                    <a:lnTo>
                      <a:pt x="2891" y="200"/>
                    </a:lnTo>
                    <a:lnTo>
                      <a:pt x="2937" y="200"/>
                    </a:lnTo>
                    <a:lnTo>
                      <a:pt x="2937" y="193"/>
                    </a:lnTo>
                    <a:lnTo>
                      <a:pt x="2985" y="193"/>
                    </a:lnTo>
                    <a:lnTo>
                      <a:pt x="2985" y="186"/>
                    </a:lnTo>
                    <a:lnTo>
                      <a:pt x="3018" y="186"/>
                    </a:lnTo>
                    <a:lnTo>
                      <a:pt x="3018" y="170"/>
                    </a:lnTo>
                    <a:lnTo>
                      <a:pt x="3075" y="170"/>
                    </a:lnTo>
                    <a:lnTo>
                      <a:pt x="3075" y="163"/>
                    </a:lnTo>
                    <a:lnTo>
                      <a:pt x="3104" y="163"/>
                    </a:lnTo>
                    <a:lnTo>
                      <a:pt x="3104" y="148"/>
                    </a:lnTo>
                    <a:lnTo>
                      <a:pt x="3131" y="148"/>
                    </a:lnTo>
                    <a:lnTo>
                      <a:pt x="3131" y="140"/>
                    </a:lnTo>
                    <a:lnTo>
                      <a:pt x="3171" y="140"/>
                    </a:lnTo>
                    <a:lnTo>
                      <a:pt x="3171" y="133"/>
                    </a:lnTo>
                    <a:lnTo>
                      <a:pt x="3203" y="133"/>
                    </a:lnTo>
                    <a:lnTo>
                      <a:pt x="3203" y="120"/>
                    </a:lnTo>
                    <a:lnTo>
                      <a:pt x="3266" y="120"/>
                    </a:lnTo>
                    <a:lnTo>
                      <a:pt x="3266" y="111"/>
                    </a:lnTo>
                    <a:lnTo>
                      <a:pt x="3302" y="111"/>
                    </a:lnTo>
                    <a:lnTo>
                      <a:pt x="3302" y="104"/>
                    </a:lnTo>
                    <a:lnTo>
                      <a:pt x="3376" y="104"/>
                    </a:lnTo>
                    <a:lnTo>
                      <a:pt x="3376" y="97"/>
                    </a:lnTo>
                    <a:lnTo>
                      <a:pt x="3405" y="97"/>
                    </a:lnTo>
                    <a:lnTo>
                      <a:pt x="3405" y="90"/>
                    </a:lnTo>
                    <a:lnTo>
                      <a:pt x="3445" y="90"/>
                    </a:lnTo>
                    <a:lnTo>
                      <a:pt x="3445" y="83"/>
                    </a:lnTo>
                    <a:lnTo>
                      <a:pt x="3506" y="83"/>
                    </a:lnTo>
                    <a:lnTo>
                      <a:pt x="3506" y="74"/>
                    </a:lnTo>
                    <a:lnTo>
                      <a:pt x="3543" y="74"/>
                    </a:lnTo>
                    <a:lnTo>
                      <a:pt x="3543" y="68"/>
                    </a:lnTo>
                    <a:lnTo>
                      <a:pt x="3654" y="68"/>
                    </a:lnTo>
                    <a:lnTo>
                      <a:pt x="3654" y="59"/>
                    </a:lnTo>
                    <a:lnTo>
                      <a:pt x="3725" y="59"/>
                    </a:lnTo>
                    <a:lnTo>
                      <a:pt x="3725" y="52"/>
                    </a:lnTo>
                    <a:lnTo>
                      <a:pt x="3752" y="52"/>
                    </a:lnTo>
                    <a:lnTo>
                      <a:pt x="3752" y="45"/>
                    </a:lnTo>
                    <a:lnTo>
                      <a:pt x="3808" y="45"/>
                    </a:lnTo>
                    <a:lnTo>
                      <a:pt x="3808" y="38"/>
                    </a:lnTo>
                    <a:lnTo>
                      <a:pt x="3838" y="38"/>
                    </a:lnTo>
                    <a:lnTo>
                      <a:pt x="3838" y="30"/>
                    </a:lnTo>
                    <a:lnTo>
                      <a:pt x="3897" y="30"/>
                    </a:lnTo>
                    <a:lnTo>
                      <a:pt x="3897" y="22"/>
                    </a:lnTo>
                    <a:lnTo>
                      <a:pt x="3946" y="22"/>
                    </a:lnTo>
                    <a:lnTo>
                      <a:pt x="3946" y="14"/>
                    </a:lnTo>
                    <a:lnTo>
                      <a:pt x="3962" y="14"/>
                    </a:lnTo>
                    <a:lnTo>
                      <a:pt x="3962" y="8"/>
                    </a:lnTo>
                    <a:lnTo>
                      <a:pt x="4001" y="8"/>
                    </a:lnTo>
                    <a:lnTo>
                      <a:pt x="4001" y="0"/>
                    </a:lnTo>
                    <a:lnTo>
                      <a:pt x="4011" y="0"/>
                    </a:lnTo>
                  </a:path>
                </a:pathLst>
              </a:custGeom>
              <a:noFill/>
              <a:ln w="28575" cap="flat">
                <a:solidFill>
                  <a:srgbClr val="008A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grpSp>
        <p:sp>
          <p:nvSpPr>
            <p:cNvPr id="53" name="TextBox 52"/>
            <p:cNvSpPr txBox="1"/>
            <p:nvPr/>
          </p:nvSpPr>
          <p:spPr>
            <a:xfrm rot="16200000">
              <a:off x="324005" y="2819270"/>
              <a:ext cx="1758451" cy="184666"/>
            </a:xfrm>
            <a:prstGeom prst="rect">
              <a:avLst/>
            </a:prstGeom>
            <a:noFill/>
          </p:spPr>
          <p:txBody>
            <a:bodyPr wrap="none" lIns="0" tIns="0" rIns="0" bIns="0"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Probability of event (%)</a:t>
              </a:r>
              <a:r>
                <a:rPr kumimoji="0" lang="en-GB" sz="1200" b="1" i="0" u="none" strike="noStrike" kern="1200" cap="none" spc="0" normalizeH="0" baseline="30000" noProof="0" dirty="0">
                  <a:ln>
                    <a:noFill/>
                  </a:ln>
                  <a:solidFill>
                    <a:srgbClr val="544F40"/>
                  </a:solidFill>
                  <a:effectLst/>
                  <a:uLnTx/>
                  <a:uFillTx/>
                  <a:latin typeface="Arial" panose="020B0604020202020204"/>
                  <a:ea typeface="+mn-ea"/>
                  <a:cs typeface="Arial" panose="020B0604020202020204" pitchFamily="34" charset="0"/>
                </a:rPr>
                <a:t>2</a:t>
              </a:r>
              <a:endParaRPr kumimoji="0" lang="en-GB" sz="1200" b="1"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endParaRPr>
            </a:p>
          </p:txBody>
        </p:sp>
        <p:grpSp>
          <p:nvGrpSpPr>
            <p:cNvPr id="7" name="Group 6"/>
            <p:cNvGrpSpPr/>
            <p:nvPr/>
          </p:nvGrpSpPr>
          <p:grpSpPr>
            <a:xfrm>
              <a:off x="1812492" y="1674432"/>
              <a:ext cx="9598972" cy="2471419"/>
              <a:chOff x="1012202" y="1298445"/>
              <a:chExt cx="10637179" cy="1459519"/>
            </a:xfrm>
          </p:grpSpPr>
          <p:cxnSp>
            <p:nvCxnSpPr>
              <p:cNvPr id="54" name="Straight Connector 53"/>
              <p:cNvCxnSpPr/>
              <p:nvPr/>
            </p:nvCxnSpPr>
            <p:spPr>
              <a:xfrm>
                <a:off x="1012202" y="1298445"/>
                <a:ext cx="0" cy="1459379"/>
              </a:xfrm>
              <a:prstGeom prst="line">
                <a:avLst/>
              </a:prstGeom>
              <a:noFill/>
              <a:ln w="9525" cap="sq" cmpd="sng" algn="ctr">
                <a:solidFill>
                  <a:srgbClr val="544F40"/>
                </a:solidFill>
                <a:prstDash val="solid"/>
                <a:miter lim="800000"/>
              </a:ln>
              <a:effectLst/>
            </p:spPr>
          </p:cxnSp>
          <p:cxnSp>
            <p:nvCxnSpPr>
              <p:cNvPr id="57" name="Straight Connector 56"/>
              <p:cNvCxnSpPr/>
              <p:nvPr/>
            </p:nvCxnSpPr>
            <p:spPr>
              <a:xfrm>
                <a:off x="1012202" y="2757964"/>
                <a:ext cx="10637179" cy="0"/>
              </a:xfrm>
              <a:prstGeom prst="line">
                <a:avLst/>
              </a:prstGeom>
              <a:noFill/>
              <a:ln w="9525" cap="sq" cmpd="sng" algn="ctr">
                <a:solidFill>
                  <a:srgbClr val="544F40"/>
                </a:solidFill>
                <a:prstDash val="solid"/>
                <a:miter lim="800000"/>
              </a:ln>
              <a:effectLst/>
            </p:spPr>
          </p:cxnSp>
        </p:grpSp>
        <p:sp>
          <p:nvSpPr>
            <p:cNvPr id="58" name="TextBox 57"/>
            <p:cNvSpPr txBox="1"/>
            <p:nvPr/>
          </p:nvSpPr>
          <p:spPr>
            <a:xfrm>
              <a:off x="5877012" y="4565203"/>
              <a:ext cx="1484830" cy="189676"/>
            </a:xfrm>
            <a:prstGeom prst="rect">
              <a:avLst/>
            </a:prstGeom>
            <a:noFill/>
          </p:spPr>
          <p:txBody>
            <a:bodyPr wrap="none" lIns="0" tIns="0" rIns="0" bIns="0"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Time to event (days)</a:t>
              </a:r>
            </a:p>
          </p:txBody>
        </p:sp>
      </p:grpSp>
      <p:graphicFrame>
        <p:nvGraphicFramePr>
          <p:cNvPr id="106" name="Table 105"/>
          <p:cNvGraphicFramePr>
            <a:graphicFrameLocks noGrp="1"/>
          </p:cNvGraphicFramePr>
          <p:nvPr/>
        </p:nvGraphicFramePr>
        <p:xfrm>
          <a:off x="6248399" y="3261386"/>
          <a:ext cx="5159176" cy="764640"/>
        </p:xfrm>
        <a:graphic>
          <a:graphicData uri="http://schemas.openxmlformats.org/drawingml/2006/table">
            <a:tbl>
              <a:tblPr firstRow="1" bandRow="1"/>
              <a:tblGrid>
                <a:gridCol w="1242139">
                  <a:extLst>
                    <a:ext uri="{9D8B030D-6E8A-4147-A177-3AD203B41FA5}">
                      <a16:colId xmlns:a16="http://schemas.microsoft.com/office/drawing/2014/main" val="3719832597"/>
                    </a:ext>
                  </a:extLst>
                </a:gridCol>
                <a:gridCol w="1242139">
                  <a:extLst>
                    <a:ext uri="{9D8B030D-6E8A-4147-A177-3AD203B41FA5}">
                      <a16:colId xmlns:a16="http://schemas.microsoft.com/office/drawing/2014/main" val="3862719566"/>
                    </a:ext>
                  </a:extLst>
                </a:gridCol>
                <a:gridCol w="1867045">
                  <a:extLst>
                    <a:ext uri="{9D8B030D-6E8A-4147-A177-3AD203B41FA5}">
                      <a16:colId xmlns:a16="http://schemas.microsoft.com/office/drawing/2014/main" val="1250777820"/>
                    </a:ext>
                  </a:extLst>
                </a:gridCol>
                <a:gridCol w="807853">
                  <a:extLst>
                    <a:ext uri="{9D8B030D-6E8A-4147-A177-3AD203B41FA5}">
                      <a16:colId xmlns:a16="http://schemas.microsoft.com/office/drawing/2014/main" val="4019460746"/>
                    </a:ext>
                  </a:extLst>
                </a:gridCol>
              </a:tblGrid>
              <a:tr h="114300">
                <a:tc>
                  <a:txBody>
                    <a:bodyPr/>
                    <a:lstStyle/>
                    <a:p>
                      <a:endParaRPr lang="en-US" sz="1200" b="1" dirty="0">
                        <a:solidFill>
                          <a:srgbClr val="544F40"/>
                        </a:solidFill>
                        <a:latin typeface="+mn-lt"/>
                      </a:endParaRPr>
                    </a:p>
                  </a:txBody>
                  <a:tcPr marL="36000" marR="36000" marT="36000" marB="36000">
                    <a:lnL w="12700" cmpd="sng">
                      <a:noFill/>
                    </a:lnL>
                    <a:lnR w="12700" cmpd="sng">
                      <a:noFill/>
                    </a:lnR>
                    <a:lnT w="12700" cmpd="sng">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endParaRPr lang="en-US" sz="1200" b="1" dirty="0">
                        <a:solidFill>
                          <a:srgbClr val="544F40"/>
                        </a:solidFill>
                        <a:latin typeface="+mn-lt"/>
                      </a:endParaRPr>
                    </a:p>
                  </a:txBody>
                  <a:tcPr marL="36000" marR="36000" marT="36000" marB="36000">
                    <a:lnL w="12700" cap="flat" cmpd="sng" algn="ctr">
                      <a:noFill/>
                      <a:prstDash val="solid"/>
                      <a:round/>
                      <a:headEnd type="none" w="med" len="med"/>
                      <a:tailEnd type="none" w="med" len="med"/>
                    </a:lnL>
                    <a:lnR w="6350" cap="flat" cmpd="sng" algn="ctr">
                      <a:solidFill>
                        <a:srgbClr val="544F4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200" dirty="0">
                          <a:solidFill>
                            <a:srgbClr val="544F40"/>
                          </a:solidFill>
                          <a:latin typeface="+mn-lt"/>
                        </a:rPr>
                        <a:t>Risk reduction (95% CI)</a:t>
                      </a:r>
                    </a:p>
                  </a:txBody>
                  <a:tcPr marL="36000" marR="36000" marT="36000" marB="36000">
                    <a:lnL w="6350" cap="flat" cmpd="sng" algn="ctr">
                      <a:solidFill>
                        <a:srgbClr val="544F40"/>
                      </a:solidFill>
                      <a:prstDash val="solid"/>
                      <a:round/>
                      <a:headEnd type="none" w="med" len="med"/>
                      <a:tailEnd type="none" w="med" len="med"/>
                    </a:lnL>
                    <a:lnR w="6350" cap="flat" cmpd="sng" algn="ctr">
                      <a:solidFill>
                        <a:srgbClr val="544F40"/>
                      </a:solidFill>
                      <a:prstDash val="solid"/>
                      <a:round/>
                      <a:headEnd type="none" w="med" len="med"/>
                      <a:tailEnd type="none" w="med" len="med"/>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200" dirty="0">
                          <a:solidFill>
                            <a:srgbClr val="544F40"/>
                          </a:solidFill>
                          <a:latin typeface="+mn-lt"/>
                        </a:rPr>
                        <a:t>p value</a:t>
                      </a:r>
                    </a:p>
                  </a:txBody>
                  <a:tcPr marL="36000" marR="36000" marT="36000" marB="36000">
                    <a:lnL w="6350" cap="flat" cmpd="sng" algn="ctr">
                      <a:solidFill>
                        <a:srgbClr val="544F40"/>
                      </a:solidFill>
                      <a:prstDash val="solid"/>
                      <a:round/>
                      <a:headEnd type="none" w="med" len="med"/>
                      <a:tailEnd type="none" w="med" len="med"/>
                    </a:lnL>
                    <a:lnR w="6350" cap="flat" cmpd="sng" algn="ctr">
                      <a:solidFill>
                        <a:srgbClr val="544F40"/>
                      </a:solidFill>
                      <a:prstDash val="solid"/>
                      <a:round/>
                      <a:headEnd type="none" w="med" len="med"/>
                      <a:tailEnd type="none" w="med" len="med"/>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6284549"/>
                  </a:ext>
                </a:extLst>
              </a:tr>
              <a:tr h="114300">
                <a:tc rowSpan="2">
                  <a:txBody>
                    <a:bodyPr/>
                    <a:lstStyle/>
                    <a:p>
                      <a:r>
                        <a:rPr lang="en-US" sz="1200" b="1" dirty="0">
                          <a:solidFill>
                            <a:schemeClr val="bg1"/>
                          </a:solidFill>
                          <a:latin typeface="+mn-lt"/>
                        </a:rPr>
                        <a:t>FF/UMEC/VI</a:t>
                      </a:r>
                      <a:r>
                        <a:rPr lang="en-US" sz="1200" b="1" baseline="0" dirty="0">
                          <a:solidFill>
                            <a:schemeClr val="bg1"/>
                          </a:solidFill>
                          <a:latin typeface="+mn-lt"/>
                        </a:rPr>
                        <a:t> vs</a:t>
                      </a:r>
                      <a:endParaRPr lang="en-US" sz="1200" b="1" dirty="0">
                        <a:solidFill>
                          <a:schemeClr val="bg1"/>
                        </a:solidFill>
                        <a:latin typeface="+mn-lt"/>
                      </a:endParaRPr>
                    </a:p>
                  </a:txBody>
                  <a:tcPr marL="36000" marR="36000" marT="36000" marB="36000" anchor="ctr">
                    <a:lnL w="12700" cmpd="sng">
                      <a:noFill/>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3663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200" b="1" baseline="0" dirty="0">
                          <a:solidFill>
                            <a:schemeClr val="bg1"/>
                          </a:solidFill>
                          <a:latin typeface="+mn-lt"/>
                        </a:rPr>
                        <a:t>   FF/VI</a:t>
                      </a:r>
                      <a:endParaRPr lang="en-US" sz="1200" b="1" dirty="0">
                        <a:solidFill>
                          <a:schemeClr val="bg1"/>
                        </a:solidFill>
                        <a:latin typeface="+mn-lt"/>
                      </a:endParaRPr>
                    </a:p>
                  </a:txBody>
                  <a:tcPr marL="36000" marR="36000" marT="36000" marB="36000">
                    <a:lnL w="12700" cap="flat" cmpd="sng" algn="ctr">
                      <a:noFill/>
                      <a:prstDash val="solid"/>
                      <a:round/>
                      <a:headEnd type="none" w="med" len="med"/>
                      <a:tailEnd type="none" w="med" len="med"/>
                    </a:lnL>
                    <a:lnR w="6350" cap="flat" cmpd="sng" algn="ctr">
                      <a:solidFill>
                        <a:srgbClr val="544F40"/>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008A0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200" b="0" dirty="0">
                          <a:solidFill>
                            <a:srgbClr val="15717D"/>
                          </a:solidFill>
                          <a:latin typeface="+mn-lt"/>
                        </a:rPr>
                        <a:t>14.8% </a:t>
                      </a:r>
                      <a:r>
                        <a:rPr lang="en-US" sz="1200" b="0" dirty="0">
                          <a:solidFill>
                            <a:srgbClr val="544F40"/>
                          </a:solidFill>
                          <a:latin typeface="+mn-lt"/>
                        </a:rPr>
                        <a:t>(9.3, 19.9)</a:t>
                      </a:r>
                    </a:p>
                  </a:txBody>
                  <a:tcPr marL="36000" marR="36000" marT="36000" marB="36000">
                    <a:lnL w="6350" cap="flat" cmpd="sng" algn="ctr">
                      <a:solidFill>
                        <a:srgbClr val="544F40"/>
                      </a:solidFill>
                      <a:prstDash val="solid"/>
                      <a:round/>
                      <a:headEnd type="none" w="med" len="med"/>
                      <a:tailEnd type="none" w="med" len="med"/>
                    </a:lnL>
                    <a:lnR w="6350" cap="flat" cmpd="sng" algn="ctr">
                      <a:solidFill>
                        <a:srgbClr val="544F40"/>
                      </a:solidFill>
                      <a:prstDash val="solid"/>
                      <a:round/>
                      <a:headEnd type="none" w="med" len="med"/>
                      <a:tailEnd type="none" w="med" len="med"/>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200" b="0" dirty="0">
                          <a:solidFill>
                            <a:srgbClr val="544F40"/>
                          </a:solidFill>
                          <a:latin typeface="+mn-lt"/>
                        </a:rPr>
                        <a:t>&lt;0.001</a:t>
                      </a:r>
                    </a:p>
                  </a:txBody>
                  <a:tcPr marL="36000" marR="36000" marT="36000" marB="36000">
                    <a:lnL w="6350" cap="flat" cmpd="sng" algn="ctr">
                      <a:solidFill>
                        <a:srgbClr val="544F40"/>
                      </a:solidFill>
                      <a:prstDash val="solid"/>
                      <a:round/>
                      <a:headEnd type="none" w="med" len="med"/>
                      <a:tailEnd type="none" w="med" len="med"/>
                    </a:lnL>
                    <a:lnR w="6350" cap="flat" cmpd="sng" algn="ctr">
                      <a:solidFill>
                        <a:srgbClr val="544F40"/>
                      </a:solidFill>
                      <a:prstDash val="solid"/>
                      <a:round/>
                      <a:headEnd type="none" w="med" len="med"/>
                      <a:tailEnd type="none" w="med" len="med"/>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2997878"/>
                  </a:ext>
                </a:extLst>
              </a:tr>
              <a:tr h="114300">
                <a:tc vMerge="1">
                  <a:txBody>
                    <a:bodyPr/>
                    <a:lstStyle/>
                    <a:p>
                      <a:endParaRPr lang="en-US" sz="1400" b="1" dirty="0">
                        <a:solidFill>
                          <a:schemeClr val="bg1"/>
                        </a:solidFill>
                      </a:endParaRPr>
                    </a:p>
                  </a:txBody>
                  <a:tcPr marL="36000" marR="36000" marT="36000" marB="3600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200" b="1" baseline="0" dirty="0">
                          <a:solidFill>
                            <a:schemeClr val="bg1"/>
                          </a:solidFill>
                          <a:latin typeface="+mn-lt"/>
                        </a:rPr>
                        <a:t>   UMEC/VI</a:t>
                      </a:r>
                      <a:endParaRPr lang="en-US" sz="1200" b="1" dirty="0">
                        <a:solidFill>
                          <a:schemeClr val="bg1"/>
                        </a:solidFill>
                        <a:latin typeface="+mn-lt"/>
                      </a:endParaRPr>
                    </a:p>
                  </a:txBody>
                  <a:tcPr marL="36000" marR="36000" marT="36000" marB="36000">
                    <a:lnL w="12700" cap="flat" cmpd="sng" algn="ctr">
                      <a:noFill/>
                      <a:prstDash val="solid"/>
                      <a:round/>
                      <a:headEnd type="none" w="med" len="med"/>
                      <a:tailEnd type="none" w="med" len="med"/>
                    </a:lnL>
                    <a:lnR w="6350" cap="flat" cmpd="sng" algn="ctr">
                      <a:solidFill>
                        <a:srgbClr val="544F4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40488D"/>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200" b="0" dirty="0">
                          <a:solidFill>
                            <a:srgbClr val="15717D"/>
                          </a:solidFill>
                          <a:latin typeface="+mn-lt"/>
                        </a:rPr>
                        <a:t>16.0%</a:t>
                      </a:r>
                      <a:r>
                        <a:rPr lang="en-US" sz="1200" b="0" dirty="0">
                          <a:solidFill>
                            <a:srgbClr val="544F40"/>
                          </a:solidFill>
                          <a:latin typeface="+mn-lt"/>
                        </a:rPr>
                        <a:t> (9.4,</a:t>
                      </a:r>
                      <a:r>
                        <a:rPr lang="en-US" sz="1200" b="0" baseline="0" dirty="0">
                          <a:solidFill>
                            <a:srgbClr val="544F40"/>
                          </a:solidFill>
                          <a:latin typeface="+mn-lt"/>
                        </a:rPr>
                        <a:t> 22.1)</a:t>
                      </a:r>
                      <a:endParaRPr lang="en-US" sz="1200" b="0" dirty="0">
                        <a:solidFill>
                          <a:srgbClr val="544F40"/>
                        </a:solidFill>
                        <a:latin typeface="+mn-lt"/>
                      </a:endParaRPr>
                    </a:p>
                  </a:txBody>
                  <a:tcPr marL="36000" marR="36000" marT="36000" marB="36000">
                    <a:lnL w="6350" cap="flat" cmpd="sng" algn="ctr">
                      <a:solidFill>
                        <a:srgbClr val="544F40"/>
                      </a:solidFill>
                      <a:prstDash val="solid"/>
                      <a:round/>
                      <a:headEnd type="none" w="med" len="med"/>
                      <a:tailEnd type="none" w="med" len="med"/>
                    </a:lnL>
                    <a:lnR w="6350" cap="flat" cmpd="sng" algn="ctr">
                      <a:solidFill>
                        <a:srgbClr val="544F40"/>
                      </a:solidFill>
                      <a:prstDash val="solid"/>
                      <a:round/>
                      <a:headEnd type="none" w="med" len="med"/>
                      <a:tailEnd type="none" w="med" len="med"/>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200" b="0" dirty="0">
                          <a:solidFill>
                            <a:srgbClr val="544F40"/>
                          </a:solidFill>
                          <a:latin typeface="+mn-lt"/>
                        </a:rPr>
                        <a:t>&lt;0.001</a:t>
                      </a:r>
                    </a:p>
                  </a:txBody>
                  <a:tcPr marL="36000" marR="36000" marT="36000" marB="36000">
                    <a:lnL w="6350" cap="flat" cmpd="sng" algn="ctr">
                      <a:solidFill>
                        <a:srgbClr val="544F40"/>
                      </a:solidFill>
                      <a:prstDash val="solid"/>
                      <a:round/>
                      <a:headEnd type="none" w="med" len="med"/>
                      <a:tailEnd type="none" w="med" len="med"/>
                    </a:lnL>
                    <a:lnR w="6350" cap="flat" cmpd="sng" algn="ctr">
                      <a:solidFill>
                        <a:srgbClr val="544F40"/>
                      </a:solidFill>
                      <a:prstDash val="solid"/>
                      <a:round/>
                      <a:headEnd type="none" w="med" len="med"/>
                      <a:tailEnd type="none" w="med" len="med"/>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094486"/>
                  </a:ext>
                </a:extLst>
              </a:tr>
            </a:tbl>
          </a:graphicData>
        </a:graphic>
      </p:graphicFrame>
      <p:grpSp>
        <p:nvGrpSpPr>
          <p:cNvPr id="97" name="Group 96"/>
          <p:cNvGrpSpPr/>
          <p:nvPr/>
        </p:nvGrpSpPr>
        <p:grpSpPr>
          <a:xfrm>
            <a:off x="423862" y="930420"/>
            <a:ext cx="11349037" cy="4840460"/>
            <a:chOff x="423862" y="905655"/>
            <a:chExt cx="11349037" cy="4840460"/>
          </a:xfrm>
        </p:grpSpPr>
        <p:sp>
          <p:nvSpPr>
            <p:cNvPr id="99" name="Rounded Rectangle 98"/>
            <p:cNvSpPr/>
            <p:nvPr/>
          </p:nvSpPr>
          <p:spPr>
            <a:xfrm>
              <a:off x="423862" y="1174115"/>
              <a:ext cx="11349037" cy="4572000"/>
            </a:xfrm>
            <a:prstGeom prst="roundRect">
              <a:avLst>
                <a:gd name="adj" fmla="val 215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08" name="Rounded Rectangle 107"/>
            <p:cNvSpPr/>
            <p:nvPr/>
          </p:nvSpPr>
          <p:spPr bwMode="auto">
            <a:xfrm>
              <a:off x="673455" y="905655"/>
              <a:ext cx="10845091" cy="548640"/>
            </a:xfrm>
            <a:prstGeom prst="roundRect">
              <a:avLst>
                <a:gd name="adj" fmla="val 50000"/>
              </a:avLst>
            </a:prstGeom>
            <a:solidFill>
              <a:srgbClr val="544F40"/>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818"/>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pitchFamily="34" charset="0"/>
                  <a:ea typeface="+mn-ea"/>
                  <a:cs typeface="+mn-cs"/>
                </a:rPr>
                <a:t>Significant reduction in risk of first moderate/severe exacerbation with FF/UMEC/VI vs ICS/LABA (FF/VI)</a:t>
              </a:r>
              <a:br>
                <a:rPr kumimoji="0" lang="en-US" sz="1400" b="1" i="0" u="none" strike="noStrike" kern="1200" cap="none" spc="0" normalizeH="0" baseline="0" noProof="0" dirty="0">
                  <a:ln>
                    <a:noFill/>
                  </a:ln>
                  <a:solidFill>
                    <a:prstClr val="white"/>
                  </a:solidFill>
                  <a:effectLst/>
                  <a:uLnTx/>
                  <a:uFillTx/>
                  <a:latin typeface="Arial" pitchFamily="34" charset="0"/>
                  <a:ea typeface="+mn-ea"/>
                  <a:cs typeface="+mn-cs"/>
                </a:rPr>
              </a:br>
              <a:r>
                <a:rPr kumimoji="0" lang="en-US" sz="1400" b="1" i="0" u="none" strike="noStrike" kern="1200" cap="none" spc="0" normalizeH="0" baseline="0" noProof="0" dirty="0">
                  <a:ln>
                    <a:noFill/>
                  </a:ln>
                  <a:solidFill>
                    <a:prstClr val="white"/>
                  </a:solidFill>
                  <a:effectLst/>
                  <a:uLnTx/>
                  <a:uFillTx/>
                  <a:latin typeface="Arial" pitchFamily="34" charset="0"/>
                  <a:ea typeface="+mn-ea"/>
                  <a:cs typeface="+mn-cs"/>
                </a:rPr>
                <a:t>and vs LAMA/LABA (UMEC/VI)</a:t>
              </a:r>
              <a:r>
                <a:rPr kumimoji="0" lang="en-US" sz="1400" b="1" i="0" u="none" strike="noStrike" kern="1200" cap="none" spc="0" normalizeH="0" baseline="30000" noProof="0" dirty="0">
                  <a:ln>
                    <a:noFill/>
                  </a:ln>
                  <a:solidFill>
                    <a:prstClr val="white"/>
                  </a:solidFill>
                  <a:effectLst/>
                  <a:uLnTx/>
                  <a:uFillTx/>
                  <a:latin typeface="Arial" pitchFamily="34" charset="0"/>
                  <a:ea typeface="+mn-ea"/>
                  <a:cs typeface="+mn-cs"/>
                </a:rPr>
                <a:t>1</a:t>
              </a:r>
            </a:p>
          </p:txBody>
        </p:sp>
      </p:grpSp>
      <p:pic>
        <p:nvPicPr>
          <p:cNvPr id="110" name="Picture 109">
            <a:extLst>
              <a:ext uri="{FF2B5EF4-FFF2-40B4-BE49-F238E27FC236}">
                <a16:creationId xmlns:a16="http://schemas.microsoft.com/office/drawing/2014/main" id="{F89C67CB-48BA-4A88-9301-0CB397AE4EB8}"/>
              </a:ext>
            </a:extLst>
          </p:cNvPr>
          <p:cNvPicPr>
            <a:picLocks noChangeAspect="1"/>
          </p:cNvPicPr>
          <p:nvPr/>
        </p:nvPicPr>
        <p:blipFill>
          <a:blip r:embed="rId2"/>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195364019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7" name="Table 106"/>
          <p:cNvGraphicFramePr>
            <a:graphicFrameLocks noGrp="1"/>
          </p:cNvGraphicFramePr>
          <p:nvPr/>
        </p:nvGraphicFramePr>
        <p:xfrm>
          <a:off x="434892" y="4603736"/>
          <a:ext cx="11338010" cy="1133856"/>
        </p:xfrm>
        <a:graphic>
          <a:graphicData uri="http://schemas.openxmlformats.org/drawingml/2006/table">
            <a:tbl>
              <a:tblPr bandRow="1"/>
              <a:tblGrid>
                <a:gridCol w="993858">
                  <a:extLst>
                    <a:ext uri="{9D8B030D-6E8A-4147-A177-3AD203B41FA5}">
                      <a16:colId xmlns:a16="http://schemas.microsoft.com/office/drawing/2014/main" val="3014380832"/>
                    </a:ext>
                  </a:extLst>
                </a:gridCol>
                <a:gridCol w="738868">
                  <a:extLst>
                    <a:ext uri="{9D8B030D-6E8A-4147-A177-3AD203B41FA5}">
                      <a16:colId xmlns:a16="http://schemas.microsoft.com/office/drawing/2014/main" val="616635264"/>
                    </a:ext>
                  </a:extLst>
                </a:gridCol>
                <a:gridCol w="738868">
                  <a:extLst>
                    <a:ext uri="{9D8B030D-6E8A-4147-A177-3AD203B41FA5}">
                      <a16:colId xmlns:a16="http://schemas.microsoft.com/office/drawing/2014/main" val="2445297202"/>
                    </a:ext>
                  </a:extLst>
                </a:gridCol>
                <a:gridCol w="738868">
                  <a:extLst>
                    <a:ext uri="{9D8B030D-6E8A-4147-A177-3AD203B41FA5}">
                      <a16:colId xmlns:a16="http://schemas.microsoft.com/office/drawing/2014/main" val="1013414682"/>
                    </a:ext>
                  </a:extLst>
                </a:gridCol>
                <a:gridCol w="738868">
                  <a:extLst>
                    <a:ext uri="{9D8B030D-6E8A-4147-A177-3AD203B41FA5}">
                      <a16:colId xmlns:a16="http://schemas.microsoft.com/office/drawing/2014/main" val="142625598"/>
                    </a:ext>
                  </a:extLst>
                </a:gridCol>
                <a:gridCol w="738868">
                  <a:extLst>
                    <a:ext uri="{9D8B030D-6E8A-4147-A177-3AD203B41FA5}">
                      <a16:colId xmlns:a16="http://schemas.microsoft.com/office/drawing/2014/main" val="3566639417"/>
                    </a:ext>
                  </a:extLst>
                </a:gridCol>
                <a:gridCol w="738868">
                  <a:extLst>
                    <a:ext uri="{9D8B030D-6E8A-4147-A177-3AD203B41FA5}">
                      <a16:colId xmlns:a16="http://schemas.microsoft.com/office/drawing/2014/main" val="2911608941"/>
                    </a:ext>
                  </a:extLst>
                </a:gridCol>
                <a:gridCol w="738868">
                  <a:extLst>
                    <a:ext uri="{9D8B030D-6E8A-4147-A177-3AD203B41FA5}">
                      <a16:colId xmlns:a16="http://schemas.microsoft.com/office/drawing/2014/main" val="1137825628"/>
                    </a:ext>
                  </a:extLst>
                </a:gridCol>
                <a:gridCol w="738868">
                  <a:extLst>
                    <a:ext uri="{9D8B030D-6E8A-4147-A177-3AD203B41FA5}">
                      <a16:colId xmlns:a16="http://schemas.microsoft.com/office/drawing/2014/main" val="2470987296"/>
                    </a:ext>
                  </a:extLst>
                </a:gridCol>
                <a:gridCol w="738868">
                  <a:extLst>
                    <a:ext uri="{9D8B030D-6E8A-4147-A177-3AD203B41FA5}">
                      <a16:colId xmlns:a16="http://schemas.microsoft.com/office/drawing/2014/main" val="3181813347"/>
                    </a:ext>
                  </a:extLst>
                </a:gridCol>
                <a:gridCol w="738868">
                  <a:extLst>
                    <a:ext uri="{9D8B030D-6E8A-4147-A177-3AD203B41FA5}">
                      <a16:colId xmlns:a16="http://schemas.microsoft.com/office/drawing/2014/main" val="1842468694"/>
                    </a:ext>
                  </a:extLst>
                </a:gridCol>
                <a:gridCol w="738868">
                  <a:extLst>
                    <a:ext uri="{9D8B030D-6E8A-4147-A177-3AD203B41FA5}">
                      <a16:colId xmlns:a16="http://schemas.microsoft.com/office/drawing/2014/main" val="2778921321"/>
                    </a:ext>
                  </a:extLst>
                </a:gridCol>
                <a:gridCol w="738868">
                  <a:extLst>
                    <a:ext uri="{9D8B030D-6E8A-4147-A177-3AD203B41FA5}">
                      <a16:colId xmlns:a16="http://schemas.microsoft.com/office/drawing/2014/main" val="507836475"/>
                    </a:ext>
                  </a:extLst>
                </a:gridCol>
                <a:gridCol w="738868">
                  <a:extLst>
                    <a:ext uri="{9D8B030D-6E8A-4147-A177-3AD203B41FA5}">
                      <a16:colId xmlns:a16="http://schemas.microsoft.com/office/drawing/2014/main" val="1894920958"/>
                    </a:ext>
                  </a:extLst>
                </a:gridCol>
                <a:gridCol w="738868">
                  <a:extLst>
                    <a:ext uri="{9D8B030D-6E8A-4147-A177-3AD203B41FA5}">
                      <a16:colId xmlns:a16="http://schemas.microsoft.com/office/drawing/2014/main" val="2996585387"/>
                    </a:ext>
                  </a:extLst>
                </a:gridCol>
              </a:tblGrid>
              <a:tr h="91596">
                <a:tc gridSpan="2">
                  <a:txBody>
                    <a:bodyPr/>
                    <a:lstStyle/>
                    <a:p>
                      <a:pPr algn="r">
                        <a:spcAft>
                          <a:spcPts val="100"/>
                        </a:spcAft>
                      </a:pPr>
                      <a:r>
                        <a:rPr lang="en-US" sz="1200" b="1" dirty="0">
                          <a:solidFill>
                            <a:srgbClr val="544F40"/>
                          </a:solidFill>
                          <a:latin typeface="+mn-lt"/>
                        </a:rPr>
                        <a:t>Number of </a:t>
                      </a:r>
                      <a:br>
                        <a:rPr lang="en-US" sz="1200" b="1" dirty="0">
                          <a:solidFill>
                            <a:srgbClr val="544F40"/>
                          </a:solidFill>
                          <a:latin typeface="+mn-lt"/>
                        </a:rPr>
                      </a:br>
                      <a:r>
                        <a:rPr lang="en-US" sz="1200" b="1" dirty="0">
                          <a:solidFill>
                            <a:srgbClr val="544F40"/>
                          </a:solidFill>
                          <a:latin typeface="+mn-lt"/>
                        </a:rPr>
                        <a:t>subjects at risk</a:t>
                      </a:r>
                    </a:p>
                  </a:txBody>
                  <a:tcPr marL="0" marR="594360"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spcAft>
                          <a:spcPts val="100"/>
                        </a:spcAft>
                      </a:pPr>
                      <a:endParaRPr lang="en-GB" sz="1200" dirty="0">
                        <a:solidFill>
                          <a:srgbClr val="544F40"/>
                        </a:solidFill>
                        <a:latin typeface="+mn-lt"/>
                      </a:endParaRPr>
                    </a:p>
                  </a:txBody>
                  <a:tcPr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184299"/>
                  </a:ext>
                </a:extLst>
              </a:tr>
              <a:tr h="91596">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a:spcAft>
                          <a:spcPts val="100"/>
                        </a:spcAft>
                      </a:pPr>
                      <a:r>
                        <a:rPr lang="en-GB" sz="1200" b="1" dirty="0">
                          <a:solidFill>
                            <a:srgbClr val="F36633"/>
                          </a:solidFill>
                          <a:latin typeface="+mn-lt"/>
                        </a:rPr>
                        <a:t>FF/UMEC/VI</a:t>
                      </a:r>
                    </a:p>
                  </a:txBody>
                  <a:tcPr marL="0" marT="27432" marB="27432"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F36633"/>
                          </a:solidFill>
                          <a:latin typeface="+mn-lt"/>
                        </a:rPr>
                        <a:t>4151</a:t>
                      </a:r>
                    </a:p>
                  </a:txBody>
                  <a:tcPr marL="0" marR="0" marT="9144" marB="9144"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F36633"/>
                          </a:solidFill>
                          <a:latin typeface="+mn-lt"/>
                        </a:rPr>
                        <a:t>4023</a:t>
                      </a:r>
                    </a:p>
                  </a:txBody>
                  <a:tcPr marL="0" marR="0" marT="9144" marB="9144"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F36633"/>
                          </a:solidFill>
                          <a:latin typeface="+mn-lt"/>
                        </a:rPr>
                        <a:t>3866</a:t>
                      </a:r>
                    </a:p>
                  </a:txBody>
                  <a:tcPr marL="0" marR="0" marT="9144" marB="9144"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F36633"/>
                          </a:solidFill>
                          <a:latin typeface="+mn-lt"/>
                        </a:rPr>
                        <a:t>3780</a:t>
                      </a:r>
                    </a:p>
                  </a:txBody>
                  <a:tcPr marL="0" marR="0" marT="9144" marB="9144"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F36633"/>
                          </a:solidFill>
                          <a:latin typeface="+mn-lt"/>
                        </a:rPr>
                        <a:t>3692</a:t>
                      </a:r>
                    </a:p>
                  </a:txBody>
                  <a:tcPr marL="0" marR="0" marT="9144" marB="9144"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F36633"/>
                          </a:solidFill>
                          <a:latin typeface="+mn-lt"/>
                        </a:rPr>
                        <a:t>3587</a:t>
                      </a:r>
                    </a:p>
                  </a:txBody>
                  <a:tcPr marL="0" marR="0" marT="9144" marB="9144"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F36633"/>
                          </a:solidFill>
                          <a:latin typeface="+mn-lt"/>
                        </a:rPr>
                        <a:t>3529</a:t>
                      </a:r>
                    </a:p>
                  </a:txBody>
                  <a:tcPr marL="0" marR="0" marT="9144" marB="9144"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F36633"/>
                          </a:solidFill>
                          <a:latin typeface="+mn-lt"/>
                        </a:rPr>
                        <a:t>3469</a:t>
                      </a:r>
                    </a:p>
                  </a:txBody>
                  <a:tcPr marL="0" marR="0" marT="9144" marB="9144"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F36633"/>
                          </a:solidFill>
                          <a:latin typeface="+mn-lt"/>
                        </a:rPr>
                        <a:t>3386</a:t>
                      </a:r>
                    </a:p>
                  </a:txBody>
                  <a:tcPr marL="0" marR="0" marT="9144" marB="9144"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F36633"/>
                          </a:solidFill>
                          <a:latin typeface="+mn-lt"/>
                        </a:rPr>
                        <a:t>3336</a:t>
                      </a:r>
                    </a:p>
                  </a:txBody>
                  <a:tcPr marL="0" marR="0" marT="9144" marB="9144"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F36633"/>
                          </a:solidFill>
                          <a:latin typeface="+mn-lt"/>
                        </a:rPr>
                        <a:t>3270</a:t>
                      </a:r>
                    </a:p>
                  </a:txBody>
                  <a:tcPr marL="0" marR="0" marT="9144" marB="9144"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F36633"/>
                          </a:solidFill>
                          <a:latin typeface="+mn-lt"/>
                        </a:rPr>
                        <a:t>3209</a:t>
                      </a:r>
                    </a:p>
                  </a:txBody>
                  <a:tcPr marL="0" marR="0" marT="9144" marB="9144"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F36633"/>
                          </a:solidFill>
                          <a:latin typeface="+mn-lt"/>
                        </a:rPr>
                        <a:t>3167</a:t>
                      </a:r>
                    </a:p>
                  </a:txBody>
                  <a:tcPr marL="0" marR="0" marT="9144" marB="9144"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F36633"/>
                          </a:solidFill>
                          <a:latin typeface="+mn-lt"/>
                        </a:rPr>
                        <a:t>2367</a:t>
                      </a:r>
                    </a:p>
                  </a:txBody>
                  <a:tcPr marL="0" marR="0" marT="9144" marB="9144" anchor="ctr">
                    <a:lnL w="12700" cmpd="sng">
                      <a:noFill/>
                    </a:lnL>
                    <a:lnR w="12700" cmpd="sng">
                      <a:noFill/>
                    </a:lnR>
                    <a:lnT w="127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1107438"/>
                  </a:ext>
                </a:extLst>
              </a:tr>
              <a:tr h="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a:spcAft>
                          <a:spcPts val="100"/>
                        </a:spcAft>
                      </a:pPr>
                      <a:r>
                        <a:rPr lang="en-GB" sz="1200" b="1" dirty="0">
                          <a:solidFill>
                            <a:srgbClr val="008A00"/>
                          </a:solidFill>
                          <a:latin typeface="+mn-lt"/>
                        </a:rPr>
                        <a:t>FF/VI</a:t>
                      </a:r>
                    </a:p>
                  </a:txBody>
                  <a:tcPr marL="0" marT="27432" marB="27432"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008A00"/>
                          </a:solidFill>
                          <a:latin typeface="+mn-lt"/>
                        </a:rPr>
                        <a:t>4134</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008A00"/>
                          </a:solidFill>
                          <a:latin typeface="+mn-lt"/>
                        </a:rPr>
                        <a:t>3910</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008A00"/>
                          </a:solidFill>
                          <a:latin typeface="+mn-lt"/>
                        </a:rPr>
                        <a:t>3702</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008A00"/>
                          </a:solidFill>
                          <a:latin typeface="+mn-lt"/>
                        </a:rPr>
                        <a:t>3570</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008A00"/>
                          </a:solidFill>
                          <a:latin typeface="+mn-lt"/>
                        </a:rPr>
                        <a:t>3467</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008A00"/>
                          </a:solidFill>
                          <a:latin typeface="+mn-lt"/>
                        </a:rPr>
                        <a:t>3335</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008A00"/>
                          </a:solidFill>
                          <a:latin typeface="+mn-lt"/>
                        </a:rPr>
                        <a:t>3260</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008A00"/>
                          </a:solidFill>
                          <a:latin typeface="+mn-lt"/>
                        </a:rPr>
                        <a:t>3185</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008A00"/>
                          </a:solidFill>
                          <a:latin typeface="+mn-lt"/>
                        </a:rPr>
                        <a:t>3083</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008A00"/>
                          </a:solidFill>
                          <a:latin typeface="+mn-lt"/>
                        </a:rPr>
                        <a:t>3032</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008A00"/>
                          </a:solidFill>
                          <a:latin typeface="+mn-lt"/>
                        </a:rPr>
                        <a:t>2982</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008A00"/>
                          </a:solidFill>
                          <a:latin typeface="+mn-lt"/>
                        </a:rPr>
                        <a:t>2923</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008A00"/>
                          </a:solidFill>
                          <a:latin typeface="+mn-lt"/>
                        </a:rPr>
                        <a:t>2880</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008A00"/>
                          </a:solidFill>
                          <a:latin typeface="+mn-lt"/>
                        </a:rPr>
                        <a:t>2162</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2196128"/>
                  </a:ext>
                </a:extLst>
              </a:tr>
              <a:tr h="91596">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a:spcAft>
                          <a:spcPts val="100"/>
                        </a:spcAft>
                      </a:pPr>
                      <a:r>
                        <a:rPr lang="en-GB" sz="1200" b="1" dirty="0">
                          <a:solidFill>
                            <a:srgbClr val="40488D"/>
                          </a:solidFill>
                          <a:latin typeface="+mn-lt"/>
                        </a:rPr>
                        <a:t>UMEC/VI</a:t>
                      </a:r>
                    </a:p>
                  </a:txBody>
                  <a:tcPr marL="0" marT="27432" marB="27432"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40488D"/>
                          </a:solidFill>
                          <a:latin typeface="+mn-lt"/>
                        </a:rPr>
                        <a:t>2070</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40488D"/>
                          </a:solidFill>
                          <a:latin typeface="+mn-lt"/>
                        </a:rPr>
                        <a:t>1937</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40488D"/>
                          </a:solidFill>
                          <a:latin typeface="+mn-lt"/>
                        </a:rPr>
                        <a:t>1813</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40488D"/>
                          </a:solidFill>
                          <a:latin typeface="+mn-lt"/>
                        </a:rPr>
                        <a:t>1744</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40488D"/>
                          </a:solidFill>
                          <a:latin typeface="+mn-lt"/>
                        </a:rPr>
                        <a:t>1689</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40488D"/>
                          </a:solidFill>
                          <a:latin typeface="+mn-lt"/>
                        </a:rPr>
                        <a:t>1626</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40488D"/>
                          </a:solidFill>
                          <a:latin typeface="+mn-lt"/>
                        </a:rPr>
                        <a:t>1586</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40488D"/>
                          </a:solidFill>
                          <a:latin typeface="+mn-lt"/>
                        </a:rPr>
                        <a:t>1549</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40488D"/>
                          </a:solidFill>
                          <a:latin typeface="+mn-lt"/>
                        </a:rPr>
                        <a:t>1495</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40488D"/>
                          </a:solidFill>
                          <a:latin typeface="+mn-lt"/>
                        </a:rPr>
                        <a:t>1473</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40488D"/>
                          </a:solidFill>
                          <a:latin typeface="+mn-lt"/>
                        </a:rPr>
                        <a:t>1444</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40488D"/>
                          </a:solidFill>
                          <a:latin typeface="+mn-lt"/>
                        </a:rPr>
                        <a:t>1412</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40488D"/>
                          </a:solidFill>
                          <a:latin typeface="+mn-lt"/>
                        </a:rPr>
                        <a:t>1393</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100"/>
                        </a:spcAft>
                      </a:pPr>
                      <a:r>
                        <a:rPr lang="en-GB" sz="1200" dirty="0">
                          <a:solidFill>
                            <a:srgbClr val="40488D"/>
                          </a:solidFill>
                          <a:latin typeface="+mn-lt"/>
                        </a:rPr>
                        <a:t>1046</a:t>
                      </a:r>
                    </a:p>
                  </a:txBody>
                  <a:tcPr marL="0" marR="0" marT="9144" marB="9144" anchor="ctr">
                    <a:lnL w="12700" cmpd="sng">
                      <a:noFill/>
                    </a:lnL>
                    <a:lnR w="12700" cmpd="sng">
                      <a:noFill/>
                    </a:lnR>
                    <a:lnT w="6350" cap="flat" cmpd="sng" algn="ctr">
                      <a:solidFill>
                        <a:srgbClr val="544F40"/>
                      </a:solidFill>
                      <a:prstDash val="solid"/>
                      <a:round/>
                      <a:headEnd type="none" w="med" len="med"/>
                      <a:tailEnd type="none" w="med" len="med"/>
                    </a:lnT>
                    <a:lnB w="3175" cap="flat" cmpd="sng" algn="ctr">
                      <a:no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0571439"/>
                  </a:ext>
                </a:extLst>
              </a:tr>
            </a:tbl>
          </a:graphicData>
        </a:graphic>
      </p:graphicFrame>
      <p:sp>
        <p:nvSpPr>
          <p:cNvPr id="2" name="Title 1"/>
          <p:cNvSpPr>
            <a:spLocks noGrp="1"/>
          </p:cNvSpPr>
          <p:nvPr>
            <p:ph type="title"/>
          </p:nvPr>
        </p:nvSpPr>
        <p:spPr>
          <a:xfrm>
            <a:off x="335999" y="252000"/>
            <a:ext cx="10948029" cy="504000"/>
          </a:xfrm>
        </p:spPr>
        <p:txBody>
          <a:bodyPr/>
          <a:lstStyle/>
          <a:p>
            <a:r>
              <a:rPr lang="en-US" sz="2400" dirty="0"/>
              <a:t>IMPACT: Time to first on-treatment severe COPD exacerbation</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17" name="Text Placeholder 16"/>
          <p:cNvSpPr>
            <a:spLocks noGrp="1"/>
          </p:cNvSpPr>
          <p:nvPr>
            <p:ph type="body" sz="quarter" idx="21"/>
          </p:nvPr>
        </p:nvSpPr>
        <p:spPr/>
        <p:txBody>
          <a:bodyPr/>
          <a:lstStyle/>
          <a:p>
            <a:r>
              <a:rPr lang="en-GB" dirty="0"/>
              <a:t>Data on </a:t>
            </a:r>
            <a:r>
              <a:rPr lang="en-GB" dirty="0" err="1"/>
              <a:t>file;RF</a:t>
            </a:r>
            <a:r>
              <a:rPr lang="en-GB" dirty="0"/>
              <a:t>/TLY/0096/17(1);1-23</a:t>
            </a:r>
            <a:endParaRPr lang="en-US" dirty="0"/>
          </a:p>
        </p:txBody>
      </p:sp>
      <p:sp>
        <p:nvSpPr>
          <p:cNvPr id="8" name="Text Placeholder 7"/>
          <p:cNvSpPr>
            <a:spLocks noGrp="1"/>
          </p:cNvSpPr>
          <p:nvPr>
            <p:ph type="body" sz="quarter" idx="19"/>
          </p:nvPr>
        </p:nvSpPr>
        <p:spPr/>
        <p:txBody>
          <a:bodyPr/>
          <a:lstStyle/>
          <a:p>
            <a:r>
              <a:rPr lang="en-US" dirty="0"/>
              <a:t>The graph has been reproduced from the data on file document</a:t>
            </a:r>
          </a:p>
          <a:p>
            <a:r>
              <a:rPr lang="en-US" dirty="0"/>
              <a:t>CI, confidence interval; COPD, chronic obstructive pulmonary disease; FF, fluticasone furoate; ICS, inhaled corticosteroids; LABA, long-acting beta-agonist; LAMA, long-acting muscarinic antagonist; UMEC, umeclidinium; VI, vilanterol</a:t>
            </a:r>
          </a:p>
        </p:txBody>
      </p:sp>
      <p:graphicFrame>
        <p:nvGraphicFramePr>
          <p:cNvPr id="106" name="Table 105"/>
          <p:cNvGraphicFramePr>
            <a:graphicFrameLocks noGrp="1"/>
          </p:cNvGraphicFramePr>
          <p:nvPr/>
        </p:nvGraphicFramePr>
        <p:xfrm>
          <a:off x="6248399" y="3261386"/>
          <a:ext cx="5159176" cy="764640"/>
        </p:xfrm>
        <a:graphic>
          <a:graphicData uri="http://schemas.openxmlformats.org/drawingml/2006/table">
            <a:tbl>
              <a:tblPr firstRow="1" bandRow="1"/>
              <a:tblGrid>
                <a:gridCol w="1242139">
                  <a:extLst>
                    <a:ext uri="{9D8B030D-6E8A-4147-A177-3AD203B41FA5}">
                      <a16:colId xmlns:a16="http://schemas.microsoft.com/office/drawing/2014/main" val="3719832597"/>
                    </a:ext>
                  </a:extLst>
                </a:gridCol>
                <a:gridCol w="1242139">
                  <a:extLst>
                    <a:ext uri="{9D8B030D-6E8A-4147-A177-3AD203B41FA5}">
                      <a16:colId xmlns:a16="http://schemas.microsoft.com/office/drawing/2014/main" val="3862719566"/>
                    </a:ext>
                  </a:extLst>
                </a:gridCol>
                <a:gridCol w="1867045">
                  <a:extLst>
                    <a:ext uri="{9D8B030D-6E8A-4147-A177-3AD203B41FA5}">
                      <a16:colId xmlns:a16="http://schemas.microsoft.com/office/drawing/2014/main" val="1250777820"/>
                    </a:ext>
                  </a:extLst>
                </a:gridCol>
                <a:gridCol w="807853">
                  <a:extLst>
                    <a:ext uri="{9D8B030D-6E8A-4147-A177-3AD203B41FA5}">
                      <a16:colId xmlns:a16="http://schemas.microsoft.com/office/drawing/2014/main" val="4019460746"/>
                    </a:ext>
                  </a:extLst>
                </a:gridCol>
              </a:tblGrid>
              <a:tr h="114300">
                <a:tc>
                  <a:txBody>
                    <a:bodyPr/>
                    <a:lstStyle/>
                    <a:p>
                      <a:endParaRPr lang="en-US" sz="1200" b="1" dirty="0">
                        <a:solidFill>
                          <a:srgbClr val="544F40"/>
                        </a:solidFill>
                        <a:latin typeface="+mn-lt"/>
                      </a:endParaRPr>
                    </a:p>
                  </a:txBody>
                  <a:tcPr marL="36000" marR="36000" marT="36000" marB="36000">
                    <a:lnL w="12700" cmpd="sng">
                      <a:noFill/>
                    </a:lnL>
                    <a:lnR w="12700" cmpd="sng">
                      <a:noFill/>
                    </a:lnR>
                    <a:lnT w="12700" cmpd="sng">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endParaRPr lang="en-US" sz="1200" b="1" dirty="0">
                        <a:solidFill>
                          <a:srgbClr val="544F40"/>
                        </a:solidFill>
                        <a:latin typeface="+mn-lt"/>
                      </a:endParaRPr>
                    </a:p>
                  </a:txBody>
                  <a:tcPr marL="36000" marR="36000" marT="36000" marB="36000">
                    <a:lnL w="12700" cap="flat" cmpd="sng" algn="ctr">
                      <a:noFill/>
                      <a:prstDash val="solid"/>
                      <a:round/>
                      <a:headEnd type="none" w="med" len="med"/>
                      <a:tailEnd type="none" w="med" len="med"/>
                    </a:lnL>
                    <a:lnR w="6350" cap="flat" cmpd="sng" algn="ctr">
                      <a:solidFill>
                        <a:srgbClr val="544F4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200" dirty="0">
                          <a:solidFill>
                            <a:srgbClr val="544F40"/>
                          </a:solidFill>
                          <a:latin typeface="+mn-lt"/>
                        </a:rPr>
                        <a:t>Risk reduction (95% CI)</a:t>
                      </a:r>
                    </a:p>
                  </a:txBody>
                  <a:tcPr marL="36000" marR="36000" marT="36000" marB="36000">
                    <a:lnL w="6350" cap="flat" cmpd="sng" algn="ctr">
                      <a:solidFill>
                        <a:srgbClr val="544F40"/>
                      </a:solidFill>
                      <a:prstDash val="solid"/>
                      <a:round/>
                      <a:headEnd type="none" w="med" len="med"/>
                      <a:tailEnd type="none" w="med" len="med"/>
                    </a:lnL>
                    <a:lnR w="6350" cap="flat" cmpd="sng" algn="ctr">
                      <a:solidFill>
                        <a:srgbClr val="544F40"/>
                      </a:solidFill>
                      <a:prstDash val="solid"/>
                      <a:round/>
                      <a:headEnd type="none" w="med" len="med"/>
                      <a:tailEnd type="none" w="med" len="med"/>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200" dirty="0">
                          <a:solidFill>
                            <a:srgbClr val="544F40"/>
                          </a:solidFill>
                          <a:latin typeface="+mn-lt"/>
                        </a:rPr>
                        <a:t>p value</a:t>
                      </a:r>
                    </a:p>
                  </a:txBody>
                  <a:tcPr marL="36000" marR="36000" marT="36000" marB="36000">
                    <a:lnL w="6350" cap="flat" cmpd="sng" algn="ctr">
                      <a:solidFill>
                        <a:srgbClr val="544F40"/>
                      </a:solidFill>
                      <a:prstDash val="solid"/>
                      <a:round/>
                      <a:headEnd type="none" w="med" len="med"/>
                      <a:tailEnd type="none" w="med" len="med"/>
                    </a:lnL>
                    <a:lnR w="6350" cap="flat" cmpd="sng" algn="ctr">
                      <a:solidFill>
                        <a:srgbClr val="544F40"/>
                      </a:solidFill>
                      <a:prstDash val="solid"/>
                      <a:round/>
                      <a:headEnd type="none" w="med" len="med"/>
                      <a:tailEnd type="none" w="med" len="med"/>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6284549"/>
                  </a:ext>
                </a:extLst>
              </a:tr>
              <a:tr h="114300">
                <a:tc rowSpan="2">
                  <a:txBody>
                    <a:bodyPr/>
                    <a:lstStyle/>
                    <a:p>
                      <a:r>
                        <a:rPr lang="en-US" sz="1200" b="1" dirty="0">
                          <a:solidFill>
                            <a:schemeClr val="bg1"/>
                          </a:solidFill>
                          <a:latin typeface="+mn-lt"/>
                        </a:rPr>
                        <a:t>FF/UMEC/VI</a:t>
                      </a:r>
                      <a:r>
                        <a:rPr lang="en-US" sz="1200" b="1" baseline="0" dirty="0">
                          <a:solidFill>
                            <a:schemeClr val="bg1"/>
                          </a:solidFill>
                          <a:latin typeface="+mn-lt"/>
                        </a:rPr>
                        <a:t> vs</a:t>
                      </a:r>
                      <a:endParaRPr lang="en-US" sz="1200" b="1" dirty="0">
                        <a:solidFill>
                          <a:schemeClr val="bg1"/>
                        </a:solidFill>
                        <a:latin typeface="+mn-lt"/>
                      </a:endParaRPr>
                    </a:p>
                  </a:txBody>
                  <a:tcPr marL="36000" marR="36000" marT="36000" marB="36000" anchor="ctr">
                    <a:lnL w="12700" cmpd="sng">
                      <a:noFill/>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3663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200" b="1" baseline="0" dirty="0">
                          <a:solidFill>
                            <a:schemeClr val="bg1"/>
                          </a:solidFill>
                          <a:latin typeface="+mn-lt"/>
                        </a:rPr>
                        <a:t>   FF/VI</a:t>
                      </a:r>
                      <a:endParaRPr lang="en-US" sz="1200" b="1" dirty="0">
                        <a:solidFill>
                          <a:schemeClr val="bg1"/>
                        </a:solidFill>
                        <a:latin typeface="+mn-lt"/>
                      </a:endParaRPr>
                    </a:p>
                  </a:txBody>
                  <a:tcPr marL="36000" marR="36000" marT="36000" marB="36000">
                    <a:lnL w="12700" cap="flat" cmpd="sng" algn="ctr">
                      <a:noFill/>
                      <a:prstDash val="solid"/>
                      <a:round/>
                      <a:headEnd type="none" w="med" len="med"/>
                      <a:tailEnd type="none" w="med" len="med"/>
                    </a:lnL>
                    <a:lnR w="6350" cap="flat" cmpd="sng" algn="ctr">
                      <a:solidFill>
                        <a:srgbClr val="544F40"/>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008A0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200" b="0" dirty="0">
                          <a:solidFill>
                            <a:srgbClr val="15717D"/>
                          </a:solidFill>
                          <a:latin typeface="+mn-lt"/>
                        </a:rPr>
                        <a:t>11.2% </a:t>
                      </a:r>
                      <a:r>
                        <a:rPr lang="en-US" sz="1200" b="0" dirty="0">
                          <a:solidFill>
                            <a:srgbClr val="544F40"/>
                          </a:solidFill>
                          <a:latin typeface="+mn-lt"/>
                        </a:rPr>
                        <a:t>(–1.1, 22.1)</a:t>
                      </a:r>
                    </a:p>
                  </a:txBody>
                  <a:tcPr marL="36000" marR="36000" marT="36000" marB="36000">
                    <a:lnL w="6350" cap="flat" cmpd="sng" algn="ctr">
                      <a:solidFill>
                        <a:srgbClr val="544F40"/>
                      </a:solidFill>
                      <a:prstDash val="solid"/>
                      <a:round/>
                      <a:headEnd type="none" w="med" len="med"/>
                      <a:tailEnd type="none" w="med" len="med"/>
                    </a:lnL>
                    <a:lnR w="6350" cap="flat" cmpd="sng" algn="ctr">
                      <a:solidFill>
                        <a:srgbClr val="544F40"/>
                      </a:solidFill>
                      <a:prstDash val="solid"/>
                      <a:round/>
                      <a:headEnd type="none" w="med" len="med"/>
                      <a:tailEnd type="none" w="med" len="med"/>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200" b="0" dirty="0">
                          <a:solidFill>
                            <a:srgbClr val="544F40"/>
                          </a:solidFill>
                          <a:latin typeface="+mn-lt"/>
                        </a:rPr>
                        <a:t>0.073</a:t>
                      </a:r>
                    </a:p>
                  </a:txBody>
                  <a:tcPr marL="36000" marR="36000" marT="36000" marB="36000">
                    <a:lnL w="6350" cap="flat" cmpd="sng" algn="ctr">
                      <a:solidFill>
                        <a:srgbClr val="544F40"/>
                      </a:solidFill>
                      <a:prstDash val="solid"/>
                      <a:round/>
                      <a:headEnd type="none" w="med" len="med"/>
                      <a:tailEnd type="none" w="med" len="med"/>
                    </a:lnL>
                    <a:lnR w="6350" cap="flat" cmpd="sng" algn="ctr">
                      <a:solidFill>
                        <a:srgbClr val="544F40"/>
                      </a:solidFill>
                      <a:prstDash val="solid"/>
                      <a:round/>
                      <a:headEnd type="none" w="med" len="med"/>
                      <a:tailEnd type="none" w="med" len="med"/>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2997878"/>
                  </a:ext>
                </a:extLst>
              </a:tr>
              <a:tr h="114300">
                <a:tc vMerge="1">
                  <a:txBody>
                    <a:bodyPr/>
                    <a:lstStyle/>
                    <a:p>
                      <a:endParaRPr lang="en-US" sz="1400" b="1" dirty="0">
                        <a:solidFill>
                          <a:schemeClr val="bg1"/>
                        </a:solidFill>
                      </a:endParaRPr>
                    </a:p>
                  </a:txBody>
                  <a:tcPr marL="36000" marR="36000" marT="36000" marB="3600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200" b="1" baseline="0" dirty="0">
                          <a:solidFill>
                            <a:schemeClr val="bg1"/>
                          </a:solidFill>
                          <a:latin typeface="+mn-lt"/>
                        </a:rPr>
                        <a:t>   UMEC/VI</a:t>
                      </a:r>
                      <a:endParaRPr lang="en-US" sz="1200" b="1" dirty="0">
                        <a:solidFill>
                          <a:schemeClr val="bg1"/>
                        </a:solidFill>
                        <a:latin typeface="+mn-lt"/>
                      </a:endParaRPr>
                    </a:p>
                  </a:txBody>
                  <a:tcPr marL="36000" marR="36000" marT="36000" marB="36000">
                    <a:lnL w="12700" cap="flat" cmpd="sng" algn="ctr">
                      <a:noFill/>
                      <a:prstDash val="solid"/>
                      <a:round/>
                      <a:headEnd type="none" w="med" len="med"/>
                      <a:tailEnd type="none" w="med" len="med"/>
                    </a:lnL>
                    <a:lnR w="6350" cap="flat" cmpd="sng" algn="ctr">
                      <a:solidFill>
                        <a:srgbClr val="544F4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40488D"/>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200" b="0" dirty="0">
                          <a:solidFill>
                            <a:srgbClr val="15717D"/>
                          </a:solidFill>
                          <a:latin typeface="+mn-lt"/>
                        </a:rPr>
                        <a:t>25.1% </a:t>
                      </a:r>
                      <a:r>
                        <a:rPr lang="en-US" sz="1200" b="0" dirty="0">
                          <a:solidFill>
                            <a:srgbClr val="544F40"/>
                          </a:solidFill>
                          <a:latin typeface="+mn-lt"/>
                        </a:rPr>
                        <a:t>(12.9, 35.6)</a:t>
                      </a:r>
                    </a:p>
                  </a:txBody>
                  <a:tcPr marL="36000" marR="36000" marT="36000" marB="36000">
                    <a:lnL w="6350" cap="flat" cmpd="sng" algn="ctr">
                      <a:solidFill>
                        <a:srgbClr val="544F40"/>
                      </a:solidFill>
                      <a:prstDash val="solid"/>
                      <a:round/>
                      <a:headEnd type="none" w="med" len="med"/>
                      <a:tailEnd type="none" w="med" len="med"/>
                    </a:lnL>
                    <a:lnR w="6350" cap="flat" cmpd="sng" algn="ctr">
                      <a:solidFill>
                        <a:srgbClr val="544F40"/>
                      </a:solidFill>
                      <a:prstDash val="solid"/>
                      <a:round/>
                      <a:headEnd type="none" w="med" len="med"/>
                      <a:tailEnd type="none" w="med" len="med"/>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200" b="0" dirty="0">
                          <a:solidFill>
                            <a:srgbClr val="544F40"/>
                          </a:solidFill>
                          <a:latin typeface="+mn-lt"/>
                        </a:rPr>
                        <a:t>&lt;0.001</a:t>
                      </a:r>
                    </a:p>
                  </a:txBody>
                  <a:tcPr marL="36000" marR="36000" marT="36000" marB="36000">
                    <a:lnL w="6350" cap="flat" cmpd="sng" algn="ctr">
                      <a:solidFill>
                        <a:srgbClr val="544F40"/>
                      </a:solidFill>
                      <a:prstDash val="solid"/>
                      <a:round/>
                      <a:headEnd type="none" w="med" len="med"/>
                      <a:tailEnd type="none" w="med" len="med"/>
                    </a:lnL>
                    <a:lnR w="6350" cap="flat" cmpd="sng" algn="ctr">
                      <a:solidFill>
                        <a:srgbClr val="544F40"/>
                      </a:solidFill>
                      <a:prstDash val="solid"/>
                      <a:round/>
                      <a:headEnd type="none" w="med" len="med"/>
                      <a:tailEnd type="none" w="med" len="med"/>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094486"/>
                  </a:ext>
                </a:extLst>
              </a:tr>
            </a:tbl>
          </a:graphicData>
        </a:graphic>
      </p:graphicFrame>
      <p:grpSp>
        <p:nvGrpSpPr>
          <p:cNvPr id="97" name="Group 96"/>
          <p:cNvGrpSpPr/>
          <p:nvPr/>
        </p:nvGrpSpPr>
        <p:grpSpPr>
          <a:xfrm>
            <a:off x="423862" y="930420"/>
            <a:ext cx="11349037" cy="4840460"/>
            <a:chOff x="423862" y="905655"/>
            <a:chExt cx="11349037" cy="4840460"/>
          </a:xfrm>
        </p:grpSpPr>
        <p:sp>
          <p:nvSpPr>
            <p:cNvPr id="99" name="Rounded Rectangle 98"/>
            <p:cNvSpPr/>
            <p:nvPr/>
          </p:nvSpPr>
          <p:spPr>
            <a:xfrm>
              <a:off x="423862" y="1174115"/>
              <a:ext cx="11349037" cy="4572000"/>
            </a:xfrm>
            <a:prstGeom prst="roundRect">
              <a:avLst>
                <a:gd name="adj" fmla="val 215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08" name="Rounded Rectangle 107"/>
            <p:cNvSpPr/>
            <p:nvPr/>
          </p:nvSpPr>
          <p:spPr bwMode="auto">
            <a:xfrm>
              <a:off x="673455" y="905655"/>
              <a:ext cx="10845091" cy="548640"/>
            </a:xfrm>
            <a:prstGeom prst="roundRect">
              <a:avLst>
                <a:gd name="adj" fmla="val 50000"/>
              </a:avLst>
            </a:prstGeom>
            <a:solidFill>
              <a:srgbClr val="544F40"/>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818"/>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pitchFamily="34" charset="0"/>
                  <a:ea typeface="+mn-ea"/>
                  <a:cs typeface="+mn-cs"/>
                </a:rPr>
                <a:t>Significant reduction in risk of first severe exacerbation with FF/UMEC/VI vs LAMA/LABA (UMEC/VI);</a:t>
              </a:r>
              <a:br>
                <a:rPr kumimoji="0" lang="en-US" sz="1400" b="1" i="0" u="none" strike="noStrike" kern="1200" cap="none" spc="0" normalizeH="0" baseline="0" noProof="0" dirty="0">
                  <a:ln>
                    <a:noFill/>
                  </a:ln>
                  <a:solidFill>
                    <a:prstClr val="white"/>
                  </a:solidFill>
                  <a:effectLst/>
                  <a:uLnTx/>
                  <a:uFillTx/>
                  <a:latin typeface="Arial" pitchFamily="34" charset="0"/>
                  <a:ea typeface="+mn-ea"/>
                  <a:cs typeface="+mn-cs"/>
                </a:rPr>
              </a:br>
              <a:r>
                <a:rPr kumimoji="0" lang="en-US" sz="1400" b="1" i="0" u="none" strike="noStrike" kern="1200" cap="none" spc="0" normalizeH="0" baseline="0" noProof="0" dirty="0">
                  <a:ln>
                    <a:noFill/>
                  </a:ln>
                  <a:solidFill>
                    <a:prstClr val="white"/>
                  </a:solidFill>
                  <a:effectLst/>
                  <a:uLnTx/>
                  <a:uFillTx/>
                  <a:latin typeface="Arial" pitchFamily="34" charset="0"/>
                  <a:ea typeface="+mn-ea"/>
                  <a:cs typeface="+mn-cs"/>
                </a:rPr>
                <a:t>reduction in risk of first severe exacerbation vs ICS/LABA (FF/VI)</a:t>
              </a:r>
              <a:endParaRPr kumimoji="0" lang="en-US" sz="1400" b="1" i="0" u="none" strike="noStrike" kern="1200" cap="none" spc="0" normalizeH="0" baseline="30000" noProof="0" dirty="0">
                <a:ln>
                  <a:noFill/>
                </a:ln>
                <a:solidFill>
                  <a:prstClr val="white"/>
                </a:solidFill>
                <a:effectLst/>
                <a:uLnTx/>
                <a:uFillTx/>
                <a:latin typeface="Arial" pitchFamily="34" charset="0"/>
                <a:ea typeface="+mn-ea"/>
                <a:cs typeface="+mn-cs"/>
              </a:endParaRPr>
            </a:p>
          </p:txBody>
        </p:sp>
      </p:grpSp>
      <p:grpSp>
        <p:nvGrpSpPr>
          <p:cNvPr id="4" name="Group 3"/>
          <p:cNvGrpSpPr/>
          <p:nvPr/>
        </p:nvGrpSpPr>
        <p:grpSpPr>
          <a:xfrm>
            <a:off x="1110898" y="1571819"/>
            <a:ext cx="10428009" cy="3183060"/>
            <a:chOff x="1110898" y="1571819"/>
            <a:chExt cx="10428009" cy="3183060"/>
          </a:xfrm>
        </p:grpSpPr>
        <p:grpSp>
          <p:nvGrpSpPr>
            <p:cNvPr id="46" name="Group 45"/>
            <p:cNvGrpSpPr/>
            <p:nvPr/>
          </p:nvGrpSpPr>
          <p:grpSpPr>
            <a:xfrm>
              <a:off x="1812496" y="4145855"/>
              <a:ext cx="9598968" cy="56178"/>
              <a:chOff x="2103172" y="4598746"/>
              <a:chExt cx="7823770" cy="90000"/>
            </a:xfrm>
          </p:grpSpPr>
          <p:cxnSp>
            <p:nvCxnSpPr>
              <p:cNvPr id="76" name="Straight Connector 75"/>
              <p:cNvCxnSpPr/>
              <p:nvPr/>
            </p:nvCxnSpPr>
            <p:spPr>
              <a:xfrm>
                <a:off x="4510485" y="4598746"/>
                <a:ext cx="0" cy="90000"/>
              </a:xfrm>
              <a:prstGeom prst="line">
                <a:avLst/>
              </a:prstGeom>
              <a:noFill/>
              <a:ln w="9525" cap="flat" cmpd="sng" algn="ctr">
                <a:solidFill>
                  <a:srgbClr val="544F40"/>
                </a:solidFill>
                <a:prstDash val="solid"/>
                <a:miter lim="800000"/>
              </a:ln>
              <a:effectLst/>
            </p:spPr>
          </p:cxnSp>
          <p:cxnSp>
            <p:nvCxnSpPr>
              <p:cNvPr id="77" name="Straight Connector 76"/>
              <p:cNvCxnSpPr/>
              <p:nvPr/>
            </p:nvCxnSpPr>
            <p:spPr>
              <a:xfrm>
                <a:off x="3908657" y="4598746"/>
                <a:ext cx="0" cy="90000"/>
              </a:xfrm>
              <a:prstGeom prst="line">
                <a:avLst/>
              </a:prstGeom>
              <a:noFill/>
              <a:ln w="9525" cap="flat" cmpd="sng" algn="ctr">
                <a:solidFill>
                  <a:srgbClr val="544F40"/>
                </a:solidFill>
                <a:prstDash val="solid"/>
                <a:miter lim="800000"/>
              </a:ln>
              <a:effectLst/>
            </p:spPr>
          </p:cxnSp>
          <p:cxnSp>
            <p:nvCxnSpPr>
              <p:cNvPr id="78" name="Straight Connector 77"/>
              <p:cNvCxnSpPr/>
              <p:nvPr/>
            </p:nvCxnSpPr>
            <p:spPr>
              <a:xfrm>
                <a:off x="3306829" y="4598746"/>
                <a:ext cx="0" cy="90000"/>
              </a:xfrm>
              <a:prstGeom prst="line">
                <a:avLst/>
              </a:prstGeom>
              <a:noFill/>
              <a:ln w="9525" cap="flat" cmpd="sng" algn="ctr">
                <a:solidFill>
                  <a:srgbClr val="544F40"/>
                </a:solidFill>
                <a:prstDash val="solid"/>
                <a:miter lim="800000"/>
              </a:ln>
              <a:effectLst/>
            </p:spPr>
          </p:cxnSp>
          <p:cxnSp>
            <p:nvCxnSpPr>
              <p:cNvPr id="79" name="Straight Connector 78"/>
              <p:cNvCxnSpPr/>
              <p:nvPr/>
            </p:nvCxnSpPr>
            <p:spPr>
              <a:xfrm>
                <a:off x="2705000" y="4598746"/>
                <a:ext cx="0" cy="90000"/>
              </a:xfrm>
              <a:prstGeom prst="line">
                <a:avLst/>
              </a:prstGeom>
              <a:noFill/>
              <a:ln w="9525" cap="flat" cmpd="sng" algn="ctr">
                <a:solidFill>
                  <a:srgbClr val="544F40"/>
                </a:solidFill>
                <a:prstDash val="solid"/>
                <a:miter lim="800000"/>
              </a:ln>
              <a:effectLst/>
            </p:spPr>
          </p:cxnSp>
          <p:cxnSp>
            <p:nvCxnSpPr>
              <p:cNvPr id="80" name="Straight Connector 79"/>
              <p:cNvCxnSpPr/>
              <p:nvPr/>
            </p:nvCxnSpPr>
            <p:spPr>
              <a:xfrm>
                <a:off x="2103172" y="4598746"/>
                <a:ext cx="0" cy="90000"/>
              </a:xfrm>
              <a:prstGeom prst="line">
                <a:avLst/>
              </a:prstGeom>
              <a:noFill/>
              <a:ln w="9525" cap="flat" cmpd="sng" algn="ctr">
                <a:solidFill>
                  <a:srgbClr val="544F40"/>
                </a:solidFill>
                <a:prstDash val="solid"/>
                <a:miter lim="800000"/>
              </a:ln>
              <a:effectLst/>
            </p:spPr>
          </p:cxnSp>
          <p:cxnSp>
            <p:nvCxnSpPr>
              <p:cNvPr id="81" name="Straight Connector 80"/>
              <p:cNvCxnSpPr/>
              <p:nvPr/>
            </p:nvCxnSpPr>
            <p:spPr>
              <a:xfrm>
                <a:off x="6917799" y="4598746"/>
                <a:ext cx="0" cy="90000"/>
              </a:xfrm>
              <a:prstGeom prst="line">
                <a:avLst/>
              </a:prstGeom>
              <a:noFill/>
              <a:ln w="9525" cap="flat" cmpd="sng" algn="ctr">
                <a:solidFill>
                  <a:srgbClr val="544F40"/>
                </a:solidFill>
                <a:prstDash val="solid"/>
                <a:miter lim="800000"/>
              </a:ln>
              <a:effectLst/>
            </p:spPr>
          </p:cxnSp>
          <p:cxnSp>
            <p:nvCxnSpPr>
              <p:cNvPr id="82" name="Straight Connector 81"/>
              <p:cNvCxnSpPr/>
              <p:nvPr/>
            </p:nvCxnSpPr>
            <p:spPr>
              <a:xfrm>
                <a:off x="6315971" y="4598746"/>
                <a:ext cx="0" cy="90000"/>
              </a:xfrm>
              <a:prstGeom prst="line">
                <a:avLst/>
              </a:prstGeom>
              <a:noFill/>
              <a:ln w="9525" cap="flat" cmpd="sng" algn="ctr">
                <a:solidFill>
                  <a:srgbClr val="544F40"/>
                </a:solidFill>
                <a:prstDash val="solid"/>
                <a:miter lim="800000"/>
              </a:ln>
              <a:effectLst/>
            </p:spPr>
          </p:cxnSp>
          <p:cxnSp>
            <p:nvCxnSpPr>
              <p:cNvPr id="83" name="Straight Connector 82"/>
              <p:cNvCxnSpPr/>
              <p:nvPr/>
            </p:nvCxnSpPr>
            <p:spPr>
              <a:xfrm>
                <a:off x="5714142" y="4598746"/>
                <a:ext cx="0" cy="90000"/>
              </a:xfrm>
              <a:prstGeom prst="line">
                <a:avLst/>
              </a:prstGeom>
              <a:noFill/>
              <a:ln w="9525" cap="flat" cmpd="sng" algn="ctr">
                <a:solidFill>
                  <a:srgbClr val="544F40"/>
                </a:solidFill>
                <a:prstDash val="solid"/>
                <a:miter lim="800000"/>
              </a:ln>
              <a:effectLst/>
            </p:spPr>
          </p:cxnSp>
          <p:cxnSp>
            <p:nvCxnSpPr>
              <p:cNvPr id="84" name="Straight Connector 83"/>
              <p:cNvCxnSpPr/>
              <p:nvPr/>
            </p:nvCxnSpPr>
            <p:spPr>
              <a:xfrm>
                <a:off x="5112314" y="4598746"/>
                <a:ext cx="0" cy="90000"/>
              </a:xfrm>
              <a:prstGeom prst="line">
                <a:avLst/>
              </a:prstGeom>
              <a:noFill/>
              <a:ln w="9525" cap="flat" cmpd="sng" algn="ctr">
                <a:solidFill>
                  <a:srgbClr val="544F40"/>
                </a:solidFill>
                <a:prstDash val="solid"/>
                <a:miter lim="800000"/>
              </a:ln>
              <a:effectLst/>
            </p:spPr>
          </p:cxnSp>
          <p:cxnSp>
            <p:nvCxnSpPr>
              <p:cNvPr id="85" name="Straight Connector 84"/>
              <p:cNvCxnSpPr/>
              <p:nvPr/>
            </p:nvCxnSpPr>
            <p:spPr>
              <a:xfrm>
                <a:off x="7519627" y="4598746"/>
                <a:ext cx="0" cy="90000"/>
              </a:xfrm>
              <a:prstGeom prst="line">
                <a:avLst/>
              </a:prstGeom>
              <a:noFill/>
              <a:ln w="9525" cap="flat" cmpd="sng" algn="ctr">
                <a:solidFill>
                  <a:srgbClr val="544F40"/>
                </a:solidFill>
                <a:prstDash val="solid"/>
                <a:miter lim="800000"/>
              </a:ln>
              <a:effectLst/>
            </p:spPr>
          </p:cxnSp>
          <p:cxnSp>
            <p:nvCxnSpPr>
              <p:cNvPr id="86" name="Straight Connector 85"/>
              <p:cNvCxnSpPr/>
              <p:nvPr/>
            </p:nvCxnSpPr>
            <p:spPr>
              <a:xfrm>
                <a:off x="8121456" y="4598746"/>
                <a:ext cx="0" cy="90000"/>
              </a:xfrm>
              <a:prstGeom prst="line">
                <a:avLst/>
              </a:prstGeom>
              <a:noFill/>
              <a:ln w="9525" cap="flat" cmpd="sng" algn="ctr">
                <a:solidFill>
                  <a:srgbClr val="544F40"/>
                </a:solidFill>
                <a:prstDash val="solid"/>
                <a:miter lim="800000"/>
              </a:ln>
              <a:effectLst/>
            </p:spPr>
          </p:cxnSp>
          <p:cxnSp>
            <p:nvCxnSpPr>
              <p:cNvPr id="87" name="Straight Connector 86"/>
              <p:cNvCxnSpPr/>
              <p:nvPr/>
            </p:nvCxnSpPr>
            <p:spPr>
              <a:xfrm>
                <a:off x="8723284" y="4598746"/>
                <a:ext cx="0" cy="90000"/>
              </a:xfrm>
              <a:prstGeom prst="line">
                <a:avLst/>
              </a:prstGeom>
              <a:noFill/>
              <a:ln w="9525" cap="flat" cmpd="sng" algn="ctr">
                <a:solidFill>
                  <a:srgbClr val="544F40"/>
                </a:solidFill>
                <a:prstDash val="solid"/>
                <a:miter lim="800000"/>
              </a:ln>
              <a:effectLst/>
            </p:spPr>
          </p:cxnSp>
          <p:cxnSp>
            <p:nvCxnSpPr>
              <p:cNvPr id="88" name="Straight Connector 87"/>
              <p:cNvCxnSpPr/>
              <p:nvPr/>
            </p:nvCxnSpPr>
            <p:spPr>
              <a:xfrm>
                <a:off x="9325112" y="4598746"/>
                <a:ext cx="0" cy="90000"/>
              </a:xfrm>
              <a:prstGeom prst="line">
                <a:avLst/>
              </a:prstGeom>
              <a:noFill/>
              <a:ln w="9525" cap="flat" cmpd="sng" algn="ctr">
                <a:solidFill>
                  <a:srgbClr val="544F40"/>
                </a:solidFill>
                <a:prstDash val="solid"/>
                <a:miter lim="800000"/>
              </a:ln>
              <a:effectLst/>
            </p:spPr>
          </p:cxnSp>
          <p:cxnSp>
            <p:nvCxnSpPr>
              <p:cNvPr id="89" name="Straight Connector 88"/>
              <p:cNvCxnSpPr/>
              <p:nvPr/>
            </p:nvCxnSpPr>
            <p:spPr>
              <a:xfrm>
                <a:off x="9926942" y="4598746"/>
                <a:ext cx="0" cy="90000"/>
              </a:xfrm>
              <a:prstGeom prst="line">
                <a:avLst/>
              </a:prstGeom>
              <a:noFill/>
              <a:ln w="9525" cap="flat" cmpd="sng" algn="ctr">
                <a:solidFill>
                  <a:srgbClr val="544F40"/>
                </a:solidFill>
                <a:prstDash val="solid"/>
                <a:miter lim="800000"/>
              </a:ln>
              <a:effectLst/>
            </p:spPr>
          </p:cxnSp>
        </p:grpSp>
        <p:grpSp>
          <p:nvGrpSpPr>
            <p:cNvPr id="47" name="Group 46"/>
            <p:cNvGrpSpPr/>
            <p:nvPr/>
          </p:nvGrpSpPr>
          <p:grpSpPr>
            <a:xfrm>
              <a:off x="1762455" y="4266507"/>
              <a:ext cx="9776452" cy="189676"/>
              <a:chOff x="2062385" y="4716452"/>
              <a:chExt cx="7968430" cy="213594"/>
            </a:xfrm>
          </p:grpSpPr>
          <p:sp>
            <p:nvSpPr>
              <p:cNvPr id="62" name="TextBox 61"/>
              <p:cNvSpPr txBox="1"/>
              <p:nvPr/>
            </p:nvSpPr>
            <p:spPr>
              <a:xfrm>
                <a:off x="2062385" y="4716452"/>
                <a:ext cx="69248"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0</a:t>
                </a:r>
              </a:p>
            </p:txBody>
          </p:sp>
          <p:sp>
            <p:nvSpPr>
              <p:cNvPr id="63" name="TextBox 62"/>
              <p:cNvSpPr txBox="1"/>
              <p:nvPr/>
            </p:nvSpPr>
            <p:spPr>
              <a:xfrm>
                <a:off x="2630063" y="4716452"/>
                <a:ext cx="138495"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28</a:t>
                </a:r>
              </a:p>
            </p:txBody>
          </p:sp>
          <p:sp>
            <p:nvSpPr>
              <p:cNvPr id="64" name="TextBox 63"/>
              <p:cNvSpPr txBox="1"/>
              <p:nvPr/>
            </p:nvSpPr>
            <p:spPr>
              <a:xfrm>
                <a:off x="3232367" y="4716452"/>
                <a:ext cx="138495"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56</a:t>
                </a:r>
              </a:p>
            </p:txBody>
          </p:sp>
          <p:sp>
            <p:nvSpPr>
              <p:cNvPr id="65" name="TextBox 64"/>
              <p:cNvSpPr txBox="1"/>
              <p:nvPr/>
            </p:nvSpPr>
            <p:spPr>
              <a:xfrm>
                <a:off x="3834669" y="4716452"/>
                <a:ext cx="138495"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84</a:t>
                </a:r>
              </a:p>
            </p:txBody>
          </p:sp>
          <p:sp>
            <p:nvSpPr>
              <p:cNvPr id="66" name="TextBox 65"/>
              <p:cNvSpPr txBox="1"/>
              <p:nvPr/>
            </p:nvSpPr>
            <p:spPr>
              <a:xfrm>
                <a:off x="4406998" y="4716452"/>
                <a:ext cx="198439"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112</a:t>
                </a:r>
              </a:p>
            </p:txBody>
          </p:sp>
          <p:sp>
            <p:nvSpPr>
              <p:cNvPr id="67" name="TextBox 66"/>
              <p:cNvSpPr txBox="1"/>
              <p:nvPr/>
            </p:nvSpPr>
            <p:spPr>
              <a:xfrm>
                <a:off x="5004649"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140</a:t>
                </a:r>
              </a:p>
            </p:txBody>
          </p:sp>
          <p:sp>
            <p:nvSpPr>
              <p:cNvPr id="68" name="TextBox 67"/>
              <p:cNvSpPr txBox="1"/>
              <p:nvPr/>
            </p:nvSpPr>
            <p:spPr>
              <a:xfrm>
                <a:off x="5606951"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168</a:t>
                </a:r>
              </a:p>
            </p:txBody>
          </p:sp>
          <p:sp>
            <p:nvSpPr>
              <p:cNvPr id="69" name="TextBox 68"/>
              <p:cNvSpPr txBox="1"/>
              <p:nvPr/>
            </p:nvSpPr>
            <p:spPr>
              <a:xfrm>
                <a:off x="6209254"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196</a:t>
                </a:r>
              </a:p>
            </p:txBody>
          </p:sp>
          <p:sp>
            <p:nvSpPr>
              <p:cNvPr id="70" name="TextBox 69"/>
              <p:cNvSpPr txBox="1"/>
              <p:nvPr/>
            </p:nvSpPr>
            <p:spPr>
              <a:xfrm>
                <a:off x="6811556"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224</a:t>
                </a:r>
              </a:p>
            </p:txBody>
          </p:sp>
          <p:sp>
            <p:nvSpPr>
              <p:cNvPr id="71" name="TextBox 70"/>
              <p:cNvSpPr txBox="1"/>
              <p:nvPr/>
            </p:nvSpPr>
            <p:spPr>
              <a:xfrm>
                <a:off x="7413856"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252</a:t>
                </a:r>
              </a:p>
            </p:txBody>
          </p:sp>
          <p:sp>
            <p:nvSpPr>
              <p:cNvPr id="72" name="TextBox 71"/>
              <p:cNvSpPr txBox="1"/>
              <p:nvPr/>
            </p:nvSpPr>
            <p:spPr>
              <a:xfrm>
                <a:off x="8016159"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280</a:t>
                </a:r>
              </a:p>
            </p:txBody>
          </p:sp>
          <p:sp>
            <p:nvSpPr>
              <p:cNvPr id="73" name="TextBox 72"/>
              <p:cNvSpPr txBox="1"/>
              <p:nvPr/>
            </p:nvSpPr>
            <p:spPr>
              <a:xfrm>
                <a:off x="8618463"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308</a:t>
                </a:r>
              </a:p>
            </p:txBody>
          </p:sp>
          <p:sp>
            <p:nvSpPr>
              <p:cNvPr id="74" name="TextBox 73"/>
              <p:cNvSpPr txBox="1"/>
              <p:nvPr/>
            </p:nvSpPr>
            <p:spPr>
              <a:xfrm>
                <a:off x="9220765"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336</a:t>
                </a:r>
              </a:p>
            </p:txBody>
          </p:sp>
          <p:sp>
            <p:nvSpPr>
              <p:cNvPr id="75" name="TextBox 74"/>
              <p:cNvSpPr txBox="1"/>
              <p:nvPr/>
            </p:nvSpPr>
            <p:spPr>
              <a:xfrm>
                <a:off x="9823073" y="4716452"/>
                <a:ext cx="207742" cy="213594"/>
              </a:xfrm>
              <a:prstGeom prst="rect">
                <a:avLst/>
              </a:prstGeom>
              <a:noFill/>
            </p:spPr>
            <p:txBody>
              <a:bodyPr wrap="none" lIns="0" tIns="0" rIns="0" bIns="0" rtlCol="0" anchor="ct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364</a:t>
                </a:r>
              </a:p>
            </p:txBody>
          </p:sp>
        </p:grpSp>
        <p:sp>
          <p:nvSpPr>
            <p:cNvPr id="53" name="TextBox 52"/>
            <p:cNvSpPr txBox="1"/>
            <p:nvPr/>
          </p:nvSpPr>
          <p:spPr>
            <a:xfrm rot="16200000">
              <a:off x="324005" y="2819270"/>
              <a:ext cx="1758451" cy="184666"/>
            </a:xfrm>
            <a:prstGeom prst="rect">
              <a:avLst/>
            </a:prstGeom>
            <a:noFill/>
          </p:spPr>
          <p:txBody>
            <a:bodyPr wrap="none" lIns="0" tIns="0" rIns="0" bIns="0"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Probability of event (%)</a:t>
              </a:r>
            </a:p>
          </p:txBody>
        </p:sp>
        <p:grpSp>
          <p:nvGrpSpPr>
            <p:cNvPr id="7" name="Group 6"/>
            <p:cNvGrpSpPr/>
            <p:nvPr/>
          </p:nvGrpSpPr>
          <p:grpSpPr>
            <a:xfrm>
              <a:off x="1812492" y="1674432"/>
              <a:ext cx="9598972" cy="2471419"/>
              <a:chOff x="1012202" y="1298445"/>
              <a:chExt cx="10637179" cy="1459519"/>
            </a:xfrm>
          </p:grpSpPr>
          <p:cxnSp>
            <p:nvCxnSpPr>
              <p:cNvPr id="54" name="Straight Connector 53"/>
              <p:cNvCxnSpPr/>
              <p:nvPr/>
            </p:nvCxnSpPr>
            <p:spPr>
              <a:xfrm>
                <a:off x="1012202" y="1298445"/>
                <a:ext cx="0" cy="1459379"/>
              </a:xfrm>
              <a:prstGeom prst="line">
                <a:avLst/>
              </a:prstGeom>
              <a:noFill/>
              <a:ln w="9525" cap="sq" cmpd="sng" algn="ctr">
                <a:solidFill>
                  <a:srgbClr val="544F40"/>
                </a:solidFill>
                <a:prstDash val="solid"/>
                <a:miter lim="800000"/>
              </a:ln>
              <a:effectLst/>
            </p:spPr>
          </p:cxnSp>
          <p:cxnSp>
            <p:nvCxnSpPr>
              <p:cNvPr id="57" name="Straight Connector 56"/>
              <p:cNvCxnSpPr/>
              <p:nvPr/>
            </p:nvCxnSpPr>
            <p:spPr>
              <a:xfrm>
                <a:off x="1012202" y="2757964"/>
                <a:ext cx="10637179" cy="0"/>
              </a:xfrm>
              <a:prstGeom prst="line">
                <a:avLst/>
              </a:prstGeom>
              <a:noFill/>
              <a:ln w="9525" cap="sq" cmpd="sng" algn="ctr">
                <a:solidFill>
                  <a:srgbClr val="544F40"/>
                </a:solidFill>
                <a:prstDash val="solid"/>
                <a:miter lim="800000"/>
              </a:ln>
              <a:effectLst/>
            </p:spPr>
          </p:cxnSp>
        </p:grpSp>
        <p:sp>
          <p:nvSpPr>
            <p:cNvPr id="58" name="TextBox 57"/>
            <p:cNvSpPr txBox="1"/>
            <p:nvPr/>
          </p:nvSpPr>
          <p:spPr>
            <a:xfrm>
              <a:off x="5877012" y="4565203"/>
              <a:ext cx="1484830" cy="189676"/>
            </a:xfrm>
            <a:prstGeom prst="rect">
              <a:avLst/>
            </a:prstGeom>
            <a:noFill/>
          </p:spPr>
          <p:txBody>
            <a:bodyPr wrap="none" lIns="0" tIns="0" rIns="0" bIns="0"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Time to event (days)</a:t>
              </a:r>
            </a:p>
          </p:txBody>
        </p:sp>
        <p:grpSp>
          <p:nvGrpSpPr>
            <p:cNvPr id="10" name="Group 9"/>
            <p:cNvGrpSpPr/>
            <p:nvPr/>
          </p:nvGrpSpPr>
          <p:grpSpPr>
            <a:xfrm>
              <a:off x="1767342" y="1674434"/>
              <a:ext cx="42772" cy="2471419"/>
              <a:chOff x="1767342" y="1674434"/>
              <a:chExt cx="42772" cy="2471419"/>
            </a:xfrm>
          </p:grpSpPr>
          <p:cxnSp>
            <p:nvCxnSpPr>
              <p:cNvPr id="90" name="Straight Connector 89"/>
              <p:cNvCxnSpPr/>
              <p:nvPr/>
            </p:nvCxnSpPr>
            <p:spPr>
              <a:xfrm rot="5400000">
                <a:off x="1788728" y="2888756"/>
                <a:ext cx="0" cy="42772"/>
              </a:xfrm>
              <a:prstGeom prst="line">
                <a:avLst/>
              </a:prstGeom>
              <a:noFill/>
              <a:ln w="9525" cap="flat" cmpd="sng" algn="ctr">
                <a:solidFill>
                  <a:srgbClr val="544F40"/>
                </a:solidFill>
                <a:prstDash val="solid"/>
                <a:miter lim="800000"/>
              </a:ln>
              <a:effectLst/>
            </p:spPr>
          </p:cxnSp>
          <p:cxnSp>
            <p:nvCxnSpPr>
              <p:cNvPr id="91" name="Straight Connector 90"/>
              <p:cNvCxnSpPr/>
              <p:nvPr/>
            </p:nvCxnSpPr>
            <p:spPr>
              <a:xfrm rot="5400000">
                <a:off x="1788728" y="2270902"/>
                <a:ext cx="0" cy="42772"/>
              </a:xfrm>
              <a:prstGeom prst="line">
                <a:avLst/>
              </a:prstGeom>
              <a:noFill/>
              <a:ln w="9525" cap="flat" cmpd="sng" algn="ctr">
                <a:solidFill>
                  <a:srgbClr val="544F40"/>
                </a:solidFill>
                <a:prstDash val="solid"/>
                <a:miter lim="800000"/>
              </a:ln>
              <a:effectLst/>
            </p:spPr>
          </p:cxnSp>
          <p:cxnSp>
            <p:nvCxnSpPr>
              <p:cNvPr id="92" name="Straight Connector 91"/>
              <p:cNvCxnSpPr/>
              <p:nvPr/>
            </p:nvCxnSpPr>
            <p:spPr>
              <a:xfrm rot="5400000">
                <a:off x="1788728" y="1653048"/>
                <a:ext cx="0" cy="42772"/>
              </a:xfrm>
              <a:prstGeom prst="line">
                <a:avLst/>
              </a:prstGeom>
              <a:noFill/>
              <a:ln w="9525" cap="flat" cmpd="sng" algn="ctr">
                <a:solidFill>
                  <a:srgbClr val="544F40"/>
                </a:solidFill>
                <a:prstDash val="solid"/>
                <a:miter lim="800000"/>
              </a:ln>
              <a:effectLst/>
            </p:spPr>
          </p:cxnSp>
          <p:cxnSp>
            <p:nvCxnSpPr>
              <p:cNvPr id="93" name="Straight Connector 92"/>
              <p:cNvCxnSpPr/>
              <p:nvPr/>
            </p:nvCxnSpPr>
            <p:spPr>
              <a:xfrm rot="5400000">
                <a:off x="1788728" y="4124467"/>
                <a:ext cx="0" cy="42772"/>
              </a:xfrm>
              <a:prstGeom prst="line">
                <a:avLst/>
              </a:prstGeom>
              <a:noFill/>
              <a:ln w="9525" cap="flat" cmpd="sng" algn="ctr">
                <a:solidFill>
                  <a:srgbClr val="544F40"/>
                </a:solidFill>
                <a:prstDash val="solid"/>
                <a:miter lim="800000"/>
              </a:ln>
              <a:effectLst/>
            </p:spPr>
          </p:cxnSp>
          <p:cxnSp>
            <p:nvCxnSpPr>
              <p:cNvPr id="94" name="Straight Connector 93"/>
              <p:cNvCxnSpPr/>
              <p:nvPr/>
            </p:nvCxnSpPr>
            <p:spPr>
              <a:xfrm rot="5400000">
                <a:off x="1788728" y="3815537"/>
                <a:ext cx="0" cy="42772"/>
              </a:xfrm>
              <a:prstGeom prst="line">
                <a:avLst/>
              </a:prstGeom>
              <a:noFill/>
              <a:ln w="9525" cap="flat" cmpd="sng" algn="ctr">
                <a:solidFill>
                  <a:srgbClr val="544F40"/>
                </a:solidFill>
                <a:prstDash val="solid"/>
                <a:miter lim="800000"/>
              </a:ln>
              <a:effectLst/>
            </p:spPr>
          </p:cxnSp>
          <p:cxnSp>
            <p:nvCxnSpPr>
              <p:cNvPr id="95" name="Straight Connector 94"/>
              <p:cNvCxnSpPr/>
              <p:nvPr/>
            </p:nvCxnSpPr>
            <p:spPr>
              <a:xfrm rot="5400000">
                <a:off x="1788728" y="3506610"/>
                <a:ext cx="0" cy="42772"/>
              </a:xfrm>
              <a:prstGeom prst="line">
                <a:avLst/>
              </a:prstGeom>
              <a:noFill/>
              <a:ln w="9525" cap="flat" cmpd="sng" algn="ctr">
                <a:solidFill>
                  <a:srgbClr val="544F40"/>
                </a:solidFill>
                <a:prstDash val="solid"/>
                <a:miter lim="800000"/>
              </a:ln>
              <a:effectLst/>
            </p:spPr>
          </p:cxnSp>
          <p:cxnSp>
            <p:nvCxnSpPr>
              <p:cNvPr id="96" name="Straight Connector 95"/>
              <p:cNvCxnSpPr/>
              <p:nvPr/>
            </p:nvCxnSpPr>
            <p:spPr>
              <a:xfrm rot="5400000">
                <a:off x="1788728" y="3197683"/>
                <a:ext cx="0" cy="42772"/>
              </a:xfrm>
              <a:prstGeom prst="line">
                <a:avLst/>
              </a:prstGeom>
              <a:noFill/>
              <a:ln w="9525" cap="flat" cmpd="sng" algn="ctr">
                <a:solidFill>
                  <a:srgbClr val="544F40"/>
                </a:solidFill>
                <a:prstDash val="solid"/>
                <a:miter lim="800000"/>
              </a:ln>
              <a:effectLst/>
            </p:spPr>
          </p:cxnSp>
          <p:cxnSp>
            <p:nvCxnSpPr>
              <p:cNvPr id="109" name="Straight Connector 108"/>
              <p:cNvCxnSpPr/>
              <p:nvPr/>
            </p:nvCxnSpPr>
            <p:spPr>
              <a:xfrm rot="5400000">
                <a:off x="1788728" y="1961975"/>
                <a:ext cx="0" cy="42772"/>
              </a:xfrm>
              <a:prstGeom prst="line">
                <a:avLst/>
              </a:prstGeom>
              <a:noFill/>
              <a:ln w="9525" cap="flat" cmpd="sng" algn="ctr">
                <a:solidFill>
                  <a:srgbClr val="544F40"/>
                </a:solidFill>
                <a:prstDash val="solid"/>
                <a:miter lim="800000"/>
              </a:ln>
              <a:effectLst/>
            </p:spPr>
          </p:cxnSp>
          <p:cxnSp>
            <p:nvCxnSpPr>
              <p:cNvPr id="110" name="Straight Connector 109"/>
              <p:cNvCxnSpPr/>
              <p:nvPr/>
            </p:nvCxnSpPr>
            <p:spPr>
              <a:xfrm rot="5400000">
                <a:off x="1788728" y="2579829"/>
                <a:ext cx="0" cy="42772"/>
              </a:xfrm>
              <a:prstGeom prst="line">
                <a:avLst/>
              </a:prstGeom>
              <a:noFill/>
              <a:ln w="9525" cap="flat" cmpd="sng" algn="ctr">
                <a:solidFill>
                  <a:srgbClr val="544F40"/>
                </a:solidFill>
                <a:prstDash val="solid"/>
                <a:miter lim="800000"/>
              </a:ln>
              <a:effectLst/>
            </p:spPr>
          </p:cxnSp>
        </p:grpSp>
        <p:grpSp>
          <p:nvGrpSpPr>
            <p:cNvPr id="6" name="Group 5"/>
            <p:cNvGrpSpPr/>
            <p:nvPr/>
          </p:nvGrpSpPr>
          <p:grpSpPr>
            <a:xfrm>
              <a:off x="1471891" y="1571819"/>
              <a:ext cx="169920" cy="2668871"/>
              <a:chOff x="1471891" y="1571819"/>
              <a:chExt cx="169920" cy="2668871"/>
            </a:xfrm>
          </p:grpSpPr>
          <p:sp>
            <p:nvSpPr>
              <p:cNvPr id="98" name="TextBox 97"/>
              <p:cNvSpPr txBox="1"/>
              <p:nvPr/>
            </p:nvSpPr>
            <p:spPr>
              <a:xfrm>
                <a:off x="1556851" y="4051014"/>
                <a:ext cx="84960" cy="189676"/>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0</a:t>
                </a:r>
              </a:p>
            </p:txBody>
          </p:sp>
          <p:sp>
            <p:nvSpPr>
              <p:cNvPr id="100" name="TextBox 99"/>
              <p:cNvSpPr txBox="1"/>
              <p:nvPr/>
            </p:nvSpPr>
            <p:spPr>
              <a:xfrm>
                <a:off x="1556851" y="3741112"/>
                <a:ext cx="84960" cy="184666"/>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2</a:t>
                </a:r>
              </a:p>
            </p:txBody>
          </p:sp>
          <p:sp>
            <p:nvSpPr>
              <p:cNvPr id="101" name="TextBox 100"/>
              <p:cNvSpPr txBox="1"/>
              <p:nvPr/>
            </p:nvSpPr>
            <p:spPr>
              <a:xfrm>
                <a:off x="1556850" y="3431213"/>
                <a:ext cx="84960" cy="184666"/>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4</a:t>
                </a:r>
              </a:p>
            </p:txBody>
          </p:sp>
          <p:sp>
            <p:nvSpPr>
              <p:cNvPr id="102" name="TextBox 101"/>
              <p:cNvSpPr txBox="1"/>
              <p:nvPr/>
            </p:nvSpPr>
            <p:spPr>
              <a:xfrm>
                <a:off x="1556850" y="3121314"/>
                <a:ext cx="84960" cy="184666"/>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6</a:t>
                </a:r>
              </a:p>
            </p:txBody>
          </p:sp>
          <p:sp>
            <p:nvSpPr>
              <p:cNvPr id="103" name="TextBox 102"/>
              <p:cNvSpPr txBox="1"/>
              <p:nvPr/>
            </p:nvSpPr>
            <p:spPr>
              <a:xfrm>
                <a:off x="1556850" y="2811415"/>
                <a:ext cx="84960" cy="184666"/>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8</a:t>
                </a:r>
              </a:p>
            </p:txBody>
          </p:sp>
          <p:sp>
            <p:nvSpPr>
              <p:cNvPr id="104" name="TextBox 103"/>
              <p:cNvSpPr txBox="1"/>
              <p:nvPr/>
            </p:nvSpPr>
            <p:spPr>
              <a:xfrm>
                <a:off x="1471891" y="1571819"/>
                <a:ext cx="169919" cy="184666"/>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16</a:t>
                </a:r>
              </a:p>
            </p:txBody>
          </p:sp>
          <p:sp>
            <p:nvSpPr>
              <p:cNvPr id="105" name="TextBox 104"/>
              <p:cNvSpPr txBox="1"/>
              <p:nvPr/>
            </p:nvSpPr>
            <p:spPr>
              <a:xfrm>
                <a:off x="1471891" y="2191617"/>
                <a:ext cx="169919" cy="184666"/>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12</a:t>
                </a:r>
              </a:p>
            </p:txBody>
          </p:sp>
          <p:sp>
            <p:nvSpPr>
              <p:cNvPr id="111" name="TextBox 110"/>
              <p:cNvSpPr txBox="1"/>
              <p:nvPr/>
            </p:nvSpPr>
            <p:spPr>
              <a:xfrm>
                <a:off x="1471891" y="1881718"/>
                <a:ext cx="169919" cy="184666"/>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14</a:t>
                </a:r>
              </a:p>
            </p:txBody>
          </p:sp>
          <p:sp>
            <p:nvSpPr>
              <p:cNvPr id="112" name="TextBox 111"/>
              <p:cNvSpPr txBox="1"/>
              <p:nvPr/>
            </p:nvSpPr>
            <p:spPr>
              <a:xfrm>
                <a:off x="1471891" y="2501516"/>
                <a:ext cx="169919" cy="184666"/>
              </a:xfrm>
              <a:prstGeom prst="rect">
                <a:avLst/>
              </a:prstGeom>
              <a:noFill/>
            </p:spPr>
            <p:txBody>
              <a:bodyPr wrap="none" lIns="0" tIns="0" rIns="0" bIns="0" rtlCol="0" anchor="ct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10</a:t>
                </a:r>
              </a:p>
            </p:txBody>
          </p:sp>
        </p:grpSp>
        <p:grpSp>
          <p:nvGrpSpPr>
            <p:cNvPr id="114" name="Group 113"/>
            <p:cNvGrpSpPr/>
            <p:nvPr/>
          </p:nvGrpSpPr>
          <p:grpSpPr>
            <a:xfrm>
              <a:off x="1818198" y="1847850"/>
              <a:ext cx="9592056" cy="2290141"/>
              <a:chOff x="1361824" y="1807854"/>
              <a:chExt cx="6375335" cy="2571750"/>
            </a:xfrm>
          </p:grpSpPr>
          <p:sp>
            <p:nvSpPr>
              <p:cNvPr id="115" name="Freeform 5"/>
              <p:cNvSpPr>
                <a:spLocks/>
              </p:cNvSpPr>
              <p:nvPr/>
            </p:nvSpPr>
            <p:spPr bwMode="auto">
              <a:xfrm>
                <a:off x="1361824" y="2351153"/>
                <a:ext cx="6375335" cy="2028451"/>
              </a:xfrm>
              <a:custGeom>
                <a:avLst/>
                <a:gdLst>
                  <a:gd name="T0" fmla="*/ 59 w 5760"/>
                  <a:gd name="T1" fmla="*/ 1966 h 1990"/>
                  <a:gd name="T2" fmla="*/ 144 w 5760"/>
                  <a:gd name="T3" fmla="*/ 1942 h 1990"/>
                  <a:gd name="T4" fmla="*/ 180 w 5760"/>
                  <a:gd name="T5" fmla="*/ 1896 h 1990"/>
                  <a:gd name="T6" fmla="*/ 250 w 5760"/>
                  <a:gd name="T7" fmla="*/ 1871 h 1990"/>
                  <a:gd name="T8" fmla="*/ 297 w 5760"/>
                  <a:gd name="T9" fmla="*/ 1836 h 1990"/>
                  <a:gd name="T10" fmla="*/ 381 w 5760"/>
                  <a:gd name="T11" fmla="*/ 1813 h 1990"/>
                  <a:gd name="T12" fmla="*/ 405 w 5760"/>
                  <a:gd name="T13" fmla="*/ 1776 h 1990"/>
                  <a:gd name="T14" fmla="*/ 451 w 5760"/>
                  <a:gd name="T15" fmla="*/ 1741 h 1990"/>
                  <a:gd name="T16" fmla="*/ 487 w 5760"/>
                  <a:gd name="T17" fmla="*/ 1693 h 1990"/>
                  <a:gd name="T18" fmla="*/ 582 w 5760"/>
                  <a:gd name="T19" fmla="*/ 1669 h 1990"/>
                  <a:gd name="T20" fmla="*/ 643 w 5760"/>
                  <a:gd name="T21" fmla="*/ 1609 h 1990"/>
                  <a:gd name="T22" fmla="*/ 712 w 5760"/>
                  <a:gd name="T23" fmla="*/ 1586 h 1990"/>
                  <a:gd name="T24" fmla="*/ 760 w 5760"/>
                  <a:gd name="T25" fmla="*/ 1552 h 1990"/>
                  <a:gd name="T26" fmla="*/ 878 w 5760"/>
                  <a:gd name="T27" fmla="*/ 1516 h 1990"/>
                  <a:gd name="T28" fmla="*/ 1009 w 5760"/>
                  <a:gd name="T29" fmla="*/ 1480 h 1990"/>
                  <a:gd name="T30" fmla="*/ 1163 w 5760"/>
                  <a:gd name="T31" fmla="*/ 1458 h 1990"/>
                  <a:gd name="T32" fmla="*/ 1246 w 5760"/>
                  <a:gd name="T33" fmla="*/ 1421 h 1990"/>
                  <a:gd name="T34" fmla="*/ 1331 w 5760"/>
                  <a:gd name="T35" fmla="*/ 1398 h 1990"/>
                  <a:gd name="T36" fmla="*/ 1377 w 5760"/>
                  <a:gd name="T37" fmla="*/ 1361 h 1990"/>
                  <a:gd name="T38" fmla="*/ 1472 w 5760"/>
                  <a:gd name="T39" fmla="*/ 1338 h 1990"/>
                  <a:gd name="T40" fmla="*/ 1530 w 5760"/>
                  <a:gd name="T41" fmla="*/ 1303 h 1990"/>
                  <a:gd name="T42" fmla="*/ 1651 w 5760"/>
                  <a:gd name="T43" fmla="*/ 1267 h 1990"/>
                  <a:gd name="T44" fmla="*/ 1721 w 5760"/>
                  <a:gd name="T45" fmla="*/ 1231 h 1990"/>
                  <a:gd name="T46" fmla="*/ 1815 w 5760"/>
                  <a:gd name="T47" fmla="*/ 1209 h 1990"/>
                  <a:gd name="T48" fmla="*/ 1875 w 5760"/>
                  <a:gd name="T49" fmla="*/ 1172 h 1990"/>
                  <a:gd name="T50" fmla="*/ 2006 w 5760"/>
                  <a:gd name="T51" fmla="*/ 1149 h 1990"/>
                  <a:gd name="T52" fmla="*/ 2066 w 5760"/>
                  <a:gd name="T53" fmla="*/ 1112 h 1990"/>
                  <a:gd name="T54" fmla="*/ 2148 w 5760"/>
                  <a:gd name="T55" fmla="*/ 1089 h 1990"/>
                  <a:gd name="T56" fmla="*/ 2208 w 5760"/>
                  <a:gd name="T57" fmla="*/ 1043 h 1990"/>
                  <a:gd name="T58" fmla="*/ 2361 w 5760"/>
                  <a:gd name="T59" fmla="*/ 1019 h 1990"/>
                  <a:gd name="T60" fmla="*/ 2445 w 5760"/>
                  <a:gd name="T61" fmla="*/ 981 h 1990"/>
                  <a:gd name="T62" fmla="*/ 2538 w 5760"/>
                  <a:gd name="T63" fmla="*/ 958 h 1990"/>
                  <a:gd name="T64" fmla="*/ 2575 w 5760"/>
                  <a:gd name="T65" fmla="*/ 923 h 1990"/>
                  <a:gd name="T66" fmla="*/ 2682 w 5760"/>
                  <a:gd name="T67" fmla="*/ 899 h 1990"/>
                  <a:gd name="T68" fmla="*/ 2777 w 5760"/>
                  <a:gd name="T69" fmla="*/ 864 h 1990"/>
                  <a:gd name="T70" fmla="*/ 2836 w 5760"/>
                  <a:gd name="T71" fmla="*/ 829 h 1990"/>
                  <a:gd name="T72" fmla="*/ 2943 w 5760"/>
                  <a:gd name="T73" fmla="*/ 793 h 1990"/>
                  <a:gd name="T74" fmla="*/ 3087 w 5760"/>
                  <a:gd name="T75" fmla="*/ 757 h 1990"/>
                  <a:gd name="T76" fmla="*/ 3166 w 5760"/>
                  <a:gd name="T77" fmla="*/ 722 h 1990"/>
                  <a:gd name="T78" fmla="*/ 3371 w 5760"/>
                  <a:gd name="T79" fmla="*/ 697 h 1990"/>
                  <a:gd name="T80" fmla="*/ 3405 w 5760"/>
                  <a:gd name="T81" fmla="*/ 665 h 1990"/>
                  <a:gd name="T82" fmla="*/ 3502 w 5760"/>
                  <a:gd name="T83" fmla="*/ 640 h 1990"/>
                  <a:gd name="T84" fmla="*/ 3609 w 5760"/>
                  <a:gd name="T85" fmla="*/ 604 h 1990"/>
                  <a:gd name="T86" fmla="*/ 3749 w 5760"/>
                  <a:gd name="T87" fmla="*/ 569 h 1990"/>
                  <a:gd name="T88" fmla="*/ 3940 w 5760"/>
                  <a:gd name="T89" fmla="*/ 520 h 1990"/>
                  <a:gd name="T90" fmla="*/ 4082 w 5760"/>
                  <a:gd name="T91" fmla="*/ 497 h 1990"/>
                  <a:gd name="T92" fmla="*/ 4118 w 5760"/>
                  <a:gd name="T93" fmla="*/ 462 h 1990"/>
                  <a:gd name="T94" fmla="*/ 4189 w 5760"/>
                  <a:gd name="T95" fmla="*/ 438 h 1990"/>
                  <a:gd name="T96" fmla="*/ 4261 w 5760"/>
                  <a:gd name="T97" fmla="*/ 402 h 1990"/>
                  <a:gd name="T98" fmla="*/ 4332 w 5760"/>
                  <a:gd name="T99" fmla="*/ 366 h 1990"/>
                  <a:gd name="T100" fmla="*/ 4403 w 5760"/>
                  <a:gd name="T101" fmla="*/ 331 h 1990"/>
                  <a:gd name="T102" fmla="*/ 4557 w 5760"/>
                  <a:gd name="T103" fmla="*/ 307 h 1990"/>
                  <a:gd name="T104" fmla="*/ 4688 w 5760"/>
                  <a:gd name="T105" fmla="*/ 272 h 1990"/>
                  <a:gd name="T106" fmla="*/ 4782 w 5760"/>
                  <a:gd name="T107" fmla="*/ 248 h 1990"/>
                  <a:gd name="T108" fmla="*/ 4900 w 5760"/>
                  <a:gd name="T109" fmla="*/ 201 h 1990"/>
                  <a:gd name="T110" fmla="*/ 5043 w 5760"/>
                  <a:gd name="T111" fmla="*/ 178 h 1990"/>
                  <a:gd name="T112" fmla="*/ 5232 w 5760"/>
                  <a:gd name="T113" fmla="*/ 142 h 1990"/>
                  <a:gd name="T114" fmla="*/ 5339 w 5760"/>
                  <a:gd name="T115" fmla="*/ 120 h 1990"/>
                  <a:gd name="T116" fmla="*/ 5458 w 5760"/>
                  <a:gd name="T117" fmla="*/ 84 h 1990"/>
                  <a:gd name="T118" fmla="*/ 5576 w 5760"/>
                  <a:gd name="T119" fmla="*/ 60 h 1990"/>
                  <a:gd name="T120" fmla="*/ 5660 w 5760"/>
                  <a:gd name="T121" fmla="*/ 23 h 1990"/>
                  <a:gd name="T122" fmla="*/ 5760 w 5760"/>
                  <a:gd name="T123" fmla="*/ 0 h 19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760" h="1990">
                    <a:moveTo>
                      <a:pt x="0" y="1990"/>
                    </a:moveTo>
                    <a:lnTo>
                      <a:pt x="48" y="1990"/>
                    </a:lnTo>
                    <a:lnTo>
                      <a:pt x="48" y="1979"/>
                    </a:lnTo>
                    <a:lnTo>
                      <a:pt x="59" y="1979"/>
                    </a:lnTo>
                    <a:lnTo>
                      <a:pt x="59" y="1966"/>
                    </a:lnTo>
                    <a:lnTo>
                      <a:pt x="95" y="1966"/>
                    </a:lnTo>
                    <a:lnTo>
                      <a:pt x="95" y="1954"/>
                    </a:lnTo>
                    <a:lnTo>
                      <a:pt x="107" y="1954"/>
                    </a:lnTo>
                    <a:lnTo>
                      <a:pt x="107" y="1942"/>
                    </a:lnTo>
                    <a:lnTo>
                      <a:pt x="144" y="1942"/>
                    </a:lnTo>
                    <a:lnTo>
                      <a:pt x="144" y="1930"/>
                    </a:lnTo>
                    <a:lnTo>
                      <a:pt x="155" y="1930"/>
                    </a:lnTo>
                    <a:lnTo>
                      <a:pt x="155" y="1918"/>
                    </a:lnTo>
                    <a:lnTo>
                      <a:pt x="180" y="1918"/>
                    </a:lnTo>
                    <a:lnTo>
                      <a:pt x="180" y="1896"/>
                    </a:lnTo>
                    <a:lnTo>
                      <a:pt x="204" y="1896"/>
                    </a:lnTo>
                    <a:lnTo>
                      <a:pt x="204" y="1883"/>
                    </a:lnTo>
                    <a:lnTo>
                      <a:pt x="226" y="1883"/>
                    </a:lnTo>
                    <a:lnTo>
                      <a:pt x="226" y="1871"/>
                    </a:lnTo>
                    <a:lnTo>
                      <a:pt x="250" y="1871"/>
                    </a:lnTo>
                    <a:lnTo>
                      <a:pt x="250" y="1859"/>
                    </a:lnTo>
                    <a:lnTo>
                      <a:pt x="275" y="1859"/>
                    </a:lnTo>
                    <a:lnTo>
                      <a:pt x="275" y="1848"/>
                    </a:lnTo>
                    <a:lnTo>
                      <a:pt x="297" y="1848"/>
                    </a:lnTo>
                    <a:lnTo>
                      <a:pt x="297" y="1836"/>
                    </a:lnTo>
                    <a:lnTo>
                      <a:pt x="333" y="1836"/>
                    </a:lnTo>
                    <a:lnTo>
                      <a:pt x="333" y="1825"/>
                    </a:lnTo>
                    <a:lnTo>
                      <a:pt x="357" y="1825"/>
                    </a:lnTo>
                    <a:lnTo>
                      <a:pt x="357" y="1813"/>
                    </a:lnTo>
                    <a:lnTo>
                      <a:pt x="381" y="1813"/>
                    </a:lnTo>
                    <a:lnTo>
                      <a:pt x="381" y="1802"/>
                    </a:lnTo>
                    <a:lnTo>
                      <a:pt x="392" y="1802"/>
                    </a:lnTo>
                    <a:lnTo>
                      <a:pt x="392" y="1788"/>
                    </a:lnTo>
                    <a:lnTo>
                      <a:pt x="405" y="1788"/>
                    </a:lnTo>
                    <a:lnTo>
                      <a:pt x="405" y="1776"/>
                    </a:lnTo>
                    <a:lnTo>
                      <a:pt x="427" y="1776"/>
                    </a:lnTo>
                    <a:lnTo>
                      <a:pt x="427" y="1763"/>
                    </a:lnTo>
                    <a:lnTo>
                      <a:pt x="439" y="1763"/>
                    </a:lnTo>
                    <a:lnTo>
                      <a:pt x="439" y="1741"/>
                    </a:lnTo>
                    <a:lnTo>
                      <a:pt x="451" y="1741"/>
                    </a:lnTo>
                    <a:lnTo>
                      <a:pt x="451" y="1729"/>
                    </a:lnTo>
                    <a:lnTo>
                      <a:pt x="475" y="1729"/>
                    </a:lnTo>
                    <a:lnTo>
                      <a:pt x="475" y="1717"/>
                    </a:lnTo>
                    <a:lnTo>
                      <a:pt x="487" y="1717"/>
                    </a:lnTo>
                    <a:lnTo>
                      <a:pt x="487" y="1693"/>
                    </a:lnTo>
                    <a:lnTo>
                      <a:pt x="500" y="1693"/>
                    </a:lnTo>
                    <a:lnTo>
                      <a:pt x="500" y="1681"/>
                    </a:lnTo>
                    <a:lnTo>
                      <a:pt x="548" y="1681"/>
                    </a:lnTo>
                    <a:lnTo>
                      <a:pt x="548" y="1669"/>
                    </a:lnTo>
                    <a:lnTo>
                      <a:pt x="582" y="1669"/>
                    </a:lnTo>
                    <a:lnTo>
                      <a:pt x="582" y="1658"/>
                    </a:lnTo>
                    <a:lnTo>
                      <a:pt x="596" y="1658"/>
                    </a:lnTo>
                    <a:lnTo>
                      <a:pt x="596" y="1636"/>
                    </a:lnTo>
                    <a:lnTo>
                      <a:pt x="643" y="1636"/>
                    </a:lnTo>
                    <a:lnTo>
                      <a:pt x="643" y="1609"/>
                    </a:lnTo>
                    <a:lnTo>
                      <a:pt x="666" y="1609"/>
                    </a:lnTo>
                    <a:lnTo>
                      <a:pt x="666" y="1598"/>
                    </a:lnTo>
                    <a:lnTo>
                      <a:pt x="689" y="1598"/>
                    </a:lnTo>
                    <a:lnTo>
                      <a:pt x="689" y="1586"/>
                    </a:lnTo>
                    <a:lnTo>
                      <a:pt x="712" y="1586"/>
                    </a:lnTo>
                    <a:lnTo>
                      <a:pt x="712" y="1574"/>
                    </a:lnTo>
                    <a:lnTo>
                      <a:pt x="724" y="1574"/>
                    </a:lnTo>
                    <a:lnTo>
                      <a:pt x="724" y="1563"/>
                    </a:lnTo>
                    <a:lnTo>
                      <a:pt x="760" y="1563"/>
                    </a:lnTo>
                    <a:lnTo>
                      <a:pt x="760" y="1552"/>
                    </a:lnTo>
                    <a:lnTo>
                      <a:pt x="807" y="1552"/>
                    </a:lnTo>
                    <a:lnTo>
                      <a:pt x="807" y="1540"/>
                    </a:lnTo>
                    <a:lnTo>
                      <a:pt x="819" y="1540"/>
                    </a:lnTo>
                    <a:lnTo>
                      <a:pt x="819" y="1516"/>
                    </a:lnTo>
                    <a:lnTo>
                      <a:pt x="878" y="1516"/>
                    </a:lnTo>
                    <a:lnTo>
                      <a:pt x="878" y="1503"/>
                    </a:lnTo>
                    <a:lnTo>
                      <a:pt x="926" y="1503"/>
                    </a:lnTo>
                    <a:lnTo>
                      <a:pt x="926" y="1491"/>
                    </a:lnTo>
                    <a:lnTo>
                      <a:pt x="1009" y="1491"/>
                    </a:lnTo>
                    <a:lnTo>
                      <a:pt x="1009" y="1480"/>
                    </a:lnTo>
                    <a:lnTo>
                      <a:pt x="1069" y="1480"/>
                    </a:lnTo>
                    <a:lnTo>
                      <a:pt x="1069" y="1469"/>
                    </a:lnTo>
                    <a:lnTo>
                      <a:pt x="1139" y="1469"/>
                    </a:lnTo>
                    <a:lnTo>
                      <a:pt x="1139" y="1458"/>
                    </a:lnTo>
                    <a:lnTo>
                      <a:pt x="1163" y="1458"/>
                    </a:lnTo>
                    <a:lnTo>
                      <a:pt x="1163" y="1445"/>
                    </a:lnTo>
                    <a:lnTo>
                      <a:pt x="1210" y="1445"/>
                    </a:lnTo>
                    <a:lnTo>
                      <a:pt x="1210" y="1433"/>
                    </a:lnTo>
                    <a:lnTo>
                      <a:pt x="1246" y="1433"/>
                    </a:lnTo>
                    <a:lnTo>
                      <a:pt x="1246" y="1421"/>
                    </a:lnTo>
                    <a:lnTo>
                      <a:pt x="1260" y="1421"/>
                    </a:lnTo>
                    <a:lnTo>
                      <a:pt x="1260" y="1410"/>
                    </a:lnTo>
                    <a:lnTo>
                      <a:pt x="1294" y="1410"/>
                    </a:lnTo>
                    <a:lnTo>
                      <a:pt x="1294" y="1398"/>
                    </a:lnTo>
                    <a:lnTo>
                      <a:pt x="1331" y="1398"/>
                    </a:lnTo>
                    <a:lnTo>
                      <a:pt x="1331" y="1385"/>
                    </a:lnTo>
                    <a:lnTo>
                      <a:pt x="1352" y="1385"/>
                    </a:lnTo>
                    <a:lnTo>
                      <a:pt x="1352" y="1375"/>
                    </a:lnTo>
                    <a:lnTo>
                      <a:pt x="1377" y="1375"/>
                    </a:lnTo>
                    <a:lnTo>
                      <a:pt x="1377" y="1361"/>
                    </a:lnTo>
                    <a:lnTo>
                      <a:pt x="1426" y="1361"/>
                    </a:lnTo>
                    <a:lnTo>
                      <a:pt x="1426" y="1349"/>
                    </a:lnTo>
                    <a:lnTo>
                      <a:pt x="1448" y="1349"/>
                    </a:lnTo>
                    <a:lnTo>
                      <a:pt x="1448" y="1338"/>
                    </a:lnTo>
                    <a:lnTo>
                      <a:pt x="1472" y="1338"/>
                    </a:lnTo>
                    <a:lnTo>
                      <a:pt x="1472" y="1327"/>
                    </a:lnTo>
                    <a:lnTo>
                      <a:pt x="1485" y="1327"/>
                    </a:lnTo>
                    <a:lnTo>
                      <a:pt x="1485" y="1314"/>
                    </a:lnTo>
                    <a:lnTo>
                      <a:pt x="1530" y="1314"/>
                    </a:lnTo>
                    <a:lnTo>
                      <a:pt x="1530" y="1303"/>
                    </a:lnTo>
                    <a:lnTo>
                      <a:pt x="1544" y="1303"/>
                    </a:lnTo>
                    <a:lnTo>
                      <a:pt x="1544" y="1291"/>
                    </a:lnTo>
                    <a:lnTo>
                      <a:pt x="1590" y="1291"/>
                    </a:lnTo>
                    <a:lnTo>
                      <a:pt x="1590" y="1267"/>
                    </a:lnTo>
                    <a:lnTo>
                      <a:pt x="1651" y="1267"/>
                    </a:lnTo>
                    <a:lnTo>
                      <a:pt x="1651" y="1255"/>
                    </a:lnTo>
                    <a:lnTo>
                      <a:pt x="1697" y="1255"/>
                    </a:lnTo>
                    <a:lnTo>
                      <a:pt x="1697" y="1243"/>
                    </a:lnTo>
                    <a:lnTo>
                      <a:pt x="1721" y="1243"/>
                    </a:lnTo>
                    <a:lnTo>
                      <a:pt x="1721" y="1231"/>
                    </a:lnTo>
                    <a:lnTo>
                      <a:pt x="1768" y="1231"/>
                    </a:lnTo>
                    <a:lnTo>
                      <a:pt x="1768" y="1219"/>
                    </a:lnTo>
                    <a:lnTo>
                      <a:pt x="1793" y="1219"/>
                    </a:lnTo>
                    <a:lnTo>
                      <a:pt x="1793" y="1209"/>
                    </a:lnTo>
                    <a:lnTo>
                      <a:pt x="1815" y="1209"/>
                    </a:lnTo>
                    <a:lnTo>
                      <a:pt x="1815" y="1196"/>
                    </a:lnTo>
                    <a:lnTo>
                      <a:pt x="1862" y="1196"/>
                    </a:lnTo>
                    <a:lnTo>
                      <a:pt x="1862" y="1184"/>
                    </a:lnTo>
                    <a:lnTo>
                      <a:pt x="1875" y="1184"/>
                    </a:lnTo>
                    <a:lnTo>
                      <a:pt x="1875" y="1172"/>
                    </a:lnTo>
                    <a:lnTo>
                      <a:pt x="1911" y="1172"/>
                    </a:lnTo>
                    <a:lnTo>
                      <a:pt x="1911" y="1160"/>
                    </a:lnTo>
                    <a:lnTo>
                      <a:pt x="1969" y="1160"/>
                    </a:lnTo>
                    <a:lnTo>
                      <a:pt x="1969" y="1149"/>
                    </a:lnTo>
                    <a:lnTo>
                      <a:pt x="2006" y="1149"/>
                    </a:lnTo>
                    <a:lnTo>
                      <a:pt x="2006" y="1136"/>
                    </a:lnTo>
                    <a:lnTo>
                      <a:pt x="2019" y="1136"/>
                    </a:lnTo>
                    <a:lnTo>
                      <a:pt x="2019" y="1125"/>
                    </a:lnTo>
                    <a:lnTo>
                      <a:pt x="2066" y="1125"/>
                    </a:lnTo>
                    <a:lnTo>
                      <a:pt x="2066" y="1112"/>
                    </a:lnTo>
                    <a:lnTo>
                      <a:pt x="2077" y="1112"/>
                    </a:lnTo>
                    <a:lnTo>
                      <a:pt x="2077" y="1102"/>
                    </a:lnTo>
                    <a:lnTo>
                      <a:pt x="2112" y="1102"/>
                    </a:lnTo>
                    <a:lnTo>
                      <a:pt x="2112" y="1089"/>
                    </a:lnTo>
                    <a:lnTo>
                      <a:pt x="2148" y="1089"/>
                    </a:lnTo>
                    <a:lnTo>
                      <a:pt x="2148" y="1077"/>
                    </a:lnTo>
                    <a:lnTo>
                      <a:pt x="2195" y="1077"/>
                    </a:lnTo>
                    <a:lnTo>
                      <a:pt x="2195" y="1054"/>
                    </a:lnTo>
                    <a:lnTo>
                      <a:pt x="2208" y="1054"/>
                    </a:lnTo>
                    <a:lnTo>
                      <a:pt x="2208" y="1043"/>
                    </a:lnTo>
                    <a:lnTo>
                      <a:pt x="2243" y="1043"/>
                    </a:lnTo>
                    <a:lnTo>
                      <a:pt x="2243" y="1030"/>
                    </a:lnTo>
                    <a:lnTo>
                      <a:pt x="2302" y="1030"/>
                    </a:lnTo>
                    <a:lnTo>
                      <a:pt x="2302" y="1019"/>
                    </a:lnTo>
                    <a:lnTo>
                      <a:pt x="2361" y="1019"/>
                    </a:lnTo>
                    <a:lnTo>
                      <a:pt x="2361" y="1006"/>
                    </a:lnTo>
                    <a:lnTo>
                      <a:pt x="2410" y="1006"/>
                    </a:lnTo>
                    <a:lnTo>
                      <a:pt x="2410" y="995"/>
                    </a:lnTo>
                    <a:lnTo>
                      <a:pt x="2445" y="995"/>
                    </a:lnTo>
                    <a:lnTo>
                      <a:pt x="2445" y="981"/>
                    </a:lnTo>
                    <a:lnTo>
                      <a:pt x="2504" y="981"/>
                    </a:lnTo>
                    <a:lnTo>
                      <a:pt x="2504" y="971"/>
                    </a:lnTo>
                    <a:lnTo>
                      <a:pt x="2527" y="971"/>
                    </a:lnTo>
                    <a:lnTo>
                      <a:pt x="2527" y="958"/>
                    </a:lnTo>
                    <a:lnTo>
                      <a:pt x="2538" y="958"/>
                    </a:lnTo>
                    <a:lnTo>
                      <a:pt x="2538" y="946"/>
                    </a:lnTo>
                    <a:lnTo>
                      <a:pt x="2550" y="946"/>
                    </a:lnTo>
                    <a:lnTo>
                      <a:pt x="2550" y="937"/>
                    </a:lnTo>
                    <a:lnTo>
                      <a:pt x="2575" y="937"/>
                    </a:lnTo>
                    <a:lnTo>
                      <a:pt x="2575" y="923"/>
                    </a:lnTo>
                    <a:lnTo>
                      <a:pt x="2586" y="923"/>
                    </a:lnTo>
                    <a:lnTo>
                      <a:pt x="2586" y="911"/>
                    </a:lnTo>
                    <a:lnTo>
                      <a:pt x="2634" y="911"/>
                    </a:lnTo>
                    <a:lnTo>
                      <a:pt x="2634" y="899"/>
                    </a:lnTo>
                    <a:lnTo>
                      <a:pt x="2682" y="899"/>
                    </a:lnTo>
                    <a:lnTo>
                      <a:pt x="2682" y="887"/>
                    </a:lnTo>
                    <a:lnTo>
                      <a:pt x="2765" y="887"/>
                    </a:lnTo>
                    <a:lnTo>
                      <a:pt x="2765" y="875"/>
                    </a:lnTo>
                    <a:lnTo>
                      <a:pt x="2777" y="875"/>
                    </a:lnTo>
                    <a:lnTo>
                      <a:pt x="2777" y="864"/>
                    </a:lnTo>
                    <a:lnTo>
                      <a:pt x="2790" y="864"/>
                    </a:lnTo>
                    <a:lnTo>
                      <a:pt x="2790" y="852"/>
                    </a:lnTo>
                    <a:lnTo>
                      <a:pt x="2813" y="852"/>
                    </a:lnTo>
                    <a:lnTo>
                      <a:pt x="2813" y="829"/>
                    </a:lnTo>
                    <a:lnTo>
                      <a:pt x="2836" y="829"/>
                    </a:lnTo>
                    <a:lnTo>
                      <a:pt x="2836" y="817"/>
                    </a:lnTo>
                    <a:lnTo>
                      <a:pt x="2884" y="817"/>
                    </a:lnTo>
                    <a:lnTo>
                      <a:pt x="2884" y="805"/>
                    </a:lnTo>
                    <a:lnTo>
                      <a:pt x="2943" y="805"/>
                    </a:lnTo>
                    <a:lnTo>
                      <a:pt x="2943" y="793"/>
                    </a:lnTo>
                    <a:lnTo>
                      <a:pt x="2966" y="793"/>
                    </a:lnTo>
                    <a:lnTo>
                      <a:pt x="2966" y="770"/>
                    </a:lnTo>
                    <a:lnTo>
                      <a:pt x="3014" y="770"/>
                    </a:lnTo>
                    <a:lnTo>
                      <a:pt x="3014" y="757"/>
                    </a:lnTo>
                    <a:lnTo>
                      <a:pt x="3087" y="757"/>
                    </a:lnTo>
                    <a:lnTo>
                      <a:pt x="3087" y="745"/>
                    </a:lnTo>
                    <a:lnTo>
                      <a:pt x="3122" y="745"/>
                    </a:lnTo>
                    <a:lnTo>
                      <a:pt x="3122" y="734"/>
                    </a:lnTo>
                    <a:lnTo>
                      <a:pt x="3166" y="734"/>
                    </a:lnTo>
                    <a:lnTo>
                      <a:pt x="3166" y="722"/>
                    </a:lnTo>
                    <a:lnTo>
                      <a:pt x="3218" y="722"/>
                    </a:lnTo>
                    <a:lnTo>
                      <a:pt x="3218" y="710"/>
                    </a:lnTo>
                    <a:lnTo>
                      <a:pt x="3263" y="710"/>
                    </a:lnTo>
                    <a:lnTo>
                      <a:pt x="3263" y="697"/>
                    </a:lnTo>
                    <a:lnTo>
                      <a:pt x="3371" y="697"/>
                    </a:lnTo>
                    <a:lnTo>
                      <a:pt x="3371" y="686"/>
                    </a:lnTo>
                    <a:lnTo>
                      <a:pt x="3394" y="686"/>
                    </a:lnTo>
                    <a:lnTo>
                      <a:pt x="3394" y="674"/>
                    </a:lnTo>
                    <a:lnTo>
                      <a:pt x="3405" y="674"/>
                    </a:lnTo>
                    <a:lnTo>
                      <a:pt x="3405" y="665"/>
                    </a:lnTo>
                    <a:lnTo>
                      <a:pt x="3441" y="665"/>
                    </a:lnTo>
                    <a:lnTo>
                      <a:pt x="3441" y="650"/>
                    </a:lnTo>
                    <a:lnTo>
                      <a:pt x="3464" y="650"/>
                    </a:lnTo>
                    <a:lnTo>
                      <a:pt x="3464" y="640"/>
                    </a:lnTo>
                    <a:lnTo>
                      <a:pt x="3502" y="640"/>
                    </a:lnTo>
                    <a:lnTo>
                      <a:pt x="3502" y="628"/>
                    </a:lnTo>
                    <a:lnTo>
                      <a:pt x="3560" y="628"/>
                    </a:lnTo>
                    <a:lnTo>
                      <a:pt x="3560" y="616"/>
                    </a:lnTo>
                    <a:lnTo>
                      <a:pt x="3609" y="616"/>
                    </a:lnTo>
                    <a:lnTo>
                      <a:pt x="3609" y="604"/>
                    </a:lnTo>
                    <a:lnTo>
                      <a:pt x="3655" y="604"/>
                    </a:lnTo>
                    <a:lnTo>
                      <a:pt x="3655" y="593"/>
                    </a:lnTo>
                    <a:lnTo>
                      <a:pt x="3691" y="593"/>
                    </a:lnTo>
                    <a:lnTo>
                      <a:pt x="3691" y="569"/>
                    </a:lnTo>
                    <a:lnTo>
                      <a:pt x="3749" y="569"/>
                    </a:lnTo>
                    <a:lnTo>
                      <a:pt x="3749" y="545"/>
                    </a:lnTo>
                    <a:lnTo>
                      <a:pt x="3915" y="545"/>
                    </a:lnTo>
                    <a:lnTo>
                      <a:pt x="3915" y="533"/>
                    </a:lnTo>
                    <a:lnTo>
                      <a:pt x="3940" y="533"/>
                    </a:lnTo>
                    <a:lnTo>
                      <a:pt x="3940" y="520"/>
                    </a:lnTo>
                    <a:lnTo>
                      <a:pt x="3988" y="520"/>
                    </a:lnTo>
                    <a:lnTo>
                      <a:pt x="3988" y="510"/>
                    </a:lnTo>
                    <a:lnTo>
                      <a:pt x="4034" y="510"/>
                    </a:lnTo>
                    <a:lnTo>
                      <a:pt x="4034" y="497"/>
                    </a:lnTo>
                    <a:lnTo>
                      <a:pt x="4082" y="497"/>
                    </a:lnTo>
                    <a:lnTo>
                      <a:pt x="4082" y="484"/>
                    </a:lnTo>
                    <a:lnTo>
                      <a:pt x="4094" y="484"/>
                    </a:lnTo>
                    <a:lnTo>
                      <a:pt x="4094" y="473"/>
                    </a:lnTo>
                    <a:lnTo>
                      <a:pt x="4118" y="473"/>
                    </a:lnTo>
                    <a:lnTo>
                      <a:pt x="4118" y="462"/>
                    </a:lnTo>
                    <a:lnTo>
                      <a:pt x="4129" y="462"/>
                    </a:lnTo>
                    <a:lnTo>
                      <a:pt x="4129" y="450"/>
                    </a:lnTo>
                    <a:lnTo>
                      <a:pt x="4141" y="450"/>
                    </a:lnTo>
                    <a:lnTo>
                      <a:pt x="4141" y="438"/>
                    </a:lnTo>
                    <a:lnTo>
                      <a:pt x="4189" y="438"/>
                    </a:lnTo>
                    <a:lnTo>
                      <a:pt x="4189" y="426"/>
                    </a:lnTo>
                    <a:lnTo>
                      <a:pt x="4214" y="426"/>
                    </a:lnTo>
                    <a:lnTo>
                      <a:pt x="4214" y="415"/>
                    </a:lnTo>
                    <a:lnTo>
                      <a:pt x="4261" y="415"/>
                    </a:lnTo>
                    <a:lnTo>
                      <a:pt x="4261" y="402"/>
                    </a:lnTo>
                    <a:lnTo>
                      <a:pt x="4272" y="402"/>
                    </a:lnTo>
                    <a:lnTo>
                      <a:pt x="4272" y="379"/>
                    </a:lnTo>
                    <a:lnTo>
                      <a:pt x="4309" y="379"/>
                    </a:lnTo>
                    <a:lnTo>
                      <a:pt x="4309" y="366"/>
                    </a:lnTo>
                    <a:lnTo>
                      <a:pt x="4332" y="366"/>
                    </a:lnTo>
                    <a:lnTo>
                      <a:pt x="4332" y="356"/>
                    </a:lnTo>
                    <a:lnTo>
                      <a:pt x="4368" y="356"/>
                    </a:lnTo>
                    <a:lnTo>
                      <a:pt x="4368" y="343"/>
                    </a:lnTo>
                    <a:lnTo>
                      <a:pt x="4403" y="343"/>
                    </a:lnTo>
                    <a:lnTo>
                      <a:pt x="4403" y="331"/>
                    </a:lnTo>
                    <a:lnTo>
                      <a:pt x="4426" y="331"/>
                    </a:lnTo>
                    <a:lnTo>
                      <a:pt x="4426" y="319"/>
                    </a:lnTo>
                    <a:lnTo>
                      <a:pt x="4473" y="319"/>
                    </a:lnTo>
                    <a:lnTo>
                      <a:pt x="4473" y="307"/>
                    </a:lnTo>
                    <a:lnTo>
                      <a:pt x="4557" y="307"/>
                    </a:lnTo>
                    <a:lnTo>
                      <a:pt x="4557" y="296"/>
                    </a:lnTo>
                    <a:lnTo>
                      <a:pt x="4605" y="296"/>
                    </a:lnTo>
                    <a:lnTo>
                      <a:pt x="4605" y="285"/>
                    </a:lnTo>
                    <a:lnTo>
                      <a:pt x="4688" y="285"/>
                    </a:lnTo>
                    <a:lnTo>
                      <a:pt x="4688" y="272"/>
                    </a:lnTo>
                    <a:lnTo>
                      <a:pt x="4735" y="272"/>
                    </a:lnTo>
                    <a:lnTo>
                      <a:pt x="4735" y="260"/>
                    </a:lnTo>
                    <a:lnTo>
                      <a:pt x="4749" y="260"/>
                    </a:lnTo>
                    <a:lnTo>
                      <a:pt x="4749" y="248"/>
                    </a:lnTo>
                    <a:lnTo>
                      <a:pt x="4782" y="248"/>
                    </a:lnTo>
                    <a:lnTo>
                      <a:pt x="4782" y="237"/>
                    </a:lnTo>
                    <a:lnTo>
                      <a:pt x="4876" y="237"/>
                    </a:lnTo>
                    <a:lnTo>
                      <a:pt x="4876" y="214"/>
                    </a:lnTo>
                    <a:lnTo>
                      <a:pt x="4900" y="214"/>
                    </a:lnTo>
                    <a:lnTo>
                      <a:pt x="4900" y="201"/>
                    </a:lnTo>
                    <a:lnTo>
                      <a:pt x="4925" y="201"/>
                    </a:lnTo>
                    <a:lnTo>
                      <a:pt x="4925" y="190"/>
                    </a:lnTo>
                    <a:lnTo>
                      <a:pt x="5032" y="190"/>
                    </a:lnTo>
                    <a:lnTo>
                      <a:pt x="5032" y="178"/>
                    </a:lnTo>
                    <a:lnTo>
                      <a:pt x="5043" y="178"/>
                    </a:lnTo>
                    <a:lnTo>
                      <a:pt x="5043" y="165"/>
                    </a:lnTo>
                    <a:lnTo>
                      <a:pt x="5161" y="165"/>
                    </a:lnTo>
                    <a:lnTo>
                      <a:pt x="5161" y="154"/>
                    </a:lnTo>
                    <a:lnTo>
                      <a:pt x="5232" y="154"/>
                    </a:lnTo>
                    <a:lnTo>
                      <a:pt x="5232" y="142"/>
                    </a:lnTo>
                    <a:lnTo>
                      <a:pt x="5278" y="142"/>
                    </a:lnTo>
                    <a:lnTo>
                      <a:pt x="5278" y="131"/>
                    </a:lnTo>
                    <a:lnTo>
                      <a:pt x="5316" y="131"/>
                    </a:lnTo>
                    <a:lnTo>
                      <a:pt x="5316" y="120"/>
                    </a:lnTo>
                    <a:lnTo>
                      <a:pt x="5339" y="120"/>
                    </a:lnTo>
                    <a:lnTo>
                      <a:pt x="5339" y="107"/>
                    </a:lnTo>
                    <a:lnTo>
                      <a:pt x="5411" y="107"/>
                    </a:lnTo>
                    <a:lnTo>
                      <a:pt x="5411" y="95"/>
                    </a:lnTo>
                    <a:lnTo>
                      <a:pt x="5458" y="95"/>
                    </a:lnTo>
                    <a:lnTo>
                      <a:pt x="5458" y="84"/>
                    </a:lnTo>
                    <a:lnTo>
                      <a:pt x="5506" y="84"/>
                    </a:lnTo>
                    <a:lnTo>
                      <a:pt x="5506" y="72"/>
                    </a:lnTo>
                    <a:lnTo>
                      <a:pt x="5530" y="72"/>
                    </a:lnTo>
                    <a:lnTo>
                      <a:pt x="5530" y="60"/>
                    </a:lnTo>
                    <a:lnTo>
                      <a:pt x="5576" y="60"/>
                    </a:lnTo>
                    <a:lnTo>
                      <a:pt x="5576" y="47"/>
                    </a:lnTo>
                    <a:lnTo>
                      <a:pt x="5625" y="47"/>
                    </a:lnTo>
                    <a:lnTo>
                      <a:pt x="5625" y="37"/>
                    </a:lnTo>
                    <a:lnTo>
                      <a:pt x="5660" y="37"/>
                    </a:lnTo>
                    <a:lnTo>
                      <a:pt x="5660" y="23"/>
                    </a:lnTo>
                    <a:lnTo>
                      <a:pt x="5709" y="23"/>
                    </a:lnTo>
                    <a:lnTo>
                      <a:pt x="5709" y="12"/>
                    </a:lnTo>
                    <a:lnTo>
                      <a:pt x="5744" y="12"/>
                    </a:lnTo>
                    <a:lnTo>
                      <a:pt x="5744" y="0"/>
                    </a:lnTo>
                    <a:lnTo>
                      <a:pt x="5760" y="0"/>
                    </a:lnTo>
                  </a:path>
                </a:pathLst>
              </a:custGeom>
              <a:noFill/>
              <a:ln w="28575" cap="flat">
                <a:solidFill>
                  <a:srgbClr val="F366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600" b="1"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116" name="Freeform 6"/>
              <p:cNvSpPr>
                <a:spLocks/>
              </p:cNvSpPr>
              <p:nvPr/>
            </p:nvSpPr>
            <p:spPr bwMode="auto">
              <a:xfrm>
                <a:off x="1368465" y="2146269"/>
                <a:ext cx="6363160" cy="2233335"/>
              </a:xfrm>
              <a:custGeom>
                <a:avLst/>
                <a:gdLst>
                  <a:gd name="T0" fmla="*/ 39 w 5249"/>
                  <a:gd name="T1" fmla="*/ 1990 h 2001"/>
                  <a:gd name="T2" fmla="*/ 68 w 5249"/>
                  <a:gd name="T3" fmla="*/ 1968 h 2001"/>
                  <a:gd name="T4" fmla="*/ 138 w 5249"/>
                  <a:gd name="T5" fmla="*/ 1925 h 2001"/>
                  <a:gd name="T6" fmla="*/ 184 w 5249"/>
                  <a:gd name="T7" fmla="*/ 1891 h 2001"/>
                  <a:gd name="T8" fmla="*/ 266 w 5249"/>
                  <a:gd name="T9" fmla="*/ 1849 h 2001"/>
                  <a:gd name="T10" fmla="*/ 353 w 5249"/>
                  <a:gd name="T11" fmla="*/ 1826 h 2001"/>
                  <a:gd name="T12" fmla="*/ 408 w 5249"/>
                  <a:gd name="T13" fmla="*/ 1783 h 2001"/>
                  <a:gd name="T14" fmla="*/ 474 w 5249"/>
                  <a:gd name="T15" fmla="*/ 1752 h 2001"/>
                  <a:gd name="T16" fmla="*/ 559 w 5249"/>
                  <a:gd name="T17" fmla="*/ 1719 h 2001"/>
                  <a:gd name="T18" fmla="*/ 657 w 5249"/>
                  <a:gd name="T19" fmla="*/ 1664 h 2001"/>
                  <a:gd name="T20" fmla="*/ 734 w 5249"/>
                  <a:gd name="T21" fmla="*/ 1622 h 2001"/>
                  <a:gd name="T22" fmla="*/ 841 w 5249"/>
                  <a:gd name="T23" fmla="*/ 1578 h 2001"/>
                  <a:gd name="T24" fmla="*/ 916 w 5249"/>
                  <a:gd name="T25" fmla="*/ 1536 h 2001"/>
                  <a:gd name="T26" fmla="*/ 991 w 5249"/>
                  <a:gd name="T27" fmla="*/ 1503 h 2001"/>
                  <a:gd name="T28" fmla="*/ 1014 w 5249"/>
                  <a:gd name="T29" fmla="*/ 1482 h 2001"/>
                  <a:gd name="T30" fmla="*/ 1079 w 5249"/>
                  <a:gd name="T31" fmla="*/ 1448 h 2001"/>
                  <a:gd name="T32" fmla="*/ 1133 w 5249"/>
                  <a:gd name="T33" fmla="*/ 1426 h 2001"/>
                  <a:gd name="T34" fmla="*/ 1231 w 5249"/>
                  <a:gd name="T35" fmla="*/ 1384 h 2001"/>
                  <a:gd name="T36" fmla="*/ 1307 w 5249"/>
                  <a:gd name="T37" fmla="*/ 1341 h 2001"/>
                  <a:gd name="T38" fmla="*/ 1383 w 5249"/>
                  <a:gd name="T39" fmla="*/ 1297 h 2001"/>
                  <a:gd name="T40" fmla="*/ 1447 w 5249"/>
                  <a:gd name="T41" fmla="*/ 1265 h 2001"/>
                  <a:gd name="T42" fmla="*/ 1523 w 5249"/>
                  <a:gd name="T43" fmla="*/ 1243 h 2001"/>
                  <a:gd name="T44" fmla="*/ 1588 w 5249"/>
                  <a:gd name="T45" fmla="*/ 1223 h 2001"/>
                  <a:gd name="T46" fmla="*/ 1653 w 5249"/>
                  <a:gd name="T47" fmla="*/ 1181 h 2001"/>
                  <a:gd name="T48" fmla="*/ 1719 w 5249"/>
                  <a:gd name="T49" fmla="*/ 1145 h 2001"/>
                  <a:gd name="T50" fmla="*/ 1826 w 5249"/>
                  <a:gd name="T51" fmla="*/ 1124 h 2001"/>
                  <a:gd name="T52" fmla="*/ 1914 w 5249"/>
                  <a:gd name="T53" fmla="*/ 1092 h 2001"/>
                  <a:gd name="T54" fmla="*/ 1980 w 5249"/>
                  <a:gd name="T55" fmla="*/ 1059 h 2001"/>
                  <a:gd name="T56" fmla="*/ 2107 w 5249"/>
                  <a:gd name="T57" fmla="*/ 1017 h 2001"/>
                  <a:gd name="T58" fmla="*/ 2250 w 5249"/>
                  <a:gd name="T59" fmla="*/ 961 h 2001"/>
                  <a:gd name="T60" fmla="*/ 2320 w 5249"/>
                  <a:gd name="T61" fmla="*/ 929 h 2001"/>
                  <a:gd name="T62" fmla="*/ 2456 w 5249"/>
                  <a:gd name="T63" fmla="*/ 886 h 2001"/>
                  <a:gd name="T64" fmla="*/ 2567 w 5249"/>
                  <a:gd name="T65" fmla="*/ 854 h 2001"/>
                  <a:gd name="T66" fmla="*/ 2618 w 5249"/>
                  <a:gd name="T67" fmla="*/ 832 h 2001"/>
                  <a:gd name="T68" fmla="*/ 2703 w 5249"/>
                  <a:gd name="T69" fmla="*/ 789 h 2001"/>
                  <a:gd name="T70" fmla="*/ 2783 w 5249"/>
                  <a:gd name="T71" fmla="*/ 757 h 2001"/>
                  <a:gd name="T72" fmla="*/ 2921 w 5249"/>
                  <a:gd name="T73" fmla="*/ 725 h 2001"/>
                  <a:gd name="T74" fmla="*/ 2986 w 5249"/>
                  <a:gd name="T75" fmla="*/ 693 h 2001"/>
                  <a:gd name="T76" fmla="*/ 3142 w 5249"/>
                  <a:gd name="T77" fmla="*/ 671 h 2001"/>
                  <a:gd name="T78" fmla="*/ 3247 w 5249"/>
                  <a:gd name="T79" fmla="*/ 627 h 2001"/>
                  <a:gd name="T80" fmla="*/ 3311 w 5249"/>
                  <a:gd name="T81" fmla="*/ 595 h 2001"/>
                  <a:gd name="T82" fmla="*/ 3407 w 5249"/>
                  <a:gd name="T83" fmla="*/ 573 h 2001"/>
                  <a:gd name="T84" fmla="*/ 3495 w 5249"/>
                  <a:gd name="T85" fmla="*/ 551 h 2001"/>
                  <a:gd name="T86" fmla="*/ 3571 w 5249"/>
                  <a:gd name="T87" fmla="*/ 529 h 2001"/>
                  <a:gd name="T88" fmla="*/ 3635 w 5249"/>
                  <a:gd name="T89" fmla="*/ 509 h 2001"/>
                  <a:gd name="T90" fmla="*/ 3733 w 5249"/>
                  <a:gd name="T91" fmla="*/ 464 h 2001"/>
                  <a:gd name="T92" fmla="*/ 3896 w 5249"/>
                  <a:gd name="T93" fmla="*/ 421 h 2001"/>
                  <a:gd name="T94" fmla="*/ 3982 w 5249"/>
                  <a:gd name="T95" fmla="*/ 401 h 2001"/>
                  <a:gd name="T96" fmla="*/ 4105 w 5249"/>
                  <a:gd name="T97" fmla="*/ 368 h 2001"/>
                  <a:gd name="T98" fmla="*/ 4179 w 5249"/>
                  <a:gd name="T99" fmla="*/ 335 h 2001"/>
                  <a:gd name="T100" fmla="*/ 4286 w 5249"/>
                  <a:gd name="T101" fmla="*/ 303 h 2001"/>
                  <a:gd name="T102" fmla="*/ 4360 w 5249"/>
                  <a:gd name="T103" fmla="*/ 281 h 2001"/>
                  <a:gd name="T104" fmla="*/ 4432 w 5249"/>
                  <a:gd name="T105" fmla="*/ 259 h 2001"/>
                  <a:gd name="T106" fmla="*/ 4459 w 5249"/>
                  <a:gd name="T107" fmla="*/ 239 h 2001"/>
                  <a:gd name="T108" fmla="*/ 4546 w 5249"/>
                  <a:gd name="T109" fmla="*/ 216 h 2001"/>
                  <a:gd name="T110" fmla="*/ 4685 w 5249"/>
                  <a:gd name="T111" fmla="*/ 195 h 2001"/>
                  <a:gd name="T112" fmla="*/ 4774 w 5249"/>
                  <a:gd name="T113" fmla="*/ 152 h 2001"/>
                  <a:gd name="T114" fmla="*/ 4938 w 5249"/>
                  <a:gd name="T115" fmla="*/ 130 h 2001"/>
                  <a:gd name="T116" fmla="*/ 5006 w 5249"/>
                  <a:gd name="T117" fmla="*/ 87 h 2001"/>
                  <a:gd name="T118" fmla="*/ 5130 w 5249"/>
                  <a:gd name="T119" fmla="*/ 64 h 2001"/>
                  <a:gd name="T120" fmla="*/ 5205 w 5249"/>
                  <a:gd name="T121" fmla="*/ 33 h 2001"/>
                  <a:gd name="T122" fmla="*/ 5249 w 5249"/>
                  <a:gd name="T123" fmla="*/ 0 h 2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249" h="2001">
                    <a:moveTo>
                      <a:pt x="0" y="2001"/>
                    </a:moveTo>
                    <a:cubicBezTo>
                      <a:pt x="28" y="2001"/>
                      <a:pt x="28" y="2001"/>
                      <a:pt x="28" y="2001"/>
                    </a:cubicBezTo>
                    <a:cubicBezTo>
                      <a:pt x="28" y="1990"/>
                      <a:pt x="28" y="1990"/>
                      <a:pt x="28" y="1990"/>
                    </a:cubicBezTo>
                    <a:cubicBezTo>
                      <a:pt x="39" y="1990"/>
                      <a:pt x="39" y="1990"/>
                      <a:pt x="39" y="1990"/>
                    </a:cubicBezTo>
                    <a:cubicBezTo>
                      <a:pt x="39" y="1979"/>
                      <a:pt x="39" y="1979"/>
                      <a:pt x="39" y="1979"/>
                    </a:cubicBezTo>
                    <a:cubicBezTo>
                      <a:pt x="49" y="1979"/>
                      <a:pt x="49" y="1979"/>
                      <a:pt x="49" y="1979"/>
                    </a:cubicBezTo>
                    <a:cubicBezTo>
                      <a:pt x="49" y="1968"/>
                      <a:pt x="49" y="1968"/>
                      <a:pt x="49" y="1968"/>
                    </a:cubicBezTo>
                    <a:cubicBezTo>
                      <a:pt x="68" y="1968"/>
                      <a:pt x="68" y="1968"/>
                      <a:pt x="68" y="1968"/>
                    </a:cubicBezTo>
                    <a:cubicBezTo>
                      <a:pt x="68" y="1946"/>
                      <a:pt x="68" y="1946"/>
                      <a:pt x="68" y="1946"/>
                    </a:cubicBezTo>
                    <a:cubicBezTo>
                      <a:pt x="93" y="1946"/>
                      <a:pt x="93" y="1946"/>
                      <a:pt x="93" y="1946"/>
                    </a:cubicBezTo>
                    <a:cubicBezTo>
                      <a:pt x="93" y="1925"/>
                      <a:pt x="93" y="1925"/>
                      <a:pt x="93" y="1925"/>
                    </a:cubicBezTo>
                    <a:cubicBezTo>
                      <a:pt x="138" y="1925"/>
                      <a:pt x="138" y="1925"/>
                      <a:pt x="138" y="1925"/>
                    </a:cubicBezTo>
                    <a:cubicBezTo>
                      <a:pt x="138" y="1904"/>
                      <a:pt x="138" y="1904"/>
                      <a:pt x="138" y="1904"/>
                    </a:cubicBezTo>
                    <a:cubicBezTo>
                      <a:pt x="158" y="1904"/>
                      <a:pt x="158" y="1904"/>
                      <a:pt x="158" y="1904"/>
                    </a:cubicBezTo>
                    <a:cubicBezTo>
                      <a:pt x="158" y="1891"/>
                      <a:pt x="158" y="1891"/>
                      <a:pt x="158" y="1891"/>
                    </a:cubicBezTo>
                    <a:cubicBezTo>
                      <a:pt x="184" y="1891"/>
                      <a:pt x="184" y="1891"/>
                      <a:pt x="184" y="1891"/>
                    </a:cubicBezTo>
                    <a:cubicBezTo>
                      <a:pt x="184" y="1861"/>
                      <a:pt x="184" y="1861"/>
                      <a:pt x="184" y="1861"/>
                    </a:cubicBezTo>
                    <a:cubicBezTo>
                      <a:pt x="212" y="1861"/>
                      <a:pt x="212" y="1861"/>
                      <a:pt x="212" y="1861"/>
                    </a:cubicBezTo>
                    <a:cubicBezTo>
                      <a:pt x="212" y="1849"/>
                      <a:pt x="212" y="1849"/>
                      <a:pt x="212" y="1849"/>
                    </a:cubicBezTo>
                    <a:cubicBezTo>
                      <a:pt x="266" y="1849"/>
                      <a:pt x="266" y="1849"/>
                      <a:pt x="266" y="1849"/>
                    </a:cubicBezTo>
                    <a:cubicBezTo>
                      <a:pt x="266" y="1838"/>
                      <a:pt x="266" y="1838"/>
                      <a:pt x="266" y="1838"/>
                    </a:cubicBezTo>
                    <a:cubicBezTo>
                      <a:pt x="300" y="1838"/>
                      <a:pt x="300" y="1838"/>
                      <a:pt x="300" y="1838"/>
                    </a:cubicBezTo>
                    <a:cubicBezTo>
                      <a:pt x="300" y="1826"/>
                      <a:pt x="300" y="1826"/>
                      <a:pt x="300" y="1826"/>
                    </a:cubicBezTo>
                    <a:cubicBezTo>
                      <a:pt x="353" y="1826"/>
                      <a:pt x="353" y="1826"/>
                      <a:pt x="353" y="1826"/>
                    </a:cubicBezTo>
                    <a:cubicBezTo>
                      <a:pt x="353" y="1796"/>
                      <a:pt x="353" y="1796"/>
                      <a:pt x="353" y="1796"/>
                    </a:cubicBezTo>
                    <a:cubicBezTo>
                      <a:pt x="385" y="1796"/>
                      <a:pt x="385" y="1796"/>
                      <a:pt x="385" y="1796"/>
                    </a:cubicBezTo>
                    <a:cubicBezTo>
                      <a:pt x="385" y="1783"/>
                      <a:pt x="385" y="1783"/>
                      <a:pt x="385" y="1783"/>
                    </a:cubicBezTo>
                    <a:cubicBezTo>
                      <a:pt x="408" y="1783"/>
                      <a:pt x="408" y="1783"/>
                      <a:pt x="408" y="1783"/>
                    </a:cubicBezTo>
                    <a:cubicBezTo>
                      <a:pt x="408" y="1773"/>
                      <a:pt x="408" y="1773"/>
                      <a:pt x="408" y="1773"/>
                    </a:cubicBezTo>
                    <a:cubicBezTo>
                      <a:pt x="430" y="1773"/>
                      <a:pt x="430" y="1773"/>
                      <a:pt x="430" y="1773"/>
                    </a:cubicBezTo>
                    <a:cubicBezTo>
                      <a:pt x="430" y="1752"/>
                      <a:pt x="430" y="1752"/>
                      <a:pt x="430" y="1752"/>
                    </a:cubicBezTo>
                    <a:cubicBezTo>
                      <a:pt x="474" y="1752"/>
                      <a:pt x="474" y="1752"/>
                      <a:pt x="474" y="1752"/>
                    </a:cubicBezTo>
                    <a:cubicBezTo>
                      <a:pt x="474" y="1730"/>
                      <a:pt x="474" y="1730"/>
                      <a:pt x="474" y="1730"/>
                    </a:cubicBezTo>
                    <a:cubicBezTo>
                      <a:pt x="495" y="1730"/>
                      <a:pt x="495" y="1730"/>
                      <a:pt x="495" y="1730"/>
                    </a:cubicBezTo>
                    <a:cubicBezTo>
                      <a:pt x="495" y="1719"/>
                      <a:pt x="495" y="1719"/>
                      <a:pt x="495" y="1719"/>
                    </a:cubicBezTo>
                    <a:cubicBezTo>
                      <a:pt x="559" y="1719"/>
                      <a:pt x="559" y="1719"/>
                      <a:pt x="559" y="1719"/>
                    </a:cubicBezTo>
                    <a:cubicBezTo>
                      <a:pt x="559" y="1677"/>
                      <a:pt x="559" y="1677"/>
                      <a:pt x="559" y="1677"/>
                    </a:cubicBezTo>
                    <a:cubicBezTo>
                      <a:pt x="580" y="1677"/>
                      <a:pt x="580" y="1677"/>
                      <a:pt x="580" y="1677"/>
                    </a:cubicBezTo>
                    <a:cubicBezTo>
                      <a:pt x="580" y="1664"/>
                      <a:pt x="580" y="1664"/>
                      <a:pt x="580" y="1664"/>
                    </a:cubicBezTo>
                    <a:cubicBezTo>
                      <a:pt x="657" y="1664"/>
                      <a:pt x="657" y="1664"/>
                      <a:pt x="657" y="1664"/>
                    </a:cubicBezTo>
                    <a:cubicBezTo>
                      <a:pt x="657" y="1643"/>
                      <a:pt x="657" y="1643"/>
                      <a:pt x="657" y="1643"/>
                    </a:cubicBezTo>
                    <a:cubicBezTo>
                      <a:pt x="696" y="1643"/>
                      <a:pt x="696" y="1643"/>
                      <a:pt x="696" y="1643"/>
                    </a:cubicBezTo>
                    <a:cubicBezTo>
                      <a:pt x="696" y="1622"/>
                      <a:pt x="696" y="1622"/>
                      <a:pt x="696" y="1622"/>
                    </a:cubicBezTo>
                    <a:cubicBezTo>
                      <a:pt x="734" y="1622"/>
                      <a:pt x="734" y="1622"/>
                      <a:pt x="734" y="1622"/>
                    </a:cubicBezTo>
                    <a:cubicBezTo>
                      <a:pt x="734" y="1599"/>
                      <a:pt x="734" y="1599"/>
                      <a:pt x="734" y="1599"/>
                    </a:cubicBezTo>
                    <a:cubicBezTo>
                      <a:pt x="777" y="1599"/>
                      <a:pt x="777" y="1599"/>
                      <a:pt x="777" y="1599"/>
                    </a:cubicBezTo>
                    <a:cubicBezTo>
                      <a:pt x="777" y="1578"/>
                      <a:pt x="777" y="1578"/>
                      <a:pt x="777" y="1578"/>
                    </a:cubicBezTo>
                    <a:cubicBezTo>
                      <a:pt x="841" y="1578"/>
                      <a:pt x="841" y="1578"/>
                      <a:pt x="841" y="1578"/>
                    </a:cubicBezTo>
                    <a:cubicBezTo>
                      <a:pt x="841" y="1547"/>
                      <a:pt x="841" y="1547"/>
                      <a:pt x="841" y="1547"/>
                    </a:cubicBezTo>
                    <a:cubicBezTo>
                      <a:pt x="862" y="1547"/>
                      <a:pt x="862" y="1547"/>
                      <a:pt x="862" y="1547"/>
                    </a:cubicBezTo>
                    <a:cubicBezTo>
                      <a:pt x="862" y="1536"/>
                      <a:pt x="862" y="1536"/>
                      <a:pt x="862" y="1536"/>
                    </a:cubicBezTo>
                    <a:cubicBezTo>
                      <a:pt x="916" y="1536"/>
                      <a:pt x="916" y="1536"/>
                      <a:pt x="916" y="1536"/>
                    </a:cubicBezTo>
                    <a:cubicBezTo>
                      <a:pt x="916" y="1514"/>
                      <a:pt x="916" y="1514"/>
                      <a:pt x="916" y="1514"/>
                    </a:cubicBezTo>
                    <a:cubicBezTo>
                      <a:pt x="948" y="1514"/>
                      <a:pt x="948" y="1514"/>
                      <a:pt x="948" y="1514"/>
                    </a:cubicBezTo>
                    <a:cubicBezTo>
                      <a:pt x="948" y="1503"/>
                      <a:pt x="948" y="1503"/>
                      <a:pt x="948" y="1503"/>
                    </a:cubicBezTo>
                    <a:cubicBezTo>
                      <a:pt x="991" y="1503"/>
                      <a:pt x="991" y="1503"/>
                      <a:pt x="991" y="1503"/>
                    </a:cubicBezTo>
                    <a:cubicBezTo>
                      <a:pt x="991" y="1492"/>
                      <a:pt x="991" y="1492"/>
                      <a:pt x="991" y="1492"/>
                    </a:cubicBezTo>
                    <a:cubicBezTo>
                      <a:pt x="1004" y="1492"/>
                      <a:pt x="1004" y="1492"/>
                      <a:pt x="1004" y="1492"/>
                    </a:cubicBezTo>
                    <a:cubicBezTo>
                      <a:pt x="1004" y="1482"/>
                      <a:pt x="1004" y="1482"/>
                      <a:pt x="1004" y="1482"/>
                    </a:cubicBezTo>
                    <a:cubicBezTo>
                      <a:pt x="1014" y="1482"/>
                      <a:pt x="1014" y="1482"/>
                      <a:pt x="1014" y="1482"/>
                    </a:cubicBezTo>
                    <a:cubicBezTo>
                      <a:pt x="1014" y="1472"/>
                      <a:pt x="1014" y="1472"/>
                      <a:pt x="1014" y="1472"/>
                    </a:cubicBezTo>
                    <a:cubicBezTo>
                      <a:pt x="1057" y="1472"/>
                      <a:pt x="1057" y="1472"/>
                      <a:pt x="1057" y="1472"/>
                    </a:cubicBezTo>
                    <a:cubicBezTo>
                      <a:pt x="1057" y="1448"/>
                      <a:pt x="1057" y="1448"/>
                      <a:pt x="1057" y="1448"/>
                    </a:cubicBezTo>
                    <a:cubicBezTo>
                      <a:pt x="1079" y="1448"/>
                      <a:pt x="1079" y="1448"/>
                      <a:pt x="1079" y="1448"/>
                    </a:cubicBezTo>
                    <a:cubicBezTo>
                      <a:pt x="1079" y="1437"/>
                      <a:pt x="1079" y="1437"/>
                      <a:pt x="1079" y="1437"/>
                    </a:cubicBezTo>
                    <a:cubicBezTo>
                      <a:pt x="1090" y="1437"/>
                      <a:pt x="1090" y="1437"/>
                      <a:pt x="1090" y="1437"/>
                    </a:cubicBezTo>
                    <a:cubicBezTo>
                      <a:pt x="1090" y="1426"/>
                      <a:pt x="1090" y="1426"/>
                      <a:pt x="1090" y="1426"/>
                    </a:cubicBezTo>
                    <a:cubicBezTo>
                      <a:pt x="1133" y="1426"/>
                      <a:pt x="1133" y="1426"/>
                      <a:pt x="1133" y="1426"/>
                    </a:cubicBezTo>
                    <a:cubicBezTo>
                      <a:pt x="1133" y="1416"/>
                      <a:pt x="1133" y="1416"/>
                      <a:pt x="1133" y="1416"/>
                    </a:cubicBezTo>
                    <a:cubicBezTo>
                      <a:pt x="1175" y="1416"/>
                      <a:pt x="1175" y="1416"/>
                      <a:pt x="1175" y="1416"/>
                    </a:cubicBezTo>
                    <a:cubicBezTo>
                      <a:pt x="1175" y="1384"/>
                      <a:pt x="1175" y="1384"/>
                      <a:pt x="1175" y="1384"/>
                    </a:cubicBezTo>
                    <a:cubicBezTo>
                      <a:pt x="1231" y="1384"/>
                      <a:pt x="1231" y="1384"/>
                      <a:pt x="1231" y="1384"/>
                    </a:cubicBezTo>
                    <a:cubicBezTo>
                      <a:pt x="1231" y="1384"/>
                      <a:pt x="1231" y="1372"/>
                      <a:pt x="1231" y="1372"/>
                    </a:cubicBezTo>
                    <a:cubicBezTo>
                      <a:pt x="1232" y="1372"/>
                      <a:pt x="1273" y="1372"/>
                      <a:pt x="1273" y="1372"/>
                    </a:cubicBezTo>
                    <a:cubicBezTo>
                      <a:pt x="1273" y="1341"/>
                      <a:pt x="1273" y="1341"/>
                      <a:pt x="1273" y="1341"/>
                    </a:cubicBezTo>
                    <a:cubicBezTo>
                      <a:pt x="1307" y="1341"/>
                      <a:pt x="1307" y="1341"/>
                      <a:pt x="1307" y="1341"/>
                    </a:cubicBezTo>
                    <a:cubicBezTo>
                      <a:pt x="1307" y="1329"/>
                      <a:pt x="1307" y="1329"/>
                      <a:pt x="1307" y="1329"/>
                    </a:cubicBezTo>
                    <a:cubicBezTo>
                      <a:pt x="1360" y="1329"/>
                      <a:pt x="1360" y="1329"/>
                      <a:pt x="1360" y="1329"/>
                    </a:cubicBezTo>
                    <a:cubicBezTo>
                      <a:pt x="1360" y="1297"/>
                      <a:pt x="1360" y="1297"/>
                      <a:pt x="1360" y="1297"/>
                    </a:cubicBezTo>
                    <a:cubicBezTo>
                      <a:pt x="1383" y="1297"/>
                      <a:pt x="1383" y="1297"/>
                      <a:pt x="1383" y="1297"/>
                    </a:cubicBezTo>
                    <a:cubicBezTo>
                      <a:pt x="1383" y="1276"/>
                      <a:pt x="1383" y="1276"/>
                      <a:pt x="1383" y="1276"/>
                    </a:cubicBezTo>
                    <a:cubicBezTo>
                      <a:pt x="1436" y="1276"/>
                      <a:pt x="1436" y="1276"/>
                      <a:pt x="1436" y="1276"/>
                    </a:cubicBezTo>
                    <a:cubicBezTo>
                      <a:pt x="1436" y="1265"/>
                      <a:pt x="1436" y="1265"/>
                      <a:pt x="1436" y="1265"/>
                    </a:cubicBezTo>
                    <a:cubicBezTo>
                      <a:pt x="1447" y="1265"/>
                      <a:pt x="1447" y="1265"/>
                      <a:pt x="1447" y="1265"/>
                    </a:cubicBezTo>
                    <a:cubicBezTo>
                      <a:pt x="1447" y="1255"/>
                      <a:pt x="1447" y="1255"/>
                      <a:pt x="1447" y="1255"/>
                    </a:cubicBezTo>
                    <a:cubicBezTo>
                      <a:pt x="1502" y="1255"/>
                      <a:pt x="1502" y="1255"/>
                      <a:pt x="1502" y="1255"/>
                    </a:cubicBezTo>
                    <a:cubicBezTo>
                      <a:pt x="1502" y="1243"/>
                      <a:pt x="1502" y="1243"/>
                      <a:pt x="1502" y="1243"/>
                    </a:cubicBezTo>
                    <a:cubicBezTo>
                      <a:pt x="1523" y="1243"/>
                      <a:pt x="1523" y="1243"/>
                      <a:pt x="1523" y="1243"/>
                    </a:cubicBezTo>
                    <a:cubicBezTo>
                      <a:pt x="1523" y="1233"/>
                      <a:pt x="1523" y="1233"/>
                      <a:pt x="1523" y="1233"/>
                    </a:cubicBezTo>
                    <a:cubicBezTo>
                      <a:pt x="1576" y="1233"/>
                      <a:pt x="1576" y="1233"/>
                      <a:pt x="1576" y="1233"/>
                    </a:cubicBezTo>
                    <a:cubicBezTo>
                      <a:pt x="1576" y="1223"/>
                      <a:pt x="1576" y="1223"/>
                      <a:pt x="1576" y="1223"/>
                    </a:cubicBezTo>
                    <a:cubicBezTo>
                      <a:pt x="1588" y="1223"/>
                      <a:pt x="1588" y="1223"/>
                      <a:pt x="1588" y="1223"/>
                    </a:cubicBezTo>
                    <a:cubicBezTo>
                      <a:pt x="1588" y="1211"/>
                      <a:pt x="1588" y="1211"/>
                      <a:pt x="1588" y="1211"/>
                    </a:cubicBezTo>
                    <a:cubicBezTo>
                      <a:pt x="1609" y="1211"/>
                      <a:pt x="1609" y="1211"/>
                      <a:pt x="1609" y="1211"/>
                    </a:cubicBezTo>
                    <a:cubicBezTo>
                      <a:pt x="1609" y="1181"/>
                      <a:pt x="1609" y="1181"/>
                      <a:pt x="1609" y="1181"/>
                    </a:cubicBezTo>
                    <a:cubicBezTo>
                      <a:pt x="1653" y="1181"/>
                      <a:pt x="1653" y="1181"/>
                      <a:pt x="1653" y="1181"/>
                    </a:cubicBezTo>
                    <a:cubicBezTo>
                      <a:pt x="1653" y="1168"/>
                      <a:pt x="1653" y="1168"/>
                      <a:pt x="1653" y="1168"/>
                    </a:cubicBezTo>
                    <a:cubicBezTo>
                      <a:pt x="1665" y="1168"/>
                      <a:pt x="1665" y="1168"/>
                      <a:pt x="1665" y="1168"/>
                    </a:cubicBezTo>
                    <a:cubicBezTo>
                      <a:pt x="1665" y="1145"/>
                      <a:pt x="1665" y="1145"/>
                      <a:pt x="1665" y="1145"/>
                    </a:cubicBezTo>
                    <a:cubicBezTo>
                      <a:pt x="1719" y="1145"/>
                      <a:pt x="1719" y="1145"/>
                      <a:pt x="1719" y="1145"/>
                    </a:cubicBezTo>
                    <a:cubicBezTo>
                      <a:pt x="1719" y="1136"/>
                      <a:pt x="1719" y="1136"/>
                      <a:pt x="1719" y="1136"/>
                    </a:cubicBezTo>
                    <a:cubicBezTo>
                      <a:pt x="1740" y="1136"/>
                      <a:pt x="1740" y="1136"/>
                      <a:pt x="1740" y="1136"/>
                    </a:cubicBezTo>
                    <a:cubicBezTo>
                      <a:pt x="1740" y="1124"/>
                      <a:pt x="1740" y="1124"/>
                      <a:pt x="1740" y="1124"/>
                    </a:cubicBezTo>
                    <a:cubicBezTo>
                      <a:pt x="1826" y="1124"/>
                      <a:pt x="1826" y="1124"/>
                      <a:pt x="1826" y="1124"/>
                    </a:cubicBezTo>
                    <a:cubicBezTo>
                      <a:pt x="1826" y="1114"/>
                      <a:pt x="1826" y="1114"/>
                      <a:pt x="1826" y="1114"/>
                    </a:cubicBezTo>
                    <a:cubicBezTo>
                      <a:pt x="1872" y="1114"/>
                      <a:pt x="1872" y="1114"/>
                      <a:pt x="1872" y="1114"/>
                    </a:cubicBezTo>
                    <a:cubicBezTo>
                      <a:pt x="1872" y="1092"/>
                      <a:pt x="1872" y="1092"/>
                      <a:pt x="1872" y="1092"/>
                    </a:cubicBezTo>
                    <a:cubicBezTo>
                      <a:pt x="1914" y="1092"/>
                      <a:pt x="1914" y="1092"/>
                      <a:pt x="1914" y="1092"/>
                    </a:cubicBezTo>
                    <a:cubicBezTo>
                      <a:pt x="1914" y="1071"/>
                      <a:pt x="1914" y="1071"/>
                      <a:pt x="1914" y="1071"/>
                    </a:cubicBezTo>
                    <a:cubicBezTo>
                      <a:pt x="1967" y="1071"/>
                      <a:pt x="1967" y="1071"/>
                      <a:pt x="1967" y="1071"/>
                    </a:cubicBezTo>
                    <a:cubicBezTo>
                      <a:pt x="1967" y="1059"/>
                      <a:pt x="1967" y="1059"/>
                      <a:pt x="1967" y="1059"/>
                    </a:cubicBezTo>
                    <a:cubicBezTo>
                      <a:pt x="1980" y="1059"/>
                      <a:pt x="1980" y="1059"/>
                      <a:pt x="1980" y="1059"/>
                    </a:cubicBezTo>
                    <a:cubicBezTo>
                      <a:pt x="1980" y="1027"/>
                      <a:pt x="1980" y="1027"/>
                      <a:pt x="1980" y="1027"/>
                    </a:cubicBezTo>
                    <a:cubicBezTo>
                      <a:pt x="2043" y="1027"/>
                      <a:pt x="2043" y="1027"/>
                      <a:pt x="2043" y="1027"/>
                    </a:cubicBezTo>
                    <a:cubicBezTo>
                      <a:pt x="2043" y="1017"/>
                      <a:pt x="2043" y="1017"/>
                      <a:pt x="2043" y="1017"/>
                    </a:cubicBezTo>
                    <a:cubicBezTo>
                      <a:pt x="2107" y="1017"/>
                      <a:pt x="2107" y="1017"/>
                      <a:pt x="2107" y="1017"/>
                    </a:cubicBezTo>
                    <a:cubicBezTo>
                      <a:pt x="2107" y="994"/>
                      <a:pt x="2107" y="994"/>
                      <a:pt x="2107" y="994"/>
                    </a:cubicBezTo>
                    <a:cubicBezTo>
                      <a:pt x="2139" y="994"/>
                      <a:pt x="2139" y="994"/>
                      <a:pt x="2139" y="994"/>
                    </a:cubicBezTo>
                    <a:cubicBezTo>
                      <a:pt x="2139" y="961"/>
                      <a:pt x="2139" y="961"/>
                      <a:pt x="2139" y="961"/>
                    </a:cubicBezTo>
                    <a:cubicBezTo>
                      <a:pt x="2250" y="961"/>
                      <a:pt x="2250" y="961"/>
                      <a:pt x="2250" y="961"/>
                    </a:cubicBezTo>
                    <a:cubicBezTo>
                      <a:pt x="2250" y="942"/>
                      <a:pt x="2250" y="942"/>
                      <a:pt x="2250" y="942"/>
                    </a:cubicBezTo>
                    <a:cubicBezTo>
                      <a:pt x="2270" y="942"/>
                      <a:pt x="2270" y="942"/>
                      <a:pt x="2270" y="942"/>
                    </a:cubicBezTo>
                    <a:cubicBezTo>
                      <a:pt x="2270" y="929"/>
                      <a:pt x="2270" y="929"/>
                      <a:pt x="2270" y="929"/>
                    </a:cubicBezTo>
                    <a:cubicBezTo>
                      <a:pt x="2320" y="929"/>
                      <a:pt x="2320" y="929"/>
                      <a:pt x="2320" y="929"/>
                    </a:cubicBezTo>
                    <a:cubicBezTo>
                      <a:pt x="2320" y="908"/>
                      <a:pt x="2320" y="908"/>
                      <a:pt x="2320" y="908"/>
                    </a:cubicBezTo>
                    <a:cubicBezTo>
                      <a:pt x="2405" y="908"/>
                      <a:pt x="2405" y="908"/>
                      <a:pt x="2405" y="908"/>
                    </a:cubicBezTo>
                    <a:cubicBezTo>
                      <a:pt x="2405" y="886"/>
                      <a:pt x="2405" y="886"/>
                      <a:pt x="2405" y="886"/>
                    </a:cubicBezTo>
                    <a:cubicBezTo>
                      <a:pt x="2456" y="886"/>
                      <a:pt x="2456" y="886"/>
                      <a:pt x="2456" y="886"/>
                    </a:cubicBezTo>
                    <a:cubicBezTo>
                      <a:pt x="2456" y="865"/>
                      <a:pt x="2456" y="865"/>
                      <a:pt x="2456" y="865"/>
                    </a:cubicBezTo>
                    <a:cubicBezTo>
                      <a:pt x="2530" y="865"/>
                      <a:pt x="2530" y="865"/>
                      <a:pt x="2530" y="865"/>
                    </a:cubicBezTo>
                    <a:cubicBezTo>
                      <a:pt x="2530" y="854"/>
                      <a:pt x="2530" y="854"/>
                      <a:pt x="2530" y="854"/>
                    </a:cubicBezTo>
                    <a:cubicBezTo>
                      <a:pt x="2567" y="854"/>
                      <a:pt x="2567" y="854"/>
                      <a:pt x="2567" y="854"/>
                    </a:cubicBezTo>
                    <a:cubicBezTo>
                      <a:pt x="2567" y="844"/>
                      <a:pt x="2567" y="844"/>
                      <a:pt x="2567" y="844"/>
                    </a:cubicBezTo>
                    <a:cubicBezTo>
                      <a:pt x="2585" y="844"/>
                      <a:pt x="2585" y="844"/>
                      <a:pt x="2585" y="844"/>
                    </a:cubicBezTo>
                    <a:cubicBezTo>
                      <a:pt x="2585" y="832"/>
                      <a:pt x="2585" y="832"/>
                      <a:pt x="2585" y="832"/>
                    </a:cubicBezTo>
                    <a:cubicBezTo>
                      <a:pt x="2618" y="832"/>
                      <a:pt x="2618" y="832"/>
                      <a:pt x="2618" y="832"/>
                    </a:cubicBezTo>
                    <a:cubicBezTo>
                      <a:pt x="2618" y="814"/>
                      <a:pt x="2618" y="814"/>
                      <a:pt x="2618" y="814"/>
                    </a:cubicBezTo>
                    <a:cubicBezTo>
                      <a:pt x="2661" y="814"/>
                      <a:pt x="2661" y="814"/>
                      <a:pt x="2661" y="814"/>
                    </a:cubicBezTo>
                    <a:cubicBezTo>
                      <a:pt x="2661" y="789"/>
                      <a:pt x="2661" y="789"/>
                      <a:pt x="2661" y="789"/>
                    </a:cubicBezTo>
                    <a:cubicBezTo>
                      <a:pt x="2703" y="789"/>
                      <a:pt x="2703" y="789"/>
                      <a:pt x="2703" y="789"/>
                    </a:cubicBezTo>
                    <a:cubicBezTo>
                      <a:pt x="2703" y="769"/>
                      <a:pt x="2703" y="769"/>
                      <a:pt x="2703" y="769"/>
                    </a:cubicBezTo>
                    <a:cubicBezTo>
                      <a:pt x="2725" y="769"/>
                      <a:pt x="2725" y="769"/>
                      <a:pt x="2725" y="769"/>
                    </a:cubicBezTo>
                    <a:cubicBezTo>
                      <a:pt x="2725" y="757"/>
                      <a:pt x="2725" y="757"/>
                      <a:pt x="2725" y="757"/>
                    </a:cubicBezTo>
                    <a:cubicBezTo>
                      <a:pt x="2783" y="757"/>
                      <a:pt x="2783" y="757"/>
                      <a:pt x="2783" y="757"/>
                    </a:cubicBezTo>
                    <a:cubicBezTo>
                      <a:pt x="2783" y="746"/>
                      <a:pt x="2783" y="746"/>
                      <a:pt x="2783" y="746"/>
                    </a:cubicBezTo>
                    <a:cubicBezTo>
                      <a:pt x="2879" y="746"/>
                      <a:pt x="2879" y="746"/>
                      <a:pt x="2879" y="746"/>
                    </a:cubicBezTo>
                    <a:cubicBezTo>
                      <a:pt x="2879" y="725"/>
                      <a:pt x="2879" y="725"/>
                      <a:pt x="2879" y="725"/>
                    </a:cubicBezTo>
                    <a:cubicBezTo>
                      <a:pt x="2921" y="725"/>
                      <a:pt x="2921" y="725"/>
                      <a:pt x="2921" y="725"/>
                    </a:cubicBezTo>
                    <a:cubicBezTo>
                      <a:pt x="2921" y="713"/>
                      <a:pt x="2921" y="713"/>
                      <a:pt x="2921" y="713"/>
                    </a:cubicBezTo>
                    <a:cubicBezTo>
                      <a:pt x="2974" y="713"/>
                      <a:pt x="2974" y="713"/>
                      <a:pt x="2974" y="713"/>
                    </a:cubicBezTo>
                    <a:cubicBezTo>
                      <a:pt x="2974" y="693"/>
                      <a:pt x="2974" y="693"/>
                      <a:pt x="2974" y="693"/>
                    </a:cubicBezTo>
                    <a:cubicBezTo>
                      <a:pt x="2986" y="693"/>
                      <a:pt x="2986" y="693"/>
                      <a:pt x="2986" y="693"/>
                    </a:cubicBezTo>
                    <a:cubicBezTo>
                      <a:pt x="2986" y="680"/>
                      <a:pt x="2986" y="680"/>
                      <a:pt x="2986" y="680"/>
                    </a:cubicBezTo>
                    <a:cubicBezTo>
                      <a:pt x="3072" y="680"/>
                      <a:pt x="3072" y="680"/>
                      <a:pt x="3072" y="680"/>
                    </a:cubicBezTo>
                    <a:cubicBezTo>
                      <a:pt x="3072" y="671"/>
                      <a:pt x="3072" y="671"/>
                      <a:pt x="3072" y="671"/>
                    </a:cubicBezTo>
                    <a:cubicBezTo>
                      <a:pt x="3142" y="671"/>
                      <a:pt x="3142" y="671"/>
                      <a:pt x="3142" y="671"/>
                    </a:cubicBezTo>
                    <a:cubicBezTo>
                      <a:pt x="3142" y="660"/>
                      <a:pt x="3142" y="660"/>
                      <a:pt x="3142" y="660"/>
                    </a:cubicBezTo>
                    <a:cubicBezTo>
                      <a:pt x="3220" y="660"/>
                      <a:pt x="3220" y="660"/>
                      <a:pt x="3220" y="660"/>
                    </a:cubicBezTo>
                    <a:cubicBezTo>
                      <a:pt x="3220" y="627"/>
                      <a:pt x="3220" y="627"/>
                      <a:pt x="3220" y="627"/>
                    </a:cubicBezTo>
                    <a:cubicBezTo>
                      <a:pt x="3247" y="627"/>
                      <a:pt x="3247" y="627"/>
                      <a:pt x="3247" y="627"/>
                    </a:cubicBezTo>
                    <a:cubicBezTo>
                      <a:pt x="3247" y="605"/>
                      <a:pt x="3247" y="605"/>
                      <a:pt x="3247" y="605"/>
                    </a:cubicBezTo>
                    <a:cubicBezTo>
                      <a:pt x="3285" y="605"/>
                      <a:pt x="3285" y="605"/>
                      <a:pt x="3285" y="605"/>
                    </a:cubicBezTo>
                    <a:cubicBezTo>
                      <a:pt x="3285" y="595"/>
                      <a:pt x="3285" y="595"/>
                      <a:pt x="3285" y="595"/>
                    </a:cubicBezTo>
                    <a:cubicBezTo>
                      <a:pt x="3311" y="595"/>
                      <a:pt x="3311" y="595"/>
                      <a:pt x="3311" y="595"/>
                    </a:cubicBezTo>
                    <a:cubicBezTo>
                      <a:pt x="3311" y="584"/>
                      <a:pt x="3311" y="584"/>
                      <a:pt x="3311" y="584"/>
                    </a:cubicBezTo>
                    <a:cubicBezTo>
                      <a:pt x="3371" y="584"/>
                      <a:pt x="3371" y="584"/>
                      <a:pt x="3371" y="584"/>
                    </a:cubicBezTo>
                    <a:cubicBezTo>
                      <a:pt x="3371" y="573"/>
                      <a:pt x="3371" y="573"/>
                      <a:pt x="3371" y="573"/>
                    </a:cubicBezTo>
                    <a:cubicBezTo>
                      <a:pt x="3407" y="573"/>
                      <a:pt x="3407" y="573"/>
                      <a:pt x="3407" y="573"/>
                    </a:cubicBezTo>
                    <a:cubicBezTo>
                      <a:pt x="3407" y="562"/>
                      <a:pt x="3407" y="562"/>
                      <a:pt x="3407" y="562"/>
                    </a:cubicBezTo>
                    <a:cubicBezTo>
                      <a:pt x="3455" y="562"/>
                      <a:pt x="3455" y="562"/>
                      <a:pt x="3455" y="562"/>
                    </a:cubicBezTo>
                    <a:cubicBezTo>
                      <a:pt x="3455" y="551"/>
                      <a:pt x="3455" y="551"/>
                      <a:pt x="3455" y="551"/>
                    </a:cubicBezTo>
                    <a:cubicBezTo>
                      <a:pt x="3495" y="551"/>
                      <a:pt x="3495" y="551"/>
                      <a:pt x="3495" y="551"/>
                    </a:cubicBezTo>
                    <a:cubicBezTo>
                      <a:pt x="3495" y="541"/>
                      <a:pt x="3495" y="541"/>
                      <a:pt x="3495" y="541"/>
                    </a:cubicBezTo>
                    <a:cubicBezTo>
                      <a:pt x="3546" y="541"/>
                      <a:pt x="3546" y="541"/>
                      <a:pt x="3546" y="541"/>
                    </a:cubicBezTo>
                    <a:cubicBezTo>
                      <a:pt x="3546" y="529"/>
                      <a:pt x="3546" y="529"/>
                      <a:pt x="3546" y="529"/>
                    </a:cubicBezTo>
                    <a:cubicBezTo>
                      <a:pt x="3571" y="529"/>
                      <a:pt x="3571" y="529"/>
                      <a:pt x="3571" y="529"/>
                    </a:cubicBezTo>
                    <a:cubicBezTo>
                      <a:pt x="3571" y="519"/>
                      <a:pt x="3571" y="519"/>
                      <a:pt x="3571" y="519"/>
                    </a:cubicBezTo>
                    <a:cubicBezTo>
                      <a:pt x="3617" y="519"/>
                      <a:pt x="3617" y="519"/>
                      <a:pt x="3617" y="519"/>
                    </a:cubicBezTo>
                    <a:cubicBezTo>
                      <a:pt x="3617" y="509"/>
                      <a:pt x="3617" y="509"/>
                      <a:pt x="3617" y="509"/>
                    </a:cubicBezTo>
                    <a:cubicBezTo>
                      <a:pt x="3635" y="509"/>
                      <a:pt x="3635" y="509"/>
                      <a:pt x="3635" y="509"/>
                    </a:cubicBezTo>
                    <a:cubicBezTo>
                      <a:pt x="3635" y="498"/>
                      <a:pt x="3635" y="498"/>
                      <a:pt x="3635" y="498"/>
                    </a:cubicBezTo>
                    <a:cubicBezTo>
                      <a:pt x="3656" y="498"/>
                      <a:pt x="3656" y="498"/>
                      <a:pt x="3656" y="498"/>
                    </a:cubicBezTo>
                    <a:cubicBezTo>
                      <a:pt x="3656" y="464"/>
                      <a:pt x="3656" y="464"/>
                      <a:pt x="3656" y="464"/>
                    </a:cubicBezTo>
                    <a:cubicBezTo>
                      <a:pt x="3733" y="464"/>
                      <a:pt x="3733" y="464"/>
                      <a:pt x="3733" y="464"/>
                    </a:cubicBezTo>
                    <a:cubicBezTo>
                      <a:pt x="3733" y="444"/>
                      <a:pt x="3733" y="444"/>
                      <a:pt x="3733" y="444"/>
                    </a:cubicBezTo>
                    <a:cubicBezTo>
                      <a:pt x="3856" y="444"/>
                      <a:pt x="3856" y="444"/>
                      <a:pt x="3856" y="444"/>
                    </a:cubicBezTo>
                    <a:cubicBezTo>
                      <a:pt x="3856" y="421"/>
                      <a:pt x="3856" y="421"/>
                      <a:pt x="3856" y="421"/>
                    </a:cubicBezTo>
                    <a:cubicBezTo>
                      <a:pt x="3896" y="421"/>
                      <a:pt x="3896" y="421"/>
                      <a:pt x="3896" y="421"/>
                    </a:cubicBezTo>
                    <a:cubicBezTo>
                      <a:pt x="3896" y="411"/>
                      <a:pt x="3896" y="411"/>
                      <a:pt x="3896" y="411"/>
                    </a:cubicBezTo>
                    <a:cubicBezTo>
                      <a:pt x="3942" y="411"/>
                      <a:pt x="3942" y="411"/>
                      <a:pt x="3942" y="411"/>
                    </a:cubicBezTo>
                    <a:cubicBezTo>
                      <a:pt x="3942" y="401"/>
                      <a:pt x="3942" y="401"/>
                      <a:pt x="3942" y="401"/>
                    </a:cubicBezTo>
                    <a:cubicBezTo>
                      <a:pt x="3982" y="401"/>
                      <a:pt x="3982" y="401"/>
                      <a:pt x="3982" y="401"/>
                    </a:cubicBezTo>
                    <a:cubicBezTo>
                      <a:pt x="3982" y="379"/>
                      <a:pt x="3982" y="379"/>
                      <a:pt x="3982" y="379"/>
                    </a:cubicBezTo>
                    <a:cubicBezTo>
                      <a:pt x="4069" y="379"/>
                      <a:pt x="4069" y="379"/>
                      <a:pt x="4069" y="379"/>
                    </a:cubicBezTo>
                    <a:cubicBezTo>
                      <a:pt x="4069" y="368"/>
                      <a:pt x="4069" y="368"/>
                      <a:pt x="4069" y="368"/>
                    </a:cubicBezTo>
                    <a:cubicBezTo>
                      <a:pt x="4105" y="368"/>
                      <a:pt x="4105" y="368"/>
                      <a:pt x="4105" y="368"/>
                    </a:cubicBezTo>
                    <a:cubicBezTo>
                      <a:pt x="4105" y="346"/>
                      <a:pt x="4105" y="346"/>
                      <a:pt x="4105" y="346"/>
                    </a:cubicBezTo>
                    <a:cubicBezTo>
                      <a:pt x="4123" y="346"/>
                      <a:pt x="4123" y="346"/>
                      <a:pt x="4123" y="346"/>
                    </a:cubicBezTo>
                    <a:cubicBezTo>
                      <a:pt x="4123" y="335"/>
                      <a:pt x="4123" y="335"/>
                      <a:pt x="4123" y="335"/>
                    </a:cubicBezTo>
                    <a:cubicBezTo>
                      <a:pt x="4179" y="335"/>
                      <a:pt x="4179" y="335"/>
                      <a:pt x="4179" y="335"/>
                    </a:cubicBezTo>
                    <a:cubicBezTo>
                      <a:pt x="4179" y="324"/>
                      <a:pt x="4179" y="324"/>
                      <a:pt x="4179" y="324"/>
                    </a:cubicBezTo>
                    <a:cubicBezTo>
                      <a:pt x="4210" y="324"/>
                      <a:pt x="4210" y="324"/>
                      <a:pt x="4210" y="324"/>
                    </a:cubicBezTo>
                    <a:cubicBezTo>
                      <a:pt x="4210" y="303"/>
                      <a:pt x="4210" y="303"/>
                      <a:pt x="4210" y="303"/>
                    </a:cubicBezTo>
                    <a:cubicBezTo>
                      <a:pt x="4286" y="303"/>
                      <a:pt x="4286" y="303"/>
                      <a:pt x="4286" y="303"/>
                    </a:cubicBezTo>
                    <a:cubicBezTo>
                      <a:pt x="4286" y="291"/>
                      <a:pt x="4286" y="291"/>
                      <a:pt x="4286" y="291"/>
                    </a:cubicBezTo>
                    <a:cubicBezTo>
                      <a:pt x="4297" y="291"/>
                      <a:pt x="4297" y="291"/>
                      <a:pt x="4297" y="291"/>
                    </a:cubicBezTo>
                    <a:cubicBezTo>
                      <a:pt x="4297" y="281"/>
                      <a:pt x="4297" y="281"/>
                      <a:pt x="4297" y="281"/>
                    </a:cubicBezTo>
                    <a:cubicBezTo>
                      <a:pt x="4360" y="281"/>
                      <a:pt x="4360" y="281"/>
                      <a:pt x="4360" y="281"/>
                    </a:cubicBezTo>
                    <a:cubicBezTo>
                      <a:pt x="4360" y="269"/>
                      <a:pt x="4360" y="269"/>
                      <a:pt x="4360" y="269"/>
                    </a:cubicBezTo>
                    <a:cubicBezTo>
                      <a:pt x="4373" y="269"/>
                      <a:pt x="4373" y="269"/>
                      <a:pt x="4373" y="269"/>
                    </a:cubicBezTo>
                    <a:cubicBezTo>
                      <a:pt x="4373" y="259"/>
                      <a:pt x="4373" y="259"/>
                      <a:pt x="4373" y="259"/>
                    </a:cubicBezTo>
                    <a:cubicBezTo>
                      <a:pt x="4432" y="259"/>
                      <a:pt x="4432" y="259"/>
                      <a:pt x="4432" y="259"/>
                    </a:cubicBezTo>
                    <a:cubicBezTo>
                      <a:pt x="4432" y="249"/>
                      <a:pt x="4432" y="249"/>
                      <a:pt x="4432" y="249"/>
                    </a:cubicBezTo>
                    <a:cubicBezTo>
                      <a:pt x="4448" y="249"/>
                      <a:pt x="4448" y="249"/>
                      <a:pt x="4448" y="249"/>
                    </a:cubicBezTo>
                    <a:cubicBezTo>
                      <a:pt x="4448" y="239"/>
                      <a:pt x="4448" y="239"/>
                      <a:pt x="4448" y="239"/>
                    </a:cubicBezTo>
                    <a:cubicBezTo>
                      <a:pt x="4459" y="239"/>
                      <a:pt x="4459" y="239"/>
                      <a:pt x="4459" y="239"/>
                    </a:cubicBezTo>
                    <a:cubicBezTo>
                      <a:pt x="4459" y="227"/>
                      <a:pt x="4459" y="227"/>
                      <a:pt x="4459" y="227"/>
                    </a:cubicBezTo>
                    <a:cubicBezTo>
                      <a:pt x="4508" y="227"/>
                      <a:pt x="4508" y="227"/>
                      <a:pt x="4508" y="227"/>
                    </a:cubicBezTo>
                    <a:cubicBezTo>
                      <a:pt x="4508" y="216"/>
                      <a:pt x="4508" y="216"/>
                      <a:pt x="4508" y="216"/>
                    </a:cubicBezTo>
                    <a:cubicBezTo>
                      <a:pt x="4546" y="216"/>
                      <a:pt x="4546" y="216"/>
                      <a:pt x="4546" y="216"/>
                    </a:cubicBezTo>
                    <a:cubicBezTo>
                      <a:pt x="4546" y="205"/>
                      <a:pt x="4546" y="205"/>
                      <a:pt x="4546" y="205"/>
                    </a:cubicBezTo>
                    <a:cubicBezTo>
                      <a:pt x="4600" y="205"/>
                      <a:pt x="4600" y="205"/>
                      <a:pt x="4600" y="205"/>
                    </a:cubicBezTo>
                    <a:cubicBezTo>
                      <a:pt x="4600" y="195"/>
                      <a:pt x="4600" y="195"/>
                      <a:pt x="4600" y="195"/>
                    </a:cubicBezTo>
                    <a:cubicBezTo>
                      <a:pt x="4685" y="195"/>
                      <a:pt x="4685" y="195"/>
                      <a:pt x="4685" y="195"/>
                    </a:cubicBezTo>
                    <a:cubicBezTo>
                      <a:pt x="4685" y="173"/>
                      <a:pt x="4685" y="173"/>
                      <a:pt x="4685" y="173"/>
                    </a:cubicBezTo>
                    <a:cubicBezTo>
                      <a:pt x="4759" y="173"/>
                      <a:pt x="4759" y="173"/>
                      <a:pt x="4759" y="173"/>
                    </a:cubicBezTo>
                    <a:cubicBezTo>
                      <a:pt x="4759" y="152"/>
                      <a:pt x="4759" y="152"/>
                      <a:pt x="4759" y="152"/>
                    </a:cubicBezTo>
                    <a:cubicBezTo>
                      <a:pt x="4774" y="152"/>
                      <a:pt x="4774" y="152"/>
                      <a:pt x="4774" y="152"/>
                    </a:cubicBezTo>
                    <a:cubicBezTo>
                      <a:pt x="4774" y="139"/>
                      <a:pt x="4774" y="139"/>
                      <a:pt x="4774" y="139"/>
                    </a:cubicBezTo>
                    <a:cubicBezTo>
                      <a:pt x="4847" y="139"/>
                      <a:pt x="4847" y="139"/>
                      <a:pt x="4847" y="139"/>
                    </a:cubicBezTo>
                    <a:cubicBezTo>
                      <a:pt x="4847" y="130"/>
                      <a:pt x="4847" y="130"/>
                      <a:pt x="4847" y="130"/>
                    </a:cubicBezTo>
                    <a:cubicBezTo>
                      <a:pt x="4938" y="130"/>
                      <a:pt x="4938" y="130"/>
                      <a:pt x="4938" y="130"/>
                    </a:cubicBezTo>
                    <a:cubicBezTo>
                      <a:pt x="4938" y="97"/>
                      <a:pt x="4938" y="97"/>
                      <a:pt x="4938" y="97"/>
                    </a:cubicBezTo>
                    <a:cubicBezTo>
                      <a:pt x="4946" y="97"/>
                      <a:pt x="4946" y="97"/>
                      <a:pt x="4946" y="97"/>
                    </a:cubicBezTo>
                    <a:cubicBezTo>
                      <a:pt x="4946" y="87"/>
                      <a:pt x="4946" y="87"/>
                      <a:pt x="4946" y="87"/>
                    </a:cubicBezTo>
                    <a:cubicBezTo>
                      <a:pt x="5006" y="87"/>
                      <a:pt x="5006" y="87"/>
                      <a:pt x="5006" y="87"/>
                    </a:cubicBezTo>
                    <a:cubicBezTo>
                      <a:pt x="5006" y="77"/>
                      <a:pt x="5006" y="77"/>
                      <a:pt x="5006" y="77"/>
                    </a:cubicBezTo>
                    <a:cubicBezTo>
                      <a:pt x="5022" y="77"/>
                      <a:pt x="5022" y="77"/>
                      <a:pt x="5022" y="77"/>
                    </a:cubicBezTo>
                    <a:cubicBezTo>
                      <a:pt x="5022" y="64"/>
                      <a:pt x="5022" y="64"/>
                      <a:pt x="5022" y="64"/>
                    </a:cubicBezTo>
                    <a:cubicBezTo>
                      <a:pt x="5130" y="64"/>
                      <a:pt x="5130" y="64"/>
                      <a:pt x="5130" y="64"/>
                    </a:cubicBezTo>
                    <a:cubicBezTo>
                      <a:pt x="5130" y="54"/>
                      <a:pt x="5130" y="54"/>
                      <a:pt x="5130" y="54"/>
                    </a:cubicBezTo>
                    <a:cubicBezTo>
                      <a:pt x="5195" y="54"/>
                      <a:pt x="5195" y="54"/>
                      <a:pt x="5195" y="54"/>
                    </a:cubicBezTo>
                    <a:cubicBezTo>
                      <a:pt x="5195" y="33"/>
                      <a:pt x="5195" y="33"/>
                      <a:pt x="5195" y="33"/>
                    </a:cubicBezTo>
                    <a:cubicBezTo>
                      <a:pt x="5205" y="33"/>
                      <a:pt x="5205" y="33"/>
                      <a:pt x="5205" y="33"/>
                    </a:cubicBezTo>
                    <a:cubicBezTo>
                      <a:pt x="5205" y="22"/>
                      <a:pt x="5205" y="22"/>
                      <a:pt x="5205" y="22"/>
                    </a:cubicBezTo>
                    <a:cubicBezTo>
                      <a:pt x="5234" y="22"/>
                      <a:pt x="5234" y="22"/>
                      <a:pt x="5234" y="22"/>
                    </a:cubicBezTo>
                    <a:cubicBezTo>
                      <a:pt x="5234" y="0"/>
                      <a:pt x="5234" y="0"/>
                      <a:pt x="5234" y="0"/>
                    </a:cubicBezTo>
                    <a:cubicBezTo>
                      <a:pt x="5249" y="0"/>
                      <a:pt x="5249" y="0"/>
                      <a:pt x="5249" y="0"/>
                    </a:cubicBezTo>
                  </a:path>
                </a:pathLst>
              </a:custGeom>
              <a:noFill/>
              <a:ln w="28575" cap="flat">
                <a:solidFill>
                  <a:srgbClr val="008A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600" b="1"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117" name="Freeform 7"/>
              <p:cNvSpPr>
                <a:spLocks/>
              </p:cNvSpPr>
              <p:nvPr/>
            </p:nvSpPr>
            <p:spPr bwMode="auto">
              <a:xfrm>
                <a:off x="1368465" y="1807854"/>
                <a:ext cx="6368694" cy="2571750"/>
              </a:xfrm>
              <a:custGeom>
                <a:avLst/>
                <a:gdLst>
                  <a:gd name="T0" fmla="*/ 42 w 5754"/>
                  <a:gd name="T1" fmla="*/ 2475 h 2523"/>
                  <a:gd name="T2" fmla="*/ 103 w 5754"/>
                  <a:gd name="T3" fmla="*/ 2378 h 2523"/>
                  <a:gd name="T4" fmla="*/ 173 w 5754"/>
                  <a:gd name="T5" fmla="*/ 2309 h 2523"/>
                  <a:gd name="T6" fmla="*/ 245 w 5754"/>
                  <a:gd name="T7" fmla="*/ 2228 h 2523"/>
                  <a:gd name="T8" fmla="*/ 281 w 5754"/>
                  <a:gd name="T9" fmla="*/ 2168 h 2523"/>
                  <a:gd name="T10" fmla="*/ 340 w 5754"/>
                  <a:gd name="T11" fmla="*/ 2131 h 2523"/>
                  <a:gd name="T12" fmla="*/ 491 w 5754"/>
                  <a:gd name="T13" fmla="*/ 2013 h 2523"/>
                  <a:gd name="T14" fmla="*/ 564 w 5754"/>
                  <a:gd name="T15" fmla="*/ 1966 h 2523"/>
                  <a:gd name="T16" fmla="*/ 659 w 5754"/>
                  <a:gd name="T17" fmla="*/ 1894 h 2523"/>
                  <a:gd name="T18" fmla="*/ 719 w 5754"/>
                  <a:gd name="T19" fmla="*/ 1871 h 2523"/>
                  <a:gd name="T20" fmla="*/ 778 w 5754"/>
                  <a:gd name="T21" fmla="*/ 1788 h 2523"/>
                  <a:gd name="T22" fmla="*/ 940 w 5754"/>
                  <a:gd name="T23" fmla="*/ 1765 h 2523"/>
                  <a:gd name="T24" fmla="*/ 967 w 5754"/>
                  <a:gd name="T25" fmla="*/ 1695 h 2523"/>
                  <a:gd name="T26" fmla="*/ 1134 w 5754"/>
                  <a:gd name="T27" fmla="*/ 1658 h 2523"/>
                  <a:gd name="T28" fmla="*/ 1180 w 5754"/>
                  <a:gd name="T29" fmla="*/ 1622 h 2523"/>
                  <a:gd name="T30" fmla="*/ 1288 w 5754"/>
                  <a:gd name="T31" fmla="*/ 1575 h 2523"/>
                  <a:gd name="T32" fmla="*/ 1347 w 5754"/>
                  <a:gd name="T33" fmla="*/ 1516 h 2523"/>
                  <a:gd name="T34" fmla="*/ 1443 w 5754"/>
                  <a:gd name="T35" fmla="*/ 1482 h 2523"/>
                  <a:gd name="T36" fmla="*/ 1525 w 5754"/>
                  <a:gd name="T37" fmla="*/ 1433 h 2523"/>
                  <a:gd name="T38" fmla="*/ 1583 w 5754"/>
                  <a:gd name="T39" fmla="*/ 1385 h 2523"/>
                  <a:gd name="T40" fmla="*/ 1619 w 5754"/>
                  <a:gd name="T41" fmla="*/ 1349 h 2523"/>
                  <a:gd name="T42" fmla="*/ 1763 w 5754"/>
                  <a:gd name="T43" fmla="*/ 1314 h 2523"/>
                  <a:gd name="T44" fmla="*/ 1788 w 5754"/>
                  <a:gd name="T45" fmla="*/ 1280 h 2523"/>
                  <a:gd name="T46" fmla="*/ 1858 w 5754"/>
                  <a:gd name="T47" fmla="*/ 1256 h 2523"/>
                  <a:gd name="T48" fmla="*/ 2001 w 5754"/>
                  <a:gd name="T49" fmla="*/ 1208 h 2523"/>
                  <a:gd name="T50" fmla="*/ 2071 w 5754"/>
                  <a:gd name="T51" fmla="*/ 1171 h 2523"/>
                  <a:gd name="T52" fmla="*/ 2189 w 5754"/>
                  <a:gd name="T53" fmla="*/ 1125 h 2523"/>
                  <a:gd name="T54" fmla="*/ 2307 w 5754"/>
                  <a:gd name="T55" fmla="*/ 1090 h 2523"/>
                  <a:gd name="T56" fmla="*/ 2358 w 5754"/>
                  <a:gd name="T57" fmla="*/ 1055 h 2523"/>
                  <a:gd name="T58" fmla="*/ 2521 w 5754"/>
                  <a:gd name="T59" fmla="*/ 1017 h 2523"/>
                  <a:gd name="T60" fmla="*/ 2615 w 5754"/>
                  <a:gd name="T61" fmla="*/ 971 h 2523"/>
                  <a:gd name="T62" fmla="*/ 2664 w 5754"/>
                  <a:gd name="T63" fmla="*/ 947 h 2523"/>
                  <a:gd name="T64" fmla="*/ 2736 w 5754"/>
                  <a:gd name="T65" fmla="*/ 911 h 2523"/>
                  <a:gd name="T66" fmla="*/ 2830 w 5754"/>
                  <a:gd name="T67" fmla="*/ 888 h 2523"/>
                  <a:gd name="T68" fmla="*/ 2913 w 5754"/>
                  <a:gd name="T69" fmla="*/ 816 h 2523"/>
                  <a:gd name="T70" fmla="*/ 3102 w 5754"/>
                  <a:gd name="T71" fmla="*/ 793 h 2523"/>
                  <a:gd name="T72" fmla="*/ 3210 w 5754"/>
                  <a:gd name="T73" fmla="*/ 747 h 2523"/>
                  <a:gd name="T74" fmla="*/ 3294 w 5754"/>
                  <a:gd name="T75" fmla="*/ 723 h 2523"/>
                  <a:gd name="T76" fmla="*/ 3365 w 5754"/>
                  <a:gd name="T77" fmla="*/ 664 h 2523"/>
                  <a:gd name="T78" fmla="*/ 3449 w 5754"/>
                  <a:gd name="T79" fmla="*/ 640 h 2523"/>
                  <a:gd name="T80" fmla="*/ 3589 w 5754"/>
                  <a:gd name="T81" fmla="*/ 582 h 2523"/>
                  <a:gd name="T82" fmla="*/ 3720 w 5754"/>
                  <a:gd name="T83" fmla="*/ 556 h 2523"/>
                  <a:gd name="T84" fmla="*/ 3817 w 5754"/>
                  <a:gd name="T85" fmla="*/ 497 h 2523"/>
                  <a:gd name="T86" fmla="*/ 4073 w 5754"/>
                  <a:gd name="T87" fmla="*/ 474 h 2523"/>
                  <a:gd name="T88" fmla="*/ 4158 w 5754"/>
                  <a:gd name="T89" fmla="*/ 428 h 2523"/>
                  <a:gd name="T90" fmla="*/ 4314 w 5754"/>
                  <a:gd name="T91" fmla="*/ 391 h 2523"/>
                  <a:gd name="T92" fmla="*/ 4361 w 5754"/>
                  <a:gd name="T93" fmla="*/ 344 h 2523"/>
                  <a:gd name="T94" fmla="*/ 4455 w 5754"/>
                  <a:gd name="T95" fmla="*/ 309 h 2523"/>
                  <a:gd name="T96" fmla="*/ 4611 w 5754"/>
                  <a:gd name="T97" fmla="*/ 274 h 2523"/>
                  <a:gd name="T98" fmla="*/ 4752 w 5754"/>
                  <a:gd name="T99" fmla="*/ 249 h 2523"/>
                  <a:gd name="T100" fmla="*/ 4871 w 5754"/>
                  <a:gd name="T101" fmla="*/ 214 h 2523"/>
                  <a:gd name="T102" fmla="*/ 4942 w 5754"/>
                  <a:gd name="T103" fmla="*/ 191 h 2523"/>
                  <a:gd name="T104" fmla="*/ 5015 w 5754"/>
                  <a:gd name="T105" fmla="*/ 155 h 2523"/>
                  <a:gd name="T106" fmla="*/ 5214 w 5754"/>
                  <a:gd name="T107" fmla="*/ 132 h 2523"/>
                  <a:gd name="T108" fmla="*/ 5321 w 5754"/>
                  <a:gd name="T109" fmla="*/ 70 h 2523"/>
                  <a:gd name="T110" fmla="*/ 5500 w 5754"/>
                  <a:gd name="T111" fmla="*/ 49 h 2523"/>
                  <a:gd name="T112" fmla="*/ 5643 w 5754"/>
                  <a:gd name="T113" fmla="*/ 14 h 2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54" h="2523">
                    <a:moveTo>
                      <a:pt x="0" y="2523"/>
                    </a:moveTo>
                    <a:lnTo>
                      <a:pt x="30" y="2523"/>
                    </a:lnTo>
                    <a:lnTo>
                      <a:pt x="30" y="2499"/>
                    </a:lnTo>
                    <a:lnTo>
                      <a:pt x="42" y="2499"/>
                    </a:lnTo>
                    <a:lnTo>
                      <a:pt x="42" y="2475"/>
                    </a:lnTo>
                    <a:lnTo>
                      <a:pt x="54" y="2475"/>
                    </a:lnTo>
                    <a:lnTo>
                      <a:pt x="54" y="2440"/>
                    </a:lnTo>
                    <a:lnTo>
                      <a:pt x="77" y="2440"/>
                    </a:lnTo>
                    <a:lnTo>
                      <a:pt x="77" y="2378"/>
                    </a:lnTo>
                    <a:lnTo>
                      <a:pt x="103" y="2378"/>
                    </a:lnTo>
                    <a:lnTo>
                      <a:pt x="103" y="2358"/>
                    </a:lnTo>
                    <a:lnTo>
                      <a:pt x="139" y="2358"/>
                    </a:lnTo>
                    <a:lnTo>
                      <a:pt x="139" y="2332"/>
                    </a:lnTo>
                    <a:lnTo>
                      <a:pt x="173" y="2332"/>
                    </a:lnTo>
                    <a:lnTo>
                      <a:pt x="173" y="2309"/>
                    </a:lnTo>
                    <a:lnTo>
                      <a:pt x="184" y="2309"/>
                    </a:lnTo>
                    <a:lnTo>
                      <a:pt x="184" y="2273"/>
                    </a:lnTo>
                    <a:lnTo>
                      <a:pt x="231" y="2273"/>
                    </a:lnTo>
                    <a:lnTo>
                      <a:pt x="231" y="2228"/>
                    </a:lnTo>
                    <a:lnTo>
                      <a:pt x="245" y="2228"/>
                    </a:lnTo>
                    <a:lnTo>
                      <a:pt x="245" y="2202"/>
                    </a:lnTo>
                    <a:lnTo>
                      <a:pt x="268" y="2202"/>
                    </a:lnTo>
                    <a:lnTo>
                      <a:pt x="268" y="2180"/>
                    </a:lnTo>
                    <a:lnTo>
                      <a:pt x="281" y="2180"/>
                    </a:lnTo>
                    <a:lnTo>
                      <a:pt x="281" y="2168"/>
                    </a:lnTo>
                    <a:lnTo>
                      <a:pt x="293" y="2168"/>
                    </a:lnTo>
                    <a:lnTo>
                      <a:pt x="293" y="2154"/>
                    </a:lnTo>
                    <a:lnTo>
                      <a:pt x="315" y="2154"/>
                    </a:lnTo>
                    <a:lnTo>
                      <a:pt x="315" y="2131"/>
                    </a:lnTo>
                    <a:lnTo>
                      <a:pt x="340" y="2131"/>
                    </a:lnTo>
                    <a:lnTo>
                      <a:pt x="340" y="2108"/>
                    </a:lnTo>
                    <a:lnTo>
                      <a:pt x="399" y="2108"/>
                    </a:lnTo>
                    <a:lnTo>
                      <a:pt x="399" y="2073"/>
                    </a:lnTo>
                    <a:lnTo>
                      <a:pt x="491" y="2073"/>
                    </a:lnTo>
                    <a:lnTo>
                      <a:pt x="491" y="2013"/>
                    </a:lnTo>
                    <a:lnTo>
                      <a:pt x="529" y="2013"/>
                    </a:lnTo>
                    <a:lnTo>
                      <a:pt x="529" y="2002"/>
                    </a:lnTo>
                    <a:lnTo>
                      <a:pt x="542" y="2002"/>
                    </a:lnTo>
                    <a:lnTo>
                      <a:pt x="542" y="1966"/>
                    </a:lnTo>
                    <a:lnTo>
                      <a:pt x="564" y="1966"/>
                    </a:lnTo>
                    <a:lnTo>
                      <a:pt x="564" y="1956"/>
                    </a:lnTo>
                    <a:lnTo>
                      <a:pt x="636" y="1956"/>
                    </a:lnTo>
                    <a:lnTo>
                      <a:pt x="636" y="1918"/>
                    </a:lnTo>
                    <a:lnTo>
                      <a:pt x="659" y="1918"/>
                    </a:lnTo>
                    <a:lnTo>
                      <a:pt x="659" y="1894"/>
                    </a:lnTo>
                    <a:lnTo>
                      <a:pt x="683" y="1894"/>
                    </a:lnTo>
                    <a:lnTo>
                      <a:pt x="683" y="1883"/>
                    </a:lnTo>
                    <a:lnTo>
                      <a:pt x="707" y="1883"/>
                    </a:lnTo>
                    <a:lnTo>
                      <a:pt x="707" y="1871"/>
                    </a:lnTo>
                    <a:lnTo>
                      <a:pt x="719" y="1871"/>
                    </a:lnTo>
                    <a:lnTo>
                      <a:pt x="719" y="1846"/>
                    </a:lnTo>
                    <a:lnTo>
                      <a:pt x="763" y="1846"/>
                    </a:lnTo>
                    <a:lnTo>
                      <a:pt x="763" y="1812"/>
                    </a:lnTo>
                    <a:lnTo>
                      <a:pt x="778" y="1812"/>
                    </a:lnTo>
                    <a:lnTo>
                      <a:pt x="778" y="1788"/>
                    </a:lnTo>
                    <a:lnTo>
                      <a:pt x="849" y="1788"/>
                    </a:lnTo>
                    <a:lnTo>
                      <a:pt x="849" y="1776"/>
                    </a:lnTo>
                    <a:lnTo>
                      <a:pt x="894" y="1776"/>
                    </a:lnTo>
                    <a:lnTo>
                      <a:pt x="894" y="1765"/>
                    </a:lnTo>
                    <a:lnTo>
                      <a:pt x="940" y="1765"/>
                    </a:lnTo>
                    <a:lnTo>
                      <a:pt x="940" y="1740"/>
                    </a:lnTo>
                    <a:lnTo>
                      <a:pt x="955" y="1740"/>
                    </a:lnTo>
                    <a:lnTo>
                      <a:pt x="955" y="1717"/>
                    </a:lnTo>
                    <a:lnTo>
                      <a:pt x="967" y="1717"/>
                    </a:lnTo>
                    <a:lnTo>
                      <a:pt x="967" y="1695"/>
                    </a:lnTo>
                    <a:lnTo>
                      <a:pt x="1015" y="1695"/>
                    </a:lnTo>
                    <a:lnTo>
                      <a:pt x="1015" y="1682"/>
                    </a:lnTo>
                    <a:lnTo>
                      <a:pt x="1039" y="1682"/>
                    </a:lnTo>
                    <a:lnTo>
                      <a:pt x="1039" y="1658"/>
                    </a:lnTo>
                    <a:lnTo>
                      <a:pt x="1134" y="1658"/>
                    </a:lnTo>
                    <a:lnTo>
                      <a:pt x="1134" y="1646"/>
                    </a:lnTo>
                    <a:lnTo>
                      <a:pt x="1145" y="1646"/>
                    </a:lnTo>
                    <a:lnTo>
                      <a:pt x="1145" y="1634"/>
                    </a:lnTo>
                    <a:lnTo>
                      <a:pt x="1180" y="1634"/>
                    </a:lnTo>
                    <a:lnTo>
                      <a:pt x="1180" y="1622"/>
                    </a:lnTo>
                    <a:lnTo>
                      <a:pt x="1204" y="1622"/>
                    </a:lnTo>
                    <a:lnTo>
                      <a:pt x="1204" y="1611"/>
                    </a:lnTo>
                    <a:lnTo>
                      <a:pt x="1277" y="1611"/>
                    </a:lnTo>
                    <a:lnTo>
                      <a:pt x="1277" y="1575"/>
                    </a:lnTo>
                    <a:lnTo>
                      <a:pt x="1288" y="1575"/>
                    </a:lnTo>
                    <a:lnTo>
                      <a:pt x="1288" y="1540"/>
                    </a:lnTo>
                    <a:lnTo>
                      <a:pt x="1324" y="1540"/>
                    </a:lnTo>
                    <a:lnTo>
                      <a:pt x="1324" y="1526"/>
                    </a:lnTo>
                    <a:lnTo>
                      <a:pt x="1347" y="1526"/>
                    </a:lnTo>
                    <a:lnTo>
                      <a:pt x="1347" y="1516"/>
                    </a:lnTo>
                    <a:lnTo>
                      <a:pt x="1382" y="1516"/>
                    </a:lnTo>
                    <a:lnTo>
                      <a:pt x="1382" y="1494"/>
                    </a:lnTo>
                    <a:lnTo>
                      <a:pt x="1431" y="1494"/>
                    </a:lnTo>
                    <a:lnTo>
                      <a:pt x="1431" y="1482"/>
                    </a:lnTo>
                    <a:lnTo>
                      <a:pt x="1443" y="1482"/>
                    </a:lnTo>
                    <a:lnTo>
                      <a:pt x="1443" y="1468"/>
                    </a:lnTo>
                    <a:lnTo>
                      <a:pt x="1490" y="1468"/>
                    </a:lnTo>
                    <a:lnTo>
                      <a:pt x="1490" y="1458"/>
                    </a:lnTo>
                    <a:lnTo>
                      <a:pt x="1525" y="1458"/>
                    </a:lnTo>
                    <a:lnTo>
                      <a:pt x="1525" y="1433"/>
                    </a:lnTo>
                    <a:lnTo>
                      <a:pt x="1538" y="1433"/>
                    </a:lnTo>
                    <a:lnTo>
                      <a:pt x="1538" y="1420"/>
                    </a:lnTo>
                    <a:lnTo>
                      <a:pt x="1570" y="1420"/>
                    </a:lnTo>
                    <a:lnTo>
                      <a:pt x="1570" y="1385"/>
                    </a:lnTo>
                    <a:lnTo>
                      <a:pt x="1583" y="1385"/>
                    </a:lnTo>
                    <a:lnTo>
                      <a:pt x="1583" y="1373"/>
                    </a:lnTo>
                    <a:lnTo>
                      <a:pt x="1598" y="1373"/>
                    </a:lnTo>
                    <a:lnTo>
                      <a:pt x="1598" y="1362"/>
                    </a:lnTo>
                    <a:lnTo>
                      <a:pt x="1619" y="1362"/>
                    </a:lnTo>
                    <a:lnTo>
                      <a:pt x="1619" y="1349"/>
                    </a:lnTo>
                    <a:lnTo>
                      <a:pt x="1691" y="1349"/>
                    </a:lnTo>
                    <a:lnTo>
                      <a:pt x="1691" y="1326"/>
                    </a:lnTo>
                    <a:lnTo>
                      <a:pt x="1729" y="1326"/>
                    </a:lnTo>
                    <a:lnTo>
                      <a:pt x="1729" y="1314"/>
                    </a:lnTo>
                    <a:lnTo>
                      <a:pt x="1763" y="1314"/>
                    </a:lnTo>
                    <a:lnTo>
                      <a:pt x="1763" y="1303"/>
                    </a:lnTo>
                    <a:lnTo>
                      <a:pt x="1776" y="1303"/>
                    </a:lnTo>
                    <a:lnTo>
                      <a:pt x="1776" y="1292"/>
                    </a:lnTo>
                    <a:lnTo>
                      <a:pt x="1788" y="1292"/>
                    </a:lnTo>
                    <a:lnTo>
                      <a:pt x="1788" y="1280"/>
                    </a:lnTo>
                    <a:lnTo>
                      <a:pt x="1809" y="1280"/>
                    </a:lnTo>
                    <a:lnTo>
                      <a:pt x="1809" y="1267"/>
                    </a:lnTo>
                    <a:lnTo>
                      <a:pt x="1833" y="1267"/>
                    </a:lnTo>
                    <a:lnTo>
                      <a:pt x="1833" y="1256"/>
                    </a:lnTo>
                    <a:lnTo>
                      <a:pt x="1858" y="1256"/>
                    </a:lnTo>
                    <a:lnTo>
                      <a:pt x="1858" y="1230"/>
                    </a:lnTo>
                    <a:lnTo>
                      <a:pt x="1954" y="1230"/>
                    </a:lnTo>
                    <a:lnTo>
                      <a:pt x="1954" y="1220"/>
                    </a:lnTo>
                    <a:lnTo>
                      <a:pt x="2001" y="1220"/>
                    </a:lnTo>
                    <a:lnTo>
                      <a:pt x="2001" y="1208"/>
                    </a:lnTo>
                    <a:lnTo>
                      <a:pt x="2023" y="1208"/>
                    </a:lnTo>
                    <a:lnTo>
                      <a:pt x="2023" y="1196"/>
                    </a:lnTo>
                    <a:lnTo>
                      <a:pt x="2049" y="1196"/>
                    </a:lnTo>
                    <a:lnTo>
                      <a:pt x="2049" y="1171"/>
                    </a:lnTo>
                    <a:lnTo>
                      <a:pt x="2071" y="1171"/>
                    </a:lnTo>
                    <a:lnTo>
                      <a:pt x="2071" y="1149"/>
                    </a:lnTo>
                    <a:lnTo>
                      <a:pt x="2094" y="1149"/>
                    </a:lnTo>
                    <a:lnTo>
                      <a:pt x="2094" y="1137"/>
                    </a:lnTo>
                    <a:lnTo>
                      <a:pt x="2189" y="1137"/>
                    </a:lnTo>
                    <a:lnTo>
                      <a:pt x="2189" y="1125"/>
                    </a:lnTo>
                    <a:lnTo>
                      <a:pt x="2214" y="1125"/>
                    </a:lnTo>
                    <a:lnTo>
                      <a:pt x="2214" y="1110"/>
                    </a:lnTo>
                    <a:lnTo>
                      <a:pt x="2261" y="1110"/>
                    </a:lnTo>
                    <a:lnTo>
                      <a:pt x="2261" y="1090"/>
                    </a:lnTo>
                    <a:lnTo>
                      <a:pt x="2307" y="1090"/>
                    </a:lnTo>
                    <a:lnTo>
                      <a:pt x="2307" y="1078"/>
                    </a:lnTo>
                    <a:lnTo>
                      <a:pt x="2332" y="1078"/>
                    </a:lnTo>
                    <a:lnTo>
                      <a:pt x="2332" y="1067"/>
                    </a:lnTo>
                    <a:lnTo>
                      <a:pt x="2358" y="1067"/>
                    </a:lnTo>
                    <a:lnTo>
                      <a:pt x="2358" y="1055"/>
                    </a:lnTo>
                    <a:lnTo>
                      <a:pt x="2392" y="1055"/>
                    </a:lnTo>
                    <a:lnTo>
                      <a:pt x="2392" y="1030"/>
                    </a:lnTo>
                    <a:lnTo>
                      <a:pt x="2473" y="1030"/>
                    </a:lnTo>
                    <a:lnTo>
                      <a:pt x="2473" y="1017"/>
                    </a:lnTo>
                    <a:lnTo>
                      <a:pt x="2521" y="1017"/>
                    </a:lnTo>
                    <a:lnTo>
                      <a:pt x="2521" y="1006"/>
                    </a:lnTo>
                    <a:lnTo>
                      <a:pt x="2534" y="1006"/>
                    </a:lnTo>
                    <a:lnTo>
                      <a:pt x="2534" y="983"/>
                    </a:lnTo>
                    <a:lnTo>
                      <a:pt x="2615" y="983"/>
                    </a:lnTo>
                    <a:lnTo>
                      <a:pt x="2615" y="971"/>
                    </a:lnTo>
                    <a:lnTo>
                      <a:pt x="2628" y="971"/>
                    </a:lnTo>
                    <a:lnTo>
                      <a:pt x="2628" y="959"/>
                    </a:lnTo>
                    <a:lnTo>
                      <a:pt x="2640" y="959"/>
                    </a:lnTo>
                    <a:lnTo>
                      <a:pt x="2640" y="947"/>
                    </a:lnTo>
                    <a:lnTo>
                      <a:pt x="2664" y="947"/>
                    </a:lnTo>
                    <a:lnTo>
                      <a:pt x="2664" y="936"/>
                    </a:lnTo>
                    <a:lnTo>
                      <a:pt x="2723" y="936"/>
                    </a:lnTo>
                    <a:lnTo>
                      <a:pt x="2723" y="923"/>
                    </a:lnTo>
                    <a:lnTo>
                      <a:pt x="2736" y="923"/>
                    </a:lnTo>
                    <a:lnTo>
                      <a:pt x="2736" y="911"/>
                    </a:lnTo>
                    <a:lnTo>
                      <a:pt x="2788" y="911"/>
                    </a:lnTo>
                    <a:lnTo>
                      <a:pt x="2788" y="900"/>
                    </a:lnTo>
                    <a:lnTo>
                      <a:pt x="2818" y="900"/>
                    </a:lnTo>
                    <a:lnTo>
                      <a:pt x="2818" y="888"/>
                    </a:lnTo>
                    <a:lnTo>
                      <a:pt x="2830" y="888"/>
                    </a:lnTo>
                    <a:lnTo>
                      <a:pt x="2830" y="877"/>
                    </a:lnTo>
                    <a:lnTo>
                      <a:pt x="2891" y="877"/>
                    </a:lnTo>
                    <a:lnTo>
                      <a:pt x="2891" y="852"/>
                    </a:lnTo>
                    <a:lnTo>
                      <a:pt x="2913" y="852"/>
                    </a:lnTo>
                    <a:lnTo>
                      <a:pt x="2913" y="816"/>
                    </a:lnTo>
                    <a:lnTo>
                      <a:pt x="2985" y="816"/>
                    </a:lnTo>
                    <a:lnTo>
                      <a:pt x="2985" y="806"/>
                    </a:lnTo>
                    <a:lnTo>
                      <a:pt x="3032" y="806"/>
                    </a:lnTo>
                    <a:lnTo>
                      <a:pt x="3032" y="793"/>
                    </a:lnTo>
                    <a:lnTo>
                      <a:pt x="3102" y="793"/>
                    </a:lnTo>
                    <a:lnTo>
                      <a:pt x="3102" y="782"/>
                    </a:lnTo>
                    <a:lnTo>
                      <a:pt x="3146" y="782"/>
                    </a:lnTo>
                    <a:lnTo>
                      <a:pt x="3146" y="759"/>
                    </a:lnTo>
                    <a:lnTo>
                      <a:pt x="3210" y="759"/>
                    </a:lnTo>
                    <a:lnTo>
                      <a:pt x="3210" y="747"/>
                    </a:lnTo>
                    <a:lnTo>
                      <a:pt x="3222" y="747"/>
                    </a:lnTo>
                    <a:lnTo>
                      <a:pt x="3222" y="734"/>
                    </a:lnTo>
                    <a:lnTo>
                      <a:pt x="3245" y="734"/>
                    </a:lnTo>
                    <a:lnTo>
                      <a:pt x="3245" y="723"/>
                    </a:lnTo>
                    <a:lnTo>
                      <a:pt x="3294" y="723"/>
                    </a:lnTo>
                    <a:lnTo>
                      <a:pt x="3294" y="700"/>
                    </a:lnTo>
                    <a:lnTo>
                      <a:pt x="3352" y="700"/>
                    </a:lnTo>
                    <a:lnTo>
                      <a:pt x="3352" y="675"/>
                    </a:lnTo>
                    <a:lnTo>
                      <a:pt x="3365" y="675"/>
                    </a:lnTo>
                    <a:lnTo>
                      <a:pt x="3365" y="664"/>
                    </a:lnTo>
                    <a:lnTo>
                      <a:pt x="3388" y="664"/>
                    </a:lnTo>
                    <a:lnTo>
                      <a:pt x="3388" y="651"/>
                    </a:lnTo>
                    <a:lnTo>
                      <a:pt x="3413" y="651"/>
                    </a:lnTo>
                    <a:lnTo>
                      <a:pt x="3413" y="640"/>
                    </a:lnTo>
                    <a:lnTo>
                      <a:pt x="3449" y="640"/>
                    </a:lnTo>
                    <a:lnTo>
                      <a:pt x="3449" y="617"/>
                    </a:lnTo>
                    <a:lnTo>
                      <a:pt x="3485" y="617"/>
                    </a:lnTo>
                    <a:lnTo>
                      <a:pt x="3485" y="593"/>
                    </a:lnTo>
                    <a:lnTo>
                      <a:pt x="3589" y="593"/>
                    </a:lnTo>
                    <a:lnTo>
                      <a:pt x="3589" y="582"/>
                    </a:lnTo>
                    <a:lnTo>
                      <a:pt x="3626" y="582"/>
                    </a:lnTo>
                    <a:lnTo>
                      <a:pt x="3626" y="567"/>
                    </a:lnTo>
                    <a:lnTo>
                      <a:pt x="3696" y="567"/>
                    </a:lnTo>
                    <a:lnTo>
                      <a:pt x="3696" y="556"/>
                    </a:lnTo>
                    <a:lnTo>
                      <a:pt x="3720" y="556"/>
                    </a:lnTo>
                    <a:lnTo>
                      <a:pt x="3720" y="543"/>
                    </a:lnTo>
                    <a:lnTo>
                      <a:pt x="3744" y="543"/>
                    </a:lnTo>
                    <a:lnTo>
                      <a:pt x="3744" y="521"/>
                    </a:lnTo>
                    <a:lnTo>
                      <a:pt x="3817" y="521"/>
                    </a:lnTo>
                    <a:lnTo>
                      <a:pt x="3817" y="497"/>
                    </a:lnTo>
                    <a:lnTo>
                      <a:pt x="3981" y="497"/>
                    </a:lnTo>
                    <a:lnTo>
                      <a:pt x="3981" y="486"/>
                    </a:lnTo>
                    <a:lnTo>
                      <a:pt x="4005" y="486"/>
                    </a:lnTo>
                    <a:lnTo>
                      <a:pt x="4005" y="474"/>
                    </a:lnTo>
                    <a:lnTo>
                      <a:pt x="4073" y="474"/>
                    </a:lnTo>
                    <a:lnTo>
                      <a:pt x="4073" y="462"/>
                    </a:lnTo>
                    <a:lnTo>
                      <a:pt x="4087" y="462"/>
                    </a:lnTo>
                    <a:lnTo>
                      <a:pt x="4087" y="450"/>
                    </a:lnTo>
                    <a:lnTo>
                      <a:pt x="4158" y="450"/>
                    </a:lnTo>
                    <a:lnTo>
                      <a:pt x="4158" y="428"/>
                    </a:lnTo>
                    <a:lnTo>
                      <a:pt x="4170" y="428"/>
                    </a:lnTo>
                    <a:lnTo>
                      <a:pt x="4170" y="414"/>
                    </a:lnTo>
                    <a:lnTo>
                      <a:pt x="4302" y="414"/>
                    </a:lnTo>
                    <a:lnTo>
                      <a:pt x="4302" y="391"/>
                    </a:lnTo>
                    <a:lnTo>
                      <a:pt x="4314" y="391"/>
                    </a:lnTo>
                    <a:lnTo>
                      <a:pt x="4314" y="367"/>
                    </a:lnTo>
                    <a:lnTo>
                      <a:pt x="4325" y="367"/>
                    </a:lnTo>
                    <a:lnTo>
                      <a:pt x="4325" y="355"/>
                    </a:lnTo>
                    <a:lnTo>
                      <a:pt x="4361" y="355"/>
                    </a:lnTo>
                    <a:lnTo>
                      <a:pt x="4361" y="344"/>
                    </a:lnTo>
                    <a:lnTo>
                      <a:pt x="4374" y="344"/>
                    </a:lnTo>
                    <a:lnTo>
                      <a:pt x="4374" y="331"/>
                    </a:lnTo>
                    <a:lnTo>
                      <a:pt x="4410" y="331"/>
                    </a:lnTo>
                    <a:lnTo>
                      <a:pt x="4410" y="309"/>
                    </a:lnTo>
                    <a:lnTo>
                      <a:pt x="4455" y="309"/>
                    </a:lnTo>
                    <a:lnTo>
                      <a:pt x="4455" y="296"/>
                    </a:lnTo>
                    <a:lnTo>
                      <a:pt x="4502" y="296"/>
                    </a:lnTo>
                    <a:lnTo>
                      <a:pt x="4502" y="283"/>
                    </a:lnTo>
                    <a:lnTo>
                      <a:pt x="4611" y="283"/>
                    </a:lnTo>
                    <a:lnTo>
                      <a:pt x="4611" y="274"/>
                    </a:lnTo>
                    <a:lnTo>
                      <a:pt x="4647" y="274"/>
                    </a:lnTo>
                    <a:lnTo>
                      <a:pt x="4647" y="260"/>
                    </a:lnTo>
                    <a:lnTo>
                      <a:pt x="4693" y="260"/>
                    </a:lnTo>
                    <a:lnTo>
                      <a:pt x="4693" y="249"/>
                    </a:lnTo>
                    <a:lnTo>
                      <a:pt x="4752" y="249"/>
                    </a:lnTo>
                    <a:lnTo>
                      <a:pt x="4752" y="237"/>
                    </a:lnTo>
                    <a:lnTo>
                      <a:pt x="4814" y="237"/>
                    </a:lnTo>
                    <a:lnTo>
                      <a:pt x="4814" y="226"/>
                    </a:lnTo>
                    <a:lnTo>
                      <a:pt x="4871" y="226"/>
                    </a:lnTo>
                    <a:lnTo>
                      <a:pt x="4871" y="214"/>
                    </a:lnTo>
                    <a:lnTo>
                      <a:pt x="4882" y="214"/>
                    </a:lnTo>
                    <a:lnTo>
                      <a:pt x="4882" y="203"/>
                    </a:lnTo>
                    <a:lnTo>
                      <a:pt x="4895" y="203"/>
                    </a:lnTo>
                    <a:lnTo>
                      <a:pt x="4895" y="191"/>
                    </a:lnTo>
                    <a:lnTo>
                      <a:pt x="4942" y="191"/>
                    </a:lnTo>
                    <a:lnTo>
                      <a:pt x="4942" y="178"/>
                    </a:lnTo>
                    <a:lnTo>
                      <a:pt x="5002" y="178"/>
                    </a:lnTo>
                    <a:lnTo>
                      <a:pt x="5002" y="167"/>
                    </a:lnTo>
                    <a:lnTo>
                      <a:pt x="5015" y="167"/>
                    </a:lnTo>
                    <a:lnTo>
                      <a:pt x="5015" y="155"/>
                    </a:lnTo>
                    <a:lnTo>
                      <a:pt x="5062" y="155"/>
                    </a:lnTo>
                    <a:lnTo>
                      <a:pt x="5062" y="142"/>
                    </a:lnTo>
                    <a:lnTo>
                      <a:pt x="5157" y="142"/>
                    </a:lnTo>
                    <a:lnTo>
                      <a:pt x="5157" y="132"/>
                    </a:lnTo>
                    <a:lnTo>
                      <a:pt x="5214" y="132"/>
                    </a:lnTo>
                    <a:lnTo>
                      <a:pt x="5214" y="107"/>
                    </a:lnTo>
                    <a:lnTo>
                      <a:pt x="5298" y="107"/>
                    </a:lnTo>
                    <a:lnTo>
                      <a:pt x="5298" y="94"/>
                    </a:lnTo>
                    <a:lnTo>
                      <a:pt x="5321" y="94"/>
                    </a:lnTo>
                    <a:lnTo>
                      <a:pt x="5321" y="70"/>
                    </a:lnTo>
                    <a:lnTo>
                      <a:pt x="5404" y="70"/>
                    </a:lnTo>
                    <a:lnTo>
                      <a:pt x="5404" y="59"/>
                    </a:lnTo>
                    <a:lnTo>
                      <a:pt x="5477" y="59"/>
                    </a:lnTo>
                    <a:lnTo>
                      <a:pt x="5477" y="49"/>
                    </a:lnTo>
                    <a:lnTo>
                      <a:pt x="5500" y="49"/>
                    </a:lnTo>
                    <a:lnTo>
                      <a:pt x="5500" y="36"/>
                    </a:lnTo>
                    <a:lnTo>
                      <a:pt x="5510" y="36"/>
                    </a:lnTo>
                    <a:lnTo>
                      <a:pt x="5510" y="24"/>
                    </a:lnTo>
                    <a:lnTo>
                      <a:pt x="5643" y="24"/>
                    </a:lnTo>
                    <a:lnTo>
                      <a:pt x="5643" y="14"/>
                    </a:lnTo>
                    <a:lnTo>
                      <a:pt x="5712" y="14"/>
                    </a:lnTo>
                    <a:lnTo>
                      <a:pt x="5712" y="0"/>
                    </a:lnTo>
                    <a:lnTo>
                      <a:pt x="5754" y="0"/>
                    </a:lnTo>
                  </a:path>
                </a:pathLst>
              </a:custGeom>
              <a:noFill/>
              <a:ln w="28575" cap="flat">
                <a:solidFill>
                  <a:srgbClr val="40488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600" b="1" i="0" u="none" strike="noStrike" kern="0" cap="none" spc="0" normalizeH="0" baseline="0" noProof="0" dirty="0">
                  <a:ln>
                    <a:noFill/>
                  </a:ln>
                  <a:solidFill>
                    <a:srgbClr val="544F40"/>
                  </a:solidFill>
                  <a:effectLst/>
                  <a:uLnTx/>
                  <a:uFillTx/>
                  <a:latin typeface="Arial" panose="020B0604020202020204"/>
                  <a:ea typeface="+mn-ea"/>
                  <a:cs typeface="+mn-cs"/>
                </a:endParaRPr>
              </a:p>
            </p:txBody>
          </p:sp>
        </p:grpSp>
      </p:grpSp>
      <p:pic>
        <p:nvPicPr>
          <p:cNvPr id="118" name="Picture 117">
            <a:extLst>
              <a:ext uri="{FF2B5EF4-FFF2-40B4-BE49-F238E27FC236}">
                <a16:creationId xmlns:a16="http://schemas.microsoft.com/office/drawing/2014/main" id="{F89C67CB-48BA-4A88-9301-0CB397AE4EB8}"/>
              </a:ext>
            </a:extLst>
          </p:cNvPr>
          <p:cNvPicPr>
            <a:picLocks noChangeAspect="1"/>
          </p:cNvPicPr>
          <p:nvPr/>
        </p:nvPicPr>
        <p:blipFill>
          <a:blip r:embed="rId2"/>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257682582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 y="168472"/>
            <a:ext cx="11675576" cy="1124454"/>
          </a:xfrm>
        </p:spPr>
        <p:txBody>
          <a:bodyPr/>
          <a:lstStyle/>
          <a:p>
            <a:r>
              <a:rPr lang="en-US" sz="2400" dirty="0"/>
              <a:t>IMPACT: FF/UMEC/VI demonstrated a significant reduction in moderate/severe exacerbations vs an ICS/LABA (FF/VI) and vs LAMA/LABA (UMEC/VI) based on exacerbation history in prior year</a:t>
            </a:r>
            <a:endParaRPr lang="en-US" sz="2400" baseline="30000" dirty="0">
              <a:solidFill>
                <a:srgbClr val="ED003C"/>
              </a:solidFill>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17" name="Text Placeholder 16"/>
          <p:cNvSpPr>
            <a:spLocks noGrp="1"/>
          </p:cNvSpPr>
          <p:nvPr>
            <p:ph type="body" sz="quarter" idx="21"/>
          </p:nvPr>
        </p:nvSpPr>
        <p:spPr/>
        <p:txBody>
          <a:bodyPr/>
          <a:lstStyle/>
          <a:p>
            <a:r>
              <a:rPr lang="en-US" dirty="0"/>
              <a:t>Suppl-Lipson DA, et al. </a:t>
            </a:r>
            <a:r>
              <a:rPr lang="da-DK" i="1" dirty="0"/>
              <a:t>N Engl J Med.</a:t>
            </a:r>
            <a:r>
              <a:rPr lang="da-DK" dirty="0"/>
              <a:t> 2018;378:1671–1680</a:t>
            </a:r>
            <a:endParaRPr lang="en-US" dirty="0"/>
          </a:p>
        </p:txBody>
      </p:sp>
      <p:sp>
        <p:nvSpPr>
          <p:cNvPr id="8" name="Text Placeholder 7"/>
          <p:cNvSpPr>
            <a:spLocks noGrp="1"/>
          </p:cNvSpPr>
          <p:nvPr>
            <p:ph type="body" sz="quarter" idx="19"/>
          </p:nvPr>
        </p:nvSpPr>
        <p:spPr/>
        <p:txBody>
          <a:bodyPr/>
          <a:lstStyle/>
          <a:p>
            <a:r>
              <a:rPr lang="en-US" dirty="0"/>
              <a:t>The graph has been independently created by GSK from original data </a:t>
            </a:r>
          </a:p>
          <a:p>
            <a:r>
              <a:rPr lang="en-US" dirty="0"/>
              <a:t>Note: The n reflects the number of patients included in each analysis from the ITT population. Patients were excluded if they had pre-defined data missing; this varied according to the analysis. The ITT population comprised: 4,151 patients treated with FF/UMEC/VI, 4,134 patients treated with FF/VI and 2,070 patients treated with UMEC/VI. </a:t>
            </a:r>
          </a:p>
          <a:p>
            <a:r>
              <a:rPr lang="en-US" dirty="0"/>
              <a:t>CI, confidence interval; FF, fluticasone furoate; ICS, inhaled corticosteroids; LABA, long-acting beta-agonist; LAMA, long-acting muscarinic antagonist; UMEC, umeclidinium; VI, vilanterol; </a:t>
            </a:r>
          </a:p>
        </p:txBody>
      </p:sp>
      <p:grpSp>
        <p:nvGrpSpPr>
          <p:cNvPr id="15" name="Group 14"/>
          <p:cNvGrpSpPr/>
          <p:nvPr/>
        </p:nvGrpSpPr>
        <p:grpSpPr>
          <a:xfrm>
            <a:off x="427607" y="2006865"/>
            <a:ext cx="11373868" cy="3628938"/>
            <a:chOff x="427607" y="1781175"/>
            <a:chExt cx="11373868" cy="3628938"/>
          </a:xfrm>
        </p:grpSpPr>
        <p:graphicFrame>
          <p:nvGraphicFramePr>
            <p:cNvPr id="129" name="Chart 128">
              <a:extLst>
                <a:ext uri="{FF2B5EF4-FFF2-40B4-BE49-F238E27FC236}">
                  <a16:creationId xmlns:a16="http://schemas.microsoft.com/office/drawing/2014/main" id="{7C80DE30-2922-4D97-820C-CDEBD665B081}"/>
                </a:ext>
              </a:extLst>
            </p:cNvPr>
            <p:cNvGraphicFramePr/>
            <p:nvPr/>
          </p:nvGraphicFramePr>
          <p:xfrm>
            <a:off x="666750" y="1990725"/>
            <a:ext cx="11134725" cy="3181350"/>
          </p:xfrm>
          <a:graphic>
            <a:graphicData uri="http://schemas.openxmlformats.org/drawingml/2006/chart">
              <c:chart xmlns:c="http://schemas.openxmlformats.org/drawingml/2006/chart" xmlns:r="http://schemas.openxmlformats.org/officeDocument/2006/relationships" r:id="rId2"/>
            </a:graphicData>
          </a:graphic>
        </p:graphicFrame>
        <p:sp>
          <p:nvSpPr>
            <p:cNvPr id="130" name="TextBox 129">
              <a:extLst>
                <a:ext uri="{FF2B5EF4-FFF2-40B4-BE49-F238E27FC236}">
                  <a16:creationId xmlns:a16="http://schemas.microsoft.com/office/drawing/2014/main" id="{1D1C9EA7-F9AB-461D-BCAC-CA64415A7C3D}"/>
                </a:ext>
              </a:extLst>
            </p:cNvPr>
            <p:cNvSpPr txBox="1"/>
            <p:nvPr/>
          </p:nvSpPr>
          <p:spPr>
            <a:xfrm rot="16200000">
              <a:off x="-892470" y="3415577"/>
              <a:ext cx="2910924" cy="27076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44F40"/>
                  </a:solidFill>
                  <a:effectLst/>
                  <a:uLnTx/>
                  <a:uFillTx/>
                  <a:latin typeface="Arial" panose="020B0604020202020204"/>
                  <a:ea typeface="+mn-ea"/>
                  <a:cs typeface="+mn-cs"/>
                </a:rPr>
                <a:t>Annual rate of moderate/severe exacerbations</a:t>
              </a:r>
            </a:p>
          </p:txBody>
        </p:sp>
        <p:cxnSp>
          <p:nvCxnSpPr>
            <p:cNvPr id="136" name="Straight Connector 135"/>
            <p:cNvCxnSpPr/>
            <p:nvPr/>
          </p:nvCxnSpPr>
          <p:spPr>
            <a:xfrm>
              <a:off x="6396038" y="1781175"/>
              <a:ext cx="0" cy="3257550"/>
            </a:xfrm>
            <a:prstGeom prst="line">
              <a:avLst/>
            </a:prstGeom>
            <a:ln>
              <a:solidFill>
                <a:srgbClr val="544F40"/>
              </a:solidFill>
              <a:prstDash val="dash"/>
            </a:ln>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6BB2DB8A-09B8-44F7-8F60-3CFC3B4A552F}"/>
                </a:ext>
              </a:extLst>
            </p:cNvPr>
            <p:cNvSpPr txBox="1"/>
            <p:nvPr/>
          </p:nvSpPr>
          <p:spPr>
            <a:xfrm>
              <a:off x="1423987" y="5102336"/>
              <a:ext cx="852488"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1" i="0" u="none" strike="noStrike" kern="0" cap="none" spc="0" normalizeH="0" baseline="0" noProof="0" dirty="0">
                  <a:ln>
                    <a:noFill/>
                  </a:ln>
                  <a:solidFill>
                    <a:srgbClr val="544F40"/>
                  </a:solidFill>
                  <a:effectLst/>
                  <a:uLnTx/>
                  <a:uFillTx/>
                  <a:latin typeface="Arial" panose="020B0604020202020204"/>
                  <a:ea typeface="+mn-ea"/>
                  <a:cs typeface="+mn-cs"/>
                </a:rPr>
                <a:t>FF/UMEC/VI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t>(n = 1,853)</a:t>
              </a:r>
              <a:endParaRPr kumimoji="0" lang="en-GB" sz="10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138" name="TextBox 137">
              <a:extLst>
                <a:ext uri="{FF2B5EF4-FFF2-40B4-BE49-F238E27FC236}">
                  <a16:creationId xmlns:a16="http://schemas.microsoft.com/office/drawing/2014/main" id="{6BB2DB8A-09B8-44F7-8F60-3CFC3B4A552F}"/>
                </a:ext>
              </a:extLst>
            </p:cNvPr>
            <p:cNvSpPr txBox="1"/>
            <p:nvPr/>
          </p:nvSpPr>
          <p:spPr>
            <a:xfrm>
              <a:off x="2937469" y="5102336"/>
              <a:ext cx="894328"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1" i="0" u="none" strike="noStrike" kern="0" cap="none" spc="0" normalizeH="0" baseline="0" noProof="0" dirty="0">
                  <a:ln>
                    <a:noFill/>
                  </a:ln>
                  <a:solidFill>
                    <a:srgbClr val="544F40"/>
                  </a:solidFill>
                  <a:effectLst/>
                  <a:uLnTx/>
                  <a:uFillTx/>
                  <a:latin typeface="Arial" panose="020B0604020202020204"/>
                  <a:ea typeface="+mn-ea"/>
                  <a:cs typeface="+mn-cs"/>
                </a:rPr>
                <a:t>FF/VI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t>(n = 1,911)</a:t>
              </a:r>
              <a:endParaRPr kumimoji="0" lang="en-GB" sz="10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139" name="TextBox 138">
              <a:extLst>
                <a:ext uri="{FF2B5EF4-FFF2-40B4-BE49-F238E27FC236}">
                  <a16:creationId xmlns:a16="http://schemas.microsoft.com/office/drawing/2014/main" id="{6BB2DB8A-09B8-44F7-8F60-3CFC3B4A552F}"/>
                </a:ext>
              </a:extLst>
            </p:cNvPr>
            <p:cNvSpPr txBox="1"/>
            <p:nvPr/>
          </p:nvSpPr>
          <p:spPr>
            <a:xfrm>
              <a:off x="4452822" y="5102336"/>
              <a:ext cx="894328"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1" i="0" u="none" strike="noStrike" kern="0" cap="none" spc="0" normalizeH="0" baseline="0" noProof="0" dirty="0">
                  <a:ln>
                    <a:noFill/>
                  </a:ln>
                  <a:solidFill>
                    <a:srgbClr val="544F40"/>
                  </a:solidFill>
                  <a:effectLst/>
                  <a:uLnTx/>
                  <a:uFillTx/>
                  <a:latin typeface="Arial" panose="020B0604020202020204"/>
                  <a:ea typeface="+mn-ea"/>
                  <a:cs typeface="+mn-cs"/>
                </a:rPr>
                <a:t>UMEC/VI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t>(n = 932)</a:t>
              </a:r>
              <a:endParaRPr kumimoji="0" lang="en-GB" sz="10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140" name="TextBox 139">
              <a:extLst>
                <a:ext uri="{FF2B5EF4-FFF2-40B4-BE49-F238E27FC236}">
                  <a16:creationId xmlns:a16="http://schemas.microsoft.com/office/drawing/2014/main" id="{6BB2DB8A-09B8-44F7-8F60-3CFC3B4A552F}"/>
                </a:ext>
              </a:extLst>
            </p:cNvPr>
            <p:cNvSpPr txBox="1"/>
            <p:nvPr/>
          </p:nvSpPr>
          <p:spPr>
            <a:xfrm>
              <a:off x="7510462" y="5102336"/>
              <a:ext cx="852488"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1" i="0" u="none" strike="noStrike" kern="0" cap="none" spc="0" normalizeH="0" baseline="0" noProof="0" dirty="0">
                  <a:ln>
                    <a:noFill/>
                  </a:ln>
                  <a:solidFill>
                    <a:srgbClr val="544F40"/>
                  </a:solidFill>
                  <a:effectLst/>
                  <a:uLnTx/>
                  <a:uFillTx/>
                  <a:latin typeface="Arial" panose="020B0604020202020204"/>
                  <a:ea typeface="+mn-ea"/>
                  <a:cs typeface="+mn-cs"/>
                </a:rPr>
                <a:t>FF/UMEC/VI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t>(n = 2,292)</a:t>
              </a:r>
              <a:endParaRPr kumimoji="0" lang="en-GB" sz="10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141" name="TextBox 140">
              <a:extLst>
                <a:ext uri="{FF2B5EF4-FFF2-40B4-BE49-F238E27FC236}">
                  <a16:creationId xmlns:a16="http://schemas.microsoft.com/office/drawing/2014/main" id="{6BB2DB8A-09B8-44F7-8F60-3CFC3B4A552F}"/>
                </a:ext>
              </a:extLst>
            </p:cNvPr>
            <p:cNvSpPr txBox="1"/>
            <p:nvPr/>
          </p:nvSpPr>
          <p:spPr>
            <a:xfrm>
              <a:off x="9023944" y="5102336"/>
              <a:ext cx="894328"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1" i="0" u="none" strike="noStrike" kern="0" cap="none" spc="0" normalizeH="0" baseline="0" noProof="0" dirty="0">
                  <a:ln>
                    <a:noFill/>
                  </a:ln>
                  <a:solidFill>
                    <a:srgbClr val="544F40"/>
                  </a:solidFill>
                  <a:effectLst/>
                  <a:uLnTx/>
                  <a:uFillTx/>
                  <a:latin typeface="Arial" panose="020B0604020202020204"/>
                  <a:ea typeface="+mn-ea"/>
                  <a:cs typeface="+mn-cs"/>
                </a:rPr>
                <a:t>FF/VI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t>(n = 2,222)</a:t>
              </a:r>
              <a:endParaRPr kumimoji="0" lang="en-GB" sz="10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142" name="TextBox 141">
              <a:extLst>
                <a:ext uri="{FF2B5EF4-FFF2-40B4-BE49-F238E27FC236}">
                  <a16:creationId xmlns:a16="http://schemas.microsoft.com/office/drawing/2014/main" id="{6BB2DB8A-09B8-44F7-8F60-3CFC3B4A552F}"/>
                </a:ext>
              </a:extLst>
            </p:cNvPr>
            <p:cNvSpPr txBox="1"/>
            <p:nvPr/>
          </p:nvSpPr>
          <p:spPr>
            <a:xfrm>
              <a:off x="10539297" y="5102336"/>
              <a:ext cx="894328"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1" i="0" u="none" strike="noStrike" kern="0" cap="none" spc="0" normalizeH="0" baseline="0" noProof="0" dirty="0">
                  <a:ln>
                    <a:noFill/>
                  </a:ln>
                  <a:solidFill>
                    <a:srgbClr val="544F40"/>
                  </a:solidFill>
                  <a:effectLst/>
                  <a:uLnTx/>
                  <a:uFillTx/>
                  <a:latin typeface="Arial" panose="020B0604020202020204"/>
                  <a:ea typeface="+mn-ea"/>
                  <a:cs typeface="+mn-cs"/>
                </a:rPr>
                <a:t>UMEC/VI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t>(n = 1,137)</a:t>
              </a:r>
              <a:endParaRPr kumimoji="0" lang="en-GB" sz="10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12" name="Freeform 11"/>
            <p:cNvSpPr/>
            <p:nvPr/>
          </p:nvSpPr>
          <p:spPr>
            <a:xfrm>
              <a:off x="1866900" y="2622550"/>
              <a:ext cx="3028950" cy="876300"/>
            </a:xfrm>
            <a:custGeom>
              <a:avLst/>
              <a:gdLst>
                <a:gd name="connsiteX0" fmla="*/ 0 w 3019425"/>
                <a:gd name="connsiteY0" fmla="*/ 876300 h 876300"/>
                <a:gd name="connsiteX1" fmla="*/ 0 w 3019425"/>
                <a:gd name="connsiteY1" fmla="*/ 0 h 876300"/>
                <a:gd name="connsiteX2" fmla="*/ 1504950 w 3019425"/>
                <a:gd name="connsiteY2" fmla="*/ 0 h 876300"/>
                <a:gd name="connsiteX3" fmla="*/ 1504950 w 3019425"/>
                <a:gd name="connsiteY3" fmla="*/ 533400 h 876300"/>
                <a:gd name="connsiteX4" fmla="*/ 1504950 w 3019425"/>
                <a:gd name="connsiteY4" fmla="*/ 0 h 876300"/>
                <a:gd name="connsiteX5" fmla="*/ 3019425 w 3019425"/>
                <a:gd name="connsiteY5" fmla="*/ 0 h 876300"/>
                <a:gd name="connsiteX6" fmla="*/ 3019425 w 3019425"/>
                <a:gd name="connsiteY6" fmla="*/ 552450 h 876300"/>
                <a:gd name="connsiteX7" fmla="*/ 3000375 w 3019425"/>
                <a:gd name="connsiteY7" fmla="*/ 552450 h 876300"/>
                <a:gd name="connsiteX8" fmla="*/ 3000375 w 3019425"/>
                <a:gd name="connsiteY8" fmla="*/ 552450 h 876300"/>
                <a:gd name="connsiteX0" fmla="*/ 0 w 3019425"/>
                <a:gd name="connsiteY0" fmla="*/ 876300 h 876300"/>
                <a:gd name="connsiteX1" fmla="*/ 0 w 3019425"/>
                <a:gd name="connsiteY1" fmla="*/ 0 h 876300"/>
                <a:gd name="connsiteX2" fmla="*/ 1504950 w 3019425"/>
                <a:gd name="connsiteY2" fmla="*/ 0 h 876300"/>
                <a:gd name="connsiteX3" fmla="*/ 1504950 w 3019425"/>
                <a:gd name="connsiteY3" fmla="*/ 533400 h 876300"/>
                <a:gd name="connsiteX4" fmla="*/ 1504950 w 3019425"/>
                <a:gd name="connsiteY4" fmla="*/ 0 h 876300"/>
                <a:gd name="connsiteX5" fmla="*/ 3019425 w 3019425"/>
                <a:gd name="connsiteY5" fmla="*/ 0 h 876300"/>
                <a:gd name="connsiteX6" fmla="*/ 3019425 w 3019425"/>
                <a:gd name="connsiteY6" fmla="*/ 552450 h 876300"/>
                <a:gd name="connsiteX7" fmla="*/ 3000375 w 3019425"/>
                <a:gd name="connsiteY7" fmla="*/ 552450 h 876300"/>
                <a:gd name="connsiteX0" fmla="*/ 0 w 3019425"/>
                <a:gd name="connsiteY0" fmla="*/ 876300 h 876300"/>
                <a:gd name="connsiteX1" fmla="*/ 0 w 3019425"/>
                <a:gd name="connsiteY1" fmla="*/ 0 h 876300"/>
                <a:gd name="connsiteX2" fmla="*/ 1504950 w 3019425"/>
                <a:gd name="connsiteY2" fmla="*/ 0 h 876300"/>
                <a:gd name="connsiteX3" fmla="*/ 1504950 w 3019425"/>
                <a:gd name="connsiteY3" fmla="*/ 533400 h 876300"/>
                <a:gd name="connsiteX4" fmla="*/ 1504950 w 3019425"/>
                <a:gd name="connsiteY4" fmla="*/ 0 h 876300"/>
                <a:gd name="connsiteX5" fmla="*/ 3019425 w 3019425"/>
                <a:gd name="connsiteY5" fmla="*/ 0 h 876300"/>
                <a:gd name="connsiteX6" fmla="*/ 3019425 w 3019425"/>
                <a:gd name="connsiteY6" fmla="*/ 552450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9425" h="876300">
                  <a:moveTo>
                    <a:pt x="0" y="876300"/>
                  </a:moveTo>
                  <a:lnTo>
                    <a:pt x="0" y="0"/>
                  </a:lnTo>
                  <a:lnTo>
                    <a:pt x="1504950" y="0"/>
                  </a:lnTo>
                  <a:lnTo>
                    <a:pt x="1504950" y="533400"/>
                  </a:lnTo>
                  <a:lnTo>
                    <a:pt x="1504950" y="0"/>
                  </a:lnTo>
                  <a:lnTo>
                    <a:pt x="3019425" y="0"/>
                  </a:lnTo>
                  <a:lnTo>
                    <a:pt x="3019425" y="552450"/>
                  </a:lnTo>
                </a:path>
              </a:pathLst>
            </a:custGeom>
            <a:noFill/>
            <a:ln w="6350">
              <a:solidFill>
                <a:srgbClr val="544F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45" name="TextBox 144">
              <a:extLst>
                <a:ext uri="{FF2B5EF4-FFF2-40B4-BE49-F238E27FC236}">
                  <a16:creationId xmlns:a16="http://schemas.microsoft.com/office/drawing/2014/main" id="{751F81CF-4D74-4FEB-9AE3-691106B1F871}"/>
                </a:ext>
              </a:extLst>
            </p:cNvPr>
            <p:cNvSpPr txBox="1"/>
            <p:nvPr/>
          </p:nvSpPr>
          <p:spPr>
            <a:xfrm>
              <a:off x="2179764" y="2050088"/>
              <a:ext cx="928139" cy="52322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5717D"/>
                  </a:solidFill>
                  <a:effectLst/>
                  <a:uLnTx/>
                  <a:uFillTx/>
                  <a:latin typeface="Arial" panose="020B0604020202020204"/>
                  <a:ea typeface="+mn-ea"/>
                  <a:cs typeface="+mn-cs"/>
                </a:rPr>
                <a:t>20%</a:t>
              </a:r>
              <a:endParaRPr kumimoji="0" lang="en-GB" sz="1400" b="1" i="0" u="none" strike="noStrike" kern="1200" cap="none" spc="0" normalizeH="0" baseline="30000" noProof="0" dirty="0">
                <a:ln>
                  <a:noFill/>
                </a:ln>
                <a:solidFill>
                  <a:srgbClr val="15717D"/>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544F40"/>
                  </a:solidFill>
                  <a:effectLst/>
                  <a:uLnTx/>
                  <a:uFillTx/>
                  <a:latin typeface="Arial" panose="020B0604020202020204"/>
                  <a:ea typeface="+mn-ea"/>
                  <a:cs typeface="+mn-cs"/>
                </a:rPr>
                <a:t>(95% CI: 13, 28)</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1" u="none" strike="noStrike" kern="1200" cap="none" spc="0" normalizeH="0" baseline="0" noProof="0" dirty="0">
                  <a:ln>
                    <a:noFill/>
                  </a:ln>
                  <a:solidFill>
                    <a:srgbClr val="544F40"/>
                  </a:solidFill>
                  <a:effectLst/>
                  <a:uLnTx/>
                  <a:uFillTx/>
                  <a:latin typeface="Arial" panose="020B0604020202020204"/>
                  <a:ea typeface="+mn-ea"/>
                  <a:cs typeface="+mn-cs"/>
                </a:rPr>
                <a:t>p</a:t>
              </a:r>
              <a:r>
                <a:rPr kumimoji="0" lang="en-GB" sz="1000" b="1" i="0" u="none" strike="noStrike" kern="1200" cap="none" spc="0" normalizeH="0" baseline="0" noProof="0" dirty="0">
                  <a:ln>
                    <a:noFill/>
                  </a:ln>
                  <a:solidFill>
                    <a:srgbClr val="544F40"/>
                  </a:solidFill>
                  <a:effectLst/>
                  <a:uLnTx/>
                  <a:uFillTx/>
                  <a:latin typeface="Arial" panose="020B0604020202020204"/>
                  <a:ea typeface="+mn-ea"/>
                  <a:cs typeface="+mn-cs"/>
                </a:rPr>
                <a:t> &lt; 0.001</a:t>
              </a:r>
              <a:endParaRPr kumimoji="0" lang="en-GB" sz="1000" b="1" i="0" u="none" strike="noStrike" kern="1200" cap="none" spc="0" normalizeH="0" baseline="30000" noProof="0" dirty="0">
                <a:ln>
                  <a:noFill/>
                </a:ln>
                <a:solidFill>
                  <a:srgbClr val="544F40"/>
                </a:solidFill>
                <a:effectLst/>
                <a:uLnTx/>
                <a:uFillTx/>
                <a:latin typeface="Arial" panose="020B0604020202020204"/>
                <a:ea typeface="+mn-ea"/>
                <a:cs typeface="+mn-cs"/>
              </a:endParaRPr>
            </a:p>
          </p:txBody>
        </p:sp>
        <p:sp>
          <p:nvSpPr>
            <p:cNvPr id="146" name="TextBox 145">
              <a:extLst>
                <a:ext uri="{FF2B5EF4-FFF2-40B4-BE49-F238E27FC236}">
                  <a16:creationId xmlns:a16="http://schemas.microsoft.com/office/drawing/2014/main" id="{56CECCA0-7572-432C-9813-CCD3F014F7E9}"/>
                </a:ext>
              </a:extLst>
            </p:cNvPr>
            <p:cNvSpPr txBox="1"/>
            <p:nvPr/>
          </p:nvSpPr>
          <p:spPr>
            <a:xfrm>
              <a:off x="3692778" y="2050088"/>
              <a:ext cx="928139" cy="52322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5717D"/>
                  </a:solidFill>
                  <a:effectLst/>
                  <a:uLnTx/>
                  <a:uFillTx/>
                  <a:latin typeface="Arial" panose="020B0604020202020204"/>
                  <a:ea typeface="+mn-ea"/>
                  <a:cs typeface="+mn-cs"/>
                </a:rPr>
                <a:t>21%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dirty="0">
                  <a:ln>
                    <a:noFill/>
                  </a:ln>
                  <a:solidFill>
                    <a:srgbClr val="544F40"/>
                  </a:solidFill>
                  <a:effectLst/>
                  <a:uLnTx/>
                  <a:uFillTx/>
                  <a:latin typeface="Arial" panose="020B0604020202020204"/>
                  <a:ea typeface="+mn-ea"/>
                  <a:cs typeface="+mn-cs"/>
                </a:rPr>
                <a:t>(95% CI: 11, 29)</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1" u="none" strike="noStrike" kern="1200" cap="none" spc="0" normalizeH="0" baseline="0" noProof="0" dirty="0">
                  <a:ln>
                    <a:noFill/>
                  </a:ln>
                  <a:solidFill>
                    <a:srgbClr val="544F40"/>
                  </a:solidFill>
                  <a:effectLst/>
                  <a:uLnTx/>
                  <a:uFillTx/>
                  <a:latin typeface="Arial" panose="020B0604020202020204"/>
                  <a:ea typeface="+mn-ea"/>
                  <a:cs typeface="+mn-cs"/>
                </a:rPr>
                <a:t>p</a:t>
              </a:r>
              <a:r>
                <a:rPr kumimoji="0" lang="it-IT" sz="1000" b="1" i="0" u="none" strike="noStrike" kern="1200" cap="none" spc="0" normalizeH="0" baseline="0" noProof="0" dirty="0">
                  <a:ln>
                    <a:noFill/>
                  </a:ln>
                  <a:solidFill>
                    <a:srgbClr val="544F40"/>
                  </a:solidFill>
                  <a:effectLst/>
                  <a:uLnTx/>
                  <a:uFillTx/>
                  <a:latin typeface="Arial" panose="020B0604020202020204"/>
                  <a:ea typeface="+mn-ea"/>
                  <a:cs typeface="+mn-cs"/>
                </a:rPr>
                <a:t> &lt; 0.001</a:t>
              </a:r>
            </a:p>
          </p:txBody>
        </p:sp>
        <p:sp>
          <p:nvSpPr>
            <p:cNvPr id="147" name="Freeform 146"/>
            <p:cNvSpPr/>
            <p:nvPr/>
          </p:nvSpPr>
          <p:spPr>
            <a:xfrm>
              <a:off x="7934324" y="2622550"/>
              <a:ext cx="3038475" cy="876300"/>
            </a:xfrm>
            <a:custGeom>
              <a:avLst/>
              <a:gdLst>
                <a:gd name="connsiteX0" fmla="*/ 0 w 3019425"/>
                <a:gd name="connsiteY0" fmla="*/ 876300 h 876300"/>
                <a:gd name="connsiteX1" fmla="*/ 0 w 3019425"/>
                <a:gd name="connsiteY1" fmla="*/ 0 h 876300"/>
                <a:gd name="connsiteX2" fmla="*/ 1504950 w 3019425"/>
                <a:gd name="connsiteY2" fmla="*/ 0 h 876300"/>
                <a:gd name="connsiteX3" fmla="*/ 1504950 w 3019425"/>
                <a:gd name="connsiteY3" fmla="*/ 533400 h 876300"/>
                <a:gd name="connsiteX4" fmla="*/ 1504950 w 3019425"/>
                <a:gd name="connsiteY4" fmla="*/ 0 h 876300"/>
                <a:gd name="connsiteX5" fmla="*/ 3019425 w 3019425"/>
                <a:gd name="connsiteY5" fmla="*/ 0 h 876300"/>
                <a:gd name="connsiteX6" fmla="*/ 3019425 w 3019425"/>
                <a:gd name="connsiteY6" fmla="*/ 552450 h 876300"/>
                <a:gd name="connsiteX7" fmla="*/ 3000375 w 3019425"/>
                <a:gd name="connsiteY7" fmla="*/ 552450 h 876300"/>
                <a:gd name="connsiteX8" fmla="*/ 3000375 w 3019425"/>
                <a:gd name="connsiteY8" fmla="*/ 552450 h 876300"/>
                <a:gd name="connsiteX0" fmla="*/ 0 w 3019425"/>
                <a:gd name="connsiteY0" fmla="*/ 876300 h 876300"/>
                <a:gd name="connsiteX1" fmla="*/ 0 w 3019425"/>
                <a:gd name="connsiteY1" fmla="*/ 0 h 876300"/>
                <a:gd name="connsiteX2" fmla="*/ 1504950 w 3019425"/>
                <a:gd name="connsiteY2" fmla="*/ 0 h 876300"/>
                <a:gd name="connsiteX3" fmla="*/ 1504950 w 3019425"/>
                <a:gd name="connsiteY3" fmla="*/ 533400 h 876300"/>
                <a:gd name="connsiteX4" fmla="*/ 1504950 w 3019425"/>
                <a:gd name="connsiteY4" fmla="*/ 0 h 876300"/>
                <a:gd name="connsiteX5" fmla="*/ 3019425 w 3019425"/>
                <a:gd name="connsiteY5" fmla="*/ 0 h 876300"/>
                <a:gd name="connsiteX6" fmla="*/ 3019425 w 3019425"/>
                <a:gd name="connsiteY6" fmla="*/ 552450 h 876300"/>
                <a:gd name="connsiteX7" fmla="*/ 3000375 w 3019425"/>
                <a:gd name="connsiteY7" fmla="*/ 552450 h 876300"/>
                <a:gd name="connsiteX0" fmla="*/ 0 w 3019425"/>
                <a:gd name="connsiteY0" fmla="*/ 876300 h 876300"/>
                <a:gd name="connsiteX1" fmla="*/ 0 w 3019425"/>
                <a:gd name="connsiteY1" fmla="*/ 0 h 876300"/>
                <a:gd name="connsiteX2" fmla="*/ 1504950 w 3019425"/>
                <a:gd name="connsiteY2" fmla="*/ 0 h 876300"/>
                <a:gd name="connsiteX3" fmla="*/ 1504950 w 3019425"/>
                <a:gd name="connsiteY3" fmla="*/ 533400 h 876300"/>
                <a:gd name="connsiteX4" fmla="*/ 1504950 w 3019425"/>
                <a:gd name="connsiteY4" fmla="*/ 0 h 876300"/>
                <a:gd name="connsiteX5" fmla="*/ 3019425 w 3019425"/>
                <a:gd name="connsiteY5" fmla="*/ 0 h 876300"/>
                <a:gd name="connsiteX6" fmla="*/ 3019425 w 3019425"/>
                <a:gd name="connsiteY6" fmla="*/ 552450 h 876300"/>
                <a:gd name="connsiteX0" fmla="*/ 0 w 3019425"/>
                <a:gd name="connsiteY0" fmla="*/ 876300 h 876300"/>
                <a:gd name="connsiteX1" fmla="*/ 0 w 3019425"/>
                <a:gd name="connsiteY1" fmla="*/ 0 h 876300"/>
                <a:gd name="connsiteX2" fmla="*/ 1504950 w 3019425"/>
                <a:gd name="connsiteY2" fmla="*/ 0 h 876300"/>
                <a:gd name="connsiteX3" fmla="*/ 1504950 w 3019425"/>
                <a:gd name="connsiteY3" fmla="*/ 533400 h 876300"/>
                <a:gd name="connsiteX4" fmla="*/ 1504950 w 3019425"/>
                <a:gd name="connsiteY4" fmla="*/ 0 h 876300"/>
                <a:gd name="connsiteX5" fmla="*/ 3019425 w 3019425"/>
                <a:gd name="connsiteY5" fmla="*/ 0 h 876300"/>
                <a:gd name="connsiteX6" fmla="*/ 3019425 w 3019425"/>
                <a:gd name="connsiteY6" fmla="*/ 219075 h 876300"/>
                <a:gd name="connsiteX0" fmla="*/ 0 w 3019425"/>
                <a:gd name="connsiteY0" fmla="*/ 876300 h 876300"/>
                <a:gd name="connsiteX1" fmla="*/ 0 w 3019425"/>
                <a:gd name="connsiteY1" fmla="*/ 0 h 876300"/>
                <a:gd name="connsiteX2" fmla="*/ 1504950 w 3019425"/>
                <a:gd name="connsiteY2" fmla="*/ 0 h 876300"/>
                <a:gd name="connsiteX3" fmla="*/ 1504951 w 3019425"/>
                <a:gd name="connsiteY3" fmla="*/ 657225 h 876300"/>
                <a:gd name="connsiteX4" fmla="*/ 1504950 w 3019425"/>
                <a:gd name="connsiteY4" fmla="*/ 0 h 876300"/>
                <a:gd name="connsiteX5" fmla="*/ 3019425 w 3019425"/>
                <a:gd name="connsiteY5" fmla="*/ 0 h 876300"/>
                <a:gd name="connsiteX6" fmla="*/ 3019425 w 3019425"/>
                <a:gd name="connsiteY6" fmla="*/ 219075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9425" h="876300">
                  <a:moveTo>
                    <a:pt x="0" y="876300"/>
                  </a:moveTo>
                  <a:lnTo>
                    <a:pt x="0" y="0"/>
                  </a:lnTo>
                  <a:lnTo>
                    <a:pt x="1504950" y="0"/>
                  </a:lnTo>
                  <a:cubicBezTo>
                    <a:pt x="1504950" y="219075"/>
                    <a:pt x="1504951" y="438150"/>
                    <a:pt x="1504951" y="657225"/>
                  </a:cubicBezTo>
                  <a:cubicBezTo>
                    <a:pt x="1504951" y="438150"/>
                    <a:pt x="1504950" y="219075"/>
                    <a:pt x="1504950" y="0"/>
                  </a:cubicBezTo>
                  <a:lnTo>
                    <a:pt x="3019425" y="0"/>
                  </a:lnTo>
                  <a:lnTo>
                    <a:pt x="3019425" y="219075"/>
                  </a:lnTo>
                </a:path>
              </a:pathLst>
            </a:custGeom>
            <a:noFill/>
            <a:ln w="6350">
              <a:solidFill>
                <a:srgbClr val="544F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48" name="TextBox 147">
              <a:extLst>
                <a:ext uri="{FF2B5EF4-FFF2-40B4-BE49-F238E27FC236}">
                  <a16:creationId xmlns:a16="http://schemas.microsoft.com/office/drawing/2014/main" id="{751F81CF-4D74-4FEB-9AE3-691106B1F871}"/>
                </a:ext>
              </a:extLst>
            </p:cNvPr>
            <p:cNvSpPr txBox="1"/>
            <p:nvPr/>
          </p:nvSpPr>
          <p:spPr>
            <a:xfrm>
              <a:off x="8168642" y="2050088"/>
              <a:ext cx="1085233" cy="52322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5717D"/>
                  </a:solidFill>
                  <a:effectLst/>
                  <a:uLnTx/>
                  <a:uFillTx/>
                  <a:latin typeface="Arial" panose="020B0604020202020204"/>
                  <a:ea typeface="+mn-ea"/>
                  <a:cs typeface="+mn-cs"/>
                </a:rPr>
                <a:t>11%</a:t>
              </a:r>
              <a:endParaRPr kumimoji="0" lang="en-GB" sz="1400" b="1" i="0" u="none" strike="noStrike" kern="1200" cap="none" spc="0" normalizeH="0" baseline="30000" noProof="0" dirty="0">
                <a:ln>
                  <a:noFill/>
                </a:ln>
                <a:solidFill>
                  <a:srgbClr val="15717D"/>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544F40"/>
                  </a:solidFill>
                  <a:effectLst/>
                  <a:uLnTx/>
                  <a:uFillTx/>
                  <a:latin typeface="Arial" panose="020B0604020202020204"/>
                  <a:ea typeface="+mn-ea"/>
                  <a:cs typeface="+mn-cs"/>
                </a:rPr>
                <a:t>(95% CI: 3%, 18%)</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1" u="none" strike="noStrike" kern="1200" cap="none" spc="0" normalizeH="0" baseline="0" noProof="0" dirty="0">
                  <a:ln>
                    <a:noFill/>
                  </a:ln>
                  <a:solidFill>
                    <a:srgbClr val="544F40"/>
                  </a:solidFill>
                  <a:effectLst/>
                  <a:uLnTx/>
                  <a:uFillTx/>
                  <a:latin typeface="Arial" panose="020B0604020202020204"/>
                  <a:ea typeface="+mn-ea"/>
                  <a:cs typeface="+mn-cs"/>
                </a:rPr>
                <a:t>p</a:t>
              </a:r>
              <a:r>
                <a:rPr kumimoji="0" lang="en-GB" sz="1000" b="1" i="0" u="none" strike="noStrike" kern="1200" cap="none" spc="0" normalizeH="0" baseline="0" noProof="0" dirty="0">
                  <a:ln>
                    <a:noFill/>
                  </a:ln>
                  <a:solidFill>
                    <a:srgbClr val="544F40"/>
                  </a:solidFill>
                  <a:effectLst/>
                  <a:uLnTx/>
                  <a:uFillTx/>
                  <a:latin typeface="Arial" panose="020B0604020202020204"/>
                  <a:ea typeface="+mn-ea"/>
                  <a:cs typeface="+mn-cs"/>
                </a:rPr>
                <a:t> &lt; 0.01</a:t>
              </a:r>
              <a:endParaRPr kumimoji="0" lang="en-GB" sz="1000" b="1" i="0" u="none" strike="noStrike" kern="1200" cap="none" spc="0" normalizeH="0" baseline="30000" noProof="0" dirty="0">
                <a:ln>
                  <a:noFill/>
                </a:ln>
                <a:solidFill>
                  <a:srgbClr val="544F40"/>
                </a:solidFill>
                <a:effectLst/>
                <a:uLnTx/>
                <a:uFillTx/>
                <a:latin typeface="Arial" panose="020B0604020202020204"/>
                <a:ea typeface="+mn-ea"/>
                <a:cs typeface="+mn-cs"/>
              </a:endParaRPr>
            </a:p>
          </p:txBody>
        </p:sp>
        <p:sp>
          <p:nvSpPr>
            <p:cNvPr id="149" name="TextBox 148">
              <a:extLst>
                <a:ext uri="{FF2B5EF4-FFF2-40B4-BE49-F238E27FC236}">
                  <a16:creationId xmlns:a16="http://schemas.microsoft.com/office/drawing/2014/main" id="{56CECCA0-7572-432C-9813-CCD3F014F7E9}"/>
                </a:ext>
              </a:extLst>
            </p:cNvPr>
            <p:cNvSpPr txBox="1"/>
            <p:nvPr/>
          </p:nvSpPr>
          <p:spPr>
            <a:xfrm>
              <a:off x="9760203" y="2050088"/>
              <a:ext cx="928139" cy="52322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5717D"/>
                  </a:solidFill>
                  <a:effectLst/>
                  <a:uLnTx/>
                  <a:uFillTx/>
                  <a:latin typeface="Arial" panose="020B0604020202020204"/>
                  <a:ea typeface="+mn-ea"/>
                  <a:cs typeface="+mn-cs"/>
                </a:rPr>
                <a:t>28%</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dirty="0">
                  <a:ln>
                    <a:noFill/>
                  </a:ln>
                  <a:solidFill>
                    <a:srgbClr val="544F40"/>
                  </a:solidFill>
                  <a:effectLst/>
                  <a:uLnTx/>
                  <a:uFillTx/>
                  <a:latin typeface="Arial" panose="020B0604020202020204"/>
                  <a:ea typeface="+mn-ea"/>
                  <a:cs typeface="+mn-cs"/>
                </a:rPr>
                <a:t>(95% CI: 21, 35)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1" u="none" strike="noStrike" kern="1200" cap="none" spc="0" normalizeH="0" baseline="0" noProof="0" dirty="0">
                  <a:ln>
                    <a:noFill/>
                  </a:ln>
                  <a:solidFill>
                    <a:srgbClr val="544F40"/>
                  </a:solidFill>
                  <a:effectLst/>
                  <a:uLnTx/>
                  <a:uFillTx/>
                  <a:latin typeface="Arial" panose="020B0604020202020204"/>
                  <a:ea typeface="+mn-ea"/>
                  <a:cs typeface="+mn-cs"/>
                </a:rPr>
                <a:t>p</a:t>
              </a:r>
              <a:r>
                <a:rPr kumimoji="0" lang="it-IT" sz="1000" b="1" i="0" u="none" strike="noStrike" kern="1200" cap="none" spc="0" normalizeH="0" baseline="0" noProof="0" dirty="0">
                  <a:ln>
                    <a:noFill/>
                  </a:ln>
                  <a:solidFill>
                    <a:srgbClr val="544F40"/>
                  </a:solidFill>
                  <a:effectLst/>
                  <a:uLnTx/>
                  <a:uFillTx/>
                  <a:latin typeface="Arial" panose="020B0604020202020204"/>
                  <a:ea typeface="+mn-ea"/>
                  <a:cs typeface="+mn-cs"/>
                </a:rPr>
                <a:t> &lt; 0.001</a:t>
              </a:r>
            </a:p>
          </p:txBody>
        </p:sp>
      </p:grpSp>
      <p:sp>
        <p:nvSpPr>
          <p:cNvPr id="153" name="Rounded Rectangle 152"/>
          <p:cNvSpPr/>
          <p:nvPr/>
        </p:nvSpPr>
        <p:spPr bwMode="auto">
          <a:xfrm>
            <a:off x="1114616" y="1635390"/>
            <a:ext cx="4846320" cy="389513"/>
          </a:xfrm>
          <a:prstGeom prst="roundRect">
            <a:avLst>
              <a:gd name="adj" fmla="val 50000"/>
            </a:avLst>
          </a:prstGeom>
          <a:solidFill>
            <a:srgbClr val="544F40"/>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818"/>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mn-ea"/>
                <a:cs typeface="+mn-cs"/>
              </a:rPr>
              <a:t>1 moderate/severe exacerbation in prior year</a:t>
            </a:r>
          </a:p>
        </p:txBody>
      </p:sp>
      <p:sp>
        <p:nvSpPr>
          <p:cNvPr id="154" name="Rounded Rectangle 153"/>
          <p:cNvSpPr/>
          <p:nvPr/>
        </p:nvSpPr>
        <p:spPr bwMode="auto">
          <a:xfrm>
            <a:off x="6810566" y="1635390"/>
            <a:ext cx="4846320" cy="389513"/>
          </a:xfrm>
          <a:prstGeom prst="roundRect">
            <a:avLst>
              <a:gd name="adj" fmla="val 50000"/>
            </a:avLst>
          </a:prstGeom>
          <a:solidFill>
            <a:srgbClr val="544F40"/>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818"/>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mn-ea"/>
                <a:cs typeface="+mn-cs"/>
              </a:rPr>
              <a:t>≥2 moderate/severe exacerbations in prior year</a:t>
            </a:r>
          </a:p>
        </p:txBody>
      </p:sp>
      <p:pic>
        <p:nvPicPr>
          <p:cNvPr id="25" name="Picture 24">
            <a:extLst>
              <a:ext uri="{FF2B5EF4-FFF2-40B4-BE49-F238E27FC236}">
                <a16:creationId xmlns:a16="http://schemas.microsoft.com/office/drawing/2014/main" id="{F89C67CB-48BA-4A88-9301-0CB397AE4EB8}"/>
              </a:ext>
            </a:extLst>
          </p:cNvPr>
          <p:cNvPicPr>
            <a:picLocks noChangeAspect="1"/>
          </p:cNvPicPr>
          <p:nvPr/>
        </p:nvPicPr>
        <p:blipFill>
          <a:blip r:embed="rId3"/>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221980306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639" y="193612"/>
            <a:ext cx="11955615" cy="1084976"/>
          </a:xfrm>
        </p:spPr>
        <p:txBody>
          <a:bodyPr/>
          <a:lstStyle/>
          <a:p>
            <a:r>
              <a:rPr lang="en-US" sz="2400" dirty="0"/>
              <a:t>IMPACT: FF/UMEC/VI demonstrated a significant reduction in rate of moderate/severe exacerbations vs UMEC/VI in patients with BEC &lt;150 and ≥150 cells/μL</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17" name="Text Placeholder 16"/>
          <p:cNvSpPr>
            <a:spLocks noGrp="1"/>
          </p:cNvSpPr>
          <p:nvPr>
            <p:ph type="body" sz="quarter" idx="21"/>
          </p:nvPr>
        </p:nvSpPr>
        <p:spPr/>
        <p:txBody>
          <a:bodyPr/>
          <a:lstStyle/>
          <a:p>
            <a:r>
              <a:rPr lang="en-US" dirty="0"/>
              <a:t>1. Lipson DA, et al. </a:t>
            </a:r>
            <a:r>
              <a:rPr lang="en-US" i="1" dirty="0"/>
              <a:t>N </a:t>
            </a:r>
            <a:r>
              <a:rPr lang="en-US" i="1" dirty="0" err="1"/>
              <a:t>Engl</a:t>
            </a:r>
            <a:r>
              <a:rPr lang="en-US" i="1" dirty="0"/>
              <a:t> J Med</a:t>
            </a:r>
            <a:r>
              <a:rPr lang="en-US" dirty="0"/>
              <a:t>. 2018;378:1671–1680; 2. </a:t>
            </a:r>
            <a:r>
              <a:rPr lang="en-GB" dirty="0"/>
              <a:t>Data on </a:t>
            </a:r>
            <a:r>
              <a:rPr lang="en-GB" dirty="0" err="1"/>
              <a:t>file;RF</a:t>
            </a:r>
            <a:r>
              <a:rPr lang="en-GB" dirty="0"/>
              <a:t>/TLY/0096/17(1);1-23.</a:t>
            </a:r>
            <a:endParaRPr lang="en-US" dirty="0"/>
          </a:p>
        </p:txBody>
      </p:sp>
      <p:sp>
        <p:nvSpPr>
          <p:cNvPr id="12" name="Text Placeholder 11"/>
          <p:cNvSpPr>
            <a:spLocks noGrp="1"/>
          </p:cNvSpPr>
          <p:nvPr>
            <p:ph type="body" sz="quarter" idx="19"/>
          </p:nvPr>
        </p:nvSpPr>
        <p:spPr/>
        <p:txBody>
          <a:bodyPr/>
          <a:lstStyle/>
          <a:p>
            <a:r>
              <a:rPr lang="en-US" dirty="0"/>
              <a:t>The graph has been independently created by GSK from original data </a:t>
            </a:r>
          </a:p>
          <a:p>
            <a:r>
              <a:rPr lang="en-US" dirty="0"/>
              <a:t>Note: The n reflects the number of patients included in each analysis from the ITT population. Patients were excluded if they had pre-defined data missing; this varied according to the analysis. The ITT population comprised: 4,151 patients treated with FF/UMEC/VI and 2,070 patients treated with UMEC/VI. </a:t>
            </a:r>
          </a:p>
          <a:p>
            <a:r>
              <a:rPr lang="en-US" dirty="0"/>
              <a:t>BEC, blood eosinophil count; CI, confidence interval; FF, fluticasone furoate; UMEC, umeclidinium; VI, vilanterol.</a:t>
            </a:r>
          </a:p>
        </p:txBody>
      </p:sp>
      <p:grpSp>
        <p:nvGrpSpPr>
          <p:cNvPr id="87" name="Group 86"/>
          <p:cNvGrpSpPr/>
          <p:nvPr/>
        </p:nvGrpSpPr>
        <p:grpSpPr>
          <a:xfrm>
            <a:off x="423863" y="1604871"/>
            <a:ext cx="5522976" cy="3974541"/>
            <a:chOff x="423863" y="1285875"/>
            <a:chExt cx="5522976" cy="3974541"/>
          </a:xfrm>
        </p:grpSpPr>
        <p:sp>
          <p:nvSpPr>
            <p:cNvPr id="88" name="Rounded Rectangle 87"/>
            <p:cNvSpPr/>
            <p:nvPr/>
          </p:nvSpPr>
          <p:spPr>
            <a:xfrm>
              <a:off x="423863" y="1465656"/>
              <a:ext cx="5522976" cy="3794760"/>
            </a:xfrm>
            <a:prstGeom prst="roundRect">
              <a:avLst>
                <a:gd name="adj" fmla="val 215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89" name="Rounded Rectangle 88"/>
            <p:cNvSpPr/>
            <p:nvPr/>
          </p:nvSpPr>
          <p:spPr bwMode="auto">
            <a:xfrm>
              <a:off x="762191" y="1285875"/>
              <a:ext cx="4846320" cy="389513"/>
            </a:xfrm>
            <a:prstGeom prst="roundRect">
              <a:avLst>
                <a:gd name="adj" fmla="val 50000"/>
              </a:avLst>
            </a:prstGeom>
            <a:solidFill>
              <a:srgbClr val="544F40"/>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818"/>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pitchFamily="34" charset="0"/>
                  <a:ea typeface="+mn-ea"/>
                  <a:cs typeface="+mn-cs"/>
                </a:rPr>
                <a:t>&lt;150 cells/µL</a:t>
              </a:r>
              <a:r>
                <a:rPr kumimoji="0" lang="en-US" sz="1200" b="1" i="0" u="none" strike="noStrike" kern="1200" cap="none" spc="0" normalizeH="0" baseline="30000" noProof="0" dirty="0">
                  <a:ln>
                    <a:noFill/>
                  </a:ln>
                  <a:solidFill>
                    <a:prstClr val="white"/>
                  </a:solidFill>
                  <a:effectLst/>
                  <a:uLnTx/>
                  <a:uFillTx/>
                  <a:latin typeface="Arial" pitchFamily="34" charset="0"/>
                  <a:ea typeface="+mn-ea"/>
                  <a:cs typeface="+mn-cs"/>
                </a:rPr>
                <a:t>1</a:t>
              </a:r>
            </a:p>
          </p:txBody>
        </p:sp>
      </p:grpSp>
      <p:grpSp>
        <p:nvGrpSpPr>
          <p:cNvPr id="90" name="Group 89"/>
          <p:cNvGrpSpPr/>
          <p:nvPr/>
        </p:nvGrpSpPr>
        <p:grpSpPr>
          <a:xfrm>
            <a:off x="6249924" y="1604871"/>
            <a:ext cx="5522976" cy="3974541"/>
            <a:chOff x="423863" y="1285875"/>
            <a:chExt cx="5522976" cy="3974541"/>
          </a:xfrm>
        </p:grpSpPr>
        <p:sp>
          <p:nvSpPr>
            <p:cNvPr id="91" name="Rounded Rectangle 90"/>
            <p:cNvSpPr/>
            <p:nvPr/>
          </p:nvSpPr>
          <p:spPr>
            <a:xfrm>
              <a:off x="423863" y="1465656"/>
              <a:ext cx="5522976" cy="3794760"/>
            </a:xfrm>
            <a:prstGeom prst="roundRect">
              <a:avLst>
                <a:gd name="adj" fmla="val 215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92" name="Rounded Rectangle 91"/>
            <p:cNvSpPr/>
            <p:nvPr/>
          </p:nvSpPr>
          <p:spPr bwMode="auto">
            <a:xfrm>
              <a:off x="762191" y="1285875"/>
              <a:ext cx="4846320" cy="389513"/>
            </a:xfrm>
            <a:prstGeom prst="roundRect">
              <a:avLst>
                <a:gd name="adj" fmla="val 50000"/>
              </a:avLst>
            </a:prstGeom>
            <a:solidFill>
              <a:srgbClr val="544F40"/>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818"/>
                </a:spcAft>
                <a:defRPr/>
              </a:pPr>
              <a:r>
                <a:rPr kumimoji="0" lang="en-US" sz="1200" b="1" i="0" u="none" strike="noStrike" kern="1200" cap="none" spc="0" normalizeH="0" baseline="0" noProof="0" dirty="0">
                  <a:ln>
                    <a:noFill/>
                  </a:ln>
                  <a:solidFill>
                    <a:prstClr val="white"/>
                  </a:solidFill>
                  <a:effectLst/>
                  <a:uLnTx/>
                  <a:uFillTx/>
                  <a:latin typeface="Arial" pitchFamily="34" charset="0"/>
                  <a:ea typeface="+mn-ea"/>
                  <a:cs typeface="+mn-cs"/>
                </a:rPr>
                <a:t>≥150 cells/µL</a:t>
              </a:r>
              <a:r>
                <a:rPr lang="en-US" sz="1200" b="1" baseline="30000" dirty="0">
                  <a:solidFill>
                    <a:prstClr val="white"/>
                  </a:solidFill>
                  <a:latin typeface="Arial" pitchFamily="34" charset="0"/>
                </a:rPr>
                <a:t>1</a:t>
              </a:r>
            </a:p>
          </p:txBody>
        </p:sp>
      </p:grpSp>
      <p:sp>
        <p:nvSpPr>
          <p:cNvPr id="93" name="TextBox 92">
            <a:extLst>
              <a:ext uri="{FF2B5EF4-FFF2-40B4-BE49-F238E27FC236}">
                <a16:creationId xmlns:a16="http://schemas.microsoft.com/office/drawing/2014/main" id="{7DBA6074-AC11-42FC-867D-D3659521AE97}"/>
              </a:ext>
            </a:extLst>
          </p:cNvPr>
          <p:cNvSpPr txBox="1"/>
          <p:nvPr/>
        </p:nvSpPr>
        <p:spPr>
          <a:xfrm rot="16200000">
            <a:off x="-721895" y="3490820"/>
            <a:ext cx="2685315" cy="307777"/>
          </a:xfrm>
          <a:prstGeom prst="rect">
            <a:avLst/>
          </a:prstGeom>
          <a:noFill/>
        </p:spPr>
        <p:txBody>
          <a:bodyPr wrap="square" lIns="0" tIns="0" rIns="0" bIns="0" rtlCol="0">
            <a:sp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Annual rate of moderate/severe exacerbations (patient/year)</a:t>
            </a:r>
            <a:r>
              <a:rPr kumimoji="0" lang="en-US" sz="1000" b="1" i="0" u="none" strike="noStrike" kern="0" cap="none" spc="0" normalizeH="0" baseline="30000" noProof="0" dirty="0">
                <a:ln>
                  <a:noFill/>
                </a:ln>
                <a:solidFill>
                  <a:srgbClr val="544F40"/>
                </a:solidFill>
                <a:effectLst/>
                <a:uLnTx/>
                <a:uFillTx/>
                <a:latin typeface="Arial" panose="020B0604020202020204"/>
                <a:ea typeface="+mn-ea"/>
                <a:cs typeface="Arial" panose="020B0604020202020204" pitchFamily="34" charset="0"/>
              </a:rPr>
              <a:t>1,2</a:t>
            </a:r>
          </a:p>
        </p:txBody>
      </p:sp>
      <p:sp>
        <p:nvSpPr>
          <p:cNvPr id="94" name="TextBox 93">
            <a:extLst>
              <a:ext uri="{FF2B5EF4-FFF2-40B4-BE49-F238E27FC236}">
                <a16:creationId xmlns:a16="http://schemas.microsoft.com/office/drawing/2014/main" id="{7DBA6074-AC11-42FC-867D-D3659521AE97}"/>
              </a:ext>
            </a:extLst>
          </p:cNvPr>
          <p:cNvSpPr txBox="1"/>
          <p:nvPr/>
        </p:nvSpPr>
        <p:spPr>
          <a:xfrm rot="16200000">
            <a:off x="5109737" y="3490820"/>
            <a:ext cx="2685315" cy="307777"/>
          </a:xfrm>
          <a:prstGeom prst="rect">
            <a:avLst/>
          </a:prstGeom>
          <a:noFill/>
        </p:spPr>
        <p:txBody>
          <a:bodyPr wrap="square" lIns="0" tIns="0" rIns="0" bIns="0" rtlCol="0">
            <a:sp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Annual rate of moderate/severe </a:t>
            </a:r>
            <a:br>
              <a:rPr kumimoji="0" lang="en-US" sz="1000" b="1"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br>
            <a:r>
              <a:rPr kumimoji="0" lang="en-US" sz="1000" b="1"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exacerbations (patient/year)</a:t>
            </a:r>
            <a:r>
              <a:rPr kumimoji="0" lang="en-US" sz="1000" b="1" i="0" u="none" strike="noStrike" kern="0" cap="none" spc="0" normalizeH="0" baseline="30000" noProof="0" dirty="0">
                <a:ln>
                  <a:noFill/>
                </a:ln>
                <a:solidFill>
                  <a:srgbClr val="544F40"/>
                </a:solidFill>
                <a:effectLst/>
                <a:uLnTx/>
                <a:uFillTx/>
                <a:latin typeface="Arial" panose="020B0604020202020204"/>
                <a:ea typeface="+mn-ea"/>
                <a:cs typeface="Arial" panose="020B0604020202020204" pitchFamily="34" charset="0"/>
              </a:rPr>
              <a:t>1,2</a:t>
            </a:r>
          </a:p>
        </p:txBody>
      </p:sp>
      <p:grpSp>
        <p:nvGrpSpPr>
          <p:cNvPr id="4" name="Group 3"/>
          <p:cNvGrpSpPr/>
          <p:nvPr/>
        </p:nvGrpSpPr>
        <p:grpSpPr>
          <a:xfrm>
            <a:off x="867748" y="2090056"/>
            <a:ext cx="5075854" cy="3389873"/>
            <a:chOff x="867748" y="2071394"/>
            <a:chExt cx="5075854" cy="3389873"/>
          </a:xfrm>
        </p:grpSpPr>
        <p:graphicFrame>
          <p:nvGraphicFramePr>
            <p:cNvPr id="95" name="Chart 94">
              <a:extLst>
                <a:ext uri="{FF2B5EF4-FFF2-40B4-BE49-F238E27FC236}">
                  <a16:creationId xmlns:a16="http://schemas.microsoft.com/office/drawing/2014/main" id="{4EC4DCE6-D3FA-47B6-9BBE-AE2323238FC3}"/>
                </a:ext>
              </a:extLst>
            </p:cNvPr>
            <p:cNvGraphicFramePr/>
            <p:nvPr/>
          </p:nvGraphicFramePr>
          <p:xfrm>
            <a:off x="867748" y="2071394"/>
            <a:ext cx="5075854" cy="2985796"/>
          </p:xfrm>
          <a:graphic>
            <a:graphicData uri="http://schemas.openxmlformats.org/drawingml/2006/chart">
              <c:chart xmlns:c="http://schemas.openxmlformats.org/drawingml/2006/chart" xmlns:r="http://schemas.openxmlformats.org/officeDocument/2006/relationships" r:id="rId3"/>
            </a:graphicData>
          </a:graphic>
        </p:graphicFrame>
        <p:sp>
          <p:nvSpPr>
            <p:cNvPr id="96" name="TextBox 95">
              <a:extLst>
                <a:ext uri="{FF2B5EF4-FFF2-40B4-BE49-F238E27FC236}">
                  <a16:creationId xmlns:a16="http://schemas.microsoft.com/office/drawing/2014/main" id="{6BB2DB8A-09B8-44F7-8F60-3CFC3B4A552F}"/>
                </a:ext>
              </a:extLst>
            </p:cNvPr>
            <p:cNvSpPr txBox="1"/>
            <p:nvPr/>
          </p:nvSpPr>
          <p:spPr>
            <a:xfrm>
              <a:off x="1920972" y="4999602"/>
              <a:ext cx="952856" cy="4616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1" i="0" u="none" strike="noStrike" kern="0" cap="none" spc="0" normalizeH="0" baseline="0" noProof="0" dirty="0">
                  <a:ln>
                    <a:noFill/>
                  </a:ln>
                  <a:solidFill>
                    <a:srgbClr val="544F40"/>
                  </a:solidFill>
                  <a:effectLst/>
                  <a:uLnTx/>
                  <a:uFillTx/>
                  <a:latin typeface="Arial" panose="020B0604020202020204"/>
                  <a:ea typeface="+mn-ea"/>
                  <a:cs typeface="+mn-cs"/>
                </a:rPr>
                <a:t>FF/UMEC/VI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t>100/62.5/25 μg</a:t>
              </a:r>
              <a:b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br>
              <a: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t>n = 1,841</a:t>
              </a:r>
              <a:endParaRPr kumimoji="0" lang="pt-BR" sz="1000" b="0" i="0" u="none" strike="noStrike" kern="0" cap="none" spc="0" normalizeH="0" baseline="30000" noProof="0" dirty="0">
                <a:ln>
                  <a:noFill/>
                </a:ln>
                <a:solidFill>
                  <a:srgbClr val="544F40"/>
                </a:solidFill>
                <a:effectLst/>
                <a:uLnTx/>
                <a:uFillTx/>
                <a:latin typeface="Arial" panose="020B0604020202020204"/>
                <a:ea typeface="+mn-ea"/>
                <a:cs typeface="+mn-cs"/>
              </a:endParaRPr>
            </a:p>
          </p:txBody>
        </p:sp>
        <p:sp>
          <p:nvSpPr>
            <p:cNvPr id="97" name="TextBox 96">
              <a:extLst>
                <a:ext uri="{FF2B5EF4-FFF2-40B4-BE49-F238E27FC236}">
                  <a16:creationId xmlns:a16="http://schemas.microsoft.com/office/drawing/2014/main" id="{6BB2DB8A-09B8-44F7-8F60-3CFC3B4A552F}"/>
                </a:ext>
              </a:extLst>
            </p:cNvPr>
            <p:cNvSpPr txBox="1"/>
            <p:nvPr/>
          </p:nvSpPr>
          <p:spPr>
            <a:xfrm>
              <a:off x="4217862" y="4999602"/>
              <a:ext cx="999622" cy="4616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1" i="0" u="none" strike="noStrike" kern="0" cap="none" spc="0" normalizeH="0" baseline="0" noProof="0" dirty="0">
                  <a:ln>
                    <a:noFill/>
                  </a:ln>
                  <a:solidFill>
                    <a:srgbClr val="544F40"/>
                  </a:solidFill>
                  <a:effectLst/>
                  <a:uLnTx/>
                  <a:uFillTx/>
                  <a:latin typeface="Arial" panose="020B0604020202020204"/>
                  <a:ea typeface="+mn-ea"/>
                  <a:cs typeface="+mn-cs"/>
                </a:rPr>
                <a:t>UMEC/VI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t>62.5/25 μg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t>n = 869</a:t>
              </a:r>
              <a:endParaRPr kumimoji="0" lang="pt-BR" sz="1000" b="0" i="0" u="none" strike="noStrike" kern="0" cap="none" spc="0" normalizeH="0" baseline="30000" noProof="0" dirty="0">
                <a:ln>
                  <a:noFill/>
                </a:ln>
                <a:solidFill>
                  <a:srgbClr val="544F40"/>
                </a:solidFill>
                <a:effectLst/>
                <a:uLnTx/>
                <a:uFillTx/>
                <a:latin typeface="Arial" panose="020B0604020202020204"/>
                <a:ea typeface="+mn-ea"/>
                <a:cs typeface="+mn-cs"/>
              </a:endParaRPr>
            </a:p>
          </p:txBody>
        </p:sp>
        <p:sp>
          <p:nvSpPr>
            <p:cNvPr id="98" name="TextBox 97">
              <a:extLst>
                <a:ext uri="{FF2B5EF4-FFF2-40B4-BE49-F238E27FC236}">
                  <a16:creationId xmlns:a16="http://schemas.microsoft.com/office/drawing/2014/main" id="{6BB2DB8A-09B8-44F7-8F60-3CFC3B4A552F}"/>
                </a:ext>
              </a:extLst>
            </p:cNvPr>
            <p:cNvSpPr txBox="1"/>
            <p:nvPr/>
          </p:nvSpPr>
          <p:spPr>
            <a:xfrm>
              <a:off x="2744650" y="2411213"/>
              <a:ext cx="161544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1000" b="1" i="0" u="none" strike="noStrike" kern="0" cap="none" spc="0" normalizeH="0" baseline="0" noProof="0" dirty="0">
                  <a:ln>
                    <a:noFill/>
                  </a:ln>
                  <a:solidFill>
                    <a:srgbClr val="544F40"/>
                  </a:solidFill>
                  <a:effectLst/>
                  <a:uLnTx/>
                  <a:uFillTx/>
                  <a:latin typeface="Arial" panose="020B0604020202020204"/>
                  <a:ea typeface="+mn-ea"/>
                  <a:cs typeface="+mn-cs"/>
                </a:rPr>
                <a:t>12% reduction</a:t>
              </a:r>
              <a:r>
                <a:rPr kumimoji="0" lang="fr-FR" sz="1000" b="1" i="0" u="none" strike="noStrike" kern="0" cap="none" spc="0" normalizeH="0" baseline="30000" noProof="0" dirty="0">
                  <a:ln>
                    <a:noFill/>
                  </a:ln>
                  <a:solidFill>
                    <a:srgbClr val="544F40"/>
                  </a:solidFill>
                  <a:effectLst/>
                  <a:uLnTx/>
                  <a:uFillTx/>
                  <a:latin typeface="Arial" panose="020B0604020202020204"/>
                  <a:ea typeface="+mn-ea"/>
                  <a:cs typeface="+mn-cs"/>
                </a:rPr>
                <a:t>2</a:t>
              </a:r>
              <a:endParaRPr kumimoji="0" lang="fr-FR" sz="1000" b="1" i="0" u="none" strike="noStrike" kern="0" cap="none" spc="0" normalizeH="0" baseline="0" noProof="0" dirty="0">
                <a:ln>
                  <a:noFill/>
                </a:ln>
                <a:solidFill>
                  <a:srgbClr val="544F4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1000" b="0" i="0" u="none" strike="noStrike" kern="0" cap="none" spc="0" normalizeH="0" baseline="0" noProof="0" dirty="0">
                  <a:ln>
                    <a:noFill/>
                  </a:ln>
                  <a:solidFill>
                    <a:srgbClr val="544F40"/>
                  </a:solidFill>
                  <a:effectLst/>
                  <a:uLnTx/>
                  <a:uFillTx/>
                  <a:latin typeface="Arial" panose="020B0604020202020204"/>
                  <a:ea typeface="+mn-ea"/>
                  <a:cs typeface="+mn-cs"/>
                </a:rPr>
                <a:t>(95% CI: 1, 22) </a:t>
              </a:r>
              <a:r>
                <a:rPr kumimoji="0" lang="fr-FR" sz="1000" b="0" i="1" u="none" strike="noStrike" kern="0" cap="none" spc="0" normalizeH="0" baseline="0" noProof="0" dirty="0">
                  <a:ln>
                    <a:noFill/>
                  </a:ln>
                  <a:solidFill>
                    <a:srgbClr val="544F40"/>
                  </a:solidFill>
                  <a:effectLst/>
                  <a:uLnTx/>
                  <a:uFillTx/>
                  <a:latin typeface="Arial" panose="020B0604020202020204"/>
                  <a:ea typeface="+mn-ea"/>
                  <a:cs typeface="+mn-cs"/>
                </a:rPr>
                <a:t>p</a:t>
              </a:r>
              <a:r>
                <a:rPr kumimoji="0" lang="fr-FR" sz="1000" b="0" i="0" u="none" strike="noStrike" kern="0" cap="none" spc="0" normalizeH="0" baseline="0" noProof="0" dirty="0">
                  <a:ln>
                    <a:noFill/>
                  </a:ln>
                  <a:solidFill>
                    <a:srgbClr val="544F40"/>
                  </a:solidFill>
                  <a:effectLst/>
                  <a:uLnTx/>
                  <a:uFillTx/>
                  <a:latin typeface="Arial" panose="020B0604020202020204"/>
                  <a:ea typeface="+mn-ea"/>
                  <a:cs typeface="+mn-cs"/>
                </a:rPr>
                <a:t> = 0.034</a:t>
              </a:r>
            </a:p>
          </p:txBody>
        </p:sp>
        <p:sp>
          <p:nvSpPr>
            <p:cNvPr id="100" name="Freeform 99"/>
            <p:cNvSpPr/>
            <p:nvPr/>
          </p:nvSpPr>
          <p:spPr>
            <a:xfrm>
              <a:off x="2402113" y="2772038"/>
              <a:ext cx="2300515" cy="425450"/>
            </a:xfrm>
            <a:custGeom>
              <a:avLst/>
              <a:gdLst>
                <a:gd name="connsiteX0" fmla="*/ 0 w 1593850"/>
                <a:gd name="connsiteY0" fmla="*/ 425450 h 425450"/>
                <a:gd name="connsiteX1" fmla="*/ 0 w 1593850"/>
                <a:gd name="connsiteY1" fmla="*/ 0 h 425450"/>
                <a:gd name="connsiteX2" fmla="*/ 1593850 w 1593850"/>
                <a:gd name="connsiteY2" fmla="*/ 0 h 425450"/>
                <a:gd name="connsiteX3" fmla="*/ 1593850 w 1593850"/>
                <a:gd name="connsiteY3" fmla="*/ 228600 h 425450"/>
              </a:gdLst>
              <a:ahLst/>
              <a:cxnLst>
                <a:cxn ang="0">
                  <a:pos x="connsiteX0" y="connsiteY0"/>
                </a:cxn>
                <a:cxn ang="0">
                  <a:pos x="connsiteX1" y="connsiteY1"/>
                </a:cxn>
                <a:cxn ang="0">
                  <a:pos x="connsiteX2" y="connsiteY2"/>
                </a:cxn>
                <a:cxn ang="0">
                  <a:pos x="connsiteX3" y="connsiteY3"/>
                </a:cxn>
              </a:cxnLst>
              <a:rect l="l" t="t" r="r" b="b"/>
              <a:pathLst>
                <a:path w="1593850" h="425450">
                  <a:moveTo>
                    <a:pt x="0" y="425450"/>
                  </a:moveTo>
                  <a:lnTo>
                    <a:pt x="0" y="0"/>
                  </a:lnTo>
                  <a:lnTo>
                    <a:pt x="1593850" y="0"/>
                  </a:lnTo>
                  <a:lnTo>
                    <a:pt x="1593850" y="228600"/>
                  </a:lnTo>
                </a:path>
              </a:pathLst>
            </a:custGeom>
            <a:noFill/>
            <a:ln w="9525" cap="flat" cmpd="sng" algn="ctr">
              <a:solidFill>
                <a:schemeClr val="tx1"/>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Arial"/>
                <a:ea typeface="+mn-ea"/>
                <a:cs typeface="+mn-cs"/>
              </a:endParaRPr>
            </a:p>
          </p:txBody>
        </p:sp>
        <p:sp>
          <p:nvSpPr>
            <p:cNvPr id="101" name="TextBox 100">
              <a:extLst>
                <a:ext uri="{FF2B5EF4-FFF2-40B4-BE49-F238E27FC236}">
                  <a16:creationId xmlns:a16="http://schemas.microsoft.com/office/drawing/2014/main" id="{6BB2DB8A-09B8-44F7-8F60-3CFC3B4A552F}"/>
                </a:ext>
              </a:extLst>
            </p:cNvPr>
            <p:cNvSpPr txBox="1"/>
            <p:nvPr/>
          </p:nvSpPr>
          <p:spPr>
            <a:xfrm>
              <a:off x="1827666" y="3327067"/>
              <a:ext cx="115813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it-IT" sz="1000" b="1" i="0" u="none" strike="noStrike" kern="0" cap="none" spc="0" normalizeH="0" baseline="0" noProof="0" dirty="0">
                  <a:ln>
                    <a:noFill/>
                  </a:ln>
                  <a:solidFill>
                    <a:srgbClr val="544F40"/>
                  </a:solidFill>
                  <a:effectLst/>
                  <a:uLnTx/>
                  <a:uFillTx/>
                  <a:latin typeface="Arial" panose="020B0604020202020204"/>
                  <a:ea typeface="+mn-ea"/>
                  <a:cs typeface="+mn-cs"/>
                </a:rPr>
                <a:t>0.85</a:t>
              </a:r>
              <a:br>
                <a:rPr kumimoji="0" lang="it-IT" sz="10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it-IT" sz="1000" b="0" i="0" u="none" strike="noStrike" kern="0" cap="none" spc="0" normalizeH="0" baseline="0" noProof="0" dirty="0">
                  <a:ln>
                    <a:noFill/>
                  </a:ln>
                  <a:solidFill>
                    <a:srgbClr val="544F40"/>
                  </a:solidFill>
                  <a:effectLst/>
                  <a:uLnTx/>
                  <a:uFillTx/>
                  <a:latin typeface="Arial" panose="020B0604020202020204"/>
                  <a:ea typeface="+mn-ea"/>
                  <a:cs typeface="+mn-cs"/>
                </a:rPr>
                <a:t>(95% CI: 0.80, 0.91)</a:t>
              </a:r>
            </a:p>
          </p:txBody>
        </p:sp>
        <p:sp>
          <p:nvSpPr>
            <p:cNvPr id="102" name="TextBox 101">
              <a:extLst>
                <a:ext uri="{FF2B5EF4-FFF2-40B4-BE49-F238E27FC236}">
                  <a16:creationId xmlns:a16="http://schemas.microsoft.com/office/drawing/2014/main" id="{6BB2DB8A-09B8-44F7-8F60-3CFC3B4A552F}"/>
                </a:ext>
              </a:extLst>
            </p:cNvPr>
            <p:cNvSpPr txBox="1"/>
            <p:nvPr/>
          </p:nvSpPr>
          <p:spPr>
            <a:xfrm>
              <a:off x="4132329" y="3140179"/>
              <a:ext cx="115813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it-IT" sz="1000" b="1" i="0" u="none" strike="noStrike" kern="0" cap="none" spc="0" normalizeH="0" baseline="0" noProof="0" dirty="0">
                  <a:ln>
                    <a:noFill/>
                  </a:ln>
                  <a:solidFill>
                    <a:srgbClr val="544F40"/>
                  </a:solidFill>
                  <a:effectLst/>
                  <a:uLnTx/>
                  <a:uFillTx/>
                  <a:latin typeface="Arial" panose="020B0604020202020204"/>
                  <a:ea typeface="+mn-ea"/>
                  <a:cs typeface="+mn-cs"/>
                </a:rPr>
                <a:t>0.97</a:t>
              </a:r>
              <a:br>
                <a:rPr kumimoji="0" lang="it-IT" sz="10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it-IT" sz="1000" b="0" i="0" u="none" strike="noStrike" kern="0" cap="none" spc="0" normalizeH="0" baseline="0" noProof="0" dirty="0">
                  <a:ln>
                    <a:noFill/>
                  </a:ln>
                  <a:solidFill>
                    <a:srgbClr val="544F40"/>
                  </a:solidFill>
                  <a:effectLst/>
                  <a:uLnTx/>
                  <a:uFillTx/>
                  <a:latin typeface="Arial" panose="020B0604020202020204"/>
                  <a:ea typeface="+mn-ea"/>
                  <a:cs typeface="+mn-cs"/>
                </a:rPr>
                <a:t>(95% CI: 0.88, 1.07)</a:t>
              </a:r>
            </a:p>
          </p:txBody>
        </p:sp>
      </p:grpSp>
      <p:grpSp>
        <p:nvGrpSpPr>
          <p:cNvPr id="103" name="Group 102"/>
          <p:cNvGrpSpPr/>
          <p:nvPr/>
        </p:nvGrpSpPr>
        <p:grpSpPr>
          <a:xfrm>
            <a:off x="6699381" y="2074247"/>
            <a:ext cx="5075854" cy="3405682"/>
            <a:chOff x="867748" y="2055585"/>
            <a:chExt cx="5075854" cy="3405682"/>
          </a:xfrm>
        </p:grpSpPr>
        <p:graphicFrame>
          <p:nvGraphicFramePr>
            <p:cNvPr id="104" name="Chart 103">
              <a:extLst>
                <a:ext uri="{FF2B5EF4-FFF2-40B4-BE49-F238E27FC236}">
                  <a16:creationId xmlns:a16="http://schemas.microsoft.com/office/drawing/2014/main" id="{4EC4DCE6-D3FA-47B6-9BBE-AE2323238FC3}"/>
                </a:ext>
              </a:extLst>
            </p:cNvPr>
            <p:cNvGraphicFramePr/>
            <p:nvPr/>
          </p:nvGraphicFramePr>
          <p:xfrm>
            <a:off x="867748" y="2071394"/>
            <a:ext cx="5075854" cy="2985796"/>
          </p:xfrm>
          <a:graphic>
            <a:graphicData uri="http://schemas.openxmlformats.org/drawingml/2006/chart">
              <c:chart xmlns:c="http://schemas.openxmlformats.org/drawingml/2006/chart" xmlns:r="http://schemas.openxmlformats.org/officeDocument/2006/relationships" r:id="rId4"/>
            </a:graphicData>
          </a:graphic>
        </p:graphicFrame>
        <p:sp>
          <p:nvSpPr>
            <p:cNvPr id="105" name="TextBox 104">
              <a:extLst>
                <a:ext uri="{FF2B5EF4-FFF2-40B4-BE49-F238E27FC236}">
                  <a16:creationId xmlns:a16="http://schemas.microsoft.com/office/drawing/2014/main" id="{6BB2DB8A-09B8-44F7-8F60-3CFC3B4A552F}"/>
                </a:ext>
              </a:extLst>
            </p:cNvPr>
            <p:cNvSpPr txBox="1"/>
            <p:nvPr/>
          </p:nvSpPr>
          <p:spPr>
            <a:xfrm>
              <a:off x="1920972" y="4999602"/>
              <a:ext cx="952856" cy="4616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1" i="0" u="none" strike="noStrike" kern="0" cap="none" spc="0" normalizeH="0" baseline="0" noProof="0" dirty="0">
                  <a:ln>
                    <a:noFill/>
                  </a:ln>
                  <a:solidFill>
                    <a:srgbClr val="544F40"/>
                  </a:solidFill>
                  <a:effectLst/>
                  <a:uLnTx/>
                  <a:uFillTx/>
                  <a:latin typeface="Arial" panose="020B0604020202020204"/>
                  <a:ea typeface="+mn-ea"/>
                  <a:cs typeface="+mn-cs"/>
                </a:rPr>
                <a:t>FF/UMEC/VI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t>100/62.5/25 μg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t>n = 2,296</a:t>
              </a:r>
              <a:endParaRPr kumimoji="0" lang="pt-BR" sz="1000" b="0" i="0" u="none" strike="noStrike" kern="0" cap="none" spc="0" normalizeH="0" baseline="30000" noProof="0" dirty="0">
                <a:ln>
                  <a:noFill/>
                </a:ln>
                <a:solidFill>
                  <a:srgbClr val="544F40"/>
                </a:solidFill>
                <a:effectLst/>
                <a:uLnTx/>
                <a:uFillTx/>
                <a:latin typeface="Arial" panose="020B0604020202020204"/>
                <a:ea typeface="+mn-ea"/>
                <a:cs typeface="+mn-cs"/>
              </a:endParaRPr>
            </a:p>
          </p:txBody>
        </p:sp>
        <p:sp>
          <p:nvSpPr>
            <p:cNvPr id="106" name="TextBox 105">
              <a:extLst>
                <a:ext uri="{FF2B5EF4-FFF2-40B4-BE49-F238E27FC236}">
                  <a16:creationId xmlns:a16="http://schemas.microsoft.com/office/drawing/2014/main" id="{6BB2DB8A-09B8-44F7-8F60-3CFC3B4A552F}"/>
                </a:ext>
              </a:extLst>
            </p:cNvPr>
            <p:cNvSpPr txBox="1"/>
            <p:nvPr/>
          </p:nvSpPr>
          <p:spPr>
            <a:xfrm>
              <a:off x="4217862" y="4999602"/>
              <a:ext cx="999622" cy="4616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1" i="0" u="none" strike="noStrike" kern="0" cap="none" spc="0" normalizeH="0" baseline="0" noProof="0" dirty="0">
                  <a:ln>
                    <a:noFill/>
                  </a:ln>
                  <a:solidFill>
                    <a:srgbClr val="544F40"/>
                  </a:solidFill>
                  <a:effectLst/>
                  <a:uLnTx/>
                  <a:uFillTx/>
                  <a:latin typeface="Arial" panose="020B0604020202020204"/>
                  <a:ea typeface="+mn-ea"/>
                  <a:cs typeface="+mn-cs"/>
                </a:rPr>
                <a:t>UMEC/VI</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t>62.5/25 μg</a:t>
              </a: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pt-BR" sz="1000" b="0" i="0" u="none" strike="noStrike" kern="0" cap="none" spc="0" normalizeH="0" baseline="0" noProof="0" dirty="0">
                  <a:ln>
                    <a:noFill/>
                  </a:ln>
                  <a:solidFill>
                    <a:srgbClr val="544F40"/>
                  </a:solidFill>
                  <a:effectLst/>
                  <a:uLnTx/>
                  <a:uFillTx/>
                  <a:latin typeface="Arial" panose="020B0604020202020204"/>
                  <a:ea typeface="+mn-ea"/>
                  <a:cs typeface="+mn-cs"/>
                </a:rPr>
                <a:t>n = 1,195</a:t>
              </a:r>
              <a:endParaRPr kumimoji="0" lang="pt-BR" sz="1000" b="0" i="0" u="none" strike="noStrike" kern="0" cap="none" spc="0" normalizeH="0" baseline="30000" noProof="0" dirty="0">
                <a:ln>
                  <a:noFill/>
                </a:ln>
                <a:solidFill>
                  <a:srgbClr val="544F40"/>
                </a:solidFill>
                <a:effectLst/>
                <a:uLnTx/>
                <a:uFillTx/>
                <a:latin typeface="Arial" panose="020B0604020202020204"/>
                <a:ea typeface="+mn-ea"/>
                <a:cs typeface="+mn-cs"/>
              </a:endParaRPr>
            </a:p>
          </p:txBody>
        </p:sp>
        <p:sp>
          <p:nvSpPr>
            <p:cNvPr id="107" name="TextBox 106">
              <a:extLst>
                <a:ext uri="{FF2B5EF4-FFF2-40B4-BE49-F238E27FC236}">
                  <a16:creationId xmlns:a16="http://schemas.microsoft.com/office/drawing/2014/main" id="{6BB2DB8A-09B8-44F7-8F60-3CFC3B4A552F}"/>
                </a:ext>
              </a:extLst>
            </p:cNvPr>
            <p:cNvSpPr txBox="1"/>
            <p:nvPr/>
          </p:nvSpPr>
          <p:spPr>
            <a:xfrm>
              <a:off x="2744650" y="2055585"/>
              <a:ext cx="161544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1000" b="1" i="0" u="none" strike="noStrike" kern="0" cap="none" spc="0" normalizeH="0" baseline="0" noProof="0" dirty="0">
                  <a:ln>
                    <a:noFill/>
                  </a:ln>
                  <a:solidFill>
                    <a:srgbClr val="544F40"/>
                  </a:solidFill>
                  <a:effectLst/>
                  <a:uLnTx/>
                  <a:uFillTx/>
                  <a:latin typeface="Arial" panose="020B0604020202020204"/>
                  <a:ea typeface="+mn-ea"/>
                  <a:cs typeface="+mn-cs"/>
                </a:rPr>
                <a:t>32% reduction</a:t>
              </a:r>
              <a:r>
                <a:rPr kumimoji="0" lang="fr-FR" sz="1000" b="1" i="0" u="none" strike="noStrike" kern="0" cap="none" spc="0" normalizeH="0" baseline="30000" noProof="0" dirty="0">
                  <a:ln>
                    <a:noFill/>
                  </a:ln>
                  <a:solidFill>
                    <a:srgbClr val="544F40"/>
                  </a:solidFill>
                  <a:effectLst/>
                  <a:uLnTx/>
                  <a:uFillTx/>
                  <a:latin typeface="Arial" panose="020B0604020202020204"/>
                  <a:ea typeface="+mn-ea"/>
                  <a:cs typeface="+mn-cs"/>
                </a:rPr>
                <a:t>2</a:t>
              </a:r>
              <a:endParaRPr kumimoji="0" lang="fr-FR" sz="1000" b="1" i="0" u="none" strike="noStrike" kern="0" cap="none" spc="0" normalizeH="0" baseline="0" noProof="0" dirty="0">
                <a:ln>
                  <a:noFill/>
                </a:ln>
                <a:solidFill>
                  <a:srgbClr val="544F4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fr-FR" sz="1000" b="0" i="0" u="none" strike="noStrike" kern="0" cap="none" spc="0" normalizeH="0" baseline="0" noProof="0" dirty="0">
                  <a:ln>
                    <a:noFill/>
                  </a:ln>
                  <a:solidFill>
                    <a:srgbClr val="544F40"/>
                  </a:solidFill>
                  <a:effectLst/>
                  <a:uLnTx/>
                  <a:uFillTx/>
                  <a:latin typeface="Arial" panose="020B0604020202020204"/>
                  <a:ea typeface="+mn-ea"/>
                  <a:cs typeface="+mn-cs"/>
                </a:rPr>
                <a:t>(95% CI: 25, 38) </a:t>
              </a:r>
              <a:r>
                <a:rPr kumimoji="0" lang="fr-FR" sz="1000" b="0" i="1" u="none" strike="noStrike" kern="0" cap="none" spc="0" normalizeH="0" baseline="0" noProof="0" dirty="0">
                  <a:ln>
                    <a:noFill/>
                  </a:ln>
                  <a:solidFill>
                    <a:srgbClr val="544F40"/>
                  </a:solidFill>
                  <a:effectLst/>
                  <a:uLnTx/>
                  <a:uFillTx/>
                  <a:latin typeface="Arial" panose="020B0604020202020204"/>
                  <a:ea typeface="+mn-ea"/>
                  <a:cs typeface="+mn-cs"/>
                </a:rPr>
                <a:t>p</a:t>
              </a:r>
              <a:r>
                <a:rPr kumimoji="0" lang="fr-FR" sz="1000" b="0" i="0" u="none" strike="noStrike" kern="0" cap="none" spc="0" normalizeH="0" baseline="0" noProof="0" dirty="0">
                  <a:ln>
                    <a:noFill/>
                  </a:ln>
                  <a:solidFill>
                    <a:srgbClr val="544F40"/>
                  </a:solidFill>
                  <a:effectLst/>
                  <a:uLnTx/>
                  <a:uFillTx/>
                  <a:latin typeface="Arial" panose="020B0604020202020204"/>
                  <a:ea typeface="+mn-ea"/>
                  <a:cs typeface="+mn-cs"/>
                </a:rPr>
                <a:t> &lt; 0.001</a:t>
              </a:r>
            </a:p>
          </p:txBody>
        </p:sp>
        <p:sp>
          <p:nvSpPr>
            <p:cNvPr id="179" name="Freeform 178"/>
            <p:cNvSpPr/>
            <p:nvPr/>
          </p:nvSpPr>
          <p:spPr>
            <a:xfrm>
              <a:off x="2402113" y="2425742"/>
              <a:ext cx="2300515" cy="677416"/>
            </a:xfrm>
            <a:custGeom>
              <a:avLst/>
              <a:gdLst>
                <a:gd name="connsiteX0" fmla="*/ 0 w 1593850"/>
                <a:gd name="connsiteY0" fmla="*/ 425450 h 425450"/>
                <a:gd name="connsiteX1" fmla="*/ 0 w 1593850"/>
                <a:gd name="connsiteY1" fmla="*/ 0 h 425450"/>
                <a:gd name="connsiteX2" fmla="*/ 1593850 w 1593850"/>
                <a:gd name="connsiteY2" fmla="*/ 0 h 425450"/>
                <a:gd name="connsiteX3" fmla="*/ 1593850 w 1593850"/>
                <a:gd name="connsiteY3" fmla="*/ 228600 h 425450"/>
                <a:gd name="connsiteX0" fmla="*/ 0 w 1593850"/>
                <a:gd name="connsiteY0" fmla="*/ 830262 h 830262"/>
                <a:gd name="connsiteX1" fmla="*/ 0 w 1593850"/>
                <a:gd name="connsiteY1" fmla="*/ 0 h 830262"/>
                <a:gd name="connsiteX2" fmla="*/ 1593850 w 1593850"/>
                <a:gd name="connsiteY2" fmla="*/ 0 h 830262"/>
                <a:gd name="connsiteX3" fmla="*/ 1593850 w 1593850"/>
                <a:gd name="connsiteY3" fmla="*/ 228600 h 830262"/>
                <a:gd name="connsiteX0" fmla="*/ 0 w 1593850"/>
                <a:gd name="connsiteY0" fmla="*/ 830262 h 830262"/>
                <a:gd name="connsiteX1" fmla="*/ 0 w 1593850"/>
                <a:gd name="connsiteY1" fmla="*/ 0 h 830262"/>
                <a:gd name="connsiteX2" fmla="*/ 1593850 w 1593850"/>
                <a:gd name="connsiteY2" fmla="*/ 0 h 830262"/>
                <a:gd name="connsiteX3" fmla="*/ 1593850 w 1593850"/>
                <a:gd name="connsiteY3" fmla="*/ 102930 h 830262"/>
                <a:gd name="connsiteX0" fmla="*/ 0 w 1593850"/>
                <a:gd name="connsiteY0" fmla="*/ 893047 h 893047"/>
                <a:gd name="connsiteX1" fmla="*/ 0 w 1593850"/>
                <a:gd name="connsiteY1" fmla="*/ 0 h 893047"/>
                <a:gd name="connsiteX2" fmla="*/ 1593850 w 1593850"/>
                <a:gd name="connsiteY2" fmla="*/ 0 h 893047"/>
                <a:gd name="connsiteX3" fmla="*/ 1593850 w 1593850"/>
                <a:gd name="connsiteY3" fmla="*/ 102930 h 893047"/>
              </a:gdLst>
              <a:ahLst/>
              <a:cxnLst>
                <a:cxn ang="0">
                  <a:pos x="connsiteX0" y="connsiteY0"/>
                </a:cxn>
                <a:cxn ang="0">
                  <a:pos x="connsiteX1" y="connsiteY1"/>
                </a:cxn>
                <a:cxn ang="0">
                  <a:pos x="connsiteX2" y="connsiteY2"/>
                </a:cxn>
                <a:cxn ang="0">
                  <a:pos x="connsiteX3" y="connsiteY3"/>
                </a:cxn>
              </a:cxnLst>
              <a:rect l="l" t="t" r="r" b="b"/>
              <a:pathLst>
                <a:path w="1593850" h="893047">
                  <a:moveTo>
                    <a:pt x="0" y="893047"/>
                  </a:moveTo>
                  <a:lnTo>
                    <a:pt x="0" y="0"/>
                  </a:lnTo>
                  <a:lnTo>
                    <a:pt x="1593850" y="0"/>
                  </a:lnTo>
                  <a:lnTo>
                    <a:pt x="1593850" y="102930"/>
                  </a:lnTo>
                </a:path>
              </a:pathLst>
            </a:custGeom>
            <a:noFill/>
            <a:ln w="9525" cap="flat" cmpd="sng" algn="ctr">
              <a:solidFill>
                <a:schemeClr val="tx1"/>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Arial"/>
                <a:ea typeface="+mn-ea"/>
                <a:cs typeface="+mn-cs"/>
              </a:endParaRPr>
            </a:p>
          </p:txBody>
        </p:sp>
        <p:sp>
          <p:nvSpPr>
            <p:cNvPr id="180" name="TextBox 179">
              <a:extLst>
                <a:ext uri="{FF2B5EF4-FFF2-40B4-BE49-F238E27FC236}">
                  <a16:creationId xmlns:a16="http://schemas.microsoft.com/office/drawing/2014/main" id="{6BB2DB8A-09B8-44F7-8F60-3CFC3B4A552F}"/>
                </a:ext>
              </a:extLst>
            </p:cNvPr>
            <p:cNvSpPr txBox="1"/>
            <p:nvPr/>
          </p:nvSpPr>
          <p:spPr>
            <a:xfrm>
              <a:off x="1818335" y="3165258"/>
              <a:ext cx="115813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it-IT" sz="1000" b="1" i="0" u="none" strike="noStrike" kern="0" cap="none" spc="0" normalizeH="0" baseline="0" noProof="0" dirty="0">
                  <a:ln>
                    <a:noFill/>
                  </a:ln>
                  <a:solidFill>
                    <a:srgbClr val="544F40"/>
                  </a:solidFill>
                  <a:effectLst/>
                  <a:uLnTx/>
                  <a:uFillTx/>
                  <a:latin typeface="Arial" panose="020B0604020202020204"/>
                  <a:ea typeface="+mn-ea"/>
                  <a:cs typeface="+mn-cs"/>
                </a:rPr>
                <a:t>0.95</a:t>
              </a:r>
              <a:br>
                <a:rPr kumimoji="0" lang="it-IT" sz="10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it-IT" sz="1000" b="0" i="0" u="none" strike="noStrike" kern="0" cap="none" spc="0" normalizeH="0" baseline="0" noProof="0" dirty="0">
                  <a:ln>
                    <a:noFill/>
                  </a:ln>
                  <a:solidFill>
                    <a:srgbClr val="544F40"/>
                  </a:solidFill>
                  <a:effectLst/>
                  <a:uLnTx/>
                  <a:uFillTx/>
                  <a:latin typeface="Arial" panose="020B0604020202020204"/>
                  <a:ea typeface="+mn-ea"/>
                  <a:cs typeface="+mn-cs"/>
                </a:rPr>
                <a:t>(95% CI: 0.90, 1.01)</a:t>
              </a:r>
            </a:p>
          </p:txBody>
        </p:sp>
        <p:sp>
          <p:nvSpPr>
            <p:cNvPr id="181" name="TextBox 180">
              <a:extLst>
                <a:ext uri="{FF2B5EF4-FFF2-40B4-BE49-F238E27FC236}">
                  <a16:creationId xmlns:a16="http://schemas.microsoft.com/office/drawing/2014/main" id="{6BB2DB8A-09B8-44F7-8F60-3CFC3B4A552F}"/>
                </a:ext>
              </a:extLst>
            </p:cNvPr>
            <p:cNvSpPr txBox="1"/>
            <p:nvPr/>
          </p:nvSpPr>
          <p:spPr>
            <a:xfrm>
              <a:off x="4132329" y="2532682"/>
              <a:ext cx="115813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
                  <a:srgbClr val="544F40"/>
                </a:buClr>
                <a:buSzTx/>
                <a:buFontTx/>
                <a:buNone/>
                <a:tabLst/>
                <a:defRPr/>
              </a:pPr>
              <a:r>
                <a:rPr kumimoji="0" lang="it-IT" sz="1000" b="1" i="0" u="none" strike="noStrike" kern="0" cap="none" spc="0" normalizeH="0" baseline="0" noProof="0" dirty="0">
                  <a:ln>
                    <a:noFill/>
                  </a:ln>
                  <a:solidFill>
                    <a:srgbClr val="544F40"/>
                  </a:solidFill>
                  <a:effectLst/>
                  <a:uLnTx/>
                  <a:uFillTx/>
                  <a:latin typeface="Arial" panose="020B0604020202020204"/>
                  <a:ea typeface="+mn-ea"/>
                  <a:cs typeface="+mn-cs"/>
                </a:rPr>
                <a:t>1.39</a:t>
              </a:r>
              <a:br>
                <a:rPr kumimoji="0" lang="it-IT" sz="10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it-IT" sz="1000" b="0" i="0" u="none" strike="noStrike" kern="0" cap="none" spc="0" normalizeH="0" baseline="0" noProof="0" dirty="0">
                  <a:ln>
                    <a:noFill/>
                  </a:ln>
                  <a:solidFill>
                    <a:srgbClr val="544F40"/>
                  </a:solidFill>
                  <a:effectLst/>
                  <a:uLnTx/>
                  <a:uFillTx/>
                  <a:latin typeface="Arial" panose="020B0604020202020204"/>
                  <a:ea typeface="+mn-ea"/>
                  <a:cs typeface="+mn-cs"/>
                </a:rPr>
                <a:t>(95% CI: 1.29, 1.51)</a:t>
              </a:r>
            </a:p>
          </p:txBody>
        </p:sp>
      </p:grpSp>
      <p:pic>
        <p:nvPicPr>
          <p:cNvPr id="31" name="Picture 30">
            <a:extLst>
              <a:ext uri="{FF2B5EF4-FFF2-40B4-BE49-F238E27FC236}">
                <a16:creationId xmlns:a16="http://schemas.microsoft.com/office/drawing/2014/main" id="{F89C67CB-48BA-4A88-9301-0CB397AE4EB8}"/>
              </a:ext>
            </a:extLst>
          </p:cNvPr>
          <p:cNvPicPr>
            <a:picLocks noChangeAspect="1"/>
          </p:cNvPicPr>
          <p:nvPr/>
        </p:nvPicPr>
        <p:blipFill>
          <a:blip r:embed="rId5"/>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129889339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IMPACT safety: Pneumonia</a:t>
            </a:r>
          </a:p>
        </p:txBody>
      </p:sp>
      <p:sp>
        <p:nvSpPr>
          <p:cNvPr id="3" name="Slide Number Placeholder 2"/>
          <p:cNvSpPr>
            <a:spLocks noGrp="1"/>
          </p:cNvSpPr>
          <p:nvPr>
            <p:ph type="sldNum" sz="quarter" idx="12"/>
          </p:nvPr>
        </p:nvSpPr>
        <p:spPr/>
        <p:txBody>
          <a:bodyPr/>
          <a:lstStyle/>
          <a:p>
            <a:fld id="{2A603147-C618-4EA3-8F82-359C170F62BB}" type="slidenum">
              <a:rPr lang="en-GB" smtClean="0"/>
              <a:pPr/>
              <a:t>17</a:t>
            </a:fld>
            <a:endParaRPr lang="en-GB" dirty="0"/>
          </a:p>
        </p:txBody>
      </p:sp>
      <p:sp>
        <p:nvSpPr>
          <p:cNvPr id="5" name="Text Placeholder 4"/>
          <p:cNvSpPr>
            <a:spLocks noGrp="1"/>
          </p:cNvSpPr>
          <p:nvPr>
            <p:ph type="body" sz="quarter" idx="21"/>
          </p:nvPr>
        </p:nvSpPr>
        <p:spPr/>
        <p:txBody>
          <a:bodyPr/>
          <a:lstStyle/>
          <a:p>
            <a:r>
              <a:rPr lang="en-GB" dirty="0">
                <a:latin typeface="Arial" panose="020B0604020202020204"/>
              </a:rPr>
              <a:t>1. Lipson DA, et al. </a:t>
            </a:r>
            <a:r>
              <a:rPr lang="en-GB" i="1" dirty="0">
                <a:latin typeface="Arial" panose="020B0604020202020204"/>
              </a:rPr>
              <a:t>N Engl J Med</a:t>
            </a:r>
            <a:r>
              <a:rPr lang="en-GB" dirty="0">
                <a:latin typeface="Arial" panose="020B0604020202020204"/>
              </a:rPr>
              <a:t>. 2018;378:1671–1680; </a:t>
            </a:r>
            <a:r>
              <a:rPr lang="de-DE" dirty="0">
                <a:latin typeface="Arial" panose="020B0604020202020204"/>
              </a:rPr>
              <a:t>2. </a:t>
            </a:r>
            <a:r>
              <a:rPr lang="en-GB" dirty="0">
                <a:latin typeface="Arial" panose="020B0604020202020204"/>
              </a:rPr>
              <a:t>Relvar ELLIPTA. SmPC. GlaxoSmithKline. 2019</a:t>
            </a:r>
            <a:r>
              <a:rPr lang="de-DE" dirty="0">
                <a:latin typeface="Arial" panose="020B0604020202020204"/>
              </a:rPr>
              <a:t>; 3</a:t>
            </a:r>
            <a:r>
              <a:rPr lang="en-GB" dirty="0">
                <a:latin typeface="Arial" panose="020B0604020202020204"/>
              </a:rPr>
              <a:t>.</a:t>
            </a:r>
            <a:r>
              <a:rPr lang="de-DE" dirty="0">
                <a:latin typeface="Arial" panose="020B0604020202020204"/>
              </a:rPr>
              <a:t> </a:t>
            </a:r>
            <a:r>
              <a:rPr lang="en-GB" dirty="0">
                <a:latin typeface="Arial" panose="020B0604020202020204"/>
              </a:rPr>
              <a:t>Lipson DA, et al. </a:t>
            </a:r>
            <a:r>
              <a:rPr lang="en-GB" i="1" dirty="0">
                <a:latin typeface="Arial" panose="020B0604020202020204"/>
              </a:rPr>
              <a:t>Am J Respir Crit Care Med</a:t>
            </a:r>
            <a:r>
              <a:rPr lang="en-GB" dirty="0">
                <a:latin typeface="Arial" panose="020B0604020202020204"/>
              </a:rPr>
              <a:t>. 2017;196:438–446; 4. </a:t>
            </a:r>
            <a:r>
              <a:rPr lang="de-DE" dirty="0">
                <a:latin typeface="Arial" panose="020B0604020202020204"/>
              </a:rPr>
              <a:t>Kew KM &amp; Seniukovich A. </a:t>
            </a:r>
            <a:r>
              <a:rPr lang="de-DE" i="1" dirty="0">
                <a:latin typeface="Arial" panose="020B0604020202020204"/>
              </a:rPr>
              <a:t>Cochrane Database Syst Rev</a:t>
            </a:r>
            <a:r>
              <a:rPr lang="de-DE" dirty="0">
                <a:latin typeface="Arial" panose="020B0604020202020204"/>
              </a:rPr>
              <a:t>. 2014;3:CD010115; 5. </a:t>
            </a:r>
            <a:r>
              <a:rPr lang="en-GB" dirty="0">
                <a:latin typeface="Arial" panose="020B0604020202020204"/>
              </a:rPr>
              <a:t>Trelegy ELLIPTA. SmPC. GlaxoSmithKline. November 2020; </a:t>
            </a:r>
            <a:r>
              <a:rPr lang="de-DE" dirty="0">
                <a:latin typeface="Arial" panose="020B0604020202020204"/>
              </a:rPr>
              <a:t>6. </a:t>
            </a:r>
            <a:r>
              <a:rPr lang="en-US" dirty="0">
                <a:latin typeface="Arial" panose="020B0604020202020204"/>
              </a:rPr>
              <a:t>European Medicines Agency. PRAC reviews known risk of pneumonia with inhaled corticosteroids for chronic obstructive pulmonary disease. 2016. Available at: www.ema.europa.eu/docs/en_GB/document_library/Press_release/2016/03/WC500203476.pdf. Accessed on February 2021.</a:t>
            </a:r>
            <a:endParaRPr lang="en-GB" dirty="0">
              <a:latin typeface="Arial" panose="020B0604020202020204"/>
            </a:endParaRPr>
          </a:p>
        </p:txBody>
      </p:sp>
      <p:sp>
        <p:nvSpPr>
          <p:cNvPr id="6" name="Text Placeholder 5"/>
          <p:cNvSpPr>
            <a:spLocks noGrp="1"/>
          </p:cNvSpPr>
          <p:nvPr>
            <p:ph type="body" sz="quarter" idx="19"/>
          </p:nvPr>
        </p:nvSpPr>
        <p:spPr/>
        <p:txBody>
          <a:bodyPr/>
          <a:lstStyle/>
          <a:p>
            <a:r>
              <a:rPr lang="en-US" dirty="0"/>
              <a:t>AESI, adverse event of special interest; CI, confidence interval; FF, fluticasone furoate; HR, hazard ratio; ICS, inhaled corticosteroids; UMEC, umeclidinium; VI, vilanterol</a:t>
            </a:r>
          </a:p>
        </p:txBody>
      </p:sp>
      <p:sp>
        <p:nvSpPr>
          <p:cNvPr id="93" name="Rounded Rectangle 33"/>
          <p:cNvSpPr/>
          <p:nvPr/>
        </p:nvSpPr>
        <p:spPr>
          <a:xfrm rot="21148801">
            <a:off x="9039761" y="2173289"/>
            <a:ext cx="2197932" cy="2460233"/>
          </a:xfrm>
          <a:prstGeom prst="roundRect">
            <a:avLst>
              <a:gd name="adj" fmla="val 4588"/>
            </a:avLst>
          </a:prstGeom>
          <a:solidFill>
            <a:srgbClr val="E49B13"/>
          </a:solidFill>
          <a:ln w="6350" cap="flat" cmpd="sng" algn="ctr">
            <a:solidFill>
              <a:srgbClr val="E49B13"/>
            </a:solidFill>
            <a:prstDash val="solid"/>
          </a:ln>
          <a:effectLst/>
        </p:spPr>
        <p:txBody>
          <a:bodyPr lIns="36000" rIns="36000" anchor="ctr"/>
          <a:lstStyle/>
          <a:p>
            <a:pPr lvl="0" algn="ctr" defTabSz="1042965">
              <a:defRPr/>
            </a:pPr>
            <a:endParaRPr kumimoji="0" lang="en-GB" sz="1200" i="0" u="none" strike="noStrike" kern="0" cap="none" spc="0" normalizeH="0" baseline="0" noProof="0" dirty="0">
              <a:ln>
                <a:noFill/>
              </a:ln>
              <a:effectLst/>
              <a:uLnTx/>
              <a:uFillTx/>
              <a:latin typeface="Arial" panose="020B0604020202020204"/>
            </a:endParaRPr>
          </a:p>
        </p:txBody>
      </p:sp>
      <p:sp>
        <p:nvSpPr>
          <p:cNvPr id="75" name="Rounded Rectangle 33"/>
          <p:cNvSpPr/>
          <p:nvPr/>
        </p:nvSpPr>
        <p:spPr>
          <a:xfrm rot="21148801">
            <a:off x="960577" y="2107587"/>
            <a:ext cx="2197932" cy="2545312"/>
          </a:xfrm>
          <a:prstGeom prst="roundRect">
            <a:avLst>
              <a:gd name="adj" fmla="val 4588"/>
            </a:avLst>
          </a:prstGeom>
          <a:solidFill>
            <a:srgbClr val="F36633"/>
          </a:solidFill>
          <a:ln w="6350" cap="flat" cmpd="sng" algn="ctr">
            <a:solidFill>
              <a:srgbClr val="F36633"/>
            </a:solidFill>
            <a:prstDash val="solid"/>
          </a:ln>
          <a:effectLst/>
        </p:spPr>
        <p:txBody>
          <a:bodyPr lIns="36000" rIns="36000" anchor="ctr"/>
          <a:lstStyle/>
          <a:p>
            <a:pPr lvl="0" algn="ctr" defTabSz="1042965">
              <a:defRPr/>
            </a:pPr>
            <a:endParaRPr kumimoji="0" lang="en-GB" sz="1200" i="0" u="none" strike="noStrike" kern="0" cap="none" spc="0" normalizeH="0" baseline="0" noProof="0" dirty="0">
              <a:ln>
                <a:noFill/>
              </a:ln>
              <a:effectLst/>
              <a:uLnTx/>
              <a:uFillTx/>
              <a:latin typeface="Arial" panose="020B0604020202020204"/>
            </a:endParaRPr>
          </a:p>
        </p:txBody>
      </p:sp>
      <p:sp>
        <p:nvSpPr>
          <p:cNvPr id="76" name="Rounded Rectangle 33"/>
          <p:cNvSpPr/>
          <p:nvPr/>
        </p:nvSpPr>
        <p:spPr>
          <a:xfrm>
            <a:off x="1085825" y="1762970"/>
            <a:ext cx="10302702" cy="3157704"/>
          </a:xfrm>
          <a:prstGeom prst="roundRect">
            <a:avLst>
              <a:gd name="adj" fmla="val 2227"/>
            </a:avLst>
          </a:prstGeom>
          <a:solidFill>
            <a:schemeClr val="bg1">
              <a:lumMod val="95000"/>
            </a:schemeClr>
          </a:solidFill>
          <a:ln w="6350" cap="flat" cmpd="sng" algn="ctr">
            <a:gradFill flip="none" rotWithShape="1">
              <a:gsLst>
                <a:gs pos="0">
                  <a:srgbClr val="F36633">
                    <a:alpha val="50000"/>
                  </a:srgbClr>
                </a:gs>
                <a:gs pos="100000">
                  <a:srgbClr val="E49B13">
                    <a:alpha val="50000"/>
                  </a:srgbClr>
                </a:gs>
              </a:gsLst>
              <a:lin ang="0" scaled="1"/>
              <a:tileRect/>
            </a:gradFill>
            <a:prstDash val="solid"/>
          </a:ln>
          <a:effectLst>
            <a:outerShdw blurRad="50800" dist="38100" dir="5400000" algn="t" rotWithShape="0">
              <a:prstClr val="black">
                <a:alpha val="40000"/>
              </a:prstClr>
            </a:outerShdw>
          </a:effectLst>
        </p:spPr>
        <p:txBody>
          <a:bodyPr lIns="36000" rIns="36000" anchor="ctr"/>
          <a:lstStyle/>
          <a:p>
            <a:pPr lvl="0" algn="ctr" defTabSz="1042965">
              <a:defRPr/>
            </a:pPr>
            <a:endParaRPr kumimoji="0" lang="en-GB" sz="1200" i="0" u="none" strike="noStrike" kern="0" cap="none" spc="0" normalizeH="0" baseline="0" noProof="0" dirty="0">
              <a:ln>
                <a:noFill/>
              </a:ln>
              <a:effectLst/>
              <a:uLnTx/>
              <a:uFillTx/>
              <a:latin typeface="Arial" panose="020B0604020202020204"/>
            </a:endParaRPr>
          </a:p>
        </p:txBody>
      </p:sp>
      <p:sp>
        <p:nvSpPr>
          <p:cNvPr id="79" name="Rounded Rectangle 78"/>
          <p:cNvSpPr/>
          <p:nvPr/>
        </p:nvSpPr>
        <p:spPr>
          <a:xfrm>
            <a:off x="1708760" y="1525847"/>
            <a:ext cx="2828265" cy="411480"/>
          </a:xfrm>
          <a:prstGeom prst="roundRect">
            <a:avLst>
              <a:gd name="adj" fmla="val 50000"/>
            </a:avLst>
          </a:prstGeom>
          <a:solidFill>
            <a:srgbClr val="544F40"/>
          </a:solidFill>
          <a:ln w="6350" cap="flat" cmpd="sng" algn="ctr">
            <a:noFill/>
            <a:prstDash val="solid"/>
          </a:ln>
          <a:effectLst>
            <a:outerShdw blurRad="50800" dist="38100" dir="5400000" algn="t" rotWithShape="0">
              <a:prstClr val="black">
                <a:alpha val="40000"/>
              </a:prstClr>
            </a:outerShdw>
          </a:effectLst>
        </p:spPr>
        <p:txBody>
          <a:bodyPr wrap="square" lIns="182880" tIns="18288" rIns="91440" bIns="18288" anchor="ctr">
            <a:noAutofit/>
          </a:bodyPr>
          <a:lstStyle/>
          <a:p>
            <a:pPr algn="ctr" defTabSz="1042965"/>
            <a:r>
              <a:rPr lang="en-US" sz="1600" b="1" kern="0" dirty="0">
                <a:solidFill>
                  <a:schemeClr val="bg1"/>
                </a:solidFill>
              </a:rPr>
              <a:t>Pneumonia in IMPACT</a:t>
            </a:r>
            <a:r>
              <a:rPr lang="en-US" sz="1600" b="1" kern="0" baseline="30000" dirty="0">
                <a:solidFill>
                  <a:schemeClr val="bg1"/>
                </a:solidFill>
              </a:rPr>
              <a:t>1</a:t>
            </a:r>
          </a:p>
        </p:txBody>
      </p:sp>
      <p:sp>
        <p:nvSpPr>
          <p:cNvPr id="92" name="Rounded Rectangle 91"/>
          <p:cNvSpPr/>
          <p:nvPr/>
        </p:nvSpPr>
        <p:spPr>
          <a:xfrm>
            <a:off x="7257268" y="1525847"/>
            <a:ext cx="2828265" cy="411480"/>
          </a:xfrm>
          <a:prstGeom prst="roundRect">
            <a:avLst>
              <a:gd name="adj" fmla="val 50000"/>
            </a:avLst>
          </a:prstGeom>
          <a:solidFill>
            <a:srgbClr val="544F40"/>
          </a:solidFill>
          <a:ln w="6350" cap="flat" cmpd="sng" algn="ctr">
            <a:noFill/>
            <a:prstDash val="solid"/>
          </a:ln>
          <a:effectLst>
            <a:outerShdw blurRad="50800" dist="38100" dir="5400000" algn="t" rotWithShape="0">
              <a:prstClr val="black">
                <a:alpha val="40000"/>
              </a:prstClr>
            </a:outerShdw>
          </a:effectLst>
        </p:spPr>
        <p:txBody>
          <a:bodyPr wrap="square" lIns="182880" tIns="18288" rIns="91440" bIns="18288" anchor="ctr">
            <a:noAutofit/>
          </a:bodyPr>
          <a:lstStyle/>
          <a:p>
            <a:pPr algn="ctr" defTabSz="1042965"/>
            <a:r>
              <a:rPr lang="en-US" sz="1600" b="1" kern="0" dirty="0">
                <a:solidFill>
                  <a:schemeClr val="bg1"/>
                </a:solidFill>
              </a:rPr>
              <a:t>Data in context</a:t>
            </a:r>
          </a:p>
        </p:txBody>
      </p:sp>
      <p:sp>
        <p:nvSpPr>
          <p:cNvPr id="11" name="Rectangle 10"/>
          <p:cNvSpPr/>
          <p:nvPr/>
        </p:nvSpPr>
        <p:spPr>
          <a:xfrm>
            <a:off x="951372" y="2922494"/>
            <a:ext cx="10295980" cy="654424"/>
          </a:xfrm>
          <a:prstGeom prst="rect">
            <a:avLst/>
          </a:prstGeom>
          <a:gradFill>
            <a:gsLst>
              <a:gs pos="0">
                <a:schemeClr val="tx1">
                  <a:lumMod val="20000"/>
                  <a:lumOff val="80000"/>
                  <a:alpha val="42000"/>
                </a:schemeClr>
              </a:gs>
              <a:gs pos="100000">
                <a:schemeClr val="tx1">
                  <a:lumMod val="20000"/>
                  <a:lumOff val="80000"/>
                  <a:alpha val="52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Rectangle 76"/>
          <p:cNvSpPr/>
          <p:nvPr/>
        </p:nvSpPr>
        <p:spPr>
          <a:xfrm>
            <a:off x="1107794" y="2083758"/>
            <a:ext cx="4331285" cy="2631490"/>
          </a:xfrm>
          <a:prstGeom prst="rect">
            <a:avLst/>
          </a:prstGeom>
        </p:spPr>
        <p:txBody>
          <a:bodyPr wrap="square">
            <a:spAutoFit/>
          </a:bodyPr>
          <a:lstStyle/>
          <a:p>
            <a:pPr marL="274320" indent="-274320">
              <a:lnSpc>
                <a:spcPts val="1800"/>
              </a:lnSpc>
              <a:spcAft>
                <a:spcPts val="1800"/>
              </a:spcAft>
              <a:buFont typeface="Arial" panose="020B0604020202020204" pitchFamily="34" charset="0"/>
              <a:buChar char="–"/>
            </a:pPr>
            <a:r>
              <a:rPr lang="en-US" sz="1400" dirty="0"/>
              <a:t>Higher incidence of pneumonia in patients receiving ICS-containing treatment vs</a:t>
            </a:r>
            <a:br>
              <a:rPr lang="en-US" sz="1400" dirty="0"/>
            </a:br>
            <a:r>
              <a:rPr lang="en-US" sz="1400" dirty="0"/>
              <a:t>UMEC/VI</a:t>
            </a:r>
          </a:p>
          <a:p>
            <a:pPr marL="274320" indent="-274320">
              <a:lnSpc>
                <a:spcPts val="1800"/>
              </a:lnSpc>
              <a:spcAft>
                <a:spcPts val="1800"/>
              </a:spcAft>
              <a:buFont typeface="Arial" panose="020B0604020202020204" pitchFamily="34" charset="0"/>
              <a:buChar char="–"/>
            </a:pPr>
            <a:r>
              <a:rPr lang="en-US" sz="1400" dirty="0"/>
              <a:t>Measured as an AESI: FF/UMEC/VI 8%,</a:t>
            </a:r>
            <a:br>
              <a:rPr lang="en-US" sz="1400" dirty="0"/>
            </a:br>
            <a:r>
              <a:rPr lang="en-US" sz="1400" dirty="0"/>
              <a:t>FF/VI 7%, UMEC/VI 5%</a:t>
            </a:r>
          </a:p>
          <a:p>
            <a:pPr marL="274320" indent="-274320">
              <a:lnSpc>
                <a:spcPts val="1800"/>
              </a:lnSpc>
              <a:spcAft>
                <a:spcPts val="1800"/>
              </a:spcAft>
              <a:buFont typeface="Arial" panose="020B0604020202020204" pitchFamily="34" charset="0"/>
              <a:buChar char="–"/>
            </a:pPr>
            <a:r>
              <a:rPr lang="en-US" sz="1400" dirty="0"/>
              <a:t>The risk of pneumonia AESI was statistically higher for FF/UMEC/VI compared with UMEC/VI based on analysis of time to first event</a:t>
            </a:r>
            <a:br>
              <a:rPr lang="en-US" sz="1400" dirty="0"/>
            </a:br>
            <a:r>
              <a:rPr lang="en-US" sz="1400" dirty="0"/>
              <a:t>(HR = 1.53; 95% CI: 1.22, 1.92; </a:t>
            </a:r>
            <a:r>
              <a:rPr lang="en-US" sz="1400" i="1" dirty="0"/>
              <a:t>p</a:t>
            </a:r>
            <a:r>
              <a:rPr lang="en-US" sz="1400" dirty="0"/>
              <a:t> &lt; 0.001)</a:t>
            </a:r>
          </a:p>
        </p:txBody>
      </p:sp>
      <p:sp>
        <p:nvSpPr>
          <p:cNvPr id="91" name="Rectangle 90"/>
          <p:cNvSpPr/>
          <p:nvPr/>
        </p:nvSpPr>
        <p:spPr>
          <a:xfrm>
            <a:off x="6241965" y="2083758"/>
            <a:ext cx="4858871" cy="2614627"/>
          </a:xfrm>
          <a:prstGeom prst="rect">
            <a:avLst/>
          </a:prstGeom>
        </p:spPr>
        <p:txBody>
          <a:bodyPr wrap="square">
            <a:spAutoFit/>
          </a:bodyPr>
          <a:lstStyle/>
          <a:p>
            <a:pPr marL="274320" indent="-274320">
              <a:lnSpc>
                <a:spcPts val="1800"/>
              </a:lnSpc>
              <a:spcAft>
                <a:spcPts val="1800"/>
              </a:spcAft>
              <a:buFont typeface="Arial" panose="020B0604020202020204" pitchFamily="34" charset="0"/>
              <a:buChar char="–"/>
            </a:pPr>
            <a:r>
              <a:rPr lang="en-US" sz="1400" dirty="0"/>
              <a:t>Thus, FF/UMEC/VI demonstrated a rate of 3% for pneumonia AESI on a background rate of 5% in the non ICS-containing treatment arm of UMEC/VI</a:t>
            </a:r>
            <a:r>
              <a:rPr lang="en-US" sz="1400" baseline="30000" dirty="0"/>
              <a:t>1</a:t>
            </a:r>
          </a:p>
          <a:p>
            <a:pPr marL="274320" indent="-274320">
              <a:lnSpc>
                <a:spcPts val="1800"/>
              </a:lnSpc>
              <a:spcAft>
                <a:spcPts val="1800"/>
              </a:spcAft>
              <a:buFont typeface="Arial" panose="020B0604020202020204" pitchFamily="34" charset="0"/>
              <a:buChar char="–"/>
            </a:pPr>
            <a:r>
              <a:rPr lang="en-US" sz="1400" dirty="0"/>
              <a:t>The findings from IMPACT on pneumonia are consistent with previous data and the ICS/LABA class</a:t>
            </a:r>
            <a:r>
              <a:rPr lang="en-US" sz="1400" baseline="30000" dirty="0"/>
              <a:t>2–4</a:t>
            </a:r>
            <a:r>
              <a:rPr lang="en-US" sz="1400" dirty="0"/>
              <a:t> </a:t>
            </a:r>
          </a:p>
          <a:p>
            <a:pPr marL="274320" indent="-274320">
              <a:lnSpc>
                <a:spcPts val="1800"/>
              </a:lnSpc>
              <a:spcAft>
                <a:spcPts val="1800"/>
              </a:spcAft>
              <a:buFont typeface="Arial" panose="020B0604020202020204" pitchFamily="34" charset="0"/>
              <a:buChar char="–"/>
            </a:pPr>
            <a:r>
              <a:rPr lang="en-US" sz="1400" dirty="0"/>
              <a:t>These data support the positive benefit: risk profile of FF/UMEC/VI</a:t>
            </a:r>
            <a:r>
              <a:rPr lang="en-US" sz="1400" baseline="30000" dirty="0"/>
              <a:t>3,5</a:t>
            </a:r>
            <a:r>
              <a:rPr lang="en-US" sz="1400" dirty="0"/>
              <a:t> and is in line with the regulatory position on the risk of pneumonia associated with ICS-containing products</a:t>
            </a:r>
            <a:r>
              <a:rPr lang="en-US" sz="1400" baseline="30000" dirty="0"/>
              <a:t>6</a:t>
            </a:r>
          </a:p>
        </p:txBody>
      </p:sp>
      <p:cxnSp>
        <p:nvCxnSpPr>
          <p:cNvPr id="7" name="Straight Connector 6"/>
          <p:cNvCxnSpPr/>
          <p:nvPr/>
        </p:nvCxnSpPr>
        <p:spPr>
          <a:xfrm flipH="1" flipV="1">
            <a:off x="5894658" y="2198037"/>
            <a:ext cx="0" cy="2516838"/>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26355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2888"/>
            <a:ext cx="12191999" cy="430887"/>
          </a:xfrm>
        </p:spPr>
        <p:txBody>
          <a:bodyPr/>
          <a:lstStyle/>
          <a:p>
            <a:r>
              <a:rPr lang="en-US" sz="2400" dirty="0"/>
              <a:t>IMPACT: Treatment benefits with FF/UMEC/VI outweigh potential risk of pneumonia</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17" name="Text Placeholder 16"/>
          <p:cNvSpPr>
            <a:spLocks noGrp="1"/>
          </p:cNvSpPr>
          <p:nvPr>
            <p:ph type="body" sz="quarter" idx="21"/>
          </p:nvPr>
        </p:nvSpPr>
        <p:spPr/>
        <p:txBody>
          <a:bodyPr/>
          <a:lstStyle/>
          <a:p>
            <a:r>
              <a:rPr lang="en-US" dirty="0"/>
              <a:t>1. </a:t>
            </a:r>
            <a:r>
              <a:rPr lang="en-GB" dirty="0"/>
              <a:t>Data on </a:t>
            </a:r>
            <a:r>
              <a:rPr lang="en-GB" dirty="0" err="1"/>
              <a:t>File;RF</a:t>
            </a:r>
            <a:r>
              <a:rPr lang="en-GB" dirty="0"/>
              <a:t>/TLY/0053/18(1);1-2</a:t>
            </a:r>
            <a:r>
              <a:rPr lang="en-US" dirty="0"/>
              <a:t>; 2. </a:t>
            </a:r>
            <a:r>
              <a:rPr lang="en-GB" dirty="0"/>
              <a:t>Data on </a:t>
            </a:r>
            <a:r>
              <a:rPr lang="en-GB" dirty="0" err="1"/>
              <a:t>file;RF</a:t>
            </a:r>
            <a:r>
              <a:rPr lang="en-GB" dirty="0"/>
              <a:t>/TLY/0052/18(1);1-3</a:t>
            </a:r>
            <a:r>
              <a:rPr lang="en-US" dirty="0"/>
              <a:t>.</a:t>
            </a:r>
          </a:p>
        </p:txBody>
      </p:sp>
      <p:sp>
        <p:nvSpPr>
          <p:cNvPr id="12" name="Text Placeholder 11"/>
          <p:cNvSpPr>
            <a:spLocks noGrp="1"/>
          </p:cNvSpPr>
          <p:nvPr>
            <p:ph type="body" sz="quarter" idx="19"/>
          </p:nvPr>
        </p:nvSpPr>
        <p:spPr/>
        <p:txBody>
          <a:bodyPr/>
          <a:lstStyle/>
          <a:p>
            <a:r>
              <a:rPr lang="en-US" dirty="0"/>
              <a:t>The graph has been reproduced from the data on file document</a:t>
            </a:r>
          </a:p>
          <a:p>
            <a:r>
              <a:rPr lang="en-US" dirty="0"/>
              <a:t>** The number of events in the UMEC/VI treatment group has been doubled to account for the 2:1 randomisation scheme for FF/UMEC/VI:UMEC/VI. </a:t>
            </a:r>
          </a:p>
          <a:p>
            <a:r>
              <a:rPr lang="en-US" dirty="0"/>
              <a:t>AESI, adverse event of special interest; FF, fluticasone furoate; UMEC, umeclidinium; VI, vilanterol.</a:t>
            </a:r>
          </a:p>
        </p:txBody>
      </p:sp>
      <p:sp>
        <p:nvSpPr>
          <p:cNvPr id="128" name="Rounded Rectangle 127"/>
          <p:cNvSpPr/>
          <p:nvPr/>
        </p:nvSpPr>
        <p:spPr>
          <a:xfrm>
            <a:off x="423863" y="1551380"/>
            <a:ext cx="11351370" cy="4084310"/>
          </a:xfrm>
          <a:prstGeom prst="roundRect">
            <a:avLst>
              <a:gd name="adj" fmla="val 215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29" name="Rounded Rectangle 128"/>
          <p:cNvSpPr/>
          <p:nvPr/>
        </p:nvSpPr>
        <p:spPr bwMode="auto">
          <a:xfrm>
            <a:off x="762190" y="1371600"/>
            <a:ext cx="10486656" cy="389513"/>
          </a:xfrm>
          <a:prstGeom prst="roundRect">
            <a:avLst>
              <a:gd name="adj" fmla="val 50000"/>
            </a:avLst>
          </a:prstGeom>
          <a:solidFill>
            <a:srgbClr val="544F40"/>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818"/>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pitchFamily="34" charset="0"/>
                <a:ea typeface="+mn-ea"/>
                <a:cs typeface="+mn-cs"/>
              </a:rPr>
              <a:t>Pneumonia events taken in context with exacerbation events support a positive benefit: Risk profile with FF/UMEC/VI</a:t>
            </a:r>
          </a:p>
        </p:txBody>
      </p:sp>
      <p:grpSp>
        <p:nvGrpSpPr>
          <p:cNvPr id="4" name="Group 3"/>
          <p:cNvGrpSpPr/>
          <p:nvPr/>
        </p:nvGrpSpPr>
        <p:grpSpPr>
          <a:xfrm>
            <a:off x="487833" y="1885950"/>
            <a:ext cx="8097067" cy="3614270"/>
            <a:chOff x="487833" y="1885950"/>
            <a:chExt cx="8097067" cy="3614270"/>
          </a:xfrm>
        </p:grpSpPr>
        <p:sp>
          <p:nvSpPr>
            <p:cNvPr id="99" name="TextBox 98">
              <a:extLst>
                <a:ext uri="{FF2B5EF4-FFF2-40B4-BE49-F238E27FC236}">
                  <a16:creationId xmlns:a16="http://schemas.microsoft.com/office/drawing/2014/main" id="{7DBA6074-AC11-42FC-867D-D3659521AE97}"/>
                </a:ext>
              </a:extLst>
            </p:cNvPr>
            <p:cNvSpPr txBox="1"/>
            <p:nvPr/>
          </p:nvSpPr>
          <p:spPr>
            <a:xfrm rot="16200000">
              <a:off x="-777881" y="3327144"/>
              <a:ext cx="2685315" cy="153888"/>
            </a:xfrm>
            <a:prstGeom prst="rect">
              <a:avLst/>
            </a:prstGeom>
            <a:noFill/>
          </p:spPr>
          <p:txBody>
            <a:bodyPr wrap="square" lIns="0" tIns="0" rIns="0" bIns="0" rtlCol="0">
              <a:sp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Cumulative number of on-treatment events</a:t>
              </a:r>
              <a:r>
                <a:rPr kumimoji="0" lang="en-GB" sz="1000" b="1" i="0" u="none" strike="noStrike" kern="0" cap="none" spc="0" normalizeH="0" baseline="30000" noProof="0" dirty="0">
                  <a:ln>
                    <a:noFill/>
                  </a:ln>
                  <a:solidFill>
                    <a:srgbClr val="544F40"/>
                  </a:solidFill>
                  <a:effectLst/>
                  <a:uLnTx/>
                  <a:uFillTx/>
                  <a:latin typeface="Arial" panose="020B0604020202020204"/>
                  <a:ea typeface="+mn-ea"/>
                  <a:cs typeface="Arial" panose="020B0604020202020204" pitchFamily="34" charset="0"/>
                </a:rPr>
                <a:t>1</a:t>
              </a:r>
              <a:r>
                <a:rPr kumimoji="0" lang="en-GB" sz="1000" b="1"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a:t>
              </a:r>
            </a:p>
          </p:txBody>
        </p:sp>
        <p:grpSp>
          <p:nvGrpSpPr>
            <p:cNvPr id="108" name="Group 107">
              <a:extLst>
                <a:ext uri="{FF2B5EF4-FFF2-40B4-BE49-F238E27FC236}">
                  <a16:creationId xmlns:a16="http://schemas.microsoft.com/office/drawing/2014/main" id="{B848F744-8126-46A4-95AD-F918C8418404}"/>
                </a:ext>
              </a:extLst>
            </p:cNvPr>
            <p:cNvGrpSpPr/>
            <p:nvPr/>
          </p:nvGrpSpPr>
          <p:grpSpPr>
            <a:xfrm>
              <a:off x="772494" y="1885950"/>
              <a:ext cx="334424" cy="2960764"/>
              <a:chOff x="1511185" y="1382806"/>
              <a:chExt cx="447238" cy="2759393"/>
            </a:xfrm>
          </p:grpSpPr>
          <p:sp>
            <p:nvSpPr>
              <p:cNvPr id="164" name="TextBox 163">
                <a:extLst>
                  <a:ext uri="{FF2B5EF4-FFF2-40B4-BE49-F238E27FC236}">
                    <a16:creationId xmlns:a16="http://schemas.microsoft.com/office/drawing/2014/main" id="{837BAE33-3C5A-492F-B41A-F96B0E81DAA4}"/>
                  </a:ext>
                </a:extLst>
              </p:cNvPr>
              <p:cNvSpPr txBox="1"/>
              <p:nvPr/>
            </p:nvSpPr>
            <p:spPr>
              <a:xfrm>
                <a:off x="1859037" y="3965091"/>
                <a:ext cx="99386" cy="177108"/>
              </a:xfrm>
              <a:prstGeom prst="rect">
                <a:avLst/>
              </a:prstGeom>
              <a:noFill/>
            </p:spPr>
            <p:txBody>
              <a:bodyPr wrap="none" lIns="0" tIns="0" rIns="0" bIns="0" rtlCol="0" anchor="ctr">
                <a:noAutofit/>
              </a:bodyPr>
              <a:lstStyle/>
              <a:p>
                <a:pPr marL="0" marR="0" lvl="0" indent="0" algn="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0</a:t>
                </a:r>
              </a:p>
            </p:txBody>
          </p:sp>
          <p:sp>
            <p:nvSpPr>
              <p:cNvPr id="165" name="TextBox 164">
                <a:extLst>
                  <a:ext uri="{FF2B5EF4-FFF2-40B4-BE49-F238E27FC236}">
                    <a16:creationId xmlns:a16="http://schemas.microsoft.com/office/drawing/2014/main" id="{91CD6FED-F9E2-4492-A8C7-CD72C116B5F6}"/>
                  </a:ext>
                </a:extLst>
              </p:cNvPr>
              <p:cNvSpPr txBox="1"/>
              <p:nvPr/>
            </p:nvSpPr>
            <p:spPr>
              <a:xfrm>
                <a:off x="1511185" y="2351164"/>
                <a:ext cx="447238" cy="177108"/>
              </a:xfrm>
              <a:prstGeom prst="rect">
                <a:avLst/>
              </a:prstGeom>
              <a:noFill/>
            </p:spPr>
            <p:txBody>
              <a:bodyPr wrap="none" lIns="0" tIns="0" rIns="0" bIns="0" rtlCol="0" anchor="ctr">
                <a:noAutofit/>
              </a:bodyPr>
              <a:lstStyle/>
              <a:p>
                <a:pPr marL="0" marR="0" lvl="0" indent="0" algn="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2,500</a:t>
                </a:r>
              </a:p>
            </p:txBody>
          </p:sp>
          <p:sp>
            <p:nvSpPr>
              <p:cNvPr id="166" name="TextBox 165">
                <a:extLst>
                  <a:ext uri="{FF2B5EF4-FFF2-40B4-BE49-F238E27FC236}">
                    <a16:creationId xmlns:a16="http://schemas.microsoft.com/office/drawing/2014/main" id="{86902D06-826D-4B09-833F-4FC90BF15A03}"/>
                  </a:ext>
                </a:extLst>
              </p:cNvPr>
              <p:cNvSpPr txBox="1"/>
              <p:nvPr/>
            </p:nvSpPr>
            <p:spPr>
              <a:xfrm>
                <a:off x="1511185" y="1382806"/>
                <a:ext cx="447238" cy="177108"/>
              </a:xfrm>
              <a:prstGeom prst="rect">
                <a:avLst/>
              </a:prstGeom>
              <a:noFill/>
            </p:spPr>
            <p:txBody>
              <a:bodyPr wrap="none" lIns="0" tIns="0" rIns="0" bIns="0" rtlCol="0" anchor="ctr">
                <a:noAutofit/>
              </a:bodyPr>
              <a:lstStyle/>
              <a:p>
                <a:pPr marL="0" marR="0" lvl="0" indent="0" algn="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4,000</a:t>
                </a:r>
              </a:p>
            </p:txBody>
          </p:sp>
          <p:sp>
            <p:nvSpPr>
              <p:cNvPr id="167" name="TextBox 166">
                <a:extLst>
                  <a:ext uri="{FF2B5EF4-FFF2-40B4-BE49-F238E27FC236}">
                    <a16:creationId xmlns:a16="http://schemas.microsoft.com/office/drawing/2014/main" id="{D64DC2C1-1AAE-4AD1-99D8-92C20AA01BC7}"/>
                  </a:ext>
                </a:extLst>
              </p:cNvPr>
              <p:cNvSpPr txBox="1"/>
              <p:nvPr/>
            </p:nvSpPr>
            <p:spPr>
              <a:xfrm>
                <a:off x="1660264" y="3642308"/>
                <a:ext cx="298159" cy="177108"/>
              </a:xfrm>
              <a:prstGeom prst="rect">
                <a:avLst/>
              </a:prstGeom>
              <a:noFill/>
            </p:spPr>
            <p:txBody>
              <a:bodyPr wrap="none" lIns="0" tIns="0" rIns="0" bIns="0" rtlCol="0" anchor="ctr">
                <a:noAutofit/>
              </a:bodyPr>
              <a:lstStyle/>
              <a:p>
                <a:pPr marL="0" marR="0" lvl="0" indent="0" algn="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500</a:t>
                </a:r>
              </a:p>
            </p:txBody>
          </p:sp>
          <p:sp>
            <p:nvSpPr>
              <p:cNvPr id="168" name="TextBox 167">
                <a:extLst>
                  <a:ext uri="{FF2B5EF4-FFF2-40B4-BE49-F238E27FC236}">
                    <a16:creationId xmlns:a16="http://schemas.microsoft.com/office/drawing/2014/main" id="{2FB4F3B9-0C87-4C5E-A592-F8A62E3D99B7}"/>
                  </a:ext>
                </a:extLst>
              </p:cNvPr>
              <p:cNvSpPr txBox="1"/>
              <p:nvPr/>
            </p:nvSpPr>
            <p:spPr>
              <a:xfrm>
                <a:off x="1511185" y="3319522"/>
                <a:ext cx="447238" cy="177108"/>
              </a:xfrm>
              <a:prstGeom prst="rect">
                <a:avLst/>
              </a:prstGeom>
              <a:noFill/>
            </p:spPr>
            <p:txBody>
              <a:bodyPr wrap="none" lIns="0" tIns="0" rIns="0" bIns="0" rtlCol="0" anchor="ctr">
                <a:noAutofit/>
              </a:bodyPr>
              <a:lstStyle/>
              <a:p>
                <a:pPr marL="0" marR="0" lvl="0" indent="0" algn="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1,000</a:t>
                </a:r>
              </a:p>
            </p:txBody>
          </p:sp>
          <p:sp>
            <p:nvSpPr>
              <p:cNvPr id="169" name="TextBox 168">
                <a:extLst>
                  <a:ext uri="{FF2B5EF4-FFF2-40B4-BE49-F238E27FC236}">
                    <a16:creationId xmlns:a16="http://schemas.microsoft.com/office/drawing/2014/main" id="{FEEB52B3-0260-489D-BFC5-3FBC3D5EA8BA}"/>
                  </a:ext>
                </a:extLst>
              </p:cNvPr>
              <p:cNvSpPr txBox="1"/>
              <p:nvPr/>
            </p:nvSpPr>
            <p:spPr>
              <a:xfrm>
                <a:off x="1511185" y="2996736"/>
                <a:ext cx="447238" cy="177108"/>
              </a:xfrm>
              <a:prstGeom prst="rect">
                <a:avLst/>
              </a:prstGeom>
              <a:noFill/>
            </p:spPr>
            <p:txBody>
              <a:bodyPr wrap="none" lIns="0" tIns="0" rIns="0" bIns="0" rtlCol="0" anchor="ctr">
                <a:noAutofit/>
              </a:bodyPr>
              <a:lstStyle/>
              <a:p>
                <a:pPr marL="0" marR="0" lvl="0" indent="0" algn="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1,500</a:t>
                </a:r>
              </a:p>
            </p:txBody>
          </p:sp>
          <p:sp>
            <p:nvSpPr>
              <p:cNvPr id="170" name="TextBox 169">
                <a:extLst>
                  <a:ext uri="{FF2B5EF4-FFF2-40B4-BE49-F238E27FC236}">
                    <a16:creationId xmlns:a16="http://schemas.microsoft.com/office/drawing/2014/main" id="{8DB40035-D22D-4821-9BA9-5144833FE595}"/>
                  </a:ext>
                </a:extLst>
              </p:cNvPr>
              <p:cNvSpPr txBox="1"/>
              <p:nvPr/>
            </p:nvSpPr>
            <p:spPr>
              <a:xfrm>
                <a:off x="1511185" y="2673950"/>
                <a:ext cx="447238" cy="177108"/>
              </a:xfrm>
              <a:prstGeom prst="rect">
                <a:avLst/>
              </a:prstGeom>
              <a:noFill/>
            </p:spPr>
            <p:txBody>
              <a:bodyPr wrap="none" lIns="0" tIns="0" rIns="0" bIns="0" rtlCol="0" anchor="ctr">
                <a:noAutofit/>
              </a:bodyPr>
              <a:lstStyle/>
              <a:p>
                <a:pPr marL="0" marR="0" lvl="0" indent="0" algn="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2,000</a:t>
                </a:r>
              </a:p>
            </p:txBody>
          </p:sp>
          <p:sp>
            <p:nvSpPr>
              <p:cNvPr id="171" name="TextBox 170">
                <a:extLst>
                  <a:ext uri="{FF2B5EF4-FFF2-40B4-BE49-F238E27FC236}">
                    <a16:creationId xmlns:a16="http://schemas.microsoft.com/office/drawing/2014/main" id="{091A8C1A-9B70-40B1-A4A9-2E7BE3EF02E8}"/>
                  </a:ext>
                </a:extLst>
              </p:cNvPr>
              <p:cNvSpPr txBox="1"/>
              <p:nvPr/>
            </p:nvSpPr>
            <p:spPr>
              <a:xfrm>
                <a:off x="1511185" y="1705592"/>
                <a:ext cx="447238" cy="177108"/>
              </a:xfrm>
              <a:prstGeom prst="rect">
                <a:avLst/>
              </a:prstGeom>
              <a:noFill/>
            </p:spPr>
            <p:txBody>
              <a:bodyPr wrap="none" lIns="0" tIns="0" rIns="0" bIns="0" rtlCol="0" anchor="ctr">
                <a:noAutofit/>
              </a:bodyPr>
              <a:lstStyle/>
              <a:p>
                <a:pPr marL="0" marR="0" lvl="0" indent="0" algn="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3,500</a:t>
                </a:r>
              </a:p>
            </p:txBody>
          </p:sp>
          <p:sp>
            <p:nvSpPr>
              <p:cNvPr id="172" name="TextBox 171">
                <a:extLst>
                  <a:ext uri="{FF2B5EF4-FFF2-40B4-BE49-F238E27FC236}">
                    <a16:creationId xmlns:a16="http://schemas.microsoft.com/office/drawing/2014/main" id="{DE35A012-2B8F-432E-A713-B5FE622F0E93}"/>
                  </a:ext>
                </a:extLst>
              </p:cNvPr>
              <p:cNvSpPr txBox="1"/>
              <p:nvPr/>
            </p:nvSpPr>
            <p:spPr>
              <a:xfrm>
                <a:off x="1511185" y="2028378"/>
                <a:ext cx="447238" cy="177108"/>
              </a:xfrm>
              <a:prstGeom prst="rect">
                <a:avLst/>
              </a:prstGeom>
              <a:noFill/>
            </p:spPr>
            <p:txBody>
              <a:bodyPr wrap="none" lIns="0" tIns="0" rIns="0" bIns="0" rtlCol="0" anchor="ctr">
                <a:noAutofit/>
              </a:bodyPr>
              <a:lstStyle/>
              <a:p>
                <a:pPr marL="0" marR="0" lvl="0" indent="0" algn="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3,000</a:t>
                </a:r>
              </a:p>
            </p:txBody>
          </p:sp>
        </p:grpSp>
        <p:grpSp>
          <p:nvGrpSpPr>
            <p:cNvPr id="109" name="Group 108">
              <a:extLst>
                <a:ext uri="{FF2B5EF4-FFF2-40B4-BE49-F238E27FC236}">
                  <a16:creationId xmlns:a16="http://schemas.microsoft.com/office/drawing/2014/main" id="{86AC82A4-73A2-4C76-B0BB-0E3BF79C75D2}"/>
                </a:ext>
              </a:extLst>
            </p:cNvPr>
            <p:cNvGrpSpPr/>
            <p:nvPr/>
          </p:nvGrpSpPr>
          <p:grpSpPr>
            <a:xfrm>
              <a:off x="1172624" y="1979602"/>
              <a:ext cx="45720" cy="2765011"/>
              <a:chOff x="2027144" y="1471362"/>
              <a:chExt cx="71999" cy="2582282"/>
            </a:xfrm>
          </p:grpSpPr>
          <p:cxnSp>
            <p:nvCxnSpPr>
              <p:cNvPr id="155" name="Straight Connector 154">
                <a:extLst>
                  <a:ext uri="{FF2B5EF4-FFF2-40B4-BE49-F238E27FC236}">
                    <a16:creationId xmlns:a16="http://schemas.microsoft.com/office/drawing/2014/main" id="{C7B6E26F-BF9E-4E37-A9AB-F4E7C07AD144}"/>
                  </a:ext>
                </a:extLst>
              </p:cNvPr>
              <p:cNvCxnSpPr/>
              <p:nvPr/>
            </p:nvCxnSpPr>
            <p:spPr>
              <a:xfrm rot="5400000">
                <a:off x="2063144" y="2403717"/>
                <a:ext cx="0" cy="71999"/>
              </a:xfrm>
              <a:prstGeom prst="line">
                <a:avLst/>
              </a:prstGeom>
              <a:noFill/>
              <a:ln w="9525" cap="sq" cmpd="sng" algn="ctr">
                <a:solidFill>
                  <a:srgbClr val="544F40"/>
                </a:solidFill>
                <a:prstDash val="solid"/>
                <a:miter lim="800000"/>
              </a:ln>
              <a:effectLst/>
            </p:spPr>
          </p:cxnSp>
          <p:cxnSp>
            <p:nvCxnSpPr>
              <p:cNvPr id="156" name="Straight Connector 155">
                <a:extLst>
                  <a:ext uri="{FF2B5EF4-FFF2-40B4-BE49-F238E27FC236}">
                    <a16:creationId xmlns:a16="http://schemas.microsoft.com/office/drawing/2014/main" id="{3A703662-163F-45C2-89A1-E5EFB30A663F}"/>
                  </a:ext>
                </a:extLst>
              </p:cNvPr>
              <p:cNvCxnSpPr/>
              <p:nvPr/>
            </p:nvCxnSpPr>
            <p:spPr>
              <a:xfrm rot="5400000">
                <a:off x="2063144" y="1435362"/>
                <a:ext cx="0" cy="71999"/>
              </a:xfrm>
              <a:prstGeom prst="line">
                <a:avLst/>
              </a:prstGeom>
              <a:noFill/>
              <a:ln w="9525" cap="sq" cmpd="sng" algn="ctr">
                <a:solidFill>
                  <a:srgbClr val="544F40"/>
                </a:solidFill>
                <a:prstDash val="solid"/>
                <a:miter lim="800000"/>
              </a:ln>
              <a:effectLst/>
            </p:spPr>
          </p:cxnSp>
          <p:cxnSp>
            <p:nvCxnSpPr>
              <p:cNvPr id="157" name="Straight Connector 156">
                <a:extLst>
                  <a:ext uri="{FF2B5EF4-FFF2-40B4-BE49-F238E27FC236}">
                    <a16:creationId xmlns:a16="http://schemas.microsoft.com/office/drawing/2014/main" id="{1FA5EFD1-59C0-4897-8AE4-BE41D38F26CB}"/>
                  </a:ext>
                </a:extLst>
              </p:cNvPr>
              <p:cNvCxnSpPr/>
              <p:nvPr/>
            </p:nvCxnSpPr>
            <p:spPr>
              <a:xfrm rot="5400000">
                <a:off x="2063144" y="4017644"/>
                <a:ext cx="0" cy="71999"/>
              </a:xfrm>
              <a:prstGeom prst="line">
                <a:avLst/>
              </a:prstGeom>
              <a:noFill/>
              <a:ln w="9525" cap="sq" cmpd="sng" algn="ctr">
                <a:solidFill>
                  <a:srgbClr val="544F40"/>
                </a:solidFill>
                <a:prstDash val="solid"/>
                <a:miter lim="800000"/>
              </a:ln>
              <a:effectLst/>
            </p:spPr>
          </p:cxnSp>
          <p:cxnSp>
            <p:nvCxnSpPr>
              <p:cNvPr id="158" name="Straight Connector 157">
                <a:extLst>
                  <a:ext uri="{FF2B5EF4-FFF2-40B4-BE49-F238E27FC236}">
                    <a16:creationId xmlns:a16="http://schemas.microsoft.com/office/drawing/2014/main" id="{6B53BB41-36E5-47C1-A0E9-790DB8016F55}"/>
                  </a:ext>
                </a:extLst>
              </p:cNvPr>
              <p:cNvCxnSpPr/>
              <p:nvPr/>
            </p:nvCxnSpPr>
            <p:spPr>
              <a:xfrm rot="5400000">
                <a:off x="2063144" y="3694857"/>
                <a:ext cx="0" cy="71999"/>
              </a:xfrm>
              <a:prstGeom prst="line">
                <a:avLst/>
              </a:prstGeom>
              <a:noFill/>
              <a:ln w="9525" cap="sq" cmpd="sng" algn="ctr">
                <a:solidFill>
                  <a:srgbClr val="544F40"/>
                </a:solidFill>
                <a:prstDash val="solid"/>
                <a:miter lim="800000"/>
              </a:ln>
              <a:effectLst/>
            </p:spPr>
          </p:cxnSp>
          <p:cxnSp>
            <p:nvCxnSpPr>
              <p:cNvPr id="159" name="Straight Connector 158">
                <a:extLst>
                  <a:ext uri="{FF2B5EF4-FFF2-40B4-BE49-F238E27FC236}">
                    <a16:creationId xmlns:a16="http://schemas.microsoft.com/office/drawing/2014/main" id="{CEF38CB3-BB7A-4430-84F9-740CCAC84B43}"/>
                  </a:ext>
                </a:extLst>
              </p:cNvPr>
              <p:cNvCxnSpPr/>
              <p:nvPr/>
            </p:nvCxnSpPr>
            <p:spPr>
              <a:xfrm rot="5400000">
                <a:off x="2063144" y="3372072"/>
                <a:ext cx="0" cy="71999"/>
              </a:xfrm>
              <a:prstGeom prst="line">
                <a:avLst/>
              </a:prstGeom>
              <a:noFill/>
              <a:ln w="9525" cap="sq" cmpd="sng" algn="ctr">
                <a:solidFill>
                  <a:srgbClr val="544F40"/>
                </a:solidFill>
                <a:prstDash val="solid"/>
                <a:miter lim="800000"/>
              </a:ln>
              <a:effectLst/>
            </p:spPr>
          </p:cxnSp>
          <p:cxnSp>
            <p:nvCxnSpPr>
              <p:cNvPr id="160" name="Straight Connector 159">
                <a:extLst>
                  <a:ext uri="{FF2B5EF4-FFF2-40B4-BE49-F238E27FC236}">
                    <a16:creationId xmlns:a16="http://schemas.microsoft.com/office/drawing/2014/main" id="{761E5FE5-EF94-4EF9-8533-2B17AD4BD21C}"/>
                  </a:ext>
                </a:extLst>
              </p:cNvPr>
              <p:cNvCxnSpPr/>
              <p:nvPr/>
            </p:nvCxnSpPr>
            <p:spPr>
              <a:xfrm rot="5400000">
                <a:off x="2063144" y="3049287"/>
                <a:ext cx="0" cy="71999"/>
              </a:xfrm>
              <a:prstGeom prst="line">
                <a:avLst/>
              </a:prstGeom>
              <a:noFill/>
              <a:ln w="9525" cap="sq" cmpd="sng" algn="ctr">
                <a:solidFill>
                  <a:srgbClr val="544F40"/>
                </a:solidFill>
                <a:prstDash val="solid"/>
                <a:miter lim="800000"/>
              </a:ln>
              <a:effectLst/>
            </p:spPr>
          </p:cxnSp>
          <p:cxnSp>
            <p:nvCxnSpPr>
              <p:cNvPr id="161" name="Straight Connector 160">
                <a:extLst>
                  <a:ext uri="{FF2B5EF4-FFF2-40B4-BE49-F238E27FC236}">
                    <a16:creationId xmlns:a16="http://schemas.microsoft.com/office/drawing/2014/main" id="{8386FE43-607A-4165-939F-540F44F287AC}"/>
                  </a:ext>
                </a:extLst>
              </p:cNvPr>
              <p:cNvCxnSpPr/>
              <p:nvPr/>
            </p:nvCxnSpPr>
            <p:spPr>
              <a:xfrm rot="5400000">
                <a:off x="2063144" y="2726502"/>
                <a:ext cx="0" cy="71999"/>
              </a:xfrm>
              <a:prstGeom prst="line">
                <a:avLst/>
              </a:prstGeom>
              <a:noFill/>
              <a:ln w="9525" cap="sq" cmpd="sng" algn="ctr">
                <a:solidFill>
                  <a:srgbClr val="544F40"/>
                </a:solidFill>
                <a:prstDash val="solid"/>
                <a:miter lim="800000"/>
              </a:ln>
              <a:effectLst/>
            </p:spPr>
          </p:cxnSp>
          <p:cxnSp>
            <p:nvCxnSpPr>
              <p:cNvPr id="162" name="Straight Connector 161">
                <a:extLst>
                  <a:ext uri="{FF2B5EF4-FFF2-40B4-BE49-F238E27FC236}">
                    <a16:creationId xmlns:a16="http://schemas.microsoft.com/office/drawing/2014/main" id="{3DD259F1-D306-4035-80CC-E1F224EA267B}"/>
                  </a:ext>
                </a:extLst>
              </p:cNvPr>
              <p:cNvCxnSpPr/>
              <p:nvPr/>
            </p:nvCxnSpPr>
            <p:spPr>
              <a:xfrm rot="5400000">
                <a:off x="2063144" y="1758147"/>
                <a:ext cx="0" cy="71999"/>
              </a:xfrm>
              <a:prstGeom prst="line">
                <a:avLst/>
              </a:prstGeom>
              <a:noFill/>
              <a:ln w="9525" cap="sq" cmpd="sng" algn="ctr">
                <a:solidFill>
                  <a:srgbClr val="544F40"/>
                </a:solidFill>
                <a:prstDash val="solid"/>
                <a:miter lim="800000"/>
              </a:ln>
              <a:effectLst/>
            </p:spPr>
          </p:cxnSp>
          <p:cxnSp>
            <p:nvCxnSpPr>
              <p:cNvPr id="163" name="Straight Connector 162">
                <a:extLst>
                  <a:ext uri="{FF2B5EF4-FFF2-40B4-BE49-F238E27FC236}">
                    <a16:creationId xmlns:a16="http://schemas.microsoft.com/office/drawing/2014/main" id="{51A15CCA-8463-4060-878A-3E6F29638062}"/>
                  </a:ext>
                </a:extLst>
              </p:cNvPr>
              <p:cNvCxnSpPr/>
              <p:nvPr/>
            </p:nvCxnSpPr>
            <p:spPr>
              <a:xfrm rot="5400000">
                <a:off x="2063144" y="2080932"/>
                <a:ext cx="0" cy="71999"/>
              </a:xfrm>
              <a:prstGeom prst="line">
                <a:avLst/>
              </a:prstGeom>
              <a:noFill/>
              <a:ln w="9525" cap="sq" cmpd="sng" algn="ctr">
                <a:solidFill>
                  <a:srgbClr val="544F40"/>
                </a:solidFill>
                <a:prstDash val="solid"/>
                <a:miter lim="800000"/>
              </a:ln>
              <a:effectLst/>
            </p:spPr>
          </p:cxnSp>
        </p:grpSp>
        <p:sp>
          <p:nvSpPr>
            <p:cNvPr id="110" name="Freeform: Shape 116">
              <a:extLst>
                <a:ext uri="{FF2B5EF4-FFF2-40B4-BE49-F238E27FC236}">
                  <a16:creationId xmlns:a16="http://schemas.microsoft.com/office/drawing/2014/main" id="{7E9C6C38-CE4B-4F81-84E2-AE87D8CEA1A0}"/>
                </a:ext>
              </a:extLst>
            </p:cNvPr>
            <p:cNvSpPr/>
            <p:nvPr/>
          </p:nvSpPr>
          <p:spPr>
            <a:xfrm>
              <a:off x="1218081" y="1979602"/>
              <a:ext cx="5787627" cy="2765011"/>
            </a:xfrm>
            <a:custGeom>
              <a:avLst/>
              <a:gdLst>
                <a:gd name="connsiteX0" fmla="*/ 0 w 6400800"/>
                <a:gd name="connsiteY0" fmla="*/ 0 h 3063240"/>
                <a:gd name="connsiteX1" fmla="*/ 0 w 6400800"/>
                <a:gd name="connsiteY1" fmla="*/ 3063240 h 3063240"/>
                <a:gd name="connsiteX2" fmla="*/ 6400800 w 6400800"/>
                <a:gd name="connsiteY2" fmla="*/ 3063240 h 3063240"/>
              </a:gdLst>
              <a:ahLst/>
              <a:cxnLst>
                <a:cxn ang="0">
                  <a:pos x="connsiteX0" y="connsiteY0"/>
                </a:cxn>
                <a:cxn ang="0">
                  <a:pos x="connsiteX1" y="connsiteY1"/>
                </a:cxn>
                <a:cxn ang="0">
                  <a:pos x="connsiteX2" y="connsiteY2"/>
                </a:cxn>
              </a:cxnLst>
              <a:rect l="l" t="t" r="r" b="b"/>
              <a:pathLst>
                <a:path w="6400800" h="3063240">
                  <a:moveTo>
                    <a:pt x="0" y="0"/>
                  </a:moveTo>
                  <a:lnTo>
                    <a:pt x="0" y="3063240"/>
                  </a:lnTo>
                  <a:lnTo>
                    <a:pt x="6400800" y="3063240"/>
                  </a:lnTo>
                </a:path>
              </a:pathLst>
            </a:custGeom>
            <a:noFill/>
            <a:ln w="9525" cap="sq" cmpd="sng" algn="ctr">
              <a:solidFill>
                <a:srgbClr val="544F40"/>
              </a:solidFill>
              <a:prstDash val="solid"/>
              <a:miter lim="800000"/>
            </a:ln>
            <a:effectLst/>
          </p:spPr>
          <p:txBody>
            <a:bodyPr rtlCol="0" anchor="ctr"/>
            <a:lstStyle/>
            <a:p>
              <a:pPr marL="0" marR="0" lvl="0" indent="0" algn="ctr" defTabSz="482255" rtl="0" eaLnBrk="1" fontAlgn="auto" latinLnBrk="0" hangingPunct="1">
                <a:lnSpc>
                  <a:spcPct val="100000"/>
                </a:lnSpc>
                <a:spcBef>
                  <a:spcPts val="0"/>
                </a:spcBef>
                <a:spcAft>
                  <a:spcPts val="0"/>
                </a:spcAft>
                <a:buClrTx/>
                <a:buSzTx/>
                <a:buFontTx/>
                <a:buNone/>
                <a:tabLst/>
                <a:defRPr/>
              </a:pPr>
              <a:endParaRPr kumimoji="0" lang="en-GB" sz="1000" b="1" i="0" u="none" strike="noStrike" kern="0" cap="none" spc="0" normalizeH="0" baseline="0" noProof="0" dirty="0">
                <a:ln>
                  <a:noFill/>
                </a:ln>
                <a:solidFill>
                  <a:srgbClr val="544F40"/>
                </a:solidFill>
                <a:effectLst/>
                <a:uLnTx/>
                <a:uFillTx/>
                <a:latin typeface="Arial" panose="020B0604020202020204"/>
                <a:ea typeface="+mn-ea"/>
                <a:cs typeface="+mn-cs"/>
              </a:endParaRPr>
            </a:p>
          </p:txBody>
        </p:sp>
        <p:grpSp>
          <p:nvGrpSpPr>
            <p:cNvPr id="111" name="Group 110">
              <a:extLst>
                <a:ext uri="{FF2B5EF4-FFF2-40B4-BE49-F238E27FC236}">
                  <a16:creationId xmlns:a16="http://schemas.microsoft.com/office/drawing/2014/main" id="{86616466-5481-42D7-9661-5E631B999B3A}"/>
                </a:ext>
              </a:extLst>
            </p:cNvPr>
            <p:cNvGrpSpPr/>
            <p:nvPr/>
          </p:nvGrpSpPr>
          <p:grpSpPr>
            <a:xfrm>
              <a:off x="1225916" y="2053014"/>
              <a:ext cx="5630975" cy="2682090"/>
              <a:chOff x="2116138" y="1558925"/>
              <a:chExt cx="6505575" cy="2514601"/>
            </a:xfrm>
          </p:grpSpPr>
          <p:sp>
            <p:nvSpPr>
              <p:cNvPr id="150" name="Freeform 5">
                <a:extLst>
                  <a:ext uri="{FF2B5EF4-FFF2-40B4-BE49-F238E27FC236}">
                    <a16:creationId xmlns:a16="http://schemas.microsoft.com/office/drawing/2014/main" id="{370B2422-F089-4338-9B14-2C2BF99B4FB7}"/>
                  </a:ext>
                </a:extLst>
              </p:cNvPr>
              <p:cNvSpPr>
                <a:spLocks/>
              </p:cNvSpPr>
              <p:nvPr/>
            </p:nvSpPr>
            <p:spPr bwMode="auto">
              <a:xfrm>
                <a:off x="2116138" y="1857375"/>
                <a:ext cx="6400800" cy="2214563"/>
              </a:xfrm>
              <a:custGeom>
                <a:avLst/>
                <a:gdLst>
                  <a:gd name="T0" fmla="*/ 67 w 4032"/>
                  <a:gd name="T1" fmla="*/ 1373 h 1395"/>
                  <a:gd name="T2" fmla="*/ 131 w 4032"/>
                  <a:gd name="T3" fmla="*/ 1339 h 1395"/>
                  <a:gd name="T4" fmla="*/ 198 w 4032"/>
                  <a:gd name="T5" fmla="*/ 1307 h 1395"/>
                  <a:gd name="T6" fmla="*/ 265 w 4032"/>
                  <a:gd name="T7" fmla="*/ 1274 h 1395"/>
                  <a:gd name="T8" fmla="*/ 331 w 4032"/>
                  <a:gd name="T9" fmla="*/ 1236 h 1395"/>
                  <a:gd name="T10" fmla="*/ 398 w 4032"/>
                  <a:gd name="T11" fmla="*/ 1206 h 1395"/>
                  <a:gd name="T12" fmla="*/ 465 w 4032"/>
                  <a:gd name="T13" fmla="*/ 1180 h 1395"/>
                  <a:gd name="T14" fmla="*/ 529 w 4032"/>
                  <a:gd name="T15" fmla="*/ 1149 h 1395"/>
                  <a:gd name="T16" fmla="*/ 596 w 4032"/>
                  <a:gd name="T17" fmla="*/ 1130 h 1395"/>
                  <a:gd name="T18" fmla="*/ 663 w 4032"/>
                  <a:gd name="T19" fmla="*/ 1101 h 1395"/>
                  <a:gd name="T20" fmla="*/ 729 w 4032"/>
                  <a:gd name="T21" fmla="*/ 1078 h 1395"/>
                  <a:gd name="T22" fmla="*/ 796 w 4032"/>
                  <a:gd name="T23" fmla="*/ 1053 h 1395"/>
                  <a:gd name="T24" fmla="*/ 860 w 4032"/>
                  <a:gd name="T25" fmla="*/ 1030 h 1395"/>
                  <a:gd name="T26" fmla="*/ 927 w 4032"/>
                  <a:gd name="T27" fmla="*/ 1005 h 1395"/>
                  <a:gd name="T28" fmla="*/ 994 w 4032"/>
                  <a:gd name="T29" fmla="*/ 981 h 1395"/>
                  <a:gd name="T30" fmla="*/ 1061 w 4032"/>
                  <a:gd name="T31" fmla="*/ 954 h 1395"/>
                  <a:gd name="T32" fmla="*/ 1127 w 4032"/>
                  <a:gd name="T33" fmla="*/ 927 h 1395"/>
                  <a:gd name="T34" fmla="*/ 1194 w 4032"/>
                  <a:gd name="T35" fmla="*/ 902 h 1395"/>
                  <a:gd name="T36" fmla="*/ 1258 w 4032"/>
                  <a:gd name="T37" fmla="*/ 874 h 1395"/>
                  <a:gd name="T38" fmla="*/ 1325 w 4032"/>
                  <a:gd name="T39" fmla="*/ 854 h 1395"/>
                  <a:gd name="T40" fmla="*/ 1392 w 4032"/>
                  <a:gd name="T41" fmla="*/ 833 h 1395"/>
                  <a:gd name="T42" fmla="*/ 1458 w 4032"/>
                  <a:gd name="T43" fmla="*/ 812 h 1395"/>
                  <a:gd name="T44" fmla="*/ 1525 w 4032"/>
                  <a:gd name="T45" fmla="*/ 785 h 1395"/>
                  <a:gd name="T46" fmla="*/ 1589 w 4032"/>
                  <a:gd name="T47" fmla="*/ 764 h 1395"/>
                  <a:gd name="T48" fmla="*/ 1656 w 4032"/>
                  <a:gd name="T49" fmla="*/ 746 h 1395"/>
                  <a:gd name="T50" fmla="*/ 1723 w 4032"/>
                  <a:gd name="T51" fmla="*/ 725 h 1395"/>
                  <a:gd name="T52" fmla="*/ 1790 w 4032"/>
                  <a:gd name="T53" fmla="*/ 700 h 1395"/>
                  <a:gd name="T54" fmla="*/ 1856 w 4032"/>
                  <a:gd name="T55" fmla="*/ 680 h 1395"/>
                  <a:gd name="T56" fmla="*/ 1923 w 4032"/>
                  <a:gd name="T57" fmla="*/ 663 h 1395"/>
                  <a:gd name="T58" fmla="*/ 1987 w 4032"/>
                  <a:gd name="T59" fmla="*/ 634 h 1395"/>
                  <a:gd name="T60" fmla="*/ 2054 w 4032"/>
                  <a:gd name="T61" fmla="*/ 615 h 1395"/>
                  <a:gd name="T62" fmla="*/ 2121 w 4032"/>
                  <a:gd name="T63" fmla="*/ 581 h 1395"/>
                  <a:gd name="T64" fmla="*/ 2188 w 4032"/>
                  <a:gd name="T65" fmla="*/ 552 h 1395"/>
                  <a:gd name="T66" fmla="*/ 2254 w 4032"/>
                  <a:gd name="T67" fmla="*/ 531 h 1395"/>
                  <a:gd name="T68" fmla="*/ 2319 w 4032"/>
                  <a:gd name="T69" fmla="*/ 512 h 1395"/>
                  <a:gd name="T70" fmla="*/ 2385 w 4032"/>
                  <a:gd name="T71" fmla="*/ 490 h 1395"/>
                  <a:gd name="T72" fmla="*/ 2452 w 4032"/>
                  <a:gd name="T73" fmla="*/ 471 h 1395"/>
                  <a:gd name="T74" fmla="*/ 2519 w 4032"/>
                  <a:gd name="T75" fmla="*/ 449 h 1395"/>
                  <a:gd name="T76" fmla="*/ 2586 w 4032"/>
                  <a:gd name="T77" fmla="*/ 432 h 1395"/>
                  <a:gd name="T78" fmla="*/ 2652 w 4032"/>
                  <a:gd name="T79" fmla="*/ 408 h 1395"/>
                  <a:gd name="T80" fmla="*/ 2717 w 4032"/>
                  <a:gd name="T81" fmla="*/ 389 h 1395"/>
                  <a:gd name="T82" fmla="*/ 2783 w 4032"/>
                  <a:gd name="T83" fmla="*/ 366 h 1395"/>
                  <a:gd name="T84" fmla="*/ 2850 w 4032"/>
                  <a:gd name="T85" fmla="*/ 346 h 1395"/>
                  <a:gd name="T86" fmla="*/ 2917 w 4032"/>
                  <a:gd name="T87" fmla="*/ 325 h 1395"/>
                  <a:gd name="T88" fmla="*/ 2984 w 4032"/>
                  <a:gd name="T89" fmla="*/ 307 h 1395"/>
                  <a:gd name="T90" fmla="*/ 3048 w 4032"/>
                  <a:gd name="T91" fmla="*/ 277 h 1395"/>
                  <a:gd name="T92" fmla="*/ 3115 w 4032"/>
                  <a:gd name="T93" fmla="*/ 249 h 1395"/>
                  <a:gd name="T94" fmla="*/ 3181 w 4032"/>
                  <a:gd name="T95" fmla="*/ 231 h 1395"/>
                  <a:gd name="T96" fmla="*/ 3248 w 4032"/>
                  <a:gd name="T97" fmla="*/ 215 h 1395"/>
                  <a:gd name="T98" fmla="*/ 3315 w 4032"/>
                  <a:gd name="T99" fmla="*/ 197 h 1395"/>
                  <a:gd name="T100" fmla="*/ 3382 w 4032"/>
                  <a:gd name="T101" fmla="*/ 181 h 1395"/>
                  <a:gd name="T102" fmla="*/ 3446 w 4032"/>
                  <a:gd name="T103" fmla="*/ 163 h 1395"/>
                  <a:gd name="T104" fmla="*/ 3513 w 4032"/>
                  <a:gd name="T105" fmla="*/ 144 h 1395"/>
                  <a:gd name="T106" fmla="*/ 3579 w 4032"/>
                  <a:gd name="T107" fmla="*/ 128 h 1395"/>
                  <a:gd name="T108" fmla="*/ 3646 w 4032"/>
                  <a:gd name="T109" fmla="*/ 112 h 1395"/>
                  <a:gd name="T110" fmla="*/ 3713 w 4032"/>
                  <a:gd name="T111" fmla="*/ 92 h 1395"/>
                  <a:gd name="T112" fmla="*/ 3777 w 4032"/>
                  <a:gd name="T113" fmla="*/ 74 h 1395"/>
                  <a:gd name="T114" fmla="*/ 3844 w 4032"/>
                  <a:gd name="T115" fmla="*/ 57 h 1395"/>
                  <a:gd name="T116" fmla="*/ 3911 w 4032"/>
                  <a:gd name="T117" fmla="*/ 39 h 1395"/>
                  <a:gd name="T118" fmla="*/ 3977 w 4032"/>
                  <a:gd name="T119" fmla="*/ 18 h 1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32" h="1395">
                    <a:moveTo>
                      <a:pt x="0" y="1395"/>
                    </a:moveTo>
                    <a:lnTo>
                      <a:pt x="10" y="1395"/>
                    </a:lnTo>
                    <a:lnTo>
                      <a:pt x="10" y="1393"/>
                    </a:lnTo>
                    <a:lnTo>
                      <a:pt x="22" y="1393"/>
                    </a:lnTo>
                    <a:lnTo>
                      <a:pt x="22" y="1387"/>
                    </a:lnTo>
                    <a:lnTo>
                      <a:pt x="32" y="1387"/>
                    </a:lnTo>
                    <a:lnTo>
                      <a:pt x="32" y="1380"/>
                    </a:lnTo>
                    <a:lnTo>
                      <a:pt x="45" y="1380"/>
                    </a:lnTo>
                    <a:lnTo>
                      <a:pt x="45" y="1375"/>
                    </a:lnTo>
                    <a:lnTo>
                      <a:pt x="54" y="1375"/>
                    </a:lnTo>
                    <a:lnTo>
                      <a:pt x="54" y="1373"/>
                    </a:lnTo>
                    <a:lnTo>
                      <a:pt x="67" y="1373"/>
                    </a:lnTo>
                    <a:lnTo>
                      <a:pt x="67" y="1368"/>
                    </a:lnTo>
                    <a:lnTo>
                      <a:pt x="77" y="1368"/>
                    </a:lnTo>
                    <a:lnTo>
                      <a:pt x="77" y="1363"/>
                    </a:lnTo>
                    <a:lnTo>
                      <a:pt x="89" y="1363"/>
                    </a:lnTo>
                    <a:lnTo>
                      <a:pt x="89" y="1357"/>
                    </a:lnTo>
                    <a:lnTo>
                      <a:pt x="99" y="1357"/>
                    </a:lnTo>
                    <a:lnTo>
                      <a:pt x="99" y="1350"/>
                    </a:lnTo>
                    <a:lnTo>
                      <a:pt x="111" y="1350"/>
                    </a:lnTo>
                    <a:lnTo>
                      <a:pt x="111" y="1343"/>
                    </a:lnTo>
                    <a:lnTo>
                      <a:pt x="121" y="1343"/>
                    </a:lnTo>
                    <a:lnTo>
                      <a:pt x="121" y="1339"/>
                    </a:lnTo>
                    <a:lnTo>
                      <a:pt x="131" y="1339"/>
                    </a:lnTo>
                    <a:lnTo>
                      <a:pt x="131" y="1334"/>
                    </a:lnTo>
                    <a:lnTo>
                      <a:pt x="143" y="1334"/>
                    </a:lnTo>
                    <a:lnTo>
                      <a:pt x="143" y="1329"/>
                    </a:lnTo>
                    <a:lnTo>
                      <a:pt x="153" y="1329"/>
                    </a:lnTo>
                    <a:lnTo>
                      <a:pt x="153" y="1322"/>
                    </a:lnTo>
                    <a:lnTo>
                      <a:pt x="166" y="1322"/>
                    </a:lnTo>
                    <a:lnTo>
                      <a:pt x="166" y="1318"/>
                    </a:lnTo>
                    <a:lnTo>
                      <a:pt x="176" y="1318"/>
                    </a:lnTo>
                    <a:lnTo>
                      <a:pt x="176" y="1313"/>
                    </a:lnTo>
                    <a:lnTo>
                      <a:pt x="188" y="1313"/>
                    </a:lnTo>
                    <a:lnTo>
                      <a:pt x="188" y="1307"/>
                    </a:lnTo>
                    <a:lnTo>
                      <a:pt x="198" y="1307"/>
                    </a:lnTo>
                    <a:lnTo>
                      <a:pt x="198" y="1302"/>
                    </a:lnTo>
                    <a:lnTo>
                      <a:pt x="210" y="1302"/>
                    </a:lnTo>
                    <a:lnTo>
                      <a:pt x="210" y="1297"/>
                    </a:lnTo>
                    <a:lnTo>
                      <a:pt x="220" y="1297"/>
                    </a:lnTo>
                    <a:lnTo>
                      <a:pt x="220" y="1293"/>
                    </a:lnTo>
                    <a:lnTo>
                      <a:pt x="232" y="1293"/>
                    </a:lnTo>
                    <a:lnTo>
                      <a:pt x="232" y="1288"/>
                    </a:lnTo>
                    <a:lnTo>
                      <a:pt x="242" y="1288"/>
                    </a:lnTo>
                    <a:lnTo>
                      <a:pt x="242" y="1283"/>
                    </a:lnTo>
                    <a:lnTo>
                      <a:pt x="255" y="1283"/>
                    </a:lnTo>
                    <a:lnTo>
                      <a:pt x="255" y="1274"/>
                    </a:lnTo>
                    <a:lnTo>
                      <a:pt x="265" y="1274"/>
                    </a:lnTo>
                    <a:lnTo>
                      <a:pt x="265" y="1270"/>
                    </a:lnTo>
                    <a:lnTo>
                      <a:pt x="277" y="1270"/>
                    </a:lnTo>
                    <a:lnTo>
                      <a:pt x="277" y="1263"/>
                    </a:lnTo>
                    <a:lnTo>
                      <a:pt x="287" y="1263"/>
                    </a:lnTo>
                    <a:lnTo>
                      <a:pt x="287" y="1258"/>
                    </a:lnTo>
                    <a:lnTo>
                      <a:pt x="299" y="1258"/>
                    </a:lnTo>
                    <a:lnTo>
                      <a:pt x="299" y="1251"/>
                    </a:lnTo>
                    <a:lnTo>
                      <a:pt x="309" y="1251"/>
                    </a:lnTo>
                    <a:lnTo>
                      <a:pt x="309" y="1242"/>
                    </a:lnTo>
                    <a:lnTo>
                      <a:pt x="319" y="1242"/>
                    </a:lnTo>
                    <a:lnTo>
                      <a:pt x="319" y="1236"/>
                    </a:lnTo>
                    <a:lnTo>
                      <a:pt x="331" y="1236"/>
                    </a:lnTo>
                    <a:lnTo>
                      <a:pt x="331" y="1229"/>
                    </a:lnTo>
                    <a:lnTo>
                      <a:pt x="341" y="1229"/>
                    </a:lnTo>
                    <a:lnTo>
                      <a:pt x="341" y="1226"/>
                    </a:lnTo>
                    <a:lnTo>
                      <a:pt x="354" y="1226"/>
                    </a:lnTo>
                    <a:lnTo>
                      <a:pt x="354" y="1222"/>
                    </a:lnTo>
                    <a:lnTo>
                      <a:pt x="363" y="1222"/>
                    </a:lnTo>
                    <a:lnTo>
                      <a:pt x="363" y="1219"/>
                    </a:lnTo>
                    <a:lnTo>
                      <a:pt x="376" y="1219"/>
                    </a:lnTo>
                    <a:lnTo>
                      <a:pt x="376" y="1212"/>
                    </a:lnTo>
                    <a:lnTo>
                      <a:pt x="386" y="1212"/>
                    </a:lnTo>
                    <a:lnTo>
                      <a:pt x="386" y="1206"/>
                    </a:lnTo>
                    <a:lnTo>
                      <a:pt x="398" y="1206"/>
                    </a:lnTo>
                    <a:lnTo>
                      <a:pt x="398" y="1199"/>
                    </a:lnTo>
                    <a:lnTo>
                      <a:pt x="408" y="1199"/>
                    </a:lnTo>
                    <a:lnTo>
                      <a:pt x="408" y="1194"/>
                    </a:lnTo>
                    <a:lnTo>
                      <a:pt x="420" y="1194"/>
                    </a:lnTo>
                    <a:lnTo>
                      <a:pt x="420" y="1190"/>
                    </a:lnTo>
                    <a:lnTo>
                      <a:pt x="430" y="1190"/>
                    </a:lnTo>
                    <a:lnTo>
                      <a:pt x="430" y="1187"/>
                    </a:lnTo>
                    <a:lnTo>
                      <a:pt x="443" y="1187"/>
                    </a:lnTo>
                    <a:lnTo>
                      <a:pt x="443" y="1183"/>
                    </a:lnTo>
                    <a:lnTo>
                      <a:pt x="452" y="1183"/>
                    </a:lnTo>
                    <a:lnTo>
                      <a:pt x="452" y="1180"/>
                    </a:lnTo>
                    <a:lnTo>
                      <a:pt x="465" y="1180"/>
                    </a:lnTo>
                    <a:lnTo>
                      <a:pt x="465" y="1174"/>
                    </a:lnTo>
                    <a:lnTo>
                      <a:pt x="475" y="1174"/>
                    </a:lnTo>
                    <a:lnTo>
                      <a:pt x="475" y="1169"/>
                    </a:lnTo>
                    <a:lnTo>
                      <a:pt x="487" y="1169"/>
                    </a:lnTo>
                    <a:lnTo>
                      <a:pt x="487" y="1164"/>
                    </a:lnTo>
                    <a:lnTo>
                      <a:pt x="497" y="1164"/>
                    </a:lnTo>
                    <a:lnTo>
                      <a:pt x="497" y="1160"/>
                    </a:lnTo>
                    <a:lnTo>
                      <a:pt x="507" y="1160"/>
                    </a:lnTo>
                    <a:lnTo>
                      <a:pt x="507" y="1155"/>
                    </a:lnTo>
                    <a:lnTo>
                      <a:pt x="519" y="1155"/>
                    </a:lnTo>
                    <a:lnTo>
                      <a:pt x="519" y="1149"/>
                    </a:lnTo>
                    <a:lnTo>
                      <a:pt x="529" y="1149"/>
                    </a:lnTo>
                    <a:lnTo>
                      <a:pt x="529" y="1148"/>
                    </a:lnTo>
                    <a:lnTo>
                      <a:pt x="541" y="1148"/>
                    </a:lnTo>
                    <a:lnTo>
                      <a:pt x="541" y="1144"/>
                    </a:lnTo>
                    <a:lnTo>
                      <a:pt x="551" y="1144"/>
                    </a:lnTo>
                    <a:lnTo>
                      <a:pt x="551" y="1139"/>
                    </a:lnTo>
                    <a:lnTo>
                      <a:pt x="564" y="1139"/>
                    </a:lnTo>
                    <a:lnTo>
                      <a:pt x="564" y="1137"/>
                    </a:lnTo>
                    <a:lnTo>
                      <a:pt x="574" y="1137"/>
                    </a:lnTo>
                    <a:lnTo>
                      <a:pt x="574" y="1133"/>
                    </a:lnTo>
                    <a:lnTo>
                      <a:pt x="586" y="1133"/>
                    </a:lnTo>
                    <a:lnTo>
                      <a:pt x="586" y="1130"/>
                    </a:lnTo>
                    <a:lnTo>
                      <a:pt x="596" y="1130"/>
                    </a:lnTo>
                    <a:lnTo>
                      <a:pt x="596" y="1124"/>
                    </a:lnTo>
                    <a:lnTo>
                      <a:pt x="608" y="1124"/>
                    </a:lnTo>
                    <a:lnTo>
                      <a:pt x="608" y="1119"/>
                    </a:lnTo>
                    <a:lnTo>
                      <a:pt x="618" y="1119"/>
                    </a:lnTo>
                    <a:lnTo>
                      <a:pt x="618" y="1116"/>
                    </a:lnTo>
                    <a:lnTo>
                      <a:pt x="630" y="1116"/>
                    </a:lnTo>
                    <a:lnTo>
                      <a:pt x="630" y="1110"/>
                    </a:lnTo>
                    <a:lnTo>
                      <a:pt x="640" y="1110"/>
                    </a:lnTo>
                    <a:lnTo>
                      <a:pt x="640" y="1105"/>
                    </a:lnTo>
                    <a:lnTo>
                      <a:pt x="653" y="1105"/>
                    </a:lnTo>
                    <a:lnTo>
                      <a:pt x="653" y="1101"/>
                    </a:lnTo>
                    <a:lnTo>
                      <a:pt x="663" y="1101"/>
                    </a:lnTo>
                    <a:lnTo>
                      <a:pt x="663" y="1098"/>
                    </a:lnTo>
                    <a:lnTo>
                      <a:pt x="672" y="1098"/>
                    </a:lnTo>
                    <a:lnTo>
                      <a:pt x="672" y="1094"/>
                    </a:lnTo>
                    <a:lnTo>
                      <a:pt x="685" y="1094"/>
                    </a:lnTo>
                    <a:lnTo>
                      <a:pt x="685" y="1093"/>
                    </a:lnTo>
                    <a:lnTo>
                      <a:pt x="695" y="1093"/>
                    </a:lnTo>
                    <a:lnTo>
                      <a:pt x="695" y="1085"/>
                    </a:lnTo>
                    <a:lnTo>
                      <a:pt x="707" y="1085"/>
                    </a:lnTo>
                    <a:lnTo>
                      <a:pt x="707" y="1082"/>
                    </a:lnTo>
                    <a:lnTo>
                      <a:pt x="717" y="1082"/>
                    </a:lnTo>
                    <a:lnTo>
                      <a:pt x="717" y="1078"/>
                    </a:lnTo>
                    <a:lnTo>
                      <a:pt x="729" y="1078"/>
                    </a:lnTo>
                    <a:lnTo>
                      <a:pt x="729" y="1073"/>
                    </a:lnTo>
                    <a:lnTo>
                      <a:pt x="739" y="1073"/>
                    </a:lnTo>
                    <a:lnTo>
                      <a:pt x="739" y="1069"/>
                    </a:lnTo>
                    <a:lnTo>
                      <a:pt x="752" y="1069"/>
                    </a:lnTo>
                    <a:lnTo>
                      <a:pt x="752" y="1068"/>
                    </a:lnTo>
                    <a:lnTo>
                      <a:pt x="761" y="1068"/>
                    </a:lnTo>
                    <a:lnTo>
                      <a:pt x="761" y="1062"/>
                    </a:lnTo>
                    <a:lnTo>
                      <a:pt x="774" y="1062"/>
                    </a:lnTo>
                    <a:lnTo>
                      <a:pt x="774" y="1057"/>
                    </a:lnTo>
                    <a:lnTo>
                      <a:pt x="784" y="1057"/>
                    </a:lnTo>
                    <a:lnTo>
                      <a:pt x="784" y="1053"/>
                    </a:lnTo>
                    <a:lnTo>
                      <a:pt x="796" y="1053"/>
                    </a:lnTo>
                    <a:lnTo>
                      <a:pt x="796" y="1050"/>
                    </a:lnTo>
                    <a:lnTo>
                      <a:pt x="806" y="1050"/>
                    </a:lnTo>
                    <a:lnTo>
                      <a:pt x="806" y="1046"/>
                    </a:lnTo>
                    <a:lnTo>
                      <a:pt x="818" y="1046"/>
                    </a:lnTo>
                    <a:lnTo>
                      <a:pt x="818" y="1043"/>
                    </a:lnTo>
                    <a:lnTo>
                      <a:pt x="828" y="1043"/>
                    </a:lnTo>
                    <a:lnTo>
                      <a:pt x="828" y="1039"/>
                    </a:lnTo>
                    <a:lnTo>
                      <a:pt x="841" y="1039"/>
                    </a:lnTo>
                    <a:lnTo>
                      <a:pt x="841" y="1034"/>
                    </a:lnTo>
                    <a:lnTo>
                      <a:pt x="850" y="1034"/>
                    </a:lnTo>
                    <a:lnTo>
                      <a:pt x="850" y="1030"/>
                    </a:lnTo>
                    <a:lnTo>
                      <a:pt x="860" y="1030"/>
                    </a:lnTo>
                    <a:lnTo>
                      <a:pt x="860" y="1027"/>
                    </a:lnTo>
                    <a:lnTo>
                      <a:pt x="873" y="1027"/>
                    </a:lnTo>
                    <a:lnTo>
                      <a:pt x="873" y="1023"/>
                    </a:lnTo>
                    <a:lnTo>
                      <a:pt x="883" y="1023"/>
                    </a:lnTo>
                    <a:lnTo>
                      <a:pt x="883" y="1018"/>
                    </a:lnTo>
                    <a:lnTo>
                      <a:pt x="895" y="1018"/>
                    </a:lnTo>
                    <a:lnTo>
                      <a:pt x="895" y="1013"/>
                    </a:lnTo>
                    <a:lnTo>
                      <a:pt x="905" y="1013"/>
                    </a:lnTo>
                    <a:lnTo>
                      <a:pt x="905" y="1009"/>
                    </a:lnTo>
                    <a:lnTo>
                      <a:pt x="917" y="1009"/>
                    </a:lnTo>
                    <a:lnTo>
                      <a:pt x="917" y="1005"/>
                    </a:lnTo>
                    <a:lnTo>
                      <a:pt x="927" y="1005"/>
                    </a:lnTo>
                    <a:lnTo>
                      <a:pt x="927" y="1002"/>
                    </a:lnTo>
                    <a:lnTo>
                      <a:pt x="939" y="1002"/>
                    </a:lnTo>
                    <a:lnTo>
                      <a:pt x="939" y="997"/>
                    </a:lnTo>
                    <a:lnTo>
                      <a:pt x="949" y="997"/>
                    </a:lnTo>
                    <a:lnTo>
                      <a:pt x="949" y="991"/>
                    </a:lnTo>
                    <a:lnTo>
                      <a:pt x="962" y="991"/>
                    </a:lnTo>
                    <a:lnTo>
                      <a:pt x="962" y="986"/>
                    </a:lnTo>
                    <a:lnTo>
                      <a:pt x="972" y="986"/>
                    </a:lnTo>
                    <a:lnTo>
                      <a:pt x="972" y="984"/>
                    </a:lnTo>
                    <a:lnTo>
                      <a:pt x="984" y="984"/>
                    </a:lnTo>
                    <a:lnTo>
                      <a:pt x="984" y="981"/>
                    </a:lnTo>
                    <a:lnTo>
                      <a:pt x="994" y="981"/>
                    </a:lnTo>
                    <a:lnTo>
                      <a:pt x="994" y="977"/>
                    </a:lnTo>
                    <a:lnTo>
                      <a:pt x="1006" y="977"/>
                    </a:lnTo>
                    <a:lnTo>
                      <a:pt x="1006" y="970"/>
                    </a:lnTo>
                    <a:lnTo>
                      <a:pt x="1016" y="970"/>
                    </a:lnTo>
                    <a:lnTo>
                      <a:pt x="1016" y="966"/>
                    </a:lnTo>
                    <a:lnTo>
                      <a:pt x="1028" y="966"/>
                    </a:lnTo>
                    <a:lnTo>
                      <a:pt x="1028" y="963"/>
                    </a:lnTo>
                    <a:lnTo>
                      <a:pt x="1038" y="963"/>
                    </a:lnTo>
                    <a:lnTo>
                      <a:pt x="1038" y="959"/>
                    </a:lnTo>
                    <a:lnTo>
                      <a:pt x="1048" y="959"/>
                    </a:lnTo>
                    <a:lnTo>
                      <a:pt x="1048" y="954"/>
                    </a:lnTo>
                    <a:lnTo>
                      <a:pt x="1061" y="954"/>
                    </a:lnTo>
                    <a:lnTo>
                      <a:pt x="1061" y="947"/>
                    </a:lnTo>
                    <a:lnTo>
                      <a:pt x="1070" y="947"/>
                    </a:lnTo>
                    <a:lnTo>
                      <a:pt x="1070" y="943"/>
                    </a:lnTo>
                    <a:lnTo>
                      <a:pt x="1083" y="943"/>
                    </a:lnTo>
                    <a:lnTo>
                      <a:pt x="1083" y="940"/>
                    </a:lnTo>
                    <a:lnTo>
                      <a:pt x="1093" y="940"/>
                    </a:lnTo>
                    <a:lnTo>
                      <a:pt x="1093" y="934"/>
                    </a:lnTo>
                    <a:lnTo>
                      <a:pt x="1105" y="934"/>
                    </a:lnTo>
                    <a:lnTo>
                      <a:pt x="1105" y="931"/>
                    </a:lnTo>
                    <a:lnTo>
                      <a:pt x="1115" y="931"/>
                    </a:lnTo>
                    <a:lnTo>
                      <a:pt x="1115" y="927"/>
                    </a:lnTo>
                    <a:lnTo>
                      <a:pt x="1127" y="927"/>
                    </a:lnTo>
                    <a:lnTo>
                      <a:pt x="1127" y="924"/>
                    </a:lnTo>
                    <a:lnTo>
                      <a:pt x="1137" y="924"/>
                    </a:lnTo>
                    <a:lnTo>
                      <a:pt x="1137" y="920"/>
                    </a:lnTo>
                    <a:lnTo>
                      <a:pt x="1150" y="920"/>
                    </a:lnTo>
                    <a:lnTo>
                      <a:pt x="1150" y="917"/>
                    </a:lnTo>
                    <a:lnTo>
                      <a:pt x="1159" y="917"/>
                    </a:lnTo>
                    <a:lnTo>
                      <a:pt x="1159" y="911"/>
                    </a:lnTo>
                    <a:lnTo>
                      <a:pt x="1172" y="911"/>
                    </a:lnTo>
                    <a:lnTo>
                      <a:pt x="1172" y="908"/>
                    </a:lnTo>
                    <a:lnTo>
                      <a:pt x="1182" y="908"/>
                    </a:lnTo>
                    <a:lnTo>
                      <a:pt x="1182" y="902"/>
                    </a:lnTo>
                    <a:lnTo>
                      <a:pt x="1194" y="902"/>
                    </a:lnTo>
                    <a:lnTo>
                      <a:pt x="1194" y="901"/>
                    </a:lnTo>
                    <a:lnTo>
                      <a:pt x="1204" y="901"/>
                    </a:lnTo>
                    <a:lnTo>
                      <a:pt x="1204" y="895"/>
                    </a:lnTo>
                    <a:lnTo>
                      <a:pt x="1216" y="895"/>
                    </a:lnTo>
                    <a:lnTo>
                      <a:pt x="1216" y="888"/>
                    </a:lnTo>
                    <a:lnTo>
                      <a:pt x="1226" y="888"/>
                    </a:lnTo>
                    <a:lnTo>
                      <a:pt x="1226" y="885"/>
                    </a:lnTo>
                    <a:lnTo>
                      <a:pt x="1236" y="885"/>
                    </a:lnTo>
                    <a:lnTo>
                      <a:pt x="1236" y="878"/>
                    </a:lnTo>
                    <a:lnTo>
                      <a:pt x="1248" y="878"/>
                    </a:lnTo>
                    <a:lnTo>
                      <a:pt x="1248" y="874"/>
                    </a:lnTo>
                    <a:lnTo>
                      <a:pt x="1258" y="874"/>
                    </a:lnTo>
                    <a:lnTo>
                      <a:pt x="1258" y="874"/>
                    </a:lnTo>
                    <a:lnTo>
                      <a:pt x="1271" y="874"/>
                    </a:lnTo>
                    <a:lnTo>
                      <a:pt x="1271" y="870"/>
                    </a:lnTo>
                    <a:lnTo>
                      <a:pt x="1281" y="870"/>
                    </a:lnTo>
                    <a:lnTo>
                      <a:pt x="1281" y="863"/>
                    </a:lnTo>
                    <a:lnTo>
                      <a:pt x="1293" y="863"/>
                    </a:lnTo>
                    <a:lnTo>
                      <a:pt x="1293" y="860"/>
                    </a:lnTo>
                    <a:lnTo>
                      <a:pt x="1303" y="860"/>
                    </a:lnTo>
                    <a:lnTo>
                      <a:pt x="1303" y="858"/>
                    </a:lnTo>
                    <a:lnTo>
                      <a:pt x="1315" y="858"/>
                    </a:lnTo>
                    <a:lnTo>
                      <a:pt x="1315" y="854"/>
                    </a:lnTo>
                    <a:lnTo>
                      <a:pt x="1325" y="854"/>
                    </a:lnTo>
                    <a:lnTo>
                      <a:pt x="1325" y="851"/>
                    </a:lnTo>
                    <a:lnTo>
                      <a:pt x="1337" y="851"/>
                    </a:lnTo>
                    <a:lnTo>
                      <a:pt x="1337" y="846"/>
                    </a:lnTo>
                    <a:lnTo>
                      <a:pt x="1347" y="846"/>
                    </a:lnTo>
                    <a:lnTo>
                      <a:pt x="1347" y="844"/>
                    </a:lnTo>
                    <a:lnTo>
                      <a:pt x="1360" y="844"/>
                    </a:lnTo>
                    <a:lnTo>
                      <a:pt x="1360" y="840"/>
                    </a:lnTo>
                    <a:lnTo>
                      <a:pt x="1369" y="840"/>
                    </a:lnTo>
                    <a:lnTo>
                      <a:pt x="1369" y="837"/>
                    </a:lnTo>
                    <a:lnTo>
                      <a:pt x="1382" y="837"/>
                    </a:lnTo>
                    <a:lnTo>
                      <a:pt x="1382" y="833"/>
                    </a:lnTo>
                    <a:lnTo>
                      <a:pt x="1392" y="833"/>
                    </a:lnTo>
                    <a:lnTo>
                      <a:pt x="1392" y="828"/>
                    </a:lnTo>
                    <a:lnTo>
                      <a:pt x="1402" y="828"/>
                    </a:lnTo>
                    <a:lnTo>
                      <a:pt x="1402" y="826"/>
                    </a:lnTo>
                    <a:lnTo>
                      <a:pt x="1414" y="826"/>
                    </a:lnTo>
                    <a:lnTo>
                      <a:pt x="1414" y="822"/>
                    </a:lnTo>
                    <a:lnTo>
                      <a:pt x="1424" y="822"/>
                    </a:lnTo>
                    <a:lnTo>
                      <a:pt x="1424" y="819"/>
                    </a:lnTo>
                    <a:lnTo>
                      <a:pt x="1436" y="819"/>
                    </a:lnTo>
                    <a:lnTo>
                      <a:pt x="1436" y="815"/>
                    </a:lnTo>
                    <a:lnTo>
                      <a:pt x="1446" y="815"/>
                    </a:lnTo>
                    <a:lnTo>
                      <a:pt x="1446" y="812"/>
                    </a:lnTo>
                    <a:lnTo>
                      <a:pt x="1458" y="812"/>
                    </a:lnTo>
                    <a:lnTo>
                      <a:pt x="1458" y="808"/>
                    </a:lnTo>
                    <a:lnTo>
                      <a:pt x="1468" y="808"/>
                    </a:lnTo>
                    <a:lnTo>
                      <a:pt x="1468" y="801"/>
                    </a:lnTo>
                    <a:lnTo>
                      <a:pt x="1481" y="801"/>
                    </a:lnTo>
                    <a:lnTo>
                      <a:pt x="1481" y="798"/>
                    </a:lnTo>
                    <a:lnTo>
                      <a:pt x="1491" y="798"/>
                    </a:lnTo>
                    <a:lnTo>
                      <a:pt x="1491" y="794"/>
                    </a:lnTo>
                    <a:lnTo>
                      <a:pt x="1503" y="794"/>
                    </a:lnTo>
                    <a:lnTo>
                      <a:pt x="1503" y="790"/>
                    </a:lnTo>
                    <a:lnTo>
                      <a:pt x="1513" y="790"/>
                    </a:lnTo>
                    <a:lnTo>
                      <a:pt x="1513" y="785"/>
                    </a:lnTo>
                    <a:lnTo>
                      <a:pt x="1525" y="785"/>
                    </a:lnTo>
                    <a:lnTo>
                      <a:pt x="1525" y="780"/>
                    </a:lnTo>
                    <a:lnTo>
                      <a:pt x="1535" y="780"/>
                    </a:lnTo>
                    <a:lnTo>
                      <a:pt x="1535" y="776"/>
                    </a:lnTo>
                    <a:lnTo>
                      <a:pt x="1547" y="776"/>
                    </a:lnTo>
                    <a:lnTo>
                      <a:pt x="1547" y="773"/>
                    </a:lnTo>
                    <a:lnTo>
                      <a:pt x="1557" y="773"/>
                    </a:lnTo>
                    <a:lnTo>
                      <a:pt x="1557" y="771"/>
                    </a:lnTo>
                    <a:lnTo>
                      <a:pt x="1570" y="771"/>
                    </a:lnTo>
                    <a:lnTo>
                      <a:pt x="1570" y="767"/>
                    </a:lnTo>
                    <a:lnTo>
                      <a:pt x="1580" y="767"/>
                    </a:lnTo>
                    <a:lnTo>
                      <a:pt x="1580" y="764"/>
                    </a:lnTo>
                    <a:lnTo>
                      <a:pt x="1589" y="764"/>
                    </a:lnTo>
                    <a:lnTo>
                      <a:pt x="1589" y="760"/>
                    </a:lnTo>
                    <a:lnTo>
                      <a:pt x="1602" y="760"/>
                    </a:lnTo>
                    <a:lnTo>
                      <a:pt x="1602" y="760"/>
                    </a:lnTo>
                    <a:lnTo>
                      <a:pt x="1612" y="760"/>
                    </a:lnTo>
                    <a:lnTo>
                      <a:pt x="1612" y="758"/>
                    </a:lnTo>
                    <a:lnTo>
                      <a:pt x="1624" y="758"/>
                    </a:lnTo>
                    <a:lnTo>
                      <a:pt x="1624" y="751"/>
                    </a:lnTo>
                    <a:lnTo>
                      <a:pt x="1634" y="751"/>
                    </a:lnTo>
                    <a:lnTo>
                      <a:pt x="1634" y="748"/>
                    </a:lnTo>
                    <a:lnTo>
                      <a:pt x="1646" y="748"/>
                    </a:lnTo>
                    <a:lnTo>
                      <a:pt x="1646" y="746"/>
                    </a:lnTo>
                    <a:lnTo>
                      <a:pt x="1656" y="746"/>
                    </a:lnTo>
                    <a:lnTo>
                      <a:pt x="1656" y="741"/>
                    </a:lnTo>
                    <a:lnTo>
                      <a:pt x="1669" y="741"/>
                    </a:lnTo>
                    <a:lnTo>
                      <a:pt x="1669" y="735"/>
                    </a:lnTo>
                    <a:lnTo>
                      <a:pt x="1678" y="735"/>
                    </a:lnTo>
                    <a:lnTo>
                      <a:pt x="1678" y="735"/>
                    </a:lnTo>
                    <a:lnTo>
                      <a:pt x="1691" y="735"/>
                    </a:lnTo>
                    <a:lnTo>
                      <a:pt x="1691" y="732"/>
                    </a:lnTo>
                    <a:lnTo>
                      <a:pt x="1701" y="732"/>
                    </a:lnTo>
                    <a:lnTo>
                      <a:pt x="1701" y="728"/>
                    </a:lnTo>
                    <a:lnTo>
                      <a:pt x="1713" y="728"/>
                    </a:lnTo>
                    <a:lnTo>
                      <a:pt x="1713" y="725"/>
                    </a:lnTo>
                    <a:lnTo>
                      <a:pt x="1723" y="725"/>
                    </a:lnTo>
                    <a:lnTo>
                      <a:pt x="1723" y="721"/>
                    </a:lnTo>
                    <a:lnTo>
                      <a:pt x="1735" y="721"/>
                    </a:lnTo>
                    <a:lnTo>
                      <a:pt x="1735" y="718"/>
                    </a:lnTo>
                    <a:lnTo>
                      <a:pt x="1745" y="718"/>
                    </a:lnTo>
                    <a:lnTo>
                      <a:pt x="1745" y="714"/>
                    </a:lnTo>
                    <a:lnTo>
                      <a:pt x="1758" y="714"/>
                    </a:lnTo>
                    <a:lnTo>
                      <a:pt x="1758" y="711"/>
                    </a:lnTo>
                    <a:lnTo>
                      <a:pt x="1767" y="711"/>
                    </a:lnTo>
                    <a:lnTo>
                      <a:pt x="1767" y="705"/>
                    </a:lnTo>
                    <a:lnTo>
                      <a:pt x="1777" y="705"/>
                    </a:lnTo>
                    <a:lnTo>
                      <a:pt x="1777" y="700"/>
                    </a:lnTo>
                    <a:lnTo>
                      <a:pt x="1790" y="700"/>
                    </a:lnTo>
                    <a:lnTo>
                      <a:pt x="1790" y="695"/>
                    </a:lnTo>
                    <a:lnTo>
                      <a:pt x="1800" y="695"/>
                    </a:lnTo>
                    <a:lnTo>
                      <a:pt x="1800" y="691"/>
                    </a:lnTo>
                    <a:lnTo>
                      <a:pt x="1812" y="691"/>
                    </a:lnTo>
                    <a:lnTo>
                      <a:pt x="1812" y="689"/>
                    </a:lnTo>
                    <a:lnTo>
                      <a:pt x="1822" y="689"/>
                    </a:lnTo>
                    <a:lnTo>
                      <a:pt x="1822" y="687"/>
                    </a:lnTo>
                    <a:lnTo>
                      <a:pt x="1834" y="687"/>
                    </a:lnTo>
                    <a:lnTo>
                      <a:pt x="1834" y="684"/>
                    </a:lnTo>
                    <a:lnTo>
                      <a:pt x="1844" y="684"/>
                    </a:lnTo>
                    <a:lnTo>
                      <a:pt x="1844" y="680"/>
                    </a:lnTo>
                    <a:lnTo>
                      <a:pt x="1856" y="680"/>
                    </a:lnTo>
                    <a:lnTo>
                      <a:pt x="1856" y="679"/>
                    </a:lnTo>
                    <a:lnTo>
                      <a:pt x="1866" y="679"/>
                    </a:lnTo>
                    <a:lnTo>
                      <a:pt x="1866" y="677"/>
                    </a:lnTo>
                    <a:lnTo>
                      <a:pt x="1879" y="677"/>
                    </a:lnTo>
                    <a:lnTo>
                      <a:pt x="1879" y="675"/>
                    </a:lnTo>
                    <a:lnTo>
                      <a:pt x="1889" y="675"/>
                    </a:lnTo>
                    <a:lnTo>
                      <a:pt x="1889" y="671"/>
                    </a:lnTo>
                    <a:lnTo>
                      <a:pt x="1901" y="671"/>
                    </a:lnTo>
                    <a:lnTo>
                      <a:pt x="1901" y="668"/>
                    </a:lnTo>
                    <a:lnTo>
                      <a:pt x="1911" y="668"/>
                    </a:lnTo>
                    <a:lnTo>
                      <a:pt x="1911" y="663"/>
                    </a:lnTo>
                    <a:lnTo>
                      <a:pt x="1923" y="663"/>
                    </a:lnTo>
                    <a:lnTo>
                      <a:pt x="1923" y="657"/>
                    </a:lnTo>
                    <a:lnTo>
                      <a:pt x="1933" y="657"/>
                    </a:lnTo>
                    <a:lnTo>
                      <a:pt x="1933" y="654"/>
                    </a:lnTo>
                    <a:lnTo>
                      <a:pt x="1945" y="654"/>
                    </a:lnTo>
                    <a:lnTo>
                      <a:pt x="1945" y="645"/>
                    </a:lnTo>
                    <a:lnTo>
                      <a:pt x="1955" y="645"/>
                    </a:lnTo>
                    <a:lnTo>
                      <a:pt x="1955" y="639"/>
                    </a:lnTo>
                    <a:lnTo>
                      <a:pt x="1965" y="639"/>
                    </a:lnTo>
                    <a:lnTo>
                      <a:pt x="1965" y="638"/>
                    </a:lnTo>
                    <a:lnTo>
                      <a:pt x="1978" y="638"/>
                    </a:lnTo>
                    <a:lnTo>
                      <a:pt x="1978" y="634"/>
                    </a:lnTo>
                    <a:lnTo>
                      <a:pt x="1987" y="634"/>
                    </a:lnTo>
                    <a:lnTo>
                      <a:pt x="1987" y="632"/>
                    </a:lnTo>
                    <a:lnTo>
                      <a:pt x="2000" y="632"/>
                    </a:lnTo>
                    <a:lnTo>
                      <a:pt x="2000" y="629"/>
                    </a:lnTo>
                    <a:lnTo>
                      <a:pt x="2010" y="629"/>
                    </a:lnTo>
                    <a:lnTo>
                      <a:pt x="2010" y="623"/>
                    </a:lnTo>
                    <a:lnTo>
                      <a:pt x="2022" y="623"/>
                    </a:lnTo>
                    <a:lnTo>
                      <a:pt x="2022" y="622"/>
                    </a:lnTo>
                    <a:lnTo>
                      <a:pt x="2032" y="622"/>
                    </a:lnTo>
                    <a:lnTo>
                      <a:pt x="2032" y="620"/>
                    </a:lnTo>
                    <a:lnTo>
                      <a:pt x="2044" y="620"/>
                    </a:lnTo>
                    <a:lnTo>
                      <a:pt x="2044" y="615"/>
                    </a:lnTo>
                    <a:lnTo>
                      <a:pt x="2054" y="615"/>
                    </a:lnTo>
                    <a:lnTo>
                      <a:pt x="2054" y="609"/>
                    </a:lnTo>
                    <a:lnTo>
                      <a:pt x="2067" y="609"/>
                    </a:lnTo>
                    <a:lnTo>
                      <a:pt x="2067" y="602"/>
                    </a:lnTo>
                    <a:lnTo>
                      <a:pt x="2076" y="602"/>
                    </a:lnTo>
                    <a:lnTo>
                      <a:pt x="2076" y="597"/>
                    </a:lnTo>
                    <a:lnTo>
                      <a:pt x="2089" y="597"/>
                    </a:lnTo>
                    <a:lnTo>
                      <a:pt x="2089" y="593"/>
                    </a:lnTo>
                    <a:lnTo>
                      <a:pt x="2099" y="593"/>
                    </a:lnTo>
                    <a:lnTo>
                      <a:pt x="2099" y="586"/>
                    </a:lnTo>
                    <a:lnTo>
                      <a:pt x="2111" y="586"/>
                    </a:lnTo>
                    <a:lnTo>
                      <a:pt x="2111" y="581"/>
                    </a:lnTo>
                    <a:lnTo>
                      <a:pt x="2121" y="581"/>
                    </a:lnTo>
                    <a:lnTo>
                      <a:pt x="2121" y="577"/>
                    </a:lnTo>
                    <a:lnTo>
                      <a:pt x="2131" y="577"/>
                    </a:lnTo>
                    <a:lnTo>
                      <a:pt x="2131" y="572"/>
                    </a:lnTo>
                    <a:lnTo>
                      <a:pt x="2143" y="572"/>
                    </a:lnTo>
                    <a:lnTo>
                      <a:pt x="2143" y="567"/>
                    </a:lnTo>
                    <a:lnTo>
                      <a:pt x="2153" y="567"/>
                    </a:lnTo>
                    <a:lnTo>
                      <a:pt x="2153" y="561"/>
                    </a:lnTo>
                    <a:lnTo>
                      <a:pt x="2165" y="561"/>
                    </a:lnTo>
                    <a:lnTo>
                      <a:pt x="2165" y="556"/>
                    </a:lnTo>
                    <a:lnTo>
                      <a:pt x="2175" y="556"/>
                    </a:lnTo>
                    <a:lnTo>
                      <a:pt x="2175" y="552"/>
                    </a:lnTo>
                    <a:lnTo>
                      <a:pt x="2188" y="552"/>
                    </a:lnTo>
                    <a:lnTo>
                      <a:pt x="2188" y="547"/>
                    </a:lnTo>
                    <a:lnTo>
                      <a:pt x="2198" y="547"/>
                    </a:lnTo>
                    <a:lnTo>
                      <a:pt x="2198" y="542"/>
                    </a:lnTo>
                    <a:lnTo>
                      <a:pt x="2210" y="542"/>
                    </a:lnTo>
                    <a:lnTo>
                      <a:pt x="2210" y="540"/>
                    </a:lnTo>
                    <a:lnTo>
                      <a:pt x="2220" y="540"/>
                    </a:lnTo>
                    <a:lnTo>
                      <a:pt x="2220" y="538"/>
                    </a:lnTo>
                    <a:lnTo>
                      <a:pt x="2232" y="538"/>
                    </a:lnTo>
                    <a:lnTo>
                      <a:pt x="2232" y="535"/>
                    </a:lnTo>
                    <a:lnTo>
                      <a:pt x="2242" y="535"/>
                    </a:lnTo>
                    <a:lnTo>
                      <a:pt x="2242" y="531"/>
                    </a:lnTo>
                    <a:lnTo>
                      <a:pt x="2254" y="531"/>
                    </a:lnTo>
                    <a:lnTo>
                      <a:pt x="2254" y="528"/>
                    </a:lnTo>
                    <a:lnTo>
                      <a:pt x="2264" y="528"/>
                    </a:lnTo>
                    <a:lnTo>
                      <a:pt x="2264" y="524"/>
                    </a:lnTo>
                    <a:lnTo>
                      <a:pt x="2277" y="524"/>
                    </a:lnTo>
                    <a:lnTo>
                      <a:pt x="2277" y="522"/>
                    </a:lnTo>
                    <a:lnTo>
                      <a:pt x="2287" y="522"/>
                    </a:lnTo>
                    <a:lnTo>
                      <a:pt x="2287" y="519"/>
                    </a:lnTo>
                    <a:lnTo>
                      <a:pt x="2299" y="519"/>
                    </a:lnTo>
                    <a:lnTo>
                      <a:pt x="2299" y="517"/>
                    </a:lnTo>
                    <a:lnTo>
                      <a:pt x="2309" y="517"/>
                    </a:lnTo>
                    <a:lnTo>
                      <a:pt x="2309" y="512"/>
                    </a:lnTo>
                    <a:lnTo>
                      <a:pt x="2319" y="512"/>
                    </a:lnTo>
                    <a:lnTo>
                      <a:pt x="2319" y="510"/>
                    </a:lnTo>
                    <a:lnTo>
                      <a:pt x="2331" y="510"/>
                    </a:lnTo>
                    <a:lnTo>
                      <a:pt x="2331" y="504"/>
                    </a:lnTo>
                    <a:lnTo>
                      <a:pt x="2341" y="504"/>
                    </a:lnTo>
                    <a:lnTo>
                      <a:pt x="2341" y="503"/>
                    </a:lnTo>
                    <a:lnTo>
                      <a:pt x="2353" y="503"/>
                    </a:lnTo>
                    <a:lnTo>
                      <a:pt x="2353" y="499"/>
                    </a:lnTo>
                    <a:lnTo>
                      <a:pt x="2363" y="499"/>
                    </a:lnTo>
                    <a:lnTo>
                      <a:pt x="2363" y="494"/>
                    </a:lnTo>
                    <a:lnTo>
                      <a:pt x="2376" y="494"/>
                    </a:lnTo>
                    <a:lnTo>
                      <a:pt x="2376" y="490"/>
                    </a:lnTo>
                    <a:lnTo>
                      <a:pt x="2385" y="490"/>
                    </a:lnTo>
                    <a:lnTo>
                      <a:pt x="2385" y="487"/>
                    </a:lnTo>
                    <a:lnTo>
                      <a:pt x="2398" y="487"/>
                    </a:lnTo>
                    <a:lnTo>
                      <a:pt x="2398" y="485"/>
                    </a:lnTo>
                    <a:lnTo>
                      <a:pt x="2408" y="485"/>
                    </a:lnTo>
                    <a:lnTo>
                      <a:pt x="2408" y="480"/>
                    </a:lnTo>
                    <a:lnTo>
                      <a:pt x="2420" y="480"/>
                    </a:lnTo>
                    <a:lnTo>
                      <a:pt x="2420" y="478"/>
                    </a:lnTo>
                    <a:lnTo>
                      <a:pt x="2430" y="478"/>
                    </a:lnTo>
                    <a:lnTo>
                      <a:pt x="2430" y="474"/>
                    </a:lnTo>
                    <a:lnTo>
                      <a:pt x="2442" y="474"/>
                    </a:lnTo>
                    <a:lnTo>
                      <a:pt x="2442" y="471"/>
                    </a:lnTo>
                    <a:lnTo>
                      <a:pt x="2452" y="471"/>
                    </a:lnTo>
                    <a:lnTo>
                      <a:pt x="2452" y="469"/>
                    </a:lnTo>
                    <a:lnTo>
                      <a:pt x="2465" y="469"/>
                    </a:lnTo>
                    <a:lnTo>
                      <a:pt x="2465" y="464"/>
                    </a:lnTo>
                    <a:lnTo>
                      <a:pt x="2474" y="464"/>
                    </a:lnTo>
                    <a:lnTo>
                      <a:pt x="2474" y="460"/>
                    </a:lnTo>
                    <a:lnTo>
                      <a:pt x="2487" y="460"/>
                    </a:lnTo>
                    <a:lnTo>
                      <a:pt x="2487" y="455"/>
                    </a:lnTo>
                    <a:lnTo>
                      <a:pt x="2497" y="455"/>
                    </a:lnTo>
                    <a:lnTo>
                      <a:pt x="2497" y="451"/>
                    </a:lnTo>
                    <a:lnTo>
                      <a:pt x="2507" y="451"/>
                    </a:lnTo>
                    <a:lnTo>
                      <a:pt x="2507" y="449"/>
                    </a:lnTo>
                    <a:lnTo>
                      <a:pt x="2519" y="449"/>
                    </a:lnTo>
                    <a:lnTo>
                      <a:pt x="2519" y="446"/>
                    </a:lnTo>
                    <a:lnTo>
                      <a:pt x="2529" y="446"/>
                    </a:lnTo>
                    <a:lnTo>
                      <a:pt x="2529" y="444"/>
                    </a:lnTo>
                    <a:lnTo>
                      <a:pt x="2541" y="444"/>
                    </a:lnTo>
                    <a:lnTo>
                      <a:pt x="2541" y="440"/>
                    </a:lnTo>
                    <a:lnTo>
                      <a:pt x="2551" y="440"/>
                    </a:lnTo>
                    <a:lnTo>
                      <a:pt x="2551" y="435"/>
                    </a:lnTo>
                    <a:lnTo>
                      <a:pt x="2563" y="435"/>
                    </a:lnTo>
                    <a:lnTo>
                      <a:pt x="2563" y="432"/>
                    </a:lnTo>
                    <a:lnTo>
                      <a:pt x="2573" y="432"/>
                    </a:lnTo>
                    <a:lnTo>
                      <a:pt x="2573" y="432"/>
                    </a:lnTo>
                    <a:lnTo>
                      <a:pt x="2586" y="432"/>
                    </a:lnTo>
                    <a:lnTo>
                      <a:pt x="2586" y="428"/>
                    </a:lnTo>
                    <a:lnTo>
                      <a:pt x="2596" y="428"/>
                    </a:lnTo>
                    <a:lnTo>
                      <a:pt x="2596" y="424"/>
                    </a:lnTo>
                    <a:lnTo>
                      <a:pt x="2608" y="424"/>
                    </a:lnTo>
                    <a:lnTo>
                      <a:pt x="2608" y="421"/>
                    </a:lnTo>
                    <a:lnTo>
                      <a:pt x="2618" y="421"/>
                    </a:lnTo>
                    <a:lnTo>
                      <a:pt x="2618" y="417"/>
                    </a:lnTo>
                    <a:lnTo>
                      <a:pt x="2630" y="417"/>
                    </a:lnTo>
                    <a:lnTo>
                      <a:pt x="2630" y="412"/>
                    </a:lnTo>
                    <a:lnTo>
                      <a:pt x="2640" y="412"/>
                    </a:lnTo>
                    <a:lnTo>
                      <a:pt x="2640" y="408"/>
                    </a:lnTo>
                    <a:lnTo>
                      <a:pt x="2652" y="408"/>
                    </a:lnTo>
                    <a:lnTo>
                      <a:pt x="2652" y="405"/>
                    </a:lnTo>
                    <a:lnTo>
                      <a:pt x="2662" y="405"/>
                    </a:lnTo>
                    <a:lnTo>
                      <a:pt x="2662" y="403"/>
                    </a:lnTo>
                    <a:lnTo>
                      <a:pt x="2675" y="403"/>
                    </a:lnTo>
                    <a:lnTo>
                      <a:pt x="2675" y="398"/>
                    </a:lnTo>
                    <a:lnTo>
                      <a:pt x="2685" y="398"/>
                    </a:lnTo>
                    <a:lnTo>
                      <a:pt x="2685" y="396"/>
                    </a:lnTo>
                    <a:lnTo>
                      <a:pt x="2694" y="396"/>
                    </a:lnTo>
                    <a:lnTo>
                      <a:pt x="2694" y="392"/>
                    </a:lnTo>
                    <a:lnTo>
                      <a:pt x="2707" y="392"/>
                    </a:lnTo>
                    <a:lnTo>
                      <a:pt x="2707" y="389"/>
                    </a:lnTo>
                    <a:lnTo>
                      <a:pt x="2717" y="389"/>
                    </a:lnTo>
                    <a:lnTo>
                      <a:pt x="2717" y="384"/>
                    </a:lnTo>
                    <a:lnTo>
                      <a:pt x="2729" y="384"/>
                    </a:lnTo>
                    <a:lnTo>
                      <a:pt x="2729" y="382"/>
                    </a:lnTo>
                    <a:lnTo>
                      <a:pt x="2739" y="382"/>
                    </a:lnTo>
                    <a:lnTo>
                      <a:pt x="2739" y="378"/>
                    </a:lnTo>
                    <a:lnTo>
                      <a:pt x="2751" y="378"/>
                    </a:lnTo>
                    <a:lnTo>
                      <a:pt x="2751" y="375"/>
                    </a:lnTo>
                    <a:lnTo>
                      <a:pt x="2761" y="375"/>
                    </a:lnTo>
                    <a:lnTo>
                      <a:pt x="2761" y="369"/>
                    </a:lnTo>
                    <a:lnTo>
                      <a:pt x="2773" y="369"/>
                    </a:lnTo>
                    <a:lnTo>
                      <a:pt x="2773" y="366"/>
                    </a:lnTo>
                    <a:lnTo>
                      <a:pt x="2783" y="366"/>
                    </a:lnTo>
                    <a:lnTo>
                      <a:pt x="2783" y="361"/>
                    </a:lnTo>
                    <a:lnTo>
                      <a:pt x="2796" y="361"/>
                    </a:lnTo>
                    <a:lnTo>
                      <a:pt x="2796" y="359"/>
                    </a:lnTo>
                    <a:lnTo>
                      <a:pt x="2806" y="359"/>
                    </a:lnTo>
                    <a:lnTo>
                      <a:pt x="2806" y="353"/>
                    </a:lnTo>
                    <a:lnTo>
                      <a:pt x="2818" y="353"/>
                    </a:lnTo>
                    <a:lnTo>
                      <a:pt x="2818" y="350"/>
                    </a:lnTo>
                    <a:lnTo>
                      <a:pt x="2828" y="350"/>
                    </a:lnTo>
                    <a:lnTo>
                      <a:pt x="2828" y="348"/>
                    </a:lnTo>
                    <a:lnTo>
                      <a:pt x="2840" y="348"/>
                    </a:lnTo>
                    <a:lnTo>
                      <a:pt x="2840" y="346"/>
                    </a:lnTo>
                    <a:lnTo>
                      <a:pt x="2850" y="346"/>
                    </a:lnTo>
                    <a:lnTo>
                      <a:pt x="2850" y="343"/>
                    </a:lnTo>
                    <a:lnTo>
                      <a:pt x="2860" y="343"/>
                    </a:lnTo>
                    <a:lnTo>
                      <a:pt x="2860" y="337"/>
                    </a:lnTo>
                    <a:lnTo>
                      <a:pt x="2872" y="337"/>
                    </a:lnTo>
                    <a:lnTo>
                      <a:pt x="2872" y="334"/>
                    </a:lnTo>
                    <a:lnTo>
                      <a:pt x="2882" y="334"/>
                    </a:lnTo>
                    <a:lnTo>
                      <a:pt x="2882" y="332"/>
                    </a:lnTo>
                    <a:lnTo>
                      <a:pt x="2895" y="332"/>
                    </a:lnTo>
                    <a:lnTo>
                      <a:pt x="2895" y="327"/>
                    </a:lnTo>
                    <a:lnTo>
                      <a:pt x="2905" y="327"/>
                    </a:lnTo>
                    <a:lnTo>
                      <a:pt x="2905" y="325"/>
                    </a:lnTo>
                    <a:lnTo>
                      <a:pt x="2917" y="325"/>
                    </a:lnTo>
                    <a:lnTo>
                      <a:pt x="2917" y="323"/>
                    </a:lnTo>
                    <a:lnTo>
                      <a:pt x="2927" y="323"/>
                    </a:lnTo>
                    <a:lnTo>
                      <a:pt x="2927" y="320"/>
                    </a:lnTo>
                    <a:lnTo>
                      <a:pt x="2939" y="320"/>
                    </a:lnTo>
                    <a:lnTo>
                      <a:pt x="2939" y="318"/>
                    </a:lnTo>
                    <a:lnTo>
                      <a:pt x="2949" y="318"/>
                    </a:lnTo>
                    <a:lnTo>
                      <a:pt x="2949" y="316"/>
                    </a:lnTo>
                    <a:lnTo>
                      <a:pt x="2961" y="316"/>
                    </a:lnTo>
                    <a:lnTo>
                      <a:pt x="2961" y="313"/>
                    </a:lnTo>
                    <a:lnTo>
                      <a:pt x="2971" y="313"/>
                    </a:lnTo>
                    <a:lnTo>
                      <a:pt x="2971" y="307"/>
                    </a:lnTo>
                    <a:lnTo>
                      <a:pt x="2984" y="307"/>
                    </a:lnTo>
                    <a:lnTo>
                      <a:pt x="2984" y="305"/>
                    </a:lnTo>
                    <a:lnTo>
                      <a:pt x="2993" y="305"/>
                    </a:lnTo>
                    <a:lnTo>
                      <a:pt x="2993" y="298"/>
                    </a:lnTo>
                    <a:lnTo>
                      <a:pt x="3006" y="298"/>
                    </a:lnTo>
                    <a:lnTo>
                      <a:pt x="3006" y="295"/>
                    </a:lnTo>
                    <a:lnTo>
                      <a:pt x="3016" y="295"/>
                    </a:lnTo>
                    <a:lnTo>
                      <a:pt x="3016" y="289"/>
                    </a:lnTo>
                    <a:lnTo>
                      <a:pt x="3028" y="289"/>
                    </a:lnTo>
                    <a:lnTo>
                      <a:pt x="3028" y="284"/>
                    </a:lnTo>
                    <a:lnTo>
                      <a:pt x="3038" y="284"/>
                    </a:lnTo>
                    <a:lnTo>
                      <a:pt x="3038" y="277"/>
                    </a:lnTo>
                    <a:lnTo>
                      <a:pt x="3048" y="277"/>
                    </a:lnTo>
                    <a:lnTo>
                      <a:pt x="3048" y="273"/>
                    </a:lnTo>
                    <a:lnTo>
                      <a:pt x="3060" y="273"/>
                    </a:lnTo>
                    <a:lnTo>
                      <a:pt x="3060" y="266"/>
                    </a:lnTo>
                    <a:lnTo>
                      <a:pt x="3070" y="266"/>
                    </a:lnTo>
                    <a:lnTo>
                      <a:pt x="3070" y="261"/>
                    </a:lnTo>
                    <a:lnTo>
                      <a:pt x="3082" y="261"/>
                    </a:lnTo>
                    <a:lnTo>
                      <a:pt x="3082" y="256"/>
                    </a:lnTo>
                    <a:lnTo>
                      <a:pt x="3092" y="256"/>
                    </a:lnTo>
                    <a:lnTo>
                      <a:pt x="3092" y="250"/>
                    </a:lnTo>
                    <a:lnTo>
                      <a:pt x="3105" y="250"/>
                    </a:lnTo>
                    <a:lnTo>
                      <a:pt x="3105" y="249"/>
                    </a:lnTo>
                    <a:lnTo>
                      <a:pt x="3115" y="249"/>
                    </a:lnTo>
                    <a:lnTo>
                      <a:pt x="3115" y="243"/>
                    </a:lnTo>
                    <a:lnTo>
                      <a:pt x="3127" y="243"/>
                    </a:lnTo>
                    <a:lnTo>
                      <a:pt x="3127" y="241"/>
                    </a:lnTo>
                    <a:lnTo>
                      <a:pt x="3137" y="241"/>
                    </a:lnTo>
                    <a:lnTo>
                      <a:pt x="3137" y="238"/>
                    </a:lnTo>
                    <a:lnTo>
                      <a:pt x="3149" y="238"/>
                    </a:lnTo>
                    <a:lnTo>
                      <a:pt x="3149" y="236"/>
                    </a:lnTo>
                    <a:lnTo>
                      <a:pt x="3159" y="236"/>
                    </a:lnTo>
                    <a:lnTo>
                      <a:pt x="3159" y="233"/>
                    </a:lnTo>
                    <a:lnTo>
                      <a:pt x="3171" y="233"/>
                    </a:lnTo>
                    <a:lnTo>
                      <a:pt x="3171" y="231"/>
                    </a:lnTo>
                    <a:lnTo>
                      <a:pt x="3181" y="231"/>
                    </a:lnTo>
                    <a:lnTo>
                      <a:pt x="3181" y="227"/>
                    </a:lnTo>
                    <a:lnTo>
                      <a:pt x="3194" y="227"/>
                    </a:lnTo>
                    <a:lnTo>
                      <a:pt x="3194" y="225"/>
                    </a:lnTo>
                    <a:lnTo>
                      <a:pt x="3204" y="225"/>
                    </a:lnTo>
                    <a:lnTo>
                      <a:pt x="3204" y="222"/>
                    </a:lnTo>
                    <a:lnTo>
                      <a:pt x="3216" y="222"/>
                    </a:lnTo>
                    <a:lnTo>
                      <a:pt x="3216" y="220"/>
                    </a:lnTo>
                    <a:lnTo>
                      <a:pt x="3226" y="220"/>
                    </a:lnTo>
                    <a:lnTo>
                      <a:pt x="3226" y="215"/>
                    </a:lnTo>
                    <a:lnTo>
                      <a:pt x="3236" y="215"/>
                    </a:lnTo>
                    <a:lnTo>
                      <a:pt x="3236" y="215"/>
                    </a:lnTo>
                    <a:lnTo>
                      <a:pt x="3248" y="215"/>
                    </a:lnTo>
                    <a:lnTo>
                      <a:pt x="3248" y="209"/>
                    </a:lnTo>
                    <a:lnTo>
                      <a:pt x="3258" y="209"/>
                    </a:lnTo>
                    <a:lnTo>
                      <a:pt x="3258" y="208"/>
                    </a:lnTo>
                    <a:lnTo>
                      <a:pt x="3270" y="208"/>
                    </a:lnTo>
                    <a:lnTo>
                      <a:pt x="3270" y="206"/>
                    </a:lnTo>
                    <a:lnTo>
                      <a:pt x="3280" y="206"/>
                    </a:lnTo>
                    <a:lnTo>
                      <a:pt x="3280" y="204"/>
                    </a:lnTo>
                    <a:lnTo>
                      <a:pt x="3293" y="204"/>
                    </a:lnTo>
                    <a:lnTo>
                      <a:pt x="3293" y="201"/>
                    </a:lnTo>
                    <a:lnTo>
                      <a:pt x="3302" y="201"/>
                    </a:lnTo>
                    <a:lnTo>
                      <a:pt x="3302" y="197"/>
                    </a:lnTo>
                    <a:lnTo>
                      <a:pt x="3315" y="197"/>
                    </a:lnTo>
                    <a:lnTo>
                      <a:pt x="3315" y="195"/>
                    </a:lnTo>
                    <a:lnTo>
                      <a:pt x="3325" y="195"/>
                    </a:lnTo>
                    <a:lnTo>
                      <a:pt x="3325" y="193"/>
                    </a:lnTo>
                    <a:lnTo>
                      <a:pt x="3337" y="193"/>
                    </a:lnTo>
                    <a:lnTo>
                      <a:pt x="3337" y="190"/>
                    </a:lnTo>
                    <a:lnTo>
                      <a:pt x="3347" y="190"/>
                    </a:lnTo>
                    <a:lnTo>
                      <a:pt x="3347" y="190"/>
                    </a:lnTo>
                    <a:lnTo>
                      <a:pt x="3359" y="190"/>
                    </a:lnTo>
                    <a:lnTo>
                      <a:pt x="3359" y="185"/>
                    </a:lnTo>
                    <a:lnTo>
                      <a:pt x="3369" y="185"/>
                    </a:lnTo>
                    <a:lnTo>
                      <a:pt x="3369" y="181"/>
                    </a:lnTo>
                    <a:lnTo>
                      <a:pt x="3382" y="181"/>
                    </a:lnTo>
                    <a:lnTo>
                      <a:pt x="3382" y="178"/>
                    </a:lnTo>
                    <a:lnTo>
                      <a:pt x="3391" y="178"/>
                    </a:lnTo>
                    <a:lnTo>
                      <a:pt x="3391" y="174"/>
                    </a:lnTo>
                    <a:lnTo>
                      <a:pt x="3401" y="174"/>
                    </a:lnTo>
                    <a:lnTo>
                      <a:pt x="3401" y="172"/>
                    </a:lnTo>
                    <a:lnTo>
                      <a:pt x="3414" y="172"/>
                    </a:lnTo>
                    <a:lnTo>
                      <a:pt x="3414" y="169"/>
                    </a:lnTo>
                    <a:lnTo>
                      <a:pt x="3424" y="169"/>
                    </a:lnTo>
                    <a:lnTo>
                      <a:pt x="3424" y="167"/>
                    </a:lnTo>
                    <a:lnTo>
                      <a:pt x="3436" y="167"/>
                    </a:lnTo>
                    <a:lnTo>
                      <a:pt x="3436" y="163"/>
                    </a:lnTo>
                    <a:lnTo>
                      <a:pt x="3446" y="163"/>
                    </a:lnTo>
                    <a:lnTo>
                      <a:pt x="3446" y="160"/>
                    </a:lnTo>
                    <a:lnTo>
                      <a:pt x="3458" y="160"/>
                    </a:lnTo>
                    <a:lnTo>
                      <a:pt x="3458" y="160"/>
                    </a:lnTo>
                    <a:lnTo>
                      <a:pt x="3468" y="160"/>
                    </a:lnTo>
                    <a:lnTo>
                      <a:pt x="3468" y="156"/>
                    </a:lnTo>
                    <a:lnTo>
                      <a:pt x="3480" y="156"/>
                    </a:lnTo>
                    <a:lnTo>
                      <a:pt x="3480" y="154"/>
                    </a:lnTo>
                    <a:lnTo>
                      <a:pt x="3490" y="154"/>
                    </a:lnTo>
                    <a:lnTo>
                      <a:pt x="3490" y="149"/>
                    </a:lnTo>
                    <a:lnTo>
                      <a:pt x="3503" y="149"/>
                    </a:lnTo>
                    <a:lnTo>
                      <a:pt x="3503" y="144"/>
                    </a:lnTo>
                    <a:lnTo>
                      <a:pt x="3513" y="144"/>
                    </a:lnTo>
                    <a:lnTo>
                      <a:pt x="3513" y="142"/>
                    </a:lnTo>
                    <a:lnTo>
                      <a:pt x="3525" y="142"/>
                    </a:lnTo>
                    <a:lnTo>
                      <a:pt x="3525" y="140"/>
                    </a:lnTo>
                    <a:lnTo>
                      <a:pt x="3535" y="140"/>
                    </a:lnTo>
                    <a:lnTo>
                      <a:pt x="3535" y="138"/>
                    </a:lnTo>
                    <a:lnTo>
                      <a:pt x="3547" y="138"/>
                    </a:lnTo>
                    <a:lnTo>
                      <a:pt x="3547" y="137"/>
                    </a:lnTo>
                    <a:lnTo>
                      <a:pt x="3557" y="137"/>
                    </a:lnTo>
                    <a:lnTo>
                      <a:pt x="3557" y="131"/>
                    </a:lnTo>
                    <a:lnTo>
                      <a:pt x="3569" y="131"/>
                    </a:lnTo>
                    <a:lnTo>
                      <a:pt x="3569" y="128"/>
                    </a:lnTo>
                    <a:lnTo>
                      <a:pt x="3579" y="128"/>
                    </a:lnTo>
                    <a:lnTo>
                      <a:pt x="3579" y="126"/>
                    </a:lnTo>
                    <a:lnTo>
                      <a:pt x="3589" y="126"/>
                    </a:lnTo>
                    <a:lnTo>
                      <a:pt x="3589" y="122"/>
                    </a:lnTo>
                    <a:lnTo>
                      <a:pt x="3602" y="122"/>
                    </a:lnTo>
                    <a:lnTo>
                      <a:pt x="3602" y="119"/>
                    </a:lnTo>
                    <a:lnTo>
                      <a:pt x="3611" y="119"/>
                    </a:lnTo>
                    <a:lnTo>
                      <a:pt x="3611" y="119"/>
                    </a:lnTo>
                    <a:lnTo>
                      <a:pt x="3624" y="119"/>
                    </a:lnTo>
                    <a:lnTo>
                      <a:pt x="3624" y="115"/>
                    </a:lnTo>
                    <a:lnTo>
                      <a:pt x="3634" y="115"/>
                    </a:lnTo>
                    <a:lnTo>
                      <a:pt x="3634" y="112"/>
                    </a:lnTo>
                    <a:lnTo>
                      <a:pt x="3646" y="112"/>
                    </a:lnTo>
                    <a:lnTo>
                      <a:pt x="3646" y="108"/>
                    </a:lnTo>
                    <a:lnTo>
                      <a:pt x="3656" y="108"/>
                    </a:lnTo>
                    <a:lnTo>
                      <a:pt x="3656" y="105"/>
                    </a:lnTo>
                    <a:lnTo>
                      <a:pt x="3668" y="105"/>
                    </a:lnTo>
                    <a:lnTo>
                      <a:pt x="3668" y="103"/>
                    </a:lnTo>
                    <a:lnTo>
                      <a:pt x="3678" y="103"/>
                    </a:lnTo>
                    <a:lnTo>
                      <a:pt x="3678" y="101"/>
                    </a:lnTo>
                    <a:lnTo>
                      <a:pt x="3691" y="101"/>
                    </a:lnTo>
                    <a:lnTo>
                      <a:pt x="3691" y="98"/>
                    </a:lnTo>
                    <a:lnTo>
                      <a:pt x="3700" y="98"/>
                    </a:lnTo>
                    <a:lnTo>
                      <a:pt x="3700" y="92"/>
                    </a:lnTo>
                    <a:lnTo>
                      <a:pt x="3713" y="92"/>
                    </a:lnTo>
                    <a:lnTo>
                      <a:pt x="3713" y="87"/>
                    </a:lnTo>
                    <a:lnTo>
                      <a:pt x="3723" y="87"/>
                    </a:lnTo>
                    <a:lnTo>
                      <a:pt x="3723" y="85"/>
                    </a:lnTo>
                    <a:lnTo>
                      <a:pt x="3735" y="85"/>
                    </a:lnTo>
                    <a:lnTo>
                      <a:pt x="3735" y="82"/>
                    </a:lnTo>
                    <a:lnTo>
                      <a:pt x="3745" y="82"/>
                    </a:lnTo>
                    <a:lnTo>
                      <a:pt x="3745" y="82"/>
                    </a:lnTo>
                    <a:lnTo>
                      <a:pt x="3757" y="82"/>
                    </a:lnTo>
                    <a:lnTo>
                      <a:pt x="3757" y="76"/>
                    </a:lnTo>
                    <a:lnTo>
                      <a:pt x="3767" y="76"/>
                    </a:lnTo>
                    <a:lnTo>
                      <a:pt x="3767" y="74"/>
                    </a:lnTo>
                    <a:lnTo>
                      <a:pt x="3777" y="74"/>
                    </a:lnTo>
                    <a:lnTo>
                      <a:pt x="3777" y="73"/>
                    </a:lnTo>
                    <a:lnTo>
                      <a:pt x="3789" y="73"/>
                    </a:lnTo>
                    <a:lnTo>
                      <a:pt x="3789" y="69"/>
                    </a:lnTo>
                    <a:lnTo>
                      <a:pt x="3799" y="69"/>
                    </a:lnTo>
                    <a:lnTo>
                      <a:pt x="3799" y="66"/>
                    </a:lnTo>
                    <a:lnTo>
                      <a:pt x="3812" y="66"/>
                    </a:lnTo>
                    <a:lnTo>
                      <a:pt x="3812" y="62"/>
                    </a:lnTo>
                    <a:lnTo>
                      <a:pt x="3822" y="62"/>
                    </a:lnTo>
                    <a:lnTo>
                      <a:pt x="3822" y="60"/>
                    </a:lnTo>
                    <a:lnTo>
                      <a:pt x="3834" y="60"/>
                    </a:lnTo>
                    <a:lnTo>
                      <a:pt x="3834" y="57"/>
                    </a:lnTo>
                    <a:lnTo>
                      <a:pt x="3844" y="57"/>
                    </a:lnTo>
                    <a:lnTo>
                      <a:pt x="3844" y="55"/>
                    </a:lnTo>
                    <a:lnTo>
                      <a:pt x="3856" y="55"/>
                    </a:lnTo>
                    <a:lnTo>
                      <a:pt x="3856" y="51"/>
                    </a:lnTo>
                    <a:lnTo>
                      <a:pt x="3866" y="51"/>
                    </a:lnTo>
                    <a:lnTo>
                      <a:pt x="3866" y="48"/>
                    </a:lnTo>
                    <a:lnTo>
                      <a:pt x="3878" y="48"/>
                    </a:lnTo>
                    <a:lnTo>
                      <a:pt x="3878" y="46"/>
                    </a:lnTo>
                    <a:lnTo>
                      <a:pt x="3888" y="46"/>
                    </a:lnTo>
                    <a:lnTo>
                      <a:pt x="3888" y="42"/>
                    </a:lnTo>
                    <a:lnTo>
                      <a:pt x="3901" y="42"/>
                    </a:lnTo>
                    <a:lnTo>
                      <a:pt x="3901" y="39"/>
                    </a:lnTo>
                    <a:lnTo>
                      <a:pt x="3911" y="39"/>
                    </a:lnTo>
                    <a:lnTo>
                      <a:pt x="3911" y="37"/>
                    </a:lnTo>
                    <a:lnTo>
                      <a:pt x="3923" y="37"/>
                    </a:lnTo>
                    <a:lnTo>
                      <a:pt x="3923" y="34"/>
                    </a:lnTo>
                    <a:lnTo>
                      <a:pt x="3933" y="34"/>
                    </a:lnTo>
                    <a:lnTo>
                      <a:pt x="3933" y="30"/>
                    </a:lnTo>
                    <a:lnTo>
                      <a:pt x="3945" y="30"/>
                    </a:lnTo>
                    <a:lnTo>
                      <a:pt x="3945" y="26"/>
                    </a:lnTo>
                    <a:lnTo>
                      <a:pt x="3955" y="26"/>
                    </a:lnTo>
                    <a:lnTo>
                      <a:pt x="3955" y="21"/>
                    </a:lnTo>
                    <a:lnTo>
                      <a:pt x="3965" y="21"/>
                    </a:lnTo>
                    <a:lnTo>
                      <a:pt x="3965" y="18"/>
                    </a:lnTo>
                    <a:lnTo>
                      <a:pt x="3977" y="18"/>
                    </a:lnTo>
                    <a:lnTo>
                      <a:pt x="3977" y="14"/>
                    </a:lnTo>
                    <a:lnTo>
                      <a:pt x="3987" y="14"/>
                    </a:lnTo>
                    <a:lnTo>
                      <a:pt x="3987" y="10"/>
                    </a:lnTo>
                    <a:lnTo>
                      <a:pt x="4000" y="10"/>
                    </a:lnTo>
                    <a:lnTo>
                      <a:pt x="4000" y="7"/>
                    </a:lnTo>
                    <a:lnTo>
                      <a:pt x="4009" y="7"/>
                    </a:lnTo>
                    <a:lnTo>
                      <a:pt x="4009" y="3"/>
                    </a:lnTo>
                    <a:lnTo>
                      <a:pt x="4022" y="3"/>
                    </a:lnTo>
                    <a:lnTo>
                      <a:pt x="4022" y="2"/>
                    </a:lnTo>
                    <a:lnTo>
                      <a:pt x="4032" y="2"/>
                    </a:lnTo>
                    <a:lnTo>
                      <a:pt x="4032" y="0"/>
                    </a:lnTo>
                  </a:path>
                </a:pathLst>
              </a:custGeom>
              <a:noFill/>
              <a:ln w="28575" cap="flat">
                <a:solidFill>
                  <a:srgbClr val="F366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4304" tIns="32152" rIns="64304" bIns="32152" numCol="1" anchor="t" anchorCtr="0" compatLnSpc="1">
                <a:prstTxWarp prst="textNoShape">
                  <a:avLst/>
                </a:prstTxWarp>
              </a:bodyPr>
              <a:lstStyle/>
              <a:p>
                <a:pPr marL="0" marR="0" lvl="0" indent="0" algn="l" defTabSz="321503"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151" name="Line 6">
                <a:extLst>
                  <a:ext uri="{FF2B5EF4-FFF2-40B4-BE49-F238E27FC236}">
                    <a16:creationId xmlns:a16="http://schemas.microsoft.com/office/drawing/2014/main" id="{3BF45331-04D0-4289-AB53-9D78A6B0C88E}"/>
                  </a:ext>
                </a:extLst>
              </p:cNvPr>
              <p:cNvSpPr>
                <a:spLocks noChangeShapeType="1"/>
              </p:cNvSpPr>
              <p:nvPr/>
            </p:nvSpPr>
            <p:spPr bwMode="auto">
              <a:xfrm>
                <a:off x="8621713" y="3844925"/>
                <a:ext cx="0" cy="0"/>
              </a:xfrm>
              <a:prstGeom prst="line">
                <a:avLst/>
              </a:prstGeom>
              <a:noFill/>
              <a:ln w="28575" cap="flat">
                <a:solidFill>
                  <a:srgbClr val="0000FF"/>
                </a:solidFill>
                <a:prstDash val="solid"/>
                <a:miter lim="800000"/>
                <a:headEnd/>
                <a:tailEnd/>
              </a:ln>
              <a:extLst>
                <a:ext uri="{909E8E84-426E-40DD-AFC4-6F175D3DCCD1}">
                  <a14:hiddenFill xmlns:a14="http://schemas.microsoft.com/office/drawing/2010/main">
                    <a:noFill/>
                  </a14:hiddenFill>
                </a:ext>
              </a:extLst>
            </p:spPr>
            <p:txBody>
              <a:bodyPr vert="horz" wrap="square" lIns="64304" tIns="32152" rIns="64304" bIns="32152" numCol="1" anchor="t" anchorCtr="0" compatLnSpc="1">
                <a:prstTxWarp prst="textNoShape">
                  <a:avLst/>
                </a:prstTxWarp>
              </a:bodyPr>
              <a:lstStyle/>
              <a:p>
                <a:pPr marL="0" marR="0" lvl="0" indent="0" algn="l" defTabSz="321503"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152" name="Freeform 7">
                <a:extLst>
                  <a:ext uri="{FF2B5EF4-FFF2-40B4-BE49-F238E27FC236}">
                    <a16:creationId xmlns:a16="http://schemas.microsoft.com/office/drawing/2014/main" id="{2AD1ACB5-BA7C-4F68-9CD9-3B33EC1B4C28}"/>
                  </a:ext>
                </a:extLst>
              </p:cNvPr>
              <p:cNvSpPr>
                <a:spLocks/>
              </p:cNvSpPr>
              <p:nvPr/>
            </p:nvSpPr>
            <p:spPr bwMode="auto">
              <a:xfrm>
                <a:off x="2151063" y="3844925"/>
                <a:ext cx="6365875" cy="228600"/>
              </a:xfrm>
              <a:custGeom>
                <a:avLst/>
                <a:gdLst>
                  <a:gd name="T0" fmla="*/ 55 w 4010"/>
                  <a:gd name="T1" fmla="*/ 143 h 144"/>
                  <a:gd name="T2" fmla="*/ 99 w 4010"/>
                  <a:gd name="T3" fmla="*/ 141 h 144"/>
                  <a:gd name="T4" fmla="*/ 144 w 4010"/>
                  <a:gd name="T5" fmla="*/ 137 h 144"/>
                  <a:gd name="T6" fmla="*/ 198 w 4010"/>
                  <a:gd name="T7" fmla="*/ 134 h 144"/>
                  <a:gd name="T8" fmla="*/ 243 w 4010"/>
                  <a:gd name="T9" fmla="*/ 130 h 144"/>
                  <a:gd name="T10" fmla="*/ 297 w 4010"/>
                  <a:gd name="T11" fmla="*/ 127 h 144"/>
                  <a:gd name="T12" fmla="*/ 398 w 4010"/>
                  <a:gd name="T13" fmla="*/ 123 h 144"/>
                  <a:gd name="T14" fmla="*/ 453 w 4010"/>
                  <a:gd name="T15" fmla="*/ 119 h 144"/>
                  <a:gd name="T16" fmla="*/ 519 w 4010"/>
                  <a:gd name="T17" fmla="*/ 118 h 144"/>
                  <a:gd name="T18" fmla="*/ 631 w 4010"/>
                  <a:gd name="T19" fmla="*/ 114 h 144"/>
                  <a:gd name="T20" fmla="*/ 695 w 4010"/>
                  <a:gd name="T21" fmla="*/ 112 h 144"/>
                  <a:gd name="T22" fmla="*/ 796 w 4010"/>
                  <a:gd name="T23" fmla="*/ 107 h 144"/>
                  <a:gd name="T24" fmla="*/ 838 w 4010"/>
                  <a:gd name="T25" fmla="*/ 105 h 144"/>
                  <a:gd name="T26" fmla="*/ 905 w 4010"/>
                  <a:gd name="T27" fmla="*/ 103 h 144"/>
                  <a:gd name="T28" fmla="*/ 1006 w 4010"/>
                  <a:gd name="T29" fmla="*/ 102 h 144"/>
                  <a:gd name="T30" fmla="*/ 1061 w 4010"/>
                  <a:gd name="T31" fmla="*/ 100 h 144"/>
                  <a:gd name="T32" fmla="*/ 1128 w 4010"/>
                  <a:gd name="T33" fmla="*/ 96 h 144"/>
                  <a:gd name="T34" fmla="*/ 1204 w 4010"/>
                  <a:gd name="T35" fmla="*/ 95 h 144"/>
                  <a:gd name="T36" fmla="*/ 1315 w 4010"/>
                  <a:gd name="T37" fmla="*/ 93 h 144"/>
                  <a:gd name="T38" fmla="*/ 1370 w 4010"/>
                  <a:gd name="T39" fmla="*/ 89 h 144"/>
                  <a:gd name="T40" fmla="*/ 1436 w 4010"/>
                  <a:gd name="T41" fmla="*/ 87 h 144"/>
                  <a:gd name="T42" fmla="*/ 1503 w 4010"/>
                  <a:gd name="T43" fmla="*/ 84 h 144"/>
                  <a:gd name="T44" fmla="*/ 1548 w 4010"/>
                  <a:gd name="T45" fmla="*/ 82 h 144"/>
                  <a:gd name="T46" fmla="*/ 1602 w 4010"/>
                  <a:gd name="T47" fmla="*/ 79 h 144"/>
                  <a:gd name="T48" fmla="*/ 1669 w 4010"/>
                  <a:gd name="T49" fmla="*/ 77 h 144"/>
                  <a:gd name="T50" fmla="*/ 1778 w 4010"/>
                  <a:gd name="T51" fmla="*/ 73 h 144"/>
                  <a:gd name="T52" fmla="*/ 1844 w 4010"/>
                  <a:gd name="T53" fmla="*/ 71 h 144"/>
                  <a:gd name="T54" fmla="*/ 1923 w 4010"/>
                  <a:gd name="T55" fmla="*/ 70 h 144"/>
                  <a:gd name="T56" fmla="*/ 2000 w 4010"/>
                  <a:gd name="T57" fmla="*/ 68 h 144"/>
                  <a:gd name="T58" fmla="*/ 2089 w 4010"/>
                  <a:gd name="T59" fmla="*/ 66 h 144"/>
                  <a:gd name="T60" fmla="*/ 2143 w 4010"/>
                  <a:gd name="T61" fmla="*/ 64 h 144"/>
                  <a:gd name="T62" fmla="*/ 2220 w 4010"/>
                  <a:gd name="T63" fmla="*/ 61 h 144"/>
                  <a:gd name="T64" fmla="*/ 2265 w 4010"/>
                  <a:gd name="T65" fmla="*/ 59 h 144"/>
                  <a:gd name="T66" fmla="*/ 2331 w 4010"/>
                  <a:gd name="T67" fmla="*/ 57 h 144"/>
                  <a:gd name="T68" fmla="*/ 2386 w 4010"/>
                  <a:gd name="T69" fmla="*/ 54 h 144"/>
                  <a:gd name="T70" fmla="*/ 2475 w 4010"/>
                  <a:gd name="T71" fmla="*/ 52 h 144"/>
                  <a:gd name="T72" fmla="*/ 2564 w 4010"/>
                  <a:gd name="T73" fmla="*/ 50 h 144"/>
                  <a:gd name="T74" fmla="*/ 2630 w 4010"/>
                  <a:gd name="T75" fmla="*/ 47 h 144"/>
                  <a:gd name="T76" fmla="*/ 2695 w 4010"/>
                  <a:gd name="T77" fmla="*/ 45 h 144"/>
                  <a:gd name="T78" fmla="*/ 2774 w 4010"/>
                  <a:gd name="T79" fmla="*/ 41 h 144"/>
                  <a:gd name="T80" fmla="*/ 2828 w 4010"/>
                  <a:gd name="T81" fmla="*/ 40 h 144"/>
                  <a:gd name="T82" fmla="*/ 2873 w 4010"/>
                  <a:gd name="T83" fmla="*/ 38 h 144"/>
                  <a:gd name="T84" fmla="*/ 2917 w 4010"/>
                  <a:gd name="T85" fmla="*/ 36 h 144"/>
                  <a:gd name="T86" fmla="*/ 2962 w 4010"/>
                  <a:gd name="T87" fmla="*/ 32 h 144"/>
                  <a:gd name="T88" fmla="*/ 3048 w 4010"/>
                  <a:gd name="T89" fmla="*/ 31 h 144"/>
                  <a:gd name="T90" fmla="*/ 3093 w 4010"/>
                  <a:gd name="T91" fmla="*/ 29 h 144"/>
                  <a:gd name="T92" fmla="*/ 3182 w 4010"/>
                  <a:gd name="T93" fmla="*/ 25 h 144"/>
                  <a:gd name="T94" fmla="*/ 3280 w 4010"/>
                  <a:gd name="T95" fmla="*/ 22 h 144"/>
                  <a:gd name="T96" fmla="*/ 3369 w 4010"/>
                  <a:gd name="T97" fmla="*/ 20 h 144"/>
                  <a:gd name="T98" fmla="*/ 3436 w 4010"/>
                  <a:gd name="T99" fmla="*/ 16 h 144"/>
                  <a:gd name="T100" fmla="*/ 3491 w 4010"/>
                  <a:gd name="T101" fmla="*/ 15 h 144"/>
                  <a:gd name="T102" fmla="*/ 3557 w 4010"/>
                  <a:gd name="T103" fmla="*/ 11 h 144"/>
                  <a:gd name="T104" fmla="*/ 3691 w 4010"/>
                  <a:gd name="T105" fmla="*/ 9 h 144"/>
                  <a:gd name="T106" fmla="*/ 3800 w 4010"/>
                  <a:gd name="T107" fmla="*/ 8 h 144"/>
                  <a:gd name="T108" fmla="*/ 3901 w 4010"/>
                  <a:gd name="T109" fmla="*/ 6 h 144"/>
                  <a:gd name="T110" fmla="*/ 3987 w 4010"/>
                  <a:gd name="T111" fmla="*/ 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010" h="144">
                    <a:moveTo>
                      <a:pt x="0" y="144"/>
                    </a:moveTo>
                    <a:lnTo>
                      <a:pt x="10" y="144"/>
                    </a:lnTo>
                    <a:lnTo>
                      <a:pt x="10" y="144"/>
                    </a:lnTo>
                    <a:lnTo>
                      <a:pt x="23" y="144"/>
                    </a:lnTo>
                    <a:lnTo>
                      <a:pt x="23" y="143"/>
                    </a:lnTo>
                    <a:lnTo>
                      <a:pt x="45" y="143"/>
                    </a:lnTo>
                    <a:lnTo>
                      <a:pt x="45" y="143"/>
                    </a:lnTo>
                    <a:lnTo>
                      <a:pt x="55" y="143"/>
                    </a:lnTo>
                    <a:lnTo>
                      <a:pt x="55" y="143"/>
                    </a:lnTo>
                    <a:lnTo>
                      <a:pt x="67" y="143"/>
                    </a:lnTo>
                    <a:lnTo>
                      <a:pt x="67" y="141"/>
                    </a:lnTo>
                    <a:lnTo>
                      <a:pt x="77" y="141"/>
                    </a:lnTo>
                    <a:lnTo>
                      <a:pt x="77" y="141"/>
                    </a:lnTo>
                    <a:lnTo>
                      <a:pt x="89" y="141"/>
                    </a:lnTo>
                    <a:lnTo>
                      <a:pt x="89" y="141"/>
                    </a:lnTo>
                    <a:lnTo>
                      <a:pt x="99" y="141"/>
                    </a:lnTo>
                    <a:lnTo>
                      <a:pt x="99" y="139"/>
                    </a:lnTo>
                    <a:lnTo>
                      <a:pt x="109" y="139"/>
                    </a:lnTo>
                    <a:lnTo>
                      <a:pt x="109" y="137"/>
                    </a:lnTo>
                    <a:lnTo>
                      <a:pt x="121" y="137"/>
                    </a:lnTo>
                    <a:lnTo>
                      <a:pt x="121" y="137"/>
                    </a:lnTo>
                    <a:lnTo>
                      <a:pt x="131" y="137"/>
                    </a:lnTo>
                    <a:lnTo>
                      <a:pt x="131" y="137"/>
                    </a:lnTo>
                    <a:lnTo>
                      <a:pt x="144" y="137"/>
                    </a:lnTo>
                    <a:lnTo>
                      <a:pt x="144" y="137"/>
                    </a:lnTo>
                    <a:lnTo>
                      <a:pt x="154" y="137"/>
                    </a:lnTo>
                    <a:lnTo>
                      <a:pt x="154" y="135"/>
                    </a:lnTo>
                    <a:lnTo>
                      <a:pt x="166" y="135"/>
                    </a:lnTo>
                    <a:lnTo>
                      <a:pt x="166" y="135"/>
                    </a:lnTo>
                    <a:lnTo>
                      <a:pt x="176" y="135"/>
                    </a:lnTo>
                    <a:lnTo>
                      <a:pt x="176" y="134"/>
                    </a:lnTo>
                    <a:lnTo>
                      <a:pt x="198" y="134"/>
                    </a:lnTo>
                    <a:lnTo>
                      <a:pt x="198" y="134"/>
                    </a:lnTo>
                    <a:lnTo>
                      <a:pt x="210" y="134"/>
                    </a:lnTo>
                    <a:lnTo>
                      <a:pt x="210" y="132"/>
                    </a:lnTo>
                    <a:lnTo>
                      <a:pt x="220" y="132"/>
                    </a:lnTo>
                    <a:lnTo>
                      <a:pt x="220" y="132"/>
                    </a:lnTo>
                    <a:lnTo>
                      <a:pt x="233" y="132"/>
                    </a:lnTo>
                    <a:lnTo>
                      <a:pt x="233" y="130"/>
                    </a:lnTo>
                    <a:lnTo>
                      <a:pt x="243" y="130"/>
                    </a:lnTo>
                    <a:lnTo>
                      <a:pt x="243" y="128"/>
                    </a:lnTo>
                    <a:lnTo>
                      <a:pt x="255" y="128"/>
                    </a:lnTo>
                    <a:lnTo>
                      <a:pt x="255" y="128"/>
                    </a:lnTo>
                    <a:lnTo>
                      <a:pt x="265" y="128"/>
                    </a:lnTo>
                    <a:lnTo>
                      <a:pt x="265" y="128"/>
                    </a:lnTo>
                    <a:lnTo>
                      <a:pt x="287" y="128"/>
                    </a:lnTo>
                    <a:lnTo>
                      <a:pt x="287" y="127"/>
                    </a:lnTo>
                    <a:lnTo>
                      <a:pt x="297" y="127"/>
                    </a:lnTo>
                    <a:lnTo>
                      <a:pt x="297" y="125"/>
                    </a:lnTo>
                    <a:lnTo>
                      <a:pt x="319" y="125"/>
                    </a:lnTo>
                    <a:lnTo>
                      <a:pt x="319" y="125"/>
                    </a:lnTo>
                    <a:lnTo>
                      <a:pt x="364" y="125"/>
                    </a:lnTo>
                    <a:lnTo>
                      <a:pt x="364" y="123"/>
                    </a:lnTo>
                    <a:lnTo>
                      <a:pt x="376" y="123"/>
                    </a:lnTo>
                    <a:lnTo>
                      <a:pt x="376" y="123"/>
                    </a:lnTo>
                    <a:lnTo>
                      <a:pt x="398" y="123"/>
                    </a:lnTo>
                    <a:lnTo>
                      <a:pt x="398" y="123"/>
                    </a:lnTo>
                    <a:lnTo>
                      <a:pt x="408" y="123"/>
                    </a:lnTo>
                    <a:lnTo>
                      <a:pt x="408" y="123"/>
                    </a:lnTo>
                    <a:lnTo>
                      <a:pt x="421" y="123"/>
                    </a:lnTo>
                    <a:lnTo>
                      <a:pt x="421" y="121"/>
                    </a:lnTo>
                    <a:lnTo>
                      <a:pt x="443" y="121"/>
                    </a:lnTo>
                    <a:lnTo>
                      <a:pt x="443" y="119"/>
                    </a:lnTo>
                    <a:lnTo>
                      <a:pt x="453" y="119"/>
                    </a:lnTo>
                    <a:lnTo>
                      <a:pt x="453" y="119"/>
                    </a:lnTo>
                    <a:lnTo>
                      <a:pt x="475" y="119"/>
                    </a:lnTo>
                    <a:lnTo>
                      <a:pt x="475" y="119"/>
                    </a:lnTo>
                    <a:lnTo>
                      <a:pt x="485" y="119"/>
                    </a:lnTo>
                    <a:lnTo>
                      <a:pt x="485" y="118"/>
                    </a:lnTo>
                    <a:lnTo>
                      <a:pt x="497" y="118"/>
                    </a:lnTo>
                    <a:lnTo>
                      <a:pt x="497" y="118"/>
                    </a:lnTo>
                    <a:lnTo>
                      <a:pt x="519" y="118"/>
                    </a:lnTo>
                    <a:lnTo>
                      <a:pt x="519" y="116"/>
                    </a:lnTo>
                    <a:lnTo>
                      <a:pt x="542" y="116"/>
                    </a:lnTo>
                    <a:lnTo>
                      <a:pt x="542" y="116"/>
                    </a:lnTo>
                    <a:lnTo>
                      <a:pt x="574" y="116"/>
                    </a:lnTo>
                    <a:lnTo>
                      <a:pt x="574" y="114"/>
                    </a:lnTo>
                    <a:lnTo>
                      <a:pt x="586" y="114"/>
                    </a:lnTo>
                    <a:lnTo>
                      <a:pt x="586" y="114"/>
                    </a:lnTo>
                    <a:lnTo>
                      <a:pt x="631" y="114"/>
                    </a:lnTo>
                    <a:lnTo>
                      <a:pt x="631" y="114"/>
                    </a:lnTo>
                    <a:lnTo>
                      <a:pt x="641" y="114"/>
                    </a:lnTo>
                    <a:lnTo>
                      <a:pt x="641" y="112"/>
                    </a:lnTo>
                    <a:lnTo>
                      <a:pt x="650" y="112"/>
                    </a:lnTo>
                    <a:lnTo>
                      <a:pt x="650" y="112"/>
                    </a:lnTo>
                    <a:lnTo>
                      <a:pt x="673" y="112"/>
                    </a:lnTo>
                    <a:lnTo>
                      <a:pt x="673" y="112"/>
                    </a:lnTo>
                    <a:lnTo>
                      <a:pt x="695" y="112"/>
                    </a:lnTo>
                    <a:lnTo>
                      <a:pt x="695" y="111"/>
                    </a:lnTo>
                    <a:lnTo>
                      <a:pt x="707" y="111"/>
                    </a:lnTo>
                    <a:lnTo>
                      <a:pt x="707" y="111"/>
                    </a:lnTo>
                    <a:lnTo>
                      <a:pt x="752" y="111"/>
                    </a:lnTo>
                    <a:lnTo>
                      <a:pt x="752" y="109"/>
                    </a:lnTo>
                    <a:lnTo>
                      <a:pt x="774" y="109"/>
                    </a:lnTo>
                    <a:lnTo>
                      <a:pt x="774" y="107"/>
                    </a:lnTo>
                    <a:lnTo>
                      <a:pt x="796" y="107"/>
                    </a:lnTo>
                    <a:lnTo>
                      <a:pt x="796" y="107"/>
                    </a:lnTo>
                    <a:lnTo>
                      <a:pt x="806" y="107"/>
                    </a:lnTo>
                    <a:lnTo>
                      <a:pt x="806" y="107"/>
                    </a:lnTo>
                    <a:lnTo>
                      <a:pt x="819" y="107"/>
                    </a:lnTo>
                    <a:lnTo>
                      <a:pt x="819" y="105"/>
                    </a:lnTo>
                    <a:lnTo>
                      <a:pt x="828" y="105"/>
                    </a:lnTo>
                    <a:lnTo>
                      <a:pt x="828" y="105"/>
                    </a:lnTo>
                    <a:lnTo>
                      <a:pt x="838" y="105"/>
                    </a:lnTo>
                    <a:lnTo>
                      <a:pt x="838" y="105"/>
                    </a:lnTo>
                    <a:lnTo>
                      <a:pt x="861" y="105"/>
                    </a:lnTo>
                    <a:lnTo>
                      <a:pt x="861" y="103"/>
                    </a:lnTo>
                    <a:lnTo>
                      <a:pt x="873" y="103"/>
                    </a:lnTo>
                    <a:lnTo>
                      <a:pt x="873" y="103"/>
                    </a:lnTo>
                    <a:lnTo>
                      <a:pt x="895" y="103"/>
                    </a:lnTo>
                    <a:lnTo>
                      <a:pt x="895" y="103"/>
                    </a:lnTo>
                    <a:lnTo>
                      <a:pt x="905" y="103"/>
                    </a:lnTo>
                    <a:lnTo>
                      <a:pt x="905" y="103"/>
                    </a:lnTo>
                    <a:lnTo>
                      <a:pt x="927" y="103"/>
                    </a:lnTo>
                    <a:lnTo>
                      <a:pt x="927" y="102"/>
                    </a:lnTo>
                    <a:lnTo>
                      <a:pt x="940" y="102"/>
                    </a:lnTo>
                    <a:lnTo>
                      <a:pt x="940" y="102"/>
                    </a:lnTo>
                    <a:lnTo>
                      <a:pt x="950" y="102"/>
                    </a:lnTo>
                    <a:lnTo>
                      <a:pt x="950" y="102"/>
                    </a:lnTo>
                    <a:lnTo>
                      <a:pt x="1006" y="102"/>
                    </a:lnTo>
                    <a:lnTo>
                      <a:pt x="1006" y="102"/>
                    </a:lnTo>
                    <a:lnTo>
                      <a:pt x="1026" y="102"/>
                    </a:lnTo>
                    <a:lnTo>
                      <a:pt x="1026" y="102"/>
                    </a:lnTo>
                    <a:lnTo>
                      <a:pt x="1039" y="102"/>
                    </a:lnTo>
                    <a:lnTo>
                      <a:pt x="1039" y="100"/>
                    </a:lnTo>
                    <a:lnTo>
                      <a:pt x="1048" y="100"/>
                    </a:lnTo>
                    <a:lnTo>
                      <a:pt x="1048" y="100"/>
                    </a:lnTo>
                    <a:lnTo>
                      <a:pt x="1061" y="100"/>
                    </a:lnTo>
                    <a:lnTo>
                      <a:pt x="1061" y="98"/>
                    </a:lnTo>
                    <a:lnTo>
                      <a:pt x="1071" y="98"/>
                    </a:lnTo>
                    <a:lnTo>
                      <a:pt x="1071" y="98"/>
                    </a:lnTo>
                    <a:lnTo>
                      <a:pt x="1083" y="98"/>
                    </a:lnTo>
                    <a:lnTo>
                      <a:pt x="1083" y="98"/>
                    </a:lnTo>
                    <a:lnTo>
                      <a:pt x="1093" y="98"/>
                    </a:lnTo>
                    <a:lnTo>
                      <a:pt x="1093" y="96"/>
                    </a:lnTo>
                    <a:lnTo>
                      <a:pt x="1128" y="96"/>
                    </a:lnTo>
                    <a:lnTo>
                      <a:pt x="1128" y="96"/>
                    </a:lnTo>
                    <a:lnTo>
                      <a:pt x="1137" y="96"/>
                    </a:lnTo>
                    <a:lnTo>
                      <a:pt x="1137" y="96"/>
                    </a:lnTo>
                    <a:lnTo>
                      <a:pt x="1182" y="96"/>
                    </a:lnTo>
                    <a:lnTo>
                      <a:pt x="1182" y="95"/>
                    </a:lnTo>
                    <a:lnTo>
                      <a:pt x="1194" y="95"/>
                    </a:lnTo>
                    <a:lnTo>
                      <a:pt x="1194" y="95"/>
                    </a:lnTo>
                    <a:lnTo>
                      <a:pt x="1204" y="95"/>
                    </a:lnTo>
                    <a:lnTo>
                      <a:pt x="1204" y="95"/>
                    </a:lnTo>
                    <a:lnTo>
                      <a:pt x="1249" y="95"/>
                    </a:lnTo>
                    <a:lnTo>
                      <a:pt x="1249" y="95"/>
                    </a:lnTo>
                    <a:lnTo>
                      <a:pt x="1271" y="95"/>
                    </a:lnTo>
                    <a:lnTo>
                      <a:pt x="1271" y="93"/>
                    </a:lnTo>
                    <a:lnTo>
                      <a:pt x="1281" y="93"/>
                    </a:lnTo>
                    <a:lnTo>
                      <a:pt x="1281" y="93"/>
                    </a:lnTo>
                    <a:lnTo>
                      <a:pt x="1315" y="93"/>
                    </a:lnTo>
                    <a:lnTo>
                      <a:pt x="1315" y="91"/>
                    </a:lnTo>
                    <a:lnTo>
                      <a:pt x="1325" y="91"/>
                    </a:lnTo>
                    <a:lnTo>
                      <a:pt x="1325" y="91"/>
                    </a:lnTo>
                    <a:lnTo>
                      <a:pt x="1347" y="91"/>
                    </a:lnTo>
                    <a:lnTo>
                      <a:pt x="1347" y="91"/>
                    </a:lnTo>
                    <a:lnTo>
                      <a:pt x="1360" y="91"/>
                    </a:lnTo>
                    <a:lnTo>
                      <a:pt x="1360" y="89"/>
                    </a:lnTo>
                    <a:lnTo>
                      <a:pt x="1370" y="89"/>
                    </a:lnTo>
                    <a:lnTo>
                      <a:pt x="1370" y="89"/>
                    </a:lnTo>
                    <a:lnTo>
                      <a:pt x="1380" y="89"/>
                    </a:lnTo>
                    <a:lnTo>
                      <a:pt x="1380" y="87"/>
                    </a:lnTo>
                    <a:lnTo>
                      <a:pt x="1402" y="87"/>
                    </a:lnTo>
                    <a:lnTo>
                      <a:pt x="1402" y="87"/>
                    </a:lnTo>
                    <a:lnTo>
                      <a:pt x="1414" y="87"/>
                    </a:lnTo>
                    <a:lnTo>
                      <a:pt x="1414" y="87"/>
                    </a:lnTo>
                    <a:lnTo>
                      <a:pt x="1436" y="87"/>
                    </a:lnTo>
                    <a:lnTo>
                      <a:pt x="1436" y="86"/>
                    </a:lnTo>
                    <a:lnTo>
                      <a:pt x="1446" y="86"/>
                    </a:lnTo>
                    <a:lnTo>
                      <a:pt x="1446" y="86"/>
                    </a:lnTo>
                    <a:lnTo>
                      <a:pt x="1469" y="86"/>
                    </a:lnTo>
                    <a:lnTo>
                      <a:pt x="1469" y="86"/>
                    </a:lnTo>
                    <a:lnTo>
                      <a:pt x="1491" y="86"/>
                    </a:lnTo>
                    <a:lnTo>
                      <a:pt x="1491" y="84"/>
                    </a:lnTo>
                    <a:lnTo>
                      <a:pt x="1503" y="84"/>
                    </a:lnTo>
                    <a:lnTo>
                      <a:pt x="1503" y="84"/>
                    </a:lnTo>
                    <a:lnTo>
                      <a:pt x="1513" y="84"/>
                    </a:lnTo>
                    <a:lnTo>
                      <a:pt x="1513" y="82"/>
                    </a:lnTo>
                    <a:lnTo>
                      <a:pt x="1525" y="82"/>
                    </a:lnTo>
                    <a:lnTo>
                      <a:pt x="1525" y="82"/>
                    </a:lnTo>
                    <a:lnTo>
                      <a:pt x="1535" y="82"/>
                    </a:lnTo>
                    <a:lnTo>
                      <a:pt x="1535" y="82"/>
                    </a:lnTo>
                    <a:lnTo>
                      <a:pt x="1548" y="82"/>
                    </a:lnTo>
                    <a:lnTo>
                      <a:pt x="1548" y="80"/>
                    </a:lnTo>
                    <a:lnTo>
                      <a:pt x="1558" y="80"/>
                    </a:lnTo>
                    <a:lnTo>
                      <a:pt x="1558" y="80"/>
                    </a:lnTo>
                    <a:lnTo>
                      <a:pt x="1567" y="80"/>
                    </a:lnTo>
                    <a:lnTo>
                      <a:pt x="1567" y="80"/>
                    </a:lnTo>
                    <a:lnTo>
                      <a:pt x="1590" y="80"/>
                    </a:lnTo>
                    <a:lnTo>
                      <a:pt x="1590" y="79"/>
                    </a:lnTo>
                    <a:lnTo>
                      <a:pt x="1602" y="79"/>
                    </a:lnTo>
                    <a:lnTo>
                      <a:pt x="1602" y="79"/>
                    </a:lnTo>
                    <a:lnTo>
                      <a:pt x="1612" y="79"/>
                    </a:lnTo>
                    <a:lnTo>
                      <a:pt x="1612" y="79"/>
                    </a:lnTo>
                    <a:lnTo>
                      <a:pt x="1624" y="79"/>
                    </a:lnTo>
                    <a:lnTo>
                      <a:pt x="1624" y="77"/>
                    </a:lnTo>
                    <a:lnTo>
                      <a:pt x="1647" y="77"/>
                    </a:lnTo>
                    <a:lnTo>
                      <a:pt x="1647" y="77"/>
                    </a:lnTo>
                    <a:lnTo>
                      <a:pt x="1669" y="77"/>
                    </a:lnTo>
                    <a:lnTo>
                      <a:pt x="1669" y="77"/>
                    </a:lnTo>
                    <a:lnTo>
                      <a:pt x="1679" y="77"/>
                    </a:lnTo>
                    <a:lnTo>
                      <a:pt x="1679" y="77"/>
                    </a:lnTo>
                    <a:lnTo>
                      <a:pt x="1701" y="77"/>
                    </a:lnTo>
                    <a:lnTo>
                      <a:pt x="1701" y="75"/>
                    </a:lnTo>
                    <a:lnTo>
                      <a:pt x="1713" y="75"/>
                    </a:lnTo>
                    <a:lnTo>
                      <a:pt x="1713" y="73"/>
                    </a:lnTo>
                    <a:lnTo>
                      <a:pt x="1778" y="73"/>
                    </a:lnTo>
                    <a:lnTo>
                      <a:pt x="1778" y="73"/>
                    </a:lnTo>
                    <a:lnTo>
                      <a:pt x="1800" y="73"/>
                    </a:lnTo>
                    <a:lnTo>
                      <a:pt x="1800" y="73"/>
                    </a:lnTo>
                    <a:lnTo>
                      <a:pt x="1812" y="73"/>
                    </a:lnTo>
                    <a:lnTo>
                      <a:pt x="1812" y="73"/>
                    </a:lnTo>
                    <a:lnTo>
                      <a:pt x="1822" y="73"/>
                    </a:lnTo>
                    <a:lnTo>
                      <a:pt x="1822" y="71"/>
                    </a:lnTo>
                    <a:lnTo>
                      <a:pt x="1844" y="71"/>
                    </a:lnTo>
                    <a:lnTo>
                      <a:pt x="1844" y="71"/>
                    </a:lnTo>
                    <a:lnTo>
                      <a:pt x="1857" y="71"/>
                    </a:lnTo>
                    <a:lnTo>
                      <a:pt x="1857" y="71"/>
                    </a:lnTo>
                    <a:lnTo>
                      <a:pt x="1879" y="71"/>
                    </a:lnTo>
                    <a:lnTo>
                      <a:pt x="1879" y="71"/>
                    </a:lnTo>
                    <a:lnTo>
                      <a:pt x="1901" y="71"/>
                    </a:lnTo>
                    <a:lnTo>
                      <a:pt x="1901" y="70"/>
                    </a:lnTo>
                    <a:lnTo>
                      <a:pt x="1923" y="70"/>
                    </a:lnTo>
                    <a:lnTo>
                      <a:pt x="1923" y="70"/>
                    </a:lnTo>
                    <a:lnTo>
                      <a:pt x="1943" y="70"/>
                    </a:lnTo>
                    <a:lnTo>
                      <a:pt x="1943" y="70"/>
                    </a:lnTo>
                    <a:lnTo>
                      <a:pt x="1965" y="70"/>
                    </a:lnTo>
                    <a:lnTo>
                      <a:pt x="1965" y="68"/>
                    </a:lnTo>
                    <a:lnTo>
                      <a:pt x="1978" y="68"/>
                    </a:lnTo>
                    <a:lnTo>
                      <a:pt x="1978" y="68"/>
                    </a:lnTo>
                    <a:lnTo>
                      <a:pt x="2000" y="68"/>
                    </a:lnTo>
                    <a:lnTo>
                      <a:pt x="2000" y="68"/>
                    </a:lnTo>
                    <a:lnTo>
                      <a:pt x="2032" y="68"/>
                    </a:lnTo>
                    <a:lnTo>
                      <a:pt x="2032" y="66"/>
                    </a:lnTo>
                    <a:lnTo>
                      <a:pt x="2054" y="66"/>
                    </a:lnTo>
                    <a:lnTo>
                      <a:pt x="2054" y="66"/>
                    </a:lnTo>
                    <a:lnTo>
                      <a:pt x="2067" y="66"/>
                    </a:lnTo>
                    <a:lnTo>
                      <a:pt x="2067" y="66"/>
                    </a:lnTo>
                    <a:lnTo>
                      <a:pt x="2089" y="66"/>
                    </a:lnTo>
                    <a:lnTo>
                      <a:pt x="2089" y="64"/>
                    </a:lnTo>
                    <a:lnTo>
                      <a:pt x="2099" y="64"/>
                    </a:lnTo>
                    <a:lnTo>
                      <a:pt x="2099" y="64"/>
                    </a:lnTo>
                    <a:lnTo>
                      <a:pt x="2109" y="64"/>
                    </a:lnTo>
                    <a:lnTo>
                      <a:pt x="2109" y="64"/>
                    </a:lnTo>
                    <a:lnTo>
                      <a:pt x="2131" y="64"/>
                    </a:lnTo>
                    <a:lnTo>
                      <a:pt x="2131" y="64"/>
                    </a:lnTo>
                    <a:lnTo>
                      <a:pt x="2143" y="64"/>
                    </a:lnTo>
                    <a:lnTo>
                      <a:pt x="2143" y="63"/>
                    </a:lnTo>
                    <a:lnTo>
                      <a:pt x="2176" y="63"/>
                    </a:lnTo>
                    <a:lnTo>
                      <a:pt x="2176" y="63"/>
                    </a:lnTo>
                    <a:lnTo>
                      <a:pt x="2188" y="63"/>
                    </a:lnTo>
                    <a:lnTo>
                      <a:pt x="2188" y="61"/>
                    </a:lnTo>
                    <a:lnTo>
                      <a:pt x="2210" y="61"/>
                    </a:lnTo>
                    <a:lnTo>
                      <a:pt x="2210" y="61"/>
                    </a:lnTo>
                    <a:lnTo>
                      <a:pt x="2220" y="61"/>
                    </a:lnTo>
                    <a:lnTo>
                      <a:pt x="2220" y="61"/>
                    </a:lnTo>
                    <a:lnTo>
                      <a:pt x="2232" y="61"/>
                    </a:lnTo>
                    <a:lnTo>
                      <a:pt x="2232" y="61"/>
                    </a:lnTo>
                    <a:lnTo>
                      <a:pt x="2242" y="61"/>
                    </a:lnTo>
                    <a:lnTo>
                      <a:pt x="2242" y="59"/>
                    </a:lnTo>
                    <a:lnTo>
                      <a:pt x="2255" y="59"/>
                    </a:lnTo>
                    <a:lnTo>
                      <a:pt x="2255" y="59"/>
                    </a:lnTo>
                    <a:lnTo>
                      <a:pt x="2265" y="59"/>
                    </a:lnTo>
                    <a:lnTo>
                      <a:pt x="2265" y="59"/>
                    </a:lnTo>
                    <a:lnTo>
                      <a:pt x="2287" y="59"/>
                    </a:lnTo>
                    <a:lnTo>
                      <a:pt x="2287" y="57"/>
                    </a:lnTo>
                    <a:lnTo>
                      <a:pt x="2297" y="57"/>
                    </a:lnTo>
                    <a:lnTo>
                      <a:pt x="2297" y="57"/>
                    </a:lnTo>
                    <a:lnTo>
                      <a:pt x="2309" y="57"/>
                    </a:lnTo>
                    <a:lnTo>
                      <a:pt x="2309" y="57"/>
                    </a:lnTo>
                    <a:lnTo>
                      <a:pt x="2331" y="57"/>
                    </a:lnTo>
                    <a:lnTo>
                      <a:pt x="2331" y="55"/>
                    </a:lnTo>
                    <a:lnTo>
                      <a:pt x="2341" y="55"/>
                    </a:lnTo>
                    <a:lnTo>
                      <a:pt x="2341" y="55"/>
                    </a:lnTo>
                    <a:lnTo>
                      <a:pt x="2354" y="55"/>
                    </a:lnTo>
                    <a:lnTo>
                      <a:pt x="2354" y="55"/>
                    </a:lnTo>
                    <a:lnTo>
                      <a:pt x="2376" y="55"/>
                    </a:lnTo>
                    <a:lnTo>
                      <a:pt x="2376" y="54"/>
                    </a:lnTo>
                    <a:lnTo>
                      <a:pt x="2386" y="54"/>
                    </a:lnTo>
                    <a:lnTo>
                      <a:pt x="2386" y="54"/>
                    </a:lnTo>
                    <a:lnTo>
                      <a:pt x="2430" y="54"/>
                    </a:lnTo>
                    <a:lnTo>
                      <a:pt x="2430" y="54"/>
                    </a:lnTo>
                    <a:lnTo>
                      <a:pt x="2443" y="54"/>
                    </a:lnTo>
                    <a:lnTo>
                      <a:pt x="2443" y="54"/>
                    </a:lnTo>
                    <a:lnTo>
                      <a:pt x="2465" y="54"/>
                    </a:lnTo>
                    <a:lnTo>
                      <a:pt x="2465" y="52"/>
                    </a:lnTo>
                    <a:lnTo>
                      <a:pt x="2475" y="52"/>
                    </a:lnTo>
                    <a:lnTo>
                      <a:pt x="2475" y="52"/>
                    </a:lnTo>
                    <a:lnTo>
                      <a:pt x="2485" y="52"/>
                    </a:lnTo>
                    <a:lnTo>
                      <a:pt x="2485" y="52"/>
                    </a:lnTo>
                    <a:lnTo>
                      <a:pt x="2497" y="52"/>
                    </a:lnTo>
                    <a:lnTo>
                      <a:pt x="2497" y="50"/>
                    </a:lnTo>
                    <a:lnTo>
                      <a:pt x="2519" y="50"/>
                    </a:lnTo>
                    <a:lnTo>
                      <a:pt x="2519" y="50"/>
                    </a:lnTo>
                    <a:lnTo>
                      <a:pt x="2564" y="50"/>
                    </a:lnTo>
                    <a:lnTo>
                      <a:pt x="2564" y="48"/>
                    </a:lnTo>
                    <a:lnTo>
                      <a:pt x="2586" y="48"/>
                    </a:lnTo>
                    <a:lnTo>
                      <a:pt x="2586" y="48"/>
                    </a:lnTo>
                    <a:lnTo>
                      <a:pt x="2596" y="48"/>
                    </a:lnTo>
                    <a:lnTo>
                      <a:pt x="2596" y="48"/>
                    </a:lnTo>
                    <a:lnTo>
                      <a:pt x="2608" y="48"/>
                    </a:lnTo>
                    <a:lnTo>
                      <a:pt x="2608" y="47"/>
                    </a:lnTo>
                    <a:lnTo>
                      <a:pt x="2630" y="47"/>
                    </a:lnTo>
                    <a:lnTo>
                      <a:pt x="2630" y="47"/>
                    </a:lnTo>
                    <a:lnTo>
                      <a:pt x="2653" y="47"/>
                    </a:lnTo>
                    <a:lnTo>
                      <a:pt x="2653" y="47"/>
                    </a:lnTo>
                    <a:lnTo>
                      <a:pt x="2672" y="47"/>
                    </a:lnTo>
                    <a:lnTo>
                      <a:pt x="2672" y="45"/>
                    </a:lnTo>
                    <a:lnTo>
                      <a:pt x="2685" y="45"/>
                    </a:lnTo>
                    <a:lnTo>
                      <a:pt x="2685" y="45"/>
                    </a:lnTo>
                    <a:lnTo>
                      <a:pt x="2695" y="45"/>
                    </a:lnTo>
                    <a:lnTo>
                      <a:pt x="2695" y="45"/>
                    </a:lnTo>
                    <a:lnTo>
                      <a:pt x="2707" y="45"/>
                    </a:lnTo>
                    <a:lnTo>
                      <a:pt x="2707" y="43"/>
                    </a:lnTo>
                    <a:lnTo>
                      <a:pt x="2739" y="43"/>
                    </a:lnTo>
                    <a:lnTo>
                      <a:pt x="2739" y="43"/>
                    </a:lnTo>
                    <a:lnTo>
                      <a:pt x="2751" y="43"/>
                    </a:lnTo>
                    <a:lnTo>
                      <a:pt x="2751" y="41"/>
                    </a:lnTo>
                    <a:lnTo>
                      <a:pt x="2774" y="41"/>
                    </a:lnTo>
                    <a:lnTo>
                      <a:pt x="2774" y="41"/>
                    </a:lnTo>
                    <a:lnTo>
                      <a:pt x="2796" y="41"/>
                    </a:lnTo>
                    <a:lnTo>
                      <a:pt x="2796" y="41"/>
                    </a:lnTo>
                    <a:lnTo>
                      <a:pt x="2806" y="41"/>
                    </a:lnTo>
                    <a:lnTo>
                      <a:pt x="2806" y="40"/>
                    </a:lnTo>
                    <a:lnTo>
                      <a:pt x="2818" y="40"/>
                    </a:lnTo>
                    <a:lnTo>
                      <a:pt x="2818" y="40"/>
                    </a:lnTo>
                    <a:lnTo>
                      <a:pt x="2828" y="40"/>
                    </a:lnTo>
                    <a:lnTo>
                      <a:pt x="2828" y="40"/>
                    </a:lnTo>
                    <a:lnTo>
                      <a:pt x="2838" y="40"/>
                    </a:lnTo>
                    <a:lnTo>
                      <a:pt x="2838" y="38"/>
                    </a:lnTo>
                    <a:lnTo>
                      <a:pt x="2850" y="38"/>
                    </a:lnTo>
                    <a:lnTo>
                      <a:pt x="2850" y="38"/>
                    </a:lnTo>
                    <a:lnTo>
                      <a:pt x="2860" y="38"/>
                    </a:lnTo>
                    <a:lnTo>
                      <a:pt x="2860" y="38"/>
                    </a:lnTo>
                    <a:lnTo>
                      <a:pt x="2873" y="38"/>
                    </a:lnTo>
                    <a:lnTo>
                      <a:pt x="2873" y="38"/>
                    </a:lnTo>
                    <a:lnTo>
                      <a:pt x="2883" y="38"/>
                    </a:lnTo>
                    <a:lnTo>
                      <a:pt x="2883" y="36"/>
                    </a:lnTo>
                    <a:lnTo>
                      <a:pt x="2895" y="36"/>
                    </a:lnTo>
                    <a:lnTo>
                      <a:pt x="2895" y="36"/>
                    </a:lnTo>
                    <a:lnTo>
                      <a:pt x="2905" y="36"/>
                    </a:lnTo>
                    <a:lnTo>
                      <a:pt x="2905" y="36"/>
                    </a:lnTo>
                    <a:lnTo>
                      <a:pt x="2917" y="36"/>
                    </a:lnTo>
                    <a:lnTo>
                      <a:pt x="2917" y="36"/>
                    </a:lnTo>
                    <a:lnTo>
                      <a:pt x="2927" y="36"/>
                    </a:lnTo>
                    <a:lnTo>
                      <a:pt x="2927" y="36"/>
                    </a:lnTo>
                    <a:lnTo>
                      <a:pt x="2939" y="36"/>
                    </a:lnTo>
                    <a:lnTo>
                      <a:pt x="2939" y="34"/>
                    </a:lnTo>
                    <a:lnTo>
                      <a:pt x="2949" y="34"/>
                    </a:lnTo>
                    <a:lnTo>
                      <a:pt x="2949" y="32"/>
                    </a:lnTo>
                    <a:lnTo>
                      <a:pt x="2962" y="32"/>
                    </a:lnTo>
                    <a:lnTo>
                      <a:pt x="2962" y="32"/>
                    </a:lnTo>
                    <a:lnTo>
                      <a:pt x="2971" y="32"/>
                    </a:lnTo>
                    <a:lnTo>
                      <a:pt x="2971" y="32"/>
                    </a:lnTo>
                    <a:lnTo>
                      <a:pt x="2984" y="32"/>
                    </a:lnTo>
                    <a:lnTo>
                      <a:pt x="2984" y="31"/>
                    </a:lnTo>
                    <a:lnTo>
                      <a:pt x="3016" y="31"/>
                    </a:lnTo>
                    <a:lnTo>
                      <a:pt x="3016" y="31"/>
                    </a:lnTo>
                    <a:lnTo>
                      <a:pt x="3048" y="31"/>
                    </a:lnTo>
                    <a:lnTo>
                      <a:pt x="3048" y="31"/>
                    </a:lnTo>
                    <a:lnTo>
                      <a:pt x="3060" y="31"/>
                    </a:lnTo>
                    <a:lnTo>
                      <a:pt x="3060" y="29"/>
                    </a:lnTo>
                    <a:lnTo>
                      <a:pt x="3070" y="29"/>
                    </a:lnTo>
                    <a:lnTo>
                      <a:pt x="3070" y="29"/>
                    </a:lnTo>
                    <a:lnTo>
                      <a:pt x="3083" y="29"/>
                    </a:lnTo>
                    <a:lnTo>
                      <a:pt x="3083" y="29"/>
                    </a:lnTo>
                    <a:lnTo>
                      <a:pt x="3093" y="29"/>
                    </a:lnTo>
                    <a:lnTo>
                      <a:pt x="3093" y="27"/>
                    </a:lnTo>
                    <a:lnTo>
                      <a:pt x="3137" y="27"/>
                    </a:lnTo>
                    <a:lnTo>
                      <a:pt x="3137" y="27"/>
                    </a:lnTo>
                    <a:lnTo>
                      <a:pt x="3159" y="27"/>
                    </a:lnTo>
                    <a:lnTo>
                      <a:pt x="3159" y="25"/>
                    </a:lnTo>
                    <a:lnTo>
                      <a:pt x="3172" y="25"/>
                    </a:lnTo>
                    <a:lnTo>
                      <a:pt x="3172" y="25"/>
                    </a:lnTo>
                    <a:lnTo>
                      <a:pt x="3182" y="25"/>
                    </a:lnTo>
                    <a:lnTo>
                      <a:pt x="3182" y="24"/>
                    </a:lnTo>
                    <a:lnTo>
                      <a:pt x="3248" y="24"/>
                    </a:lnTo>
                    <a:lnTo>
                      <a:pt x="3248" y="24"/>
                    </a:lnTo>
                    <a:lnTo>
                      <a:pt x="3258" y="24"/>
                    </a:lnTo>
                    <a:lnTo>
                      <a:pt x="3258" y="22"/>
                    </a:lnTo>
                    <a:lnTo>
                      <a:pt x="3271" y="22"/>
                    </a:lnTo>
                    <a:lnTo>
                      <a:pt x="3271" y="22"/>
                    </a:lnTo>
                    <a:lnTo>
                      <a:pt x="3280" y="22"/>
                    </a:lnTo>
                    <a:lnTo>
                      <a:pt x="3280" y="22"/>
                    </a:lnTo>
                    <a:lnTo>
                      <a:pt x="3303" y="22"/>
                    </a:lnTo>
                    <a:lnTo>
                      <a:pt x="3303" y="20"/>
                    </a:lnTo>
                    <a:lnTo>
                      <a:pt x="3337" y="20"/>
                    </a:lnTo>
                    <a:lnTo>
                      <a:pt x="3337" y="20"/>
                    </a:lnTo>
                    <a:lnTo>
                      <a:pt x="3347" y="20"/>
                    </a:lnTo>
                    <a:lnTo>
                      <a:pt x="3347" y="20"/>
                    </a:lnTo>
                    <a:lnTo>
                      <a:pt x="3369" y="20"/>
                    </a:lnTo>
                    <a:lnTo>
                      <a:pt x="3369" y="18"/>
                    </a:lnTo>
                    <a:lnTo>
                      <a:pt x="3379" y="18"/>
                    </a:lnTo>
                    <a:lnTo>
                      <a:pt x="3379" y="18"/>
                    </a:lnTo>
                    <a:lnTo>
                      <a:pt x="3392" y="18"/>
                    </a:lnTo>
                    <a:lnTo>
                      <a:pt x="3392" y="18"/>
                    </a:lnTo>
                    <a:lnTo>
                      <a:pt x="3424" y="18"/>
                    </a:lnTo>
                    <a:lnTo>
                      <a:pt x="3424" y="16"/>
                    </a:lnTo>
                    <a:lnTo>
                      <a:pt x="3436" y="16"/>
                    </a:lnTo>
                    <a:lnTo>
                      <a:pt x="3436" y="16"/>
                    </a:lnTo>
                    <a:lnTo>
                      <a:pt x="3458" y="16"/>
                    </a:lnTo>
                    <a:lnTo>
                      <a:pt x="3458" y="16"/>
                    </a:lnTo>
                    <a:lnTo>
                      <a:pt x="3468" y="16"/>
                    </a:lnTo>
                    <a:lnTo>
                      <a:pt x="3468" y="15"/>
                    </a:lnTo>
                    <a:lnTo>
                      <a:pt x="3481" y="15"/>
                    </a:lnTo>
                    <a:lnTo>
                      <a:pt x="3481" y="15"/>
                    </a:lnTo>
                    <a:lnTo>
                      <a:pt x="3491" y="15"/>
                    </a:lnTo>
                    <a:lnTo>
                      <a:pt x="3491" y="15"/>
                    </a:lnTo>
                    <a:lnTo>
                      <a:pt x="3513" y="15"/>
                    </a:lnTo>
                    <a:lnTo>
                      <a:pt x="3513" y="15"/>
                    </a:lnTo>
                    <a:lnTo>
                      <a:pt x="3525" y="15"/>
                    </a:lnTo>
                    <a:lnTo>
                      <a:pt x="3525" y="13"/>
                    </a:lnTo>
                    <a:lnTo>
                      <a:pt x="3547" y="13"/>
                    </a:lnTo>
                    <a:lnTo>
                      <a:pt x="3547" y="11"/>
                    </a:lnTo>
                    <a:lnTo>
                      <a:pt x="3557" y="11"/>
                    </a:lnTo>
                    <a:lnTo>
                      <a:pt x="3557" y="11"/>
                    </a:lnTo>
                    <a:lnTo>
                      <a:pt x="3567" y="11"/>
                    </a:lnTo>
                    <a:lnTo>
                      <a:pt x="3567" y="11"/>
                    </a:lnTo>
                    <a:lnTo>
                      <a:pt x="3624" y="11"/>
                    </a:lnTo>
                    <a:lnTo>
                      <a:pt x="3624" y="9"/>
                    </a:lnTo>
                    <a:lnTo>
                      <a:pt x="3656" y="9"/>
                    </a:lnTo>
                    <a:lnTo>
                      <a:pt x="3656" y="9"/>
                    </a:lnTo>
                    <a:lnTo>
                      <a:pt x="3691" y="9"/>
                    </a:lnTo>
                    <a:lnTo>
                      <a:pt x="3691" y="9"/>
                    </a:lnTo>
                    <a:lnTo>
                      <a:pt x="3723" y="9"/>
                    </a:lnTo>
                    <a:lnTo>
                      <a:pt x="3723" y="8"/>
                    </a:lnTo>
                    <a:lnTo>
                      <a:pt x="3745" y="8"/>
                    </a:lnTo>
                    <a:lnTo>
                      <a:pt x="3745" y="8"/>
                    </a:lnTo>
                    <a:lnTo>
                      <a:pt x="3767" y="8"/>
                    </a:lnTo>
                    <a:lnTo>
                      <a:pt x="3767" y="8"/>
                    </a:lnTo>
                    <a:lnTo>
                      <a:pt x="3800" y="8"/>
                    </a:lnTo>
                    <a:lnTo>
                      <a:pt x="3800" y="6"/>
                    </a:lnTo>
                    <a:lnTo>
                      <a:pt x="3812" y="6"/>
                    </a:lnTo>
                    <a:lnTo>
                      <a:pt x="3812" y="6"/>
                    </a:lnTo>
                    <a:lnTo>
                      <a:pt x="3856" y="6"/>
                    </a:lnTo>
                    <a:lnTo>
                      <a:pt x="3856" y="6"/>
                    </a:lnTo>
                    <a:lnTo>
                      <a:pt x="3879" y="6"/>
                    </a:lnTo>
                    <a:lnTo>
                      <a:pt x="3879" y="6"/>
                    </a:lnTo>
                    <a:lnTo>
                      <a:pt x="3901" y="6"/>
                    </a:lnTo>
                    <a:lnTo>
                      <a:pt x="3901" y="4"/>
                    </a:lnTo>
                    <a:lnTo>
                      <a:pt x="3911" y="4"/>
                    </a:lnTo>
                    <a:lnTo>
                      <a:pt x="3911" y="2"/>
                    </a:lnTo>
                    <a:lnTo>
                      <a:pt x="3933" y="2"/>
                    </a:lnTo>
                    <a:lnTo>
                      <a:pt x="3933" y="2"/>
                    </a:lnTo>
                    <a:lnTo>
                      <a:pt x="3978" y="2"/>
                    </a:lnTo>
                    <a:lnTo>
                      <a:pt x="3978" y="2"/>
                    </a:lnTo>
                    <a:lnTo>
                      <a:pt x="3987" y="2"/>
                    </a:lnTo>
                    <a:lnTo>
                      <a:pt x="3987" y="0"/>
                    </a:lnTo>
                    <a:lnTo>
                      <a:pt x="4000" y="0"/>
                    </a:lnTo>
                    <a:lnTo>
                      <a:pt x="4000" y="0"/>
                    </a:lnTo>
                    <a:lnTo>
                      <a:pt x="4010" y="0"/>
                    </a:lnTo>
                    <a:lnTo>
                      <a:pt x="4010" y="0"/>
                    </a:lnTo>
                  </a:path>
                </a:pathLst>
              </a:custGeom>
              <a:noFill/>
              <a:ln w="28575" cap="flat">
                <a:solidFill>
                  <a:srgbClr val="F36633"/>
                </a:solidFill>
                <a:prstDash val="sysDot"/>
                <a:miter lim="800000"/>
                <a:headEnd/>
                <a:tailEnd/>
              </a:ln>
              <a:extLst>
                <a:ext uri="{909E8E84-426E-40DD-AFC4-6F175D3DCCD1}">
                  <a14:hiddenFill xmlns:a14="http://schemas.microsoft.com/office/drawing/2010/main">
                    <a:solidFill>
                      <a:srgbClr val="FFFFFF"/>
                    </a:solidFill>
                  </a14:hiddenFill>
                </a:ext>
              </a:extLst>
            </p:spPr>
            <p:txBody>
              <a:bodyPr vert="horz" wrap="square" lIns="64304" tIns="32152" rIns="64304" bIns="32152" numCol="1" anchor="t" anchorCtr="0" compatLnSpc="1">
                <a:prstTxWarp prst="textNoShape">
                  <a:avLst/>
                </a:prstTxWarp>
              </a:bodyPr>
              <a:lstStyle/>
              <a:p>
                <a:pPr marL="0" marR="0" lvl="0" indent="0" algn="l" defTabSz="321503"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153" name="Freeform 10">
                <a:extLst>
                  <a:ext uri="{FF2B5EF4-FFF2-40B4-BE49-F238E27FC236}">
                    <a16:creationId xmlns:a16="http://schemas.microsoft.com/office/drawing/2014/main" id="{253F1AC8-B7C0-40DA-A6F9-9A9F580BD0E2}"/>
                  </a:ext>
                </a:extLst>
              </p:cNvPr>
              <p:cNvSpPr>
                <a:spLocks/>
              </p:cNvSpPr>
              <p:nvPr/>
            </p:nvSpPr>
            <p:spPr bwMode="auto">
              <a:xfrm>
                <a:off x="2116138" y="1558925"/>
                <a:ext cx="6419850" cy="2513013"/>
              </a:xfrm>
              <a:custGeom>
                <a:avLst/>
                <a:gdLst>
                  <a:gd name="T0" fmla="*/ 67 w 4044"/>
                  <a:gd name="T1" fmla="*/ 1540 h 1583"/>
                  <a:gd name="T2" fmla="*/ 131 w 4044"/>
                  <a:gd name="T3" fmla="*/ 1469 h 1583"/>
                  <a:gd name="T4" fmla="*/ 198 w 4044"/>
                  <a:gd name="T5" fmla="*/ 1414 h 1583"/>
                  <a:gd name="T6" fmla="*/ 265 w 4044"/>
                  <a:gd name="T7" fmla="*/ 1373 h 1583"/>
                  <a:gd name="T8" fmla="*/ 331 w 4044"/>
                  <a:gd name="T9" fmla="*/ 1314 h 1583"/>
                  <a:gd name="T10" fmla="*/ 398 w 4044"/>
                  <a:gd name="T11" fmla="*/ 1272 h 1583"/>
                  <a:gd name="T12" fmla="*/ 465 w 4044"/>
                  <a:gd name="T13" fmla="*/ 1240 h 1583"/>
                  <a:gd name="T14" fmla="*/ 529 w 4044"/>
                  <a:gd name="T15" fmla="*/ 1201 h 1583"/>
                  <a:gd name="T16" fmla="*/ 596 w 4044"/>
                  <a:gd name="T17" fmla="*/ 1167 h 1583"/>
                  <a:gd name="T18" fmla="*/ 663 w 4044"/>
                  <a:gd name="T19" fmla="*/ 1135 h 1583"/>
                  <a:gd name="T20" fmla="*/ 729 w 4044"/>
                  <a:gd name="T21" fmla="*/ 1106 h 1583"/>
                  <a:gd name="T22" fmla="*/ 796 w 4044"/>
                  <a:gd name="T23" fmla="*/ 1083 h 1583"/>
                  <a:gd name="T24" fmla="*/ 860 w 4044"/>
                  <a:gd name="T25" fmla="*/ 1053 h 1583"/>
                  <a:gd name="T26" fmla="*/ 927 w 4044"/>
                  <a:gd name="T27" fmla="*/ 1010 h 1583"/>
                  <a:gd name="T28" fmla="*/ 994 w 4044"/>
                  <a:gd name="T29" fmla="*/ 989 h 1583"/>
                  <a:gd name="T30" fmla="*/ 1061 w 4044"/>
                  <a:gd name="T31" fmla="*/ 961 h 1583"/>
                  <a:gd name="T32" fmla="*/ 1127 w 4044"/>
                  <a:gd name="T33" fmla="*/ 931 h 1583"/>
                  <a:gd name="T34" fmla="*/ 1194 w 4044"/>
                  <a:gd name="T35" fmla="*/ 900 h 1583"/>
                  <a:gd name="T36" fmla="*/ 1258 w 4044"/>
                  <a:gd name="T37" fmla="*/ 852 h 1583"/>
                  <a:gd name="T38" fmla="*/ 1325 w 4044"/>
                  <a:gd name="T39" fmla="*/ 826 h 1583"/>
                  <a:gd name="T40" fmla="*/ 1392 w 4044"/>
                  <a:gd name="T41" fmla="*/ 799 h 1583"/>
                  <a:gd name="T42" fmla="*/ 1458 w 4044"/>
                  <a:gd name="T43" fmla="*/ 776 h 1583"/>
                  <a:gd name="T44" fmla="*/ 1525 w 4044"/>
                  <a:gd name="T45" fmla="*/ 758 h 1583"/>
                  <a:gd name="T46" fmla="*/ 1589 w 4044"/>
                  <a:gd name="T47" fmla="*/ 735 h 1583"/>
                  <a:gd name="T48" fmla="*/ 1656 w 4044"/>
                  <a:gd name="T49" fmla="*/ 717 h 1583"/>
                  <a:gd name="T50" fmla="*/ 1723 w 4044"/>
                  <a:gd name="T51" fmla="*/ 680 h 1583"/>
                  <a:gd name="T52" fmla="*/ 1790 w 4044"/>
                  <a:gd name="T53" fmla="*/ 655 h 1583"/>
                  <a:gd name="T54" fmla="*/ 1856 w 4044"/>
                  <a:gd name="T55" fmla="*/ 628 h 1583"/>
                  <a:gd name="T56" fmla="*/ 1923 w 4044"/>
                  <a:gd name="T57" fmla="*/ 607 h 1583"/>
                  <a:gd name="T58" fmla="*/ 1987 w 4044"/>
                  <a:gd name="T59" fmla="*/ 582 h 1583"/>
                  <a:gd name="T60" fmla="*/ 2054 w 4044"/>
                  <a:gd name="T61" fmla="*/ 557 h 1583"/>
                  <a:gd name="T62" fmla="*/ 2121 w 4044"/>
                  <a:gd name="T63" fmla="*/ 541 h 1583"/>
                  <a:gd name="T64" fmla="*/ 2188 w 4044"/>
                  <a:gd name="T65" fmla="*/ 513 h 1583"/>
                  <a:gd name="T66" fmla="*/ 2254 w 4044"/>
                  <a:gd name="T67" fmla="*/ 495 h 1583"/>
                  <a:gd name="T68" fmla="*/ 2319 w 4044"/>
                  <a:gd name="T69" fmla="*/ 467 h 1583"/>
                  <a:gd name="T70" fmla="*/ 2385 w 4044"/>
                  <a:gd name="T71" fmla="*/ 451 h 1583"/>
                  <a:gd name="T72" fmla="*/ 2452 w 4044"/>
                  <a:gd name="T73" fmla="*/ 429 h 1583"/>
                  <a:gd name="T74" fmla="*/ 2519 w 4044"/>
                  <a:gd name="T75" fmla="*/ 412 h 1583"/>
                  <a:gd name="T76" fmla="*/ 2586 w 4044"/>
                  <a:gd name="T77" fmla="*/ 389 h 1583"/>
                  <a:gd name="T78" fmla="*/ 2652 w 4044"/>
                  <a:gd name="T79" fmla="*/ 373 h 1583"/>
                  <a:gd name="T80" fmla="*/ 2717 w 4044"/>
                  <a:gd name="T81" fmla="*/ 346 h 1583"/>
                  <a:gd name="T82" fmla="*/ 2783 w 4044"/>
                  <a:gd name="T83" fmla="*/ 330 h 1583"/>
                  <a:gd name="T84" fmla="*/ 2850 w 4044"/>
                  <a:gd name="T85" fmla="*/ 312 h 1583"/>
                  <a:gd name="T86" fmla="*/ 2917 w 4044"/>
                  <a:gd name="T87" fmla="*/ 291 h 1583"/>
                  <a:gd name="T88" fmla="*/ 2984 w 4044"/>
                  <a:gd name="T89" fmla="*/ 270 h 1583"/>
                  <a:gd name="T90" fmla="*/ 3048 w 4044"/>
                  <a:gd name="T91" fmla="*/ 245 h 1583"/>
                  <a:gd name="T92" fmla="*/ 3115 w 4044"/>
                  <a:gd name="T93" fmla="*/ 214 h 1583"/>
                  <a:gd name="T94" fmla="*/ 3181 w 4044"/>
                  <a:gd name="T95" fmla="*/ 202 h 1583"/>
                  <a:gd name="T96" fmla="*/ 3258 w 4044"/>
                  <a:gd name="T97" fmla="*/ 188 h 1583"/>
                  <a:gd name="T98" fmla="*/ 3325 w 4044"/>
                  <a:gd name="T99" fmla="*/ 174 h 1583"/>
                  <a:gd name="T100" fmla="*/ 3391 w 4044"/>
                  <a:gd name="T101" fmla="*/ 154 h 1583"/>
                  <a:gd name="T102" fmla="*/ 3468 w 4044"/>
                  <a:gd name="T103" fmla="*/ 140 h 1583"/>
                  <a:gd name="T104" fmla="*/ 3535 w 4044"/>
                  <a:gd name="T105" fmla="*/ 120 h 1583"/>
                  <a:gd name="T106" fmla="*/ 3602 w 4044"/>
                  <a:gd name="T107" fmla="*/ 97 h 1583"/>
                  <a:gd name="T108" fmla="*/ 3668 w 4044"/>
                  <a:gd name="T109" fmla="*/ 76 h 1583"/>
                  <a:gd name="T110" fmla="*/ 3735 w 4044"/>
                  <a:gd name="T111" fmla="*/ 62 h 1583"/>
                  <a:gd name="T112" fmla="*/ 3799 w 4044"/>
                  <a:gd name="T113" fmla="*/ 51 h 1583"/>
                  <a:gd name="T114" fmla="*/ 3866 w 4044"/>
                  <a:gd name="T115" fmla="*/ 37 h 1583"/>
                  <a:gd name="T116" fmla="*/ 3955 w 4044"/>
                  <a:gd name="T117" fmla="*/ 21 h 1583"/>
                  <a:gd name="T118" fmla="*/ 4032 w 4044"/>
                  <a:gd name="T119" fmla="*/ 3 h 1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44" h="1583">
                    <a:moveTo>
                      <a:pt x="0" y="1583"/>
                    </a:moveTo>
                    <a:lnTo>
                      <a:pt x="10" y="1583"/>
                    </a:lnTo>
                    <a:lnTo>
                      <a:pt x="10" y="1577"/>
                    </a:lnTo>
                    <a:lnTo>
                      <a:pt x="22" y="1577"/>
                    </a:lnTo>
                    <a:lnTo>
                      <a:pt x="22" y="1568"/>
                    </a:lnTo>
                    <a:lnTo>
                      <a:pt x="32" y="1568"/>
                    </a:lnTo>
                    <a:lnTo>
                      <a:pt x="32" y="1558"/>
                    </a:lnTo>
                    <a:lnTo>
                      <a:pt x="45" y="1558"/>
                    </a:lnTo>
                    <a:lnTo>
                      <a:pt x="45" y="1551"/>
                    </a:lnTo>
                    <a:lnTo>
                      <a:pt x="54" y="1551"/>
                    </a:lnTo>
                    <a:lnTo>
                      <a:pt x="54" y="1540"/>
                    </a:lnTo>
                    <a:lnTo>
                      <a:pt x="67" y="1540"/>
                    </a:lnTo>
                    <a:lnTo>
                      <a:pt x="67" y="1527"/>
                    </a:lnTo>
                    <a:lnTo>
                      <a:pt x="77" y="1527"/>
                    </a:lnTo>
                    <a:lnTo>
                      <a:pt x="77" y="1522"/>
                    </a:lnTo>
                    <a:lnTo>
                      <a:pt x="89" y="1522"/>
                    </a:lnTo>
                    <a:lnTo>
                      <a:pt x="89" y="1511"/>
                    </a:lnTo>
                    <a:lnTo>
                      <a:pt x="99" y="1511"/>
                    </a:lnTo>
                    <a:lnTo>
                      <a:pt x="99" y="1495"/>
                    </a:lnTo>
                    <a:lnTo>
                      <a:pt x="111" y="1495"/>
                    </a:lnTo>
                    <a:lnTo>
                      <a:pt x="111" y="1480"/>
                    </a:lnTo>
                    <a:lnTo>
                      <a:pt x="121" y="1480"/>
                    </a:lnTo>
                    <a:lnTo>
                      <a:pt x="121" y="1469"/>
                    </a:lnTo>
                    <a:lnTo>
                      <a:pt x="131" y="1469"/>
                    </a:lnTo>
                    <a:lnTo>
                      <a:pt x="131" y="1460"/>
                    </a:lnTo>
                    <a:lnTo>
                      <a:pt x="143" y="1460"/>
                    </a:lnTo>
                    <a:lnTo>
                      <a:pt x="143" y="1449"/>
                    </a:lnTo>
                    <a:lnTo>
                      <a:pt x="153" y="1449"/>
                    </a:lnTo>
                    <a:lnTo>
                      <a:pt x="153" y="1446"/>
                    </a:lnTo>
                    <a:lnTo>
                      <a:pt x="166" y="1446"/>
                    </a:lnTo>
                    <a:lnTo>
                      <a:pt x="166" y="1435"/>
                    </a:lnTo>
                    <a:lnTo>
                      <a:pt x="176" y="1435"/>
                    </a:lnTo>
                    <a:lnTo>
                      <a:pt x="176" y="1423"/>
                    </a:lnTo>
                    <a:lnTo>
                      <a:pt x="188" y="1423"/>
                    </a:lnTo>
                    <a:lnTo>
                      <a:pt x="188" y="1414"/>
                    </a:lnTo>
                    <a:lnTo>
                      <a:pt x="198" y="1414"/>
                    </a:lnTo>
                    <a:lnTo>
                      <a:pt x="198" y="1407"/>
                    </a:lnTo>
                    <a:lnTo>
                      <a:pt x="210" y="1407"/>
                    </a:lnTo>
                    <a:lnTo>
                      <a:pt x="210" y="1400"/>
                    </a:lnTo>
                    <a:lnTo>
                      <a:pt x="220" y="1400"/>
                    </a:lnTo>
                    <a:lnTo>
                      <a:pt x="220" y="1392"/>
                    </a:lnTo>
                    <a:lnTo>
                      <a:pt x="232" y="1392"/>
                    </a:lnTo>
                    <a:lnTo>
                      <a:pt x="232" y="1385"/>
                    </a:lnTo>
                    <a:lnTo>
                      <a:pt x="242" y="1385"/>
                    </a:lnTo>
                    <a:lnTo>
                      <a:pt x="242" y="1380"/>
                    </a:lnTo>
                    <a:lnTo>
                      <a:pt x="255" y="1380"/>
                    </a:lnTo>
                    <a:lnTo>
                      <a:pt x="255" y="1373"/>
                    </a:lnTo>
                    <a:lnTo>
                      <a:pt x="265" y="1373"/>
                    </a:lnTo>
                    <a:lnTo>
                      <a:pt x="265" y="1364"/>
                    </a:lnTo>
                    <a:lnTo>
                      <a:pt x="277" y="1364"/>
                    </a:lnTo>
                    <a:lnTo>
                      <a:pt x="277" y="1355"/>
                    </a:lnTo>
                    <a:lnTo>
                      <a:pt x="287" y="1355"/>
                    </a:lnTo>
                    <a:lnTo>
                      <a:pt x="287" y="1344"/>
                    </a:lnTo>
                    <a:lnTo>
                      <a:pt x="299" y="1344"/>
                    </a:lnTo>
                    <a:lnTo>
                      <a:pt x="299" y="1336"/>
                    </a:lnTo>
                    <a:lnTo>
                      <a:pt x="309" y="1336"/>
                    </a:lnTo>
                    <a:lnTo>
                      <a:pt x="309" y="1323"/>
                    </a:lnTo>
                    <a:lnTo>
                      <a:pt x="319" y="1323"/>
                    </a:lnTo>
                    <a:lnTo>
                      <a:pt x="319" y="1314"/>
                    </a:lnTo>
                    <a:lnTo>
                      <a:pt x="331" y="1314"/>
                    </a:lnTo>
                    <a:lnTo>
                      <a:pt x="331" y="1312"/>
                    </a:lnTo>
                    <a:lnTo>
                      <a:pt x="341" y="1312"/>
                    </a:lnTo>
                    <a:lnTo>
                      <a:pt x="341" y="1302"/>
                    </a:lnTo>
                    <a:lnTo>
                      <a:pt x="354" y="1302"/>
                    </a:lnTo>
                    <a:lnTo>
                      <a:pt x="354" y="1297"/>
                    </a:lnTo>
                    <a:lnTo>
                      <a:pt x="363" y="1297"/>
                    </a:lnTo>
                    <a:lnTo>
                      <a:pt x="363" y="1286"/>
                    </a:lnTo>
                    <a:lnTo>
                      <a:pt x="376" y="1286"/>
                    </a:lnTo>
                    <a:lnTo>
                      <a:pt x="376" y="1277"/>
                    </a:lnTo>
                    <a:lnTo>
                      <a:pt x="386" y="1277"/>
                    </a:lnTo>
                    <a:lnTo>
                      <a:pt x="386" y="1272"/>
                    </a:lnTo>
                    <a:lnTo>
                      <a:pt x="398" y="1272"/>
                    </a:lnTo>
                    <a:lnTo>
                      <a:pt x="398" y="1268"/>
                    </a:lnTo>
                    <a:lnTo>
                      <a:pt x="408" y="1268"/>
                    </a:lnTo>
                    <a:lnTo>
                      <a:pt x="408" y="1261"/>
                    </a:lnTo>
                    <a:lnTo>
                      <a:pt x="420" y="1261"/>
                    </a:lnTo>
                    <a:lnTo>
                      <a:pt x="420" y="1256"/>
                    </a:lnTo>
                    <a:lnTo>
                      <a:pt x="430" y="1256"/>
                    </a:lnTo>
                    <a:lnTo>
                      <a:pt x="430" y="1250"/>
                    </a:lnTo>
                    <a:lnTo>
                      <a:pt x="443" y="1250"/>
                    </a:lnTo>
                    <a:lnTo>
                      <a:pt x="443" y="1245"/>
                    </a:lnTo>
                    <a:lnTo>
                      <a:pt x="452" y="1245"/>
                    </a:lnTo>
                    <a:lnTo>
                      <a:pt x="452" y="1240"/>
                    </a:lnTo>
                    <a:lnTo>
                      <a:pt x="465" y="1240"/>
                    </a:lnTo>
                    <a:lnTo>
                      <a:pt x="465" y="1229"/>
                    </a:lnTo>
                    <a:lnTo>
                      <a:pt x="475" y="1229"/>
                    </a:lnTo>
                    <a:lnTo>
                      <a:pt x="475" y="1222"/>
                    </a:lnTo>
                    <a:lnTo>
                      <a:pt x="487" y="1222"/>
                    </a:lnTo>
                    <a:lnTo>
                      <a:pt x="487" y="1217"/>
                    </a:lnTo>
                    <a:lnTo>
                      <a:pt x="497" y="1217"/>
                    </a:lnTo>
                    <a:lnTo>
                      <a:pt x="497" y="1215"/>
                    </a:lnTo>
                    <a:lnTo>
                      <a:pt x="507" y="1215"/>
                    </a:lnTo>
                    <a:lnTo>
                      <a:pt x="507" y="1209"/>
                    </a:lnTo>
                    <a:lnTo>
                      <a:pt x="519" y="1209"/>
                    </a:lnTo>
                    <a:lnTo>
                      <a:pt x="519" y="1201"/>
                    </a:lnTo>
                    <a:lnTo>
                      <a:pt x="529" y="1201"/>
                    </a:lnTo>
                    <a:lnTo>
                      <a:pt x="529" y="1197"/>
                    </a:lnTo>
                    <a:lnTo>
                      <a:pt x="541" y="1197"/>
                    </a:lnTo>
                    <a:lnTo>
                      <a:pt x="541" y="1185"/>
                    </a:lnTo>
                    <a:lnTo>
                      <a:pt x="551" y="1185"/>
                    </a:lnTo>
                    <a:lnTo>
                      <a:pt x="551" y="1181"/>
                    </a:lnTo>
                    <a:lnTo>
                      <a:pt x="564" y="1181"/>
                    </a:lnTo>
                    <a:lnTo>
                      <a:pt x="564" y="1174"/>
                    </a:lnTo>
                    <a:lnTo>
                      <a:pt x="574" y="1174"/>
                    </a:lnTo>
                    <a:lnTo>
                      <a:pt x="574" y="1169"/>
                    </a:lnTo>
                    <a:lnTo>
                      <a:pt x="586" y="1169"/>
                    </a:lnTo>
                    <a:lnTo>
                      <a:pt x="586" y="1167"/>
                    </a:lnTo>
                    <a:lnTo>
                      <a:pt x="596" y="1167"/>
                    </a:lnTo>
                    <a:lnTo>
                      <a:pt x="596" y="1156"/>
                    </a:lnTo>
                    <a:lnTo>
                      <a:pt x="608" y="1156"/>
                    </a:lnTo>
                    <a:lnTo>
                      <a:pt x="608" y="1151"/>
                    </a:lnTo>
                    <a:lnTo>
                      <a:pt x="618" y="1151"/>
                    </a:lnTo>
                    <a:lnTo>
                      <a:pt x="618" y="1149"/>
                    </a:lnTo>
                    <a:lnTo>
                      <a:pt x="630" y="1149"/>
                    </a:lnTo>
                    <a:lnTo>
                      <a:pt x="630" y="1147"/>
                    </a:lnTo>
                    <a:lnTo>
                      <a:pt x="640" y="1147"/>
                    </a:lnTo>
                    <a:lnTo>
                      <a:pt x="640" y="1142"/>
                    </a:lnTo>
                    <a:lnTo>
                      <a:pt x="653" y="1142"/>
                    </a:lnTo>
                    <a:lnTo>
                      <a:pt x="653" y="1135"/>
                    </a:lnTo>
                    <a:lnTo>
                      <a:pt x="663" y="1135"/>
                    </a:lnTo>
                    <a:lnTo>
                      <a:pt x="663" y="1129"/>
                    </a:lnTo>
                    <a:lnTo>
                      <a:pt x="672" y="1129"/>
                    </a:lnTo>
                    <a:lnTo>
                      <a:pt x="672" y="1128"/>
                    </a:lnTo>
                    <a:lnTo>
                      <a:pt x="685" y="1128"/>
                    </a:lnTo>
                    <a:lnTo>
                      <a:pt x="685" y="1124"/>
                    </a:lnTo>
                    <a:lnTo>
                      <a:pt x="695" y="1124"/>
                    </a:lnTo>
                    <a:lnTo>
                      <a:pt x="695" y="1117"/>
                    </a:lnTo>
                    <a:lnTo>
                      <a:pt x="707" y="1117"/>
                    </a:lnTo>
                    <a:lnTo>
                      <a:pt x="707" y="1110"/>
                    </a:lnTo>
                    <a:lnTo>
                      <a:pt x="717" y="1110"/>
                    </a:lnTo>
                    <a:lnTo>
                      <a:pt x="717" y="1106"/>
                    </a:lnTo>
                    <a:lnTo>
                      <a:pt x="729" y="1106"/>
                    </a:lnTo>
                    <a:lnTo>
                      <a:pt x="729" y="1101"/>
                    </a:lnTo>
                    <a:lnTo>
                      <a:pt x="739" y="1101"/>
                    </a:lnTo>
                    <a:lnTo>
                      <a:pt x="739" y="1098"/>
                    </a:lnTo>
                    <a:lnTo>
                      <a:pt x="752" y="1098"/>
                    </a:lnTo>
                    <a:lnTo>
                      <a:pt x="752" y="1094"/>
                    </a:lnTo>
                    <a:lnTo>
                      <a:pt x="761" y="1094"/>
                    </a:lnTo>
                    <a:lnTo>
                      <a:pt x="761" y="1092"/>
                    </a:lnTo>
                    <a:lnTo>
                      <a:pt x="774" y="1092"/>
                    </a:lnTo>
                    <a:lnTo>
                      <a:pt x="774" y="1089"/>
                    </a:lnTo>
                    <a:lnTo>
                      <a:pt x="784" y="1089"/>
                    </a:lnTo>
                    <a:lnTo>
                      <a:pt x="784" y="1083"/>
                    </a:lnTo>
                    <a:lnTo>
                      <a:pt x="796" y="1083"/>
                    </a:lnTo>
                    <a:lnTo>
                      <a:pt x="796" y="1078"/>
                    </a:lnTo>
                    <a:lnTo>
                      <a:pt x="806" y="1078"/>
                    </a:lnTo>
                    <a:lnTo>
                      <a:pt x="806" y="1073"/>
                    </a:lnTo>
                    <a:lnTo>
                      <a:pt x="818" y="1073"/>
                    </a:lnTo>
                    <a:lnTo>
                      <a:pt x="818" y="1069"/>
                    </a:lnTo>
                    <a:lnTo>
                      <a:pt x="828" y="1069"/>
                    </a:lnTo>
                    <a:lnTo>
                      <a:pt x="828" y="1062"/>
                    </a:lnTo>
                    <a:lnTo>
                      <a:pt x="841" y="1062"/>
                    </a:lnTo>
                    <a:lnTo>
                      <a:pt x="841" y="1057"/>
                    </a:lnTo>
                    <a:lnTo>
                      <a:pt x="850" y="1057"/>
                    </a:lnTo>
                    <a:lnTo>
                      <a:pt x="850" y="1053"/>
                    </a:lnTo>
                    <a:lnTo>
                      <a:pt x="860" y="1053"/>
                    </a:lnTo>
                    <a:lnTo>
                      <a:pt x="860" y="1048"/>
                    </a:lnTo>
                    <a:lnTo>
                      <a:pt x="873" y="1048"/>
                    </a:lnTo>
                    <a:lnTo>
                      <a:pt x="873" y="1039"/>
                    </a:lnTo>
                    <a:lnTo>
                      <a:pt x="883" y="1039"/>
                    </a:lnTo>
                    <a:lnTo>
                      <a:pt x="883" y="1028"/>
                    </a:lnTo>
                    <a:lnTo>
                      <a:pt x="895" y="1028"/>
                    </a:lnTo>
                    <a:lnTo>
                      <a:pt x="895" y="1025"/>
                    </a:lnTo>
                    <a:lnTo>
                      <a:pt x="905" y="1025"/>
                    </a:lnTo>
                    <a:lnTo>
                      <a:pt x="905" y="1016"/>
                    </a:lnTo>
                    <a:lnTo>
                      <a:pt x="917" y="1016"/>
                    </a:lnTo>
                    <a:lnTo>
                      <a:pt x="917" y="1010"/>
                    </a:lnTo>
                    <a:lnTo>
                      <a:pt x="927" y="1010"/>
                    </a:lnTo>
                    <a:lnTo>
                      <a:pt x="927" y="1005"/>
                    </a:lnTo>
                    <a:lnTo>
                      <a:pt x="939" y="1005"/>
                    </a:lnTo>
                    <a:lnTo>
                      <a:pt x="939" y="1003"/>
                    </a:lnTo>
                    <a:lnTo>
                      <a:pt x="949" y="1003"/>
                    </a:lnTo>
                    <a:lnTo>
                      <a:pt x="949" y="1002"/>
                    </a:lnTo>
                    <a:lnTo>
                      <a:pt x="962" y="1002"/>
                    </a:lnTo>
                    <a:lnTo>
                      <a:pt x="962" y="996"/>
                    </a:lnTo>
                    <a:lnTo>
                      <a:pt x="972" y="996"/>
                    </a:lnTo>
                    <a:lnTo>
                      <a:pt x="972" y="994"/>
                    </a:lnTo>
                    <a:lnTo>
                      <a:pt x="984" y="994"/>
                    </a:lnTo>
                    <a:lnTo>
                      <a:pt x="984" y="989"/>
                    </a:lnTo>
                    <a:lnTo>
                      <a:pt x="994" y="989"/>
                    </a:lnTo>
                    <a:lnTo>
                      <a:pt x="994" y="984"/>
                    </a:lnTo>
                    <a:lnTo>
                      <a:pt x="1006" y="984"/>
                    </a:lnTo>
                    <a:lnTo>
                      <a:pt x="1006" y="980"/>
                    </a:lnTo>
                    <a:lnTo>
                      <a:pt x="1016" y="980"/>
                    </a:lnTo>
                    <a:lnTo>
                      <a:pt x="1016" y="975"/>
                    </a:lnTo>
                    <a:lnTo>
                      <a:pt x="1028" y="975"/>
                    </a:lnTo>
                    <a:lnTo>
                      <a:pt x="1028" y="970"/>
                    </a:lnTo>
                    <a:lnTo>
                      <a:pt x="1038" y="970"/>
                    </a:lnTo>
                    <a:lnTo>
                      <a:pt x="1038" y="968"/>
                    </a:lnTo>
                    <a:lnTo>
                      <a:pt x="1048" y="968"/>
                    </a:lnTo>
                    <a:lnTo>
                      <a:pt x="1048" y="961"/>
                    </a:lnTo>
                    <a:lnTo>
                      <a:pt x="1061" y="961"/>
                    </a:lnTo>
                    <a:lnTo>
                      <a:pt x="1061" y="957"/>
                    </a:lnTo>
                    <a:lnTo>
                      <a:pt x="1070" y="957"/>
                    </a:lnTo>
                    <a:lnTo>
                      <a:pt x="1070" y="950"/>
                    </a:lnTo>
                    <a:lnTo>
                      <a:pt x="1083" y="950"/>
                    </a:lnTo>
                    <a:lnTo>
                      <a:pt x="1083" y="946"/>
                    </a:lnTo>
                    <a:lnTo>
                      <a:pt x="1093" y="946"/>
                    </a:lnTo>
                    <a:lnTo>
                      <a:pt x="1093" y="943"/>
                    </a:lnTo>
                    <a:lnTo>
                      <a:pt x="1105" y="943"/>
                    </a:lnTo>
                    <a:lnTo>
                      <a:pt x="1105" y="934"/>
                    </a:lnTo>
                    <a:lnTo>
                      <a:pt x="1115" y="934"/>
                    </a:lnTo>
                    <a:lnTo>
                      <a:pt x="1115" y="931"/>
                    </a:lnTo>
                    <a:lnTo>
                      <a:pt x="1127" y="931"/>
                    </a:lnTo>
                    <a:lnTo>
                      <a:pt x="1127" y="929"/>
                    </a:lnTo>
                    <a:lnTo>
                      <a:pt x="1137" y="929"/>
                    </a:lnTo>
                    <a:lnTo>
                      <a:pt x="1137" y="923"/>
                    </a:lnTo>
                    <a:lnTo>
                      <a:pt x="1150" y="923"/>
                    </a:lnTo>
                    <a:lnTo>
                      <a:pt x="1150" y="918"/>
                    </a:lnTo>
                    <a:lnTo>
                      <a:pt x="1159" y="918"/>
                    </a:lnTo>
                    <a:lnTo>
                      <a:pt x="1159" y="913"/>
                    </a:lnTo>
                    <a:lnTo>
                      <a:pt x="1172" y="913"/>
                    </a:lnTo>
                    <a:lnTo>
                      <a:pt x="1172" y="904"/>
                    </a:lnTo>
                    <a:lnTo>
                      <a:pt x="1182" y="904"/>
                    </a:lnTo>
                    <a:lnTo>
                      <a:pt x="1182" y="900"/>
                    </a:lnTo>
                    <a:lnTo>
                      <a:pt x="1194" y="900"/>
                    </a:lnTo>
                    <a:lnTo>
                      <a:pt x="1194" y="893"/>
                    </a:lnTo>
                    <a:lnTo>
                      <a:pt x="1204" y="893"/>
                    </a:lnTo>
                    <a:lnTo>
                      <a:pt x="1204" y="890"/>
                    </a:lnTo>
                    <a:lnTo>
                      <a:pt x="1216" y="890"/>
                    </a:lnTo>
                    <a:lnTo>
                      <a:pt x="1216" y="877"/>
                    </a:lnTo>
                    <a:lnTo>
                      <a:pt x="1226" y="877"/>
                    </a:lnTo>
                    <a:lnTo>
                      <a:pt x="1226" y="868"/>
                    </a:lnTo>
                    <a:lnTo>
                      <a:pt x="1236" y="868"/>
                    </a:lnTo>
                    <a:lnTo>
                      <a:pt x="1236" y="858"/>
                    </a:lnTo>
                    <a:lnTo>
                      <a:pt x="1248" y="858"/>
                    </a:lnTo>
                    <a:lnTo>
                      <a:pt x="1248" y="852"/>
                    </a:lnTo>
                    <a:lnTo>
                      <a:pt x="1258" y="852"/>
                    </a:lnTo>
                    <a:lnTo>
                      <a:pt x="1258" y="847"/>
                    </a:lnTo>
                    <a:lnTo>
                      <a:pt x="1271" y="847"/>
                    </a:lnTo>
                    <a:lnTo>
                      <a:pt x="1271" y="842"/>
                    </a:lnTo>
                    <a:lnTo>
                      <a:pt x="1281" y="842"/>
                    </a:lnTo>
                    <a:lnTo>
                      <a:pt x="1281" y="838"/>
                    </a:lnTo>
                    <a:lnTo>
                      <a:pt x="1293" y="838"/>
                    </a:lnTo>
                    <a:lnTo>
                      <a:pt x="1293" y="835"/>
                    </a:lnTo>
                    <a:lnTo>
                      <a:pt x="1303" y="835"/>
                    </a:lnTo>
                    <a:lnTo>
                      <a:pt x="1303" y="829"/>
                    </a:lnTo>
                    <a:lnTo>
                      <a:pt x="1315" y="829"/>
                    </a:lnTo>
                    <a:lnTo>
                      <a:pt x="1315" y="826"/>
                    </a:lnTo>
                    <a:lnTo>
                      <a:pt x="1325" y="826"/>
                    </a:lnTo>
                    <a:lnTo>
                      <a:pt x="1325" y="815"/>
                    </a:lnTo>
                    <a:lnTo>
                      <a:pt x="1337" y="815"/>
                    </a:lnTo>
                    <a:lnTo>
                      <a:pt x="1337" y="811"/>
                    </a:lnTo>
                    <a:lnTo>
                      <a:pt x="1347" y="811"/>
                    </a:lnTo>
                    <a:lnTo>
                      <a:pt x="1347" y="806"/>
                    </a:lnTo>
                    <a:lnTo>
                      <a:pt x="1360" y="806"/>
                    </a:lnTo>
                    <a:lnTo>
                      <a:pt x="1360" y="803"/>
                    </a:lnTo>
                    <a:lnTo>
                      <a:pt x="1369" y="803"/>
                    </a:lnTo>
                    <a:lnTo>
                      <a:pt x="1369" y="803"/>
                    </a:lnTo>
                    <a:lnTo>
                      <a:pt x="1382" y="803"/>
                    </a:lnTo>
                    <a:lnTo>
                      <a:pt x="1382" y="799"/>
                    </a:lnTo>
                    <a:lnTo>
                      <a:pt x="1392" y="799"/>
                    </a:lnTo>
                    <a:lnTo>
                      <a:pt x="1392" y="795"/>
                    </a:lnTo>
                    <a:lnTo>
                      <a:pt x="1402" y="795"/>
                    </a:lnTo>
                    <a:lnTo>
                      <a:pt x="1402" y="792"/>
                    </a:lnTo>
                    <a:lnTo>
                      <a:pt x="1414" y="792"/>
                    </a:lnTo>
                    <a:lnTo>
                      <a:pt x="1414" y="788"/>
                    </a:lnTo>
                    <a:lnTo>
                      <a:pt x="1424" y="788"/>
                    </a:lnTo>
                    <a:lnTo>
                      <a:pt x="1424" y="785"/>
                    </a:lnTo>
                    <a:lnTo>
                      <a:pt x="1436" y="785"/>
                    </a:lnTo>
                    <a:lnTo>
                      <a:pt x="1436" y="779"/>
                    </a:lnTo>
                    <a:lnTo>
                      <a:pt x="1446" y="779"/>
                    </a:lnTo>
                    <a:lnTo>
                      <a:pt x="1446" y="776"/>
                    </a:lnTo>
                    <a:lnTo>
                      <a:pt x="1458" y="776"/>
                    </a:lnTo>
                    <a:lnTo>
                      <a:pt x="1458" y="771"/>
                    </a:lnTo>
                    <a:lnTo>
                      <a:pt x="1468" y="771"/>
                    </a:lnTo>
                    <a:lnTo>
                      <a:pt x="1468" y="767"/>
                    </a:lnTo>
                    <a:lnTo>
                      <a:pt x="1481" y="767"/>
                    </a:lnTo>
                    <a:lnTo>
                      <a:pt x="1481" y="765"/>
                    </a:lnTo>
                    <a:lnTo>
                      <a:pt x="1491" y="765"/>
                    </a:lnTo>
                    <a:lnTo>
                      <a:pt x="1491" y="762"/>
                    </a:lnTo>
                    <a:lnTo>
                      <a:pt x="1503" y="762"/>
                    </a:lnTo>
                    <a:lnTo>
                      <a:pt x="1503" y="760"/>
                    </a:lnTo>
                    <a:lnTo>
                      <a:pt x="1513" y="760"/>
                    </a:lnTo>
                    <a:lnTo>
                      <a:pt x="1513" y="758"/>
                    </a:lnTo>
                    <a:lnTo>
                      <a:pt x="1525" y="758"/>
                    </a:lnTo>
                    <a:lnTo>
                      <a:pt x="1525" y="756"/>
                    </a:lnTo>
                    <a:lnTo>
                      <a:pt x="1535" y="756"/>
                    </a:lnTo>
                    <a:lnTo>
                      <a:pt x="1535" y="751"/>
                    </a:lnTo>
                    <a:lnTo>
                      <a:pt x="1547" y="751"/>
                    </a:lnTo>
                    <a:lnTo>
                      <a:pt x="1547" y="744"/>
                    </a:lnTo>
                    <a:lnTo>
                      <a:pt x="1557" y="744"/>
                    </a:lnTo>
                    <a:lnTo>
                      <a:pt x="1557" y="740"/>
                    </a:lnTo>
                    <a:lnTo>
                      <a:pt x="1570" y="740"/>
                    </a:lnTo>
                    <a:lnTo>
                      <a:pt x="1570" y="737"/>
                    </a:lnTo>
                    <a:lnTo>
                      <a:pt x="1580" y="737"/>
                    </a:lnTo>
                    <a:lnTo>
                      <a:pt x="1580" y="735"/>
                    </a:lnTo>
                    <a:lnTo>
                      <a:pt x="1589" y="735"/>
                    </a:lnTo>
                    <a:lnTo>
                      <a:pt x="1589" y="732"/>
                    </a:lnTo>
                    <a:lnTo>
                      <a:pt x="1602" y="732"/>
                    </a:lnTo>
                    <a:lnTo>
                      <a:pt x="1602" y="726"/>
                    </a:lnTo>
                    <a:lnTo>
                      <a:pt x="1612" y="726"/>
                    </a:lnTo>
                    <a:lnTo>
                      <a:pt x="1612" y="721"/>
                    </a:lnTo>
                    <a:lnTo>
                      <a:pt x="1624" y="721"/>
                    </a:lnTo>
                    <a:lnTo>
                      <a:pt x="1624" y="721"/>
                    </a:lnTo>
                    <a:lnTo>
                      <a:pt x="1634" y="721"/>
                    </a:lnTo>
                    <a:lnTo>
                      <a:pt x="1634" y="719"/>
                    </a:lnTo>
                    <a:lnTo>
                      <a:pt x="1646" y="719"/>
                    </a:lnTo>
                    <a:lnTo>
                      <a:pt x="1646" y="717"/>
                    </a:lnTo>
                    <a:lnTo>
                      <a:pt x="1656" y="717"/>
                    </a:lnTo>
                    <a:lnTo>
                      <a:pt x="1656" y="712"/>
                    </a:lnTo>
                    <a:lnTo>
                      <a:pt x="1669" y="712"/>
                    </a:lnTo>
                    <a:lnTo>
                      <a:pt x="1669" y="707"/>
                    </a:lnTo>
                    <a:lnTo>
                      <a:pt x="1678" y="707"/>
                    </a:lnTo>
                    <a:lnTo>
                      <a:pt x="1678" y="698"/>
                    </a:lnTo>
                    <a:lnTo>
                      <a:pt x="1691" y="698"/>
                    </a:lnTo>
                    <a:lnTo>
                      <a:pt x="1691" y="691"/>
                    </a:lnTo>
                    <a:lnTo>
                      <a:pt x="1701" y="691"/>
                    </a:lnTo>
                    <a:lnTo>
                      <a:pt x="1701" y="687"/>
                    </a:lnTo>
                    <a:lnTo>
                      <a:pt x="1713" y="687"/>
                    </a:lnTo>
                    <a:lnTo>
                      <a:pt x="1713" y="680"/>
                    </a:lnTo>
                    <a:lnTo>
                      <a:pt x="1723" y="680"/>
                    </a:lnTo>
                    <a:lnTo>
                      <a:pt x="1723" y="676"/>
                    </a:lnTo>
                    <a:lnTo>
                      <a:pt x="1735" y="676"/>
                    </a:lnTo>
                    <a:lnTo>
                      <a:pt x="1735" y="673"/>
                    </a:lnTo>
                    <a:lnTo>
                      <a:pt x="1745" y="673"/>
                    </a:lnTo>
                    <a:lnTo>
                      <a:pt x="1745" y="669"/>
                    </a:lnTo>
                    <a:lnTo>
                      <a:pt x="1758" y="669"/>
                    </a:lnTo>
                    <a:lnTo>
                      <a:pt x="1758" y="660"/>
                    </a:lnTo>
                    <a:lnTo>
                      <a:pt x="1767" y="660"/>
                    </a:lnTo>
                    <a:lnTo>
                      <a:pt x="1767" y="657"/>
                    </a:lnTo>
                    <a:lnTo>
                      <a:pt x="1777" y="657"/>
                    </a:lnTo>
                    <a:lnTo>
                      <a:pt x="1777" y="655"/>
                    </a:lnTo>
                    <a:lnTo>
                      <a:pt x="1790" y="655"/>
                    </a:lnTo>
                    <a:lnTo>
                      <a:pt x="1790" y="648"/>
                    </a:lnTo>
                    <a:lnTo>
                      <a:pt x="1800" y="648"/>
                    </a:lnTo>
                    <a:lnTo>
                      <a:pt x="1800" y="646"/>
                    </a:lnTo>
                    <a:lnTo>
                      <a:pt x="1812" y="646"/>
                    </a:lnTo>
                    <a:lnTo>
                      <a:pt x="1812" y="643"/>
                    </a:lnTo>
                    <a:lnTo>
                      <a:pt x="1822" y="643"/>
                    </a:lnTo>
                    <a:lnTo>
                      <a:pt x="1822" y="637"/>
                    </a:lnTo>
                    <a:lnTo>
                      <a:pt x="1834" y="637"/>
                    </a:lnTo>
                    <a:lnTo>
                      <a:pt x="1834" y="634"/>
                    </a:lnTo>
                    <a:lnTo>
                      <a:pt x="1844" y="634"/>
                    </a:lnTo>
                    <a:lnTo>
                      <a:pt x="1844" y="628"/>
                    </a:lnTo>
                    <a:lnTo>
                      <a:pt x="1856" y="628"/>
                    </a:lnTo>
                    <a:lnTo>
                      <a:pt x="1856" y="625"/>
                    </a:lnTo>
                    <a:lnTo>
                      <a:pt x="1866" y="625"/>
                    </a:lnTo>
                    <a:lnTo>
                      <a:pt x="1866" y="621"/>
                    </a:lnTo>
                    <a:lnTo>
                      <a:pt x="1879" y="621"/>
                    </a:lnTo>
                    <a:lnTo>
                      <a:pt x="1879" y="618"/>
                    </a:lnTo>
                    <a:lnTo>
                      <a:pt x="1889" y="618"/>
                    </a:lnTo>
                    <a:lnTo>
                      <a:pt x="1889" y="614"/>
                    </a:lnTo>
                    <a:lnTo>
                      <a:pt x="1901" y="614"/>
                    </a:lnTo>
                    <a:lnTo>
                      <a:pt x="1901" y="607"/>
                    </a:lnTo>
                    <a:lnTo>
                      <a:pt x="1911" y="607"/>
                    </a:lnTo>
                    <a:lnTo>
                      <a:pt x="1911" y="607"/>
                    </a:lnTo>
                    <a:lnTo>
                      <a:pt x="1923" y="607"/>
                    </a:lnTo>
                    <a:lnTo>
                      <a:pt x="1923" y="602"/>
                    </a:lnTo>
                    <a:lnTo>
                      <a:pt x="1933" y="602"/>
                    </a:lnTo>
                    <a:lnTo>
                      <a:pt x="1933" y="598"/>
                    </a:lnTo>
                    <a:lnTo>
                      <a:pt x="1945" y="598"/>
                    </a:lnTo>
                    <a:lnTo>
                      <a:pt x="1945" y="595"/>
                    </a:lnTo>
                    <a:lnTo>
                      <a:pt x="1955" y="595"/>
                    </a:lnTo>
                    <a:lnTo>
                      <a:pt x="1955" y="589"/>
                    </a:lnTo>
                    <a:lnTo>
                      <a:pt x="1965" y="589"/>
                    </a:lnTo>
                    <a:lnTo>
                      <a:pt x="1965" y="588"/>
                    </a:lnTo>
                    <a:lnTo>
                      <a:pt x="1978" y="588"/>
                    </a:lnTo>
                    <a:lnTo>
                      <a:pt x="1978" y="582"/>
                    </a:lnTo>
                    <a:lnTo>
                      <a:pt x="1987" y="582"/>
                    </a:lnTo>
                    <a:lnTo>
                      <a:pt x="1987" y="580"/>
                    </a:lnTo>
                    <a:lnTo>
                      <a:pt x="2000" y="580"/>
                    </a:lnTo>
                    <a:lnTo>
                      <a:pt x="2000" y="577"/>
                    </a:lnTo>
                    <a:lnTo>
                      <a:pt x="2010" y="577"/>
                    </a:lnTo>
                    <a:lnTo>
                      <a:pt x="2010" y="573"/>
                    </a:lnTo>
                    <a:lnTo>
                      <a:pt x="2022" y="573"/>
                    </a:lnTo>
                    <a:lnTo>
                      <a:pt x="2022" y="566"/>
                    </a:lnTo>
                    <a:lnTo>
                      <a:pt x="2032" y="566"/>
                    </a:lnTo>
                    <a:lnTo>
                      <a:pt x="2032" y="563"/>
                    </a:lnTo>
                    <a:lnTo>
                      <a:pt x="2044" y="563"/>
                    </a:lnTo>
                    <a:lnTo>
                      <a:pt x="2044" y="557"/>
                    </a:lnTo>
                    <a:lnTo>
                      <a:pt x="2054" y="557"/>
                    </a:lnTo>
                    <a:lnTo>
                      <a:pt x="2054" y="556"/>
                    </a:lnTo>
                    <a:lnTo>
                      <a:pt x="2067" y="556"/>
                    </a:lnTo>
                    <a:lnTo>
                      <a:pt x="2067" y="554"/>
                    </a:lnTo>
                    <a:lnTo>
                      <a:pt x="2076" y="554"/>
                    </a:lnTo>
                    <a:lnTo>
                      <a:pt x="2076" y="547"/>
                    </a:lnTo>
                    <a:lnTo>
                      <a:pt x="2089" y="547"/>
                    </a:lnTo>
                    <a:lnTo>
                      <a:pt x="2089" y="543"/>
                    </a:lnTo>
                    <a:lnTo>
                      <a:pt x="2099" y="543"/>
                    </a:lnTo>
                    <a:lnTo>
                      <a:pt x="2099" y="543"/>
                    </a:lnTo>
                    <a:lnTo>
                      <a:pt x="2111" y="543"/>
                    </a:lnTo>
                    <a:lnTo>
                      <a:pt x="2111" y="541"/>
                    </a:lnTo>
                    <a:lnTo>
                      <a:pt x="2121" y="541"/>
                    </a:lnTo>
                    <a:lnTo>
                      <a:pt x="2121" y="538"/>
                    </a:lnTo>
                    <a:lnTo>
                      <a:pt x="2131" y="538"/>
                    </a:lnTo>
                    <a:lnTo>
                      <a:pt x="2131" y="531"/>
                    </a:lnTo>
                    <a:lnTo>
                      <a:pt x="2143" y="531"/>
                    </a:lnTo>
                    <a:lnTo>
                      <a:pt x="2143" y="527"/>
                    </a:lnTo>
                    <a:lnTo>
                      <a:pt x="2153" y="527"/>
                    </a:lnTo>
                    <a:lnTo>
                      <a:pt x="2153" y="524"/>
                    </a:lnTo>
                    <a:lnTo>
                      <a:pt x="2165" y="524"/>
                    </a:lnTo>
                    <a:lnTo>
                      <a:pt x="2165" y="515"/>
                    </a:lnTo>
                    <a:lnTo>
                      <a:pt x="2175" y="515"/>
                    </a:lnTo>
                    <a:lnTo>
                      <a:pt x="2175" y="513"/>
                    </a:lnTo>
                    <a:lnTo>
                      <a:pt x="2188" y="513"/>
                    </a:lnTo>
                    <a:lnTo>
                      <a:pt x="2188" y="511"/>
                    </a:lnTo>
                    <a:lnTo>
                      <a:pt x="2198" y="511"/>
                    </a:lnTo>
                    <a:lnTo>
                      <a:pt x="2198" y="509"/>
                    </a:lnTo>
                    <a:lnTo>
                      <a:pt x="2210" y="509"/>
                    </a:lnTo>
                    <a:lnTo>
                      <a:pt x="2210" y="506"/>
                    </a:lnTo>
                    <a:lnTo>
                      <a:pt x="2220" y="506"/>
                    </a:lnTo>
                    <a:lnTo>
                      <a:pt x="2220" y="504"/>
                    </a:lnTo>
                    <a:lnTo>
                      <a:pt x="2232" y="504"/>
                    </a:lnTo>
                    <a:lnTo>
                      <a:pt x="2232" y="501"/>
                    </a:lnTo>
                    <a:lnTo>
                      <a:pt x="2242" y="501"/>
                    </a:lnTo>
                    <a:lnTo>
                      <a:pt x="2242" y="495"/>
                    </a:lnTo>
                    <a:lnTo>
                      <a:pt x="2254" y="495"/>
                    </a:lnTo>
                    <a:lnTo>
                      <a:pt x="2254" y="490"/>
                    </a:lnTo>
                    <a:lnTo>
                      <a:pt x="2264" y="490"/>
                    </a:lnTo>
                    <a:lnTo>
                      <a:pt x="2264" y="485"/>
                    </a:lnTo>
                    <a:lnTo>
                      <a:pt x="2277" y="485"/>
                    </a:lnTo>
                    <a:lnTo>
                      <a:pt x="2277" y="481"/>
                    </a:lnTo>
                    <a:lnTo>
                      <a:pt x="2287" y="481"/>
                    </a:lnTo>
                    <a:lnTo>
                      <a:pt x="2287" y="476"/>
                    </a:lnTo>
                    <a:lnTo>
                      <a:pt x="2299" y="476"/>
                    </a:lnTo>
                    <a:lnTo>
                      <a:pt x="2299" y="474"/>
                    </a:lnTo>
                    <a:lnTo>
                      <a:pt x="2309" y="474"/>
                    </a:lnTo>
                    <a:lnTo>
                      <a:pt x="2309" y="467"/>
                    </a:lnTo>
                    <a:lnTo>
                      <a:pt x="2319" y="467"/>
                    </a:lnTo>
                    <a:lnTo>
                      <a:pt x="2319" y="461"/>
                    </a:lnTo>
                    <a:lnTo>
                      <a:pt x="2331" y="461"/>
                    </a:lnTo>
                    <a:lnTo>
                      <a:pt x="2331" y="458"/>
                    </a:lnTo>
                    <a:lnTo>
                      <a:pt x="2341" y="458"/>
                    </a:lnTo>
                    <a:lnTo>
                      <a:pt x="2341" y="458"/>
                    </a:lnTo>
                    <a:lnTo>
                      <a:pt x="2353" y="458"/>
                    </a:lnTo>
                    <a:lnTo>
                      <a:pt x="2353" y="456"/>
                    </a:lnTo>
                    <a:lnTo>
                      <a:pt x="2363" y="456"/>
                    </a:lnTo>
                    <a:lnTo>
                      <a:pt x="2363" y="453"/>
                    </a:lnTo>
                    <a:lnTo>
                      <a:pt x="2376" y="453"/>
                    </a:lnTo>
                    <a:lnTo>
                      <a:pt x="2376" y="451"/>
                    </a:lnTo>
                    <a:lnTo>
                      <a:pt x="2385" y="451"/>
                    </a:lnTo>
                    <a:lnTo>
                      <a:pt x="2385" y="447"/>
                    </a:lnTo>
                    <a:lnTo>
                      <a:pt x="2398" y="447"/>
                    </a:lnTo>
                    <a:lnTo>
                      <a:pt x="2398" y="445"/>
                    </a:lnTo>
                    <a:lnTo>
                      <a:pt x="2408" y="445"/>
                    </a:lnTo>
                    <a:lnTo>
                      <a:pt x="2408" y="440"/>
                    </a:lnTo>
                    <a:lnTo>
                      <a:pt x="2420" y="440"/>
                    </a:lnTo>
                    <a:lnTo>
                      <a:pt x="2420" y="438"/>
                    </a:lnTo>
                    <a:lnTo>
                      <a:pt x="2430" y="438"/>
                    </a:lnTo>
                    <a:lnTo>
                      <a:pt x="2430" y="433"/>
                    </a:lnTo>
                    <a:lnTo>
                      <a:pt x="2442" y="433"/>
                    </a:lnTo>
                    <a:lnTo>
                      <a:pt x="2442" y="429"/>
                    </a:lnTo>
                    <a:lnTo>
                      <a:pt x="2452" y="429"/>
                    </a:lnTo>
                    <a:lnTo>
                      <a:pt x="2452" y="428"/>
                    </a:lnTo>
                    <a:lnTo>
                      <a:pt x="2465" y="428"/>
                    </a:lnTo>
                    <a:lnTo>
                      <a:pt x="2465" y="424"/>
                    </a:lnTo>
                    <a:lnTo>
                      <a:pt x="2474" y="424"/>
                    </a:lnTo>
                    <a:lnTo>
                      <a:pt x="2474" y="422"/>
                    </a:lnTo>
                    <a:lnTo>
                      <a:pt x="2487" y="422"/>
                    </a:lnTo>
                    <a:lnTo>
                      <a:pt x="2487" y="417"/>
                    </a:lnTo>
                    <a:lnTo>
                      <a:pt x="2497" y="417"/>
                    </a:lnTo>
                    <a:lnTo>
                      <a:pt x="2497" y="413"/>
                    </a:lnTo>
                    <a:lnTo>
                      <a:pt x="2507" y="413"/>
                    </a:lnTo>
                    <a:lnTo>
                      <a:pt x="2507" y="412"/>
                    </a:lnTo>
                    <a:lnTo>
                      <a:pt x="2519" y="412"/>
                    </a:lnTo>
                    <a:lnTo>
                      <a:pt x="2519" y="408"/>
                    </a:lnTo>
                    <a:lnTo>
                      <a:pt x="2529" y="408"/>
                    </a:lnTo>
                    <a:lnTo>
                      <a:pt x="2529" y="403"/>
                    </a:lnTo>
                    <a:lnTo>
                      <a:pt x="2541" y="403"/>
                    </a:lnTo>
                    <a:lnTo>
                      <a:pt x="2541" y="399"/>
                    </a:lnTo>
                    <a:lnTo>
                      <a:pt x="2551" y="399"/>
                    </a:lnTo>
                    <a:lnTo>
                      <a:pt x="2551" y="397"/>
                    </a:lnTo>
                    <a:lnTo>
                      <a:pt x="2563" y="397"/>
                    </a:lnTo>
                    <a:lnTo>
                      <a:pt x="2563" y="392"/>
                    </a:lnTo>
                    <a:lnTo>
                      <a:pt x="2573" y="392"/>
                    </a:lnTo>
                    <a:lnTo>
                      <a:pt x="2573" y="389"/>
                    </a:lnTo>
                    <a:lnTo>
                      <a:pt x="2586" y="389"/>
                    </a:lnTo>
                    <a:lnTo>
                      <a:pt x="2586" y="389"/>
                    </a:lnTo>
                    <a:lnTo>
                      <a:pt x="2596" y="389"/>
                    </a:lnTo>
                    <a:lnTo>
                      <a:pt x="2596" y="387"/>
                    </a:lnTo>
                    <a:lnTo>
                      <a:pt x="2608" y="387"/>
                    </a:lnTo>
                    <a:lnTo>
                      <a:pt x="2608" y="381"/>
                    </a:lnTo>
                    <a:lnTo>
                      <a:pt x="2618" y="381"/>
                    </a:lnTo>
                    <a:lnTo>
                      <a:pt x="2618" y="380"/>
                    </a:lnTo>
                    <a:lnTo>
                      <a:pt x="2630" y="380"/>
                    </a:lnTo>
                    <a:lnTo>
                      <a:pt x="2630" y="374"/>
                    </a:lnTo>
                    <a:lnTo>
                      <a:pt x="2640" y="374"/>
                    </a:lnTo>
                    <a:lnTo>
                      <a:pt x="2640" y="373"/>
                    </a:lnTo>
                    <a:lnTo>
                      <a:pt x="2652" y="373"/>
                    </a:lnTo>
                    <a:lnTo>
                      <a:pt x="2652" y="369"/>
                    </a:lnTo>
                    <a:lnTo>
                      <a:pt x="2662" y="369"/>
                    </a:lnTo>
                    <a:lnTo>
                      <a:pt x="2662" y="364"/>
                    </a:lnTo>
                    <a:lnTo>
                      <a:pt x="2675" y="364"/>
                    </a:lnTo>
                    <a:lnTo>
                      <a:pt x="2675" y="360"/>
                    </a:lnTo>
                    <a:lnTo>
                      <a:pt x="2685" y="360"/>
                    </a:lnTo>
                    <a:lnTo>
                      <a:pt x="2685" y="353"/>
                    </a:lnTo>
                    <a:lnTo>
                      <a:pt x="2694" y="353"/>
                    </a:lnTo>
                    <a:lnTo>
                      <a:pt x="2694" y="350"/>
                    </a:lnTo>
                    <a:lnTo>
                      <a:pt x="2707" y="350"/>
                    </a:lnTo>
                    <a:lnTo>
                      <a:pt x="2707" y="346"/>
                    </a:lnTo>
                    <a:lnTo>
                      <a:pt x="2717" y="346"/>
                    </a:lnTo>
                    <a:lnTo>
                      <a:pt x="2717" y="344"/>
                    </a:lnTo>
                    <a:lnTo>
                      <a:pt x="2729" y="344"/>
                    </a:lnTo>
                    <a:lnTo>
                      <a:pt x="2729" y="342"/>
                    </a:lnTo>
                    <a:lnTo>
                      <a:pt x="2739" y="342"/>
                    </a:lnTo>
                    <a:lnTo>
                      <a:pt x="2739" y="341"/>
                    </a:lnTo>
                    <a:lnTo>
                      <a:pt x="2751" y="341"/>
                    </a:lnTo>
                    <a:lnTo>
                      <a:pt x="2751" y="335"/>
                    </a:lnTo>
                    <a:lnTo>
                      <a:pt x="2761" y="335"/>
                    </a:lnTo>
                    <a:lnTo>
                      <a:pt x="2761" y="335"/>
                    </a:lnTo>
                    <a:lnTo>
                      <a:pt x="2773" y="335"/>
                    </a:lnTo>
                    <a:lnTo>
                      <a:pt x="2773" y="330"/>
                    </a:lnTo>
                    <a:lnTo>
                      <a:pt x="2783" y="330"/>
                    </a:lnTo>
                    <a:lnTo>
                      <a:pt x="2783" y="325"/>
                    </a:lnTo>
                    <a:lnTo>
                      <a:pt x="2796" y="325"/>
                    </a:lnTo>
                    <a:lnTo>
                      <a:pt x="2796" y="321"/>
                    </a:lnTo>
                    <a:lnTo>
                      <a:pt x="2806" y="321"/>
                    </a:lnTo>
                    <a:lnTo>
                      <a:pt x="2806" y="319"/>
                    </a:lnTo>
                    <a:lnTo>
                      <a:pt x="2818" y="319"/>
                    </a:lnTo>
                    <a:lnTo>
                      <a:pt x="2818" y="318"/>
                    </a:lnTo>
                    <a:lnTo>
                      <a:pt x="2828" y="318"/>
                    </a:lnTo>
                    <a:lnTo>
                      <a:pt x="2828" y="314"/>
                    </a:lnTo>
                    <a:lnTo>
                      <a:pt x="2840" y="314"/>
                    </a:lnTo>
                    <a:lnTo>
                      <a:pt x="2840" y="312"/>
                    </a:lnTo>
                    <a:lnTo>
                      <a:pt x="2850" y="312"/>
                    </a:lnTo>
                    <a:lnTo>
                      <a:pt x="2850" y="310"/>
                    </a:lnTo>
                    <a:lnTo>
                      <a:pt x="2860" y="310"/>
                    </a:lnTo>
                    <a:lnTo>
                      <a:pt x="2860" y="305"/>
                    </a:lnTo>
                    <a:lnTo>
                      <a:pt x="2872" y="305"/>
                    </a:lnTo>
                    <a:lnTo>
                      <a:pt x="2872" y="302"/>
                    </a:lnTo>
                    <a:lnTo>
                      <a:pt x="2882" y="302"/>
                    </a:lnTo>
                    <a:lnTo>
                      <a:pt x="2882" y="300"/>
                    </a:lnTo>
                    <a:lnTo>
                      <a:pt x="2895" y="300"/>
                    </a:lnTo>
                    <a:lnTo>
                      <a:pt x="2895" y="296"/>
                    </a:lnTo>
                    <a:lnTo>
                      <a:pt x="2905" y="296"/>
                    </a:lnTo>
                    <a:lnTo>
                      <a:pt x="2905" y="291"/>
                    </a:lnTo>
                    <a:lnTo>
                      <a:pt x="2917" y="291"/>
                    </a:lnTo>
                    <a:lnTo>
                      <a:pt x="2917" y="289"/>
                    </a:lnTo>
                    <a:lnTo>
                      <a:pt x="2927" y="289"/>
                    </a:lnTo>
                    <a:lnTo>
                      <a:pt x="2927" y="286"/>
                    </a:lnTo>
                    <a:lnTo>
                      <a:pt x="2939" y="286"/>
                    </a:lnTo>
                    <a:lnTo>
                      <a:pt x="2939" y="282"/>
                    </a:lnTo>
                    <a:lnTo>
                      <a:pt x="2949" y="282"/>
                    </a:lnTo>
                    <a:lnTo>
                      <a:pt x="2949" y="280"/>
                    </a:lnTo>
                    <a:lnTo>
                      <a:pt x="2961" y="280"/>
                    </a:lnTo>
                    <a:lnTo>
                      <a:pt x="2961" y="271"/>
                    </a:lnTo>
                    <a:lnTo>
                      <a:pt x="2971" y="271"/>
                    </a:lnTo>
                    <a:lnTo>
                      <a:pt x="2971" y="270"/>
                    </a:lnTo>
                    <a:lnTo>
                      <a:pt x="2984" y="270"/>
                    </a:lnTo>
                    <a:lnTo>
                      <a:pt x="2984" y="264"/>
                    </a:lnTo>
                    <a:lnTo>
                      <a:pt x="2993" y="264"/>
                    </a:lnTo>
                    <a:lnTo>
                      <a:pt x="2993" y="261"/>
                    </a:lnTo>
                    <a:lnTo>
                      <a:pt x="3006" y="261"/>
                    </a:lnTo>
                    <a:lnTo>
                      <a:pt x="3006" y="257"/>
                    </a:lnTo>
                    <a:lnTo>
                      <a:pt x="3016" y="257"/>
                    </a:lnTo>
                    <a:lnTo>
                      <a:pt x="3016" y="252"/>
                    </a:lnTo>
                    <a:lnTo>
                      <a:pt x="3028" y="252"/>
                    </a:lnTo>
                    <a:lnTo>
                      <a:pt x="3028" y="250"/>
                    </a:lnTo>
                    <a:lnTo>
                      <a:pt x="3038" y="250"/>
                    </a:lnTo>
                    <a:lnTo>
                      <a:pt x="3038" y="245"/>
                    </a:lnTo>
                    <a:lnTo>
                      <a:pt x="3048" y="245"/>
                    </a:lnTo>
                    <a:lnTo>
                      <a:pt x="3048" y="239"/>
                    </a:lnTo>
                    <a:lnTo>
                      <a:pt x="3060" y="239"/>
                    </a:lnTo>
                    <a:lnTo>
                      <a:pt x="3060" y="236"/>
                    </a:lnTo>
                    <a:lnTo>
                      <a:pt x="3070" y="236"/>
                    </a:lnTo>
                    <a:lnTo>
                      <a:pt x="3070" y="230"/>
                    </a:lnTo>
                    <a:lnTo>
                      <a:pt x="3082" y="230"/>
                    </a:lnTo>
                    <a:lnTo>
                      <a:pt x="3082" y="227"/>
                    </a:lnTo>
                    <a:lnTo>
                      <a:pt x="3092" y="227"/>
                    </a:lnTo>
                    <a:lnTo>
                      <a:pt x="3092" y="220"/>
                    </a:lnTo>
                    <a:lnTo>
                      <a:pt x="3105" y="220"/>
                    </a:lnTo>
                    <a:lnTo>
                      <a:pt x="3105" y="214"/>
                    </a:lnTo>
                    <a:lnTo>
                      <a:pt x="3115" y="214"/>
                    </a:lnTo>
                    <a:lnTo>
                      <a:pt x="3115" y="213"/>
                    </a:lnTo>
                    <a:lnTo>
                      <a:pt x="3127" y="213"/>
                    </a:lnTo>
                    <a:lnTo>
                      <a:pt x="3127" y="213"/>
                    </a:lnTo>
                    <a:lnTo>
                      <a:pt x="3137" y="213"/>
                    </a:lnTo>
                    <a:lnTo>
                      <a:pt x="3137" y="209"/>
                    </a:lnTo>
                    <a:lnTo>
                      <a:pt x="3149" y="209"/>
                    </a:lnTo>
                    <a:lnTo>
                      <a:pt x="3149" y="207"/>
                    </a:lnTo>
                    <a:lnTo>
                      <a:pt x="3159" y="207"/>
                    </a:lnTo>
                    <a:lnTo>
                      <a:pt x="3159" y="206"/>
                    </a:lnTo>
                    <a:lnTo>
                      <a:pt x="3171" y="206"/>
                    </a:lnTo>
                    <a:lnTo>
                      <a:pt x="3171" y="202"/>
                    </a:lnTo>
                    <a:lnTo>
                      <a:pt x="3181" y="202"/>
                    </a:lnTo>
                    <a:lnTo>
                      <a:pt x="3181" y="200"/>
                    </a:lnTo>
                    <a:lnTo>
                      <a:pt x="3194" y="200"/>
                    </a:lnTo>
                    <a:lnTo>
                      <a:pt x="3194" y="198"/>
                    </a:lnTo>
                    <a:lnTo>
                      <a:pt x="3204" y="198"/>
                    </a:lnTo>
                    <a:lnTo>
                      <a:pt x="3204" y="197"/>
                    </a:lnTo>
                    <a:lnTo>
                      <a:pt x="3216" y="197"/>
                    </a:lnTo>
                    <a:lnTo>
                      <a:pt x="3216" y="195"/>
                    </a:lnTo>
                    <a:lnTo>
                      <a:pt x="3236" y="195"/>
                    </a:lnTo>
                    <a:lnTo>
                      <a:pt x="3236" y="190"/>
                    </a:lnTo>
                    <a:lnTo>
                      <a:pt x="3248" y="190"/>
                    </a:lnTo>
                    <a:lnTo>
                      <a:pt x="3248" y="188"/>
                    </a:lnTo>
                    <a:lnTo>
                      <a:pt x="3258" y="188"/>
                    </a:lnTo>
                    <a:lnTo>
                      <a:pt x="3258" y="184"/>
                    </a:lnTo>
                    <a:lnTo>
                      <a:pt x="3270" y="184"/>
                    </a:lnTo>
                    <a:lnTo>
                      <a:pt x="3270" y="181"/>
                    </a:lnTo>
                    <a:lnTo>
                      <a:pt x="3280" y="181"/>
                    </a:lnTo>
                    <a:lnTo>
                      <a:pt x="3280" y="181"/>
                    </a:lnTo>
                    <a:lnTo>
                      <a:pt x="3293" y="181"/>
                    </a:lnTo>
                    <a:lnTo>
                      <a:pt x="3293" y="179"/>
                    </a:lnTo>
                    <a:lnTo>
                      <a:pt x="3302" y="179"/>
                    </a:lnTo>
                    <a:lnTo>
                      <a:pt x="3302" y="177"/>
                    </a:lnTo>
                    <a:lnTo>
                      <a:pt x="3315" y="177"/>
                    </a:lnTo>
                    <a:lnTo>
                      <a:pt x="3315" y="174"/>
                    </a:lnTo>
                    <a:lnTo>
                      <a:pt x="3325" y="174"/>
                    </a:lnTo>
                    <a:lnTo>
                      <a:pt x="3325" y="168"/>
                    </a:lnTo>
                    <a:lnTo>
                      <a:pt x="3337" y="168"/>
                    </a:lnTo>
                    <a:lnTo>
                      <a:pt x="3337" y="167"/>
                    </a:lnTo>
                    <a:lnTo>
                      <a:pt x="3347" y="167"/>
                    </a:lnTo>
                    <a:lnTo>
                      <a:pt x="3347" y="163"/>
                    </a:lnTo>
                    <a:lnTo>
                      <a:pt x="3359" y="163"/>
                    </a:lnTo>
                    <a:lnTo>
                      <a:pt x="3359" y="161"/>
                    </a:lnTo>
                    <a:lnTo>
                      <a:pt x="3369" y="161"/>
                    </a:lnTo>
                    <a:lnTo>
                      <a:pt x="3369" y="158"/>
                    </a:lnTo>
                    <a:lnTo>
                      <a:pt x="3382" y="158"/>
                    </a:lnTo>
                    <a:lnTo>
                      <a:pt x="3382" y="154"/>
                    </a:lnTo>
                    <a:lnTo>
                      <a:pt x="3391" y="154"/>
                    </a:lnTo>
                    <a:lnTo>
                      <a:pt x="3391" y="152"/>
                    </a:lnTo>
                    <a:lnTo>
                      <a:pt x="3401" y="152"/>
                    </a:lnTo>
                    <a:lnTo>
                      <a:pt x="3401" y="147"/>
                    </a:lnTo>
                    <a:lnTo>
                      <a:pt x="3414" y="147"/>
                    </a:lnTo>
                    <a:lnTo>
                      <a:pt x="3414" y="145"/>
                    </a:lnTo>
                    <a:lnTo>
                      <a:pt x="3424" y="145"/>
                    </a:lnTo>
                    <a:lnTo>
                      <a:pt x="3424" y="143"/>
                    </a:lnTo>
                    <a:lnTo>
                      <a:pt x="3436" y="143"/>
                    </a:lnTo>
                    <a:lnTo>
                      <a:pt x="3436" y="143"/>
                    </a:lnTo>
                    <a:lnTo>
                      <a:pt x="3446" y="143"/>
                    </a:lnTo>
                    <a:lnTo>
                      <a:pt x="3446" y="140"/>
                    </a:lnTo>
                    <a:lnTo>
                      <a:pt x="3468" y="140"/>
                    </a:lnTo>
                    <a:lnTo>
                      <a:pt x="3468" y="136"/>
                    </a:lnTo>
                    <a:lnTo>
                      <a:pt x="3480" y="136"/>
                    </a:lnTo>
                    <a:lnTo>
                      <a:pt x="3480" y="133"/>
                    </a:lnTo>
                    <a:lnTo>
                      <a:pt x="3490" y="133"/>
                    </a:lnTo>
                    <a:lnTo>
                      <a:pt x="3490" y="129"/>
                    </a:lnTo>
                    <a:lnTo>
                      <a:pt x="3503" y="129"/>
                    </a:lnTo>
                    <a:lnTo>
                      <a:pt x="3503" y="126"/>
                    </a:lnTo>
                    <a:lnTo>
                      <a:pt x="3513" y="126"/>
                    </a:lnTo>
                    <a:lnTo>
                      <a:pt x="3513" y="124"/>
                    </a:lnTo>
                    <a:lnTo>
                      <a:pt x="3525" y="124"/>
                    </a:lnTo>
                    <a:lnTo>
                      <a:pt x="3525" y="120"/>
                    </a:lnTo>
                    <a:lnTo>
                      <a:pt x="3535" y="120"/>
                    </a:lnTo>
                    <a:lnTo>
                      <a:pt x="3535" y="117"/>
                    </a:lnTo>
                    <a:lnTo>
                      <a:pt x="3547" y="117"/>
                    </a:lnTo>
                    <a:lnTo>
                      <a:pt x="3547" y="111"/>
                    </a:lnTo>
                    <a:lnTo>
                      <a:pt x="3557" y="111"/>
                    </a:lnTo>
                    <a:lnTo>
                      <a:pt x="3557" y="108"/>
                    </a:lnTo>
                    <a:lnTo>
                      <a:pt x="3569" y="108"/>
                    </a:lnTo>
                    <a:lnTo>
                      <a:pt x="3569" y="106"/>
                    </a:lnTo>
                    <a:lnTo>
                      <a:pt x="3579" y="106"/>
                    </a:lnTo>
                    <a:lnTo>
                      <a:pt x="3579" y="101"/>
                    </a:lnTo>
                    <a:lnTo>
                      <a:pt x="3589" y="101"/>
                    </a:lnTo>
                    <a:lnTo>
                      <a:pt x="3589" y="97"/>
                    </a:lnTo>
                    <a:lnTo>
                      <a:pt x="3602" y="97"/>
                    </a:lnTo>
                    <a:lnTo>
                      <a:pt x="3602" y="94"/>
                    </a:lnTo>
                    <a:lnTo>
                      <a:pt x="3611" y="94"/>
                    </a:lnTo>
                    <a:lnTo>
                      <a:pt x="3611" y="92"/>
                    </a:lnTo>
                    <a:lnTo>
                      <a:pt x="3624" y="92"/>
                    </a:lnTo>
                    <a:lnTo>
                      <a:pt x="3624" y="88"/>
                    </a:lnTo>
                    <a:lnTo>
                      <a:pt x="3634" y="88"/>
                    </a:lnTo>
                    <a:lnTo>
                      <a:pt x="3634" y="81"/>
                    </a:lnTo>
                    <a:lnTo>
                      <a:pt x="3646" y="81"/>
                    </a:lnTo>
                    <a:lnTo>
                      <a:pt x="3646" y="78"/>
                    </a:lnTo>
                    <a:lnTo>
                      <a:pt x="3656" y="78"/>
                    </a:lnTo>
                    <a:lnTo>
                      <a:pt x="3656" y="76"/>
                    </a:lnTo>
                    <a:lnTo>
                      <a:pt x="3668" y="76"/>
                    </a:lnTo>
                    <a:lnTo>
                      <a:pt x="3668" y="74"/>
                    </a:lnTo>
                    <a:lnTo>
                      <a:pt x="3678" y="74"/>
                    </a:lnTo>
                    <a:lnTo>
                      <a:pt x="3678" y="72"/>
                    </a:lnTo>
                    <a:lnTo>
                      <a:pt x="3691" y="72"/>
                    </a:lnTo>
                    <a:lnTo>
                      <a:pt x="3691" y="69"/>
                    </a:lnTo>
                    <a:lnTo>
                      <a:pt x="3700" y="69"/>
                    </a:lnTo>
                    <a:lnTo>
                      <a:pt x="3700" y="67"/>
                    </a:lnTo>
                    <a:lnTo>
                      <a:pt x="3713" y="67"/>
                    </a:lnTo>
                    <a:lnTo>
                      <a:pt x="3713" y="65"/>
                    </a:lnTo>
                    <a:lnTo>
                      <a:pt x="3723" y="65"/>
                    </a:lnTo>
                    <a:lnTo>
                      <a:pt x="3723" y="62"/>
                    </a:lnTo>
                    <a:lnTo>
                      <a:pt x="3735" y="62"/>
                    </a:lnTo>
                    <a:lnTo>
                      <a:pt x="3735" y="62"/>
                    </a:lnTo>
                    <a:lnTo>
                      <a:pt x="3745" y="62"/>
                    </a:lnTo>
                    <a:lnTo>
                      <a:pt x="3745" y="60"/>
                    </a:lnTo>
                    <a:lnTo>
                      <a:pt x="3757" y="60"/>
                    </a:lnTo>
                    <a:lnTo>
                      <a:pt x="3757" y="58"/>
                    </a:lnTo>
                    <a:lnTo>
                      <a:pt x="3767" y="58"/>
                    </a:lnTo>
                    <a:lnTo>
                      <a:pt x="3767" y="56"/>
                    </a:lnTo>
                    <a:lnTo>
                      <a:pt x="3777" y="56"/>
                    </a:lnTo>
                    <a:lnTo>
                      <a:pt x="3777" y="55"/>
                    </a:lnTo>
                    <a:lnTo>
                      <a:pt x="3789" y="55"/>
                    </a:lnTo>
                    <a:lnTo>
                      <a:pt x="3789" y="51"/>
                    </a:lnTo>
                    <a:lnTo>
                      <a:pt x="3799" y="51"/>
                    </a:lnTo>
                    <a:lnTo>
                      <a:pt x="3799" y="47"/>
                    </a:lnTo>
                    <a:lnTo>
                      <a:pt x="3812" y="47"/>
                    </a:lnTo>
                    <a:lnTo>
                      <a:pt x="3812" y="47"/>
                    </a:lnTo>
                    <a:lnTo>
                      <a:pt x="3822" y="47"/>
                    </a:lnTo>
                    <a:lnTo>
                      <a:pt x="3822" y="46"/>
                    </a:lnTo>
                    <a:lnTo>
                      <a:pt x="3834" y="46"/>
                    </a:lnTo>
                    <a:lnTo>
                      <a:pt x="3834" y="42"/>
                    </a:lnTo>
                    <a:lnTo>
                      <a:pt x="3844" y="42"/>
                    </a:lnTo>
                    <a:lnTo>
                      <a:pt x="3844" y="39"/>
                    </a:lnTo>
                    <a:lnTo>
                      <a:pt x="3856" y="39"/>
                    </a:lnTo>
                    <a:lnTo>
                      <a:pt x="3856" y="37"/>
                    </a:lnTo>
                    <a:lnTo>
                      <a:pt x="3866" y="37"/>
                    </a:lnTo>
                    <a:lnTo>
                      <a:pt x="3866" y="33"/>
                    </a:lnTo>
                    <a:lnTo>
                      <a:pt x="3878" y="33"/>
                    </a:lnTo>
                    <a:lnTo>
                      <a:pt x="3878" y="30"/>
                    </a:lnTo>
                    <a:lnTo>
                      <a:pt x="3901" y="30"/>
                    </a:lnTo>
                    <a:lnTo>
                      <a:pt x="3901" y="26"/>
                    </a:lnTo>
                    <a:lnTo>
                      <a:pt x="3911" y="26"/>
                    </a:lnTo>
                    <a:lnTo>
                      <a:pt x="3911" y="23"/>
                    </a:lnTo>
                    <a:lnTo>
                      <a:pt x="3923" y="23"/>
                    </a:lnTo>
                    <a:lnTo>
                      <a:pt x="3923" y="21"/>
                    </a:lnTo>
                    <a:lnTo>
                      <a:pt x="3933" y="21"/>
                    </a:lnTo>
                    <a:lnTo>
                      <a:pt x="3933" y="21"/>
                    </a:lnTo>
                    <a:lnTo>
                      <a:pt x="3955" y="21"/>
                    </a:lnTo>
                    <a:lnTo>
                      <a:pt x="3955" y="17"/>
                    </a:lnTo>
                    <a:lnTo>
                      <a:pt x="3977" y="17"/>
                    </a:lnTo>
                    <a:lnTo>
                      <a:pt x="3977" y="14"/>
                    </a:lnTo>
                    <a:lnTo>
                      <a:pt x="3987" y="14"/>
                    </a:lnTo>
                    <a:lnTo>
                      <a:pt x="3987" y="12"/>
                    </a:lnTo>
                    <a:lnTo>
                      <a:pt x="4000" y="12"/>
                    </a:lnTo>
                    <a:lnTo>
                      <a:pt x="4000" y="10"/>
                    </a:lnTo>
                    <a:lnTo>
                      <a:pt x="4009" y="10"/>
                    </a:lnTo>
                    <a:lnTo>
                      <a:pt x="4009" y="7"/>
                    </a:lnTo>
                    <a:lnTo>
                      <a:pt x="4022" y="7"/>
                    </a:lnTo>
                    <a:lnTo>
                      <a:pt x="4022" y="3"/>
                    </a:lnTo>
                    <a:lnTo>
                      <a:pt x="4032" y="3"/>
                    </a:lnTo>
                    <a:lnTo>
                      <a:pt x="4032" y="0"/>
                    </a:lnTo>
                    <a:lnTo>
                      <a:pt x="4044" y="0"/>
                    </a:lnTo>
                    <a:lnTo>
                      <a:pt x="4044" y="0"/>
                    </a:lnTo>
                  </a:path>
                </a:pathLst>
              </a:custGeom>
              <a:noFill/>
              <a:ln w="28575" cap="flat">
                <a:solidFill>
                  <a:srgbClr val="40488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4304" tIns="32152" rIns="64304" bIns="32152" numCol="1" anchor="t" anchorCtr="0" compatLnSpc="1">
                <a:prstTxWarp prst="textNoShape">
                  <a:avLst/>
                </a:prstTxWarp>
              </a:bodyPr>
              <a:lstStyle/>
              <a:p>
                <a:pPr marL="0" marR="0" lvl="0" indent="0" algn="l" defTabSz="321503"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154" name="Freeform 11">
                <a:extLst>
                  <a:ext uri="{FF2B5EF4-FFF2-40B4-BE49-F238E27FC236}">
                    <a16:creationId xmlns:a16="http://schemas.microsoft.com/office/drawing/2014/main" id="{A8C09C55-88B6-4A10-8986-5E376F7035D9}"/>
                  </a:ext>
                </a:extLst>
              </p:cNvPr>
              <p:cNvSpPr>
                <a:spLocks/>
              </p:cNvSpPr>
              <p:nvPr/>
            </p:nvSpPr>
            <p:spPr bwMode="auto">
              <a:xfrm>
                <a:off x="2116138" y="3938588"/>
                <a:ext cx="6384925" cy="134938"/>
              </a:xfrm>
              <a:custGeom>
                <a:avLst/>
                <a:gdLst>
                  <a:gd name="T0" fmla="*/ 10 w 4022"/>
                  <a:gd name="T1" fmla="*/ 84 h 85"/>
                  <a:gd name="T2" fmla="*/ 121 w 4022"/>
                  <a:gd name="T3" fmla="*/ 82 h 85"/>
                  <a:gd name="T4" fmla="*/ 143 w 4022"/>
                  <a:gd name="T5" fmla="*/ 80 h 85"/>
                  <a:gd name="T6" fmla="*/ 232 w 4022"/>
                  <a:gd name="T7" fmla="*/ 78 h 85"/>
                  <a:gd name="T8" fmla="*/ 299 w 4022"/>
                  <a:gd name="T9" fmla="*/ 76 h 85"/>
                  <a:gd name="T10" fmla="*/ 331 w 4022"/>
                  <a:gd name="T11" fmla="*/ 75 h 85"/>
                  <a:gd name="T12" fmla="*/ 354 w 4022"/>
                  <a:gd name="T13" fmla="*/ 73 h 85"/>
                  <a:gd name="T14" fmla="*/ 529 w 4022"/>
                  <a:gd name="T15" fmla="*/ 73 h 85"/>
                  <a:gd name="T16" fmla="*/ 551 w 4022"/>
                  <a:gd name="T17" fmla="*/ 71 h 85"/>
                  <a:gd name="T18" fmla="*/ 608 w 4022"/>
                  <a:gd name="T19" fmla="*/ 69 h 85"/>
                  <a:gd name="T20" fmla="*/ 653 w 4022"/>
                  <a:gd name="T21" fmla="*/ 69 h 85"/>
                  <a:gd name="T22" fmla="*/ 695 w 4022"/>
                  <a:gd name="T23" fmla="*/ 68 h 85"/>
                  <a:gd name="T24" fmla="*/ 707 w 4022"/>
                  <a:gd name="T25" fmla="*/ 66 h 85"/>
                  <a:gd name="T26" fmla="*/ 841 w 4022"/>
                  <a:gd name="T27" fmla="*/ 66 h 85"/>
                  <a:gd name="T28" fmla="*/ 860 w 4022"/>
                  <a:gd name="T29" fmla="*/ 64 h 85"/>
                  <a:gd name="T30" fmla="*/ 927 w 4022"/>
                  <a:gd name="T31" fmla="*/ 62 h 85"/>
                  <a:gd name="T32" fmla="*/ 1028 w 4022"/>
                  <a:gd name="T33" fmla="*/ 60 h 85"/>
                  <a:gd name="T34" fmla="*/ 1159 w 4022"/>
                  <a:gd name="T35" fmla="*/ 59 h 85"/>
                  <a:gd name="T36" fmla="*/ 1182 w 4022"/>
                  <a:gd name="T37" fmla="*/ 57 h 85"/>
                  <a:gd name="T38" fmla="*/ 1248 w 4022"/>
                  <a:gd name="T39" fmla="*/ 55 h 85"/>
                  <a:gd name="T40" fmla="*/ 1293 w 4022"/>
                  <a:gd name="T41" fmla="*/ 53 h 85"/>
                  <a:gd name="T42" fmla="*/ 1337 w 4022"/>
                  <a:gd name="T43" fmla="*/ 52 h 85"/>
                  <a:gd name="T44" fmla="*/ 1360 w 4022"/>
                  <a:gd name="T45" fmla="*/ 50 h 85"/>
                  <a:gd name="T46" fmla="*/ 1424 w 4022"/>
                  <a:gd name="T47" fmla="*/ 50 h 85"/>
                  <a:gd name="T48" fmla="*/ 1468 w 4022"/>
                  <a:gd name="T49" fmla="*/ 48 h 85"/>
                  <a:gd name="T50" fmla="*/ 1547 w 4022"/>
                  <a:gd name="T51" fmla="*/ 48 h 85"/>
                  <a:gd name="T52" fmla="*/ 1589 w 4022"/>
                  <a:gd name="T53" fmla="*/ 46 h 85"/>
                  <a:gd name="T54" fmla="*/ 1646 w 4022"/>
                  <a:gd name="T55" fmla="*/ 44 h 85"/>
                  <a:gd name="T56" fmla="*/ 1701 w 4022"/>
                  <a:gd name="T57" fmla="*/ 43 h 85"/>
                  <a:gd name="T58" fmla="*/ 1790 w 4022"/>
                  <a:gd name="T59" fmla="*/ 43 h 85"/>
                  <a:gd name="T60" fmla="*/ 1844 w 4022"/>
                  <a:gd name="T61" fmla="*/ 41 h 85"/>
                  <a:gd name="T62" fmla="*/ 1911 w 4022"/>
                  <a:gd name="T63" fmla="*/ 39 h 85"/>
                  <a:gd name="T64" fmla="*/ 1955 w 4022"/>
                  <a:gd name="T65" fmla="*/ 37 h 85"/>
                  <a:gd name="T66" fmla="*/ 1987 w 4022"/>
                  <a:gd name="T67" fmla="*/ 37 h 85"/>
                  <a:gd name="T68" fmla="*/ 2000 w 4022"/>
                  <a:gd name="T69" fmla="*/ 34 h 85"/>
                  <a:gd name="T70" fmla="*/ 2076 w 4022"/>
                  <a:gd name="T71" fmla="*/ 34 h 85"/>
                  <a:gd name="T72" fmla="*/ 2089 w 4022"/>
                  <a:gd name="T73" fmla="*/ 32 h 85"/>
                  <a:gd name="T74" fmla="*/ 2299 w 4022"/>
                  <a:gd name="T75" fmla="*/ 30 h 85"/>
                  <a:gd name="T76" fmla="*/ 2309 w 4022"/>
                  <a:gd name="T77" fmla="*/ 28 h 85"/>
                  <a:gd name="T78" fmla="*/ 2420 w 4022"/>
                  <a:gd name="T79" fmla="*/ 28 h 85"/>
                  <a:gd name="T80" fmla="*/ 2465 w 4022"/>
                  <a:gd name="T81" fmla="*/ 27 h 85"/>
                  <a:gd name="T82" fmla="*/ 2685 w 4022"/>
                  <a:gd name="T83" fmla="*/ 27 h 85"/>
                  <a:gd name="T84" fmla="*/ 2694 w 4022"/>
                  <a:gd name="T85" fmla="*/ 23 h 85"/>
                  <a:gd name="T86" fmla="*/ 2773 w 4022"/>
                  <a:gd name="T87" fmla="*/ 21 h 85"/>
                  <a:gd name="T88" fmla="*/ 2806 w 4022"/>
                  <a:gd name="T89" fmla="*/ 20 h 85"/>
                  <a:gd name="T90" fmla="*/ 2984 w 4022"/>
                  <a:gd name="T91" fmla="*/ 20 h 85"/>
                  <a:gd name="T92" fmla="*/ 3028 w 4022"/>
                  <a:gd name="T93" fmla="*/ 18 h 85"/>
                  <a:gd name="T94" fmla="*/ 3082 w 4022"/>
                  <a:gd name="T95" fmla="*/ 18 h 85"/>
                  <a:gd name="T96" fmla="*/ 3092 w 4022"/>
                  <a:gd name="T97" fmla="*/ 16 h 85"/>
                  <a:gd name="T98" fmla="*/ 3194 w 4022"/>
                  <a:gd name="T99" fmla="*/ 14 h 85"/>
                  <a:gd name="T100" fmla="*/ 3236 w 4022"/>
                  <a:gd name="T101" fmla="*/ 12 h 85"/>
                  <a:gd name="T102" fmla="*/ 3315 w 4022"/>
                  <a:gd name="T103" fmla="*/ 12 h 85"/>
                  <a:gd name="T104" fmla="*/ 3325 w 4022"/>
                  <a:gd name="T105" fmla="*/ 11 h 85"/>
                  <a:gd name="T106" fmla="*/ 3401 w 4022"/>
                  <a:gd name="T107" fmla="*/ 9 h 85"/>
                  <a:gd name="T108" fmla="*/ 3424 w 4022"/>
                  <a:gd name="T109" fmla="*/ 7 h 85"/>
                  <a:gd name="T110" fmla="*/ 3678 w 4022"/>
                  <a:gd name="T111" fmla="*/ 7 h 85"/>
                  <a:gd name="T112" fmla="*/ 3691 w 4022"/>
                  <a:gd name="T113" fmla="*/ 5 h 85"/>
                  <a:gd name="T114" fmla="*/ 3757 w 4022"/>
                  <a:gd name="T115" fmla="*/ 4 h 85"/>
                  <a:gd name="T116" fmla="*/ 3767 w 4022"/>
                  <a:gd name="T117" fmla="*/ 2 h 85"/>
                  <a:gd name="T118" fmla="*/ 4022 w 4022"/>
                  <a:gd name="T119" fmla="*/ 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22" h="85">
                    <a:moveTo>
                      <a:pt x="0" y="85"/>
                    </a:moveTo>
                    <a:lnTo>
                      <a:pt x="10" y="85"/>
                    </a:lnTo>
                    <a:lnTo>
                      <a:pt x="10" y="84"/>
                    </a:lnTo>
                    <a:lnTo>
                      <a:pt x="32" y="84"/>
                    </a:lnTo>
                    <a:lnTo>
                      <a:pt x="32" y="82"/>
                    </a:lnTo>
                    <a:lnTo>
                      <a:pt x="121" y="82"/>
                    </a:lnTo>
                    <a:lnTo>
                      <a:pt x="121" y="80"/>
                    </a:lnTo>
                    <a:lnTo>
                      <a:pt x="143" y="80"/>
                    </a:lnTo>
                    <a:lnTo>
                      <a:pt x="143" y="80"/>
                    </a:lnTo>
                    <a:lnTo>
                      <a:pt x="188" y="80"/>
                    </a:lnTo>
                    <a:lnTo>
                      <a:pt x="188" y="78"/>
                    </a:lnTo>
                    <a:lnTo>
                      <a:pt x="232" y="78"/>
                    </a:lnTo>
                    <a:lnTo>
                      <a:pt x="232" y="78"/>
                    </a:lnTo>
                    <a:lnTo>
                      <a:pt x="299" y="78"/>
                    </a:lnTo>
                    <a:lnTo>
                      <a:pt x="299" y="76"/>
                    </a:lnTo>
                    <a:lnTo>
                      <a:pt x="309" y="76"/>
                    </a:lnTo>
                    <a:lnTo>
                      <a:pt x="309" y="75"/>
                    </a:lnTo>
                    <a:lnTo>
                      <a:pt x="331" y="75"/>
                    </a:lnTo>
                    <a:lnTo>
                      <a:pt x="331" y="75"/>
                    </a:lnTo>
                    <a:lnTo>
                      <a:pt x="354" y="75"/>
                    </a:lnTo>
                    <a:lnTo>
                      <a:pt x="354" y="73"/>
                    </a:lnTo>
                    <a:lnTo>
                      <a:pt x="398" y="73"/>
                    </a:lnTo>
                    <a:lnTo>
                      <a:pt x="398" y="73"/>
                    </a:lnTo>
                    <a:lnTo>
                      <a:pt x="529" y="73"/>
                    </a:lnTo>
                    <a:lnTo>
                      <a:pt x="529" y="71"/>
                    </a:lnTo>
                    <a:lnTo>
                      <a:pt x="551" y="71"/>
                    </a:lnTo>
                    <a:lnTo>
                      <a:pt x="551" y="71"/>
                    </a:lnTo>
                    <a:lnTo>
                      <a:pt x="586" y="71"/>
                    </a:lnTo>
                    <a:lnTo>
                      <a:pt x="586" y="69"/>
                    </a:lnTo>
                    <a:lnTo>
                      <a:pt x="608" y="69"/>
                    </a:lnTo>
                    <a:lnTo>
                      <a:pt x="608" y="69"/>
                    </a:lnTo>
                    <a:lnTo>
                      <a:pt x="653" y="69"/>
                    </a:lnTo>
                    <a:lnTo>
                      <a:pt x="653" y="69"/>
                    </a:lnTo>
                    <a:lnTo>
                      <a:pt x="685" y="69"/>
                    </a:lnTo>
                    <a:lnTo>
                      <a:pt x="685" y="68"/>
                    </a:lnTo>
                    <a:lnTo>
                      <a:pt x="695" y="68"/>
                    </a:lnTo>
                    <a:lnTo>
                      <a:pt x="695" y="68"/>
                    </a:lnTo>
                    <a:lnTo>
                      <a:pt x="707" y="68"/>
                    </a:lnTo>
                    <a:lnTo>
                      <a:pt x="707" y="66"/>
                    </a:lnTo>
                    <a:lnTo>
                      <a:pt x="739" y="66"/>
                    </a:lnTo>
                    <a:lnTo>
                      <a:pt x="739" y="66"/>
                    </a:lnTo>
                    <a:lnTo>
                      <a:pt x="841" y="66"/>
                    </a:lnTo>
                    <a:lnTo>
                      <a:pt x="841" y="64"/>
                    </a:lnTo>
                    <a:lnTo>
                      <a:pt x="860" y="64"/>
                    </a:lnTo>
                    <a:lnTo>
                      <a:pt x="860" y="64"/>
                    </a:lnTo>
                    <a:lnTo>
                      <a:pt x="883" y="64"/>
                    </a:lnTo>
                    <a:lnTo>
                      <a:pt x="883" y="62"/>
                    </a:lnTo>
                    <a:lnTo>
                      <a:pt x="927" y="62"/>
                    </a:lnTo>
                    <a:lnTo>
                      <a:pt x="927" y="60"/>
                    </a:lnTo>
                    <a:lnTo>
                      <a:pt x="1028" y="60"/>
                    </a:lnTo>
                    <a:lnTo>
                      <a:pt x="1028" y="60"/>
                    </a:lnTo>
                    <a:lnTo>
                      <a:pt x="1061" y="60"/>
                    </a:lnTo>
                    <a:lnTo>
                      <a:pt x="1061" y="59"/>
                    </a:lnTo>
                    <a:lnTo>
                      <a:pt x="1159" y="59"/>
                    </a:lnTo>
                    <a:lnTo>
                      <a:pt x="1159" y="59"/>
                    </a:lnTo>
                    <a:lnTo>
                      <a:pt x="1182" y="59"/>
                    </a:lnTo>
                    <a:lnTo>
                      <a:pt x="1182" y="57"/>
                    </a:lnTo>
                    <a:lnTo>
                      <a:pt x="1236" y="57"/>
                    </a:lnTo>
                    <a:lnTo>
                      <a:pt x="1236" y="55"/>
                    </a:lnTo>
                    <a:lnTo>
                      <a:pt x="1248" y="55"/>
                    </a:lnTo>
                    <a:lnTo>
                      <a:pt x="1248" y="53"/>
                    </a:lnTo>
                    <a:lnTo>
                      <a:pt x="1293" y="53"/>
                    </a:lnTo>
                    <a:lnTo>
                      <a:pt x="1293" y="53"/>
                    </a:lnTo>
                    <a:lnTo>
                      <a:pt x="1303" y="53"/>
                    </a:lnTo>
                    <a:lnTo>
                      <a:pt x="1303" y="52"/>
                    </a:lnTo>
                    <a:lnTo>
                      <a:pt x="1337" y="52"/>
                    </a:lnTo>
                    <a:lnTo>
                      <a:pt x="1337" y="52"/>
                    </a:lnTo>
                    <a:lnTo>
                      <a:pt x="1360" y="52"/>
                    </a:lnTo>
                    <a:lnTo>
                      <a:pt x="1360" y="50"/>
                    </a:lnTo>
                    <a:lnTo>
                      <a:pt x="1402" y="50"/>
                    </a:lnTo>
                    <a:lnTo>
                      <a:pt x="1402" y="50"/>
                    </a:lnTo>
                    <a:lnTo>
                      <a:pt x="1424" y="50"/>
                    </a:lnTo>
                    <a:lnTo>
                      <a:pt x="1424" y="48"/>
                    </a:lnTo>
                    <a:lnTo>
                      <a:pt x="1468" y="48"/>
                    </a:lnTo>
                    <a:lnTo>
                      <a:pt x="1468" y="48"/>
                    </a:lnTo>
                    <a:lnTo>
                      <a:pt x="1491" y="48"/>
                    </a:lnTo>
                    <a:lnTo>
                      <a:pt x="1491" y="48"/>
                    </a:lnTo>
                    <a:lnTo>
                      <a:pt x="1547" y="48"/>
                    </a:lnTo>
                    <a:lnTo>
                      <a:pt x="1547" y="46"/>
                    </a:lnTo>
                    <a:lnTo>
                      <a:pt x="1589" y="46"/>
                    </a:lnTo>
                    <a:lnTo>
                      <a:pt x="1589" y="46"/>
                    </a:lnTo>
                    <a:lnTo>
                      <a:pt x="1634" y="46"/>
                    </a:lnTo>
                    <a:lnTo>
                      <a:pt x="1634" y="44"/>
                    </a:lnTo>
                    <a:lnTo>
                      <a:pt x="1646" y="44"/>
                    </a:lnTo>
                    <a:lnTo>
                      <a:pt x="1646" y="44"/>
                    </a:lnTo>
                    <a:lnTo>
                      <a:pt x="1701" y="44"/>
                    </a:lnTo>
                    <a:lnTo>
                      <a:pt x="1701" y="43"/>
                    </a:lnTo>
                    <a:lnTo>
                      <a:pt x="1713" y="43"/>
                    </a:lnTo>
                    <a:lnTo>
                      <a:pt x="1713" y="43"/>
                    </a:lnTo>
                    <a:lnTo>
                      <a:pt x="1790" y="43"/>
                    </a:lnTo>
                    <a:lnTo>
                      <a:pt x="1790" y="41"/>
                    </a:lnTo>
                    <a:lnTo>
                      <a:pt x="1844" y="41"/>
                    </a:lnTo>
                    <a:lnTo>
                      <a:pt x="1844" y="41"/>
                    </a:lnTo>
                    <a:lnTo>
                      <a:pt x="1889" y="41"/>
                    </a:lnTo>
                    <a:lnTo>
                      <a:pt x="1889" y="39"/>
                    </a:lnTo>
                    <a:lnTo>
                      <a:pt x="1911" y="39"/>
                    </a:lnTo>
                    <a:lnTo>
                      <a:pt x="1911" y="39"/>
                    </a:lnTo>
                    <a:lnTo>
                      <a:pt x="1955" y="39"/>
                    </a:lnTo>
                    <a:lnTo>
                      <a:pt x="1955" y="37"/>
                    </a:lnTo>
                    <a:lnTo>
                      <a:pt x="1965" y="37"/>
                    </a:lnTo>
                    <a:lnTo>
                      <a:pt x="1965" y="37"/>
                    </a:lnTo>
                    <a:lnTo>
                      <a:pt x="1987" y="37"/>
                    </a:lnTo>
                    <a:lnTo>
                      <a:pt x="1987" y="36"/>
                    </a:lnTo>
                    <a:lnTo>
                      <a:pt x="2000" y="36"/>
                    </a:lnTo>
                    <a:lnTo>
                      <a:pt x="2000" y="34"/>
                    </a:lnTo>
                    <a:lnTo>
                      <a:pt x="2067" y="34"/>
                    </a:lnTo>
                    <a:lnTo>
                      <a:pt x="2067" y="34"/>
                    </a:lnTo>
                    <a:lnTo>
                      <a:pt x="2076" y="34"/>
                    </a:lnTo>
                    <a:lnTo>
                      <a:pt x="2076" y="32"/>
                    </a:lnTo>
                    <a:lnTo>
                      <a:pt x="2089" y="32"/>
                    </a:lnTo>
                    <a:lnTo>
                      <a:pt x="2089" y="32"/>
                    </a:lnTo>
                    <a:lnTo>
                      <a:pt x="2165" y="32"/>
                    </a:lnTo>
                    <a:lnTo>
                      <a:pt x="2165" y="30"/>
                    </a:lnTo>
                    <a:lnTo>
                      <a:pt x="2299" y="30"/>
                    </a:lnTo>
                    <a:lnTo>
                      <a:pt x="2299" y="30"/>
                    </a:lnTo>
                    <a:lnTo>
                      <a:pt x="2309" y="30"/>
                    </a:lnTo>
                    <a:lnTo>
                      <a:pt x="2309" y="28"/>
                    </a:lnTo>
                    <a:lnTo>
                      <a:pt x="2376" y="28"/>
                    </a:lnTo>
                    <a:lnTo>
                      <a:pt x="2376" y="28"/>
                    </a:lnTo>
                    <a:lnTo>
                      <a:pt x="2420" y="28"/>
                    </a:lnTo>
                    <a:lnTo>
                      <a:pt x="2420" y="28"/>
                    </a:lnTo>
                    <a:lnTo>
                      <a:pt x="2465" y="28"/>
                    </a:lnTo>
                    <a:lnTo>
                      <a:pt x="2465" y="27"/>
                    </a:lnTo>
                    <a:lnTo>
                      <a:pt x="2618" y="27"/>
                    </a:lnTo>
                    <a:lnTo>
                      <a:pt x="2618" y="27"/>
                    </a:lnTo>
                    <a:lnTo>
                      <a:pt x="2685" y="27"/>
                    </a:lnTo>
                    <a:lnTo>
                      <a:pt x="2685" y="25"/>
                    </a:lnTo>
                    <a:lnTo>
                      <a:pt x="2694" y="25"/>
                    </a:lnTo>
                    <a:lnTo>
                      <a:pt x="2694" y="23"/>
                    </a:lnTo>
                    <a:lnTo>
                      <a:pt x="2751" y="23"/>
                    </a:lnTo>
                    <a:lnTo>
                      <a:pt x="2751" y="21"/>
                    </a:lnTo>
                    <a:lnTo>
                      <a:pt x="2773" y="21"/>
                    </a:lnTo>
                    <a:lnTo>
                      <a:pt x="2773" y="21"/>
                    </a:lnTo>
                    <a:lnTo>
                      <a:pt x="2806" y="21"/>
                    </a:lnTo>
                    <a:lnTo>
                      <a:pt x="2806" y="20"/>
                    </a:lnTo>
                    <a:lnTo>
                      <a:pt x="2840" y="20"/>
                    </a:lnTo>
                    <a:lnTo>
                      <a:pt x="2840" y="20"/>
                    </a:lnTo>
                    <a:lnTo>
                      <a:pt x="2984" y="20"/>
                    </a:lnTo>
                    <a:lnTo>
                      <a:pt x="2984" y="18"/>
                    </a:lnTo>
                    <a:lnTo>
                      <a:pt x="3028" y="18"/>
                    </a:lnTo>
                    <a:lnTo>
                      <a:pt x="3028" y="18"/>
                    </a:lnTo>
                    <a:lnTo>
                      <a:pt x="3048" y="18"/>
                    </a:lnTo>
                    <a:lnTo>
                      <a:pt x="3048" y="18"/>
                    </a:lnTo>
                    <a:lnTo>
                      <a:pt x="3082" y="18"/>
                    </a:lnTo>
                    <a:lnTo>
                      <a:pt x="3082" y="16"/>
                    </a:lnTo>
                    <a:lnTo>
                      <a:pt x="3092" y="16"/>
                    </a:lnTo>
                    <a:lnTo>
                      <a:pt x="3092" y="16"/>
                    </a:lnTo>
                    <a:lnTo>
                      <a:pt x="3149" y="16"/>
                    </a:lnTo>
                    <a:lnTo>
                      <a:pt x="3149" y="14"/>
                    </a:lnTo>
                    <a:lnTo>
                      <a:pt x="3194" y="14"/>
                    </a:lnTo>
                    <a:lnTo>
                      <a:pt x="3194" y="14"/>
                    </a:lnTo>
                    <a:lnTo>
                      <a:pt x="3236" y="14"/>
                    </a:lnTo>
                    <a:lnTo>
                      <a:pt x="3236" y="12"/>
                    </a:lnTo>
                    <a:lnTo>
                      <a:pt x="3248" y="12"/>
                    </a:lnTo>
                    <a:lnTo>
                      <a:pt x="3248" y="12"/>
                    </a:lnTo>
                    <a:lnTo>
                      <a:pt x="3315" y="12"/>
                    </a:lnTo>
                    <a:lnTo>
                      <a:pt x="3315" y="11"/>
                    </a:lnTo>
                    <a:lnTo>
                      <a:pt x="3325" y="11"/>
                    </a:lnTo>
                    <a:lnTo>
                      <a:pt x="3325" y="11"/>
                    </a:lnTo>
                    <a:lnTo>
                      <a:pt x="3382" y="11"/>
                    </a:lnTo>
                    <a:lnTo>
                      <a:pt x="3382" y="9"/>
                    </a:lnTo>
                    <a:lnTo>
                      <a:pt x="3401" y="9"/>
                    </a:lnTo>
                    <a:lnTo>
                      <a:pt x="3401" y="9"/>
                    </a:lnTo>
                    <a:lnTo>
                      <a:pt x="3424" y="9"/>
                    </a:lnTo>
                    <a:lnTo>
                      <a:pt x="3424" y="7"/>
                    </a:lnTo>
                    <a:lnTo>
                      <a:pt x="3557" y="7"/>
                    </a:lnTo>
                    <a:lnTo>
                      <a:pt x="3557" y="7"/>
                    </a:lnTo>
                    <a:lnTo>
                      <a:pt x="3678" y="7"/>
                    </a:lnTo>
                    <a:lnTo>
                      <a:pt x="3678" y="7"/>
                    </a:lnTo>
                    <a:lnTo>
                      <a:pt x="3691" y="7"/>
                    </a:lnTo>
                    <a:lnTo>
                      <a:pt x="3691" y="5"/>
                    </a:lnTo>
                    <a:lnTo>
                      <a:pt x="3700" y="5"/>
                    </a:lnTo>
                    <a:lnTo>
                      <a:pt x="3700" y="4"/>
                    </a:lnTo>
                    <a:lnTo>
                      <a:pt x="3757" y="4"/>
                    </a:lnTo>
                    <a:lnTo>
                      <a:pt x="3757" y="4"/>
                    </a:lnTo>
                    <a:lnTo>
                      <a:pt x="3767" y="4"/>
                    </a:lnTo>
                    <a:lnTo>
                      <a:pt x="3767" y="2"/>
                    </a:lnTo>
                    <a:lnTo>
                      <a:pt x="3945" y="2"/>
                    </a:lnTo>
                    <a:lnTo>
                      <a:pt x="3945" y="2"/>
                    </a:lnTo>
                    <a:lnTo>
                      <a:pt x="4022" y="2"/>
                    </a:lnTo>
                    <a:lnTo>
                      <a:pt x="4022" y="0"/>
                    </a:lnTo>
                  </a:path>
                </a:pathLst>
              </a:custGeom>
              <a:noFill/>
              <a:ln w="28575" cap="flat">
                <a:solidFill>
                  <a:srgbClr val="40488D"/>
                </a:solidFill>
                <a:prstDash val="sysDash"/>
                <a:miter lim="800000"/>
                <a:headEnd/>
                <a:tailEnd/>
              </a:ln>
              <a:extLst>
                <a:ext uri="{909E8E84-426E-40DD-AFC4-6F175D3DCCD1}">
                  <a14:hiddenFill xmlns:a14="http://schemas.microsoft.com/office/drawing/2010/main">
                    <a:solidFill>
                      <a:srgbClr val="FFFFFF"/>
                    </a:solidFill>
                  </a14:hiddenFill>
                </a:ext>
              </a:extLst>
            </p:spPr>
            <p:txBody>
              <a:bodyPr vert="horz" wrap="square" lIns="64304" tIns="32152" rIns="64304" bIns="32152" numCol="1" anchor="t" anchorCtr="0" compatLnSpc="1">
                <a:prstTxWarp prst="textNoShape">
                  <a:avLst/>
                </a:prstTxWarp>
              </a:bodyPr>
              <a:lstStyle/>
              <a:p>
                <a:pPr marL="0" marR="0" lvl="0" indent="0" algn="l" defTabSz="321503"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grpSp>
        <p:grpSp>
          <p:nvGrpSpPr>
            <p:cNvPr id="112" name="Group 111">
              <a:extLst>
                <a:ext uri="{FF2B5EF4-FFF2-40B4-BE49-F238E27FC236}">
                  <a16:creationId xmlns:a16="http://schemas.microsoft.com/office/drawing/2014/main" id="{43F4CC47-28C2-4B4E-9F2F-911DA05EC059}"/>
                </a:ext>
              </a:extLst>
            </p:cNvPr>
            <p:cNvGrpSpPr/>
            <p:nvPr/>
          </p:nvGrpSpPr>
          <p:grpSpPr>
            <a:xfrm>
              <a:off x="1218081" y="4745198"/>
              <a:ext cx="5545072" cy="45720"/>
              <a:chOff x="2107085" y="4069862"/>
              <a:chExt cx="6406329" cy="75934"/>
            </a:xfrm>
          </p:grpSpPr>
          <p:cxnSp>
            <p:nvCxnSpPr>
              <p:cNvPr id="136" name="Straight Connector 135">
                <a:extLst>
                  <a:ext uri="{FF2B5EF4-FFF2-40B4-BE49-F238E27FC236}">
                    <a16:creationId xmlns:a16="http://schemas.microsoft.com/office/drawing/2014/main" id="{3C268920-8792-4A1E-853C-E5269B79ABAA}"/>
                  </a:ext>
                </a:extLst>
              </p:cNvPr>
              <p:cNvCxnSpPr/>
              <p:nvPr/>
            </p:nvCxnSpPr>
            <p:spPr>
              <a:xfrm>
                <a:off x="8513414" y="4069862"/>
                <a:ext cx="0" cy="75934"/>
              </a:xfrm>
              <a:prstGeom prst="line">
                <a:avLst/>
              </a:prstGeom>
              <a:noFill/>
              <a:ln w="9525" cap="sq" cmpd="sng" algn="ctr">
                <a:solidFill>
                  <a:srgbClr val="544F40"/>
                </a:solidFill>
                <a:prstDash val="solid"/>
                <a:miter lim="800000"/>
              </a:ln>
              <a:effectLst/>
            </p:spPr>
          </p:cxnSp>
          <p:cxnSp>
            <p:nvCxnSpPr>
              <p:cNvPr id="137" name="Straight Connector 136">
                <a:extLst>
                  <a:ext uri="{FF2B5EF4-FFF2-40B4-BE49-F238E27FC236}">
                    <a16:creationId xmlns:a16="http://schemas.microsoft.com/office/drawing/2014/main" id="{552669B3-2494-4DC5-B942-6905194E367A}"/>
                  </a:ext>
                </a:extLst>
              </p:cNvPr>
              <p:cNvCxnSpPr/>
              <p:nvPr/>
            </p:nvCxnSpPr>
            <p:spPr>
              <a:xfrm>
                <a:off x="2107085" y="4069862"/>
                <a:ext cx="0" cy="75934"/>
              </a:xfrm>
              <a:prstGeom prst="line">
                <a:avLst/>
              </a:prstGeom>
              <a:noFill/>
              <a:ln w="9525" cap="sq" cmpd="sng" algn="ctr">
                <a:solidFill>
                  <a:srgbClr val="544F40"/>
                </a:solidFill>
                <a:prstDash val="solid"/>
                <a:miter lim="800000"/>
              </a:ln>
              <a:effectLst/>
            </p:spPr>
          </p:cxnSp>
          <p:cxnSp>
            <p:nvCxnSpPr>
              <p:cNvPr id="138" name="Straight Connector 137">
                <a:extLst>
                  <a:ext uri="{FF2B5EF4-FFF2-40B4-BE49-F238E27FC236}">
                    <a16:creationId xmlns:a16="http://schemas.microsoft.com/office/drawing/2014/main" id="{9A24EC63-4012-41BD-B476-5FE8BCC21245}"/>
                  </a:ext>
                </a:extLst>
              </p:cNvPr>
              <p:cNvCxnSpPr/>
              <p:nvPr/>
            </p:nvCxnSpPr>
            <p:spPr>
              <a:xfrm>
                <a:off x="5063855" y="4069862"/>
                <a:ext cx="0" cy="75934"/>
              </a:xfrm>
              <a:prstGeom prst="line">
                <a:avLst/>
              </a:prstGeom>
              <a:noFill/>
              <a:ln w="9525" cap="sq" cmpd="sng" algn="ctr">
                <a:solidFill>
                  <a:srgbClr val="544F40"/>
                </a:solidFill>
                <a:prstDash val="solid"/>
                <a:miter lim="800000"/>
              </a:ln>
              <a:effectLst/>
            </p:spPr>
          </p:cxnSp>
          <p:cxnSp>
            <p:nvCxnSpPr>
              <p:cNvPr id="139" name="Straight Connector 138">
                <a:extLst>
                  <a:ext uri="{FF2B5EF4-FFF2-40B4-BE49-F238E27FC236}">
                    <a16:creationId xmlns:a16="http://schemas.microsoft.com/office/drawing/2014/main" id="{CE0F081E-C854-4D3B-8F1A-0B6713981AEF}"/>
                  </a:ext>
                </a:extLst>
              </p:cNvPr>
              <p:cNvCxnSpPr/>
              <p:nvPr/>
            </p:nvCxnSpPr>
            <p:spPr>
              <a:xfrm>
                <a:off x="2599880" y="4069862"/>
                <a:ext cx="0" cy="75934"/>
              </a:xfrm>
              <a:prstGeom prst="line">
                <a:avLst/>
              </a:prstGeom>
              <a:noFill/>
              <a:ln w="9525" cap="sq" cmpd="sng" algn="ctr">
                <a:solidFill>
                  <a:srgbClr val="544F40"/>
                </a:solidFill>
                <a:prstDash val="solid"/>
                <a:miter lim="800000"/>
              </a:ln>
              <a:effectLst/>
            </p:spPr>
          </p:cxnSp>
          <p:cxnSp>
            <p:nvCxnSpPr>
              <p:cNvPr id="140" name="Straight Connector 139">
                <a:extLst>
                  <a:ext uri="{FF2B5EF4-FFF2-40B4-BE49-F238E27FC236}">
                    <a16:creationId xmlns:a16="http://schemas.microsoft.com/office/drawing/2014/main" id="{2AC8B671-650D-46AA-90CF-8AE7C3308051}"/>
                  </a:ext>
                </a:extLst>
              </p:cNvPr>
              <p:cNvCxnSpPr/>
              <p:nvPr/>
            </p:nvCxnSpPr>
            <p:spPr>
              <a:xfrm>
                <a:off x="3092675" y="4069862"/>
                <a:ext cx="0" cy="75934"/>
              </a:xfrm>
              <a:prstGeom prst="line">
                <a:avLst/>
              </a:prstGeom>
              <a:noFill/>
              <a:ln w="9525" cap="sq" cmpd="sng" algn="ctr">
                <a:solidFill>
                  <a:srgbClr val="544F40"/>
                </a:solidFill>
                <a:prstDash val="solid"/>
                <a:miter lim="800000"/>
              </a:ln>
              <a:effectLst/>
            </p:spPr>
          </p:cxnSp>
          <p:cxnSp>
            <p:nvCxnSpPr>
              <p:cNvPr id="141" name="Straight Connector 140">
                <a:extLst>
                  <a:ext uri="{FF2B5EF4-FFF2-40B4-BE49-F238E27FC236}">
                    <a16:creationId xmlns:a16="http://schemas.microsoft.com/office/drawing/2014/main" id="{62BB7AEF-DB1C-4F53-BC74-57870817601E}"/>
                  </a:ext>
                </a:extLst>
              </p:cNvPr>
              <p:cNvCxnSpPr/>
              <p:nvPr/>
            </p:nvCxnSpPr>
            <p:spPr>
              <a:xfrm>
                <a:off x="3585470" y="4069862"/>
                <a:ext cx="0" cy="75934"/>
              </a:xfrm>
              <a:prstGeom prst="line">
                <a:avLst/>
              </a:prstGeom>
              <a:noFill/>
              <a:ln w="9525" cap="sq" cmpd="sng" algn="ctr">
                <a:solidFill>
                  <a:srgbClr val="544F40"/>
                </a:solidFill>
                <a:prstDash val="solid"/>
                <a:miter lim="800000"/>
              </a:ln>
              <a:effectLst/>
            </p:spPr>
          </p:cxnSp>
          <p:cxnSp>
            <p:nvCxnSpPr>
              <p:cNvPr id="142" name="Straight Connector 141">
                <a:extLst>
                  <a:ext uri="{FF2B5EF4-FFF2-40B4-BE49-F238E27FC236}">
                    <a16:creationId xmlns:a16="http://schemas.microsoft.com/office/drawing/2014/main" id="{F48C7E25-4B0A-42EB-96D3-3F204D879846}"/>
                  </a:ext>
                </a:extLst>
              </p:cNvPr>
              <p:cNvCxnSpPr/>
              <p:nvPr/>
            </p:nvCxnSpPr>
            <p:spPr>
              <a:xfrm>
                <a:off x="4078265" y="4069862"/>
                <a:ext cx="0" cy="75934"/>
              </a:xfrm>
              <a:prstGeom prst="line">
                <a:avLst/>
              </a:prstGeom>
              <a:noFill/>
              <a:ln w="9525" cap="sq" cmpd="sng" algn="ctr">
                <a:solidFill>
                  <a:srgbClr val="544F40"/>
                </a:solidFill>
                <a:prstDash val="solid"/>
                <a:miter lim="800000"/>
              </a:ln>
              <a:effectLst/>
            </p:spPr>
          </p:cxnSp>
          <p:cxnSp>
            <p:nvCxnSpPr>
              <p:cNvPr id="143" name="Straight Connector 142">
                <a:extLst>
                  <a:ext uri="{FF2B5EF4-FFF2-40B4-BE49-F238E27FC236}">
                    <a16:creationId xmlns:a16="http://schemas.microsoft.com/office/drawing/2014/main" id="{96AAA6C1-800F-4C94-AEB4-4436460E619A}"/>
                  </a:ext>
                </a:extLst>
              </p:cNvPr>
              <p:cNvCxnSpPr/>
              <p:nvPr/>
            </p:nvCxnSpPr>
            <p:spPr>
              <a:xfrm>
                <a:off x="4571060" y="4069862"/>
                <a:ext cx="0" cy="75934"/>
              </a:xfrm>
              <a:prstGeom prst="line">
                <a:avLst/>
              </a:prstGeom>
              <a:noFill/>
              <a:ln w="9525" cap="sq" cmpd="sng" algn="ctr">
                <a:solidFill>
                  <a:srgbClr val="544F40"/>
                </a:solidFill>
                <a:prstDash val="solid"/>
                <a:miter lim="800000"/>
              </a:ln>
              <a:effectLst/>
            </p:spPr>
          </p:cxnSp>
          <p:cxnSp>
            <p:nvCxnSpPr>
              <p:cNvPr id="144" name="Straight Connector 143">
                <a:extLst>
                  <a:ext uri="{FF2B5EF4-FFF2-40B4-BE49-F238E27FC236}">
                    <a16:creationId xmlns:a16="http://schemas.microsoft.com/office/drawing/2014/main" id="{FA1941CA-ACDF-4881-979C-2401CDD76CBD}"/>
                  </a:ext>
                </a:extLst>
              </p:cNvPr>
              <p:cNvCxnSpPr/>
              <p:nvPr/>
            </p:nvCxnSpPr>
            <p:spPr>
              <a:xfrm>
                <a:off x="5556650" y="4069862"/>
                <a:ext cx="0" cy="75934"/>
              </a:xfrm>
              <a:prstGeom prst="line">
                <a:avLst/>
              </a:prstGeom>
              <a:noFill/>
              <a:ln w="9525" cap="sq" cmpd="sng" algn="ctr">
                <a:solidFill>
                  <a:srgbClr val="544F40"/>
                </a:solidFill>
                <a:prstDash val="solid"/>
                <a:miter lim="800000"/>
              </a:ln>
              <a:effectLst/>
            </p:spPr>
          </p:cxnSp>
          <p:cxnSp>
            <p:nvCxnSpPr>
              <p:cNvPr id="145" name="Straight Connector 144">
                <a:extLst>
                  <a:ext uri="{FF2B5EF4-FFF2-40B4-BE49-F238E27FC236}">
                    <a16:creationId xmlns:a16="http://schemas.microsoft.com/office/drawing/2014/main" id="{658E278D-8373-4424-BC47-6BAB8872DF50}"/>
                  </a:ext>
                </a:extLst>
              </p:cNvPr>
              <p:cNvCxnSpPr/>
              <p:nvPr/>
            </p:nvCxnSpPr>
            <p:spPr>
              <a:xfrm>
                <a:off x="6049445" y="4069862"/>
                <a:ext cx="0" cy="75934"/>
              </a:xfrm>
              <a:prstGeom prst="line">
                <a:avLst/>
              </a:prstGeom>
              <a:noFill/>
              <a:ln w="9525" cap="sq" cmpd="sng" algn="ctr">
                <a:solidFill>
                  <a:srgbClr val="544F40"/>
                </a:solidFill>
                <a:prstDash val="solid"/>
                <a:miter lim="800000"/>
              </a:ln>
              <a:effectLst/>
            </p:spPr>
          </p:cxnSp>
          <p:cxnSp>
            <p:nvCxnSpPr>
              <p:cNvPr id="146" name="Straight Connector 145">
                <a:extLst>
                  <a:ext uri="{FF2B5EF4-FFF2-40B4-BE49-F238E27FC236}">
                    <a16:creationId xmlns:a16="http://schemas.microsoft.com/office/drawing/2014/main" id="{2334D110-4D0F-4266-8558-955FABB041D8}"/>
                  </a:ext>
                </a:extLst>
              </p:cNvPr>
              <p:cNvCxnSpPr/>
              <p:nvPr/>
            </p:nvCxnSpPr>
            <p:spPr>
              <a:xfrm>
                <a:off x="6542240" y="4069862"/>
                <a:ext cx="0" cy="75934"/>
              </a:xfrm>
              <a:prstGeom prst="line">
                <a:avLst/>
              </a:prstGeom>
              <a:noFill/>
              <a:ln w="9525" cap="sq" cmpd="sng" algn="ctr">
                <a:solidFill>
                  <a:srgbClr val="544F40"/>
                </a:solidFill>
                <a:prstDash val="solid"/>
                <a:miter lim="800000"/>
              </a:ln>
              <a:effectLst/>
            </p:spPr>
          </p:cxnSp>
          <p:cxnSp>
            <p:nvCxnSpPr>
              <p:cNvPr id="147" name="Straight Connector 146">
                <a:extLst>
                  <a:ext uri="{FF2B5EF4-FFF2-40B4-BE49-F238E27FC236}">
                    <a16:creationId xmlns:a16="http://schemas.microsoft.com/office/drawing/2014/main" id="{E31C68F3-AD69-4846-A554-52CB12E697D5}"/>
                  </a:ext>
                </a:extLst>
              </p:cNvPr>
              <p:cNvCxnSpPr/>
              <p:nvPr/>
            </p:nvCxnSpPr>
            <p:spPr>
              <a:xfrm>
                <a:off x="7035035" y="4069862"/>
                <a:ext cx="0" cy="75934"/>
              </a:xfrm>
              <a:prstGeom prst="line">
                <a:avLst/>
              </a:prstGeom>
              <a:noFill/>
              <a:ln w="9525" cap="sq" cmpd="sng" algn="ctr">
                <a:solidFill>
                  <a:srgbClr val="544F40"/>
                </a:solidFill>
                <a:prstDash val="solid"/>
                <a:miter lim="800000"/>
              </a:ln>
              <a:effectLst/>
            </p:spPr>
          </p:cxnSp>
          <p:cxnSp>
            <p:nvCxnSpPr>
              <p:cNvPr id="148" name="Straight Connector 147">
                <a:extLst>
                  <a:ext uri="{FF2B5EF4-FFF2-40B4-BE49-F238E27FC236}">
                    <a16:creationId xmlns:a16="http://schemas.microsoft.com/office/drawing/2014/main" id="{50D58BC3-F5DA-42A8-A8DA-27AA44F4AC57}"/>
                  </a:ext>
                </a:extLst>
              </p:cNvPr>
              <p:cNvCxnSpPr/>
              <p:nvPr/>
            </p:nvCxnSpPr>
            <p:spPr>
              <a:xfrm>
                <a:off x="8020625" y="4069862"/>
                <a:ext cx="0" cy="75934"/>
              </a:xfrm>
              <a:prstGeom prst="line">
                <a:avLst/>
              </a:prstGeom>
              <a:noFill/>
              <a:ln w="9525" cap="sq" cmpd="sng" algn="ctr">
                <a:solidFill>
                  <a:srgbClr val="544F40"/>
                </a:solidFill>
                <a:prstDash val="solid"/>
                <a:miter lim="800000"/>
              </a:ln>
              <a:effectLst/>
            </p:spPr>
          </p:cxnSp>
          <p:cxnSp>
            <p:nvCxnSpPr>
              <p:cNvPr id="149" name="Straight Connector 148">
                <a:extLst>
                  <a:ext uri="{FF2B5EF4-FFF2-40B4-BE49-F238E27FC236}">
                    <a16:creationId xmlns:a16="http://schemas.microsoft.com/office/drawing/2014/main" id="{E11681F0-574D-4B42-95A7-B6166E2AB5C3}"/>
                  </a:ext>
                </a:extLst>
              </p:cNvPr>
              <p:cNvCxnSpPr/>
              <p:nvPr/>
            </p:nvCxnSpPr>
            <p:spPr>
              <a:xfrm>
                <a:off x="7527830" y="4069862"/>
                <a:ext cx="0" cy="75934"/>
              </a:xfrm>
              <a:prstGeom prst="line">
                <a:avLst/>
              </a:prstGeom>
              <a:noFill/>
              <a:ln w="9525" cap="sq" cmpd="sng" algn="ctr">
                <a:solidFill>
                  <a:srgbClr val="544F40"/>
                </a:solidFill>
                <a:prstDash val="solid"/>
                <a:miter lim="800000"/>
              </a:ln>
              <a:effectLst/>
            </p:spPr>
          </p:cxnSp>
        </p:grpSp>
        <p:grpSp>
          <p:nvGrpSpPr>
            <p:cNvPr id="113" name="Group 112">
              <a:extLst>
                <a:ext uri="{FF2B5EF4-FFF2-40B4-BE49-F238E27FC236}">
                  <a16:creationId xmlns:a16="http://schemas.microsoft.com/office/drawing/2014/main" id="{6D80DA87-59A1-4EDA-AEFE-6ECC5612737F}"/>
                </a:ext>
              </a:extLst>
            </p:cNvPr>
            <p:cNvGrpSpPr/>
            <p:nvPr/>
          </p:nvGrpSpPr>
          <p:grpSpPr>
            <a:xfrm>
              <a:off x="1117385" y="4847412"/>
              <a:ext cx="5760709" cy="188893"/>
              <a:chOff x="1996684" y="3885765"/>
              <a:chExt cx="6140659" cy="216622"/>
            </a:xfrm>
          </p:grpSpPr>
          <p:sp>
            <p:nvSpPr>
              <p:cNvPr id="120" name="TextBox 119">
                <a:extLst>
                  <a:ext uri="{FF2B5EF4-FFF2-40B4-BE49-F238E27FC236}">
                    <a16:creationId xmlns:a16="http://schemas.microsoft.com/office/drawing/2014/main" id="{AEEB0DFE-6B08-4D8D-B490-1049BC1E6A81}"/>
                  </a:ext>
                </a:extLst>
              </p:cNvPr>
              <p:cNvSpPr txBox="1"/>
              <p:nvPr/>
            </p:nvSpPr>
            <p:spPr>
              <a:xfrm>
                <a:off x="7921343" y="3885765"/>
                <a:ext cx="216000" cy="216622"/>
              </a:xfrm>
              <a:prstGeom prst="rect">
                <a:avLst/>
              </a:prstGeom>
              <a:noFill/>
            </p:spPr>
            <p:txBody>
              <a:bodyPr wrap="none" lIns="0" tIns="0" rIns="0" bIns="0" rtlCol="0">
                <a:no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52</a:t>
                </a:r>
              </a:p>
            </p:txBody>
          </p:sp>
          <p:sp>
            <p:nvSpPr>
              <p:cNvPr id="121" name="TextBox 120">
                <a:extLst>
                  <a:ext uri="{FF2B5EF4-FFF2-40B4-BE49-F238E27FC236}">
                    <a16:creationId xmlns:a16="http://schemas.microsoft.com/office/drawing/2014/main" id="{0A5A9450-64E5-4875-BAA6-8D164EC0D98D}"/>
                  </a:ext>
                </a:extLst>
              </p:cNvPr>
              <p:cNvSpPr txBox="1"/>
              <p:nvPr/>
            </p:nvSpPr>
            <p:spPr>
              <a:xfrm>
                <a:off x="1996684" y="3885765"/>
                <a:ext cx="216000" cy="216622"/>
              </a:xfrm>
              <a:prstGeom prst="rect">
                <a:avLst/>
              </a:prstGeom>
              <a:noFill/>
            </p:spPr>
            <p:txBody>
              <a:bodyPr wrap="none" lIns="0" tIns="0" rIns="0" bIns="0" rtlCol="0">
                <a:no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0</a:t>
                </a:r>
              </a:p>
            </p:txBody>
          </p:sp>
          <p:sp>
            <p:nvSpPr>
              <p:cNvPr id="122" name="TextBox 121">
                <a:extLst>
                  <a:ext uri="{FF2B5EF4-FFF2-40B4-BE49-F238E27FC236}">
                    <a16:creationId xmlns:a16="http://schemas.microsoft.com/office/drawing/2014/main" id="{AC7C31C8-565D-4B6C-8B3E-315CBB548B6A}"/>
                  </a:ext>
                </a:extLst>
              </p:cNvPr>
              <p:cNvSpPr txBox="1"/>
              <p:nvPr/>
            </p:nvSpPr>
            <p:spPr>
              <a:xfrm>
                <a:off x="4731144" y="3885765"/>
                <a:ext cx="216000" cy="216622"/>
              </a:xfrm>
              <a:prstGeom prst="rect">
                <a:avLst/>
              </a:prstGeom>
              <a:noFill/>
            </p:spPr>
            <p:txBody>
              <a:bodyPr wrap="none" lIns="0" tIns="0" rIns="0" bIns="0" rtlCol="0">
                <a:no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24</a:t>
                </a:r>
              </a:p>
            </p:txBody>
          </p:sp>
          <p:sp>
            <p:nvSpPr>
              <p:cNvPr id="123" name="TextBox 122">
                <a:extLst>
                  <a:ext uri="{FF2B5EF4-FFF2-40B4-BE49-F238E27FC236}">
                    <a16:creationId xmlns:a16="http://schemas.microsoft.com/office/drawing/2014/main" id="{C2EAFB99-0783-43C8-A433-D7FECD695C33}"/>
                  </a:ext>
                </a:extLst>
              </p:cNvPr>
              <p:cNvSpPr txBox="1"/>
              <p:nvPr/>
            </p:nvSpPr>
            <p:spPr>
              <a:xfrm>
                <a:off x="2452427" y="3885765"/>
                <a:ext cx="216000" cy="216622"/>
              </a:xfrm>
              <a:prstGeom prst="rect">
                <a:avLst/>
              </a:prstGeom>
              <a:noFill/>
            </p:spPr>
            <p:txBody>
              <a:bodyPr wrap="none" lIns="0" tIns="0" rIns="0" bIns="0" rtlCol="0">
                <a:no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4</a:t>
                </a:r>
              </a:p>
            </p:txBody>
          </p:sp>
          <p:sp>
            <p:nvSpPr>
              <p:cNvPr id="124" name="TextBox 123">
                <a:extLst>
                  <a:ext uri="{FF2B5EF4-FFF2-40B4-BE49-F238E27FC236}">
                    <a16:creationId xmlns:a16="http://schemas.microsoft.com/office/drawing/2014/main" id="{43E37FC7-6F39-402E-BC17-CB31BC84B00C}"/>
                  </a:ext>
                </a:extLst>
              </p:cNvPr>
              <p:cNvSpPr txBox="1"/>
              <p:nvPr/>
            </p:nvSpPr>
            <p:spPr>
              <a:xfrm>
                <a:off x="2908171" y="3885765"/>
                <a:ext cx="216000" cy="216622"/>
              </a:xfrm>
              <a:prstGeom prst="rect">
                <a:avLst/>
              </a:prstGeom>
              <a:noFill/>
            </p:spPr>
            <p:txBody>
              <a:bodyPr wrap="none" lIns="0" tIns="0" rIns="0" bIns="0" rtlCol="0">
                <a:no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8</a:t>
                </a:r>
              </a:p>
            </p:txBody>
          </p:sp>
          <p:sp>
            <p:nvSpPr>
              <p:cNvPr id="125" name="TextBox 124">
                <a:extLst>
                  <a:ext uri="{FF2B5EF4-FFF2-40B4-BE49-F238E27FC236}">
                    <a16:creationId xmlns:a16="http://schemas.microsoft.com/office/drawing/2014/main" id="{1C5DE122-2CDD-4F35-9FF4-379E70866757}"/>
                  </a:ext>
                </a:extLst>
              </p:cNvPr>
              <p:cNvSpPr txBox="1"/>
              <p:nvPr/>
            </p:nvSpPr>
            <p:spPr>
              <a:xfrm>
                <a:off x="3363914" y="3885765"/>
                <a:ext cx="216000" cy="216622"/>
              </a:xfrm>
              <a:prstGeom prst="rect">
                <a:avLst/>
              </a:prstGeom>
              <a:noFill/>
            </p:spPr>
            <p:txBody>
              <a:bodyPr wrap="none" lIns="0" tIns="0" rIns="0" bIns="0" rtlCol="0">
                <a:no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12</a:t>
                </a:r>
              </a:p>
            </p:txBody>
          </p:sp>
          <p:sp>
            <p:nvSpPr>
              <p:cNvPr id="126" name="TextBox 125">
                <a:extLst>
                  <a:ext uri="{FF2B5EF4-FFF2-40B4-BE49-F238E27FC236}">
                    <a16:creationId xmlns:a16="http://schemas.microsoft.com/office/drawing/2014/main" id="{C60072DE-42DF-499D-B000-F90DDC88E27C}"/>
                  </a:ext>
                </a:extLst>
              </p:cNvPr>
              <p:cNvSpPr txBox="1"/>
              <p:nvPr/>
            </p:nvSpPr>
            <p:spPr>
              <a:xfrm>
                <a:off x="3819657" y="3885765"/>
                <a:ext cx="216000" cy="216622"/>
              </a:xfrm>
              <a:prstGeom prst="rect">
                <a:avLst/>
              </a:prstGeom>
              <a:noFill/>
            </p:spPr>
            <p:txBody>
              <a:bodyPr wrap="none" lIns="0" tIns="0" rIns="0" bIns="0" rtlCol="0">
                <a:no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16</a:t>
                </a:r>
              </a:p>
            </p:txBody>
          </p:sp>
          <p:sp>
            <p:nvSpPr>
              <p:cNvPr id="127" name="TextBox 126">
                <a:extLst>
                  <a:ext uri="{FF2B5EF4-FFF2-40B4-BE49-F238E27FC236}">
                    <a16:creationId xmlns:a16="http://schemas.microsoft.com/office/drawing/2014/main" id="{8C1ABE5D-BD7B-43B3-9D49-0D8675C5473A}"/>
                  </a:ext>
                </a:extLst>
              </p:cNvPr>
              <p:cNvSpPr txBox="1"/>
              <p:nvPr/>
            </p:nvSpPr>
            <p:spPr>
              <a:xfrm>
                <a:off x="4275401" y="3885765"/>
                <a:ext cx="216000" cy="216622"/>
              </a:xfrm>
              <a:prstGeom prst="rect">
                <a:avLst/>
              </a:prstGeom>
              <a:noFill/>
            </p:spPr>
            <p:txBody>
              <a:bodyPr wrap="none" lIns="0" tIns="0" rIns="0" bIns="0" rtlCol="0">
                <a:no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20</a:t>
                </a:r>
              </a:p>
            </p:txBody>
          </p:sp>
          <p:sp>
            <p:nvSpPr>
              <p:cNvPr id="130" name="TextBox 129">
                <a:extLst>
                  <a:ext uri="{FF2B5EF4-FFF2-40B4-BE49-F238E27FC236}">
                    <a16:creationId xmlns:a16="http://schemas.microsoft.com/office/drawing/2014/main" id="{0B0EA7F5-48E0-4DD2-B2E7-08372780244F}"/>
                  </a:ext>
                </a:extLst>
              </p:cNvPr>
              <p:cNvSpPr txBox="1"/>
              <p:nvPr/>
            </p:nvSpPr>
            <p:spPr>
              <a:xfrm>
                <a:off x="5186888" y="3885765"/>
                <a:ext cx="216000" cy="216622"/>
              </a:xfrm>
              <a:prstGeom prst="rect">
                <a:avLst/>
              </a:prstGeom>
              <a:noFill/>
            </p:spPr>
            <p:txBody>
              <a:bodyPr wrap="none" lIns="0" tIns="0" rIns="0" bIns="0" rtlCol="0">
                <a:no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28</a:t>
                </a:r>
              </a:p>
            </p:txBody>
          </p:sp>
          <p:sp>
            <p:nvSpPr>
              <p:cNvPr id="131" name="TextBox 130">
                <a:extLst>
                  <a:ext uri="{FF2B5EF4-FFF2-40B4-BE49-F238E27FC236}">
                    <a16:creationId xmlns:a16="http://schemas.microsoft.com/office/drawing/2014/main" id="{DB7E12E9-BD41-43BE-A487-35BBD80B056A}"/>
                  </a:ext>
                </a:extLst>
              </p:cNvPr>
              <p:cNvSpPr txBox="1"/>
              <p:nvPr/>
            </p:nvSpPr>
            <p:spPr>
              <a:xfrm>
                <a:off x="5642632" y="3885765"/>
                <a:ext cx="216000" cy="216622"/>
              </a:xfrm>
              <a:prstGeom prst="rect">
                <a:avLst/>
              </a:prstGeom>
              <a:noFill/>
            </p:spPr>
            <p:txBody>
              <a:bodyPr wrap="none" lIns="0" tIns="0" rIns="0" bIns="0" rtlCol="0">
                <a:no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32</a:t>
                </a:r>
              </a:p>
            </p:txBody>
          </p:sp>
          <p:sp>
            <p:nvSpPr>
              <p:cNvPr id="132" name="TextBox 131">
                <a:extLst>
                  <a:ext uri="{FF2B5EF4-FFF2-40B4-BE49-F238E27FC236}">
                    <a16:creationId xmlns:a16="http://schemas.microsoft.com/office/drawing/2014/main" id="{0242BCFB-61B8-456A-AF06-00415346D7D5}"/>
                  </a:ext>
                </a:extLst>
              </p:cNvPr>
              <p:cNvSpPr txBox="1"/>
              <p:nvPr/>
            </p:nvSpPr>
            <p:spPr>
              <a:xfrm>
                <a:off x="6098376" y="3885765"/>
                <a:ext cx="216000" cy="216622"/>
              </a:xfrm>
              <a:prstGeom prst="rect">
                <a:avLst/>
              </a:prstGeom>
              <a:noFill/>
            </p:spPr>
            <p:txBody>
              <a:bodyPr wrap="none" lIns="0" tIns="0" rIns="0" bIns="0" rtlCol="0">
                <a:no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36</a:t>
                </a:r>
              </a:p>
            </p:txBody>
          </p:sp>
          <p:sp>
            <p:nvSpPr>
              <p:cNvPr id="133" name="TextBox 132">
                <a:extLst>
                  <a:ext uri="{FF2B5EF4-FFF2-40B4-BE49-F238E27FC236}">
                    <a16:creationId xmlns:a16="http://schemas.microsoft.com/office/drawing/2014/main" id="{A6C38856-6593-434F-A786-3A5D35D15ADF}"/>
                  </a:ext>
                </a:extLst>
              </p:cNvPr>
              <p:cNvSpPr txBox="1"/>
              <p:nvPr/>
            </p:nvSpPr>
            <p:spPr>
              <a:xfrm>
                <a:off x="6554121" y="3885765"/>
                <a:ext cx="216000" cy="216622"/>
              </a:xfrm>
              <a:prstGeom prst="rect">
                <a:avLst/>
              </a:prstGeom>
              <a:noFill/>
            </p:spPr>
            <p:txBody>
              <a:bodyPr wrap="none" lIns="0" tIns="0" rIns="0" bIns="0" rtlCol="0">
                <a:no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40</a:t>
                </a:r>
              </a:p>
            </p:txBody>
          </p:sp>
          <p:sp>
            <p:nvSpPr>
              <p:cNvPr id="134" name="TextBox 133">
                <a:extLst>
                  <a:ext uri="{FF2B5EF4-FFF2-40B4-BE49-F238E27FC236}">
                    <a16:creationId xmlns:a16="http://schemas.microsoft.com/office/drawing/2014/main" id="{2D1C8EF8-AA9E-4B43-B1C1-39FE9D194290}"/>
                  </a:ext>
                </a:extLst>
              </p:cNvPr>
              <p:cNvSpPr txBox="1"/>
              <p:nvPr/>
            </p:nvSpPr>
            <p:spPr>
              <a:xfrm>
                <a:off x="7009867" y="3885765"/>
                <a:ext cx="216000" cy="216622"/>
              </a:xfrm>
              <a:prstGeom prst="rect">
                <a:avLst/>
              </a:prstGeom>
              <a:noFill/>
            </p:spPr>
            <p:txBody>
              <a:bodyPr wrap="none" lIns="0" tIns="0" rIns="0" bIns="0" rtlCol="0">
                <a:no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44</a:t>
                </a:r>
              </a:p>
            </p:txBody>
          </p:sp>
          <p:sp>
            <p:nvSpPr>
              <p:cNvPr id="135" name="TextBox 134">
                <a:extLst>
                  <a:ext uri="{FF2B5EF4-FFF2-40B4-BE49-F238E27FC236}">
                    <a16:creationId xmlns:a16="http://schemas.microsoft.com/office/drawing/2014/main" id="{ABA4372A-7BBF-4C30-9DF5-2BD75FD0A8A9}"/>
                  </a:ext>
                </a:extLst>
              </p:cNvPr>
              <p:cNvSpPr txBox="1"/>
              <p:nvPr/>
            </p:nvSpPr>
            <p:spPr>
              <a:xfrm>
                <a:off x="7465614" y="3885765"/>
                <a:ext cx="216000" cy="216622"/>
              </a:xfrm>
              <a:prstGeom prst="rect">
                <a:avLst/>
              </a:prstGeom>
              <a:noFill/>
            </p:spPr>
            <p:txBody>
              <a:bodyPr wrap="none" lIns="0" tIns="0" rIns="0" bIns="0" rtlCol="0">
                <a:noAutofit/>
              </a:bodyPr>
              <a:lstStyle/>
              <a:p>
                <a:pPr marL="0" marR="0" lvl="0" indent="0" algn="ctr" defTabSz="482255"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48</a:t>
                </a:r>
              </a:p>
            </p:txBody>
          </p:sp>
        </p:grpSp>
        <p:sp>
          <p:nvSpPr>
            <p:cNvPr id="114" name="TextBox 113">
              <a:extLst>
                <a:ext uri="{FF2B5EF4-FFF2-40B4-BE49-F238E27FC236}">
                  <a16:creationId xmlns:a16="http://schemas.microsoft.com/office/drawing/2014/main" id="{EC8536A5-9A82-4C96-85BE-CD430815948A}"/>
                </a:ext>
              </a:extLst>
            </p:cNvPr>
            <p:cNvSpPr txBox="1"/>
            <p:nvPr/>
          </p:nvSpPr>
          <p:spPr>
            <a:xfrm>
              <a:off x="7480717" y="1946169"/>
              <a:ext cx="1104183" cy="318070"/>
            </a:xfrm>
            <a:prstGeom prst="rect">
              <a:avLst/>
            </a:prstGeom>
            <a:noFill/>
          </p:spPr>
          <p:txBody>
            <a:bodyPr wrap="square" lIns="0" tIns="0" rIns="0" bIns="0" rtlCol="0">
              <a:spAutoFit/>
            </a:bodyPr>
            <a:lstStyle/>
            <a:p>
              <a:pPr marL="0" marR="0" lvl="0" indent="0" algn="l" defTabSz="321503"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544F40"/>
                  </a:solidFill>
                  <a:effectLst/>
                  <a:uLnTx/>
                  <a:uFillTx/>
                  <a:latin typeface="Arial" panose="020B0604020202020204"/>
                  <a:ea typeface="+mn-ea"/>
                  <a:cs typeface="+mn-cs"/>
                </a:rPr>
                <a:t>Moderate/severe exacerbations</a:t>
              </a:r>
            </a:p>
          </p:txBody>
        </p:sp>
        <p:sp>
          <p:nvSpPr>
            <p:cNvPr id="115" name="TextBox 114">
              <a:extLst>
                <a:ext uri="{FF2B5EF4-FFF2-40B4-BE49-F238E27FC236}">
                  <a16:creationId xmlns:a16="http://schemas.microsoft.com/office/drawing/2014/main" id="{71D293E3-9650-4222-9F55-9C391103761A}"/>
                </a:ext>
              </a:extLst>
            </p:cNvPr>
            <p:cNvSpPr txBox="1"/>
            <p:nvPr/>
          </p:nvSpPr>
          <p:spPr>
            <a:xfrm>
              <a:off x="7471380" y="4357570"/>
              <a:ext cx="752501" cy="318070"/>
            </a:xfrm>
            <a:prstGeom prst="rect">
              <a:avLst/>
            </a:prstGeom>
            <a:noFill/>
          </p:spPr>
          <p:txBody>
            <a:bodyPr wrap="square" lIns="0" tIns="0" rIns="0" bIns="0" rtlCol="0">
              <a:spAutoFit/>
            </a:bodyPr>
            <a:lstStyle/>
            <a:p>
              <a:pPr marL="0" marR="0" lvl="0" indent="0" algn="l" defTabSz="321503"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544F40"/>
                  </a:solidFill>
                  <a:effectLst/>
                  <a:uLnTx/>
                  <a:uFillTx/>
                  <a:latin typeface="Arial" panose="020B0604020202020204"/>
                  <a:ea typeface="+mn-ea"/>
                  <a:cs typeface="+mn-cs"/>
                </a:rPr>
                <a:t>Pneumonia </a:t>
              </a:r>
              <a:br>
                <a:rPr kumimoji="0" lang="en-GB" sz="1000" b="1" i="0" u="none" strike="noStrike" kern="1200" cap="none" spc="0" normalizeH="0" baseline="0" noProof="0" dirty="0">
                  <a:ln>
                    <a:noFill/>
                  </a:ln>
                  <a:solidFill>
                    <a:srgbClr val="544F40"/>
                  </a:solidFill>
                  <a:effectLst/>
                  <a:uLnTx/>
                  <a:uFillTx/>
                  <a:latin typeface="Arial" panose="020B0604020202020204"/>
                  <a:ea typeface="+mn-ea"/>
                  <a:cs typeface="+mn-cs"/>
                </a:rPr>
              </a:br>
              <a:r>
                <a:rPr kumimoji="0" lang="en-GB" sz="1000" b="1" i="0" u="none" strike="noStrike" kern="1200" cap="none" spc="0" normalizeH="0" baseline="0" noProof="0" dirty="0">
                  <a:ln>
                    <a:noFill/>
                  </a:ln>
                  <a:solidFill>
                    <a:srgbClr val="544F40"/>
                  </a:solidFill>
                  <a:effectLst/>
                  <a:uLnTx/>
                  <a:uFillTx/>
                  <a:latin typeface="Arial" panose="020B0604020202020204"/>
                  <a:ea typeface="+mn-ea"/>
                  <a:cs typeface="+mn-cs"/>
                </a:rPr>
                <a:t>AESI</a:t>
              </a:r>
            </a:p>
          </p:txBody>
        </p:sp>
        <p:sp>
          <p:nvSpPr>
            <p:cNvPr id="116" name="Rectangle 115">
              <a:extLst>
                <a:ext uri="{FF2B5EF4-FFF2-40B4-BE49-F238E27FC236}">
                  <a16:creationId xmlns:a16="http://schemas.microsoft.com/office/drawing/2014/main" id="{AB91A1D5-80F9-4891-AE3F-90A8EC4E2320}"/>
                </a:ext>
              </a:extLst>
            </p:cNvPr>
            <p:cNvSpPr/>
            <p:nvPr/>
          </p:nvSpPr>
          <p:spPr>
            <a:xfrm>
              <a:off x="6857510" y="1961908"/>
              <a:ext cx="541815" cy="153888"/>
            </a:xfrm>
            <a:prstGeom prst="rect">
              <a:avLst/>
            </a:prstGeom>
          </p:spPr>
          <p:txBody>
            <a:bodyPr wrap="none" lIns="0" tIns="0" rIns="0" bIns="0">
              <a:spAutoFit/>
            </a:bodyPr>
            <a:lstStyle/>
            <a:p>
              <a:pPr marL="0" marR="0" lvl="0" indent="0" algn="l" defTabSz="54009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40488D"/>
                  </a:solidFill>
                  <a:effectLst/>
                  <a:uLnTx/>
                  <a:uFillTx/>
                  <a:latin typeface="Arial" panose="020B0604020202020204"/>
                  <a:ea typeface="+mn-ea"/>
                  <a:cs typeface="+mn-cs"/>
                </a:rPr>
                <a:t>n = 3,898</a:t>
              </a:r>
            </a:p>
          </p:txBody>
        </p:sp>
        <p:sp>
          <p:nvSpPr>
            <p:cNvPr id="117" name="Rectangle 116">
              <a:extLst>
                <a:ext uri="{FF2B5EF4-FFF2-40B4-BE49-F238E27FC236}">
                  <a16:creationId xmlns:a16="http://schemas.microsoft.com/office/drawing/2014/main" id="{76611009-1FDD-45F5-B79B-82CEA8655484}"/>
                </a:ext>
              </a:extLst>
            </p:cNvPr>
            <p:cNvSpPr/>
            <p:nvPr/>
          </p:nvSpPr>
          <p:spPr>
            <a:xfrm>
              <a:off x="6857510" y="4522145"/>
              <a:ext cx="436017" cy="153888"/>
            </a:xfrm>
            <a:prstGeom prst="rect">
              <a:avLst/>
            </a:prstGeom>
          </p:spPr>
          <p:txBody>
            <a:bodyPr wrap="none" lIns="0" tIns="0" rIns="0" bIns="0">
              <a:spAutoFit/>
            </a:bodyPr>
            <a:lstStyle/>
            <a:p>
              <a:pPr marL="0" marR="0" lvl="0" indent="0" algn="l" defTabSz="54009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40488D"/>
                  </a:solidFill>
                  <a:effectLst/>
                  <a:uLnTx/>
                  <a:uFillTx/>
                  <a:latin typeface="Arial" panose="020B0604020202020204"/>
                  <a:ea typeface="+mn-ea"/>
                  <a:cs typeface="+mn-cs"/>
                </a:rPr>
                <a:t>n = 208</a:t>
              </a:r>
            </a:p>
          </p:txBody>
        </p:sp>
        <p:sp>
          <p:nvSpPr>
            <p:cNvPr id="118" name="Rectangle 117">
              <a:extLst>
                <a:ext uri="{FF2B5EF4-FFF2-40B4-BE49-F238E27FC236}">
                  <a16:creationId xmlns:a16="http://schemas.microsoft.com/office/drawing/2014/main" id="{B23C49F1-A9A6-4E11-8DF8-98FA776C0D68}"/>
                </a:ext>
              </a:extLst>
            </p:cNvPr>
            <p:cNvSpPr/>
            <p:nvPr/>
          </p:nvSpPr>
          <p:spPr>
            <a:xfrm>
              <a:off x="6857510" y="4376154"/>
              <a:ext cx="436017" cy="153888"/>
            </a:xfrm>
            <a:prstGeom prst="rect">
              <a:avLst/>
            </a:prstGeom>
          </p:spPr>
          <p:txBody>
            <a:bodyPr wrap="none" lIns="0" tIns="0" rIns="0" bIns="0">
              <a:spAutoFit/>
            </a:bodyPr>
            <a:lstStyle/>
            <a:p>
              <a:pPr marL="0" marR="0" lvl="0" indent="0" algn="l" defTabSz="54009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F36633"/>
                  </a:solidFill>
                  <a:effectLst/>
                  <a:uLnTx/>
                  <a:uFillTx/>
                  <a:latin typeface="Arial" panose="020B0604020202020204"/>
                  <a:ea typeface="+mn-ea"/>
                  <a:cs typeface="+mn-cs"/>
                </a:rPr>
                <a:t>n = 356</a:t>
              </a:r>
            </a:p>
          </p:txBody>
        </p:sp>
        <p:sp>
          <p:nvSpPr>
            <p:cNvPr id="119" name="Rectangle 118">
              <a:extLst>
                <a:ext uri="{FF2B5EF4-FFF2-40B4-BE49-F238E27FC236}">
                  <a16:creationId xmlns:a16="http://schemas.microsoft.com/office/drawing/2014/main" id="{6B3F7824-38A8-4605-B78F-D74EAE2782A5}"/>
                </a:ext>
              </a:extLst>
            </p:cNvPr>
            <p:cNvSpPr/>
            <p:nvPr/>
          </p:nvSpPr>
          <p:spPr>
            <a:xfrm>
              <a:off x="6857510" y="2282901"/>
              <a:ext cx="541815" cy="153888"/>
            </a:xfrm>
            <a:prstGeom prst="rect">
              <a:avLst/>
            </a:prstGeom>
          </p:spPr>
          <p:txBody>
            <a:bodyPr wrap="none" lIns="0" tIns="0" rIns="0" bIns="0">
              <a:spAutoFit/>
            </a:bodyPr>
            <a:lstStyle/>
            <a:p>
              <a:pPr marL="0" marR="0" lvl="0" indent="0" algn="l" defTabSz="54009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F36633"/>
                  </a:solidFill>
                  <a:effectLst/>
                  <a:uLnTx/>
                  <a:uFillTx/>
                  <a:latin typeface="Arial" panose="020B0604020202020204"/>
                  <a:ea typeface="+mn-ea"/>
                  <a:cs typeface="+mn-cs"/>
                </a:rPr>
                <a:t>n = 3,428</a:t>
              </a:r>
            </a:p>
          </p:txBody>
        </p:sp>
        <p:sp>
          <p:nvSpPr>
            <p:cNvPr id="173" name="Rectangle 3">
              <a:extLst>
                <a:ext uri="{FF2B5EF4-FFF2-40B4-BE49-F238E27FC236}">
                  <a16:creationId xmlns:a16="http://schemas.microsoft.com/office/drawing/2014/main" id="{801DF475-2371-4D33-8348-4C08A8FDCE2F}"/>
                </a:ext>
              </a:extLst>
            </p:cNvPr>
            <p:cNvSpPr>
              <a:spLocks noChangeArrowheads="1"/>
            </p:cNvSpPr>
            <p:nvPr/>
          </p:nvSpPr>
          <p:spPr bwMode="auto">
            <a:xfrm>
              <a:off x="927491" y="5079532"/>
              <a:ext cx="6046652" cy="159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marR="0" lvl="0" indent="0" algn="ctr" defTabSz="643006" rtl="0" eaLnBrk="0" fontAlgn="base" latinLnBrk="0" hangingPunct="0">
                <a:lnSpc>
                  <a:spcPct val="100000"/>
                </a:lnSpc>
                <a:spcBef>
                  <a:spcPct val="0"/>
                </a:spcBef>
                <a:spcAft>
                  <a:spcPct val="0"/>
                </a:spcAft>
                <a:buClrTx/>
                <a:buSzTx/>
                <a:buFontTx/>
                <a:buNone/>
                <a:tabLst/>
                <a:defRPr/>
              </a:pPr>
              <a:r>
                <a:rPr kumimoji="0" lang="en-GB" altLang="en-US" sz="1000" b="1" i="0" u="none" strike="noStrike" kern="1200" cap="none" spc="0" normalizeH="0" baseline="0" noProof="0" dirty="0">
                  <a:ln>
                    <a:noFill/>
                  </a:ln>
                  <a:solidFill>
                    <a:srgbClr val="544F40"/>
                  </a:solidFill>
                  <a:effectLst/>
                  <a:uLnTx/>
                  <a:uFillTx/>
                  <a:latin typeface="Arial" panose="020B0604020202020204"/>
                  <a:ea typeface="+mn-ea"/>
                  <a:cs typeface="Times New Roman" panose="02020603050405020304" pitchFamily="18" charset="0"/>
                </a:rPr>
                <a:t>Week of study</a:t>
              </a:r>
              <a:endParaRPr kumimoji="0" lang="en-GB" altLang="en-US" sz="10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nvGrpSpPr>
            <p:cNvPr id="16" name="Group 15"/>
            <p:cNvGrpSpPr/>
            <p:nvPr/>
          </p:nvGrpSpPr>
          <p:grpSpPr>
            <a:xfrm>
              <a:off x="2769194" y="5346332"/>
              <a:ext cx="3047286" cy="153888"/>
              <a:chOff x="2377699" y="5270132"/>
              <a:chExt cx="3047286" cy="153888"/>
            </a:xfrm>
          </p:grpSpPr>
          <p:grpSp>
            <p:nvGrpSpPr>
              <p:cNvPr id="14" name="Group 13"/>
              <p:cNvGrpSpPr/>
              <p:nvPr/>
            </p:nvGrpSpPr>
            <p:grpSpPr>
              <a:xfrm>
                <a:off x="2377699" y="5270132"/>
                <a:ext cx="1600201" cy="153888"/>
                <a:chOff x="1717176" y="2261880"/>
                <a:chExt cx="1600201" cy="153888"/>
              </a:xfrm>
            </p:grpSpPr>
            <p:sp>
              <p:nvSpPr>
                <p:cNvPr id="174" name="Rectangle 3">
                  <a:extLst>
                    <a:ext uri="{FF2B5EF4-FFF2-40B4-BE49-F238E27FC236}">
                      <a16:creationId xmlns:a16="http://schemas.microsoft.com/office/drawing/2014/main" id="{3E3C6E5B-3784-4F58-BFBF-CCCB002C22E5}"/>
                    </a:ext>
                  </a:extLst>
                </p:cNvPr>
                <p:cNvSpPr>
                  <a:spLocks noChangeArrowheads="1"/>
                </p:cNvSpPr>
                <p:nvPr/>
              </p:nvSpPr>
              <p:spPr bwMode="auto">
                <a:xfrm>
                  <a:off x="2028327" y="2261880"/>
                  <a:ext cx="1289050"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marR="0" lvl="0" indent="0" algn="l" defTabSz="643006" rtl="0" eaLnBrk="0" fontAlgn="base" latinLnBrk="0" hangingPunct="0">
                    <a:lnSpc>
                      <a:spcPct val="100000"/>
                    </a:lnSpc>
                    <a:spcBef>
                      <a:spcPct val="0"/>
                    </a:spcBef>
                    <a:spcAft>
                      <a:spcPct val="0"/>
                    </a:spcAft>
                    <a:buClrTx/>
                    <a:buSzTx/>
                    <a:buFontTx/>
                    <a:buNone/>
                    <a:tabLst/>
                    <a:defRPr/>
                  </a:pPr>
                  <a:r>
                    <a:rPr kumimoji="0" lang="en-GB" altLang="en-US" sz="1000" b="0" i="0" u="none" strike="noStrike" kern="1200" cap="none" spc="0" normalizeH="0" baseline="0" noProof="0" dirty="0">
                      <a:ln>
                        <a:noFill/>
                      </a:ln>
                      <a:solidFill>
                        <a:srgbClr val="544F40"/>
                      </a:solidFill>
                      <a:effectLst/>
                      <a:uLnTx/>
                      <a:uFillTx/>
                      <a:latin typeface="Arial" panose="020B0604020202020204"/>
                      <a:ea typeface="+mn-ea"/>
                      <a:cs typeface="Times New Roman" panose="02020603050405020304" pitchFamily="18" charset="0"/>
                    </a:rPr>
                    <a:t>FF/UMEC/VI</a:t>
                  </a:r>
                  <a:endParaRPr kumimoji="0" lang="en-GB" altLang="en-US" sz="10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cxnSp>
              <p:nvCxnSpPr>
                <p:cNvPr id="176" name="Straight Connector 175">
                  <a:extLst>
                    <a:ext uri="{FF2B5EF4-FFF2-40B4-BE49-F238E27FC236}">
                      <a16:creationId xmlns:a16="http://schemas.microsoft.com/office/drawing/2014/main" id="{70B88CBA-2FB9-4967-9284-118F3233EDF9}"/>
                    </a:ext>
                  </a:extLst>
                </p:cNvPr>
                <p:cNvCxnSpPr/>
                <p:nvPr/>
              </p:nvCxnSpPr>
              <p:spPr>
                <a:xfrm>
                  <a:off x="1717176" y="2338824"/>
                  <a:ext cx="228600" cy="0"/>
                </a:xfrm>
                <a:prstGeom prst="line">
                  <a:avLst/>
                </a:prstGeom>
                <a:ln w="28575">
                  <a:solidFill>
                    <a:srgbClr val="F36633"/>
                  </a:solidFill>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3824784" y="5270132"/>
                <a:ext cx="1600201" cy="153888"/>
                <a:chOff x="1783851" y="2461341"/>
                <a:chExt cx="1600201" cy="153888"/>
              </a:xfrm>
            </p:grpSpPr>
            <p:sp>
              <p:nvSpPr>
                <p:cNvPr id="175" name="Rectangle 3">
                  <a:extLst>
                    <a:ext uri="{FF2B5EF4-FFF2-40B4-BE49-F238E27FC236}">
                      <a16:creationId xmlns:a16="http://schemas.microsoft.com/office/drawing/2014/main" id="{4BDBB81E-21D4-4FE9-803D-112F170AAC99}"/>
                    </a:ext>
                  </a:extLst>
                </p:cNvPr>
                <p:cNvSpPr>
                  <a:spLocks noChangeArrowheads="1"/>
                </p:cNvSpPr>
                <p:nvPr/>
              </p:nvSpPr>
              <p:spPr bwMode="auto">
                <a:xfrm>
                  <a:off x="2095002" y="2461341"/>
                  <a:ext cx="1289050"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marR="0" lvl="0" indent="0" algn="l" defTabSz="643006" rtl="0" eaLnBrk="0" fontAlgn="base" latinLnBrk="0" hangingPunct="0">
                    <a:lnSpc>
                      <a:spcPct val="100000"/>
                    </a:lnSpc>
                    <a:spcBef>
                      <a:spcPct val="0"/>
                    </a:spcBef>
                    <a:spcAft>
                      <a:spcPct val="0"/>
                    </a:spcAft>
                    <a:buClrTx/>
                    <a:buSzTx/>
                    <a:buFontTx/>
                    <a:buNone/>
                    <a:tabLst/>
                    <a:defRPr/>
                  </a:pPr>
                  <a:r>
                    <a:rPr kumimoji="0" lang="en-GB" altLang="en-US" sz="1000" b="0" i="0" u="none" strike="noStrike" kern="1200" cap="none" spc="0" normalizeH="0" baseline="0" noProof="0" dirty="0">
                      <a:ln>
                        <a:noFill/>
                      </a:ln>
                      <a:solidFill>
                        <a:srgbClr val="544F40"/>
                      </a:solidFill>
                      <a:effectLst/>
                      <a:uLnTx/>
                      <a:uFillTx/>
                      <a:latin typeface="Arial" panose="020B0604020202020204"/>
                      <a:ea typeface="+mn-ea"/>
                      <a:cs typeface="Times New Roman" panose="02020603050405020304" pitchFamily="18" charset="0"/>
                    </a:rPr>
                    <a:t>UMEC/VI*</a:t>
                  </a:r>
                  <a:endParaRPr kumimoji="0" lang="en-GB" altLang="en-US" sz="10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cxnSp>
              <p:nvCxnSpPr>
                <p:cNvPr id="177" name="Straight Connector 176">
                  <a:extLst>
                    <a:ext uri="{FF2B5EF4-FFF2-40B4-BE49-F238E27FC236}">
                      <a16:creationId xmlns:a16="http://schemas.microsoft.com/office/drawing/2014/main" id="{3BAEDC5D-A0EB-4C12-ADEE-43FA54C1A01E}"/>
                    </a:ext>
                  </a:extLst>
                </p:cNvPr>
                <p:cNvCxnSpPr/>
                <p:nvPr/>
              </p:nvCxnSpPr>
              <p:spPr>
                <a:xfrm>
                  <a:off x="1783851" y="2538285"/>
                  <a:ext cx="228600" cy="0"/>
                </a:xfrm>
                <a:prstGeom prst="line">
                  <a:avLst/>
                </a:prstGeom>
                <a:ln w="28575">
                  <a:solidFill>
                    <a:srgbClr val="40488D"/>
                  </a:solidFill>
                </a:ln>
              </p:spPr>
              <p:style>
                <a:lnRef idx="1">
                  <a:schemeClr val="accent1"/>
                </a:lnRef>
                <a:fillRef idx="0">
                  <a:schemeClr val="accent1"/>
                </a:fillRef>
                <a:effectRef idx="0">
                  <a:schemeClr val="accent1"/>
                </a:effectRef>
                <a:fontRef idx="minor">
                  <a:schemeClr val="tx1"/>
                </a:fontRef>
              </p:style>
            </p:cxnSp>
          </p:grpSp>
        </p:grpSp>
      </p:grpSp>
      <p:grpSp>
        <p:nvGrpSpPr>
          <p:cNvPr id="23" name="Group 22"/>
          <p:cNvGrpSpPr/>
          <p:nvPr/>
        </p:nvGrpSpPr>
        <p:grpSpPr>
          <a:xfrm>
            <a:off x="8836091" y="2043402"/>
            <a:ext cx="2710882" cy="3219061"/>
            <a:chOff x="8854754" y="2062064"/>
            <a:chExt cx="2710882" cy="3219061"/>
          </a:xfrm>
        </p:grpSpPr>
        <p:grpSp>
          <p:nvGrpSpPr>
            <p:cNvPr id="21" name="Group 20"/>
            <p:cNvGrpSpPr/>
            <p:nvPr/>
          </p:nvGrpSpPr>
          <p:grpSpPr>
            <a:xfrm>
              <a:off x="8854754" y="2062064"/>
              <a:ext cx="2710882" cy="3219061"/>
              <a:chOff x="8915741" y="2062064"/>
              <a:chExt cx="2575247" cy="3219061"/>
            </a:xfrm>
          </p:grpSpPr>
          <p:sp>
            <p:nvSpPr>
              <p:cNvPr id="178" name="Rounded Rectangle 177"/>
              <p:cNvSpPr/>
              <p:nvPr/>
            </p:nvSpPr>
            <p:spPr>
              <a:xfrm rot="21210178">
                <a:off x="8915741" y="2062064"/>
                <a:ext cx="2565918" cy="3219061"/>
              </a:xfrm>
              <a:prstGeom prst="roundRect">
                <a:avLst>
                  <a:gd name="adj" fmla="val 5653"/>
                </a:avLst>
              </a:prstGeom>
              <a:solidFill>
                <a:srgbClr val="E49B13"/>
              </a:solidFill>
              <a:ln>
                <a:solidFill>
                  <a:srgbClr val="E49B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8" name="Rounded Rectangle 17"/>
              <p:cNvSpPr/>
              <p:nvPr/>
            </p:nvSpPr>
            <p:spPr>
              <a:xfrm>
                <a:off x="8925070" y="2062064"/>
                <a:ext cx="2565918" cy="3219061"/>
              </a:xfrm>
              <a:prstGeom prst="roundRect">
                <a:avLst>
                  <a:gd name="adj" fmla="val 5653"/>
                </a:avLst>
              </a:prstGeom>
              <a:solidFill>
                <a:schemeClr val="bg1"/>
              </a:solidFill>
              <a:ln>
                <a:solidFill>
                  <a:srgbClr val="E49B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22" name="Rectangle 21"/>
            <p:cNvSpPr/>
            <p:nvPr/>
          </p:nvSpPr>
          <p:spPr>
            <a:xfrm>
              <a:off x="8953337" y="2290447"/>
              <a:ext cx="2513717" cy="2762295"/>
            </a:xfrm>
            <a:prstGeom prst="rect">
              <a:avLst/>
            </a:prstGeom>
          </p:spPr>
          <p:txBody>
            <a:bodyPr wrap="square">
              <a:spAutoFit/>
            </a:bodyPr>
            <a:lstStyle/>
            <a:p>
              <a:pPr marL="0" marR="0" lvl="0" indent="0" algn="l" defTabSz="975208" rtl="0" eaLnBrk="0" fontAlgn="auto" latinLnBrk="0" hangingPunct="0">
                <a:lnSpc>
                  <a:spcPct val="100000"/>
                </a:lnSpc>
                <a:spcBef>
                  <a:spcPts val="0"/>
                </a:spcBef>
                <a:spcAft>
                  <a:spcPts val="300"/>
                </a:spcAft>
                <a:buClr>
                  <a:srgbClr val="FFFFFF"/>
                </a:buClr>
                <a:buSzTx/>
                <a:buFontTx/>
                <a:buNone/>
                <a:tabLst/>
                <a:defRPr/>
              </a:pPr>
              <a:r>
                <a:rPr kumimoji="0" lang="en-GB" sz="1200" b="1" i="0" u="none" strike="noStrike" kern="0" cap="none" spc="0" normalizeH="0" baseline="0" noProof="0" dirty="0">
                  <a:ln>
                    <a:noFill/>
                  </a:ln>
                  <a:solidFill>
                    <a:srgbClr val="15717D"/>
                  </a:solidFill>
                  <a:effectLst/>
                  <a:uLnTx/>
                  <a:uFillTx/>
                  <a:latin typeface="Arial" panose="020B0604020202020204"/>
                  <a:ea typeface="+mn-ea"/>
                  <a:cs typeface="+mn-cs"/>
                </a:rPr>
                <a:t>Number needed to treat</a:t>
              </a:r>
              <a:r>
                <a:rPr kumimoji="0" lang="en-GB" sz="1200" b="1" i="0" u="none" strike="noStrike" kern="0" cap="none" spc="0" normalizeH="0" baseline="30000" noProof="0" dirty="0">
                  <a:ln>
                    <a:noFill/>
                  </a:ln>
                  <a:solidFill>
                    <a:srgbClr val="15717D"/>
                  </a:solidFill>
                  <a:effectLst/>
                  <a:uLnTx/>
                  <a:uFillTx/>
                  <a:latin typeface="Arial" panose="020B0604020202020204"/>
                  <a:ea typeface="+mn-ea"/>
                  <a:cs typeface="+mn-cs"/>
                </a:rPr>
                <a:t>2</a:t>
              </a:r>
            </a:p>
            <a:p>
              <a:pPr marL="173736" marR="0" lvl="0" indent="-173736" algn="l" defTabSz="975208" rtl="0" eaLnBrk="0" fontAlgn="auto" latinLnBrk="0" hangingPunct="0">
                <a:lnSpc>
                  <a:spcPct val="100000"/>
                </a:lnSpc>
                <a:spcBef>
                  <a:spcPts val="0"/>
                </a:spcBef>
                <a:spcAft>
                  <a:spcPts val="300"/>
                </a:spcAft>
                <a:buClrTx/>
                <a:buSzTx/>
                <a:buFont typeface="Arial" panose="020B0604020202020204" pitchFamily="34" charset="0"/>
                <a:buChar char="–"/>
                <a:tabLst/>
                <a:defRPr/>
              </a:pPr>
              <a:r>
                <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rPr>
                <a:t>For every 4 patients treated for</a:t>
              </a:r>
              <a:br>
                <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rPr>
              </a:br>
              <a:r>
                <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rPr>
                <a:t>1 year, FF/UMEC/VI prevents</a:t>
              </a:r>
              <a:br>
                <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rPr>
              </a:br>
              <a:r>
                <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rPr>
                <a:t>1 moderate/severe exacerbation vs UMEC/VI</a:t>
              </a:r>
            </a:p>
            <a:p>
              <a:pPr marL="173736" marR="0" lvl="0" indent="-173736" algn="l" defTabSz="975208" rtl="0" eaLnBrk="0" fontAlgn="auto" latinLnBrk="0" hangingPunct="0">
                <a:lnSpc>
                  <a:spcPct val="100000"/>
                </a:lnSpc>
                <a:spcBef>
                  <a:spcPts val="0"/>
                </a:spcBef>
                <a:spcAft>
                  <a:spcPts val="1200"/>
                </a:spcAft>
                <a:buClrTx/>
                <a:buSzTx/>
                <a:buFont typeface="Arial" panose="020B0604020202020204" pitchFamily="34" charset="0"/>
                <a:buChar char="–"/>
                <a:tabLst/>
                <a:defRPr/>
              </a:pPr>
              <a:r>
                <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rPr>
                <a:t>For every 16 patients treated for 1 year, FF/UMEC/VI prevents 1 severe exacerbation vs UMEC/VI</a:t>
              </a:r>
            </a:p>
            <a:p>
              <a:pPr marL="0" marR="0" lvl="0" indent="0" algn="l" defTabSz="975208" rtl="0" eaLnBrk="0" fontAlgn="auto" latinLnBrk="0" hangingPunct="0">
                <a:lnSpc>
                  <a:spcPct val="100000"/>
                </a:lnSpc>
                <a:spcBef>
                  <a:spcPts val="0"/>
                </a:spcBef>
                <a:spcAft>
                  <a:spcPts val="300"/>
                </a:spcAft>
                <a:buClrTx/>
                <a:buSzTx/>
                <a:buFontTx/>
                <a:buNone/>
                <a:tabLst/>
                <a:defRPr/>
              </a:pPr>
              <a:r>
                <a:rPr kumimoji="0" lang="en-US" sz="1200" b="1" i="0" u="none" strike="noStrike" kern="0" cap="none" spc="0" normalizeH="0" baseline="0" noProof="0" dirty="0">
                  <a:ln>
                    <a:noFill/>
                  </a:ln>
                  <a:solidFill>
                    <a:srgbClr val="15717D"/>
                  </a:solidFill>
                  <a:effectLst/>
                  <a:uLnTx/>
                  <a:uFillTx/>
                  <a:latin typeface="Arial" panose="020B0604020202020204"/>
                  <a:ea typeface="+mn-ea"/>
                  <a:cs typeface="+mn-cs"/>
                </a:rPr>
                <a:t>Number needed to harm</a:t>
              </a:r>
              <a:r>
                <a:rPr kumimoji="0" lang="en-US" sz="1200" b="1" i="0" u="none" strike="noStrike" kern="0" cap="none" spc="0" normalizeH="0" baseline="30000" noProof="0" dirty="0">
                  <a:ln>
                    <a:noFill/>
                  </a:ln>
                  <a:solidFill>
                    <a:srgbClr val="15717D"/>
                  </a:solidFill>
                  <a:effectLst/>
                  <a:uLnTx/>
                  <a:uFillTx/>
                  <a:latin typeface="Arial" panose="020B0604020202020204"/>
                  <a:ea typeface="+mn-ea"/>
                  <a:cs typeface="+mn-cs"/>
                </a:rPr>
                <a:t>2</a:t>
              </a:r>
            </a:p>
            <a:p>
              <a:pPr marL="173736" marR="0" lvl="0" indent="-173736" algn="l" defTabSz="975208" rtl="0" eaLnBrk="0" fontAlgn="auto" latinLnBrk="0" hangingPunct="0">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544F40"/>
                  </a:solidFill>
                  <a:effectLst/>
                  <a:uLnTx/>
                  <a:uFillTx/>
                  <a:latin typeface="Arial" panose="020B0604020202020204"/>
                  <a:ea typeface="+mn-ea"/>
                  <a:cs typeface="+mn-cs"/>
                </a:rPr>
                <a:t>For every 33 patients treated for 1 year, FF/UMEC/VI caused </a:t>
              </a:r>
              <a:br>
                <a:rPr kumimoji="0" lang="en-US" sz="1200" b="0" i="0" u="none" strike="noStrike" kern="1200" cap="none" spc="0" normalizeH="0" baseline="0" noProof="0" dirty="0">
                  <a:ln>
                    <a:noFill/>
                  </a:ln>
                  <a:solidFill>
                    <a:srgbClr val="544F40"/>
                  </a:solidFill>
                  <a:effectLst/>
                  <a:uLnTx/>
                  <a:uFillTx/>
                  <a:latin typeface="Arial" panose="020B0604020202020204"/>
                  <a:ea typeface="+mn-ea"/>
                  <a:cs typeface="+mn-cs"/>
                </a:rPr>
              </a:br>
              <a:r>
                <a:rPr kumimoji="0" lang="en-US" sz="1200" b="0" i="0" u="none" strike="noStrike" kern="1200" cap="none" spc="0" normalizeH="0" baseline="0" noProof="0" dirty="0">
                  <a:ln>
                    <a:noFill/>
                  </a:ln>
                  <a:solidFill>
                    <a:srgbClr val="544F40"/>
                  </a:solidFill>
                  <a:effectLst/>
                  <a:uLnTx/>
                  <a:uFillTx/>
                  <a:latin typeface="Arial" panose="020B0604020202020204"/>
                  <a:ea typeface="+mn-ea"/>
                  <a:cs typeface="+mn-cs"/>
                </a:rPr>
                <a:t>1 pneumonia AESI vs UMEC/VI</a:t>
              </a:r>
            </a:p>
          </p:txBody>
        </p:sp>
      </p:grpSp>
      <p:pic>
        <p:nvPicPr>
          <p:cNvPr id="89" name="Picture 88">
            <a:extLst>
              <a:ext uri="{FF2B5EF4-FFF2-40B4-BE49-F238E27FC236}">
                <a16:creationId xmlns:a16="http://schemas.microsoft.com/office/drawing/2014/main" id="{F89C67CB-48BA-4A88-9301-0CB397AE4EB8}"/>
              </a:ext>
            </a:extLst>
          </p:cNvPr>
          <p:cNvPicPr>
            <a:picLocks noChangeAspect="1"/>
          </p:cNvPicPr>
          <p:nvPr/>
        </p:nvPicPr>
        <p:blipFill>
          <a:blip r:embed="rId2"/>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118377229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23" y="242888"/>
            <a:ext cx="11766565" cy="430887"/>
          </a:xfrm>
        </p:spPr>
        <p:txBody>
          <a:bodyPr/>
          <a:lstStyle/>
          <a:p>
            <a:r>
              <a:rPr lang="en-US" sz="2400" dirty="0"/>
              <a:t>IMPACT: Reduction in the risk of on-treatment ACM with FF/UMEC/VI vs UMEC/VI</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17" name="Text Placeholder 16"/>
          <p:cNvSpPr>
            <a:spLocks noGrp="1"/>
          </p:cNvSpPr>
          <p:nvPr>
            <p:ph type="body" sz="quarter" idx="21"/>
          </p:nvPr>
        </p:nvSpPr>
        <p:spPr/>
        <p:txBody>
          <a:bodyPr/>
          <a:lstStyle/>
          <a:p>
            <a:r>
              <a:rPr lang="en-US" dirty="0"/>
              <a:t>Lipson DA, et al. </a:t>
            </a:r>
            <a:r>
              <a:rPr lang="en-US" i="1" dirty="0"/>
              <a:t>Am J </a:t>
            </a:r>
            <a:r>
              <a:rPr lang="en-US" i="1" dirty="0" err="1"/>
              <a:t>Respir</a:t>
            </a:r>
            <a:r>
              <a:rPr lang="en-US" i="1" dirty="0"/>
              <a:t> </a:t>
            </a:r>
            <a:r>
              <a:rPr lang="en-US" i="1" dirty="0" err="1"/>
              <a:t>Crit</a:t>
            </a:r>
            <a:r>
              <a:rPr lang="en-US" i="1" dirty="0"/>
              <a:t> Care Med</a:t>
            </a:r>
            <a:r>
              <a:rPr lang="en-US" dirty="0"/>
              <a:t>. 2020</a:t>
            </a:r>
            <a:r>
              <a:rPr lang="en-GB" dirty="0"/>
              <a:t>;201;1508-1516</a:t>
            </a:r>
            <a:endParaRPr lang="en-US" dirty="0"/>
          </a:p>
        </p:txBody>
      </p:sp>
      <p:sp>
        <p:nvSpPr>
          <p:cNvPr id="12" name="Text Placeholder 11"/>
          <p:cNvSpPr>
            <a:spLocks noGrp="1"/>
          </p:cNvSpPr>
          <p:nvPr>
            <p:ph type="body" sz="quarter" idx="19"/>
          </p:nvPr>
        </p:nvSpPr>
        <p:spPr/>
        <p:txBody>
          <a:bodyPr/>
          <a:lstStyle/>
          <a:p>
            <a:r>
              <a:rPr lang="en-US" dirty="0"/>
              <a:t>The graph has been reproduced with permission from the author </a:t>
            </a:r>
          </a:p>
          <a:p>
            <a:r>
              <a:rPr lang="en-US" dirty="0"/>
              <a:t>CI, confidence interval; FF, fluticasone furoate; RR, risk reduction; UMEC, umeclidinium; VI, vilanterol.</a:t>
            </a:r>
          </a:p>
        </p:txBody>
      </p:sp>
      <p:sp>
        <p:nvSpPr>
          <p:cNvPr id="35" name="Rounded Rectangle 34"/>
          <p:cNvSpPr/>
          <p:nvPr/>
        </p:nvSpPr>
        <p:spPr>
          <a:xfrm>
            <a:off x="427806" y="1598034"/>
            <a:ext cx="11347427" cy="4186945"/>
          </a:xfrm>
          <a:prstGeom prst="roundRect">
            <a:avLst>
              <a:gd name="adj" fmla="val 215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6" name="Rounded Rectangle 35"/>
          <p:cNvSpPr/>
          <p:nvPr/>
        </p:nvSpPr>
        <p:spPr bwMode="auto">
          <a:xfrm>
            <a:off x="627692" y="1418255"/>
            <a:ext cx="10951598" cy="389513"/>
          </a:xfrm>
          <a:prstGeom prst="roundRect">
            <a:avLst>
              <a:gd name="adj" fmla="val 50000"/>
            </a:avLst>
          </a:prstGeom>
          <a:solidFill>
            <a:srgbClr val="544F40"/>
          </a:solidFill>
          <a:ln w="1905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818"/>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pitchFamily="34" charset="0"/>
                <a:ea typeface="+mn-ea"/>
                <a:cs typeface="+mn-cs"/>
              </a:rPr>
              <a:t>All-cause mortality benefit with both FF-containing regimens vs UMEC/VI</a:t>
            </a:r>
            <a:endParaRPr kumimoji="0" lang="en-US" sz="1400" b="1" i="0" u="none" strike="noStrike" kern="1200" cap="none" spc="0" normalizeH="0" baseline="30000" noProof="0" dirty="0">
              <a:ln>
                <a:noFill/>
              </a:ln>
              <a:solidFill>
                <a:prstClr val="white"/>
              </a:solidFill>
              <a:effectLst/>
              <a:uLnTx/>
              <a:uFillTx/>
              <a:latin typeface="Arial" pitchFamily="34" charset="0"/>
              <a:ea typeface="+mn-ea"/>
              <a:cs typeface="+mn-cs"/>
            </a:endParaRPr>
          </a:p>
        </p:txBody>
      </p:sp>
      <p:graphicFrame>
        <p:nvGraphicFramePr>
          <p:cNvPr id="123" name="Table 122">
            <a:extLst>
              <a:ext uri="{FF2B5EF4-FFF2-40B4-BE49-F238E27FC236}">
                <a16:creationId xmlns:a16="http://schemas.microsoft.com/office/drawing/2014/main" id="{BD386639-ECF7-47D8-95F4-81E4FAADD77E}"/>
              </a:ext>
            </a:extLst>
          </p:cNvPr>
          <p:cNvGraphicFramePr>
            <a:graphicFrameLocks noGrp="1"/>
          </p:cNvGraphicFramePr>
          <p:nvPr/>
        </p:nvGraphicFramePr>
        <p:xfrm>
          <a:off x="488732" y="4836907"/>
          <a:ext cx="8026612" cy="864000"/>
        </p:xfrm>
        <a:graphic>
          <a:graphicData uri="http://schemas.openxmlformats.org/drawingml/2006/table">
            <a:tbl>
              <a:tblPr firstRow="1" bandRow="1"/>
              <a:tblGrid>
                <a:gridCol w="889218">
                  <a:extLst>
                    <a:ext uri="{9D8B030D-6E8A-4147-A177-3AD203B41FA5}">
                      <a16:colId xmlns:a16="http://schemas.microsoft.com/office/drawing/2014/main" val="3059989347"/>
                    </a:ext>
                  </a:extLst>
                </a:gridCol>
                <a:gridCol w="444046">
                  <a:extLst>
                    <a:ext uri="{9D8B030D-6E8A-4147-A177-3AD203B41FA5}">
                      <a16:colId xmlns:a16="http://schemas.microsoft.com/office/drawing/2014/main" val="1486860099"/>
                    </a:ext>
                  </a:extLst>
                </a:gridCol>
                <a:gridCol w="444046">
                  <a:extLst>
                    <a:ext uri="{9D8B030D-6E8A-4147-A177-3AD203B41FA5}">
                      <a16:colId xmlns:a16="http://schemas.microsoft.com/office/drawing/2014/main" val="3351148071"/>
                    </a:ext>
                  </a:extLst>
                </a:gridCol>
                <a:gridCol w="444046">
                  <a:extLst>
                    <a:ext uri="{9D8B030D-6E8A-4147-A177-3AD203B41FA5}">
                      <a16:colId xmlns:a16="http://schemas.microsoft.com/office/drawing/2014/main" val="2326291916"/>
                    </a:ext>
                  </a:extLst>
                </a:gridCol>
                <a:gridCol w="444046">
                  <a:extLst>
                    <a:ext uri="{9D8B030D-6E8A-4147-A177-3AD203B41FA5}">
                      <a16:colId xmlns:a16="http://schemas.microsoft.com/office/drawing/2014/main" val="2080208256"/>
                    </a:ext>
                  </a:extLst>
                </a:gridCol>
                <a:gridCol w="444046">
                  <a:extLst>
                    <a:ext uri="{9D8B030D-6E8A-4147-A177-3AD203B41FA5}">
                      <a16:colId xmlns:a16="http://schemas.microsoft.com/office/drawing/2014/main" val="4229707475"/>
                    </a:ext>
                  </a:extLst>
                </a:gridCol>
                <a:gridCol w="444046">
                  <a:extLst>
                    <a:ext uri="{9D8B030D-6E8A-4147-A177-3AD203B41FA5}">
                      <a16:colId xmlns:a16="http://schemas.microsoft.com/office/drawing/2014/main" val="2320893584"/>
                    </a:ext>
                  </a:extLst>
                </a:gridCol>
                <a:gridCol w="444046">
                  <a:extLst>
                    <a:ext uri="{9D8B030D-6E8A-4147-A177-3AD203B41FA5}">
                      <a16:colId xmlns:a16="http://schemas.microsoft.com/office/drawing/2014/main" val="1686935917"/>
                    </a:ext>
                  </a:extLst>
                </a:gridCol>
                <a:gridCol w="444046">
                  <a:extLst>
                    <a:ext uri="{9D8B030D-6E8A-4147-A177-3AD203B41FA5}">
                      <a16:colId xmlns:a16="http://schemas.microsoft.com/office/drawing/2014/main" val="2011604988"/>
                    </a:ext>
                  </a:extLst>
                </a:gridCol>
                <a:gridCol w="444046">
                  <a:extLst>
                    <a:ext uri="{9D8B030D-6E8A-4147-A177-3AD203B41FA5}">
                      <a16:colId xmlns:a16="http://schemas.microsoft.com/office/drawing/2014/main" val="559903137"/>
                    </a:ext>
                  </a:extLst>
                </a:gridCol>
                <a:gridCol w="444046">
                  <a:extLst>
                    <a:ext uri="{9D8B030D-6E8A-4147-A177-3AD203B41FA5}">
                      <a16:colId xmlns:a16="http://schemas.microsoft.com/office/drawing/2014/main" val="1535293094"/>
                    </a:ext>
                  </a:extLst>
                </a:gridCol>
                <a:gridCol w="444046">
                  <a:extLst>
                    <a:ext uri="{9D8B030D-6E8A-4147-A177-3AD203B41FA5}">
                      <a16:colId xmlns:a16="http://schemas.microsoft.com/office/drawing/2014/main" val="1824848274"/>
                    </a:ext>
                  </a:extLst>
                </a:gridCol>
                <a:gridCol w="444046">
                  <a:extLst>
                    <a:ext uri="{9D8B030D-6E8A-4147-A177-3AD203B41FA5}">
                      <a16:colId xmlns:a16="http://schemas.microsoft.com/office/drawing/2014/main" val="827126676"/>
                    </a:ext>
                  </a:extLst>
                </a:gridCol>
                <a:gridCol w="444046">
                  <a:extLst>
                    <a:ext uri="{9D8B030D-6E8A-4147-A177-3AD203B41FA5}">
                      <a16:colId xmlns:a16="http://schemas.microsoft.com/office/drawing/2014/main" val="4285178239"/>
                    </a:ext>
                  </a:extLst>
                </a:gridCol>
                <a:gridCol w="444046">
                  <a:extLst>
                    <a:ext uri="{9D8B030D-6E8A-4147-A177-3AD203B41FA5}">
                      <a16:colId xmlns:a16="http://schemas.microsoft.com/office/drawing/2014/main" val="2547285860"/>
                    </a:ext>
                  </a:extLst>
                </a:gridCol>
                <a:gridCol w="63500">
                  <a:extLst>
                    <a:ext uri="{9D8B030D-6E8A-4147-A177-3AD203B41FA5}">
                      <a16:colId xmlns:a16="http://schemas.microsoft.com/office/drawing/2014/main" val="407571628"/>
                    </a:ext>
                  </a:extLst>
                </a:gridCol>
                <a:gridCol w="857250">
                  <a:extLst>
                    <a:ext uri="{9D8B030D-6E8A-4147-A177-3AD203B41FA5}">
                      <a16:colId xmlns:a16="http://schemas.microsoft.com/office/drawing/2014/main" val="151637888"/>
                    </a:ext>
                  </a:extLst>
                </a:gridCol>
              </a:tblGrid>
              <a:tr h="216000">
                <a:tc gridSpan="10">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l" fontAlgn="b"/>
                      <a:r>
                        <a:rPr lang="en-GB" sz="1000" b="1" i="0" u="none" strike="noStrike" dirty="0">
                          <a:solidFill>
                            <a:schemeClr val="tx1"/>
                          </a:solidFill>
                          <a:effectLst/>
                          <a:latin typeface="+mn-lt"/>
                        </a:rPr>
                        <a:t>N at risk</a:t>
                      </a:r>
                    </a:p>
                  </a:txBody>
                  <a:tcPr marL="3600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fontAlgn="b"/>
                      <a:endParaRPr lang="en-GB" sz="1000" b="0" i="0" u="none" strike="noStrike" dirty="0">
                        <a:solidFill>
                          <a:schemeClr val="tx2"/>
                        </a:solidFill>
                        <a:effectLst/>
                        <a:latin typeface="+mn-lt"/>
                      </a:endParaRPr>
                    </a:p>
                  </a:txBody>
                  <a:tcPr marL="6540" marR="6540" marT="6540" marB="72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fontAlgn="b"/>
                      <a:endParaRPr lang="en-GB" sz="1000" b="0" i="0" u="none" strike="noStrike" dirty="0">
                        <a:solidFill>
                          <a:schemeClr val="tx2"/>
                        </a:solidFill>
                        <a:effectLst/>
                        <a:latin typeface="+mn-lt"/>
                      </a:endParaRPr>
                    </a:p>
                  </a:txBody>
                  <a:tcPr marL="6540" marR="6540" marT="6540" marB="72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fontAlgn="b"/>
                      <a:endParaRPr lang="en-GB" sz="1000" b="0" i="0" u="none" strike="noStrike" dirty="0">
                        <a:solidFill>
                          <a:schemeClr val="tx2"/>
                        </a:solidFill>
                        <a:effectLst/>
                        <a:latin typeface="+mn-lt"/>
                      </a:endParaRPr>
                    </a:p>
                  </a:txBody>
                  <a:tcPr marL="6540" marR="6540" marT="6540" marB="72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fontAlgn="b"/>
                      <a:endParaRPr lang="en-GB" sz="1000" b="0" i="0" u="none" strike="noStrike" dirty="0">
                        <a:solidFill>
                          <a:schemeClr val="tx2"/>
                        </a:solidFill>
                        <a:effectLst/>
                        <a:latin typeface="+mn-lt"/>
                      </a:endParaRPr>
                    </a:p>
                  </a:txBody>
                  <a:tcPr marL="6540" marR="6540" marT="6540" marB="72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fontAlgn="b"/>
                      <a:endParaRPr lang="en-GB" sz="1000" b="0" i="0" u="none" strike="noStrike" dirty="0">
                        <a:solidFill>
                          <a:schemeClr val="tx2"/>
                        </a:solidFill>
                        <a:effectLst/>
                        <a:latin typeface="+mn-lt"/>
                      </a:endParaRPr>
                    </a:p>
                  </a:txBody>
                  <a:tcPr marL="6540" marR="6540" marT="6540" marB="72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fontAlgn="b"/>
                      <a:endParaRPr lang="en-GB" sz="1000" b="0" i="0" u="none" strike="noStrike" dirty="0">
                        <a:solidFill>
                          <a:schemeClr val="tx2"/>
                        </a:solidFill>
                        <a:effectLst/>
                        <a:latin typeface="+mn-lt"/>
                      </a:endParaRPr>
                    </a:p>
                  </a:txBody>
                  <a:tcPr marL="6540" marR="6540" marT="6540" marB="72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fontAlgn="b"/>
                      <a:endParaRPr lang="en-GB" sz="1000" b="0" i="0" u="none" strike="noStrike" dirty="0">
                        <a:solidFill>
                          <a:schemeClr val="tx2"/>
                        </a:solidFill>
                        <a:effectLst/>
                        <a:latin typeface="+mn-lt"/>
                      </a:endParaRPr>
                    </a:p>
                  </a:txBody>
                  <a:tcPr marL="6540" marR="6540" marT="6540" marB="72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fontAlgn="b"/>
                      <a:endParaRPr lang="en-GB" sz="1000" b="0" i="0" u="none" strike="noStrike" dirty="0">
                        <a:solidFill>
                          <a:schemeClr val="tx2"/>
                        </a:solidFill>
                        <a:effectLst/>
                        <a:latin typeface="+mn-lt"/>
                      </a:endParaRPr>
                    </a:p>
                  </a:txBody>
                  <a:tcPr marL="6540" marR="6540" marT="6540" marB="72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fontAlgn="b"/>
                      <a:endParaRPr lang="en-GB" sz="1000" b="0" i="0" u="none" strike="noStrike" dirty="0">
                        <a:solidFill>
                          <a:schemeClr val="tx2"/>
                        </a:solidFill>
                        <a:effectLst/>
                        <a:latin typeface="+mn-lt"/>
                      </a:endParaRPr>
                    </a:p>
                  </a:txBody>
                  <a:tcPr marL="6540" marR="6540" marT="6540" marB="72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endParaRPr lang="en-US" sz="1000" b="1" i="0" u="none" strike="noStrike" dirty="0">
                        <a:solidFill>
                          <a:schemeClr val="tx1"/>
                        </a:solidFill>
                        <a:effectLst/>
                        <a:latin typeface="+mn-lt"/>
                      </a:endParaRPr>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endParaRPr lang="en-US" sz="1000" b="1" i="0" u="none" strike="noStrike" dirty="0">
                        <a:solidFill>
                          <a:schemeClr val="tx1"/>
                        </a:solidFill>
                        <a:effectLst/>
                        <a:latin typeface="+mn-lt"/>
                      </a:endParaRPr>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endParaRPr lang="en-US" sz="1000" b="1" i="0" u="none" strike="noStrike" dirty="0">
                        <a:solidFill>
                          <a:schemeClr val="tx1"/>
                        </a:solidFill>
                        <a:effectLst/>
                        <a:latin typeface="+mn-lt"/>
                      </a:endParaRPr>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endParaRPr lang="en-US" sz="1000" b="1" i="0" u="none" strike="noStrike" dirty="0">
                        <a:solidFill>
                          <a:schemeClr val="tx1"/>
                        </a:solidFill>
                        <a:effectLst/>
                        <a:latin typeface="+mn-lt"/>
                      </a:endParaRPr>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endParaRPr lang="en-US" sz="1000" b="1" i="0" u="none" strike="noStrike" dirty="0">
                        <a:solidFill>
                          <a:schemeClr val="tx1"/>
                        </a:solidFill>
                        <a:effectLst/>
                        <a:latin typeface="+mn-lt"/>
                      </a:endParaRPr>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endParaRPr lang="en-US" sz="1000" b="1" i="0" u="none" strike="noStrike" dirty="0">
                        <a:solidFill>
                          <a:schemeClr val="tx1"/>
                        </a:solidFill>
                        <a:effectLst/>
                        <a:latin typeface="+mn-lt"/>
                      </a:endParaRPr>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US" sz="1000" b="1" i="0" u="none" strike="noStrike" dirty="0">
                          <a:solidFill>
                            <a:schemeClr val="tx1"/>
                          </a:solidFill>
                          <a:effectLst/>
                          <a:latin typeface="+mn-lt"/>
                        </a:rPr>
                        <a:t>% Mortality</a:t>
                      </a:r>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99585807"/>
                  </a:ext>
                </a:extLst>
              </a:tr>
              <a:tr h="216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GB" sz="1000" b="1" u="none" strike="noStrike" kern="0" spc="-40" baseline="0" dirty="0">
                          <a:solidFill>
                            <a:schemeClr val="bg1"/>
                          </a:solidFill>
                          <a:effectLst/>
                          <a:latin typeface="+mn-lt"/>
                        </a:rPr>
                        <a:t>FF/UMEC/VI </a:t>
                      </a:r>
                    </a:p>
                  </a:txBody>
                  <a:tcPr marL="36000" marR="0" marT="0" marB="0" anchor="ctr">
                    <a:lnL w="12700" cmpd="sng">
                      <a:noFill/>
                    </a:lnL>
                    <a:lnR w="12700" cmpd="sng">
                      <a:noFill/>
                    </a:lnR>
                    <a:lnT w="381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6633"/>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F36633"/>
                          </a:solidFill>
                          <a:effectLst/>
                          <a:latin typeface="+mn-lt"/>
                        </a:rPr>
                        <a:t>4,151</a:t>
                      </a:r>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F36633"/>
                          </a:solidFill>
                          <a:effectLst/>
                          <a:latin typeface="+mn-lt"/>
                        </a:rPr>
                        <a:t>4,082</a:t>
                      </a:r>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F36633"/>
                          </a:solidFill>
                          <a:effectLst/>
                          <a:latin typeface="+mn-lt"/>
                        </a:rPr>
                        <a:t>3,968</a:t>
                      </a:r>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F36633"/>
                          </a:solidFill>
                          <a:effectLst/>
                          <a:latin typeface="+mn-lt"/>
                        </a:rPr>
                        <a:t>3,898</a:t>
                      </a:r>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F36633"/>
                          </a:solidFill>
                          <a:effectLst/>
                          <a:latin typeface="+mn-lt"/>
                        </a:rPr>
                        <a:t>3,838</a:t>
                      </a:r>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F36633"/>
                          </a:solidFill>
                          <a:effectLst/>
                          <a:latin typeface="+mn-lt"/>
                        </a:rPr>
                        <a:t>3,752</a:t>
                      </a:r>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F36633"/>
                          </a:solidFill>
                          <a:effectLst/>
                          <a:latin typeface="+mn-lt"/>
                        </a:rPr>
                        <a:t>3,714</a:t>
                      </a:r>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F36633"/>
                          </a:solidFill>
                          <a:effectLst/>
                          <a:latin typeface="+mn-lt"/>
                        </a:rPr>
                        <a:t>3,690</a:t>
                      </a:r>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F36633"/>
                          </a:solidFill>
                          <a:effectLst/>
                          <a:latin typeface="+mn-lt"/>
                        </a:rPr>
                        <a:t>3,613</a:t>
                      </a:r>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F36633"/>
                          </a:solidFill>
                          <a:effectLst/>
                          <a:latin typeface="+mn-lt"/>
                        </a:rPr>
                        <a:t>3,581</a:t>
                      </a:r>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F36633"/>
                          </a:solidFill>
                          <a:effectLst/>
                          <a:latin typeface="+mn-lt"/>
                        </a:rPr>
                        <a:t>3,545</a:t>
                      </a:r>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F36633"/>
                          </a:solidFill>
                          <a:effectLst/>
                          <a:latin typeface="+mn-lt"/>
                        </a:rPr>
                        <a:t>3,486</a:t>
                      </a:r>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F36633"/>
                          </a:solidFill>
                          <a:effectLst/>
                          <a:latin typeface="+mn-lt"/>
                        </a:rPr>
                        <a:t>3,454</a:t>
                      </a:r>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F36633"/>
                          </a:solidFill>
                          <a:effectLst/>
                          <a:latin typeface="+mn-lt"/>
                        </a:rPr>
                        <a:t>3,346</a:t>
                      </a:r>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endParaRPr lang="en-GB" sz="1000" b="0" i="0" u="none" strike="noStrike" dirty="0">
                        <a:solidFill>
                          <a:srgbClr val="F36633"/>
                        </a:solidFill>
                        <a:effectLst/>
                        <a:latin typeface="+mn-lt"/>
                      </a:endParaRP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b="1" i="0" u="none" strike="noStrike" dirty="0">
                          <a:solidFill>
                            <a:srgbClr val="F36633"/>
                          </a:solidFill>
                          <a:effectLst/>
                          <a:latin typeface="+mn-lt"/>
                        </a:rPr>
                        <a:t>1.20 (n = 50)</a:t>
                      </a:r>
                    </a:p>
                  </a:txBody>
                  <a:tcPr marL="6540" marR="6540" marT="6540" marB="7200" anchor="ctr">
                    <a:lnL w="12700" cmpd="sng">
                      <a:noFill/>
                    </a:lnL>
                    <a:lnR w="12700" cmpd="sng">
                      <a:noFill/>
                    </a:lnR>
                    <a:lnT w="38100" cmpd="sng">
                      <a:noFill/>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3825357"/>
                  </a:ext>
                </a:extLst>
              </a:tr>
              <a:tr h="216000">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l" fontAlgn="b"/>
                      <a:r>
                        <a:rPr lang="en-GB" sz="1000" b="1" i="0" u="none" strike="noStrike" dirty="0">
                          <a:solidFill>
                            <a:schemeClr val="bg1"/>
                          </a:solidFill>
                          <a:effectLst/>
                          <a:latin typeface="+mn-lt"/>
                        </a:rPr>
                        <a:t>FF/VI </a:t>
                      </a:r>
                    </a:p>
                  </a:txBody>
                  <a:tcPr marL="36000" marR="0" marT="0" marB="0"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8A00"/>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008A00"/>
                          </a:solidFill>
                          <a:effectLst/>
                          <a:latin typeface="+mn-lt"/>
                        </a:rPr>
                        <a:t>4,134</a:t>
                      </a:r>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008A00"/>
                          </a:solidFill>
                          <a:effectLst/>
                          <a:latin typeface="+mn-lt"/>
                        </a:rPr>
                        <a:t>3,984</a:t>
                      </a:r>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008A00"/>
                          </a:solidFill>
                          <a:effectLst/>
                          <a:latin typeface="+mn-lt"/>
                        </a:rPr>
                        <a:t>3,798</a:t>
                      </a:r>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008A00"/>
                          </a:solidFill>
                          <a:effectLst/>
                          <a:latin typeface="+mn-lt"/>
                        </a:rPr>
                        <a:t>3,694</a:t>
                      </a:r>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008A00"/>
                          </a:solidFill>
                          <a:effectLst/>
                          <a:latin typeface="+mn-lt"/>
                        </a:rPr>
                        <a:t>3,619</a:t>
                      </a:r>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008A00"/>
                          </a:solidFill>
                          <a:effectLst/>
                          <a:latin typeface="+mn-lt"/>
                        </a:rPr>
                        <a:t>3,496</a:t>
                      </a:r>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008A00"/>
                          </a:solidFill>
                          <a:effectLst/>
                          <a:latin typeface="+mn-lt"/>
                        </a:rPr>
                        <a:t>3,443</a:t>
                      </a:r>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008A00"/>
                          </a:solidFill>
                          <a:effectLst/>
                          <a:latin typeface="+mn-lt"/>
                        </a:rPr>
                        <a:t>3,391</a:t>
                      </a:r>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008A00"/>
                          </a:solidFill>
                          <a:effectLst/>
                          <a:latin typeface="+mn-lt"/>
                        </a:rPr>
                        <a:t>3,291</a:t>
                      </a:r>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008A00"/>
                          </a:solidFill>
                          <a:effectLst/>
                          <a:latin typeface="+mn-lt"/>
                        </a:rPr>
                        <a:t>3,258</a:t>
                      </a:r>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008A00"/>
                          </a:solidFill>
                          <a:effectLst/>
                          <a:latin typeface="+mn-lt"/>
                        </a:rPr>
                        <a:t>3,230</a:t>
                      </a:r>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008A00"/>
                          </a:solidFill>
                          <a:effectLst/>
                          <a:latin typeface="+mn-lt"/>
                        </a:rPr>
                        <a:t>3,182</a:t>
                      </a:r>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008A00"/>
                          </a:solidFill>
                          <a:effectLst/>
                          <a:latin typeface="+mn-lt"/>
                        </a:rPr>
                        <a:t>3,152</a:t>
                      </a:r>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008A00"/>
                          </a:solidFill>
                          <a:effectLst/>
                          <a:latin typeface="+mn-lt"/>
                        </a:rPr>
                        <a:t>3,044</a:t>
                      </a:r>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endParaRPr lang="en-GB" sz="1000" b="0" i="0" u="none" strike="noStrike" dirty="0">
                        <a:solidFill>
                          <a:srgbClr val="008A00"/>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b="1" i="0" u="none" strike="noStrike" dirty="0">
                          <a:solidFill>
                            <a:srgbClr val="008A00"/>
                          </a:solidFill>
                          <a:effectLst/>
                          <a:latin typeface="+mn-lt"/>
                        </a:rPr>
                        <a:t>1.19 (n = 49)</a:t>
                      </a: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63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6580579"/>
                  </a:ext>
                </a:extLst>
              </a:tr>
              <a:tr h="216000">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l" fontAlgn="b"/>
                      <a:r>
                        <a:rPr lang="en-GB" sz="1000" b="1" i="0" u="none" strike="noStrike" dirty="0">
                          <a:solidFill>
                            <a:schemeClr val="bg1"/>
                          </a:solidFill>
                          <a:effectLst/>
                          <a:latin typeface="+mn-lt"/>
                        </a:rPr>
                        <a:t>UMEC/VI </a:t>
                      </a:r>
                    </a:p>
                  </a:txBody>
                  <a:tcPr marL="36000" marR="0" marT="0" marB="0" anchor="ctr">
                    <a:lnL w="12700" cmpd="sng">
                      <a:noFill/>
                    </a:lnL>
                    <a:lnR w="12700" cmpd="sng">
                      <a:noFill/>
                    </a:lnR>
                    <a:lnT w="63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40488D"/>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40488D"/>
                          </a:solidFill>
                          <a:effectLst/>
                          <a:latin typeface="+mn-lt"/>
                        </a:rPr>
                        <a:t>2,070</a:t>
                      </a:r>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40488D"/>
                          </a:solidFill>
                          <a:effectLst/>
                          <a:latin typeface="+mn-lt"/>
                        </a:rPr>
                        <a:t>1,993</a:t>
                      </a:r>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40488D"/>
                          </a:solidFill>
                          <a:effectLst/>
                          <a:latin typeface="+mn-lt"/>
                        </a:rPr>
                        <a:t>1,880</a:t>
                      </a:r>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40488D"/>
                          </a:solidFill>
                          <a:effectLst/>
                          <a:latin typeface="+mn-lt"/>
                        </a:rPr>
                        <a:t>1,820</a:t>
                      </a:r>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40488D"/>
                          </a:solidFill>
                          <a:effectLst/>
                          <a:latin typeface="+mn-lt"/>
                        </a:rPr>
                        <a:t>1,769</a:t>
                      </a:r>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40488D"/>
                          </a:solidFill>
                          <a:effectLst/>
                          <a:latin typeface="+mn-lt"/>
                        </a:rPr>
                        <a:t>1,713</a:t>
                      </a:r>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40488D"/>
                          </a:solidFill>
                          <a:effectLst/>
                          <a:latin typeface="+mn-lt"/>
                        </a:rPr>
                        <a:t>1,685</a:t>
                      </a:r>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40488D"/>
                          </a:solidFill>
                          <a:effectLst/>
                          <a:latin typeface="+mn-lt"/>
                        </a:rPr>
                        <a:t>1,656</a:t>
                      </a:r>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40488D"/>
                          </a:solidFill>
                          <a:effectLst/>
                          <a:latin typeface="+mn-lt"/>
                        </a:rPr>
                        <a:t>1,612</a:t>
                      </a:r>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40488D"/>
                          </a:solidFill>
                          <a:effectLst/>
                          <a:latin typeface="+mn-lt"/>
                        </a:rPr>
                        <a:t>1,595</a:t>
                      </a:r>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40488D"/>
                          </a:solidFill>
                          <a:effectLst/>
                          <a:latin typeface="+mn-lt"/>
                        </a:rPr>
                        <a:t>1,578</a:t>
                      </a:r>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40488D"/>
                          </a:solidFill>
                          <a:effectLst/>
                          <a:latin typeface="+mn-lt"/>
                        </a:rPr>
                        <a:t>1,548</a:t>
                      </a:r>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40488D"/>
                          </a:solidFill>
                          <a:effectLst/>
                          <a:latin typeface="+mn-lt"/>
                        </a:rPr>
                        <a:t>1,531</a:t>
                      </a:r>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r>
                        <a:rPr lang="en-GB" sz="1000" u="none" strike="noStrike" dirty="0">
                          <a:solidFill>
                            <a:srgbClr val="40488D"/>
                          </a:solidFill>
                          <a:effectLst/>
                          <a:latin typeface="+mn-lt"/>
                        </a:rPr>
                        <a:t>1,485</a:t>
                      </a:r>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fontAlgn="b"/>
                      <a:endParaRPr lang="en-GB" sz="1000" b="0" i="0" u="none" strike="noStrike" dirty="0">
                        <a:solidFill>
                          <a:srgbClr val="40488D"/>
                        </a:solidFill>
                        <a:effectLst/>
                        <a:latin typeface="+mn-lt"/>
                      </a:endParaRP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40488D"/>
                          </a:solidFill>
                          <a:effectLst/>
                          <a:uLnTx/>
                          <a:uFillTx/>
                          <a:latin typeface="+mn-lt"/>
                        </a:rPr>
                        <a:t>1.88 (n = 39)</a:t>
                      </a:r>
                    </a:p>
                  </a:txBody>
                  <a:tcPr marL="6540" marR="6540" marT="6540" marB="7200" anchor="ctr">
                    <a:lnL w="12700" cmpd="sng">
                      <a:noFill/>
                    </a:lnL>
                    <a:lnR w="12700" cmpd="sng">
                      <a:noFill/>
                    </a:lnR>
                    <a:lnT w="6350" cap="flat" cmpd="sng" algn="ctr">
                      <a:solidFill>
                        <a:srgbClr val="544F4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7111742"/>
                  </a:ext>
                </a:extLst>
              </a:tr>
            </a:tbl>
          </a:graphicData>
        </a:graphic>
      </p:graphicFrame>
      <p:grpSp>
        <p:nvGrpSpPr>
          <p:cNvPr id="14" name="Group 13"/>
          <p:cNvGrpSpPr/>
          <p:nvPr/>
        </p:nvGrpSpPr>
        <p:grpSpPr>
          <a:xfrm>
            <a:off x="8503312" y="2059016"/>
            <a:ext cx="3034330" cy="3362071"/>
            <a:chOff x="8512643" y="2040354"/>
            <a:chExt cx="3034330" cy="3362071"/>
          </a:xfrm>
        </p:grpSpPr>
        <p:grpSp>
          <p:nvGrpSpPr>
            <p:cNvPr id="124" name="Group 123"/>
            <p:cNvGrpSpPr/>
            <p:nvPr/>
          </p:nvGrpSpPr>
          <p:grpSpPr>
            <a:xfrm>
              <a:off x="8836091" y="2183364"/>
              <a:ext cx="2710882" cy="3219061"/>
              <a:chOff x="8854754" y="2062064"/>
              <a:chExt cx="2710882" cy="3219061"/>
            </a:xfrm>
          </p:grpSpPr>
          <p:grpSp>
            <p:nvGrpSpPr>
              <p:cNvPr id="125" name="Group 124"/>
              <p:cNvGrpSpPr/>
              <p:nvPr/>
            </p:nvGrpSpPr>
            <p:grpSpPr>
              <a:xfrm>
                <a:off x="8854754" y="2062064"/>
                <a:ext cx="2710882" cy="3219061"/>
                <a:chOff x="8915741" y="2062064"/>
                <a:chExt cx="2575247" cy="3219061"/>
              </a:xfrm>
            </p:grpSpPr>
            <p:sp>
              <p:nvSpPr>
                <p:cNvPr id="127" name="Rounded Rectangle 126"/>
                <p:cNvSpPr/>
                <p:nvPr/>
              </p:nvSpPr>
              <p:spPr>
                <a:xfrm rot="21210178">
                  <a:off x="8915741" y="2062064"/>
                  <a:ext cx="2565918" cy="3219061"/>
                </a:xfrm>
                <a:prstGeom prst="roundRect">
                  <a:avLst>
                    <a:gd name="adj" fmla="val 5653"/>
                  </a:avLst>
                </a:prstGeom>
                <a:solidFill>
                  <a:srgbClr val="E49B13"/>
                </a:solidFill>
                <a:ln>
                  <a:solidFill>
                    <a:srgbClr val="E49B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28" name="Rounded Rectangle 127"/>
                <p:cNvSpPr/>
                <p:nvPr/>
              </p:nvSpPr>
              <p:spPr>
                <a:xfrm>
                  <a:off x="8925070" y="2062064"/>
                  <a:ext cx="2565918" cy="3219061"/>
                </a:xfrm>
                <a:prstGeom prst="roundRect">
                  <a:avLst>
                    <a:gd name="adj" fmla="val 5653"/>
                  </a:avLst>
                </a:prstGeom>
                <a:solidFill>
                  <a:schemeClr val="bg1"/>
                </a:solidFill>
                <a:ln>
                  <a:solidFill>
                    <a:srgbClr val="E49B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sp>
            <p:nvSpPr>
              <p:cNvPr id="126" name="Rectangle 125"/>
              <p:cNvSpPr/>
              <p:nvPr/>
            </p:nvSpPr>
            <p:spPr>
              <a:xfrm>
                <a:off x="8958247" y="2148674"/>
                <a:ext cx="2513717" cy="3046988"/>
              </a:xfrm>
              <a:prstGeom prst="rect">
                <a:avLst/>
              </a:prstGeom>
            </p:spPr>
            <p:txBody>
              <a:bodyPr wrap="square">
                <a:spAutoFit/>
              </a:bodyPr>
              <a:lstStyle/>
              <a:p>
                <a:pPr marL="0" marR="0" lvl="0" indent="0" algn="ctr" defTabSz="975208" rtl="0" eaLnBrk="0" fontAlgn="auto" latinLnBrk="0" hangingPunct="0">
                  <a:lnSpc>
                    <a:spcPct val="100000"/>
                  </a:lnSpc>
                  <a:spcBef>
                    <a:spcPts val="0"/>
                  </a:spcBef>
                  <a:spcAft>
                    <a:spcPts val="300"/>
                  </a:spcAft>
                  <a:buClrTx/>
                  <a:buSzTx/>
                  <a:buFontTx/>
                  <a:buNone/>
                  <a:tabLst/>
                  <a:defRPr/>
                </a:pPr>
                <a:r>
                  <a:rPr kumimoji="0" lang="en-GB" sz="1600" b="1" i="0" u="none" strike="noStrike" kern="0" cap="none" spc="0" normalizeH="0" baseline="0" noProof="0" dirty="0">
                    <a:ln>
                      <a:noFill/>
                    </a:ln>
                    <a:solidFill>
                      <a:srgbClr val="544F40"/>
                    </a:solidFill>
                    <a:effectLst/>
                    <a:uLnTx/>
                    <a:uFillTx/>
                    <a:latin typeface="Arial" panose="020B0604020202020204"/>
                    <a:ea typeface="+mn-ea"/>
                    <a:cs typeface="+mn-cs"/>
                  </a:rPr>
                  <a:t>Relative reduction</a:t>
                </a:r>
                <a:br>
                  <a:rPr kumimoji="0" lang="en-GB" sz="1600" b="1" i="0" u="none" strike="noStrike" kern="0" cap="none" spc="0" normalizeH="0" baseline="0" noProof="0" dirty="0">
                    <a:ln>
                      <a:noFill/>
                    </a:ln>
                    <a:solidFill>
                      <a:srgbClr val="544F40"/>
                    </a:solidFill>
                    <a:effectLst/>
                    <a:uLnTx/>
                    <a:uFillTx/>
                    <a:latin typeface="Arial" panose="020B0604020202020204"/>
                    <a:ea typeface="+mn-ea"/>
                    <a:cs typeface="+mn-cs"/>
                  </a:rPr>
                </a:br>
                <a:r>
                  <a:rPr kumimoji="0" lang="en-GB" sz="1600" b="1" i="0" u="none" strike="noStrike" kern="0" cap="none" spc="0" normalizeH="0" baseline="0" noProof="0" dirty="0">
                    <a:ln>
                      <a:noFill/>
                    </a:ln>
                    <a:solidFill>
                      <a:srgbClr val="544F40"/>
                    </a:solidFill>
                    <a:effectLst/>
                    <a:uLnTx/>
                    <a:uFillTx/>
                    <a:latin typeface="Arial" panose="020B0604020202020204"/>
                    <a:ea typeface="+mn-ea"/>
                    <a:cs typeface="+mn-cs"/>
                  </a:rPr>
                  <a:t>in risk</a:t>
                </a:r>
              </a:p>
              <a:p>
                <a:pPr marL="0" marR="0" lvl="0" indent="0" algn="ctr" defTabSz="975208" rtl="0" eaLnBrk="0" fontAlgn="auto" latinLnBrk="0" hangingPunct="0">
                  <a:lnSpc>
                    <a:spcPct val="100000"/>
                  </a:lnSpc>
                  <a:spcBef>
                    <a:spcPts val="0"/>
                  </a:spcBef>
                  <a:spcAft>
                    <a:spcPts val="300"/>
                  </a:spcAft>
                  <a:buClrTx/>
                  <a:buSzTx/>
                  <a:buFontTx/>
                  <a:buNone/>
                  <a:tabLst/>
                  <a:defRPr/>
                </a:pPr>
                <a:r>
                  <a:rPr kumimoji="0" lang="en-GB" sz="1400" b="1" i="0" u="none" strike="noStrike" kern="0" cap="none" spc="0" normalizeH="0" baseline="0" noProof="0" dirty="0">
                    <a:ln>
                      <a:noFill/>
                    </a:ln>
                    <a:solidFill>
                      <a:srgbClr val="BC1077"/>
                    </a:solidFill>
                    <a:effectLst/>
                    <a:uLnTx/>
                    <a:uFillTx/>
                    <a:latin typeface="Arial" panose="020B0604020202020204"/>
                    <a:ea typeface="+mn-ea"/>
                    <a:cs typeface="+mn-cs"/>
                  </a:rPr>
                  <a:t>FF/UMEC/VI vs UMEC/VI </a:t>
                </a:r>
                <a:br>
                  <a:rPr kumimoji="0" lang="en-GB" sz="1400" b="1" i="0" u="none" strike="noStrike" kern="0" cap="none" spc="0" normalizeH="0" baseline="0" noProof="0" dirty="0">
                    <a:ln>
                      <a:noFill/>
                    </a:ln>
                    <a:solidFill>
                      <a:srgbClr val="BC1077"/>
                    </a:solidFill>
                    <a:effectLst/>
                    <a:uLnTx/>
                    <a:uFillTx/>
                    <a:latin typeface="Arial" panose="020B0604020202020204"/>
                    <a:ea typeface="+mn-ea"/>
                    <a:cs typeface="+mn-cs"/>
                  </a:rPr>
                </a:br>
                <a:r>
                  <a:rPr kumimoji="0" lang="en-GB" sz="2400" b="1" i="0" u="none" strike="noStrike" kern="0" cap="none" spc="0" normalizeH="0" baseline="0" noProof="0" dirty="0">
                    <a:ln>
                      <a:noFill/>
                    </a:ln>
                    <a:solidFill>
                      <a:srgbClr val="BC1077"/>
                    </a:solidFill>
                    <a:effectLst/>
                    <a:uLnTx/>
                    <a:uFillTx/>
                    <a:latin typeface="Arial" panose="020B0604020202020204"/>
                    <a:ea typeface="+mn-ea"/>
                    <a:cs typeface="+mn-cs"/>
                  </a:rPr>
                  <a:t>42%</a:t>
                </a:r>
                <a:endParaRPr kumimoji="0" lang="en-GB" sz="1200" b="1" i="0" u="none" strike="noStrike" kern="0" cap="none" spc="0" normalizeH="0" baseline="0" noProof="0" dirty="0">
                  <a:ln>
                    <a:noFill/>
                  </a:ln>
                  <a:solidFill>
                    <a:srgbClr val="BC1077"/>
                  </a:solidFill>
                  <a:effectLst/>
                  <a:uLnTx/>
                  <a:uFillTx/>
                  <a:latin typeface="Arial" panose="020B0604020202020204"/>
                  <a:ea typeface="+mn-ea"/>
                  <a:cs typeface="+mn-cs"/>
                </a:endParaRPr>
              </a:p>
              <a:p>
                <a:pPr marL="0" marR="0" lvl="0" indent="0" algn="ctr" defTabSz="975208" rtl="0" eaLnBrk="0" fontAlgn="auto" latinLnBrk="0" hangingPunct="0">
                  <a:lnSpc>
                    <a:spcPct val="100000"/>
                  </a:lnSpc>
                  <a:spcBef>
                    <a:spcPts val="0"/>
                  </a:spcBef>
                  <a:spcAft>
                    <a:spcPts val="300"/>
                  </a:spcAft>
                  <a:buClrTx/>
                  <a:buSzTx/>
                  <a:buFontTx/>
                  <a:buNone/>
                  <a:tabLst/>
                  <a:defRPr/>
                </a:pPr>
                <a:r>
                  <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rPr>
                  <a:t>(95% CI: 12, 62); </a:t>
                </a:r>
                <a:r>
                  <a:rPr kumimoji="0" lang="en-GB" sz="1200" b="0" i="1" u="none" strike="noStrike" kern="0" cap="none" spc="0" normalizeH="0" baseline="0" noProof="0" dirty="0">
                    <a:ln>
                      <a:noFill/>
                    </a:ln>
                    <a:solidFill>
                      <a:srgbClr val="544F40"/>
                    </a:solidFill>
                    <a:effectLst/>
                    <a:uLnTx/>
                    <a:uFillTx/>
                    <a:latin typeface="Arial" panose="020B0604020202020204"/>
                    <a:ea typeface="+mn-ea"/>
                    <a:cs typeface="+mn-cs"/>
                  </a:rPr>
                  <a:t>p</a:t>
                </a:r>
                <a:r>
                  <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rPr>
                  <a:t> = 0.011</a:t>
                </a:r>
              </a:p>
              <a:p>
                <a:pPr marL="0" marR="0" lvl="0" indent="0" algn="ctr" defTabSz="975208" rtl="0" eaLnBrk="0" fontAlgn="auto" latinLnBrk="0" hangingPunct="0">
                  <a:lnSpc>
                    <a:spcPct val="100000"/>
                  </a:lnSpc>
                  <a:spcBef>
                    <a:spcPts val="0"/>
                  </a:spcBef>
                  <a:spcAft>
                    <a:spcPts val="300"/>
                  </a:spcAft>
                  <a:buClrTx/>
                  <a:buSzTx/>
                  <a:buFontTx/>
                  <a:buNone/>
                  <a:tabLst/>
                  <a:defRPr/>
                </a:pPr>
                <a:r>
                  <a:rPr kumimoji="0" lang="en-GB" sz="1400" b="1" i="0" u="none" strike="noStrike" kern="0" cap="none" spc="0" normalizeH="0" baseline="0" noProof="0" dirty="0">
                    <a:ln>
                      <a:noFill/>
                    </a:ln>
                    <a:solidFill>
                      <a:srgbClr val="BC1077"/>
                    </a:solidFill>
                    <a:effectLst/>
                    <a:uLnTx/>
                    <a:uFillTx/>
                    <a:latin typeface="Arial" panose="020B0604020202020204"/>
                    <a:ea typeface="+mn-ea"/>
                    <a:cs typeface="+mn-cs"/>
                  </a:rPr>
                  <a:t>Absolute RR = 0.68%</a:t>
                </a:r>
                <a:endParaRPr kumimoji="0" lang="en-GB" sz="1200" b="1" i="0" u="none" strike="noStrike" kern="0" cap="none" spc="0" normalizeH="0" baseline="0" noProof="0" dirty="0">
                  <a:ln>
                    <a:noFill/>
                  </a:ln>
                  <a:solidFill>
                    <a:srgbClr val="BC1077"/>
                  </a:solidFill>
                  <a:effectLst/>
                  <a:uLnTx/>
                  <a:uFillTx/>
                  <a:latin typeface="Arial" panose="020B0604020202020204"/>
                  <a:ea typeface="+mn-ea"/>
                  <a:cs typeface="+mn-cs"/>
                </a:endParaRPr>
              </a:p>
              <a:p>
                <a:pPr marL="0" marR="0" lvl="0" indent="0" algn="ctr" defTabSz="975208" rtl="0" eaLnBrk="0" fontAlgn="auto" latinLnBrk="0" hangingPunct="0">
                  <a:lnSpc>
                    <a:spcPct val="100000"/>
                  </a:lnSpc>
                  <a:spcBef>
                    <a:spcPts val="0"/>
                  </a:spcBef>
                  <a:spcAft>
                    <a:spcPts val="600"/>
                  </a:spcAft>
                  <a:buClrTx/>
                  <a:buSzTx/>
                  <a:buFontTx/>
                  <a:buNone/>
                  <a:tabLst/>
                  <a:defRPr/>
                </a:pPr>
                <a:endPar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endParaRPr>
              </a:p>
              <a:p>
                <a:pPr marL="0" marR="0" lvl="0" indent="0" algn="ctr" defTabSz="975208" rtl="0" eaLnBrk="0" fontAlgn="auto" latinLnBrk="0" hangingPunct="0">
                  <a:lnSpc>
                    <a:spcPct val="100000"/>
                  </a:lnSpc>
                  <a:spcBef>
                    <a:spcPts val="0"/>
                  </a:spcBef>
                  <a:spcAft>
                    <a:spcPts val="300"/>
                  </a:spcAft>
                  <a:buClrTx/>
                  <a:buSzTx/>
                  <a:buFontTx/>
                  <a:buNone/>
                  <a:tabLst/>
                  <a:defRPr/>
                </a:pPr>
                <a:r>
                  <a:rPr kumimoji="0" lang="en-GB" sz="1400" b="1" i="0" u="none" strike="noStrike" kern="0" cap="none" spc="0" normalizeH="0" baseline="0" noProof="0" dirty="0">
                    <a:ln>
                      <a:noFill/>
                    </a:ln>
                    <a:solidFill>
                      <a:srgbClr val="15717D"/>
                    </a:solidFill>
                    <a:effectLst/>
                    <a:uLnTx/>
                    <a:uFillTx/>
                    <a:latin typeface="Arial" panose="020B0604020202020204"/>
                    <a:ea typeface="+mn-ea"/>
                    <a:cs typeface="+mn-cs"/>
                  </a:rPr>
                  <a:t>FF/VI vs UMEC/VI </a:t>
                </a:r>
                <a:br>
                  <a:rPr kumimoji="0" lang="en-GB" sz="1400" b="1" i="0" u="none" strike="noStrike" kern="0" cap="none" spc="0" normalizeH="0" baseline="0" noProof="0" dirty="0">
                    <a:ln>
                      <a:noFill/>
                    </a:ln>
                    <a:solidFill>
                      <a:srgbClr val="15717D"/>
                    </a:solidFill>
                    <a:effectLst/>
                    <a:uLnTx/>
                    <a:uFillTx/>
                    <a:latin typeface="Arial" panose="020B0604020202020204"/>
                    <a:ea typeface="+mn-ea"/>
                    <a:cs typeface="+mn-cs"/>
                  </a:rPr>
                </a:br>
                <a:r>
                  <a:rPr kumimoji="0" lang="en-GB" sz="2400" b="1" i="0" u="none" strike="noStrike" kern="0" cap="none" spc="0" normalizeH="0" baseline="0" noProof="0" dirty="0">
                    <a:ln>
                      <a:noFill/>
                    </a:ln>
                    <a:solidFill>
                      <a:srgbClr val="15717D"/>
                    </a:solidFill>
                    <a:effectLst/>
                    <a:uLnTx/>
                    <a:uFillTx/>
                    <a:latin typeface="Arial" panose="020B0604020202020204"/>
                    <a:ea typeface="+mn-ea"/>
                    <a:cs typeface="+mn-cs"/>
                  </a:rPr>
                  <a:t>39%</a:t>
                </a:r>
              </a:p>
              <a:p>
                <a:pPr marL="0" marR="0" lvl="0" indent="0" algn="ctr" defTabSz="975208" rtl="0" eaLnBrk="0" fontAlgn="auto" latinLnBrk="0" hangingPunct="0">
                  <a:lnSpc>
                    <a:spcPct val="100000"/>
                  </a:lnSpc>
                  <a:spcBef>
                    <a:spcPts val="0"/>
                  </a:spcBef>
                  <a:spcAft>
                    <a:spcPts val="300"/>
                  </a:spcAft>
                  <a:buClrTx/>
                  <a:buSzTx/>
                  <a:buFontTx/>
                  <a:buNone/>
                  <a:tabLst/>
                  <a:defRPr/>
                </a:pPr>
                <a:r>
                  <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rPr>
                  <a:t>(95% CI: 7, 60); </a:t>
                </a:r>
                <a:r>
                  <a:rPr kumimoji="0" lang="en-GB" sz="1200" b="0" i="1" u="none" strike="noStrike" kern="0" cap="none" spc="0" normalizeH="0" baseline="0" noProof="0" dirty="0">
                    <a:ln>
                      <a:noFill/>
                    </a:ln>
                    <a:solidFill>
                      <a:srgbClr val="544F40"/>
                    </a:solidFill>
                    <a:effectLst/>
                    <a:uLnTx/>
                    <a:uFillTx/>
                    <a:latin typeface="Arial" panose="020B0604020202020204"/>
                    <a:ea typeface="+mn-ea"/>
                    <a:cs typeface="+mn-cs"/>
                  </a:rPr>
                  <a:t>p</a:t>
                </a:r>
                <a:r>
                  <a:rPr kumimoji="0" lang="en-GB" sz="1200" b="0" i="0" u="none" strike="noStrike" kern="0" cap="none" spc="0" normalizeH="0" baseline="0" noProof="0" dirty="0">
                    <a:ln>
                      <a:noFill/>
                    </a:ln>
                    <a:solidFill>
                      <a:srgbClr val="544F40"/>
                    </a:solidFill>
                    <a:effectLst/>
                    <a:uLnTx/>
                    <a:uFillTx/>
                    <a:latin typeface="Arial" panose="020B0604020202020204"/>
                    <a:ea typeface="+mn-ea"/>
                    <a:cs typeface="+mn-cs"/>
                  </a:rPr>
                  <a:t> = 0.022</a:t>
                </a:r>
              </a:p>
              <a:p>
                <a:pPr marL="0" marR="0" lvl="0" indent="0" algn="ctr" defTabSz="975208" rtl="0" eaLnBrk="0" fontAlgn="auto" latinLnBrk="0" hangingPunct="0">
                  <a:lnSpc>
                    <a:spcPct val="100000"/>
                  </a:lnSpc>
                  <a:spcBef>
                    <a:spcPts val="0"/>
                  </a:spcBef>
                  <a:spcAft>
                    <a:spcPts val="300"/>
                  </a:spcAft>
                  <a:buClrTx/>
                  <a:buSzTx/>
                  <a:buFontTx/>
                  <a:buNone/>
                  <a:tabLst/>
                  <a:defRPr/>
                </a:pPr>
                <a:r>
                  <a:rPr kumimoji="0" lang="en-GB" sz="1400" b="1" i="0" u="none" strike="noStrike" kern="0" cap="none" spc="0" normalizeH="0" baseline="0" noProof="0" dirty="0">
                    <a:ln>
                      <a:noFill/>
                    </a:ln>
                    <a:solidFill>
                      <a:srgbClr val="15717D"/>
                    </a:solidFill>
                    <a:effectLst/>
                    <a:uLnTx/>
                    <a:uFillTx/>
                    <a:latin typeface="Arial" panose="020B0604020202020204"/>
                    <a:ea typeface="+mn-ea"/>
                    <a:cs typeface="+mn-cs"/>
                  </a:rPr>
                  <a:t>Absolute RR = 0.69%</a:t>
                </a:r>
                <a:endParaRPr kumimoji="0" lang="en-US" sz="1400" b="1" i="0" u="none" strike="noStrike" kern="1200" cap="none" spc="0" normalizeH="0" baseline="0" noProof="0" dirty="0">
                  <a:ln>
                    <a:noFill/>
                  </a:ln>
                  <a:solidFill>
                    <a:srgbClr val="15717D"/>
                  </a:solidFill>
                  <a:effectLst/>
                  <a:uLnTx/>
                  <a:uFillTx/>
                  <a:latin typeface="Arial" panose="020B0604020202020204"/>
                  <a:ea typeface="+mn-ea"/>
                  <a:cs typeface="+mn-cs"/>
                </a:endParaRPr>
              </a:p>
            </p:txBody>
          </p:sp>
        </p:grpSp>
        <p:grpSp>
          <p:nvGrpSpPr>
            <p:cNvPr id="13" name="Group 12"/>
            <p:cNvGrpSpPr/>
            <p:nvPr/>
          </p:nvGrpSpPr>
          <p:grpSpPr>
            <a:xfrm>
              <a:off x="8512643" y="2040354"/>
              <a:ext cx="594304" cy="594304"/>
              <a:chOff x="8471196" y="2027484"/>
              <a:chExt cx="677198" cy="677198"/>
            </a:xfrm>
          </p:grpSpPr>
          <p:sp>
            <p:nvSpPr>
              <p:cNvPr id="11" name="Oval 10"/>
              <p:cNvSpPr/>
              <p:nvPr/>
            </p:nvSpPr>
            <p:spPr>
              <a:xfrm>
                <a:off x="8471196" y="2027484"/>
                <a:ext cx="677198" cy="677198"/>
              </a:xfrm>
              <a:prstGeom prst="ellipse">
                <a:avLst/>
              </a:prstGeom>
              <a:solidFill>
                <a:schemeClr val="bg1"/>
              </a:solidFill>
              <a:ln>
                <a:solidFill>
                  <a:srgbClr val="E49B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30" name="Freeform 8">
                <a:extLst>
                  <a:ext uri="{FF2B5EF4-FFF2-40B4-BE49-F238E27FC236}">
                    <a16:creationId xmlns:a16="http://schemas.microsoft.com/office/drawing/2014/main" id="{5FA6043C-D15F-4578-BDAA-A62AE3734670}"/>
                  </a:ext>
                </a:extLst>
              </p:cNvPr>
              <p:cNvSpPr>
                <a:spLocks noEditPoints="1"/>
              </p:cNvSpPr>
              <p:nvPr/>
            </p:nvSpPr>
            <p:spPr bwMode="auto">
              <a:xfrm>
                <a:off x="8602004" y="2152074"/>
                <a:ext cx="415582" cy="362116"/>
              </a:xfrm>
              <a:custGeom>
                <a:avLst/>
                <a:gdLst>
                  <a:gd name="T0" fmla="*/ 99 w 100"/>
                  <a:gd name="T1" fmla="*/ 80 h 87"/>
                  <a:gd name="T2" fmla="*/ 54 w 100"/>
                  <a:gd name="T3" fmla="*/ 2 h 87"/>
                  <a:gd name="T4" fmla="*/ 50 w 100"/>
                  <a:gd name="T5" fmla="*/ 0 h 87"/>
                  <a:gd name="T6" fmla="*/ 46 w 100"/>
                  <a:gd name="T7" fmla="*/ 2 h 87"/>
                  <a:gd name="T8" fmla="*/ 1 w 100"/>
                  <a:gd name="T9" fmla="*/ 80 h 87"/>
                  <a:gd name="T10" fmla="*/ 1 w 100"/>
                  <a:gd name="T11" fmla="*/ 85 h 87"/>
                  <a:gd name="T12" fmla="*/ 5 w 100"/>
                  <a:gd name="T13" fmla="*/ 87 h 87"/>
                  <a:gd name="T14" fmla="*/ 95 w 100"/>
                  <a:gd name="T15" fmla="*/ 87 h 87"/>
                  <a:gd name="T16" fmla="*/ 95 w 100"/>
                  <a:gd name="T17" fmla="*/ 87 h 87"/>
                  <a:gd name="T18" fmla="*/ 100 w 100"/>
                  <a:gd name="T19" fmla="*/ 82 h 87"/>
                  <a:gd name="T20" fmla="*/ 99 w 100"/>
                  <a:gd name="T21" fmla="*/ 80 h 87"/>
                  <a:gd name="T22" fmla="*/ 13 w 100"/>
                  <a:gd name="T23" fmla="*/ 78 h 87"/>
                  <a:gd name="T24" fmla="*/ 50 w 100"/>
                  <a:gd name="T25" fmla="*/ 13 h 87"/>
                  <a:gd name="T26" fmla="*/ 87 w 100"/>
                  <a:gd name="T27" fmla="*/ 78 h 87"/>
                  <a:gd name="T28" fmla="*/ 13 w 100"/>
                  <a:gd name="T29" fmla="*/ 78 h 87"/>
                  <a:gd name="T30" fmla="*/ 48 w 100"/>
                  <a:gd name="T31" fmla="*/ 29 h 87"/>
                  <a:gd name="T32" fmla="*/ 53 w 100"/>
                  <a:gd name="T33" fmla="*/ 29 h 87"/>
                  <a:gd name="T34" fmla="*/ 54 w 100"/>
                  <a:gd name="T35" fmla="*/ 29 h 87"/>
                  <a:gd name="T36" fmla="*/ 54 w 100"/>
                  <a:gd name="T37" fmla="*/ 30 h 87"/>
                  <a:gd name="T38" fmla="*/ 53 w 100"/>
                  <a:gd name="T39" fmla="*/ 61 h 87"/>
                  <a:gd name="T40" fmla="*/ 52 w 100"/>
                  <a:gd name="T41" fmla="*/ 62 h 87"/>
                  <a:gd name="T42" fmla="*/ 49 w 100"/>
                  <a:gd name="T43" fmla="*/ 62 h 87"/>
                  <a:gd name="T44" fmla="*/ 47 w 100"/>
                  <a:gd name="T45" fmla="*/ 61 h 87"/>
                  <a:gd name="T46" fmla="*/ 46 w 100"/>
                  <a:gd name="T47" fmla="*/ 30 h 87"/>
                  <a:gd name="T48" fmla="*/ 47 w 100"/>
                  <a:gd name="T49" fmla="*/ 29 h 87"/>
                  <a:gd name="T50" fmla="*/ 48 w 100"/>
                  <a:gd name="T51" fmla="*/ 29 h 87"/>
                  <a:gd name="T52" fmla="*/ 54 w 100"/>
                  <a:gd name="T53" fmla="*/ 66 h 87"/>
                  <a:gd name="T54" fmla="*/ 54 w 100"/>
                  <a:gd name="T55" fmla="*/ 72 h 87"/>
                  <a:gd name="T56" fmla="*/ 53 w 100"/>
                  <a:gd name="T57" fmla="*/ 73 h 87"/>
                  <a:gd name="T58" fmla="*/ 48 w 100"/>
                  <a:gd name="T59" fmla="*/ 73 h 87"/>
                  <a:gd name="T60" fmla="*/ 46 w 100"/>
                  <a:gd name="T61" fmla="*/ 72 h 87"/>
                  <a:gd name="T62" fmla="*/ 46 w 100"/>
                  <a:gd name="T63" fmla="*/ 66 h 87"/>
                  <a:gd name="T64" fmla="*/ 48 w 100"/>
                  <a:gd name="T65" fmla="*/ 65 h 87"/>
                  <a:gd name="T66" fmla="*/ 53 w 100"/>
                  <a:gd name="T67" fmla="*/ 65 h 87"/>
                  <a:gd name="T68" fmla="*/ 54 w 100"/>
                  <a:gd name="T69" fmla="*/ 66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0" h="87">
                    <a:moveTo>
                      <a:pt x="99" y="80"/>
                    </a:moveTo>
                    <a:cubicBezTo>
                      <a:pt x="54" y="2"/>
                      <a:pt x="54" y="2"/>
                      <a:pt x="54" y="2"/>
                    </a:cubicBezTo>
                    <a:cubicBezTo>
                      <a:pt x="53" y="0"/>
                      <a:pt x="52" y="0"/>
                      <a:pt x="50" y="0"/>
                    </a:cubicBezTo>
                    <a:cubicBezTo>
                      <a:pt x="49" y="0"/>
                      <a:pt x="47" y="0"/>
                      <a:pt x="46" y="2"/>
                    </a:cubicBezTo>
                    <a:cubicBezTo>
                      <a:pt x="1" y="80"/>
                      <a:pt x="1" y="80"/>
                      <a:pt x="1" y="80"/>
                    </a:cubicBezTo>
                    <a:cubicBezTo>
                      <a:pt x="0" y="82"/>
                      <a:pt x="0" y="83"/>
                      <a:pt x="1" y="85"/>
                    </a:cubicBezTo>
                    <a:cubicBezTo>
                      <a:pt x="2" y="86"/>
                      <a:pt x="3" y="87"/>
                      <a:pt x="5" y="87"/>
                    </a:cubicBezTo>
                    <a:cubicBezTo>
                      <a:pt x="95" y="87"/>
                      <a:pt x="95" y="87"/>
                      <a:pt x="95" y="87"/>
                    </a:cubicBezTo>
                    <a:cubicBezTo>
                      <a:pt x="95" y="87"/>
                      <a:pt x="95" y="87"/>
                      <a:pt x="95" y="87"/>
                    </a:cubicBezTo>
                    <a:cubicBezTo>
                      <a:pt x="98" y="87"/>
                      <a:pt x="100" y="85"/>
                      <a:pt x="100" y="82"/>
                    </a:cubicBezTo>
                    <a:cubicBezTo>
                      <a:pt x="100" y="81"/>
                      <a:pt x="100" y="81"/>
                      <a:pt x="99" y="80"/>
                    </a:cubicBezTo>
                    <a:moveTo>
                      <a:pt x="13" y="78"/>
                    </a:moveTo>
                    <a:cubicBezTo>
                      <a:pt x="50" y="13"/>
                      <a:pt x="50" y="13"/>
                      <a:pt x="50" y="13"/>
                    </a:cubicBezTo>
                    <a:cubicBezTo>
                      <a:pt x="87" y="78"/>
                      <a:pt x="87" y="78"/>
                      <a:pt x="87" y="78"/>
                    </a:cubicBezTo>
                    <a:cubicBezTo>
                      <a:pt x="13" y="78"/>
                      <a:pt x="13" y="78"/>
                      <a:pt x="13" y="78"/>
                    </a:cubicBezTo>
                    <a:close/>
                    <a:moveTo>
                      <a:pt x="48" y="29"/>
                    </a:moveTo>
                    <a:cubicBezTo>
                      <a:pt x="53" y="29"/>
                      <a:pt x="53" y="29"/>
                      <a:pt x="53" y="29"/>
                    </a:cubicBezTo>
                    <a:cubicBezTo>
                      <a:pt x="53" y="29"/>
                      <a:pt x="53" y="29"/>
                      <a:pt x="54" y="29"/>
                    </a:cubicBezTo>
                    <a:cubicBezTo>
                      <a:pt x="54" y="30"/>
                      <a:pt x="54" y="30"/>
                      <a:pt x="54" y="30"/>
                    </a:cubicBezTo>
                    <a:cubicBezTo>
                      <a:pt x="53" y="61"/>
                      <a:pt x="53" y="61"/>
                      <a:pt x="53" y="61"/>
                    </a:cubicBezTo>
                    <a:cubicBezTo>
                      <a:pt x="53" y="61"/>
                      <a:pt x="52" y="62"/>
                      <a:pt x="52" y="62"/>
                    </a:cubicBezTo>
                    <a:cubicBezTo>
                      <a:pt x="49" y="62"/>
                      <a:pt x="49" y="62"/>
                      <a:pt x="49" y="62"/>
                    </a:cubicBezTo>
                    <a:cubicBezTo>
                      <a:pt x="48" y="62"/>
                      <a:pt x="47" y="61"/>
                      <a:pt x="47" y="61"/>
                    </a:cubicBezTo>
                    <a:cubicBezTo>
                      <a:pt x="46" y="30"/>
                      <a:pt x="46" y="30"/>
                      <a:pt x="46" y="30"/>
                    </a:cubicBezTo>
                    <a:cubicBezTo>
                      <a:pt x="46" y="30"/>
                      <a:pt x="47" y="30"/>
                      <a:pt x="47" y="29"/>
                    </a:cubicBezTo>
                    <a:cubicBezTo>
                      <a:pt x="47" y="29"/>
                      <a:pt x="47" y="29"/>
                      <a:pt x="48" y="29"/>
                    </a:cubicBezTo>
                    <a:moveTo>
                      <a:pt x="54" y="66"/>
                    </a:moveTo>
                    <a:cubicBezTo>
                      <a:pt x="54" y="72"/>
                      <a:pt x="54" y="72"/>
                      <a:pt x="54" y="72"/>
                    </a:cubicBezTo>
                    <a:cubicBezTo>
                      <a:pt x="54" y="72"/>
                      <a:pt x="53" y="73"/>
                      <a:pt x="53" y="73"/>
                    </a:cubicBezTo>
                    <a:cubicBezTo>
                      <a:pt x="48" y="73"/>
                      <a:pt x="48" y="73"/>
                      <a:pt x="48" y="73"/>
                    </a:cubicBezTo>
                    <a:cubicBezTo>
                      <a:pt x="47" y="73"/>
                      <a:pt x="46" y="72"/>
                      <a:pt x="46" y="72"/>
                    </a:cubicBezTo>
                    <a:cubicBezTo>
                      <a:pt x="46" y="66"/>
                      <a:pt x="46" y="66"/>
                      <a:pt x="46" y="66"/>
                    </a:cubicBezTo>
                    <a:cubicBezTo>
                      <a:pt x="46" y="65"/>
                      <a:pt x="47" y="65"/>
                      <a:pt x="48" y="65"/>
                    </a:cubicBezTo>
                    <a:cubicBezTo>
                      <a:pt x="53" y="65"/>
                      <a:pt x="53" y="65"/>
                      <a:pt x="53" y="65"/>
                    </a:cubicBezTo>
                    <a:cubicBezTo>
                      <a:pt x="53" y="65"/>
                      <a:pt x="54" y="65"/>
                      <a:pt x="54" y="66"/>
                    </a:cubicBezTo>
                  </a:path>
                </a:pathLst>
              </a:custGeom>
              <a:solidFill>
                <a:srgbClr val="544F40"/>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grpSp>
      </p:grpSp>
      <p:grpSp>
        <p:nvGrpSpPr>
          <p:cNvPr id="4" name="Group 3"/>
          <p:cNvGrpSpPr/>
          <p:nvPr/>
        </p:nvGrpSpPr>
        <p:grpSpPr>
          <a:xfrm>
            <a:off x="969115" y="1939277"/>
            <a:ext cx="6473085" cy="2907849"/>
            <a:chOff x="969115" y="1939277"/>
            <a:chExt cx="6473085" cy="2907849"/>
          </a:xfrm>
        </p:grpSpPr>
        <p:grpSp>
          <p:nvGrpSpPr>
            <p:cNvPr id="52" name="Group 51">
              <a:extLst>
                <a:ext uri="{FF2B5EF4-FFF2-40B4-BE49-F238E27FC236}">
                  <a16:creationId xmlns:a16="http://schemas.microsoft.com/office/drawing/2014/main" id="{319428E1-631C-427D-A33D-23ED88003A01}"/>
                </a:ext>
              </a:extLst>
            </p:cNvPr>
            <p:cNvGrpSpPr/>
            <p:nvPr/>
          </p:nvGrpSpPr>
          <p:grpSpPr>
            <a:xfrm>
              <a:off x="1634741" y="2876674"/>
              <a:ext cx="5711462" cy="1436419"/>
              <a:chOff x="2114550" y="1356678"/>
              <a:chExt cx="5922963" cy="2405063"/>
            </a:xfrm>
          </p:grpSpPr>
          <p:sp>
            <p:nvSpPr>
              <p:cNvPr id="83" name="Freeform 4">
                <a:extLst>
                  <a:ext uri="{FF2B5EF4-FFF2-40B4-BE49-F238E27FC236}">
                    <a16:creationId xmlns:a16="http://schemas.microsoft.com/office/drawing/2014/main" id="{39928289-FCA8-4204-BDC9-679ABE9AFB4C}"/>
                  </a:ext>
                </a:extLst>
              </p:cNvPr>
              <p:cNvSpPr>
                <a:spLocks/>
              </p:cNvSpPr>
              <p:nvPr/>
            </p:nvSpPr>
            <p:spPr bwMode="auto">
              <a:xfrm>
                <a:off x="2114550" y="2307590"/>
                <a:ext cx="5922963" cy="1454150"/>
              </a:xfrm>
              <a:custGeom>
                <a:avLst/>
                <a:gdLst>
                  <a:gd name="T0" fmla="*/ 55 w 3731"/>
                  <a:gd name="T1" fmla="*/ 916 h 916"/>
                  <a:gd name="T2" fmla="*/ 88 w 3731"/>
                  <a:gd name="T3" fmla="*/ 896 h 916"/>
                  <a:gd name="T4" fmla="*/ 166 w 3731"/>
                  <a:gd name="T5" fmla="*/ 881 h 916"/>
                  <a:gd name="T6" fmla="*/ 228 w 3731"/>
                  <a:gd name="T7" fmla="*/ 861 h 916"/>
                  <a:gd name="T8" fmla="*/ 273 w 3731"/>
                  <a:gd name="T9" fmla="*/ 849 h 916"/>
                  <a:gd name="T10" fmla="*/ 507 w 3731"/>
                  <a:gd name="T11" fmla="*/ 829 h 916"/>
                  <a:gd name="T12" fmla="*/ 802 w 3731"/>
                  <a:gd name="T13" fmla="*/ 807 h 916"/>
                  <a:gd name="T14" fmla="*/ 856 w 3731"/>
                  <a:gd name="T15" fmla="*/ 774 h 916"/>
                  <a:gd name="T16" fmla="*/ 1240 w 3731"/>
                  <a:gd name="T17" fmla="*/ 754 h 916"/>
                  <a:gd name="T18" fmla="*/ 1367 w 3731"/>
                  <a:gd name="T19" fmla="*/ 734 h 916"/>
                  <a:gd name="T20" fmla="*/ 1436 w 3731"/>
                  <a:gd name="T21" fmla="*/ 714 h 916"/>
                  <a:gd name="T22" fmla="*/ 1461 w 3731"/>
                  <a:gd name="T23" fmla="*/ 696 h 916"/>
                  <a:gd name="T24" fmla="*/ 1593 w 3731"/>
                  <a:gd name="T25" fmla="*/ 673 h 916"/>
                  <a:gd name="T26" fmla="*/ 1648 w 3731"/>
                  <a:gd name="T27" fmla="*/ 655 h 916"/>
                  <a:gd name="T28" fmla="*/ 1667 w 3731"/>
                  <a:gd name="T29" fmla="*/ 635 h 916"/>
                  <a:gd name="T30" fmla="*/ 1680 w 3731"/>
                  <a:gd name="T31" fmla="*/ 613 h 916"/>
                  <a:gd name="T32" fmla="*/ 1759 w 3731"/>
                  <a:gd name="T33" fmla="*/ 595 h 916"/>
                  <a:gd name="T34" fmla="*/ 1838 w 3731"/>
                  <a:gd name="T35" fmla="*/ 573 h 916"/>
                  <a:gd name="T36" fmla="*/ 1856 w 3731"/>
                  <a:gd name="T37" fmla="*/ 548 h 916"/>
                  <a:gd name="T38" fmla="*/ 1975 w 3731"/>
                  <a:gd name="T39" fmla="*/ 533 h 916"/>
                  <a:gd name="T40" fmla="*/ 2025 w 3731"/>
                  <a:gd name="T41" fmla="*/ 513 h 916"/>
                  <a:gd name="T42" fmla="*/ 2109 w 3731"/>
                  <a:gd name="T43" fmla="*/ 493 h 916"/>
                  <a:gd name="T44" fmla="*/ 2133 w 3731"/>
                  <a:gd name="T45" fmla="*/ 472 h 916"/>
                  <a:gd name="T46" fmla="*/ 2180 w 3731"/>
                  <a:gd name="T47" fmla="*/ 386 h 916"/>
                  <a:gd name="T48" fmla="*/ 2193 w 3731"/>
                  <a:gd name="T49" fmla="*/ 368 h 916"/>
                  <a:gd name="T50" fmla="*/ 2233 w 3731"/>
                  <a:gd name="T51" fmla="*/ 327 h 916"/>
                  <a:gd name="T52" fmla="*/ 2263 w 3731"/>
                  <a:gd name="T53" fmla="*/ 301 h 916"/>
                  <a:gd name="T54" fmla="*/ 2761 w 3731"/>
                  <a:gd name="T55" fmla="*/ 285 h 916"/>
                  <a:gd name="T56" fmla="*/ 2805 w 3731"/>
                  <a:gd name="T57" fmla="*/ 258 h 916"/>
                  <a:gd name="T58" fmla="*/ 3022 w 3731"/>
                  <a:gd name="T59" fmla="*/ 240 h 916"/>
                  <a:gd name="T60" fmla="*/ 3051 w 3731"/>
                  <a:gd name="T61" fmla="*/ 218 h 916"/>
                  <a:gd name="T62" fmla="*/ 3071 w 3731"/>
                  <a:gd name="T63" fmla="*/ 200 h 916"/>
                  <a:gd name="T64" fmla="*/ 3222 w 3731"/>
                  <a:gd name="T65" fmla="*/ 174 h 916"/>
                  <a:gd name="T66" fmla="*/ 3272 w 3731"/>
                  <a:gd name="T67" fmla="*/ 151 h 916"/>
                  <a:gd name="T68" fmla="*/ 3317 w 3731"/>
                  <a:gd name="T69" fmla="*/ 131 h 916"/>
                  <a:gd name="T70" fmla="*/ 3455 w 3731"/>
                  <a:gd name="T71" fmla="*/ 113 h 916"/>
                  <a:gd name="T72" fmla="*/ 3480 w 3731"/>
                  <a:gd name="T73" fmla="*/ 84 h 916"/>
                  <a:gd name="T74" fmla="*/ 3564 w 3731"/>
                  <a:gd name="T75" fmla="*/ 67 h 916"/>
                  <a:gd name="T76" fmla="*/ 3629 w 3731"/>
                  <a:gd name="T77" fmla="*/ 46 h 916"/>
                  <a:gd name="T78" fmla="*/ 3673 w 3731"/>
                  <a:gd name="T79" fmla="*/ 24 h 916"/>
                  <a:gd name="T80" fmla="*/ 3731 w 3731"/>
                  <a:gd name="T81" fmla="*/ 0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731" h="916">
                    <a:moveTo>
                      <a:pt x="0" y="916"/>
                    </a:moveTo>
                    <a:lnTo>
                      <a:pt x="55" y="916"/>
                    </a:lnTo>
                    <a:lnTo>
                      <a:pt x="55" y="896"/>
                    </a:lnTo>
                    <a:lnTo>
                      <a:pt x="88" y="896"/>
                    </a:lnTo>
                    <a:lnTo>
                      <a:pt x="88" y="881"/>
                    </a:lnTo>
                    <a:lnTo>
                      <a:pt x="166" y="881"/>
                    </a:lnTo>
                    <a:lnTo>
                      <a:pt x="166" y="861"/>
                    </a:lnTo>
                    <a:lnTo>
                      <a:pt x="228" y="861"/>
                    </a:lnTo>
                    <a:lnTo>
                      <a:pt x="228" y="849"/>
                    </a:lnTo>
                    <a:lnTo>
                      <a:pt x="273" y="849"/>
                    </a:lnTo>
                    <a:lnTo>
                      <a:pt x="273" y="829"/>
                    </a:lnTo>
                    <a:lnTo>
                      <a:pt x="507" y="829"/>
                    </a:lnTo>
                    <a:lnTo>
                      <a:pt x="507" y="807"/>
                    </a:lnTo>
                    <a:lnTo>
                      <a:pt x="802" y="807"/>
                    </a:lnTo>
                    <a:lnTo>
                      <a:pt x="802" y="774"/>
                    </a:lnTo>
                    <a:lnTo>
                      <a:pt x="856" y="774"/>
                    </a:lnTo>
                    <a:lnTo>
                      <a:pt x="856" y="754"/>
                    </a:lnTo>
                    <a:lnTo>
                      <a:pt x="1240" y="754"/>
                    </a:lnTo>
                    <a:lnTo>
                      <a:pt x="1240" y="734"/>
                    </a:lnTo>
                    <a:lnTo>
                      <a:pt x="1367" y="734"/>
                    </a:lnTo>
                    <a:lnTo>
                      <a:pt x="1367" y="714"/>
                    </a:lnTo>
                    <a:lnTo>
                      <a:pt x="1436" y="714"/>
                    </a:lnTo>
                    <a:lnTo>
                      <a:pt x="1436" y="696"/>
                    </a:lnTo>
                    <a:lnTo>
                      <a:pt x="1461" y="696"/>
                    </a:lnTo>
                    <a:lnTo>
                      <a:pt x="1461" y="673"/>
                    </a:lnTo>
                    <a:lnTo>
                      <a:pt x="1593" y="673"/>
                    </a:lnTo>
                    <a:lnTo>
                      <a:pt x="1593" y="655"/>
                    </a:lnTo>
                    <a:lnTo>
                      <a:pt x="1648" y="655"/>
                    </a:lnTo>
                    <a:lnTo>
                      <a:pt x="1648" y="635"/>
                    </a:lnTo>
                    <a:lnTo>
                      <a:pt x="1667" y="635"/>
                    </a:lnTo>
                    <a:lnTo>
                      <a:pt x="1667" y="613"/>
                    </a:lnTo>
                    <a:lnTo>
                      <a:pt x="1680" y="613"/>
                    </a:lnTo>
                    <a:lnTo>
                      <a:pt x="1680" y="595"/>
                    </a:lnTo>
                    <a:lnTo>
                      <a:pt x="1759" y="595"/>
                    </a:lnTo>
                    <a:lnTo>
                      <a:pt x="1759" y="573"/>
                    </a:lnTo>
                    <a:lnTo>
                      <a:pt x="1838" y="573"/>
                    </a:lnTo>
                    <a:lnTo>
                      <a:pt x="1838" y="548"/>
                    </a:lnTo>
                    <a:lnTo>
                      <a:pt x="1856" y="548"/>
                    </a:lnTo>
                    <a:lnTo>
                      <a:pt x="1856" y="533"/>
                    </a:lnTo>
                    <a:lnTo>
                      <a:pt x="1975" y="533"/>
                    </a:lnTo>
                    <a:lnTo>
                      <a:pt x="1975" y="513"/>
                    </a:lnTo>
                    <a:lnTo>
                      <a:pt x="2025" y="513"/>
                    </a:lnTo>
                    <a:lnTo>
                      <a:pt x="2025" y="493"/>
                    </a:lnTo>
                    <a:lnTo>
                      <a:pt x="2109" y="493"/>
                    </a:lnTo>
                    <a:lnTo>
                      <a:pt x="2109" y="472"/>
                    </a:lnTo>
                    <a:lnTo>
                      <a:pt x="2133" y="472"/>
                    </a:lnTo>
                    <a:lnTo>
                      <a:pt x="2133" y="386"/>
                    </a:lnTo>
                    <a:lnTo>
                      <a:pt x="2180" y="386"/>
                    </a:lnTo>
                    <a:lnTo>
                      <a:pt x="2180" y="368"/>
                    </a:lnTo>
                    <a:lnTo>
                      <a:pt x="2193" y="368"/>
                    </a:lnTo>
                    <a:lnTo>
                      <a:pt x="2193" y="327"/>
                    </a:lnTo>
                    <a:lnTo>
                      <a:pt x="2233" y="327"/>
                    </a:lnTo>
                    <a:lnTo>
                      <a:pt x="2233" y="301"/>
                    </a:lnTo>
                    <a:lnTo>
                      <a:pt x="2263" y="301"/>
                    </a:lnTo>
                    <a:lnTo>
                      <a:pt x="2263" y="285"/>
                    </a:lnTo>
                    <a:lnTo>
                      <a:pt x="2761" y="285"/>
                    </a:lnTo>
                    <a:lnTo>
                      <a:pt x="2761" y="258"/>
                    </a:lnTo>
                    <a:lnTo>
                      <a:pt x="2805" y="258"/>
                    </a:lnTo>
                    <a:lnTo>
                      <a:pt x="2805" y="240"/>
                    </a:lnTo>
                    <a:lnTo>
                      <a:pt x="3022" y="240"/>
                    </a:lnTo>
                    <a:lnTo>
                      <a:pt x="3022" y="218"/>
                    </a:lnTo>
                    <a:lnTo>
                      <a:pt x="3051" y="218"/>
                    </a:lnTo>
                    <a:lnTo>
                      <a:pt x="3051" y="200"/>
                    </a:lnTo>
                    <a:lnTo>
                      <a:pt x="3071" y="200"/>
                    </a:lnTo>
                    <a:lnTo>
                      <a:pt x="3071" y="174"/>
                    </a:lnTo>
                    <a:lnTo>
                      <a:pt x="3222" y="174"/>
                    </a:lnTo>
                    <a:lnTo>
                      <a:pt x="3222" y="151"/>
                    </a:lnTo>
                    <a:lnTo>
                      <a:pt x="3272" y="151"/>
                    </a:lnTo>
                    <a:lnTo>
                      <a:pt x="3272" y="131"/>
                    </a:lnTo>
                    <a:lnTo>
                      <a:pt x="3317" y="131"/>
                    </a:lnTo>
                    <a:lnTo>
                      <a:pt x="3317" y="113"/>
                    </a:lnTo>
                    <a:lnTo>
                      <a:pt x="3455" y="113"/>
                    </a:lnTo>
                    <a:lnTo>
                      <a:pt x="3455" y="84"/>
                    </a:lnTo>
                    <a:lnTo>
                      <a:pt x="3480" y="84"/>
                    </a:lnTo>
                    <a:lnTo>
                      <a:pt x="3480" y="67"/>
                    </a:lnTo>
                    <a:lnTo>
                      <a:pt x="3564" y="67"/>
                    </a:lnTo>
                    <a:lnTo>
                      <a:pt x="3564" y="46"/>
                    </a:lnTo>
                    <a:lnTo>
                      <a:pt x="3629" y="46"/>
                    </a:lnTo>
                    <a:lnTo>
                      <a:pt x="3629" y="24"/>
                    </a:lnTo>
                    <a:lnTo>
                      <a:pt x="3673" y="24"/>
                    </a:lnTo>
                    <a:lnTo>
                      <a:pt x="3673" y="0"/>
                    </a:lnTo>
                    <a:lnTo>
                      <a:pt x="3731" y="0"/>
                    </a:lnTo>
                  </a:path>
                </a:pathLst>
              </a:custGeom>
              <a:solidFill>
                <a:srgbClr val="FFFFFF"/>
              </a:solidFill>
              <a:ln w="28575" cap="flat">
                <a:solidFill>
                  <a:srgbClr val="008A00"/>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GB" sz="10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84" name="Freeform 5">
                <a:extLst>
                  <a:ext uri="{FF2B5EF4-FFF2-40B4-BE49-F238E27FC236}">
                    <a16:creationId xmlns:a16="http://schemas.microsoft.com/office/drawing/2014/main" id="{69AF9B29-D337-4263-96F9-F03E6454F99D}"/>
                  </a:ext>
                </a:extLst>
              </p:cNvPr>
              <p:cNvSpPr>
                <a:spLocks/>
              </p:cNvSpPr>
              <p:nvPr/>
            </p:nvSpPr>
            <p:spPr bwMode="auto">
              <a:xfrm>
                <a:off x="2114550" y="1356678"/>
                <a:ext cx="5922963" cy="2405063"/>
              </a:xfrm>
              <a:custGeom>
                <a:avLst/>
                <a:gdLst>
                  <a:gd name="T0" fmla="*/ 75 w 3731"/>
                  <a:gd name="T1" fmla="*/ 1515 h 1515"/>
                  <a:gd name="T2" fmla="*/ 97 w 3731"/>
                  <a:gd name="T3" fmla="*/ 1480 h 1515"/>
                  <a:gd name="T4" fmla="*/ 137 w 3731"/>
                  <a:gd name="T5" fmla="*/ 1448 h 1515"/>
                  <a:gd name="T6" fmla="*/ 212 w 3731"/>
                  <a:gd name="T7" fmla="*/ 1373 h 1515"/>
                  <a:gd name="T8" fmla="*/ 283 w 3731"/>
                  <a:gd name="T9" fmla="*/ 1341 h 1515"/>
                  <a:gd name="T10" fmla="*/ 296 w 3731"/>
                  <a:gd name="T11" fmla="*/ 1306 h 1515"/>
                  <a:gd name="T12" fmla="*/ 360 w 3731"/>
                  <a:gd name="T13" fmla="*/ 1274 h 1515"/>
                  <a:gd name="T14" fmla="*/ 377 w 3731"/>
                  <a:gd name="T15" fmla="*/ 1199 h 1515"/>
                  <a:gd name="T16" fmla="*/ 392 w 3731"/>
                  <a:gd name="T17" fmla="*/ 1162 h 1515"/>
                  <a:gd name="T18" fmla="*/ 447 w 3731"/>
                  <a:gd name="T19" fmla="*/ 1132 h 1515"/>
                  <a:gd name="T20" fmla="*/ 516 w 3731"/>
                  <a:gd name="T21" fmla="*/ 1091 h 1515"/>
                  <a:gd name="T22" fmla="*/ 522 w 3731"/>
                  <a:gd name="T23" fmla="*/ 1057 h 1515"/>
                  <a:gd name="T24" fmla="*/ 578 w 3731"/>
                  <a:gd name="T25" fmla="*/ 1018 h 1515"/>
                  <a:gd name="T26" fmla="*/ 785 w 3731"/>
                  <a:gd name="T27" fmla="*/ 985 h 1515"/>
                  <a:gd name="T28" fmla="*/ 802 w 3731"/>
                  <a:gd name="T29" fmla="*/ 943 h 1515"/>
                  <a:gd name="T30" fmla="*/ 811 w 3731"/>
                  <a:gd name="T31" fmla="*/ 903 h 1515"/>
                  <a:gd name="T32" fmla="*/ 893 w 3731"/>
                  <a:gd name="T33" fmla="*/ 871 h 1515"/>
                  <a:gd name="T34" fmla="*/ 1080 w 3731"/>
                  <a:gd name="T35" fmla="*/ 831 h 1515"/>
                  <a:gd name="T36" fmla="*/ 1095 w 3731"/>
                  <a:gd name="T37" fmla="*/ 790 h 1515"/>
                  <a:gd name="T38" fmla="*/ 1166 w 3731"/>
                  <a:gd name="T39" fmla="*/ 750 h 1515"/>
                  <a:gd name="T40" fmla="*/ 1174 w 3731"/>
                  <a:gd name="T41" fmla="*/ 716 h 1515"/>
                  <a:gd name="T42" fmla="*/ 1188 w 3731"/>
                  <a:gd name="T43" fmla="*/ 676 h 1515"/>
                  <a:gd name="T44" fmla="*/ 1310 w 3731"/>
                  <a:gd name="T45" fmla="*/ 636 h 1515"/>
                  <a:gd name="T46" fmla="*/ 1412 w 3731"/>
                  <a:gd name="T47" fmla="*/ 596 h 1515"/>
                  <a:gd name="T48" fmla="*/ 1640 w 3731"/>
                  <a:gd name="T49" fmla="*/ 556 h 1515"/>
                  <a:gd name="T50" fmla="*/ 1764 w 3731"/>
                  <a:gd name="T51" fmla="*/ 516 h 1515"/>
                  <a:gd name="T52" fmla="*/ 1915 w 3731"/>
                  <a:gd name="T53" fmla="*/ 469 h 1515"/>
                  <a:gd name="T54" fmla="*/ 1972 w 3731"/>
                  <a:gd name="T55" fmla="*/ 429 h 1515"/>
                  <a:gd name="T56" fmla="*/ 2047 w 3731"/>
                  <a:gd name="T57" fmla="*/ 391 h 1515"/>
                  <a:gd name="T58" fmla="*/ 2139 w 3731"/>
                  <a:gd name="T59" fmla="*/ 349 h 1515"/>
                  <a:gd name="T60" fmla="*/ 2205 w 3731"/>
                  <a:gd name="T61" fmla="*/ 301 h 1515"/>
                  <a:gd name="T62" fmla="*/ 2329 w 3731"/>
                  <a:gd name="T63" fmla="*/ 261 h 1515"/>
                  <a:gd name="T64" fmla="*/ 2382 w 3731"/>
                  <a:gd name="T65" fmla="*/ 221 h 1515"/>
                  <a:gd name="T66" fmla="*/ 2620 w 3731"/>
                  <a:gd name="T67" fmla="*/ 175 h 1515"/>
                  <a:gd name="T68" fmla="*/ 2890 w 3731"/>
                  <a:gd name="T69" fmla="*/ 134 h 1515"/>
                  <a:gd name="T70" fmla="*/ 2994 w 3731"/>
                  <a:gd name="T71" fmla="*/ 88 h 1515"/>
                  <a:gd name="T72" fmla="*/ 3302 w 3731"/>
                  <a:gd name="T73" fmla="*/ 46 h 1515"/>
                  <a:gd name="T74" fmla="*/ 3513 w 3731"/>
                  <a:gd name="T75" fmla="*/ 0 h 1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31" h="1515">
                    <a:moveTo>
                      <a:pt x="0" y="1515"/>
                    </a:moveTo>
                    <a:lnTo>
                      <a:pt x="75" y="1515"/>
                    </a:lnTo>
                    <a:lnTo>
                      <a:pt x="75" y="1480"/>
                    </a:lnTo>
                    <a:lnTo>
                      <a:pt x="97" y="1480"/>
                    </a:lnTo>
                    <a:lnTo>
                      <a:pt x="97" y="1448"/>
                    </a:lnTo>
                    <a:lnTo>
                      <a:pt x="137" y="1448"/>
                    </a:lnTo>
                    <a:lnTo>
                      <a:pt x="137" y="1373"/>
                    </a:lnTo>
                    <a:lnTo>
                      <a:pt x="212" y="1373"/>
                    </a:lnTo>
                    <a:lnTo>
                      <a:pt x="212" y="1341"/>
                    </a:lnTo>
                    <a:lnTo>
                      <a:pt x="283" y="1341"/>
                    </a:lnTo>
                    <a:lnTo>
                      <a:pt x="283" y="1306"/>
                    </a:lnTo>
                    <a:lnTo>
                      <a:pt x="296" y="1306"/>
                    </a:lnTo>
                    <a:lnTo>
                      <a:pt x="296" y="1274"/>
                    </a:lnTo>
                    <a:lnTo>
                      <a:pt x="360" y="1274"/>
                    </a:lnTo>
                    <a:lnTo>
                      <a:pt x="360" y="1199"/>
                    </a:lnTo>
                    <a:lnTo>
                      <a:pt x="377" y="1199"/>
                    </a:lnTo>
                    <a:lnTo>
                      <a:pt x="377" y="1162"/>
                    </a:lnTo>
                    <a:lnTo>
                      <a:pt x="392" y="1162"/>
                    </a:lnTo>
                    <a:lnTo>
                      <a:pt x="392" y="1132"/>
                    </a:lnTo>
                    <a:lnTo>
                      <a:pt x="447" y="1132"/>
                    </a:lnTo>
                    <a:lnTo>
                      <a:pt x="447" y="1091"/>
                    </a:lnTo>
                    <a:lnTo>
                      <a:pt x="516" y="1091"/>
                    </a:lnTo>
                    <a:lnTo>
                      <a:pt x="516" y="1057"/>
                    </a:lnTo>
                    <a:lnTo>
                      <a:pt x="522" y="1057"/>
                    </a:lnTo>
                    <a:lnTo>
                      <a:pt x="522" y="1018"/>
                    </a:lnTo>
                    <a:lnTo>
                      <a:pt x="578" y="1018"/>
                    </a:lnTo>
                    <a:lnTo>
                      <a:pt x="578" y="985"/>
                    </a:lnTo>
                    <a:lnTo>
                      <a:pt x="785" y="985"/>
                    </a:lnTo>
                    <a:lnTo>
                      <a:pt x="785" y="943"/>
                    </a:lnTo>
                    <a:lnTo>
                      <a:pt x="802" y="943"/>
                    </a:lnTo>
                    <a:lnTo>
                      <a:pt x="802" y="903"/>
                    </a:lnTo>
                    <a:lnTo>
                      <a:pt x="811" y="903"/>
                    </a:lnTo>
                    <a:lnTo>
                      <a:pt x="811" y="871"/>
                    </a:lnTo>
                    <a:lnTo>
                      <a:pt x="893" y="871"/>
                    </a:lnTo>
                    <a:lnTo>
                      <a:pt x="893" y="831"/>
                    </a:lnTo>
                    <a:lnTo>
                      <a:pt x="1080" y="831"/>
                    </a:lnTo>
                    <a:lnTo>
                      <a:pt x="1080" y="790"/>
                    </a:lnTo>
                    <a:lnTo>
                      <a:pt x="1095" y="790"/>
                    </a:lnTo>
                    <a:lnTo>
                      <a:pt x="1095" y="750"/>
                    </a:lnTo>
                    <a:lnTo>
                      <a:pt x="1166" y="750"/>
                    </a:lnTo>
                    <a:lnTo>
                      <a:pt x="1174" y="750"/>
                    </a:lnTo>
                    <a:lnTo>
                      <a:pt x="1174" y="716"/>
                    </a:lnTo>
                    <a:lnTo>
                      <a:pt x="1188" y="716"/>
                    </a:lnTo>
                    <a:lnTo>
                      <a:pt x="1188" y="676"/>
                    </a:lnTo>
                    <a:lnTo>
                      <a:pt x="1310" y="676"/>
                    </a:lnTo>
                    <a:lnTo>
                      <a:pt x="1310" y="636"/>
                    </a:lnTo>
                    <a:lnTo>
                      <a:pt x="1412" y="636"/>
                    </a:lnTo>
                    <a:lnTo>
                      <a:pt x="1412" y="596"/>
                    </a:lnTo>
                    <a:lnTo>
                      <a:pt x="1640" y="596"/>
                    </a:lnTo>
                    <a:lnTo>
                      <a:pt x="1640" y="556"/>
                    </a:lnTo>
                    <a:lnTo>
                      <a:pt x="1764" y="556"/>
                    </a:lnTo>
                    <a:lnTo>
                      <a:pt x="1764" y="516"/>
                    </a:lnTo>
                    <a:lnTo>
                      <a:pt x="1915" y="516"/>
                    </a:lnTo>
                    <a:lnTo>
                      <a:pt x="1915" y="469"/>
                    </a:lnTo>
                    <a:lnTo>
                      <a:pt x="1972" y="469"/>
                    </a:lnTo>
                    <a:lnTo>
                      <a:pt x="1972" y="429"/>
                    </a:lnTo>
                    <a:lnTo>
                      <a:pt x="2047" y="429"/>
                    </a:lnTo>
                    <a:lnTo>
                      <a:pt x="2047" y="391"/>
                    </a:lnTo>
                    <a:lnTo>
                      <a:pt x="2139" y="391"/>
                    </a:lnTo>
                    <a:lnTo>
                      <a:pt x="2139" y="349"/>
                    </a:lnTo>
                    <a:lnTo>
                      <a:pt x="2205" y="349"/>
                    </a:lnTo>
                    <a:lnTo>
                      <a:pt x="2205" y="301"/>
                    </a:lnTo>
                    <a:lnTo>
                      <a:pt x="2329" y="301"/>
                    </a:lnTo>
                    <a:lnTo>
                      <a:pt x="2329" y="261"/>
                    </a:lnTo>
                    <a:lnTo>
                      <a:pt x="2382" y="261"/>
                    </a:lnTo>
                    <a:lnTo>
                      <a:pt x="2382" y="221"/>
                    </a:lnTo>
                    <a:lnTo>
                      <a:pt x="2620" y="221"/>
                    </a:lnTo>
                    <a:lnTo>
                      <a:pt x="2620" y="175"/>
                    </a:lnTo>
                    <a:lnTo>
                      <a:pt x="2890" y="175"/>
                    </a:lnTo>
                    <a:lnTo>
                      <a:pt x="2890" y="134"/>
                    </a:lnTo>
                    <a:lnTo>
                      <a:pt x="2994" y="134"/>
                    </a:lnTo>
                    <a:lnTo>
                      <a:pt x="2994" y="88"/>
                    </a:lnTo>
                    <a:lnTo>
                      <a:pt x="3302" y="88"/>
                    </a:lnTo>
                    <a:lnTo>
                      <a:pt x="3302" y="46"/>
                    </a:lnTo>
                    <a:lnTo>
                      <a:pt x="3513" y="46"/>
                    </a:lnTo>
                    <a:lnTo>
                      <a:pt x="3513" y="0"/>
                    </a:lnTo>
                    <a:lnTo>
                      <a:pt x="3731" y="0"/>
                    </a:lnTo>
                  </a:path>
                </a:pathLst>
              </a:custGeom>
              <a:noFill/>
              <a:ln w="28575" cap="flat">
                <a:solidFill>
                  <a:srgbClr val="40488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GB" sz="10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sp>
            <p:nvSpPr>
              <p:cNvPr id="85" name="Freeform 6">
                <a:extLst>
                  <a:ext uri="{FF2B5EF4-FFF2-40B4-BE49-F238E27FC236}">
                    <a16:creationId xmlns:a16="http://schemas.microsoft.com/office/drawing/2014/main" id="{8DF4676B-AD33-4D69-94ED-20AFEE2D9A0C}"/>
                  </a:ext>
                </a:extLst>
              </p:cNvPr>
              <p:cNvSpPr>
                <a:spLocks/>
              </p:cNvSpPr>
              <p:nvPr/>
            </p:nvSpPr>
            <p:spPr bwMode="auto">
              <a:xfrm>
                <a:off x="2114550" y="2293303"/>
                <a:ext cx="5922963" cy="1468438"/>
              </a:xfrm>
              <a:custGeom>
                <a:avLst/>
                <a:gdLst>
                  <a:gd name="T0" fmla="*/ 330 w 3731"/>
                  <a:gd name="T1" fmla="*/ 925 h 925"/>
                  <a:gd name="T2" fmla="*/ 407 w 3731"/>
                  <a:gd name="T3" fmla="*/ 903 h 925"/>
                  <a:gd name="T4" fmla="*/ 507 w 3731"/>
                  <a:gd name="T5" fmla="*/ 890 h 925"/>
                  <a:gd name="T6" fmla="*/ 539 w 3731"/>
                  <a:gd name="T7" fmla="*/ 870 h 925"/>
                  <a:gd name="T8" fmla="*/ 554 w 3731"/>
                  <a:gd name="T9" fmla="*/ 850 h 925"/>
                  <a:gd name="T10" fmla="*/ 578 w 3731"/>
                  <a:gd name="T11" fmla="*/ 816 h 925"/>
                  <a:gd name="T12" fmla="*/ 608 w 3731"/>
                  <a:gd name="T13" fmla="*/ 796 h 925"/>
                  <a:gd name="T14" fmla="*/ 725 w 3731"/>
                  <a:gd name="T15" fmla="*/ 783 h 925"/>
                  <a:gd name="T16" fmla="*/ 739 w 3731"/>
                  <a:gd name="T17" fmla="*/ 763 h 925"/>
                  <a:gd name="T18" fmla="*/ 918 w 3731"/>
                  <a:gd name="T19" fmla="*/ 749 h 925"/>
                  <a:gd name="T20" fmla="*/ 1089 w 3731"/>
                  <a:gd name="T21" fmla="*/ 729 h 925"/>
                  <a:gd name="T22" fmla="*/ 1111 w 3731"/>
                  <a:gd name="T23" fmla="*/ 711 h 925"/>
                  <a:gd name="T24" fmla="*/ 1174 w 3731"/>
                  <a:gd name="T25" fmla="*/ 689 h 925"/>
                  <a:gd name="T26" fmla="*/ 1211 w 3731"/>
                  <a:gd name="T27" fmla="*/ 675 h 925"/>
                  <a:gd name="T28" fmla="*/ 1219 w 3731"/>
                  <a:gd name="T29" fmla="*/ 656 h 925"/>
                  <a:gd name="T30" fmla="*/ 1275 w 3731"/>
                  <a:gd name="T31" fmla="*/ 636 h 925"/>
                  <a:gd name="T32" fmla="*/ 1312 w 3731"/>
                  <a:gd name="T33" fmla="*/ 622 h 925"/>
                  <a:gd name="T34" fmla="*/ 1375 w 3731"/>
                  <a:gd name="T35" fmla="*/ 602 h 925"/>
                  <a:gd name="T36" fmla="*/ 1427 w 3731"/>
                  <a:gd name="T37" fmla="*/ 582 h 925"/>
                  <a:gd name="T38" fmla="*/ 1593 w 3731"/>
                  <a:gd name="T39" fmla="*/ 562 h 925"/>
                  <a:gd name="T40" fmla="*/ 1761 w 3731"/>
                  <a:gd name="T41" fmla="*/ 542 h 925"/>
                  <a:gd name="T42" fmla="*/ 1839 w 3731"/>
                  <a:gd name="T43" fmla="*/ 529 h 925"/>
                  <a:gd name="T44" fmla="*/ 1987 w 3731"/>
                  <a:gd name="T45" fmla="*/ 508 h 925"/>
                  <a:gd name="T46" fmla="*/ 2041 w 3731"/>
                  <a:gd name="T47" fmla="*/ 488 h 925"/>
                  <a:gd name="T48" fmla="*/ 2049 w 3731"/>
                  <a:gd name="T49" fmla="*/ 467 h 925"/>
                  <a:gd name="T50" fmla="*/ 2096 w 3731"/>
                  <a:gd name="T51" fmla="*/ 448 h 925"/>
                  <a:gd name="T52" fmla="*/ 2141 w 3731"/>
                  <a:gd name="T53" fmla="*/ 415 h 925"/>
                  <a:gd name="T54" fmla="*/ 2367 w 3731"/>
                  <a:gd name="T55" fmla="*/ 375 h 925"/>
                  <a:gd name="T56" fmla="*/ 2605 w 3731"/>
                  <a:gd name="T57" fmla="*/ 355 h 925"/>
                  <a:gd name="T58" fmla="*/ 2768 w 3731"/>
                  <a:gd name="T59" fmla="*/ 334 h 925"/>
                  <a:gd name="T60" fmla="*/ 2785 w 3731"/>
                  <a:gd name="T61" fmla="*/ 314 h 925"/>
                  <a:gd name="T62" fmla="*/ 2806 w 3731"/>
                  <a:gd name="T63" fmla="*/ 301 h 925"/>
                  <a:gd name="T64" fmla="*/ 2815 w 3731"/>
                  <a:gd name="T65" fmla="*/ 281 h 925"/>
                  <a:gd name="T66" fmla="*/ 2910 w 3731"/>
                  <a:gd name="T67" fmla="*/ 261 h 925"/>
                  <a:gd name="T68" fmla="*/ 2939 w 3731"/>
                  <a:gd name="T69" fmla="*/ 241 h 925"/>
                  <a:gd name="T70" fmla="*/ 2971 w 3731"/>
                  <a:gd name="T71" fmla="*/ 220 h 925"/>
                  <a:gd name="T72" fmla="*/ 3094 w 3731"/>
                  <a:gd name="T73" fmla="*/ 199 h 925"/>
                  <a:gd name="T74" fmla="*/ 3279 w 3731"/>
                  <a:gd name="T75" fmla="*/ 180 h 925"/>
                  <a:gd name="T76" fmla="*/ 3403 w 3731"/>
                  <a:gd name="T77" fmla="*/ 160 h 925"/>
                  <a:gd name="T78" fmla="*/ 3410 w 3731"/>
                  <a:gd name="T79" fmla="*/ 139 h 925"/>
                  <a:gd name="T80" fmla="*/ 3435 w 3731"/>
                  <a:gd name="T81" fmla="*/ 119 h 925"/>
                  <a:gd name="T82" fmla="*/ 3505 w 3731"/>
                  <a:gd name="T83" fmla="*/ 100 h 925"/>
                  <a:gd name="T84" fmla="*/ 3574 w 3731"/>
                  <a:gd name="T85" fmla="*/ 80 h 925"/>
                  <a:gd name="T86" fmla="*/ 3604 w 3731"/>
                  <a:gd name="T87" fmla="*/ 60 h 925"/>
                  <a:gd name="T88" fmla="*/ 3637 w 3731"/>
                  <a:gd name="T89" fmla="*/ 39 h 925"/>
                  <a:gd name="T90" fmla="*/ 3696 w 3731"/>
                  <a:gd name="T91" fmla="*/ 19 h 925"/>
                  <a:gd name="T92" fmla="*/ 3731 w 3731"/>
                  <a:gd name="T93" fmla="*/ 0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731" h="925">
                    <a:moveTo>
                      <a:pt x="0" y="925"/>
                    </a:moveTo>
                    <a:lnTo>
                      <a:pt x="330" y="925"/>
                    </a:lnTo>
                    <a:lnTo>
                      <a:pt x="330" y="903"/>
                    </a:lnTo>
                    <a:lnTo>
                      <a:pt x="407" y="903"/>
                    </a:lnTo>
                    <a:lnTo>
                      <a:pt x="407" y="890"/>
                    </a:lnTo>
                    <a:lnTo>
                      <a:pt x="507" y="890"/>
                    </a:lnTo>
                    <a:lnTo>
                      <a:pt x="507" y="870"/>
                    </a:lnTo>
                    <a:lnTo>
                      <a:pt x="539" y="870"/>
                    </a:lnTo>
                    <a:lnTo>
                      <a:pt x="539" y="850"/>
                    </a:lnTo>
                    <a:lnTo>
                      <a:pt x="554" y="850"/>
                    </a:lnTo>
                    <a:lnTo>
                      <a:pt x="554" y="816"/>
                    </a:lnTo>
                    <a:lnTo>
                      <a:pt x="578" y="816"/>
                    </a:lnTo>
                    <a:lnTo>
                      <a:pt x="578" y="796"/>
                    </a:lnTo>
                    <a:lnTo>
                      <a:pt x="608" y="796"/>
                    </a:lnTo>
                    <a:lnTo>
                      <a:pt x="608" y="783"/>
                    </a:lnTo>
                    <a:lnTo>
                      <a:pt x="725" y="783"/>
                    </a:lnTo>
                    <a:lnTo>
                      <a:pt x="725" y="763"/>
                    </a:lnTo>
                    <a:lnTo>
                      <a:pt x="739" y="763"/>
                    </a:lnTo>
                    <a:lnTo>
                      <a:pt x="739" y="749"/>
                    </a:lnTo>
                    <a:lnTo>
                      <a:pt x="918" y="749"/>
                    </a:lnTo>
                    <a:lnTo>
                      <a:pt x="918" y="729"/>
                    </a:lnTo>
                    <a:lnTo>
                      <a:pt x="1089" y="729"/>
                    </a:lnTo>
                    <a:lnTo>
                      <a:pt x="1089" y="711"/>
                    </a:lnTo>
                    <a:lnTo>
                      <a:pt x="1111" y="711"/>
                    </a:lnTo>
                    <a:lnTo>
                      <a:pt x="1111" y="689"/>
                    </a:lnTo>
                    <a:lnTo>
                      <a:pt x="1174" y="689"/>
                    </a:lnTo>
                    <a:lnTo>
                      <a:pt x="1174" y="675"/>
                    </a:lnTo>
                    <a:lnTo>
                      <a:pt x="1211" y="675"/>
                    </a:lnTo>
                    <a:lnTo>
                      <a:pt x="1211" y="656"/>
                    </a:lnTo>
                    <a:lnTo>
                      <a:pt x="1219" y="656"/>
                    </a:lnTo>
                    <a:lnTo>
                      <a:pt x="1219" y="636"/>
                    </a:lnTo>
                    <a:lnTo>
                      <a:pt x="1275" y="636"/>
                    </a:lnTo>
                    <a:lnTo>
                      <a:pt x="1275" y="622"/>
                    </a:lnTo>
                    <a:lnTo>
                      <a:pt x="1312" y="622"/>
                    </a:lnTo>
                    <a:lnTo>
                      <a:pt x="1312" y="602"/>
                    </a:lnTo>
                    <a:lnTo>
                      <a:pt x="1375" y="602"/>
                    </a:lnTo>
                    <a:lnTo>
                      <a:pt x="1375" y="582"/>
                    </a:lnTo>
                    <a:lnTo>
                      <a:pt x="1427" y="582"/>
                    </a:lnTo>
                    <a:lnTo>
                      <a:pt x="1427" y="562"/>
                    </a:lnTo>
                    <a:lnTo>
                      <a:pt x="1593" y="562"/>
                    </a:lnTo>
                    <a:lnTo>
                      <a:pt x="1593" y="542"/>
                    </a:lnTo>
                    <a:lnTo>
                      <a:pt x="1761" y="542"/>
                    </a:lnTo>
                    <a:lnTo>
                      <a:pt x="1761" y="529"/>
                    </a:lnTo>
                    <a:lnTo>
                      <a:pt x="1839" y="529"/>
                    </a:lnTo>
                    <a:lnTo>
                      <a:pt x="1839" y="508"/>
                    </a:lnTo>
                    <a:lnTo>
                      <a:pt x="1987" y="508"/>
                    </a:lnTo>
                    <a:lnTo>
                      <a:pt x="1987" y="488"/>
                    </a:lnTo>
                    <a:lnTo>
                      <a:pt x="2041" y="488"/>
                    </a:lnTo>
                    <a:lnTo>
                      <a:pt x="2041" y="467"/>
                    </a:lnTo>
                    <a:lnTo>
                      <a:pt x="2049" y="467"/>
                    </a:lnTo>
                    <a:lnTo>
                      <a:pt x="2049" y="448"/>
                    </a:lnTo>
                    <a:lnTo>
                      <a:pt x="2096" y="448"/>
                    </a:lnTo>
                    <a:lnTo>
                      <a:pt x="2096" y="415"/>
                    </a:lnTo>
                    <a:lnTo>
                      <a:pt x="2141" y="415"/>
                    </a:lnTo>
                    <a:lnTo>
                      <a:pt x="2141" y="375"/>
                    </a:lnTo>
                    <a:lnTo>
                      <a:pt x="2367" y="375"/>
                    </a:lnTo>
                    <a:lnTo>
                      <a:pt x="2367" y="355"/>
                    </a:lnTo>
                    <a:lnTo>
                      <a:pt x="2605" y="355"/>
                    </a:lnTo>
                    <a:lnTo>
                      <a:pt x="2605" y="334"/>
                    </a:lnTo>
                    <a:lnTo>
                      <a:pt x="2768" y="334"/>
                    </a:lnTo>
                    <a:lnTo>
                      <a:pt x="2768" y="314"/>
                    </a:lnTo>
                    <a:lnTo>
                      <a:pt x="2785" y="314"/>
                    </a:lnTo>
                    <a:lnTo>
                      <a:pt x="2785" y="301"/>
                    </a:lnTo>
                    <a:lnTo>
                      <a:pt x="2806" y="301"/>
                    </a:lnTo>
                    <a:lnTo>
                      <a:pt x="2806" y="281"/>
                    </a:lnTo>
                    <a:lnTo>
                      <a:pt x="2815" y="281"/>
                    </a:lnTo>
                    <a:lnTo>
                      <a:pt x="2815" y="261"/>
                    </a:lnTo>
                    <a:lnTo>
                      <a:pt x="2910" y="261"/>
                    </a:lnTo>
                    <a:lnTo>
                      <a:pt x="2910" y="241"/>
                    </a:lnTo>
                    <a:lnTo>
                      <a:pt x="2939" y="241"/>
                    </a:lnTo>
                    <a:lnTo>
                      <a:pt x="2939" y="220"/>
                    </a:lnTo>
                    <a:lnTo>
                      <a:pt x="2971" y="220"/>
                    </a:lnTo>
                    <a:lnTo>
                      <a:pt x="2971" y="199"/>
                    </a:lnTo>
                    <a:lnTo>
                      <a:pt x="3094" y="199"/>
                    </a:lnTo>
                    <a:lnTo>
                      <a:pt x="3094" y="180"/>
                    </a:lnTo>
                    <a:lnTo>
                      <a:pt x="3279" y="180"/>
                    </a:lnTo>
                    <a:lnTo>
                      <a:pt x="3279" y="160"/>
                    </a:lnTo>
                    <a:lnTo>
                      <a:pt x="3403" y="160"/>
                    </a:lnTo>
                    <a:lnTo>
                      <a:pt x="3403" y="139"/>
                    </a:lnTo>
                    <a:lnTo>
                      <a:pt x="3410" y="139"/>
                    </a:lnTo>
                    <a:lnTo>
                      <a:pt x="3410" y="119"/>
                    </a:lnTo>
                    <a:lnTo>
                      <a:pt x="3435" y="119"/>
                    </a:lnTo>
                    <a:lnTo>
                      <a:pt x="3435" y="100"/>
                    </a:lnTo>
                    <a:lnTo>
                      <a:pt x="3505" y="100"/>
                    </a:lnTo>
                    <a:lnTo>
                      <a:pt x="3505" y="80"/>
                    </a:lnTo>
                    <a:lnTo>
                      <a:pt x="3574" y="80"/>
                    </a:lnTo>
                    <a:lnTo>
                      <a:pt x="3574" y="60"/>
                    </a:lnTo>
                    <a:lnTo>
                      <a:pt x="3604" y="60"/>
                    </a:lnTo>
                    <a:lnTo>
                      <a:pt x="3604" y="39"/>
                    </a:lnTo>
                    <a:lnTo>
                      <a:pt x="3637" y="39"/>
                    </a:lnTo>
                    <a:lnTo>
                      <a:pt x="3637" y="19"/>
                    </a:lnTo>
                    <a:lnTo>
                      <a:pt x="3696" y="19"/>
                    </a:lnTo>
                    <a:lnTo>
                      <a:pt x="3696" y="0"/>
                    </a:lnTo>
                    <a:lnTo>
                      <a:pt x="3731" y="0"/>
                    </a:lnTo>
                  </a:path>
                </a:pathLst>
              </a:custGeom>
              <a:noFill/>
              <a:ln w="28575" cap="flat">
                <a:solidFill>
                  <a:srgbClr val="F366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GB" sz="1000" b="0" i="0" u="none" strike="noStrike" kern="0" cap="none" spc="0" normalizeH="0" baseline="0" noProof="0" dirty="0">
                  <a:ln>
                    <a:noFill/>
                  </a:ln>
                  <a:solidFill>
                    <a:srgbClr val="544F40"/>
                  </a:solidFill>
                  <a:effectLst/>
                  <a:uLnTx/>
                  <a:uFillTx/>
                  <a:latin typeface="Arial" panose="020B0604020202020204"/>
                  <a:ea typeface="+mn-ea"/>
                  <a:cs typeface="+mn-cs"/>
                </a:endParaRPr>
              </a:p>
            </p:txBody>
          </p:sp>
        </p:grpSp>
        <p:sp>
          <p:nvSpPr>
            <p:cNvPr id="49" name="TextBox 48">
              <a:extLst>
                <a:ext uri="{FF2B5EF4-FFF2-40B4-BE49-F238E27FC236}">
                  <a16:creationId xmlns:a16="http://schemas.microsoft.com/office/drawing/2014/main" id="{57B9AFDD-46A8-475B-AF7D-1617454D4668}"/>
                </a:ext>
              </a:extLst>
            </p:cNvPr>
            <p:cNvSpPr txBox="1"/>
            <p:nvPr/>
          </p:nvSpPr>
          <p:spPr>
            <a:xfrm rot="16200000">
              <a:off x="-97456" y="3094055"/>
              <a:ext cx="2287030" cy="153888"/>
            </a:xfrm>
            <a:prstGeom prst="rect">
              <a:avLst/>
            </a:prstGeom>
            <a:noFill/>
          </p:spPr>
          <p:txBody>
            <a:bodyPr wrap="square" lIns="0" tIns="0" rIns="0" bIns="0" rtlCol="0">
              <a:spAutoFit/>
            </a:bodyP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Probability of all-cause mortality (%)</a:t>
              </a:r>
            </a:p>
          </p:txBody>
        </p:sp>
        <p:sp>
          <p:nvSpPr>
            <p:cNvPr id="48" name="TextBox 47">
              <a:extLst>
                <a:ext uri="{FF2B5EF4-FFF2-40B4-BE49-F238E27FC236}">
                  <a16:creationId xmlns:a16="http://schemas.microsoft.com/office/drawing/2014/main" id="{BDACDC92-EF01-4A35-8070-BEFAA06C589A}"/>
                </a:ext>
              </a:extLst>
            </p:cNvPr>
            <p:cNvSpPr txBox="1"/>
            <p:nvPr/>
          </p:nvSpPr>
          <p:spPr>
            <a:xfrm>
              <a:off x="3812978" y="4690569"/>
              <a:ext cx="1333691" cy="156557"/>
            </a:xfrm>
            <a:prstGeom prst="rect">
              <a:avLst/>
            </a:prstGeom>
            <a:noFill/>
          </p:spPr>
          <p:txBody>
            <a:bodyPr wrap="none" lIns="0" tIns="0" rIns="0" bIns="0" rtlCol="0">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544F40"/>
                  </a:solidFill>
                  <a:effectLst/>
                  <a:uLnTx/>
                  <a:uFillTx/>
                  <a:latin typeface="Arial" panose="020B0604020202020204"/>
                  <a:ea typeface="+mn-ea"/>
                  <a:cs typeface="Arial" panose="020B0604020202020204" pitchFamily="34" charset="0"/>
                </a:rPr>
                <a:t>Time to death (days)</a:t>
              </a:r>
            </a:p>
          </p:txBody>
        </p:sp>
        <p:grpSp>
          <p:nvGrpSpPr>
            <p:cNvPr id="50" name="Group 49">
              <a:extLst>
                <a:ext uri="{FF2B5EF4-FFF2-40B4-BE49-F238E27FC236}">
                  <a16:creationId xmlns:a16="http://schemas.microsoft.com/office/drawing/2014/main" id="{C48A4B79-0F3E-4F32-B7C0-DB13639C751A}"/>
                </a:ext>
              </a:extLst>
            </p:cNvPr>
            <p:cNvGrpSpPr/>
            <p:nvPr/>
          </p:nvGrpSpPr>
          <p:grpSpPr>
            <a:xfrm>
              <a:off x="1229051" y="1939277"/>
              <a:ext cx="192989" cy="2443554"/>
              <a:chOff x="1745718" y="3060385"/>
              <a:chExt cx="180000" cy="3364914"/>
            </a:xfrm>
          </p:grpSpPr>
          <p:sp>
            <p:nvSpPr>
              <p:cNvPr id="86" name="TextBox 85">
                <a:extLst>
                  <a:ext uri="{FF2B5EF4-FFF2-40B4-BE49-F238E27FC236}">
                    <a16:creationId xmlns:a16="http://schemas.microsoft.com/office/drawing/2014/main" id="{D8A5511F-B82A-43E9-8B3A-424CBF311437}"/>
                  </a:ext>
                </a:extLst>
              </p:cNvPr>
              <p:cNvSpPr txBox="1"/>
              <p:nvPr/>
            </p:nvSpPr>
            <p:spPr>
              <a:xfrm>
                <a:off x="1745718" y="6240633"/>
                <a:ext cx="180000" cy="184666"/>
              </a:xfrm>
              <a:prstGeom prst="rect">
                <a:avLst/>
              </a:prstGeom>
              <a:noFill/>
            </p:spPr>
            <p:txBody>
              <a:bodyPr wrap="none" lIns="0" tIns="0" rIns="0" bIns="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0</a:t>
                </a:r>
              </a:p>
            </p:txBody>
          </p:sp>
          <p:sp>
            <p:nvSpPr>
              <p:cNvPr id="99" name="TextBox 98">
                <a:extLst>
                  <a:ext uri="{FF2B5EF4-FFF2-40B4-BE49-F238E27FC236}">
                    <a16:creationId xmlns:a16="http://schemas.microsoft.com/office/drawing/2014/main" id="{5C8E14E4-5116-4982-8309-F3A3767D7BF3}"/>
                  </a:ext>
                </a:extLst>
              </p:cNvPr>
              <p:cNvSpPr txBox="1"/>
              <p:nvPr/>
            </p:nvSpPr>
            <p:spPr>
              <a:xfrm>
                <a:off x="1745718" y="4877669"/>
                <a:ext cx="180000" cy="184666"/>
              </a:xfrm>
              <a:prstGeom prst="rect">
                <a:avLst/>
              </a:prstGeom>
              <a:noFill/>
            </p:spPr>
            <p:txBody>
              <a:bodyPr wrap="none" lIns="0" tIns="0" rIns="0" bIns="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1.5</a:t>
                </a:r>
              </a:p>
            </p:txBody>
          </p:sp>
          <p:sp>
            <p:nvSpPr>
              <p:cNvPr id="108" name="TextBox 107">
                <a:extLst>
                  <a:ext uri="{FF2B5EF4-FFF2-40B4-BE49-F238E27FC236}">
                    <a16:creationId xmlns:a16="http://schemas.microsoft.com/office/drawing/2014/main" id="{3E994DE1-101B-4146-99AF-3E4877D5EE2A}"/>
                  </a:ext>
                </a:extLst>
              </p:cNvPr>
              <p:cNvSpPr txBox="1"/>
              <p:nvPr/>
            </p:nvSpPr>
            <p:spPr>
              <a:xfrm>
                <a:off x="1745718" y="3514706"/>
                <a:ext cx="180000" cy="184666"/>
              </a:xfrm>
              <a:prstGeom prst="rect">
                <a:avLst/>
              </a:prstGeom>
              <a:noFill/>
            </p:spPr>
            <p:txBody>
              <a:bodyPr wrap="none" lIns="0" tIns="0" rIns="0" bIns="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3.0</a:t>
                </a:r>
              </a:p>
            </p:txBody>
          </p:sp>
          <p:sp>
            <p:nvSpPr>
              <p:cNvPr id="109" name="TextBox 108">
                <a:extLst>
                  <a:ext uri="{FF2B5EF4-FFF2-40B4-BE49-F238E27FC236}">
                    <a16:creationId xmlns:a16="http://schemas.microsoft.com/office/drawing/2014/main" id="{ABEC02DB-0CB3-4F02-B2BB-72341C9D02B3}"/>
                  </a:ext>
                </a:extLst>
              </p:cNvPr>
              <p:cNvSpPr txBox="1"/>
              <p:nvPr/>
            </p:nvSpPr>
            <p:spPr>
              <a:xfrm>
                <a:off x="1745718" y="3060385"/>
                <a:ext cx="180000" cy="184666"/>
              </a:xfrm>
              <a:prstGeom prst="rect">
                <a:avLst/>
              </a:prstGeom>
              <a:noFill/>
            </p:spPr>
            <p:txBody>
              <a:bodyPr wrap="none" lIns="0" tIns="0" rIns="0" bIns="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3.5</a:t>
                </a:r>
              </a:p>
            </p:txBody>
          </p:sp>
          <p:sp>
            <p:nvSpPr>
              <p:cNvPr id="110" name="TextBox 109">
                <a:extLst>
                  <a:ext uri="{FF2B5EF4-FFF2-40B4-BE49-F238E27FC236}">
                    <a16:creationId xmlns:a16="http://schemas.microsoft.com/office/drawing/2014/main" id="{9D7C7C97-BF95-43D0-9D27-25BCC194C891}"/>
                  </a:ext>
                </a:extLst>
              </p:cNvPr>
              <p:cNvSpPr txBox="1"/>
              <p:nvPr/>
            </p:nvSpPr>
            <p:spPr>
              <a:xfrm>
                <a:off x="1745718" y="4423348"/>
                <a:ext cx="180000" cy="184666"/>
              </a:xfrm>
              <a:prstGeom prst="rect">
                <a:avLst/>
              </a:prstGeom>
              <a:noFill/>
            </p:spPr>
            <p:txBody>
              <a:bodyPr wrap="none" lIns="0" tIns="0" rIns="0" bIns="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2.0</a:t>
                </a:r>
              </a:p>
            </p:txBody>
          </p:sp>
          <p:sp>
            <p:nvSpPr>
              <p:cNvPr id="111" name="TextBox 110">
                <a:extLst>
                  <a:ext uri="{FF2B5EF4-FFF2-40B4-BE49-F238E27FC236}">
                    <a16:creationId xmlns:a16="http://schemas.microsoft.com/office/drawing/2014/main" id="{525BE700-B61E-415B-82CB-874672DF8540}"/>
                  </a:ext>
                </a:extLst>
              </p:cNvPr>
              <p:cNvSpPr txBox="1"/>
              <p:nvPr/>
            </p:nvSpPr>
            <p:spPr>
              <a:xfrm>
                <a:off x="1745718" y="3969027"/>
                <a:ext cx="180000" cy="184666"/>
              </a:xfrm>
              <a:prstGeom prst="rect">
                <a:avLst/>
              </a:prstGeom>
              <a:noFill/>
            </p:spPr>
            <p:txBody>
              <a:bodyPr wrap="none" lIns="0" tIns="0" rIns="0" bIns="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2.5</a:t>
                </a:r>
              </a:p>
            </p:txBody>
          </p:sp>
          <p:sp>
            <p:nvSpPr>
              <p:cNvPr id="112" name="TextBox 111">
                <a:extLst>
                  <a:ext uri="{FF2B5EF4-FFF2-40B4-BE49-F238E27FC236}">
                    <a16:creationId xmlns:a16="http://schemas.microsoft.com/office/drawing/2014/main" id="{DC95F24A-11A7-4B54-823A-16F7E95E4986}"/>
                  </a:ext>
                </a:extLst>
              </p:cNvPr>
              <p:cNvSpPr txBox="1"/>
              <p:nvPr/>
            </p:nvSpPr>
            <p:spPr>
              <a:xfrm>
                <a:off x="1745718" y="5331990"/>
                <a:ext cx="180000" cy="184666"/>
              </a:xfrm>
              <a:prstGeom prst="rect">
                <a:avLst/>
              </a:prstGeom>
              <a:noFill/>
            </p:spPr>
            <p:txBody>
              <a:bodyPr wrap="none" lIns="0" tIns="0" rIns="0" bIns="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1.0</a:t>
                </a:r>
              </a:p>
            </p:txBody>
          </p:sp>
          <p:sp>
            <p:nvSpPr>
              <p:cNvPr id="113" name="TextBox 112">
                <a:extLst>
                  <a:ext uri="{FF2B5EF4-FFF2-40B4-BE49-F238E27FC236}">
                    <a16:creationId xmlns:a16="http://schemas.microsoft.com/office/drawing/2014/main" id="{FD2244CA-9894-409C-BBEF-A350017D0F02}"/>
                  </a:ext>
                </a:extLst>
              </p:cNvPr>
              <p:cNvSpPr txBox="1"/>
              <p:nvPr/>
            </p:nvSpPr>
            <p:spPr>
              <a:xfrm>
                <a:off x="1745718" y="5786311"/>
                <a:ext cx="180000" cy="184666"/>
              </a:xfrm>
              <a:prstGeom prst="rect">
                <a:avLst/>
              </a:prstGeom>
              <a:noFill/>
            </p:spPr>
            <p:txBody>
              <a:bodyPr wrap="none" lIns="0" tIns="0" rIns="0" bIns="0" rtlCol="0" anchor="ctr">
                <a:no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0.5</a:t>
                </a:r>
              </a:p>
            </p:txBody>
          </p:sp>
        </p:grpSp>
        <p:sp>
          <p:nvSpPr>
            <p:cNvPr id="51" name="Freeform: Shape 248">
              <a:extLst>
                <a:ext uri="{FF2B5EF4-FFF2-40B4-BE49-F238E27FC236}">
                  <a16:creationId xmlns:a16="http://schemas.microsoft.com/office/drawing/2014/main" id="{0D6F75F8-F7AC-4094-A989-38DD9197CBB3}"/>
                </a:ext>
              </a:extLst>
            </p:cNvPr>
            <p:cNvSpPr/>
            <p:nvPr/>
          </p:nvSpPr>
          <p:spPr>
            <a:xfrm>
              <a:off x="1624745" y="1998252"/>
              <a:ext cx="5715995" cy="2326700"/>
            </a:xfrm>
            <a:custGeom>
              <a:avLst/>
              <a:gdLst>
                <a:gd name="connsiteX0" fmla="*/ 0 w 6400800"/>
                <a:gd name="connsiteY0" fmla="*/ 0 h 3063240"/>
                <a:gd name="connsiteX1" fmla="*/ 0 w 6400800"/>
                <a:gd name="connsiteY1" fmla="*/ 3063240 h 3063240"/>
                <a:gd name="connsiteX2" fmla="*/ 6400800 w 6400800"/>
                <a:gd name="connsiteY2" fmla="*/ 3063240 h 3063240"/>
              </a:gdLst>
              <a:ahLst/>
              <a:cxnLst>
                <a:cxn ang="0">
                  <a:pos x="connsiteX0" y="connsiteY0"/>
                </a:cxn>
                <a:cxn ang="0">
                  <a:pos x="connsiteX1" y="connsiteY1"/>
                </a:cxn>
                <a:cxn ang="0">
                  <a:pos x="connsiteX2" y="connsiteY2"/>
                </a:cxn>
              </a:cxnLst>
              <a:rect l="l" t="t" r="r" b="b"/>
              <a:pathLst>
                <a:path w="6400800" h="3063240">
                  <a:moveTo>
                    <a:pt x="0" y="0"/>
                  </a:moveTo>
                  <a:lnTo>
                    <a:pt x="0" y="3063240"/>
                  </a:lnTo>
                  <a:lnTo>
                    <a:pt x="6400800" y="3063240"/>
                  </a:lnTo>
                </a:path>
              </a:pathLst>
            </a:custGeom>
            <a:noFill/>
            <a:ln w="9525" cap="sq" cmpd="sng" algn="ctr">
              <a:solidFill>
                <a:srgbClr val="544F40"/>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000" b="1" i="0" u="none" strike="noStrike" kern="0" cap="none" spc="0" normalizeH="0" baseline="0" noProof="0" dirty="0">
                <a:ln>
                  <a:noFill/>
                </a:ln>
                <a:solidFill>
                  <a:srgbClr val="544F40"/>
                </a:solidFill>
                <a:effectLst/>
                <a:uLnTx/>
                <a:uFillTx/>
                <a:latin typeface="Arial" panose="020B0604020202020204"/>
                <a:ea typeface="+mn-ea"/>
                <a:cs typeface="+mn-cs"/>
              </a:endParaRPr>
            </a:p>
          </p:txBody>
        </p:sp>
        <p:grpSp>
          <p:nvGrpSpPr>
            <p:cNvPr id="53" name="Group 52">
              <a:extLst>
                <a:ext uri="{FF2B5EF4-FFF2-40B4-BE49-F238E27FC236}">
                  <a16:creationId xmlns:a16="http://schemas.microsoft.com/office/drawing/2014/main" id="{A56F11CC-F401-4D24-93B5-393A5F6BEDF1}"/>
                </a:ext>
              </a:extLst>
            </p:cNvPr>
            <p:cNvGrpSpPr/>
            <p:nvPr/>
          </p:nvGrpSpPr>
          <p:grpSpPr>
            <a:xfrm>
              <a:off x="1517448" y="4431946"/>
              <a:ext cx="5924752" cy="165902"/>
              <a:chOff x="2014705" y="6492934"/>
              <a:chExt cx="5526000" cy="228456"/>
            </a:xfrm>
          </p:grpSpPr>
          <p:sp>
            <p:nvSpPr>
              <p:cNvPr id="69" name="TextBox 68">
                <a:extLst>
                  <a:ext uri="{FF2B5EF4-FFF2-40B4-BE49-F238E27FC236}">
                    <a16:creationId xmlns:a16="http://schemas.microsoft.com/office/drawing/2014/main" id="{BDC14D31-BFC3-4684-9CD9-1E7BC447C78E}"/>
                  </a:ext>
                </a:extLst>
              </p:cNvPr>
              <p:cNvSpPr txBox="1"/>
              <p:nvPr/>
            </p:nvSpPr>
            <p:spPr>
              <a:xfrm>
                <a:off x="2014705" y="6492934"/>
                <a:ext cx="203302" cy="228456"/>
              </a:xfrm>
              <a:prstGeom prst="rect">
                <a:avLst/>
              </a:prstGeom>
              <a:noFill/>
            </p:spPr>
            <p:txBody>
              <a:bodyPr wrap="none" lIns="0" tIns="0" rIns="0" bIns="0"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0</a:t>
                </a:r>
              </a:p>
            </p:txBody>
          </p:sp>
          <p:sp>
            <p:nvSpPr>
              <p:cNvPr id="70" name="TextBox 69">
                <a:extLst>
                  <a:ext uri="{FF2B5EF4-FFF2-40B4-BE49-F238E27FC236}">
                    <a16:creationId xmlns:a16="http://schemas.microsoft.com/office/drawing/2014/main" id="{EE8271A7-B9FF-4832-9391-C6402150B870}"/>
                  </a:ext>
                </a:extLst>
              </p:cNvPr>
              <p:cNvSpPr txBox="1"/>
              <p:nvPr/>
            </p:nvSpPr>
            <p:spPr>
              <a:xfrm>
                <a:off x="4471333" y="6492934"/>
                <a:ext cx="203302" cy="228456"/>
              </a:xfrm>
              <a:prstGeom prst="rect">
                <a:avLst/>
              </a:prstGeom>
              <a:noFill/>
            </p:spPr>
            <p:txBody>
              <a:bodyPr wrap="none" lIns="0" tIns="0" rIns="0" bIns="0"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168</a:t>
                </a:r>
              </a:p>
            </p:txBody>
          </p:sp>
          <p:sp>
            <p:nvSpPr>
              <p:cNvPr id="71" name="TextBox 70">
                <a:extLst>
                  <a:ext uri="{FF2B5EF4-FFF2-40B4-BE49-F238E27FC236}">
                    <a16:creationId xmlns:a16="http://schemas.microsoft.com/office/drawing/2014/main" id="{83A65EBE-F309-4B70-B416-0CBED7E0B2D8}"/>
                  </a:ext>
                </a:extLst>
              </p:cNvPr>
              <p:cNvSpPr txBox="1"/>
              <p:nvPr/>
            </p:nvSpPr>
            <p:spPr>
              <a:xfrm>
                <a:off x="2424143" y="6492934"/>
                <a:ext cx="203302" cy="228456"/>
              </a:xfrm>
              <a:prstGeom prst="rect">
                <a:avLst/>
              </a:prstGeom>
              <a:noFill/>
            </p:spPr>
            <p:txBody>
              <a:bodyPr wrap="none" lIns="0" tIns="0" rIns="0" bIns="0"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28</a:t>
                </a:r>
              </a:p>
            </p:txBody>
          </p:sp>
          <p:sp>
            <p:nvSpPr>
              <p:cNvPr id="72" name="TextBox 71">
                <a:extLst>
                  <a:ext uri="{FF2B5EF4-FFF2-40B4-BE49-F238E27FC236}">
                    <a16:creationId xmlns:a16="http://schemas.microsoft.com/office/drawing/2014/main" id="{82287536-D6E1-4B5D-9FC1-0CC3D0D0BE2B}"/>
                  </a:ext>
                </a:extLst>
              </p:cNvPr>
              <p:cNvSpPr txBox="1"/>
              <p:nvPr/>
            </p:nvSpPr>
            <p:spPr>
              <a:xfrm>
                <a:off x="2833581" y="6492934"/>
                <a:ext cx="203302" cy="228456"/>
              </a:xfrm>
              <a:prstGeom prst="rect">
                <a:avLst/>
              </a:prstGeom>
              <a:noFill/>
            </p:spPr>
            <p:txBody>
              <a:bodyPr wrap="none" lIns="0" tIns="0" rIns="0" bIns="0"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56</a:t>
                </a:r>
              </a:p>
            </p:txBody>
          </p:sp>
          <p:sp>
            <p:nvSpPr>
              <p:cNvPr id="73" name="TextBox 72">
                <a:extLst>
                  <a:ext uri="{FF2B5EF4-FFF2-40B4-BE49-F238E27FC236}">
                    <a16:creationId xmlns:a16="http://schemas.microsoft.com/office/drawing/2014/main" id="{D44547DC-B52F-4347-84C8-8B6C5CF35A86}"/>
                  </a:ext>
                </a:extLst>
              </p:cNvPr>
              <p:cNvSpPr txBox="1"/>
              <p:nvPr/>
            </p:nvSpPr>
            <p:spPr>
              <a:xfrm>
                <a:off x="3243019" y="6492934"/>
                <a:ext cx="203302" cy="228456"/>
              </a:xfrm>
              <a:prstGeom prst="rect">
                <a:avLst/>
              </a:prstGeom>
              <a:noFill/>
            </p:spPr>
            <p:txBody>
              <a:bodyPr wrap="none" lIns="0" tIns="0" rIns="0" bIns="0"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84</a:t>
                </a:r>
              </a:p>
            </p:txBody>
          </p:sp>
          <p:sp>
            <p:nvSpPr>
              <p:cNvPr id="74" name="TextBox 73">
                <a:extLst>
                  <a:ext uri="{FF2B5EF4-FFF2-40B4-BE49-F238E27FC236}">
                    <a16:creationId xmlns:a16="http://schemas.microsoft.com/office/drawing/2014/main" id="{14244B93-54F7-4E79-BE95-D5F057A4B21C}"/>
                  </a:ext>
                </a:extLst>
              </p:cNvPr>
              <p:cNvSpPr txBox="1"/>
              <p:nvPr/>
            </p:nvSpPr>
            <p:spPr>
              <a:xfrm>
                <a:off x="3652457" y="6492934"/>
                <a:ext cx="203302" cy="228456"/>
              </a:xfrm>
              <a:prstGeom prst="rect">
                <a:avLst/>
              </a:prstGeom>
              <a:noFill/>
            </p:spPr>
            <p:txBody>
              <a:bodyPr wrap="none" lIns="0" tIns="0" rIns="0" bIns="0"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112</a:t>
                </a:r>
              </a:p>
            </p:txBody>
          </p:sp>
          <p:sp>
            <p:nvSpPr>
              <p:cNvPr id="75" name="TextBox 74">
                <a:extLst>
                  <a:ext uri="{FF2B5EF4-FFF2-40B4-BE49-F238E27FC236}">
                    <a16:creationId xmlns:a16="http://schemas.microsoft.com/office/drawing/2014/main" id="{7EEE8715-D3B8-463A-8791-BE399E38F74A}"/>
                  </a:ext>
                </a:extLst>
              </p:cNvPr>
              <p:cNvSpPr txBox="1"/>
              <p:nvPr/>
            </p:nvSpPr>
            <p:spPr>
              <a:xfrm>
                <a:off x="4061895" y="6492934"/>
                <a:ext cx="203302" cy="228456"/>
              </a:xfrm>
              <a:prstGeom prst="rect">
                <a:avLst/>
              </a:prstGeom>
              <a:noFill/>
            </p:spPr>
            <p:txBody>
              <a:bodyPr wrap="none" lIns="0" tIns="0" rIns="0" bIns="0"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140</a:t>
                </a:r>
              </a:p>
            </p:txBody>
          </p:sp>
          <p:sp>
            <p:nvSpPr>
              <p:cNvPr id="76" name="TextBox 75">
                <a:extLst>
                  <a:ext uri="{FF2B5EF4-FFF2-40B4-BE49-F238E27FC236}">
                    <a16:creationId xmlns:a16="http://schemas.microsoft.com/office/drawing/2014/main" id="{C9DD843A-2B6E-45B8-9920-155FAD03686F}"/>
                  </a:ext>
                </a:extLst>
              </p:cNvPr>
              <p:cNvSpPr txBox="1"/>
              <p:nvPr/>
            </p:nvSpPr>
            <p:spPr>
              <a:xfrm>
                <a:off x="5290209" y="6492934"/>
                <a:ext cx="203302" cy="228456"/>
              </a:xfrm>
              <a:prstGeom prst="rect">
                <a:avLst/>
              </a:prstGeom>
              <a:noFill/>
            </p:spPr>
            <p:txBody>
              <a:bodyPr wrap="none" lIns="0" tIns="0" rIns="0" bIns="0"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224</a:t>
                </a:r>
              </a:p>
            </p:txBody>
          </p:sp>
          <p:sp>
            <p:nvSpPr>
              <p:cNvPr id="77" name="TextBox 76">
                <a:extLst>
                  <a:ext uri="{FF2B5EF4-FFF2-40B4-BE49-F238E27FC236}">
                    <a16:creationId xmlns:a16="http://schemas.microsoft.com/office/drawing/2014/main" id="{9419D725-B6F9-422D-973C-C7A4FAA363F2}"/>
                  </a:ext>
                </a:extLst>
              </p:cNvPr>
              <p:cNvSpPr txBox="1"/>
              <p:nvPr/>
            </p:nvSpPr>
            <p:spPr>
              <a:xfrm>
                <a:off x="5699647" y="6492934"/>
                <a:ext cx="203302" cy="228456"/>
              </a:xfrm>
              <a:prstGeom prst="rect">
                <a:avLst/>
              </a:prstGeom>
              <a:noFill/>
            </p:spPr>
            <p:txBody>
              <a:bodyPr wrap="none" lIns="0" tIns="0" rIns="0" bIns="0"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252</a:t>
                </a:r>
              </a:p>
            </p:txBody>
          </p:sp>
          <p:sp>
            <p:nvSpPr>
              <p:cNvPr id="78" name="TextBox 77">
                <a:extLst>
                  <a:ext uri="{FF2B5EF4-FFF2-40B4-BE49-F238E27FC236}">
                    <a16:creationId xmlns:a16="http://schemas.microsoft.com/office/drawing/2014/main" id="{F5CDE8C6-3FC9-452F-ABB8-2493BC3319C9}"/>
                  </a:ext>
                </a:extLst>
              </p:cNvPr>
              <p:cNvSpPr txBox="1"/>
              <p:nvPr/>
            </p:nvSpPr>
            <p:spPr>
              <a:xfrm>
                <a:off x="6109085" y="6492934"/>
                <a:ext cx="203302" cy="228456"/>
              </a:xfrm>
              <a:prstGeom prst="rect">
                <a:avLst/>
              </a:prstGeom>
              <a:noFill/>
            </p:spPr>
            <p:txBody>
              <a:bodyPr wrap="none" lIns="0" tIns="0" rIns="0" bIns="0"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280</a:t>
                </a:r>
              </a:p>
            </p:txBody>
          </p:sp>
          <p:sp>
            <p:nvSpPr>
              <p:cNvPr id="79" name="TextBox 78">
                <a:extLst>
                  <a:ext uri="{FF2B5EF4-FFF2-40B4-BE49-F238E27FC236}">
                    <a16:creationId xmlns:a16="http://schemas.microsoft.com/office/drawing/2014/main" id="{CDF9EE13-9369-477E-A181-A22F627FE2EE}"/>
                  </a:ext>
                </a:extLst>
              </p:cNvPr>
              <p:cNvSpPr txBox="1"/>
              <p:nvPr/>
            </p:nvSpPr>
            <p:spPr>
              <a:xfrm>
                <a:off x="6518523" y="6492934"/>
                <a:ext cx="203302" cy="228456"/>
              </a:xfrm>
              <a:prstGeom prst="rect">
                <a:avLst/>
              </a:prstGeom>
              <a:noFill/>
            </p:spPr>
            <p:txBody>
              <a:bodyPr wrap="none" lIns="0" tIns="0" rIns="0" bIns="0"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308</a:t>
                </a:r>
              </a:p>
            </p:txBody>
          </p:sp>
          <p:sp>
            <p:nvSpPr>
              <p:cNvPr id="80" name="TextBox 79">
                <a:extLst>
                  <a:ext uri="{FF2B5EF4-FFF2-40B4-BE49-F238E27FC236}">
                    <a16:creationId xmlns:a16="http://schemas.microsoft.com/office/drawing/2014/main" id="{93539E5D-1F36-417D-ADC5-BB2ADDD8CFA6}"/>
                  </a:ext>
                </a:extLst>
              </p:cNvPr>
              <p:cNvSpPr txBox="1"/>
              <p:nvPr/>
            </p:nvSpPr>
            <p:spPr>
              <a:xfrm>
                <a:off x="6927961" y="6492934"/>
                <a:ext cx="203302" cy="228456"/>
              </a:xfrm>
              <a:prstGeom prst="rect">
                <a:avLst/>
              </a:prstGeom>
              <a:noFill/>
            </p:spPr>
            <p:txBody>
              <a:bodyPr wrap="none" lIns="0" tIns="0" rIns="0" bIns="0"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336</a:t>
                </a:r>
              </a:p>
            </p:txBody>
          </p:sp>
          <p:sp>
            <p:nvSpPr>
              <p:cNvPr id="81" name="TextBox 80">
                <a:extLst>
                  <a:ext uri="{FF2B5EF4-FFF2-40B4-BE49-F238E27FC236}">
                    <a16:creationId xmlns:a16="http://schemas.microsoft.com/office/drawing/2014/main" id="{6F14415A-4FC6-45C6-8DE7-BD2FEE080EC9}"/>
                  </a:ext>
                </a:extLst>
              </p:cNvPr>
              <p:cNvSpPr txBox="1"/>
              <p:nvPr/>
            </p:nvSpPr>
            <p:spPr>
              <a:xfrm>
                <a:off x="7337403" y="6492934"/>
                <a:ext cx="203302" cy="228456"/>
              </a:xfrm>
              <a:prstGeom prst="rect">
                <a:avLst/>
              </a:prstGeom>
              <a:noFill/>
            </p:spPr>
            <p:txBody>
              <a:bodyPr wrap="none" lIns="0" tIns="0" rIns="0" bIns="0"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364</a:t>
                </a:r>
              </a:p>
            </p:txBody>
          </p:sp>
          <p:sp>
            <p:nvSpPr>
              <p:cNvPr id="82" name="TextBox 81">
                <a:extLst>
                  <a:ext uri="{FF2B5EF4-FFF2-40B4-BE49-F238E27FC236}">
                    <a16:creationId xmlns:a16="http://schemas.microsoft.com/office/drawing/2014/main" id="{49BB9002-4398-4A9F-BD5B-F12EE4B21EBC}"/>
                  </a:ext>
                </a:extLst>
              </p:cNvPr>
              <p:cNvSpPr txBox="1"/>
              <p:nvPr/>
            </p:nvSpPr>
            <p:spPr>
              <a:xfrm>
                <a:off x="4880771" y="6492934"/>
                <a:ext cx="203302" cy="228456"/>
              </a:xfrm>
              <a:prstGeom prst="rect">
                <a:avLst/>
              </a:prstGeom>
              <a:noFill/>
            </p:spPr>
            <p:txBody>
              <a:bodyPr wrap="none" lIns="0" tIns="0" rIns="0" bIns="0"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196</a:t>
                </a:r>
              </a:p>
            </p:txBody>
          </p:sp>
        </p:grpSp>
        <p:grpSp>
          <p:nvGrpSpPr>
            <p:cNvPr id="54" name="Group 53">
              <a:extLst>
                <a:ext uri="{FF2B5EF4-FFF2-40B4-BE49-F238E27FC236}">
                  <a16:creationId xmlns:a16="http://schemas.microsoft.com/office/drawing/2014/main" id="{5654D3D7-B9A2-4AE8-8217-E3A9AB0FE3D0}"/>
                </a:ext>
              </a:extLst>
            </p:cNvPr>
            <p:cNvGrpSpPr/>
            <p:nvPr/>
          </p:nvGrpSpPr>
          <p:grpSpPr>
            <a:xfrm>
              <a:off x="1624745" y="4331700"/>
              <a:ext cx="5715995" cy="45720"/>
              <a:chOff x="2114781" y="6358168"/>
              <a:chExt cx="5331293" cy="72000"/>
            </a:xfrm>
          </p:grpSpPr>
          <p:cxnSp>
            <p:nvCxnSpPr>
              <p:cNvPr id="55" name="Straight Connector 54">
                <a:extLst>
                  <a:ext uri="{FF2B5EF4-FFF2-40B4-BE49-F238E27FC236}">
                    <a16:creationId xmlns:a16="http://schemas.microsoft.com/office/drawing/2014/main" id="{9E084B46-8238-4EC5-8F86-CBA4AAFAA9DB}"/>
                  </a:ext>
                </a:extLst>
              </p:cNvPr>
              <p:cNvCxnSpPr/>
              <p:nvPr/>
            </p:nvCxnSpPr>
            <p:spPr>
              <a:xfrm>
                <a:off x="2114781" y="6358168"/>
                <a:ext cx="0" cy="72000"/>
              </a:xfrm>
              <a:prstGeom prst="line">
                <a:avLst/>
              </a:prstGeom>
              <a:noFill/>
              <a:ln w="9525" cap="sq" cmpd="sng" algn="ctr">
                <a:solidFill>
                  <a:srgbClr val="544F40"/>
                </a:solidFill>
                <a:prstDash val="solid"/>
                <a:miter lim="800000"/>
              </a:ln>
              <a:effectLst/>
            </p:spPr>
          </p:cxnSp>
          <p:cxnSp>
            <p:nvCxnSpPr>
              <p:cNvPr id="56" name="Straight Connector 55">
                <a:extLst>
                  <a:ext uri="{FF2B5EF4-FFF2-40B4-BE49-F238E27FC236}">
                    <a16:creationId xmlns:a16="http://schemas.microsoft.com/office/drawing/2014/main" id="{31183DD8-DAF2-4280-A0BC-9D33B2946F6B}"/>
                  </a:ext>
                </a:extLst>
              </p:cNvPr>
              <p:cNvCxnSpPr/>
              <p:nvPr/>
            </p:nvCxnSpPr>
            <p:spPr>
              <a:xfrm>
                <a:off x="4985474" y="6358168"/>
                <a:ext cx="0" cy="72000"/>
              </a:xfrm>
              <a:prstGeom prst="line">
                <a:avLst/>
              </a:prstGeom>
              <a:noFill/>
              <a:ln w="9525" cap="sq" cmpd="sng" algn="ctr">
                <a:solidFill>
                  <a:srgbClr val="544F40"/>
                </a:solidFill>
                <a:prstDash val="solid"/>
                <a:miter lim="800000"/>
              </a:ln>
              <a:effectLst/>
            </p:spPr>
          </p:cxnSp>
          <p:cxnSp>
            <p:nvCxnSpPr>
              <p:cNvPr id="57" name="Straight Connector 56">
                <a:extLst>
                  <a:ext uri="{FF2B5EF4-FFF2-40B4-BE49-F238E27FC236}">
                    <a16:creationId xmlns:a16="http://schemas.microsoft.com/office/drawing/2014/main" id="{75F96057-9C92-42E6-B53A-29C61DEBFBC6}"/>
                  </a:ext>
                </a:extLst>
              </p:cNvPr>
              <p:cNvCxnSpPr/>
              <p:nvPr/>
            </p:nvCxnSpPr>
            <p:spPr>
              <a:xfrm>
                <a:off x="2524880" y="6358168"/>
                <a:ext cx="0" cy="72000"/>
              </a:xfrm>
              <a:prstGeom prst="line">
                <a:avLst/>
              </a:prstGeom>
              <a:noFill/>
              <a:ln w="9525" cap="sq" cmpd="sng" algn="ctr">
                <a:solidFill>
                  <a:srgbClr val="544F40"/>
                </a:solidFill>
                <a:prstDash val="solid"/>
                <a:miter lim="800000"/>
              </a:ln>
              <a:effectLst/>
            </p:spPr>
          </p:cxnSp>
          <p:cxnSp>
            <p:nvCxnSpPr>
              <p:cNvPr id="58" name="Straight Connector 57">
                <a:extLst>
                  <a:ext uri="{FF2B5EF4-FFF2-40B4-BE49-F238E27FC236}">
                    <a16:creationId xmlns:a16="http://schemas.microsoft.com/office/drawing/2014/main" id="{DCB81FC3-B795-40C4-8D94-84D1EAF2F69F}"/>
                  </a:ext>
                </a:extLst>
              </p:cNvPr>
              <p:cNvCxnSpPr/>
              <p:nvPr/>
            </p:nvCxnSpPr>
            <p:spPr>
              <a:xfrm>
                <a:off x="2934979" y="6358168"/>
                <a:ext cx="0" cy="72000"/>
              </a:xfrm>
              <a:prstGeom prst="line">
                <a:avLst/>
              </a:prstGeom>
              <a:noFill/>
              <a:ln w="9525" cap="sq" cmpd="sng" algn="ctr">
                <a:solidFill>
                  <a:srgbClr val="544F40"/>
                </a:solidFill>
                <a:prstDash val="solid"/>
                <a:miter lim="800000"/>
              </a:ln>
              <a:effectLst/>
            </p:spPr>
          </p:cxnSp>
          <p:cxnSp>
            <p:nvCxnSpPr>
              <p:cNvPr id="59" name="Straight Connector 58">
                <a:extLst>
                  <a:ext uri="{FF2B5EF4-FFF2-40B4-BE49-F238E27FC236}">
                    <a16:creationId xmlns:a16="http://schemas.microsoft.com/office/drawing/2014/main" id="{E80B0702-4E6F-4F18-A573-6FAF0572F200}"/>
                  </a:ext>
                </a:extLst>
              </p:cNvPr>
              <p:cNvCxnSpPr/>
              <p:nvPr/>
            </p:nvCxnSpPr>
            <p:spPr>
              <a:xfrm>
                <a:off x="3345078" y="6358168"/>
                <a:ext cx="0" cy="72000"/>
              </a:xfrm>
              <a:prstGeom prst="line">
                <a:avLst/>
              </a:prstGeom>
              <a:noFill/>
              <a:ln w="9525" cap="sq" cmpd="sng" algn="ctr">
                <a:solidFill>
                  <a:srgbClr val="544F40"/>
                </a:solidFill>
                <a:prstDash val="solid"/>
                <a:miter lim="800000"/>
              </a:ln>
              <a:effectLst/>
            </p:spPr>
          </p:cxnSp>
          <p:cxnSp>
            <p:nvCxnSpPr>
              <p:cNvPr id="60" name="Straight Connector 59">
                <a:extLst>
                  <a:ext uri="{FF2B5EF4-FFF2-40B4-BE49-F238E27FC236}">
                    <a16:creationId xmlns:a16="http://schemas.microsoft.com/office/drawing/2014/main" id="{87F89DA8-AE67-4ED3-9EE3-BDC4B4FC2CE5}"/>
                  </a:ext>
                </a:extLst>
              </p:cNvPr>
              <p:cNvCxnSpPr/>
              <p:nvPr/>
            </p:nvCxnSpPr>
            <p:spPr>
              <a:xfrm>
                <a:off x="3755177" y="6358168"/>
                <a:ext cx="0" cy="72000"/>
              </a:xfrm>
              <a:prstGeom prst="line">
                <a:avLst/>
              </a:prstGeom>
              <a:noFill/>
              <a:ln w="9525" cap="sq" cmpd="sng" algn="ctr">
                <a:solidFill>
                  <a:srgbClr val="544F40"/>
                </a:solidFill>
                <a:prstDash val="solid"/>
                <a:miter lim="800000"/>
              </a:ln>
              <a:effectLst/>
            </p:spPr>
          </p:cxnSp>
          <p:cxnSp>
            <p:nvCxnSpPr>
              <p:cNvPr id="61" name="Straight Connector 60">
                <a:extLst>
                  <a:ext uri="{FF2B5EF4-FFF2-40B4-BE49-F238E27FC236}">
                    <a16:creationId xmlns:a16="http://schemas.microsoft.com/office/drawing/2014/main" id="{6596BEA5-E5EB-4846-A4A4-EF31CAE7E990}"/>
                  </a:ext>
                </a:extLst>
              </p:cNvPr>
              <p:cNvCxnSpPr/>
              <p:nvPr/>
            </p:nvCxnSpPr>
            <p:spPr>
              <a:xfrm>
                <a:off x="4165276" y="6358168"/>
                <a:ext cx="0" cy="72000"/>
              </a:xfrm>
              <a:prstGeom prst="line">
                <a:avLst/>
              </a:prstGeom>
              <a:noFill/>
              <a:ln w="9525" cap="sq" cmpd="sng" algn="ctr">
                <a:solidFill>
                  <a:srgbClr val="544F40"/>
                </a:solidFill>
                <a:prstDash val="solid"/>
                <a:miter lim="800000"/>
              </a:ln>
              <a:effectLst/>
            </p:spPr>
          </p:cxnSp>
          <p:cxnSp>
            <p:nvCxnSpPr>
              <p:cNvPr id="62" name="Straight Connector 61">
                <a:extLst>
                  <a:ext uri="{FF2B5EF4-FFF2-40B4-BE49-F238E27FC236}">
                    <a16:creationId xmlns:a16="http://schemas.microsoft.com/office/drawing/2014/main" id="{C7C414D3-61E6-4440-8CF2-C22FA559706E}"/>
                  </a:ext>
                </a:extLst>
              </p:cNvPr>
              <p:cNvCxnSpPr/>
              <p:nvPr/>
            </p:nvCxnSpPr>
            <p:spPr>
              <a:xfrm>
                <a:off x="5395573" y="6358168"/>
                <a:ext cx="0" cy="72000"/>
              </a:xfrm>
              <a:prstGeom prst="line">
                <a:avLst/>
              </a:prstGeom>
              <a:noFill/>
              <a:ln w="9525" cap="sq" cmpd="sng" algn="ctr">
                <a:solidFill>
                  <a:srgbClr val="544F40"/>
                </a:solidFill>
                <a:prstDash val="solid"/>
                <a:miter lim="800000"/>
              </a:ln>
              <a:effectLst/>
            </p:spPr>
          </p:cxnSp>
          <p:cxnSp>
            <p:nvCxnSpPr>
              <p:cNvPr id="63" name="Straight Connector 62">
                <a:extLst>
                  <a:ext uri="{FF2B5EF4-FFF2-40B4-BE49-F238E27FC236}">
                    <a16:creationId xmlns:a16="http://schemas.microsoft.com/office/drawing/2014/main" id="{4F65BA37-60A5-4E35-B033-2DC5658F71FC}"/>
                  </a:ext>
                </a:extLst>
              </p:cNvPr>
              <p:cNvCxnSpPr/>
              <p:nvPr/>
            </p:nvCxnSpPr>
            <p:spPr>
              <a:xfrm>
                <a:off x="5805672" y="6358168"/>
                <a:ext cx="0" cy="72000"/>
              </a:xfrm>
              <a:prstGeom prst="line">
                <a:avLst/>
              </a:prstGeom>
              <a:noFill/>
              <a:ln w="9525" cap="sq" cmpd="sng" algn="ctr">
                <a:solidFill>
                  <a:srgbClr val="544F40"/>
                </a:solidFill>
                <a:prstDash val="solid"/>
                <a:miter lim="800000"/>
              </a:ln>
              <a:effectLst/>
            </p:spPr>
          </p:cxnSp>
          <p:cxnSp>
            <p:nvCxnSpPr>
              <p:cNvPr id="64" name="Straight Connector 63">
                <a:extLst>
                  <a:ext uri="{FF2B5EF4-FFF2-40B4-BE49-F238E27FC236}">
                    <a16:creationId xmlns:a16="http://schemas.microsoft.com/office/drawing/2014/main" id="{52E166A3-C05D-47C3-84D6-A46BB480343F}"/>
                  </a:ext>
                </a:extLst>
              </p:cNvPr>
              <p:cNvCxnSpPr/>
              <p:nvPr/>
            </p:nvCxnSpPr>
            <p:spPr>
              <a:xfrm>
                <a:off x="6215771" y="6358168"/>
                <a:ext cx="0" cy="72000"/>
              </a:xfrm>
              <a:prstGeom prst="line">
                <a:avLst/>
              </a:prstGeom>
              <a:noFill/>
              <a:ln w="9525" cap="sq" cmpd="sng" algn="ctr">
                <a:solidFill>
                  <a:srgbClr val="544F40"/>
                </a:solidFill>
                <a:prstDash val="solid"/>
                <a:miter lim="800000"/>
              </a:ln>
              <a:effectLst/>
            </p:spPr>
          </p:cxnSp>
          <p:cxnSp>
            <p:nvCxnSpPr>
              <p:cNvPr id="65" name="Straight Connector 64">
                <a:extLst>
                  <a:ext uri="{FF2B5EF4-FFF2-40B4-BE49-F238E27FC236}">
                    <a16:creationId xmlns:a16="http://schemas.microsoft.com/office/drawing/2014/main" id="{A0A8BB6C-85ED-4B42-80D0-994E9738491B}"/>
                  </a:ext>
                </a:extLst>
              </p:cNvPr>
              <p:cNvCxnSpPr/>
              <p:nvPr/>
            </p:nvCxnSpPr>
            <p:spPr>
              <a:xfrm>
                <a:off x="6625870" y="6358168"/>
                <a:ext cx="0" cy="72000"/>
              </a:xfrm>
              <a:prstGeom prst="line">
                <a:avLst/>
              </a:prstGeom>
              <a:noFill/>
              <a:ln w="9525" cap="sq" cmpd="sng" algn="ctr">
                <a:solidFill>
                  <a:srgbClr val="544F40"/>
                </a:solidFill>
                <a:prstDash val="solid"/>
                <a:miter lim="800000"/>
              </a:ln>
              <a:effectLst/>
            </p:spPr>
          </p:cxnSp>
          <p:cxnSp>
            <p:nvCxnSpPr>
              <p:cNvPr id="66" name="Straight Connector 65">
                <a:extLst>
                  <a:ext uri="{FF2B5EF4-FFF2-40B4-BE49-F238E27FC236}">
                    <a16:creationId xmlns:a16="http://schemas.microsoft.com/office/drawing/2014/main" id="{AF738001-1D04-4A8B-B5CB-25C545BF29F1}"/>
                  </a:ext>
                </a:extLst>
              </p:cNvPr>
              <p:cNvCxnSpPr/>
              <p:nvPr/>
            </p:nvCxnSpPr>
            <p:spPr>
              <a:xfrm>
                <a:off x="7035969" y="6358168"/>
                <a:ext cx="0" cy="72000"/>
              </a:xfrm>
              <a:prstGeom prst="line">
                <a:avLst/>
              </a:prstGeom>
              <a:noFill/>
              <a:ln w="9525" cap="sq" cmpd="sng" algn="ctr">
                <a:solidFill>
                  <a:srgbClr val="544F40"/>
                </a:solidFill>
                <a:prstDash val="solid"/>
                <a:miter lim="800000"/>
              </a:ln>
              <a:effectLst/>
            </p:spPr>
          </p:cxnSp>
          <p:cxnSp>
            <p:nvCxnSpPr>
              <p:cNvPr id="67" name="Straight Connector 66">
                <a:extLst>
                  <a:ext uri="{FF2B5EF4-FFF2-40B4-BE49-F238E27FC236}">
                    <a16:creationId xmlns:a16="http://schemas.microsoft.com/office/drawing/2014/main" id="{46CD572B-FA0A-4FF6-BC7A-7174A68F27DA}"/>
                  </a:ext>
                </a:extLst>
              </p:cNvPr>
              <p:cNvCxnSpPr/>
              <p:nvPr/>
            </p:nvCxnSpPr>
            <p:spPr>
              <a:xfrm>
                <a:off x="7446074" y="6358168"/>
                <a:ext cx="0" cy="72000"/>
              </a:xfrm>
              <a:prstGeom prst="line">
                <a:avLst/>
              </a:prstGeom>
              <a:noFill/>
              <a:ln w="9525" cap="sq" cmpd="sng" algn="ctr">
                <a:solidFill>
                  <a:srgbClr val="544F40"/>
                </a:solidFill>
                <a:prstDash val="solid"/>
                <a:miter lim="800000"/>
              </a:ln>
              <a:effectLst/>
            </p:spPr>
          </p:cxnSp>
          <p:cxnSp>
            <p:nvCxnSpPr>
              <p:cNvPr id="68" name="Straight Connector 67">
                <a:extLst>
                  <a:ext uri="{FF2B5EF4-FFF2-40B4-BE49-F238E27FC236}">
                    <a16:creationId xmlns:a16="http://schemas.microsoft.com/office/drawing/2014/main" id="{433B8AA8-B6E9-4D40-A132-661328C71476}"/>
                  </a:ext>
                </a:extLst>
              </p:cNvPr>
              <p:cNvCxnSpPr/>
              <p:nvPr/>
            </p:nvCxnSpPr>
            <p:spPr>
              <a:xfrm>
                <a:off x="4575375" y="6358168"/>
                <a:ext cx="0" cy="72000"/>
              </a:xfrm>
              <a:prstGeom prst="line">
                <a:avLst/>
              </a:prstGeom>
              <a:noFill/>
              <a:ln w="9525" cap="sq" cmpd="sng" algn="ctr">
                <a:solidFill>
                  <a:srgbClr val="544F40"/>
                </a:solidFill>
                <a:prstDash val="solid"/>
                <a:miter lim="800000"/>
              </a:ln>
              <a:effectLst/>
            </p:spPr>
          </p:cxnSp>
        </p:grpSp>
        <p:grpSp>
          <p:nvGrpSpPr>
            <p:cNvPr id="15" name="Group 14"/>
            <p:cNvGrpSpPr/>
            <p:nvPr/>
          </p:nvGrpSpPr>
          <p:grpSpPr>
            <a:xfrm>
              <a:off x="1575732" y="1996705"/>
              <a:ext cx="45720" cy="2329794"/>
              <a:chOff x="1542394" y="1996705"/>
              <a:chExt cx="77195" cy="2329794"/>
            </a:xfrm>
          </p:grpSpPr>
          <p:cxnSp>
            <p:nvCxnSpPr>
              <p:cNvPr id="39" name="Straight Connector 38">
                <a:extLst>
                  <a:ext uri="{FF2B5EF4-FFF2-40B4-BE49-F238E27FC236}">
                    <a16:creationId xmlns:a16="http://schemas.microsoft.com/office/drawing/2014/main" id="{5F5D9351-1176-4727-837E-6F2CADA4DF7A}"/>
                  </a:ext>
                </a:extLst>
              </p:cNvPr>
              <p:cNvCxnSpPr/>
              <p:nvPr/>
            </p:nvCxnSpPr>
            <p:spPr>
              <a:xfrm rot="5400000">
                <a:off x="1580992" y="4287901"/>
                <a:ext cx="0" cy="77195"/>
              </a:xfrm>
              <a:prstGeom prst="line">
                <a:avLst/>
              </a:prstGeom>
              <a:noFill/>
              <a:ln w="9525" cap="sq" cmpd="sng" algn="ctr">
                <a:solidFill>
                  <a:srgbClr val="544F40"/>
                </a:solidFill>
                <a:prstDash val="solid"/>
                <a:miter lim="800000"/>
              </a:ln>
              <a:effectLst/>
            </p:spPr>
          </p:cxnSp>
          <p:cxnSp>
            <p:nvCxnSpPr>
              <p:cNvPr id="40" name="Straight Connector 39">
                <a:extLst>
                  <a:ext uri="{FF2B5EF4-FFF2-40B4-BE49-F238E27FC236}">
                    <a16:creationId xmlns:a16="http://schemas.microsoft.com/office/drawing/2014/main" id="{F196DFB7-B0E4-4685-A368-9B21FCFFDF65}"/>
                  </a:ext>
                </a:extLst>
              </p:cNvPr>
              <p:cNvCxnSpPr/>
              <p:nvPr/>
            </p:nvCxnSpPr>
            <p:spPr>
              <a:xfrm rot="5400000">
                <a:off x="1580992" y="1958107"/>
                <a:ext cx="0" cy="77195"/>
              </a:xfrm>
              <a:prstGeom prst="line">
                <a:avLst/>
              </a:prstGeom>
              <a:noFill/>
              <a:ln w="9525" cap="sq" cmpd="sng" algn="ctr">
                <a:solidFill>
                  <a:srgbClr val="544F40"/>
                </a:solidFill>
                <a:prstDash val="solid"/>
                <a:miter lim="800000"/>
              </a:ln>
              <a:effectLst/>
            </p:spPr>
          </p:cxnSp>
          <p:cxnSp>
            <p:nvCxnSpPr>
              <p:cNvPr id="41" name="Straight Connector 40">
                <a:extLst>
                  <a:ext uri="{FF2B5EF4-FFF2-40B4-BE49-F238E27FC236}">
                    <a16:creationId xmlns:a16="http://schemas.microsoft.com/office/drawing/2014/main" id="{005B9A0A-BD0C-4C76-9A17-7D78A0A6E601}"/>
                  </a:ext>
                </a:extLst>
              </p:cNvPr>
              <p:cNvCxnSpPr/>
              <p:nvPr/>
            </p:nvCxnSpPr>
            <p:spPr>
              <a:xfrm rot="5400000">
                <a:off x="1580992" y="2956590"/>
                <a:ext cx="0" cy="77195"/>
              </a:xfrm>
              <a:prstGeom prst="line">
                <a:avLst/>
              </a:prstGeom>
              <a:noFill/>
              <a:ln w="9525" cap="sq" cmpd="sng" algn="ctr">
                <a:solidFill>
                  <a:srgbClr val="544F40"/>
                </a:solidFill>
                <a:prstDash val="solid"/>
                <a:miter lim="800000"/>
              </a:ln>
              <a:effectLst/>
            </p:spPr>
          </p:cxnSp>
          <p:cxnSp>
            <p:nvCxnSpPr>
              <p:cNvPr id="42" name="Straight Connector 41">
                <a:extLst>
                  <a:ext uri="{FF2B5EF4-FFF2-40B4-BE49-F238E27FC236}">
                    <a16:creationId xmlns:a16="http://schemas.microsoft.com/office/drawing/2014/main" id="{50F7934A-99C2-42DC-9AA3-C8A6C0C98C88}"/>
                  </a:ext>
                </a:extLst>
              </p:cNvPr>
              <p:cNvCxnSpPr/>
              <p:nvPr/>
            </p:nvCxnSpPr>
            <p:spPr>
              <a:xfrm rot="5400000">
                <a:off x="1580992" y="3955072"/>
                <a:ext cx="0" cy="77195"/>
              </a:xfrm>
              <a:prstGeom prst="line">
                <a:avLst/>
              </a:prstGeom>
              <a:noFill/>
              <a:ln w="9525" cap="sq" cmpd="sng" algn="ctr">
                <a:solidFill>
                  <a:srgbClr val="544F40"/>
                </a:solidFill>
                <a:prstDash val="solid"/>
                <a:miter lim="800000"/>
              </a:ln>
              <a:effectLst/>
            </p:spPr>
          </p:cxnSp>
          <p:cxnSp>
            <p:nvCxnSpPr>
              <p:cNvPr id="43" name="Straight Connector 42">
                <a:extLst>
                  <a:ext uri="{FF2B5EF4-FFF2-40B4-BE49-F238E27FC236}">
                    <a16:creationId xmlns:a16="http://schemas.microsoft.com/office/drawing/2014/main" id="{EFA2AD42-5192-4F58-85CE-866CE24018CC}"/>
                  </a:ext>
                </a:extLst>
              </p:cNvPr>
              <p:cNvCxnSpPr/>
              <p:nvPr/>
            </p:nvCxnSpPr>
            <p:spPr>
              <a:xfrm rot="5400000">
                <a:off x="1580992" y="2290935"/>
                <a:ext cx="0" cy="77195"/>
              </a:xfrm>
              <a:prstGeom prst="line">
                <a:avLst/>
              </a:prstGeom>
              <a:noFill/>
              <a:ln w="9525" cap="sq" cmpd="sng" algn="ctr">
                <a:solidFill>
                  <a:srgbClr val="544F40"/>
                </a:solidFill>
                <a:prstDash val="solid"/>
                <a:miter lim="800000"/>
              </a:ln>
              <a:effectLst/>
            </p:spPr>
          </p:cxnSp>
          <p:cxnSp>
            <p:nvCxnSpPr>
              <p:cNvPr id="44" name="Straight Connector 43">
                <a:extLst>
                  <a:ext uri="{FF2B5EF4-FFF2-40B4-BE49-F238E27FC236}">
                    <a16:creationId xmlns:a16="http://schemas.microsoft.com/office/drawing/2014/main" id="{F63B7F3D-8066-457D-A3BC-B7565C41CD3D}"/>
                  </a:ext>
                </a:extLst>
              </p:cNvPr>
              <p:cNvCxnSpPr/>
              <p:nvPr/>
            </p:nvCxnSpPr>
            <p:spPr>
              <a:xfrm rot="5400000">
                <a:off x="1580992" y="2623762"/>
                <a:ext cx="0" cy="77195"/>
              </a:xfrm>
              <a:prstGeom prst="line">
                <a:avLst/>
              </a:prstGeom>
              <a:noFill/>
              <a:ln w="9525" cap="sq" cmpd="sng" algn="ctr">
                <a:solidFill>
                  <a:srgbClr val="544F40"/>
                </a:solidFill>
                <a:prstDash val="solid"/>
                <a:miter lim="800000"/>
              </a:ln>
              <a:effectLst/>
            </p:spPr>
          </p:cxnSp>
          <p:cxnSp>
            <p:nvCxnSpPr>
              <p:cNvPr id="45" name="Straight Connector 44">
                <a:extLst>
                  <a:ext uri="{FF2B5EF4-FFF2-40B4-BE49-F238E27FC236}">
                    <a16:creationId xmlns:a16="http://schemas.microsoft.com/office/drawing/2014/main" id="{951D8611-E17E-4CBE-9248-3E1EC28B3555}"/>
                  </a:ext>
                </a:extLst>
              </p:cNvPr>
              <p:cNvCxnSpPr/>
              <p:nvPr/>
            </p:nvCxnSpPr>
            <p:spPr>
              <a:xfrm rot="5400000">
                <a:off x="1580992" y="3289417"/>
                <a:ext cx="0" cy="77195"/>
              </a:xfrm>
              <a:prstGeom prst="line">
                <a:avLst/>
              </a:prstGeom>
              <a:noFill/>
              <a:ln w="9525" cap="sq" cmpd="sng" algn="ctr">
                <a:solidFill>
                  <a:srgbClr val="544F40"/>
                </a:solidFill>
                <a:prstDash val="solid"/>
                <a:miter lim="800000"/>
              </a:ln>
              <a:effectLst/>
            </p:spPr>
          </p:cxnSp>
          <p:cxnSp>
            <p:nvCxnSpPr>
              <p:cNvPr id="46" name="Straight Connector 45">
                <a:extLst>
                  <a:ext uri="{FF2B5EF4-FFF2-40B4-BE49-F238E27FC236}">
                    <a16:creationId xmlns:a16="http://schemas.microsoft.com/office/drawing/2014/main" id="{BA219072-D4CE-42D0-953B-4802633BB9BA}"/>
                  </a:ext>
                </a:extLst>
              </p:cNvPr>
              <p:cNvCxnSpPr/>
              <p:nvPr/>
            </p:nvCxnSpPr>
            <p:spPr>
              <a:xfrm rot="5400000">
                <a:off x="1580992" y="3622244"/>
                <a:ext cx="0" cy="77195"/>
              </a:xfrm>
              <a:prstGeom prst="line">
                <a:avLst/>
              </a:prstGeom>
              <a:noFill/>
              <a:ln w="9525" cap="sq" cmpd="sng" algn="ctr">
                <a:solidFill>
                  <a:srgbClr val="544F40"/>
                </a:solidFill>
                <a:prstDash val="solid"/>
                <a:miter lim="800000"/>
              </a:ln>
              <a:effectLst/>
            </p:spPr>
          </p:cxnSp>
        </p:grpSp>
        <p:grpSp>
          <p:nvGrpSpPr>
            <p:cNvPr id="131" name="Group 130"/>
            <p:cNvGrpSpPr/>
            <p:nvPr/>
          </p:nvGrpSpPr>
          <p:grpSpPr>
            <a:xfrm>
              <a:off x="1817104" y="2016690"/>
              <a:ext cx="5065715" cy="156557"/>
              <a:chOff x="1817104" y="2016690"/>
              <a:chExt cx="5065715" cy="156557"/>
            </a:xfrm>
          </p:grpSpPr>
          <p:grpSp>
            <p:nvGrpSpPr>
              <p:cNvPr id="132" name="Group 131">
                <a:extLst>
                  <a:ext uri="{FF2B5EF4-FFF2-40B4-BE49-F238E27FC236}">
                    <a16:creationId xmlns:a16="http://schemas.microsoft.com/office/drawing/2014/main" id="{5359EE70-82A2-44FF-AC2C-5775F025F24C}"/>
                  </a:ext>
                </a:extLst>
              </p:cNvPr>
              <p:cNvGrpSpPr/>
              <p:nvPr/>
            </p:nvGrpSpPr>
            <p:grpSpPr>
              <a:xfrm>
                <a:off x="1817104" y="2016690"/>
                <a:ext cx="2015945" cy="156557"/>
                <a:chOff x="2409005" y="2396985"/>
                <a:chExt cx="1880267" cy="215589"/>
              </a:xfrm>
            </p:grpSpPr>
            <p:sp>
              <p:nvSpPr>
                <p:cNvPr id="139" name="TextBox 138">
                  <a:extLst>
                    <a:ext uri="{FF2B5EF4-FFF2-40B4-BE49-F238E27FC236}">
                      <a16:creationId xmlns:a16="http://schemas.microsoft.com/office/drawing/2014/main" id="{998F478D-587B-443A-BDB0-9E0F08E35B3C}"/>
                    </a:ext>
                  </a:extLst>
                </p:cNvPr>
                <p:cNvSpPr txBox="1"/>
                <p:nvPr/>
              </p:nvSpPr>
              <p:spPr>
                <a:xfrm>
                  <a:off x="2642987" y="2396985"/>
                  <a:ext cx="1646285" cy="215589"/>
                </a:xfrm>
                <a:prstGeom prst="rect">
                  <a:avLst/>
                </a:prstGeom>
                <a:noFill/>
              </p:spPr>
              <p:txBody>
                <a:bodyPr wrap="none" lIns="0" tIns="0" rIns="0" bIns="0"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FF/UMEC/VI 100/62.5/25 µg </a:t>
                  </a:r>
                </a:p>
              </p:txBody>
            </p:sp>
            <p:cxnSp>
              <p:nvCxnSpPr>
                <p:cNvPr id="140" name="Straight Connector 139">
                  <a:extLst>
                    <a:ext uri="{FF2B5EF4-FFF2-40B4-BE49-F238E27FC236}">
                      <a16:creationId xmlns:a16="http://schemas.microsoft.com/office/drawing/2014/main" id="{B65EDD84-E81C-483B-9B1F-7AE44BE851D2}"/>
                    </a:ext>
                  </a:extLst>
                </p:cNvPr>
                <p:cNvCxnSpPr/>
                <p:nvPr/>
              </p:nvCxnSpPr>
              <p:spPr>
                <a:xfrm>
                  <a:off x="2409005" y="2492577"/>
                  <a:ext cx="170572" cy="0"/>
                </a:xfrm>
                <a:prstGeom prst="line">
                  <a:avLst/>
                </a:prstGeom>
                <a:noFill/>
                <a:ln w="28575" cap="flat">
                  <a:solidFill>
                    <a:srgbClr val="F36633"/>
                  </a:solidFill>
                  <a:prstDash val="solid"/>
                  <a:miter lim="800000"/>
                  <a:headEnd/>
                  <a:tailEnd/>
                </a:ln>
                <a:extLst>
                  <a:ext uri="{909E8E84-426E-40DD-AFC4-6F175D3DCCD1}">
                    <a14:hiddenFill xmlns:a14="http://schemas.microsoft.com/office/drawing/2010/main">
                      <a:solidFill>
                        <a:srgbClr val="FFFFFF"/>
                      </a:solidFill>
                    </a14:hiddenFill>
                  </a:ext>
                </a:extLst>
              </p:spPr>
            </p:cxnSp>
          </p:grpSp>
          <p:grpSp>
            <p:nvGrpSpPr>
              <p:cNvPr id="133" name="Group 132">
                <a:extLst>
                  <a:ext uri="{FF2B5EF4-FFF2-40B4-BE49-F238E27FC236}">
                    <a16:creationId xmlns:a16="http://schemas.microsoft.com/office/drawing/2014/main" id="{F1449E9D-1520-42E0-A036-D68DA061AE9D}"/>
                  </a:ext>
                </a:extLst>
              </p:cNvPr>
              <p:cNvGrpSpPr/>
              <p:nvPr/>
            </p:nvGrpSpPr>
            <p:grpSpPr>
              <a:xfrm>
                <a:off x="3908650" y="2016690"/>
                <a:ext cx="1270043" cy="156557"/>
                <a:chOff x="2409005" y="2648892"/>
                <a:chExt cx="1184566" cy="215589"/>
              </a:xfrm>
            </p:grpSpPr>
            <p:cxnSp>
              <p:nvCxnSpPr>
                <p:cNvPr id="137" name="Straight Connector 136">
                  <a:extLst>
                    <a:ext uri="{FF2B5EF4-FFF2-40B4-BE49-F238E27FC236}">
                      <a16:creationId xmlns:a16="http://schemas.microsoft.com/office/drawing/2014/main" id="{93DEE608-23A1-4342-94AB-D1ACF14F4D1C}"/>
                    </a:ext>
                  </a:extLst>
                </p:cNvPr>
                <p:cNvCxnSpPr/>
                <p:nvPr/>
              </p:nvCxnSpPr>
              <p:spPr>
                <a:xfrm>
                  <a:off x="2409005" y="2739293"/>
                  <a:ext cx="170572" cy="0"/>
                </a:xfrm>
                <a:prstGeom prst="line">
                  <a:avLst/>
                </a:prstGeom>
                <a:noFill/>
                <a:ln w="28575" cap="flat">
                  <a:solidFill>
                    <a:srgbClr val="008A00"/>
                  </a:solidFill>
                  <a:prstDash val="solid"/>
                  <a:miter lim="800000"/>
                  <a:headEnd/>
                  <a:tailEnd/>
                </a:ln>
                <a:extLst>
                  <a:ext uri="{909E8E84-426E-40DD-AFC4-6F175D3DCCD1}">
                    <a14:hiddenFill xmlns:a14="http://schemas.microsoft.com/office/drawing/2010/main">
                      <a:solidFill>
                        <a:srgbClr val="FFFFFF"/>
                      </a:solidFill>
                    </a14:hiddenFill>
                  </a:ext>
                </a:extLst>
              </p:spPr>
            </p:cxnSp>
            <p:sp>
              <p:nvSpPr>
                <p:cNvPr id="138" name="TextBox 137">
                  <a:extLst>
                    <a:ext uri="{FF2B5EF4-FFF2-40B4-BE49-F238E27FC236}">
                      <a16:creationId xmlns:a16="http://schemas.microsoft.com/office/drawing/2014/main" id="{FC0BE457-C6BD-4A35-9F34-74B76E1869C1}"/>
                    </a:ext>
                  </a:extLst>
                </p:cNvPr>
                <p:cNvSpPr txBox="1"/>
                <p:nvPr/>
              </p:nvSpPr>
              <p:spPr>
                <a:xfrm>
                  <a:off x="2642990" y="2648892"/>
                  <a:ext cx="950581" cy="215589"/>
                </a:xfrm>
                <a:prstGeom prst="rect">
                  <a:avLst/>
                </a:prstGeom>
                <a:noFill/>
              </p:spPr>
              <p:txBody>
                <a:bodyPr wrap="none" lIns="0" tIns="0" rIns="0" bIns="0"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FF/VI 100/25 µg </a:t>
                  </a:r>
                </a:p>
              </p:txBody>
            </p:sp>
          </p:grpSp>
          <p:grpSp>
            <p:nvGrpSpPr>
              <p:cNvPr id="134" name="Group 133">
                <a:extLst>
                  <a:ext uri="{FF2B5EF4-FFF2-40B4-BE49-F238E27FC236}">
                    <a16:creationId xmlns:a16="http://schemas.microsoft.com/office/drawing/2014/main" id="{DA03F066-CC53-4895-85BA-D300E2CDD3B6}"/>
                  </a:ext>
                </a:extLst>
              </p:cNvPr>
              <p:cNvGrpSpPr/>
              <p:nvPr/>
            </p:nvGrpSpPr>
            <p:grpSpPr>
              <a:xfrm>
                <a:off x="5337787" y="2016690"/>
                <a:ext cx="1545032" cy="156557"/>
                <a:chOff x="2409005" y="2396985"/>
                <a:chExt cx="1441048" cy="215589"/>
              </a:xfrm>
            </p:grpSpPr>
            <p:sp>
              <p:nvSpPr>
                <p:cNvPr id="135" name="TextBox 134">
                  <a:extLst>
                    <a:ext uri="{FF2B5EF4-FFF2-40B4-BE49-F238E27FC236}">
                      <a16:creationId xmlns:a16="http://schemas.microsoft.com/office/drawing/2014/main" id="{FFE3E41A-EE56-43F9-843D-1F85C16229FD}"/>
                    </a:ext>
                  </a:extLst>
                </p:cNvPr>
                <p:cNvSpPr txBox="1"/>
                <p:nvPr/>
              </p:nvSpPr>
              <p:spPr>
                <a:xfrm>
                  <a:off x="2642991" y="2396985"/>
                  <a:ext cx="1207062" cy="215589"/>
                </a:xfrm>
                <a:prstGeom prst="rect">
                  <a:avLst/>
                </a:prstGeom>
                <a:noFill/>
              </p:spPr>
              <p:txBody>
                <a:bodyPr wrap="none" lIns="0" tIns="0" rIns="0" bIns="0"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rgbClr val="544F40"/>
                      </a:solidFill>
                      <a:effectLst/>
                      <a:uLnTx/>
                      <a:uFillTx/>
                      <a:latin typeface="Arial" panose="020B0604020202020204"/>
                      <a:ea typeface="+mn-ea"/>
                      <a:cs typeface="Arial" panose="020B0604020202020204" pitchFamily="34" charset="0"/>
                    </a:rPr>
                    <a:t>UMEC/VI 62.5/25 µg </a:t>
                  </a:r>
                </a:p>
              </p:txBody>
            </p:sp>
            <p:cxnSp>
              <p:nvCxnSpPr>
                <p:cNvPr id="136" name="Straight Connector 135">
                  <a:extLst>
                    <a:ext uri="{FF2B5EF4-FFF2-40B4-BE49-F238E27FC236}">
                      <a16:creationId xmlns:a16="http://schemas.microsoft.com/office/drawing/2014/main" id="{3F797590-C47A-4DD3-90DD-507A7B450C62}"/>
                    </a:ext>
                  </a:extLst>
                </p:cNvPr>
                <p:cNvCxnSpPr/>
                <p:nvPr/>
              </p:nvCxnSpPr>
              <p:spPr>
                <a:xfrm>
                  <a:off x="2409005" y="2492577"/>
                  <a:ext cx="170572" cy="0"/>
                </a:xfrm>
                <a:prstGeom prst="line">
                  <a:avLst/>
                </a:prstGeom>
                <a:noFill/>
                <a:ln w="28575" cap="flat">
                  <a:solidFill>
                    <a:srgbClr val="40488D"/>
                  </a:solidFill>
                  <a:prstDash val="solid"/>
                  <a:miter lim="800000"/>
                  <a:headEnd/>
                  <a:tailEnd/>
                </a:ln>
                <a:extLst>
                  <a:ext uri="{909E8E84-426E-40DD-AFC4-6F175D3DCCD1}">
                    <a14:hiddenFill xmlns:a14="http://schemas.microsoft.com/office/drawing/2010/main">
                      <a:solidFill>
                        <a:srgbClr val="FFFFFF"/>
                      </a:solidFill>
                    </a14:hiddenFill>
                  </a:ext>
                </a:extLst>
              </p:spPr>
            </p:cxnSp>
          </p:grpSp>
        </p:grpSp>
      </p:grpSp>
      <p:pic>
        <p:nvPicPr>
          <p:cNvPr id="88" name="Picture 87">
            <a:extLst>
              <a:ext uri="{FF2B5EF4-FFF2-40B4-BE49-F238E27FC236}">
                <a16:creationId xmlns:a16="http://schemas.microsoft.com/office/drawing/2014/main" id="{F89C67CB-48BA-4A88-9301-0CB397AE4EB8}"/>
              </a:ext>
            </a:extLst>
          </p:cNvPr>
          <p:cNvPicPr>
            <a:picLocks noChangeAspect="1"/>
          </p:cNvPicPr>
          <p:nvPr/>
        </p:nvPicPr>
        <p:blipFill>
          <a:blip r:embed="rId3"/>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23604164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999" y="252000"/>
            <a:ext cx="10359125" cy="504000"/>
          </a:xfrm>
        </p:spPr>
        <p:txBody>
          <a:bodyPr/>
          <a:lstStyle/>
          <a:p>
            <a:r>
              <a:rPr lang="en-US" sz="2400" dirty="0"/>
              <a:t>IMPACT: Benefits of triple therapy (FF/UMEC/VI) in COPD at Week 52</a:t>
            </a:r>
            <a:endParaRPr lang="en-US" sz="2400" baseline="30000" dirty="0"/>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17" name="Text Placeholder 16"/>
          <p:cNvSpPr>
            <a:spLocks noGrp="1"/>
          </p:cNvSpPr>
          <p:nvPr>
            <p:ph type="body" sz="quarter" idx="21"/>
          </p:nvPr>
        </p:nvSpPr>
        <p:spPr/>
        <p:txBody>
          <a:bodyPr/>
          <a:lstStyle/>
          <a:p>
            <a:r>
              <a:rPr lang="da-DK" dirty="0"/>
              <a:t>Lipson DA, et al. </a:t>
            </a:r>
            <a:r>
              <a:rPr lang="da-DK" i="1" dirty="0"/>
              <a:t>N Engl J Med. </a:t>
            </a:r>
            <a:r>
              <a:rPr lang="da-DK" dirty="0"/>
              <a:t>2018;378:1671–1680.</a:t>
            </a:r>
            <a:endParaRPr lang="en-US" dirty="0"/>
          </a:p>
        </p:txBody>
      </p:sp>
      <p:sp>
        <p:nvSpPr>
          <p:cNvPr id="8" name="Text Placeholder 7"/>
          <p:cNvSpPr>
            <a:spLocks noGrp="1"/>
          </p:cNvSpPr>
          <p:nvPr>
            <p:ph type="body" sz="quarter" idx="19"/>
          </p:nvPr>
        </p:nvSpPr>
        <p:spPr/>
        <p:txBody>
          <a:bodyPr/>
          <a:lstStyle/>
          <a:p>
            <a:r>
              <a:rPr lang="en-US" dirty="0"/>
              <a:t>* </a:t>
            </a:r>
            <a:r>
              <a:rPr lang="en-US" i="1" dirty="0"/>
              <a:t>p</a:t>
            </a:r>
            <a:r>
              <a:rPr lang="en-US" dirty="0"/>
              <a:t> &lt; 0.001 for both comparisons; † </a:t>
            </a:r>
            <a:r>
              <a:rPr lang="en-US" i="1" dirty="0"/>
              <a:t>p</a:t>
            </a:r>
            <a:r>
              <a:rPr lang="en-US" dirty="0"/>
              <a:t> = 0.01; ‡ Absolute Rate Reduction 0.3 (UMEC/VI) and 0.16 (FF/VI); # </a:t>
            </a:r>
            <a:r>
              <a:rPr lang="en-US" i="1" dirty="0"/>
              <a:t>p</a:t>
            </a:r>
            <a:r>
              <a:rPr lang="en-US" dirty="0"/>
              <a:t> &lt; 0.001 vs UMEC/VI, </a:t>
            </a:r>
            <a:r>
              <a:rPr lang="en-US" i="1" dirty="0"/>
              <a:t>p</a:t>
            </a:r>
            <a:r>
              <a:rPr lang="en-US" dirty="0"/>
              <a:t> = 0.06 vs FF/VI; § Absolute Rate Reduction 0.02 (FF/VI) and 0.06 (UMEC/VI). </a:t>
            </a:r>
          </a:p>
          <a:p>
            <a:r>
              <a:rPr lang="en-US" dirty="0"/>
              <a:t>CFB, change from baseline; FEV</a:t>
            </a:r>
            <a:r>
              <a:rPr lang="en-US" baseline="-25000" dirty="0"/>
              <a:t>1</a:t>
            </a:r>
            <a:r>
              <a:rPr lang="en-US" dirty="0"/>
              <a:t>, forced expiratory volume in 1 second; FF, fluticasone furoate; LS, least square; mL, milliliter; SGRQ, St. George's respiratory questionnaire; UMEC, umeclidinium; VI, vilanterol.</a:t>
            </a:r>
          </a:p>
        </p:txBody>
      </p:sp>
      <p:grpSp>
        <p:nvGrpSpPr>
          <p:cNvPr id="16" name="Group 15"/>
          <p:cNvGrpSpPr/>
          <p:nvPr/>
        </p:nvGrpSpPr>
        <p:grpSpPr>
          <a:xfrm>
            <a:off x="428700" y="1228421"/>
            <a:ext cx="11343058" cy="4298328"/>
            <a:chOff x="428700" y="1304621"/>
            <a:chExt cx="11343058" cy="4298328"/>
          </a:xfrm>
        </p:grpSpPr>
        <p:grpSp>
          <p:nvGrpSpPr>
            <p:cNvPr id="15" name="Group 14"/>
            <p:cNvGrpSpPr/>
            <p:nvPr/>
          </p:nvGrpSpPr>
          <p:grpSpPr>
            <a:xfrm>
              <a:off x="428700" y="3466592"/>
              <a:ext cx="5514900" cy="2022692"/>
              <a:chOff x="428700" y="3466592"/>
              <a:chExt cx="5514900" cy="2022692"/>
            </a:xfrm>
          </p:grpSpPr>
          <p:sp>
            <p:nvSpPr>
              <p:cNvPr id="54" name="Rounded Rectangle 53"/>
              <p:cNvSpPr/>
              <p:nvPr/>
            </p:nvSpPr>
            <p:spPr>
              <a:xfrm>
                <a:off x="428700" y="3622265"/>
                <a:ext cx="5514900" cy="1867019"/>
              </a:xfrm>
              <a:prstGeom prst="roundRect">
                <a:avLst>
                  <a:gd name="adj" fmla="val 7295"/>
                </a:avLst>
              </a:prstGeom>
              <a:solidFill>
                <a:srgbClr val="E7FFE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69" name="Group 68"/>
              <p:cNvGrpSpPr/>
              <p:nvPr/>
            </p:nvGrpSpPr>
            <p:grpSpPr>
              <a:xfrm>
                <a:off x="615486" y="3898079"/>
                <a:ext cx="3254132" cy="1446721"/>
                <a:chOff x="534566" y="1933988"/>
                <a:chExt cx="3254132" cy="1446721"/>
              </a:xfrm>
            </p:grpSpPr>
            <p:sp>
              <p:nvSpPr>
                <p:cNvPr id="70" name="Rectangle 69">
                  <a:extLst>
                    <a:ext uri="{FF2B5EF4-FFF2-40B4-BE49-F238E27FC236}">
                      <a16:creationId xmlns:a16="http://schemas.microsoft.com/office/drawing/2014/main" id="{6FB88434-D57F-430C-940C-AAC6A514B798}"/>
                    </a:ext>
                  </a:extLst>
                </p:cNvPr>
                <p:cNvSpPr/>
                <p:nvPr/>
              </p:nvSpPr>
              <p:spPr>
                <a:xfrm>
                  <a:off x="669144" y="1933988"/>
                  <a:ext cx="2467805" cy="184666"/>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44F40"/>
                      </a:solidFill>
                      <a:effectLst/>
                      <a:uLnTx/>
                      <a:uFillTx/>
                      <a:latin typeface="Arial" panose="020B0604020202020204"/>
                      <a:ea typeface="+mn-ea"/>
                      <a:cs typeface="+mn-cs"/>
                    </a:rPr>
                    <a:t>LS mean CFB in trough FEV</a:t>
                  </a:r>
                  <a:r>
                    <a:rPr kumimoji="0" lang="en-US" sz="1200" b="0" i="0" u="none" strike="noStrike" kern="1200" cap="none" spc="0" normalizeH="0" baseline="-25000" noProof="0" dirty="0">
                      <a:ln>
                        <a:noFill/>
                      </a:ln>
                      <a:solidFill>
                        <a:srgbClr val="544F40"/>
                      </a:solidFill>
                      <a:effectLst/>
                      <a:uLnTx/>
                      <a:uFillTx/>
                      <a:latin typeface="Arial" panose="020B0604020202020204"/>
                      <a:ea typeface="+mn-ea"/>
                      <a:cs typeface="+mn-cs"/>
                    </a:rPr>
                    <a:t>1</a:t>
                  </a:r>
                </a:p>
              </p:txBody>
            </p:sp>
            <p:sp>
              <p:nvSpPr>
                <p:cNvPr id="71" name="Rectangle 70">
                  <a:extLst>
                    <a:ext uri="{FF2B5EF4-FFF2-40B4-BE49-F238E27FC236}">
                      <a16:creationId xmlns:a16="http://schemas.microsoft.com/office/drawing/2014/main" id="{05BE9B8B-CC6B-4988-B8E2-82C0CCAA714D}"/>
                    </a:ext>
                  </a:extLst>
                </p:cNvPr>
                <p:cNvSpPr/>
                <p:nvPr/>
              </p:nvSpPr>
              <p:spPr>
                <a:xfrm rot="10800000" flipV="1">
                  <a:off x="534566" y="2169866"/>
                  <a:ext cx="1396216" cy="430887"/>
                </a:xfrm>
                <a:prstGeom prst="rect">
                  <a:avLst/>
                </a:prstGeom>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l-GR" sz="2800" b="1" i="0" u="none" strike="noStrike" kern="1200" cap="none" spc="0" normalizeH="0" baseline="0" noProof="0" dirty="0">
                      <a:ln>
                        <a:noFill/>
                      </a:ln>
                      <a:solidFill>
                        <a:srgbClr val="008A00"/>
                      </a:solidFill>
                      <a:effectLst/>
                      <a:uLnTx/>
                      <a:uFillTx/>
                      <a:latin typeface="Arial" panose="020B0604020202020204"/>
                      <a:ea typeface="+mn-ea"/>
                      <a:cs typeface="+mn-cs"/>
                    </a:rPr>
                    <a:t>Δ</a:t>
                  </a:r>
                  <a:r>
                    <a:rPr kumimoji="0" lang="en-GB" sz="2800" b="1" i="0" u="none" strike="noStrike" kern="1200" cap="none" spc="0" normalizeH="0" baseline="0" noProof="0" dirty="0">
                      <a:ln>
                        <a:noFill/>
                      </a:ln>
                      <a:solidFill>
                        <a:srgbClr val="008A00"/>
                      </a:solidFill>
                      <a:effectLst/>
                      <a:uLnTx/>
                      <a:uFillTx/>
                      <a:latin typeface="Arial" panose="020B0604020202020204"/>
                      <a:ea typeface="+mn-ea"/>
                      <a:cs typeface="+mn-cs"/>
                    </a:rPr>
                    <a:t> 54 mL</a:t>
                  </a:r>
                  <a:endParaRPr kumimoji="0" lang="en-GB" sz="2800" b="0" i="0" u="none" strike="noStrike" kern="1200" cap="none" spc="0" normalizeH="0" baseline="0" noProof="0" dirty="0">
                    <a:ln>
                      <a:noFill/>
                    </a:ln>
                    <a:solidFill>
                      <a:srgbClr val="008A00"/>
                    </a:solidFill>
                    <a:effectLst/>
                    <a:uLnTx/>
                    <a:uFillTx/>
                    <a:latin typeface="Arial" panose="020B0604020202020204"/>
                    <a:ea typeface="+mn-ea"/>
                    <a:cs typeface="+mn-cs"/>
                  </a:endParaRPr>
                </a:p>
              </p:txBody>
            </p:sp>
            <p:sp>
              <p:nvSpPr>
                <p:cNvPr id="72" name="Rectangle 71">
                  <a:extLst>
                    <a:ext uri="{FF2B5EF4-FFF2-40B4-BE49-F238E27FC236}">
                      <a16:creationId xmlns:a16="http://schemas.microsoft.com/office/drawing/2014/main" id="{C545EEDE-7120-4987-AE6B-789827241AA2}"/>
                    </a:ext>
                  </a:extLst>
                </p:cNvPr>
                <p:cNvSpPr/>
                <p:nvPr/>
              </p:nvSpPr>
              <p:spPr>
                <a:xfrm rot="10800000" flipV="1">
                  <a:off x="2392482" y="2169866"/>
                  <a:ext cx="1396216" cy="430887"/>
                </a:xfrm>
                <a:prstGeom prst="rect">
                  <a:avLst/>
                </a:prstGeom>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l-GR" sz="2800" b="1" i="0" u="none" strike="noStrike" kern="1200" cap="none" spc="0" normalizeH="0" baseline="0" noProof="0" dirty="0">
                      <a:ln>
                        <a:noFill/>
                      </a:ln>
                      <a:solidFill>
                        <a:srgbClr val="008A00"/>
                      </a:solidFill>
                      <a:effectLst/>
                      <a:uLnTx/>
                      <a:uFillTx/>
                      <a:latin typeface="Arial" panose="020B0604020202020204"/>
                      <a:ea typeface="+mn-ea"/>
                      <a:cs typeface="+mn-cs"/>
                    </a:rPr>
                    <a:t>Δ</a:t>
                  </a:r>
                  <a:r>
                    <a:rPr kumimoji="0" lang="en-GB" sz="2800" b="1" i="0" u="none" strike="noStrike" kern="1200" cap="none" spc="0" normalizeH="0" baseline="0" noProof="0" dirty="0">
                      <a:ln>
                        <a:noFill/>
                      </a:ln>
                      <a:solidFill>
                        <a:srgbClr val="008A00"/>
                      </a:solidFill>
                      <a:effectLst/>
                      <a:uLnTx/>
                      <a:uFillTx/>
                      <a:latin typeface="Arial" panose="020B0604020202020204"/>
                      <a:ea typeface="+mn-ea"/>
                      <a:cs typeface="+mn-cs"/>
                    </a:rPr>
                    <a:t> 97 mL</a:t>
                  </a:r>
                  <a:endParaRPr kumimoji="0" lang="en-GB" sz="2800" b="0" i="0" u="none" strike="noStrike" kern="1200" cap="none" spc="0" normalizeH="0" baseline="0" noProof="0" dirty="0">
                    <a:ln>
                      <a:noFill/>
                    </a:ln>
                    <a:solidFill>
                      <a:srgbClr val="008A00"/>
                    </a:solidFill>
                    <a:effectLst/>
                    <a:uLnTx/>
                    <a:uFillTx/>
                    <a:latin typeface="Arial" panose="020B0604020202020204"/>
                    <a:ea typeface="+mn-ea"/>
                    <a:cs typeface="+mn-cs"/>
                  </a:endParaRPr>
                </a:p>
              </p:txBody>
            </p:sp>
            <p:sp>
              <p:nvSpPr>
                <p:cNvPr id="73" name="Arrow: Down 308">
                  <a:extLst>
                    <a:ext uri="{FF2B5EF4-FFF2-40B4-BE49-F238E27FC236}">
                      <a16:creationId xmlns:a16="http://schemas.microsoft.com/office/drawing/2014/main" id="{3742F3F4-5121-4FF8-B1F4-034E8845DEEB}"/>
                    </a:ext>
                  </a:extLst>
                </p:cNvPr>
                <p:cNvSpPr/>
                <p:nvPr/>
              </p:nvSpPr>
              <p:spPr>
                <a:xfrm flipV="1">
                  <a:off x="939982" y="2685764"/>
                  <a:ext cx="585382" cy="364010"/>
                </a:xfrm>
                <a:prstGeom prst="downArrow">
                  <a:avLst>
                    <a:gd name="adj1" fmla="val 52559"/>
                    <a:gd name="adj2" fmla="val 50000"/>
                  </a:avLst>
                </a:prstGeom>
                <a:solidFill>
                  <a:srgbClr val="544F4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74" name="Rectangle 73">
                  <a:extLst>
                    <a:ext uri="{FF2B5EF4-FFF2-40B4-BE49-F238E27FC236}">
                      <a16:creationId xmlns:a16="http://schemas.microsoft.com/office/drawing/2014/main" id="{AA948699-5394-44D7-9739-D86F91E44B37}"/>
                    </a:ext>
                  </a:extLst>
                </p:cNvPr>
                <p:cNvSpPr/>
                <p:nvPr/>
              </p:nvSpPr>
              <p:spPr>
                <a:xfrm>
                  <a:off x="2722700" y="3165265"/>
                  <a:ext cx="735779" cy="215444"/>
                </a:xfrm>
                <a:prstGeom prst="rect">
                  <a:avLst/>
                </a:prstGeom>
              </p:spPr>
              <p:txBody>
                <a:bodyPr wrap="none" lIns="0" tIns="0" rIns="0" bIns="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44F40"/>
                      </a:solidFill>
                      <a:effectLst/>
                      <a:uLnTx/>
                      <a:uFillTx/>
                      <a:latin typeface="Arial" panose="020B0604020202020204"/>
                      <a:ea typeface="+mn-ea"/>
                      <a:cs typeface="+mn-cs"/>
                    </a:rPr>
                    <a:t>vs FF/VI </a:t>
                  </a:r>
                </a:p>
              </p:txBody>
            </p:sp>
            <p:sp>
              <p:nvSpPr>
                <p:cNvPr id="75" name="Rectangle 74">
                  <a:extLst>
                    <a:ext uri="{FF2B5EF4-FFF2-40B4-BE49-F238E27FC236}">
                      <a16:creationId xmlns:a16="http://schemas.microsoft.com/office/drawing/2014/main" id="{E393BF0B-B83C-42E3-AEB1-4F944A3D16A3}"/>
                    </a:ext>
                  </a:extLst>
                </p:cNvPr>
                <p:cNvSpPr/>
                <p:nvPr/>
              </p:nvSpPr>
              <p:spPr>
                <a:xfrm>
                  <a:off x="709293" y="3165265"/>
                  <a:ext cx="1046761" cy="215444"/>
                </a:xfrm>
                <a:prstGeom prst="rect">
                  <a:avLst/>
                </a:prstGeom>
              </p:spPr>
              <p:txBody>
                <a:bodyPr wrap="none" lIns="0" tIns="0" rIns="0" bIns="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44F40"/>
                      </a:solidFill>
                      <a:effectLst/>
                      <a:uLnTx/>
                      <a:uFillTx/>
                      <a:latin typeface="Arial" panose="020B0604020202020204"/>
                      <a:ea typeface="+mn-ea"/>
                      <a:cs typeface="+mn-cs"/>
                    </a:rPr>
                    <a:t>vs UMEC/VI </a:t>
                  </a:r>
                </a:p>
              </p:txBody>
            </p:sp>
            <p:sp>
              <p:nvSpPr>
                <p:cNvPr id="76" name="Arrow: Down 308">
                  <a:extLst>
                    <a:ext uri="{FF2B5EF4-FFF2-40B4-BE49-F238E27FC236}">
                      <a16:creationId xmlns:a16="http://schemas.microsoft.com/office/drawing/2014/main" id="{3742F3F4-5121-4FF8-B1F4-034E8845DEEB}"/>
                    </a:ext>
                  </a:extLst>
                </p:cNvPr>
                <p:cNvSpPr/>
                <p:nvPr/>
              </p:nvSpPr>
              <p:spPr>
                <a:xfrm flipV="1">
                  <a:off x="2797898" y="2685764"/>
                  <a:ext cx="585382" cy="364010"/>
                </a:xfrm>
                <a:prstGeom prst="downArrow">
                  <a:avLst>
                    <a:gd name="adj1" fmla="val 52559"/>
                    <a:gd name="adj2" fmla="val 50000"/>
                  </a:avLst>
                </a:prstGeom>
                <a:solidFill>
                  <a:srgbClr val="544F4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cxnSp>
              <p:nvCxnSpPr>
                <p:cNvPr id="77" name="Straight Connector 76"/>
                <p:cNvCxnSpPr/>
                <p:nvPr/>
              </p:nvCxnSpPr>
              <p:spPr>
                <a:xfrm>
                  <a:off x="2112720" y="2295525"/>
                  <a:ext cx="0" cy="1048672"/>
                </a:xfrm>
                <a:prstGeom prst="line">
                  <a:avLst/>
                </a:prstGeom>
                <a:ln>
                  <a:solidFill>
                    <a:srgbClr val="008A00"/>
                  </a:solidFill>
                </a:ln>
              </p:spPr>
              <p:style>
                <a:lnRef idx="1">
                  <a:schemeClr val="accent1"/>
                </a:lnRef>
                <a:fillRef idx="0">
                  <a:schemeClr val="accent1"/>
                </a:fillRef>
                <a:effectRef idx="0">
                  <a:schemeClr val="accent1"/>
                </a:effectRef>
                <a:fontRef idx="minor">
                  <a:schemeClr val="tx1"/>
                </a:fontRef>
              </p:style>
            </p:cxnSp>
          </p:grpSp>
          <p:grpSp>
            <p:nvGrpSpPr>
              <p:cNvPr id="10" name="Group 9"/>
              <p:cNvGrpSpPr/>
              <p:nvPr/>
            </p:nvGrpSpPr>
            <p:grpSpPr>
              <a:xfrm>
                <a:off x="471156" y="3466592"/>
                <a:ext cx="3314700" cy="344771"/>
                <a:chOff x="471156" y="3466592"/>
                <a:chExt cx="3314700" cy="344771"/>
              </a:xfrm>
            </p:grpSpPr>
            <p:sp>
              <p:nvSpPr>
                <p:cNvPr id="104" name="Rounded Rectangle 103">
                  <a:extLst>
                    <a:ext uri="{FF2B5EF4-FFF2-40B4-BE49-F238E27FC236}">
                      <a16:creationId xmlns:a16="http://schemas.microsoft.com/office/drawing/2014/main" id="{2EC6E4A5-B345-4A1D-99BF-683C71D2BD62}"/>
                    </a:ext>
                  </a:extLst>
                </p:cNvPr>
                <p:cNvSpPr/>
                <p:nvPr/>
              </p:nvSpPr>
              <p:spPr>
                <a:xfrm>
                  <a:off x="471156" y="3504896"/>
                  <a:ext cx="3291840" cy="306467"/>
                </a:xfrm>
                <a:prstGeom prst="roundRect">
                  <a:avLst>
                    <a:gd name="adj" fmla="val 50000"/>
                  </a:avLst>
                </a:prstGeom>
                <a:solidFill>
                  <a:srgbClr val="008A00"/>
                </a:solidFill>
                <a:ln w="3175">
                  <a:solidFill>
                    <a:srgbClr val="008A00"/>
                  </a:solidFill>
                </a:ln>
              </p:spPr>
              <p:txBody>
                <a:bodyPr wrap="square" lIns="91440" tIns="45720" rIns="91440" bIns="4572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15717D"/>
                    </a:solidFill>
                    <a:effectLst/>
                    <a:uLnTx/>
                    <a:uFillTx/>
                    <a:latin typeface="Arial" panose="020B0604020202020204"/>
                    <a:ea typeface="+mn-ea"/>
                    <a:cs typeface="+mn-cs"/>
                  </a:endParaRPr>
                </a:p>
              </p:txBody>
            </p:sp>
            <p:sp>
              <p:nvSpPr>
                <p:cNvPr id="45" name="Rounded Rectangle 44">
                  <a:extLst>
                    <a:ext uri="{FF2B5EF4-FFF2-40B4-BE49-F238E27FC236}">
                      <a16:creationId xmlns:a16="http://schemas.microsoft.com/office/drawing/2014/main" id="{2EC6E4A5-B345-4A1D-99BF-683C71D2BD62}"/>
                    </a:ext>
                  </a:extLst>
                </p:cNvPr>
                <p:cNvSpPr/>
                <p:nvPr/>
              </p:nvSpPr>
              <p:spPr>
                <a:xfrm>
                  <a:off x="494016" y="3466592"/>
                  <a:ext cx="3291840" cy="306467"/>
                </a:xfrm>
                <a:prstGeom prst="roundRect">
                  <a:avLst>
                    <a:gd name="adj" fmla="val 50000"/>
                  </a:avLst>
                </a:prstGeom>
                <a:solidFill>
                  <a:schemeClr val="bg1"/>
                </a:solidFill>
                <a:ln w="3175">
                  <a:solidFill>
                    <a:srgbClr val="008A00"/>
                  </a:solidFill>
                </a:ln>
              </p:spPr>
              <p:txBody>
                <a:bodyPr wrap="square" lIns="91440" tIns="45720" rIns="91440" bIns="4572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8A00"/>
                      </a:solidFill>
                      <a:effectLst/>
                      <a:uLnTx/>
                      <a:uFillTx/>
                      <a:latin typeface="Arial" panose="020B0604020202020204"/>
                      <a:ea typeface="+mn-ea"/>
                      <a:cs typeface="+mn-cs"/>
                    </a:rPr>
                    <a:t>Improved lung function*</a:t>
                  </a:r>
                </a:p>
              </p:txBody>
            </p:sp>
          </p:grpSp>
        </p:grpSp>
        <p:grpSp>
          <p:nvGrpSpPr>
            <p:cNvPr id="13" name="Group 12"/>
            <p:cNvGrpSpPr/>
            <p:nvPr/>
          </p:nvGrpSpPr>
          <p:grpSpPr>
            <a:xfrm>
              <a:off x="6257926" y="3466591"/>
              <a:ext cx="5513832" cy="2019808"/>
              <a:chOff x="6257926" y="3466591"/>
              <a:chExt cx="5513832" cy="2019808"/>
            </a:xfrm>
          </p:grpSpPr>
          <p:sp>
            <p:nvSpPr>
              <p:cNvPr id="53" name="Rounded Rectangle 52"/>
              <p:cNvSpPr/>
              <p:nvPr/>
            </p:nvSpPr>
            <p:spPr>
              <a:xfrm>
                <a:off x="6257926" y="3623062"/>
                <a:ext cx="5513832" cy="1863337"/>
              </a:xfrm>
              <a:prstGeom prst="roundRect">
                <a:avLst>
                  <a:gd name="adj" fmla="val 7592"/>
                </a:avLst>
              </a:prstGeom>
              <a:solidFill>
                <a:srgbClr val="FDF5E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87" name="Group 86"/>
              <p:cNvGrpSpPr/>
              <p:nvPr/>
            </p:nvGrpSpPr>
            <p:grpSpPr>
              <a:xfrm>
                <a:off x="8327244" y="3898078"/>
                <a:ext cx="3435608" cy="1446721"/>
                <a:chOff x="354819" y="1933988"/>
                <a:chExt cx="3435608" cy="1446721"/>
              </a:xfrm>
            </p:grpSpPr>
            <p:sp>
              <p:nvSpPr>
                <p:cNvPr id="88" name="Rectangle 87">
                  <a:extLst>
                    <a:ext uri="{FF2B5EF4-FFF2-40B4-BE49-F238E27FC236}">
                      <a16:creationId xmlns:a16="http://schemas.microsoft.com/office/drawing/2014/main" id="{6FB88434-D57F-430C-940C-AAC6A514B798}"/>
                    </a:ext>
                  </a:extLst>
                </p:cNvPr>
                <p:cNvSpPr/>
                <p:nvPr/>
              </p:nvSpPr>
              <p:spPr>
                <a:xfrm>
                  <a:off x="354819" y="1933988"/>
                  <a:ext cx="3435608" cy="184666"/>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44F40"/>
                      </a:solidFill>
                      <a:effectLst/>
                      <a:uLnTx/>
                      <a:uFillTx/>
                      <a:latin typeface="Arial" panose="020B0604020202020204"/>
                      <a:ea typeface="+mn-ea"/>
                      <a:cs typeface="+mn-cs"/>
                    </a:rPr>
                    <a:t>Annual rate of severe (hospitalised) exacerbations</a:t>
                  </a:r>
                  <a:endParaRPr kumimoji="0" lang="en-GB" sz="12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89" name="Rectangle 88">
                  <a:extLst>
                    <a:ext uri="{FF2B5EF4-FFF2-40B4-BE49-F238E27FC236}">
                      <a16:creationId xmlns:a16="http://schemas.microsoft.com/office/drawing/2014/main" id="{05BE9B8B-CC6B-4988-B8E2-82C0CCAA714D}"/>
                    </a:ext>
                  </a:extLst>
                </p:cNvPr>
                <p:cNvSpPr/>
                <p:nvPr/>
              </p:nvSpPr>
              <p:spPr>
                <a:xfrm rot="10800000" flipV="1">
                  <a:off x="772611" y="2169866"/>
                  <a:ext cx="920124" cy="430887"/>
                </a:xfrm>
                <a:prstGeom prst="rect">
                  <a:avLst/>
                </a:prstGeom>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l-GR" sz="2800" b="1" i="0" u="none" strike="noStrike" kern="1200" cap="none" spc="0" normalizeH="0" baseline="0" noProof="0" dirty="0">
                      <a:ln>
                        <a:noFill/>
                      </a:ln>
                      <a:solidFill>
                        <a:srgbClr val="E49B13"/>
                      </a:solidFill>
                      <a:effectLst/>
                      <a:uLnTx/>
                      <a:uFillTx/>
                      <a:latin typeface="Arial" panose="020B0604020202020204"/>
                      <a:ea typeface="+mn-ea"/>
                      <a:cs typeface="+mn-cs"/>
                    </a:rPr>
                    <a:t>–34%</a:t>
                  </a:r>
                </a:p>
              </p:txBody>
            </p:sp>
            <p:sp>
              <p:nvSpPr>
                <p:cNvPr id="90" name="Rectangle 89">
                  <a:extLst>
                    <a:ext uri="{FF2B5EF4-FFF2-40B4-BE49-F238E27FC236}">
                      <a16:creationId xmlns:a16="http://schemas.microsoft.com/office/drawing/2014/main" id="{C545EEDE-7120-4987-AE6B-789827241AA2}"/>
                    </a:ext>
                  </a:extLst>
                </p:cNvPr>
                <p:cNvSpPr/>
                <p:nvPr/>
              </p:nvSpPr>
              <p:spPr>
                <a:xfrm rot="10800000" flipV="1">
                  <a:off x="2630527" y="2169866"/>
                  <a:ext cx="920124" cy="430887"/>
                </a:xfrm>
                <a:prstGeom prst="rect">
                  <a:avLst/>
                </a:prstGeom>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l-GR" sz="2800" b="1" i="0" u="none" strike="noStrike" kern="1200" cap="none" spc="0" normalizeH="0" baseline="0" noProof="0" dirty="0">
                      <a:ln>
                        <a:noFill/>
                      </a:ln>
                      <a:solidFill>
                        <a:srgbClr val="E49B13"/>
                      </a:solidFill>
                      <a:effectLst/>
                      <a:uLnTx/>
                      <a:uFillTx/>
                      <a:latin typeface="Arial" panose="020B0604020202020204"/>
                      <a:ea typeface="+mn-ea"/>
                      <a:cs typeface="+mn-cs"/>
                    </a:rPr>
                    <a:t>–13%</a:t>
                  </a:r>
                </a:p>
              </p:txBody>
            </p:sp>
            <p:sp>
              <p:nvSpPr>
                <p:cNvPr id="91" name="Arrow: Down 308">
                  <a:extLst>
                    <a:ext uri="{FF2B5EF4-FFF2-40B4-BE49-F238E27FC236}">
                      <a16:creationId xmlns:a16="http://schemas.microsoft.com/office/drawing/2014/main" id="{3742F3F4-5121-4FF8-B1F4-034E8845DEEB}"/>
                    </a:ext>
                  </a:extLst>
                </p:cNvPr>
                <p:cNvSpPr/>
                <p:nvPr/>
              </p:nvSpPr>
              <p:spPr>
                <a:xfrm>
                  <a:off x="939982" y="2701004"/>
                  <a:ext cx="585382" cy="364010"/>
                </a:xfrm>
                <a:prstGeom prst="downArrow">
                  <a:avLst>
                    <a:gd name="adj1" fmla="val 52559"/>
                    <a:gd name="adj2" fmla="val 50000"/>
                  </a:avLst>
                </a:prstGeom>
                <a:solidFill>
                  <a:srgbClr val="544F40"/>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92" name="Rectangle 91">
                  <a:extLst>
                    <a:ext uri="{FF2B5EF4-FFF2-40B4-BE49-F238E27FC236}">
                      <a16:creationId xmlns:a16="http://schemas.microsoft.com/office/drawing/2014/main" id="{AA948699-5394-44D7-9739-D86F91E44B37}"/>
                    </a:ext>
                  </a:extLst>
                </p:cNvPr>
                <p:cNvSpPr/>
                <p:nvPr/>
              </p:nvSpPr>
              <p:spPr>
                <a:xfrm>
                  <a:off x="2722700" y="3165265"/>
                  <a:ext cx="735779" cy="215444"/>
                </a:xfrm>
                <a:prstGeom prst="rect">
                  <a:avLst/>
                </a:prstGeom>
              </p:spPr>
              <p:txBody>
                <a:bodyPr wrap="none" lIns="0" tIns="0" rIns="0" bIns="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44F40"/>
                      </a:solidFill>
                      <a:effectLst/>
                      <a:uLnTx/>
                      <a:uFillTx/>
                      <a:latin typeface="Arial" panose="020B0604020202020204"/>
                      <a:ea typeface="+mn-ea"/>
                      <a:cs typeface="+mn-cs"/>
                    </a:rPr>
                    <a:t>vs FF/VI </a:t>
                  </a:r>
                </a:p>
              </p:txBody>
            </p:sp>
            <p:sp>
              <p:nvSpPr>
                <p:cNvPr id="93" name="Rectangle 92">
                  <a:extLst>
                    <a:ext uri="{FF2B5EF4-FFF2-40B4-BE49-F238E27FC236}">
                      <a16:creationId xmlns:a16="http://schemas.microsoft.com/office/drawing/2014/main" id="{E393BF0B-B83C-42E3-AEB1-4F944A3D16A3}"/>
                    </a:ext>
                  </a:extLst>
                </p:cNvPr>
                <p:cNvSpPr/>
                <p:nvPr/>
              </p:nvSpPr>
              <p:spPr>
                <a:xfrm>
                  <a:off x="709293" y="3165265"/>
                  <a:ext cx="1046761" cy="215444"/>
                </a:xfrm>
                <a:prstGeom prst="rect">
                  <a:avLst/>
                </a:prstGeom>
              </p:spPr>
              <p:txBody>
                <a:bodyPr wrap="none" lIns="0" tIns="0" rIns="0" bIns="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44F40"/>
                      </a:solidFill>
                      <a:effectLst/>
                      <a:uLnTx/>
                      <a:uFillTx/>
                      <a:latin typeface="Arial" panose="020B0604020202020204"/>
                      <a:ea typeface="+mn-ea"/>
                      <a:cs typeface="+mn-cs"/>
                    </a:rPr>
                    <a:t>vs UMEC/VI </a:t>
                  </a:r>
                </a:p>
              </p:txBody>
            </p:sp>
            <p:sp>
              <p:nvSpPr>
                <p:cNvPr id="94" name="Arrow: Down 308">
                  <a:extLst>
                    <a:ext uri="{FF2B5EF4-FFF2-40B4-BE49-F238E27FC236}">
                      <a16:creationId xmlns:a16="http://schemas.microsoft.com/office/drawing/2014/main" id="{3742F3F4-5121-4FF8-B1F4-034E8845DEEB}"/>
                    </a:ext>
                  </a:extLst>
                </p:cNvPr>
                <p:cNvSpPr/>
                <p:nvPr/>
              </p:nvSpPr>
              <p:spPr>
                <a:xfrm>
                  <a:off x="2797898" y="2701004"/>
                  <a:ext cx="585382" cy="364010"/>
                </a:xfrm>
                <a:prstGeom prst="downArrow">
                  <a:avLst>
                    <a:gd name="adj1" fmla="val 52559"/>
                    <a:gd name="adj2" fmla="val 50000"/>
                  </a:avLst>
                </a:prstGeom>
                <a:solidFill>
                  <a:srgbClr val="544F40"/>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cxnSp>
              <p:nvCxnSpPr>
                <p:cNvPr id="95" name="Straight Connector 94"/>
                <p:cNvCxnSpPr/>
                <p:nvPr/>
              </p:nvCxnSpPr>
              <p:spPr>
                <a:xfrm>
                  <a:off x="2112720" y="2295525"/>
                  <a:ext cx="0" cy="1048672"/>
                </a:xfrm>
                <a:prstGeom prst="line">
                  <a:avLst/>
                </a:prstGeom>
                <a:ln>
                  <a:solidFill>
                    <a:srgbClr val="E49B13"/>
                  </a:solidFill>
                </a:ln>
              </p:spPr>
              <p:style>
                <a:lnRef idx="1">
                  <a:schemeClr val="accent1"/>
                </a:lnRef>
                <a:fillRef idx="0">
                  <a:schemeClr val="accent1"/>
                </a:fillRef>
                <a:effectRef idx="0">
                  <a:schemeClr val="accent1"/>
                </a:effectRef>
                <a:fontRef idx="minor">
                  <a:schemeClr val="tx1"/>
                </a:fontRef>
              </p:style>
            </p:cxnSp>
          </p:grpSp>
          <p:grpSp>
            <p:nvGrpSpPr>
              <p:cNvPr id="9" name="Group 8"/>
              <p:cNvGrpSpPr/>
              <p:nvPr/>
            </p:nvGrpSpPr>
            <p:grpSpPr>
              <a:xfrm>
                <a:off x="8405272" y="3466591"/>
                <a:ext cx="3317155" cy="344772"/>
                <a:chOff x="8405272" y="3466591"/>
                <a:chExt cx="3317155" cy="344772"/>
              </a:xfrm>
            </p:grpSpPr>
            <p:sp>
              <p:nvSpPr>
                <p:cNvPr id="112" name="Rounded Rectangle 111">
                  <a:extLst>
                    <a:ext uri="{FF2B5EF4-FFF2-40B4-BE49-F238E27FC236}">
                      <a16:creationId xmlns:a16="http://schemas.microsoft.com/office/drawing/2014/main" id="{2EC6E4A5-B345-4A1D-99BF-683C71D2BD62}"/>
                    </a:ext>
                  </a:extLst>
                </p:cNvPr>
                <p:cNvSpPr/>
                <p:nvPr/>
              </p:nvSpPr>
              <p:spPr>
                <a:xfrm>
                  <a:off x="8430587" y="3504896"/>
                  <a:ext cx="3291840" cy="306467"/>
                </a:xfrm>
                <a:prstGeom prst="roundRect">
                  <a:avLst>
                    <a:gd name="adj" fmla="val 50000"/>
                  </a:avLst>
                </a:prstGeom>
                <a:solidFill>
                  <a:srgbClr val="E49B13"/>
                </a:solidFill>
                <a:ln w="3175">
                  <a:solidFill>
                    <a:srgbClr val="E49B13"/>
                  </a:solidFill>
                </a:ln>
              </p:spPr>
              <p:txBody>
                <a:bodyPr wrap="square" lIns="91440" tIns="45720" rIns="91440" bIns="4572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15717D"/>
                    </a:solidFill>
                    <a:effectLst/>
                    <a:uLnTx/>
                    <a:uFillTx/>
                    <a:latin typeface="Arial" panose="020B0604020202020204"/>
                    <a:ea typeface="+mn-ea"/>
                    <a:cs typeface="+mn-cs"/>
                  </a:endParaRPr>
                </a:p>
              </p:txBody>
            </p:sp>
            <p:sp>
              <p:nvSpPr>
                <p:cNvPr id="46" name="Rounded Rectangle 45">
                  <a:extLst>
                    <a:ext uri="{FF2B5EF4-FFF2-40B4-BE49-F238E27FC236}">
                      <a16:creationId xmlns:a16="http://schemas.microsoft.com/office/drawing/2014/main" id="{2EC6E4A5-B345-4A1D-99BF-683C71D2BD62}"/>
                    </a:ext>
                  </a:extLst>
                </p:cNvPr>
                <p:cNvSpPr/>
                <p:nvPr/>
              </p:nvSpPr>
              <p:spPr>
                <a:xfrm>
                  <a:off x="8405272" y="3466591"/>
                  <a:ext cx="3291840" cy="306467"/>
                </a:xfrm>
                <a:prstGeom prst="roundRect">
                  <a:avLst>
                    <a:gd name="adj" fmla="val 50000"/>
                  </a:avLst>
                </a:prstGeom>
                <a:solidFill>
                  <a:schemeClr val="bg1"/>
                </a:solidFill>
                <a:ln w="3175">
                  <a:solidFill>
                    <a:srgbClr val="E49B13"/>
                  </a:solidFill>
                </a:ln>
              </p:spPr>
              <p:txBody>
                <a:bodyPr wrap="square" lIns="91440" tIns="45720" rIns="91440" bIns="4572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E49B13"/>
                      </a:solidFill>
                      <a:effectLst/>
                      <a:uLnTx/>
                      <a:uFillTx/>
                      <a:latin typeface="Arial" panose="020B0604020202020204"/>
                      <a:ea typeface="+mn-ea"/>
                      <a:cs typeface="+mn-cs"/>
                    </a:rPr>
                    <a:t>Reduced hospitalisations</a:t>
                  </a:r>
                  <a:r>
                    <a:rPr kumimoji="0" lang="en-GB" sz="1200" b="1" i="0" u="none" strike="noStrike" kern="1200" cap="none" spc="0" normalizeH="0" baseline="30000" noProof="0" dirty="0">
                      <a:ln>
                        <a:noFill/>
                      </a:ln>
                      <a:solidFill>
                        <a:srgbClr val="E49B13"/>
                      </a:solidFill>
                      <a:effectLst/>
                      <a:uLnTx/>
                      <a:uFillTx/>
                      <a:latin typeface="Arial" panose="020B0604020202020204"/>
                      <a:ea typeface="+mn-ea"/>
                      <a:cs typeface="+mn-cs"/>
                    </a:rPr>
                    <a:t>#§</a:t>
                  </a:r>
                </a:p>
              </p:txBody>
            </p:sp>
          </p:grpSp>
        </p:grpSp>
        <p:grpSp>
          <p:nvGrpSpPr>
            <p:cNvPr id="12" name="Group 11"/>
            <p:cNvGrpSpPr/>
            <p:nvPr/>
          </p:nvGrpSpPr>
          <p:grpSpPr>
            <a:xfrm>
              <a:off x="6257926" y="1304621"/>
              <a:ext cx="5513832" cy="2026409"/>
              <a:chOff x="6257926" y="1304621"/>
              <a:chExt cx="5513832" cy="2026409"/>
            </a:xfrm>
          </p:grpSpPr>
          <p:sp>
            <p:nvSpPr>
              <p:cNvPr id="52" name="Rounded Rectangle 51"/>
              <p:cNvSpPr/>
              <p:nvPr/>
            </p:nvSpPr>
            <p:spPr>
              <a:xfrm>
                <a:off x="6257926" y="1440734"/>
                <a:ext cx="5513832" cy="1890296"/>
              </a:xfrm>
              <a:prstGeom prst="roundRect">
                <a:avLst>
                  <a:gd name="adj" fmla="val 7338"/>
                </a:avLst>
              </a:prstGeom>
              <a:solidFill>
                <a:srgbClr val="EEEF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78" name="Group 77"/>
              <p:cNvGrpSpPr/>
              <p:nvPr/>
            </p:nvGrpSpPr>
            <p:grpSpPr>
              <a:xfrm>
                <a:off x="8555844" y="1728709"/>
                <a:ext cx="3131331" cy="1446721"/>
                <a:chOff x="583419" y="1933988"/>
                <a:chExt cx="3131331" cy="1446721"/>
              </a:xfrm>
            </p:grpSpPr>
            <p:sp>
              <p:nvSpPr>
                <p:cNvPr id="79" name="Rectangle 78">
                  <a:extLst>
                    <a:ext uri="{FF2B5EF4-FFF2-40B4-BE49-F238E27FC236}">
                      <a16:creationId xmlns:a16="http://schemas.microsoft.com/office/drawing/2014/main" id="{6FB88434-D57F-430C-940C-AAC6A514B798}"/>
                    </a:ext>
                  </a:extLst>
                </p:cNvPr>
                <p:cNvSpPr/>
                <p:nvPr/>
              </p:nvSpPr>
              <p:spPr>
                <a:xfrm>
                  <a:off x="583419" y="1933988"/>
                  <a:ext cx="3131331" cy="184666"/>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44F40"/>
                      </a:solidFill>
                      <a:effectLst/>
                      <a:uLnTx/>
                      <a:uFillTx/>
                      <a:latin typeface="Arial" panose="020B0604020202020204"/>
                      <a:ea typeface="+mn-ea"/>
                      <a:cs typeface="+mn-cs"/>
                    </a:rPr>
                    <a:t>Annual rate of moderate/severe exacerbations</a:t>
                  </a:r>
                </a:p>
              </p:txBody>
            </p:sp>
            <p:sp>
              <p:nvSpPr>
                <p:cNvPr id="80" name="Rectangle 79">
                  <a:extLst>
                    <a:ext uri="{FF2B5EF4-FFF2-40B4-BE49-F238E27FC236}">
                      <a16:creationId xmlns:a16="http://schemas.microsoft.com/office/drawing/2014/main" id="{05BE9B8B-CC6B-4988-B8E2-82C0CCAA714D}"/>
                    </a:ext>
                  </a:extLst>
                </p:cNvPr>
                <p:cNvSpPr/>
                <p:nvPr/>
              </p:nvSpPr>
              <p:spPr>
                <a:xfrm rot="10800000" flipV="1">
                  <a:off x="772611" y="2169866"/>
                  <a:ext cx="920124" cy="430887"/>
                </a:xfrm>
                <a:prstGeom prst="rect">
                  <a:avLst/>
                </a:prstGeom>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l-GR" sz="2800" b="1" i="0" u="none" strike="noStrike" kern="1200" cap="none" spc="0" normalizeH="0" baseline="0" noProof="0" dirty="0">
                      <a:ln>
                        <a:noFill/>
                      </a:ln>
                      <a:solidFill>
                        <a:srgbClr val="40488D"/>
                      </a:solidFill>
                      <a:effectLst/>
                      <a:uLnTx/>
                      <a:uFillTx/>
                      <a:latin typeface="Arial" panose="020B0604020202020204"/>
                      <a:ea typeface="+mn-ea"/>
                      <a:cs typeface="+mn-cs"/>
                    </a:rPr>
                    <a:t>–25%</a:t>
                  </a:r>
                </a:p>
              </p:txBody>
            </p:sp>
            <p:sp>
              <p:nvSpPr>
                <p:cNvPr id="81" name="Rectangle 80">
                  <a:extLst>
                    <a:ext uri="{FF2B5EF4-FFF2-40B4-BE49-F238E27FC236}">
                      <a16:creationId xmlns:a16="http://schemas.microsoft.com/office/drawing/2014/main" id="{C545EEDE-7120-4987-AE6B-789827241AA2}"/>
                    </a:ext>
                  </a:extLst>
                </p:cNvPr>
                <p:cNvSpPr/>
                <p:nvPr/>
              </p:nvSpPr>
              <p:spPr>
                <a:xfrm rot="10800000" flipV="1">
                  <a:off x="2630527" y="2169866"/>
                  <a:ext cx="920124" cy="430887"/>
                </a:xfrm>
                <a:prstGeom prst="rect">
                  <a:avLst/>
                </a:prstGeom>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l-GR" sz="2800" b="1" i="0" u="none" strike="noStrike" kern="1200" cap="none" spc="0" normalizeH="0" baseline="0" noProof="0" dirty="0">
                      <a:ln>
                        <a:noFill/>
                      </a:ln>
                      <a:solidFill>
                        <a:srgbClr val="40488D"/>
                      </a:solidFill>
                      <a:effectLst/>
                      <a:uLnTx/>
                      <a:uFillTx/>
                      <a:latin typeface="Arial" panose="020B0604020202020204"/>
                      <a:ea typeface="+mn-ea"/>
                      <a:cs typeface="+mn-cs"/>
                    </a:rPr>
                    <a:t>–15%</a:t>
                  </a:r>
                </a:p>
              </p:txBody>
            </p:sp>
            <p:sp>
              <p:nvSpPr>
                <p:cNvPr id="82" name="Arrow: Down 308">
                  <a:extLst>
                    <a:ext uri="{FF2B5EF4-FFF2-40B4-BE49-F238E27FC236}">
                      <a16:creationId xmlns:a16="http://schemas.microsoft.com/office/drawing/2014/main" id="{3742F3F4-5121-4FF8-B1F4-034E8845DEEB}"/>
                    </a:ext>
                  </a:extLst>
                </p:cNvPr>
                <p:cNvSpPr/>
                <p:nvPr/>
              </p:nvSpPr>
              <p:spPr>
                <a:xfrm>
                  <a:off x="939982" y="2701004"/>
                  <a:ext cx="585382" cy="364010"/>
                </a:xfrm>
                <a:prstGeom prst="downArrow">
                  <a:avLst>
                    <a:gd name="adj1" fmla="val 52559"/>
                    <a:gd name="adj2" fmla="val 50000"/>
                  </a:avLst>
                </a:prstGeom>
                <a:solidFill>
                  <a:srgbClr val="544F40"/>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83" name="Rectangle 82">
                  <a:extLst>
                    <a:ext uri="{FF2B5EF4-FFF2-40B4-BE49-F238E27FC236}">
                      <a16:creationId xmlns:a16="http://schemas.microsoft.com/office/drawing/2014/main" id="{AA948699-5394-44D7-9739-D86F91E44B37}"/>
                    </a:ext>
                  </a:extLst>
                </p:cNvPr>
                <p:cNvSpPr/>
                <p:nvPr/>
              </p:nvSpPr>
              <p:spPr>
                <a:xfrm>
                  <a:off x="2722700" y="3165265"/>
                  <a:ext cx="735779" cy="215444"/>
                </a:xfrm>
                <a:prstGeom prst="rect">
                  <a:avLst/>
                </a:prstGeom>
              </p:spPr>
              <p:txBody>
                <a:bodyPr wrap="none" lIns="0" tIns="0" rIns="0" bIns="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44F40"/>
                      </a:solidFill>
                      <a:effectLst/>
                      <a:uLnTx/>
                      <a:uFillTx/>
                      <a:latin typeface="Arial" panose="020B0604020202020204"/>
                      <a:ea typeface="+mn-ea"/>
                      <a:cs typeface="+mn-cs"/>
                    </a:rPr>
                    <a:t>vs FF/VI </a:t>
                  </a:r>
                </a:p>
              </p:txBody>
            </p:sp>
            <p:sp>
              <p:nvSpPr>
                <p:cNvPr id="84" name="Rectangle 83">
                  <a:extLst>
                    <a:ext uri="{FF2B5EF4-FFF2-40B4-BE49-F238E27FC236}">
                      <a16:creationId xmlns:a16="http://schemas.microsoft.com/office/drawing/2014/main" id="{E393BF0B-B83C-42E3-AEB1-4F944A3D16A3}"/>
                    </a:ext>
                  </a:extLst>
                </p:cNvPr>
                <p:cNvSpPr/>
                <p:nvPr/>
              </p:nvSpPr>
              <p:spPr>
                <a:xfrm>
                  <a:off x="709293" y="3165265"/>
                  <a:ext cx="1046761" cy="215444"/>
                </a:xfrm>
                <a:prstGeom prst="rect">
                  <a:avLst/>
                </a:prstGeom>
              </p:spPr>
              <p:txBody>
                <a:bodyPr wrap="none" lIns="0" tIns="0" rIns="0" bIns="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44F40"/>
                      </a:solidFill>
                      <a:effectLst/>
                      <a:uLnTx/>
                      <a:uFillTx/>
                      <a:latin typeface="Arial" panose="020B0604020202020204"/>
                      <a:ea typeface="+mn-ea"/>
                      <a:cs typeface="+mn-cs"/>
                    </a:rPr>
                    <a:t>vs UMEC/VI </a:t>
                  </a:r>
                </a:p>
              </p:txBody>
            </p:sp>
            <p:sp>
              <p:nvSpPr>
                <p:cNvPr id="85" name="Arrow: Down 308">
                  <a:extLst>
                    <a:ext uri="{FF2B5EF4-FFF2-40B4-BE49-F238E27FC236}">
                      <a16:creationId xmlns:a16="http://schemas.microsoft.com/office/drawing/2014/main" id="{3742F3F4-5121-4FF8-B1F4-034E8845DEEB}"/>
                    </a:ext>
                  </a:extLst>
                </p:cNvPr>
                <p:cNvSpPr/>
                <p:nvPr/>
              </p:nvSpPr>
              <p:spPr>
                <a:xfrm>
                  <a:off x="2797898" y="2701004"/>
                  <a:ext cx="585382" cy="364010"/>
                </a:xfrm>
                <a:prstGeom prst="downArrow">
                  <a:avLst>
                    <a:gd name="adj1" fmla="val 52559"/>
                    <a:gd name="adj2" fmla="val 50000"/>
                  </a:avLst>
                </a:prstGeom>
                <a:solidFill>
                  <a:srgbClr val="544F40"/>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cxnSp>
              <p:nvCxnSpPr>
                <p:cNvPr id="86" name="Straight Connector 85"/>
                <p:cNvCxnSpPr/>
                <p:nvPr/>
              </p:nvCxnSpPr>
              <p:spPr>
                <a:xfrm>
                  <a:off x="2112720" y="2295525"/>
                  <a:ext cx="0" cy="1048672"/>
                </a:xfrm>
                <a:prstGeom prst="line">
                  <a:avLst/>
                </a:prstGeom>
                <a:ln>
                  <a:solidFill>
                    <a:srgbClr val="40488D"/>
                  </a:solidFill>
                </a:ln>
              </p:spPr>
              <p:style>
                <a:lnRef idx="1">
                  <a:schemeClr val="accent1"/>
                </a:lnRef>
                <a:fillRef idx="0">
                  <a:schemeClr val="accent1"/>
                </a:fillRef>
                <a:effectRef idx="0">
                  <a:schemeClr val="accent1"/>
                </a:effectRef>
                <a:fontRef idx="minor">
                  <a:schemeClr val="tx1"/>
                </a:fontRef>
              </p:style>
            </p:cxnSp>
          </p:grpSp>
          <p:grpSp>
            <p:nvGrpSpPr>
              <p:cNvPr id="7" name="Group 6"/>
              <p:cNvGrpSpPr/>
              <p:nvPr/>
            </p:nvGrpSpPr>
            <p:grpSpPr>
              <a:xfrm>
                <a:off x="8405272" y="1304621"/>
                <a:ext cx="3317155" cy="344567"/>
                <a:chOff x="8405272" y="1304621"/>
                <a:chExt cx="3317155" cy="344567"/>
              </a:xfrm>
            </p:grpSpPr>
            <p:sp>
              <p:nvSpPr>
                <p:cNvPr id="111" name="Rounded Rectangle 110">
                  <a:extLst>
                    <a:ext uri="{FF2B5EF4-FFF2-40B4-BE49-F238E27FC236}">
                      <a16:creationId xmlns:a16="http://schemas.microsoft.com/office/drawing/2014/main" id="{2EC6E4A5-B345-4A1D-99BF-683C71D2BD62}"/>
                    </a:ext>
                  </a:extLst>
                </p:cNvPr>
                <p:cNvSpPr/>
                <p:nvPr/>
              </p:nvSpPr>
              <p:spPr>
                <a:xfrm>
                  <a:off x="8430587" y="1342721"/>
                  <a:ext cx="3291840" cy="306467"/>
                </a:xfrm>
                <a:prstGeom prst="roundRect">
                  <a:avLst>
                    <a:gd name="adj" fmla="val 50000"/>
                  </a:avLst>
                </a:prstGeom>
                <a:solidFill>
                  <a:srgbClr val="40488D"/>
                </a:solidFill>
                <a:ln w="3175">
                  <a:solidFill>
                    <a:srgbClr val="40488D"/>
                  </a:solidFill>
                </a:ln>
              </p:spPr>
              <p:txBody>
                <a:bodyPr wrap="square" lIns="91440" tIns="45720" rIns="91440" bIns="4572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15717D"/>
                    </a:solidFill>
                    <a:effectLst/>
                    <a:uLnTx/>
                    <a:uFillTx/>
                    <a:latin typeface="Arial" panose="020B0604020202020204"/>
                    <a:ea typeface="+mn-ea"/>
                    <a:cs typeface="+mn-cs"/>
                  </a:endParaRPr>
                </a:p>
              </p:txBody>
            </p:sp>
            <p:sp>
              <p:nvSpPr>
                <p:cNvPr id="44" name="Rounded Rectangle 43">
                  <a:extLst>
                    <a:ext uri="{FF2B5EF4-FFF2-40B4-BE49-F238E27FC236}">
                      <a16:creationId xmlns:a16="http://schemas.microsoft.com/office/drawing/2014/main" id="{2EC6E4A5-B345-4A1D-99BF-683C71D2BD62}"/>
                    </a:ext>
                  </a:extLst>
                </p:cNvPr>
                <p:cNvSpPr/>
                <p:nvPr/>
              </p:nvSpPr>
              <p:spPr>
                <a:xfrm>
                  <a:off x="8405272" y="1304621"/>
                  <a:ext cx="3291840" cy="306467"/>
                </a:xfrm>
                <a:prstGeom prst="roundRect">
                  <a:avLst>
                    <a:gd name="adj" fmla="val 50000"/>
                  </a:avLst>
                </a:prstGeom>
                <a:solidFill>
                  <a:schemeClr val="bg1"/>
                </a:solidFill>
                <a:ln w="3175">
                  <a:solidFill>
                    <a:srgbClr val="40488D"/>
                  </a:solidFill>
                </a:ln>
              </p:spPr>
              <p:txBody>
                <a:bodyPr wrap="square" lIns="91440" tIns="45720" rIns="91440" bIns="4572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40488D"/>
                      </a:solidFill>
                      <a:effectLst/>
                      <a:uLnTx/>
                      <a:uFillTx/>
                      <a:latin typeface="Arial" panose="020B0604020202020204"/>
                      <a:ea typeface="+mn-ea"/>
                      <a:cs typeface="+mn-cs"/>
                    </a:rPr>
                    <a:t>Reduced exacerbations*</a:t>
                  </a:r>
                  <a:r>
                    <a:rPr kumimoji="0" lang="en-GB" sz="1200" b="1" i="0" u="none" strike="noStrike" kern="1200" cap="none" spc="0" normalizeH="0" baseline="30000" noProof="0" dirty="0">
                      <a:ln>
                        <a:noFill/>
                      </a:ln>
                      <a:solidFill>
                        <a:srgbClr val="40488D"/>
                      </a:solidFill>
                      <a:effectLst/>
                      <a:uLnTx/>
                      <a:uFillTx/>
                      <a:latin typeface="Arial" panose="020B0604020202020204"/>
                      <a:ea typeface="+mn-ea"/>
                      <a:cs typeface="+mn-cs"/>
                    </a:rPr>
                    <a:t>‡</a:t>
                  </a:r>
                </a:p>
              </p:txBody>
            </p:sp>
          </p:grpSp>
        </p:grpSp>
        <p:grpSp>
          <p:nvGrpSpPr>
            <p:cNvPr id="11" name="Group 10"/>
            <p:cNvGrpSpPr/>
            <p:nvPr/>
          </p:nvGrpSpPr>
          <p:grpSpPr>
            <a:xfrm>
              <a:off x="428700" y="1304621"/>
              <a:ext cx="5514900" cy="2025635"/>
              <a:chOff x="428700" y="1304621"/>
              <a:chExt cx="5514900" cy="2025635"/>
            </a:xfrm>
          </p:grpSpPr>
          <p:sp>
            <p:nvSpPr>
              <p:cNvPr id="20" name="Rounded Rectangle 19"/>
              <p:cNvSpPr/>
              <p:nvPr/>
            </p:nvSpPr>
            <p:spPr>
              <a:xfrm>
                <a:off x="428700" y="1440733"/>
                <a:ext cx="5514900" cy="1889523"/>
              </a:xfrm>
              <a:prstGeom prst="roundRect">
                <a:avLst>
                  <a:gd name="adj" fmla="val 7146"/>
                </a:avLst>
              </a:prstGeom>
              <a:solidFill>
                <a:srgbClr val="E5F8F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47" name="Group 46"/>
              <p:cNvGrpSpPr/>
              <p:nvPr/>
            </p:nvGrpSpPr>
            <p:grpSpPr>
              <a:xfrm>
                <a:off x="734909" y="1719184"/>
                <a:ext cx="3015285" cy="1456246"/>
                <a:chOff x="653989" y="1924463"/>
                <a:chExt cx="3015285" cy="1456246"/>
              </a:xfrm>
            </p:grpSpPr>
            <p:sp>
              <p:nvSpPr>
                <p:cNvPr id="48" name="Rectangle 47">
                  <a:extLst>
                    <a:ext uri="{FF2B5EF4-FFF2-40B4-BE49-F238E27FC236}">
                      <a16:creationId xmlns:a16="http://schemas.microsoft.com/office/drawing/2014/main" id="{6FB88434-D57F-430C-940C-AAC6A514B798}"/>
                    </a:ext>
                  </a:extLst>
                </p:cNvPr>
                <p:cNvSpPr/>
                <p:nvPr/>
              </p:nvSpPr>
              <p:spPr>
                <a:xfrm>
                  <a:off x="669144" y="1924463"/>
                  <a:ext cx="2467805" cy="184666"/>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544F40"/>
                      </a:solidFill>
                      <a:effectLst/>
                      <a:uLnTx/>
                      <a:uFillTx/>
                      <a:latin typeface="Arial" panose="020B0604020202020204"/>
                      <a:ea typeface="+mn-ea"/>
                      <a:cs typeface="+mn-cs"/>
                    </a:rPr>
                    <a:t>LS mean CFB in SGRQ total score</a:t>
                  </a:r>
                </a:p>
              </p:txBody>
            </p:sp>
            <p:sp>
              <p:nvSpPr>
                <p:cNvPr id="49" name="Rectangle 48">
                  <a:extLst>
                    <a:ext uri="{FF2B5EF4-FFF2-40B4-BE49-F238E27FC236}">
                      <a16:creationId xmlns:a16="http://schemas.microsoft.com/office/drawing/2014/main" id="{05BE9B8B-CC6B-4988-B8E2-82C0CCAA714D}"/>
                    </a:ext>
                  </a:extLst>
                </p:cNvPr>
                <p:cNvSpPr/>
                <p:nvPr/>
              </p:nvSpPr>
              <p:spPr>
                <a:xfrm rot="10800000" flipV="1">
                  <a:off x="653989" y="2169866"/>
                  <a:ext cx="1157369" cy="430887"/>
                </a:xfrm>
                <a:prstGeom prst="rect">
                  <a:avLst/>
                </a:prstGeom>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l-GR" sz="2800" b="1" i="0" u="none" strike="noStrike" kern="1200" cap="none" spc="0" normalizeH="0" baseline="0" noProof="0" dirty="0">
                      <a:ln>
                        <a:noFill/>
                      </a:ln>
                      <a:solidFill>
                        <a:srgbClr val="15717D"/>
                      </a:solidFill>
                      <a:effectLst/>
                      <a:uLnTx/>
                      <a:uFillTx/>
                      <a:latin typeface="Arial" panose="020B0604020202020204"/>
                      <a:ea typeface="+mn-ea"/>
                      <a:cs typeface="+mn-cs"/>
                    </a:rPr>
                    <a:t>Δ</a:t>
                  </a:r>
                  <a:r>
                    <a:rPr kumimoji="0" lang="en-GB" sz="2800" b="1" i="0" u="none" strike="noStrike" kern="1200" cap="none" spc="0" normalizeH="0" baseline="0" noProof="0" dirty="0">
                      <a:ln>
                        <a:noFill/>
                      </a:ln>
                      <a:solidFill>
                        <a:srgbClr val="15717D"/>
                      </a:solidFill>
                      <a:effectLst/>
                      <a:uLnTx/>
                      <a:uFillTx/>
                      <a:latin typeface="Arial" panose="020B0604020202020204"/>
                      <a:ea typeface="+mn-ea"/>
                      <a:cs typeface="+mn-cs"/>
                    </a:rPr>
                    <a:t> –1.8</a:t>
                  </a:r>
                  <a:r>
                    <a:rPr kumimoji="0" lang="en-GB" sz="2800" b="0" i="0" u="none" strike="noStrike" kern="1200" cap="none" spc="0" normalizeH="0" baseline="0" noProof="0" dirty="0">
                      <a:ln>
                        <a:noFill/>
                      </a:ln>
                      <a:solidFill>
                        <a:srgbClr val="15717D"/>
                      </a:solidFill>
                      <a:effectLst/>
                      <a:uLnTx/>
                      <a:uFillTx/>
                      <a:latin typeface="Arial" panose="020B0604020202020204"/>
                      <a:ea typeface="+mn-ea"/>
                      <a:cs typeface="+mn-cs"/>
                    </a:rPr>
                    <a:t> </a:t>
                  </a:r>
                </a:p>
              </p:txBody>
            </p:sp>
            <p:sp>
              <p:nvSpPr>
                <p:cNvPr id="50" name="Rectangle 49">
                  <a:extLst>
                    <a:ext uri="{FF2B5EF4-FFF2-40B4-BE49-F238E27FC236}">
                      <a16:creationId xmlns:a16="http://schemas.microsoft.com/office/drawing/2014/main" id="{C545EEDE-7120-4987-AE6B-789827241AA2}"/>
                    </a:ext>
                  </a:extLst>
                </p:cNvPr>
                <p:cNvSpPr/>
                <p:nvPr/>
              </p:nvSpPr>
              <p:spPr>
                <a:xfrm rot="10800000" flipV="1">
                  <a:off x="2511905" y="2169866"/>
                  <a:ext cx="1157369" cy="430887"/>
                </a:xfrm>
                <a:prstGeom prst="rect">
                  <a:avLst/>
                </a:prstGeom>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l-GR" sz="2800" b="1" i="0" u="none" strike="noStrike" kern="1200" cap="none" spc="0" normalizeH="0" baseline="0" noProof="0" dirty="0">
                      <a:ln>
                        <a:noFill/>
                      </a:ln>
                      <a:solidFill>
                        <a:srgbClr val="15717D"/>
                      </a:solidFill>
                      <a:effectLst/>
                      <a:uLnTx/>
                      <a:uFillTx/>
                      <a:latin typeface="Arial" panose="020B0604020202020204"/>
                      <a:ea typeface="+mn-ea"/>
                      <a:cs typeface="+mn-cs"/>
                    </a:rPr>
                    <a:t>Δ</a:t>
                  </a:r>
                  <a:r>
                    <a:rPr kumimoji="0" lang="en-GB" sz="2800" b="1" i="0" u="none" strike="noStrike" kern="1200" cap="none" spc="0" normalizeH="0" baseline="0" noProof="0" dirty="0">
                      <a:ln>
                        <a:noFill/>
                      </a:ln>
                      <a:solidFill>
                        <a:srgbClr val="15717D"/>
                      </a:solidFill>
                      <a:effectLst/>
                      <a:uLnTx/>
                      <a:uFillTx/>
                      <a:latin typeface="Arial" panose="020B0604020202020204"/>
                      <a:ea typeface="+mn-ea"/>
                      <a:cs typeface="+mn-cs"/>
                    </a:rPr>
                    <a:t> –1.8</a:t>
                  </a:r>
                  <a:r>
                    <a:rPr kumimoji="0" lang="en-GB" sz="2800" b="0" i="0" u="none" strike="noStrike" kern="1200" cap="none" spc="0" normalizeH="0" baseline="0" noProof="0" dirty="0">
                      <a:ln>
                        <a:noFill/>
                      </a:ln>
                      <a:solidFill>
                        <a:srgbClr val="15717D"/>
                      </a:solidFill>
                      <a:effectLst/>
                      <a:uLnTx/>
                      <a:uFillTx/>
                      <a:latin typeface="Arial" panose="020B0604020202020204"/>
                      <a:ea typeface="+mn-ea"/>
                      <a:cs typeface="+mn-cs"/>
                    </a:rPr>
                    <a:t> </a:t>
                  </a:r>
                </a:p>
              </p:txBody>
            </p:sp>
            <p:sp>
              <p:nvSpPr>
                <p:cNvPr id="55" name="Arrow: Down 308">
                  <a:extLst>
                    <a:ext uri="{FF2B5EF4-FFF2-40B4-BE49-F238E27FC236}">
                      <a16:creationId xmlns:a16="http://schemas.microsoft.com/office/drawing/2014/main" id="{3742F3F4-5121-4FF8-B1F4-034E8845DEEB}"/>
                    </a:ext>
                  </a:extLst>
                </p:cNvPr>
                <p:cNvSpPr/>
                <p:nvPr/>
              </p:nvSpPr>
              <p:spPr>
                <a:xfrm>
                  <a:off x="939982" y="2701004"/>
                  <a:ext cx="585382" cy="364010"/>
                </a:xfrm>
                <a:prstGeom prst="downArrow">
                  <a:avLst>
                    <a:gd name="adj1" fmla="val 52559"/>
                    <a:gd name="adj2" fmla="val 50000"/>
                  </a:avLst>
                </a:prstGeom>
                <a:solidFill>
                  <a:srgbClr val="544F40"/>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65" name="Rectangle 64">
                  <a:extLst>
                    <a:ext uri="{FF2B5EF4-FFF2-40B4-BE49-F238E27FC236}">
                      <a16:creationId xmlns:a16="http://schemas.microsoft.com/office/drawing/2014/main" id="{AA948699-5394-44D7-9739-D86F91E44B37}"/>
                    </a:ext>
                  </a:extLst>
                </p:cNvPr>
                <p:cNvSpPr/>
                <p:nvPr/>
              </p:nvSpPr>
              <p:spPr>
                <a:xfrm>
                  <a:off x="2722700" y="3165265"/>
                  <a:ext cx="735779" cy="215444"/>
                </a:xfrm>
                <a:prstGeom prst="rect">
                  <a:avLst/>
                </a:prstGeom>
              </p:spPr>
              <p:txBody>
                <a:bodyPr wrap="none" lIns="0" tIns="0" rIns="0" bIns="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44F40"/>
                      </a:solidFill>
                      <a:effectLst/>
                      <a:uLnTx/>
                      <a:uFillTx/>
                      <a:latin typeface="Arial" panose="020B0604020202020204"/>
                      <a:ea typeface="+mn-ea"/>
                      <a:cs typeface="+mn-cs"/>
                    </a:rPr>
                    <a:t>vs FF/VI </a:t>
                  </a:r>
                </a:p>
              </p:txBody>
            </p:sp>
            <p:sp>
              <p:nvSpPr>
                <p:cNvPr id="66" name="Rectangle 65">
                  <a:extLst>
                    <a:ext uri="{FF2B5EF4-FFF2-40B4-BE49-F238E27FC236}">
                      <a16:creationId xmlns:a16="http://schemas.microsoft.com/office/drawing/2014/main" id="{E393BF0B-B83C-42E3-AEB1-4F944A3D16A3}"/>
                    </a:ext>
                  </a:extLst>
                </p:cNvPr>
                <p:cNvSpPr/>
                <p:nvPr/>
              </p:nvSpPr>
              <p:spPr>
                <a:xfrm>
                  <a:off x="709293" y="3165265"/>
                  <a:ext cx="1046761" cy="215444"/>
                </a:xfrm>
                <a:prstGeom prst="rect">
                  <a:avLst/>
                </a:prstGeom>
              </p:spPr>
              <p:txBody>
                <a:bodyPr wrap="none" lIns="0" tIns="0" rIns="0" bIns="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44F40"/>
                      </a:solidFill>
                      <a:effectLst/>
                      <a:uLnTx/>
                      <a:uFillTx/>
                      <a:latin typeface="Arial" panose="020B0604020202020204"/>
                      <a:ea typeface="+mn-ea"/>
                      <a:cs typeface="+mn-cs"/>
                    </a:rPr>
                    <a:t>vs UMEC/VI </a:t>
                  </a:r>
                </a:p>
              </p:txBody>
            </p:sp>
            <p:sp>
              <p:nvSpPr>
                <p:cNvPr id="67" name="Arrow: Down 308">
                  <a:extLst>
                    <a:ext uri="{FF2B5EF4-FFF2-40B4-BE49-F238E27FC236}">
                      <a16:creationId xmlns:a16="http://schemas.microsoft.com/office/drawing/2014/main" id="{3742F3F4-5121-4FF8-B1F4-034E8845DEEB}"/>
                    </a:ext>
                  </a:extLst>
                </p:cNvPr>
                <p:cNvSpPr/>
                <p:nvPr/>
              </p:nvSpPr>
              <p:spPr>
                <a:xfrm>
                  <a:off x="2797898" y="2701004"/>
                  <a:ext cx="585382" cy="364010"/>
                </a:xfrm>
                <a:prstGeom prst="downArrow">
                  <a:avLst>
                    <a:gd name="adj1" fmla="val 52559"/>
                    <a:gd name="adj2" fmla="val 50000"/>
                  </a:avLst>
                </a:prstGeom>
                <a:solidFill>
                  <a:srgbClr val="544F40"/>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cxnSp>
              <p:nvCxnSpPr>
                <p:cNvPr id="33" name="Straight Connector 32"/>
                <p:cNvCxnSpPr/>
                <p:nvPr/>
              </p:nvCxnSpPr>
              <p:spPr>
                <a:xfrm>
                  <a:off x="2112720" y="2295525"/>
                  <a:ext cx="0" cy="1048672"/>
                </a:xfrm>
                <a:prstGeom prst="line">
                  <a:avLst/>
                </a:prstGeom>
                <a:ln>
                  <a:solidFill>
                    <a:srgbClr val="15717D"/>
                  </a:solidFill>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471156" y="1304621"/>
                <a:ext cx="3314700" cy="344567"/>
                <a:chOff x="471156" y="1304621"/>
                <a:chExt cx="3314700" cy="344567"/>
              </a:xfrm>
            </p:grpSpPr>
            <p:sp>
              <p:nvSpPr>
                <p:cNvPr id="103" name="Rounded Rectangle 102">
                  <a:extLst>
                    <a:ext uri="{FF2B5EF4-FFF2-40B4-BE49-F238E27FC236}">
                      <a16:creationId xmlns:a16="http://schemas.microsoft.com/office/drawing/2014/main" id="{2EC6E4A5-B345-4A1D-99BF-683C71D2BD62}"/>
                    </a:ext>
                  </a:extLst>
                </p:cNvPr>
                <p:cNvSpPr/>
                <p:nvPr/>
              </p:nvSpPr>
              <p:spPr>
                <a:xfrm>
                  <a:off x="471156" y="1342721"/>
                  <a:ext cx="3291840" cy="306467"/>
                </a:xfrm>
                <a:prstGeom prst="roundRect">
                  <a:avLst>
                    <a:gd name="adj" fmla="val 50000"/>
                  </a:avLst>
                </a:prstGeom>
                <a:solidFill>
                  <a:srgbClr val="15717D"/>
                </a:solidFill>
                <a:ln w="3175">
                  <a:solidFill>
                    <a:srgbClr val="15717D"/>
                  </a:solidFill>
                </a:ln>
              </p:spPr>
              <p:txBody>
                <a:bodyPr wrap="square" lIns="91440" tIns="45720" rIns="91440" bIns="4572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15717D"/>
                    </a:solidFill>
                    <a:effectLst/>
                    <a:uLnTx/>
                    <a:uFillTx/>
                    <a:latin typeface="Arial" panose="020B0604020202020204"/>
                    <a:ea typeface="+mn-ea"/>
                    <a:cs typeface="+mn-cs"/>
                  </a:endParaRPr>
                </a:p>
              </p:txBody>
            </p:sp>
            <p:sp>
              <p:nvSpPr>
                <p:cNvPr id="43" name="Rounded Rectangle 42">
                  <a:extLst>
                    <a:ext uri="{FF2B5EF4-FFF2-40B4-BE49-F238E27FC236}">
                      <a16:creationId xmlns:a16="http://schemas.microsoft.com/office/drawing/2014/main" id="{2EC6E4A5-B345-4A1D-99BF-683C71D2BD62}"/>
                    </a:ext>
                  </a:extLst>
                </p:cNvPr>
                <p:cNvSpPr/>
                <p:nvPr/>
              </p:nvSpPr>
              <p:spPr>
                <a:xfrm>
                  <a:off x="494016" y="1304621"/>
                  <a:ext cx="3291840" cy="306467"/>
                </a:xfrm>
                <a:prstGeom prst="roundRect">
                  <a:avLst>
                    <a:gd name="adj" fmla="val 50000"/>
                  </a:avLst>
                </a:prstGeom>
                <a:solidFill>
                  <a:schemeClr val="bg1"/>
                </a:solidFill>
                <a:ln w="3175">
                  <a:solidFill>
                    <a:srgbClr val="15717D"/>
                  </a:solidFill>
                </a:ln>
              </p:spPr>
              <p:txBody>
                <a:bodyPr wrap="square" lIns="91440" tIns="45720" rIns="91440" bIns="4572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15717D"/>
                      </a:solidFill>
                      <a:effectLst/>
                      <a:uLnTx/>
                      <a:uFillTx/>
                      <a:latin typeface="Arial" panose="020B0604020202020204"/>
                      <a:ea typeface="+mn-ea"/>
                      <a:cs typeface="+mn-cs"/>
                    </a:rPr>
                    <a:t>Improved health-related quality of life*</a:t>
                  </a:r>
                </a:p>
              </p:txBody>
            </p:sp>
          </p:grpSp>
        </p:grpSp>
        <p:grpSp>
          <p:nvGrpSpPr>
            <p:cNvPr id="5" name="Group 4"/>
            <p:cNvGrpSpPr/>
            <p:nvPr/>
          </p:nvGrpSpPr>
          <p:grpSpPr>
            <a:xfrm>
              <a:off x="3951533" y="1317383"/>
              <a:ext cx="4288934" cy="4285566"/>
              <a:chOff x="4081319" y="1504208"/>
              <a:chExt cx="4044950" cy="4041774"/>
            </a:xfrm>
          </p:grpSpPr>
          <p:sp>
            <p:nvSpPr>
              <p:cNvPr id="31" name="Oval 30"/>
              <p:cNvSpPr/>
              <p:nvPr/>
            </p:nvSpPr>
            <p:spPr>
              <a:xfrm>
                <a:off x="4644738" y="2066039"/>
                <a:ext cx="2918112" cy="291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27" name="Group 26"/>
              <p:cNvGrpSpPr/>
              <p:nvPr/>
            </p:nvGrpSpPr>
            <p:grpSpPr>
              <a:xfrm>
                <a:off x="4081319" y="1504208"/>
                <a:ext cx="4044950" cy="4041774"/>
                <a:chOff x="8334414" y="1175276"/>
                <a:chExt cx="4044950" cy="4041774"/>
              </a:xfrm>
            </p:grpSpPr>
            <p:sp>
              <p:nvSpPr>
                <p:cNvPr id="14" name="Freeform 5"/>
                <p:cNvSpPr>
                  <a:spLocks/>
                </p:cNvSpPr>
                <p:nvPr/>
              </p:nvSpPr>
              <p:spPr bwMode="auto">
                <a:xfrm>
                  <a:off x="10356889" y="1175276"/>
                  <a:ext cx="2022475" cy="2020887"/>
                </a:xfrm>
                <a:custGeom>
                  <a:avLst/>
                  <a:gdLst>
                    <a:gd name="T0" fmla="*/ 0 w 3374"/>
                    <a:gd name="T1" fmla="*/ 0 h 3373"/>
                    <a:gd name="T2" fmla="*/ 3374 w 3374"/>
                    <a:gd name="T3" fmla="*/ 3373 h 3373"/>
                    <a:gd name="T4" fmla="*/ 2362 w 3374"/>
                    <a:gd name="T5" fmla="*/ 3373 h 3373"/>
                    <a:gd name="T6" fmla="*/ 0 w 3374"/>
                    <a:gd name="T7" fmla="*/ 1012 h 3373"/>
                    <a:gd name="T8" fmla="*/ 0 w 3374"/>
                    <a:gd name="T9" fmla="*/ 0 h 3373"/>
                  </a:gdLst>
                  <a:ahLst/>
                  <a:cxnLst>
                    <a:cxn ang="0">
                      <a:pos x="T0" y="T1"/>
                    </a:cxn>
                    <a:cxn ang="0">
                      <a:pos x="T2" y="T3"/>
                    </a:cxn>
                    <a:cxn ang="0">
                      <a:pos x="T4" y="T5"/>
                    </a:cxn>
                    <a:cxn ang="0">
                      <a:pos x="T6" y="T7"/>
                    </a:cxn>
                    <a:cxn ang="0">
                      <a:pos x="T8" y="T9"/>
                    </a:cxn>
                  </a:cxnLst>
                  <a:rect l="0" t="0" r="r" b="b"/>
                  <a:pathLst>
                    <a:path w="3374" h="3373">
                      <a:moveTo>
                        <a:pt x="0" y="0"/>
                      </a:moveTo>
                      <a:cubicBezTo>
                        <a:pt x="1864" y="0"/>
                        <a:pt x="3374" y="1510"/>
                        <a:pt x="3374" y="3373"/>
                      </a:cubicBezTo>
                      <a:lnTo>
                        <a:pt x="2362" y="3373"/>
                      </a:lnTo>
                      <a:cubicBezTo>
                        <a:pt x="2362" y="2069"/>
                        <a:pt x="1305" y="1012"/>
                        <a:pt x="0" y="1012"/>
                      </a:cubicBezTo>
                      <a:lnTo>
                        <a:pt x="0" y="0"/>
                      </a:lnTo>
                      <a:close/>
                    </a:path>
                  </a:pathLst>
                </a:custGeom>
                <a:solidFill>
                  <a:srgbClr val="40488D"/>
                </a:solidFill>
                <a:ln w="635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21" name="Freeform 7"/>
                <p:cNvSpPr>
                  <a:spLocks/>
                </p:cNvSpPr>
                <p:nvPr/>
              </p:nvSpPr>
              <p:spPr bwMode="auto">
                <a:xfrm>
                  <a:off x="10356889" y="3196163"/>
                  <a:ext cx="2022475" cy="2020887"/>
                </a:xfrm>
                <a:custGeom>
                  <a:avLst/>
                  <a:gdLst>
                    <a:gd name="T0" fmla="*/ 3374 w 3374"/>
                    <a:gd name="T1" fmla="*/ 0 h 3374"/>
                    <a:gd name="T2" fmla="*/ 0 w 3374"/>
                    <a:gd name="T3" fmla="*/ 3374 h 3374"/>
                    <a:gd name="T4" fmla="*/ 0 w 3374"/>
                    <a:gd name="T5" fmla="*/ 2362 h 3374"/>
                    <a:gd name="T6" fmla="*/ 2362 w 3374"/>
                    <a:gd name="T7" fmla="*/ 0 h 3374"/>
                    <a:gd name="T8" fmla="*/ 3374 w 3374"/>
                    <a:gd name="T9" fmla="*/ 0 h 3374"/>
                  </a:gdLst>
                  <a:ahLst/>
                  <a:cxnLst>
                    <a:cxn ang="0">
                      <a:pos x="T0" y="T1"/>
                    </a:cxn>
                    <a:cxn ang="0">
                      <a:pos x="T2" y="T3"/>
                    </a:cxn>
                    <a:cxn ang="0">
                      <a:pos x="T4" y="T5"/>
                    </a:cxn>
                    <a:cxn ang="0">
                      <a:pos x="T6" y="T7"/>
                    </a:cxn>
                    <a:cxn ang="0">
                      <a:pos x="T8" y="T9"/>
                    </a:cxn>
                  </a:cxnLst>
                  <a:rect l="0" t="0" r="r" b="b"/>
                  <a:pathLst>
                    <a:path w="3374" h="3374">
                      <a:moveTo>
                        <a:pt x="3374" y="0"/>
                      </a:moveTo>
                      <a:cubicBezTo>
                        <a:pt x="3374" y="1864"/>
                        <a:pt x="1864" y="3374"/>
                        <a:pt x="0" y="3374"/>
                      </a:cubicBezTo>
                      <a:lnTo>
                        <a:pt x="0" y="2362"/>
                      </a:lnTo>
                      <a:cubicBezTo>
                        <a:pt x="1305" y="2362"/>
                        <a:pt x="2362" y="1305"/>
                        <a:pt x="2362" y="0"/>
                      </a:cubicBezTo>
                      <a:lnTo>
                        <a:pt x="3374" y="0"/>
                      </a:lnTo>
                      <a:close/>
                    </a:path>
                  </a:pathLst>
                </a:custGeom>
                <a:solidFill>
                  <a:srgbClr val="E49B13"/>
                </a:solidFill>
                <a:ln w="635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23" name="Freeform 9"/>
                <p:cNvSpPr>
                  <a:spLocks/>
                </p:cNvSpPr>
                <p:nvPr/>
              </p:nvSpPr>
              <p:spPr bwMode="auto">
                <a:xfrm>
                  <a:off x="8334414" y="3196163"/>
                  <a:ext cx="2022475" cy="2020887"/>
                </a:xfrm>
                <a:custGeom>
                  <a:avLst/>
                  <a:gdLst>
                    <a:gd name="T0" fmla="*/ 3373 w 3373"/>
                    <a:gd name="T1" fmla="*/ 3374 h 3374"/>
                    <a:gd name="T2" fmla="*/ 0 w 3373"/>
                    <a:gd name="T3" fmla="*/ 0 h 3374"/>
                    <a:gd name="T4" fmla="*/ 1012 w 3373"/>
                    <a:gd name="T5" fmla="*/ 0 h 3374"/>
                    <a:gd name="T6" fmla="*/ 3373 w 3373"/>
                    <a:gd name="T7" fmla="*/ 2362 h 3374"/>
                    <a:gd name="T8" fmla="*/ 3373 w 3373"/>
                    <a:gd name="T9" fmla="*/ 3374 h 3374"/>
                  </a:gdLst>
                  <a:ahLst/>
                  <a:cxnLst>
                    <a:cxn ang="0">
                      <a:pos x="T0" y="T1"/>
                    </a:cxn>
                    <a:cxn ang="0">
                      <a:pos x="T2" y="T3"/>
                    </a:cxn>
                    <a:cxn ang="0">
                      <a:pos x="T4" y="T5"/>
                    </a:cxn>
                    <a:cxn ang="0">
                      <a:pos x="T6" y="T7"/>
                    </a:cxn>
                    <a:cxn ang="0">
                      <a:pos x="T8" y="T9"/>
                    </a:cxn>
                  </a:cxnLst>
                  <a:rect l="0" t="0" r="r" b="b"/>
                  <a:pathLst>
                    <a:path w="3373" h="3374">
                      <a:moveTo>
                        <a:pt x="3373" y="3374"/>
                      </a:moveTo>
                      <a:cubicBezTo>
                        <a:pt x="1510" y="3374"/>
                        <a:pt x="0" y="1864"/>
                        <a:pt x="0" y="0"/>
                      </a:cubicBezTo>
                      <a:lnTo>
                        <a:pt x="1012" y="0"/>
                      </a:lnTo>
                      <a:cubicBezTo>
                        <a:pt x="1012" y="1305"/>
                        <a:pt x="2069" y="2362"/>
                        <a:pt x="3373" y="2362"/>
                      </a:cubicBezTo>
                      <a:lnTo>
                        <a:pt x="3373" y="3374"/>
                      </a:lnTo>
                      <a:close/>
                    </a:path>
                  </a:pathLst>
                </a:custGeom>
                <a:solidFill>
                  <a:srgbClr val="008A00"/>
                </a:solidFill>
                <a:ln w="635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25" name="Freeform 11"/>
                <p:cNvSpPr>
                  <a:spLocks/>
                </p:cNvSpPr>
                <p:nvPr/>
              </p:nvSpPr>
              <p:spPr bwMode="auto">
                <a:xfrm>
                  <a:off x="8334414" y="1175276"/>
                  <a:ext cx="2022475" cy="2020887"/>
                </a:xfrm>
                <a:custGeom>
                  <a:avLst/>
                  <a:gdLst>
                    <a:gd name="T0" fmla="*/ 0 w 3373"/>
                    <a:gd name="T1" fmla="*/ 3373 h 3373"/>
                    <a:gd name="T2" fmla="*/ 3373 w 3373"/>
                    <a:gd name="T3" fmla="*/ 0 h 3373"/>
                    <a:gd name="T4" fmla="*/ 3373 w 3373"/>
                    <a:gd name="T5" fmla="*/ 1012 h 3373"/>
                    <a:gd name="T6" fmla="*/ 1012 w 3373"/>
                    <a:gd name="T7" fmla="*/ 3373 h 3373"/>
                    <a:gd name="T8" fmla="*/ 0 w 3373"/>
                    <a:gd name="T9" fmla="*/ 3373 h 3373"/>
                  </a:gdLst>
                  <a:ahLst/>
                  <a:cxnLst>
                    <a:cxn ang="0">
                      <a:pos x="T0" y="T1"/>
                    </a:cxn>
                    <a:cxn ang="0">
                      <a:pos x="T2" y="T3"/>
                    </a:cxn>
                    <a:cxn ang="0">
                      <a:pos x="T4" y="T5"/>
                    </a:cxn>
                    <a:cxn ang="0">
                      <a:pos x="T6" y="T7"/>
                    </a:cxn>
                    <a:cxn ang="0">
                      <a:pos x="T8" y="T9"/>
                    </a:cxn>
                  </a:cxnLst>
                  <a:rect l="0" t="0" r="r" b="b"/>
                  <a:pathLst>
                    <a:path w="3373" h="3373">
                      <a:moveTo>
                        <a:pt x="0" y="3373"/>
                      </a:moveTo>
                      <a:cubicBezTo>
                        <a:pt x="0" y="1510"/>
                        <a:pt x="1510" y="0"/>
                        <a:pt x="3373" y="0"/>
                      </a:cubicBezTo>
                      <a:lnTo>
                        <a:pt x="3373" y="1012"/>
                      </a:lnTo>
                      <a:cubicBezTo>
                        <a:pt x="2069" y="1012"/>
                        <a:pt x="1012" y="2069"/>
                        <a:pt x="1012" y="3373"/>
                      </a:cubicBezTo>
                      <a:lnTo>
                        <a:pt x="0" y="3373"/>
                      </a:lnTo>
                      <a:close/>
                    </a:path>
                  </a:pathLst>
                </a:custGeom>
                <a:solidFill>
                  <a:srgbClr val="15717D"/>
                </a:solidFill>
                <a:ln w="635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nvGrpSpPr>
              <p:cNvPr id="19" name="Group 18"/>
              <p:cNvGrpSpPr/>
              <p:nvPr/>
            </p:nvGrpSpPr>
            <p:grpSpPr>
              <a:xfrm>
                <a:off x="4719050" y="2139949"/>
                <a:ext cx="2759076" cy="2759076"/>
                <a:chOff x="10016" y="2145557"/>
                <a:chExt cx="2759076" cy="2759076"/>
              </a:xfrm>
            </p:grpSpPr>
            <p:sp>
              <p:nvSpPr>
                <p:cNvPr id="18" name="Oval 17"/>
                <p:cNvSpPr/>
                <p:nvPr/>
              </p:nvSpPr>
              <p:spPr>
                <a:xfrm>
                  <a:off x="10016" y="2145557"/>
                  <a:ext cx="2759076" cy="2759076"/>
                </a:xfrm>
                <a:prstGeom prst="ellipse">
                  <a:avLst/>
                </a:prstGeom>
                <a:solidFill>
                  <a:schemeClr val="bg1"/>
                </a:solidFill>
                <a:ln w="9525">
                  <a:solidFill>
                    <a:srgbClr val="F3663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9" name="Rectangle 38">
                  <a:extLst>
                    <a:ext uri="{FF2B5EF4-FFF2-40B4-BE49-F238E27FC236}">
                      <a16:creationId xmlns:a16="http://schemas.microsoft.com/office/drawing/2014/main" id="{6CBC41AD-5DB3-4006-956F-3A7929F0A154}"/>
                    </a:ext>
                  </a:extLst>
                </p:cNvPr>
                <p:cNvSpPr/>
                <p:nvPr/>
              </p:nvSpPr>
              <p:spPr>
                <a:xfrm rot="10800000" flipV="1">
                  <a:off x="789230" y="2978372"/>
                  <a:ext cx="1200649" cy="492443"/>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F36633"/>
                      </a:solidFill>
                      <a:effectLst/>
                      <a:uLnTx/>
                      <a:uFillTx/>
                      <a:latin typeface="Arial" panose="020B0604020202020204"/>
                      <a:ea typeface="+mn-ea"/>
                      <a:cs typeface="+mn-cs"/>
                    </a:rPr>
                    <a:t>–42%</a:t>
                  </a:r>
                  <a:r>
                    <a:rPr kumimoji="0" lang="en-GB" sz="3200" b="1" i="0" u="none" strike="noStrike" kern="1200" cap="none" spc="0" normalizeH="0" baseline="30000" noProof="0" dirty="0">
                      <a:ln>
                        <a:noFill/>
                      </a:ln>
                      <a:solidFill>
                        <a:srgbClr val="F36633"/>
                      </a:solidFill>
                      <a:effectLst/>
                      <a:uLnTx/>
                      <a:uFillTx/>
                      <a:latin typeface="Arial" panose="020B0604020202020204" pitchFamily="34" charset="0"/>
                      <a:ea typeface="+mn-ea"/>
                      <a:cs typeface="Arial" panose="020B0604020202020204" pitchFamily="34" charset="0"/>
                    </a:rPr>
                    <a:t>†</a:t>
                  </a:r>
                  <a:endParaRPr kumimoji="0" lang="en-GB" sz="3200" b="0" i="0" u="none" strike="noStrike" kern="1200" cap="none" spc="0" normalizeH="0" baseline="30000" noProof="0" dirty="0">
                    <a:ln>
                      <a:noFill/>
                    </a:ln>
                    <a:solidFill>
                      <a:srgbClr val="F36633"/>
                    </a:solidFill>
                    <a:effectLst/>
                    <a:uLnTx/>
                    <a:uFillTx/>
                    <a:latin typeface="Arial" panose="020B0604020202020204"/>
                    <a:ea typeface="+mn-ea"/>
                    <a:cs typeface="+mn-cs"/>
                  </a:endParaRPr>
                </a:p>
              </p:txBody>
            </p:sp>
            <p:sp>
              <p:nvSpPr>
                <p:cNvPr id="40" name="Rectangle 39">
                  <a:extLst>
                    <a:ext uri="{FF2B5EF4-FFF2-40B4-BE49-F238E27FC236}">
                      <a16:creationId xmlns:a16="http://schemas.microsoft.com/office/drawing/2014/main" id="{39048A2A-8E1F-4E66-8344-C8F825E76963}"/>
                    </a:ext>
                  </a:extLst>
                </p:cNvPr>
                <p:cNvSpPr/>
                <p:nvPr/>
              </p:nvSpPr>
              <p:spPr>
                <a:xfrm>
                  <a:off x="406112" y="3517755"/>
                  <a:ext cx="1966885" cy="246221"/>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544F40"/>
                      </a:solidFill>
                      <a:effectLst/>
                      <a:uLnTx/>
                      <a:uFillTx/>
                      <a:latin typeface="Arial" panose="020B0604020202020204"/>
                      <a:ea typeface="+mn-ea"/>
                      <a:cs typeface="+mn-cs"/>
                    </a:rPr>
                    <a:t>Absolute RR =</a:t>
                  </a:r>
                  <a:r>
                    <a:rPr kumimoji="0" lang="en-GB" sz="1400" b="1" i="0" u="none" strike="noStrike" kern="0" cap="none" spc="0" normalizeH="0" baseline="0" noProof="0" dirty="0">
                      <a:ln>
                        <a:noFill/>
                      </a:ln>
                      <a:solidFill>
                        <a:srgbClr val="544F40"/>
                      </a:solidFill>
                      <a:effectLst/>
                      <a:uLnTx/>
                      <a:uFillTx/>
                      <a:latin typeface="Arial" panose="020B0604020202020204"/>
                      <a:ea typeface="+mn-ea"/>
                      <a:cs typeface="+mn-cs"/>
                    </a:rPr>
                    <a:t> </a:t>
                  </a:r>
                  <a:r>
                    <a:rPr kumimoji="0" lang="en-GB" sz="1600" b="1" i="0" u="none" strike="noStrike" kern="0" cap="none" spc="0" normalizeH="0" baseline="0" noProof="0" dirty="0">
                      <a:ln>
                        <a:noFill/>
                      </a:ln>
                      <a:solidFill>
                        <a:srgbClr val="F36633"/>
                      </a:solidFill>
                      <a:effectLst/>
                      <a:uLnTx/>
                      <a:uFillTx/>
                      <a:latin typeface="Arial" panose="020B0604020202020204"/>
                      <a:ea typeface="+mn-ea"/>
                      <a:cs typeface="+mn-cs"/>
                    </a:rPr>
                    <a:t>0.68%</a:t>
                  </a:r>
                  <a:endParaRPr kumimoji="0" lang="en-GB" sz="1600" b="1"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41" name="Arrow: Down 308">
                  <a:extLst>
                    <a:ext uri="{FF2B5EF4-FFF2-40B4-BE49-F238E27FC236}">
                      <a16:creationId xmlns:a16="http://schemas.microsoft.com/office/drawing/2014/main" id="{3742F3F4-5121-4FF8-B1F4-034E8845DEEB}"/>
                    </a:ext>
                  </a:extLst>
                </p:cNvPr>
                <p:cNvSpPr/>
                <p:nvPr/>
              </p:nvSpPr>
              <p:spPr>
                <a:xfrm>
                  <a:off x="1076514" y="3861341"/>
                  <a:ext cx="626080" cy="364010"/>
                </a:xfrm>
                <a:prstGeom prst="downArrow">
                  <a:avLst>
                    <a:gd name="adj1" fmla="val 52559"/>
                    <a:gd name="adj2" fmla="val 50000"/>
                  </a:avLst>
                </a:prstGeom>
                <a:solidFill>
                  <a:srgbClr val="544F40"/>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42" name="Rectangle 41">
                  <a:extLst>
                    <a:ext uri="{FF2B5EF4-FFF2-40B4-BE49-F238E27FC236}">
                      <a16:creationId xmlns:a16="http://schemas.microsoft.com/office/drawing/2014/main" id="{D93AB997-AD53-4643-8B0E-3FA7F6E250EE}"/>
                    </a:ext>
                  </a:extLst>
                </p:cNvPr>
                <p:cNvSpPr/>
                <p:nvPr/>
              </p:nvSpPr>
              <p:spPr>
                <a:xfrm>
                  <a:off x="778329" y="4269317"/>
                  <a:ext cx="1222450"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20" normalizeH="0" baseline="0" noProof="0" dirty="0">
                      <a:ln>
                        <a:noFill/>
                      </a:ln>
                      <a:solidFill>
                        <a:srgbClr val="544F40"/>
                      </a:solidFill>
                      <a:effectLst/>
                      <a:uLnTx/>
                      <a:uFillTx/>
                      <a:latin typeface="Arial" panose="020B0604020202020204"/>
                      <a:ea typeface="+mn-ea"/>
                      <a:cs typeface="+mn-cs"/>
                    </a:rPr>
                    <a:t>FF/UMEC/VI </a:t>
                  </a:r>
                  <a:br>
                    <a:rPr kumimoji="0" lang="en-GB" sz="1400" b="0" i="0" u="none" strike="noStrike" kern="1200" cap="none" spc="-20" normalizeH="0" baseline="0" noProof="0" dirty="0">
                      <a:ln>
                        <a:noFill/>
                      </a:ln>
                      <a:solidFill>
                        <a:srgbClr val="544F40"/>
                      </a:solidFill>
                      <a:effectLst/>
                      <a:uLnTx/>
                      <a:uFillTx/>
                      <a:latin typeface="Arial" panose="020B0604020202020204"/>
                      <a:ea typeface="+mn-ea"/>
                      <a:cs typeface="+mn-cs"/>
                    </a:rPr>
                  </a:br>
                  <a:r>
                    <a:rPr kumimoji="0" lang="en-GB" sz="1400" b="0" i="0" u="none" strike="noStrike" kern="1200" cap="none" spc="-20" normalizeH="0" baseline="0" noProof="0" dirty="0">
                      <a:ln>
                        <a:noFill/>
                      </a:ln>
                      <a:solidFill>
                        <a:srgbClr val="544F40"/>
                      </a:solidFill>
                      <a:effectLst/>
                      <a:uLnTx/>
                      <a:uFillTx/>
                      <a:latin typeface="Arial" panose="020B0604020202020204"/>
                      <a:ea typeface="+mn-ea"/>
                      <a:cs typeface="+mn-cs"/>
                    </a:rPr>
                    <a:t>vs UMEC/VI </a:t>
                  </a:r>
                </a:p>
              </p:txBody>
            </p:sp>
            <p:sp>
              <p:nvSpPr>
                <p:cNvPr id="38" name="Rectangle 37">
                  <a:extLst>
                    <a:ext uri="{FF2B5EF4-FFF2-40B4-BE49-F238E27FC236}">
                      <a16:creationId xmlns:a16="http://schemas.microsoft.com/office/drawing/2014/main" id="{2E432665-0B7F-47F2-A67C-C4C7CE191609}"/>
                    </a:ext>
                  </a:extLst>
                </p:cNvPr>
                <p:cNvSpPr>
                  <a:spLocks noChangeArrowheads="1"/>
                </p:cNvSpPr>
                <p:nvPr/>
              </p:nvSpPr>
              <p:spPr bwMode="auto">
                <a:xfrm>
                  <a:off x="582181" y="2446906"/>
                  <a:ext cx="1614746" cy="46166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98513" rtl="0" eaLnBrk="0" fontAlgn="auto" latinLnBrk="0" hangingPunct="0">
                    <a:lnSpc>
                      <a:spcPts val="1800"/>
                    </a:lnSpc>
                    <a:spcBef>
                      <a:spcPts val="0"/>
                    </a:spcBef>
                    <a:spcAft>
                      <a:spcPts val="0"/>
                    </a:spcAft>
                    <a:buClrTx/>
                    <a:buSzTx/>
                    <a:buFontTx/>
                    <a:buNone/>
                    <a:tabLst/>
                    <a:defRPr/>
                  </a:pPr>
                  <a:r>
                    <a:rPr kumimoji="0" lang="en-GB" sz="1400" b="1" i="0" u="none" strike="noStrike" kern="0" cap="none" spc="0" normalizeH="0" baseline="0" noProof="0" dirty="0">
                      <a:ln>
                        <a:noFill/>
                      </a:ln>
                      <a:solidFill>
                        <a:srgbClr val="15717D"/>
                      </a:solidFill>
                      <a:effectLst/>
                      <a:uLnTx/>
                      <a:uFillTx/>
                      <a:latin typeface="Arial" panose="020B0604020202020204"/>
                      <a:ea typeface="+mn-ea"/>
                      <a:cs typeface="Arial" charset="0"/>
                    </a:rPr>
                    <a:t>Reduced risk of</a:t>
                  </a:r>
                  <a:br>
                    <a:rPr kumimoji="0" lang="en-GB" sz="1400" b="1" i="0" u="none" strike="noStrike" kern="0" cap="none" spc="0" normalizeH="0" baseline="0" noProof="0" dirty="0">
                      <a:ln>
                        <a:noFill/>
                      </a:ln>
                      <a:solidFill>
                        <a:srgbClr val="15717D"/>
                      </a:solidFill>
                      <a:effectLst/>
                      <a:uLnTx/>
                      <a:uFillTx/>
                      <a:latin typeface="Arial" panose="020B0604020202020204"/>
                      <a:ea typeface="+mn-ea"/>
                      <a:cs typeface="Arial" charset="0"/>
                    </a:rPr>
                  </a:br>
                  <a:r>
                    <a:rPr kumimoji="0" lang="en-GB" sz="1400" b="1" i="0" u="none" strike="noStrike" kern="0" cap="none" spc="0" normalizeH="0" baseline="0" noProof="0" dirty="0">
                      <a:ln>
                        <a:noFill/>
                      </a:ln>
                      <a:solidFill>
                        <a:srgbClr val="15717D"/>
                      </a:solidFill>
                      <a:effectLst/>
                      <a:uLnTx/>
                      <a:uFillTx/>
                      <a:latin typeface="Arial" panose="020B0604020202020204"/>
                      <a:ea typeface="+mn-ea"/>
                      <a:cs typeface="Arial" charset="0"/>
                    </a:rPr>
                    <a:t>all-cause mortality</a:t>
                  </a:r>
                  <a:endParaRPr kumimoji="0" lang="en-GB" sz="1400" b="0" i="0" u="none" strike="noStrike" kern="0" cap="none" spc="0" normalizeH="0" baseline="0" noProof="0" dirty="0">
                    <a:ln>
                      <a:noFill/>
                    </a:ln>
                    <a:solidFill>
                      <a:srgbClr val="15717D"/>
                    </a:solidFill>
                    <a:effectLst/>
                    <a:uLnTx/>
                    <a:uFillTx/>
                    <a:latin typeface="Arial" panose="020B0604020202020204"/>
                    <a:ea typeface="+mn-ea"/>
                    <a:cs typeface="Arial" charset="0"/>
                  </a:endParaRPr>
                </a:p>
              </p:txBody>
            </p:sp>
          </p:grpSp>
          <p:sp>
            <p:nvSpPr>
              <p:cNvPr id="51" name="TextBox 384">
                <a:extLst>
                  <a:ext uri="{FF2B5EF4-FFF2-40B4-BE49-F238E27FC236}">
                    <a16:creationId xmlns:a16="http://schemas.microsoft.com/office/drawing/2014/main" id="{75A622E9-D214-4D07-A12A-62BFF59B2774}"/>
                  </a:ext>
                </a:extLst>
              </p:cNvPr>
              <p:cNvSpPr txBox="1"/>
              <p:nvPr/>
            </p:nvSpPr>
            <p:spPr>
              <a:xfrm rot="18496823">
                <a:off x="4514300" y="2393719"/>
                <a:ext cx="1746222" cy="1239753"/>
              </a:xfrm>
              <a:prstGeom prst="rect">
                <a:avLst/>
              </a:prstGeom>
              <a:noFill/>
            </p:spPr>
            <p:txBody>
              <a:bodyPr spcFirstLastPara="1" wrap="square" lIns="0" tIns="0" rIns="0" bIns="0" numCol="1" rtlCol="0" anchor="ctr">
                <a:prstTxWarp prst="textArchUp">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ts val="1800"/>
                  </a:lnSpc>
                  <a:spcBef>
                    <a:spcPts val="0"/>
                  </a:spcBef>
                  <a:spcAft>
                    <a:spcPts val="900"/>
                  </a:spcAft>
                  <a:buClrTx/>
                  <a:buSzTx/>
                  <a:buFontTx/>
                  <a:buNone/>
                  <a:tabLst/>
                  <a:defRPr/>
                </a:pPr>
                <a:r>
                  <a:rPr kumimoji="0" lang="en-GB" sz="1400" b="1" i="0" u="none" strike="noStrike" kern="1200" cap="none" spc="0" normalizeH="0" baseline="0" noProof="0" dirty="0">
                    <a:ln>
                      <a:noFill/>
                    </a:ln>
                    <a:solidFill>
                      <a:prstClr val="white"/>
                    </a:solidFill>
                    <a:effectLst/>
                    <a:uLnTx/>
                    <a:uFillTx/>
                    <a:latin typeface="Arial" panose="020B0604020202020204"/>
                    <a:ea typeface="+mn-ea"/>
                    <a:cs typeface="+mn-cs"/>
                  </a:rPr>
                  <a:t>Improved </a:t>
                </a:r>
                <a:br>
                  <a:rPr kumimoji="0" lang="en-GB" sz="14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GB" sz="1400" b="1" i="0" u="none" strike="noStrike" kern="1200" cap="none" spc="0" normalizeH="0" baseline="0" noProof="0" dirty="0">
                    <a:ln>
                      <a:noFill/>
                    </a:ln>
                    <a:solidFill>
                      <a:prstClr val="white"/>
                    </a:solidFill>
                    <a:effectLst/>
                    <a:uLnTx/>
                    <a:uFillTx/>
                    <a:latin typeface="Arial" panose="020B0604020202020204"/>
                    <a:ea typeface="+mn-ea"/>
                    <a:cs typeface="+mn-cs"/>
                  </a:rPr>
                  <a:t>quality of life</a:t>
                </a:r>
              </a:p>
            </p:txBody>
          </p:sp>
          <p:sp>
            <p:nvSpPr>
              <p:cNvPr id="56" name="TextBox 386">
                <a:extLst>
                  <a:ext uri="{FF2B5EF4-FFF2-40B4-BE49-F238E27FC236}">
                    <a16:creationId xmlns:a16="http://schemas.microsoft.com/office/drawing/2014/main" id="{D93917E8-907E-44B0-86EF-FF5FBE10EEC5}"/>
                  </a:ext>
                </a:extLst>
              </p:cNvPr>
              <p:cNvSpPr txBox="1"/>
              <p:nvPr/>
            </p:nvSpPr>
            <p:spPr>
              <a:xfrm rot="3246934">
                <a:off x="5949071" y="2374763"/>
                <a:ext cx="1746223" cy="1239753"/>
              </a:xfrm>
              <a:prstGeom prst="rect">
                <a:avLst/>
              </a:prstGeom>
              <a:noFill/>
            </p:spPr>
            <p:txBody>
              <a:bodyPr spcFirstLastPara="1" wrap="square" lIns="0" tIns="0" rIns="0" bIns="0" numCol="1" rtlCol="0" anchor="ctr">
                <a:prstTxWarp prst="textArchUp">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ts val="1800"/>
                  </a:lnSpc>
                  <a:spcBef>
                    <a:spcPts val="0"/>
                  </a:spcBef>
                  <a:spcAft>
                    <a:spcPts val="900"/>
                  </a:spcAft>
                  <a:buClrTx/>
                  <a:buSzTx/>
                  <a:buFontTx/>
                  <a:buNone/>
                  <a:tabLst/>
                  <a:defRPr/>
                </a:pPr>
                <a:r>
                  <a:rPr kumimoji="0" lang="en-GB" sz="1400" b="1" i="0" u="none" strike="noStrike" kern="1200" cap="none" spc="0" normalizeH="0" baseline="0" noProof="0" dirty="0">
                    <a:ln>
                      <a:noFill/>
                    </a:ln>
                    <a:solidFill>
                      <a:prstClr val="white"/>
                    </a:solidFill>
                    <a:effectLst/>
                    <a:uLnTx/>
                    <a:uFillTx/>
                    <a:latin typeface="Arial" panose="020B0604020202020204"/>
                    <a:ea typeface="+mn-ea"/>
                    <a:cs typeface="+mn-cs"/>
                  </a:rPr>
                  <a:t>Reduced </a:t>
                </a:r>
                <a:br>
                  <a:rPr kumimoji="0" lang="en-GB" sz="14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GB" sz="1400" b="1" i="0" u="none" strike="noStrike" kern="1200" cap="none" spc="0" normalizeH="0" baseline="0" noProof="0" dirty="0">
                    <a:ln>
                      <a:noFill/>
                    </a:ln>
                    <a:solidFill>
                      <a:prstClr val="white"/>
                    </a:solidFill>
                    <a:effectLst/>
                    <a:uLnTx/>
                    <a:uFillTx/>
                    <a:latin typeface="Arial" panose="020B0604020202020204"/>
                    <a:ea typeface="+mn-ea"/>
                    <a:cs typeface="+mn-cs"/>
                  </a:rPr>
                  <a:t>exacerbations</a:t>
                </a:r>
              </a:p>
            </p:txBody>
          </p:sp>
          <p:sp>
            <p:nvSpPr>
              <p:cNvPr id="57" name="TextBox 387">
                <a:extLst>
                  <a:ext uri="{FF2B5EF4-FFF2-40B4-BE49-F238E27FC236}">
                    <a16:creationId xmlns:a16="http://schemas.microsoft.com/office/drawing/2014/main" id="{6B18B5D4-E7B7-48CC-AB09-39A31512D0F8}"/>
                  </a:ext>
                </a:extLst>
              </p:cNvPr>
              <p:cNvSpPr txBox="1"/>
              <p:nvPr/>
            </p:nvSpPr>
            <p:spPr>
              <a:xfrm rot="18600385">
                <a:off x="6088843" y="3739821"/>
                <a:ext cx="1768000" cy="1005675"/>
              </a:xfrm>
              <a:prstGeom prst="rect">
                <a:avLst/>
              </a:prstGeom>
              <a:noFill/>
            </p:spPr>
            <p:txBody>
              <a:bodyPr spcFirstLastPara="1" wrap="square" lIns="0" tIns="0" rIns="0" bIns="0" numCol="1" rtlCol="0" anchor="ctr">
                <a:prstTxWarp prst="textArchDown">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ts val="1800"/>
                  </a:lnSpc>
                  <a:spcBef>
                    <a:spcPts val="0"/>
                  </a:spcBef>
                  <a:spcAft>
                    <a:spcPts val="900"/>
                  </a:spcAft>
                  <a:buClrTx/>
                  <a:buSzTx/>
                  <a:buFontTx/>
                  <a:buNone/>
                  <a:tabLst/>
                  <a:defRPr/>
                </a:pPr>
                <a:r>
                  <a:rPr kumimoji="0" lang="en-GB" sz="1400" b="1" i="0" u="none" strike="noStrike" kern="1200" cap="none" spc="0" normalizeH="0" baseline="0" noProof="0" dirty="0">
                    <a:ln>
                      <a:noFill/>
                    </a:ln>
                    <a:solidFill>
                      <a:prstClr val="white"/>
                    </a:solidFill>
                    <a:effectLst/>
                    <a:uLnTx/>
                    <a:uFillTx/>
                    <a:latin typeface="Arial" panose="020B0604020202020204"/>
                    <a:ea typeface="+mn-ea"/>
                    <a:cs typeface="+mn-cs"/>
                  </a:rPr>
                  <a:t>Reduced </a:t>
                </a:r>
                <a:br>
                  <a:rPr kumimoji="0" lang="en-GB" sz="14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GB" sz="1400" b="1" i="0" u="none" strike="noStrike" kern="1200" cap="none" spc="0" normalizeH="0" baseline="0" noProof="0" dirty="0">
                    <a:ln>
                      <a:noFill/>
                    </a:ln>
                    <a:solidFill>
                      <a:prstClr val="white"/>
                    </a:solidFill>
                    <a:effectLst/>
                    <a:uLnTx/>
                    <a:uFillTx/>
                    <a:latin typeface="Arial" panose="020B0604020202020204"/>
                    <a:ea typeface="+mn-ea"/>
                    <a:cs typeface="+mn-cs"/>
                  </a:rPr>
                  <a:t>hospitalisations</a:t>
                </a:r>
              </a:p>
            </p:txBody>
          </p:sp>
          <p:sp>
            <p:nvSpPr>
              <p:cNvPr id="58" name="TextBox 385">
                <a:extLst>
                  <a:ext uri="{FF2B5EF4-FFF2-40B4-BE49-F238E27FC236}">
                    <a16:creationId xmlns:a16="http://schemas.microsoft.com/office/drawing/2014/main" id="{DF40ECD4-E1E6-4FFF-A059-F78962FFEC52}"/>
                  </a:ext>
                </a:extLst>
              </p:cNvPr>
              <p:cNvSpPr txBox="1"/>
              <p:nvPr/>
            </p:nvSpPr>
            <p:spPr>
              <a:xfrm rot="2779103">
                <a:off x="4363925" y="3734744"/>
                <a:ext cx="1768000" cy="1005675"/>
              </a:xfrm>
              <a:prstGeom prst="rect">
                <a:avLst/>
              </a:prstGeom>
              <a:noFill/>
            </p:spPr>
            <p:txBody>
              <a:bodyPr spcFirstLastPara="1" wrap="square" lIns="0" tIns="0" rIns="0" bIns="0" numCol="1" rtlCol="0" anchor="ctr">
                <a:prstTxWarp prst="textArchDown">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ts val="1800"/>
                  </a:lnSpc>
                  <a:spcBef>
                    <a:spcPts val="0"/>
                  </a:spcBef>
                  <a:spcAft>
                    <a:spcPts val="900"/>
                  </a:spcAft>
                  <a:buClrTx/>
                  <a:buSzTx/>
                  <a:buFontTx/>
                  <a:buNone/>
                  <a:tabLst/>
                  <a:defRPr/>
                </a:pPr>
                <a:r>
                  <a:rPr kumimoji="0" lang="en-GB" sz="1400" b="1" i="0" u="none" strike="noStrike" kern="1200" cap="none" spc="0" normalizeH="0" baseline="0" noProof="0" dirty="0">
                    <a:ln>
                      <a:noFill/>
                    </a:ln>
                    <a:solidFill>
                      <a:prstClr val="white"/>
                    </a:solidFill>
                    <a:effectLst/>
                    <a:uLnTx/>
                    <a:uFillTx/>
                    <a:latin typeface="Arial" panose="020B0604020202020204"/>
                    <a:ea typeface="+mn-ea"/>
                    <a:cs typeface="+mn-cs"/>
                  </a:rPr>
                  <a:t>Improved </a:t>
                </a:r>
                <a:br>
                  <a:rPr kumimoji="0" lang="en-GB" sz="14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GB" sz="1400" b="1" i="0" u="none" strike="noStrike" kern="1200" cap="none" spc="0" normalizeH="0" baseline="0" noProof="0" dirty="0">
                    <a:ln>
                      <a:noFill/>
                    </a:ln>
                    <a:solidFill>
                      <a:prstClr val="white"/>
                    </a:solidFill>
                    <a:effectLst/>
                    <a:uLnTx/>
                    <a:uFillTx/>
                    <a:latin typeface="Arial" panose="020B0604020202020204"/>
                    <a:ea typeface="+mn-ea"/>
                    <a:cs typeface="+mn-cs"/>
                  </a:rPr>
                  <a:t>lung function</a:t>
                </a:r>
              </a:p>
            </p:txBody>
          </p:sp>
          <p:sp>
            <p:nvSpPr>
              <p:cNvPr id="98" name="Freeform 173">
                <a:extLst>
                  <a:ext uri="{FF2B5EF4-FFF2-40B4-BE49-F238E27FC236}">
                    <a16:creationId xmlns:a16="http://schemas.microsoft.com/office/drawing/2014/main" id="{A62697E4-2430-4B4A-BE60-961AF5BE395C}"/>
                  </a:ext>
                </a:extLst>
              </p:cNvPr>
              <p:cNvSpPr>
                <a:spLocks/>
              </p:cNvSpPr>
              <p:nvPr/>
            </p:nvSpPr>
            <p:spPr bwMode="auto">
              <a:xfrm rot="833546">
                <a:off x="5557277" y="5043989"/>
                <a:ext cx="389498" cy="344836"/>
              </a:xfrm>
              <a:custGeom>
                <a:avLst/>
                <a:gdLst>
                  <a:gd name="T0" fmla="*/ 222 w 225"/>
                  <a:gd name="T1" fmla="*/ 162 h 209"/>
                  <a:gd name="T2" fmla="*/ 202 w 225"/>
                  <a:gd name="T3" fmla="*/ 91 h 209"/>
                  <a:gd name="T4" fmla="*/ 158 w 225"/>
                  <a:gd name="T5" fmla="*/ 50 h 209"/>
                  <a:gd name="T6" fmla="*/ 150 w 225"/>
                  <a:gd name="T7" fmla="*/ 51 h 209"/>
                  <a:gd name="T8" fmla="*/ 136 w 225"/>
                  <a:gd name="T9" fmla="*/ 82 h 209"/>
                  <a:gd name="T10" fmla="*/ 135 w 225"/>
                  <a:gd name="T11" fmla="*/ 88 h 209"/>
                  <a:gd name="T12" fmla="*/ 120 w 225"/>
                  <a:gd name="T13" fmla="*/ 77 h 209"/>
                  <a:gd name="T14" fmla="*/ 120 w 225"/>
                  <a:gd name="T15" fmla="*/ 2 h 209"/>
                  <a:gd name="T16" fmla="*/ 118 w 225"/>
                  <a:gd name="T17" fmla="*/ 0 h 209"/>
                  <a:gd name="T18" fmla="*/ 104 w 225"/>
                  <a:gd name="T19" fmla="*/ 0 h 209"/>
                  <a:gd name="T20" fmla="*/ 102 w 225"/>
                  <a:gd name="T21" fmla="*/ 2 h 209"/>
                  <a:gd name="T22" fmla="*/ 102 w 225"/>
                  <a:gd name="T23" fmla="*/ 77 h 209"/>
                  <a:gd name="T24" fmla="*/ 90 w 225"/>
                  <a:gd name="T25" fmla="*/ 87 h 209"/>
                  <a:gd name="T26" fmla="*/ 89 w 225"/>
                  <a:gd name="T27" fmla="*/ 82 h 209"/>
                  <a:gd name="T28" fmla="*/ 75 w 225"/>
                  <a:gd name="T29" fmla="*/ 51 h 209"/>
                  <a:gd name="T30" fmla="*/ 67 w 225"/>
                  <a:gd name="T31" fmla="*/ 50 h 209"/>
                  <a:gd name="T32" fmla="*/ 23 w 225"/>
                  <a:gd name="T33" fmla="*/ 91 h 209"/>
                  <a:gd name="T34" fmla="*/ 3 w 225"/>
                  <a:gd name="T35" fmla="*/ 162 h 209"/>
                  <a:gd name="T36" fmla="*/ 27 w 225"/>
                  <a:gd name="T37" fmla="*/ 209 h 209"/>
                  <a:gd name="T38" fmla="*/ 74 w 225"/>
                  <a:gd name="T39" fmla="*/ 184 h 209"/>
                  <a:gd name="T40" fmla="*/ 95 w 225"/>
                  <a:gd name="T41" fmla="*/ 160 h 209"/>
                  <a:gd name="T42" fmla="*/ 94 w 225"/>
                  <a:gd name="T43" fmla="*/ 119 h 209"/>
                  <a:gd name="T44" fmla="*/ 93 w 225"/>
                  <a:gd name="T45" fmla="*/ 105 h 209"/>
                  <a:gd name="T46" fmla="*/ 111 w 225"/>
                  <a:gd name="T47" fmla="*/ 92 h 209"/>
                  <a:gd name="T48" fmla="*/ 131 w 225"/>
                  <a:gd name="T49" fmla="*/ 107 h 209"/>
                  <a:gd name="T50" fmla="*/ 131 w 225"/>
                  <a:gd name="T51" fmla="*/ 119 h 209"/>
                  <a:gd name="T52" fmla="*/ 130 w 225"/>
                  <a:gd name="T53" fmla="*/ 160 h 209"/>
                  <a:gd name="T54" fmla="*/ 151 w 225"/>
                  <a:gd name="T55" fmla="*/ 184 h 209"/>
                  <a:gd name="T56" fmla="*/ 198 w 225"/>
                  <a:gd name="T57" fmla="*/ 209 h 209"/>
                  <a:gd name="T58" fmla="*/ 222 w 225"/>
                  <a:gd name="T59" fmla="*/ 162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5" h="209">
                    <a:moveTo>
                      <a:pt x="222" y="162"/>
                    </a:moveTo>
                    <a:cubicBezTo>
                      <a:pt x="220" y="137"/>
                      <a:pt x="211" y="114"/>
                      <a:pt x="202" y="91"/>
                    </a:cubicBezTo>
                    <a:cubicBezTo>
                      <a:pt x="194" y="70"/>
                      <a:pt x="182" y="50"/>
                      <a:pt x="158" y="50"/>
                    </a:cubicBezTo>
                    <a:cubicBezTo>
                      <a:pt x="150" y="51"/>
                      <a:pt x="150" y="51"/>
                      <a:pt x="150" y="51"/>
                    </a:cubicBezTo>
                    <a:cubicBezTo>
                      <a:pt x="139" y="55"/>
                      <a:pt x="138" y="71"/>
                      <a:pt x="136" y="82"/>
                    </a:cubicBezTo>
                    <a:cubicBezTo>
                      <a:pt x="135" y="84"/>
                      <a:pt x="135" y="86"/>
                      <a:pt x="135" y="88"/>
                    </a:cubicBezTo>
                    <a:cubicBezTo>
                      <a:pt x="120" y="77"/>
                      <a:pt x="120" y="77"/>
                      <a:pt x="120" y="77"/>
                    </a:cubicBezTo>
                    <a:cubicBezTo>
                      <a:pt x="120" y="2"/>
                      <a:pt x="120" y="2"/>
                      <a:pt x="120" y="2"/>
                    </a:cubicBezTo>
                    <a:cubicBezTo>
                      <a:pt x="120" y="1"/>
                      <a:pt x="119" y="0"/>
                      <a:pt x="118" y="0"/>
                    </a:cubicBezTo>
                    <a:cubicBezTo>
                      <a:pt x="104" y="0"/>
                      <a:pt x="104" y="0"/>
                      <a:pt x="104" y="0"/>
                    </a:cubicBezTo>
                    <a:cubicBezTo>
                      <a:pt x="103" y="0"/>
                      <a:pt x="102" y="1"/>
                      <a:pt x="102" y="2"/>
                    </a:cubicBezTo>
                    <a:cubicBezTo>
                      <a:pt x="102" y="77"/>
                      <a:pt x="102" y="77"/>
                      <a:pt x="102" y="77"/>
                    </a:cubicBezTo>
                    <a:cubicBezTo>
                      <a:pt x="90" y="87"/>
                      <a:pt x="90" y="87"/>
                      <a:pt x="90" y="87"/>
                    </a:cubicBezTo>
                    <a:cubicBezTo>
                      <a:pt x="90" y="85"/>
                      <a:pt x="89" y="83"/>
                      <a:pt x="89" y="82"/>
                    </a:cubicBezTo>
                    <a:cubicBezTo>
                      <a:pt x="87" y="71"/>
                      <a:pt x="86" y="55"/>
                      <a:pt x="75" y="51"/>
                    </a:cubicBezTo>
                    <a:cubicBezTo>
                      <a:pt x="67" y="50"/>
                      <a:pt x="67" y="50"/>
                      <a:pt x="67" y="50"/>
                    </a:cubicBezTo>
                    <a:cubicBezTo>
                      <a:pt x="43" y="50"/>
                      <a:pt x="31" y="70"/>
                      <a:pt x="23" y="91"/>
                    </a:cubicBezTo>
                    <a:cubicBezTo>
                      <a:pt x="14" y="114"/>
                      <a:pt x="5" y="137"/>
                      <a:pt x="3" y="162"/>
                    </a:cubicBezTo>
                    <a:cubicBezTo>
                      <a:pt x="1" y="184"/>
                      <a:pt x="0" y="209"/>
                      <a:pt x="27" y="209"/>
                    </a:cubicBezTo>
                    <a:cubicBezTo>
                      <a:pt x="46" y="209"/>
                      <a:pt x="59" y="193"/>
                      <a:pt x="74" y="184"/>
                    </a:cubicBezTo>
                    <a:cubicBezTo>
                      <a:pt x="84" y="177"/>
                      <a:pt x="93" y="173"/>
                      <a:pt x="95" y="160"/>
                    </a:cubicBezTo>
                    <a:cubicBezTo>
                      <a:pt x="97" y="147"/>
                      <a:pt x="95" y="132"/>
                      <a:pt x="94" y="119"/>
                    </a:cubicBezTo>
                    <a:cubicBezTo>
                      <a:pt x="94" y="114"/>
                      <a:pt x="94" y="110"/>
                      <a:pt x="93" y="105"/>
                    </a:cubicBezTo>
                    <a:cubicBezTo>
                      <a:pt x="111" y="92"/>
                      <a:pt x="111" y="92"/>
                      <a:pt x="111" y="92"/>
                    </a:cubicBezTo>
                    <a:cubicBezTo>
                      <a:pt x="131" y="107"/>
                      <a:pt x="131" y="107"/>
                      <a:pt x="131" y="107"/>
                    </a:cubicBezTo>
                    <a:cubicBezTo>
                      <a:pt x="131" y="111"/>
                      <a:pt x="131" y="115"/>
                      <a:pt x="131" y="119"/>
                    </a:cubicBezTo>
                    <a:cubicBezTo>
                      <a:pt x="130" y="132"/>
                      <a:pt x="128" y="147"/>
                      <a:pt x="130" y="160"/>
                    </a:cubicBezTo>
                    <a:cubicBezTo>
                      <a:pt x="132" y="173"/>
                      <a:pt x="141" y="177"/>
                      <a:pt x="151" y="184"/>
                    </a:cubicBezTo>
                    <a:cubicBezTo>
                      <a:pt x="166" y="193"/>
                      <a:pt x="179" y="209"/>
                      <a:pt x="198" y="209"/>
                    </a:cubicBezTo>
                    <a:cubicBezTo>
                      <a:pt x="225" y="209"/>
                      <a:pt x="224" y="184"/>
                      <a:pt x="222" y="162"/>
                    </a:cubicBezTo>
                    <a:close/>
                  </a:path>
                </a:pathLst>
              </a:custGeom>
              <a:solidFill>
                <a:schemeClr val="bg1"/>
              </a:solidFill>
              <a:ln>
                <a:noFill/>
              </a:ln>
              <a:effec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544F40"/>
                  </a:solidFill>
                  <a:effectLst/>
                  <a:uLnTx/>
                  <a:uFillTx/>
                  <a:latin typeface="Arial"/>
                  <a:ea typeface="+mn-ea"/>
                  <a:cs typeface="+mn-cs"/>
                </a:endParaRPr>
              </a:p>
            </p:txBody>
          </p:sp>
          <p:sp>
            <p:nvSpPr>
              <p:cNvPr id="106" name="Freeform 24">
                <a:extLst>
                  <a:ext uri="{FF2B5EF4-FFF2-40B4-BE49-F238E27FC236}">
                    <a16:creationId xmlns:a16="http://schemas.microsoft.com/office/drawing/2014/main" id="{CAD272C4-FBC3-4145-96C7-B69B2CC00FC8}"/>
                  </a:ext>
                </a:extLst>
              </p:cNvPr>
              <p:cNvSpPr>
                <a:spLocks noChangeAspect="1" noEditPoints="1"/>
              </p:cNvSpPr>
              <p:nvPr/>
            </p:nvSpPr>
            <p:spPr bwMode="auto">
              <a:xfrm rot="21012946">
                <a:off x="6272630" y="5007967"/>
                <a:ext cx="407571" cy="373607"/>
              </a:xfrm>
              <a:custGeom>
                <a:avLst/>
                <a:gdLst>
                  <a:gd name="T0" fmla="*/ 93 w 215"/>
                  <a:gd name="T1" fmla="*/ 0 h 201"/>
                  <a:gd name="T2" fmla="*/ 122 w 215"/>
                  <a:gd name="T3" fmla="*/ 0 h 201"/>
                  <a:gd name="T4" fmla="*/ 122 w 215"/>
                  <a:gd name="T5" fmla="*/ 23 h 201"/>
                  <a:gd name="T6" fmla="*/ 145 w 215"/>
                  <a:gd name="T7" fmla="*/ 23 h 201"/>
                  <a:gd name="T8" fmla="*/ 145 w 215"/>
                  <a:gd name="T9" fmla="*/ 52 h 201"/>
                  <a:gd name="T10" fmla="*/ 122 w 215"/>
                  <a:gd name="T11" fmla="*/ 52 h 201"/>
                  <a:gd name="T12" fmla="*/ 122 w 215"/>
                  <a:gd name="T13" fmla="*/ 75 h 201"/>
                  <a:gd name="T14" fmla="*/ 93 w 215"/>
                  <a:gd name="T15" fmla="*/ 75 h 201"/>
                  <a:gd name="T16" fmla="*/ 93 w 215"/>
                  <a:gd name="T17" fmla="*/ 52 h 201"/>
                  <a:gd name="T18" fmla="*/ 70 w 215"/>
                  <a:gd name="T19" fmla="*/ 52 h 201"/>
                  <a:gd name="T20" fmla="*/ 70 w 215"/>
                  <a:gd name="T21" fmla="*/ 23 h 201"/>
                  <a:gd name="T22" fmla="*/ 93 w 215"/>
                  <a:gd name="T23" fmla="*/ 23 h 201"/>
                  <a:gd name="T24" fmla="*/ 93 w 215"/>
                  <a:gd name="T25" fmla="*/ 0 h 201"/>
                  <a:gd name="T26" fmla="*/ 199 w 215"/>
                  <a:gd name="T27" fmla="*/ 106 h 201"/>
                  <a:gd name="T28" fmla="*/ 191 w 215"/>
                  <a:gd name="T29" fmla="*/ 115 h 201"/>
                  <a:gd name="T30" fmla="*/ 191 w 215"/>
                  <a:gd name="T31" fmla="*/ 144 h 201"/>
                  <a:gd name="T32" fmla="*/ 186 w 215"/>
                  <a:gd name="T33" fmla="*/ 143 h 201"/>
                  <a:gd name="T34" fmla="*/ 92 w 215"/>
                  <a:gd name="T35" fmla="*/ 143 h 201"/>
                  <a:gd name="T36" fmla="*/ 97 w 215"/>
                  <a:gd name="T37" fmla="*/ 135 h 201"/>
                  <a:gd name="T38" fmla="*/ 97 w 215"/>
                  <a:gd name="T39" fmla="*/ 127 h 201"/>
                  <a:gd name="T40" fmla="*/ 88 w 215"/>
                  <a:gd name="T41" fmla="*/ 118 h 201"/>
                  <a:gd name="T42" fmla="*/ 33 w 215"/>
                  <a:gd name="T43" fmla="*/ 118 h 201"/>
                  <a:gd name="T44" fmla="*/ 25 w 215"/>
                  <a:gd name="T45" fmla="*/ 124 h 201"/>
                  <a:gd name="T46" fmla="*/ 25 w 215"/>
                  <a:gd name="T47" fmla="*/ 74 h 201"/>
                  <a:gd name="T48" fmla="*/ 16 w 215"/>
                  <a:gd name="T49" fmla="*/ 66 h 201"/>
                  <a:gd name="T50" fmla="*/ 9 w 215"/>
                  <a:gd name="T51" fmla="*/ 66 h 201"/>
                  <a:gd name="T52" fmla="*/ 0 w 215"/>
                  <a:gd name="T53" fmla="*/ 74 h 201"/>
                  <a:gd name="T54" fmla="*/ 0 w 215"/>
                  <a:gd name="T55" fmla="*/ 192 h 201"/>
                  <a:gd name="T56" fmla="*/ 9 w 215"/>
                  <a:gd name="T57" fmla="*/ 201 h 201"/>
                  <a:gd name="T58" fmla="*/ 16 w 215"/>
                  <a:gd name="T59" fmla="*/ 201 h 201"/>
                  <a:gd name="T60" fmla="*/ 25 w 215"/>
                  <a:gd name="T61" fmla="*/ 192 h 201"/>
                  <a:gd name="T62" fmla="*/ 25 w 215"/>
                  <a:gd name="T63" fmla="*/ 173 h 201"/>
                  <a:gd name="T64" fmla="*/ 31 w 215"/>
                  <a:gd name="T65" fmla="*/ 175 h 201"/>
                  <a:gd name="T66" fmla="*/ 186 w 215"/>
                  <a:gd name="T67" fmla="*/ 175 h 201"/>
                  <a:gd name="T68" fmla="*/ 191 w 215"/>
                  <a:gd name="T69" fmla="*/ 174 h 201"/>
                  <a:gd name="T70" fmla="*/ 191 w 215"/>
                  <a:gd name="T71" fmla="*/ 192 h 201"/>
                  <a:gd name="T72" fmla="*/ 199 w 215"/>
                  <a:gd name="T73" fmla="*/ 201 h 201"/>
                  <a:gd name="T74" fmla="*/ 207 w 215"/>
                  <a:gd name="T75" fmla="*/ 201 h 201"/>
                  <a:gd name="T76" fmla="*/ 215 w 215"/>
                  <a:gd name="T77" fmla="*/ 192 h 201"/>
                  <a:gd name="T78" fmla="*/ 215 w 215"/>
                  <a:gd name="T79" fmla="*/ 115 h 201"/>
                  <a:gd name="T80" fmla="*/ 207 w 215"/>
                  <a:gd name="T81" fmla="*/ 106 h 201"/>
                  <a:gd name="T82" fmla="*/ 199 w 215"/>
                  <a:gd name="T83" fmla="*/ 106 h 201"/>
                  <a:gd name="T84" fmla="*/ 29 w 215"/>
                  <a:gd name="T85" fmla="*/ 143 h 201"/>
                  <a:gd name="T86" fmla="*/ 25 w 215"/>
                  <a:gd name="T87" fmla="*/ 145 h 201"/>
                  <a:gd name="T88" fmla="*/ 25 w 215"/>
                  <a:gd name="T89" fmla="*/ 138 h 201"/>
                  <a:gd name="T90" fmla="*/ 29 w 215"/>
                  <a:gd name="T91" fmla="*/ 143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15" h="201">
                    <a:moveTo>
                      <a:pt x="93" y="0"/>
                    </a:moveTo>
                    <a:cubicBezTo>
                      <a:pt x="122" y="0"/>
                      <a:pt x="122" y="0"/>
                      <a:pt x="122" y="0"/>
                    </a:cubicBezTo>
                    <a:cubicBezTo>
                      <a:pt x="122" y="23"/>
                      <a:pt x="122" y="23"/>
                      <a:pt x="122" y="23"/>
                    </a:cubicBezTo>
                    <a:cubicBezTo>
                      <a:pt x="145" y="23"/>
                      <a:pt x="145" y="23"/>
                      <a:pt x="145" y="23"/>
                    </a:cubicBezTo>
                    <a:cubicBezTo>
                      <a:pt x="145" y="52"/>
                      <a:pt x="145" y="52"/>
                      <a:pt x="145" y="52"/>
                    </a:cubicBezTo>
                    <a:cubicBezTo>
                      <a:pt x="122" y="52"/>
                      <a:pt x="122" y="52"/>
                      <a:pt x="122" y="52"/>
                    </a:cubicBezTo>
                    <a:cubicBezTo>
                      <a:pt x="122" y="75"/>
                      <a:pt x="122" y="75"/>
                      <a:pt x="122" y="75"/>
                    </a:cubicBezTo>
                    <a:cubicBezTo>
                      <a:pt x="93" y="75"/>
                      <a:pt x="93" y="75"/>
                      <a:pt x="93" y="75"/>
                    </a:cubicBezTo>
                    <a:cubicBezTo>
                      <a:pt x="93" y="52"/>
                      <a:pt x="93" y="52"/>
                      <a:pt x="93" y="52"/>
                    </a:cubicBezTo>
                    <a:cubicBezTo>
                      <a:pt x="70" y="52"/>
                      <a:pt x="70" y="52"/>
                      <a:pt x="70" y="52"/>
                    </a:cubicBezTo>
                    <a:cubicBezTo>
                      <a:pt x="70" y="23"/>
                      <a:pt x="70" y="23"/>
                      <a:pt x="70" y="23"/>
                    </a:cubicBezTo>
                    <a:cubicBezTo>
                      <a:pt x="93" y="23"/>
                      <a:pt x="93" y="23"/>
                      <a:pt x="93" y="23"/>
                    </a:cubicBezTo>
                    <a:cubicBezTo>
                      <a:pt x="93" y="0"/>
                      <a:pt x="93" y="0"/>
                      <a:pt x="93" y="0"/>
                    </a:cubicBezTo>
                    <a:close/>
                    <a:moveTo>
                      <a:pt x="199" y="106"/>
                    </a:moveTo>
                    <a:cubicBezTo>
                      <a:pt x="194" y="106"/>
                      <a:pt x="191" y="110"/>
                      <a:pt x="191" y="115"/>
                    </a:cubicBezTo>
                    <a:cubicBezTo>
                      <a:pt x="191" y="144"/>
                      <a:pt x="191" y="144"/>
                      <a:pt x="191" y="144"/>
                    </a:cubicBezTo>
                    <a:cubicBezTo>
                      <a:pt x="189" y="143"/>
                      <a:pt x="188" y="143"/>
                      <a:pt x="186" y="143"/>
                    </a:cubicBezTo>
                    <a:cubicBezTo>
                      <a:pt x="92" y="143"/>
                      <a:pt x="92" y="143"/>
                      <a:pt x="92" y="143"/>
                    </a:cubicBezTo>
                    <a:cubicBezTo>
                      <a:pt x="95" y="141"/>
                      <a:pt x="97" y="138"/>
                      <a:pt x="97" y="135"/>
                    </a:cubicBezTo>
                    <a:cubicBezTo>
                      <a:pt x="97" y="127"/>
                      <a:pt x="97" y="127"/>
                      <a:pt x="97" y="127"/>
                    </a:cubicBezTo>
                    <a:cubicBezTo>
                      <a:pt x="97" y="122"/>
                      <a:pt x="93" y="118"/>
                      <a:pt x="88" y="118"/>
                    </a:cubicBezTo>
                    <a:cubicBezTo>
                      <a:pt x="33" y="118"/>
                      <a:pt x="33" y="118"/>
                      <a:pt x="33" y="118"/>
                    </a:cubicBezTo>
                    <a:cubicBezTo>
                      <a:pt x="29" y="118"/>
                      <a:pt x="26" y="121"/>
                      <a:pt x="25" y="124"/>
                    </a:cubicBezTo>
                    <a:cubicBezTo>
                      <a:pt x="25" y="74"/>
                      <a:pt x="25" y="74"/>
                      <a:pt x="25" y="74"/>
                    </a:cubicBezTo>
                    <a:cubicBezTo>
                      <a:pt x="25" y="70"/>
                      <a:pt x="21" y="66"/>
                      <a:pt x="16" y="66"/>
                    </a:cubicBezTo>
                    <a:cubicBezTo>
                      <a:pt x="9" y="66"/>
                      <a:pt x="9" y="66"/>
                      <a:pt x="9" y="66"/>
                    </a:cubicBezTo>
                    <a:cubicBezTo>
                      <a:pt x="4" y="66"/>
                      <a:pt x="0" y="70"/>
                      <a:pt x="0" y="74"/>
                    </a:cubicBezTo>
                    <a:cubicBezTo>
                      <a:pt x="0" y="192"/>
                      <a:pt x="0" y="192"/>
                      <a:pt x="0" y="192"/>
                    </a:cubicBezTo>
                    <a:cubicBezTo>
                      <a:pt x="0" y="197"/>
                      <a:pt x="4" y="201"/>
                      <a:pt x="9" y="201"/>
                    </a:cubicBezTo>
                    <a:cubicBezTo>
                      <a:pt x="16" y="201"/>
                      <a:pt x="16" y="201"/>
                      <a:pt x="16" y="201"/>
                    </a:cubicBezTo>
                    <a:cubicBezTo>
                      <a:pt x="21" y="201"/>
                      <a:pt x="25" y="197"/>
                      <a:pt x="25" y="192"/>
                    </a:cubicBezTo>
                    <a:cubicBezTo>
                      <a:pt x="25" y="173"/>
                      <a:pt x="25" y="173"/>
                      <a:pt x="25" y="173"/>
                    </a:cubicBezTo>
                    <a:cubicBezTo>
                      <a:pt x="26" y="175"/>
                      <a:pt x="29" y="175"/>
                      <a:pt x="31" y="175"/>
                    </a:cubicBezTo>
                    <a:cubicBezTo>
                      <a:pt x="186" y="175"/>
                      <a:pt x="186" y="175"/>
                      <a:pt x="186" y="175"/>
                    </a:cubicBezTo>
                    <a:cubicBezTo>
                      <a:pt x="188" y="175"/>
                      <a:pt x="189" y="175"/>
                      <a:pt x="191" y="174"/>
                    </a:cubicBezTo>
                    <a:cubicBezTo>
                      <a:pt x="191" y="192"/>
                      <a:pt x="191" y="192"/>
                      <a:pt x="191" y="192"/>
                    </a:cubicBezTo>
                    <a:cubicBezTo>
                      <a:pt x="191" y="197"/>
                      <a:pt x="194" y="201"/>
                      <a:pt x="199" y="201"/>
                    </a:cubicBezTo>
                    <a:cubicBezTo>
                      <a:pt x="207" y="201"/>
                      <a:pt x="207" y="201"/>
                      <a:pt x="207" y="201"/>
                    </a:cubicBezTo>
                    <a:cubicBezTo>
                      <a:pt x="211" y="201"/>
                      <a:pt x="215" y="197"/>
                      <a:pt x="215" y="192"/>
                    </a:cubicBezTo>
                    <a:cubicBezTo>
                      <a:pt x="215" y="115"/>
                      <a:pt x="215" y="115"/>
                      <a:pt x="215" y="115"/>
                    </a:cubicBezTo>
                    <a:cubicBezTo>
                      <a:pt x="215" y="110"/>
                      <a:pt x="211" y="106"/>
                      <a:pt x="207" y="106"/>
                    </a:cubicBezTo>
                    <a:cubicBezTo>
                      <a:pt x="199" y="106"/>
                      <a:pt x="199" y="106"/>
                      <a:pt x="199" y="106"/>
                    </a:cubicBezTo>
                    <a:close/>
                    <a:moveTo>
                      <a:pt x="29" y="143"/>
                    </a:moveTo>
                    <a:cubicBezTo>
                      <a:pt x="28" y="143"/>
                      <a:pt x="26" y="144"/>
                      <a:pt x="25" y="145"/>
                    </a:cubicBezTo>
                    <a:cubicBezTo>
                      <a:pt x="25" y="138"/>
                      <a:pt x="25" y="138"/>
                      <a:pt x="25" y="138"/>
                    </a:cubicBezTo>
                    <a:cubicBezTo>
                      <a:pt x="25" y="140"/>
                      <a:pt x="27" y="142"/>
                      <a:pt x="29" y="14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grpSp>
            <p:nvGrpSpPr>
              <p:cNvPr id="59" name="Group 58"/>
              <p:cNvGrpSpPr/>
              <p:nvPr/>
            </p:nvGrpSpPr>
            <p:grpSpPr>
              <a:xfrm rot="548422">
                <a:off x="6276242" y="1650656"/>
                <a:ext cx="411302" cy="354290"/>
                <a:chOff x="1304871" y="2517855"/>
                <a:chExt cx="312496" cy="269178"/>
              </a:xfrm>
              <a:solidFill>
                <a:schemeClr val="bg1"/>
              </a:solidFill>
            </p:grpSpPr>
            <p:grpSp>
              <p:nvGrpSpPr>
                <p:cNvPr id="60" name="Group 59">
                  <a:extLst>
                    <a:ext uri="{FF2B5EF4-FFF2-40B4-BE49-F238E27FC236}">
                      <a16:creationId xmlns:a16="http://schemas.microsoft.com/office/drawing/2014/main" id="{DC5CA47D-F708-45F5-9E6E-4E8A6E2578D9}"/>
                    </a:ext>
                  </a:extLst>
                </p:cNvPr>
                <p:cNvGrpSpPr/>
                <p:nvPr/>
              </p:nvGrpSpPr>
              <p:grpSpPr>
                <a:xfrm>
                  <a:off x="1505756" y="2681457"/>
                  <a:ext cx="111611" cy="105576"/>
                  <a:chOff x="3778033" y="3709350"/>
                  <a:chExt cx="364390" cy="348463"/>
                </a:xfrm>
                <a:grpFill/>
              </p:grpSpPr>
              <p:sp>
                <p:nvSpPr>
                  <p:cNvPr id="62" name="Freeform 10">
                    <a:extLst>
                      <a:ext uri="{FF2B5EF4-FFF2-40B4-BE49-F238E27FC236}">
                        <a16:creationId xmlns:a16="http://schemas.microsoft.com/office/drawing/2014/main" id="{B3D68EDC-1DB6-4EB8-B14E-E9B69E613220}"/>
                      </a:ext>
                    </a:extLst>
                  </p:cNvPr>
                  <p:cNvSpPr>
                    <a:spLocks/>
                  </p:cNvSpPr>
                  <p:nvPr/>
                </p:nvSpPr>
                <p:spPr bwMode="auto">
                  <a:xfrm>
                    <a:off x="3825308" y="3709350"/>
                    <a:ext cx="317115" cy="348463"/>
                  </a:xfrm>
                  <a:custGeom>
                    <a:avLst/>
                    <a:gdLst>
                      <a:gd name="T0" fmla="*/ 592 w 782"/>
                      <a:gd name="T1" fmla="*/ 4 h 812"/>
                      <a:gd name="T2" fmla="*/ 678 w 782"/>
                      <a:gd name="T3" fmla="*/ 32 h 812"/>
                      <a:gd name="T4" fmla="*/ 724 w 782"/>
                      <a:gd name="T5" fmla="*/ 70 h 812"/>
                      <a:gd name="T6" fmla="*/ 750 w 782"/>
                      <a:gd name="T7" fmla="*/ 110 h 812"/>
                      <a:gd name="T8" fmla="*/ 770 w 782"/>
                      <a:gd name="T9" fmla="*/ 158 h 812"/>
                      <a:gd name="T10" fmla="*/ 782 w 782"/>
                      <a:gd name="T11" fmla="*/ 252 h 812"/>
                      <a:gd name="T12" fmla="*/ 752 w 782"/>
                      <a:gd name="T13" fmla="*/ 342 h 812"/>
                      <a:gd name="T14" fmla="*/ 726 w 782"/>
                      <a:gd name="T15" fmla="*/ 376 h 812"/>
                      <a:gd name="T16" fmla="*/ 726 w 782"/>
                      <a:gd name="T17" fmla="*/ 404 h 812"/>
                      <a:gd name="T18" fmla="*/ 736 w 782"/>
                      <a:gd name="T19" fmla="*/ 440 h 812"/>
                      <a:gd name="T20" fmla="*/ 738 w 782"/>
                      <a:gd name="T21" fmla="*/ 514 h 812"/>
                      <a:gd name="T22" fmla="*/ 718 w 782"/>
                      <a:gd name="T23" fmla="*/ 586 h 812"/>
                      <a:gd name="T24" fmla="*/ 686 w 782"/>
                      <a:gd name="T25" fmla="*/ 640 h 812"/>
                      <a:gd name="T26" fmla="*/ 626 w 782"/>
                      <a:gd name="T27" fmla="*/ 702 h 812"/>
                      <a:gd name="T28" fmla="*/ 582 w 782"/>
                      <a:gd name="T29" fmla="*/ 726 h 812"/>
                      <a:gd name="T30" fmla="*/ 532 w 782"/>
                      <a:gd name="T31" fmla="*/ 740 h 812"/>
                      <a:gd name="T32" fmla="*/ 478 w 782"/>
                      <a:gd name="T33" fmla="*/ 744 h 812"/>
                      <a:gd name="T34" fmla="*/ 440 w 782"/>
                      <a:gd name="T35" fmla="*/ 744 h 812"/>
                      <a:gd name="T36" fmla="*/ 384 w 782"/>
                      <a:gd name="T37" fmla="*/ 754 h 812"/>
                      <a:gd name="T38" fmla="*/ 332 w 782"/>
                      <a:gd name="T39" fmla="*/ 780 h 812"/>
                      <a:gd name="T40" fmla="*/ 276 w 782"/>
                      <a:gd name="T41" fmla="*/ 804 h 812"/>
                      <a:gd name="T42" fmla="*/ 188 w 782"/>
                      <a:gd name="T43" fmla="*/ 808 h 812"/>
                      <a:gd name="T44" fmla="*/ 104 w 782"/>
                      <a:gd name="T45" fmla="*/ 774 h 812"/>
                      <a:gd name="T46" fmla="*/ 54 w 782"/>
                      <a:gd name="T47" fmla="*/ 732 h 812"/>
                      <a:gd name="T48" fmla="*/ 12 w 782"/>
                      <a:gd name="T49" fmla="*/ 654 h 812"/>
                      <a:gd name="T50" fmla="*/ 0 w 782"/>
                      <a:gd name="T51" fmla="*/ 560 h 812"/>
                      <a:gd name="T52" fmla="*/ 4 w 782"/>
                      <a:gd name="T53" fmla="*/ 544 h 812"/>
                      <a:gd name="T54" fmla="*/ 16 w 782"/>
                      <a:gd name="T55" fmla="*/ 532 h 812"/>
                      <a:gd name="T56" fmla="*/ 64 w 782"/>
                      <a:gd name="T57" fmla="*/ 518 h 812"/>
                      <a:gd name="T58" fmla="*/ 88 w 782"/>
                      <a:gd name="T59" fmla="*/ 516 h 812"/>
                      <a:gd name="T60" fmla="*/ 104 w 782"/>
                      <a:gd name="T61" fmla="*/ 526 h 812"/>
                      <a:gd name="T62" fmla="*/ 114 w 782"/>
                      <a:gd name="T63" fmla="*/ 552 h 812"/>
                      <a:gd name="T64" fmla="*/ 124 w 782"/>
                      <a:gd name="T65" fmla="*/ 594 h 812"/>
                      <a:gd name="T66" fmla="*/ 142 w 782"/>
                      <a:gd name="T67" fmla="*/ 638 h 812"/>
                      <a:gd name="T68" fmla="*/ 174 w 782"/>
                      <a:gd name="T69" fmla="*/ 666 h 812"/>
                      <a:gd name="T70" fmla="*/ 206 w 782"/>
                      <a:gd name="T71" fmla="*/ 674 h 812"/>
                      <a:gd name="T72" fmla="*/ 258 w 782"/>
                      <a:gd name="T73" fmla="*/ 672 h 812"/>
                      <a:gd name="T74" fmla="*/ 302 w 782"/>
                      <a:gd name="T75" fmla="*/ 648 h 812"/>
                      <a:gd name="T76" fmla="*/ 326 w 782"/>
                      <a:gd name="T77" fmla="*/ 622 h 812"/>
                      <a:gd name="T78" fmla="*/ 356 w 782"/>
                      <a:gd name="T79" fmla="*/ 594 h 812"/>
                      <a:gd name="T80" fmla="*/ 396 w 782"/>
                      <a:gd name="T81" fmla="*/ 604 h 812"/>
                      <a:gd name="T82" fmla="*/ 444 w 782"/>
                      <a:gd name="T83" fmla="*/ 618 h 812"/>
                      <a:gd name="T84" fmla="*/ 516 w 782"/>
                      <a:gd name="T85" fmla="*/ 612 h 812"/>
                      <a:gd name="T86" fmla="*/ 574 w 782"/>
                      <a:gd name="T87" fmla="*/ 576 h 812"/>
                      <a:gd name="T88" fmla="*/ 600 w 782"/>
                      <a:gd name="T89" fmla="*/ 534 h 812"/>
                      <a:gd name="T90" fmla="*/ 610 w 782"/>
                      <a:gd name="T91" fmla="*/ 460 h 812"/>
                      <a:gd name="T92" fmla="*/ 586 w 782"/>
                      <a:gd name="T93" fmla="*/ 386 h 812"/>
                      <a:gd name="T94" fmla="*/ 578 w 782"/>
                      <a:gd name="T95" fmla="*/ 370 h 812"/>
                      <a:gd name="T96" fmla="*/ 580 w 782"/>
                      <a:gd name="T97" fmla="*/ 348 h 812"/>
                      <a:gd name="T98" fmla="*/ 596 w 782"/>
                      <a:gd name="T99" fmla="*/ 328 h 812"/>
                      <a:gd name="T100" fmla="*/ 620 w 782"/>
                      <a:gd name="T101" fmla="*/ 302 h 812"/>
                      <a:gd name="T102" fmla="*/ 644 w 782"/>
                      <a:gd name="T103" fmla="*/ 260 h 812"/>
                      <a:gd name="T104" fmla="*/ 648 w 782"/>
                      <a:gd name="T105" fmla="*/ 210 h 812"/>
                      <a:gd name="T106" fmla="*/ 638 w 782"/>
                      <a:gd name="T107" fmla="*/ 174 h 812"/>
                      <a:gd name="T108" fmla="*/ 596 w 782"/>
                      <a:gd name="T109" fmla="*/ 136 h 812"/>
                      <a:gd name="T110" fmla="*/ 536 w 782"/>
                      <a:gd name="T111" fmla="*/ 116 h 812"/>
                      <a:gd name="T112" fmla="*/ 496 w 782"/>
                      <a:gd name="T113" fmla="*/ 110 h 812"/>
                      <a:gd name="T114" fmla="*/ 480 w 782"/>
                      <a:gd name="T115" fmla="*/ 92 h 812"/>
                      <a:gd name="T116" fmla="*/ 478 w 782"/>
                      <a:gd name="T117" fmla="*/ 72 h 812"/>
                      <a:gd name="T118" fmla="*/ 490 w 782"/>
                      <a:gd name="T119" fmla="*/ 26 h 812"/>
                      <a:gd name="T120" fmla="*/ 514 w 782"/>
                      <a:gd name="T121" fmla="*/ 4 h 812"/>
                      <a:gd name="T122" fmla="*/ 540 w 782"/>
                      <a:gd name="T123" fmla="*/ 0 h 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2" h="812">
                        <a:moveTo>
                          <a:pt x="558" y="0"/>
                        </a:moveTo>
                        <a:lnTo>
                          <a:pt x="558" y="0"/>
                        </a:lnTo>
                        <a:lnTo>
                          <a:pt x="592" y="4"/>
                        </a:lnTo>
                        <a:lnTo>
                          <a:pt x="622" y="10"/>
                        </a:lnTo>
                        <a:lnTo>
                          <a:pt x="650" y="20"/>
                        </a:lnTo>
                        <a:lnTo>
                          <a:pt x="678" y="32"/>
                        </a:lnTo>
                        <a:lnTo>
                          <a:pt x="702" y="50"/>
                        </a:lnTo>
                        <a:lnTo>
                          <a:pt x="712" y="60"/>
                        </a:lnTo>
                        <a:lnTo>
                          <a:pt x="724" y="70"/>
                        </a:lnTo>
                        <a:lnTo>
                          <a:pt x="732" y="82"/>
                        </a:lnTo>
                        <a:lnTo>
                          <a:pt x="742" y="96"/>
                        </a:lnTo>
                        <a:lnTo>
                          <a:pt x="750" y="110"/>
                        </a:lnTo>
                        <a:lnTo>
                          <a:pt x="758" y="126"/>
                        </a:lnTo>
                        <a:lnTo>
                          <a:pt x="758" y="126"/>
                        </a:lnTo>
                        <a:lnTo>
                          <a:pt x="770" y="158"/>
                        </a:lnTo>
                        <a:lnTo>
                          <a:pt x="778" y="188"/>
                        </a:lnTo>
                        <a:lnTo>
                          <a:pt x="782" y="220"/>
                        </a:lnTo>
                        <a:lnTo>
                          <a:pt x="782" y="252"/>
                        </a:lnTo>
                        <a:lnTo>
                          <a:pt x="776" y="282"/>
                        </a:lnTo>
                        <a:lnTo>
                          <a:pt x="766" y="312"/>
                        </a:lnTo>
                        <a:lnTo>
                          <a:pt x="752" y="342"/>
                        </a:lnTo>
                        <a:lnTo>
                          <a:pt x="732" y="370"/>
                        </a:lnTo>
                        <a:lnTo>
                          <a:pt x="732" y="370"/>
                        </a:lnTo>
                        <a:lnTo>
                          <a:pt x="726" y="376"/>
                        </a:lnTo>
                        <a:lnTo>
                          <a:pt x="724" y="382"/>
                        </a:lnTo>
                        <a:lnTo>
                          <a:pt x="724" y="394"/>
                        </a:lnTo>
                        <a:lnTo>
                          <a:pt x="726" y="404"/>
                        </a:lnTo>
                        <a:lnTo>
                          <a:pt x="730" y="416"/>
                        </a:lnTo>
                        <a:lnTo>
                          <a:pt x="730" y="416"/>
                        </a:lnTo>
                        <a:lnTo>
                          <a:pt x="736" y="440"/>
                        </a:lnTo>
                        <a:lnTo>
                          <a:pt x="738" y="466"/>
                        </a:lnTo>
                        <a:lnTo>
                          <a:pt x="740" y="490"/>
                        </a:lnTo>
                        <a:lnTo>
                          <a:pt x="738" y="514"/>
                        </a:lnTo>
                        <a:lnTo>
                          <a:pt x="734" y="538"/>
                        </a:lnTo>
                        <a:lnTo>
                          <a:pt x="728" y="562"/>
                        </a:lnTo>
                        <a:lnTo>
                          <a:pt x="718" y="586"/>
                        </a:lnTo>
                        <a:lnTo>
                          <a:pt x="706" y="608"/>
                        </a:lnTo>
                        <a:lnTo>
                          <a:pt x="706" y="608"/>
                        </a:lnTo>
                        <a:lnTo>
                          <a:pt x="686" y="640"/>
                        </a:lnTo>
                        <a:lnTo>
                          <a:pt x="664" y="666"/>
                        </a:lnTo>
                        <a:lnTo>
                          <a:pt x="640" y="690"/>
                        </a:lnTo>
                        <a:lnTo>
                          <a:pt x="626" y="702"/>
                        </a:lnTo>
                        <a:lnTo>
                          <a:pt x="612" y="710"/>
                        </a:lnTo>
                        <a:lnTo>
                          <a:pt x="598" y="718"/>
                        </a:lnTo>
                        <a:lnTo>
                          <a:pt x="582" y="726"/>
                        </a:lnTo>
                        <a:lnTo>
                          <a:pt x="566" y="732"/>
                        </a:lnTo>
                        <a:lnTo>
                          <a:pt x="550" y="736"/>
                        </a:lnTo>
                        <a:lnTo>
                          <a:pt x="532" y="740"/>
                        </a:lnTo>
                        <a:lnTo>
                          <a:pt x="516" y="742"/>
                        </a:lnTo>
                        <a:lnTo>
                          <a:pt x="498" y="744"/>
                        </a:lnTo>
                        <a:lnTo>
                          <a:pt x="478" y="744"/>
                        </a:lnTo>
                        <a:lnTo>
                          <a:pt x="478" y="744"/>
                        </a:lnTo>
                        <a:lnTo>
                          <a:pt x="458" y="744"/>
                        </a:lnTo>
                        <a:lnTo>
                          <a:pt x="440" y="744"/>
                        </a:lnTo>
                        <a:lnTo>
                          <a:pt x="420" y="746"/>
                        </a:lnTo>
                        <a:lnTo>
                          <a:pt x="402" y="750"/>
                        </a:lnTo>
                        <a:lnTo>
                          <a:pt x="384" y="754"/>
                        </a:lnTo>
                        <a:lnTo>
                          <a:pt x="368" y="762"/>
                        </a:lnTo>
                        <a:lnTo>
                          <a:pt x="350" y="770"/>
                        </a:lnTo>
                        <a:lnTo>
                          <a:pt x="332" y="780"/>
                        </a:lnTo>
                        <a:lnTo>
                          <a:pt x="332" y="780"/>
                        </a:lnTo>
                        <a:lnTo>
                          <a:pt x="304" y="794"/>
                        </a:lnTo>
                        <a:lnTo>
                          <a:pt x="276" y="804"/>
                        </a:lnTo>
                        <a:lnTo>
                          <a:pt x="246" y="810"/>
                        </a:lnTo>
                        <a:lnTo>
                          <a:pt x="218" y="812"/>
                        </a:lnTo>
                        <a:lnTo>
                          <a:pt x="188" y="808"/>
                        </a:lnTo>
                        <a:lnTo>
                          <a:pt x="160" y="802"/>
                        </a:lnTo>
                        <a:lnTo>
                          <a:pt x="132" y="790"/>
                        </a:lnTo>
                        <a:lnTo>
                          <a:pt x="104" y="774"/>
                        </a:lnTo>
                        <a:lnTo>
                          <a:pt x="104" y="774"/>
                        </a:lnTo>
                        <a:lnTo>
                          <a:pt x="76" y="754"/>
                        </a:lnTo>
                        <a:lnTo>
                          <a:pt x="54" y="732"/>
                        </a:lnTo>
                        <a:lnTo>
                          <a:pt x="36" y="708"/>
                        </a:lnTo>
                        <a:lnTo>
                          <a:pt x="22" y="682"/>
                        </a:lnTo>
                        <a:lnTo>
                          <a:pt x="12" y="654"/>
                        </a:lnTo>
                        <a:lnTo>
                          <a:pt x="4" y="624"/>
                        </a:lnTo>
                        <a:lnTo>
                          <a:pt x="0" y="594"/>
                        </a:lnTo>
                        <a:lnTo>
                          <a:pt x="0" y="560"/>
                        </a:lnTo>
                        <a:lnTo>
                          <a:pt x="0" y="560"/>
                        </a:lnTo>
                        <a:lnTo>
                          <a:pt x="2" y="552"/>
                        </a:lnTo>
                        <a:lnTo>
                          <a:pt x="4" y="544"/>
                        </a:lnTo>
                        <a:lnTo>
                          <a:pt x="10" y="536"/>
                        </a:lnTo>
                        <a:lnTo>
                          <a:pt x="16" y="532"/>
                        </a:lnTo>
                        <a:lnTo>
                          <a:pt x="16" y="532"/>
                        </a:lnTo>
                        <a:lnTo>
                          <a:pt x="32" y="526"/>
                        </a:lnTo>
                        <a:lnTo>
                          <a:pt x="48" y="520"/>
                        </a:lnTo>
                        <a:lnTo>
                          <a:pt x="64" y="518"/>
                        </a:lnTo>
                        <a:lnTo>
                          <a:pt x="80" y="516"/>
                        </a:lnTo>
                        <a:lnTo>
                          <a:pt x="80" y="516"/>
                        </a:lnTo>
                        <a:lnTo>
                          <a:pt x="88" y="516"/>
                        </a:lnTo>
                        <a:lnTo>
                          <a:pt x="94" y="518"/>
                        </a:lnTo>
                        <a:lnTo>
                          <a:pt x="98" y="522"/>
                        </a:lnTo>
                        <a:lnTo>
                          <a:pt x="104" y="526"/>
                        </a:lnTo>
                        <a:lnTo>
                          <a:pt x="110" y="538"/>
                        </a:lnTo>
                        <a:lnTo>
                          <a:pt x="114" y="552"/>
                        </a:lnTo>
                        <a:lnTo>
                          <a:pt x="114" y="552"/>
                        </a:lnTo>
                        <a:lnTo>
                          <a:pt x="118" y="574"/>
                        </a:lnTo>
                        <a:lnTo>
                          <a:pt x="124" y="594"/>
                        </a:lnTo>
                        <a:lnTo>
                          <a:pt x="124" y="594"/>
                        </a:lnTo>
                        <a:lnTo>
                          <a:pt x="128" y="610"/>
                        </a:lnTo>
                        <a:lnTo>
                          <a:pt x="134" y="624"/>
                        </a:lnTo>
                        <a:lnTo>
                          <a:pt x="142" y="638"/>
                        </a:lnTo>
                        <a:lnTo>
                          <a:pt x="152" y="648"/>
                        </a:lnTo>
                        <a:lnTo>
                          <a:pt x="162" y="658"/>
                        </a:lnTo>
                        <a:lnTo>
                          <a:pt x="174" y="666"/>
                        </a:lnTo>
                        <a:lnTo>
                          <a:pt x="190" y="670"/>
                        </a:lnTo>
                        <a:lnTo>
                          <a:pt x="206" y="674"/>
                        </a:lnTo>
                        <a:lnTo>
                          <a:pt x="206" y="674"/>
                        </a:lnTo>
                        <a:lnTo>
                          <a:pt x="224" y="676"/>
                        </a:lnTo>
                        <a:lnTo>
                          <a:pt x="242" y="674"/>
                        </a:lnTo>
                        <a:lnTo>
                          <a:pt x="258" y="672"/>
                        </a:lnTo>
                        <a:lnTo>
                          <a:pt x="274" y="666"/>
                        </a:lnTo>
                        <a:lnTo>
                          <a:pt x="288" y="658"/>
                        </a:lnTo>
                        <a:lnTo>
                          <a:pt x="302" y="648"/>
                        </a:lnTo>
                        <a:lnTo>
                          <a:pt x="314" y="636"/>
                        </a:lnTo>
                        <a:lnTo>
                          <a:pt x="326" y="622"/>
                        </a:lnTo>
                        <a:lnTo>
                          <a:pt x="326" y="622"/>
                        </a:lnTo>
                        <a:lnTo>
                          <a:pt x="342" y="602"/>
                        </a:lnTo>
                        <a:lnTo>
                          <a:pt x="348" y="596"/>
                        </a:lnTo>
                        <a:lnTo>
                          <a:pt x="356" y="594"/>
                        </a:lnTo>
                        <a:lnTo>
                          <a:pt x="362" y="592"/>
                        </a:lnTo>
                        <a:lnTo>
                          <a:pt x="372" y="594"/>
                        </a:lnTo>
                        <a:lnTo>
                          <a:pt x="396" y="604"/>
                        </a:lnTo>
                        <a:lnTo>
                          <a:pt x="396" y="604"/>
                        </a:lnTo>
                        <a:lnTo>
                          <a:pt x="420" y="612"/>
                        </a:lnTo>
                        <a:lnTo>
                          <a:pt x="444" y="618"/>
                        </a:lnTo>
                        <a:lnTo>
                          <a:pt x="470" y="620"/>
                        </a:lnTo>
                        <a:lnTo>
                          <a:pt x="494" y="618"/>
                        </a:lnTo>
                        <a:lnTo>
                          <a:pt x="516" y="612"/>
                        </a:lnTo>
                        <a:lnTo>
                          <a:pt x="538" y="604"/>
                        </a:lnTo>
                        <a:lnTo>
                          <a:pt x="556" y="592"/>
                        </a:lnTo>
                        <a:lnTo>
                          <a:pt x="574" y="576"/>
                        </a:lnTo>
                        <a:lnTo>
                          <a:pt x="574" y="576"/>
                        </a:lnTo>
                        <a:lnTo>
                          <a:pt x="588" y="556"/>
                        </a:lnTo>
                        <a:lnTo>
                          <a:pt x="600" y="534"/>
                        </a:lnTo>
                        <a:lnTo>
                          <a:pt x="606" y="510"/>
                        </a:lnTo>
                        <a:lnTo>
                          <a:pt x="610" y="484"/>
                        </a:lnTo>
                        <a:lnTo>
                          <a:pt x="610" y="460"/>
                        </a:lnTo>
                        <a:lnTo>
                          <a:pt x="606" y="434"/>
                        </a:lnTo>
                        <a:lnTo>
                          <a:pt x="598" y="410"/>
                        </a:lnTo>
                        <a:lnTo>
                          <a:pt x="586" y="386"/>
                        </a:lnTo>
                        <a:lnTo>
                          <a:pt x="586" y="386"/>
                        </a:lnTo>
                        <a:lnTo>
                          <a:pt x="582" y="378"/>
                        </a:lnTo>
                        <a:lnTo>
                          <a:pt x="578" y="370"/>
                        </a:lnTo>
                        <a:lnTo>
                          <a:pt x="576" y="362"/>
                        </a:lnTo>
                        <a:lnTo>
                          <a:pt x="576" y="354"/>
                        </a:lnTo>
                        <a:lnTo>
                          <a:pt x="580" y="348"/>
                        </a:lnTo>
                        <a:lnTo>
                          <a:pt x="582" y="340"/>
                        </a:lnTo>
                        <a:lnTo>
                          <a:pt x="588" y="334"/>
                        </a:lnTo>
                        <a:lnTo>
                          <a:pt x="596" y="328"/>
                        </a:lnTo>
                        <a:lnTo>
                          <a:pt x="596" y="328"/>
                        </a:lnTo>
                        <a:lnTo>
                          <a:pt x="610" y="316"/>
                        </a:lnTo>
                        <a:lnTo>
                          <a:pt x="620" y="302"/>
                        </a:lnTo>
                        <a:lnTo>
                          <a:pt x="630" y="290"/>
                        </a:lnTo>
                        <a:lnTo>
                          <a:pt x="638" y="276"/>
                        </a:lnTo>
                        <a:lnTo>
                          <a:pt x="644" y="260"/>
                        </a:lnTo>
                        <a:lnTo>
                          <a:pt x="648" y="244"/>
                        </a:lnTo>
                        <a:lnTo>
                          <a:pt x="648" y="228"/>
                        </a:lnTo>
                        <a:lnTo>
                          <a:pt x="648" y="210"/>
                        </a:lnTo>
                        <a:lnTo>
                          <a:pt x="648" y="210"/>
                        </a:lnTo>
                        <a:lnTo>
                          <a:pt x="644" y="192"/>
                        </a:lnTo>
                        <a:lnTo>
                          <a:pt x="638" y="174"/>
                        </a:lnTo>
                        <a:lnTo>
                          <a:pt x="626" y="160"/>
                        </a:lnTo>
                        <a:lnTo>
                          <a:pt x="614" y="146"/>
                        </a:lnTo>
                        <a:lnTo>
                          <a:pt x="596" y="136"/>
                        </a:lnTo>
                        <a:lnTo>
                          <a:pt x="578" y="126"/>
                        </a:lnTo>
                        <a:lnTo>
                          <a:pt x="558" y="120"/>
                        </a:lnTo>
                        <a:lnTo>
                          <a:pt x="536" y="116"/>
                        </a:lnTo>
                        <a:lnTo>
                          <a:pt x="536" y="116"/>
                        </a:lnTo>
                        <a:lnTo>
                          <a:pt x="506" y="112"/>
                        </a:lnTo>
                        <a:lnTo>
                          <a:pt x="496" y="110"/>
                        </a:lnTo>
                        <a:lnTo>
                          <a:pt x="488" y="106"/>
                        </a:lnTo>
                        <a:lnTo>
                          <a:pt x="482" y="100"/>
                        </a:lnTo>
                        <a:lnTo>
                          <a:pt x="480" y="92"/>
                        </a:lnTo>
                        <a:lnTo>
                          <a:pt x="478" y="84"/>
                        </a:lnTo>
                        <a:lnTo>
                          <a:pt x="478" y="72"/>
                        </a:lnTo>
                        <a:lnTo>
                          <a:pt x="478" y="72"/>
                        </a:lnTo>
                        <a:lnTo>
                          <a:pt x="480" y="54"/>
                        </a:lnTo>
                        <a:lnTo>
                          <a:pt x="484" y="38"/>
                        </a:lnTo>
                        <a:lnTo>
                          <a:pt x="490" y="26"/>
                        </a:lnTo>
                        <a:lnTo>
                          <a:pt x="496" y="16"/>
                        </a:lnTo>
                        <a:lnTo>
                          <a:pt x="504" y="10"/>
                        </a:lnTo>
                        <a:lnTo>
                          <a:pt x="514" y="4"/>
                        </a:lnTo>
                        <a:lnTo>
                          <a:pt x="526" y="2"/>
                        </a:lnTo>
                        <a:lnTo>
                          <a:pt x="540" y="0"/>
                        </a:lnTo>
                        <a:lnTo>
                          <a:pt x="540" y="0"/>
                        </a:lnTo>
                        <a:lnTo>
                          <a:pt x="558" y="0"/>
                        </a:lnTo>
                        <a:lnTo>
                          <a:pt x="5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75208" rtl="0" eaLnBrk="1" fontAlgn="auto" latinLnBrk="0" hangingPunct="1">
                      <a:lnSpc>
                        <a:spcPct val="100000"/>
                      </a:lnSpc>
                      <a:spcBef>
                        <a:spcPts val="0"/>
                      </a:spcBef>
                      <a:spcAft>
                        <a:spcPts val="0"/>
                      </a:spcAft>
                      <a:buClrTx/>
                      <a:buSzTx/>
                      <a:buFontTx/>
                      <a:buNone/>
                      <a:tabLst/>
                      <a:defRPr/>
                    </a:pPr>
                    <a:endParaRPr kumimoji="0" lang="en-US" sz="1920" b="0" i="0" u="none" strike="noStrike" kern="0" cap="none" spc="0" normalizeH="0" baseline="0" noProof="0" dirty="0">
                      <a:ln>
                        <a:noFill/>
                      </a:ln>
                      <a:solidFill>
                        <a:prstClr val="white"/>
                      </a:solidFill>
                      <a:effectLst/>
                      <a:uLnTx/>
                      <a:uFillTx/>
                      <a:latin typeface="Arial" panose="020B0604020202020204"/>
                      <a:ea typeface="+mn-ea"/>
                      <a:cs typeface="+mn-cs"/>
                    </a:endParaRPr>
                  </a:p>
                </p:txBody>
              </p:sp>
              <p:sp>
                <p:nvSpPr>
                  <p:cNvPr id="63" name="Freeform 11">
                    <a:extLst>
                      <a:ext uri="{FF2B5EF4-FFF2-40B4-BE49-F238E27FC236}">
                        <a16:creationId xmlns:a16="http://schemas.microsoft.com/office/drawing/2014/main" id="{8A74EB11-BBFB-4D15-B6D2-0FEA5C97F6DB}"/>
                      </a:ext>
                    </a:extLst>
                  </p:cNvPr>
                  <p:cNvSpPr>
                    <a:spLocks/>
                  </p:cNvSpPr>
                  <p:nvPr/>
                </p:nvSpPr>
                <p:spPr bwMode="auto">
                  <a:xfrm>
                    <a:off x="3778033" y="3754972"/>
                    <a:ext cx="85574" cy="109787"/>
                  </a:xfrm>
                  <a:custGeom>
                    <a:avLst/>
                    <a:gdLst>
                      <a:gd name="T0" fmla="*/ 292 w 292"/>
                      <a:gd name="T1" fmla="*/ 308 h 354"/>
                      <a:gd name="T2" fmla="*/ 292 w 292"/>
                      <a:gd name="T3" fmla="*/ 308 h 354"/>
                      <a:gd name="T4" fmla="*/ 288 w 292"/>
                      <a:gd name="T5" fmla="*/ 316 h 354"/>
                      <a:gd name="T6" fmla="*/ 282 w 292"/>
                      <a:gd name="T7" fmla="*/ 328 h 354"/>
                      <a:gd name="T8" fmla="*/ 282 w 292"/>
                      <a:gd name="T9" fmla="*/ 328 h 354"/>
                      <a:gd name="T10" fmla="*/ 276 w 292"/>
                      <a:gd name="T11" fmla="*/ 334 h 354"/>
                      <a:gd name="T12" fmla="*/ 266 w 292"/>
                      <a:gd name="T13" fmla="*/ 340 h 354"/>
                      <a:gd name="T14" fmla="*/ 254 w 292"/>
                      <a:gd name="T15" fmla="*/ 346 h 354"/>
                      <a:gd name="T16" fmla="*/ 240 w 292"/>
                      <a:gd name="T17" fmla="*/ 350 h 354"/>
                      <a:gd name="T18" fmla="*/ 226 w 292"/>
                      <a:gd name="T19" fmla="*/ 354 h 354"/>
                      <a:gd name="T20" fmla="*/ 212 w 292"/>
                      <a:gd name="T21" fmla="*/ 354 h 354"/>
                      <a:gd name="T22" fmla="*/ 200 w 292"/>
                      <a:gd name="T23" fmla="*/ 354 h 354"/>
                      <a:gd name="T24" fmla="*/ 192 w 292"/>
                      <a:gd name="T25" fmla="*/ 352 h 354"/>
                      <a:gd name="T26" fmla="*/ 192 w 292"/>
                      <a:gd name="T27" fmla="*/ 352 h 354"/>
                      <a:gd name="T28" fmla="*/ 184 w 292"/>
                      <a:gd name="T29" fmla="*/ 348 h 354"/>
                      <a:gd name="T30" fmla="*/ 178 w 292"/>
                      <a:gd name="T31" fmla="*/ 342 h 354"/>
                      <a:gd name="T32" fmla="*/ 172 w 292"/>
                      <a:gd name="T33" fmla="*/ 336 h 354"/>
                      <a:gd name="T34" fmla="*/ 168 w 292"/>
                      <a:gd name="T35" fmla="*/ 328 h 354"/>
                      <a:gd name="T36" fmla="*/ 168 w 292"/>
                      <a:gd name="T37" fmla="*/ 328 h 354"/>
                      <a:gd name="T38" fmla="*/ 156 w 292"/>
                      <a:gd name="T39" fmla="*/ 298 h 354"/>
                      <a:gd name="T40" fmla="*/ 140 w 292"/>
                      <a:gd name="T41" fmla="*/ 268 h 354"/>
                      <a:gd name="T42" fmla="*/ 124 w 292"/>
                      <a:gd name="T43" fmla="*/ 240 h 354"/>
                      <a:gd name="T44" fmla="*/ 106 w 292"/>
                      <a:gd name="T45" fmla="*/ 214 h 354"/>
                      <a:gd name="T46" fmla="*/ 86 w 292"/>
                      <a:gd name="T47" fmla="*/ 188 h 354"/>
                      <a:gd name="T48" fmla="*/ 66 w 292"/>
                      <a:gd name="T49" fmla="*/ 162 h 354"/>
                      <a:gd name="T50" fmla="*/ 44 w 292"/>
                      <a:gd name="T51" fmla="*/ 138 h 354"/>
                      <a:gd name="T52" fmla="*/ 20 w 292"/>
                      <a:gd name="T53" fmla="*/ 114 h 354"/>
                      <a:gd name="T54" fmla="*/ 20 w 292"/>
                      <a:gd name="T55" fmla="*/ 114 h 354"/>
                      <a:gd name="T56" fmla="*/ 12 w 292"/>
                      <a:gd name="T57" fmla="*/ 104 h 354"/>
                      <a:gd name="T58" fmla="*/ 4 w 292"/>
                      <a:gd name="T59" fmla="*/ 96 h 354"/>
                      <a:gd name="T60" fmla="*/ 0 w 292"/>
                      <a:gd name="T61" fmla="*/ 86 h 354"/>
                      <a:gd name="T62" fmla="*/ 0 w 292"/>
                      <a:gd name="T63" fmla="*/ 78 h 354"/>
                      <a:gd name="T64" fmla="*/ 0 w 292"/>
                      <a:gd name="T65" fmla="*/ 70 h 354"/>
                      <a:gd name="T66" fmla="*/ 4 w 292"/>
                      <a:gd name="T67" fmla="*/ 62 h 354"/>
                      <a:gd name="T68" fmla="*/ 10 w 292"/>
                      <a:gd name="T69" fmla="*/ 52 h 354"/>
                      <a:gd name="T70" fmla="*/ 18 w 292"/>
                      <a:gd name="T71" fmla="*/ 42 h 354"/>
                      <a:gd name="T72" fmla="*/ 18 w 292"/>
                      <a:gd name="T73" fmla="*/ 42 h 354"/>
                      <a:gd name="T74" fmla="*/ 36 w 292"/>
                      <a:gd name="T75" fmla="*/ 24 h 354"/>
                      <a:gd name="T76" fmla="*/ 48 w 292"/>
                      <a:gd name="T77" fmla="*/ 12 h 354"/>
                      <a:gd name="T78" fmla="*/ 60 w 292"/>
                      <a:gd name="T79" fmla="*/ 4 h 354"/>
                      <a:gd name="T80" fmla="*/ 66 w 292"/>
                      <a:gd name="T81" fmla="*/ 2 h 354"/>
                      <a:gd name="T82" fmla="*/ 72 w 292"/>
                      <a:gd name="T83" fmla="*/ 0 h 354"/>
                      <a:gd name="T84" fmla="*/ 76 w 292"/>
                      <a:gd name="T85" fmla="*/ 2 h 354"/>
                      <a:gd name="T86" fmla="*/ 82 w 292"/>
                      <a:gd name="T87" fmla="*/ 4 h 354"/>
                      <a:gd name="T88" fmla="*/ 94 w 292"/>
                      <a:gd name="T89" fmla="*/ 10 h 354"/>
                      <a:gd name="T90" fmla="*/ 108 w 292"/>
                      <a:gd name="T91" fmla="*/ 24 h 354"/>
                      <a:gd name="T92" fmla="*/ 126 w 292"/>
                      <a:gd name="T93" fmla="*/ 40 h 354"/>
                      <a:gd name="T94" fmla="*/ 126 w 292"/>
                      <a:gd name="T95" fmla="*/ 40 h 354"/>
                      <a:gd name="T96" fmla="*/ 150 w 292"/>
                      <a:gd name="T97" fmla="*/ 66 h 354"/>
                      <a:gd name="T98" fmla="*/ 174 w 292"/>
                      <a:gd name="T99" fmla="*/ 92 h 354"/>
                      <a:gd name="T100" fmla="*/ 196 w 292"/>
                      <a:gd name="T101" fmla="*/ 120 h 354"/>
                      <a:gd name="T102" fmla="*/ 216 w 292"/>
                      <a:gd name="T103" fmla="*/ 148 h 354"/>
                      <a:gd name="T104" fmla="*/ 236 w 292"/>
                      <a:gd name="T105" fmla="*/ 178 h 354"/>
                      <a:gd name="T106" fmla="*/ 252 w 292"/>
                      <a:gd name="T107" fmla="*/ 208 h 354"/>
                      <a:gd name="T108" fmla="*/ 268 w 292"/>
                      <a:gd name="T109" fmla="*/ 240 h 354"/>
                      <a:gd name="T110" fmla="*/ 282 w 292"/>
                      <a:gd name="T111" fmla="*/ 272 h 354"/>
                      <a:gd name="T112" fmla="*/ 282 w 292"/>
                      <a:gd name="T113" fmla="*/ 272 h 354"/>
                      <a:gd name="T114" fmla="*/ 290 w 292"/>
                      <a:gd name="T115" fmla="*/ 294 h 354"/>
                      <a:gd name="T116" fmla="*/ 290 w 292"/>
                      <a:gd name="T117" fmla="*/ 294 h 354"/>
                      <a:gd name="T118" fmla="*/ 292 w 292"/>
                      <a:gd name="T119" fmla="*/ 308 h 354"/>
                      <a:gd name="T120" fmla="*/ 292 w 292"/>
                      <a:gd name="T121" fmla="*/ 308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2" h="354">
                        <a:moveTo>
                          <a:pt x="292" y="308"/>
                        </a:moveTo>
                        <a:lnTo>
                          <a:pt x="292" y="308"/>
                        </a:lnTo>
                        <a:lnTo>
                          <a:pt x="288" y="316"/>
                        </a:lnTo>
                        <a:lnTo>
                          <a:pt x="282" y="328"/>
                        </a:lnTo>
                        <a:lnTo>
                          <a:pt x="282" y="328"/>
                        </a:lnTo>
                        <a:lnTo>
                          <a:pt x="276" y="334"/>
                        </a:lnTo>
                        <a:lnTo>
                          <a:pt x="266" y="340"/>
                        </a:lnTo>
                        <a:lnTo>
                          <a:pt x="254" y="346"/>
                        </a:lnTo>
                        <a:lnTo>
                          <a:pt x="240" y="350"/>
                        </a:lnTo>
                        <a:lnTo>
                          <a:pt x="226" y="354"/>
                        </a:lnTo>
                        <a:lnTo>
                          <a:pt x="212" y="354"/>
                        </a:lnTo>
                        <a:lnTo>
                          <a:pt x="200" y="354"/>
                        </a:lnTo>
                        <a:lnTo>
                          <a:pt x="192" y="352"/>
                        </a:lnTo>
                        <a:lnTo>
                          <a:pt x="192" y="352"/>
                        </a:lnTo>
                        <a:lnTo>
                          <a:pt x="184" y="348"/>
                        </a:lnTo>
                        <a:lnTo>
                          <a:pt x="178" y="342"/>
                        </a:lnTo>
                        <a:lnTo>
                          <a:pt x="172" y="336"/>
                        </a:lnTo>
                        <a:lnTo>
                          <a:pt x="168" y="328"/>
                        </a:lnTo>
                        <a:lnTo>
                          <a:pt x="168" y="328"/>
                        </a:lnTo>
                        <a:lnTo>
                          <a:pt x="156" y="298"/>
                        </a:lnTo>
                        <a:lnTo>
                          <a:pt x="140" y="268"/>
                        </a:lnTo>
                        <a:lnTo>
                          <a:pt x="124" y="240"/>
                        </a:lnTo>
                        <a:lnTo>
                          <a:pt x="106" y="214"/>
                        </a:lnTo>
                        <a:lnTo>
                          <a:pt x="86" y="188"/>
                        </a:lnTo>
                        <a:lnTo>
                          <a:pt x="66" y="162"/>
                        </a:lnTo>
                        <a:lnTo>
                          <a:pt x="44" y="138"/>
                        </a:lnTo>
                        <a:lnTo>
                          <a:pt x="20" y="114"/>
                        </a:lnTo>
                        <a:lnTo>
                          <a:pt x="20" y="114"/>
                        </a:lnTo>
                        <a:lnTo>
                          <a:pt x="12" y="104"/>
                        </a:lnTo>
                        <a:lnTo>
                          <a:pt x="4" y="96"/>
                        </a:lnTo>
                        <a:lnTo>
                          <a:pt x="0" y="86"/>
                        </a:lnTo>
                        <a:lnTo>
                          <a:pt x="0" y="78"/>
                        </a:lnTo>
                        <a:lnTo>
                          <a:pt x="0" y="70"/>
                        </a:lnTo>
                        <a:lnTo>
                          <a:pt x="4" y="62"/>
                        </a:lnTo>
                        <a:lnTo>
                          <a:pt x="10" y="52"/>
                        </a:lnTo>
                        <a:lnTo>
                          <a:pt x="18" y="42"/>
                        </a:lnTo>
                        <a:lnTo>
                          <a:pt x="18" y="42"/>
                        </a:lnTo>
                        <a:lnTo>
                          <a:pt x="36" y="24"/>
                        </a:lnTo>
                        <a:lnTo>
                          <a:pt x="48" y="12"/>
                        </a:lnTo>
                        <a:lnTo>
                          <a:pt x="60" y="4"/>
                        </a:lnTo>
                        <a:lnTo>
                          <a:pt x="66" y="2"/>
                        </a:lnTo>
                        <a:lnTo>
                          <a:pt x="72" y="0"/>
                        </a:lnTo>
                        <a:lnTo>
                          <a:pt x="76" y="2"/>
                        </a:lnTo>
                        <a:lnTo>
                          <a:pt x="82" y="4"/>
                        </a:lnTo>
                        <a:lnTo>
                          <a:pt x="94" y="10"/>
                        </a:lnTo>
                        <a:lnTo>
                          <a:pt x="108" y="24"/>
                        </a:lnTo>
                        <a:lnTo>
                          <a:pt x="126" y="40"/>
                        </a:lnTo>
                        <a:lnTo>
                          <a:pt x="126" y="40"/>
                        </a:lnTo>
                        <a:lnTo>
                          <a:pt x="150" y="66"/>
                        </a:lnTo>
                        <a:lnTo>
                          <a:pt x="174" y="92"/>
                        </a:lnTo>
                        <a:lnTo>
                          <a:pt x="196" y="120"/>
                        </a:lnTo>
                        <a:lnTo>
                          <a:pt x="216" y="148"/>
                        </a:lnTo>
                        <a:lnTo>
                          <a:pt x="236" y="178"/>
                        </a:lnTo>
                        <a:lnTo>
                          <a:pt x="252" y="208"/>
                        </a:lnTo>
                        <a:lnTo>
                          <a:pt x="268" y="240"/>
                        </a:lnTo>
                        <a:lnTo>
                          <a:pt x="282" y="272"/>
                        </a:lnTo>
                        <a:lnTo>
                          <a:pt x="282" y="272"/>
                        </a:lnTo>
                        <a:lnTo>
                          <a:pt x="290" y="294"/>
                        </a:lnTo>
                        <a:lnTo>
                          <a:pt x="290" y="294"/>
                        </a:lnTo>
                        <a:lnTo>
                          <a:pt x="292" y="308"/>
                        </a:lnTo>
                        <a:lnTo>
                          <a:pt x="292" y="308"/>
                        </a:lnTo>
                        <a:close/>
                      </a:path>
                    </a:pathLst>
                  </a:custGeom>
                  <a:grpFill/>
                  <a:ln>
                    <a:noFill/>
                  </a:ln>
                </p:spPr>
                <p:txBody>
                  <a:bodyPr vert="horz" wrap="square" lIns="0" tIns="0" rIns="0" bIns="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75208" rtl="0" eaLnBrk="1" fontAlgn="auto" latinLnBrk="0" hangingPunct="1">
                      <a:lnSpc>
                        <a:spcPct val="100000"/>
                      </a:lnSpc>
                      <a:spcBef>
                        <a:spcPts val="0"/>
                      </a:spcBef>
                      <a:spcAft>
                        <a:spcPts val="0"/>
                      </a:spcAft>
                      <a:buClrTx/>
                      <a:buSzTx/>
                      <a:buFontTx/>
                      <a:buNone/>
                      <a:tabLst/>
                      <a:defRPr/>
                    </a:pPr>
                    <a:endParaRPr kumimoji="0" lang="en-US" sz="1920" b="0" i="0" u="none" strike="noStrike" kern="0" cap="none" spc="0" normalizeH="0" baseline="0" noProof="0" dirty="0">
                      <a:ln>
                        <a:noFill/>
                      </a:ln>
                      <a:solidFill>
                        <a:prstClr val="white"/>
                      </a:solidFill>
                      <a:effectLst/>
                      <a:uLnTx/>
                      <a:uFillTx/>
                      <a:latin typeface="Arial" panose="020B0604020202020204"/>
                      <a:ea typeface="+mn-ea"/>
                      <a:cs typeface="+mn-cs"/>
                    </a:endParaRPr>
                  </a:p>
                </p:txBody>
              </p:sp>
              <p:sp>
                <p:nvSpPr>
                  <p:cNvPr id="64" name="Freeform 12">
                    <a:extLst>
                      <a:ext uri="{FF2B5EF4-FFF2-40B4-BE49-F238E27FC236}">
                        <a16:creationId xmlns:a16="http://schemas.microsoft.com/office/drawing/2014/main" id="{8974173A-E2FF-4F73-8A20-2414D7889FF6}"/>
                      </a:ext>
                    </a:extLst>
                  </p:cNvPr>
                  <p:cNvSpPr>
                    <a:spLocks/>
                  </p:cNvSpPr>
                  <p:nvPr/>
                </p:nvSpPr>
                <p:spPr bwMode="auto">
                  <a:xfrm>
                    <a:off x="3815545" y="3714655"/>
                    <a:ext cx="104330" cy="84977"/>
                  </a:xfrm>
                  <a:custGeom>
                    <a:avLst/>
                    <a:gdLst>
                      <a:gd name="T0" fmla="*/ 312 w 356"/>
                      <a:gd name="T1" fmla="*/ 274 h 274"/>
                      <a:gd name="T2" fmla="*/ 312 w 356"/>
                      <a:gd name="T3" fmla="*/ 274 h 274"/>
                      <a:gd name="T4" fmla="*/ 270 w 356"/>
                      <a:gd name="T5" fmla="*/ 262 h 274"/>
                      <a:gd name="T6" fmla="*/ 232 w 356"/>
                      <a:gd name="T7" fmla="*/ 248 h 274"/>
                      <a:gd name="T8" fmla="*/ 232 w 356"/>
                      <a:gd name="T9" fmla="*/ 248 h 274"/>
                      <a:gd name="T10" fmla="*/ 202 w 356"/>
                      <a:gd name="T11" fmla="*/ 236 h 274"/>
                      <a:gd name="T12" fmla="*/ 172 w 356"/>
                      <a:gd name="T13" fmla="*/ 222 h 274"/>
                      <a:gd name="T14" fmla="*/ 144 w 356"/>
                      <a:gd name="T15" fmla="*/ 206 h 274"/>
                      <a:gd name="T16" fmla="*/ 116 w 356"/>
                      <a:gd name="T17" fmla="*/ 188 h 274"/>
                      <a:gd name="T18" fmla="*/ 90 w 356"/>
                      <a:gd name="T19" fmla="*/ 170 h 274"/>
                      <a:gd name="T20" fmla="*/ 64 w 356"/>
                      <a:gd name="T21" fmla="*/ 150 h 274"/>
                      <a:gd name="T22" fmla="*/ 14 w 356"/>
                      <a:gd name="T23" fmla="*/ 110 h 274"/>
                      <a:gd name="T24" fmla="*/ 14 w 356"/>
                      <a:gd name="T25" fmla="*/ 110 h 274"/>
                      <a:gd name="T26" fmla="*/ 8 w 356"/>
                      <a:gd name="T27" fmla="*/ 102 h 274"/>
                      <a:gd name="T28" fmla="*/ 4 w 356"/>
                      <a:gd name="T29" fmla="*/ 94 h 274"/>
                      <a:gd name="T30" fmla="*/ 2 w 356"/>
                      <a:gd name="T31" fmla="*/ 84 h 274"/>
                      <a:gd name="T32" fmla="*/ 0 w 356"/>
                      <a:gd name="T33" fmla="*/ 72 h 274"/>
                      <a:gd name="T34" fmla="*/ 0 w 356"/>
                      <a:gd name="T35" fmla="*/ 72 h 274"/>
                      <a:gd name="T36" fmla="*/ 2 w 356"/>
                      <a:gd name="T37" fmla="*/ 64 h 274"/>
                      <a:gd name="T38" fmla="*/ 6 w 356"/>
                      <a:gd name="T39" fmla="*/ 52 h 274"/>
                      <a:gd name="T40" fmla="*/ 12 w 356"/>
                      <a:gd name="T41" fmla="*/ 40 h 274"/>
                      <a:gd name="T42" fmla="*/ 22 w 356"/>
                      <a:gd name="T43" fmla="*/ 28 h 274"/>
                      <a:gd name="T44" fmla="*/ 32 w 356"/>
                      <a:gd name="T45" fmla="*/ 18 h 274"/>
                      <a:gd name="T46" fmla="*/ 42 w 356"/>
                      <a:gd name="T47" fmla="*/ 8 h 274"/>
                      <a:gd name="T48" fmla="*/ 52 w 356"/>
                      <a:gd name="T49" fmla="*/ 2 h 274"/>
                      <a:gd name="T50" fmla="*/ 60 w 356"/>
                      <a:gd name="T51" fmla="*/ 0 h 274"/>
                      <a:gd name="T52" fmla="*/ 60 w 356"/>
                      <a:gd name="T53" fmla="*/ 0 h 274"/>
                      <a:gd name="T54" fmla="*/ 70 w 356"/>
                      <a:gd name="T55" fmla="*/ 2 h 274"/>
                      <a:gd name="T56" fmla="*/ 80 w 356"/>
                      <a:gd name="T57" fmla="*/ 4 h 274"/>
                      <a:gd name="T58" fmla="*/ 90 w 356"/>
                      <a:gd name="T59" fmla="*/ 8 h 274"/>
                      <a:gd name="T60" fmla="*/ 98 w 356"/>
                      <a:gd name="T61" fmla="*/ 14 h 274"/>
                      <a:gd name="T62" fmla="*/ 98 w 356"/>
                      <a:gd name="T63" fmla="*/ 14 h 274"/>
                      <a:gd name="T64" fmla="*/ 136 w 356"/>
                      <a:gd name="T65" fmla="*/ 46 h 274"/>
                      <a:gd name="T66" fmla="*/ 176 w 356"/>
                      <a:gd name="T67" fmla="*/ 74 h 274"/>
                      <a:gd name="T68" fmla="*/ 218 w 356"/>
                      <a:gd name="T69" fmla="*/ 100 h 274"/>
                      <a:gd name="T70" fmla="*/ 240 w 356"/>
                      <a:gd name="T71" fmla="*/ 112 h 274"/>
                      <a:gd name="T72" fmla="*/ 262 w 356"/>
                      <a:gd name="T73" fmla="*/ 122 h 274"/>
                      <a:gd name="T74" fmla="*/ 262 w 356"/>
                      <a:gd name="T75" fmla="*/ 122 h 274"/>
                      <a:gd name="T76" fmla="*/ 292 w 356"/>
                      <a:gd name="T77" fmla="*/ 134 h 274"/>
                      <a:gd name="T78" fmla="*/ 324 w 356"/>
                      <a:gd name="T79" fmla="*/ 146 h 274"/>
                      <a:gd name="T80" fmla="*/ 324 w 356"/>
                      <a:gd name="T81" fmla="*/ 146 h 274"/>
                      <a:gd name="T82" fmla="*/ 336 w 356"/>
                      <a:gd name="T83" fmla="*/ 152 h 274"/>
                      <a:gd name="T84" fmla="*/ 348 w 356"/>
                      <a:gd name="T85" fmla="*/ 160 h 274"/>
                      <a:gd name="T86" fmla="*/ 352 w 356"/>
                      <a:gd name="T87" fmla="*/ 164 h 274"/>
                      <a:gd name="T88" fmla="*/ 354 w 356"/>
                      <a:gd name="T89" fmla="*/ 170 h 274"/>
                      <a:gd name="T90" fmla="*/ 356 w 356"/>
                      <a:gd name="T91" fmla="*/ 176 h 274"/>
                      <a:gd name="T92" fmla="*/ 356 w 356"/>
                      <a:gd name="T93" fmla="*/ 184 h 274"/>
                      <a:gd name="T94" fmla="*/ 356 w 356"/>
                      <a:gd name="T95" fmla="*/ 184 h 274"/>
                      <a:gd name="T96" fmla="*/ 354 w 356"/>
                      <a:gd name="T97" fmla="*/ 202 h 274"/>
                      <a:gd name="T98" fmla="*/ 350 w 356"/>
                      <a:gd name="T99" fmla="*/ 220 h 274"/>
                      <a:gd name="T100" fmla="*/ 340 w 356"/>
                      <a:gd name="T101" fmla="*/ 256 h 274"/>
                      <a:gd name="T102" fmla="*/ 340 w 356"/>
                      <a:gd name="T103" fmla="*/ 256 h 274"/>
                      <a:gd name="T104" fmla="*/ 334 w 356"/>
                      <a:gd name="T105" fmla="*/ 262 h 274"/>
                      <a:gd name="T106" fmla="*/ 328 w 356"/>
                      <a:gd name="T107" fmla="*/ 266 h 274"/>
                      <a:gd name="T108" fmla="*/ 312 w 356"/>
                      <a:gd name="T109" fmla="*/ 274 h 274"/>
                      <a:gd name="T110" fmla="*/ 312 w 356"/>
                      <a:gd name="T111"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56" h="274">
                        <a:moveTo>
                          <a:pt x="312" y="274"/>
                        </a:moveTo>
                        <a:lnTo>
                          <a:pt x="312" y="274"/>
                        </a:lnTo>
                        <a:lnTo>
                          <a:pt x="270" y="262"/>
                        </a:lnTo>
                        <a:lnTo>
                          <a:pt x="232" y="248"/>
                        </a:lnTo>
                        <a:lnTo>
                          <a:pt x="232" y="248"/>
                        </a:lnTo>
                        <a:lnTo>
                          <a:pt x="202" y="236"/>
                        </a:lnTo>
                        <a:lnTo>
                          <a:pt x="172" y="222"/>
                        </a:lnTo>
                        <a:lnTo>
                          <a:pt x="144" y="206"/>
                        </a:lnTo>
                        <a:lnTo>
                          <a:pt x="116" y="188"/>
                        </a:lnTo>
                        <a:lnTo>
                          <a:pt x="90" y="170"/>
                        </a:lnTo>
                        <a:lnTo>
                          <a:pt x="64" y="150"/>
                        </a:lnTo>
                        <a:lnTo>
                          <a:pt x="14" y="110"/>
                        </a:lnTo>
                        <a:lnTo>
                          <a:pt x="14" y="110"/>
                        </a:lnTo>
                        <a:lnTo>
                          <a:pt x="8" y="102"/>
                        </a:lnTo>
                        <a:lnTo>
                          <a:pt x="4" y="94"/>
                        </a:lnTo>
                        <a:lnTo>
                          <a:pt x="2" y="84"/>
                        </a:lnTo>
                        <a:lnTo>
                          <a:pt x="0" y="72"/>
                        </a:lnTo>
                        <a:lnTo>
                          <a:pt x="0" y="72"/>
                        </a:lnTo>
                        <a:lnTo>
                          <a:pt x="2" y="64"/>
                        </a:lnTo>
                        <a:lnTo>
                          <a:pt x="6" y="52"/>
                        </a:lnTo>
                        <a:lnTo>
                          <a:pt x="12" y="40"/>
                        </a:lnTo>
                        <a:lnTo>
                          <a:pt x="22" y="28"/>
                        </a:lnTo>
                        <a:lnTo>
                          <a:pt x="32" y="18"/>
                        </a:lnTo>
                        <a:lnTo>
                          <a:pt x="42" y="8"/>
                        </a:lnTo>
                        <a:lnTo>
                          <a:pt x="52" y="2"/>
                        </a:lnTo>
                        <a:lnTo>
                          <a:pt x="60" y="0"/>
                        </a:lnTo>
                        <a:lnTo>
                          <a:pt x="60" y="0"/>
                        </a:lnTo>
                        <a:lnTo>
                          <a:pt x="70" y="2"/>
                        </a:lnTo>
                        <a:lnTo>
                          <a:pt x="80" y="4"/>
                        </a:lnTo>
                        <a:lnTo>
                          <a:pt x="90" y="8"/>
                        </a:lnTo>
                        <a:lnTo>
                          <a:pt x="98" y="14"/>
                        </a:lnTo>
                        <a:lnTo>
                          <a:pt x="98" y="14"/>
                        </a:lnTo>
                        <a:lnTo>
                          <a:pt x="136" y="46"/>
                        </a:lnTo>
                        <a:lnTo>
                          <a:pt x="176" y="74"/>
                        </a:lnTo>
                        <a:lnTo>
                          <a:pt x="218" y="100"/>
                        </a:lnTo>
                        <a:lnTo>
                          <a:pt x="240" y="112"/>
                        </a:lnTo>
                        <a:lnTo>
                          <a:pt x="262" y="122"/>
                        </a:lnTo>
                        <a:lnTo>
                          <a:pt x="262" y="122"/>
                        </a:lnTo>
                        <a:lnTo>
                          <a:pt x="292" y="134"/>
                        </a:lnTo>
                        <a:lnTo>
                          <a:pt x="324" y="146"/>
                        </a:lnTo>
                        <a:lnTo>
                          <a:pt x="324" y="146"/>
                        </a:lnTo>
                        <a:lnTo>
                          <a:pt x="336" y="152"/>
                        </a:lnTo>
                        <a:lnTo>
                          <a:pt x="348" y="160"/>
                        </a:lnTo>
                        <a:lnTo>
                          <a:pt x="352" y="164"/>
                        </a:lnTo>
                        <a:lnTo>
                          <a:pt x="354" y="170"/>
                        </a:lnTo>
                        <a:lnTo>
                          <a:pt x="356" y="176"/>
                        </a:lnTo>
                        <a:lnTo>
                          <a:pt x="356" y="184"/>
                        </a:lnTo>
                        <a:lnTo>
                          <a:pt x="356" y="184"/>
                        </a:lnTo>
                        <a:lnTo>
                          <a:pt x="354" y="202"/>
                        </a:lnTo>
                        <a:lnTo>
                          <a:pt x="350" y="220"/>
                        </a:lnTo>
                        <a:lnTo>
                          <a:pt x="340" y="256"/>
                        </a:lnTo>
                        <a:lnTo>
                          <a:pt x="340" y="256"/>
                        </a:lnTo>
                        <a:lnTo>
                          <a:pt x="334" y="262"/>
                        </a:lnTo>
                        <a:lnTo>
                          <a:pt x="328" y="266"/>
                        </a:lnTo>
                        <a:lnTo>
                          <a:pt x="312" y="274"/>
                        </a:lnTo>
                        <a:lnTo>
                          <a:pt x="312" y="274"/>
                        </a:lnTo>
                        <a:close/>
                      </a:path>
                    </a:pathLst>
                  </a:custGeom>
                  <a:grpFill/>
                  <a:ln>
                    <a:noFill/>
                  </a:ln>
                </p:spPr>
                <p:txBody>
                  <a:bodyPr vert="horz" wrap="square" lIns="0" tIns="0" rIns="0" bIns="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75208" rtl="0" eaLnBrk="1" fontAlgn="auto" latinLnBrk="0" hangingPunct="1">
                      <a:lnSpc>
                        <a:spcPct val="100000"/>
                      </a:lnSpc>
                      <a:spcBef>
                        <a:spcPts val="0"/>
                      </a:spcBef>
                      <a:spcAft>
                        <a:spcPts val="0"/>
                      </a:spcAft>
                      <a:buClrTx/>
                      <a:buSzTx/>
                      <a:buFontTx/>
                      <a:buNone/>
                      <a:tabLst/>
                      <a:defRPr/>
                    </a:pPr>
                    <a:endParaRPr kumimoji="0" lang="en-US" sz="1920" b="0" i="0" u="none" strike="noStrike" kern="0" cap="none" spc="0" normalizeH="0" baseline="0" noProof="0" dirty="0">
                      <a:ln>
                        <a:noFill/>
                      </a:ln>
                      <a:solidFill>
                        <a:prstClr val="white"/>
                      </a:solidFill>
                      <a:effectLst/>
                      <a:uLnTx/>
                      <a:uFillTx/>
                      <a:latin typeface="Arial" panose="020B0604020202020204"/>
                      <a:ea typeface="+mn-ea"/>
                      <a:cs typeface="+mn-cs"/>
                    </a:endParaRPr>
                  </a:p>
                </p:txBody>
              </p:sp>
            </p:grpSp>
            <p:sp>
              <p:nvSpPr>
                <p:cNvPr id="61" name="Freeform 9">
                  <a:extLst>
                    <a:ext uri="{FF2B5EF4-FFF2-40B4-BE49-F238E27FC236}">
                      <a16:creationId xmlns:a16="http://schemas.microsoft.com/office/drawing/2014/main" id="{EE43C053-8340-4CF7-B2BD-846F935F7170}"/>
                    </a:ext>
                  </a:extLst>
                </p:cNvPr>
                <p:cNvSpPr>
                  <a:spLocks/>
                </p:cNvSpPr>
                <p:nvPr/>
              </p:nvSpPr>
              <p:spPr bwMode="auto">
                <a:xfrm>
                  <a:off x="1304871" y="2517855"/>
                  <a:ext cx="197988" cy="259258"/>
                </a:xfrm>
                <a:custGeom>
                  <a:avLst/>
                  <a:gdLst>
                    <a:gd name="T0" fmla="*/ 176 w 1594"/>
                    <a:gd name="T1" fmla="*/ 1994 h 1994"/>
                    <a:gd name="T2" fmla="*/ 136 w 1594"/>
                    <a:gd name="T3" fmla="*/ 1982 h 1994"/>
                    <a:gd name="T4" fmla="*/ 132 w 1594"/>
                    <a:gd name="T5" fmla="*/ 1942 h 1994"/>
                    <a:gd name="T6" fmla="*/ 178 w 1594"/>
                    <a:gd name="T7" fmla="*/ 1582 h 1994"/>
                    <a:gd name="T8" fmla="*/ 184 w 1594"/>
                    <a:gd name="T9" fmla="*/ 1352 h 1994"/>
                    <a:gd name="T10" fmla="*/ 142 w 1594"/>
                    <a:gd name="T11" fmla="*/ 1144 h 1994"/>
                    <a:gd name="T12" fmla="*/ 80 w 1594"/>
                    <a:gd name="T13" fmla="*/ 976 h 1994"/>
                    <a:gd name="T14" fmla="*/ 16 w 1594"/>
                    <a:gd name="T15" fmla="*/ 776 h 1994"/>
                    <a:gd name="T16" fmla="*/ 0 w 1594"/>
                    <a:gd name="T17" fmla="*/ 652 h 1994"/>
                    <a:gd name="T18" fmla="*/ 16 w 1594"/>
                    <a:gd name="T19" fmla="*/ 500 h 1994"/>
                    <a:gd name="T20" fmla="*/ 74 w 1594"/>
                    <a:gd name="T21" fmla="*/ 360 h 1994"/>
                    <a:gd name="T22" fmla="*/ 170 w 1594"/>
                    <a:gd name="T23" fmla="*/ 232 h 1994"/>
                    <a:gd name="T24" fmla="*/ 248 w 1594"/>
                    <a:gd name="T25" fmla="*/ 162 h 1994"/>
                    <a:gd name="T26" fmla="*/ 348 w 1594"/>
                    <a:gd name="T27" fmla="*/ 94 h 1994"/>
                    <a:gd name="T28" fmla="*/ 458 w 1594"/>
                    <a:gd name="T29" fmla="*/ 46 h 1994"/>
                    <a:gd name="T30" fmla="*/ 638 w 1594"/>
                    <a:gd name="T31" fmla="*/ 6 h 1994"/>
                    <a:gd name="T32" fmla="*/ 756 w 1594"/>
                    <a:gd name="T33" fmla="*/ 0 h 1994"/>
                    <a:gd name="T34" fmla="*/ 910 w 1594"/>
                    <a:gd name="T35" fmla="*/ 18 h 1994"/>
                    <a:gd name="T36" fmla="*/ 1054 w 1594"/>
                    <a:gd name="T37" fmla="*/ 64 h 1994"/>
                    <a:gd name="T38" fmla="*/ 1190 w 1594"/>
                    <a:gd name="T39" fmla="*/ 144 h 1994"/>
                    <a:gd name="T40" fmla="*/ 1280 w 1594"/>
                    <a:gd name="T41" fmla="*/ 220 h 1994"/>
                    <a:gd name="T42" fmla="*/ 1376 w 1594"/>
                    <a:gd name="T43" fmla="*/ 338 h 1994"/>
                    <a:gd name="T44" fmla="*/ 1436 w 1594"/>
                    <a:gd name="T45" fmla="*/ 470 h 1994"/>
                    <a:gd name="T46" fmla="*/ 1460 w 1594"/>
                    <a:gd name="T47" fmla="*/ 620 h 1994"/>
                    <a:gd name="T48" fmla="*/ 1456 w 1594"/>
                    <a:gd name="T49" fmla="*/ 738 h 1994"/>
                    <a:gd name="T50" fmla="*/ 1440 w 1594"/>
                    <a:gd name="T51" fmla="*/ 870 h 1994"/>
                    <a:gd name="T52" fmla="*/ 1444 w 1594"/>
                    <a:gd name="T53" fmla="*/ 938 h 1994"/>
                    <a:gd name="T54" fmla="*/ 1488 w 1594"/>
                    <a:gd name="T55" fmla="*/ 1014 h 1994"/>
                    <a:gd name="T56" fmla="*/ 1540 w 1594"/>
                    <a:gd name="T57" fmla="*/ 1062 h 1994"/>
                    <a:gd name="T58" fmla="*/ 1588 w 1594"/>
                    <a:gd name="T59" fmla="*/ 1128 h 1994"/>
                    <a:gd name="T60" fmla="*/ 1586 w 1594"/>
                    <a:gd name="T61" fmla="*/ 1184 h 1994"/>
                    <a:gd name="T62" fmla="*/ 1550 w 1594"/>
                    <a:gd name="T63" fmla="*/ 1222 h 1994"/>
                    <a:gd name="T64" fmla="*/ 1488 w 1594"/>
                    <a:gd name="T65" fmla="*/ 1258 h 1994"/>
                    <a:gd name="T66" fmla="*/ 1456 w 1594"/>
                    <a:gd name="T67" fmla="*/ 1302 h 1994"/>
                    <a:gd name="T68" fmla="*/ 1466 w 1594"/>
                    <a:gd name="T69" fmla="*/ 1348 h 1994"/>
                    <a:gd name="T70" fmla="*/ 1478 w 1594"/>
                    <a:gd name="T71" fmla="*/ 1410 h 1994"/>
                    <a:gd name="T72" fmla="*/ 1466 w 1594"/>
                    <a:gd name="T73" fmla="*/ 1450 h 1994"/>
                    <a:gd name="T74" fmla="*/ 1432 w 1594"/>
                    <a:gd name="T75" fmla="*/ 1478 h 1994"/>
                    <a:gd name="T76" fmla="*/ 1386 w 1594"/>
                    <a:gd name="T77" fmla="*/ 1496 h 1994"/>
                    <a:gd name="T78" fmla="*/ 1364 w 1594"/>
                    <a:gd name="T79" fmla="*/ 1516 h 1994"/>
                    <a:gd name="T80" fmla="*/ 1350 w 1594"/>
                    <a:gd name="T81" fmla="*/ 1584 h 1994"/>
                    <a:gd name="T82" fmla="*/ 1352 w 1594"/>
                    <a:gd name="T83" fmla="*/ 1632 h 1994"/>
                    <a:gd name="T84" fmla="*/ 1314 w 1594"/>
                    <a:gd name="T85" fmla="*/ 1698 h 1994"/>
                    <a:gd name="T86" fmla="*/ 1254 w 1594"/>
                    <a:gd name="T87" fmla="*/ 1710 h 1994"/>
                    <a:gd name="T88" fmla="*/ 1128 w 1594"/>
                    <a:gd name="T89" fmla="*/ 1692 h 1994"/>
                    <a:gd name="T90" fmla="*/ 972 w 1594"/>
                    <a:gd name="T91" fmla="*/ 1680 h 1994"/>
                    <a:gd name="T92" fmla="*/ 936 w 1594"/>
                    <a:gd name="T93" fmla="*/ 1688 h 1994"/>
                    <a:gd name="T94" fmla="*/ 910 w 1594"/>
                    <a:gd name="T95" fmla="*/ 1722 h 1994"/>
                    <a:gd name="T96" fmla="*/ 898 w 1594"/>
                    <a:gd name="T97" fmla="*/ 1814 h 1994"/>
                    <a:gd name="T98" fmla="*/ 898 w 1594"/>
                    <a:gd name="T99" fmla="*/ 1916 h 1994"/>
                    <a:gd name="T100" fmla="*/ 914 w 1594"/>
                    <a:gd name="T101" fmla="*/ 1958 h 1994"/>
                    <a:gd name="T102" fmla="*/ 908 w 1594"/>
                    <a:gd name="T103" fmla="*/ 1982 h 1994"/>
                    <a:gd name="T104" fmla="*/ 880 w 1594"/>
                    <a:gd name="T105" fmla="*/ 1994 h 1994"/>
                    <a:gd name="T106" fmla="*/ 524 w 1594"/>
                    <a:gd name="T107" fmla="*/ 1994 h 1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94" h="1994">
                      <a:moveTo>
                        <a:pt x="524" y="1994"/>
                      </a:moveTo>
                      <a:lnTo>
                        <a:pt x="524" y="1994"/>
                      </a:lnTo>
                      <a:lnTo>
                        <a:pt x="176" y="1994"/>
                      </a:lnTo>
                      <a:lnTo>
                        <a:pt x="176" y="1994"/>
                      </a:lnTo>
                      <a:lnTo>
                        <a:pt x="162" y="1994"/>
                      </a:lnTo>
                      <a:lnTo>
                        <a:pt x="152" y="1992"/>
                      </a:lnTo>
                      <a:lnTo>
                        <a:pt x="142" y="1988"/>
                      </a:lnTo>
                      <a:lnTo>
                        <a:pt x="136" y="1982"/>
                      </a:lnTo>
                      <a:lnTo>
                        <a:pt x="132" y="1976"/>
                      </a:lnTo>
                      <a:lnTo>
                        <a:pt x="130" y="1966"/>
                      </a:lnTo>
                      <a:lnTo>
                        <a:pt x="130" y="1956"/>
                      </a:lnTo>
                      <a:lnTo>
                        <a:pt x="132" y="1942"/>
                      </a:lnTo>
                      <a:lnTo>
                        <a:pt x="132" y="1942"/>
                      </a:lnTo>
                      <a:lnTo>
                        <a:pt x="152" y="1822"/>
                      </a:lnTo>
                      <a:lnTo>
                        <a:pt x="168" y="1702"/>
                      </a:lnTo>
                      <a:lnTo>
                        <a:pt x="178" y="1582"/>
                      </a:lnTo>
                      <a:lnTo>
                        <a:pt x="186" y="1462"/>
                      </a:lnTo>
                      <a:lnTo>
                        <a:pt x="186" y="1462"/>
                      </a:lnTo>
                      <a:lnTo>
                        <a:pt x="186" y="1406"/>
                      </a:lnTo>
                      <a:lnTo>
                        <a:pt x="184" y="1352"/>
                      </a:lnTo>
                      <a:lnTo>
                        <a:pt x="178" y="1300"/>
                      </a:lnTo>
                      <a:lnTo>
                        <a:pt x="170" y="1246"/>
                      </a:lnTo>
                      <a:lnTo>
                        <a:pt x="158" y="1194"/>
                      </a:lnTo>
                      <a:lnTo>
                        <a:pt x="142" y="1144"/>
                      </a:lnTo>
                      <a:lnTo>
                        <a:pt x="126" y="1092"/>
                      </a:lnTo>
                      <a:lnTo>
                        <a:pt x="106" y="1040"/>
                      </a:lnTo>
                      <a:lnTo>
                        <a:pt x="106" y="1040"/>
                      </a:lnTo>
                      <a:lnTo>
                        <a:pt x="80" y="976"/>
                      </a:lnTo>
                      <a:lnTo>
                        <a:pt x="54" y="910"/>
                      </a:lnTo>
                      <a:lnTo>
                        <a:pt x="32" y="842"/>
                      </a:lnTo>
                      <a:lnTo>
                        <a:pt x="24" y="810"/>
                      </a:lnTo>
                      <a:lnTo>
                        <a:pt x="16" y="776"/>
                      </a:lnTo>
                      <a:lnTo>
                        <a:pt x="16" y="776"/>
                      </a:lnTo>
                      <a:lnTo>
                        <a:pt x="8" y="734"/>
                      </a:lnTo>
                      <a:lnTo>
                        <a:pt x="2" y="692"/>
                      </a:lnTo>
                      <a:lnTo>
                        <a:pt x="0" y="652"/>
                      </a:lnTo>
                      <a:lnTo>
                        <a:pt x="0" y="612"/>
                      </a:lnTo>
                      <a:lnTo>
                        <a:pt x="2" y="574"/>
                      </a:lnTo>
                      <a:lnTo>
                        <a:pt x="8" y="536"/>
                      </a:lnTo>
                      <a:lnTo>
                        <a:pt x="16" y="500"/>
                      </a:lnTo>
                      <a:lnTo>
                        <a:pt x="28" y="464"/>
                      </a:lnTo>
                      <a:lnTo>
                        <a:pt x="40" y="428"/>
                      </a:lnTo>
                      <a:lnTo>
                        <a:pt x="56" y="394"/>
                      </a:lnTo>
                      <a:lnTo>
                        <a:pt x="74" y="360"/>
                      </a:lnTo>
                      <a:lnTo>
                        <a:pt x="94" y="326"/>
                      </a:lnTo>
                      <a:lnTo>
                        <a:pt x="118" y="294"/>
                      </a:lnTo>
                      <a:lnTo>
                        <a:pt x="144" y="262"/>
                      </a:lnTo>
                      <a:lnTo>
                        <a:pt x="170" y="232"/>
                      </a:lnTo>
                      <a:lnTo>
                        <a:pt x="200" y="202"/>
                      </a:lnTo>
                      <a:lnTo>
                        <a:pt x="200" y="202"/>
                      </a:lnTo>
                      <a:lnTo>
                        <a:pt x="224" y="182"/>
                      </a:lnTo>
                      <a:lnTo>
                        <a:pt x="248" y="162"/>
                      </a:lnTo>
                      <a:lnTo>
                        <a:pt x="272" y="142"/>
                      </a:lnTo>
                      <a:lnTo>
                        <a:pt x="296" y="126"/>
                      </a:lnTo>
                      <a:lnTo>
                        <a:pt x="322" y="108"/>
                      </a:lnTo>
                      <a:lnTo>
                        <a:pt x="348" y="94"/>
                      </a:lnTo>
                      <a:lnTo>
                        <a:pt x="374" y="80"/>
                      </a:lnTo>
                      <a:lnTo>
                        <a:pt x="402" y="68"/>
                      </a:lnTo>
                      <a:lnTo>
                        <a:pt x="430" y="56"/>
                      </a:lnTo>
                      <a:lnTo>
                        <a:pt x="458" y="46"/>
                      </a:lnTo>
                      <a:lnTo>
                        <a:pt x="486" y="36"/>
                      </a:lnTo>
                      <a:lnTo>
                        <a:pt x="516" y="28"/>
                      </a:lnTo>
                      <a:lnTo>
                        <a:pt x="576" y="14"/>
                      </a:lnTo>
                      <a:lnTo>
                        <a:pt x="638" y="6"/>
                      </a:lnTo>
                      <a:lnTo>
                        <a:pt x="638" y="6"/>
                      </a:lnTo>
                      <a:lnTo>
                        <a:pt x="678" y="2"/>
                      </a:lnTo>
                      <a:lnTo>
                        <a:pt x="718" y="0"/>
                      </a:lnTo>
                      <a:lnTo>
                        <a:pt x="756" y="0"/>
                      </a:lnTo>
                      <a:lnTo>
                        <a:pt x="796" y="2"/>
                      </a:lnTo>
                      <a:lnTo>
                        <a:pt x="834" y="6"/>
                      </a:lnTo>
                      <a:lnTo>
                        <a:pt x="872" y="10"/>
                      </a:lnTo>
                      <a:lnTo>
                        <a:pt x="910" y="18"/>
                      </a:lnTo>
                      <a:lnTo>
                        <a:pt x="946" y="26"/>
                      </a:lnTo>
                      <a:lnTo>
                        <a:pt x="982" y="38"/>
                      </a:lnTo>
                      <a:lnTo>
                        <a:pt x="1018" y="50"/>
                      </a:lnTo>
                      <a:lnTo>
                        <a:pt x="1054" y="64"/>
                      </a:lnTo>
                      <a:lnTo>
                        <a:pt x="1088" y="82"/>
                      </a:lnTo>
                      <a:lnTo>
                        <a:pt x="1122" y="100"/>
                      </a:lnTo>
                      <a:lnTo>
                        <a:pt x="1156" y="120"/>
                      </a:lnTo>
                      <a:lnTo>
                        <a:pt x="1190" y="144"/>
                      </a:lnTo>
                      <a:lnTo>
                        <a:pt x="1222" y="168"/>
                      </a:lnTo>
                      <a:lnTo>
                        <a:pt x="1222" y="168"/>
                      </a:lnTo>
                      <a:lnTo>
                        <a:pt x="1252" y="194"/>
                      </a:lnTo>
                      <a:lnTo>
                        <a:pt x="1280" y="220"/>
                      </a:lnTo>
                      <a:lnTo>
                        <a:pt x="1308" y="248"/>
                      </a:lnTo>
                      <a:lnTo>
                        <a:pt x="1332" y="278"/>
                      </a:lnTo>
                      <a:lnTo>
                        <a:pt x="1354" y="308"/>
                      </a:lnTo>
                      <a:lnTo>
                        <a:pt x="1376" y="338"/>
                      </a:lnTo>
                      <a:lnTo>
                        <a:pt x="1394" y="370"/>
                      </a:lnTo>
                      <a:lnTo>
                        <a:pt x="1410" y="402"/>
                      </a:lnTo>
                      <a:lnTo>
                        <a:pt x="1424" y="436"/>
                      </a:lnTo>
                      <a:lnTo>
                        <a:pt x="1436" y="470"/>
                      </a:lnTo>
                      <a:lnTo>
                        <a:pt x="1446" y="506"/>
                      </a:lnTo>
                      <a:lnTo>
                        <a:pt x="1452" y="544"/>
                      </a:lnTo>
                      <a:lnTo>
                        <a:pt x="1458" y="580"/>
                      </a:lnTo>
                      <a:lnTo>
                        <a:pt x="1460" y="620"/>
                      </a:lnTo>
                      <a:lnTo>
                        <a:pt x="1462" y="660"/>
                      </a:lnTo>
                      <a:lnTo>
                        <a:pt x="1460" y="700"/>
                      </a:lnTo>
                      <a:lnTo>
                        <a:pt x="1460" y="700"/>
                      </a:lnTo>
                      <a:lnTo>
                        <a:pt x="1456" y="738"/>
                      </a:lnTo>
                      <a:lnTo>
                        <a:pt x="1452" y="776"/>
                      </a:lnTo>
                      <a:lnTo>
                        <a:pt x="1440" y="854"/>
                      </a:lnTo>
                      <a:lnTo>
                        <a:pt x="1440" y="854"/>
                      </a:lnTo>
                      <a:lnTo>
                        <a:pt x="1440" y="870"/>
                      </a:lnTo>
                      <a:lnTo>
                        <a:pt x="1440" y="870"/>
                      </a:lnTo>
                      <a:lnTo>
                        <a:pt x="1440" y="894"/>
                      </a:lnTo>
                      <a:lnTo>
                        <a:pt x="1440" y="916"/>
                      </a:lnTo>
                      <a:lnTo>
                        <a:pt x="1444" y="938"/>
                      </a:lnTo>
                      <a:lnTo>
                        <a:pt x="1452" y="958"/>
                      </a:lnTo>
                      <a:lnTo>
                        <a:pt x="1460" y="978"/>
                      </a:lnTo>
                      <a:lnTo>
                        <a:pt x="1472" y="996"/>
                      </a:lnTo>
                      <a:lnTo>
                        <a:pt x="1488" y="1014"/>
                      </a:lnTo>
                      <a:lnTo>
                        <a:pt x="1504" y="1030"/>
                      </a:lnTo>
                      <a:lnTo>
                        <a:pt x="1504" y="1030"/>
                      </a:lnTo>
                      <a:lnTo>
                        <a:pt x="1522" y="1046"/>
                      </a:lnTo>
                      <a:lnTo>
                        <a:pt x="1540" y="1062"/>
                      </a:lnTo>
                      <a:lnTo>
                        <a:pt x="1570" y="1100"/>
                      </a:lnTo>
                      <a:lnTo>
                        <a:pt x="1570" y="1100"/>
                      </a:lnTo>
                      <a:lnTo>
                        <a:pt x="1582" y="1114"/>
                      </a:lnTo>
                      <a:lnTo>
                        <a:pt x="1588" y="1128"/>
                      </a:lnTo>
                      <a:lnTo>
                        <a:pt x="1592" y="1144"/>
                      </a:lnTo>
                      <a:lnTo>
                        <a:pt x="1594" y="1158"/>
                      </a:lnTo>
                      <a:lnTo>
                        <a:pt x="1592" y="1172"/>
                      </a:lnTo>
                      <a:lnTo>
                        <a:pt x="1586" y="1184"/>
                      </a:lnTo>
                      <a:lnTo>
                        <a:pt x="1576" y="1198"/>
                      </a:lnTo>
                      <a:lnTo>
                        <a:pt x="1564" y="1212"/>
                      </a:lnTo>
                      <a:lnTo>
                        <a:pt x="1564" y="1212"/>
                      </a:lnTo>
                      <a:lnTo>
                        <a:pt x="1550" y="1222"/>
                      </a:lnTo>
                      <a:lnTo>
                        <a:pt x="1536" y="1232"/>
                      </a:lnTo>
                      <a:lnTo>
                        <a:pt x="1504" y="1248"/>
                      </a:lnTo>
                      <a:lnTo>
                        <a:pt x="1504" y="1248"/>
                      </a:lnTo>
                      <a:lnTo>
                        <a:pt x="1488" y="1258"/>
                      </a:lnTo>
                      <a:lnTo>
                        <a:pt x="1476" y="1268"/>
                      </a:lnTo>
                      <a:lnTo>
                        <a:pt x="1466" y="1278"/>
                      </a:lnTo>
                      <a:lnTo>
                        <a:pt x="1460" y="1290"/>
                      </a:lnTo>
                      <a:lnTo>
                        <a:pt x="1456" y="1302"/>
                      </a:lnTo>
                      <a:lnTo>
                        <a:pt x="1456" y="1316"/>
                      </a:lnTo>
                      <a:lnTo>
                        <a:pt x="1460" y="1332"/>
                      </a:lnTo>
                      <a:lnTo>
                        <a:pt x="1466" y="1348"/>
                      </a:lnTo>
                      <a:lnTo>
                        <a:pt x="1466" y="1348"/>
                      </a:lnTo>
                      <a:lnTo>
                        <a:pt x="1474" y="1374"/>
                      </a:lnTo>
                      <a:lnTo>
                        <a:pt x="1478" y="1388"/>
                      </a:lnTo>
                      <a:lnTo>
                        <a:pt x="1478" y="1398"/>
                      </a:lnTo>
                      <a:lnTo>
                        <a:pt x="1478" y="1410"/>
                      </a:lnTo>
                      <a:lnTo>
                        <a:pt x="1478" y="1422"/>
                      </a:lnTo>
                      <a:lnTo>
                        <a:pt x="1474" y="1432"/>
                      </a:lnTo>
                      <a:lnTo>
                        <a:pt x="1470" y="1440"/>
                      </a:lnTo>
                      <a:lnTo>
                        <a:pt x="1466" y="1450"/>
                      </a:lnTo>
                      <a:lnTo>
                        <a:pt x="1460" y="1458"/>
                      </a:lnTo>
                      <a:lnTo>
                        <a:pt x="1452" y="1466"/>
                      </a:lnTo>
                      <a:lnTo>
                        <a:pt x="1442" y="1472"/>
                      </a:lnTo>
                      <a:lnTo>
                        <a:pt x="1432" y="1478"/>
                      </a:lnTo>
                      <a:lnTo>
                        <a:pt x="1420" y="1484"/>
                      </a:lnTo>
                      <a:lnTo>
                        <a:pt x="1394" y="1494"/>
                      </a:lnTo>
                      <a:lnTo>
                        <a:pt x="1394" y="1494"/>
                      </a:lnTo>
                      <a:lnTo>
                        <a:pt x="1386" y="1496"/>
                      </a:lnTo>
                      <a:lnTo>
                        <a:pt x="1376" y="1502"/>
                      </a:lnTo>
                      <a:lnTo>
                        <a:pt x="1370" y="1508"/>
                      </a:lnTo>
                      <a:lnTo>
                        <a:pt x="1364" y="1516"/>
                      </a:lnTo>
                      <a:lnTo>
                        <a:pt x="1364" y="1516"/>
                      </a:lnTo>
                      <a:lnTo>
                        <a:pt x="1360" y="1532"/>
                      </a:lnTo>
                      <a:lnTo>
                        <a:pt x="1356" y="1550"/>
                      </a:lnTo>
                      <a:lnTo>
                        <a:pt x="1350" y="1584"/>
                      </a:lnTo>
                      <a:lnTo>
                        <a:pt x="1350" y="1584"/>
                      </a:lnTo>
                      <a:lnTo>
                        <a:pt x="1352" y="1596"/>
                      </a:lnTo>
                      <a:lnTo>
                        <a:pt x="1352" y="1610"/>
                      </a:lnTo>
                      <a:lnTo>
                        <a:pt x="1352" y="1610"/>
                      </a:lnTo>
                      <a:lnTo>
                        <a:pt x="1352" y="1632"/>
                      </a:lnTo>
                      <a:lnTo>
                        <a:pt x="1348" y="1654"/>
                      </a:lnTo>
                      <a:lnTo>
                        <a:pt x="1340" y="1670"/>
                      </a:lnTo>
                      <a:lnTo>
                        <a:pt x="1328" y="1686"/>
                      </a:lnTo>
                      <a:lnTo>
                        <a:pt x="1314" y="1698"/>
                      </a:lnTo>
                      <a:lnTo>
                        <a:pt x="1298" y="1706"/>
                      </a:lnTo>
                      <a:lnTo>
                        <a:pt x="1278" y="1710"/>
                      </a:lnTo>
                      <a:lnTo>
                        <a:pt x="1254" y="1710"/>
                      </a:lnTo>
                      <a:lnTo>
                        <a:pt x="1254" y="1710"/>
                      </a:lnTo>
                      <a:lnTo>
                        <a:pt x="1222" y="1708"/>
                      </a:lnTo>
                      <a:lnTo>
                        <a:pt x="1192" y="1702"/>
                      </a:lnTo>
                      <a:lnTo>
                        <a:pt x="1160" y="1696"/>
                      </a:lnTo>
                      <a:lnTo>
                        <a:pt x="1128" y="1692"/>
                      </a:lnTo>
                      <a:lnTo>
                        <a:pt x="1128" y="1692"/>
                      </a:lnTo>
                      <a:lnTo>
                        <a:pt x="1050" y="1684"/>
                      </a:lnTo>
                      <a:lnTo>
                        <a:pt x="1010" y="1680"/>
                      </a:lnTo>
                      <a:lnTo>
                        <a:pt x="972" y="1680"/>
                      </a:lnTo>
                      <a:lnTo>
                        <a:pt x="972" y="1680"/>
                      </a:lnTo>
                      <a:lnTo>
                        <a:pt x="958" y="1680"/>
                      </a:lnTo>
                      <a:lnTo>
                        <a:pt x="946" y="1682"/>
                      </a:lnTo>
                      <a:lnTo>
                        <a:pt x="936" y="1688"/>
                      </a:lnTo>
                      <a:lnTo>
                        <a:pt x="928" y="1694"/>
                      </a:lnTo>
                      <a:lnTo>
                        <a:pt x="920" y="1702"/>
                      </a:lnTo>
                      <a:lnTo>
                        <a:pt x="914" y="1710"/>
                      </a:lnTo>
                      <a:lnTo>
                        <a:pt x="910" y="1722"/>
                      </a:lnTo>
                      <a:lnTo>
                        <a:pt x="906" y="1736"/>
                      </a:lnTo>
                      <a:lnTo>
                        <a:pt x="906" y="1736"/>
                      </a:lnTo>
                      <a:lnTo>
                        <a:pt x="902" y="1774"/>
                      </a:lnTo>
                      <a:lnTo>
                        <a:pt x="898" y="1814"/>
                      </a:lnTo>
                      <a:lnTo>
                        <a:pt x="892" y="1892"/>
                      </a:lnTo>
                      <a:lnTo>
                        <a:pt x="892" y="1892"/>
                      </a:lnTo>
                      <a:lnTo>
                        <a:pt x="894" y="1904"/>
                      </a:lnTo>
                      <a:lnTo>
                        <a:pt x="898" y="1916"/>
                      </a:lnTo>
                      <a:lnTo>
                        <a:pt x="904" y="1928"/>
                      </a:lnTo>
                      <a:lnTo>
                        <a:pt x="908" y="1940"/>
                      </a:lnTo>
                      <a:lnTo>
                        <a:pt x="908" y="1940"/>
                      </a:lnTo>
                      <a:lnTo>
                        <a:pt x="914" y="1958"/>
                      </a:lnTo>
                      <a:lnTo>
                        <a:pt x="916" y="1968"/>
                      </a:lnTo>
                      <a:lnTo>
                        <a:pt x="914" y="1974"/>
                      </a:lnTo>
                      <a:lnTo>
                        <a:pt x="914" y="1974"/>
                      </a:lnTo>
                      <a:lnTo>
                        <a:pt x="908" y="1982"/>
                      </a:lnTo>
                      <a:lnTo>
                        <a:pt x="900" y="1988"/>
                      </a:lnTo>
                      <a:lnTo>
                        <a:pt x="890" y="1992"/>
                      </a:lnTo>
                      <a:lnTo>
                        <a:pt x="880" y="1994"/>
                      </a:lnTo>
                      <a:lnTo>
                        <a:pt x="880" y="1994"/>
                      </a:lnTo>
                      <a:lnTo>
                        <a:pt x="702" y="1994"/>
                      </a:lnTo>
                      <a:lnTo>
                        <a:pt x="524" y="1994"/>
                      </a:lnTo>
                      <a:lnTo>
                        <a:pt x="524" y="1994"/>
                      </a:lnTo>
                      <a:lnTo>
                        <a:pt x="524" y="1994"/>
                      </a:lnTo>
                      <a:lnTo>
                        <a:pt x="524" y="19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75208" rtl="0" eaLnBrk="1" fontAlgn="auto" latinLnBrk="0" hangingPunct="1">
                    <a:lnSpc>
                      <a:spcPct val="100000"/>
                    </a:lnSpc>
                    <a:spcBef>
                      <a:spcPts val="0"/>
                    </a:spcBef>
                    <a:spcAft>
                      <a:spcPts val="0"/>
                    </a:spcAft>
                    <a:buClrTx/>
                    <a:buSzTx/>
                    <a:buFontTx/>
                    <a:buNone/>
                    <a:tabLst/>
                    <a:defRPr/>
                  </a:pPr>
                  <a:endParaRPr kumimoji="0" lang="en-US" sz="1920" b="0" i="0" u="none" strike="noStrike" kern="0" cap="none" spc="0" normalizeH="0" baseline="0" noProof="0" dirty="0">
                    <a:ln>
                      <a:noFill/>
                    </a:ln>
                    <a:solidFill>
                      <a:prstClr val="white"/>
                    </a:solidFill>
                    <a:effectLst/>
                    <a:uLnTx/>
                    <a:uFillTx/>
                    <a:latin typeface="Arial" panose="020B0604020202020204"/>
                    <a:ea typeface="+mn-ea"/>
                    <a:cs typeface="+mn-cs"/>
                  </a:endParaRPr>
                </a:p>
              </p:txBody>
            </p:sp>
          </p:grpSp>
          <p:grpSp>
            <p:nvGrpSpPr>
              <p:cNvPr id="4" name="Group 3"/>
              <p:cNvGrpSpPr/>
              <p:nvPr/>
            </p:nvGrpSpPr>
            <p:grpSpPr>
              <a:xfrm rot="20624376">
                <a:off x="5327063" y="1700152"/>
                <a:ext cx="623949" cy="326217"/>
                <a:chOff x="9935599" y="597294"/>
                <a:chExt cx="1012825" cy="529532"/>
              </a:xfrm>
              <a:solidFill>
                <a:schemeClr val="bg1"/>
              </a:solidFill>
            </p:grpSpPr>
            <p:grpSp>
              <p:nvGrpSpPr>
                <p:cNvPr id="96" name="Group 19">
                  <a:extLst>
                    <a:ext uri="{FF2B5EF4-FFF2-40B4-BE49-F238E27FC236}">
                      <a16:creationId xmlns:a16="http://schemas.microsoft.com/office/drawing/2014/main" id="{54DEC663-9CD9-4ABF-9CC0-ABA8C1060434}"/>
                    </a:ext>
                  </a:extLst>
                </p:cNvPr>
                <p:cNvGrpSpPr>
                  <a:grpSpLocks noChangeAspect="1"/>
                </p:cNvGrpSpPr>
                <p:nvPr/>
              </p:nvGrpSpPr>
              <p:grpSpPr bwMode="auto">
                <a:xfrm>
                  <a:off x="9935599" y="597294"/>
                  <a:ext cx="525463" cy="525462"/>
                  <a:chOff x="694" y="3297"/>
                  <a:chExt cx="331" cy="331"/>
                </a:xfrm>
                <a:grpFill/>
              </p:grpSpPr>
              <p:sp>
                <p:nvSpPr>
                  <p:cNvPr id="97" name="Freeform 20">
                    <a:extLst>
                      <a:ext uri="{FF2B5EF4-FFF2-40B4-BE49-F238E27FC236}">
                        <a16:creationId xmlns:a16="http://schemas.microsoft.com/office/drawing/2014/main" id="{BD3B902A-A54B-4E50-9BA6-FC9C2B77F7A9}"/>
                      </a:ext>
                    </a:extLst>
                  </p:cNvPr>
                  <p:cNvSpPr>
                    <a:spLocks noEditPoints="1"/>
                  </p:cNvSpPr>
                  <p:nvPr/>
                </p:nvSpPr>
                <p:spPr bwMode="auto">
                  <a:xfrm>
                    <a:off x="769" y="3297"/>
                    <a:ext cx="181" cy="233"/>
                  </a:xfrm>
                  <a:custGeom>
                    <a:avLst/>
                    <a:gdLst>
                      <a:gd name="T0" fmla="*/ 1065 w 1207"/>
                      <a:gd name="T1" fmla="*/ 215 h 1552"/>
                      <a:gd name="T2" fmla="*/ 1063 w 1207"/>
                      <a:gd name="T3" fmla="*/ 212 h 1552"/>
                      <a:gd name="T4" fmla="*/ 603 w 1207"/>
                      <a:gd name="T5" fmla="*/ 0 h 1552"/>
                      <a:gd name="T6" fmla="*/ 143 w 1207"/>
                      <a:gd name="T7" fmla="*/ 213 h 1552"/>
                      <a:gd name="T8" fmla="*/ 142 w 1207"/>
                      <a:gd name="T9" fmla="*/ 215 h 1552"/>
                      <a:gd name="T10" fmla="*/ 0 w 1207"/>
                      <a:gd name="T11" fmla="*/ 604 h 1552"/>
                      <a:gd name="T12" fmla="*/ 0 w 1207"/>
                      <a:gd name="T13" fmla="*/ 949 h 1552"/>
                      <a:gd name="T14" fmla="*/ 603 w 1207"/>
                      <a:gd name="T15" fmla="*/ 1552 h 1552"/>
                      <a:gd name="T16" fmla="*/ 1207 w 1207"/>
                      <a:gd name="T17" fmla="*/ 949 h 1552"/>
                      <a:gd name="T18" fmla="*/ 1207 w 1207"/>
                      <a:gd name="T19" fmla="*/ 604 h 1552"/>
                      <a:gd name="T20" fmla="*/ 1065 w 1207"/>
                      <a:gd name="T21" fmla="*/ 215 h 1552"/>
                      <a:gd name="T22" fmla="*/ 1069 w 1207"/>
                      <a:gd name="T23" fmla="*/ 949 h 1552"/>
                      <a:gd name="T24" fmla="*/ 603 w 1207"/>
                      <a:gd name="T25" fmla="*/ 1415 h 1552"/>
                      <a:gd name="T26" fmla="*/ 137 w 1207"/>
                      <a:gd name="T27" fmla="*/ 949 h 1552"/>
                      <a:gd name="T28" fmla="*/ 137 w 1207"/>
                      <a:gd name="T29" fmla="*/ 659 h 1552"/>
                      <a:gd name="T30" fmla="*/ 137 w 1207"/>
                      <a:gd name="T31" fmla="*/ 659 h 1552"/>
                      <a:gd name="T32" fmla="*/ 363 w 1207"/>
                      <a:gd name="T33" fmla="*/ 433 h 1552"/>
                      <a:gd name="T34" fmla="*/ 603 w 1207"/>
                      <a:gd name="T35" fmla="*/ 458 h 1552"/>
                      <a:gd name="T36" fmla="*/ 1008 w 1207"/>
                      <a:gd name="T37" fmla="*/ 373 h 1552"/>
                      <a:gd name="T38" fmla="*/ 1069 w 1207"/>
                      <a:gd name="T39" fmla="*/ 604 h 1552"/>
                      <a:gd name="T40" fmla="*/ 1069 w 1207"/>
                      <a:gd name="T41" fmla="*/ 949 h 1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07" h="1552">
                        <a:moveTo>
                          <a:pt x="1065" y="215"/>
                        </a:moveTo>
                        <a:cubicBezTo>
                          <a:pt x="1064" y="214"/>
                          <a:pt x="1063" y="213"/>
                          <a:pt x="1063" y="212"/>
                        </a:cubicBezTo>
                        <a:cubicBezTo>
                          <a:pt x="952" y="82"/>
                          <a:pt x="787" y="0"/>
                          <a:pt x="603" y="0"/>
                        </a:cubicBezTo>
                        <a:cubicBezTo>
                          <a:pt x="419" y="0"/>
                          <a:pt x="254" y="83"/>
                          <a:pt x="143" y="213"/>
                        </a:cubicBezTo>
                        <a:cubicBezTo>
                          <a:pt x="143" y="214"/>
                          <a:pt x="142" y="214"/>
                          <a:pt x="142" y="215"/>
                        </a:cubicBezTo>
                        <a:cubicBezTo>
                          <a:pt x="53" y="320"/>
                          <a:pt x="0" y="455"/>
                          <a:pt x="0" y="604"/>
                        </a:cubicBezTo>
                        <a:cubicBezTo>
                          <a:pt x="0" y="949"/>
                          <a:pt x="0" y="949"/>
                          <a:pt x="0" y="949"/>
                        </a:cubicBezTo>
                        <a:cubicBezTo>
                          <a:pt x="0" y="1282"/>
                          <a:pt x="270" y="1552"/>
                          <a:pt x="603" y="1552"/>
                        </a:cubicBezTo>
                        <a:cubicBezTo>
                          <a:pt x="936" y="1552"/>
                          <a:pt x="1207" y="1282"/>
                          <a:pt x="1207" y="949"/>
                        </a:cubicBezTo>
                        <a:cubicBezTo>
                          <a:pt x="1207" y="604"/>
                          <a:pt x="1207" y="604"/>
                          <a:pt x="1207" y="604"/>
                        </a:cubicBezTo>
                        <a:cubicBezTo>
                          <a:pt x="1207" y="456"/>
                          <a:pt x="1153" y="320"/>
                          <a:pt x="1065" y="215"/>
                        </a:cubicBezTo>
                        <a:close/>
                        <a:moveTo>
                          <a:pt x="1069" y="949"/>
                        </a:moveTo>
                        <a:cubicBezTo>
                          <a:pt x="1069" y="1206"/>
                          <a:pt x="860" y="1415"/>
                          <a:pt x="603" y="1415"/>
                        </a:cubicBezTo>
                        <a:cubicBezTo>
                          <a:pt x="346" y="1415"/>
                          <a:pt x="137" y="1206"/>
                          <a:pt x="137" y="949"/>
                        </a:cubicBezTo>
                        <a:cubicBezTo>
                          <a:pt x="137" y="659"/>
                          <a:pt x="137" y="659"/>
                          <a:pt x="137" y="659"/>
                        </a:cubicBezTo>
                        <a:cubicBezTo>
                          <a:pt x="137" y="659"/>
                          <a:pt x="137" y="659"/>
                          <a:pt x="137" y="659"/>
                        </a:cubicBezTo>
                        <a:cubicBezTo>
                          <a:pt x="137" y="535"/>
                          <a:pt x="238" y="434"/>
                          <a:pt x="363" y="433"/>
                        </a:cubicBezTo>
                        <a:cubicBezTo>
                          <a:pt x="433" y="449"/>
                          <a:pt x="515" y="458"/>
                          <a:pt x="603" y="458"/>
                        </a:cubicBezTo>
                        <a:cubicBezTo>
                          <a:pt x="773" y="458"/>
                          <a:pt x="921" y="424"/>
                          <a:pt x="1008" y="373"/>
                        </a:cubicBezTo>
                        <a:cubicBezTo>
                          <a:pt x="1047" y="441"/>
                          <a:pt x="1069" y="520"/>
                          <a:pt x="1069" y="604"/>
                        </a:cubicBezTo>
                        <a:lnTo>
                          <a:pt x="1069" y="9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99" name="Freeform 21">
                    <a:extLst>
                      <a:ext uri="{FF2B5EF4-FFF2-40B4-BE49-F238E27FC236}">
                        <a16:creationId xmlns:a16="http://schemas.microsoft.com/office/drawing/2014/main" id="{ECB83D6A-B118-48E4-A564-F54B0325BDCD}"/>
                      </a:ext>
                    </a:extLst>
                  </p:cNvPr>
                  <p:cNvSpPr>
                    <a:spLocks/>
                  </p:cNvSpPr>
                  <p:nvPr/>
                </p:nvSpPr>
                <p:spPr bwMode="auto">
                  <a:xfrm>
                    <a:off x="694" y="3521"/>
                    <a:ext cx="128" cy="107"/>
                  </a:xfrm>
                  <a:custGeom>
                    <a:avLst/>
                    <a:gdLst>
                      <a:gd name="T0" fmla="*/ 141 w 854"/>
                      <a:gd name="T1" fmla="*/ 248 h 713"/>
                      <a:gd name="T2" fmla="*/ 9 w 854"/>
                      <a:gd name="T3" fmla="*/ 447 h 713"/>
                      <a:gd name="T4" fmla="*/ 1 w 854"/>
                      <a:gd name="T5" fmla="*/ 576 h 713"/>
                      <a:gd name="T6" fmla="*/ 8 w 854"/>
                      <a:gd name="T7" fmla="*/ 631 h 713"/>
                      <a:gd name="T8" fmla="*/ 131 w 854"/>
                      <a:gd name="T9" fmla="*/ 713 h 713"/>
                      <a:gd name="T10" fmla="*/ 854 w 854"/>
                      <a:gd name="T11" fmla="*/ 713 h 713"/>
                      <a:gd name="T12" fmla="*/ 638 w 854"/>
                      <a:gd name="T13" fmla="*/ 0 h 713"/>
                      <a:gd name="T14" fmla="*/ 141 w 854"/>
                      <a:gd name="T15" fmla="*/ 248 h 7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4" h="713">
                        <a:moveTo>
                          <a:pt x="141" y="248"/>
                        </a:moveTo>
                        <a:cubicBezTo>
                          <a:pt x="73" y="282"/>
                          <a:pt x="21" y="337"/>
                          <a:pt x="9" y="447"/>
                        </a:cubicBezTo>
                        <a:cubicBezTo>
                          <a:pt x="1" y="576"/>
                          <a:pt x="1" y="576"/>
                          <a:pt x="1" y="576"/>
                        </a:cubicBezTo>
                        <a:cubicBezTo>
                          <a:pt x="0" y="595"/>
                          <a:pt x="2" y="614"/>
                          <a:pt x="8" y="631"/>
                        </a:cubicBezTo>
                        <a:cubicBezTo>
                          <a:pt x="27" y="679"/>
                          <a:pt x="74" y="713"/>
                          <a:pt x="131" y="713"/>
                        </a:cubicBezTo>
                        <a:cubicBezTo>
                          <a:pt x="854" y="713"/>
                          <a:pt x="854" y="713"/>
                          <a:pt x="854" y="713"/>
                        </a:cubicBezTo>
                        <a:cubicBezTo>
                          <a:pt x="638" y="0"/>
                          <a:pt x="638" y="0"/>
                          <a:pt x="638" y="0"/>
                        </a:cubicBezTo>
                        <a:lnTo>
                          <a:pt x="141"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100" name="Freeform 22">
                    <a:extLst>
                      <a:ext uri="{FF2B5EF4-FFF2-40B4-BE49-F238E27FC236}">
                        <a16:creationId xmlns:a16="http://schemas.microsoft.com/office/drawing/2014/main" id="{3B64679A-021F-4E35-8E19-222320399418}"/>
                      </a:ext>
                    </a:extLst>
                  </p:cNvPr>
                  <p:cNvSpPr>
                    <a:spLocks/>
                  </p:cNvSpPr>
                  <p:nvPr/>
                </p:nvSpPr>
                <p:spPr bwMode="auto">
                  <a:xfrm>
                    <a:off x="832" y="3545"/>
                    <a:ext cx="55" cy="83"/>
                  </a:xfrm>
                  <a:custGeom>
                    <a:avLst/>
                    <a:gdLst>
                      <a:gd name="T0" fmla="*/ 294 w 365"/>
                      <a:gd name="T1" fmla="*/ 0 h 553"/>
                      <a:gd name="T2" fmla="*/ 71 w 365"/>
                      <a:gd name="T3" fmla="*/ 0 h 553"/>
                      <a:gd name="T4" fmla="*/ 0 w 365"/>
                      <a:gd name="T5" fmla="*/ 71 h 553"/>
                      <a:gd name="T6" fmla="*/ 0 w 365"/>
                      <a:gd name="T7" fmla="*/ 129 h 553"/>
                      <a:gd name="T8" fmla="*/ 118 w 365"/>
                      <a:gd name="T9" fmla="*/ 297 h 553"/>
                      <a:gd name="T10" fmla="*/ 83 w 365"/>
                      <a:gd name="T11" fmla="*/ 553 h 553"/>
                      <a:gd name="T12" fmla="*/ 282 w 365"/>
                      <a:gd name="T13" fmla="*/ 553 h 553"/>
                      <a:gd name="T14" fmla="*/ 246 w 365"/>
                      <a:gd name="T15" fmla="*/ 297 h 553"/>
                      <a:gd name="T16" fmla="*/ 365 w 365"/>
                      <a:gd name="T17" fmla="*/ 129 h 553"/>
                      <a:gd name="T18" fmla="*/ 365 w 365"/>
                      <a:gd name="T19" fmla="*/ 71 h 553"/>
                      <a:gd name="T20" fmla="*/ 294 w 365"/>
                      <a:gd name="T21" fmla="*/ 0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553">
                        <a:moveTo>
                          <a:pt x="294" y="0"/>
                        </a:moveTo>
                        <a:cubicBezTo>
                          <a:pt x="71" y="0"/>
                          <a:pt x="71" y="0"/>
                          <a:pt x="71" y="0"/>
                        </a:cubicBezTo>
                        <a:cubicBezTo>
                          <a:pt x="32" y="0"/>
                          <a:pt x="0" y="31"/>
                          <a:pt x="0" y="71"/>
                        </a:cubicBezTo>
                        <a:cubicBezTo>
                          <a:pt x="0" y="129"/>
                          <a:pt x="0" y="129"/>
                          <a:pt x="0" y="129"/>
                        </a:cubicBezTo>
                        <a:cubicBezTo>
                          <a:pt x="0" y="207"/>
                          <a:pt x="49" y="273"/>
                          <a:pt x="118" y="297"/>
                        </a:cubicBezTo>
                        <a:cubicBezTo>
                          <a:pt x="83" y="553"/>
                          <a:pt x="83" y="553"/>
                          <a:pt x="83" y="553"/>
                        </a:cubicBezTo>
                        <a:cubicBezTo>
                          <a:pt x="282" y="553"/>
                          <a:pt x="282" y="553"/>
                          <a:pt x="282" y="553"/>
                        </a:cubicBezTo>
                        <a:cubicBezTo>
                          <a:pt x="246" y="297"/>
                          <a:pt x="246" y="297"/>
                          <a:pt x="246" y="297"/>
                        </a:cubicBezTo>
                        <a:cubicBezTo>
                          <a:pt x="315" y="273"/>
                          <a:pt x="365" y="207"/>
                          <a:pt x="365" y="129"/>
                        </a:cubicBezTo>
                        <a:cubicBezTo>
                          <a:pt x="365" y="71"/>
                          <a:pt x="365" y="71"/>
                          <a:pt x="365" y="71"/>
                        </a:cubicBezTo>
                        <a:cubicBezTo>
                          <a:pt x="365" y="31"/>
                          <a:pt x="333" y="0"/>
                          <a:pt x="29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sp>
                <p:nvSpPr>
                  <p:cNvPr id="101" name="Freeform 23">
                    <a:extLst>
                      <a:ext uri="{FF2B5EF4-FFF2-40B4-BE49-F238E27FC236}">
                        <a16:creationId xmlns:a16="http://schemas.microsoft.com/office/drawing/2014/main" id="{69A33E82-42BA-4E02-9A8D-555D6BA7464C}"/>
                      </a:ext>
                    </a:extLst>
                  </p:cNvPr>
                  <p:cNvSpPr>
                    <a:spLocks/>
                  </p:cNvSpPr>
                  <p:nvPr/>
                </p:nvSpPr>
                <p:spPr bwMode="auto">
                  <a:xfrm>
                    <a:off x="897" y="3521"/>
                    <a:ext cx="128" cy="107"/>
                  </a:xfrm>
                  <a:custGeom>
                    <a:avLst/>
                    <a:gdLst>
                      <a:gd name="T0" fmla="*/ 215 w 853"/>
                      <a:gd name="T1" fmla="*/ 0 h 713"/>
                      <a:gd name="T2" fmla="*/ 712 w 853"/>
                      <a:gd name="T3" fmla="*/ 248 h 713"/>
                      <a:gd name="T4" fmla="*/ 844 w 853"/>
                      <a:gd name="T5" fmla="*/ 447 h 713"/>
                      <a:gd name="T6" fmla="*/ 852 w 853"/>
                      <a:gd name="T7" fmla="*/ 576 h 713"/>
                      <a:gd name="T8" fmla="*/ 845 w 853"/>
                      <a:gd name="T9" fmla="*/ 631 h 713"/>
                      <a:gd name="T10" fmla="*/ 723 w 853"/>
                      <a:gd name="T11" fmla="*/ 713 h 713"/>
                      <a:gd name="T12" fmla="*/ 0 w 853"/>
                      <a:gd name="T13" fmla="*/ 713 h 713"/>
                      <a:gd name="T14" fmla="*/ 215 w 853"/>
                      <a:gd name="T15" fmla="*/ 0 h 7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3" h="713">
                        <a:moveTo>
                          <a:pt x="215" y="0"/>
                        </a:moveTo>
                        <a:cubicBezTo>
                          <a:pt x="712" y="248"/>
                          <a:pt x="712" y="248"/>
                          <a:pt x="712" y="248"/>
                        </a:cubicBezTo>
                        <a:cubicBezTo>
                          <a:pt x="780" y="282"/>
                          <a:pt x="832" y="337"/>
                          <a:pt x="844" y="447"/>
                        </a:cubicBezTo>
                        <a:cubicBezTo>
                          <a:pt x="852" y="576"/>
                          <a:pt x="852" y="576"/>
                          <a:pt x="852" y="576"/>
                        </a:cubicBezTo>
                        <a:cubicBezTo>
                          <a:pt x="853" y="595"/>
                          <a:pt x="851" y="614"/>
                          <a:pt x="845" y="631"/>
                        </a:cubicBezTo>
                        <a:cubicBezTo>
                          <a:pt x="827" y="679"/>
                          <a:pt x="779" y="713"/>
                          <a:pt x="723" y="713"/>
                        </a:cubicBezTo>
                        <a:cubicBezTo>
                          <a:pt x="0" y="713"/>
                          <a:pt x="0" y="713"/>
                          <a:pt x="0" y="713"/>
                        </a:cubicBezTo>
                        <a:lnTo>
                          <a:pt x="2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sp>
              <p:nvSpPr>
                <p:cNvPr id="108" name="Freeform 27">
                  <a:extLst>
                    <a:ext uri="{FF2B5EF4-FFF2-40B4-BE49-F238E27FC236}">
                      <a16:creationId xmlns:a16="http://schemas.microsoft.com/office/drawing/2014/main" id="{9FAD1BCC-70B9-43A2-897C-A55EC8316D0A}"/>
                    </a:ext>
                  </a:extLst>
                </p:cNvPr>
                <p:cNvSpPr>
                  <a:spLocks noEditPoints="1"/>
                </p:cNvSpPr>
                <p:nvPr/>
              </p:nvSpPr>
              <p:spPr bwMode="auto">
                <a:xfrm>
                  <a:off x="10461062" y="601364"/>
                  <a:ext cx="487362" cy="525462"/>
                </a:xfrm>
                <a:custGeom>
                  <a:avLst/>
                  <a:gdLst>
                    <a:gd name="T0" fmla="*/ 650 w 2043"/>
                    <a:gd name="T1" fmla="*/ 1851 h 2200"/>
                    <a:gd name="T2" fmla="*/ 625 w 2043"/>
                    <a:gd name="T3" fmla="*/ 1855 h 2200"/>
                    <a:gd name="T4" fmla="*/ 585 w 2043"/>
                    <a:gd name="T5" fmla="*/ 1843 h 2200"/>
                    <a:gd name="T6" fmla="*/ 555 w 2043"/>
                    <a:gd name="T7" fmla="*/ 1785 h 2200"/>
                    <a:gd name="T8" fmla="*/ 555 w 2043"/>
                    <a:gd name="T9" fmla="*/ 1507 h 2200"/>
                    <a:gd name="T10" fmla="*/ 163 w 2043"/>
                    <a:gd name="T11" fmla="*/ 1690 h 2200"/>
                    <a:gd name="T12" fmla="*/ 20 w 2043"/>
                    <a:gd name="T13" fmla="*/ 1891 h 2200"/>
                    <a:gd name="T14" fmla="*/ 2 w 2043"/>
                    <a:gd name="T15" fmla="*/ 2060 h 2200"/>
                    <a:gd name="T16" fmla="*/ 6 w 2043"/>
                    <a:gd name="T17" fmla="*/ 2114 h 2200"/>
                    <a:gd name="T18" fmla="*/ 129 w 2043"/>
                    <a:gd name="T19" fmla="*/ 2200 h 2200"/>
                    <a:gd name="T20" fmla="*/ 948 w 2043"/>
                    <a:gd name="T21" fmla="*/ 2200 h 2200"/>
                    <a:gd name="T22" fmla="*/ 822 w 2043"/>
                    <a:gd name="T23" fmla="*/ 1786 h 2200"/>
                    <a:gd name="T24" fmla="*/ 650 w 2043"/>
                    <a:gd name="T25" fmla="*/ 1851 h 2200"/>
                    <a:gd name="T26" fmla="*/ 2041 w 2043"/>
                    <a:gd name="T27" fmla="*/ 2060 h 2200"/>
                    <a:gd name="T28" fmla="*/ 2023 w 2043"/>
                    <a:gd name="T29" fmla="*/ 1891 h 2200"/>
                    <a:gd name="T30" fmla="*/ 1880 w 2043"/>
                    <a:gd name="T31" fmla="*/ 1690 h 2200"/>
                    <a:gd name="T32" fmla="*/ 1488 w 2043"/>
                    <a:gd name="T33" fmla="*/ 1507 h 2200"/>
                    <a:gd name="T34" fmla="*/ 1488 w 2043"/>
                    <a:gd name="T35" fmla="*/ 1785 h 2200"/>
                    <a:gd name="T36" fmla="*/ 1458 w 2043"/>
                    <a:gd name="T37" fmla="*/ 1843 h 2200"/>
                    <a:gd name="T38" fmla="*/ 1418 w 2043"/>
                    <a:gd name="T39" fmla="*/ 1855 h 2200"/>
                    <a:gd name="T40" fmla="*/ 1393 w 2043"/>
                    <a:gd name="T41" fmla="*/ 1851 h 2200"/>
                    <a:gd name="T42" fmla="*/ 1221 w 2043"/>
                    <a:gd name="T43" fmla="*/ 1786 h 2200"/>
                    <a:gd name="T44" fmla="*/ 1095 w 2043"/>
                    <a:gd name="T45" fmla="*/ 2200 h 2200"/>
                    <a:gd name="T46" fmla="*/ 1914 w 2043"/>
                    <a:gd name="T47" fmla="*/ 2200 h 2200"/>
                    <a:gd name="T48" fmla="*/ 2036 w 2043"/>
                    <a:gd name="T49" fmla="*/ 2116 h 2200"/>
                    <a:gd name="T50" fmla="*/ 2041 w 2043"/>
                    <a:gd name="T51" fmla="*/ 2060 h 2200"/>
                    <a:gd name="T52" fmla="*/ 1707 w 2043"/>
                    <a:gd name="T53" fmla="*/ 1429 h 2200"/>
                    <a:gd name="T54" fmla="*/ 1767 w 2043"/>
                    <a:gd name="T55" fmla="*/ 1395 h 2200"/>
                    <a:gd name="T56" fmla="*/ 1769 w 2043"/>
                    <a:gd name="T57" fmla="*/ 1326 h 2200"/>
                    <a:gd name="T58" fmla="*/ 1642 w 2043"/>
                    <a:gd name="T59" fmla="*/ 798 h 2200"/>
                    <a:gd name="T60" fmla="*/ 1642 w 2043"/>
                    <a:gd name="T61" fmla="*/ 621 h 2200"/>
                    <a:gd name="T62" fmla="*/ 1021 w 2043"/>
                    <a:gd name="T63" fmla="*/ 0 h 2200"/>
                    <a:gd name="T64" fmla="*/ 401 w 2043"/>
                    <a:gd name="T65" fmla="*/ 621 h 2200"/>
                    <a:gd name="T66" fmla="*/ 401 w 2043"/>
                    <a:gd name="T67" fmla="*/ 798 h 2200"/>
                    <a:gd name="T68" fmla="*/ 274 w 2043"/>
                    <a:gd name="T69" fmla="*/ 1326 h 2200"/>
                    <a:gd name="T70" fmla="*/ 276 w 2043"/>
                    <a:gd name="T71" fmla="*/ 1395 h 2200"/>
                    <a:gd name="T72" fmla="*/ 337 w 2043"/>
                    <a:gd name="T73" fmla="*/ 1429 h 2200"/>
                    <a:gd name="T74" fmla="*/ 598 w 2043"/>
                    <a:gd name="T75" fmla="*/ 1429 h 2200"/>
                    <a:gd name="T76" fmla="*/ 1021 w 2043"/>
                    <a:gd name="T77" fmla="*/ 1596 h 2200"/>
                    <a:gd name="T78" fmla="*/ 1445 w 2043"/>
                    <a:gd name="T79" fmla="*/ 1429 h 2200"/>
                    <a:gd name="T80" fmla="*/ 1707 w 2043"/>
                    <a:gd name="T81" fmla="*/ 1429 h 2200"/>
                    <a:gd name="T82" fmla="*/ 1021 w 2043"/>
                    <a:gd name="T83" fmla="*/ 1455 h 2200"/>
                    <a:gd name="T84" fmla="*/ 542 w 2043"/>
                    <a:gd name="T85" fmla="*/ 976 h 2200"/>
                    <a:gd name="T86" fmla="*/ 542 w 2043"/>
                    <a:gd name="T87" fmla="*/ 858 h 2200"/>
                    <a:gd name="T88" fmla="*/ 775 w 2043"/>
                    <a:gd name="T89" fmla="*/ 627 h 2200"/>
                    <a:gd name="T90" fmla="*/ 1094 w 2043"/>
                    <a:gd name="T91" fmla="*/ 627 h 2200"/>
                    <a:gd name="T92" fmla="*/ 1328 w 2043"/>
                    <a:gd name="T93" fmla="*/ 394 h 2200"/>
                    <a:gd name="T94" fmla="*/ 1328 w 2043"/>
                    <a:gd name="T95" fmla="*/ 252 h 2200"/>
                    <a:gd name="T96" fmla="*/ 1501 w 2043"/>
                    <a:gd name="T97" fmla="*/ 621 h 2200"/>
                    <a:gd name="T98" fmla="*/ 1501 w 2043"/>
                    <a:gd name="T99" fmla="*/ 976 h 2200"/>
                    <a:gd name="T100" fmla="*/ 1021 w 2043"/>
                    <a:gd name="T101" fmla="*/ 1455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43" h="2200">
                      <a:moveTo>
                        <a:pt x="650" y="1851"/>
                      </a:moveTo>
                      <a:cubicBezTo>
                        <a:pt x="642" y="1854"/>
                        <a:pt x="634" y="1855"/>
                        <a:pt x="625" y="1855"/>
                      </a:cubicBezTo>
                      <a:cubicBezTo>
                        <a:pt x="611" y="1855"/>
                        <a:pt x="597" y="1851"/>
                        <a:pt x="585" y="1843"/>
                      </a:cubicBezTo>
                      <a:cubicBezTo>
                        <a:pt x="566" y="1830"/>
                        <a:pt x="555" y="1808"/>
                        <a:pt x="555" y="1785"/>
                      </a:cubicBezTo>
                      <a:cubicBezTo>
                        <a:pt x="555" y="1507"/>
                        <a:pt x="555" y="1507"/>
                        <a:pt x="555" y="1507"/>
                      </a:cubicBezTo>
                      <a:cubicBezTo>
                        <a:pt x="163" y="1690"/>
                        <a:pt x="163" y="1690"/>
                        <a:pt x="163" y="1690"/>
                      </a:cubicBezTo>
                      <a:cubicBezTo>
                        <a:pt x="93" y="1723"/>
                        <a:pt x="28" y="1813"/>
                        <a:pt x="20" y="1891"/>
                      </a:cubicBezTo>
                      <a:cubicBezTo>
                        <a:pt x="2" y="2060"/>
                        <a:pt x="2" y="2060"/>
                        <a:pt x="2" y="2060"/>
                      </a:cubicBezTo>
                      <a:cubicBezTo>
                        <a:pt x="0" y="2079"/>
                        <a:pt x="1" y="2097"/>
                        <a:pt x="6" y="2114"/>
                      </a:cubicBezTo>
                      <a:cubicBezTo>
                        <a:pt x="23" y="2165"/>
                        <a:pt x="71" y="2200"/>
                        <a:pt x="129" y="2200"/>
                      </a:cubicBezTo>
                      <a:cubicBezTo>
                        <a:pt x="948" y="2200"/>
                        <a:pt x="948" y="2200"/>
                        <a:pt x="948" y="2200"/>
                      </a:cubicBezTo>
                      <a:cubicBezTo>
                        <a:pt x="822" y="1786"/>
                        <a:pt x="822" y="1786"/>
                        <a:pt x="822" y="1786"/>
                      </a:cubicBezTo>
                      <a:lnTo>
                        <a:pt x="650" y="1851"/>
                      </a:lnTo>
                      <a:close/>
                      <a:moveTo>
                        <a:pt x="2041" y="2060"/>
                      </a:moveTo>
                      <a:cubicBezTo>
                        <a:pt x="2023" y="1891"/>
                        <a:pt x="2023" y="1891"/>
                        <a:pt x="2023" y="1891"/>
                      </a:cubicBezTo>
                      <a:cubicBezTo>
                        <a:pt x="2015" y="1813"/>
                        <a:pt x="1950" y="1723"/>
                        <a:pt x="1880" y="1690"/>
                      </a:cubicBezTo>
                      <a:cubicBezTo>
                        <a:pt x="1488" y="1507"/>
                        <a:pt x="1488" y="1507"/>
                        <a:pt x="1488" y="1507"/>
                      </a:cubicBezTo>
                      <a:cubicBezTo>
                        <a:pt x="1488" y="1785"/>
                        <a:pt x="1488" y="1785"/>
                        <a:pt x="1488" y="1785"/>
                      </a:cubicBezTo>
                      <a:cubicBezTo>
                        <a:pt x="1488" y="1808"/>
                        <a:pt x="1477" y="1830"/>
                        <a:pt x="1458" y="1843"/>
                      </a:cubicBezTo>
                      <a:cubicBezTo>
                        <a:pt x="1446" y="1851"/>
                        <a:pt x="1432" y="1855"/>
                        <a:pt x="1418" y="1855"/>
                      </a:cubicBezTo>
                      <a:cubicBezTo>
                        <a:pt x="1409" y="1855"/>
                        <a:pt x="1401" y="1854"/>
                        <a:pt x="1393" y="1851"/>
                      </a:cubicBezTo>
                      <a:cubicBezTo>
                        <a:pt x="1221" y="1786"/>
                        <a:pt x="1221" y="1786"/>
                        <a:pt x="1221" y="1786"/>
                      </a:cubicBezTo>
                      <a:cubicBezTo>
                        <a:pt x="1095" y="2200"/>
                        <a:pt x="1095" y="2200"/>
                        <a:pt x="1095" y="2200"/>
                      </a:cubicBezTo>
                      <a:cubicBezTo>
                        <a:pt x="1914" y="2200"/>
                        <a:pt x="1914" y="2200"/>
                        <a:pt x="1914" y="2200"/>
                      </a:cubicBezTo>
                      <a:cubicBezTo>
                        <a:pt x="1972" y="2200"/>
                        <a:pt x="2019" y="2166"/>
                        <a:pt x="2036" y="2116"/>
                      </a:cubicBezTo>
                      <a:cubicBezTo>
                        <a:pt x="2042" y="2099"/>
                        <a:pt x="2043" y="2080"/>
                        <a:pt x="2041" y="2060"/>
                      </a:cubicBezTo>
                      <a:moveTo>
                        <a:pt x="1707" y="1429"/>
                      </a:moveTo>
                      <a:cubicBezTo>
                        <a:pt x="1731" y="1429"/>
                        <a:pt x="1754" y="1416"/>
                        <a:pt x="1767" y="1395"/>
                      </a:cubicBezTo>
                      <a:cubicBezTo>
                        <a:pt x="1780" y="1374"/>
                        <a:pt x="1781" y="1348"/>
                        <a:pt x="1769" y="1326"/>
                      </a:cubicBezTo>
                      <a:cubicBezTo>
                        <a:pt x="1642" y="1080"/>
                        <a:pt x="1642" y="1031"/>
                        <a:pt x="1642" y="798"/>
                      </a:cubicBezTo>
                      <a:cubicBezTo>
                        <a:pt x="1642" y="621"/>
                        <a:pt x="1642" y="621"/>
                        <a:pt x="1642" y="621"/>
                      </a:cubicBezTo>
                      <a:cubicBezTo>
                        <a:pt x="1642" y="278"/>
                        <a:pt x="1364" y="0"/>
                        <a:pt x="1021" y="0"/>
                      </a:cubicBezTo>
                      <a:cubicBezTo>
                        <a:pt x="679" y="0"/>
                        <a:pt x="401" y="278"/>
                        <a:pt x="401" y="621"/>
                      </a:cubicBezTo>
                      <a:cubicBezTo>
                        <a:pt x="401" y="798"/>
                        <a:pt x="401" y="798"/>
                        <a:pt x="401" y="798"/>
                      </a:cubicBezTo>
                      <a:cubicBezTo>
                        <a:pt x="401" y="1031"/>
                        <a:pt x="401" y="1080"/>
                        <a:pt x="274" y="1326"/>
                      </a:cubicBezTo>
                      <a:cubicBezTo>
                        <a:pt x="262" y="1348"/>
                        <a:pt x="263" y="1374"/>
                        <a:pt x="276" y="1395"/>
                      </a:cubicBezTo>
                      <a:cubicBezTo>
                        <a:pt x="289" y="1416"/>
                        <a:pt x="312" y="1429"/>
                        <a:pt x="337" y="1429"/>
                      </a:cubicBezTo>
                      <a:cubicBezTo>
                        <a:pt x="598" y="1429"/>
                        <a:pt x="598" y="1429"/>
                        <a:pt x="598" y="1429"/>
                      </a:cubicBezTo>
                      <a:cubicBezTo>
                        <a:pt x="709" y="1533"/>
                        <a:pt x="858" y="1596"/>
                        <a:pt x="1021" y="1596"/>
                      </a:cubicBezTo>
                      <a:cubicBezTo>
                        <a:pt x="1185" y="1596"/>
                        <a:pt x="1334" y="1533"/>
                        <a:pt x="1445" y="1429"/>
                      </a:cubicBezTo>
                      <a:lnTo>
                        <a:pt x="1707" y="1429"/>
                      </a:lnTo>
                      <a:close/>
                      <a:moveTo>
                        <a:pt x="1021" y="1455"/>
                      </a:moveTo>
                      <a:cubicBezTo>
                        <a:pt x="757" y="1455"/>
                        <a:pt x="542" y="1240"/>
                        <a:pt x="542" y="976"/>
                      </a:cubicBezTo>
                      <a:cubicBezTo>
                        <a:pt x="542" y="858"/>
                        <a:pt x="542" y="858"/>
                        <a:pt x="542" y="858"/>
                      </a:cubicBezTo>
                      <a:cubicBezTo>
                        <a:pt x="543" y="730"/>
                        <a:pt x="647" y="627"/>
                        <a:pt x="775" y="627"/>
                      </a:cubicBezTo>
                      <a:cubicBezTo>
                        <a:pt x="1094" y="627"/>
                        <a:pt x="1094" y="627"/>
                        <a:pt x="1094" y="627"/>
                      </a:cubicBezTo>
                      <a:cubicBezTo>
                        <a:pt x="1223" y="627"/>
                        <a:pt x="1328" y="522"/>
                        <a:pt x="1328" y="394"/>
                      </a:cubicBezTo>
                      <a:cubicBezTo>
                        <a:pt x="1328" y="252"/>
                        <a:pt x="1328" y="252"/>
                        <a:pt x="1328" y="252"/>
                      </a:cubicBezTo>
                      <a:cubicBezTo>
                        <a:pt x="1433" y="340"/>
                        <a:pt x="1501" y="473"/>
                        <a:pt x="1501" y="621"/>
                      </a:cubicBezTo>
                      <a:cubicBezTo>
                        <a:pt x="1501" y="976"/>
                        <a:pt x="1501" y="976"/>
                        <a:pt x="1501" y="976"/>
                      </a:cubicBezTo>
                      <a:cubicBezTo>
                        <a:pt x="1501" y="1240"/>
                        <a:pt x="1286" y="1455"/>
                        <a:pt x="1021" y="1455"/>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544F40"/>
                    </a:solidFill>
                    <a:effectLst/>
                    <a:uLnTx/>
                    <a:uFillTx/>
                    <a:latin typeface="Arial" panose="020B0604020202020204"/>
                    <a:ea typeface="+mn-ea"/>
                    <a:cs typeface="+mn-cs"/>
                  </a:endParaRPr>
                </a:p>
              </p:txBody>
            </p:sp>
          </p:grpSp>
        </p:grpSp>
      </p:grpSp>
      <p:pic>
        <p:nvPicPr>
          <p:cNvPr id="105" name="Picture 104">
            <a:extLst>
              <a:ext uri="{FF2B5EF4-FFF2-40B4-BE49-F238E27FC236}">
                <a16:creationId xmlns:a16="http://schemas.microsoft.com/office/drawing/2014/main" id="{F89C67CB-48BA-4A88-9301-0CB397AE4EB8}"/>
              </a:ext>
            </a:extLst>
          </p:cNvPr>
          <p:cNvPicPr>
            <a:picLocks noChangeAspect="1"/>
          </p:cNvPicPr>
          <p:nvPr/>
        </p:nvPicPr>
        <p:blipFill>
          <a:blip r:embed="rId2"/>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392370657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000" y="260792"/>
            <a:ext cx="9984000" cy="504000"/>
          </a:xfrm>
        </p:spPr>
        <p:txBody>
          <a:bodyPr/>
          <a:lstStyle/>
          <a:p>
            <a:r>
              <a:rPr lang="en-US" sz="2400" dirty="0"/>
              <a:t>IMPACT: Safety</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603147-C618-4EA3-8F82-359C170F62BB}" type="slidenum">
              <a:rPr kumimoji="0" lang="en-GB" sz="1200" b="0" i="0" u="none" strike="noStrike" kern="1200" cap="none" spc="0" normalizeH="0" baseline="0" noProof="0" smtClean="0">
                <a:ln>
                  <a:noFill/>
                </a:ln>
                <a:solidFill>
                  <a:srgbClr val="F36633"/>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srgbClr val="F36633"/>
              </a:solidFill>
              <a:effectLst/>
              <a:uLnTx/>
              <a:uFillTx/>
              <a:latin typeface="Arial" panose="020B0604020202020204"/>
              <a:ea typeface="+mn-ea"/>
              <a:cs typeface="+mn-cs"/>
            </a:endParaRPr>
          </a:p>
        </p:txBody>
      </p:sp>
      <p:sp>
        <p:nvSpPr>
          <p:cNvPr id="5" name="Text Placeholder 4"/>
          <p:cNvSpPr>
            <a:spLocks noGrp="1"/>
          </p:cNvSpPr>
          <p:nvPr>
            <p:ph type="body" sz="quarter" idx="21"/>
          </p:nvPr>
        </p:nvSpPr>
        <p:spPr/>
        <p:txBody>
          <a:bodyPr/>
          <a:lstStyle/>
          <a:p>
            <a:r>
              <a:rPr lang="en-US" dirty="0"/>
              <a:t>Suppl-Lipson DA, et al. </a:t>
            </a:r>
            <a:r>
              <a:rPr lang="en-US" i="1" dirty="0"/>
              <a:t>N Engl J Med</a:t>
            </a:r>
            <a:r>
              <a:rPr lang="en-US" dirty="0"/>
              <a:t>. 2018;378:1671–1680</a:t>
            </a:r>
          </a:p>
        </p:txBody>
      </p:sp>
      <p:sp>
        <p:nvSpPr>
          <p:cNvPr id="6" name="Text Placeholder 5"/>
          <p:cNvSpPr>
            <a:spLocks noGrp="1"/>
          </p:cNvSpPr>
          <p:nvPr>
            <p:ph type="body" sz="quarter" idx="19"/>
          </p:nvPr>
        </p:nvSpPr>
        <p:spPr/>
        <p:txBody>
          <a:bodyPr/>
          <a:lstStyle/>
          <a:p>
            <a:r>
              <a:rPr lang="en-US" dirty="0"/>
              <a:t>AE, adverse event; AESI, adverse events of special interest; LRTI, lower respiratory tract infection; SAE, serious adverse event; URTI, upper respiratory tract infection</a:t>
            </a:r>
          </a:p>
        </p:txBody>
      </p:sp>
      <p:graphicFrame>
        <p:nvGraphicFramePr>
          <p:cNvPr id="8" name="Content Placeholder 3">
            <a:extLst>
              <a:ext uri="{FF2B5EF4-FFF2-40B4-BE49-F238E27FC236}">
                <a16:creationId xmlns:a16="http://schemas.microsoft.com/office/drawing/2014/main" id="{07187B17-418C-4323-86FC-FC39953A71E6}"/>
              </a:ext>
            </a:extLst>
          </p:cNvPr>
          <p:cNvGraphicFramePr>
            <a:graphicFrameLocks/>
          </p:cNvGraphicFramePr>
          <p:nvPr/>
        </p:nvGraphicFramePr>
        <p:xfrm>
          <a:off x="429209" y="1057634"/>
          <a:ext cx="11356852" cy="4831080"/>
        </p:xfrm>
        <a:graphic>
          <a:graphicData uri="http://schemas.openxmlformats.org/drawingml/2006/table">
            <a:tbl>
              <a:tblPr firstRow="1" bandRow="1">
                <a:tableStyleId>{3C2FFA5D-87B4-456A-9821-1D502468CF0F}</a:tableStyleId>
              </a:tblPr>
              <a:tblGrid>
                <a:gridCol w="6576651">
                  <a:extLst>
                    <a:ext uri="{9D8B030D-6E8A-4147-A177-3AD203B41FA5}">
                      <a16:colId xmlns:a16="http://schemas.microsoft.com/office/drawing/2014/main" val="20000"/>
                    </a:ext>
                  </a:extLst>
                </a:gridCol>
                <a:gridCol w="1593400">
                  <a:extLst>
                    <a:ext uri="{9D8B030D-6E8A-4147-A177-3AD203B41FA5}">
                      <a16:colId xmlns:a16="http://schemas.microsoft.com/office/drawing/2014/main" val="724147994"/>
                    </a:ext>
                  </a:extLst>
                </a:gridCol>
                <a:gridCol w="1593401">
                  <a:extLst>
                    <a:ext uri="{9D8B030D-6E8A-4147-A177-3AD203B41FA5}">
                      <a16:colId xmlns:a16="http://schemas.microsoft.com/office/drawing/2014/main" val="4292260921"/>
                    </a:ext>
                  </a:extLst>
                </a:gridCol>
                <a:gridCol w="1593400">
                  <a:extLst>
                    <a:ext uri="{9D8B030D-6E8A-4147-A177-3AD203B41FA5}">
                      <a16:colId xmlns:a16="http://schemas.microsoft.com/office/drawing/2014/main" val="3672373774"/>
                    </a:ext>
                  </a:extLst>
                </a:gridCol>
              </a:tblGrid>
              <a:tr h="205924">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l">
                        <a:lnSpc>
                          <a:spcPct val="100000"/>
                        </a:lnSpc>
                      </a:pPr>
                      <a:r>
                        <a:rPr lang="en-US" sz="1100" b="1" dirty="0">
                          <a:solidFill>
                            <a:srgbClr val="FFFFFF"/>
                          </a:solidFill>
                          <a:latin typeface="Arial" panose="020B0604020202020204" pitchFamily="34" charset="0"/>
                        </a:rPr>
                        <a:t>Selected</a:t>
                      </a:r>
                      <a:r>
                        <a:rPr lang="en-US" sz="1100" b="1" baseline="0" dirty="0">
                          <a:solidFill>
                            <a:srgbClr val="FFFFFF"/>
                          </a:solidFill>
                          <a:latin typeface="Arial" panose="020B0604020202020204" pitchFamily="34" charset="0"/>
                        </a:rPr>
                        <a:t> safety findings, n (%)</a:t>
                      </a:r>
                      <a:endParaRPr lang="en-US" sz="1100" b="1" dirty="0">
                        <a:solidFill>
                          <a:srgbClr val="FFFFFF"/>
                        </a:solidFill>
                        <a:latin typeface="Arial" panose="020B0604020202020204" pitchFamily="34" charset="0"/>
                      </a:endParaRPr>
                    </a:p>
                  </a:txBody>
                  <a:tcPr marL="45720" marR="45720" anchor="ctr">
                    <a:lnL w="9525" cap="flat" cmpd="sng" algn="ctr">
                      <a:solidFill>
                        <a:srgbClr val="FFFFFF"/>
                      </a:solidFill>
                      <a:prstDash val="solid"/>
                      <a:miter lim="800000"/>
                    </a:lnL>
                    <a:lnR w="9525">
                      <a:solidFill>
                        <a:srgbClr val="FFFFFF"/>
                      </a:solidFill>
                    </a:lnR>
                    <a:lnT w="6350" cap="flat" cmpd="sng" algn="ctr">
                      <a:solidFill>
                        <a:srgbClr val="FFFFFF"/>
                      </a:solidFill>
                      <a:prstDash val="solid"/>
                      <a:miter lim="800000"/>
                    </a:lnT>
                    <a:lnB w="9525" cap="flat" cmpd="sng" algn="ctr">
                      <a:solidFill>
                        <a:srgbClr val="FFFFFF"/>
                      </a:solidFill>
                      <a:prstDash val="solid"/>
                      <a:miter lim="800000"/>
                    </a:lnB>
                    <a:solidFill>
                      <a:srgbClr val="544F40"/>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lnSpc>
                          <a:spcPct val="100000"/>
                        </a:lnSpc>
                      </a:pPr>
                      <a:r>
                        <a:rPr lang="en-US" sz="1100" b="1" kern="1200" dirty="0">
                          <a:solidFill>
                            <a:srgbClr val="FFFFFF"/>
                          </a:solidFill>
                          <a:latin typeface="Arial" panose="020B0604020202020204" pitchFamily="34" charset="0"/>
                        </a:rPr>
                        <a:t>FF/UMEC/VI</a:t>
                      </a:r>
                    </a:p>
                    <a:p>
                      <a:pPr algn="ctr">
                        <a:lnSpc>
                          <a:spcPct val="100000"/>
                        </a:lnSpc>
                      </a:pPr>
                      <a:r>
                        <a:rPr lang="en-US" sz="1100" b="1" kern="1200" dirty="0">
                          <a:solidFill>
                            <a:srgbClr val="FFFFFF"/>
                          </a:solidFill>
                          <a:latin typeface="Arial" panose="020B0604020202020204" pitchFamily="34" charset="0"/>
                        </a:rPr>
                        <a:t>(n = 4,151)</a:t>
                      </a:r>
                      <a:endParaRPr lang="en-US" sz="1100" b="1" kern="1200" dirty="0">
                        <a:solidFill>
                          <a:srgbClr val="FFFFFF"/>
                        </a:solidFill>
                        <a:latin typeface="Arial" panose="020B0604020202020204" pitchFamily="34" charset="0"/>
                        <a:ea typeface="+mn-ea"/>
                        <a:cs typeface="+mn-cs"/>
                      </a:endParaRPr>
                    </a:p>
                  </a:txBody>
                  <a:tcPr marL="45720" marR="45720" anchor="ctr">
                    <a:lnL w="9525" cap="flat" cmpd="sng" algn="ctr">
                      <a:solidFill>
                        <a:srgbClr val="FFFFFF"/>
                      </a:solidFill>
                      <a:prstDash val="solid"/>
                      <a:round/>
                      <a:headEnd type="none" w="med" len="med"/>
                      <a:tailEnd type="none" w="med" len="med"/>
                    </a:lnL>
                    <a:lnR w="9525">
                      <a:solidFill>
                        <a:srgbClr val="FFFFFF"/>
                      </a:solidFill>
                    </a:lnR>
                    <a:lnT w="6350" cap="flat" cmpd="sng" algn="ctr">
                      <a:solidFill>
                        <a:srgbClr val="FFFFFF"/>
                      </a:solidFill>
                      <a:prstDash val="solid"/>
                      <a:miter lim="800000"/>
                    </a:lnT>
                    <a:lnB w="9525" cap="flat" cmpd="sng" algn="ctr">
                      <a:solidFill>
                        <a:srgbClr val="FFFFFF"/>
                      </a:solidFill>
                      <a:prstDash val="solid"/>
                      <a:miter lim="800000"/>
                      <a:headEnd type="none" w="med" len="med"/>
                      <a:tailEnd type="none" w="med" len="med"/>
                    </a:lnB>
                    <a:solidFill>
                      <a:srgbClr val="F36633"/>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lnSpc>
                          <a:spcPct val="100000"/>
                        </a:lnSpc>
                      </a:pPr>
                      <a:r>
                        <a:rPr lang="en-US" sz="1100" b="1" kern="1200" dirty="0">
                          <a:solidFill>
                            <a:srgbClr val="FFFFFF"/>
                          </a:solidFill>
                          <a:latin typeface="Arial" panose="020B0604020202020204" pitchFamily="34" charset="0"/>
                        </a:rPr>
                        <a:t>FF/VI</a:t>
                      </a:r>
                    </a:p>
                    <a:p>
                      <a:pPr algn="ctr">
                        <a:lnSpc>
                          <a:spcPct val="100000"/>
                        </a:lnSpc>
                      </a:pPr>
                      <a:r>
                        <a:rPr lang="en-US" sz="1100" b="1" kern="1200" dirty="0">
                          <a:solidFill>
                            <a:srgbClr val="FFFFFF"/>
                          </a:solidFill>
                          <a:latin typeface="Arial" panose="020B0604020202020204" pitchFamily="34" charset="0"/>
                        </a:rPr>
                        <a:t>(n = 4,134)</a:t>
                      </a:r>
                      <a:endParaRPr lang="en-US" sz="1100" b="1" kern="1200" dirty="0">
                        <a:solidFill>
                          <a:srgbClr val="FFFFFF"/>
                        </a:solidFill>
                        <a:latin typeface="Arial" panose="020B0604020202020204" pitchFamily="34" charset="0"/>
                        <a:ea typeface="+mn-ea"/>
                        <a:cs typeface="+mn-cs"/>
                      </a:endParaRPr>
                    </a:p>
                  </a:txBody>
                  <a:tcPr marL="45720" marR="45720" anchor="ctr">
                    <a:lnL w="9525">
                      <a:solidFill>
                        <a:srgbClr val="FFFFFF"/>
                      </a:solidFill>
                    </a:lnL>
                    <a:lnR w="9525">
                      <a:solidFill>
                        <a:srgbClr val="FFFFFF"/>
                      </a:solidFill>
                    </a:lnR>
                    <a:lnT w="6350" cap="flat" cmpd="sng" algn="ctr">
                      <a:solidFill>
                        <a:srgbClr val="FFFFFF"/>
                      </a:solidFill>
                      <a:prstDash val="solid"/>
                      <a:miter lim="800000"/>
                    </a:lnT>
                    <a:lnB w="9525" cap="flat" cmpd="sng" algn="ctr">
                      <a:solidFill>
                        <a:srgbClr val="FFFFFF"/>
                      </a:solidFill>
                      <a:prstDash val="solid"/>
                      <a:miter lim="800000"/>
                    </a:lnB>
                    <a:solidFill>
                      <a:srgbClr val="008A00"/>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lnSpc>
                          <a:spcPct val="100000"/>
                        </a:lnSpc>
                      </a:pPr>
                      <a:r>
                        <a:rPr lang="en-US" sz="1100" b="1" dirty="0">
                          <a:solidFill>
                            <a:srgbClr val="FFFFFF"/>
                          </a:solidFill>
                          <a:latin typeface="Arial" panose="020B0604020202020204" pitchFamily="34" charset="0"/>
                        </a:rPr>
                        <a:t>UMEC/VI</a:t>
                      </a:r>
                    </a:p>
                    <a:p>
                      <a:pPr algn="ctr">
                        <a:lnSpc>
                          <a:spcPct val="100000"/>
                        </a:lnSpc>
                      </a:pPr>
                      <a:r>
                        <a:rPr lang="en-US" sz="1100" b="1" dirty="0">
                          <a:solidFill>
                            <a:srgbClr val="FFFFFF"/>
                          </a:solidFill>
                          <a:latin typeface="Arial" panose="020B0604020202020204" pitchFamily="34" charset="0"/>
                        </a:rPr>
                        <a:t>(n = 2,070)</a:t>
                      </a:r>
                    </a:p>
                  </a:txBody>
                  <a:tcPr marL="45720" marR="45720" anchor="ctr">
                    <a:lnL w="9525" cap="flat" cmpd="sng" algn="ctr">
                      <a:solidFill>
                        <a:srgbClr val="FFFFFF"/>
                      </a:solidFill>
                      <a:prstDash val="solid"/>
                      <a:round/>
                      <a:headEnd type="none" w="med" len="med"/>
                      <a:tailEnd type="none" w="med" len="med"/>
                    </a:lnL>
                    <a:lnR w="9525" cap="flat" cmpd="sng" algn="ctr">
                      <a:solidFill>
                        <a:srgbClr val="FFFFFF"/>
                      </a:solidFill>
                      <a:prstDash val="solid"/>
                      <a:miter lim="800000"/>
                    </a:lnR>
                    <a:lnT w="6350" cap="flat" cmpd="sng" algn="ctr">
                      <a:solidFill>
                        <a:srgbClr val="FFFFFF"/>
                      </a:solidFill>
                      <a:prstDash val="solid"/>
                      <a:miter lim="800000"/>
                    </a:lnT>
                    <a:lnB w="9525" cap="flat" cmpd="sng" algn="ctr">
                      <a:solidFill>
                        <a:srgbClr val="FFFFFF"/>
                      </a:solidFill>
                      <a:prstDash val="solid"/>
                      <a:miter lim="800000"/>
                      <a:headEnd type="none" w="med" len="med"/>
                      <a:tailEnd type="none" w="med" len="med"/>
                    </a:lnB>
                    <a:solidFill>
                      <a:srgbClr val="40488D"/>
                    </a:solidFill>
                  </a:tcPr>
                </a:tc>
                <a:extLst>
                  <a:ext uri="{0D108BD9-81ED-4DB2-BD59-A6C34878D82A}">
                    <a16:rowId xmlns:a16="http://schemas.microsoft.com/office/drawing/2014/main" val="10000"/>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a:lnSpc>
                          <a:spcPct val="100000"/>
                        </a:lnSpc>
                        <a:spcAft>
                          <a:spcPts val="0"/>
                        </a:spcAft>
                      </a:pPr>
                      <a:r>
                        <a:rPr lang="en-GB" sz="1100" b="1" dirty="0">
                          <a:solidFill>
                            <a:srgbClr val="544F40"/>
                          </a:solidFill>
                          <a:effectLst/>
                          <a:latin typeface="+mn-lt"/>
                        </a:rPr>
                        <a:t>Any on-treatment AEs</a:t>
                      </a:r>
                      <a:endParaRPr lang="en-GB" sz="1100" b="1" baseline="300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solid"/>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FFFFFF"/>
                      </a:solidFill>
                      <a:prstDash val="solid"/>
                      <a:miter lim="800000"/>
                    </a:lnT>
                    <a:lnB w="9525" cap="flat" cmpd="sng" algn="ctr">
                      <a:solidFill>
                        <a:srgbClr val="544F40"/>
                      </a:solidFill>
                      <a:prstDash val="solid"/>
                      <a:miter lim="800000"/>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2,897 (70)</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FFFFFF"/>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2,800 (68)</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FFFFFF"/>
                      </a:solidFill>
                      <a:prstDash val="solid"/>
                      <a:miter lim="800000"/>
                    </a:lnT>
                    <a:lnB w="9525" cap="flat" cmpd="sng" algn="ctr">
                      <a:solidFill>
                        <a:srgbClr val="544F40"/>
                      </a:solidFill>
                      <a:prstDash val="solid"/>
                      <a:miter lim="800000"/>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1,429 (69)</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solid"/>
                      <a:round/>
                      <a:headEnd type="none" w="med" len="med"/>
                      <a:tailEnd type="none" w="med" len="med"/>
                    </a:lnR>
                    <a:lnT w="9525" cap="flat" cmpd="sng" algn="ctr">
                      <a:solidFill>
                        <a:srgbClr val="FFFFFF"/>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extLst>
                  <a:ext uri="{0D108BD9-81ED-4DB2-BD59-A6C34878D82A}">
                    <a16:rowId xmlns:a16="http://schemas.microsoft.com/office/drawing/2014/main" val="10002"/>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a:lnSpc>
                          <a:spcPct val="100000"/>
                        </a:lnSpc>
                        <a:spcAft>
                          <a:spcPts val="0"/>
                        </a:spcAft>
                      </a:pPr>
                      <a:r>
                        <a:rPr lang="en-GB" sz="1100" b="1" dirty="0">
                          <a:solidFill>
                            <a:srgbClr val="544F40"/>
                          </a:solidFill>
                          <a:effectLst/>
                          <a:latin typeface="+mn-lt"/>
                        </a:rPr>
                        <a:t>Any on-treatment drug-related AEs</a:t>
                      </a:r>
                      <a:endParaRPr lang="en-GB" sz="1100" b="1" baseline="300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solid"/>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9525" cap="flat" cmpd="sng" algn="ctr">
                      <a:solidFill>
                        <a:srgbClr val="544F40"/>
                      </a:solidFill>
                      <a:prstDash val="solid"/>
                      <a:miter lim="800000"/>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478 (12)</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492 (12)</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9525" cap="flat" cmpd="sng" algn="ctr">
                      <a:solidFill>
                        <a:srgbClr val="544F40"/>
                      </a:solidFill>
                      <a:prstDash val="solid"/>
                      <a:miter lim="800000"/>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214 (10)</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solid"/>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extLst>
                  <a:ext uri="{0D108BD9-81ED-4DB2-BD59-A6C34878D82A}">
                    <a16:rowId xmlns:a16="http://schemas.microsoft.com/office/drawing/2014/main" val="245083172"/>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a:lnSpc>
                          <a:spcPct val="100000"/>
                        </a:lnSpc>
                        <a:spcAft>
                          <a:spcPts val="0"/>
                        </a:spcAft>
                      </a:pPr>
                      <a:r>
                        <a:rPr lang="en-GB" sz="1100" b="1" dirty="0">
                          <a:solidFill>
                            <a:srgbClr val="544F40"/>
                          </a:solidFill>
                          <a:effectLst/>
                          <a:latin typeface="+mn-lt"/>
                        </a:rPr>
                        <a:t>AEs leading to discontinuation/</a:t>
                      </a:r>
                      <a:r>
                        <a:rPr lang="en-GB" sz="1100" b="1" baseline="0" dirty="0">
                          <a:solidFill>
                            <a:srgbClr val="544F40"/>
                          </a:solidFill>
                          <a:effectLst/>
                          <a:latin typeface="+mn-lt"/>
                        </a:rPr>
                        <a:t>withdrawal</a:t>
                      </a:r>
                      <a:endParaRPr lang="en-GB" sz="1100" b="1" baseline="300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solid"/>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9525" cap="flat" cmpd="sng" algn="ctr">
                      <a:solidFill>
                        <a:srgbClr val="544F40"/>
                      </a:solidFill>
                      <a:prstDash val="solid"/>
                      <a:miter lim="800000"/>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252 (6)</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327 (8)</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9525" cap="flat" cmpd="sng" algn="ctr">
                      <a:solidFill>
                        <a:srgbClr val="544F40"/>
                      </a:solidFill>
                      <a:prstDash val="solid"/>
                      <a:miter lim="800000"/>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187 (9)</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solid"/>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extLst>
                  <a:ext uri="{0D108BD9-81ED-4DB2-BD59-A6C34878D82A}">
                    <a16:rowId xmlns:a16="http://schemas.microsoft.com/office/drawing/2014/main" val="4093652506"/>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a:lnSpc>
                          <a:spcPct val="100000"/>
                        </a:lnSpc>
                        <a:spcAft>
                          <a:spcPts val="0"/>
                        </a:spcAft>
                      </a:pPr>
                      <a:r>
                        <a:rPr lang="en-GB" sz="1100" b="1" dirty="0">
                          <a:solidFill>
                            <a:srgbClr val="544F40"/>
                          </a:solidFill>
                          <a:effectLst/>
                          <a:latin typeface="+mn-lt"/>
                        </a:rPr>
                        <a:t>On-treatment SAEs</a:t>
                      </a:r>
                      <a:endParaRPr lang="en-GB" sz="1100" b="1" baseline="300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solid"/>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9525" cap="flat" cmpd="sng" algn="ctr">
                      <a:solidFill>
                        <a:srgbClr val="544F40"/>
                      </a:solidFill>
                      <a:prstDash val="solid"/>
                      <a:miter lim="800000"/>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895 (22)</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850 (21)</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9525" cap="flat" cmpd="sng" algn="ctr">
                      <a:solidFill>
                        <a:srgbClr val="544F40"/>
                      </a:solidFill>
                      <a:prstDash val="solid"/>
                      <a:miter lim="800000"/>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470 (23)</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solid"/>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extLst>
                  <a:ext uri="{0D108BD9-81ED-4DB2-BD59-A6C34878D82A}">
                    <a16:rowId xmlns:a16="http://schemas.microsoft.com/office/drawing/2014/main" val="1167156859"/>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a:lnSpc>
                          <a:spcPct val="100000"/>
                        </a:lnSpc>
                        <a:spcAft>
                          <a:spcPts val="0"/>
                        </a:spcAft>
                      </a:pPr>
                      <a:r>
                        <a:rPr lang="en-US" sz="1100" b="1" dirty="0">
                          <a:solidFill>
                            <a:srgbClr val="544F40"/>
                          </a:solidFill>
                          <a:effectLst/>
                          <a:latin typeface="+mn-lt"/>
                        </a:rPr>
                        <a:t>Selected</a:t>
                      </a:r>
                      <a:r>
                        <a:rPr lang="en-US" sz="1100" b="1" baseline="0" dirty="0">
                          <a:solidFill>
                            <a:srgbClr val="544F40"/>
                          </a:solidFill>
                          <a:effectLst/>
                          <a:latin typeface="+mn-lt"/>
                        </a:rPr>
                        <a:t> </a:t>
                      </a:r>
                      <a:r>
                        <a:rPr lang="en-US" sz="1100" b="1" dirty="0">
                          <a:solidFill>
                            <a:srgbClr val="544F40"/>
                          </a:solidFill>
                          <a:effectLst/>
                          <a:latin typeface="+mn-lt"/>
                        </a:rPr>
                        <a:t>AE occurring in ≥2% of patients</a:t>
                      </a:r>
                      <a:endParaRPr lang="en-GB" sz="1100" b="1" baseline="300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solid"/>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9525" cap="flat" cmpd="sng" algn="ctr">
                      <a:solidFill>
                        <a:srgbClr val="544F40"/>
                      </a:solidFill>
                      <a:prstDash val="solid"/>
                      <a:miter lim="800000"/>
                    </a:lnB>
                    <a:solidFill>
                      <a:srgbClr val="FFFFFF"/>
                    </a:solidFill>
                  </a:tcPr>
                </a:tc>
                <a:tc>
                  <a:txBody>
                    <a:bodyPr/>
                    <a:lstStyle/>
                    <a:p>
                      <a:endParaRPr lang="en-GB" sz="1100" dirty="0">
                        <a:latin typeface="+mn-lt"/>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p>
                      <a:pPr algn="ctr">
                        <a:lnSpc>
                          <a:spcPct val="100000"/>
                        </a:lnSpc>
                        <a:spcAft>
                          <a:spcPts val="0"/>
                        </a:spcAft>
                      </a:pPr>
                      <a:endParaRPr lang="en-GB" sz="1100" dirty="0">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p>
                      <a:pPr algn="ctr">
                        <a:lnSpc>
                          <a:spcPct val="100000"/>
                        </a:lnSpc>
                        <a:spcAft>
                          <a:spcPts val="0"/>
                        </a:spcAft>
                      </a:pPr>
                      <a:endParaRPr lang="en-GB" sz="1100" dirty="0">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solid"/>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extLst>
                  <a:ext uri="{0D108BD9-81ED-4DB2-BD59-A6C34878D82A}">
                    <a16:rowId xmlns:a16="http://schemas.microsoft.com/office/drawing/2014/main" val="3756783819"/>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108000" algn="l">
                        <a:lnSpc>
                          <a:spcPct val="100000"/>
                        </a:lnSpc>
                        <a:spcAft>
                          <a:spcPts val="0"/>
                        </a:spcAft>
                      </a:pPr>
                      <a:r>
                        <a:rPr lang="en-US" sz="1100" dirty="0">
                          <a:solidFill>
                            <a:srgbClr val="544F40"/>
                          </a:solidFill>
                          <a:effectLst/>
                          <a:latin typeface="+mn-lt"/>
                        </a:rPr>
                        <a:t>URTI</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solid"/>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19050" cap="flat" cmpd="sng" algn="ctr">
                      <a:solidFill>
                        <a:srgbClr val="ED003C"/>
                      </a:solidFill>
                      <a:prstDash val="dash"/>
                      <a:round/>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299 (7)</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19050" cap="flat" cmpd="sng" algn="ctr">
                      <a:solidFill>
                        <a:srgbClr val="ED003C"/>
                      </a:solidFill>
                      <a:prstDash val="dash"/>
                      <a:round/>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283 (7)</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19050" cap="flat" cmpd="sng" algn="ctr">
                      <a:solidFill>
                        <a:srgbClr val="ED003C"/>
                      </a:solidFill>
                      <a:prstDash val="dash"/>
                      <a:round/>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117 (6)</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solid"/>
                      <a:round/>
                      <a:headEnd type="none" w="med" len="med"/>
                      <a:tailEnd type="none" w="med" len="med"/>
                    </a:lnR>
                    <a:lnT w="9525" cap="flat" cmpd="sng" algn="ctr">
                      <a:solidFill>
                        <a:srgbClr val="544F40"/>
                      </a:solidFill>
                      <a:prstDash val="solid"/>
                      <a:miter lim="800000"/>
                      <a:headEnd type="none" w="med" len="med"/>
                      <a:tailEnd type="none" w="med" len="med"/>
                    </a:lnT>
                    <a:lnB w="19050" cap="flat" cmpd="sng" algn="ctr">
                      <a:solidFill>
                        <a:srgbClr val="ED003C"/>
                      </a:solidFill>
                      <a:prstDash val="dash"/>
                      <a:round/>
                      <a:headEnd type="none" w="med" len="med"/>
                      <a:tailEnd type="none" w="med" len="med"/>
                    </a:lnB>
                    <a:solidFill>
                      <a:srgbClr val="FFFFFF"/>
                    </a:solidFill>
                  </a:tcPr>
                </a:tc>
                <a:extLst>
                  <a:ext uri="{0D108BD9-81ED-4DB2-BD59-A6C34878D82A}">
                    <a16:rowId xmlns:a16="http://schemas.microsoft.com/office/drawing/2014/main" val="2733222043"/>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108000" algn="l">
                        <a:lnSpc>
                          <a:spcPct val="100000"/>
                        </a:lnSpc>
                        <a:spcAft>
                          <a:spcPts val="0"/>
                        </a:spcAft>
                      </a:pPr>
                      <a:r>
                        <a:rPr lang="en-US" sz="1100" dirty="0">
                          <a:solidFill>
                            <a:srgbClr val="544F40"/>
                          </a:solidFill>
                          <a:effectLst/>
                          <a:latin typeface="+mn-lt"/>
                        </a:rPr>
                        <a:t>Pneumonia</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chemeClr val="tx1"/>
                      </a:solidFill>
                      <a:prstDash val="solid"/>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19050" cap="flat" cmpd="sng" algn="ctr">
                      <a:solidFill>
                        <a:srgbClr val="ED003C"/>
                      </a:solidFill>
                      <a:prstDash val="dash"/>
                      <a:round/>
                      <a:headEnd type="none" w="med" len="med"/>
                      <a:tailEnd type="none" w="med" len="med"/>
                    </a:lnB>
                    <a:solidFill>
                      <a:srgbClr val="FFEFF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298 (7)</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19050" cap="flat" cmpd="sng" algn="ctr">
                      <a:solidFill>
                        <a:srgbClr val="ED003C"/>
                      </a:solidFill>
                      <a:prstDash val="dash"/>
                      <a:round/>
                      <a:headEnd type="none" w="med" len="med"/>
                      <a:tailEnd type="none" w="med" len="med"/>
                    </a:lnB>
                    <a:solidFill>
                      <a:srgbClr val="FFEFF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264 (6)</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19050" cap="flat" cmpd="sng" algn="ctr">
                      <a:solidFill>
                        <a:srgbClr val="ED003C"/>
                      </a:solidFill>
                      <a:prstDash val="dash"/>
                      <a:round/>
                      <a:headEnd type="none" w="med" len="med"/>
                      <a:tailEnd type="none" w="med" len="med"/>
                    </a:lnB>
                    <a:solidFill>
                      <a:srgbClr val="FFEFF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93 (4)</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rgbClr val="ED003C"/>
                      </a:solidFill>
                      <a:prstDash val="dash"/>
                      <a:round/>
                      <a:headEnd type="none" w="med" len="med"/>
                      <a:tailEnd type="none" w="med" len="med"/>
                    </a:lnT>
                    <a:lnB w="19050" cap="flat" cmpd="sng" algn="ctr">
                      <a:solidFill>
                        <a:srgbClr val="ED003C"/>
                      </a:solidFill>
                      <a:prstDash val="dash"/>
                      <a:round/>
                      <a:headEnd type="none" w="med" len="med"/>
                      <a:tailEnd type="none" w="med" len="med"/>
                    </a:lnB>
                    <a:solidFill>
                      <a:srgbClr val="FFEFF3"/>
                    </a:solidFill>
                  </a:tcPr>
                </a:tc>
                <a:extLst>
                  <a:ext uri="{0D108BD9-81ED-4DB2-BD59-A6C34878D82A}">
                    <a16:rowId xmlns:a16="http://schemas.microsoft.com/office/drawing/2014/main" val="3459055788"/>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108000" algn="l">
                        <a:lnSpc>
                          <a:spcPct val="100000"/>
                        </a:lnSpc>
                        <a:spcAft>
                          <a:spcPts val="0"/>
                        </a:spcAft>
                      </a:pPr>
                      <a:r>
                        <a:rPr lang="en-US" sz="1100" dirty="0">
                          <a:solidFill>
                            <a:srgbClr val="544F40"/>
                          </a:solidFill>
                          <a:effectLst/>
                          <a:latin typeface="+mn-lt"/>
                        </a:rPr>
                        <a:t>Bronchitis</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solid"/>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9525" cap="flat" cmpd="sng" algn="ctr">
                      <a:solidFill>
                        <a:srgbClr val="544F40"/>
                      </a:solidFill>
                      <a:prstDash val="solid"/>
                      <a:miter lim="800000"/>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152 (4)</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130 (3)</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73 (4)</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solid"/>
                      <a:round/>
                      <a:headEnd type="none" w="med" len="med"/>
                      <a:tailEnd type="none" w="med" len="med"/>
                    </a:lnR>
                    <a:lnT w="19050" cap="flat" cmpd="sng" algn="ctr">
                      <a:solidFill>
                        <a:srgbClr val="ED003C"/>
                      </a:solidFill>
                      <a:prstDash val="dash"/>
                      <a:round/>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extLst>
                  <a:ext uri="{0D108BD9-81ED-4DB2-BD59-A6C34878D82A}">
                    <a16:rowId xmlns:a16="http://schemas.microsoft.com/office/drawing/2014/main" val="4269599405"/>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a:lnSpc>
                          <a:spcPct val="100000"/>
                        </a:lnSpc>
                        <a:spcAft>
                          <a:spcPts val="0"/>
                        </a:spcAft>
                      </a:pPr>
                      <a:r>
                        <a:rPr lang="en-US" sz="1100" b="1" dirty="0">
                          <a:solidFill>
                            <a:srgbClr val="544F40"/>
                          </a:solidFill>
                          <a:effectLst/>
                          <a:latin typeface="+mn-lt"/>
                        </a:rPr>
                        <a:t>Selected</a:t>
                      </a:r>
                      <a:r>
                        <a:rPr lang="en-US" sz="1100" b="1" baseline="0" dirty="0">
                          <a:solidFill>
                            <a:srgbClr val="544F40"/>
                          </a:solidFill>
                          <a:effectLst/>
                          <a:latin typeface="+mn-lt"/>
                        </a:rPr>
                        <a:t> AESIs</a:t>
                      </a:r>
                      <a:endParaRPr lang="en-GB" sz="1100" b="1" baseline="300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solid"/>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9525" cap="flat" cmpd="sng" algn="ctr">
                      <a:solidFill>
                        <a:srgbClr val="544F40"/>
                      </a:solidFill>
                      <a:prstDash val="solid"/>
                      <a:miter lim="800000"/>
                    </a:lnB>
                    <a:solidFill>
                      <a:srgbClr val="FFFFFF"/>
                    </a:solidFill>
                  </a:tcPr>
                </a:tc>
                <a:tc>
                  <a:txBody>
                    <a:bodyPr/>
                    <a:lstStyle/>
                    <a:p>
                      <a:endParaRPr lang="en-GB" sz="1100" dirty="0">
                        <a:latin typeface="+mn-lt"/>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p>
                      <a:pPr algn="ctr">
                        <a:lnSpc>
                          <a:spcPct val="100000"/>
                        </a:lnSpc>
                        <a:spcAft>
                          <a:spcPts val="0"/>
                        </a:spcAft>
                      </a:pPr>
                      <a:endParaRPr lang="en-GB" sz="1100" dirty="0">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p>
                      <a:pPr algn="ctr">
                        <a:lnSpc>
                          <a:spcPct val="100000"/>
                        </a:lnSpc>
                        <a:spcAft>
                          <a:spcPts val="0"/>
                        </a:spcAft>
                      </a:pPr>
                      <a:endParaRPr lang="en-GB" sz="1100" dirty="0">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solid"/>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extLst>
                  <a:ext uri="{0D108BD9-81ED-4DB2-BD59-A6C34878D82A}">
                    <a16:rowId xmlns:a16="http://schemas.microsoft.com/office/drawing/2014/main" val="2568774163"/>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108000" algn="l">
                        <a:lnSpc>
                          <a:spcPct val="100000"/>
                        </a:lnSpc>
                        <a:spcAft>
                          <a:spcPts val="0"/>
                        </a:spcAft>
                      </a:pPr>
                      <a:r>
                        <a:rPr lang="en-US" sz="1100" dirty="0">
                          <a:solidFill>
                            <a:srgbClr val="544F40"/>
                          </a:solidFill>
                          <a:effectLst/>
                          <a:latin typeface="+mn-lt"/>
                        </a:rPr>
                        <a:t>Cardiovascular effects</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solid"/>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9525" cap="flat" cmpd="sng" algn="ctr">
                      <a:solidFill>
                        <a:srgbClr val="544F40"/>
                      </a:solidFill>
                      <a:prstDash val="solid"/>
                      <a:miter lim="800000"/>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450 (11)</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430 (10)</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224 (11)</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solid"/>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extLst>
                  <a:ext uri="{0D108BD9-81ED-4DB2-BD59-A6C34878D82A}">
                    <a16:rowId xmlns:a16="http://schemas.microsoft.com/office/drawing/2014/main" val="138643917"/>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108000" algn="l">
                        <a:lnSpc>
                          <a:spcPct val="100000"/>
                        </a:lnSpc>
                        <a:spcAft>
                          <a:spcPts val="0"/>
                        </a:spcAft>
                      </a:pPr>
                      <a:r>
                        <a:rPr lang="en-US" sz="1100" dirty="0">
                          <a:solidFill>
                            <a:srgbClr val="544F40"/>
                          </a:solidFill>
                          <a:effectLst/>
                          <a:latin typeface="+mn-lt"/>
                        </a:rPr>
                        <a:t>Cardiac failure</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solid"/>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9525" cap="flat" cmpd="sng" algn="ctr">
                      <a:solidFill>
                        <a:srgbClr val="544F40"/>
                      </a:solidFill>
                      <a:prstDash val="solid"/>
                      <a:miter lim="800000"/>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138 (3)</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126 (3)</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9525" cap="flat" cmpd="sng" algn="ctr">
                      <a:solidFill>
                        <a:srgbClr val="544F40"/>
                      </a:solidFill>
                      <a:prstDash val="solid"/>
                      <a:miter lim="800000"/>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68 (3)</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solid"/>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extLst>
                  <a:ext uri="{0D108BD9-81ED-4DB2-BD59-A6C34878D82A}">
                    <a16:rowId xmlns:a16="http://schemas.microsoft.com/office/drawing/2014/main" val="1000635915"/>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108000" algn="l">
                        <a:lnSpc>
                          <a:spcPct val="100000"/>
                        </a:lnSpc>
                        <a:spcAft>
                          <a:spcPts val="0"/>
                        </a:spcAft>
                      </a:pPr>
                      <a:r>
                        <a:rPr lang="en-US" sz="1100" dirty="0">
                          <a:solidFill>
                            <a:srgbClr val="544F40"/>
                          </a:solidFill>
                          <a:effectLst/>
                          <a:latin typeface="+mn-lt"/>
                        </a:rPr>
                        <a:t>Decreased bone mineral density and associated fractures</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solid"/>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19050" cap="flat" cmpd="sng" algn="ctr">
                      <a:solidFill>
                        <a:srgbClr val="ED003C"/>
                      </a:solidFill>
                      <a:prstDash val="dash"/>
                      <a:round/>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98 (2)</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19050" cap="flat" cmpd="sng" algn="ctr">
                      <a:solidFill>
                        <a:srgbClr val="ED003C"/>
                      </a:solidFill>
                      <a:prstDash val="dash"/>
                      <a:round/>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85 (2)</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19050" cap="flat" cmpd="sng" algn="ctr">
                      <a:solidFill>
                        <a:srgbClr val="ED003C"/>
                      </a:solidFill>
                      <a:prstDash val="dash"/>
                      <a:round/>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37 (2)</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solid"/>
                      <a:round/>
                      <a:headEnd type="none" w="med" len="med"/>
                      <a:tailEnd type="none" w="med" len="med"/>
                    </a:lnR>
                    <a:lnT w="9525" cap="flat" cmpd="sng" algn="ctr">
                      <a:solidFill>
                        <a:srgbClr val="544F40"/>
                      </a:solidFill>
                      <a:prstDash val="solid"/>
                      <a:miter lim="800000"/>
                      <a:headEnd type="none" w="med" len="med"/>
                      <a:tailEnd type="none" w="med" len="med"/>
                    </a:lnT>
                    <a:lnB w="19050" cap="flat" cmpd="sng" algn="ctr">
                      <a:solidFill>
                        <a:srgbClr val="ED003C"/>
                      </a:solidFill>
                      <a:prstDash val="dash"/>
                      <a:round/>
                      <a:headEnd type="none" w="med" len="med"/>
                      <a:tailEnd type="none" w="med" len="med"/>
                    </a:lnB>
                    <a:solidFill>
                      <a:srgbClr val="FFFFFF"/>
                    </a:solidFill>
                  </a:tcPr>
                </a:tc>
                <a:extLst>
                  <a:ext uri="{0D108BD9-81ED-4DB2-BD59-A6C34878D82A}">
                    <a16:rowId xmlns:a16="http://schemas.microsoft.com/office/drawing/2014/main" val="1485398316"/>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108000" algn="l">
                        <a:lnSpc>
                          <a:spcPct val="100000"/>
                        </a:lnSpc>
                        <a:spcAft>
                          <a:spcPts val="0"/>
                        </a:spcAft>
                      </a:pPr>
                      <a:r>
                        <a:rPr lang="en-US" sz="1100" dirty="0">
                          <a:solidFill>
                            <a:srgbClr val="544F40"/>
                          </a:solidFill>
                          <a:effectLst/>
                          <a:latin typeface="+mn-lt"/>
                        </a:rPr>
                        <a:t>Pneumonia</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chemeClr val="tx1"/>
                      </a:solidFill>
                      <a:prstDash val="solid"/>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19050" cap="flat" cmpd="sng" algn="ctr">
                      <a:solidFill>
                        <a:srgbClr val="ED003C"/>
                      </a:solidFill>
                      <a:prstDash val="dash"/>
                      <a:round/>
                      <a:headEnd type="none" w="med" len="med"/>
                      <a:tailEnd type="none" w="med" len="med"/>
                    </a:lnB>
                    <a:solidFill>
                      <a:srgbClr val="FFEFF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317 (8)</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19050" cap="flat" cmpd="sng" algn="ctr">
                      <a:solidFill>
                        <a:srgbClr val="ED003C"/>
                      </a:solidFill>
                      <a:prstDash val="dash"/>
                      <a:round/>
                      <a:headEnd type="none" w="med" len="med"/>
                      <a:tailEnd type="none" w="med" len="med"/>
                    </a:lnB>
                    <a:solidFill>
                      <a:srgbClr val="FFEFF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292 (7)</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19050" cap="flat" cmpd="sng" algn="ctr">
                      <a:solidFill>
                        <a:srgbClr val="ED003C"/>
                      </a:solidFill>
                      <a:prstDash val="dash"/>
                      <a:round/>
                      <a:headEnd type="none" w="med" len="med"/>
                      <a:tailEnd type="none" w="med" len="med"/>
                    </a:lnB>
                    <a:solidFill>
                      <a:srgbClr val="FFEFF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97 (5)</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rgbClr val="ED003C"/>
                      </a:solidFill>
                      <a:prstDash val="dash"/>
                      <a:round/>
                      <a:headEnd type="none" w="med" len="med"/>
                      <a:tailEnd type="none" w="med" len="med"/>
                    </a:lnT>
                    <a:lnB w="19050" cap="flat" cmpd="sng" algn="ctr">
                      <a:solidFill>
                        <a:srgbClr val="ED003C"/>
                      </a:solidFill>
                      <a:prstDash val="dash"/>
                      <a:round/>
                      <a:headEnd type="none" w="med" len="med"/>
                      <a:tailEnd type="none" w="med" len="med"/>
                    </a:lnB>
                    <a:solidFill>
                      <a:srgbClr val="FFEFF3"/>
                    </a:solidFill>
                  </a:tcPr>
                </a:tc>
                <a:extLst>
                  <a:ext uri="{0D108BD9-81ED-4DB2-BD59-A6C34878D82A}">
                    <a16:rowId xmlns:a16="http://schemas.microsoft.com/office/drawing/2014/main" val="162332162"/>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108000" algn="l">
                        <a:lnSpc>
                          <a:spcPct val="100000"/>
                        </a:lnSpc>
                        <a:spcAft>
                          <a:spcPts val="0"/>
                        </a:spcAft>
                      </a:pPr>
                      <a:r>
                        <a:rPr lang="en-US" sz="1100" dirty="0">
                          <a:solidFill>
                            <a:srgbClr val="544F40"/>
                          </a:solidFill>
                          <a:effectLst/>
                          <a:latin typeface="+mn-lt"/>
                        </a:rPr>
                        <a:t>LRTI excluding pneumonia</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solid"/>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9525" cap="flat" cmpd="sng" algn="ctr">
                      <a:solidFill>
                        <a:srgbClr val="544F40"/>
                      </a:solidFill>
                      <a:prstDash val="solid"/>
                      <a:miter lim="800000"/>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200 (5)</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199 (5)</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108 (5)</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solid"/>
                      <a:round/>
                      <a:headEnd type="none" w="med" len="med"/>
                      <a:tailEnd type="none" w="med" len="med"/>
                    </a:lnR>
                    <a:lnT w="19050" cap="flat" cmpd="sng" algn="ctr">
                      <a:solidFill>
                        <a:srgbClr val="ED003C"/>
                      </a:solidFill>
                      <a:prstDash val="dash"/>
                      <a:round/>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extLst>
                  <a:ext uri="{0D108BD9-81ED-4DB2-BD59-A6C34878D82A}">
                    <a16:rowId xmlns:a16="http://schemas.microsoft.com/office/drawing/2014/main" val="4083554649"/>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l">
                        <a:lnSpc>
                          <a:spcPct val="100000"/>
                        </a:lnSpc>
                        <a:spcAft>
                          <a:spcPts val="0"/>
                        </a:spcAft>
                      </a:pPr>
                      <a:r>
                        <a:rPr lang="en-GB" sz="1100" b="1" dirty="0">
                          <a:solidFill>
                            <a:srgbClr val="544F40"/>
                          </a:solidFill>
                          <a:effectLst/>
                          <a:latin typeface="+mn-lt"/>
                        </a:rPr>
                        <a:t>On-treatment</a:t>
                      </a:r>
                      <a:r>
                        <a:rPr lang="en-GB" sz="1100" b="1" baseline="0" dirty="0">
                          <a:solidFill>
                            <a:srgbClr val="544F40"/>
                          </a:solidFill>
                          <a:effectLst/>
                          <a:latin typeface="+mn-lt"/>
                        </a:rPr>
                        <a:t> SAEs in ≥1% of patient</a:t>
                      </a:r>
                      <a:endParaRPr lang="en-GB" sz="1100" b="1"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solid"/>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9525" cap="flat" cmpd="sng" algn="ctr">
                      <a:solidFill>
                        <a:srgbClr val="544F40"/>
                      </a:solidFill>
                      <a:prstDash val="solid"/>
                      <a:miter lim="800000"/>
                    </a:lnB>
                    <a:solidFill>
                      <a:srgbClr val="FFFFFF"/>
                    </a:solidFill>
                  </a:tcPr>
                </a:tc>
                <a:tc>
                  <a:txBody>
                    <a:bodyPr/>
                    <a:lstStyle/>
                    <a:p>
                      <a:endParaRPr lang="en-GB" sz="1100" dirty="0">
                        <a:latin typeface="+mn-lt"/>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p>
                      <a:pPr algn="ctr">
                        <a:lnSpc>
                          <a:spcPct val="100000"/>
                        </a:lnSpc>
                        <a:spcAft>
                          <a:spcPts val="0"/>
                        </a:spcAft>
                      </a:pPr>
                      <a:endParaRPr lang="en-GB" sz="1100" dirty="0">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tc>
                  <a:txBody>
                    <a:bodyPr/>
                    <a:lstStyle/>
                    <a:p>
                      <a:pPr algn="ctr">
                        <a:lnSpc>
                          <a:spcPct val="100000"/>
                        </a:lnSpc>
                        <a:spcAft>
                          <a:spcPts val="0"/>
                        </a:spcAft>
                      </a:pPr>
                      <a:endParaRPr lang="en-GB" sz="1100" dirty="0">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solid"/>
                      <a:round/>
                      <a:headEnd type="none" w="med" len="med"/>
                      <a:tailEnd type="none" w="med" len="med"/>
                    </a:lnR>
                    <a:lnT w="9525" cap="flat" cmpd="sng" algn="ctr">
                      <a:solidFill>
                        <a:srgbClr val="544F40"/>
                      </a:solidFill>
                      <a:prstDash val="solid"/>
                      <a:miter lim="800000"/>
                      <a:headEnd type="none" w="med" len="med"/>
                      <a:tailEnd type="none" w="med" len="med"/>
                    </a:lnT>
                    <a:lnB w="9525" cap="flat" cmpd="sng" algn="ctr">
                      <a:solidFill>
                        <a:srgbClr val="544F40"/>
                      </a:solidFill>
                      <a:prstDash val="solid"/>
                      <a:miter lim="800000"/>
                      <a:headEnd type="none" w="med" len="med"/>
                      <a:tailEnd type="none" w="med" len="med"/>
                    </a:lnB>
                    <a:solidFill>
                      <a:srgbClr val="FFFFFF"/>
                    </a:solidFill>
                  </a:tcPr>
                </a:tc>
                <a:extLst>
                  <a:ext uri="{0D108BD9-81ED-4DB2-BD59-A6C34878D82A}">
                    <a16:rowId xmlns:a16="http://schemas.microsoft.com/office/drawing/2014/main" val="2138926883"/>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108000" algn="l">
                        <a:lnSpc>
                          <a:spcPct val="100000"/>
                        </a:lnSpc>
                        <a:spcAft>
                          <a:spcPts val="0"/>
                        </a:spcAft>
                      </a:pPr>
                      <a:r>
                        <a:rPr lang="en-GB" sz="1100" dirty="0">
                          <a:solidFill>
                            <a:srgbClr val="544F40"/>
                          </a:solidFill>
                          <a:effectLst/>
                          <a:latin typeface="+mn-lt"/>
                        </a:rPr>
                        <a:t>COPD worsening</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solid"/>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lnT>
                    <a:lnB w="19050" cap="flat" cmpd="sng" algn="ctr">
                      <a:solidFill>
                        <a:srgbClr val="ED003C"/>
                      </a:solidFill>
                      <a:prstDash val="dash"/>
                      <a:round/>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443 (11)</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19050" cap="flat" cmpd="sng" algn="ctr">
                      <a:solidFill>
                        <a:srgbClr val="ED003C"/>
                      </a:solidFill>
                      <a:prstDash val="dash"/>
                      <a:round/>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450 (11)</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9525" cap="flat" cmpd="sng" algn="ctr">
                      <a:solidFill>
                        <a:srgbClr val="544F40"/>
                      </a:solidFill>
                      <a:prstDash val="solid"/>
                      <a:miter lim="800000"/>
                      <a:headEnd type="none" w="med" len="med"/>
                      <a:tailEnd type="none" w="med" len="med"/>
                    </a:lnT>
                    <a:lnB w="19050" cap="flat" cmpd="sng" algn="ctr">
                      <a:solidFill>
                        <a:srgbClr val="ED003C"/>
                      </a:solidFill>
                      <a:prstDash val="dash"/>
                      <a:round/>
                      <a:headEnd type="none" w="med" len="med"/>
                      <a:tailEnd type="none" w="med" len="med"/>
                    </a:lnB>
                    <a:solidFill>
                      <a:srgbClr val="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269 (13)</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solid"/>
                      <a:round/>
                      <a:headEnd type="none" w="med" len="med"/>
                      <a:tailEnd type="none" w="med" len="med"/>
                    </a:lnR>
                    <a:lnT w="9525" cap="flat" cmpd="sng" algn="ctr">
                      <a:solidFill>
                        <a:srgbClr val="544F40"/>
                      </a:solidFill>
                      <a:prstDash val="solid"/>
                      <a:miter lim="800000"/>
                      <a:headEnd type="none" w="med" len="med"/>
                      <a:tailEnd type="none" w="med" len="med"/>
                    </a:lnT>
                    <a:lnB w="19050" cap="flat" cmpd="sng" algn="ctr">
                      <a:solidFill>
                        <a:srgbClr val="ED003C"/>
                      </a:solidFill>
                      <a:prstDash val="dash"/>
                      <a:round/>
                      <a:headEnd type="none" w="med" len="med"/>
                      <a:tailEnd type="none" w="med" len="med"/>
                    </a:lnB>
                    <a:solidFill>
                      <a:srgbClr val="FFFFFF"/>
                    </a:solidFill>
                  </a:tcPr>
                </a:tc>
                <a:extLst>
                  <a:ext uri="{0D108BD9-81ED-4DB2-BD59-A6C34878D82A}">
                    <a16:rowId xmlns:a16="http://schemas.microsoft.com/office/drawing/2014/main" val="3852444037"/>
                  </a:ext>
                </a:extLst>
              </a:tr>
              <a:tr h="12672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108000" algn="l">
                        <a:lnSpc>
                          <a:spcPct val="100000"/>
                        </a:lnSpc>
                        <a:spcAft>
                          <a:spcPts val="0"/>
                        </a:spcAft>
                      </a:pPr>
                      <a:r>
                        <a:rPr lang="en-GB" sz="1100" dirty="0">
                          <a:solidFill>
                            <a:srgbClr val="544F40"/>
                          </a:solidFill>
                          <a:effectLst/>
                          <a:latin typeface="+mn-lt"/>
                        </a:rPr>
                        <a:t>Pneumonia</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chemeClr val="tx1"/>
                      </a:solidFill>
                      <a:prstDash val="solid"/>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19050" cap="flat" cmpd="sng" algn="ctr">
                      <a:solidFill>
                        <a:srgbClr val="ED003C"/>
                      </a:solidFill>
                      <a:prstDash val="dash"/>
                      <a:round/>
                      <a:headEnd type="none" w="med" len="med"/>
                      <a:tailEnd type="none" w="med" len="med"/>
                    </a:lnB>
                    <a:solidFill>
                      <a:srgbClr val="FFEFF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184 (4)</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19050" cap="flat" cmpd="sng" algn="ctr">
                      <a:solidFill>
                        <a:srgbClr val="ED003C"/>
                      </a:solidFill>
                      <a:prstDash val="dash"/>
                      <a:round/>
                      <a:headEnd type="none" w="med" len="med"/>
                      <a:tailEnd type="none" w="med" len="med"/>
                    </a:lnB>
                    <a:solidFill>
                      <a:srgbClr val="FFEFF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152 (4)</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rgbClr val="544F40"/>
                      </a:solidFill>
                      <a:prstDash val="dash"/>
                      <a:round/>
                      <a:headEnd type="none" w="med" len="med"/>
                      <a:tailEnd type="none" w="med" len="med"/>
                    </a:lnR>
                    <a:lnT w="19050" cap="flat" cmpd="sng" algn="ctr">
                      <a:solidFill>
                        <a:srgbClr val="ED003C"/>
                      </a:solidFill>
                      <a:prstDash val="dash"/>
                      <a:round/>
                      <a:headEnd type="none" w="med" len="med"/>
                      <a:tailEnd type="none" w="med" len="med"/>
                    </a:lnT>
                    <a:lnB w="19050" cap="flat" cmpd="sng" algn="ctr">
                      <a:solidFill>
                        <a:srgbClr val="ED003C"/>
                      </a:solidFill>
                      <a:prstDash val="dash"/>
                      <a:round/>
                      <a:headEnd type="none" w="med" len="med"/>
                      <a:tailEnd type="none" w="med" len="med"/>
                    </a:lnB>
                    <a:solidFill>
                      <a:srgbClr val="FFEFF3"/>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lnSpc>
                          <a:spcPct val="100000"/>
                        </a:lnSpc>
                        <a:spcAft>
                          <a:spcPts val="0"/>
                        </a:spcAft>
                      </a:pPr>
                      <a:r>
                        <a:rPr lang="en-GB" sz="1100" dirty="0">
                          <a:solidFill>
                            <a:srgbClr val="544F40"/>
                          </a:solidFill>
                          <a:effectLst/>
                          <a:latin typeface="+mn-lt"/>
                        </a:rPr>
                        <a:t>54 (3)</a:t>
                      </a:r>
                      <a:endParaRPr lang="en-GB" sz="1100" dirty="0">
                        <a:solidFill>
                          <a:srgbClr val="544F40"/>
                        </a:solidFill>
                        <a:effectLst/>
                        <a:latin typeface="+mn-lt"/>
                        <a:ea typeface="Calibri" panose="020F0502020204030204" pitchFamily="34" charset="0"/>
                        <a:cs typeface="Times New Roman" panose="02020603050405020304" pitchFamily="18" charset="0"/>
                      </a:endParaRPr>
                    </a:p>
                  </a:txBody>
                  <a:tcPr marL="45720" marR="45720" anchor="ctr">
                    <a:lnL w="6350" cap="flat" cmpd="sng" algn="ctr">
                      <a:solidFill>
                        <a:srgbClr val="544F40"/>
                      </a:solidFill>
                      <a:prstDash val="dash"/>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rgbClr val="ED003C"/>
                      </a:solidFill>
                      <a:prstDash val="dash"/>
                      <a:round/>
                      <a:headEnd type="none" w="med" len="med"/>
                      <a:tailEnd type="none" w="med" len="med"/>
                    </a:lnT>
                    <a:lnB w="19050" cap="flat" cmpd="sng" algn="ctr">
                      <a:solidFill>
                        <a:srgbClr val="ED003C"/>
                      </a:solidFill>
                      <a:prstDash val="dash"/>
                      <a:round/>
                      <a:headEnd type="none" w="med" len="med"/>
                      <a:tailEnd type="none" w="med" len="med"/>
                    </a:lnB>
                    <a:solidFill>
                      <a:srgbClr val="FFEFF3"/>
                    </a:solidFill>
                  </a:tcPr>
                </a:tc>
                <a:extLst>
                  <a:ext uri="{0D108BD9-81ED-4DB2-BD59-A6C34878D82A}">
                    <a16:rowId xmlns:a16="http://schemas.microsoft.com/office/drawing/2014/main" val="3848768321"/>
                  </a:ext>
                </a:extLst>
              </a:tr>
            </a:tbl>
          </a:graphicData>
        </a:graphic>
      </p:graphicFrame>
      <p:grpSp>
        <p:nvGrpSpPr>
          <p:cNvPr id="9" name="Group 8"/>
          <p:cNvGrpSpPr/>
          <p:nvPr/>
        </p:nvGrpSpPr>
        <p:grpSpPr>
          <a:xfrm>
            <a:off x="355405" y="1042481"/>
            <a:ext cx="11500644" cy="85725"/>
            <a:chOff x="346074" y="2258350"/>
            <a:chExt cx="11500644" cy="85725"/>
          </a:xfrm>
        </p:grpSpPr>
        <p:sp>
          <p:nvSpPr>
            <p:cNvPr id="11" name="Isosceles Triangle 10"/>
            <p:cNvSpPr/>
            <p:nvPr/>
          </p:nvSpPr>
          <p:spPr>
            <a:xfrm rot="10800000">
              <a:off x="6925467" y="2258350"/>
              <a:ext cx="142876" cy="8572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2" name="Isosceles Triangle 11"/>
            <p:cNvSpPr/>
            <p:nvPr/>
          </p:nvSpPr>
          <p:spPr>
            <a:xfrm rot="10800000">
              <a:off x="8518682" y="2258350"/>
              <a:ext cx="142876" cy="8572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3" name="Isosceles Triangle 12"/>
            <p:cNvSpPr/>
            <p:nvPr/>
          </p:nvSpPr>
          <p:spPr>
            <a:xfrm rot="10800000">
              <a:off x="10111262" y="2258350"/>
              <a:ext cx="142876" cy="8572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4" name="Isosceles Triangle 13"/>
            <p:cNvSpPr/>
            <p:nvPr/>
          </p:nvSpPr>
          <p:spPr>
            <a:xfrm rot="10800000">
              <a:off x="11703842" y="2258350"/>
              <a:ext cx="142876" cy="8572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5" name="Isosceles Triangle 14"/>
            <p:cNvSpPr/>
            <p:nvPr/>
          </p:nvSpPr>
          <p:spPr>
            <a:xfrm rot="10800000">
              <a:off x="346074" y="2258350"/>
              <a:ext cx="142876" cy="8572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pic>
        <p:nvPicPr>
          <p:cNvPr id="17" name="Picture 16">
            <a:extLst>
              <a:ext uri="{FF2B5EF4-FFF2-40B4-BE49-F238E27FC236}">
                <a16:creationId xmlns:a16="http://schemas.microsoft.com/office/drawing/2014/main" id="{F89C67CB-48BA-4A88-9301-0CB397AE4EB8}"/>
              </a:ext>
            </a:extLst>
          </p:cNvPr>
          <p:cNvPicPr>
            <a:picLocks noChangeAspect="1"/>
          </p:cNvPicPr>
          <p:nvPr/>
        </p:nvPicPr>
        <p:blipFill>
          <a:blip r:embed="rId2"/>
          <a:stretch>
            <a:fillRect/>
          </a:stretch>
        </p:blipFill>
        <p:spPr>
          <a:xfrm>
            <a:off x="10566696" y="6384502"/>
            <a:ext cx="833905" cy="271650"/>
          </a:xfrm>
          <a:prstGeom prst="rect">
            <a:avLst/>
          </a:prstGeom>
        </p:spPr>
      </p:pic>
    </p:spTree>
    <p:extLst>
      <p:ext uri="{BB962C8B-B14F-4D97-AF65-F5344CB8AC3E}">
        <p14:creationId xmlns:p14="http://schemas.microsoft.com/office/powerpoint/2010/main" val="106908217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048030" y="1078357"/>
            <a:ext cx="7577139" cy="253916"/>
          </a:xfrm>
        </p:spPr>
        <p:txBody>
          <a:bodyPr>
            <a:noAutofit/>
          </a:bodyPr>
          <a:lstStyle/>
          <a:p>
            <a:pPr rtl="0"/>
            <a:r>
              <a:rPr lang="en-US" sz="2400" dirty="0" err="1"/>
              <a:t>Trelegy</a:t>
            </a:r>
            <a:r>
              <a:rPr lang="en-US" sz="2400" dirty="0"/>
              <a:t> Ellipta 100/62.5/25 mcg and 200/62.5/25 mcg</a:t>
            </a:r>
            <a:endParaRPr lang="he-IL" sz="2400" dirty="0"/>
          </a:p>
        </p:txBody>
      </p:sp>
      <p:sp>
        <p:nvSpPr>
          <p:cNvPr id="5" name="Content Placeholder 4"/>
          <p:cNvSpPr>
            <a:spLocks noGrp="1"/>
          </p:cNvSpPr>
          <p:nvPr>
            <p:ph sz="quarter" idx="12"/>
          </p:nvPr>
        </p:nvSpPr>
        <p:spPr>
          <a:xfrm>
            <a:off x="1958897" y="1746347"/>
            <a:ext cx="8488866" cy="3734989"/>
          </a:xfrm>
        </p:spPr>
        <p:txBody>
          <a:bodyPr>
            <a:normAutofit lnSpcReduction="10000"/>
          </a:bodyPr>
          <a:lstStyle/>
          <a:p>
            <a:pPr marL="268157" lvl="1" indent="0" algn="just">
              <a:buNone/>
            </a:pPr>
            <a:r>
              <a:rPr lang="en-US" sz="1275" dirty="0" err="1">
                <a:cs typeface="Calibri" panose="020F0502020204030204" pitchFamily="34" charset="0"/>
              </a:rPr>
              <a:t>Trelegy</a:t>
            </a:r>
            <a:r>
              <a:rPr lang="en-US" sz="1275" dirty="0">
                <a:cs typeface="Calibri" panose="020F0502020204030204" pitchFamily="34" charset="0"/>
              </a:rPr>
              <a:t> Ellipta should be administered with caution in patients with pulmonary tuberculosis or in patients with chronic or untreated infections. </a:t>
            </a:r>
            <a:r>
              <a:rPr lang="en-US" sz="1275" b="1" dirty="0">
                <a:cs typeface="Calibri" panose="020F0502020204030204" pitchFamily="34" charset="0"/>
              </a:rPr>
              <a:t>Anticholinergic activity: </a:t>
            </a:r>
            <a:r>
              <a:rPr lang="en-US" sz="1275" dirty="0" err="1">
                <a:cs typeface="Calibri" panose="020F0502020204030204" pitchFamily="34" charset="0"/>
              </a:rPr>
              <a:t>Trelegy</a:t>
            </a:r>
            <a:r>
              <a:rPr lang="en-US" sz="1275" dirty="0">
                <a:cs typeface="Calibri" panose="020F0502020204030204" pitchFamily="34" charset="0"/>
              </a:rPr>
              <a:t> Ellipta should be used with caution in patients with narrow-angle glaucoma or urinary retention. Patients should be informed about the signs and symptoms of acute narrow-angle glaucoma and should be informed to stop using </a:t>
            </a:r>
            <a:r>
              <a:rPr lang="en-US" sz="1275" dirty="0" err="1">
                <a:cs typeface="Calibri" panose="020F0502020204030204" pitchFamily="34" charset="0"/>
              </a:rPr>
              <a:t>Trelegy</a:t>
            </a:r>
            <a:r>
              <a:rPr lang="en-US" sz="1275" dirty="0">
                <a:cs typeface="Calibri" panose="020F0502020204030204" pitchFamily="34" charset="0"/>
              </a:rPr>
              <a:t> Ellipta and to contact their doctor immediately should any of these signs or symptoms develop. </a:t>
            </a:r>
            <a:r>
              <a:rPr lang="en-US" sz="1275" b="1" dirty="0">
                <a:cs typeface="Calibri" panose="020F0502020204030204" pitchFamily="34" charset="0"/>
              </a:rPr>
              <a:t>Pneumonia in patients with COPD: </a:t>
            </a:r>
            <a:r>
              <a:rPr lang="en-US" sz="1275" dirty="0">
                <a:cs typeface="Calibri" panose="020F0502020204030204" pitchFamily="34" charset="0"/>
              </a:rPr>
              <a:t>An increase in the incidence of pneumonia, including pneumonia requiring </a:t>
            </a:r>
            <a:r>
              <a:rPr lang="en-US" sz="1275" dirty="0" err="1">
                <a:cs typeface="Calibri" panose="020F0502020204030204" pitchFamily="34" charset="0"/>
              </a:rPr>
              <a:t>hospitalisation</a:t>
            </a:r>
            <a:r>
              <a:rPr lang="en-US" sz="1275" dirty="0">
                <a:cs typeface="Calibri" panose="020F0502020204030204" pitchFamily="34" charset="0"/>
              </a:rPr>
              <a:t>, has been observed in patients with COPD receiving inhaled corticosteroids. </a:t>
            </a:r>
            <a:r>
              <a:rPr lang="en-US" sz="1275" b="1" dirty="0">
                <a:cs typeface="Calibri" panose="020F0502020204030204" pitchFamily="34" charset="0"/>
              </a:rPr>
              <a:t>Pneumonia in patients with asthma: </a:t>
            </a:r>
            <a:r>
              <a:rPr lang="en-US" sz="1275" dirty="0">
                <a:cs typeface="Calibri" panose="020F0502020204030204" pitchFamily="34" charset="0"/>
              </a:rPr>
              <a:t>An increased incidence of pneumonia in patients with asthma receiving higher doses of </a:t>
            </a:r>
            <a:r>
              <a:rPr lang="en-US" sz="1275" dirty="0" err="1">
                <a:cs typeface="Calibri" panose="020F0502020204030204" pitchFamily="34" charset="0"/>
              </a:rPr>
              <a:t>Trelegy</a:t>
            </a:r>
            <a:r>
              <a:rPr lang="en-US" sz="1275" dirty="0">
                <a:cs typeface="Calibri" panose="020F0502020204030204" pitchFamily="34" charset="0"/>
              </a:rPr>
              <a:t> Ellipta cannot be excluded.</a:t>
            </a:r>
          </a:p>
          <a:p>
            <a:pPr algn="l" rtl="0"/>
            <a:r>
              <a:rPr lang="en-US" sz="1275" b="1" dirty="0">
                <a:cs typeface="Calibri" panose="020F0502020204030204" pitchFamily="34" charset="0"/>
              </a:rPr>
              <a:t>Pregnancy: </a:t>
            </a:r>
            <a:r>
              <a:rPr lang="en-US" sz="1275" dirty="0">
                <a:cs typeface="Calibri" panose="020F0502020204030204" pitchFamily="34" charset="0"/>
              </a:rPr>
              <a:t>Administration of </a:t>
            </a:r>
            <a:r>
              <a:rPr lang="en-US" sz="1275" dirty="0" err="1">
                <a:cs typeface="Calibri" panose="020F0502020204030204" pitchFamily="34" charset="0"/>
              </a:rPr>
              <a:t>Trelegy</a:t>
            </a:r>
            <a:r>
              <a:rPr lang="en-US" sz="1275" dirty="0">
                <a:cs typeface="Calibri" panose="020F0502020204030204" pitchFamily="34" charset="0"/>
              </a:rPr>
              <a:t> Ellipta to pregnant women should only be considered if the expected benefit to the mother justifies the potential risk to the fetus.  </a:t>
            </a:r>
          </a:p>
          <a:p>
            <a:pPr algn="l" rtl="0"/>
            <a:r>
              <a:rPr lang="en-US" sz="1275" b="1" dirty="0">
                <a:cs typeface="Calibri" panose="020F0502020204030204" pitchFamily="34" charset="0"/>
              </a:rPr>
              <a:t>Contraindications: </a:t>
            </a:r>
            <a:r>
              <a:rPr lang="en-US" sz="1275" dirty="0">
                <a:cs typeface="Calibri" panose="020F0502020204030204" pitchFamily="34" charset="0"/>
              </a:rPr>
              <a:t>Hypersensitivity to the active substances or to any of the excipients.	</a:t>
            </a:r>
            <a:endParaRPr lang="en-US" sz="1275" b="1" dirty="0">
              <a:cs typeface="Calibri" panose="020F0502020204030204" pitchFamily="34" charset="0"/>
            </a:endParaRPr>
          </a:p>
          <a:p>
            <a:pPr algn="l" rtl="0"/>
            <a:r>
              <a:rPr lang="en-US" sz="1275" b="1" dirty="0">
                <a:cs typeface="Calibri" panose="020F0502020204030204" pitchFamily="34" charset="0"/>
              </a:rPr>
              <a:t>Very common adverse drug reactions (ADRs) </a:t>
            </a:r>
            <a:r>
              <a:rPr lang="he-IL" sz="1275" dirty="0">
                <a:cs typeface="Calibri" panose="020F0502020204030204" pitchFamily="34" charset="0"/>
              </a:rPr>
              <a:t>≥1/10)</a:t>
            </a:r>
            <a:r>
              <a:rPr lang="en-US" sz="1275" dirty="0">
                <a:cs typeface="Calibri" panose="020F0502020204030204" pitchFamily="34" charset="0"/>
              </a:rPr>
              <a:t>): Nasopharyngitis.	</a:t>
            </a:r>
          </a:p>
          <a:p>
            <a:pPr algn="just" rtl="0"/>
            <a:r>
              <a:rPr lang="en-US" sz="1275" b="1" dirty="0">
                <a:cs typeface="Calibri" panose="020F0502020204030204" pitchFamily="34" charset="0"/>
              </a:rPr>
              <a:t>Common adverse drug reactions (ADRs) </a:t>
            </a:r>
            <a:r>
              <a:rPr lang="en-US" sz="1275" dirty="0">
                <a:cs typeface="Calibri" panose="020F0502020204030204" pitchFamily="34" charset="0"/>
              </a:rPr>
              <a:t>(≥1/100 to &lt;1/10): Pneumonia, Upper respiratory tract infection, Bronchitis, Pharyngitis, Rhinitis, Sinusitis, Influenza, Candidiasis of mouth and throat, Urinary tract infection, Viral respiratory tract infection, Headache, Cough, Oropharyngeal pain, Dysphonia, Constipation, Arthralgia,  and Back pain.</a:t>
            </a:r>
          </a:p>
          <a:p>
            <a:pPr algn="just" rtl="0"/>
            <a:r>
              <a:rPr lang="en-US" sz="1275" dirty="0">
                <a:cs typeface="Calibri" panose="020F0502020204030204" pitchFamily="34" charset="0"/>
              </a:rPr>
              <a:t>Trademarks are owned by or licensed to the GSK group of companies.</a:t>
            </a:r>
          </a:p>
          <a:p>
            <a:pPr algn="just"/>
            <a:endParaRPr lang="en-US" altLang="he-IL" sz="1275" dirty="0">
              <a:cs typeface="Calibri" panose="020F0502020204030204" pitchFamily="34" charset="0"/>
            </a:endParaRPr>
          </a:p>
          <a:p>
            <a:pPr algn="just"/>
            <a:endParaRPr lang="en-US" sz="3225" dirty="0">
              <a:cs typeface="Calibri" panose="020F0502020204030204" pitchFamily="34" charset="0"/>
            </a:endParaRPr>
          </a:p>
          <a:p>
            <a:pPr marL="0" indent="0">
              <a:buNone/>
            </a:pPr>
            <a:endParaRPr lang="en-US" sz="3225" dirty="0">
              <a:cs typeface="Calibri" panose="020F0502020204030204" pitchFamily="34" charset="0"/>
            </a:endParaRPr>
          </a:p>
          <a:p>
            <a:endParaRPr lang="en-US" sz="3225" dirty="0">
              <a:cs typeface="Calibri" panose="020F0502020204030204" pitchFamily="34" charset="0"/>
            </a:endParaRPr>
          </a:p>
          <a:p>
            <a:endParaRPr lang="en-US" sz="1350" dirty="0">
              <a:cs typeface="Calibri" panose="020F0502020204030204" pitchFamily="34" charset="0"/>
            </a:endParaRPr>
          </a:p>
          <a:p>
            <a:endParaRPr lang="he-IL" sz="1350" dirty="0"/>
          </a:p>
        </p:txBody>
      </p:sp>
    </p:spTree>
    <p:extLst>
      <p:ext uri="{BB962C8B-B14F-4D97-AF65-F5344CB8AC3E}">
        <p14:creationId xmlns:p14="http://schemas.microsoft.com/office/powerpoint/2010/main" val="2532203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7C8F8D6-DEC6-BFD7-65A2-0D1D1E00E3D7}"/>
              </a:ext>
            </a:extLst>
          </p:cNvPr>
          <p:cNvSpPr>
            <a:spLocks noGrp="1"/>
          </p:cNvSpPr>
          <p:nvPr>
            <p:ph type="body" sz="quarter" idx="22"/>
          </p:nvPr>
        </p:nvSpPr>
        <p:spPr/>
        <p:txBody>
          <a:bodyPr anchor="t"/>
          <a:lstStyle/>
          <a:p>
            <a:pPr marL="0" indent="0" algn="ctr">
              <a:spcAft>
                <a:spcPts val="0"/>
              </a:spcAft>
              <a:buNone/>
            </a:pPr>
            <a:endParaRPr lang="en-US" sz="2000" b="1" dirty="0">
              <a:latin typeface="Calibri" panose="020F0502020204030204" pitchFamily="34" charset="0"/>
              <a:ea typeface="Times New Roman" panose="02020603050405020304" pitchFamily="18" charset="0"/>
            </a:endParaRPr>
          </a:p>
          <a:p>
            <a:pPr algn="ctr">
              <a:spcAft>
                <a:spcPts val="0"/>
              </a:spcAft>
              <a:buFont typeface="Arial" panose="020B0604020202020204" pitchFamily="34" charset="0"/>
              <a:buBlip>
                <a:blip r:embed="rId3"/>
              </a:buBlip>
            </a:pPr>
            <a:r>
              <a:rPr lang="en-US" sz="2000" b="1" dirty="0">
                <a:latin typeface="Calibri" panose="020F0502020204030204" pitchFamily="34" charset="0"/>
                <a:ea typeface="Times New Roman" panose="02020603050405020304" pitchFamily="18" charset="0"/>
              </a:rPr>
              <a:t> </a:t>
            </a:r>
            <a:r>
              <a:rPr lang="en-US" sz="1800" dirty="0">
                <a:latin typeface="Calibri" panose="020F0502020204030204" pitchFamily="34" charset="0"/>
                <a:ea typeface="Times New Roman" panose="02020603050405020304" pitchFamily="18" charset="0"/>
              </a:rPr>
              <a:t>Adverse event reporting generic email address: </a:t>
            </a:r>
            <a:r>
              <a:rPr lang="en-US" sz="1800" u="sng" dirty="0">
                <a:solidFill>
                  <a:srgbClr val="0000FF"/>
                </a:solidFill>
                <a:latin typeface="Calibri" panose="020F0502020204030204" pitchFamily="34" charset="0"/>
                <a:hlinkClick r:id="rId4">
                  <a:extLst>
                    <a:ext uri="{A12FA001-AC4F-418D-AE19-62706E023703}">
                      <ahyp:hlinkClr xmlns:ahyp="http://schemas.microsoft.com/office/drawing/2018/hyperlinkcolor" val="tx"/>
                    </a:ext>
                  </a:extLst>
                </a:hlinkClick>
              </a:rPr>
              <a:t>ae.egypt@gsk.com</a:t>
            </a:r>
            <a:endParaRPr lang="en-US" sz="1800" u="sng" dirty="0">
              <a:solidFill>
                <a:srgbClr val="0000FF"/>
              </a:solidFill>
              <a:latin typeface="Calibri" panose="020F0502020204030204" pitchFamily="34" charset="0"/>
            </a:endParaRPr>
          </a:p>
          <a:p>
            <a:pPr marL="0" indent="0" algn="ctr">
              <a:spcAft>
                <a:spcPts val="0"/>
              </a:spcAft>
              <a:buNone/>
            </a:pPr>
            <a:endParaRPr lang="en-US" sz="1800" u="sng" dirty="0">
              <a:solidFill>
                <a:srgbClr val="0000FF"/>
              </a:solidFill>
              <a:latin typeface="Calibri" panose="020F0502020204030204" pitchFamily="34" charset="0"/>
            </a:endParaRPr>
          </a:p>
          <a:p>
            <a:pPr algn="ctr">
              <a:spcAft>
                <a:spcPts val="0"/>
              </a:spcAft>
              <a:buFont typeface="Arial" panose="020B0604020202020204" pitchFamily="34" charset="0"/>
              <a:buBlip>
                <a:blip r:embed="rId3"/>
              </a:buBlip>
            </a:pPr>
            <a:r>
              <a:rPr lang="en-US" sz="1800" dirty="0">
                <a:latin typeface="Calibri" panose="020F0502020204030204" pitchFamily="34" charset="0"/>
              </a:rPr>
              <a:t> For any Medical Information Requests, please reach us at:</a:t>
            </a:r>
            <a:r>
              <a:rPr lang="en-US" sz="1800" dirty="0">
                <a:latin typeface="Calibri" panose="020F0502020204030204" pitchFamily="34" charset="0"/>
                <a:ea typeface="Times New Roman" panose="02020603050405020304" pitchFamily="18" charset="0"/>
              </a:rPr>
              <a:t> </a:t>
            </a:r>
            <a:r>
              <a:rPr lang="en-US" sz="1800" u="sng" dirty="0">
                <a:solidFill>
                  <a:srgbClr val="0000FF"/>
                </a:solidFill>
                <a:latin typeface="Calibri" panose="020F0502020204030204" pitchFamily="34" charset="0"/>
                <a:ea typeface="Times New Roman" panose="02020603050405020304" pitchFamily="18" charset="0"/>
              </a:rPr>
              <a:t>mi</a:t>
            </a:r>
            <a:r>
              <a:rPr lang="en-US" sz="1800" u="sng" dirty="0">
                <a:solidFill>
                  <a:srgbClr val="0000FF"/>
                </a:solidFill>
                <a:latin typeface="Calibri" panose="020F0502020204030204" pitchFamily="34" charset="0"/>
                <a:hlinkClick r:id="rId5">
                  <a:extLst>
                    <a:ext uri="{A12FA001-AC4F-418D-AE19-62706E023703}">
                      <ahyp:hlinkClr xmlns:ahyp="http://schemas.microsoft.com/office/drawing/2018/hyperlinkcolor" val="tx"/>
                    </a:ext>
                  </a:extLst>
                </a:hlinkClick>
              </a:rPr>
              <a:t>.egypt@gsk.com</a:t>
            </a:r>
            <a:endParaRPr lang="en-US" sz="1800" u="sng" dirty="0">
              <a:solidFill>
                <a:srgbClr val="0000FF"/>
              </a:solidFill>
              <a:latin typeface="Calibri" panose="020F0502020204030204" pitchFamily="34" charset="0"/>
            </a:endParaRPr>
          </a:p>
          <a:p>
            <a:pPr marL="0" indent="0" algn="ctr">
              <a:spcAft>
                <a:spcPts val="0"/>
              </a:spcAft>
              <a:buNone/>
            </a:pPr>
            <a:endParaRPr lang="en-US" sz="1800" dirty="0">
              <a:latin typeface="Calibri" panose="020F0502020204030204" pitchFamily="34" charset="0"/>
              <a:ea typeface="Times New Roman" panose="02020603050405020304" pitchFamily="18" charset="0"/>
            </a:endParaRPr>
          </a:p>
          <a:p>
            <a:pPr algn="ctr">
              <a:spcAft>
                <a:spcPts val="0"/>
              </a:spcAft>
              <a:buFont typeface="Arial" panose="020B0604020202020204" pitchFamily="34" charset="0"/>
              <a:buBlip>
                <a:blip r:embed="rId3"/>
              </a:buBlip>
            </a:pPr>
            <a:r>
              <a:rPr lang="en-US" sz="1800" dirty="0">
                <a:latin typeface="Calibri" panose="020F0502020204030204" pitchFamily="34" charset="0"/>
                <a:ea typeface="Times New Roman" panose="02020603050405020304" pitchFamily="18" charset="0"/>
              </a:rPr>
              <a:t> 24 hours telephone for adverse events reporting : +20226185150 </a:t>
            </a:r>
          </a:p>
          <a:p>
            <a:pPr marL="0" indent="0" algn="ctr">
              <a:spcAft>
                <a:spcPts val="0"/>
              </a:spcAft>
              <a:buNone/>
            </a:pPr>
            <a:endParaRPr lang="en-US" sz="1800" dirty="0">
              <a:latin typeface="Calibri" panose="020F0502020204030204" pitchFamily="34" charset="0"/>
              <a:ea typeface="Calibri" panose="020F0502020204030204" pitchFamily="34" charset="0"/>
            </a:endParaRPr>
          </a:p>
          <a:p>
            <a:pPr algn="ctr">
              <a:spcAft>
                <a:spcPts val="0"/>
              </a:spcAft>
              <a:buFont typeface="Arial" panose="020B0604020202020204" pitchFamily="34" charset="0"/>
              <a:buBlip>
                <a:blip r:embed="rId3"/>
              </a:buBlip>
            </a:pPr>
            <a:r>
              <a:rPr lang="en-US" sz="1800" dirty="0">
                <a:latin typeface="Calibri" panose="020F0502020204030204" pitchFamily="34" charset="0"/>
                <a:ea typeface="Times New Roman" panose="02020603050405020304" pitchFamily="18" charset="0"/>
              </a:rPr>
              <a:t> Address: Head office: Boomerang building, no.46, block j, 5</a:t>
            </a:r>
            <a:r>
              <a:rPr lang="en-US" sz="1800" baseline="30000" dirty="0">
                <a:latin typeface="Calibri" panose="020F0502020204030204" pitchFamily="34" charset="0"/>
                <a:ea typeface="Times New Roman" panose="02020603050405020304" pitchFamily="18" charset="0"/>
              </a:rPr>
              <a:t>th</a:t>
            </a:r>
            <a:r>
              <a:rPr lang="en-US" sz="1800" dirty="0">
                <a:latin typeface="Calibri" panose="020F0502020204030204" pitchFamily="34" charset="0"/>
                <a:ea typeface="Times New Roman" panose="02020603050405020304" pitchFamily="18" charset="0"/>
              </a:rPr>
              <a:t> district , 11835, New Cairo, Egypt PO Box no. 41</a:t>
            </a:r>
            <a:endParaRPr lang="en-US" sz="1800" dirty="0">
              <a:latin typeface="Calibri" panose="020F0502020204030204" pitchFamily="34" charset="0"/>
              <a:ea typeface="Calibri" panose="020F0502020204030204" pitchFamily="34" charset="0"/>
            </a:endParaRPr>
          </a:p>
          <a:p>
            <a:endParaRPr lang="ar-EG" dirty="0"/>
          </a:p>
        </p:txBody>
      </p:sp>
      <p:sp>
        <p:nvSpPr>
          <p:cNvPr id="3" name="Text Placeholder 2">
            <a:extLst>
              <a:ext uri="{FF2B5EF4-FFF2-40B4-BE49-F238E27FC236}">
                <a16:creationId xmlns:a16="http://schemas.microsoft.com/office/drawing/2014/main" id="{E5E6EE59-7704-70DB-FB2B-BFA6B5095291}"/>
              </a:ext>
            </a:extLst>
          </p:cNvPr>
          <p:cNvSpPr>
            <a:spLocks noGrp="1"/>
          </p:cNvSpPr>
          <p:nvPr>
            <p:ph type="body" sz="quarter" idx="18"/>
          </p:nvPr>
        </p:nvSpPr>
        <p:spPr/>
        <p:txBody>
          <a:bodyPr/>
          <a:lstStyle/>
          <a:p>
            <a:endParaRPr lang="ar-EG"/>
          </a:p>
        </p:txBody>
      </p:sp>
      <p:sp>
        <p:nvSpPr>
          <p:cNvPr id="5" name="Title 4">
            <a:extLst>
              <a:ext uri="{FF2B5EF4-FFF2-40B4-BE49-F238E27FC236}">
                <a16:creationId xmlns:a16="http://schemas.microsoft.com/office/drawing/2014/main" id="{A9A1E82F-3142-3858-1710-AC236A3177FF}"/>
              </a:ext>
            </a:extLst>
          </p:cNvPr>
          <p:cNvSpPr>
            <a:spLocks noGrp="1"/>
          </p:cNvSpPr>
          <p:nvPr>
            <p:ph type="title"/>
          </p:nvPr>
        </p:nvSpPr>
        <p:spPr/>
        <p:txBody>
          <a:bodyPr/>
          <a:lstStyle/>
          <a:p>
            <a:r>
              <a:rPr lang="en-US" dirty="0"/>
              <a:t>GSK Contacts</a:t>
            </a:r>
            <a:endParaRPr lang="ar-EG" dirty="0"/>
          </a:p>
        </p:txBody>
      </p:sp>
      <p:sp>
        <p:nvSpPr>
          <p:cNvPr id="6" name="Subtitle 5">
            <a:extLst>
              <a:ext uri="{FF2B5EF4-FFF2-40B4-BE49-F238E27FC236}">
                <a16:creationId xmlns:a16="http://schemas.microsoft.com/office/drawing/2014/main" id="{3DFCDCC2-0CF6-DD73-E68A-1340811E0C3B}"/>
              </a:ext>
            </a:extLst>
          </p:cNvPr>
          <p:cNvSpPr>
            <a:spLocks noGrp="1"/>
          </p:cNvSpPr>
          <p:nvPr>
            <p:ph type="subTitle" idx="1"/>
          </p:nvPr>
        </p:nvSpPr>
        <p:spPr/>
        <p:txBody>
          <a:bodyPr/>
          <a:lstStyle/>
          <a:p>
            <a:endParaRPr lang="ar-EG"/>
          </a:p>
        </p:txBody>
      </p:sp>
      <p:sp>
        <p:nvSpPr>
          <p:cNvPr id="7" name="Footer Placeholder 6">
            <a:extLst>
              <a:ext uri="{FF2B5EF4-FFF2-40B4-BE49-F238E27FC236}">
                <a16:creationId xmlns:a16="http://schemas.microsoft.com/office/drawing/2014/main" id="{1EE671B1-A3BB-075F-789F-A1DC5FD47E55}"/>
              </a:ext>
            </a:extLst>
          </p:cNvPr>
          <p:cNvSpPr>
            <a:spLocks noGrp="1"/>
          </p:cNvSpPr>
          <p:nvPr>
            <p:ph type="ftr"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a:ea typeface="+mn-ea"/>
                <a:cs typeface="Noto Sans"/>
              </a:rPr>
              <a:t>For Internal Use Only</a:t>
            </a:r>
            <a:endParaRPr kumimoji="0" lang="en-GB" sz="12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2794376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9170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GSK " val="DqY5De45"/>
  <p:tag name="ARTICULATE_SLIDE_COUNT" val="30"/>
  <p:tag name="ARTICULATE_PROJECT_OPEN" val="0"/>
  <p:tag name="THINKCELLUNDODONOTDELETE" val="0"/>
  <p:tag name="PRESGUID" val="6bfaed39-9d30-434f-8c0b-d7bc6908262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GSK ">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noFill/>
          <a:headEnd/>
          <a:tailEnd/>
        </a:ln>
        <a:effectLst/>
      </a:spPr>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defPPr marL="285750" indent="-285750" algn="l" eaLnBrk="0" fontAlgn="auto" hangingPunct="0">
          <a:spcBef>
            <a:spcPts val="300"/>
          </a:spcBef>
          <a:spcAft>
            <a:spcPts val="300"/>
          </a:spcAft>
          <a:buClr>
            <a:schemeClr val="tx2"/>
          </a:buClr>
          <a:buSzPct val="110000"/>
          <a:buFont typeface="Arial" panose="020B0604020202020204" pitchFamily="34" charset="0"/>
          <a:buChar char="•"/>
          <a:defRPr sz="1600" kern="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19050" cap="rnd">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0000" tIns="180000" rIns="180000" bIns="180000" rtlCol="0">
        <a:normAutofit/>
      </a:bodyPr>
      <a:lstStyle>
        <a:defPPr marL="285750" indent="-285750" algn="l">
          <a:spcBef>
            <a:spcPts val="300"/>
          </a:spcBef>
          <a:spcAft>
            <a:spcPts val="300"/>
          </a:spcAft>
          <a:buClr>
            <a:schemeClr val="tx2"/>
          </a:buClr>
          <a:buSzPct val="110000"/>
          <a:buFont typeface="Arial" panose="020B0604020202020204" pitchFamily="34" charset="0"/>
          <a:buChar char="•"/>
          <a:defRPr sz="1600" dirty="0" err="1" smtClean="0"/>
        </a:defPPr>
      </a:lstStyle>
    </a:txDef>
  </a:objectDefaults>
  <a:extraClrSchemeLst/>
  <a:extLst>
    <a:ext uri="{05A4C25C-085E-4340-85A3-A5531E510DB2}">
      <thm15:themeFamily xmlns:thm15="http://schemas.microsoft.com/office/thememl/2012/main" name="GSK_New_PPT_16x9_Template_Sep22_v2  -  Read-Only" id="{EE3E7A9B-3AB6-4322-B87F-828C0A0D3317}" vid="{EC6655C6-C3EC-4531-B19E-81C81EAA6C18}"/>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
    <a:dk1>
      <a:srgbClr val="544F40"/>
    </a:dk1>
    <a:lt1>
      <a:srgbClr val="FFFFFF"/>
    </a:lt1>
    <a:dk2>
      <a:srgbClr val="F36633"/>
    </a:dk2>
    <a:lt2>
      <a:srgbClr val="D5D1CE"/>
    </a:lt2>
    <a:accent1>
      <a:srgbClr val="F36633"/>
    </a:accent1>
    <a:accent2>
      <a:srgbClr val="40488D"/>
    </a:accent2>
    <a:accent3>
      <a:srgbClr val="BC1077"/>
    </a:accent3>
    <a:accent4>
      <a:srgbClr val="E49B13"/>
    </a:accent4>
    <a:accent5>
      <a:srgbClr val="ED003C"/>
    </a:accent5>
    <a:accent6>
      <a:srgbClr val="3A7013"/>
    </a:accent6>
    <a:hlink>
      <a:srgbClr val="F36633"/>
    </a:hlink>
    <a:folHlink>
      <a:srgbClr val="D5D1C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Custom 1">
    <a:dk1>
      <a:srgbClr val="544F40"/>
    </a:dk1>
    <a:lt1>
      <a:srgbClr val="FFFFFF"/>
    </a:lt1>
    <a:dk2>
      <a:srgbClr val="F36633"/>
    </a:dk2>
    <a:lt2>
      <a:srgbClr val="D5D1CE"/>
    </a:lt2>
    <a:accent1>
      <a:srgbClr val="F36633"/>
    </a:accent1>
    <a:accent2>
      <a:srgbClr val="40488D"/>
    </a:accent2>
    <a:accent3>
      <a:srgbClr val="BC1077"/>
    </a:accent3>
    <a:accent4>
      <a:srgbClr val="E49B13"/>
    </a:accent4>
    <a:accent5>
      <a:srgbClr val="ED003C"/>
    </a:accent5>
    <a:accent6>
      <a:srgbClr val="3A7013"/>
    </a:accent6>
    <a:hlink>
      <a:srgbClr val="F36633"/>
    </a:hlink>
    <a:folHlink>
      <a:srgbClr val="D5D1C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Custom 1">
    <a:dk1>
      <a:srgbClr val="544F40"/>
    </a:dk1>
    <a:lt1>
      <a:srgbClr val="FFFFFF"/>
    </a:lt1>
    <a:dk2>
      <a:srgbClr val="F36633"/>
    </a:dk2>
    <a:lt2>
      <a:srgbClr val="D5D1CE"/>
    </a:lt2>
    <a:accent1>
      <a:srgbClr val="F36633"/>
    </a:accent1>
    <a:accent2>
      <a:srgbClr val="40488D"/>
    </a:accent2>
    <a:accent3>
      <a:srgbClr val="BC1077"/>
    </a:accent3>
    <a:accent4>
      <a:srgbClr val="E49B13"/>
    </a:accent4>
    <a:accent5>
      <a:srgbClr val="ED003C"/>
    </a:accent5>
    <a:accent6>
      <a:srgbClr val="3A7013"/>
    </a:accent6>
    <a:hlink>
      <a:srgbClr val="F36633"/>
    </a:hlink>
    <a:folHlink>
      <a:srgbClr val="D5D1C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Custom 1">
    <a:dk1>
      <a:srgbClr val="544F40"/>
    </a:dk1>
    <a:lt1>
      <a:srgbClr val="FFFFFF"/>
    </a:lt1>
    <a:dk2>
      <a:srgbClr val="F36633"/>
    </a:dk2>
    <a:lt2>
      <a:srgbClr val="D5D1CE"/>
    </a:lt2>
    <a:accent1>
      <a:srgbClr val="F36633"/>
    </a:accent1>
    <a:accent2>
      <a:srgbClr val="40488D"/>
    </a:accent2>
    <a:accent3>
      <a:srgbClr val="BC1077"/>
    </a:accent3>
    <a:accent4>
      <a:srgbClr val="E49B13"/>
    </a:accent4>
    <a:accent5>
      <a:srgbClr val="ED003C"/>
    </a:accent5>
    <a:accent6>
      <a:srgbClr val="3A7013"/>
    </a:accent6>
    <a:hlink>
      <a:srgbClr val="F36633"/>
    </a:hlink>
    <a:folHlink>
      <a:srgbClr val="D5D1C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Custom 1">
    <a:dk1>
      <a:srgbClr val="544F40"/>
    </a:dk1>
    <a:lt1>
      <a:srgbClr val="FFFFFF"/>
    </a:lt1>
    <a:dk2>
      <a:srgbClr val="F36633"/>
    </a:dk2>
    <a:lt2>
      <a:srgbClr val="D5D1CE"/>
    </a:lt2>
    <a:accent1>
      <a:srgbClr val="F36633"/>
    </a:accent1>
    <a:accent2>
      <a:srgbClr val="40488D"/>
    </a:accent2>
    <a:accent3>
      <a:srgbClr val="BC1077"/>
    </a:accent3>
    <a:accent4>
      <a:srgbClr val="E49B13"/>
    </a:accent4>
    <a:accent5>
      <a:srgbClr val="ED003C"/>
    </a:accent5>
    <a:accent6>
      <a:srgbClr val="3A7013"/>
    </a:accent6>
    <a:hlink>
      <a:srgbClr val="F36633"/>
    </a:hlink>
    <a:folHlink>
      <a:srgbClr val="D5D1C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Custom 1">
    <a:dk1>
      <a:srgbClr val="544F40"/>
    </a:dk1>
    <a:lt1>
      <a:srgbClr val="FFFFFF"/>
    </a:lt1>
    <a:dk2>
      <a:srgbClr val="F36633"/>
    </a:dk2>
    <a:lt2>
      <a:srgbClr val="D5D1CE"/>
    </a:lt2>
    <a:accent1>
      <a:srgbClr val="F36633"/>
    </a:accent1>
    <a:accent2>
      <a:srgbClr val="40488D"/>
    </a:accent2>
    <a:accent3>
      <a:srgbClr val="BC1077"/>
    </a:accent3>
    <a:accent4>
      <a:srgbClr val="E49B13"/>
    </a:accent4>
    <a:accent5>
      <a:srgbClr val="ED003C"/>
    </a:accent5>
    <a:accent6>
      <a:srgbClr val="3A7013"/>
    </a:accent6>
    <a:hlink>
      <a:srgbClr val="F36633"/>
    </a:hlink>
    <a:folHlink>
      <a:srgbClr val="D5D1C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31989eb-7121-409c-871c-8f2366272918">
      <Terms xmlns="http://schemas.microsoft.com/office/infopath/2007/PartnerControls"/>
    </lcf76f155ced4ddcb4097134ff3c332f>
    <TaxCatchAll xmlns="a5bf85ab-5b89-45d5-812d-d881043611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0FBBF6E9189954BA0FDCD563682A98B" ma:contentTypeVersion="16" ma:contentTypeDescription="Create a new document." ma:contentTypeScope="" ma:versionID="1a4143a5922bdc6b3737ea9818078587">
  <xsd:schema xmlns:xsd="http://www.w3.org/2001/XMLSchema" xmlns:xs="http://www.w3.org/2001/XMLSchema" xmlns:p="http://schemas.microsoft.com/office/2006/metadata/properties" xmlns:ns2="731989eb-7121-409c-871c-8f2366272918" xmlns:ns3="a5bf85ab-5b89-45d5-812d-d881043611a5" targetNamespace="http://schemas.microsoft.com/office/2006/metadata/properties" ma:root="true" ma:fieldsID="d5969143f17593460ff451703e77bfd7" ns2:_="" ns3:_="">
    <xsd:import namespace="731989eb-7121-409c-871c-8f2366272918"/>
    <xsd:import namespace="a5bf85ab-5b89-45d5-812d-d881043611a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1989eb-7121-409c-871c-8f23662729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f367377-cea2-4f59-9866-8491a8f07ab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5bf85ab-5b89-45d5-812d-d881043611a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018993d-1d16-43cf-b63c-2f328976747f}" ma:internalName="TaxCatchAll" ma:showField="CatchAllData" ma:web="a5bf85ab-5b89-45d5-812d-d881043611a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DA663B-0373-4C8B-B815-9005A7A0024E}">
  <ds:schemaRefs>
    <ds:schemaRef ds:uri="http://schemas.microsoft.com/sharepoint/v3/contenttype/forms"/>
  </ds:schemaRefs>
</ds:datastoreItem>
</file>

<file path=customXml/itemProps2.xml><?xml version="1.0" encoding="utf-8"?>
<ds:datastoreItem xmlns:ds="http://schemas.openxmlformats.org/officeDocument/2006/customXml" ds:itemID="{B7FC8329-C6F9-417B-AFDE-5E22243E6E66}">
  <ds:schemaRefs>
    <ds:schemaRef ds:uri="http://purl.org/dc/elements/1.1/"/>
    <ds:schemaRef ds:uri="http://schemas.microsoft.com/office/2006/documentManagement/types"/>
    <ds:schemaRef ds:uri="http://purl.org/dc/dcmitype/"/>
    <ds:schemaRef ds:uri="http://schemas.openxmlformats.org/package/2006/metadata/core-properties"/>
    <ds:schemaRef ds:uri="http://schemas.microsoft.com/office/infopath/2007/PartnerControls"/>
    <ds:schemaRef ds:uri="http://purl.org/dc/terms/"/>
    <ds:schemaRef ds:uri="http://www.w3.org/XML/1998/namespace"/>
    <ds:schemaRef ds:uri="a5bf85ab-5b89-45d5-812d-d881043611a5"/>
    <ds:schemaRef ds:uri="731989eb-7121-409c-871c-8f2366272918"/>
    <ds:schemaRef ds:uri="http://schemas.microsoft.com/office/2006/metadata/properties"/>
  </ds:schemaRefs>
</ds:datastoreItem>
</file>

<file path=customXml/itemProps3.xml><?xml version="1.0" encoding="utf-8"?>
<ds:datastoreItem xmlns:ds="http://schemas.openxmlformats.org/officeDocument/2006/customXml" ds:itemID="{EE0F26C6-5C28-44C7-AF1C-6D797356FB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1989eb-7121-409c-871c-8f2366272918"/>
    <ds:schemaRef ds:uri="a5bf85ab-5b89-45d5-812d-d881043611a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ea66b2b-af80-48b6-873b-d341d3035cfa}" enabled="1" method="Standard" siteId="{63982aff-fb6c-4c22-973b-70e4acfb63e6}" removed="0"/>
</clbl:labelList>
</file>

<file path=docProps/app.xml><?xml version="1.0" encoding="utf-8"?>
<Properties xmlns="http://schemas.openxmlformats.org/officeDocument/2006/extended-properties" xmlns:vt="http://schemas.openxmlformats.org/officeDocument/2006/docPropsVTypes">
  <Template>GSK_New_PPT_16x9_Template_Sep22_v3</Template>
  <TotalTime>146</TotalTime>
  <Words>5304</Words>
  <Application>Microsoft Office PowerPoint</Application>
  <PresentationFormat>Widescreen</PresentationFormat>
  <Paragraphs>795</Paragraphs>
  <Slides>24</Slides>
  <Notes>6</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24</vt:i4>
      </vt:variant>
    </vt:vector>
  </HeadingPairs>
  <TitlesOfParts>
    <vt:vector size="32" baseType="lpstr">
      <vt:lpstr>Arial</vt:lpstr>
      <vt:lpstr>Calibri</vt:lpstr>
      <vt:lpstr>Calibri Light</vt:lpstr>
      <vt:lpstr>Wingdings</vt:lpstr>
      <vt:lpstr>GSK </vt:lpstr>
      <vt:lpstr>Custom Design</vt:lpstr>
      <vt:lpstr>1_Custom Design</vt:lpstr>
      <vt:lpstr>think-cell Slide</vt:lpstr>
      <vt:lpstr>Trelegy Ellipta Learning Module</vt:lpstr>
      <vt:lpstr>Disclaimer</vt:lpstr>
      <vt:lpstr>The IMPACT trial</vt:lpstr>
      <vt:lpstr>IMPACT: InforMing the PAthway of COPD Treatment</vt:lpstr>
      <vt:lpstr>IMPACT: Study design</vt:lpstr>
      <vt:lpstr>IMPACT: Study endpoints</vt:lpstr>
      <vt:lpstr>IMPACT: Inclusion and exclusion</vt:lpstr>
      <vt:lpstr>IMPACT: Disposition of patients</vt:lpstr>
      <vt:lpstr>IMPACT: Baseline demographics</vt:lpstr>
      <vt:lpstr>IMPACT: Moderate/severe exacerbations</vt:lpstr>
      <vt:lpstr>IMPACT: Exacerbations leading to hospitalisation (severe)</vt:lpstr>
      <vt:lpstr>IMPACT: Significant improvements in lung function and quality of life with FF/UMEC/VI vs FF/VI and UMEC/VI</vt:lpstr>
      <vt:lpstr>IMPACT: Time to first on-treatment moderate/severe exacerbation</vt:lpstr>
      <vt:lpstr>IMPACT: Time to first on-treatment severe COPD exacerbation</vt:lpstr>
      <vt:lpstr>IMPACT: FF/UMEC/VI demonstrated a significant reduction in moderate/severe exacerbations vs an ICS/LABA (FF/VI) and vs LAMA/LABA (UMEC/VI) based on exacerbation history in prior year</vt:lpstr>
      <vt:lpstr>IMPACT: FF/UMEC/VI demonstrated a significant reduction in rate of moderate/severe exacerbations vs UMEC/VI in patients with BEC &lt;150 and ≥150 cells/μL</vt:lpstr>
      <vt:lpstr>IMPACT safety: Pneumonia</vt:lpstr>
      <vt:lpstr>IMPACT: Treatment benefits with FF/UMEC/VI outweigh potential risk of pneumonia</vt:lpstr>
      <vt:lpstr>IMPACT: Reduction in the risk of on-treatment ACM with FF/UMEC/VI vs UMEC/VI</vt:lpstr>
      <vt:lpstr>IMPACT: Benefits of triple therapy (FF/UMEC/VI) in COPD at Week 52</vt:lpstr>
      <vt:lpstr>IMPACT: Safety</vt:lpstr>
      <vt:lpstr>Trelegy Ellipta 100/62.5/25 mcg and 200/62.5/25 mcg</vt:lpstr>
      <vt:lpstr>GSK Contacts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 Good engagement outcome  </dc:title>
  <dc:creator>Shereen Abbass</dc:creator>
  <cp:lastModifiedBy>Abdelrahman Sayed</cp:lastModifiedBy>
  <cp:revision>1</cp:revision>
  <dcterms:created xsi:type="dcterms:W3CDTF">2023-01-27T08:11:24Z</dcterms:created>
  <dcterms:modified xsi:type="dcterms:W3CDTF">2025-07-22T08:48:41Z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0x010100A0FBBF6E9189954BA0FDCD563682A98B</vt:lpwstr>
  </property>
  <property fmtid="{D5CDD505-2E9C-101B-9397-08002B2CF9AE}" pid="3" name="MediaServiceImageTags">
    <vt:lpwstr/>
  </property>
  <property fmtid="{D5CDD505-2E9C-101B-9397-08002B2CF9AE}" pid="4" name="ArticulateGUID">
    <vt:lpwstr>15CDE283-B26F-4D28-871F-EAED173C219D</vt:lpwstr>
  </property>
  <property fmtid="{D5CDD505-2E9C-101B-9397-08002B2CF9AE}" pid="5" name="ArticulatePath">
    <vt:lpwstr>Presentation1</vt:lpwstr>
  </property>
</Properties>
</file>