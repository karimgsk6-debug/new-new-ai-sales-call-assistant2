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3.xml" ContentType="application/vnd.openxmlformats-officedocument.theme+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theme/theme4.xml" ContentType="application/vnd.openxmlformats-officedocument.theme+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theme/theme6.xml" ContentType="application/vnd.openxmlformats-officedocument.theme+xml"/>
  <Override PartName="/ppt/tags/tag58.xml" ContentType="application/vnd.openxmlformats-officedocument.presentationml.tags+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notesSlides/notesSlide3.xml" ContentType="application/vnd.openxmlformats-officedocument.presentationml.notesSlide+xml"/>
  <Override PartName="/ppt/tags/tag65.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tags/tag66.xml" ContentType="application/vnd.openxmlformats-officedocument.presentationml.tags+xml"/>
  <Override PartName="/ppt/media/image91.jpg" ContentType="image/jpg"/>
  <Override PartName="/ppt/tags/tag67.xml" ContentType="application/vnd.openxmlformats-officedocument.presentationml.tags+xml"/>
  <Override PartName="/ppt/tags/tag68.xml" ContentType="application/vnd.openxmlformats-officedocument.presentationml.tags+xml"/>
  <Override PartName="/ppt/media/image136.jpg" ContentType="image/jpg"/>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notesSlides/notesSlide4.xml" ContentType="application/vnd.openxmlformats-officedocument.presentationml.notesSlid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2" r:id="rId3"/>
    <p:sldMasterId id="2147483725" r:id="rId4"/>
    <p:sldMasterId id="2147483757" r:id="rId5"/>
    <p:sldMasterId id="2147483790" r:id="rId6"/>
  </p:sldMasterIdLst>
  <p:notesMasterIdLst>
    <p:notesMasterId r:id="rId106"/>
  </p:notesMasterIdLst>
  <p:sldIdLst>
    <p:sldId id="2147480981" r:id="rId7"/>
    <p:sldId id="2147480980" r:id="rId8"/>
    <p:sldId id="2274" r:id="rId9"/>
    <p:sldId id="2276" r:id="rId10"/>
    <p:sldId id="2275" r:id="rId11"/>
    <p:sldId id="2277" r:id="rId12"/>
    <p:sldId id="2279" r:id="rId13"/>
    <p:sldId id="2280" r:id="rId14"/>
    <p:sldId id="2282" r:id="rId15"/>
    <p:sldId id="2283" r:id="rId16"/>
    <p:sldId id="2304" r:id="rId17"/>
    <p:sldId id="2285" r:id="rId18"/>
    <p:sldId id="2286" r:id="rId19"/>
    <p:sldId id="2287" r:id="rId20"/>
    <p:sldId id="2288" r:id="rId21"/>
    <p:sldId id="2310" r:id="rId22"/>
    <p:sldId id="2290" r:id="rId23"/>
    <p:sldId id="2309" r:id="rId24"/>
    <p:sldId id="2292" r:id="rId25"/>
    <p:sldId id="2293" r:id="rId26"/>
    <p:sldId id="2294" r:id="rId27"/>
    <p:sldId id="2295" r:id="rId28"/>
    <p:sldId id="2296" r:id="rId29"/>
    <p:sldId id="2297" r:id="rId30"/>
    <p:sldId id="2301" r:id="rId31"/>
    <p:sldId id="2300" r:id="rId32"/>
    <p:sldId id="267" r:id="rId33"/>
    <p:sldId id="304" r:id="rId34"/>
    <p:sldId id="305" r:id="rId35"/>
    <p:sldId id="306" r:id="rId36"/>
    <p:sldId id="307" r:id="rId37"/>
    <p:sldId id="308" r:id="rId38"/>
    <p:sldId id="309" r:id="rId39"/>
    <p:sldId id="310" r:id="rId40"/>
    <p:sldId id="311" r:id="rId41"/>
    <p:sldId id="312" r:id="rId42"/>
    <p:sldId id="314" r:id="rId43"/>
    <p:sldId id="316" r:id="rId44"/>
    <p:sldId id="317" r:id="rId45"/>
    <p:sldId id="318" r:id="rId46"/>
    <p:sldId id="325" r:id="rId47"/>
    <p:sldId id="326" r:id="rId48"/>
    <p:sldId id="327" r:id="rId49"/>
    <p:sldId id="329" r:id="rId50"/>
    <p:sldId id="356" r:id="rId51"/>
    <p:sldId id="485" r:id="rId52"/>
    <p:sldId id="455" r:id="rId53"/>
    <p:sldId id="518" r:id="rId54"/>
    <p:sldId id="519" r:id="rId55"/>
    <p:sldId id="520" r:id="rId56"/>
    <p:sldId id="521" r:id="rId57"/>
    <p:sldId id="522" r:id="rId58"/>
    <p:sldId id="523" r:id="rId59"/>
    <p:sldId id="525" r:id="rId60"/>
    <p:sldId id="526" r:id="rId61"/>
    <p:sldId id="527" r:id="rId62"/>
    <p:sldId id="528" r:id="rId63"/>
    <p:sldId id="529" r:id="rId64"/>
    <p:sldId id="530" r:id="rId65"/>
    <p:sldId id="531" r:id="rId66"/>
    <p:sldId id="533" r:id="rId67"/>
    <p:sldId id="532" r:id="rId68"/>
    <p:sldId id="534" r:id="rId69"/>
    <p:sldId id="535" r:id="rId70"/>
    <p:sldId id="537" r:id="rId71"/>
    <p:sldId id="540" r:id="rId72"/>
    <p:sldId id="2134960626" r:id="rId73"/>
    <p:sldId id="2134960627" r:id="rId74"/>
    <p:sldId id="2134960628" r:id="rId75"/>
    <p:sldId id="2134960629" r:id="rId76"/>
    <p:sldId id="2134960630" r:id="rId77"/>
    <p:sldId id="2134960631" r:id="rId78"/>
    <p:sldId id="2134960632" r:id="rId79"/>
    <p:sldId id="2134960633" r:id="rId80"/>
    <p:sldId id="2134960634" r:id="rId81"/>
    <p:sldId id="2134960635" r:id="rId82"/>
    <p:sldId id="2134960636" r:id="rId83"/>
    <p:sldId id="2134960637" r:id="rId84"/>
    <p:sldId id="2134960638" r:id="rId85"/>
    <p:sldId id="2134960639" r:id="rId86"/>
    <p:sldId id="2134960640" r:id="rId87"/>
    <p:sldId id="2134960641" r:id="rId88"/>
    <p:sldId id="2134960642" r:id="rId89"/>
    <p:sldId id="2134960646" r:id="rId90"/>
    <p:sldId id="338" r:id="rId91"/>
    <p:sldId id="2134960647" r:id="rId92"/>
    <p:sldId id="2134960648" r:id="rId93"/>
    <p:sldId id="2134960649" r:id="rId94"/>
    <p:sldId id="2134960650" r:id="rId95"/>
    <p:sldId id="2134960651" r:id="rId96"/>
    <p:sldId id="2134960652" r:id="rId97"/>
    <p:sldId id="330" r:id="rId98"/>
    <p:sldId id="331" r:id="rId99"/>
    <p:sldId id="332" r:id="rId100"/>
    <p:sldId id="333" r:id="rId101"/>
    <p:sldId id="334" r:id="rId102"/>
    <p:sldId id="336" r:id="rId103"/>
    <p:sldId id="2147480982" r:id="rId104"/>
    <p:sldId id="2147480983" r:id="rId10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3447" autoAdjust="0"/>
  </p:normalViewPr>
  <p:slideViewPr>
    <p:cSldViewPr snapToGrid="0">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6" Type="http://schemas.openxmlformats.org/officeDocument/2006/relationships/slide" Target="slides/slide10.xml"/><Relationship Id="rId107" Type="http://schemas.openxmlformats.org/officeDocument/2006/relationships/presProps" Target="presProps.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viewProps" Target="viewProps.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notesMaster" Target="notesMasters/notesMaster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theme" Target="theme/theme1.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lrahman Sayed" userId="532b912a-a378-477b-9da3-1268d2a7b168" providerId="ADAL" clId="{11474451-07D1-4DF7-8B2A-0C2E9B26BBAA}"/>
    <pc:docChg chg="custSel modSld">
      <pc:chgData name="Abdelrahman Sayed" userId="532b912a-a378-477b-9da3-1268d2a7b168" providerId="ADAL" clId="{11474451-07D1-4DF7-8B2A-0C2E9B26BBAA}" dt="2025-07-12T05:03:43.300" v="29" actId="729"/>
      <pc:docMkLst>
        <pc:docMk/>
      </pc:docMkLst>
      <pc:sldChg chg="modSp mod">
        <pc:chgData name="Abdelrahman Sayed" userId="532b912a-a378-477b-9da3-1268d2a7b168" providerId="ADAL" clId="{11474451-07D1-4DF7-8B2A-0C2E9B26BBAA}" dt="2025-07-12T04:04:09.925" v="9" actId="115"/>
        <pc:sldMkLst>
          <pc:docMk/>
          <pc:sldMk cId="4289640609" sldId="311"/>
        </pc:sldMkLst>
        <pc:spChg chg="mod">
          <ac:chgData name="Abdelrahman Sayed" userId="532b912a-a378-477b-9da3-1268d2a7b168" providerId="ADAL" clId="{11474451-07D1-4DF7-8B2A-0C2E9B26BBAA}" dt="2025-07-12T04:03:37.386" v="6" actId="115"/>
          <ac:spMkLst>
            <pc:docMk/>
            <pc:sldMk cId="4289640609" sldId="311"/>
            <ac:spMk id="7" creationId="{5F90B5B1-FC98-5A54-A407-16C9FAE4B421}"/>
          </ac:spMkLst>
        </pc:spChg>
        <pc:spChg chg="mod">
          <ac:chgData name="Abdelrahman Sayed" userId="532b912a-a378-477b-9da3-1268d2a7b168" providerId="ADAL" clId="{11474451-07D1-4DF7-8B2A-0C2E9B26BBAA}" dt="2025-07-12T04:04:09.925" v="9" actId="115"/>
          <ac:spMkLst>
            <pc:docMk/>
            <pc:sldMk cId="4289640609" sldId="311"/>
            <ac:spMk id="10" creationId="{5DF4ED2E-1D67-B8DC-FE57-08AB2679EC2D}"/>
          </ac:spMkLst>
        </pc:spChg>
      </pc:sldChg>
      <pc:sldChg chg="addSp modSp mod">
        <pc:chgData name="Abdelrahman Sayed" userId="532b912a-a378-477b-9da3-1268d2a7b168" providerId="ADAL" clId="{11474451-07D1-4DF7-8B2A-0C2E9B26BBAA}" dt="2025-07-12T04:08:02.043" v="15" actId="115"/>
        <pc:sldMkLst>
          <pc:docMk/>
          <pc:sldMk cId="2877078423" sldId="312"/>
        </pc:sldMkLst>
        <pc:spChg chg="mod">
          <ac:chgData name="Abdelrahman Sayed" userId="532b912a-a378-477b-9da3-1268d2a7b168" providerId="ADAL" clId="{11474451-07D1-4DF7-8B2A-0C2E9B26BBAA}" dt="2025-07-12T04:08:02.043" v="15" actId="115"/>
          <ac:spMkLst>
            <pc:docMk/>
            <pc:sldMk cId="2877078423" sldId="312"/>
            <ac:spMk id="3" creationId="{2DE33F6D-F2F3-E7F8-CDD2-E10858C52037}"/>
          </ac:spMkLst>
        </pc:spChg>
      </pc:sldChg>
      <pc:sldChg chg="mod modShow">
        <pc:chgData name="Abdelrahman Sayed" userId="532b912a-a378-477b-9da3-1268d2a7b168" providerId="ADAL" clId="{11474451-07D1-4DF7-8B2A-0C2E9B26BBAA}" dt="2025-07-12T05:00:45.293" v="28" actId="729"/>
        <pc:sldMkLst>
          <pc:docMk/>
          <pc:sldMk cId="497267184" sldId="338"/>
        </pc:sldMkLst>
      </pc:sldChg>
      <pc:sldChg chg="mod modShow">
        <pc:chgData name="Abdelrahman Sayed" userId="532b912a-a378-477b-9da3-1268d2a7b168" providerId="ADAL" clId="{11474451-07D1-4DF7-8B2A-0C2E9B26BBAA}" dt="2025-07-11T13:05:18.039" v="2" actId="729"/>
        <pc:sldMkLst>
          <pc:docMk/>
          <pc:sldMk cId="1631926116" sldId="356"/>
        </pc:sldMkLst>
      </pc:sldChg>
      <pc:sldChg chg="modSp mod">
        <pc:chgData name="Abdelrahman Sayed" userId="532b912a-a378-477b-9da3-1268d2a7b168" providerId="ADAL" clId="{11474451-07D1-4DF7-8B2A-0C2E9B26BBAA}" dt="2025-07-12T04:10:43.362" v="17" actId="115"/>
        <pc:sldMkLst>
          <pc:docMk/>
          <pc:sldMk cId="3579043618" sldId="455"/>
        </pc:sldMkLst>
        <pc:spChg chg="mod">
          <ac:chgData name="Abdelrahman Sayed" userId="532b912a-a378-477b-9da3-1268d2a7b168" providerId="ADAL" clId="{11474451-07D1-4DF7-8B2A-0C2E9B26BBAA}" dt="2025-07-12T04:10:43.362" v="17" actId="115"/>
          <ac:spMkLst>
            <pc:docMk/>
            <pc:sldMk cId="3579043618" sldId="455"/>
            <ac:spMk id="38" creationId="{4A895716-81F6-65E7-701A-C380E034EEC1}"/>
          </ac:spMkLst>
        </pc:spChg>
        <pc:spChg chg="mod">
          <ac:chgData name="Abdelrahman Sayed" userId="532b912a-a378-477b-9da3-1268d2a7b168" providerId="ADAL" clId="{11474451-07D1-4DF7-8B2A-0C2E9B26BBAA}" dt="2025-07-12T04:10:15.988" v="16" actId="115"/>
          <ac:spMkLst>
            <pc:docMk/>
            <pc:sldMk cId="3579043618" sldId="455"/>
            <ac:spMk id="46" creationId="{2EB812F2-2D10-FC23-5298-A46D02724954}"/>
          </ac:spMkLst>
        </pc:spChg>
      </pc:sldChg>
      <pc:sldChg chg="mod modShow">
        <pc:chgData name="Abdelrahman Sayed" userId="532b912a-a378-477b-9da3-1268d2a7b168" providerId="ADAL" clId="{11474451-07D1-4DF7-8B2A-0C2E9B26BBAA}" dt="2025-07-12T04:12:16.143" v="18" actId="729"/>
        <pc:sldMkLst>
          <pc:docMk/>
          <pc:sldMk cId="1990481398" sldId="521"/>
        </pc:sldMkLst>
      </pc:sldChg>
      <pc:sldChg chg="mod modShow">
        <pc:chgData name="Abdelrahman Sayed" userId="532b912a-a378-477b-9da3-1268d2a7b168" providerId="ADAL" clId="{11474451-07D1-4DF7-8B2A-0C2E9B26BBAA}" dt="2025-07-12T04:12:16.143" v="18" actId="729"/>
        <pc:sldMkLst>
          <pc:docMk/>
          <pc:sldMk cId="3813357987" sldId="522"/>
        </pc:sldMkLst>
      </pc:sldChg>
      <pc:sldChg chg="mod modShow">
        <pc:chgData name="Abdelrahman Sayed" userId="532b912a-a378-477b-9da3-1268d2a7b168" providerId="ADAL" clId="{11474451-07D1-4DF7-8B2A-0C2E9B26BBAA}" dt="2025-07-12T04:12:16.143" v="18" actId="729"/>
        <pc:sldMkLst>
          <pc:docMk/>
          <pc:sldMk cId="1293646057" sldId="523"/>
        </pc:sldMkLst>
      </pc:sldChg>
      <pc:sldChg chg="mod modShow">
        <pc:chgData name="Abdelrahman Sayed" userId="532b912a-a378-477b-9da3-1268d2a7b168" providerId="ADAL" clId="{11474451-07D1-4DF7-8B2A-0C2E9B26BBAA}" dt="2025-07-12T04:19:23.193" v="19" actId="729"/>
        <pc:sldMkLst>
          <pc:docMk/>
          <pc:sldMk cId="1809510737" sldId="532"/>
        </pc:sldMkLst>
      </pc:sldChg>
      <pc:sldChg chg="mod modShow">
        <pc:chgData name="Abdelrahman Sayed" userId="532b912a-a378-477b-9da3-1268d2a7b168" providerId="ADAL" clId="{11474451-07D1-4DF7-8B2A-0C2E9B26BBAA}" dt="2025-07-12T04:19:23.193" v="19" actId="729"/>
        <pc:sldMkLst>
          <pc:docMk/>
          <pc:sldMk cId="3257237966" sldId="533"/>
        </pc:sldMkLst>
      </pc:sldChg>
      <pc:sldChg chg="mod modShow">
        <pc:chgData name="Abdelrahman Sayed" userId="532b912a-a378-477b-9da3-1268d2a7b168" providerId="ADAL" clId="{11474451-07D1-4DF7-8B2A-0C2E9B26BBAA}" dt="2025-07-12T04:19:23.193" v="19" actId="729"/>
        <pc:sldMkLst>
          <pc:docMk/>
          <pc:sldMk cId="1442886957" sldId="534"/>
        </pc:sldMkLst>
      </pc:sldChg>
      <pc:sldChg chg="mod modShow">
        <pc:chgData name="Abdelrahman Sayed" userId="532b912a-a378-477b-9da3-1268d2a7b168" providerId="ADAL" clId="{11474451-07D1-4DF7-8B2A-0C2E9B26BBAA}" dt="2025-07-12T04:19:23.193" v="19" actId="729"/>
        <pc:sldMkLst>
          <pc:docMk/>
          <pc:sldMk cId="3402914256" sldId="535"/>
        </pc:sldMkLst>
      </pc:sldChg>
      <pc:sldChg chg="mod modShow">
        <pc:chgData name="Abdelrahman Sayed" userId="532b912a-a378-477b-9da3-1268d2a7b168" providerId="ADAL" clId="{11474451-07D1-4DF7-8B2A-0C2E9B26BBAA}" dt="2025-07-12T04:19:23.193" v="19" actId="729"/>
        <pc:sldMkLst>
          <pc:docMk/>
          <pc:sldMk cId="2966296313" sldId="537"/>
        </pc:sldMkLst>
      </pc:sldChg>
      <pc:sldChg chg="modSp mod">
        <pc:chgData name="Abdelrahman Sayed" userId="532b912a-a378-477b-9da3-1268d2a7b168" providerId="ADAL" clId="{11474451-07D1-4DF7-8B2A-0C2E9B26BBAA}" dt="2025-07-11T12:49:46.990" v="0" actId="33524"/>
        <pc:sldMkLst>
          <pc:docMk/>
          <pc:sldMk cId="919425528" sldId="2295"/>
        </pc:sldMkLst>
        <pc:spChg chg="mod">
          <ac:chgData name="Abdelrahman Sayed" userId="532b912a-a378-477b-9da3-1268d2a7b168" providerId="ADAL" clId="{11474451-07D1-4DF7-8B2A-0C2E9B26BBAA}" dt="2025-07-11T12:49:46.990" v="0" actId="33524"/>
          <ac:spMkLst>
            <pc:docMk/>
            <pc:sldMk cId="919425528" sldId="2295"/>
            <ac:spMk id="43" creationId="{19FA255D-F729-34D2-9E16-51F3D1B40624}"/>
          </ac:spMkLst>
        </pc:spChg>
      </pc:sldChg>
      <pc:sldChg chg="mod modShow">
        <pc:chgData name="Abdelrahman Sayed" userId="532b912a-a378-477b-9da3-1268d2a7b168" providerId="ADAL" clId="{11474451-07D1-4DF7-8B2A-0C2E9B26BBAA}" dt="2025-07-11T12:50:47.374" v="1" actId="729"/>
        <pc:sldMkLst>
          <pc:docMk/>
          <pc:sldMk cId="1783070421" sldId="2296"/>
        </pc:sldMkLst>
      </pc:sldChg>
      <pc:sldChg chg="modSp mod">
        <pc:chgData name="Abdelrahman Sayed" userId="532b912a-a378-477b-9da3-1268d2a7b168" providerId="ADAL" clId="{11474451-07D1-4DF7-8B2A-0C2E9B26BBAA}" dt="2025-07-12T04:23:13.280" v="23" actId="115"/>
        <pc:sldMkLst>
          <pc:docMk/>
          <pc:sldMk cId="357902979" sldId="2134960629"/>
        </pc:sldMkLst>
        <pc:spChg chg="mod">
          <ac:chgData name="Abdelrahman Sayed" userId="532b912a-a378-477b-9da3-1268d2a7b168" providerId="ADAL" clId="{11474451-07D1-4DF7-8B2A-0C2E9B26BBAA}" dt="2025-07-12T04:22:50.850" v="21" actId="115"/>
          <ac:spMkLst>
            <pc:docMk/>
            <pc:sldMk cId="357902979" sldId="2134960629"/>
            <ac:spMk id="7" creationId="{0086872D-7F32-E817-1D6C-9AB434E520B3}"/>
          </ac:spMkLst>
        </pc:spChg>
        <pc:spChg chg="mod">
          <ac:chgData name="Abdelrahman Sayed" userId="532b912a-a378-477b-9da3-1268d2a7b168" providerId="ADAL" clId="{11474451-07D1-4DF7-8B2A-0C2E9B26BBAA}" dt="2025-07-12T04:23:01.064" v="22" actId="115"/>
          <ac:spMkLst>
            <pc:docMk/>
            <pc:sldMk cId="357902979" sldId="2134960629"/>
            <ac:spMk id="9" creationId="{82E8AE40-6D99-D014-D4C5-2B2D2A04A941}"/>
          </ac:spMkLst>
        </pc:spChg>
        <pc:spChg chg="mod">
          <ac:chgData name="Abdelrahman Sayed" userId="532b912a-a378-477b-9da3-1268d2a7b168" providerId="ADAL" clId="{11474451-07D1-4DF7-8B2A-0C2E9B26BBAA}" dt="2025-07-12T04:23:13.280" v="23" actId="115"/>
          <ac:spMkLst>
            <pc:docMk/>
            <pc:sldMk cId="357902979" sldId="2134960629"/>
            <ac:spMk id="10" creationId="{E7689844-0262-083A-80E2-DD2581BC5625}"/>
          </ac:spMkLst>
        </pc:spChg>
      </pc:sldChg>
      <pc:sldChg chg="modSp mod">
        <pc:chgData name="Abdelrahman Sayed" userId="532b912a-a378-477b-9da3-1268d2a7b168" providerId="ADAL" clId="{11474451-07D1-4DF7-8B2A-0C2E9B26BBAA}" dt="2025-07-12T04:27:11.703" v="25" actId="113"/>
        <pc:sldMkLst>
          <pc:docMk/>
          <pc:sldMk cId="2237971164" sldId="2134960630"/>
        </pc:sldMkLst>
        <pc:spChg chg="mod">
          <ac:chgData name="Abdelrahman Sayed" userId="532b912a-a378-477b-9da3-1268d2a7b168" providerId="ADAL" clId="{11474451-07D1-4DF7-8B2A-0C2E9B26BBAA}" dt="2025-07-12T04:27:11.703" v="25" actId="113"/>
          <ac:spMkLst>
            <pc:docMk/>
            <pc:sldMk cId="2237971164" sldId="2134960630"/>
            <ac:spMk id="11" creationId="{4498F399-E132-E9C3-7578-E0E7CC425EE8}"/>
          </ac:spMkLst>
        </pc:spChg>
      </pc:sldChg>
      <pc:sldChg chg="modSp mod">
        <pc:chgData name="Abdelrahman Sayed" userId="532b912a-a378-477b-9da3-1268d2a7b168" providerId="ADAL" clId="{11474451-07D1-4DF7-8B2A-0C2E9B26BBAA}" dt="2025-07-12T04:33:01.390" v="26" actId="115"/>
        <pc:sldMkLst>
          <pc:docMk/>
          <pc:sldMk cId="326002892" sldId="2134960633"/>
        </pc:sldMkLst>
        <pc:spChg chg="mod">
          <ac:chgData name="Abdelrahman Sayed" userId="532b912a-a378-477b-9da3-1268d2a7b168" providerId="ADAL" clId="{11474451-07D1-4DF7-8B2A-0C2E9B26BBAA}" dt="2025-07-12T04:33:01.390" v="26" actId="115"/>
          <ac:spMkLst>
            <pc:docMk/>
            <pc:sldMk cId="326002892" sldId="2134960633"/>
            <ac:spMk id="9" creationId="{534F8F53-978D-45A9-89A3-001026356C46}"/>
          </ac:spMkLst>
        </pc:spChg>
      </pc:sldChg>
      <pc:sldChg chg="modSp mod">
        <pc:chgData name="Abdelrahman Sayed" userId="532b912a-a378-477b-9da3-1268d2a7b168" providerId="ADAL" clId="{11474451-07D1-4DF7-8B2A-0C2E9B26BBAA}" dt="2025-07-12T04:33:10.117" v="27" actId="115"/>
        <pc:sldMkLst>
          <pc:docMk/>
          <pc:sldMk cId="2676308960" sldId="2134960634"/>
        </pc:sldMkLst>
        <pc:spChg chg="mod">
          <ac:chgData name="Abdelrahman Sayed" userId="532b912a-a378-477b-9da3-1268d2a7b168" providerId="ADAL" clId="{11474451-07D1-4DF7-8B2A-0C2E9B26BBAA}" dt="2025-07-12T04:33:10.117" v="27" actId="115"/>
          <ac:spMkLst>
            <pc:docMk/>
            <pc:sldMk cId="2676308960" sldId="2134960634"/>
            <ac:spMk id="9" creationId="{534F8F53-978D-45A9-89A3-001026356C46}"/>
          </ac:spMkLst>
        </pc:spChg>
      </pc:sldChg>
      <pc:sldChg chg="mod modShow">
        <pc:chgData name="Abdelrahman Sayed" userId="532b912a-a378-477b-9da3-1268d2a7b168" providerId="ADAL" clId="{11474451-07D1-4DF7-8B2A-0C2E9B26BBAA}" dt="2025-07-12T05:03:43.300" v="29" actId="729"/>
        <pc:sldMkLst>
          <pc:docMk/>
          <pc:sldMk cId="432554637" sldId="2134960650"/>
        </pc:sldMkLst>
      </pc:sldChg>
    </pc:docChg>
  </pc:docChgLst>
  <pc:docChgLst>
    <pc:chgData name="Abdelrahman Sayed" userId="532b912a-a378-477b-9da3-1268d2a7b168" providerId="ADAL" clId="{8C04BA00-ADEF-463F-85A9-6DE998F628D0}"/>
    <pc:docChg chg="modSld">
      <pc:chgData name="Abdelrahman Sayed" userId="532b912a-a378-477b-9da3-1268d2a7b168" providerId="ADAL" clId="{8C04BA00-ADEF-463F-85A9-6DE998F628D0}" dt="2025-07-20T20:29:45.008" v="5" actId="5793"/>
      <pc:docMkLst>
        <pc:docMk/>
      </pc:docMkLst>
      <pc:sldChg chg="modSp mod">
        <pc:chgData name="Abdelrahman Sayed" userId="532b912a-a378-477b-9da3-1268d2a7b168" providerId="ADAL" clId="{8C04BA00-ADEF-463F-85A9-6DE998F628D0}" dt="2025-07-20T20:29:45.008" v="5" actId="5793"/>
        <pc:sldMkLst>
          <pc:docMk/>
          <pc:sldMk cId="3051029945" sldId="333"/>
        </pc:sldMkLst>
        <pc:spChg chg="mod">
          <ac:chgData name="Abdelrahman Sayed" userId="532b912a-a378-477b-9da3-1268d2a7b168" providerId="ADAL" clId="{8C04BA00-ADEF-463F-85A9-6DE998F628D0}" dt="2025-07-20T20:29:45.008" v="5" actId="5793"/>
          <ac:spMkLst>
            <pc:docMk/>
            <pc:sldMk cId="3051029945" sldId="333"/>
            <ac:spMk id="75" creationId="{0E6FA13C-5EFE-EC68-E807-003A412A254F}"/>
          </ac:spMkLst>
        </pc:spChg>
      </pc:sldChg>
      <pc:sldChg chg="mod modShow">
        <pc:chgData name="Abdelrahman Sayed" userId="532b912a-a378-477b-9da3-1268d2a7b168" providerId="ADAL" clId="{8C04BA00-ADEF-463F-85A9-6DE998F628D0}" dt="2025-07-20T20:19:23.966" v="0" actId="729"/>
        <pc:sldMkLst>
          <pc:docMk/>
          <pc:sldMk cId="1435477257" sldId="2279"/>
        </pc:sldMkLst>
      </pc:sldChg>
      <pc:sldChg chg="mod modShow">
        <pc:chgData name="Abdelrahman Sayed" userId="532b912a-a378-477b-9da3-1268d2a7b168" providerId="ADAL" clId="{8C04BA00-ADEF-463F-85A9-6DE998F628D0}" dt="2025-07-20T20:20:58.329" v="1" actId="729"/>
        <pc:sldMkLst>
          <pc:docMk/>
          <pc:sldMk cId="1947314782" sldId="2292"/>
        </pc:sldMkLst>
      </pc:sldChg>
      <pc:sldChg chg="mod modShow">
        <pc:chgData name="Abdelrahman Sayed" userId="532b912a-a378-477b-9da3-1268d2a7b168" providerId="ADAL" clId="{8C04BA00-ADEF-463F-85A9-6DE998F628D0}" dt="2025-07-20T20:26:58.225" v="2" actId="729"/>
        <pc:sldMkLst>
          <pc:docMk/>
          <pc:sldMk cId="3416599405" sldId="2134960635"/>
        </pc:sldMkLst>
      </pc:sldChg>
      <pc:sldChg chg="mod modShow">
        <pc:chgData name="Abdelrahman Sayed" userId="532b912a-a378-477b-9da3-1268d2a7b168" providerId="ADAL" clId="{8C04BA00-ADEF-463F-85A9-6DE998F628D0}" dt="2025-07-20T20:28:47.180" v="3" actId="729"/>
        <pc:sldMkLst>
          <pc:docMk/>
          <pc:sldMk cId="2824862385" sldId="2134960647"/>
        </pc:sldMkLst>
      </pc:sldChg>
    </pc:docChg>
  </pc:docChgLst>
  <pc:docChgLst>
    <pc:chgData name="Abdelrahman Sayed" userId="532b912a-a378-477b-9da3-1268d2a7b168" providerId="ADAL" clId="{E5570BD6-3C2F-4A90-96F6-CE5DC4192A05}"/>
    <pc:docChg chg="undo custSel addSld delSld modSld">
      <pc:chgData name="Abdelrahman Sayed" userId="532b912a-a378-477b-9da3-1268d2a7b168" providerId="ADAL" clId="{E5570BD6-3C2F-4A90-96F6-CE5DC4192A05}" dt="2025-05-05T19:39:21.947" v="82" actId="5793"/>
      <pc:docMkLst>
        <pc:docMk/>
      </pc:docMkLst>
      <pc:sldChg chg="modSp add mod">
        <pc:chgData name="Abdelrahman Sayed" userId="532b912a-a378-477b-9da3-1268d2a7b168" providerId="ADAL" clId="{E5570BD6-3C2F-4A90-96F6-CE5DC4192A05}" dt="2025-04-28T12:29:31.857" v="32" actId="20577"/>
        <pc:sldMkLst>
          <pc:docMk/>
          <pc:sldMk cId="1972642022" sldId="267"/>
        </pc:sldMkLst>
        <pc:spChg chg="mod">
          <ac:chgData name="Abdelrahman Sayed" userId="532b912a-a378-477b-9da3-1268d2a7b168" providerId="ADAL" clId="{E5570BD6-3C2F-4A90-96F6-CE5DC4192A05}" dt="2025-04-28T12:29:31.857" v="32" actId="20577"/>
          <ac:spMkLst>
            <pc:docMk/>
            <pc:sldMk cId="1972642022" sldId="267"/>
            <ac:spMk id="2" creationId="{1733A37B-02D0-8890-CFD2-49C17F16C6C4}"/>
          </ac:spMkLst>
        </pc:spChg>
      </pc:sldChg>
      <pc:sldChg chg="add del">
        <pc:chgData name="Abdelrahman Sayed" userId="532b912a-a378-477b-9da3-1268d2a7b168" providerId="ADAL" clId="{E5570BD6-3C2F-4A90-96F6-CE5DC4192A05}" dt="2025-04-28T12:31:12.058" v="43" actId="47"/>
        <pc:sldMkLst>
          <pc:docMk/>
          <pc:sldMk cId="4183249202" sldId="291"/>
        </pc:sldMkLst>
      </pc:sldChg>
      <pc:sldChg chg="add del">
        <pc:chgData name="Abdelrahman Sayed" userId="532b912a-a378-477b-9da3-1268d2a7b168" providerId="ADAL" clId="{E5570BD6-3C2F-4A90-96F6-CE5DC4192A05}" dt="2025-04-28T12:29:37.645" v="33" actId="47"/>
        <pc:sldMkLst>
          <pc:docMk/>
          <pc:sldMk cId="1478149319" sldId="303"/>
        </pc:sldMkLst>
      </pc:sldChg>
      <pc:sldChg chg="add">
        <pc:chgData name="Abdelrahman Sayed" userId="532b912a-a378-477b-9da3-1268d2a7b168" providerId="ADAL" clId="{E5570BD6-3C2F-4A90-96F6-CE5DC4192A05}" dt="2025-04-28T12:27:07.828" v="26"/>
        <pc:sldMkLst>
          <pc:docMk/>
          <pc:sldMk cId="2482460495" sldId="304"/>
        </pc:sldMkLst>
      </pc:sldChg>
      <pc:sldChg chg="add">
        <pc:chgData name="Abdelrahman Sayed" userId="532b912a-a378-477b-9da3-1268d2a7b168" providerId="ADAL" clId="{E5570BD6-3C2F-4A90-96F6-CE5DC4192A05}" dt="2025-04-28T12:27:07.828" v="26"/>
        <pc:sldMkLst>
          <pc:docMk/>
          <pc:sldMk cId="3507236252" sldId="305"/>
        </pc:sldMkLst>
      </pc:sldChg>
      <pc:sldChg chg="add">
        <pc:chgData name="Abdelrahman Sayed" userId="532b912a-a378-477b-9da3-1268d2a7b168" providerId="ADAL" clId="{E5570BD6-3C2F-4A90-96F6-CE5DC4192A05}" dt="2025-04-28T12:27:07.828" v="26"/>
        <pc:sldMkLst>
          <pc:docMk/>
          <pc:sldMk cId="198577885" sldId="306"/>
        </pc:sldMkLst>
      </pc:sldChg>
      <pc:sldChg chg="add">
        <pc:chgData name="Abdelrahman Sayed" userId="532b912a-a378-477b-9da3-1268d2a7b168" providerId="ADAL" clId="{E5570BD6-3C2F-4A90-96F6-CE5DC4192A05}" dt="2025-04-28T12:27:07.828" v="26"/>
        <pc:sldMkLst>
          <pc:docMk/>
          <pc:sldMk cId="2909594694" sldId="307"/>
        </pc:sldMkLst>
      </pc:sldChg>
      <pc:sldChg chg="add">
        <pc:chgData name="Abdelrahman Sayed" userId="532b912a-a378-477b-9da3-1268d2a7b168" providerId="ADAL" clId="{E5570BD6-3C2F-4A90-96F6-CE5DC4192A05}" dt="2025-04-28T12:27:07.828" v="26"/>
        <pc:sldMkLst>
          <pc:docMk/>
          <pc:sldMk cId="996598283" sldId="308"/>
        </pc:sldMkLst>
      </pc:sldChg>
      <pc:sldChg chg="add">
        <pc:chgData name="Abdelrahman Sayed" userId="532b912a-a378-477b-9da3-1268d2a7b168" providerId="ADAL" clId="{E5570BD6-3C2F-4A90-96F6-CE5DC4192A05}" dt="2025-04-28T12:27:07.828" v="26"/>
        <pc:sldMkLst>
          <pc:docMk/>
          <pc:sldMk cId="1252327475" sldId="309"/>
        </pc:sldMkLst>
      </pc:sldChg>
      <pc:sldChg chg="add">
        <pc:chgData name="Abdelrahman Sayed" userId="532b912a-a378-477b-9da3-1268d2a7b168" providerId="ADAL" clId="{E5570BD6-3C2F-4A90-96F6-CE5DC4192A05}" dt="2025-04-28T12:27:07.828" v="26"/>
        <pc:sldMkLst>
          <pc:docMk/>
          <pc:sldMk cId="1101387024" sldId="310"/>
        </pc:sldMkLst>
      </pc:sldChg>
      <pc:sldChg chg="add">
        <pc:chgData name="Abdelrahman Sayed" userId="532b912a-a378-477b-9da3-1268d2a7b168" providerId="ADAL" clId="{E5570BD6-3C2F-4A90-96F6-CE5DC4192A05}" dt="2025-04-28T12:27:07.828" v="26"/>
        <pc:sldMkLst>
          <pc:docMk/>
          <pc:sldMk cId="4289640609" sldId="311"/>
        </pc:sldMkLst>
      </pc:sldChg>
      <pc:sldChg chg="add">
        <pc:chgData name="Abdelrahman Sayed" userId="532b912a-a378-477b-9da3-1268d2a7b168" providerId="ADAL" clId="{E5570BD6-3C2F-4A90-96F6-CE5DC4192A05}" dt="2025-04-28T12:27:07.828" v="26"/>
        <pc:sldMkLst>
          <pc:docMk/>
          <pc:sldMk cId="2877078423" sldId="312"/>
        </pc:sldMkLst>
      </pc:sldChg>
      <pc:sldChg chg="add">
        <pc:chgData name="Abdelrahman Sayed" userId="532b912a-a378-477b-9da3-1268d2a7b168" providerId="ADAL" clId="{E5570BD6-3C2F-4A90-96F6-CE5DC4192A05}" dt="2025-04-28T12:27:07.828" v="26"/>
        <pc:sldMkLst>
          <pc:docMk/>
          <pc:sldMk cId="1951651030" sldId="313"/>
        </pc:sldMkLst>
      </pc:sldChg>
      <pc:sldChg chg="add">
        <pc:chgData name="Abdelrahman Sayed" userId="532b912a-a378-477b-9da3-1268d2a7b168" providerId="ADAL" clId="{E5570BD6-3C2F-4A90-96F6-CE5DC4192A05}" dt="2025-04-28T12:27:07.828" v="26"/>
        <pc:sldMkLst>
          <pc:docMk/>
          <pc:sldMk cId="3167254563" sldId="314"/>
        </pc:sldMkLst>
      </pc:sldChg>
      <pc:sldChg chg="add">
        <pc:chgData name="Abdelrahman Sayed" userId="532b912a-a378-477b-9da3-1268d2a7b168" providerId="ADAL" clId="{E5570BD6-3C2F-4A90-96F6-CE5DC4192A05}" dt="2025-04-28T12:27:07.828" v="26"/>
        <pc:sldMkLst>
          <pc:docMk/>
          <pc:sldMk cId="508331693" sldId="315"/>
        </pc:sldMkLst>
      </pc:sldChg>
      <pc:sldChg chg="add">
        <pc:chgData name="Abdelrahman Sayed" userId="532b912a-a378-477b-9da3-1268d2a7b168" providerId="ADAL" clId="{E5570BD6-3C2F-4A90-96F6-CE5DC4192A05}" dt="2025-04-28T12:27:07.828" v="26"/>
        <pc:sldMkLst>
          <pc:docMk/>
          <pc:sldMk cId="3265938898" sldId="316"/>
        </pc:sldMkLst>
      </pc:sldChg>
      <pc:sldChg chg="add">
        <pc:chgData name="Abdelrahman Sayed" userId="532b912a-a378-477b-9da3-1268d2a7b168" providerId="ADAL" clId="{E5570BD6-3C2F-4A90-96F6-CE5DC4192A05}" dt="2025-04-28T12:27:07.828" v="26"/>
        <pc:sldMkLst>
          <pc:docMk/>
          <pc:sldMk cId="184210466" sldId="317"/>
        </pc:sldMkLst>
      </pc:sldChg>
      <pc:sldChg chg="add">
        <pc:chgData name="Abdelrahman Sayed" userId="532b912a-a378-477b-9da3-1268d2a7b168" providerId="ADAL" clId="{E5570BD6-3C2F-4A90-96F6-CE5DC4192A05}" dt="2025-04-28T12:27:07.828" v="26"/>
        <pc:sldMkLst>
          <pc:docMk/>
          <pc:sldMk cId="2224941276" sldId="318"/>
        </pc:sldMkLst>
      </pc:sldChg>
      <pc:sldChg chg="add del">
        <pc:chgData name="Abdelrahman Sayed" userId="532b912a-a378-477b-9da3-1268d2a7b168" providerId="ADAL" clId="{E5570BD6-3C2F-4A90-96F6-CE5DC4192A05}" dt="2025-04-28T12:44:08.546" v="51" actId="47"/>
        <pc:sldMkLst>
          <pc:docMk/>
          <pc:sldMk cId="1043567515" sldId="319"/>
        </pc:sldMkLst>
      </pc:sldChg>
      <pc:sldChg chg="add del">
        <pc:chgData name="Abdelrahman Sayed" userId="532b912a-a378-477b-9da3-1268d2a7b168" providerId="ADAL" clId="{E5570BD6-3C2F-4A90-96F6-CE5DC4192A05}" dt="2025-04-28T12:30:16.762" v="34" actId="47"/>
        <pc:sldMkLst>
          <pc:docMk/>
          <pc:sldMk cId="2965314641" sldId="320"/>
        </pc:sldMkLst>
      </pc:sldChg>
      <pc:sldChg chg="add del">
        <pc:chgData name="Abdelrahman Sayed" userId="532b912a-a378-477b-9da3-1268d2a7b168" providerId="ADAL" clId="{E5570BD6-3C2F-4A90-96F6-CE5DC4192A05}" dt="2025-04-28T12:30:18.054" v="35" actId="47"/>
        <pc:sldMkLst>
          <pc:docMk/>
          <pc:sldMk cId="4158836534" sldId="321"/>
        </pc:sldMkLst>
      </pc:sldChg>
      <pc:sldChg chg="add del">
        <pc:chgData name="Abdelrahman Sayed" userId="532b912a-a378-477b-9da3-1268d2a7b168" providerId="ADAL" clId="{E5570BD6-3C2F-4A90-96F6-CE5DC4192A05}" dt="2025-04-28T12:30:18.718" v="36" actId="47"/>
        <pc:sldMkLst>
          <pc:docMk/>
          <pc:sldMk cId="3650495175" sldId="322"/>
        </pc:sldMkLst>
      </pc:sldChg>
      <pc:sldChg chg="add del">
        <pc:chgData name="Abdelrahman Sayed" userId="532b912a-a378-477b-9da3-1268d2a7b168" providerId="ADAL" clId="{E5570BD6-3C2F-4A90-96F6-CE5DC4192A05}" dt="2025-04-28T12:30:19.382" v="37" actId="47"/>
        <pc:sldMkLst>
          <pc:docMk/>
          <pc:sldMk cId="1965612128" sldId="323"/>
        </pc:sldMkLst>
      </pc:sldChg>
      <pc:sldChg chg="add del">
        <pc:chgData name="Abdelrahman Sayed" userId="532b912a-a378-477b-9da3-1268d2a7b168" providerId="ADAL" clId="{E5570BD6-3C2F-4A90-96F6-CE5DC4192A05}" dt="2025-04-28T12:30:20.785" v="38" actId="47"/>
        <pc:sldMkLst>
          <pc:docMk/>
          <pc:sldMk cId="3310730100" sldId="324"/>
        </pc:sldMkLst>
      </pc:sldChg>
      <pc:sldChg chg="add">
        <pc:chgData name="Abdelrahman Sayed" userId="532b912a-a378-477b-9da3-1268d2a7b168" providerId="ADAL" clId="{E5570BD6-3C2F-4A90-96F6-CE5DC4192A05}" dt="2025-04-28T12:27:07.828" v="26"/>
        <pc:sldMkLst>
          <pc:docMk/>
          <pc:sldMk cId="2722980021" sldId="325"/>
        </pc:sldMkLst>
      </pc:sldChg>
      <pc:sldChg chg="add">
        <pc:chgData name="Abdelrahman Sayed" userId="532b912a-a378-477b-9da3-1268d2a7b168" providerId="ADAL" clId="{E5570BD6-3C2F-4A90-96F6-CE5DC4192A05}" dt="2025-04-28T12:27:07.828" v="26"/>
        <pc:sldMkLst>
          <pc:docMk/>
          <pc:sldMk cId="199036302" sldId="326"/>
        </pc:sldMkLst>
      </pc:sldChg>
      <pc:sldChg chg="add">
        <pc:chgData name="Abdelrahman Sayed" userId="532b912a-a378-477b-9da3-1268d2a7b168" providerId="ADAL" clId="{E5570BD6-3C2F-4A90-96F6-CE5DC4192A05}" dt="2025-04-28T12:27:07.828" v="26"/>
        <pc:sldMkLst>
          <pc:docMk/>
          <pc:sldMk cId="1388770119" sldId="327"/>
        </pc:sldMkLst>
      </pc:sldChg>
      <pc:sldChg chg="add del">
        <pc:chgData name="Abdelrahman Sayed" userId="532b912a-a378-477b-9da3-1268d2a7b168" providerId="ADAL" clId="{E5570BD6-3C2F-4A90-96F6-CE5DC4192A05}" dt="2025-04-28T12:30:27.743" v="39" actId="47"/>
        <pc:sldMkLst>
          <pc:docMk/>
          <pc:sldMk cId="710908221" sldId="328"/>
        </pc:sldMkLst>
      </pc:sldChg>
      <pc:sldChg chg="add">
        <pc:chgData name="Abdelrahman Sayed" userId="532b912a-a378-477b-9da3-1268d2a7b168" providerId="ADAL" clId="{E5570BD6-3C2F-4A90-96F6-CE5DC4192A05}" dt="2025-04-28T12:27:07.828" v="26"/>
        <pc:sldMkLst>
          <pc:docMk/>
          <pc:sldMk cId="11977972" sldId="329"/>
        </pc:sldMkLst>
      </pc:sldChg>
      <pc:sldChg chg="add">
        <pc:chgData name="Abdelrahman Sayed" userId="532b912a-a378-477b-9da3-1268d2a7b168" providerId="ADAL" clId="{E5570BD6-3C2F-4A90-96F6-CE5DC4192A05}" dt="2025-04-28T12:27:56.940" v="28"/>
        <pc:sldMkLst>
          <pc:docMk/>
          <pc:sldMk cId="3685185432" sldId="330"/>
        </pc:sldMkLst>
      </pc:sldChg>
      <pc:sldChg chg="add">
        <pc:chgData name="Abdelrahman Sayed" userId="532b912a-a378-477b-9da3-1268d2a7b168" providerId="ADAL" clId="{E5570BD6-3C2F-4A90-96F6-CE5DC4192A05}" dt="2025-04-28T12:27:56.940" v="28"/>
        <pc:sldMkLst>
          <pc:docMk/>
          <pc:sldMk cId="2485235756" sldId="331"/>
        </pc:sldMkLst>
      </pc:sldChg>
      <pc:sldChg chg="add">
        <pc:chgData name="Abdelrahman Sayed" userId="532b912a-a378-477b-9da3-1268d2a7b168" providerId="ADAL" clId="{E5570BD6-3C2F-4A90-96F6-CE5DC4192A05}" dt="2025-04-28T12:27:56.940" v="28"/>
        <pc:sldMkLst>
          <pc:docMk/>
          <pc:sldMk cId="3858480885" sldId="332"/>
        </pc:sldMkLst>
      </pc:sldChg>
      <pc:sldChg chg="add">
        <pc:chgData name="Abdelrahman Sayed" userId="532b912a-a378-477b-9da3-1268d2a7b168" providerId="ADAL" clId="{E5570BD6-3C2F-4A90-96F6-CE5DC4192A05}" dt="2025-04-28T12:27:56.940" v="28"/>
        <pc:sldMkLst>
          <pc:docMk/>
          <pc:sldMk cId="3051029945" sldId="333"/>
        </pc:sldMkLst>
      </pc:sldChg>
      <pc:sldChg chg="add">
        <pc:chgData name="Abdelrahman Sayed" userId="532b912a-a378-477b-9da3-1268d2a7b168" providerId="ADAL" clId="{E5570BD6-3C2F-4A90-96F6-CE5DC4192A05}" dt="2025-04-28T12:27:56.940" v="28"/>
        <pc:sldMkLst>
          <pc:docMk/>
          <pc:sldMk cId="2694860833" sldId="334"/>
        </pc:sldMkLst>
      </pc:sldChg>
      <pc:sldChg chg="add del">
        <pc:chgData name="Abdelrahman Sayed" userId="532b912a-a378-477b-9da3-1268d2a7b168" providerId="ADAL" clId="{E5570BD6-3C2F-4A90-96F6-CE5DC4192A05}" dt="2025-04-28T12:32:12.958" v="46" actId="47"/>
        <pc:sldMkLst>
          <pc:docMk/>
          <pc:sldMk cId="1571112385" sldId="335"/>
        </pc:sldMkLst>
      </pc:sldChg>
      <pc:sldChg chg="add">
        <pc:chgData name="Abdelrahman Sayed" userId="532b912a-a378-477b-9da3-1268d2a7b168" providerId="ADAL" clId="{E5570BD6-3C2F-4A90-96F6-CE5DC4192A05}" dt="2025-04-28T12:27:56.940" v="28"/>
        <pc:sldMkLst>
          <pc:docMk/>
          <pc:sldMk cId="1703908943" sldId="336"/>
        </pc:sldMkLst>
      </pc:sldChg>
      <pc:sldChg chg="add">
        <pc:chgData name="Abdelrahman Sayed" userId="532b912a-a378-477b-9da3-1268d2a7b168" providerId="ADAL" clId="{E5570BD6-3C2F-4A90-96F6-CE5DC4192A05}" dt="2025-04-28T12:27:56.940" v="28"/>
        <pc:sldMkLst>
          <pc:docMk/>
          <pc:sldMk cId="497267184" sldId="338"/>
        </pc:sldMkLst>
      </pc:sldChg>
      <pc:sldChg chg="modSp add mod">
        <pc:chgData name="Abdelrahman Sayed" userId="532b912a-a378-477b-9da3-1268d2a7b168" providerId="ADAL" clId="{E5570BD6-3C2F-4A90-96F6-CE5DC4192A05}" dt="2025-04-28T12:30:37.371" v="40" actId="20577"/>
        <pc:sldMkLst>
          <pc:docMk/>
          <pc:sldMk cId="1631926116" sldId="356"/>
        </pc:sldMkLst>
        <pc:spChg chg="mod">
          <ac:chgData name="Abdelrahman Sayed" userId="532b912a-a378-477b-9da3-1268d2a7b168" providerId="ADAL" clId="{E5570BD6-3C2F-4A90-96F6-CE5DC4192A05}" dt="2025-04-28T12:30:37.371" v="40" actId="20577"/>
          <ac:spMkLst>
            <pc:docMk/>
            <pc:sldMk cId="1631926116" sldId="356"/>
            <ac:spMk id="2" creationId="{3812F1E7-3F9E-8D4B-68DF-8497149914CC}"/>
          </ac:spMkLst>
        </pc:spChg>
      </pc:sldChg>
      <pc:sldChg chg="add del">
        <pc:chgData name="Abdelrahman Sayed" userId="532b912a-a378-477b-9da3-1268d2a7b168" providerId="ADAL" clId="{E5570BD6-3C2F-4A90-96F6-CE5DC4192A05}" dt="2025-04-28T12:30:43.201" v="41" actId="47"/>
        <pc:sldMkLst>
          <pc:docMk/>
          <pc:sldMk cId="4100476151" sldId="454"/>
        </pc:sldMkLst>
      </pc:sldChg>
      <pc:sldChg chg="add">
        <pc:chgData name="Abdelrahman Sayed" userId="532b912a-a378-477b-9da3-1268d2a7b168" providerId="ADAL" clId="{E5570BD6-3C2F-4A90-96F6-CE5DC4192A05}" dt="2025-04-28T12:27:34.551" v="27"/>
        <pc:sldMkLst>
          <pc:docMk/>
          <pc:sldMk cId="3579043618" sldId="455"/>
        </pc:sldMkLst>
      </pc:sldChg>
      <pc:sldChg chg="add">
        <pc:chgData name="Abdelrahman Sayed" userId="532b912a-a378-477b-9da3-1268d2a7b168" providerId="ADAL" clId="{E5570BD6-3C2F-4A90-96F6-CE5DC4192A05}" dt="2025-04-28T12:27:34.551" v="27"/>
        <pc:sldMkLst>
          <pc:docMk/>
          <pc:sldMk cId="2166483052" sldId="485"/>
        </pc:sldMkLst>
      </pc:sldChg>
      <pc:sldChg chg="add">
        <pc:chgData name="Abdelrahman Sayed" userId="532b912a-a378-477b-9da3-1268d2a7b168" providerId="ADAL" clId="{E5570BD6-3C2F-4A90-96F6-CE5DC4192A05}" dt="2025-04-28T12:27:34.551" v="27"/>
        <pc:sldMkLst>
          <pc:docMk/>
          <pc:sldMk cId="1798724992" sldId="518"/>
        </pc:sldMkLst>
      </pc:sldChg>
      <pc:sldChg chg="add">
        <pc:chgData name="Abdelrahman Sayed" userId="532b912a-a378-477b-9da3-1268d2a7b168" providerId="ADAL" clId="{E5570BD6-3C2F-4A90-96F6-CE5DC4192A05}" dt="2025-04-28T12:27:34.551" v="27"/>
        <pc:sldMkLst>
          <pc:docMk/>
          <pc:sldMk cId="959717049" sldId="519"/>
        </pc:sldMkLst>
      </pc:sldChg>
      <pc:sldChg chg="add">
        <pc:chgData name="Abdelrahman Sayed" userId="532b912a-a378-477b-9da3-1268d2a7b168" providerId="ADAL" clId="{E5570BD6-3C2F-4A90-96F6-CE5DC4192A05}" dt="2025-04-28T12:27:34.551" v="27"/>
        <pc:sldMkLst>
          <pc:docMk/>
          <pc:sldMk cId="642188375" sldId="520"/>
        </pc:sldMkLst>
      </pc:sldChg>
      <pc:sldChg chg="add">
        <pc:chgData name="Abdelrahman Sayed" userId="532b912a-a378-477b-9da3-1268d2a7b168" providerId="ADAL" clId="{E5570BD6-3C2F-4A90-96F6-CE5DC4192A05}" dt="2025-04-28T12:27:34.551" v="27"/>
        <pc:sldMkLst>
          <pc:docMk/>
          <pc:sldMk cId="1990481398" sldId="521"/>
        </pc:sldMkLst>
      </pc:sldChg>
      <pc:sldChg chg="add">
        <pc:chgData name="Abdelrahman Sayed" userId="532b912a-a378-477b-9da3-1268d2a7b168" providerId="ADAL" clId="{E5570BD6-3C2F-4A90-96F6-CE5DC4192A05}" dt="2025-04-28T12:27:34.551" v="27"/>
        <pc:sldMkLst>
          <pc:docMk/>
          <pc:sldMk cId="3813357987" sldId="522"/>
        </pc:sldMkLst>
      </pc:sldChg>
      <pc:sldChg chg="add">
        <pc:chgData name="Abdelrahman Sayed" userId="532b912a-a378-477b-9da3-1268d2a7b168" providerId="ADAL" clId="{E5570BD6-3C2F-4A90-96F6-CE5DC4192A05}" dt="2025-04-28T12:27:34.551" v="27"/>
        <pc:sldMkLst>
          <pc:docMk/>
          <pc:sldMk cId="1293646057" sldId="523"/>
        </pc:sldMkLst>
      </pc:sldChg>
      <pc:sldChg chg="add">
        <pc:chgData name="Abdelrahman Sayed" userId="532b912a-a378-477b-9da3-1268d2a7b168" providerId="ADAL" clId="{E5570BD6-3C2F-4A90-96F6-CE5DC4192A05}" dt="2025-04-28T12:27:34.551" v="27"/>
        <pc:sldMkLst>
          <pc:docMk/>
          <pc:sldMk cId="1417137281" sldId="525"/>
        </pc:sldMkLst>
      </pc:sldChg>
      <pc:sldChg chg="add">
        <pc:chgData name="Abdelrahman Sayed" userId="532b912a-a378-477b-9da3-1268d2a7b168" providerId="ADAL" clId="{E5570BD6-3C2F-4A90-96F6-CE5DC4192A05}" dt="2025-04-28T12:27:34.551" v="27"/>
        <pc:sldMkLst>
          <pc:docMk/>
          <pc:sldMk cId="1928855011" sldId="526"/>
        </pc:sldMkLst>
      </pc:sldChg>
      <pc:sldChg chg="add">
        <pc:chgData name="Abdelrahman Sayed" userId="532b912a-a378-477b-9da3-1268d2a7b168" providerId="ADAL" clId="{E5570BD6-3C2F-4A90-96F6-CE5DC4192A05}" dt="2025-04-28T12:27:34.551" v="27"/>
        <pc:sldMkLst>
          <pc:docMk/>
          <pc:sldMk cId="3042847887" sldId="527"/>
        </pc:sldMkLst>
      </pc:sldChg>
      <pc:sldChg chg="add">
        <pc:chgData name="Abdelrahman Sayed" userId="532b912a-a378-477b-9da3-1268d2a7b168" providerId="ADAL" clId="{E5570BD6-3C2F-4A90-96F6-CE5DC4192A05}" dt="2025-04-28T12:27:34.551" v="27"/>
        <pc:sldMkLst>
          <pc:docMk/>
          <pc:sldMk cId="3121531995" sldId="528"/>
        </pc:sldMkLst>
      </pc:sldChg>
      <pc:sldChg chg="add">
        <pc:chgData name="Abdelrahman Sayed" userId="532b912a-a378-477b-9da3-1268d2a7b168" providerId="ADAL" clId="{E5570BD6-3C2F-4A90-96F6-CE5DC4192A05}" dt="2025-04-28T12:27:34.551" v="27"/>
        <pc:sldMkLst>
          <pc:docMk/>
          <pc:sldMk cId="738063986" sldId="529"/>
        </pc:sldMkLst>
      </pc:sldChg>
      <pc:sldChg chg="add">
        <pc:chgData name="Abdelrahman Sayed" userId="532b912a-a378-477b-9da3-1268d2a7b168" providerId="ADAL" clId="{E5570BD6-3C2F-4A90-96F6-CE5DC4192A05}" dt="2025-04-28T12:27:34.551" v="27"/>
        <pc:sldMkLst>
          <pc:docMk/>
          <pc:sldMk cId="175086642" sldId="530"/>
        </pc:sldMkLst>
      </pc:sldChg>
      <pc:sldChg chg="add">
        <pc:chgData name="Abdelrahman Sayed" userId="532b912a-a378-477b-9da3-1268d2a7b168" providerId="ADAL" clId="{E5570BD6-3C2F-4A90-96F6-CE5DC4192A05}" dt="2025-04-28T12:27:34.551" v="27"/>
        <pc:sldMkLst>
          <pc:docMk/>
          <pc:sldMk cId="2616164939" sldId="531"/>
        </pc:sldMkLst>
      </pc:sldChg>
      <pc:sldChg chg="add">
        <pc:chgData name="Abdelrahman Sayed" userId="532b912a-a378-477b-9da3-1268d2a7b168" providerId="ADAL" clId="{E5570BD6-3C2F-4A90-96F6-CE5DC4192A05}" dt="2025-04-28T12:27:34.551" v="27"/>
        <pc:sldMkLst>
          <pc:docMk/>
          <pc:sldMk cId="1809510737" sldId="532"/>
        </pc:sldMkLst>
      </pc:sldChg>
      <pc:sldChg chg="add">
        <pc:chgData name="Abdelrahman Sayed" userId="532b912a-a378-477b-9da3-1268d2a7b168" providerId="ADAL" clId="{E5570BD6-3C2F-4A90-96F6-CE5DC4192A05}" dt="2025-04-28T12:27:34.551" v="27"/>
        <pc:sldMkLst>
          <pc:docMk/>
          <pc:sldMk cId="3257237966" sldId="533"/>
        </pc:sldMkLst>
      </pc:sldChg>
      <pc:sldChg chg="add">
        <pc:chgData name="Abdelrahman Sayed" userId="532b912a-a378-477b-9da3-1268d2a7b168" providerId="ADAL" clId="{E5570BD6-3C2F-4A90-96F6-CE5DC4192A05}" dt="2025-04-28T12:27:34.551" v="27"/>
        <pc:sldMkLst>
          <pc:docMk/>
          <pc:sldMk cId="1442886957" sldId="534"/>
        </pc:sldMkLst>
      </pc:sldChg>
      <pc:sldChg chg="add">
        <pc:chgData name="Abdelrahman Sayed" userId="532b912a-a378-477b-9da3-1268d2a7b168" providerId="ADAL" clId="{E5570BD6-3C2F-4A90-96F6-CE5DC4192A05}" dt="2025-04-28T12:27:34.551" v="27"/>
        <pc:sldMkLst>
          <pc:docMk/>
          <pc:sldMk cId="3402914256" sldId="535"/>
        </pc:sldMkLst>
      </pc:sldChg>
      <pc:sldChg chg="add">
        <pc:chgData name="Abdelrahman Sayed" userId="532b912a-a378-477b-9da3-1268d2a7b168" providerId="ADAL" clId="{E5570BD6-3C2F-4A90-96F6-CE5DC4192A05}" dt="2025-04-28T12:27:34.551" v="27"/>
        <pc:sldMkLst>
          <pc:docMk/>
          <pc:sldMk cId="2966296313" sldId="537"/>
        </pc:sldMkLst>
      </pc:sldChg>
      <pc:sldChg chg="add">
        <pc:chgData name="Abdelrahman Sayed" userId="532b912a-a378-477b-9da3-1268d2a7b168" providerId="ADAL" clId="{E5570BD6-3C2F-4A90-96F6-CE5DC4192A05}" dt="2025-04-28T12:27:34.551" v="27"/>
        <pc:sldMkLst>
          <pc:docMk/>
          <pc:sldMk cId="3283011286" sldId="538"/>
        </pc:sldMkLst>
      </pc:sldChg>
      <pc:sldChg chg="add del">
        <pc:chgData name="Abdelrahman Sayed" userId="532b912a-a378-477b-9da3-1268d2a7b168" providerId="ADAL" clId="{E5570BD6-3C2F-4A90-96F6-CE5DC4192A05}" dt="2025-04-28T12:31:09.527" v="42" actId="47"/>
        <pc:sldMkLst>
          <pc:docMk/>
          <pc:sldMk cId="565155478" sldId="539"/>
        </pc:sldMkLst>
      </pc:sldChg>
      <pc:sldChg chg="add">
        <pc:chgData name="Abdelrahman Sayed" userId="532b912a-a378-477b-9da3-1268d2a7b168" providerId="ADAL" clId="{E5570BD6-3C2F-4A90-96F6-CE5DC4192A05}" dt="2025-04-28T12:27:34.551" v="27"/>
        <pc:sldMkLst>
          <pc:docMk/>
          <pc:sldMk cId="3434259486" sldId="540"/>
        </pc:sldMkLst>
      </pc:sldChg>
      <pc:sldChg chg="modSp add del mod">
        <pc:chgData name="Abdelrahman Sayed" userId="532b912a-a378-477b-9da3-1268d2a7b168" providerId="ADAL" clId="{E5570BD6-3C2F-4A90-96F6-CE5DC4192A05}" dt="2025-04-28T12:26:39.505" v="25"/>
        <pc:sldMkLst>
          <pc:docMk/>
          <pc:sldMk cId="2763930953" sldId="2274"/>
        </pc:sldMkLst>
        <pc:spChg chg="mod">
          <ac:chgData name="Abdelrahman Sayed" userId="532b912a-a378-477b-9da3-1268d2a7b168" providerId="ADAL" clId="{E5570BD6-3C2F-4A90-96F6-CE5DC4192A05}" dt="2025-04-28T12:25:36.930" v="1" actId="27636"/>
          <ac:spMkLst>
            <pc:docMk/>
            <pc:sldMk cId="2763930953" sldId="2274"/>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554054480" sldId="2275"/>
        </pc:sldMkLst>
        <pc:spChg chg="mod">
          <ac:chgData name="Abdelrahman Sayed" userId="532b912a-a378-477b-9da3-1268d2a7b168" providerId="ADAL" clId="{E5570BD6-3C2F-4A90-96F6-CE5DC4192A05}" dt="2025-04-28T12:25:36.948" v="2" actId="27636"/>
          <ac:spMkLst>
            <pc:docMk/>
            <pc:sldMk cId="1554054480" sldId="2275"/>
            <ac:spMk id="18" creationId="{00000000-0000-0000-0000-000000000000}"/>
          </ac:spMkLst>
        </pc:spChg>
      </pc:sldChg>
      <pc:sldChg chg="add del">
        <pc:chgData name="Abdelrahman Sayed" userId="532b912a-a378-477b-9da3-1268d2a7b168" providerId="ADAL" clId="{E5570BD6-3C2F-4A90-96F6-CE5DC4192A05}" dt="2025-04-28T12:26:39.505" v="25"/>
        <pc:sldMkLst>
          <pc:docMk/>
          <pc:sldMk cId="588819519" sldId="2276"/>
        </pc:sldMkLst>
      </pc:sldChg>
      <pc:sldChg chg="modSp add del mod">
        <pc:chgData name="Abdelrahman Sayed" userId="532b912a-a378-477b-9da3-1268d2a7b168" providerId="ADAL" clId="{E5570BD6-3C2F-4A90-96F6-CE5DC4192A05}" dt="2025-04-28T12:26:39.505" v="25"/>
        <pc:sldMkLst>
          <pc:docMk/>
          <pc:sldMk cId="939054881" sldId="2277"/>
        </pc:sldMkLst>
        <pc:spChg chg="mod">
          <ac:chgData name="Abdelrahman Sayed" userId="532b912a-a378-477b-9da3-1268d2a7b168" providerId="ADAL" clId="{E5570BD6-3C2F-4A90-96F6-CE5DC4192A05}" dt="2025-04-28T12:25:36.968" v="3" actId="27636"/>
          <ac:spMkLst>
            <pc:docMk/>
            <pc:sldMk cId="939054881" sldId="2277"/>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435477257" sldId="2279"/>
        </pc:sldMkLst>
        <pc:spChg chg="mod">
          <ac:chgData name="Abdelrahman Sayed" userId="532b912a-a378-477b-9da3-1268d2a7b168" providerId="ADAL" clId="{E5570BD6-3C2F-4A90-96F6-CE5DC4192A05}" dt="2025-04-28T12:25:36.978" v="4" actId="27636"/>
          <ac:spMkLst>
            <pc:docMk/>
            <pc:sldMk cId="1435477257" sldId="2279"/>
            <ac:spMk id="18" creationId="{00000000-0000-0000-0000-000000000000}"/>
          </ac:spMkLst>
        </pc:spChg>
      </pc:sldChg>
      <pc:sldChg chg="add del">
        <pc:chgData name="Abdelrahman Sayed" userId="532b912a-a378-477b-9da3-1268d2a7b168" providerId="ADAL" clId="{E5570BD6-3C2F-4A90-96F6-CE5DC4192A05}" dt="2025-04-28T12:26:39.505" v="25"/>
        <pc:sldMkLst>
          <pc:docMk/>
          <pc:sldMk cId="3107324137" sldId="2280"/>
        </pc:sldMkLst>
      </pc:sldChg>
      <pc:sldChg chg="modSp add del mod">
        <pc:chgData name="Abdelrahman Sayed" userId="532b912a-a378-477b-9da3-1268d2a7b168" providerId="ADAL" clId="{E5570BD6-3C2F-4A90-96F6-CE5DC4192A05}" dt="2025-04-28T12:26:39.505" v="25"/>
        <pc:sldMkLst>
          <pc:docMk/>
          <pc:sldMk cId="3428440539" sldId="2282"/>
        </pc:sldMkLst>
        <pc:spChg chg="mod">
          <ac:chgData name="Abdelrahman Sayed" userId="532b912a-a378-477b-9da3-1268d2a7b168" providerId="ADAL" clId="{E5570BD6-3C2F-4A90-96F6-CE5DC4192A05}" dt="2025-04-28T12:25:36.978" v="5" actId="27636"/>
          <ac:spMkLst>
            <pc:docMk/>
            <pc:sldMk cId="3428440539" sldId="2282"/>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338994297" sldId="2283"/>
        </pc:sldMkLst>
        <pc:spChg chg="mod">
          <ac:chgData name="Abdelrahman Sayed" userId="532b912a-a378-477b-9da3-1268d2a7b168" providerId="ADAL" clId="{E5570BD6-3C2F-4A90-96F6-CE5DC4192A05}" dt="2025-04-28T12:25:36.995" v="6" actId="27636"/>
          <ac:spMkLst>
            <pc:docMk/>
            <pc:sldMk cId="1338994297" sldId="2283"/>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178436011" sldId="2285"/>
        </pc:sldMkLst>
        <pc:spChg chg="mod">
          <ac:chgData name="Abdelrahman Sayed" userId="532b912a-a378-477b-9da3-1268d2a7b168" providerId="ADAL" clId="{E5570BD6-3C2F-4A90-96F6-CE5DC4192A05}" dt="2025-04-28T12:25:37.010" v="8" actId="27636"/>
          <ac:spMkLst>
            <pc:docMk/>
            <pc:sldMk cId="1178436011" sldId="2285"/>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291166871" sldId="2286"/>
        </pc:sldMkLst>
        <pc:spChg chg="mod">
          <ac:chgData name="Abdelrahman Sayed" userId="532b912a-a378-477b-9da3-1268d2a7b168" providerId="ADAL" clId="{E5570BD6-3C2F-4A90-96F6-CE5DC4192A05}" dt="2025-04-28T12:25:37.026" v="9" actId="27636"/>
          <ac:spMkLst>
            <pc:docMk/>
            <pc:sldMk cId="291166871" sldId="2286"/>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2777238901" sldId="2287"/>
        </pc:sldMkLst>
        <pc:spChg chg="mod">
          <ac:chgData name="Abdelrahman Sayed" userId="532b912a-a378-477b-9da3-1268d2a7b168" providerId="ADAL" clId="{E5570BD6-3C2F-4A90-96F6-CE5DC4192A05}" dt="2025-04-28T12:25:37.026" v="10" actId="27636"/>
          <ac:spMkLst>
            <pc:docMk/>
            <pc:sldMk cId="2777238901" sldId="2287"/>
            <ac:spMk id="18" creationId="{00000000-0000-0000-0000-000000000000}"/>
          </ac:spMkLst>
        </pc:spChg>
      </pc:sldChg>
      <pc:sldChg chg="add del">
        <pc:chgData name="Abdelrahman Sayed" userId="532b912a-a378-477b-9da3-1268d2a7b168" providerId="ADAL" clId="{E5570BD6-3C2F-4A90-96F6-CE5DC4192A05}" dt="2025-04-28T12:26:39.505" v="25"/>
        <pc:sldMkLst>
          <pc:docMk/>
          <pc:sldMk cId="1268641048" sldId="2288"/>
        </pc:sldMkLst>
      </pc:sldChg>
      <pc:sldChg chg="modSp add del mod">
        <pc:chgData name="Abdelrahman Sayed" userId="532b912a-a378-477b-9da3-1268d2a7b168" providerId="ADAL" clId="{E5570BD6-3C2F-4A90-96F6-CE5DC4192A05}" dt="2025-04-28T12:26:39.505" v="25"/>
        <pc:sldMkLst>
          <pc:docMk/>
          <pc:sldMk cId="1410715764" sldId="2290"/>
        </pc:sldMkLst>
        <pc:spChg chg="mod">
          <ac:chgData name="Abdelrahman Sayed" userId="532b912a-a378-477b-9da3-1268d2a7b168" providerId="ADAL" clId="{E5570BD6-3C2F-4A90-96F6-CE5DC4192A05}" dt="2025-04-28T12:25:37.042" v="12" actId="27636"/>
          <ac:spMkLst>
            <pc:docMk/>
            <pc:sldMk cId="1410715764" sldId="2290"/>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947314782" sldId="2292"/>
        </pc:sldMkLst>
        <pc:spChg chg="mod">
          <ac:chgData name="Abdelrahman Sayed" userId="532b912a-a378-477b-9da3-1268d2a7b168" providerId="ADAL" clId="{E5570BD6-3C2F-4A90-96F6-CE5DC4192A05}" dt="2025-04-28T12:25:37.073" v="14" actId="27636"/>
          <ac:spMkLst>
            <pc:docMk/>
            <pc:sldMk cId="1947314782" sldId="2292"/>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719169349" sldId="2293"/>
        </pc:sldMkLst>
        <pc:spChg chg="mod">
          <ac:chgData name="Abdelrahman Sayed" userId="532b912a-a378-477b-9da3-1268d2a7b168" providerId="ADAL" clId="{E5570BD6-3C2F-4A90-96F6-CE5DC4192A05}" dt="2025-04-28T12:25:37.089" v="15" actId="27636"/>
          <ac:spMkLst>
            <pc:docMk/>
            <pc:sldMk cId="719169349" sldId="2293"/>
            <ac:spMk id="18" creationId="{00000000-0000-0000-0000-000000000000}"/>
          </ac:spMkLst>
        </pc:spChg>
      </pc:sldChg>
      <pc:sldChg chg="add del">
        <pc:chgData name="Abdelrahman Sayed" userId="532b912a-a378-477b-9da3-1268d2a7b168" providerId="ADAL" clId="{E5570BD6-3C2F-4A90-96F6-CE5DC4192A05}" dt="2025-04-28T12:26:39.505" v="25"/>
        <pc:sldMkLst>
          <pc:docMk/>
          <pc:sldMk cId="779643560" sldId="2294"/>
        </pc:sldMkLst>
      </pc:sldChg>
      <pc:sldChg chg="modSp add del mod">
        <pc:chgData name="Abdelrahman Sayed" userId="532b912a-a378-477b-9da3-1268d2a7b168" providerId="ADAL" clId="{E5570BD6-3C2F-4A90-96F6-CE5DC4192A05}" dt="2025-04-28T12:26:39.505" v="25"/>
        <pc:sldMkLst>
          <pc:docMk/>
          <pc:sldMk cId="919425528" sldId="2295"/>
        </pc:sldMkLst>
        <pc:spChg chg="mod">
          <ac:chgData name="Abdelrahman Sayed" userId="532b912a-a378-477b-9da3-1268d2a7b168" providerId="ADAL" clId="{E5570BD6-3C2F-4A90-96F6-CE5DC4192A05}" dt="2025-04-28T12:25:37.089" v="16" actId="27636"/>
          <ac:spMkLst>
            <pc:docMk/>
            <pc:sldMk cId="919425528" sldId="2295"/>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783070421" sldId="2296"/>
        </pc:sldMkLst>
        <pc:spChg chg="mod">
          <ac:chgData name="Abdelrahman Sayed" userId="532b912a-a378-477b-9da3-1268d2a7b168" providerId="ADAL" clId="{E5570BD6-3C2F-4A90-96F6-CE5DC4192A05}" dt="2025-04-28T12:25:37.105" v="17" actId="27636"/>
          <ac:spMkLst>
            <pc:docMk/>
            <pc:sldMk cId="1783070421" sldId="2296"/>
            <ac:spMk id="18" creationId="{00000000-0000-0000-0000-000000000000}"/>
          </ac:spMkLst>
        </pc:spChg>
      </pc:sldChg>
      <pc:sldChg chg="add del">
        <pc:chgData name="Abdelrahman Sayed" userId="532b912a-a378-477b-9da3-1268d2a7b168" providerId="ADAL" clId="{E5570BD6-3C2F-4A90-96F6-CE5DC4192A05}" dt="2025-04-28T12:26:39.505" v="25"/>
        <pc:sldMkLst>
          <pc:docMk/>
          <pc:sldMk cId="4101125405" sldId="2297"/>
        </pc:sldMkLst>
      </pc:sldChg>
      <pc:sldChg chg="modSp add del mod">
        <pc:chgData name="Abdelrahman Sayed" userId="532b912a-a378-477b-9da3-1268d2a7b168" providerId="ADAL" clId="{E5570BD6-3C2F-4A90-96F6-CE5DC4192A05}" dt="2025-04-28T12:40:38.441" v="47" actId="47"/>
        <pc:sldMkLst>
          <pc:docMk/>
          <pc:sldMk cId="2443106814" sldId="2298"/>
        </pc:sldMkLst>
      </pc:sldChg>
      <pc:sldChg chg="add del">
        <pc:chgData name="Abdelrahman Sayed" userId="532b912a-a378-477b-9da3-1268d2a7b168" providerId="ADAL" clId="{E5570BD6-3C2F-4A90-96F6-CE5DC4192A05}" dt="2025-04-28T12:29:12.982" v="31" actId="47"/>
        <pc:sldMkLst>
          <pc:docMk/>
          <pc:sldMk cId="4104168820" sldId="2299"/>
        </pc:sldMkLst>
      </pc:sldChg>
      <pc:sldChg chg="modSp add del mod">
        <pc:chgData name="Abdelrahman Sayed" userId="532b912a-a378-477b-9da3-1268d2a7b168" providerId="ADAL" clId="{E5570BD6-3C2F-4A90-96F6-CE5DC4192A05}" dt="2025-04-28T12:26:39.505" v="25"/>
        <pc:sldMkLst>
          <pc:docMk/>
          <pc:sldMk cId="3884312822" sldId="2300"/>
        </pc:sldMkLst>
        <pc:spChg chg="mod">
          <ac:chgData name="Abdelrahman Sayed" userId="532b912a-a378-477b-9da3-1268d2a7b168" providerId="ADAL" clId="{E5570BD6-3C2F-4A90-96F6-CE5DC4192A05}" dt="2025-04-28T12:25:37.168" v="23" actId="27636"/>
          <ac:spMkLst>
            <pc:docMk/>
            <pc:sldMk cId="3884312822" sldId="2300"/>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1185881880" sldId="2301"/>
        </pc:sldMkLst>
        <pc:spChg chg="mod">
          <ac:chgData name="Abdelrahman Sayed" userId="532b912a-a378-477b-9da3-1268d2a7b168" providerId="ADAL" clId="{E5570BD6-3C2F-4A90-96F6-CE5DC4192A05}" dt="2025-04-28T12:25:37.152" v="22" actId="27636"/>
          <ac:spMkLst>
            <pc:docMk/>
            <pc:sldMk cId="1185881880" sldId="2301"/>
            <ac:spMk id="18" creationId="{00000000-0000-0000-0000-000000000000}"/>
          </ac:spMkLst>
        </pc:spChg>
      </pc:sldChg>
      <pc:sldChg chg="modSp add del mod">
        <pc:chgData name="Abdelrahman Sayed" userId="532b912a-a378-477b-9da3-1268d2a7b168" providerId="ADAL" clId="{E5570BD6-3C2F-4A90-96F6-CE5DC4192A05}" dt="2025-04-28T12:40:40.352" v="49" actId="47"/>
        <pc:sldMkLst>
          <pc:docMk/>
          <pc:sldMk cId="394561411" sldId="2302"/>
        </pc:sldMkLst>
      </pc:sldChg>
      <pc:sldChg chg="modSp add del mod">
        <pc:chgData name="Abdelrahman Sayed" userId="532b912a-a378-477b-9da3-1268d2a7b168" providerId="ADAL" clId="{E5570BD6-3C2F-4A90-96F6-CE5DC4192A05}" dt="2025-04-28T12:40:39.638" v="48" actId="47"/>
        <pc:sldMkLst>
          <pc:docMk/>
          <pc:sldMk cId="1806566320" sldId="2303"/>
        </pc:sldMkLst>
      </pc:sldChg>
      <pc:sldChg chg="modSp add del mod">
        <pc:chgData name="Abdelrahman Sayed" userId="532b912a-a378-477b-9da3-1268d2a7b168" providerId="ADAL" clId="{E5570BD6-3C2F-4A90-96F6-CE5DC4192A05}" dt="2025-04-28T12:26:39.505" v="25"/>
        <pc:sldMkLst>
          <pc:docMk/>
          <pc:sldMk cId="648580791" sldId="2304"/>
        </pc:sldMkLst>
        <pc:spChg chg="mod">
          <ac:chgData name="Abdelrahman Sayed" userId="532b912a-a378-477b-9da3-1268d2a7b168" providerId="ADAL" clId="{E5570BD6-3C2F-4A90-96F6-CE5DC4192A05}" dt="2025-04-28T12:25:36.998" v="7" actId="27636"/>
          <ac:spMkLst>
            <pc:docMk/>
            <pc:sldMk cId="648580791" sldId="2304"/>
            <ac:spMk id="18" creationId="{00000000-0000-0000-0000-000000000000}"/>
          </ac:spMkLst>
        </pc:spChg>
      </pc:sldChg>
      <pc:sldChg chg="modSp add del mod">
        <pc:chgData name="Abdelrahman Sayed" userId="532b912a-a378-477b-9da3-1268d2a7b168" providerId="ADAL" clId="{E5570BD6-3C2F-4A90-96F6-CE5DC4192A05}" dt="2025-05-05T11:35:56.914" v="55" actId="47"/>
        <pc:sldMkLst>
          <pc:docMk/>
          <pc:sldMk cId="3877451519" sldId="2306"/>
        </pc:sldMkLst>
      </pc:sldChg>
      <pc:sldChg chg="modSp add del mod">
        <pc:chgData name="Abdelrahman Sayed" userId="532b912a-a378-477b-9da3-1268d2a7b168" providerId="ADAL" clId="{E5570BD6-3C2F-4A90-96F6-CE5DC4192A05}" dt="2025-04-28T12:26:39.505" v="25"/>
        <pc:sldMkLst>
          <pc:docMk/>
          <pc:sldMk cId="2779616323" sldId="2309"/>
        </pc:sldMkLst>
        <pc:spChg chg="mod">
          <ac:chgData name="Abdelrahman Sayed" userId="532b912a-a378-477b-9da3-1268d2a7b168" providerId="ADAL" clId="{E5570BD6-3C2F-4A90-96F6-CE5DC4192A05}" dt="2025-04-28T12:25:37.057" v="13" actId="27636"/>
          <ac:spMkLst>
            <pc:docMk/>
            <pc:sldMk cId="2779616323" sldId="2309"/>
            <ac:spMk id="18" creationId="{00000000-0000-0000-0000-000000000000}"/>
          </ac:spMkLst>
        </pc:spChg>
      </pc:sldChg>
      <pc:sldChg chg="modSp add del mod">
        <pc:chgData name="Abdelrahman Sayed" userId="532b912a-a378-477b-9da3-1268d2a7b168" providerId="ADAL" clId="{E5570BD6-3C2F-4A90-96F6-CE5DC4192A05}" dt="2025-04-28T12:26:39.505" v="25"/>
        <pc:sldMkLst>
          <pc:docMk/>
          <pc:sldMk cId="2664966650" sldId="2310"/>
        </pc:sldMkLst>
        <pc:spChg chg="mod">
          <ac:chgData name="Abdelrahman Sayed" userId="532b912a-a378-477b-9da3-1268d2a7b168" providerId="ADAL" clId="{E5570BD6-3C2F-4A90-96F6-CE5DC4192A05}" dt="2025-04-28T12:25:37.042" v="11" actId="27636"/>
          <ac:spMkLst>
            <pc:docMk/>
            <pc:sldMk cId="2664966650" sldId="2310"/>
            <ac:spMk id="18" creationId="{00000000-0000-0000-0000-000000000000}"/>
          </ac:spMkLst>
        </pc:spChg>
      </pc:sldChg>
      <pc:sldChg chg="modSp add del mod">
        <pc:chgData name="Abdelrahman Sayed" userId="532b912a-a378-477b-9da3-1268d2a7b168" providerId="ADAL" clId="{E5570BD6-3C2F-4A90-96F6-CE5DC4192A05}" dt="2025-04-28T12:41:26.453" v="50" actId="47"/>
        <pc:sldMkLst>
          <pc:docMk/>
          <pc:sldMk cId="285410465" sldId="2134960623"/>
        </pc:sldMkLst>
      </pc:sldChg>
      <pc:sldChg chg="modSp add mod">
        <pc:chgData name="Abdelrahman Sayed" userId="532b912a-a378-477b-9da3-1268d2a7b168" providerId="ADAL" clId="{E5570BD6-3C2F-4A90-96F6-CE5DC4192A05}" dt="2025-04-28T12:31:21.720" v="44" actId="20577"/>
        <pc:sldMkLst>
          <pc:docMk/>
          <pc:sldMk cId="2764837074" sldId="2134960624"/>
        </pc:sldMkLst>
      </pc:sldChg>
      <pc:sldChg chg="add del">
        <pc:chgData name="Abdelrahman Sayed" userId="532b912a-a378-477b-9da3-1268d2a7b168" providerId="ADAL" clId="{E5570BD6-3C2F-4A90-96F6-CE5DC4192A05}" dt="2025-04-28T12:45:20.730" v="52" actId="47"/>
        <pc:sldMkLst>
          <pc:docMk/>
          <pc:sldMk cId="136154336" sldId="2134960625"/>
        </pc:sldMkLst>
      </pc:sldChg>
      <pc:sldChg chg="add">
        <pc:chgData name="Abdelrahman Sayed" userId="532b912a-a378-477b-9da3-1268d2a7b168" providerId="ADAL" clId="{E5570BD6-3C2F-4A90-96F6-CE5DC4192A05}" dt="2025-04-28T12:27:56.940" v="28"/>
        <pc:sldMkLst>
          <pc:docMk/>
          <pc:sldMk cId="755918337" sldId="2134960626"/>
        </pc:sldMkLst>
      </pc:sldChg>
      <pc:sldChg chg="add">
        <pc:chgData name="Abdelrahman Sayed" userId="532b912a-a378-477b-9da3-1268d2a7b168" providerId="ADAL" clId="{E5570BD6-3C2F-4A90-96F6-CE5DC4192A05}" dt="2025-04-28T12:27:56.940" v="28"/>
        <pc:sldMkLst>
          <pc:docMk/>
          <pc:sldMk cId="999626163" sldId="2134960627"/>
        </pc:sldMkLst>
      </pc:sldChg>
      <pc:sldChg chg="add">
        <pc:chgData name="Abdelrahman Sayed" userId="532b912a-a378-477b-9da3-1268d2a7b168" providerId="ADAL" clId="{E5570BD6-3C2F-4A90-96F6-CE5DC4192A05}" dt="2025-04-28T12:27:56.940" v="28"/>
        <pc:sldMkLst>
          <pc:docMk/>
          <pc:sldMk cId="733290597" sldId="2134960628"/>
        </pc:sldMkLst>
      </pc:sldChg>
      <pc:sldChg chg="add">
        <pc:chgData name="Abdelrahman Sayed" userId="532b912a-a378-477b-9da3-1268d2a7b168" providerId="ADAL" clId="{E5570BD6-3C2F-4A90-96F6-CE5DC4192A05}" dt="2025-04-28T12:27:56.940" v="28"/>
        <pc:sldMkLst>
          <pc:docMk/>
          <pc:sldMk cId="357902979" sldId="2134960629"/>
        </pc:sldMkLst>
      </pc:sldChg>
      <pc:sldChg chg="add">
        <pc:chgData name="Abdelrahman Sayed" userId="532b912a-a378-477b-9da3-1268d2a7b168" providerId="ADAL" clId="{E5570BD6-3C2F-4A90-96F6-CE5DC4192A05}" dt="2025-04-28T12:27:56.940" v="28"/>
        <pc:sldMkLst>
          <pc:docMk/>
          <pc:sldMk cId="2237971164" sldId="2134960630"/>
        </pc:sldMkLst>
      </pc:sldChg>
      <pc:sldChg chg="add">
        <pc:chgData name="Abdelrahman Sayed" userId="532b912a-a378-477b-9da3-1268d2a7b168" providerId="ADAL" clId="{E5570BD6-3C2F-4A90-96F6-CE5DC4192A05}" dt="2025-04-28T12:27:56.940" v="28"/>
        <pc:sldMkLst>
          <pc:docMk/>
          <pc:sldMk cId="605256786" sldId="2134960631"/>
        </pc:sldMkLst>
      </pc:sldChg>
      <pc:sldChg chg="add">
        <pc:chgData name="Abdelrahman Sayed" userId="532b912a-a378-477b-9da3-1268d2a7b168" providerId="ADAL" clId="{E5570BD6-3C2F-4A90-96F6-CE5DC4192A05}" dt="2025-04-28T12:27:56.940" v="28"/>
        <pc:sldMkLst>
          <pc:docMk/>
          <pc:sldMk cId="2774735977" sldId="2134960632"/>
        </pc:sldMkLst>
      </pc:sldChg>
      <pc:sldChg chg="add">
        <pc:chgData name="Abdelrahman Sayed" userId="532b912a-a378-477b-9da3-1268d2a7b168" providerId="ADAL" clId="{E5570BD6-3C2F-4A90-96F6-CE5DC4192A05}" dt="2025-04-28T12:27:56.940" v="28"/>
        <pc:sldMkLst>
          <pc:docMk/>
          <pc:sldMk cId="326002892" sldId="2134960633"/>
        </pc:sldMkLst>
      </pc:sldChg>
      <pc:sldChg chg="add">
        <pc:chgData name="Abdelrahman Sayed" userId="532b912a-a378-477b-9da3-1268d2a7b168" providerId="ADAL" clId="{E5570BD6-3C2F-4A90-96F6-CE5DC4192A05}" dt="2025-04-28T12:27:56.940" v="28"/>
        <pc:sldMkLst>
          <pc:docMk/>
          <pc:sldMk cId="2676308960" sldId="2134960634"/>
        </pc:sldMkLst>
      </pc:sldChg>
      <pc:sldChg chg="add">
        <pc:chgData name="Abdelrahman Sayed" userId="532b912a-a378-477b-9da3-1268d2a7b168" providerId="ADAL" clId="{E5570BD6-3C2F-4A90-96F6-CE5DC4192A05}" dt="2025-04-28T12:27:56.940" v="28"/>
        <pc:sldMkLst>
          <pc:docMk/>
          <pc:sldMk cId="3416599405" sldId="2134960635"/>
        </pc:sldMkLst>
      </pc:sldChg>
      <pc:sldChg chg="add">
        <pc:chgData name="Abdelrahman Sayed" userId="532b912a-a378-477b-9da3-1268d2a7b168" providerId="ADAL" clId="{E5570BD6-3C2F-4A90-96F6-CE5DC4192A05}" dt="2025-04-28T12:27:56.940" v="28"/>
        <pc:sldMkLst>
          <pc:docMk/>
          <pc:sldMk cId="1276008714" sldId="2134960636"/>
        </pc:sldMkLst>
      </pc:sldChg>
      <pc:sldChg chg="add">
        <pc:chgData name="Abdelrahman Sayed" userId="532b912a-a378-477b-9da3-1268d2a7b168" providerId="ADAL" clId="{E5570BD6-3C2F-4A90-96F6-CE5DC4192A05}" dt="2025-04-28T12:27:56.940" v="28"/>
        <pc:sldMkLst>
          <pc:docMk/>
          <pc:sldMk cId="358805173" sldId="2134960637"/>
        </pc:sldMkLst>
      </pc:sldChg>
      <pc:sldChg chg="modSp add mod">
        <pc:chgData name="Abdelrahman Sayed" userId="532b912a-a378-477b-9da3-1268d2a7b168" providerId="ADAL" clId="{E5570BD6-3C2F-4A90-96F6-CE5DC4192A05}" dt="2025-04-28T12:31:47.971" v="45" actId="33524"/>
        <pc:sldMkLst>
          <pc:docMk/>
          <pc:sldMk cId="1666321764" sldId="2134960638"/>
        </pc:sldMkLst>
        <pc:spChg chg="mod">
          <ac:chgData name="Abdelrahman Sayed" userId="532b912a-a378-477b-9da3-1268d2a7b168" providerId="ADAL" clId="{E5570BD6-3C2F-4A90-96F6-CE5DC4192A05}" dt="2025-04-28T12:31:47.971" v="45" actId="33524"/>
          <ac:spMkLst>
            <pc:docMk/>
            <pc:sldMk cId="1666321764" sldId="2134960638"/>
            <ac:spMk id="10" creationId="{49D48A9C-1854-4ED8-7B90-7D9C34C5F76B}"/>
          </ac:spMkLst>
        </pc:spChg>
      </pc:sldChg>
      <pc:sldChg chg="add">
        <pc:chgData name="Abdelrahman Sayed" userId="532b912a-a378-477b-9da3-1268d2a7b168" providerId="ADAL" clId="{E5570BD6-3C2F-4A90-96F6-CE5DC4192A05}" dt="2025-04-28T12:27:56.940" v="28"/>
        <pc:sldMkLst>
          <pc:docMk/>
          <pc:sldMk cId="724156284" sldId="2134960639"/>
        </pc:sldMkLst>
      </pc:sldChg>
      <pc:sldChg chg="add">
        <pc:chgData name="Abdelrahman Sayed" userId="532b912a-a378-477b-9da3-1268d2a7b168" providerId="ADAL" clId="{E5570BD6-3C2F-4A90-96F6-CE5DC4192A05}" dt="2025-04-28T12:27:56.940" v="28"/>
        <pc:sldMkLst>
          <pc:docMk/>
          <pc:sldMk cId="3756208204" sldId="2134960640"/>
        </pc:sldMkLst>
      </pc:sldChg>
      <pc:sldChg chg="add">
        <pc:chgData name="Abdelrahman Sayed" userId="532b912a-a378-477b-9da3-1268d2a7b168" providerId="ADAL" clId="{E5570BD6-3C2F-4A90-96F6-CE5DC4192A05}" dt="2025-04-28T12:27:56.940" v="28"/>
        <pc:sldMkLst>
          <pc:docMk/>
          <pc:sldMk cId="1436429731" sldId="2134960641"/>
        </pc:sldMkLst>
      </pc:sldChg>
      <pc:sldChg chg="add">
        <pc:chgData name="Abdelrahman Sayed" userId="532b912a-a378-477b-9da3-1268d2a7b168" providerId="ADAL" clId="{E5570BD6-3C2F-4A90-96F6-CE5DC4192A05}" dt="2025-04-28T12:27:56.940" v="28"/>
        <pc:sldMkLst>
          <pc:docMk/>
          <pc:sldMk cId="3558342580" sldId="2134960642"/>
        </pc:sldMkLst>
      </pc:sldChg>
      <pc:sldChg chg="add">
        <pc:chgData name="Abdelrahman Sayed" userId="532b912a-a378-477b-9da3-1268d2a7b168" providerId="ADAL" clId="{E5570BD6-3C2F-4A90-96F6-CE5DC4192A05}" dt="2025-04-28T12:27:56.940" v="28"/>
        <pc:sldMkLst>
          <pc:docMk/>
          <pc:sldMk cId="651783673" sldId="2134960646"/>
        </pc:sldMkLst>
      </pc:sldChg>
      <pc:sldChg chg="add">
        <pc:chgData name="Abdelrahman Sayed" userId="532b912a-a378-477b-9da3-1268d2a7b168" providerId="ADAL" clId="{E5570BD6-3C2F-4A90-96F6-CE5DC4192A05}" dt="2025-04-28T12:27:56.940" v="28"/>
        <pc:sldMkLst>
          <pc:docMk/>
          <pc:sldMk cId="2824862385" sldId="2134960647"/>
        </pc:sldMkLst>
      </pc:sldChg>
      <pc:sldChg chg="add">
        <pc:chgData name="Abdelrahman Sayed" userId="532b912a-a378-477b-9da3-1268d2a7b168" providerId="ADAL" clId="{E5570BD6-3C2F-4A90-96F6-CE5DC4192A05}" dt="2025-04-28T12:27:56.940" v="28"/>
        <pc:sldMkLst>
          <pc:docMk/>
          <pc:sldMk cId="3372745954" sldId="2134960648"/>
        </pc:sldMkLst>
      </pc:sldChg>
      <pc:sldChg chg="add">
        <pc:chgData name="Abdelrahman Sayed" userId="532b912a-a378-477b-9da3-1268d2a7b168" providerId="ADAL" clId="{E5570BD6-3C2F-4A90-96F6-CE5DC4192A05}" dt="2025-04-28T12:27:56.940" v="28"/>
        <pc:sldMkLst>
          <pc:docMk/>
          <pc:sldMk cId="2574392113" sldId="2134960649"/>
        </pc:sldMkLst>
      </pc:sldChg>
      <pc:sldChg chg="add">
        <pc:chgData name="Abdelrahman Sayed" userId="532b912a-a378-477b-9da3-1268d2a7b168" providerId="ADAL" clId="{E5570BD6-3C2F-4A90-96F6-CE5DC4192A05}" dt="2025-04-28T12:27:56.940" v="28"/>
        <pc:sldMkLst>
          <pc:docMk/>
          <pc:sldMk cId="432554637" sldId="2134960650"/>
        </pc:sldMkLst>
      </pc:sldChg>
      <pc:sldChg chg="add">
        <pc:chgData name="Abdelrahman Sayed" userId="532b912a-a378-477b-9da3-1268d2a7b168" providerId="ADAL" clId="{E5570BD6-3C2F-4A90-96F6-CE5DC4192A05}" dt="2025-04-28T12:27:56.940" v="28"/>
        <pc:sldMkLst>
          <pc:docMk/>
          <pc:sldMk cId="1243979040" sldId="2134960651"/>
        </pc:sldMkLst>
      </pc:sldChg>
      <pc:sldChg chg="add">
        <pc:chgData name="Abdelrahman Sayed" userId="532b912a-a378-477b-9da3-1268d2a7b168" providerId="ADAL" clId="{E5570BD6-3C2F-4A90-96F6-CE5DC4192A05}" dt="2025-04-28T12:27:56.940" v="28"/>
        <pc:sldMkLst>
          <pc:docMk/>
          <pc:sldMk cId="2857480523" sldId="2134960652"/>
        </pc:sldMkLst>
      </pc:sldChg>
      <pc:sldChg chg="modSp add del mod">
        <pc:chgData name="Abdelrahman Sayed" userId="532b912a-a378-477b-9da3-1268d2a7b168" providerId="ADAL" clId="{E5570BD6-3C2F-4A90-96F6-CE5DC4192A05}" dt="2025-05-05T11:36:35.091" v="62" actId="47"/>
        <pc:sldMkLst>
          <pc:docMk/>
          <pc:sldMk cId="2049680796" sldId="2147472945"/>
        </pc:sldMkLst>
      </pc:sldChg>
      <pc:sldChg chg="modSp add mod">
        <pc:chgData name="Abdelrahman Sayed" userId="532b912a-a378-477b-9da3-1268d2a7b168" providerId="ADAL" clId="{E5570BD6-3C2F-4A90-96F6-CE5DC4192A05}" dt="2025-05-05T19:39:21.947" v="82" actId="5793"/>
        <pc:sldMkLst>
          <pc:docMk/>
          <pc:sldMk cId="3115010345" sldId="2147480980"/>
        </pc:sldMkLst>
        <pc:spChg chg="mod">
          <ac:chgData name="Abdelrahman Sayed" userId="532b912a-a378-477b-9da3-1268d2a7b168" providerId="ADAL" clId="{E5570BD6-3C2F-4A90-96F6-CE5DC4192A05}" dt="2025-05-05T19:39:21.947" v="82" actId="5793"/>
          <ac:spMkLst>
            <pc:docMk/>
            <pc:sldMk cId="3115010345" sldId="2147480980"/>
            <ac:spMk id="2" creationId="{9A11617B-3C30-0E8E-1AA5-E9E15C11C17C}"/>
          </ac:spMkLst>
        </pc:spChg>
      </pc:sldChg>
      <pc:sldChg chg="modSp add mod">
        <pc:chgData name="Abdelrahman Sayed" userId="532b912a-a378-477b-9da3-1268d2a7b168" providerId="ADAL" clId="{E5570BD6-3C2F-4A90-96F6-CE5DC4192A05}" dt="2025-05-05T13:49:25.472" v="73" actId="255"/>
        <pc:sldMkLst>
          <pc:docMk/>
          <pc:sldMk cId="57757960" sldId="2147480981"/>
        </pc:sldMkLst>
        <pc:spChg chg="mod">
          <ac:chgData name="Abdelrahman Sayed" userId="532b912a-a378-477b-9da3-1268d2a7b168" providerId="ADAL" clId="{E5570BD6-3C2F-4A90-96F6-CE5DC4192A05}" dt="2025-05-05T11:36:40.217" v="66" actId="20577"/>
          <ac:spMkLst>
            <pc:docMk/>
            <pc:sldMk cId="57757960" sldId="2147480981"/>
            <ac:spMk id="2" creationId="{D5E14A29-67BD-83EE-FD73-FDB530E3B81A}"/>
          </ac:spMkLst>
        </pc:spChg>
        <pc:spChg chg="mod">
          <ac:chgData name="Abdelrahman Sayed" userId="532b912a-a378-477b-9da3-1268d2a7b168" providerId="ADAL" clId="{E5570BD6-3C2F-4A90-96F6-CE5DC4192A05}" dt="2025-05-05T13:49:25.472" v="73" actId="255"/>
          <ac:spMkLst>
            <pc:docMk/>
            <pc:sldMk cId="57757960" sldId="2147480981"/>
            <ac:spMk id="5" creationId="{66F9893F-D22B-552A-7743-13EE790AFB59}"/>
          </ac:spMkLst>
        </pc:spChg>
      </pc:sldChg>
      <pc:sldChg chg="add">
        <pc:chgData name="Abdelrahman Sayed" userId="532b912a-a378-477b-9da3-1268d2a7b168" providerId="ADAL" clId="{E5570BD6-3C2F-4A90-96F6-CE5DC4192A05}" dt="2025-05-05T11:37:08.470" v="67"/>
        <pc:sldMkLst>
          <pc:docMk/>
          <pc:sldMk cId="2794376136" sldId="2147480982"/>
        </pc:sldMkLst>
      </pc:sldChg>
      <pc:sldChg chg="add">
        <pc:chgData name="Abdelrahman Sayed" userId="532b912a-a378-477b-9da3-1268d2a7b168" providerId="ADAL" clId="{E5570BD6-3C2F-4A90-96F6-CE5DC4192A05}" dt="2025-05-05T11:37:08.470" v="67"/>
        <pc:sldMkLst>
          <pc:docMk/>
          <pc:sldMk cId="2079170277" sldId="2147480983"/>
        </pc:sldMkLst>
      </pc:sldChg>
      <pc:sldMasterChg chg="delSldLayout">
        <pc:chgData name="Abdelrahman Sayed" userId="532b912a-a378-477b-9da3-1268d2a7b168" providerId="ADAL" clId="{E5570BD6-3C2F-4A90-96F6-CE5DC4192A05}" dt="2025-04-28T12:26:24.291" v="24" actId="47"/>
        <pc:sldMasterMkLst>
          <pc:docMk/>
          <pc:sldMasterMk cId="928765829" sldId="2147483648"/>
        </pc:sldMasterMkLst>
        <pc:sldLayoutChg chg="del">
          <pc:chgData name="Abdelrahman Sayed" userId="532b912a-a378-477b-9da3-1268d2a7b168" providerId="ADAL" clId="{E5570BD6-3C2F-4A90-96F6-CE5DC4192A05}" dt="2025-04-28T12:26:24.291" v="24" actId="47"/>
          <pc:sldLayoutMkLst>
            <pc:docMk/>
            <pc:sldMasterMk cId="928765829" sldId="2147483648"/>
            <pc:sldLayoutMk cId="4121565356" sldId="2147483660"/>
          </pc:sldLayoutMkLst>
        </pc:sldLayoutChg>
        <pc:sldLayoutChg chg="del">
          <pc:chgData name="Abdelrahman Sayed" userId="532b912a-a378-477b-9da3-1268d2a7b168" providerId="ADAL" clId="{E5570BD6-3C2F-4A90-96F6-CE5DC4192A05}" dt="2025-04-28T12:26:24.291" v="24" actId="47"/>
          <pc:sldLayoutMkLst>
            <pc:docMk/>
            <pc:sldMasterMk cId="928765829" sldId="2147483648"/>
            <pc:sldLayoutMk cId="1273891604" sldId="2147483661"/>
          </pc:sldLayoutMkLst>
        </pc:sldLayoutChg>
        <pc:sldLayoutChg chg="del">
          <pc:chgData name="Abdelrahman Sayed" userId="532b912a-a378-477b-9da3-1268d2a7b168" providerId="ADAL" clId="{E5570BD6-3C2F-4A90-96F6-CE5DC4192A05}" dt="2025-04-28T12:26:24.291" v="24" actId="47"/>
          <pc:sldLayoutMkLst>
            <pc:docMk/>
            <pc:sldMasterMk cId="928765829" sldId="2147483648"/>
            <pc:sldLayoutMk cId="1894147165" sldId="2147483662"/>
          </pc:sldLayoutMkLst>
        </pc:sldLayoutChg>
        <pc:sldLayoutChg chg="del">
          <pc:chgData name="Abdelrahman Sayed" userId="532b912a-a378-477b-9da3-1268d2a7b168" providerId="ADAL" clId="{E5570BD6-3C2F-4A90-96F6-CE5DC4192A05}" dt="2025-04-28T12:26:24.291" v="24" actId="47"/>
          <pc:sldLayoutMkLst>
            <pc:docMk/>
            <pc:sldMasterMk cId="928765829" sldId="2147483648"/>
            <pc:sldLayoutMk cId="166735902" sldId="2147483663"/>
          </pc:sldLayoutMkLst>
        </pc:sldLayoutChg>
      </pc:sldMasterChg>
    </pc:docChg>
  </pc:docChgLst>
  <pc:docChgLst>
    <pc:chgData name="Abdelrahman Sayed" userId="532b912a-a378-477b-9da3-1268d2a7b168" providerId="ADAL" clId="{F40FAF74-E220-437C-A003-14C7A43A0744}"/>
    <pc:docChg chg="undo custSel addSld delSld modSld">
      <pc:chgData name="Abdelrahman Sayed" userId="532b912a-a378-477b-9da3-1268d2a7b168" providerId="ADAL" clId="{F40FAF74-E220-437C-A003-14C7A43A0744}" dt="2025-05-27T09:36:13.837" v="18"/>
      <pc:docMkLst>
        <pc:docMk/>
      </pc:docMkLst>
      <pc:sldChg chg="add del">
        <pc:chgData name="Abdelrahman Sayed" userId="532b912a-a378-477b-9da3-1268d2a7b168" providerId="ADAL" clId="{F40FAF74-E220-437C-A003-14C7A43A0744}" dt="2025-05-20T09:36:00.531" v="13" actId="47"/>
        <pc:sldMkLst>
          <pc:docMk/>
          <pc:sldMk cId="1951651030" sldId="313"/>
        </pc:sldMkLst>
      </pc:sldChg>
      <pc:sldChg chg="add del">
        <pc:chgData name="Abdelrahman Sayed" userId="532b912a-a378-477b-9da3-1268d2a7b168" providerId="ADAL" clId="{F40FAF74-E220-437C-A003-14C7A43A0744}" dt="2025-05-20T09:36:02.752" v="14" actId="47"/>
        <pc:sldMkLst>
          <pc:docMk/>
          <pc:sldMk cId="508331693" sldId="315"/>
        </pc:sldMkLst>
      </pc:sldChg>
      <pc:sldChg chg="del">
        <pc:chgData name="Abdelrahman Sayed" userId="532b912a-a378-477b-9da3-1268d2a7b168" providerId="ADAL" clId="{F40FAF74-E220-437C-A003-14C7A43A0744}" dt="2025-05-20T09:36:18.146" v="15" actId="47"/>
        <pc:sldMkLst>
          <pc:docMk/>
          <pc:sldMk cId="3283011286" sldId="538"/>
        </pc:sldMkLst>
      </pc:sldChg>
      <pc:sldChg chg="del">
        <pc:chgData name="Abdelrahman Sayed" userId="532b912a-a378-477b-9da3-1268d2a7b168" providerId="ADAL" clId="{F40FAF74-E220-437C-A003-14C7A43A0744}" dt="2025-05-14T20:23:10.325" v="8" actId="47"/>
        <pc:sldMkLst>
          <pc:docMk/>
          <pc:sldMk cId="2764837074" sldId="2134960624"/>
        </pc:sldMkLst>
      </pc:sldChg>
      <pc:sldChg chg="modSp mod">
        <pc:chgData name="Abdelrahman Sayed" userId="532b912a-a378-477b-9da3-1268d2a7b168" providerId="ADAL" clId="{F40FAF74-E220-437C-A003-14C7A43A0744}" dt="2025-05-27T09:36:13.837" v="18"/>
        <pc:sldMkLst>
          <pc:docMk/>
          <pc:sldMk cId="57757960" sldId="2147480981"/>
        </pc:sldMkLst>
        <pc:spChg chg="mod">
          <ac:chgData name="Abdelrahman Sayed" userId="532b912a-a378-477b-9da3-1268d2a7b168" providerId="ADAL" clId="{F40FAF74-E220-437C-A003-14C7A43A0744}" dt="2025-05-27T09:36:13.837" v="18"/>
          <ac:spMkLst>
            <pc:docMk/>
            <pc:sldMk cId="57757960" sldId="2147480981"/>
            <ac:spMk id="5" creationId="{66F9893F-D22B-552A-7743-13EE790AFB59}"/>
          </ac:spMkLst>
        </pc:sp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r>
              <a:rPr lang="en-US" dirty="0"/>
              <a:t>Overall Prevalence of Comorbidities </a:t>
            </a:r>
          </a:p>
        </c:rich>
      </c:tx>
      <c:overlay val="0"/>
      <c:spPr>
        <a:noFill/>
        <a:ln>
          <a:noFill/>
        </a:ln>
        <a:effectLst/>
      </c:spPr>
      <c:txPr>
        <a:bodyPr rot="0" spcFirstLastPara="1" vertOverflow="ellipsis" vert="horz" wrap="square" anchor="ctr" anchorCtr="1"/>
        <a:lstStyle/>
        <a:p>
          <a:pPr>
            <a:defRPr sz="1200" b="0" i="0" u="none" strike="noStrike" kern="1200" spc="0" baseline="0">
              <a:solidFill>
                <a:schemeClr val="tx1"/>
              </a:solidFill>
              <a:latin typeface="+mn-lt"/>
              <a:ea typeface="+mn-ea"/>
              <a:cs typeface="+mn-cs"/>
            </a:defRPr>
          </a:pPr>
          <a:endParaRPr lang="en-US"/>
        </a:p>
      </c:txPr>
    </c:title>
    <c:autoTitleDeleted val="0"/>
    <c:plotArea>
      <c:layout>
        <c:manualLayout>
          <c:layoutTarget val="inner"/>
          <c:xMode val="edge"/>
          <c:yMode val="edge"/>
          <c:x val="5.8276308984435921E-2"/>
          <c:y val="0.14186828724342421"/>
          <c:w val="0.93499403106221091"/>
          <c:h val="0.66498346919591222"/>
        </c:manualLayout>
      </c:layout>
      <c:barChart>
        <c:barDir val="col"/>
        <c:grouping val="clustered"/>
        <c:varyColors val="0"/>
        <c:ser>
          <c:idx val="0"/>
          <c:order val="0"/>
          <c:tx>
            <c:strRef>
              <c:f>Sheet1!$B$1</c:f>
              <c:strCache>
                <c:ptCount val="1"/>
                <c:pt idx="0">
                  <c:v>Over all Prevalence of Comorbidities </c:v>
                </c:pt>
              </c:strCache>
            </c:strRef>
          </c:tx>
          <c:spPr>
            <a:solidFill>
              <a:schemeClr val="accent1"/>
            </a:solidFill>
            <a:ln w="19050">
              <a:solidFill>
                <a:schemeClr val="bg1"/>
              </a:solidFill>
            </a:ln>
            <a:effectLst/>
          </c:spPr>
          <c:invertIfNegative val="0"/>
          <c:dLbls>
            <c:dLbl>
              <c:idx val="0"/>
              <c:tx>
                <c:rich>
                  <a:bodyPr/>
                  <a:lstStyle/>
                  <a:p>
                    <a:fld id="{C8CF3760-92C8-46ED-9130-D1A47CD0AB34}"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0-8BA5-4773-9BB8-A335B928733E}"/>
                </c:ext>
              </c:extLst>
            </c:dLbl>
            <c:dLbl>
              <c:idx val="1"/>
              <c:tx>
                <c:rich>
                  <a:bodyPr/>
                  <a:lstStyle/>
                  <a:p>
                    <a:fld id="{DF0DAD93-33E3-4157-AF84-B2EC6DB8078F}"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8BA5-4773-9BB8-A335B928733E}"/>
                </c:ext>
              </c:extLst>
            </c:dLbl>
            <c:dLbl>
              <c:idx val="2"/>
              <c:tx>
                <c:rich>
                  <a:bodyPr/>
                  <a:lstStyle/>
                  <a:p>
                    <a:fld id="{54DCF7DB-6BDF-4F19-8028-A02574B87BAD}"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8BA5-4773-9BB8-A335B928733E}"/>
                </c:ext>
              </c:extLst>
            </c:dLbl>
            <c:dLbl>
              <c:idx val="3"/>
              <c:tx>
                <c:rich>
                  <a:bodyPr/>
                  <a:lstStyle/>
                  <a:p>
                    <a:fld id="{40387E57-E520-4B6E-A48E-8ABA11E3BA30}"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8BA5-4773-9BB8-A335B928733E}"/>
                </c:ext>
              </c:extLst>
            </c:dLbl>
            <c:dLbl>
              <c:idx val="4"/>
              <c:tx>
                <c:rich>
                  <a:bodyPr/>
                  <a:lstStyle/>
                  <a:p>
                    <a:fld id="{78B9FD29-5873-4CEF-9137-B542081F4EE0}"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8BA5-4773-9BB8-A335B928733E}"/>
                </c:ext>
              </c:extLst>
            </c:dLbl>
            <c:dLbl>
              <c:idx val="5"/>
              <c:tx>
                <c:rich>
                  <a:bodyPr/>
                  <a:lstStyle/>
                  <a:p>
                    <a:fld id="{6DFC793E-FE2B-40DE-961A-09C54137D6BE}"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8BA5-4773-9BB8-A335B928733E}"/>
                </c:ext>
              </c:extLst>
            </c:dLbl>
            <c:dLbl>
              <c:idx val="6"/>
              <c:tx>
                <c:rich>
                  <a:bodyPr/>
                  <a:lstStyle/>
                  <a:p>
                    <a:fld id="{A318F175-E083-4029-BC06-0CF2D796375B}"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6-8BA5-4773-9BB8-A335B928733E}"/>
                </c:ext>
              </c:extLst>
            </c:dLbl>
            <c:dLbl>
              <c:idx val="7"/>
              <c:tx>
                <c:rich>
                  <a:bodyPr/>
                  <a:lstStyle/>
                  <a:p>
                    <a:fld id="{034155BE-F3E5-4D55-87D4-43DBB7BFFA9D}"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8BA5-4773-9BB8-A335B928733E}"/>
                </c:ext>
              </c:extLst>
            </c:dLbl>
            <c:dLbl>
              <c:idx val="8"/>
              <c:tx>
                <c:rich>
                  <a:bodyPr/>
                  <a:lstStyle/>
                  <a:p>
                    <a:fld id="{9AFA2D0D-6B55-4009-AFDB-2A7D87B124C0}"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8-8BA5-4773-9BB8-A335B928733E}"/>
                </c:ext>
              </c:extLst>
            </c:dLbl>
            <c:dLbl>
              <c:idx val="9"/>
              <c:tx>
                <c:rich>
                  <a:bodyPr/>
                  <a:lstStyle/>
                  <a:p>
                    <a:fld id="{AD86E036-E209-466B-B257-21F361E7488C}"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9-8BA5-4773-9BB8-A335B928733E}"/>
                </c:ext>
              </c:extLst>
            </c:dLbl>
            <c:dLbl>
              <c:idx val="10"/>
              <c:tx>
                <c:rich>
                  <a:bodyPr/>
                  <a:lstStyle/>
                  <a:p>
                    <a:fld id="{3C49F43B-A18B-49D4-AD0F-0B9B033C19F1}" type="VALUE">
                      <a:rPr lang="en-US" smtClean="0"/>
                      <a:pPr/>
                      <a:t>[VALUE]</a:t>
                    </a:fld>
                    <a:endParaRPr lang="en-US"/>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A-8BA5-4773-9BB8-A335B928733E}"/>
                </c:ext>
              </c:extLst>
            </c:dLbl>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Gastrointestinal
disorder </c:v>
                </c:pt>
                <c:pt idx="1">
                  <c:v>Asthma</c:v>
                </c:pt>
                <c:pt idx="2">
                  <c:v>Hyperuricaemia </c:v>
                </c:pt>
                <c:pt idx="3">
                  <c:v>Osteoporosis </c:v>
                </c:pt>
                <c:pt idx="4">
                  <c:v>Sleep apnoea</c:v>
                </c:pt>
                <c:pt idx="5">
                  <c:v>Hyperlipidaemia </c:v>
                </c:pt>
                <c:pt idx="6">
                  <c:v>Heart failure</c:v>
                </c:pt>
                <c:pt idx="7">
                  <c:v>Hypertension</c:v>
                </c:pt>
                <c:pt idx="8">
                  <c:v>Coronary artery
disease</c:v>
                </c:pt>
                <c:pt idx="9">
                  <c:v>Diabetes </c:v>
                </c:pt>
                <c:pt idx="10">
                  <c:v>Mental
disorder</c:v>
                </c:pt>
              </c:strCache>
            </c:strRef>
          </c:cat>
          <c:val>
            <c:numRef>
              <c:f>Sheet1!$B$2:$B$12</c:f>
              <c:numCache>
                <c:formatCode>General</c:formatCode>
                <c:ptCount val="11"/>
                <c:pt idx="0">
                  <c:v>46.3</c:v>
                </c:pt>
                <c:pt idx="1">
                  <c:v>17.7</c:v>
                </c:pt>
                <c:pt idx="2">
                  <c:v>18.100000000000001</c:v>
                </c:pt>
                <c:pt idx="3">
                  <c:v>15.8</c:v>
                </c:pt>
                <c:pt idx="4">
                  <c:v>10.4</c:v>
                </c:pt>
                <c:pt idx="5">
                  <c:v>42.8</c:v>
                </c:pt>
                <c:pt idx="6">
                  <c:v>9.9</c:v>
                </c:pt>
                <c:pt idx="7">
                  <c:v>56.6</c:v>
                </c:pt>
                <c:pt idx="8">
                  <c:v>17.100000000000001</c:v>
                </c:pt>
                <c:pt idx="9">
                  <c:v>13</c:v>
                </c:pt>
                <c:pt idx="10">
                  <c:v>24.2</c:v>
                </c:pt>
              </c:numCache>
            </c:numRef>
          </c:val>
          <c:extLst>
            <c:ext xmlns:c16="http://schemas.microsoft.com/office/drawing/2014/chart" uri="{C3380CC4-5D6E-409C-BE32-E72D297353CC}">
              <c16:uniqueId val="{0000000B-8BA5-4773-9BB8-A335B928733E}"/>
            </c:ext>
          </c:extLst>
        </c:ser>
        <c:dLbls>
          <c:dLblPos val="outEnd"/>
          <c:showLegendKey val="0"/>
          <c:showVal val="1"/>
          <c:showCatName val="0"/>
          <c:showSerName val="0"/>
          <c:showPercent val="0"/>
          <c:showBubbleSize val="0"/>
        </c:dLbls>
        <c:gapWidth val="90"/>
        <c:axId val="1813917872"/>
        <c:axId val="1813916624"/>
      </c:barChart>
      <c:catAx>
        <c:axId val="1813917872"/>
        <c:scaling>
          <c:orientation val="minMax"/>
        </c:scaling>
        <c:delete val="0"/>
        <c:axPos val="b"/>
        <c:title>
          <c:tx>
            <c:rich>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dirty="0"/>
                  <a:t>Comorbidities</a:t>
                </a:r>
              </a:p>
            </c:rich>
          </c:tx>
          <c:layout>
            <c:manualLayout>
              <c:xMode val="edge"/>
              <c:yMode val="edge"/>
              <c:x val="0.46350606007959921"/>
              <c:y val="0.9209266568738993"/>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low"/>
        <c:spPr>
          <a:noFill/>
          <a:ln w="12700" cap="flat" cmpd="sng" algn="ctr">
            <a:solidFill>
              <a:schemeClr val="bg2"/>
            </a:solidFill>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813916624"/>
        <c:crosses val="autoZero"/>
        <c:auto val="1"/>
        <c:lblAlgn val="ctr"/>
        <c:lblOffset val="100"/>
        <c:noMultiLvlLbl val="0"/>
      </c:catAx>
      <c:valAx>
        <c:axId val="1813916624"/>
        <c:scaling>
          <c:orientation val="minMax"/>
          <c:max val="100"/>
        </c:scaling>
        <c:delete val="0"/>
        <c:axPos val="l"/>
        <c:title>
          <c:tx>
            <c:rich>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r>
                  <a:rPr lang="en-US" b="1" dirty="0"/>
                  <a:t>Percentage of overall prevalence, %</a:t>
                </a:r>
              </a:p>
            </c:rich>
          </c:tx>
          <c:layout>
            <c:manualLayout>
              <c:xMode val="edge"/>
              <c:yMode val="edge"/>
              <c:x val="7.7895052627087414E-3"/>
              <c:y val="0.17470173090205743"/>
            </c:manualLayout>
          </c:layout>
          <c:overlay val="0"/>
          <c:spPr>
            <a:noFill/>
            <a:ln>
              <a:noFill/>
            </a:ln>
            <a:effectLst/>
          </c:spPr>
          <c:txPr>
            <a:bodyPr rot="-5400000" spcFirstLastPara="1" vertOverflow="ellipsis" vert="horz" wrap="square" anchor="ctr" anchorCtr="1"/>
            <a:lstStyle/>
            <a:p>
              <a:pPr>
                <a:defRPr sz="1000" b="1" i="0" u="none" strike="noStrike" kern="1200" baseline="0">
                  <a:solidFill>
                    <a:schemeClr val="tx1"/>
                  </a:solidFill>
                  <a:latin typeface="+mn-lt"/>
                  <a:ea typeface="+mn-ea"/>
                  <a:cs typeface="+mn-cs"/>
                </a:defRPr>
              </a:pPr>
              <a:endParaRPr lang="en-US"/>
            </a:p>
          </c:txPr>
        </c:title>
        <c:numFmt formatCode="General" sourceLinked="1"/>
        <c:majorTickMark val="out"/>
        <c:minorTickMark val="none"/>
        <c:tickLblPos val="nextTo"/>
        <c:spPr>
          <a:noFill/>
          <a:ln w="12700">
            <a:solidFill>
              <a:schemeClr val="bg2"/>
            </a:solidFill>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813917872"/>
        <c:crosses val="autoZero"/>
        <c:crossBetween val="between"/>
        <c:majorUnit val="20"/>
      </c:valAx>
      <c:spPr>
        <a:noFill/>
        <a:ln>
          <a:noFill/>
        </a:ln>
        <a:effectLst/>
      </c:spPr>
    </c:plotArea>
    <c:plotVisOnly val="1"/>
    <c:dispBlanksAs val="gap"/>
    <c:showDLblsOverMax val="0"/>
  </c:chart>
  <c:spPr>
    <a:noFill/>
    <a:ln>
      <a:noFill/>
    </a:ln>
    <a:effectLst/>
  </c:spPr>
  <c:txPr>
    <a:bodyPr/>
    <a:lstStyle/>
    <a:p>
      <a:pPr>
        <a:defRPr sz="1000">
          <a:solidFill>
            <a:schemeClr val="tx1"/>
          </a:solidFill>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4E0671-6614-45CB-8EE8-D72206D46410}" type="datetimeFigureOut">
              <a:rPr lang="en-US" smtClean="0"/>
              <a:t>7/20/2025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6D37B1-E324-4C3E-80F7-BB00336483D8}" type="slidenum">
              <a:rPr lang="en-US" smtClean="0"/>
              <a:t>‹#›</a:t>
            </a:fld>
            <a:endParaRPr lang="en-US"/>
          </a:p>
        </p:txBody>
      </p:sp>
    </p:spTree>
    <p:extLst>
      <p:ext uri="{BB962C8B-B14F-4D97-AF65-F5344CB8AC3E}">
        <p14:creationId xmlns:p14="http://schemas.microsoft.com/office/powerpoint/2010/main" val="5595923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82A2CD6-B926-4896-B2B6-751DF66E7DE3}"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90923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fld id="{953A0CC3-FF33-41F8-9865-2C0277BEC2FF}" type="slidenum">
              <a:rPr lang="en-US" smtClean="0"/>
              <a:t>2</a:t>
            </a:fld>
            <a:endParaRPr lang="en-US"/>
          </a:p>
        </p:txBody>
      </p:sp>
    </p:spTree>
    <p:extLst>
      <p:ext uri="{BB962C8B-B14F-4D97-AF65-F5344CB8AC3E}">
        <p14:creationId xmlns:p14="http://schemas.microsoft.com/office/powerpoint/2010/main" val="934694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16D37B1-E324-4C3E-80F7-BB00336483D8}" type="slidenum">
              <a:rPr lang="en-US" smtClean="0"/>
              <a:t>31</a:t>
            </a:fld>
            <a:endParaRPr lang="en-US"/>
          </a:p>
        </p:txBody>
      </p:sp>
    </p:spTree>
    <p:extLst>
      <p:ext uri="{BB962C8B-B14F-4D97-AF65-F5344CB8AC3E}">
        <p14:creationId xmlns:p14="http://schemas.microsoft.com/office/powerpoint/2010/main" val="579911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err="1">
                <a:solidFill>
                  <a:schemeClr val="tx1"/>
                </a:solidFill>
                <a:effectLst/>
                <a:latin typeface="+mn-lt"/>
                <a:ea typeface="+mn-ea"/>
                <a:cs typeface="+mn-cs"/>
              </a:rPr>
              <a:t>Ensifentrine</a:t>
            </a:r>
            <a:r>
              <a:rPr lang="en-US" sz="1200" b="0" i="0" kern="1200" dirty="0">
                <a:solidFill>
                  <a:schemeClr val="tx1"/>
                </a:solidFill>
                <a:effectLst/>
                <a:latin typeface="+mn-lt"/>
                <a:ea typeface="+mn-ea"/>
                <a:cs typeface="+mn-cs"/>
              </a:rPr>
              <a:t>, sold under the brand name </a:t>
            </a:r>
            <a:r>
              <a:rPr lang="en-US" sz="1200" b="0" i="0" kern="1200" dirty="0" err="1">
                <a:solidFill>
                  <a:schemeClr val="tx1"/>
                </a:solidFill>
                <a:effectLst/>
                <a:latin typeface="+mn-lt"/>
                <a:ea typeface="+mn-ea"/>
                <a:cs typeface="+mn-cs"/>
              </a:rPr>
              <a:t>Ohtuvayre</a:t>
            </a:r>
            <a:r>
              <a:rPr lang="en-US" sz="1200" b="0" i="0" kern="1200" dirty="0">
                <a:solidFill>
                  <a:schemeClr val="tx1"/>
                </a:solidFill>
                <a:effectLst/>
                <a:latin typeface="+mn-lt"/>
                <a:ea typeface="+mn-ea"/>
                <a:cs typeface="+mn-cs"/>
              </a:rPr>
              <a:t>, is a medication used for the treatment </a:t>
            </a:r>
            <a:r>
              <a:rPr lang="en-US" sz="1200" b="1" i="0" kern="1200" dirty="0">
                <a:solidFill>
                  <a:schemeClr val="tx1"/>
                </a:solidFill>
                <a:effectLst/>
                <a:latin typeface="+mn-lt"/>
                <a:ea typeface="+mn-ea"/>
                <a:cs typeface="+mn-cs"/>
              </a:rPr>
              <a:t>of</a:t>
            </a:r>
            <a:r>
              <a:rPr lang="en-US" sz="1200" b="0" i="0" kern="1200" dirty="0">
                <a:solidFill>
                  <a:schemeClr val="tx1"/>
                </a:solidFill>
                <a:effectLst/>
                <a:latin typeface="+mn-lt"/>
                <a:ea typeface="+mn-ea"/>
                <a:cs typeface="+mn-cs"/>
              </a:rPr>
              <a:t> chronic </a:t>
            </a:r>
            <a:r>
              <a:rPr lang="en-US" sz="1200" b="1" i="0" kern="1200" dirty="0">
                <a:solidFill>
                  <a:schemeClr val="tx1"/>
                </a:solidFill>
                <a:effectLst/>
                <a:latin typeface="+mn-lt"/>
                <a:ea typeface="+mn-ea"/>
                <a:cs typeface="+mn-cs"/>
              </a:rPr>
              <a:t>obstructive pulmonary disease (COPD)</a:t>
            </a:r>
            <a:r>
              <a:rPr lang="en-US" sz="1200" b="0" i="0" kern="1200" dirty="0">
                <a:solidFill>
                  <a:schemeClr val="tx1"/>
                </a:solidFill>
                <a:effectLst/>
                <a:latin typeface="+mn-lt"/>
                <a:ea typeface="+mn-ea"/>
                <a:cs typeface="+mn-cs"/>
              </a:rPr>
              <a:t> in adults. It is a phosphodiesterase 3 inhibitor and phosphodiesterase 4 inhibitor. It is given by inhalation. PDE3 inhibitors act as bronchodilators, while PDE4</a:t>
            </a:r>
            <a:endParaRPr lang="en-AU" dirty="0"/>
          </a:p>
        </p:txBody>
      </p:sp>
      <p:sp>
        <p:nvSpPr>
          <p:cNvPr id="4" name="Slide Number Placeholder 3"/>
          <p:cNvSpPr>
            <a:spLocks noGrp="1"/>
          </p:cNvSpPr>
          <p:nvPr>
            <p:ph type="sldNum" sz="quarter" idx="5"/>
          </p:nvPr>
        </p:nvSpPr>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C4763528-C5C1-4D32-83CA-6A8E50456DE3}" type="slidenum">
              <a:rPr kumimoji="0" lang="en-GB" altLang="en-US" sz="1200" b="0" i="0" u="none" strike="noStrike" kern="1200" cap="none" spc="0" normalizeH="0" baseline="0" noProof="0" smtClean="0">
                <a:ln>
                  <a:noFill/>
                </a:ln>
                <a:solidFill>
                  <a:prstClr val="black"/>
                </a:solidFill>
                <a:effectLst/>
                <a:uLnTx/>
                <a:uFillTx/>
                <a:latin typeface="Calibri" panose="020F0502020204030204" pitchFamily="34" charset="0"/>
                <a:ea typeface="+mn-ea"/>
                <a:cs typeface="Arial" panose="020B0604020202020204" pitchFamily="34" charset="0"/>
              </a:rPr>
              <a:pPr marL="0" marR="0" lvl="0" indent="0" algn="r" defTabSz="914400" rtl="0" eaLnBrk="1" fontAlgn="base" latinLnBrk="0" hangingPunct="1">
                <a:lnSpc>
                  <a:spcPct val="100000"/>
                </a:lnSpc>
                <a:spcBef>
                  <a:spcPct val="0"/>
                </a:spcBef>
                <a:spcAft>
                  <a:spcPct val="0"/>
                </a:spcAft>
                <a:buClrTx/>
                <a:buSzTx/>
                <a:buFontTx/>
                <a:buNone/>
                <a:tabLst/>
                <a:defRPr/>
              </a:pPr>
              <a:t>84</a:t>
            </a:fld>
            <a:endParaRPr kumimoji="0" lang="en-GB" altLang="en-US" sz="1200" b="0" i="0" u="none" strike="noStrike" kern="1200" cap="none" spc="0" normalizeH="0" baseline="0" noProof="0">
              <a:ln>
                <a:noFill/>
              </a:ln>
              <a:solidFill>
                <a:prstClr val="black"/>
              </a:solidFill>
              <a:effectLst/>
              <a:uLnTx/>
              <a:uFillTx/>
              <a:latin typeface="Calibri" panose="020F0502020204030204" pitchFamily="34" charset="0"/>
              <a:ea typeface="+mn-ea"/>
              <a:cs typeface="Arial" panose="020B0604020202020204" pitchFamily="34" charset="0"/>
            </a:endParaRPr>
          </a:p>
        </p:txBody>
      </p:sp>
    </p:spTree>
    <p:extLst>
      <p:ext uri="{BB962C8B-B14F-4D97-AF65-F5344CB8AC3E}">
        <p14:creationId xmlns:p14="http://schemas.microsoft.com/office/powerpoint/2010/main" val="24823626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8DA9FCD-D547-4516-828C-98A63C4A9D70}"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98</a:t>
            </a:fld>
            <a:endParaRPr kumimoji="0" lang="en-GB"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06789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5"/>
          </p:nvPr>
        </p:nvSpPr>
        <p:spPr/>
        <p:txBody>
          <a:bodyPr/>
          <a:lstStyle/>
          <a:p>
            <a:fld id="{953A0CC3-FF33-41F8-9865-2C0277BEC2FF}" type="slidenum">
              <a:rPr lang="en-US" smtClean="0"/>
              <a:t>99</a:t>
            </a:fld>
            <a:endParaRPr lang="en-US"/>
          </a:p>
        </p:txBody>
      </p:sp>
    </p:spTree>
    <p:extLst>
      <p:ext uri="{BB962C8B-B14F-4D97-AF65-F5344CB8AC3E}">
        <p14:creationId xmlns:p14="http://schemas.microsoft.com/office/powerpoint/2010/main" val="35808720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slideMaster" Target="../slideMasters/slideMaster2.xml"/><Relationship Id="rId1" Type="http://schemas.openxmlformats.org/officeDocument/2006/relationships/tags" Target="../tags/tag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9.svg"/><Relationship Id="rId2" Type="http://schemas.openxmlformats.org/officeDocument/2006/relationships/slideMaster" Target="../slideMasters/slideMaster2.xml"/><Relationship Id="rId1" Type="http://schemas.openxmlformats.org/officeDocument/2006/relationships/tags" Target="../tags/tag3.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2.xml"/><Relationship Id="rId1" Type="http://schemas.openxmlformats.org/officeDocument/2006/relationships/tags" Target="../tags/tag4.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5.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6.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7.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8.xml"/></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9.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1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11.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2.xml"/><Relationship Id="rId1" Type="http://schemas.openxmlformats.org/officeDocument/2006/relationships/tags" Target="../tags/tag12.xml"/><Relationship Id="rId6" Type="http://schemas.openxmlformats.org/officeDocument/2006/relationships/image" Target="../media/image12.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2.svg"/><Relationship Id="rId2" Type="http://schemas.openxmlformats.org/officeDocument/2006/relationships/slideMaster" Target="../slideMasters/slideMaster2.xml"/><Relationship Id="rId1" Type="http://schemas.openxmlformats.org/officeDocument/2006/relationships/tags" Target="../tags/tag13.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5.svg"/><Relationship Id="rId2" Type="http://schemas.openxmlformats.org/officeDocument/2006/relationships/slideMaster" Target="../slideMasters/slideMaster2.xml"/><Relationship Id="rId1" Type="http://schemas.openxmlformats.org/officeDocument/2006/relationships/tags" Target="../tags/tag14.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Master" Target="../slideMasters/slideMaster2.xml"/><Relationship Id="rId6" Type="http://schemas.openxmlformats.org/officeDocument/2006/relationships/image" Target="../media/image17.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slideMaster" Target="../slideMasters/slideMaster3.xml"/><Relationship Id="rId1" Type="http://schemas.openxmlformats.org/officeDocument/2006/relationships/tags" Target="../tags/tag1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44.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9.svg"/><Relationship Id="rId2" Type="http://schemas.openxmlformats.org/officeDocument/2006/relationships/slideMaster" Target="../slideMasters/slideMaster3.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3.xml"/><Relationship Id="rId1" Type="http://schemas.openxmlformats.org/officeDocument/2006/relationships/tags" Target="../tags/tag18.xml"/></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19.xml"/></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0.xml"/></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1.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2.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3.xml"/></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tags" Target="../tags/tag2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11.svg"/></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26.xml"/><Relationship Id="rId6" Type="http://schemas.openxmlformats.org/officeDocument/2006/relationships/image" Target="../media/image12.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2.svg"/><Relationship Id="rId2" Type="http://schemas.openxmlformats.org/officeDocument/2006/relationships/slideMaster" Target="../slideMasters/slideMaster3.xml"/><Relationship Id="rId1" Type="http://schemas.openxmlformats.org/officeDocument/2006/relationships/tags" Target="../tags/tag27.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1.svg"/><Relationship Id="rId2" Type="http://schemas.openxmlformats.org/officeDocument/2006/relationships/slideMaster" Target="../slideMasters/slideMaster3.xml"/><Relationship Id="rId1" Type="http://schemas.openxmlformats.org/officeDocument/2006/relationships/tags" Target="../tags/tag28.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7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Master" Target="../slideMasters/slideMaster3.xml"/><Relationship Id="rId6" Type="http://schemas.openxmlformats.org/officeDocument/2006/relationships/image" Target="../media/image17.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slideMaster" Target="../slideMasters/slideMaster4.xml"/><Relationship Id="rId1" Type="http://schemas.openxmlformats.org/officeDocument/2006/relationships/tags" Target="../tags/tag3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9.svg"/><Relationship Id="rId2" Type="http://schemas.openxmlformats.org/officeDocument/2006/relationships/slideMaster" Target="../slideMasters/slideMaster4.xml"/><Relationship Id="rId1" Type="http://schemas.openxmlformats.org/officeDocument/2006/relationships/tags" Target="../tags/tag3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4.xml"/><Relationship Id="rId1" Type="http://schemas.openxmlformats.org/officeDocument/2006/relationships/tags" Target="../tags/tag32.xml"/></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3.xml"/></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4.xml"/></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5.xml"/></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6.xml"/></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7.xml"/></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tags" Target="../tags/tag3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4.xml"/><Relationship Id="rId1" Type="http://schemas.openxmlformats.org/officeDocument/2006/relationships/tags" Target="../tags/tag39.xml"/><Relationship Id="rId4" Type="http://schemas.openxmlformats.org/officeDocument/2006/relationships/image" Target="../media/image1.emf"/></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4.xml"/><Relationship Id="rId4" Type="http://schemas.openxmlformats.org/officeDocument/2006/relationships/image" Target="../media/image11.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4.xml"/><Relationship Id="rId1" Type="http://schemas.openxmlformats.org/officeDocument/2006/relationships/tags" Target="../tags/tag40.xml"/><Relationship Id="rId6" Type="http://schemas.openxmlformats.org/officeDocument/2006/relationships/image" Target="../media/image12.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2.svg"/><Relationship Id="rId2" Type="http://schemas.openxmlformats.org/officeDocument/2006/relationships/slideMaster" Target="../slideMasters/slideMaster4.xml"/><Relationship Id="rId1" Type="http://schemas.openxmlformats.org/officeDocument/2006/relationships/tags" Target="../tags/tag41.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5.svg"/><Relationship Id="rId2" Type="http://schemas.openxmlformats.org/officeDocument/2006/relationships/slideMaster" Target="../slideMasters/slideMaster4.xml"/><Relationship Id="rId1" Type="http://schemas.openxmlformats.org/officeDocument/2006/relationships/tags" Target="../tags/tag42.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Master" Target="../slideMasters/slideMaster4.xml"/><Relationship Id="rId6" Type="http://schemas.openxmlformats.org/officeDocument/2006/relationships/image" Target="../media/image17.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png"/><Relationship Id="rId7" Type="http://schemas.openxmlformats.org/officeDocument/2006/relationships/image" Target="../media/image6.svg"/><Relationship Id="rId2" Type="http://schemas.openxmlformats.org/officeDocument/2006/relationships/slideMaster" Target="../slideMasters/slideMaster5.xml"/><Relationship Id="rId1" Type="http://schemas.openxmlformats.org/officeDocument/2006/relationships/tags" Target="../tags/tag4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s>
</file>

<file path=ppt/slideLayouts/_rels/slideLayout107.xml.rels><?xml version="1.0" encoding="UTF-8" standalone="yes"?>
<Relationships xmlns="http://schemas.openxmlformats.org/package/2006/relationships"><Relationship Id="rId3" Type="http://schemas.openxmlformats.org/officeDocument/2006/relationships/oleObject" Target="../embeddings/oleObject3.bin"/><Relationship Id="rId7" Type="http://schemas.openxmlformats.org/officeDocument/2006/relationships/image" Target="../media/image9.svg"/><Relationship Id="rId2" Type="http://schemas.openxmlformats.org/officeDocument/2006/relationships/slideMaster" Target="../slideMasters/slideMaster5.xml"/><Relationship Id="rId1" Type="http://schemas.openxmlformats.org/officeDocument/2006/relationships/tags" Target="../tags/tag4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1.emf"/></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Master" Target="../slideMasters/slideMaster5.xml"/><Relationship Id="rId1" Type="http://schemas.openxmlformats.org/officeDocument/2006/relationships/tags" Target="../tags/tag46.xml"/></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47.xml"/></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48.xml"/></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49.xml"/></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0.xml"/></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1.xml"/></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emf"/></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Master" Target="../slideMasters/slideMaster5.xml"/><Relationship Id="rId4" Type="http://schemas.openxmlformats.org/officeDocument/2006/relationships/image" Target="../media/image11.sv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54.xml"/><Relationship Id="rId6" Type="http://schemas.openxmlformats.org/officeDocument/2006/relationships/image" Target="../media/image12.svg"/><Relationship Id="rId5" Type="http://schemas.openxmlformats.org/officeDocument/2006/relationships/image" Target="../media/image2.png"/><Relationship Id="rId4" Type="http://schemas.openxmlformats.org/officeDocument/2006/relationships/image" Target="../media/image1.emf"/></Relationships>
</file>

<file path=ppt/slideLayouts/_rels/slideLayout133.xml.rels><?xml version="1.0" encoding="UTF-8" standalone="yes"?>
<Relationships xmlns="http://schemas.openxmlformats.org/package/2006/relationships"><Relationship Id="rId3" Type="http://schemas.openxmlformats.org/officeDocument/2006/relationships/image" Target="../media/image13.jpg"/><Relationship Id="rId7" Type="http://schemas.openxmlformats.org/officeDocument/2006/relationships/image" Target="../media/image12.svg"/><Relationship Id="rId2" Type="http://schemas.openxmlformats.org/officeDocument/2006/relationships/slideMaster" Target="../slideMasters/slideMaster5.xml"/><Relationship Id="rId1" Type="http://schemas.openxmlformats.org/officeDocument/2006/relationships/tags" Target="../tags/tag55.xml"/><Relationship Id="rId6" Type="http://schemas.openxmlformats.org/officeDocument/2006/relationships/image" Target="../media/image2.png"/><Relationship Id="rId5" Type="http://schemas.openxmlformats.org/officeDocument/2006/relationships/image" Target="../media/image1.emf"/><Relationship Id="rId4" Type="http://schemas.openxmlformats.org/officeDocument/2006/relationships/oleObject" Target="../embeddings/oleObject5.bin"/></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14.jpg"/><Relationship Id="rId7" Type="http://schemas.openxmlformats.org/officeDocument/2006/relationships/image" Target="../media/image15.svg"/><Relationship Id="rId2" Type="http://schemas.openxmlformats.org/officeDocument/2006/relationships/slideMaster" Target="../slideMasters/slideMaster5.xml"/><Relationship Id="rId1" Type="http://schemas.openxmlformats.org/officeDocument/2006/relationships/tags" Target="../tags/tag56.xml"/><Relationship Id="rId6" Type="http://schemas.openxmlformats.org/officeDocument/2006/relationships/image" Target="../media/image10.png"/><Relationship Id="rId5" Type="http://schemas.openxmlformats.org/officeDocument/2006/relationships/image" Target="../media/image1.emf"/><Relationship Id="rId4" Type="http://schemas.openxmlformats.org/officeDocument/2006/relationships/oleObject" Target="../embeddings/oleObject6.bin"/></Relationships>
</file>

<file path=ppt/slideLayouts/_rels/slideLayout1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6.png"/><Relationship Id="rId1" Type="http://schemas.openxmlformats.org/officeDocument/2006/relationships/slideMaster" Target="../slideMasters/slideMaster5.xml"/><Relationship Id="rId6" Type="http://schemas.openxmlformats.org/officeDocument/2006/relationships/image" Target="../media/image17.svg"/><Relationship Id="rId5" Type="http://schemas.openxmlformats.org/officeDocument/2006/relationships/image" Target="../media/image5.png"/><Relationship Id="rId4" Type="http://schemas.openxmlformats.org/officeDocument/2006/relationships/image" Target="../media/image11.svg"/></Relationships>
</file>

<file path=ppt/slideLayouts/_rels/slideLayout136.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57.xml"/></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6.xml"/><Relationship Id="rId4" Type="http://schemas.openxmlformats.org/officeDocument/2006/relationships/image" Target="../media/image12.svg"/></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jpeg"/><Relationship Id="rId1" Type="http://schemas.openxmlformats.org/officeDocument/2006/relationships/slideMaster" Target="../slideMasters/slideMaster6.xml"/><Relationship Id="rId5" Type="http://schemas.openxmlformats.org/officeDocument/2006/relationships/image" Target="../media/image12.svg"/><Relationship Id="rId4" Type="http://schemas.openxmlformats.org/officeDocument/2006/relationships/image" Target="../media/image2.png"/></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jpeg"/><Relationship Id="rId1" Type="http://schemas.openxmlformats.org/officeDocument/2006/relationships/slideMaster" Target="../slideMasters/slideMaster6.xml"/><Relationship Id="rId4" Type="http://schemas.openxmlformats.org/officeDocument/2006/relationships/image" Target="../media/image12.svg"/></Relationships>
</file>

<file path=ppt/slideLayouts/_rels/slideLayout15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3.jpeg"/><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4.jpeg"/><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5.jpe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6.jpeg"/><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jpeg"/><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6.xml"/><Relationship Id="rId6" Type="http://schemas.openxmlformats.org/officeDocument/2006/relationships/image" Target="../media/image3.svg"/><Relationship Id="rId5" Type="http://schemas.openxmlformats.org/officeDocument/2006/relationships/image" Target="../media/image2.png"/><Relationship Id="rId4" Type="http://schemas.openxmlformats.org/officeDocument/2006/relationships/image" Target="../media/image6.svg"/></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tags" Target="../tags/tag58.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D77CB-28D7-A446-A2B1-7E74016720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9E32F8F-F80A-FCED-52D1-82DF77BBC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F0944E9-809F-C8DA-FD64-2D5133E2F230}"/>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005D304E-3F24-442D-3F7D-64B8356474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1E00A6C-DAF8-A50C-DFA1-5D7053A2DDBD}"/>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91718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27CF02-69A0-F0D2-2D27-901F3646AE8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E876007-BAFA-0FCC-44B1-05CF5988A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561D30-A287-8682-2EE2-49697C372510}"/>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6F56D51B-50F2-4F96-17BF-1BE93441C5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B36494-EF69-6811-8DE5-E6CD61BEBF34}"/>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2954972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14948-520B-8FAB-1709-71746A788B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1D18627-0582-7AC7-B00E-4181D22C63F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43AE7C1-69CB-C874-4689-2D6F747C18A4}"/>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B9FDCFFE-6904-FFCE-8051-1E205EF72C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D2FD6-A5B9-2F5B-D8AB-E3809E46361B}"/>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37323488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A1E76-47A6-7594-1F12-ED269EF2CD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518A94-E2E0-75FB-DEDC-9C53D9548B4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331D58-A00E-BAE7-E8DE-B69AE9D3B65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CC6CB59-7E4F-CA63-AC4F-95C146938B49}"/>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6" name="Footer Placeholder 5">
            <a:extLst>
              <a:ext uri="{FF2B5EF4-FFF2-40B4-BE49-F238E27FC236}">
                <a16:creationId xmlns:a16="http://schemas.microsoft.com/office/drawing/2014/main" id="{A07F771C-DFFA-7B6F-8DEC-F368988AB4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72C6B7-79BD-08A6-FFCB-DD9E74877CA2}"/>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25191962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F0FC8-C906-B5CB-8E13-4B12456799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AEA8F5B-4A29-29BC-653F-49B2449139D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8CB3C26-7D10-1347-CA87-A1C8851E21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B881B4E-B7A6-5585-D2B6-B06253425DD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8A41F2D-5C45-C78D-3ADE-D6835F2C86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541EC63-A791-8C88-E96C-7A15BB6CDE2D}"/>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8" name="Footer Placeholder 7">
            <a:extLst>
              <a:ext uri="{FF2B5EF4-FFF2-40B4-BE49-F238E27FC236}">
                <a16:creationId xmlns:a16="http://schemas.microsoft.com/office/drawing/2014/main" id="{D1F40447-FEE9-D273-0DF7-CE0A540D754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AB55F06-EE38-F691-0A3C-C3CC7501BFE7}"/>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17761058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B577D2-B095-8257-DB2C-712F6C5292D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BAD8754-7CEB-158D-1653-4ABCE925E6A8}"/>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4" name="Footer Placeholder 3">
            <a:extLst>
              <a:ext uri="{FF2B5EF4-FFF2-40B4-BE49-F238E27FC236}">
                <a16:creationId xmlns:a16="http://schemas.microsoft.com/office/drawing/2014/main" id="{55CE5BBB-0E3A-492A-00F2-D9DACD67E9A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A7E798B-9EB7-96BD-AC10-9C6FA58F3A27}"/>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38923486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181E7E-C00E-00AE-B627-ECFE425A144B}"/>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3" name="Footer Placeholder 2">
            <a:extLst>
              <a:ext uri="{FF2B5EF4-FFF2-40B4-BE49-F238E27FC236}">
                <a16:creationId xmlns:a16="http://schemas.microsoft.com/office/drawing/2014/main" id="{06DBFF14-5C32-B077-A251-F544080C94D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9628C5-1146-4502-4552-D4AAF639CF30}"/>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3519316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39899-390D-DABA-4C1E-D7E9E8CE06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4B5C5FB-F1B1-89D5-DA19-E74DFCA5CB9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2CECA04-3A90-B676-79C1-D4D193D7B7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A55239-011E-E2C7-C7E8-2D3AF4CFD154}"/>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6" name="Footer Placeholder 5">
            <a:extLst>
              <a:ext uri="{FF2B5EF4-FFF2-40B4-BE49-F238E27FC236}">
                <a16:creationId xmlns:a16="http://schemas.microsoft.com/office/drawing/2014/main" id="{731524F8-B88C-F7AC-6D73-E3451707100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D1CDB-5C30-470B-9258-59770F1C2AA0}"/>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1879148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88F5D-0F28-23A3-2B06-14A4AA00F12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96B7A06-D454-5E1A-E9E9-EBB61C1C59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A65FBCC-AD61-D0AA-A51C-8EA86E2460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E840B60-930C-048C-5616-1112BFAF5F8C}"/>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6" name="Footer Placeholder 5">
            <a:extLst>
              <a:ext uri="{FF2B5EF4-FFF2-40B4-BE49-F238E27FC236}">
                <a16:creationId xmlns:a16="http://schemas.microsoft.com/office/drawing/2014/main" id="{4F6E5999-2FD6-881E-A2E3-2BAC799FDEA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0B982FE-B864-25C6-22C3-B3231D8A87ED}"/>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30883035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9D4D1A-3057-50D4-5958-20E6207D7BE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233D60-194C-545C-9E85-D56F63E34A7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FD7173E-1F0C-BA8F-5665-F9EF922FAE99}"/>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D0D57FCC-6C0C-1B0E-E2B4-AD722EB134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E865E-50BC-6DC7-58A0-8C7C2980EA24}"/>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26068261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EE6A070-F42D-21B6-9B62-29EC1610A6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1124D8D-49CC-D71A-34B9-AFE6B9C7034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6F23F9-18F4-61B9-36D2-B21A1A6B7B85}"/>
              </a:ext>
            </a:extLst>
          </p:cNvPr>
          <p:cNvSpPr>
            <a:spLocks noGrp="1"/>
          </p:cNvSpPr>
          <p:nvPr>
            <p:ph type="dt" sz="half" idx="10"/>
          </p:nvPr>
        </p:nvSpPr>
        <p:spPr/>
        <p:txBody>
          <a:body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84BA984C-5F49-433C-693B-D994E6E01E8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89C0BD-5F5D-ADA1-58C6-2FA1581F7D6A}"/>
              </a:ext>
            </a:extLst>
          </p:cNvPr>
          <p:cNvSpPr>
            <a:spLocks noGrp="1"/>
          </p:cNvSpPr>
          <p:nvPr>
            <p:ph type="sldNum" sz="quarter" idx="12"/>
          </p:nvPr>
        </p:nvSpPr>
        <p:spPr/>
        <p:txBody>
          <a:bodyPr/>
          <a:lstStyle/>
          <a:p>
            <a:fld id="{91172C16-A3A7-46B6-B6F9-BA381D0222B1}" type="slidenum">
              <a:rPr lang="en-US" smtClean="0"/>
              <a:t>‹#›</a:t>
            </a:fld>
            <a:endParaRPr lang="en-US"/>
          </a:p>
        </p:txBody>
      </p:sp>
    </p:spTree>
    <p:extLst>
      <p:ext uri="{BB962C8B-B14F-4D97-AF65-F5344CB8AC3E}">
        <p14:creationId xmlns:p14="http://schemas.microsoft.com/office/powerpoint/2010/main" val="18395860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1073569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1603838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791027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346B58B4-0D72-4C8B-9355-854FB5782278}" type="datetime4">
              <a:rPr lang="en-GB" smtClean="0"/>
              <a:t>20 July 2025</a:t>
            </a:fld>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1453942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02542794-638D-4328-B0BC-C610FB243ADC}" type="datetime4">
              <a:rPr lang="en-GB" smtClean="0"/>
              <a:t>20 July 2025</a:t>
            </a:fld>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512251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DB124F8D-6A21-41BB-B641-CA493D4F9456}" type="datetime4">
              <a:rPr lang="en-GB" smtClean="0"/>
              <a:t>20 July 2025</a:t>
            </a:fld>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761503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397F4CD0-83C1-4C99-A2BD-6DA4A1CC9D00}" type="datetime4">
              <a:rPr lang="en-GB" smtClean="0"/>
              <a:t>20 July 2025</a:t>
            </a:fld>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7120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5C36D2BF-D8B1-4705-ABD7-209D78E9EBFF}" type="datetime4">
              <a:rPr lang="en-GB" smtClean="0"/>
              <a:t>20 July 2025</a:t>
            </a:fld>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17618489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10548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9AF67FF-E09E-42E7-8CF4-0C88178FECBB}" type="datetime4">
              <a:rPr lang="en-GB"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440634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D2390426-9D2D-4F00-A428-511448A9836C}" type="datetime4">
              <a:rPr lang="en-GB" smtClean="0"/>
              <a:t>20 July 2025</a:t>
            </a:fld>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155219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8E42D3BA-5EF1-4DB6-ACB2-E19A79A4A64E}" type="datetime4">
              <a:rPr lang="en-GB" smtClean="0"/>
              <a:t>20 July 2025</a:t>
            </a:fld>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99975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933037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4974255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E9163369-E20E-4F1F-9100-6DD4DDB346C3}" type="datetime4">
              <a:rPr lang="en-GB"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17988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B729584D-3365-47B8-9AC0-24723AB0A2D0}" type="datetime4">
              <a:rPr lang="en-GB"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49055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50050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E018087B-459D-4729-B449-CCF6702E8E13}" type="datetime4">
              <a:rPr lang="en-GB"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10650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2DC6169B-19DB-4994-BA6B-38503C57DC8A}" type="datetime4">
              <a:rPr lang="en-GB"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928067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D35EAFE1-FE5F-44CC-825D-16EBF058F4AD}" type="datetime4">
              <a:rPr lang="en-GB"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773106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B03DE9E3-FCC4-44C9-9C9C-3C907C61E776}" type="datetime4">
              <a:rPr lang="en-GB"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8660166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1AFB533-57EF-4766-9D87-DAD3C67F4A40}" type="datetime4">
              <a:rPr lang="en-GB"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942790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84741D83-B006-4893-8541-66BA34E08C4B}" type="datetime4">
              <a:rPr lang="en-GB"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pt,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197086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346B58B4-0D72-4C8B-9355-854FB5782278}" type="datetime4">
              <a:rPr lang="en-GB" smtClean="0"/>
              <a:t>20 July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5423020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71B7B165-5683-4F5F-9FF2-907EF7B970C8}" type="datetime4">
              <a:rPr lang="en-GB" smtClean="0"/>
              <a:t>20 July 2025</a:t>
            </a:fld>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6559736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18AF44B5-6D56-4B59-9C1D-2022F9BFF5DA}" type="datetime4">
              <a:rPr lang="en-GB" smtClean="0"/>
              <a:t>20 July 2025</a:t>
            </a:fld>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1059959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3673376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4125599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1694820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3583806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592632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extLst>
      <p:ext uri="{BB962C8B-B14F-4D97-AF65-F5344CB8AC3E}">
        <p14:creationId xmlns:p14="http://schemas.microsoft.com/office/powerpoint/2010/main" val="3713096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2668746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42294649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627C7FBB-646A-4CFA-B1A1-6A2DD4181DD2}" type="datetime3">
              <a:rPr lang="en-US" smtClean="0"/>
              <a:t>20 July 2025</a:t>
            </a:fld>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2123049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F73323AC-6927-468C-807E-2C541DA22A73}" type="datetime3">
              <a:rPr lang="en-US" smtClean="0"/>
              <a:t>20 July 2025</a:t>
            </a:fld>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2075449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74E29449-0070-4F9D-842D-2335964F0FA4}" type="datetime3">
              <a:rPr lang="en-US" smtClean="0"/>
              <a:t>20 July 2025</a:t>
            </a:fld>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177088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CAC2E405-A85D-4629-9CD3-45C8242B97B4}" type="datetime3">
              <a:rPr lang="en-US" smtClean="0"/>
              <a:t>20 July 2025</a:t>
            </a:fld>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8761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2B605EAA-E629-47CE-970A-684E44262BE5}" type="datetime3">
              <a:rPr lang="en-US" smtClean="0"/>
              <a:t>20 July 2025</a:t>
            </a:fld>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515327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08BECE83-09D4-4558-949C-6C3DC0295EBE}" type="datetime3">
              <a:rPr lang="en-US"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1903526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3A0697EB-FE7D-4A96-B26B-3433068F696D}" type="datetime3">
              <a:rPr lang="en-US"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283161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5B571AD1-C972-4735-9224-E6FAF3DEF009}" type="datetime3">
              <a:rPr lang="en-US" smtClean="0"/>
              <a:t>20 July 2025</a:t>
            </a:fld>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417139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30624C29-B7C6-4BEF-8EED-AB4F4FB7DCFA}" type="datetime3">
              <a:rPr lang="en-US" smtClean="0"/>
              <a:t>20 July 2025</a:t>
            </a:fld>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395694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1523189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3DD4CFFC-1F34-4C56-9522-68DAF68ABF2C}"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235008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8A07B7DC-72F4-47F3-8A1D-C4601A7DD5E4}"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07971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A7249912-3E35-4374-925C-CA8B61DEDF3A}"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9014926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418ECC2B-C981-40CB-A209-3EBDDEB2A7BE}"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7428065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16952B2F-83DD-4877-9FE6-4CCF6B39553D}"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936321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A6AAA8A1-7134-48AD-8EBD-44F60D75ECCF}"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51090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948D760C-7B58-46B1-9604-F8BA1EEA1EFD}" type="datetime3">
              <a:rPr lang="en-US"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522264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E4B7EDA9-013F-4A92-BF36-9E227BF56D89}" type="datetime3">
              <a:rPr lang="en-US"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03761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E6136146-8338-4CB0-9A5B-D4110AAC3770}" type="datetime3">
              <a:rPr lang="en-US"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6482093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D4BB802-DBE7-4122-8788-E43AF2987830}" type="datetime3">
              <a:rPr lang="en-US"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pt,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198907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6431ED21-3E82-48A3-9298-8FC0977DC321}" type="datetime3">
              <a:rPr lang="en-US" smtClean="0"/>
              <a:t>20 July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9917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518A3E0D-2FC9-4BC8-B83B-53884301FD47}" type="datetime3">
              <a:rPr lang="en-US" smtClean="0"/>
              <a:t>20 July 2025</a:t>
            </a:fld>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734119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7BDAAE8D-1BEF-4960-8943-99DF77FFD898}" type="datetime3">
              <a:rPr lang="en-US" smtClean="0"/>
              <a:t>20 July 2025</a:t>
            </a:fld>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353533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23074361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2140639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Tree>
    <p:extLst>
      <p:ext uri="{BB962C8B-B14F-4D97-AF65-F5344CB8AC3E}">
        <p14:creationId xmlns:p14="http://schemas.microsoft.com/office/powerpoint/2010/main" val="19887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2666261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3171546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78869" y="409827"/>
            <a:ext cx="10358283" cy="369332"/>
          </a:xfrm>
        </p:spPr>
        <p:txBody>
          <a:bodyPr/>
          <a:lstStyle>
            <a:lvl1pPr>
              <a:defRPr sz="2400"/>
            </a:lvl1pPr>
          </a:lstStyle>
          <a:p>
            <a:r>
              <a:rPr lang="en-US" dirty="0"/>
              <a:t>Click to edit Master heading style</a:t>
            </a:r>
            <a:endParaRPr lang="en-GB" dirty="0"/>
          </a:p>
        </p:txBody>
      </p:sp>
      <p:sp>
        <p:nvSpPr>
          <p:cNvPr id="11" name="Text Placeholder 2"/>
          <p:cNvSpPr>
            <a:spLocks noGrp="1"/>
          </p:cNvSpPr>
          <p:nvPr>
            <p:ph type="body" sz="quarter" idx="29" hasCustomPrompt="1"/>
          </p:nvPr>
        </p:nvSpPr>
        <p:spPr>
          <a:xfrm>
            <a:off x="478869" y="968189"/>
            <a:ext cx="10359460" cy="254159"/>
          </a:xfrm>
          <a:prstGeom prst="rect">
            <a:avLst/>
          </a:prstGeom>
        </p:spPr>
        <p:txBody>
          <a:bodyPr wrap="none" lIns="0" tIns="0" rIns="0" bIns="0" anchor="ctr"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467"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6" name="Date Placeholder 5"/>
          <p:cNvSpPr>
            <a:spLocks noGrp="1"/>
          </p:cNvSpPr>
          <p:nvPr>
            <p:ph type="dt" sz="half" idx="30"/>
          </p:nvPr>
        </p:nvSpPr>
        <p:spPr/>
        <p:txBody>
          <a:bodyPr/>
          <a:lstStyle/>
          <a:p>
            <a:pPr algn="ctr"/>
            <a:fld id="{45A82AA5-1E22-48AB-9869-36CB80FB4AF5}" type="datetime3">
              <a:rPr lang="en-US"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Tree>
    <p:extLst>
      <p:ext uri="{BB962C8B-B14F-4D97-AF65-F5344CB8AC3E}">
        <p14:creationId xmlns:p14="http://schemas.microsoft.com/office/powerpoint/2010/main" val="166083469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471276D8-9BCA-E599-AC83-51649D63EDAB}"/>
              </a:ext>
            </a:extLst>
          </p:cNvPr>
          <p:cNvSpPr/>
          <p:nvPr userDrawn="1"/>
        </p:nvSpPr>
        <p:spPr>
          <a:xfrm>
            <a:off x="4559300" y="6627168"/>
            <a:ext cx="3073400" cy="230832"/>
          </a:xfrm>
          <a:prstGeom prst="rect">
            <a:avLst/>
          </a:prstGeom>
        </p:spPr>
        <p:txBody>
          <a:bodyPr wrap="square">
            <a:spAutoFit/>
          </a:bodyPr>
          <a:lstStyle/>
          <a:p>
            <a:pPr algn="ctr">
              <a:spcAft>
                <a:spcPts val="0"/>
              </a:spcAft>
            </a:pPr>
            <a:r>
              <a:rPr lang="en-US" sz="900" b="1" i="0" spc="100" baseline="0" dirty="0">
                <a:solidFill>
                  <a:schemeClr val="bg1"/>
                </a:solidFill>
              </a:rPr>
              <a:t>For GSK Internal use only</a:t>
            </a:r>
            <a:endParaRPr lang="en-GB" sz="900" b="1" i="0" spc="100" baseline="0" dirty="0">
              <a:solidFill>
                <a:schemeClr val="bg1"/>
              </a:solidFill>
            </a:endParaRPr>
          </a:p>
        </p:txBody>
      </p:sp>
    </p:spTree>
    <p:extLst>
      <p:ext uri="{BB962C8B-B14F-4D97-AF65-F5344CB8AC3E}">
        <p14:creationId xmlns:p14="http://schemas.microsoft.com/office/powerpoint/2010/main" val="39363930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1988483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2540878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688159A2-92A2-47B0-BEB1-3F6A619AEA50}" type="datetime4">
              <a:rPr lang="en-US" smtClean="0"/>
              <a:t>July 20, 2025</a:t>
            </a:fld>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40186224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74BB8971-6175-4DC0-9284-383EEF93CB53}" type="datetime4">
              <a:rPr lang="en-US" smtClean="0"/>
              <a:t>July 20, 2025</a:t>
            </a:fld>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3912942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65156597-5BEC-4E50-B5B8-D2F67FB9A47C}" type="datetime4">
              <a:rPr lang="en-US" smtClean="0"/>
              <a:t>July 20, 2025</a:t>
            </a:fld>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730311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774DBE36-7FEB-45E0-8E9F-91C2DAC33F1F}" type="datetime4">
              <a:rPr lang="en-US" smtClean="0"/>
              <a:t>July 20, 2025</a:t>
            </a:fld>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024714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8CBF46C5-5D4A-40D5-B2AE-AAB6D3BAC947}" type="datetime4">
              <a:rPr lang="en-US" smtClean="0"/>
              <a:t>July 20, 2025</a:t>
            </a:fld>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740764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A2E43FBA-B7FB-40D8-A172-40A8619A5BC1}" type="datetime4">
              <a:rPr lang="en-US" smtClean="0"/>
              <a:t>July 20,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45759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F2DAD468-A897-438D-9C8D-88B067B534C2}" type="datetime4">
              <a:rPr lang="en-US" smtClean="0"/>
              <a:t>July 20,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896849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69946283-2FC6-4C8A-A03B-C9E6963D62C4}" type="datetime4">
              <a:rPr lang="en-US" smtClean="0"/>
              <a:t>July 20, 2025</a:t>
            </a:fld>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493267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45F10D5E-A26C-4669-8452-347BC247B1B3}" type="datetime4">
              <a:rPr lang="en-US" smtClean="0"/>
              <a:t>July 20, 2025</a:t>
            </a:fld>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084625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2964945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71AE42E2-BA30-4945-8B7F-697600EDB297}" type="datetime4">
              <a:rPr lang="en-US" smtClean="0"/>
              <a:t>July 20,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911056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A8F23BCC-7DFC-4521-AA04-BB078DB84143}" type="datetime4">
              <a:rPr lang="en-US" smtClean="0"/>
              <a:t>July 20,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503873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FD284A14-0ABF-4A0E-BF78-AE730294E7FF}" type="datetime4">
              <a:rPr lang="en-US" smtClean="0"/>
              <a:t>July 20,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00950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42BCFEEF-3558-454C-904A-AF44DB876935}" type="datetime4">
              <a:rPr lang="en-US" smtClean="0"/>
              <a:t>July 20,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5879515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33A6AE4D-3B6C-48CE-B194-B74A7688D777}" type="datetime4">
              <a:rPr lang="en-US" smtClean="0"/>
              <a:t>July 20,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733969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63E30C4B-18B7-48ED-8D25-329A32305505}" type="datetime4">
              <a:rPr lang="en-US" smtClean="0"/>
              <a:t>July 20,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731575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DA730A1E-434F-4716-B051-49E9313313C1}" type="datetime4">
              <a:rPr lang="en-US" smtClean="0"/>
              <a:t>July 20,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220371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5F573A93-2902-4245-95A3-556AEDC48BAC}" type="datetime4">
              <a:rPr lang="en-US" smtClean="0"/>
              <a:t>July 20,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4812665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16A2B6FF-939F-455C-A7C8-0080BF998FFC}" type="datetime4">
              <a:rPr lang="en-US" smtClean="0"/>
              <a:t>July 20,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031610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687D9144-FD58-4C93-90CC-7694E648B531}" type="datetime4">
              <a:rPr lang="en-US" smtClean="0"/>
              <a:t>July 20,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pt,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377785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165892D6-8A2C-40D0-97DA-93A72E690505}" type="datetime4">
              <a:rPr lang="en-US" smtClean="0"/>
              <a:t>July 20,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010951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A8895F97-E37F-4A10-8245-7A933A978167}" type="datetime4">
              <a:rPr lang="en-US" smtClean="0"/>
              <a:t>July 20, 2025</a:t>
            </a:fld>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632914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524E9E0A-B2D4-4D00-8003-35F93EDB96F3}" type="datetime4">
              <a:rPr lang="en-US" smtClean="0"/>
              <a:t>July 20, 2025</a:t>
            </a:fld>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101862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216539590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2523982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
        <p:nvSpPr>
          <p:cNvPr id="2" name="Rectangle 1">
            <a:extLst>
              <a:ext uri="{FF2B5EF4-FFF2-40B4-BE49-F238E27FC236}">
                <a16:creationId xmlns:a16="http://schemas.microsoft.com/office/drawing/2014/main" id="{548F8A31-858D-C50C-D7AC-3713BA83E951}"/>
              </a:ext>
            </a:extLst>
          </p:cNvPr>
          <p:cNvSpPr/>
          <p:nvPr userDrawn="1"/>
        </p:nvSpPr>
        <p:spPr>
          <a:xfrm>
            <a:off x="4559300" y="6627168"/>
            <a:ext cx="3073400" cy="215444"/>
          </a:xfrm>
          <a:prstGeom prst="rect">
            <a:avLst/>
          </a:prstGeom>
        </p:spPr>
        <p:txBody>
          <a:bodyPr wrap="square">
            <a:spAutoFit/>
          </a:bodyPr>
          <a:lstStyle/>
          <a:p>
            <a:pPr algn="ctr">
              <a:spcAft>
                <a:spcPts val="0"/>
              </a:spcAft>
            </a:pPr>
            <a:r>
              <a:rPr lang="en-US" sz="800" b="1" i="0" spc="100" baseline="0" dirty="0">
                <a:solidFill>
                  <a:schemeClr val="bg1"/>
                </a:solidFill>
              </a:rPr>
              <a:t>FOR GSK INTERNAL USE ONLY</a:t>
            </a:r>
            <a:endParaRPr lang="en-GB" sz="800" i="0" spc="100" baseline="0" dirty="0">
              <a:solidFill>
                <a:schemeClr val="bg1"/>
              </a:solidFill>
            </a:endParaRPr>
          </a:p>
        </p:txBody>
      </p:sp>
    </p:spTree>
    <p:extLst>
      <p:ext uri="{BB962C8B-B14F-4D97-AF65-F5344CB8AC3E}">
        <p14:creationId xmlns:p14="http://schemas.microsoft.com/office/powerpoint/2010/main" val="1409687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9797996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397129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2892896-0027-443A-D01E-0CE282B3A5CC}"/>
              </a:ext>
            </a:extLst>
          </p:cNvPr>
          <p:cNvGraphicFramePr>
            <a:graphicFrameLocks noChangeAspect="1"/>
          </p:cNvGraphicFramePr>
          <p:nvPr userDrawn="1">
            <p:custDataLst>
              <p:tags r:id="rId1"/>
            </p:custDataLst>
            <p:extLst>
              <p:ext uri="{D42A27DB-BD31-4B8C-83A1-F6EECF244321}">
                <p14:modId xmlns:p14="http://schemas.microsoft.com/office/powerpoint/2010/main" val="86913614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2892896-0027-443A-D01E-0CE282B3A5CC}"/>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9" name="Freeform: Shape 38">
            <a:extLst>
              <a:ext uri="{FF2B5EF4-FFF2-40B4-BE49-F238E27FC236}">
                <a16:creationId xmlns:a16="http://schemas.microsoft.com/office/drawing/2014/main" id="{8ADD59A9-81EE-0DF4-BF97-645E59790906}"/>
              </a:ext>
            </a:extLst>
          </p:cNvPr>
          <p:cNvSpPr>
            <a:spLocks/>
          </p:cNvSpPr>
          <p:nvPr userDrawn="1"/>
        </p:nvSpPr>
        <p:spPr bwMode="auto">
          <a:xfrm>
            <a:off x="0" y="0"/>
            <a:ext cx="12192000" cy="3382710"/>
          </a:xfrm>
          <a:custGeom>
            <a:avLst/>
            <a:gdLst>
              <a:gd name="connsiteX0" fmla="*/ 0 w 12192000"/>
              <a:gd name="connsiteY0" fmla="*/ 0 h 3382710"/>
              <a:gd name="connsiteX1" fmla="*/ 12192000 w 12192000"/>
              <a:gd name="connsiteY1" fmla="*/ 0 h 3382710"/>
              <a:gd name="connsiteX2" fmla="*/ 12192000 w 12192000"/>
              <a:gd name="connsiteY2" fmla="*/ 2525484 h 3382710"/>
              <a:gd name="connsiteX3" fmla="*/ 10930890 w 12192000"/>
              <a:gd name="connsiteY3" fmla="*/ 2525484 h 3382710"/>
              <a:gd name="connsiteX4" fmla="*/ 8755659 w 12192000"/>
              <a:gd name="connsiteY4" fmla="*/ 2525484 h 3382710"/>
              <a:gd name="connsiteX5" fmla="*/ 7004114 w 12192000"/>
              <a:gd name="connsiteY5" fmla="*/ 2525484 h 3382710"/>
              <a:gd name="connsiteX6" fmla="*/ 6113526 w 12192000"/>
              <a:gd name="connsiteY6" fmla="*/ 3366922 h 3382710"/>
              <a:gd name="connsiteX7" fmla="*/ 6078476 w 12192000"/>
              <a:gd name="connsiteY7" fmla="*/ 3366922 h 3382710"/>
              <a:gd name="connsiteX8" fmla="*/ 5187887 w 12192000"/>
              <a:gd name="connsiteY8" fmla="*/ 2525484 h 3382710"/>
              <a:gd name="connsiteX9" fmla="*/ 3436341 w 12192000"/>
              <a:gd name="connsiteY9" fmla="*/ 2525484 h 3382710"/>
              <a:gd name="connsiteX10" fmla="*/ 1261112 w 12192000"/>
              <a:gd name="connsiteY10" fmla="*/ 2525484 h 3382710"/>
              <a:gd name="connsiteX11" fmla="*/ 0 w 12192000"/>
              <a:gd name="connsiteY11" fmla="*/ 2525484 h 33827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3382710">
                <a:moveTo>
                  <a:pt x="0" y="0"/>
                </a:moveTo>
                <a:lnTo>
                  <a:pt x="12192000" y="0"/>
                </a:lnTo>
                <a:lnTo>
                  <a:pt x="12192000" y="2525484"/>
                </a:lnTo>
                <a:lnTo>
                  <a:pt x="10930890" y="2525484"/>
                </a:lnTo>
                <a:lnTo>
                  <a:pt x="8755659" y="2525484"/>
                </a:lnTo>
                <a:lnTo>
                  <a:pt x="7004114" y="2525484"/>
                </a:lnTo>
                <a:cubicBezTo>
                  <a:pt x="6541294" y="2525484"/>
                  <a:pt x="6260783" y="2827046"/>
                  <a:pt x="6113526" y="3366922"/>
                </a:cubicBezTo>
                <a:cubicBezTo>
                  <a:pt x="6106478" y="3387973"/>
                  <a:pt x="6085525" y="3387973"/>
                  <a:pt x="6078476" y="3366922"/>
                </a:cubicBezTo>
                <a:cubicBezTo>
                  <a:pt x="5931221" y="2827046"/>
                  <a:pt x="5650707" y="2525484"/>
                  <a:pt x="5187887" y="2525484"/>
                </a:cubicBezTo>
                <a:lnTo>
                  <a:pt x="3436341" y="2525484"/>
                </a:lnTo>
                <a:lnTo>
                  <a:pt x="1261112" y="2525484"/>
                </a:lnTo>
                <a:lnTo>
                  <a:pt x="0" y="2525484"/>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indent="-285750" algn="l" eaLnBrk="0" fontAlgn="auto" hangingPunct="0">
              <a:spcBef>
                <a:spcPts val="300"/>
              </a:spcBef>
              <a:spcAft>
                <a:spcPts val="300"/>
              </a:spcAft>
              <a:buClr>
                <a:schemeClr val="tx2"/>
              </a:buClr>
              <a:buSzPct val="110000"/>
              <a:buFont typeface="Arial" panose="020B0604020202020204" pitchFamily="34" charset="0"/>
              <a:buChar char="•"/>
            </a:pPr>
            <a:endParaRPr lang="en-GB" sz="1600" kern="0" dirty="0">
              <a:solidFill>
                <a:schemeClr val="tx1"/>
              </a:solidFill>
            </a:endParaRPr>
          </a:p>
        </p:txBody>
      </p:sp>
      <p:sp>
        <p:nvSpPr>
          <p:cNvPr id="17" name="Title 1"/>
          <p:cNvSpPr>
            <a:spLocks noGrp="1"/>
          </p:cNvSpPr>
          <p:nvPr>
            <p:ph type="ctrTitle" hasCustomPrompt="1"/>
          </p:nvPr>
        </p:nvSpPr>
        <p:spPr>
          <a:xfrm>
            <a:off x="520700" y="3940216"/>
            <a:ext cx="11150600" cy="548009"/>
          </a:xfrm>
          <a:prstGeom prst="rect">
            <a:avLst/>
          </a:prstGeom>
        </p:spPr>
        <p:txBody>
          <a:bodyPr vert="horz" anchor="b" anchorCtr="0">
            <a:noAutofit/>
          </a:bodyPr>
          <a:lstStyle>
            <a:lvl1pPr algn="ct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4502943"/>
            <a:ext cx="11150600" cy="475200"/>
          </a:xfrm>
          <a:prstGeom prst="rect">
            <a:avLst/>
          </a:prstGeom>
        </p:spPr>
        <p:txBody>
          <a:bodyPr wrap="square" lIns="0" tIns="0" rIns="0" bIns="0" anchor="t" anchorCtr="0">
            <a:noAutofit/>
          </a:bodyPr>
          <a:lstStyle>
            <a:lvl1pPr marL="0" indent="0" algn="ctr">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24" name="Picture 23" descr="Icon&#10;&#10;Description automatically generated with medium confidence">
            <a:extLst>
              <a:ext uri="{FF2B5EF4-FFF2-40B4-BE49-F238E27FC236}">
                <a16:creationId xmlns:a16="http://schemas.microsoft.com/office/drawing/2014/main" id="{40DDF016-D509-BED0-161C-B51B4CFCB427}"/>
              </a:ext>
            </a:extLst>
          </p:cNvPr>
          <p:cNvPicPr>
            <a:picLocks noChangeAspect="1"/>
          </p:cNvPicPr>
          <p:nvPr userDrawn="1"/>
        </p:nvPicPr>
        <p:blipFill>
          <a:blip r:embed="rId8"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2" name="Rectangle 1">
            <a:extLst>
              <a:ext uri="{FF2B5EF4-FFF2-40B4-BE49-F238E27FC236}">
                <a16:creationId xmlns:a16="http://schemas.microsoft.com/office/drawing/2014/main" id="{471276D8-9BCA-E599-AC83-51649D63EDAB}"/>
              </a:ext>
            </a:extLst>
          </p:cNvPr>
          <p:cNvSpPr/>
          <p:nvPr userDrawn="1"/>
        </p:nvSpPr>
        <p:spPr>
          <a:xfrm>
            <a:off x="4559300" y="6627168"/>
            <a:ext cx="3073400" cy="230832"/>
          </a:xfrm>
          <a:prstGeom prst="rect">
            <a:avLst/>
          </a:prstGeom>
        </p:spPr>
        <p:txBody>
          <a:bodyPr wrap="square">
            <a:spAutoFit/>
          </a:bodyPr>
          <a:lstStyle/>
          <a:p>
            <a:pPr algn="ctr">
              <a:spcAft>
                <a:spcPts val="0"/>
              </a:spcAft>
            </a:pPr>
            <a:r>
              <a:rPr lang="en-US" sz="900" b="1" i="0" spc="100" baseline="0" dirty="0">
                <a:solidFill>
                  <a:schemeClr val="bg1"/>
                </a:solidFill>
              </a:rPr>
              <a:t>FOR GSK INTERNAL USE ONLY</a:t>
            </a:r>
            <a:endParaRPr lang="en-GB" sz="900" b="1" i="0" spc="100" baseline="0" dirty="0">
              <a:solidFill>
                <a:schemeClr val="bg1"/>
              </a:solidFill>
            </a:endParaRPr>
          </a:p>
        </p:txBody>
      </p:sp>
    </p:spTree>
    <p:extLst>
      <p:ext uri="{BB962C8B-B14F-4D97-AF65-F5344CB8AC3E}">
        <p14:creationId xmlns:p14="http://schemas.microsoft.com/office/powerpoint/2010/main" val="3819910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Title Slide (White)">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F30D3666-6EB4-2815-6D2E-EFE946A218AB}"/>
              </a:ext>
            </a:extLst>
          </p:cNvPr>
          <p:cNvGraphicFramePr>
            <a:graphicFrameLocks noChangeAspect="1"/>
          </p:cNvGraphicFramePr>
          <p:nvPr userDrawn="1">
            <p:custDataLst>
              <p:tags r:id="rId1"/>
            </p:custDataLst>
            <p:extLst>
              <p:ext uri="{D42A27DB-BD31-4B8C-83A1-F6EECF244321}">
                <p14:modId xmlns:p14="http://schemas.microsoft.com/office/powerpoint/2010/main" val="222443215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5" name="Object 4" hidden="1">
                        <a:extLst>
                          <a:ext uri="{FF2B5EF4-FFF2-40B4-BE49-F238E27FC236}">
                            <a16:creationId xmlns:a16="http://schemas.microsoft.com/office/drawing/2014/main" id="{F30D3666-6EB4-2815-6D2E-EFE946A218AB}"/>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5" descr="Icon&#10;&#10;Description automatically generated with medium confidence">
            <a:extLst>
              <a:ext uri="{FF2B5EF4-FFF2-40B4-BE49-F238E27FC236}">
                <a16:creationId xmlns:a16="http://schemas.microsoft.com/office/drawing/2014/main" id="{CD0C9FF5-5269-0182-FD37-55478A13B6D1}"/>
              </a:ext>
            </a:extLst>
          </p:cNvPr>
          <p:cNvPicPr>
            <a:picLocks noChangeAspect="1"/>
          </p:cNvPicPr>
          <p:nvPr userDrawn="1"/>
        </p:nvPicPr>
        <p:blipFill>
          <a:blip r:embed="rId5"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
        <p:nvSpPr>
          <p:cNvPr id="11" name="Text Placeholder 8">
            <a:extLst>
              <a:ext uri="{FF2B5EF4-FFF2-40B4-BE49-F238E27FC236}">
                <a16:creationId xmlns:a16="http://schemas.microsoft.com/office/drawing/2014/main" id="{8D015E68-9B94-B2B9-2F33-1D9732CC14B4}"/>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sp>
        <p:nvSpPr>
          <p:cNvPr id="12" name="Freeform: Shape 11">
            <a:extLst>
              <a:ext uri="{FF2B5EF4-FFF2-40B4-BE49-F238E27FC236}">
                <a16:creationId xmlns:a16="http://schemas.microsoft.com/office/drawing/2014/main" id="{458F29C9-8F7E-1D4B-3005-616565FA7753}"/>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5" name="Title 1">
            <a:extLst>
              <a:ext uri="{FF2B5EF4-FFF2-40B4-BE49-F238E27FC236}">
                <a16:creationId xmlns:a16="http://schemas.microsoft.com/office/drawing/2014/main" id="{4DF7007A-5965-5814-8FF8-29077566CBED}"/>
              </a:ext>
            </a:extLst>
          </p:cNvPr>
          <p:cNvSpPr>
            <a:spLocks noGrp="1"/>
          </p:cNvSpPr>
          <p:nvPr>
            <p:ph type="ctrTitle" hasCustomPrompt="1"/>
          </p:nvPr>
        </p:nvSpPr>
        <p:spPr>
          <a:xfrm>
            <a:off x="520700" y="5010784"/>
            <a:ext cx="11150600" cy="548009"/>
          </a:xfrm>
          <a:prstGeom prst="rect">
            <a:avLst/>
          </a:prstGeom>
        </p:spPr>
        <p:txBody>
          <a:bodyPr vert="horz" anchor="b" anchorCtr="0">
            <a:noAutofit/>
          </a:bodyPr>
          <a:lstStyle>
            <a:lvl1pPr>
              <a:lnSpc>
                <a:spcPct val="100000"/>
              </a:lnSpc>
              <a:defRPr sz="3600">
                <a:solidFill>
                  <a:schemeClr val="tx2"/>
                </a:solidFill>
              </a:defRPr>
            </a:lvl1pPr>
          </a:lstStyle>
          <a:p>
            <a:r>
              <a:rPr lang="en-GB" dirty="0"/>
              <a:t>Click to enter presentation title</a:t>
            </a:r>
          </a:p>
        </p:txBody>
      </p:sp>
      <p:sp>
        <p:nvSpPr>
          <p:cNvPr id="16" name="Subtitle 2">
            <a:extLst>
              <a:ext uri="{FF2B5EF4-FFF2-40B4-BE49-F238E27FC236}">
                <a16:creationId xmlns:a16="http://schemas.microsoft.com/office/drawing/2014/main" id="{F6A64F09-F5D8-B6EE-7ED5-2B69A4668CD5}"/>
              </a:ext>
            </a:extLst>
          </p:cNvPr>
          <p:cNvSpPr>
            <a:spLocks noGrp="1"/>
          </p:cNvSpPr>
          <p:nvPr>
            <p:ph type="subTitle" idx="1" hasCustomPrompt="1"/>
          </p:nvPr>
        </p:nvSpPr>
        <p:spPr>
          <a:xfrm>
            <a:off x="520700" y="5558794"/>
            <a:ext cx="11150600" cy="4752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10" name="Rectangle 9">
            <a:extLst>
              <a:ext uri="{FF2B5EF4-FFF2-40B4-BE49-F238E27FC236}">
                <a16:creationId xmlns:a16="http://schemas.microsoft.com/office/drawing/2014/main" id="{1811AA76-84DB-E6D7-7F67-E7CF37FEEDBC}"/>
              </a:ext>
            </a:extLst>
          </p:cNvPr>
          <p:cNvSpPr/>
          <p:nvPr userDrawn="1"/>
        </p:nvSpPr>
        <p:spPr bwMode="auto">
          <a:xfrm>
            <a:off x="11039475" y="6058694"/>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chemeClr val="tx2"/>
                </a:solidFill>
                <a:latin typeface="+mn-lt"/>
              </a:rPr>
              <a:t>gsk.com</a:t>
            </a:r>
          </a:p>
        </p:txBody>
      </p:sp>
      <p:pic>
        <p:nvPicPr>
          <p:cNvPr id="14" name="Graphic 13">
            <a:extLst>
              <a:ext uri="{FF2B5EF4-FFF2-40B4-BE49-F238E27FC236}">
                <a16:creationId xmlns:a16="http://schemas.microsoft.com/office/drawing/2014/main" id="{F8155D66-36CA-D9A7-7EDA-E532E62376F3}"/>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1094470" y="6137672"/>
            <a:ext cx="159543" cy="159543"/>
          </a:xfrm>
          <a:prstGeom prst="rect">
            <a:avLst/>
          </a:prstGeom>
        </p:spPr>
      </p:pic>
    </p:spTree>
    <p:extLst>
      <p:ext uri="{BB962C8B-B14F-4D97-AF65-F5344CB8AC3E}">
        <p14:creationId xmlns:p14="http://schemas.microsoft.com/office/powerpoint/2010/main" val="4274389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Title DIA Slide">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4A717EDF-9AA4-491F-3311-9F14A5CFB89C}"/>
              </a:ext>
            </a:extLst>
          </p:cNvPr>
          <p:cNvSpPr/>
          <p:nvPr userDrawn="1"/>
        </p:nvSpPr>
        <p:spPr bwMode="auto">
          <a:xfrm>
            <a:off x="523973" y="6107998"/>
            <a:ext cx="1806576" cy="505527"/>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Owner</a:t>
            </a:r>
          </a:p>
        </p:txBody>
      </p:sp>
      <p:sp>
        <p:nvSpPr>
          <p:cNvPr id="47" name="Rectangle 46">
            <a:extLst>
              <a:ext uri="{FF2B5EF4-FFF2-40B4-BE49-F238E27FC236}">
                <a16:creationId xmlns:a16="http://schemas.microsoft.com/office/drawing/2014/main" id="{D4AC67F3-7D0E-A071-327B-17B446179DB8}"/>
              </a:ext>
            </a:extLst>
          </p:cNvPr>
          <p:cNvSpPr/>
          <p:nvPr userDrawn="1"/>
        </p:nvSpPr>
        <p:spPr bwMode="auto">
          <a:xfrm>
            <a:off x="523973" y="4557510"/>
            <a:ext cx="1806576" cy="14736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800" b="1" dirty="0">
                <a:solidFill>
                  <a:schemeClr val="tx2"/>
                </a:solidFill>
              </a:rPr>
              <a:t>Objectives</a:t>
            </a:r>
          </a:p>
        </p:txBody>
      </p:sp>
      <p:sp>
        <p:nvSpPr>
          <p:cNvPr id="25" name="Text Placeholder 24">
            <a:extLst>
              <a:ext uri="{FF2B5EF4-FFF2-40B4-BE49-F238E27FC236}">
                <a16:creationId xmlns:a16="http://schemas.microsoft.com/office/drawing/2014/main" id="{4E30BA3B-88CD-41DE-E089-7100E3E52AF4}"/>
              </a:ext>
            </a:extLst>
          </p:cNvPr>
          <p:cNvSpPr>
            <a:spLocks noGrp="1"/>
          </p:cNvSpPr>
          <p:nvPr>
            <p:ph type="body" sz="quarter" idx="13" hasCustomPrompt="1"/>
          </p:nvPr>
        </p:nvSpPr>
        <p:spPr>
          <a:xfrm>
            <a:off x="2407432" y="4557510"/>
            <a:ext cx="9414362" cy="1473605"/>
          </a:xfrm>
          <a:prstGeom prst="rect">
            <a:avLst/>
          </a:prstGeom>
          <a:solidFill>
            <a:schemeClr val="bg1">
              <a:lumMod val="95000"/>
            </a:schemeClr>
          </a:solidFill>
          <a:ln>
            <a:noFill/>
          </a:ln>
        </p:spPr>
        <p:txBody>
          <a:bodyPr wrap="square" lIns="180000" tIns="144000" rIns="18000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31" name="Text Placeholder 30">
            <a:extLst>
              <a:ext uri="{FF2B5EF4-FFF2-40B4-BE49-F238E27FC236}">
                <a16:creationId xmlns:a16="http://schemas.microsoft.com/office/drawing/2014/main" id="{DC6E06B6-BD9A-7A5E-5A90-56308009FF5E}"/>
              </a:ext>
            </a:extLst>
          </p:cNvPr>
          <p:cNvSpPr>
            <a:spLocks noGrp="1"/>
          </p:cNvSpPr>
          <p:nvPr>
            <p:ph type="body" sz="quarter" idx="41" hasCustomPrompt="1"/>
          </p:nvPr>
        </p:nvSpPr>
        <p:spPr>
          <a:xfrm>
            <a:off x="2407432" y="6107998"/>
            <a:ext cx="9414362" cy="505527"/>
          </a:xfrm>
          <a:prstGeom prst="rect">
            <a:avLst/>
          </a:prstGeom>
          <a:solidFill>
            <a:schemeClr val="bg1">
              <a:lumMod val="95000"/>
            </a:schemeClr>
          </a:solidFill>
          <a:ln>
            <a:noFill/>
          </a:ln>
        </p:spPr>
        <p:txBody>
          <a:bodyPr wrap="square" lIns="180000" tIns="72000" rIns="180000" bIns="72000" anchor="ctr" anchorCtr="0">
            <a:noAutofit/>
          </a:bodyPr>
          <a:lstStyle>
            <a:lvl1pPr marL="0" indent="0">
              <a:buFont typeface="+mj-lt"/>
              <a:buNone/>
              <a:defRPr sz="1200"/>
            </a:lvl1pPr>
            <a:lvl2pPr marL="357542" indent="0">
              <a:buNone/>
              <a:defRPr/>
            </a:lvl2pPr>
          </a:lstStyle>
          <a:p>
            <a:pPr lvl="0"/>
            <a:r>
              <a:rPr lang="en-US" dirty="0"/>
              <a:t>Single person accountable for this topic / paper</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523973" y="4990763"/>
            <a:ext cx="1806576" cy="1040352"/>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52" name="Freeform: Shape 51">
            <a:extLst>
              <a:ext uri="{FF2B5EF4-FFF2-40B4-BE49-F238E27FC236}">
                <a16:creationId xmlns:a16="http://schemas.microsoft.com/office/drawing/2014/main" id="{4E683597-5ADE-F2A0-A01C-FD8E476ABB8B}"/>
              </a:ext>
            </a:extLst>
          </p:cNvPr>
          <p:cNvSpPr/>
          <p:nvPr userDrawn="1"/>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22" name="Text Placeholder 8">
            <a:extLst>
              <a:ext uri="{FF2B5EF4-FFF2-40B4-BE49-F238E27FC236}">
                <a16:creationId xmlns:a16="http://schemas.microsoft.com/office/drawing/2014/main" id="{7A99F019-A435-B954-ABA9-68CA4DD19B21}"/>
              </a:ext>
            </a:extLst>
          </p:cNvPr>
          <p:cNvSpPr>
            <a:spLocks noGrp="1"/>
          </p:cNvSpPr>
          <p:nvPr>
            <p:ph type="body" sz="quarter" idx="42" hasCustomPrompt="1"/>
          </p:nvPr>
        </p:nvSpPr>
        <p:spPr>
          <a:xfrm>
            <a:off x="501650" y="230188"/>
            <a:ext cx="1817688" cy="163512"/>
          </a:xfrm>
        </p:spPr>
        <p:txBody>
          <a:bodyPr lIns="0" tIns="72000" rIns="0" bIns="72000" anchor="ctr">
            <a:noAutofit/>
          </a:bodyPr>
          <a:lstStyle>
            <a:lvl1pPr marL="0" indent="0">
              <a:buNone/>
              <a:defRPr sz="1000" b="1">
                <a:solidFill>
                  <a:schemeClr val="tx2"/>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3" name="Picture 2" descr="Icon&#10;&#10;Description automatically generated with medium confidence">
            <a:extLst>
              <a:ext uri="{FF2B5EF4-FFF2-40B4-BE49-F238E27FC236}">
                <a16:creationId xmlns:a16="http://schemas.microsoft.com/office/drawing/2014/main" id="{81F87534-B1D7-C46B-9E66-8AC88439308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565064" y="0"/>
            <a:ext cx="1499542" cy="1500405"/>
          </a:xfrm>
          <a:prstGeom prst="rect">
            <a:avLst/>
          </a:prstGeom>
        </p:spPr>
      </p:pic>
    </p:spTree>
    <p:custDataLst>
      <p:tags r:id="rId1"/>
    </p:custDataLst>
    <p:extLst>
      <p:ext uri="{BB962C8B-B14F-4D97-AF65-F5344CB8AC3E}">
        <p14:creationId xmlns:p14="http://schemas.microsoft.com/office/powerpoint/2010/main" val="1655034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DIA/SPADM">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0AC59E1C-A015-4BA4-AB7D-EC00F37B815F}"/>
              </a:ext>
            </a:extLst>
          </p:cNvPr>
          <p:cNvSpPr/>
          <p:nvPr userDrawn="1"/>
        </p:nvSpPr>
        <p:spPr bwMode="auto">
          <a:xfrm>
            <a:off x="365126" y="1307574"/>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Objectives</a:t>
            </a:r>
          </a:p>
        </p:txBody>
      </p:sp>
      <p:sp>
        <p:nvSpPr>
          <p:cNvPr id="34" name="Rectangle 33">
            <a:extLst>
              <a:ext uri="{FF2B5EF4-FFF2-40B4-BE49-F238E27FC236}">
                <a16:creationId xmlns:a16="http://schemas.microsoft.com/office/drawing/2014/main" id="{D4EBA022-30B3-B17F-5D7C-3A3D869D35FA}"/>
              </a:ext>
            </a:extLst>
          </p:cNvPr>
          <p:cNvSpPr>
            <a:spLocks/>
          </p:cNvSpPr>
          <p:nvPr userDrawn="1"/>
        </p:nvSpPr>
        <p:spPr bwMode="auto">
          <a:xfrm>
            <a:off x="365126" y="2778690"/>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Key questions</a:t>
            </a:r>
          </a:p>
        </p:txBody>
      </p:sp>
      <p:sp>
        <p:nvSpPr>
          <p:cNvPr id="35" name="Rectangle 34">
            <a:extLst>
              <a:ext uri="{FF2B5EF4-FFF2-40B4-BE49-F238E27FC236}">
                <a16:creationId xmlns:a16="http://schemas.microsoft.com/office/drawing/2014/main" id="{FF5A742C-A049-77AC-C2E5-4272D118CC96}"/>
              </a:ext>
            </a:extLst>
          </p:cNvPr>
          <p:cNvSpPr>
            <a:spLocks/>
          </p:cNvSpPr>
          <p:nvPr userDrawn="1"/>
        </p:nvSpPr>
        <p:spPr bwMode="auto">
          <a:xfrm>
            <a:off x="365126" y="4249806"/>
            <a:ext cx="1806576" cy="1396505"/>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26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Next steps</a:t>
            </a:r>
          </a:p>
        </p:txBody>
      </p:sp>
      <p:sp>
        <p:nvSpPr>
          <p:cNvPr id="21" name="Rectangle 20">
            <a:extLst>
              <a:ext uri="{FF2B5EF4-FFF2-40B4-BE49-F238E27FC236}">
                <a16:creationId xmlns:a16="http://schemas.microsoft.com/office/drawing/2014/main" id="{E66507E6-44A7-B4B5-33F1-9F0C0DC0FDE1}"/>
              </a:ext>
            </a:extLst>
          </p:cNvPr>
          <p:cNvSpPr/>
          <p:nvPr userDrawn="1"/>
        </p:nvSpPr>
        <p:spPr bwMode="auto">
          <a:xfrm>
            <a:off x="365126" y="5720922"/>
            <a:ext cx="1806576" cy="363373"/>
          </a:xfrm>
          <a:prstGeom prst="rect">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72000" rIns="0" bIns="0" numCol="1" spcCol="0" rtlCol="0" fromWordArt="0" anchor="t" anchorCtr="0" forceAA="0" compatLnSpc="1">
            <a:prstTxWarp prst="textNoShape">
              <a:avLst/>
            </a:prstTxWarp>
            <a:noAutofit/>
          </a:bodyPr>
          <a:lstStyle/>
          <a:p>
            <a:pPr algn="ctr" eaLnBrk="0" fontAlgn="auto" hangingPunct="0">
              <a:spcBef>
                <a:spcPts val="300"/>
              </a:spcBef>
              <a:spcAft>
                <a:spcPts val="300"/>
              </a:spcAft>
              <a:buClr>
                <a:schemeClr val="bg1"/>
              </a:buClr>
            </a:pPr>
            <a:r>
              <a:rPr lang="en-US" sz="1600" b="1" dirty="0">
                <a:solidFill>
                  <a:schemeClr val="tx2"/>
                </a:solidFill>
              </a:rPr>
              <a:t>Owner</a:t>
            </a:r>
          </a:p>
        </p:txBody>
      </p:sp>
      <p:sp>
        <p:nvSpPr>
          <p:cNvPr id="3" name="Footer Placeholder 2">
            <a:extLst>
              <a:ext uri="{FF2B5EF4-FFF2-40B4-BE49-F238E27FC236}">
                <a16:creationId xmlns:a16="http://schemas.microsoft.com/office/drawing/2014/main" id="{9B773ECA-2D04-B6E9-1FB4-377F08AA5D14}"/>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C3976886-926E-8975-E95D-5BCD6F82EEEF}"/>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A15E9B4D-B613-11AE-72F8-5A0C3EBFD95A}"/>
              </a:ext>
            </a:extLst>
          </p:cNvPr>
          <p:cNvSpPr>
            <a:spLocks noGrp="1"/>
          </p:cNvSpPr>
          <p:nvPr>
            <p:ph type="dt" sz="half" idx="12"/>
          </p:nvPr>
        </p:nvSpPr>
        <p:spPr/>
        <p:txBody>
          <a:bodyPr/>
          <a:lstStyle/>
          <a:p>
            <a:fld id="{D0076F62-540D-404C-B736-FD0D04E78444}" type="datetime3">
              <a:rPr lang="en-US" smtClean="0"/>
              <a:t>20 July 2025</a:t>
            </a:fld>
            <a:endParaRPr lang="en-GB" dirty="0"/>
          </a:p>
        </p:txBody>
      </p:sp>
      <p:sp>
        <p:nvSpPr>
          <p:cNvPr id="6" name="Title 1">
            <a:extLst>
              <a:ext uri="{FF2B5EF4-FFF2-40B4-BE49-F238E27FC236}">
                <a16:creationId xmlns:a16="http://schemas.microsoft.com/office/drawing/2014/main" id="{25ABB6F2-78D4-BCC3-D950-5FAF7FCB8FDD}"/>
              </a:ext>
            </a:extLst>
          </p:cNvPr>
          <p:cNvSpPr>
            <a:spLocks noGrp="1"/>
          </p:cNvSpPr>
          <p:nvPr>
            <p:ph type="title" hasCustomPrompt="1"/>
          </p:nvPr>
        </p:nvSpPr>
        <p:spPr>
          <a:xfrm>
            <a:off x="365126" y="242888"/>
            <a:ext cx="7554912" cy="430887"/>
          </a:xfrm>
        </p:spPr>
        <p:txBody>
          <a:bodyPr/>
          <a:lstStyle>
            <a:lvl1pPr>
              <a:defRPr/>
            </a:lvl1pPr>
          </a:lstStyle>
          <a:p>
            <a:r>
              <a:rPr lang="en-US" dirty="0"/>
              <a:t>Click to add topic / paper title</a:t>
            </a:r>
          </a:p>
        </p:txBody>
      </p:sp>
      <p:sp>
        <p:nvSpPr>
          <p:cNvPr id="7" name="Subtitle 2">
            <a:extLst>
              <a:ext uri="{FF2B5EF4-FFF2-40B4-BE49-F238E27FC236}">
                <a16:creationId xmlns:a16="http://schemas.microsoft.com/office/drawing/2014/main" id="{FA46E8B4-4C83-8DD1-80BB-CC03BD24AFCC}"/>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0" name="Text Placeholder 9">
            <a:extLst>
              <a:ext uri="{FF2B5EF4-FFF2-40B4-BE49-F238E27FC236}">
                <a16:creationId xmlns:a16="http://schemas.microsoft.com/office/drawing/2014/main" id="{8E19B5E4-F2A8-7F44-855D-F41DDE3B3D9F}"/>
              </a:ext>
            </a:extLst>
          </p:cNvPr>
          <p:cNvSpPr>
            <a:spLocks noGrp="1"/>
          </p:cNvSpPr>
          <p:nvPr>
            <p:ph type="body" sz="quarter" idx="34" hasCustomPrompt="1"/>
          </p:nvPr>
        </p:nvSpPr>
        <p:spPr>
          <a:xfrm>
            <a:off x="8172450" y="694948"/>
            <a:ext cx="3649661" cy="352801"/>
          </a:xfrm>
        </p:spPr>
        <p:txBody>
          <a:bodyPr lIns="0" tIns="0" rIns="0" bIns="18000" anchor="b" anchorCtr="0">
            <a:noAutofit/>
          </a:bodyPr>
          <a:lstStyle>
            <a:lvl1pPr marL="0" indent="0" algn="r">
              <a:buNone/>
              <a:defRPr sz="1400" b="0">
                <a:solidFill>
                  <a:schemeClr val="tx1"/>
                </a:solidFill>
              </a:defRPr>
            </a:lvl1pPr>
          </a:lstStyle>
          <a:p>
            <a:pPr lvl="0"/>
            <a:r>
              <a:rPr lang="en-US" dirty="0"/>
              <a:t>Click to insert date of session </a:t>
            </a:r>
          </a:p>
        </p:txBody>
      </p:sp>
      <p:sp>
        <p:nvSpPr>
          <p:cNvPr id="23" name="Text Placeholder 6">
            <a:extLst>
              <a:ext uri="{FF2B5EF4-FFF2-40B4-BE49-F238E27FC236}">
                <a16:creationId xmlns:a16="http://schemas.microsoft.com/office/drawing/2014/main" id="{472F201F-277F-F24E-085D-8160B5FF4CE6}"/>
              </a:ext>
            </a:extLst>
          </p:cNvPr>
          <p:cNvSpPr>
            <a:spLocks noGrp="1"/>
          </p:cNvSpPr>
          <p:nvPr>
            <p:ph type="body" sz="quarter" idx="36" hasCustomPrompt="1"/>
          </p:nvPr>
        </p:nvSpPr>
        <p:spPr>
          <a:xfrm>
            <a:off x="365126" y="1777158"/>
            <a:ext cx="1695450" cy="926921"/>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clear, focused objectives </a:t>
            </a:r>
            <a:br>
              <a:rPr lang="en-US" dirty="0"/>
            </a:br>
            <a:r>
              <a:rPr lang="en-US" dirty="0"/>
              <a:t>(</a:t>
            </a:r>
            <a:r>
              <a:rPr lang="en-US" dirty="0" err="1"/>
              <a:t>i</a:t>
            </a:r>
            <a:r>
              <a:rPr lang="en-US" dirty="0"/>
              <a:t>) for decision, </a:t>
            </a:r>
            <a:br>
              <a:rPr lang="en-US" dirty="0"/>
            </a:br>
            <a:r>
              <a:rPr lang="en-US" dirty="0"/>
              <a:t>(ii) for input </a:t>
            </a:r>
            <a:br>
              <a:rPr lang="en-US" dirty="0"/>
            </a:br>
            <a:r>
              <a:rPr lang="en-US" dirty="0"/>
              <a:t>(iii) for awareness</a:t>
            </a:r>
          </a:p>
        </p:txBody>
      </p:sp>
      <p:sp>
        <p:nvSpPr>
          <p:cNvPr id="25" name="Rectangle 24">
            <a:extLst>
              <a:ext uri="{FF2B5EF4-FFF2-40B4-BE49-F238E27FC236}">
                <a16:creationId xmlns:a16="http://schemas.microsoft.com/office/drawing/2014/main" id="{1BD6FC89-B057-E6C5-C8EA-1FC8CB31B6CA}"/>
              </a:ext>
            </a:extLst>
          </p:cNvPr>
          <p:cNvSpPr/>
          <p:nvPr userDrawn="1"/>
        </p:nvSpPr>
        <p:spPr bwMode="auto">
          <a:xfrm>
            <a:off x="8172450" y="242888"/>
            <a:ext cx="3654425" cy="45205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0" rIns="0" bIns="54000" numCol="1" spcCol="0" rtlCol="0" fromWordArt="0" anchor="b" anchorCtr="0" forceAA="0" compatLnSpc="1">
            <a:prstTxWarp prst="textNoShape">
              <a:avLst/>
            </a:prstTxWarp>
            <a:noAutofit/>
          </a:bodyPr>
          <a:lstStyle/>
          <a:p>
            <a:pPr algn="r" eaLnBrk="0" fontAlgn="auto" hangingPunct="0">
              <a:spcBef>
                <a:spcPts val="300"/>
              </a:spcBef>
              <a:spcAft>
                <a:spcPts val="300"/>
              </a:spcAft>
              <a:buClr>
                <a:schemeClr val="bg1"/>
              </a:buClr>
            </a:pPr>
            <a:r>
              <a:rPr lang="en-US" sz="1800" b="1" kern="0" dirty="0">
                <a:solidFill>
                  <a:schemeClr val="tx2"/>
                </a:solidFill>
              </a:rPr>
              <a:t>Session date:</a:t>
            </a:r>
          </a:p>
        </p:txBody>
      </p:sp>
      <p:sp>
        <p:nvSpPr>
          <p:cNvPr id="24" name="Text Placeholder 6">
            <a:extLst>
              <a:ext uri="{FF2B5EF4-FFF2-40B4-BE49-F238E27FC236}">
                <a16:creationId xmlns:a16="http://schemas.microsoft.com/office/drawing/2014/main" id="{B166E02B-F260-FEAF-DDEB-67922AA11E6E}"/>
              </a:ext>
            </a:extLst>
          </p:cNvPr>
          <p:cNvSpPr>
            <a:spLocks noGrp="1"/>
          </p:cNvSpPr>
          <p:nvPr userDrawn="1">
            <p:ph type="body" sz="quarter" idx="37" hasCustomPrompt="1"/>
          </p:nvPr>
        </p:nvSpPr>
        <p:spPr>
          <a:xfrm>
            <a:off x="365126" y="3337172"/>
            <a:ext cx="1695450" cy="838023"/>
          </a:xfrm>
          <a:prstGeom prst="rect">
            <a:avLst/>
          </a:prstGeom>
          <a:noFill/>
          <a:ln>
            <a:noFill/>
          </a:ln>
        </p:spPr>
        <p:txBody>
          <a:bodyPr lIns="72000" tIns="0" rIns="0" bIns="0" anchor="ctr" anchorCtr="0">
            <a:noAutofit/>
          </a:bodyPr>
          <a:lstStyle>
            <a:lvl1pPr marL="0" indent="0">
              <a:spcBef>
                <a:spcPts val="0"/>
              </a:spcBef>
              <a:spcAft>
                <a:spcPts val="0"/>
              </a:spcAft>
              <a:buFont typeface="+mj-lt"/>
              <a:buNone/>
              <a:defRPr sz="1200">
                <a:solidFill>
                  <a:schemeClr val="bg2"/>
                </a:solidFill>
              </a:defRPr>
            </a:lvl1pPr>
            <a:lvl2pPr marL="357542" indent="0">
              <a:buNone/>
              <a:defRPr/>
            </a:lvl2pPr>
          </a:lstStyle>
          <a:p>
            <a:pPr lvl="0"/>
            <a:r>
              <a:rPr lang="en-US" dirty="0"/>
              <a:t>Up to 5 key questions to be addressed at the meeting</a:t>
            </a:r>
          </a:p>
        </p:txBody>
      </p:sp>
      <p:sp>
        <p:nvSpPr>
          <p:cNvPr id="90" name="Freeform: Shape 89">
            <a:extLst>
              <a:ext uri="{FF2B5EF4-FFF2-40B4-BE49-F238E27FC236}">
                <a16:creationId xmlns:a16="http://schemas.microsoft.com/office/drawing/2014/main" id="{9EA22563-2363-AB1F-DC9F-7A5457933645}"/>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54" name="Text Placeholder 53">
            <a:extLst>
              <a:ext uri="{FF2B5EF4-FFF2-40B4-BE49-F238E27FC236}">
                <a16:creationId xmlns:a16="http://schemas.microsoft.com/office/drawing/2014/main" id="{82C5C591-14F5-449A-187A-1D9A683E961E}"/>
              </a:ext>
            </a:extLst>
          </p:cNvPr>
          <p:cNvSpPr>
            <a:spLocks noGrp="1"/>
          </p:cNvSpPr>
          <p:nvPr>
            <p:ph type="body" sz="quarter" idx="44" hasCustomPrompt="1"/>
          </p:nvPr>
        </p:nvSpPr>
        <p:spPr>
          <a:xfrm>
            <a:off x="2260405" y="1307574"/>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DECISION: To seek X’s [single point accountable decision maker] decision to implement A</a:t>
            </a:r>
            <a:br>
              <a:rPr lang="en-US" dirty="0"/>
            </a:br>
            <a:r>
              <a:rPr lang="en-US" dirty="0"/>
              <a:t>INPUT: To receive input to the proposed plan for B</a:t>
            </a:r>
            <a:br>
              <a:rPr lang="en-US" dirty="0"/>
            </a:br>
            <a:r>
              <a:rPr lang="en-US" dirty="0"/>
              <a:t>AWARENESS: To update XXX regarding C</a:t>
            </a:r>
          </a:p>
        </p:txBody>
      </p:sp>
      <p:sp>
        <p:nvSpPr>
          <p:cNvPr id="55" name="Text Placeholder 54">
            <a:extLst>
              <a:ext uri="{FF2B5EF4-FFF2-40B4-BE49-F238E27FC236}">
                <a16:creationId xmlns:a16="http://schemas.microsoft.com/office/drawing/2014/main" id="{54077D3A-2E14-68B6-5E16-413475F36C3A}"/>
              </a:ext>
            </a:extLst>
          </p:cNvPr>
          <p:cNvSpPr>
            <a:spLocks noGrp="1"/>
          </p:cNvSpPr>
          <p:nvPr>
            <p:ph type="body" sz="quarter" idx="45" hasCustomPrompt="1"/>
          </p:nvPr>
        </p:nvSpPr>
        <p:spPr>
          <a:xfrm>
            <a:off x="2260405" y="2778690"/>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Does XXX have further input on the proposals set out or require additional information?</a:t>
            </a:r>
            <a:br>
              <a:rPr lang="en-US" dirty="0"/>
            </a:br>
            <a:r>
              <a:rPr lang="en-US" dirty="0"/>
              <a:t>Is XXX supportive of the recommendation to x, y, z?</a:t>
            </a:r>
            <a:br>
              <a:rPr lang="en-US" dirty="0"/>
            </a:br>
            <a:r>
              <a:rPr lang="en-US" dirty="0"/>
              <a:t>Does XXX support the approach outlined to x, y, z?</a:t>
            </a:r>
          </a:p>
        </p:txBody>
      </p:sp>
      <p:sp>
        <p:nvSpPr>
          <p:cNvPr id="56" name="Text Placeholder 55">
            <a:extLst>
              <a:ext uri="{FF2B5EF4-FFF2-40B4-BE49-F238E27FC236}">
                <a16:creationId xmlns:a16="http://schemas.microsoft.com/office/drawing/2014/main" id="{5DE7D720-AF89-6DE4-D2E5-33C7B01B7E91}"/>
              </a:ext>
            </a:extLst>
          </p:cNvPr>
          <p:cNvSpPr>
            <a:spLocks noGrp="1"/>
          </p:cNvSpPr>
          <p:nvPr>
            <p:ph type="body" sz="quarter" idx="46" hasCustomPrompt="1"/>
          </p:nvPr>
        </p:nvSpPr>
        <p:spPr>
          <a:xfrm>
            <a:off x="2260405" y="4249806"/>
            <a:ext cx="9557738" cy="1396505"/>
          </a:xfrm>
          <a:prstGeom prst="rect">
            <a:avLst/>
          </a:prstGeom>
          <a:solidFill>
            <a:schemeClr val="bg1">
              <a:lumMod val="95000"/>
            </a:schemeClr>
          </a:solidFill>
          <a:ln>
            <a:noFill/>
          </a:ln>
        </p:spPr>
        <p:txBody>
          <a:bodyPr wrap="square" lIns="180000" tIns="144000" rIns="0" bIns="72000" anchor="t" anchorCtr="0">
            <a:noAutofit/>
          </a:bodyPr>
          <a:lstStyle>
            <a:lvl1pPr marL="342900" indent="-342900">
              <a:spcBef>
                <a:spcPts val="300"/>
              </a:spcBef>
              <a:spcAft>
                <a:spcPts val="300"/>
              </a:spcAft>
              <a:buSzPct val="100000"/>
              <a:buFont typeface="+mj-lt"/>
              <a:buAutoNum type="arabicPeriod"/>
              <a:defRPr sz="1200"/>
            </a:lvl1pPr>
            <a:lvl2pPr marL="357542" indent="0">
              <a:buNone/>
              <a:defRPr/>
            </a:lvl2pPr>
          </a:lstStyle>
          <a:p>
            <a:pPr lvl="0"/>
            <a:r>
              <a:rPr lang="en-US" dirty="0"/>
              <a:t>Key steps following XXX review / decision</a:t>
            </a:r>
          </a:p>
        </p:txBody>
      </p:sp>
      <p:sp>
        <p:nvSpPr>
          <p:cNvPr id="57" name="Text Placeholder 56">
            <a:extLst>
              <a:ext uri="{FF2B5EF4-FFF2-40B4-BE49-F238E27FC236}">
                <a16:creationId xmlns:a16="http://schemas.microsoft.com/office/drawing/2014/main" id="{8C53FB3B-975B-80D5-29B3-81DC27DCAC8F}"/>
              </a:ext>
            </a:extLst>
          </p:cNvPr>
          <p:cNvSpPr>
            <a:spLocks noGrp="1"/>
          </p:cNvSpPr>
          <p:nvPr>
            <p:ph type="body" sz="quarter" idx="48" hasCustomPrompt="1"/>
          </p:nvPr>
        </p:nvSpPr>
        <p:spPr>
          <a:xfrm>
            <a:off x="2260405" y="5720922"/>
            <a:ext cx="9557738" cy="363373"/>
          </a:xfrm>
          <a:prstGeom prst="rect">
            <a:avLst/>
          </a:prstGeom>
          <a:solidFill>
            <a:schemeClr val="bg1">
              <a:lumMod val="95000"/>
            </a:schemeClr>
          </a:solidFill>
          <a:ln>
            <a:noFill/>
          </a:ln>
        </p:spPr>
        <p:txBody>
          <a:bodyPr wrap="square" lIns="180000" tIns="36000" rIns="0" bIns="36000" anchor="ctr" anchorCtr="0">
            <a:noAutofit/>
          </a:bodyPr>
          <a:lstStyle>
            <a:lvl1pPr marL="0" indent="0">
              <a:spcBef>
                <a:spcPts val="0"/>
              </a:spcBef>
              <a:spcAft>
                <a:spcPts val="0"/>
              </a:spcAft>
              <a:buSzPct val="100000"/>
              <a:buFont typeface="+mj-lt"/>
              <a:buNone/>
              <a:defRPr sz="1200"/>
            </a:lvl1pPr>
            <a:lvl2pPr marL="357542" indent="0">
              <a:buNone/>
              <a:defRPr/>
            </a:lvl2pPr>
          </a:lstStyle>
          <a:p>
            <a:pPr lvl="0"/>
            <a:r>
              <a:rPr lang="en-US" dirty="0"/>
              <a:t>Single person accountable for this topic / paper</a:t>
            </a:r>
          </a:p>
        </p:txBody>
      </p:sp>
    </p:spTree>
    <p:custDataLst>
      <p:tags r:id="rId1"/>
    </p:custDataLst>
    <p:extLst>
      <p:ext uri="{BB962C8B-B14F-4D97-AF65-F5344CB8AC3E}">
        <p14:creationId xmlns:p14="http://schemas.microsoft.com/office/powerpoint/2010/main" val="11124460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E000430-8A32-4EA0-BAD1-A7727B812F8C}"/>
              </a:ext>
            </a:extLst>
          </p:cNvPr>
          <p:cNvSpPr>
            <a:spLocks noGrp="1"/>
          </p:cNvSpPr>
          <p:nvPr>
            <p:ph type="dt" sz="half" idx="10"/>
          </p:nvPr>
        </p:nvSpPr>
        <p:spPr/>
        <p:txBody>
          <a:bodyPr/>
          <a:lstStyle/>
          <a:p>
            <a:fld id="{9E32BE28-F30B-47BA-B1CC-D0D309B429D8}" type="datetime3">
              <a:rPr lang="en-US" smtClean="0"/>
              <a:t>20 July 2025</a:t>
            </a:fld>
            <a:endParaRPr lang="en-GB" dirty="0"/>
          </a:p>
        </p:txBody>
      </p:sp>
      <p:sp>
        <p:nvSpPr>
          <p:cNvPr id="4" name="Footer Placeholder 3">
            <a:extLst>
              <a:ext uri="{FF2B5EF4-FFF2-40B4-BE49-F238E27FC236}">
                <a16:creationId xmlns:a16="http://schemas.microsoft.com/office/drawing/2014/main" id="{F706E0BB-62AD-47AF-909C-4F33FB5616E5}"/>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253CEE5C-8451-457A-BD36-F438731DB091}"/>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19" name="Text Placeholder 18">
            <a:extLst>
              <a:ext uri="{FF2B5EF4-FFF2-40B4-BE49-F238E27FC236}">
                <a16:creationId xmlns:a16="http://schemas.microsoft.com/office/drawing/2014/main" id="{61071252-BD8E-4D3D-BF35-8427544DDF49}"/>
              </a:ext>
            </a:extLst>
          </p:cNvPr>
          <p:cNvSpPr>
            <a:spLocks noGrp="1"/>
          </p:cNvSpPr>
          <p:nvPr>
            <p:ph type="body" sz="quarter" idx="13" hasCustomPrompt="1"/>
          </p:nvPr>
        </p:nvSpPr>
        <p:spPr>
          <a:xfrm>
            <a:off x="5113176" y="242888"/>
            <a:ext cx="6712112" cy="5848350"/>
          </a:xfrm>
        </p:spPr>
        <p:txBody>
          <a:bodyPr lIns="0" tIns="180000" rIns="0" bIns="180000" anchor="t">
            <a:noAutofit/>
          </a:bodyPr>
          <a:lstStyle>
            <a:lvl1pPr marL="720000" indent="-720000">
              <a:spcBef>
                <a:spcPts val="1200"/>
              </a:spcBef>
              <a:spcAft>
                <a:spcPts val="1200"/>
              </a:spcAft>
              <a:buClr>
                <a:schemeClr val="tx2"/>
              </a:buClr>
              <a:buSzPct val="100000"/>
              <a:buFont typeface="+mj-lt"/>
              <a:buAutoNum type="arabicPeriod"/>
              <a:defRPr sz="2800"/>
            </a:lvl1pPr>
            <a:lvl2pPr marL="814742" indent="-457200">
              <a:buClr>
                <a:schemeClr val="tx2"/>
              </a:buClr>
              <a:buFont typeface="+mj-lt"/>
              <a:buAutoNum type="arabicPeriod"/>
              <a:defRPr/>
            </a:lvl2pPr>
            <a:lvl3pPr marL="1177182" indent="-457200">
              <a:buClr>
                <a:schemeClr val="tx2"/>
              </a:buClr>
              <a:buFont typeface="+mj-lt"/>
              <a:buAutoNum type="arabicPeriod"/>
              <a:defRPr/>
            </a:lvl3pPr>
            <a:lvl4pPr>
              <a:buClr>
                <a:schemeClr val="tx2"/>
              </a:buClr>
              <a:buFont typeface="+mj-lt"/>
              <a:buAutoNum type="arabicPeriod"/>
              <a:defRPr/>
            </a:lvl4pPr>
            <a:lvl5pPr>
              <a:buClr>
                <a:schemeClr val="tx2"/>
              </a:buClr>
              <a:buFont typeface="+mj-lt"/>
              <a:buAutoNum type="arabicPeriod"/>
              <a:defRPr/>
            </a:lvl5pPr>
          </a:lstStyle>
          <a:p>
            <a:pPr lvl="0"/>
            <a:r>
              <a:rPr lang="en-GB" dirty="0"/>
              <a:t>Agenda point 1, add text here.</a:t>
            </a:r>
            <a:br>
              <a:rPr lang="en-GB" dirty="0"/>
            </a:br>
            <a:r>
              <a:rPr lang="en-GB" dirty="0"/>
              <a:t>Agenda point 2, add text here.</a:t>
            </a:r>
            <a:br>
              <a:rPr lang="en-GB" dirty="0"/>
            </a:br>
            <a:r>
              <a:rPr lang="en-GB" dirty="0"/>
              <a:t>Agenda point 3, add text here.</a:t>
            </a:r>
            <a:br>
              <a:rPr lang="en-GB" dirty="0"/>
            </a:br>
            <a:r>
              <a:rPr lang="en-GB" dirty="0"/>
              <a:t>Agenda point 4, add text here.</a:t>
            </a:r>
            <a:br>
              <a:rPr lang="en-GB" dirty="0"/>
            </a:br>
            <a:r>
              <a:rPr lang="en-GB" dirty="0"/>
              <a:t>Agenda point 5, add text here.</a:t>
            </a:r>
          </a:p>
        </p:txBody>
      </p:sp>
      <p:sp>
        <p:nvSpPr>
          <p:cNvPr id="8" name="Title 1">
            <a:extLst>
              <a:ext uri="{FF2B5EF4-FFF2-40B4-BE49-F238E27FC236}">
                <a16:creationId xmlns:a16="http://schemas.microsoft.com/office/drawing/2014/main" id="{0630E13A-9E76-B161-1416-CBE84BD22827}"/>
              </a:ext>
            </a:extLst>
          </p:cNvPr>
          <p:cNvSpPr>
            <a:spLocks noGrp="1"/>
          </p:cNvSpPr>
          <p:nvPr>
            <p:ph type="title"/>
          </p:nvPr>
        </p:nvSpPr>
        <p:spPr>
          <a:xfrm>
            <a:off x="365126" y="242888"/>
            <a:ext cx="4748050"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2202868D-ACDF-6434-3575-872690D6A783}"/>
              </a:ext>
            </a:extLst>
          </p:cNvPr>
          <p:cNvSpPr>
            <a:spLocks noGrp="1"/>
          </p:cNvSpPr>
          <p:nvPr>
            <p:ph type="subTitle" idx="1" hasCustomPrompt="1"/>
          </p:nvPr>
        </p:nvSpPr>
        <p:spPr>
          <a:xfrm>
            <a:off x="365125" y="694950"/>
            <a:ext cx="47480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1" name="Freeform: Shape 10">
            <a:extLst>
              <a:ext uri="{FF2B5EF4-FFF2-40B4-BE49-F238E27FC236}">
                <a16:creationId xmlns:a16="http://schemas.microsoft.com/office/drawing/2014/main" id="{B674B05C-AADA-DE64-7CCE-6E374DE8A94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13634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fld id="{64022878-12CF-454F-B14E-0E4412AC83BD}" type="datetime3">
              <a:rPr lang="en-US" smtClean="0"/>
              <a:t>20 July 2025</a:t>
            </a:fld>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904244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Large Bullet">
    <p:spTree>
      <p:nvGrpSpPr>
        <p:cNvPr id="1" name=""/>
        <p:cNvGrpSpPr/>
        <p:nvPr/>
      </p:nvGrpSpPr>
      <p:grpSpPr>
        <a:xfrm>
          <a:off x="0" y="0"/>
          <a:ext cx="0" cy="0"/>
          <a:chOff x="0" y="0"/>
          <a:chExt cx="0" cy="0"/>
        </a:xfrm>
      </p:grpSpPr>
      <p:sp>
        <p:nvSpPr>
          <p:cNvPr id="15" name="Text Placeholder 5"/>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2" name="Date Placeholder 1">
            <a:extLst>
              <a:ext uri="{FF2B5EF4-FFF2-40B4-BE49-F238E27FC236}">
                <a16:creationId xmlns:a16="http://schemas.microsoft.com/office/drawing/2014/main" id="{2E151742-951B-4B8B-93F8-F6814A0074E2}"/>
              </a:ext>
            </a:extLst>
          </p:cNvPr>
          <p:cNvSpPr>
            <a:spLocks noGrp="1"/>
          </p:cNvSpPr>
          <p:nvPr>
            <p:ph type="dt" sz="half" idx="19"/>
          </p:nvPr>
        </p:nvSpPr>
        <p:spPr/>
        <p:txBody>
          <a:bodyPr/>
          <a:lstStyle/>
          <a:p>
            <a:fld id="{853238B8-E362-4434-9B2E-D1875B4C268C}" type="datetime3">
              <a:rPr lang="en-US" smtClean="0"/>
              <a:t>20 July 2025</a:t>
            </a:fld>
            <a:endParaRPr lang="en-GB" dirty="0"/>
          </a:p>
        </p:txBody>
      </p:sp>
      <p:sp>
        <p:nvSpPr>
          <p:cNvPr id="3" name="Footer Placeholder 2">
            <a:extLst>
              <a:ext uri="{FF2B5EF4-FFF2-40B4-BE49-F238E27FC236}">
                <a16:creationId xmlns:a16="http://schemas.microsoft.com/office/drawing/2014/main" id="{5E4920F6-7DEA-40DB-B124-F0789E56046F}"/>
              </a:ext>
            </a:extLst>
          </p:cNvPr>
          <p:cNvSpPr>
            <a:spLocks noGrp="1"/>
          </p:cNvSpPr>
          <p:nvPr>
            <p:ph type="ftr" sz="quarter" idx="20"/>
          </p:nvPr>
        </p:nvSpPr>
        <p:spPr/>
        <p:txBody>
          <a:bodyPr/>
          <a:lstStyle/>
          <a:p>
            <a:endParaRPr lang="en-GB" dirty="0"/>
          </a:p>
        </p:txBody>
      </p:sp>
      <p:sp>
        <p:nvSpPr>
          <p:cNvPr id="4" name="Slide Number Placeholder 3">
            <a:extLst>
              <a:ext uri="{FF2B5EF4-FFF2-40B4-BE49-F238E27FC236}">
                <a16:creationId xmlns:a16="http://schemas.microsoft.com/office/drawing/2014/main" id="{D4DDB722-CBB2-49EC-937E-10206DEB6BD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D4E53DDB-FDB6-66D3-FC50-5426FF978D71}"/>
              </a:ext>
            </a:extLst>
          </p:cNvPr>
          <p:cNvSpPr>
            <a:spLocks noGrp="1"/>
          </p:cNvSpPr>
          <p:nvPr>
            <p:ph type="body" sz="quarter" idx="22" hasCustomPrompt="1"/>
          </p:nvPr>
        </p:nvSpPr>
        <p:spPr>
          <a:xfrm>
            <a:off x="365125" y="1303338"/>
            <a:ext cx="11460163" cy="4489450"/>
          </a:xfrm>
        </p:spPr>
        <p:txBody>
          <a:bodyPr lIns="0" tIns="180000" rIns="0" bIns="180000">
            <a:noAutofit/>
          </a:bodyPr>
          <a:lstStyle>
            <a:lvl1pPr>
              <a:defRPr/>
            </a:lvl1pPr>
          </a:lstStyle>
          <a:p>
            <a:pPr lvl="0"/>
            <a:r>
              <a:rPr lang="en-US" dirty="0"/>
              <a:t>Click to enter TEXT content ONLY. </a:t>
            </a:r>
            <a:br>
              <a:rPr lang="en-US" dirty="0"/>
            </a:br>
            <a:r>
              <a:rPr lang="en-US" dirty="0"/>
              <a:t>If text content appears too large please reduce the size of this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9" name="Title 1">
            <a:extLst>
              <a:ext uri="{FF2B5EF4-FFF2-40B4-BE49-F238E27FC236}">
                <a16:creationId xmlns:a16="http://schemas.microsoft.com/office/drawing/2014/main" id="{3A7A86B9-637F-F18A-3604-5A44F7C4442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0" name="Subtitle 2">
            <a:extLst>
              <a:ext uri="{FF2B5EF4-FFF2-40B4-BE49-F238E27FC236}">
                <a16:creationId xmlns:a16="http://schemas.microsoft.com/office/drawing/2014/main" id="{5A89E078-B97D-529E-FF83-DF5AD69D51F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Freeform: Shape 12">
            <a:extLst>
              <a:ext uri="{FF2B5EF4-FFF2-40B4-BE49-F238E27FC236}">
                <a16:creationId xmlns:a16="http://schemas.microsoft.com/office/drawing/2014/main" id="{22D601A5-6CEE-D258-CCEB-85D1BB27BD8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5489382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and Content with Subheading">
    <p:spTree>
      <p:nvGrpSpPr>
        <p:cNvPr id="1" name=""/>
        <p:cNvGrpSpPr/>
        <p:nvPr/>
      </p:nvGrpSpPr>
      <p:grpSpPr>
        <a:xfrm>
          <a:off x="0" y="0"/>
          <a:ext cx="0" cy="0"/>
          <a:chOff x="0" y="0"/>
          <a:chExt cx="0" cy="0"/>
        </a:xfrm>
      </p:grpSpPr>
      <p:sp>
        <p:nvSpPr>
          <p:cNvPr id="11" name="Text Placeholder 2"/>
          <p:cNvSpPr>
            <a:spLocks noGrp="1"/>
          </p:cNvSpPr>
          <p:nvPr>
            <p:ph type="body" sz="quarter" idx="13" hasCustomPrompt="1"/>
          </p:nvPr>
        </p:nvSpPr>
        <p:spPr>
          <a:xfrm>
            <a:off x="365456" y="1303338"/>
            <a:ext cx="11460701" cy="399600"/>
          </a:xfrm>
          <a:prstGeom prst="rect">
            <a:avLst/>
          </a:prstGeom>
        </p:spPr>
        <p:txBody>
          <a:bodyPr lIns="0" tIns="72000" rIns="0" bIns="72000" anchor="t" anchorCtr="0">
            <a:noAutofit/>
          </a:bodyPr>
          <a:lstStyle>
            <a:lvl1pPr marL="0" indent="0">
              <a:spcBef>
                <a:spcPts val="0"/>
              </a:spcBef>
              <a:spcAft>
                <a:spcPts val="0"/>
              </a:spcAft>
              <a:buNone/>
              <a:defRPr sz="2400" b="1">
                <a:solidFill>
                  <a:schemeClr val="tx2"/>
                </a:solidFill>
              </a:defRPr>
            </a:lvl1pPr>
            <a:lvl2pPr marL="361942" indent="0">
              <a:buNone/>
              <a:defRPr/>
            </a:lvl2pPr>
            <a:lvl3pPr marL="711182" indent="0">
              <a:buNone/>
              <a:defRPr/>
            </a:lvl3pPr>
            <a:lvl4pPr marL="1087939" indent="0">
              <a:buNone/>
              <a:defRPr/>
            </a:lvl4pPr>
            <a:lvl5pPr marL="1473163" indent="0">
              <a:buNone/>
              <a:defRPr/>
            </a:lvl5pPr>
          </a:lstStyle>
          <a:p>
            <a:pPr lvl="0"/>
            <a:r>
              <a:rPr lang="en-GB" dirty="0"/>
              <a:t>Click to enter subheading text </a:t>
            </a:r>
          </a:p>
        </p:txBody>
      </p:sp>
      <p:sp>
        <p:nvSpPr>
          <p:cNvPr id="1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3" name="Date Placeholder 2">
            <a:extLst>
              <a:ext uri="{FF2B5EF4-FFF2-40B4-BE49-F238E27FC236}">
                <a16:creationId xmlns:a16="http://schemas.microsoft.com/office/drawing/2014/main" id="{3C475D1F-3C7D-443F-9C73-9160E439AE1B}"/>
              </a:ext>
            </a:extLst>
          </p:cNvPr>
          <p:cNvSpPr>
            <a:spLocks noGrp="1"/>
          </p:cNvSpPr>
          <p:nvPr>
            <p:ph type="dt" sz="half" idx="20"/>
          </p:nvPr>
        </p:nvSpPr>
        <p:spPr/>
        <p:txBody>
          <a:bodyPr/>
          <a:lstStyle/>
          <a:p>
            <a:fld id="{8871258F-CD60-4E22-B2E5-266FAC17B5C1}" type="datetime3">
              <a:rPr lang="en-US" smtClean="0"/>
              <a:t>20 July 2025</a:t>
            </a:fld>
            <a:endParaRPr lang="en-GB" dirty="0"/>
          </a:p>
        </p:txBody>
      </p:sp>
      <p:sp>
        <p:nvSpPr>
          <p:cNvPr id="4" name="Footer Placeholder 3">
            <a:extLst>
              <a:ext uri="{FF2B5EF4-FFF2-40B4-BE49-F238E27FC236}">
                <a16:creationId xmlns:a16="http://schemas.microsoft.com/office/drawing/2014/main" id="{8E10FAE2-40C5-48E8-A896-0682681B6AC4}"/>
              </a:ext>
            </a:extLst>
          </p:cNvPr>
          <p:cNvSpPr>
            <a:spLocks noGrp="1"/>
          </p:cNvSpPr>
          <p:nvPr>
            <p:ph type="ftr" sz="quarter" idx="21"/>
          </p:nvPr>
        </p:nvSpPr>
        <p:spPr/>
        <p:txBody>
          <a:bodyPr/>
          <a:lstStyle/>
          <a:p>
            <a:endParaRPr lang="en-GB" dirty="0"/>
          </a:p>
        </p:txBody>
      </p:sp>
      <p:sp>
        <p:nvSpPr>
          <p:cNvPr id="8" name="Slide Number Placeholder 7">
            <a:extLst>
              <a:ext uri="{FF2B5EF4-FFF2-40B4-BE49-F238E27FC236}">
                <a16:creationId xmlns:a16="http://schemas.microsoft.com/office/drawing/2014/main" id="{2AF230C5-C173-4CDF-8F46-DDF8D7240B63}"/>
              </a:ext>
            </a:extLst>
          </p:cNvPr>
          <p:cNvSpPr>
            <a:spLocks noGrp="1"/>
          </p:cNvSpPr>
          <p:nvPr>
            <p:ph type="sldNum" sz="quarter" idx="22"/>
          </p:nvPr>
        </p:nvSpPr>
        <p:spPr/>
        <p:txBody>
          <a:bodyPr/>
          <a:lstStyle/>
          <a:p>
            <a:fld id="{9F9F533D-B52E-4A2F-BF72-0ADD2D94BD75}" type="slidenum">
              <a:rPr lang="en-GB" smtClean="0"/>
              <a:pPr/>
              <a:t>‹#›</a:t>
            </a:fld>
            <a:endParaRPr lang="en-GB" dirty="0"/>
          </a:p>
        </p:txBody>
      </p:sp>
      <p:sp>
        <p:nvSpPr>
          <p:cNvPr id="5" name="Text Placeholder 4">
            <a:extLst>
              <a:ext uri="{FF2B5EF4-FFF2-40B4-BE49-F238E27FC236}">
                <a16:creationId xmlns:a16="http://schemas.microsoft.com/office/drawing/2014/main" id="{81E07AE8-19F2-04D9-93C9-C4F2357C2ADF}"/>
              </a:ext>
            </a:extLst>
          </p:cNvPr>
          <p:cNvSpPr>
            <a:spLocks noGrp="1"/>
          </p:cNvSpPr>
          <p:nvPr>
            <p:ph type="body" sz="quarter" idx="23" hasCustomPrompt="1"/>
          </p:nvPr>
        </p:nvSpPr>
        <p:spPr>
          <a:xfrm>
            <a:off x="365125" y="1702938"/>
            <a:ext cx="11460163" cy="4089850"/>
          </a:xfrm>
        </p:spPr>
        <p:txBody>
          <a:bodyPr lIns="0" tIns="180000" rIns="0" bIns="180000">
            <a:noAutofit/>
          </a:bodyPr>
          <a:lstStyle>
            <a:lvl1pPr>
              <a:defRPr/>
            </a:lvl1pPr>
          </a:lstStyle>
          <a:p>
            <a:pPr lvl="0"/>
            <a:r>
              <a:rPr lang="en-US" dirty="0"/>
              <a:t>Click to edit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0" name="Title 1">
            <a:extLst>
              <a:ext uri="{FF2B5EF4-FFF2-40B4-BE49-F238E27FC236}">
                <a16:creationId xmlns:a16="http://schemas.microsoft.com/office/drawing/2014/main" id="{E4BDB392-CCE1-B2F2-5843-4AF9AE7D4921}"/>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29D93444-D1FE-4C3C-7B81-D2693144C1F0}"/>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45A9796-316D-7A43-F981-F6A071B72BB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50405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8172451" y="1303338"/>
            <a:ext cx="3652838" cy="4477804"/>
          </a:xfrm>
          <a:prstGeom prst="roundRect">
            <a:avLst>
              <a:gd name="adj" fmla="val 4585"/>
            </a:avLst>
          </a:prstGeom>
          <a:solidFill>
            <a:schemeClr val="bg1">
              <a:lumMod val="95000"/>
            </a:schemeClr>
          </a:solidFill>
          <a:ln>
            <a:noFill/>
          </a:ln>
        </p:spPr>
        <p:txBody>
          <a:bodyPr wrap="square">
            <a:noAutofit/>
          </a:bodyPr>
          <a:lstStyle>
            <a:lvl1pPr>
              <a:defRPr/>
            </a:lvl1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8172451"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5D43652F-45AF-447D-886A-FF2DF3360DD6}" type="datetime3">
              <a:rPr lang="en-US"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365125"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365125" y="1303338"/>
            <a:ext cx="7554913" cy="4478337"/>
          </a:xfrm>
        </p:spPr>
        <p:txBody>
          <a:bodyPr lIns="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4290474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15" name="Text Placeholder 14">
            <a:extLst>
              <a:ext uri="{FF2B5EF4-FFF2-40B4-BE49-F238E27FC236}">
                <a16:creationId xmlns:a16="http://schemas.microsoft.com/office/drawing/2014/main" id="{44152BBA-B0F3-390F-177B-A659A0DA6DDB}"/>
              </a:ext>
            </a:extLst>
          </p:cNvPr>
          <p:cNvSpPr>
            <a:spLocks noGrp="1"/>
          </p:cNvSpPr>
          <p:nvPr>
            <p:ph type="body" sz="quarter" idx="25" hasCustomPrompt="1"/>
          </p:nvPr>
        </p:nvSpPr>
        <p:spPr>
          <a:xfrm>
            <a:off x="365125" y="1303338"/>
            <a:ext cx="3652838" cy="4477804"/>
          </a:xfrm>
          <a:prstGeom prst="roundRect">
            <a:avLst>
              <a:gd name="adj" fmla="val 4585"/>
            </a:avLst>
          </a:prstGeom>
          <a:solidFill>
            <a:schemeClr val="tx2"/>
          </a:solidFill>
          <a:ln>
            <a:noFill/>
          </a:ln>
        </p:spPr>
        <p:txBody>
          <a:bodyPr wrap="square">
            <a:no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dirty="0"/>
              <a:t>Click to edit TEXT content ONLY. </a:t>
            </a:r>
            <a:br>
              <a:rPr lang="en-US" dirty="0"/>
            </a:br>
            <a:r>
              <a:rPr lang="en-US" dirty="0"/>
              <a:t>If text content appears outside of the grey placeholder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0" name="Text Placeholder 5"/>
          <p:cNvSpPr>
            <a:spLocks noGrp="1"/>
          </p:cNvSpPr>
          <p:nvPr>
            <p:ph type="body" sz="quarter" idx="20" hasCustomPrompt="1"/>
          </p:nvPr>
        </p:nvSpPr>
        <p:spPr>
          <a:xfrm>
            <a:off x="365125" y="5791943"/>
            <a:ext cx="3652837"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6" name="Date Placeholder 5">
            <a:extLst>
              <a:ext uri="{FF2B5EF4-FFF2-40B4-BE49-F238E27FC236}">
                <a16:creationId xmlns:a16="http://schemas.microsoft.com/office/drawing/2014/main" id="{101A55F3-CAC9-450A-8B8C-0D0326082407}"/>
              </a:ext>
            </a:extLst>
          </p:cNvPr>
          <p:cNvSpPr>
            <a:spLocks noGrp="1"/>
          </p:cNvSpPr>
          <p:nvPr>
            <p:ph type="dt" sz="half" idx="21"/>
          </p:nvPr>
        </p:nvSpPr>
        <p:spPr/>
        <p:txBody>
          <a:bodyPr/>
          <a:lstStyle/>
          <a:p>
            <a:fld id="{10E59277-635F-46E3-A135-4D9CE4D45604}" type="datetime3">
              <a:rPr lang="en-US" smtClean="0"/>
              <a:t>20 July 2025</a:t>
            </a:fld>
            <a:endParaRPr lang="en-GB" dirty="0"/>
          </a:p>
        </p:txBody>
      </p:sp>
      <p:sp>
        <p:nvSpPr>
          <p:cNvPr id="7" name="Footer Placeholder 6">
            <a:extLst>
              <a:ext uri="{FF2B5EF4-FFF2-40B4-BE49-F238E27FC236}">
                <a16:creationId xmlns:a16="http://schemas.microsoft.com/office/drawing/2014/main" id="{FA6F4AF4-B7CB-44A2-A774-A5EE13FDE7C2}"/>
              </a:ext>
            </a:extLst>
          </p:cNvPr>
          <p:cNvSpPr>
            <a:spLocks noGrp="1"/>
          </p:cNvSpPr>
          <p:nvPr>
            <p:ph type="ftr" sz="quarter" idx="22"/>
          </p:nvPr>
        </p:nvSpPr>
        <p:spPr/>
        <p:txBody>
          <a:bodyPr/>
          <a:lstStyle/>
          <a:p>
            <a:endParaRPr lang="en-GB" dirty="0"/>
          </a:p>
        </p:txBody>
      </p:sp>
      <p:sp>
        <p:nvSpPr>
          <p:cNvPr id="8" name="Slide Number Placeholder 7">
            <a:extLst>
              <a:ext uri="{FF2B5EF4-FFF2-40B4-BE49-F238E27FC236}">
                <a16:creationId xmlns:a16="http://schemas.microsoft.com/office/drawing/2014/main" id="{1A690446-B95A-4BA4-8B97-68649C262B11}"/>
              </a:ext>
            </a:extLst>
          </p:cNvPr>
          <p:cNvSpPr>
            <a:spLocks noGrp="1"/>
          </p:cNvSpPr>
          <p:nvPr>
            <p:ph type="sldNum" sz="quarter" idx="23"/>
          </p:nvPr>
        </p:nvSpPr>
        <p:spPr/>
        <p:txBody>
          <a:bodyPr/>
          <a:lstStyle/>
          <a:p>
            <a:fld id="{9F9F533D-B52E-4A2F-BF72-0ADD2D94BD75}" type="slidenum">
              <a:rPr lang="en-GB" smtClean="0"/>
              <a:pPr/>
              <a:t>‹#›</a:t>
            </a:fld>
            <a:endParaRPr lang="en-GB" dirty="0"/>
          </a:p>
        </p:txBody>
      </p:sp>
      <p:sp>
        <p:nvSpPr>
          <p:cNvPr id="19" name="Text Placeholder 5"/>
          <p:cNvSpPr>
            <a:spLocks noGrp="1"/>
          </p:cNvSpPr>
          <p:nvPr>
            <p:ph type="body" sz="quarter" idx="19" hasCustomPrompt="1"/>
          </p:nvPr>
        </p:nvSpPr>
        <p:spPr>
          <a:xfrm>
            <a:off x="4270374" y="5791943"/>
            <a:ext cx="7554913"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Text Placeholder 2">
            <a:extLst>
              <a:ext uri="{FF2B5EF4-FFF2-40B4-BE49-F238E27FC236}">
                <a16:creationId xmlns:a16="http://schemas.microsoft.com/office/drawing/2014/main" id="{3B643D66-CBAC-8A3C-D941-445E2D7EFCEE}"/>
              </a:ext>
            </a:extLst>
          </p:cNvPr>
          <p:cNvSpPr>
            <a:spLocks noGrp="1"/>
          </p:cNvSpPr>
          <p:nvPr>
            <p:ph type="body" sz="quarter" idx="24" hasCustomPrompt="1"/>
          </p:nvPr>
        </p:nvSpPr>
        <p:spPr>
          <a:xfrm>
            <a:off x="4270374" y="1303338"/>
            <a:ext cx="7554913" cy="4478337"/>
          </a:xfrm>
        </p:spPr>
        <p:txBody>
          <a:bodyPr lIns="252000" tIns="234000" rIns="0" bIns="180000">
            <a:noAutofit/>
          </a:bodyPr>
          <a:lstStyle>
            <a:lvl1pPr>
              <a:defRPr/>
            </a:lvl1pPr>
          </a:lstStyle>
          <a:p>
            <a:pPr lvl="0"/>
            <a:r>
              <a:rPr lang="en-US" dirty="0"/>
              <a:t>Click to enter TEXT content ONLY.</a:t>
            </a:r>
            <a:br>
              <a:rPr lang="en-US" dirty="0"/>
            </a:br>
            <a:r>
              <a:rPr lang="en-US" dirty="0"/>
              <a:t>If text content appears too large please reduce the size of the font. </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Title 1">
            <a:extLst>
              <a:ext uri="{FF2B5EF4-FFF2-40B4-BE49-F238E27FC236}">
                <a16:creationId xmlns:a16="http://schemas.microsoft.com/office/drawing/2014/main" id="{8C40724D-5874-C573-BE68-E74D3056C42C}"/>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6DDC75F0-FC33-50C5-4836-14CADF87FA85}"/>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7ED293B4-51DD-6A15-3268-DC88E0FC951D}"/>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4" name="Freeform: Shape 13">
            <a:extLst>
              <a:ext uri="{FF2B5EF4-FFF2-40B4-BE49-F238E27FC236}">
                <a16:creationId xmlns:a16="http://schemas.microsoft.com/office/drawing/2014/main" id="{17107491-B576-4FBA-DF55-410D54CA7B16}"/>
              </a:ext>
            </a:extLst>
          </p:cNvPr>
          <p:cNvSpPr/>
          <p:nvPr userDrawn="1"/>
        </p:nvSpPr>
        <p:spPr>
          <a:xfrm>
            <a:off x="4017963" y="1820564"/>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34399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1A35D6C9-1CA0-9878-3F7C-4F790C689C5F}"/>
              </a:ext>
            </a:extLst>
          </p:cNvPr>
          <p:cNvSpPr>
            <a:spLocks noGrp="1"/>
          </p:cNvSpPr>
          <p:nvPr>
            <p:ph type="body" sz="quarter" idx="36" hasCustomPrompt="1"/>
          </p:nvPr>
        </p:nvSpPr>
        <p:spPr>
          <a:xfrm>
            <a:off x="6223000" y="1303338"/>
            <a:ext cx="5602288" cy="4488605"/>
          </a:xfrm>
          <a:prstGeom prst="roundRect">
            <a:avLst>
              <a:gd name="adj" fmla="val 4253"/>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2" name="Text Placeholder 21">
            <a:extLst>
              <a:ext uri="{FF2B5EF4-FFF2-40B4-BE49-F238E27FC236}">
                <a16:creationId xmlns:a16="http://schemas.microsoft.com/office/drawing/2014/main" id="{3637B329-27DE-51CE-F4B6-EB1199B2177F}"/>
              </a:ext>
            </a:extLst>
          </p:cNvPr>
          <p:cNvSpPr>
            <a:spLocks noGrp="1"/>
          </p:cNvSpPr>
          <p:nvPr>
            <p:ph type="body" sz="quarter" idx="35" hasCustomPrompt="1"/>
          </p:nvPr>
        </p:nvSpPr>
        <p:spPr>
          <a:xfrm>
            <a:off x="365125" y="1303338"/>
            <a:ext cx="5601600" cy="4488605"/>
          </a:xfrm>
          <a:prstGeom prst="roundRect">
            <a:avLst>
              <a:gd name="adj" fmla="val 3915"/>
            </a:avLst>
          </a:prstGeom>
          <a:solidFill>
            <a:schemeClr val="bg1">
              <a:lumMod val="95000"/>
            </a:schemeClr>
          </a:solidFill>
          <a:ln>
            <a:noFill/>
          </a:ln>
        </p:spPr>
        <p:txBody>
          <a:bodyPr wrap="square" tIns="1080000">
            <a:noAutofit/>
          </a:bodyPr>
          <a:lstStyle>
            <a:lvl1pPr>
              <a:defRPr/>
            </a:lvl1pPr>
          </a:lstStyle>
          <a:p>
            <a:pPr lvl="0"/>
            <a:r>
              <a:rPr lang="en-US" dirty="0"/>
              <a:t>Click to enter TEXT content ONLY.</a:t>
            </a:r>
            <a:br>
              <a:rPr lang="en-US" dirty="0"/>
            </a:br>
            <a:r>
              <a:rPr lang="en-US" dirty="0"/>
              <a:t>If text appears outside of grey placeholder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23" name="Text Placeholder 5"/>
          <p:cNvSpPr>
            <a:spLocks noGrp="1"/>
          </p:cNvSpPr>
          <p:nvPr>
            <p:ph type="body" sz="quarter" idx="31" hasCustomPrompt="1"/>
          </p:nvPr>
        </p:nvSpPr>
        <p:spPr>
          <a:xfrm>
            <a:off x="365125" y="5791943"/>
            <a:ext cx="5607050" cy="299295"/>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24" name="Text Placeholder 5"/>
          <p:cNvSpPr>
            <a:spLocks noGrp="1"/>
          </p:cNvSpPr>
          <p:nvPr>
            <p:ph type="body" sz="quarter" idx="20" hasCustomPrompt="1"/>
          </p:nvPr>
        </p:nvSpPr>
        <p:spPr>
          <a:xfrm>
            <a:off x="6216325" y="5792438"/>
            <a:ext cx="56089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dirty="0"/>
              <a:t>Insert Source text here</a:t>
            </a:r>
          </a:p>
        </p:txBody>
      </p:sp>
      <p:sp>
        <p:nvSpPr>
          <p:cNvPr id="4" name="Date Placeholder 3">
            <a:extLst>
              <a:ext uri="{FF2B5EF4-FFF2-40B4-BE49-F238E27FC236}">
                <a16:creationId xmlns:a16="http://schemas.microsoft.com/office/drawing/2014/main" id="{888E3DBB-00A9-4F08-A07C-9ED9733E007D}"/>
              </a:ext>
            </a:extLst>
          </p:cNvPr>
          <p:cNvSpPr>
            <a:spLocks noGrp="1"/>
          </p:cNvSpPr>
          <p:nvPr>
            <p:ph type="dt" sz="half" idx="32"/>
          </p:nvPr>
        </p:nvSpPr>
        <p:spPr/>
        <p:txBody>
          <a:bodyPr/>
          <a:lstStyle/>
          <a:p>
            <a:fld id="{329A7F44-2586-49BC-8913-4137AFF3B593}" type="datetime3">
              <a:rPr lang="en-US" smtClean="0"/>
              <a:t>20 July 2025</a:t>
            </a:fld>
            <a:endParaRPr lang="en-GB" dirty="0"/>
          </a:p>
        </p:txBody>
      </p:sp>
      <p:sp>
        <p:nvSpPr>
          <p:cNvPr id="5" name="Footer Placeholder 4">
            <a:extLst>
              <a:ext uri="{FF2B5EF4-FFF2-40B4-BE49-F238E27FC236}">
                <a16:creationId xmlns:a16="http://schemas.microsoft.com/office/drawing/2014/main" id="{6EE37A7E-4BE8-4B01-BC5B-6FE33BA2DB0A}"/>
              </a:ext>
            </a:extLst>
          </p:cNvPr>
          <p:cNvSpPr>
            <a:spLocks noGrp="1"/>
          </p:cNvSpPr>
          <p:nvPr>
            <p:ph type="ftr" sz="quarter" idx="33"/>
          </p:nvPr>
        </p:nvSpPr>
        <p:spPr/>
        <p:txBody>
          <a:bodyPr/>
          <a:lstStyle/>
          <a:p>
            <a:endParaRPr lang="en-GB" dirty="0"/>
          </a:p>
        </p:txBody>
      </p:sp>
      <p:sp>
        <p:nvSpPr>
          <p:cNvPr id="9" name="Slide Number Placeholder 8">
            <a:extLst>
              <a:ext uri="{FF2B5EF4-FFF2-40B4-BE49-F238E27FC236}">
                <a16:creationId xmlns:a16="http://schemas.microsoft.com/office/drawing/2014/main" id="{2D87596A-DFCB-4141-B4D9-E82973630099}"/>
              </a:ext>
            </a:extLst>
          </p:cNvPr>
          <p:cNvSpPr>
            <a:spLocks noGrp="1"/>
          </p:cNvSpPr>
          <p:nvPr>
            <p:ph type="sldNum" sz="quarter" idx="34"/>
          </p:nvPr>
        </p:nvSpPr>
        <p:spPr/>
        <p:txBody>
          <a:bodyPr/>
          <a:lstStyle/>
          <a:p>
            <a:fld id="{9F9F533D-B52E-4A2F-BF72-0ADD2D94BD75}" type="slidenum">
              <a:rPr lang="en-GB" smtClean="0"/>
              <a:pPr/>
              <a:t>‹#›</a:t>
            </a:fld>
            <a:endParaRPr lang="en-GB" dirty="0"/>
          </a:p>
        </p:txBody>
      </p:sp>
      <p:sp>
        <p:nvSpPr>
          <p:cNvPr id="29" name="Text Placeholder 2">
            <a:extLst>
              <a:ext uri="{FF2B5EF4-FFF2-40B4-BE49-F238E27FC236}">
                <a16:creationId xmlns:a16="http://schemas.microsoft.com/office/drawing/2014/main" id="{ED8B1503-3382-4C3A-A672-A88D048E0DA0}"/>
              </a:ext>
            </a:extLst>
          </p:cNvPr>
          <p:cNvSpPr>
            <a:spLocks noGrp="1"/>
          </p:cNvSpPr>
          <p:nvPr>
            <p:ph type="body" idx="19" hasCustomPrompt="1"/>
          </p:nvPr>
        </p:nvSpPr>
        <p:spPr>
          <a:xfrm>
            <a:off x="532525" y="1454538"/>
            <a:ext cx="52668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30" name="Text Placeholder 2">
            <a:extLst>
              <a:ext uri="{FF2B5EF4-FFF2-40B4-BE49-F238E27FC236}">
                <a16:creationId xmlns:a16="http://schemas.microsoft.com/office/drawing/2014/main" id="{7CC1C57B-5831-4901-8605-655DBB075B25}"/>
              </a:ext>
            </a:extLst>
          </p:cNvPr>
          <p:cNvSpPr>
            <a:spLocks noGrp="1"/>
          </p:cNvSpPr>
          <p:nvPr>
            <p:ph type="body" idx="21" hasCustomPrompt="1"/>
          </p:nvPr>
        </p:nvSpPr>
        <p:spPr>
          <a:xfrm>
            <a:off x="6391644" y="1454538"/>
            <a:ext cx="5265000" cy="781200"/>
          </a:xfrm>
          <a:prstGeom prst="rect">
            <a:avLst/>
          </a:prstGeom>
        </p:spPr>
        <p:txBody>
          <a:bodyPr wrap="square" lIns="0" tIns="72000" rIns="0" bIns="72000" anchor="t" anchorCtr="0">
            <a:noAutofit/>
          </a:bodyPr>
          <a:lstStyle>
            <a:lvl1pPr marL="0" indent="0">
              <a:spcBef>
                <a:spcPts val="0"/>
              </a:spcBef>
              <a:spcAft>
                <a:spcPts val="0"/>
              </a:spcAft>
              <a:buNone/>
              <a:defRPr sz="24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dirty="0"/>
              <a:t>Click to enter</a:t>
            </a:r>
            <a:br>
              <a:rPr lang="en-GB" dirty="0"/>
            </a:br>
            <a:r>
              <a:rPr lang="en-GB" dirty="0"/>
              <a:t>subheading text</a:t>
            </a:r>
          </a:p>
        </p:txBody>
      </p:sp>
      <p:sp>
        <p:nvSpPr>
          <p:cNvPr id="15" name="Title 1">
            <a:extLst>
              <a:ext uri="{FF2B5EF4-FFF2-40B4-BE49-F238E27FC236}">
                <a16:creationId xmlns:a16="http://schemas.microsoft.com/office/drawing/2014/main" id="{2B8AF01B-B7EE-69F0-3113-1E07C2D58722}"/>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6" name="Subtitle 2">
            <a:extLst>
              <a:ext uri="{FF2B5EF4-FFF2-40B4-BE49-F238E27FC236}">
                <a16:creationId xmlns:a16="http://schemas.microsoft.com/office/drawing/2014/main" id="{A10D87C1-85C7-40B7-3EF5-0997E04A30B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00DBE383-AB10-CC3B-D342-10443E02C9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0768114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Video, Title and Subtitle (16x9)">
    <p:spTree>
      <p:nvGrpSpPr>
        <p:cNvPr id="1" name=""/>
        <p:cNvGrpSpPr/>
        <p:nvPr/>
      </p:nvGrpSpPr>
      <p:grpSpPr>
        <a:xfrm>
          <a:off x="0" y="0"/>
          <a:ext cx="0" cy="0"/>
          <a:chOff x="0" y="0"/>
          <a:chExt cx="0" cy="0"/>
        </a:xfrm>
      </p:grpSpPr>
      <p:sp>
        <p:nvSpPr>
          <p:cNvPr id="6" name="Media Placeholder 5"/>
          <p:cNvSpPr>
            <a:spLocks noGrp="1" noChangeAspect="1"/>
          </p:cNvSpPr>
          <p:nvPr>
            <p:ph type="media" sz="quarter" idx="12" hasCustomPrompt="1"/>
          </p:nvPr>
        </p:nvSpPr>
        <p:spPr>
          <a:xfrm>
            <a:off x="2106790" y="1303338"/>
            <a:ext cx="7978421" cy="4487862"/>
          </a:xfrm>
          <a:prstGeom prst="roundRect">
            <a:avLst>
              <a:gd name="adj" fmla="val 3818"/>
            </a:avLst>
          </a:prstGeom>
          <a:solidFill>
            <a:schemeClr val="bg1">
              <a:lumMod val="95000"/>
            </a:schemeClr>
          </a:solidFill>
          <a:ln>
            <a:noFill/>
          </a:ln>
        </p:spPr>
        <p:txBody>
          <a:bodyPr lIns="108000" tIns="1008000">
            <a:noAutofit/>
          </a:bodyPr>
          <a:lstStyle>
            <a:lvl1pPr marL="0" indent="0" algn="ctr">
              <a:buNone/>
              <a:defRPr sz="2200" baseline="0">
                <a:solidFill>
                  <a:schemeClr val="tx1"/>
                </a:solidFill>
              </a:defRPr>
            </a:lvl1pPr>
          </a:lstStyle>
          <a:p>
            <a:r>
              <a:rPr lang="en-GB" dirty="0"/>
              <a:t>[Click on the film icon to insert video]</a:t>
            </a:r>
          </a:p>
        </p:txBody>
      </p:sp>
      <p:sp>
        <p:nvSpPr>
          <p:cNvPr id="3" name="Date Placeholder 2">
            <a:extLst>
              <a:ext uri="{FF2B5EF4-FFF2-40B4-BE49-F238E27FC236}">
                <a16:creationId xmlns:a16="http://schemas.microsoft.com/office/drawing/2014/main" id="{EFF92204-289D-4897-A24D-92B4E89E417A}"/>
              </a:ext>
            </a:extLst>
          </p:cNvPr>
          <p:cNvSpPr>
            <a:spLocks noGrp="1"/>
          </p:cNvSpPr>
          <p:nvPr>
            <p:ph type="dt" sz="half" idx="15"/>
          </p:nvPr>
        </p:nvSpPr>
        <p:spPr/>
        <p:txBody>
          <a:bodyPr/>
          <a:lstStyle/>
          <a:p>
            <a:fld id="{CD5C5BFA-73E6-4C09-AF57-C3FAD9106849}" type="datetime3">
              <a:rPr lang="en-US" smtClean="0"/>
              <a:t>20 July 2025</a:t>
            </a:fld>
            <a:endParaRPr lang="en-GB" dirty="0"/>
          </a:p>
        </p:txBody>
      </p:sp>
      <p:sp>
        <p:nvSpPr>
          <p:cNvPr id="4" name="Footer Placeholder 3">
            <a:extLst>
              <a:ext uri="{FF2B5EF4-FFF2-40B4-BE49-F238E27FC236}">
                <a16:creationId xmlns:a16="http://schemas.microsoft.com/office/drawing/2014/main" id="{9D8A5764-43D8-49B1-8CCF-1E44D258B4F9}"/>
              </a:ext>
            </a:extLst>
          </p:cNvPr>
          <p:cNvSpPr>
            <a:spLocks noGrp="1"/>
          </p:cNvSpPr>
          <p:nvPr>
            <p:ph type="ftr" sz="quarter" idx="16"/>
          </p:nvPr>
        </p:nvSpPr>
        <p:spPr/>
        <p:txBody>
          <a:bodyPr/>
          <a:lstStyle/>
          <a:p>
            <a:endParaRPr lang="en-GB" dirty="0"/>
          </a:p>
        </p:txBody>
      </p:sp>
      <p:sp>
        <p:nvSpPr>
          <p:cNvPr id="9" name="Slide Number Placeholder 8">
            <a:extLst>
              <a:ext uri="{FF2B5EF4-FFF2-40B4-BE49-F238E27FC236}">
                <a16:creationId xmlns:a16="http://schemas.microsoft.com/office/drawing/2014/main" id="{2BA25ACE-65A6-48E3-AD24-12A240BC4B44}"/>
              </a:ext>
            </a:extLst>
          </p:cNvPr>
          <p:cNvSpPr>
            <a:spLocks noGrp="1"/>
          </p:cNvSpPr>
          <p:nvPr>
            <p:ph type="sldNum" sz="quarter" idx="17"/>
          </p:nvPr>
        </p:nvSpPr>
        <p:spPr/>
        <p:txBody>
          <a:bodyPr/>
          <a:lstStyle/>
          <a:p>
            <a:fld id="{9F9F533D-B52E-4A2F-BF72-0ADD2D94BD75}" type="slidenum">
              <a:rPr lang="en-GB" smtClean="0"/>
              <a:pPr/>
              <a:t>‹#›</a:t>
            </a:fld>
            <a:endParaRPr lang="en-GB" dirty="0"/>
          </a:p>
        </p:txBody>
      </p:sp>
      <p:sp>
        <p:nvSpPr>
          <p:cNvPr id="11" name="Title 1">
            <a:extLst>
              <a:ext uri="{FF2B5EF4-FFF2-40B4-BE49-F238E27FC236}">
                <a16:creationId xmlns:a16="http://schemas.microsoft.com/office/drawing/2014/main" id="{BF9DC526-9754-7DE6-EAC5-B9EB6B6E3CF3}"/>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F9C0347F-097D-6010-8D87-88D141F8B2F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3" name="Text Placeholder 5">
            <a:extLst>
              <a:ext uri="{FF2B5EF4-FFF2-40B4-BE49-F238E27FC236}">
                <a16:creationId xmlns:a16="http://schemas.microsoft.com/office/drawing/2014/main" id="{A123D2E9-B2C7-255F-E578-0BCEF8C8BFCD}"/>
              </a:ext>
            </a:extLst>
          </p:cNvPr>
          <p:cNvSpPr>
            <a:spLocks noGrp="1"/>
          </p:cNvSpPr>
          <p:nvPr>
            <p:ph type="body" sz="quarter" idx="18" hasCustomPrompt="1"/>
          </p:nvPr>
        </p:nvSpPr>
        <p:spPr>
          <a:xfrm>
            <a:off x="365125" y="5792438"/>
            <a:ext cx="11460163"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15" name="Freeform: Shape 14">
            <a:extLst>
              <a:ext uri="{FF2B5EF4-FFF2-40B4-BE49-F238E27FC236}">
                <a16:creationId xmlns:a16="http://schemas.microsoft.com/office/drawing/2014/main" id="{73180677-148E-F381-0168-9327D51EF5C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28986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Video Widescreen (16x9)">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485344A2-1C9C-FB10-07A8-CED6CF027454}"/>
              </a:ext>
            </a:extLst>
          </p:cNvPr>
          <p:cNvSpPr>
            <a:spLocks noGrp="1"/>
          </p:cNvSpPr>
          <p:nvPr>
            <p:ph type="sldNum" sz="quarter" idx="15"/>
          </p:nvPr>
        </p:nvSpPr>
        <p:spPr/>
        <p:txBody>
          <a:bodyPr/>
          <a:lstStyle/>
          <a:p>
            <a:fld id="{9F9F533D-B52E-4A2F-BF72-0ADD2D94BD75}" type="slidenum">
              <a:rPr lang="en-GB" smtClean="0"/>
              <a:pPr/>
              <a:t>‹#›</a:t>
            </a:fld>
            <a:endParaRPr lang="en-GB" dirty="0"/>
          </a:p>
        </p:txBody>
      </p:sp>
      <p:sp>
        <p:nvSpPr>
          <p:cNvPr id="5" name="Media Placeholder 5"/>
          <p:cNvSpPr>
            <a:spLocks noGrp="1" noChangeAspect="1"/>
          </p:cNvSpPr>
          <p:nvPr>
            <p:ph type="media" sz="quarter" idx="12" hasCustomPrompt="1"/>
          </p:nvPr>
        </p:nvSpPr>
        <p:spPr>
          <a:xfrm>
            <a:off x="242888" y="242888"/>
            <a:ext cx="11352439" cy="6384013"/>
          </a:xfrm>
          <a:prstGeom prst="roundRect">
            <a:avLst>
              <a:gd name="adj" fmla="val 2727"/>
            </a:avLst>
          </a:prstGeom>
          <a:solidFill>
            <a:schemeClr val="bg1">
              <a:lumMod val="95000"/>
            </a:schemeClr>
          </a:solidFill>
          <a:ln>
            <a:noFill/>
          </a:ln>
        </p:spPr>
        <p:txBody>
          <a:bodyPr lIns="108000" tIns="108000" bIns="1224000" anchor="ctr">
            <a:noAutofit/>
          </a:bodyPr>
          <a:lstStyle>
            <a:lvl1pPr marL="0" indent="0" algn="ctr">
              <a:buNone/>
              <a:defRPr sz="2200" i="0" baseline="0">
                <a:solidFill>
                  <a:schemeClr val="tx1"/>
                </a:solidFill>
              </a:defRPr>
            </a:lvl1pPr>
          </a:lstStyle>
          <a:p>
            <a:r>
              <a:rPr lang="en-GB" dirty="0"/>
              <a:t>[Click on the film icon to insert video]</a:t>
            </a:r>
          </a:p>
        </p:txBody>
      </p:sp>
    </p:spTree>
    <p:extLst>
      <p:ext uri="{BB962C8B-B14F-4D97-AF65-F5344CB8AC3E}">
        <p14:creationId xmlns:p14="http://schemas.microsoft.com/office/powerpoint/2010/main" val="345972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Image and Text 1">
    <p:spTree>
      <p:nvGrpSpPr>
        <p:cNvPr id="1" name=""/>
        <p:cNvGrpSpPr/>
        <p:nvPr/>
      </p:nvGrpSpPr>
      <p:grpSpPr>
        <a:xfrm>
          <a:off x="0" y="0"/>
          <a:ext cx="0" cy="0"/>
          <a:chOff x="0" y="0"/>
          <a:chExt cx="0" cy="0"/>
        </a:xfrm>
      </p:grpSpPr>
      <p:sp>
        <p:nvSpPr>
          <p:cNvPr id="13" name="Picture Placeholder 8"/>
          <p:cNvSpPr>
            <a:spLocks noGrp="1"/>
          </p:cNvSpPr>
          <p:nvPr>
            <p:ph type="pic" sz="quarter" idx="14" hasCustomPrompt="1"/>
          </p:nvPr>
        </p:nvSpPr>
        <p:spPr>
          <a:xfrm>
            <a:off x="8172451" y="1303338"/>
            <a:ext cx="3652838" cy="4787862"/>
          </a:xfrm>
          <a:prstGeom prst="roundRect">
            <a:avLst>
              <a:gd name="adj" fmla="val 4782"/>
            </a:avLst>
          </a:prstGeom>
          <a:solidFill>
            <a:schemeClr val="bg1">
              <a:lumMod val="95000"/>
            </a:schemeClr>
          </a:solidFill>
          <a:ln>
            <a:noFill/>
          </a:ln>
        </p:spPr>
        <p:txBody>
          <a:bodyPr lIns="180000" tIns="576000" bIns="72000" anchor="ctr">
            <a:noAutofit/>
          </a:bodyPr>
          <a:lstStyle>
            <a:lvl1pPr marL="0" indent="0" algn="ctr">
              <a:buNone/>
              <a:defRPr sz="20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r>
              <a:rPr lang="en-GB" dirty="0"/>
              <a:t>[The image can then be scaled within the frame by using the ‘Crop’ feature in the ‘Picture Format’ tab of the ribbon.</a:t>
            </a:r>
            <a:r>
              <a:rPr lang="en-US" dirty="0"/>
              <a:t> Right click on image to add/edit alt text</a:t>
            </a:r>
            <a:r>
              <a:rPr lang="en-GB" dirty="0"/>
              <a:t>]</a:t>
            </a:r>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CA1B3880-8A87-41DC-8313-1D248B05B39F}"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175B623F-E1ED-BC6F-EAB9-2F7C7BB5A0A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4" name="Subtitle 2">
            <a:extLst>
              <a:ext uri="{FF2B5EF4-FFF2-40B4-BE49-F238E27FC236}">
                <a16:creationId xmlns:a16="http://schemas.microsoft.com/office/drawing/2014/main" id="{05B934E4-D94D-494D-8E16-6927D2105C4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4C03FD5-9F96-2D56-07D6-C43A8485D860}"/>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993281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Image and Text 2">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710E2EBD-4DBA-A411-89A3-C363C68F935D}"/>
              </a:ext>
            </a:extLst>
          </p:cNvPr>
          <p:cNvGraphicFramePr>
            <a:graphicFrameLocks noChangeAspect="1"/>
          </p:cNvGraphicFramePr>
          <p:nvPr userDrawn="1">
            <p:custDataLst>
              <p:tags r:id="rId1"/>
            </p:custDataLst>
            <p:extLst>
              <p:ext uri="{D42A27DB-BD31-4B8C-83A1-F6EECF244321}">
                <p14:modId xmlns:p14="http://schemas.microsoft.com/office/powerpoint/2010/main" val="179607929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6" name="Object 5" hidden="1">
                        <a:extLst>
                          <a:ext uri="{FF2B5EF4-FFF2-40B4-BE49-F238E27FC236}">
                            <a16:creationId xmlns:a16="http://schemas.microsoft.com/office/drawing/2014/main" id="{710E2EBD-4DBA-A411-89A3-C363C68F935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618713A5-FC6D-49E3-9C71-A7437499C9EA}"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8" name="Picture Placeholder 17">
            <a:extLst>
              <a:ext uri="{FF2B5EF4-FFF2-40B4-BE49-F238E27FC236}">
                <a16:creationId xmlns:a16="http://schemas.microsoft.com/office/drawing/2014/main" id="{E219C323-6E00-D14B-433A-AFFED48030D6}"/>
              </a:ext>
            </a:extLst>
          </p:cNvPr>
          <p:cNvSpPr>
            <a:spLocks noGrp="1"/>
          </p:cNvSpPr>
          <p:nvPr>
            <p:ph type="pic" sz="quarter" idx="14" hasCustomPrompt="1"/>
          </p:nvPr>
        </p:nvSpPr>
        <p:spPr>
          <a:xfrm>
            <a:off x="4270375" y="1303337"/>
            <a:ext cx="7554913" cy="4788000"/>
          </a:xfrm>
          <a:custGeom>
            <a:avLst/>
            <a:gdLst>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26638 w 7554913"/>
              <a:gd name="connsiteY8" fmla="*/ 1402309 h 4788000"/>
              <a:gd name="connsiteX9" fmla="*/ 807326 w 7554913"/>
              <a:gd name="connsiteY9" fmla="*/ 937371 h 4788000"/>
              <a:gd name="connsiteX10" fmla="*/ 850924 w 7554913"/>
              <a:gd name="connsiteY10" fmla="*/ 893772 h 4788000"/>
              <a:gd name="connsiteX11" fmla="*/ 850924 w 7554913"/>
              <a:gd name="connsiteY11" fmla="*/ 639447 h 4788000"/>
              <a:gd name="connsiteX12" fmla="*/ 1360669 w 7554913"/>
              <a:gd name="connsiteY12" fmla="*/ 12872 h 4788000"/>
              <a:gd name="connsiteX13" fmla="*/ 1482160 w 7554913"/>
              <a:gd name="connsiteY13" fmla="*/ 815 h 4788000"/>
              <a:gd name="connsiteX14" fmla="*/ 1697038 w 7554913"/>
              <a:gd name="connsiteY14" fmla="*/ 815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4892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 name="connsiteX0" fmla="*/ 1697038 w 7554913"/>
              <a:gd name="connsiteY0" fmla="*/ 0 h 4788000"/>
              <a:gd name="connsiteX1" fmla="*/ 7378379 w 7554913"/>
              <a:gd name="connsiteY1" fmla="*/ 0 h 4788000"/>
              <a:gd name="connsiteX2" fmla="*/ 7554913 w 7554913"/>
              <a:gd name="connsiteY2" fmla="*/ 176534 h 4788000"/>
              <a:gd name="connsiteX3" fmla="*/ 7554913 w 7554913"/>
              <a:gd name="connsiteY3" fmla="*/ 4611466 h 4788000"/>
              <a:gd name="connsiteX4" fmla="*/ 7378379 w 7554913"/>
              <a:gd name="connsiteY4" fmla="*/ 4788000 h 4788000"/>
              <a:gd name="connsiteX5" fmla="*/ 176534 w 7554913"/>
              <a:gd name="connsiteY5" fmla="*/ 4788000 h 4788000"/>
              <a:gd name="connsiteX6" fmla="*/ 0 w 7554913"/>
              <a:gd name="connsiteY6" fmla="*/ 4611466 h 4788000"/>
              <a:gd name="connsiteX7" fmla="*/ 0 w 7554913"/>
              <a:gd name="connsiteY7" fmla="*/ 1552711 h 4788000"/>
              <a:gd name="connsiteX8" fmla="*/ 807326 w 7554913"/>
              <a:gd name="connsiteY8" fmla="*/ 937371 h 4788000"/>
              <a:gd name="connsiteX9" fmla="*/ 850924 w 7554913"/>
              <a:gd name="connsiteY9" fmla="*/ 893772 h 4788000"/>
              <a:gd name="connsiteX10" fmla="*/ 850924 w 7554913"/>
              <a:gd name="connsiteY10" fmla="*/ 639447 h 4788000"/>
              <a:gd name="connsiteX11" fmla="*/ 1360669 w 7554913"/>
              <a:gd name="connsiteY11" fmla="*/ 12872 h 4788000"/>
              <a:gd name="connsiteX12" fmla="*/ 1482160 w 7554913"/>
              <a:gd name="connsiteY12" fmla="*/ 815 h 4788000"/>
              <a:gd name="connsiteX13" fmla="*/ 1697038 w 7554913"/>
              <a:gd name="connsiteY13" fmla="*/ 815 h 4788000"/>
              <a:gd name="connsiteX14" fmla="*/ 1697038 w 7554913"/>
              <a:gd name="connsiteY14" fmla="*/ 0 h 478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8000">
                <a:moveTo>
                  <a:pt x="1697038" y="0"/>
                </a:moveTo>
                <a:lnTo>
                  <a:pt x="7378379" y="0"/>
                </a:lnTo>
                <a:cubicBezTo>
                  <a:pt x="7475876" y="0"/>
                  <a:pt x="7554913" y="79037"/>
                  <a:pt x="7554913" y="176534"/>
                </a:cubicBezTo>
                <a:lnTo>
                  <a:pt x="7554913" y="4611466"/>
                </a:lnTo>
                <a:cubicBezTo>
                  <a:pt x="7554913" y="4708963"/>
                  <a:pt x="7475876" y="4788000"/>
                  <a:pt x="7378379" y="4788000"/>
                </a:cubicBezTo>
                <a:lnTo>
                  <a:pt x="176534" y="4788000"/>
                </a:lnTo>
                <a:cubicBezTo>
                  <a:pt x="79037" y="4788000"/>
                  <a:pt x="0" y="4708963"/>
                  <a:pt x="0" y="4611466"/>
                </a:cubicBezTo>
                <a:lnTo>
                  <a:pt x="0" y="1552711"/>
                </a:lnTo>
                <a:cubicBezTo>
                  <a:pt x="8759" y="1063964"/>
                  <a:pt x="590287" y="923198"/>
                  <a:pt x="807326" y="937371"/>
                </a:cubicBezTo>
                <a:cubicBezTo>
                  <a:pt x="836392" y="937371"/>
                  <a:pt x="850924" y="915573"/>
                  <a:pt x="850924" y="893772"/>
                </a:cubicBezTo>
                <a:lnTo>
                  <a:pt x="850924" y="639447"/>
                </a:lnTo>
                <a:cubicBezTo>
                  <a:pt x="850924" y="327898"/>
                  <a:pt x="1067897" y="71983"/>
                  <a:pt x="1360669" y="12872"/>
                </a:cubicBezTo>
                <a:lnTo>
                  <a:pt x="1482160" y="815"/>
                </a:lnTo>
                <a:lnTo>
                  <a:pt x="1697038" y="815"/>
                </a:lnTo>
                <a:lnTo>
                  <a:pt x="1697038" y="0"/>
                </a:ln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A2B84926-EEA3-D13A-C1FB-3FEC18A73AF9}"/>
              </a:ext>
            </a:extLst>
          </p:cNvPr>
          <p:cNvSpPr>
            <a:spLocks noGrp="1"/>
          </p:cNvSpPr>
          <p:nvPr>
            <p:ph type="title"/>
          </p:nvPr>
        </p:nvSpPr>
        <p:spPr>
          <a:xfrm>
            <a:off x="365125" y="242888"/>
            <a:ext cx="11460163" cy="430887"/>
          </a:xfrm>
        </p:spPr>
        <p:txBody>
          <a:bodyPr vert="horz"/>
          <a:lstStyle/>
          <a:p>
            <a:r>
              <a:rPr lang="en-US"/>
              <a:t>Click to edit Master title style</a:t>
            </a:r>
            <a:endParaRPr lang="en-US" dirty="0"/>
          </a:p>
        </p:txBody>
      </p:sp>
      <p:sp>
        <p:nvSpPr>
          <p:cNvPr id="11" name="Subtitle 2">
            <a:extLst>
              <a:ext uri="{FF2B5EF4-FFF2-40B4-BE49-F238E27FC236}">
                <a16:creationId xmlns:a16="http://schemas.microsoft.com/office/drawing/2014/main" id="{E1464933-1F00-DED1-00C8-C81A38AE38F7}"/>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62DCCF40-1773-437E-7AB4-DDD201CB4D4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3538319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Image and Text 3">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1303338"/>
            <a:ext cx="3652838" cy="4489062"/>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8E4DF6F6-A877-4E32-93DB-54628E6C598D}"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17" name="Picture Placeholder 16">
            <a:extLst>
              <a:ext uri="{FF2B5EF4-FFF2-40B4-BE49-F238E27FC236}">
                <a16:creationId xmlns:a16="http://schemas.microsoft.com/office/drawing/2014/main" id="{78DB8D52-5A42-AF02-A231-C38CC50C6F79}"/>
              </a:ext>
            </a:extLst>
          </p:cNvPr>
          <p:cNvSpPr>
            <a:spLocks noGrp="1"/>
          </p:cNvSpPr>
          <p:nvPr>
            <p:ph type="pic" sz="quarter" idx="14" hasCustomPrompt="1"/>
          </p:nvPr>
        </p:nvSpPr>
        <p:spPr>
          <a:xfrm>
            <a:off x="4270375" y="1303337"/>
            <a:ext cx="7554913" cy="4787900"/>
          </a:xfrm>
          <a:custGeom>
            <a:avLst/>
            <a:gdLst>
              <a:gd name="connsiteX0" fmla="*/ 176482 w 7554913"/>
              <a:gd name="connsiteY0" fmla="*/ 0 h 4787900"/>
              <a:gd name="connsiteX1" fmla="*/ 7378431 w 7554913"/>
              <a:gd name="connsiteY1" fmla="*/ 0 h 4787900"/>
              <a:gd name="connsiteX2" fmla="*/ 7554913 w 7554913"/>
              <a:gd name="connsiteY2" fmla="*/ 176482 h 4787900"/>
              <a:gd name="connsiteX3" fmla="*/ 7554913 w 7554913"/>
              <a:gd name="connsiteY3" fmla="*/ 4611418 h 4787900"/>
              <a:gd name="connsiteX4" fmla="*/ 7378431 w 7554913"/>
              <a:gd name="connsiteY4" fmla="*/ 4787900 h 4787900"/>
              <a:gd name="connsiteX5" fmla="*/ 176482 w 7554913"/>
              <a:gd name="connsiteY5" fmla="*/ 4787900 h 4787900"/>
              <a:gd name="connsiteX6" fmla="*/ 0 w 7554913"/>
              <a:gd name="connsiteY6" fmla="*/ 4611418 h 4787900"/>
              <a:gd name="connsiteX7" fmla="*/ 0 w 7554913"/>
              <a:gd name="connsiteY7" fmla="*/ 2799479 h 4787900"/>
              <a:gd name="connsiteX8" fmla="*/ 3012 w 7554913"/>
              <a:gd name="connsiteY8" fmla="*/ 2763995 h 4787900"/>
              <a:gd name="connsiteX9" fmla="*/ 415133 w 7554913"/>
              <a:gd name="connsiteY9" fmla="*/ 2402680 h 4787900"/>
              <a:gd name="connsiteX10" fmla="*/ 415133 w 7554913"/>
              <a:gd name="connsiteY10" fmla="*/ 2385217 h 4787900"/>
              <a:gd name="connsiteX11" fmla="*/ 3012 w 7554913"/>
              <a:gd name="connsiteY11" fmla="*/ 2023907 h 4787900"/>
              <a:gd name="connsiteX12" fmla="*/ 0 w 7554913"/>
              <a:gd name="connsiteY12" fmla="*/ 1988423 h 4787900"/>
              <a:gd name="connsiteX13" fmla="*/ 0 w 7554913"/>
              <a:gd name="connsiteY13" fmla="*/ 176482 h 4787900"/>
              <a:gd name="connsiteX14" fmla="*/ 176482 w 7554913"/>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554913" h="4787900">
                <a:moveTo>
                  <a:pt x="176482" y="0"/>
                </a:moveTo>
                <a:lnTo>
                  <a:pt x="7378431" y="0"/>
                </a:lnTo>
                <a:cubicBezTo>
                  <a:pt x="7475899" y="0"/>
                  <a:pt x="7554913" y="79014"/>
                  <a:pt x="7554913" y="176482"/>
                </a:cubicBezTo>
                <a:lnTo>
                  <a:pt x="7554913" y="4611418"/>
                </a:lnTo>
                <a:cubicBezTo>
                  <a:pt x="7554913" y="4708886"/>
                  <a:pt x="7475899" y="4787900"/>
                  <a:pt x="7378431" y="4787900"/>
                </a:cubicBezTo>
                <a:lnTo>
                  <a:pt x="176482" y="4787900"/>
                </a:lnTo>
                <a:cubicBezTo>
                  <a:pt x="79014" y="4787900"/>
                  <a:pt x="0" y="4708886"/>
                  <a:pt x="0" y="4611418"/>
                </a:cubicBezTo>
                <a:lnTo>
                  <a:pt x="0" y="2799479"/>
                </a:lnTo>
                <a:lnTo>
                  <a:pt x="3012" y="2763995"/>
                </a:lnTo>
                <a:cubicBezTo>
                  <a:pt x="35433" y="2581833"/>
                  <a:pt x="179824" y="2466853"/>
                  <a:pt x="415133" y="2402680"/>
                </a:cubicBezTo>
                <a:cubicBezTo>
                  <a:pt x="425612" y="2399188"/>
                  <a:pt x="425612" y="2388709"/>
                  <a:pt x="415133" y="2385217"/>
                </a:cubicBezTo>
                <a:cubicBezTo>
                  <a:pt x="179824" y="2321043"/>
                  <a:pt x="35433" y="2206068"/>
                  <a:pt x="3012" y="2023907"/>
                </a:cubicBezTo>
                <a:lnTo>
                  <a:pt x="0" y="1988423"/>
                </a:lnTo>
                <a:lnTo>
                  <a:pt x="0" y="176482"/>
                </a:lnTo>
                <a:cubicBezTo>
                  <a:pt x="0" y="79014"/>
                  <a:pt x="79014" y="0"/>
                  <a:pt x="176482" y="0"/>
                </a:cubicBezTo>
                <a:close/>
              </a:path>
            </a:pathLst>
          </a:custGeom>
          <a:solidFill>
            <a:schemeClr val="bg1">
              <a:lumMod val="95000"/>
            </a:schemeClr>
          </a:solidFill>
          <a:ln>
            <a:noFill/>
          </a:ln>
        </p:spPr>
        <p:txBody>
          <a:bodyPr wrap="square" lIns="72000" tIns="216000" rIns="72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10" name="Title 1">
            <a:extLst>
              <a:ext uri="{FF2B5EF4-FFF2-40B4-BE49-F238E27FC236}">
                <a16:creationId xmlns:a16="http://schemas.microsoft.com/office/drawing/2014/main" id="{D7744E32-9E6E-5A11-A7A0-D8AFCFEDB90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1" name="Subtitle 2">
            <a:extLst>
              <a:ext uri="{FF2B5EF4-FFF2-40B4-BE49-F238E27FC236}">
                <a16:creationId xmlns:a16="http://schemas.microsoft.com/office/drawing/2014/main" id="{89AF8F91-23D2-DD88-482D-7FAFF27C5132}"/>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9FB64EB2-7F66-5CCC-3945-F5156896877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085925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Image and Text 4">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CDFB8F13-AB38-63DB-D1F1-86B6EF73DD2A}"/>
              </a:ext>
            </a:extLst>
          </p:cNvPr>
          <p:cNvSpPr>
            <a:spLocks noGrp="1"/>
          </p:cNvSpPr>
          <p:nvPr>
            <p:ph type="pic" sz="quarter" idx="14" hasCustomPrompt="1"/>
          </p:nvPr>
        </p:nvSpPr>
        <p:spPr>
          <a:xfrm>
            <a:off x="8172451" y="242888"/>
            <a:ext cx="3652838" cy="5848312"/>
          </a:xfrm>
          <a:custGeom>
            <a:avLst/>
            <a:gdLst>
              <a:gd name="connsiteX0" fmla="*/ 190569 w 3652838"/>
              <a:gd name="connsiteY0" fmla="*/ 0 h 5848312"/>
              <a:gd name="connsiteX1" fmla="*/ 3462269 w 3652838"/>
              <a:gd name="connsiteY1" fmla="*/ 0 h 5848312"/>
              <a:gd name="connsiteX2" fmla="*/ 3652838 w 3652838"/>
              <a:gd name="connsiteY2" fmla="*/ 190569 h 5848312"/>
              <a:gd name="connsiteX3" fmla="*/ 3652838 w 3652838"/>
              <a:gd name="connsiteY3" fmla="*/ 5657743 h 5848312"/>
              <a:gd name="connsiteX4" fmla="*/ 3462269 w 3652838"/>
              <a:gd name="connsiteY4" fmla="*/ 5848312 h 5848312"/>
              <a:gd name="connsiteX5" fmla="*/ 190569 w 3652838"/>
              <a:gd name="connsiteY5" fmla="*/ 5848312 h 5848312"/>
              <a:gd name="connsiteX6" fmla="*/ 0 w 3652838"/>
              <a:gd name="connsiteY6" fmla="*/ 5657743 h 5848312"/>
              <a:gd name="connsiteX7" fmla="*/ 0 w 3652838"/>
              <a:gd name="connsiteY7" fmla="*/ 3402065 h 5848312"/>
              <a:gd name="connsiteX8" fmla="*/ 7373 w 3652838"/>
              <a:gd name="connsiteY8" fmla="*/ 3315183 h 5848312"/>
              <a:gd name="connsiteX9" fmla="*/ 442863 w 3652838"/>
              <a:gd name="connsiteY9" fmla="*/ 2933380 h 5848312"/>
              <a:gd name="connsiteX10" fmla="*/ 442863 w 3652838"/>
              <a:gd name="connsiteY10" fmla="*/ 2914928 h 5848312"/>
              <a:gd name="connsiteX11" fmla="*/ 7373 w 3652838"/>
              <a:gd name="connsiteY11" fmla="*/ 2533130 h 5848312"/>
              <a:gd name="connsiteX12" fmla="*/ 0 w 3652838"/>
              <a:gd name="connsiteY12" fmla="*/ 2446249 h 5848312"/>
              <a:gd name="connsiteX13" fmla="*/ 0 w 3652838"/>
              <a:gd name="connsiteY13" fmla="*/ 190569 h 5848312"/>
              <a:gd name="connsiteX14" fmla="*/ 190569 w 3652838"/>
              <a:gd name="connsiteY14" fmla="*/ 0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652838" h="5848312">
                <a:moveTo>
                  <a:pt x="190569" y="0"/>
                </a:moveTo>
                <a:lnTo>
                  <a:pt x="3462269" y="0"/>
                </a:lnTo>
                <a:cubicBezTo>
                  <a:pt x="3567517" y="0"/>
                  <a:pt x="3652838" y="85321"/>
                  <a:pt x="3652838" y="190569"/>
                </a:cubicBezTo>
                <a:lnTo>
                  <a:pt x="3652838" y="5657743"/>
                </a:lnTo>
                <a:cubicBezTo>
                  <a:pt x="3652838" y="5762991"/>
                  <a:pt x="3567517" y="5848312"/>
                  <a:pt x="3462269" y="5848312"/>
                </a:cubicBezTo>
                <a:lnTo>
                  <a:pt x="190569" y="5848312"/>
                </a:lnTo>
                <a:cubicBezTo>
                  <a:pt x="85321" y="5848312"/>
                  <a:pt x="0" y="5762991"/>
                  <a:pt x="0" y="5657743"/>
                </a:cubicBezTo>
                <a:lnTo>
                  <a:pt x="0" y="3402065"/>
                </a:lnTo>
                <a:lnTo>
                  <a:pt x="7373" y="3315183"/>
                </a:lnTo>
                <a:cubicBezTo>
                  <a:pt x="41632" y="3122692"/>
                  <a:pt x="194211" y="3001193"/>
                  <a:pt x="442863" y="2933380"/>
                </a:cubicBezTo>
                <a:cubicBezTo>
                  <a:pt x="453936" y="2929691"/>
                  <a:pt x="453936" y="2918617"/>
                  <a:pt x="442863" y="2914928"/>
                </a:cubicBezTo>
                <a:cubicBezTo>
                  <a:pt x="194211" y="2847115"/>
                  <a:pt x="41632" y="2725620"/>
                  <a:pt x="7373" y="2533130"/>
                </a:cubicBezTo>
                <a:lnTo>
                  <a:pt x="0" y="2446249"/>
                </a:lnTo>
                <a:lnTo>
                  <a:pt x="0" y="190569"/>
                </a:lnTo>
                <a:cubicBezTo>
                  <a:pt x="0" y="85321"/>
                  <a:pt x="85321" y="0"/>
                  <a:pt x="190569" y="0"/>
                </a:cubicBezTo>
                <a:close/>
              </a:path>
            </a:pathLst>
          </a:custGeom>
          <a:solidFill>
            <a:schemeClr val="bg1">
              <a:lumMod val="95000"/>
            </a:schemeClr>
          </a:solidFill>
          <a:ln>
            <a:noFill/>
          </a:ln>
        </p:spPr>
        <p:txBody>
          <a:bodyPr wrap="square" lIns="108000" tIns="576000" rIns="108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9" name="Text Placeholder 6"/>
          <p:cNvSpPr>
            <a:spLocks noGrp="1"/>
          </p:cNvSpPr>
          <p:nvPr>
            <p:ph type="body" sz="quarter" idx="13" hasCustomPrompt="1"/>
          </p:nvPr>
        </p:nvSpPr>
        <p:spPr>
          <a:xfrm>
            <a:off x="365125" y="1304101"/>
            <a:ext cx="7554913"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4116F949-B627-4565-AC44-FF764818EBCE}"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5" y="5792400"/>
            <a:ext cx="7555231"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C102126E-B6A8-2921-6EF1-1AB371E2B266}"/>
              </a:ext>
            </a:extLst>
          </p:cNvPr>
          <p:cNvSpPr>
            <a:spLocks noGrp="1"/>
          </p:cNvSpPr>
          <p:nvPr>
            <p:ph type="title"/>
          </p:nvPr>
        </p:nvSpPr>
        <p:spPr>
          <a:xfrm>
            <a:off x="365126" y="242888"/>
            <a:ext cx="7554912"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6475D3A0-2D66-AC67-134B-77A55D269BD2}"/>
              </a:ext>
            </a:extLst>
          </p:cNvPr>
          <p:cNvSpPr>
            <a:spLocks noGrp="1"/>
          </p:cNvSpPr>
          <p:nvPr>
            <p:ph type="subTitle" idx="1" hasCustomPrompt="1"/>
          </p:nvPr>
        </p:nvSpPr>
        <p:spPr>
          <a:xfrm>
            <a:off x="365125" y="694950"/>
            <a:ext cx="7554913"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21FF2E9-41D3-FCB0-8100-2CB5AD7B0637}"/>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924017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Image and Text 5">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7C1E2B43-F98E-82F3-DBAA-FC13402D7C79}"/>
              </a:ext>
            </a:extLst>
          </p:cNvPr>
          <p:cNvSpPr>
            <a:spLocks noGrp="1"/>
          </p:cNvSpPr>
          <p:nvPr>
            <p:ph type="pic" sz="quarter" idx="14" hasCustomPrompt="1"/>
          </p:nvPr>
        </p:nvSpPr>
        <p:spPr>
          <a:xfrm>
            <a:off x="4270375" y="242888"/>
            <a:ext cx="7554914" cy="5848312"/>
          </a:xfrm>
          <a:custGeom>
            <a:avLst/>
            <a:gdLst>
              <a:gd name="connsiteX0" fmla="*/ 2145019 w 7554914"/>
              <a:gd name="connsiteY0" fmla="*/ 0 h 5848312"/>
              <a:gd name="connsiteX1" fmla="*/ 7370751 w 7554914"/>
              <a:gd name="connsiteY1" fmla="*/ 0 h 5848312"/>
              <a:gd name="connsiteX2" fmla="*/ 7554914 w 7554914"/>
              <a:gd name="connsiteY2" fmla="*/ 184163 h 5848312"/>
              <a:gd name="connsiteX3" fmla="*/ 7554914 w 7554914"/>
              <a:gd name="connsiteY3" fmla="*/ 5664149 h 5848312"/>
              <a:gd name="connsiteX4" fmla="*/ 7370751 w 7554914"/>
              <a:gd name="connsiteY4" fmla="*/ 5848312 h 5848312"/>
              <a:gd name="connsiteX5" fmla="*/ 184163 w 7554914"/>
              <a:gd name="connsiteY5" fmla="*/ 5848312 h 5848312"/>
              <a:gd name="connsiteX6" fmla="*/ 0 w 7554914"/>
              <a:gd name="connsiteY6" fmla="*/ 5664149 h 5848312"/>
              <a:gd name="connsiteX7" fmla="*/ 0 w 7554914"/>
              <a:gd name="connsiteY7" fmla="*/ 2161063 h 5848312"/>
              <a:gd name="connsiteX8" fmla="*/ 38324 w 7554914"/>
              <a:gd name="connsiteY8" fmla="*/ 2036037 h 5848312"/>
              <a:gd name="connsiteX9" fmla="*/ 1172960 w 7554914"/>
              <a:gd name="connsiteY9" fmla="*/ 1360305 h 5848312"/>
              <a:gd name="connsiteX10" fmla="*/ 1236325 w 7554914"/>
              <a:gd name="connsiteY10" fmla="*/ 1296939 h 5848312"/>
              <a:gd name="connsiteX11" fmla="*/ 1236325 w 7554914"/>
              <a:gd name="connsiteY11" fmla="*/ 927309 h 5848312"/>
              <a:gd name="connsiteX12" fmla="*/ 1977178 w 7554914"/>
              <a:gd name="connsiteY12" fmla="*/ 16657 h 58483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554914" h="5848312">
                <a:moveTo>
                  <a:pt x="2145019" y="0"/>
                </a:moveTo>
                <a:lnTo>
                  <a:pt x="7370751" y="0"/>
                </a:lnTo>
                <a:cubicBezTo>
                  <a:pt x="7472461" y="0"/>
                  <a:pt x="7554914" y="82453"/>
                  <a:pt x="7554914" y="184163"/>
                </a:cubicBezTo>
                <a:lnTo>
                  <a:pt x="7554914" y="5664149"/>
                </a:lnTo>
                <a:cubicBezTo>
                  <a:pt x="7554914" y="5765859"/>
                  <a:pt x="7472461" y="5848312"/>
                  <a:pt x="7370751" y="5848312"/>
                </a:cubicBezTo>
                <a:lnTo>
                  <a:pt x="184163" y="5848312"/>
                </a:lnTo>
                <a:cubicBezTo>
                  <a:pt x="82453" y="5848312"/>
                  <a:pt x="0" y="5765859"/>
                  <a:pt x="0" y="5664149"/>
                </a:cubicBezTo>
                <a:lnTo>
                  <a:pt x="0" y="2161063"/>
                </a:lnTo>
                <a:lnTo>
                  <a:pt x="38324" y="2036037"/>
                </a:lnTo>
                <a:cubicBezTo>
                  <a:pt x="232381" y="1588024"/>
                  <a:pt x="681881" y="1376146"/>
                  <a:pt x="1172960" y="1360305"/>
                </a:cubicBezTo>
                <a:cubicBezTo>
                  <a:pt x="1215204" y="1360305"/>
                  <a:pt x="1236325" y="1328624"/>
                  <a:pt x="1236325" y="1296939"/>
                </a:cubicBezTo>
                <a:lnTo>
                  <a:pt x="1236325" y="927309"/>
                </a:lnTo>
                <a:cubicBezTo>
                  <a:pt x="1236325" y="474509"/>
                  <a:pt x="1551669" y="102568"/>
                  <a:pt x="1977178" y="16657"/>
                </a:cubicBezTo>
                <a:close/>
              </a:path>
            </a:pathLst>
          </a:custGeom>
          <a:solidFill>
            <a:schemeClr val="bg1">
              <a:lumMod val="95000"/>
            </a:schemeClr>
          </a:solidFill>
          <a:ln>
            <a:noFill/>
          </a:ln>
        </p:spPr>
        <p:txBody>
          <a:bodyPr wrap="square" lIns="180000" tIns="576000" bIns="72000" anchor="ctr">
            <a:noAutofit/>
          </a:bodyPr>
          <a:lstStyle>
            <a:lvl1pPr marL="0" indent="0" algn="ctr">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9" name="Text Placeholder 6"/>
          <p:cNvSpPr>
            <a:spLocks noGrp="1"/>
          </p:cNvSpPr>
          <p:nvPr>
            <p:ph type="body" sz="quarter" idx="13" hasCustomPrompt="1"/>
          </p:nvPr>
        </p:nvSpPr>
        <p:spPr>
          <a:xfrm>
            <a:off x="365126" y="1304101"/>
            <a:ext cx="3652839" cy="449073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a:t>
            </a:r>
            <a:br>
              <a:rPr lang="en-GB" dirty="0"/>
            </a:b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7" name="Date Placeholder 6">
            <a:extLst>
              <a:ext uri="{FF2B5EF4-FFF2-40B4-BE49-F238E27FC236}">
                <a16:creationId xmlns:a16="http://schemas.microsoft.com/office/drawing/2014/main" id="{4E1E8257-6B8C-4088-985E-4C3DCEE9DEB1}"/>
              </a:ext>
            </a:extLst>
          </p:cNvPr>
          <p:cNvSpPr>
            <a:spLocks noGrp="1"/>
          </p:cNvSpPr>
          <p:nvPr>
            <p:ph type="dt" sz="half" idx="28"/>
          </p:nvPr>
        </p:nvSpPr>
        <p:spPr/>
        <p:txBody>
          <a:bodyPr/>
          <a:lstStyle/>
          <a:p>
            <a:fld id="{283E5CED-A032-44E3-924E-4F1B9AD3D156}" type="datetime3">
              <a:rPr lang="en-US" smtClean="0"/>
              <a:t>20 July 2025</a:t>
            </a:fld>
            <a:endParaRPr lang="en-GB" dirty="0"/>
          </a:p>
        </p:txBody>
      </p:sp>
      <p:sp>
        <p:nvSpPr>
          <p:cNvPr id="8" name="Footer Placeholder 7">
            <a:extLst>
              <a:ext uri="{FF2B5EF4-FFF2-40B4-BE49-F238E27FC236}">
                <a16:creationId xmlns:a16="http://schemas.microsoft.com/office/drawing/2014/main" id="{06002AE1-2317-4E5A-B166-4104FA8F071A}"/>
              </a:ext>
            </a:extLst>
          </p:cNvPr>
          <p:cNvSpPr>
            <a:spLocks noGrp="1"/>
          </p:cNvSpPr>
          <p:nvPr>
            <p:ph type="ftr" sz="quarter" idx="29"/>
          </p:nvPr>
        </p:nvSpPr>
        <p:spPr/>
        <p:txBody>
          <a:bodyPr/>
          <a:lstStyle/>
          <a:p>
            <a:endParaRPr lang="en-GB" dirty="0"/>
          </a:p>
        </p:txBody>
      </p:sp>
      <p:sp>
        <p:nvSpPr>
          <p:cNvPr id="11" name="Slide Number Placeholder 10">
            <a:extLst>
              <a:ext uri="{FF2B5EF4-FFF2-40B4-BE49-F238E27FC236}">
                <a16:creationId xmlns:a16="http://schemas.microsoft.com/office/drawing/2014/main" id="{DFB4A4D5-34F7-4B9E-9971-87C022586B14}"/>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4" name="Text Placeholder 3">
            <a:extLst>
              <a:ext uri="{FF2B5EF4-FFF2-40B4-BE49-F238E27FC236}">
                <a16:creationId xmlns:a16="http://schemas.microsoft.com/office/drawing/2014/main" id="{18D9C632-48DD-68F1-C98B-0AA2BE39A14E}"/>
              </a:ext>
            </a:extLst>
          </p:cNvPr>
          <p:cNvSpPr>
            <a:spLocks noGrp="1"/>
          </p:cNvSpPr>
          <p:nvPr>
            <p:ph type="body" sz="quarter" idx="31" hasCustomPrompt="1"/>
          </p:nvPr>
        </p:nvSpPr>
        <p:spPr>
          <a:xfrm>
            <a:off x="365126" y="5792400"/>
            <a:ext cx="3652993" cy="298800"/>
          </a:xfrm>
        </p:spPr>
        <p:txBody>
          <a:bodyPr lIns="0" tIns="72000" rIns="0" bIns="72000" anchor="b">
            <a:noAutofit/>
          </a:bodyPr>
          <a:lstStyle>
            <a:lvl1pPr marL="0" indent="0">
              <a:spcBef>
                <a:spcPts val="0"/>
              </a:spcBef>
              <a:spcAft>
                <a:spcPts val="0"/>
              </a:spcAft>
              <a:buNone/>
              <a:defRPr sz="1200"/>
            </a:lvl1pPr>
            <a:lvl2pPr marL="357542" indent="0">
              <a:spcBef>
                <a:spcPts val="0"/>
              </a:spcBef>
              <a:spcAft>
                <a:spcPts val="0"/>
              </a:spcAft>
              <a:buNone/>
              <a:defRPr/>
            </a:lvl2pPr>
            <a:lvl3pPr marL="719982" indent="0">
              <a:spcBef>
                <a:spcPts val="0"/>
              </a:spcBef>
              <a:spcAft>
                <a:spcPts val="0"/>
              </a:spcAft>
              <a:buNone/>
              <a:defRPr/>
            </a:lvl3pPr>
            <a:lvl4pPr marL="1081424" indent="0">
              <a:spcBef>
                <a:spcPts val="0"/>
              </a:spcBef>
              <a:spcAft>
                <a:spcPts val="0"/>
              </a:spcAft>
              <a:buNone/>
              <a:defRPr/>
            </a:lvl4pPr>
            <a:lvl5pPr marL="1439964" indent="0">
              <a:spcBef>
                <a:spcPts val="0"/>
              </a:spcBef>
              <a:spcAft>
                <a:spcPts val="0"/>
              </a:spcAft>
              <a:buNone/>
              <a:defRPr/>
            </a:lvl5pPr>
          </a:lstStyle>
          <a:p>
            <a:pPr lvl="0"/>
            <a:r>
              <a:rPr lang="en-US" dirty="0"/>
              <a:t>Insert Source text</a:t>
            </a:r>
          </a:p>
        </p:txBody>
      </p:sp>
      <p:sp>
        <p:nvSpPr>
          <p:cNvPr id="10" name="Title 1">
            <a:extLst>
              <a:ext uri="{FF2B5EF4-FFF2-40B4-BE49-F238E27FC236}">
                <a16:creationId xmlns:a16="http://schemas.microsoft.com/office/drawing/2014/main" id="{D08CFF33-B49E-9711-53F9-19D0CC0A16DD}"/>
              </a:ext>
            </a:extLst>
          </p:cNvPr>
          <p:cNvSpPr>
            <a:spLocks noGrp="1"/>
          </p:cNvSpPr>
          <p:nvPr>
            <p:ph type="title" hasCustomPrompt="1"/>
          </p:nvPr>
        </p:nvSpPr>
        <p:spPr>
          <a:xfrm>
            <a:off x="365126" y="242888"/>
            <a:ext cx="3905250" cy="430887"/>
          </a:xfrm>
        </p:spPr>
        <p:txBody>
          <a:bodyPr/>
          <a:lstStyle>
            <a:lvl1pPr>
              <a:defRPr/>
            </a:lvl1pPr>
          </a:lstStyle>
          <a:p>
            <a:r>
              <a:rPr lang="en-US" dirty="0"/>
              <a:t>Click to add title</a:t>
            </a:r>
          </a:p>
        </p:txBody>
      </p:sp>
      <p:sp>
        <p:nvSpPr>
          <p:cNvPr id="13" name="Subtitle 2">
            <a:extLst>
              <a:ext uri="{FF2B5EF4-FFF2-40B4-BE49-F238E27FC236}">
                <a16:creationId xmlns:a16="http://schemas.microsoft.com/office/drawing/2014/main" id="{FA3CE1FB-D5F5-92E1-9D34-DB8E8889C90B}"/>
              </a:ext>
            </a:extLst>
          </p:cNvPr>
          <p:cNvSpPr>
            <a:spLocks noGrp="1"/>
          </p:cNvSpPr>
          <p:nvPr>
            <p:ph type="subTitle" idx="1" hasCustomPrompt="1"/>
          </p:nvPr>
        </p:nvSpPr>
        <p:spPr>
          <a:xfrm>
            <a:off x="365125" y="694950"/>
            <a:ext cx="3905250"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CB91AF96-43AB-49E0-5AA2-71826DA9639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672298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Image and Text with Subheading">
    <p:spTree>
      <p:nvGrpSpPr>
        <p:cNvPr id="1" name=""/>
        <p:cNvGrpSpPr/>
        <p:nvPr/>
      </p:nvGrpSpPr>
      <p:grpSpPr>
        <a:xfrm>
          <a:off x="0" y="0"/>
          <a:ext cx="0" cy="0"/>
          <a:chOff x="0" y="0"/>
          <a:chExt cx="0" cy="0"/>
        </a:xfrm>
      </p:grpSpPr>
      <p:sp>
        <p:nvSpPr>
          <p:cNvPr id="16" name="Text Placeholder 6"/>
          <p:cNvSpPr>
            <a:spLocks noGrp="1"/>
          </p:cNvSpPr>
          <p:nvPr>
            <p:ph type="body" sz="quarter" idx="13" hasCustomPrompt="1"/>
          </p:nvPr>
        </p:nvSpPr>
        <p:spPr>
          <a:xfrm>
            <a:off x="365125" y="2100262"/>
            <a:ext cx="3652838" cy="3692137"/>
          </a:xfrm>
          <a:prstGeom prst="rect">
            <a:avLst/>
          </a:prstGeom>
        </p:spPr>
        <p:txBody>
          <a:bodyPr lIns="0" tIns="180000" rIns="0" bIns="180000">
            <a:noAutofit/>
          </a:bodyPr>
          <a:lstStyle>
            <a:lvl1pPr marL="0" indent="0">
              <a:buNone/>
              <a:defRPr sz="2200"/>
            </a:lvl1pPr>
          </a:lstStyle>
          <a:p>
            <a:pPr lvl="0"/>
            <a:r>
              <a:rPr lang="en-GB" dirty="0"/>
              <a:t>Click to enter text content.</a:t>
            </a:r>
            <a:br>
              <a:rPr lang="en-GB" dirty="0"/>
            </a:br>
            <a:r>
              <a:rPr lang="en-US" dirty="0"/>
              <a:t>If text content appears too large please reduce the size of the font.</a:t>
            </a:r>
            <a:endParaRPr lang="en-GB" dirty="0"/>
          </a:p>
        </p:txBody>
      </p:sp>
      <p:sp>
        <p:nvSpPr>
          <p:cNvPr id="7" name="Date Placeholder 6">
            <a:extLst>
              <a:ext uri="{FF2B5EF4-FFF2-40B4-BE49-F238E27FC236}">
                <a16:creationId xmlns:a16="http://schemas.microsoft.com/office/drawing/2014/main" id="{82120E7F-C0E1-48FE-9205-5741B91C8E6F}"/>
              </a:ext>
            </a:extLst>
          </p:cNvPr>
          <p:cNvSpPr>
            <a:spLocks noGrp="1"/>
          </p:cNvSpPr>
          <p:nvPr>
            <p:ph type="dt" sz="half" idx="28"/>
          </p:nvPr>
        </p:nvSpPr>
        <p:spPr/>
        <p:txBody>
          <a:bodyPr/>
          <a:lstStyle/>
          <a:p>
            <a:fld id="{79CAC62A-F4BB-45BD-B342-DB7343B7561C}" type="datetime3">
              <a:rPr lang="en-US" smtClean="0"/>
              <a:t>20 July 2025</a:t>
            </a:fld>
            <a:endParaRPr lang="en-GB" dirty="0"/>
          </a:p>
        </p:txBody>
      </p:sp>
      <p:sp>
        <p:nvSpPr>
          <p:cNvPr id="8" name="Footer Placeholder 7">
            <a:extLst>
              <a:ext uri="{FF2B5EF4-FFF2-40B4-BE49-F238E27FC236}">
                <a16:creationId xmlns:a16="http://schemas.microsoft.com/office/drawing/2014/main" id="{AFC227CF-7C01-4C8F-A012-E6EC9EFFB1B0}"/>
              </a:ext>
            </a:extLst>
          </p:cNvPr>
          <p:cNvSpPr>
            <a:spLocks noGrp="1"/>
          </p:cNvSpPr>
          <p:nvPr>
            <p:ph type="ftr" sz="quarter" idx="29"/>
          </p:nvPr>
        </p:nvSpPr>
        <p:spPr/>
        <p:txBody>
          <a:bodyPr/>
          <a:lstStyle/>
          <a:p>
            <a:endParaRPr lang="en-GB" dirty="0"/>
          </a:p>
        </p:txBody>
      </p:sp>
      <p:sp>
        <p:nvSpPr>
          <p:cNvPr id="9" name="Slide Number Placeholder 8">
            <a:extLst>
              <a:ext uri="{FF2B5EF4-FFF2-40B4-BE49-F238E27FC236}">
                <a16:creationId xmlns:a16="http://schemas.microsoft.com/office/drawing/2014/main" id="{D3D4743C-0184-4AE6-8901-D4C4FE13116A}"/>
              </a:ext>
            </a:extLst>
          </p:cNvPr>
          <p:cNvSpPr>
            <a:spLocks noGrp="1"/>
          </p:cNvSpPr>
          <p:nvPr>
            <p:ph type="sldNum" sz="quarter" idx="30"/>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557407D7-26D4-4453-5DC7-A7011EC7E218}"/>
              </a:ext>
            </a:extLst>
          </p:cNvPr>
          <p:cNvSpPr>
            <a:spLocks noGrp="1"/>
          </p:cNvSpPr>
          <p:nvPr>
            <p:ph type="body" sz="quarter" idx="31" hasCustomPrompt="1"/>
          </p:nvPr>
        </p:nvSpPr>
        <p:spPr>
          <a:xfrm>
            <a:off x="365126" y="5792400"/>
            <a:ext cx="3653156" cy="298800"/>
          </a:xfrm>
        </p:spPr>
        <p:txBody>
          <a:bodyPr lIns="0" tIns="72000" rIns="0" bIns="72000" anchor="b">
            <a:noAutofit/>
          </a:bodyPr>
          <a:lstStyle>
            <a:lvl1pPr marL="0" indent="0">
              <a:spcBef>
                <a:spcPts val="0"/>
              </a:spcBef>
              <a:spcAft>
                <a:spcPts val="0"/>
              </a:spcAft>
              <a:buNone/>
              <a:defRPr sz="1200"/>
            </a:lvl1pPr>
            <a:lvl2pPr marL="357542" indent="0">
              <a:buNone/>
              <a:defRPr/>
            </a:lvl2pPr>
            <a:lvl3pPr marL="719982" indent="0">
              <a:buNone/>
              <a:defRPr/>
            </a:lvl3pPr>
            <a:lvl4pPr marL="1081424" indent="0">
              <a:buNone/>
              <a:defRPr/>
            </a:lvl4pPr>
            <a:lvl5pPr marL="1439964" indent="0">
              <a:buNone/>
              <a:defRPr/>
            </a:lvl5pPr>
          </a:lstStyle>
          <a:p>
            <a:pPr lvl="0"/>
            <a:r>
              <a:rPr lang="en-US" dirty="0"/>
              <a:t>Insert Source text</a:t>
            </a:r>
          </a:p>
        </p:txBody>
      </p:sp>
      <p:sp>
        <p:nvSpPr>
          <p:cNvPr id="25" name="Text Placeholder 24">
            <a:extLst>
              <a:ext uri="{FF2B5EF4-FFF2-40B4-BE49-F238E27FC236}">
                <a16:creationId xmlns:a16="http://schemas.microsoft.com/office/drawing/2014/main" id="{0FC42DF1-9B7E-9A5C-E40E-35292FD97B55}"/>
              </a:ext>
            </a:extLst>
          </p:cNvPr>
          <p:cNvSpPr>
            <a:spLocks noGrp="1"/>
          </p:cNvSpPr>
          <p:nvPr>
            <p:ph type="body" sz="quarter" idx="32" hasCustomPrompt="1"/>
          </p:nvPr>
        </p:nvSpPr>
        <p:spPr>
          <a:xfrm>
            <a:off x="365126" y="1303338"/>
            <a:ext cx="3480970" cy="796925"/>
          </a:xfrm>
        </p:spPr>
        <p:txBody>
          <a:bodyPr lIns="0" tIns="72000" rIns="0" bIns="72000">
            <a:noAutofit/>
          </a:bodyPr>
          <a:lstStyle>
            <a:lvl1pPr marL="0" indent="0">
              <a:buNone/>
              <a:defRPr sz="2400" b="1">
                <a:solidFill>
                  <a:schemeClr val="tx2"/>
                </a:solidFill>
              </a:defRPr>
            </a:lvl1pPr>
            <a:lvl2pPr marL="357542" indent="0">
              <a:buNone/>
              <a:defRPr/>
            </a:lvl2pPr>
            <a:lvl3pPr marL="719982" indent="0">
              <a:buNone/>
              <a:defRPr/>
            </a:lvl3pPr>
            <a:lvl4pPr marL="1081424" indent="0">
              <a:buNone/>
              <a:defRPr/>
            </a:lvl4pPr>
            <a:lvl5pPr marL="1439964" indent="0">
              <a:buNone/>
              <a:defRPr/>
            </a:lvl5pPr>
          </a:lstStyle>
          <a:p>
            <a:pPr lvl="0"/>
            <a:r>
              <a:rPr lang="en-US" dirty="0"/>
              <a:t>Click to edit subheading text</a:t>
            </a:r>
            <a:endParaRPr lang="en-GB" dirty="0"/>
          </a:p>
        </p:txBody>
      </p:sp>
      <p:sp>
        <p:nvSpPr>
          <p:cNvPr id="19" name="Picture Placeholder 18">
            <a:extLst>
              <a:ext uri="{FF2B5EF4-FFF2-40B4-BE49-F238E27FC236}">
                <a16:creationId xmlns:a16="http://schemas.microsoft.com/office/drawing/2014/main" id="{842A83F9-173D-2F5C-840B-653949B4C528}"/>
              </a:ext>
            </a:extLst>
          </p:cNvPr>
          <p:cNvSpPr>
            <a:spLocks noGrp="1"/>
          </p:cNvSpPr>
          <p:nvPr>
            <p:ph type="pic" sz="quarter" idx="14" hasCustomPrompt="1"/>
          </p:nvPr>
        </p:nvSpPr>
        <p:spPr>
          <a:xfrm>
            <a:off x="3848179" y="1303337"/>
            <a:ext cx="7977108" cy="4787900"/>
          </a:xfrm>
          <a:custGeom>
            <a:avLst/>
            <a:gdLst>
              <a:gd name="connsiteX0" fmla="*/ 594703 w 7977108"/>
              <a:gd name="connsiteY0" fmla="*/ 0 h 4787900"/>
              <a:gd name="connsiteX1" fmla="*/ 7804600 w 7977108"/>
              <a:gd name="connsiteY1" fmla="*/ 0 h 4787900"/>
              <a:gd name="connsiteX2" fmla="*/ 7977108 w 7977108"/>
              <a:gd name="connsiteY2" fmla="*/ 172508 h 4787900"/>
              <a:gd name="connsiteX3" fmla="*/ 7977108 w 7977108"/>
              <a:gd name="connsiteY3" fmla="*/ 4615392 h 4787900"/>
              <a:gd name="connsiteX4" fmla="*/ 7804600 w 7977108"/>
              <a:gd name="connsiteY4" fmla="*/ 4787900 h 4787900"/>
              <a:gd name="connsiteX5" fmla="*/ 594703 w 7977108"/>
              <a:gd name="connsiteY5" fmla="*/ 4787900 h 4787900"/>
              <a:gd name="connsiteX6" fmla="*/ 422195 w 7977108"/>
              <a:gd name="connsiteY6" fmla="*/ 4615392 h 4787900"/>
              <a:gd name="connsiteX7" fmla="*/ 422195 w 7977108"/>
              <a:gd name="connsiteY7" fmla="*/ 1002316 h 4787900"/>
              <a:gd name="connsiteX8" fmla="*/ 419981 w 7977108"/>
              <a:gd name="connsiteY8" fmla="*/ 976226 h 4787900"/>
              <a:gd name="connsiteX9" fmla="*/ 7859 w 7977108"/>
              <a:gd name="connsiteY9" fmla="*/ 614915 h 4787900"/>
              <a:gd name="connsiteX10" fmla="*/ 7859 w 7977108"/>
              <a:gd name="connsiteY10" fmla="*/ 597453 h 4787900"/>
              <a:gd name="connsiteX11" fmla="*/ 419981 w 7977108"/>
              <a:gd name="connsiteY11" fmla="*/ 236137 h 4787900"/>
              <a:gd name="connsiteX12" fmla="*/ 422195 w 7977108"/>
              <a:gd name="connsiteY12" fmla="*/ 210041 h 4787900"/>
              <a:gd name="connsiteX13" fmla="*/ 422195 w 7977108"/>
              <a:gd name="connsiteY13" fmla="*/ 172508 h 4787900"/>
              <a:gd name="connsiteX14" fmla="*/ 594703 w 7977108"/>
              <a:gd name="connsiteY14" fmla="*/ 0 h 4787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977108" h="4787900">
                <a:moveTo>
                  <a:pt x="594703" y="0"/>
                </a:moveTo>
                <a:lnTo>
                  <a:pt x="7804600" y="0"/>
                </a:lnTo>
                <a:cubicBezTo>
                  <a:pt x="7899874" y="0"/>
                  <a:pt x="7977108" y="77234"/>
                  <a:pt x="7977108" y="172508"/>
                </a:cubicBezTo>
                <a:lnTo>
                  <a:pt x="7977108" y="4615392"/>
                </a:lnTo>
                <a:cubicBezTo>
                  <a:pt x="7977108" y="4710666"/>
                  <a:pt x="7899874" y="4787900"/>
                  <a:pt x="7804600" y="4787900"/>
                </a:cubicBezTo>
                <a:lnTo>
                  <a:pt x="594703" y="4787900"/>
                </a:lnTo>
                <a:cubicBezTo>
                  <a:pt x="499429" y="4787900"/>
                  <a:pt x="422195" y="4710666"/>
                  <a:pt x="422195" y="4615392"/>
                </a:cubicBezTo>
                <a:lnTo>
                  <a:pt x="422195" y="1002316"/>
                </a:lnTo>
                <a:lnTo>
                  <a:pt x="419981" y="976226"/>
                </a:lnTo>
                <a:cubicBezTo>
                  <a:pt x="387560" y="794064"/>
                  <a:pt x="243169" y="679089"/>
                  <a:pt x="7859" y="614915"/>
                </a:cubicBezTo>
                <a:cubicBezTo>
                  <a:pt x="-2620" y="611423"/>
                  <a:pt x="-2620" y="600944"/>
                  <a:pt x="7859" y="597453"/>
                </a:cubicBezTo>
                <a:cubicBezTo>
                  <a:pt x="243169" y="533278"/>
                  <a:pt x="387560" y="418299"/>
                  <a:pt x="419981" y="236137"/>
                </a:cubicBezTo>
                <a:lnTo>
                  <a:pt x="422195" y="210041"/>
                </a:lnTo>
                <a:lnTo>
                  <a:pt x="422195" y="172508"/>
                </a:lnTo>
                <a:cubicBezTo>
                  <a:pt x="422195" y="77234"/>
                  <a:pt x="499429" y="0"/>
                  <a:pt x="594703" y="0"/>
                </a:cubicBezTo>
                <a:close/>
              </a:path>
            </a:pathLst>
          </a:custGeom>
          <a:solidFill>
            <a:schemeClr val="bg1">
              <a:lumMod val="95000"/>
            </a:schemeClr>
          </a:solidFill>
          <a:ln>
            <a:noFill/>
          </a:ln>
        </p:spPr>
        <p:txBody>
          <a:bodyPr wrap="square" lIns="900000" tIns="216000" rIns="540000" bIns="72000" anchor="ctr">
            <a:noAutofit/>
          </a:bodyPr>
          <a:lstStyle>
            <a:lvl1pPr marL="0" indent="0" algn="ctr">
              <a:lnSpc>
                <a:spcPct val="100000"/>
              </a:lnSpc>
              <a:buNone/>
              <a:defRPr sz="22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r>
              <a:rPr lang="en-GB" dirty="0"/>
              <a:t>]</a:t>
            </a:r>
          </a:p>
        </p:txBody>
      </p:sp>
      <p:sp>
        <p:nvSpPr>
          <p:cNvPr id="11" name="Title 1">
            <a:extLst>
              <a:ext uri="{FF2B5EF4-FFF2-40B4-BE49-F238E27FC236}">
                <a16:creationId xmlns:a16="http://schemas.microsoft.com/office/drawing/2014/main" id="{7E92BEDA-CC1A-B239-4AEA-C3F37E214629}"/>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0750812B-2C47-57D4-77B8-4674E64952E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5" name="Freeform: Shape 14">
            <a:extLst>
              <a:ext uri="{FF2B5EF4-FFF2-40B4-BE49-F238E27FC236}">
                <a16:creationId xmlns:a16="http://schemas.microsoft.com/office/drawing/2014/main" id="{7DE5D052-D1E8-918C-87BF-6E3142B87FE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1873972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Two Image and Text 1">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6" y="1303338"/>
            <a:ext cx="560228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6223001" y="1303338"/>
            <a:ext cx="5602288" cy="2049077"/>
          </a:xfrm>
          <a:prstGeom prst="roundRect">
            <a:avLst>
              <a:gd name="adj" fmla="val 8542"/>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21" name="Text Placeholder 7"/>
          <p:cNvSpPr>
            <a:spLocks noGrp="1"/>
          </p:cNvSpPr>
          <p:nvPr>
            <p:ph type="body" sz="quarter" idx="26" hasCustomPrompt="1"/>
          </p:nvPr>
        </p:nvSpPr>
        <p:spPr>
          <a:xfrm>
            <a:off x="6223001" y="3383480"/>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noChangeAspect="1"/>
          </p:cNvSpPr>
          <p:nvPr>
            <p:ph type="pic" sz="quarter" idx="27" hasCustomPrompt="1"/>
          </p:nvPr>
        </p:nvSpPr>
        <p:spPr>
          <a:xfrm>
            <a:off x="6223001" y="3713345"/>
            <a:ext cx="5602288" cy="2048029"/>
          </a:xfrm>
          <a:prstGeom prst="roundRect">
            <a:avLst>
              <a:gd name="adj" fmla="val 8498"/>
            </a:avLst>
          </a:prstGeom>
          <a:solidFill>
            <a:schemeClr val="bg1">
              <a:lumMod val="95000"/>
            </a:schemeClr>
          </a:solidFill>
          <a:ln>
            <a:noFill/>
          </a:ln>
        </p:spPr>
        <p:txBody>
          <a:bodyPr lIns="0" tIns="180000" rIns="0" bIns="72000" anchor="ctr">
            <a:noAutofit/>
          </a:bodyPr>
          <a:lstStyle>
            <a:lvl1pPr marL="0" indent="0" algn="ctr">
              <a:buNone/>
              <a:defRPr sz="1600" i="0" baseline="0">
                <a:solidFill>
                  <a:schemeClr val="tx1"/>
                </a:solidFill>
              </a:defRPr>
            </a:lvl1pPr>
          </a:lstStyle>
          <a:p>
            <a:r>
              <a:rPr lang="en-GB" dirty="0"/>
              <a:t>[Click here to insert image]</a:t>
            </a:r>
            <a:br>
              <a:rPr lang="en-GB" dirty="0"/>
            </a:br>
            <a:br>
              <a:rPr lang="en-GB" dirty="0"/>
            </a:br>
            <a:br>
              <a:rPr lang="en-GB" dirty="0"/>
            </a:br>
            <a:r>
              <a:rPr lang="en-GB" dirty="0"/>
              <a:t>[</a:t>
            </a:r>
            <a:r>
              <a:rPr lang="en-US" dirty="0"/>
              <a:t>The image can then be scaled within the frame by </a:t>
            </a:r>
            <a:br>
              <a:rPr lang="en-US" dirty="0"/>
            </a:br>
            <a:r>
              <a:rPr lang="en-US" dirty="0"/>
              <a:t>using the ‘Crop’ feature in the ‘Picture Format’ tab </a:t>
            </a:r>
            <a:br>
              <a:rPr lang="en-US" dirty="0"/>
            </a:br>
            <a:r>
              <a:rPr lang="en-US" dirty="0"/>
              <a:t>of the ribbon. Right click on image to add/edit alt text]</a:t>
            </a:r>
            <a:endParaRPr lang="en-GB" dirty="0"/>
          </a:p>
        </p:txBody>
      </p:sp>
      <p:sp>
        <p:nvSpPr>
          <p:cNvPr id="36" name="Text Placeholder 7"/>
          <p:cNvSpPr>
            <a:spLocks noGrp="1"/>
          </p:cNvSpPr>
          <p:nvPr>
            <p:ph type="body" sz="quarter" idx="28" hasCustomPrompt="1"/>
          </p:nvPr>
        </p:nvSpPr>
        <p:spPr>
          <a:xfrm>
            <a:off x="6223001" y="5792438"/>
            <a:ext cx="5602287"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78E7BD63-44A0-4BB1-A61F-F880EA9D1102}" type="datetime3">
              <a:rPr lang="en-US"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A6A279A2-5C44-FF2E-B384-6E6E2D4B3927}"/>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AA0BC10E-676C-5CAF-16CC-96A54F223F7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3C5935EB-46DA-41B4-C62C-331192886E84}"/>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3110046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wo Image and Text 2">
    <p:spTree>
      <p:nvGrpSpPr>
        <p:cNvPr id="1" name=""/>
        <p:cNvGrpSpPr/>
        <p:nvPr/>
      </p:nvGrpSpPr>
      <p:grpSpPr>
        <a:xfrm>
          <a:off x="0" y="0"/>
          <a:ext cx="0" cy="0"/>
          <a:chOff x="0" y="0"/>
          <a:chExt cx="0" cy="0"/>
        </a:xfrm>
      </p:grpSpPr>
      <p:sp>
        <p:nvSpPr>
          <p:cNvPr id="19" name="Text Placeholder 6"/>
          <p:cNvSpPr>
            <a:spLocks noGrp="1"/>
          </p:cNvSpPr>
          <p:nvPr>
            <p:ph type="body" sz="quarter" idx="13" hasCustomPrompt="1"/>
          </p:nvPr>
        </p:nvSpPr>
        <p:spPr>
          <a:xfrm>
            <a:off x="365125" y="1303338"/>
            <a:ext cx="3652838" cy="4785927"/>
          </a:xfrm>
          <a:prstGeom prst="rect">
            <a:avLst/>
          </a:prstGeom>
        </p:spPr>
        <p:txBody>
          <a:bodyPr lIns="0" tIns="180000" rIns="0" bIns="180000">
            <a:noAutofit/>
          </a:bodyPr>
          <a:lstStyle>
            <a:lvl1pPr marL="359991" indent="-359991">
              <a:buClr>
                <a:schemeClr val="tx2"/>
              </a:buClr>
              <a:buFont typeface="Arial" panose="020B0604020202020204" pitchFamily="34" charset="0"/>
              <a:buChar char="•"/>
              <a:defRPr/>
            </a:lvl1pPr>
            <a:lvl2pPr marL="717533" indent="-359991">
              <a:buClr>
                <a:schemeClr val="tx1"/>
              </a:buClr>
              <a:buFont typeface="Arial" panose="020B0604020202020204" pitchFamily="34" charset="0"/>
              <a:buChar char="-"/>
              <a:defRPr/>
            </a:lvl2pPr>
            <a:lvl3pPr marL="1079973" indent="-359991">
              <a:buClr>
                <a:schemeClr val="tx1"/>
              </a:buClr>
              <a:buFont typeface="Arial" panose="020B0604020202020204" pitchFamily="34" charset="0"/>
              <a:buChar char="-"/>
              <a:defRPr/>
            </a:lvl3pPr>
            <a:lvl4pPr marL="1441415" indent="-359991">
              <a:buClr>
                <a:schemeClr val="tx1"/>
              </a:buClr>
              <a:buFont typeface="Arial" panose="020B0604020202020204" pitchFamily="34" charset="0"/>
              <a:buChar char="-"/>
              <a:defRPr/>
            </a:lvl4pPr>
            <a:lvl5pPr marL="1799955" indent="-359991">
              <a:buClr>
                <a:schemeClr val="tx1"/>
              </a:buClr>
              <a:buFont typeface="Arial" panose="020B0604020202020204" pitchFamily="34" charset="0"/>
              <a:buChar char="-"/>
              <a:defRPr/>
            </a:lvl5pPr>
          </a:lstStyle>
          <a:p>
            <a:pPr lvl="0"/>
            <a:r>
              <a:rPr lang="en-GB" dirty="0"/>
              <a:t>Click to enter text content. </a:t>
            </a:r>
            <a:r>
              <a:rPr lang="en-US" dirty="0"/>
              <a:t>If text content appears too large please reduce the size of the font.</a:t>
            </a:r>
            <a:endParaRPr lang="en-GB" dirty="0"/>
          </a:p>
          <a:p>
            <a:pPr lvl="1"/>
            <a:r>
              <a:rPr lang="en-GB" dirty="0"/>
              <a:t>Second level</a:t>
            </a:r>
          </a:p>
          <a:p>
            <a:pPr lvl="2"/>
            <a:r>
              <a:rPr lang="en-GB" dirty="0"/>
              <a:t>Third level</a:t>
            </a:r>
          </a:p>
          <a:p>
            <a:pPr lvl="3"/>
            <a:r>
              <a:rPr lang="en-GB" dirty="0"/>
              <a:t>Fourth level</a:t>
            </a:r>
          </a:p>
          <a:p>
            <a:pPr lvl="4"/>
            <a:r>
              <a:rPr lang="en-GB" dirty="0"/>
              <a:t>Fifth level</a:t>
            </a:r>
          </a:p>
        </p:txBody>
      </p:sp>
      <p:sp>
        <p:nvSpPr>
          <p:cNvPr id="20" name="Picture Placeholder 8"/>
          <p:cNvSpPr>
            <a:spLocks noGrp="1"/>
          </p:cNvSpPr>
          <p:nvPr>
            <p:ph type="pic" sz="quarter" idx="14" hasCustomPrompt="1"/>
          </p:nvPr>
        </p:nvSpPr>
        <p:spPr>
          <a:xfrm>
            <a:off x="4270375" y="1303338"/>
            <a:ext cx="3649663" cy="4471820"/>
          </a:xfrm>
          <a:prstGeom prst="roundRect">
            <a:avLst>
              <a:gd name="adj" fmla="val 4843"/>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21" name="Text Placeholder 7"/>
          <p:cNvSpPr>
            <a:spLocks noGrp="1"/>
          </p:cNvSpPr>
          <p:nvPr>
            <p:ph type="body" sz="quarter" idx="26" hasCustomPrompt="1"/>
          </p:nvPr>
        </p:nvSpPr>
        <p:spPr>
          <a:xfrm>
            <a:off x="4270376" y="5790465"/>
            <a:ext cx="3650970"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35" name="Picture Placeholder 8"/>
          <p:cNvSpPr>
            <a:spLocks noGrp="1"/>
          </p:cNvSpPr>
          <p:nvPr>
            <p:ph type="pic" sz="quarter" idx="27" hasCustomPrompt="1"/>
          </p:nvPr>
        </p:nvSpPr>
        <p:spPr>
          <a:xfrm>
            <a:off x="8172450" y="1303338"/>
            <a:ext cx="3650400" cy="4471200"/>
          </a:xfrm>
          <a:prstGeom prst="roundRect">
            <a:avLst>
              <a:gd name="adj" fmla="val 5084"/>
            </a:avLst>
          </a:prstGeom>
          <a:solidFill>
            <a:schemeClr val="bg1">
              <a:lumMod val="95000"/>
            </a:schemeClr>
          </a:solidFill>
          <a:ln>
            <a:noFill/>
          </a:ln>
        </p:spPr>
        <p:txBody>
          <a:bodyPr lIns="0" tIns="180000" rIns="0" bIns="72000" anchor="ctr">
            <a:noAutofit/>
          </a:bodyPr>
          <a:lstStyle>
            <a:lvl1pPr marL="0" indent="0" algn="ctr">
              <a:buNone/>
              <a:defRPr sz="1800" i="0" baseline="0">
                <a:solidFill>
                  <a:schemeClr val="tx1"/>
                </a:solidFill>
              </a:defRPr>
            </a:lvl1pPr>
          </a:lstStyle>
          <a:p>
            <a:r>
              <a:rPr lang="en-GB" dirty="0"/>
              <a:t>[Click here to insert image]</a:t>
            </a:r>
            <a:br>
              <a:rPr lang="en-GB" dirty="0"/>
            </a:br>
            <a:br>
              <a:rPr lang="en-GB" dirty="0"/>
            </a:br>
            <a:br>
              <a:rPr lang="en-GB" dirty="0"/>
            </a:br>
            <a:br>
              <a:rPr lang="en-GB" dirty="0"/>
            </a:br>
            <a:br>
              <a:rPr lang="en-GB" dirty="0"/>
            </a:br>
            <a:br>
              <a:rPr lang="en-GB" dirty="0"/>
            </a:br>
            <a:r>
              <a:rPr lang="en-GB" dirty="0"/>
              <a:t>[</a:t>
            </a:r>
            <a:r>
              <a:rPr lang="en-US" dirty="0"/>
              <a:t>The image can then be scaled within the frame by using the ‘Crop’ feature in the ‘Picture Format’ tab of the ribbon. Right click on image to add/edit alt text]</a:t>
            </a:r>
            <a:endParaRPr lang="en-GB" dirty="0"/>
          </a:p>
        </p:txBody>
      </p:sp>
      <p:sp>
        <p:nvSpPr>
          <p:cNvPr id="36" name="Text Placeholder 7"/>
          <p:cNvSpPr>
            <a:spLocks noGrp="1"/>
          </p:cNvSpPr>
          <p:nvPr>
            <p:ph type="body" sz="quarter" idx="28" hasCustomPrompt="1"/>
          </p:nvPr>
        </p:nvSpPr>
        <p:spPr>
          <a:xfrm>
            <a:off x="8172450" y="5792438"/>
            <a:ext cx="3652838" cy="298800"/>
          </a:xfrm>
          <a:prstGeom prst="rect">
            <a:avLst/>
          </a:prstGeom>
        </p:spPr>
        <p:txBody>
          <a:bodyPr lIns="0" tIns="72000" rIns="0" bIns="72000">
            <a:noAutofit/>
          </a:bodyPr>
          <a:lstStyle>
            <a:lvl1pPr marL="0" indent="0">
              <a:spcBef>
                <a:spcPts val="0"/>
              </a:spcBef>
              <a:spcAft>
                <a:spcPts val="0"/>
              </a:spcAft>
              <a:buNone/>
              <a:defRPr sz="1200">
                <a:solidFill>
                  <a:schemeClr val="tx1"/>
                </a:solidFill>
              </a:defRPr>
            </a:lvl1pPr>
            <a:lvl2pPr marL="357542" indent="0">
              <a:buNone/>
              <a:defRPr sz="1067">
                <a:solidFill>
                  <a:schemeClr val="bg2"/>
                </a:solidFill>
              </a:defRPr>
            </a:lvl2pPr>
            <a:lvl3pPr marL="719982" indent="0">
              <a:buNone/>
              <a:defRPr sz="1067">
                <a:solidFill>
                  <a:schemeClr val="bg2"/>
                </a:solidFill>
              </a:defRPr>
            </a:lvl3pPr>
            <a:lvl4pPr marL="1081424" indent="0">
              <a:buNone/>
              <a:defRPr sz="1067">
                <a:solidFill>
                  <a:schemeClr val="bg2"/>
                </a:solidFill>
              </a:defRPr>
            </a:lvl4pPr>
            <a:lvl5pPr marL="1439964" indent="0">
              <a:buNone/>
              <a:defRPr sz="1067">
                <a:solidFill>
                  <a:schemeClr val="bg2"/>
                </a:solidFill>
              </a:defRPr>
            </a:lvl5pPr>
          </a:lstStyle>
          <a:p>
            <a:pPr lvl="0"/>
            <a:r>
              <a:rPr lang="en-GB" dirty="0"/>
              <a:t>Insert Source text</a:t>
            </a:r>
          </a:p>
        </p:txBody>
      </p:sp>
      <p:sp>
        <p:nvSpPr>
          <p:cNvPr id="5" name="Date Placeholder 4"/>
          <p:cNvSpPr>
            <a:spLocks noGrp="1"/>
          </p:cNvSpPr>
          <p:nvPr>
            <p:ph type="dt" sz="half" idx="30"/>
          </p:nvPr>
        </p:nvSpPr>
        <p:spPr/>
        <p:txBody>
          <a:bodyPr/>
          <a:lstStyle>
            <a:lvl1pPr algn="r">
              <a:defRPr/>
            </a:lvl1pPr>
          </a:lstStyle>
          <a:p>
            <a:fld id="{F9F2825B-50C5-407C-B26A-71CE48DE1369}" type="datetime3">
              <a:rPr lang="en-US" smtClean="0"/>
              <a:t>20 July 2025</a:t>
            </a:fld>
            <a:endParaRPr lang="en-GB" dirty="0"/>
          </a:p>
        </p:txBody>
      </p:sp>
      <p:sp>
        <p:nvSpPr>
          <p:cNvPr id="7" name="Footer Placeholder 6"/>
          <p:cNvSpPr>
            <a:spLocks noGrp="1"/>
          </p:cNvSpPr>
          <p:nvPr>
            <p:ph type="ftr" sz="quarter" idx="31"/>
          </p:nvPr>
        </p:nvSpPr>
        <p:spPr/>
        <p:txBody>
          <a:bodyPr/>
          <a:lstStyle>
            <a:lvl1pPr>
              <a:defRPr/>
            </a:lvl1pPr>
          </a:lstStyle>
          <a:p>
            <a:endParaRPr lang="en-GB" dirty="0"/>
          </a:p>
        </p:txBody>
      </p:sp>
      <p:sp>
        <p:nvSpPr>
          <p:cNvPr id="8" name="Slide Number Placeholder 7"/>
          <p:cNvSpPr>
            <a:spLocks noGrp="1"/>
          </p:cNvSpPr>
          <p:nvPr>
            <p:ph type="sldNum" sz="quarter" idx="32"/>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62258698-286C-88FD-70CB-ECDC7EEFE76B}"/>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9D5C8553-9D06-642B-D0A0-1E6DF4F5CE6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6" name="Freeform: Shape 15">
            <a:extLst>
              <a:ext uri="{FF2B5EF4-FFF2-40B4-BE49-F238E27FC236}">
                <a16:creationId xmlns:a16="http://schemas.microsoft.com/office/drawing/2014/main" id="{6C8E6EBF-1077-88CA-250A-BC3D173D6251}"/>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849405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B59F3A37-C204-46CD-8AE5-F5797DDF1AC7}" type="datetime3">
              <a:rPr lang="en-US"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5125" y="5792400"/>
            <a:ext cx="11460163"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Table Placeholder 6">
            <a:extLst>
              <a:ext uri="{FF2B5EF4-FFF2-40B4-BE49-F238E27FC236}">
                <a16:creationId xmlns:a16="http://schemas.microsoft.com/office/drawing/2014/main" id="{2E2FA657-3A41-6C8A-7C73-5FF4D5761F76}"/>
              </a:ext>
            </a:extLst>
          </p:cNvPr>
          <p:cNvSpPr>
            <a:spLocks noGrp="1"/>
          </p:cNvSpPr>
          <p:nvPr>
            <p:ph type="tbl" sz="quarter" idx="34" hasCustomPrompt="1"/>
          </p:nvPr>
        </p:nvSpPr>
        <p:spPr>
          <a:xfrm>
            <a:off x="365119" y="1303338"/>
            <a:ext cx="11459625" cy="4489450"/>
          </a:xfrm>
        </p:spPr>
        <p:txBody>
          <a:bodyPr lIns="0" rIns="0">
            <a:noAutofit/>
          </a:bodyPr>
          <a:lstStyle>
            <a:lvl1pPr>
              <a:defRPr/>
            </a:lvl1pPr>
          </a:lstStyle>
          <a:p>
            <a:r>
              <a:rPr lang="en-GB" dirty="0"/>
              <a:t>Click TABLE icon to insert table.</a:t>
            </a:r>
          </a:p>
        </p:txBody>
      </p:sp>
      <p:sp>
        <p:nvSpPr>
          <p:cNvPr id="10" name="Title 1">
            <a:extLst>
              <a:ext uri="{FF2B5EF4-FFF2-40B4-BE49-F238E27FC236}">
                <a16:creationId xmlns:a16="http://schemas.microsoft.com/office/drawing/2014/main" id="{F7A4EB32-D948-C409-F1E5-9F712310D5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1E30107F-6B57-65E7-BD35-CCB493B8D6DC}"/>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F611BFB-31C6-6656-90B9-BB1C81967B2F}"/>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9270428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nd Graph">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CB5633-6431-4284-9ADB-4E6151258883}"/>
              </a:ext>
            </a:extLst>
          </p:cNvPr>
          <p:cNvSpPr>
            <a:spLocks noGrp="1"/>
          </p:cNvSpPr>
          <p:nvPr>
            <p:ph type="dt" sz="half" idx="30"/>
          </p:nvPr>
        </p:nvSpPr>
        <p:spPr/>
        <p:txBody>
          <a:bodyPr/>
          <a:lstStyle/>
          <a:p>
            <a:fld id="{74A36488-29BF-4D3D-8559-EF9A5F0229CD}" type="datetime3">
              <a:rPr lang="en-US" smtClean="0"/>
              <a:t>20 July 2025</a:t>
            </a:fld>
            <a:endParaRPr lang="en-GB" dirty="0"/>
          </a:p>
        </p:txBody>
      </p:sp>
      <p:sp>
        <p:nvSpPr>
          <p:cNvPr id="5" name="Footer Placeholder 4">
            <a:extLst>
              <a:ext uri="{FF2B5EF4-FFF2-40B4-BE49-F238E27FC236}">
                <a16:creationId xmlns:a16="http://schemas.microsoft.com/office/drawing/2014/main" id="{195C4D40-638F-40AA-882E-9A6164C79568}"/>
              </a:ext>
            </a:extLst>
          </p:cNvPr>
          <p:cNvSpPr>
            <a:spLocks noGrp="1"/>
          </p:cNvSpPr>
          <p:nvPr>
            <p:ph type="ftr" sz="quarter" idx="31"/>
          </p:nvPr>
        </p:nvSpPr>
        <p:spPr/>
        <p:txBody>
          <a:bodyPr/>
          <a:lstStyle/>
          <a:p>
            <a:endParaRPr lang="en-GB" dirty="0"/>
          </a:p>
        </p:txBody>
      </p:sp>
      <p:sp>
        <p:nvSpPr>
          <p:cNvPr id="9" name="Slide Number Placeholder 8">
            <a:extLst>
              <a:ext uri="{FF2B5EF4-FFF2-40B4-BE49-F238E27FC236}">
                <a16:creationId xmlns:a16="http://schemas.microsoft.com/office/drawing/2014/main" id="{223E44AE-F798-4C55-8F91-872E4A737927}"/>
              </a:ext>
            </a:extLst>
          </p:cNvPr>
          <p:cNvSpPr>
            <a:spLocks noGrp="1"/>
          </p:cNvSpPr>
          <p:nvPr>
            <p:ph type="sldNum" sz="quarter" idx="32"/>
          </p:nvPr>
        </p:nvSpPr>
        <p:spPr/>
        <p:txBody>
          <a:bodyPr/>
          <a:lstStyle/>
          <a:p>
            <a:fld id="{9F9F533D-B52E-4A2F-BF72-0ADD2D94BD75}" type="slidenum">
              <a:rPr lang="en-GB" smtClean="0"/>
              <a:pPr/>
              <a:t>‹#›</a:t>
            </a:fld>
            <a:endParaRPr lang="en-GB" dirty="0"/>
          </a:p>
        </p:txBody>
      </p:sp>
      <p:sp>
        <p:nvSpPr>
          <p:cNvPr id="3" name="Text Placeholder 2">
            <a:extLst>
              <a:ext uri="{FF2B5EF4-FFF2-40B4-BE49-F238E27FC236}">
                <a16:creationId xmlns:a16="http://schemas.microsoft.com/office/drawing/2014/main" id="{328B3A39-D8B7-A2C0-89DB-5314F345D351}"/>
              </a:ext>
            </a:extLst>
          </p:cNvPr>
          <p:cNvSpPr>
            <a:spLocks noGrp="1"/>
          </p:cNvSpPr>
          <p:nvPr>
            <p:ph type="body" sz="quarter" idx="33" hasCustomPrompt="1"/>
          </p:nvPr>
        </p:nvSpPr>
        <p:spPr>
          <a:xfrm>
            <a:off x="366713"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7" name="Chart Placeholder 6">
            <a:extLst>
              <a:ext uri="{FF2B5EF4-FFF2-40B4-BE49-F238E27FC236}">
                <a16:creationId xmlns:a16="http://schemas.microsoft.com/office/drawing/2014/main" id="{8994D5C1-7836-1E91-87FA-56E472221EB3}"/>
              </a:ext>
            </a:extLst>
          </p:cNvPr>
          <p:cNvSpPr>
            <a:spLocks noGrp="1"/>
          </p:cNvSpPr>
          <p:nvPr>
            <p:ph type="chart" sz="quarter" idx="34" hasCustomPrompt="1"/>
          </p:nvPr>
        </p:nvSpPr>
        <p:spPr>
          <a:xfrm>
            <a:off x="365125" y="1303338"/>
            <a:ext cx="11460163" cy="4489062"/>
          </a:xfrm>
        </p:spPr>
        <p:txBody>
          <a:bodyPr lIns="0" rIns="0">
            <a:noAutofit/>
          </a:bodyPr>
          <a:lstStyle>
            <a:lvl1pPr>
              <a:defRPr/>
            </a:lvl1pPr>
          </a:lstStyle>
          <a:p>
            <a:r>
              <a:rPr lang="en-GB" dirty="0"/>
              <a:t>Click CHART icons to insert chart.</a:t>
            </a:r>
            <a:br>
              <a:rPr lang="en-GB" dirty="0"/>
            </a:br>
            <a:r>
              <a:rPr lang="en-US" dirty="0"/>
              <a:t>Please ensure your chart title, legend, x and y axis titles are minimum 12 pt, Arial black for accessibility. </a:t>
            </a:r>
          </a:p>
          <a:p>
            <a:endParaRPr lang="en-GB" dirty="0"/>
          </a:p>
          <a:p>
            <a:endParaRPr lang="en-GB" dirty="0"/>
          </a:p>
        </p:txBody>
      </p:sp>
      <p:sp>
        <p:nvSpPr>
          <p:cNvPr id="10" name="Title 1">
            <a:extLst>
              <a:ext uri="{FF2B5EF4-FFF2-40B4-BE49-F238E27FC236}">
                <a16:creationId xmlns:a16="http://schemas.microsoft.com/office/drawing/2014/main" id="{20CCEE79-8221-4C6C-2397-0791C954AA8D}"/>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2" name="Subtitle 2">
            <a:extLst>
              <a:ext uri="{FF2B5EF4-FFF2-40B4-BE49-F238E27FC236}">
                <a16:creationId xmlns:a16="http://schemas.microsoft.com/office/drawing/2014/main" id="{4091ECF0-259D-F144-9708-B8296C87B04F}"/>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C3FC0E92-53E2-6353-15B7-7028E9E80A82}"/>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5876101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B0562EFD-B354-45F8-9B81-18E2E8511F21}" type="datetime3">
              <a:rPr lang="en-US" smtClean="0"/>
              <a:t>20 July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0" rIns="0" bIns="0" anchor="b">
            <a:noAutofit/>
          </a:bodyPr>
          <a:lstStyle>
            <a:lvl1pPr marL="0" indent="0">
              <a:buNone/>
              <a:defRPr sz="8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085662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Gradi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Date Placeholder 9">
            <a:extLst>
              <a:ext uri="{FF2B5EF4-FFF2-40B4-BE49-F238E27FC236}">
                <a16:creationId xmlns:a16="http://schemas.microsoft.com/office/drawing/2014/main" id="{DFB0EC8B-993B-9701-B3D4-2FBFA2652AA7}"/>
              </a:ext>
            </a:extLst>
          </p:cNvPr>
          <p:cNvSpPr>
            <a:spLocks noGrp="1"/>
          </p:cNvSpPr>
          <p:nvPr>
            <p:ph type="dt" sz="half" idx="11"/>
          </p:nvPr>
        </p:nvSpPr>
        <p:spPr/>
        <p:txBody>
          <a:bodyPr/>
          <a:lstStyle>
            <a:lvl1pPr>
              <a:defRPr>
                <a:solidFill>
                  <a:schemeClr val="bg1"/>
                </a:solidFill>
              </a:defRPr>
            </a:lvl1pPr>
          </a:lstStyle>
          <a:p>
            <a:fld id="{7D479834-4896-4EEA-90F4-FAA00F0E0A88}" type="datetime3">
              <a:rPr lang="en-US" smtClean="0"/>
              <a:t>20 July 2025</a:t>
            </a:fld>
            <a:endParaRPr lang="en-GB" dirty="0"/>
          </a:p>
        </p:txBody>
      </p:sp>
      <p:sp>
        <p:nvSpPr>
          <p:cNvPr id="11" name="Footer Placeholder 10">
            <a:extLst>
              <a:ext uri="{FF2B5EF4-FFF2-40B4-BE49-F238E27FC236}">
                <a16:creationId xmlns:a16="http://schemas.microsoft.com/office/drawing/2014/main" id="{F4B64CB0-473B-DCCB-4EF6-AD2596727230}"/>
              </a:ext>
            </a:extLst>
          </p:cNvPr>
          <p:cNvSpPr>
            <a:spLocks noGrp="1"/>
          </p:cNvSpPr>
          <p:nvPr>
            <p:ph type="ftr" sz="quarter" idx="12"/>
          </p:nvPr>
        </p:nvSpPr>
        <p:spPr/>
        <p:txBody>
          <a:bodyPr/>
          <a:lstStyle>
            <a:lvl1pPr>
              <a:defRPr>
                <a:solidFill>
                  <a:schemeClr val="bg1"/>
                </a:solidFill>
              </a:defRPr>
            </a:lvl1pPr>
          </a:lstStyle>
          <a:p>
            <a:endParaRPr lang="en-GB" dirty="0"/>
          </a:p>
        </p:txBody>
      </p:sp>
      <p:sp>
        <p:nvSpPr>
          <p:cNvPr id="12" name="Slide Number Placeholder 11">
            <a:extLst>
              <a:ext uri="{FF2B5EF4-FFF2-40B4-BE49-F238E27FC236}">
                <a16:creationId xmlns:a16="http://schemas.microsoft.com/office/drawing/2014/main" id="{C70C223B-EC3F-01A9-ECD3-7E6A591C405E}"/>
              </a:ext>
            </a:extLst>
          </p:cNvPr>
          <p:cNvSpPr>
            <a:spLocks noGrp="1"/>
          </p:cNvSpPr>
          <p:nvPr>
            <p:ph type="sldNum" sz="quarter" idx="13"/>
          </p:nvPr>
        </p:nvSpPr>
        <p:spPr/>
        <p:txBody>
          <a:bodyPr/>
          <a:lstStyle>
            <a:lvl1pPr>
              <a:defRPr>
                <a:solidFill>
                  <a:schemeClr val="bg1"/>
                </a:solidFill>
              </a:defRPr>
            </a:lvl1pPr>
          </a:lstStyle>
          <a:p>
            <a:fld id="{9F9F533D-B52E-4A2F-BF72-0ADD2D94BD75}" type="slidenum">
              <a:rPr lang="en-GB" smtClean="0"/>
              <a:pPr/>
              <a:t>‹#›</a:t>
            </a:fld>
            <a:endParaRPr lang="en-GB" dirty="0"/>
          </a:p>
        </p:txBody>
      </p:sp>
      <p:sp>
        <p:nvSpPr>
          <p:cNvPr id="13" name="Text Placeholder 2">
            <a:extLst>
              <a:ext uri="{FF2B5EF4-FFF2-40B4-BE49-F238E27FC236}">
                <a16:creationId xmlns:a16="http://schemas.microsoft.com/office/drawing/2014/main" id="{B3466546-C07E-BFBF-4B2F-E4D299013F56}"/>
              </a:ext>
            </a:extLst>
          </p:cNvPr>
          <p:cNvSpPr>
            <a:spLocks noGrp="1"/>
          </p:cNvSpPr>
          <p:nvPr>
            <p:ph type="body" sz="quarter" idx="33" hasCustomPrompt="1"/>
          </p:nvPr>
        </p:nvSpPr>
        <p:spPr>
          <a:xfrm>
            <a:off x="364800" y="5792400"/>
            <a:ext cx="11460164" cy="298800"/>
          </a:xfrm>
        </p:spPr>
        <p:txBody>
          <a:bodyPr lIns="0" tIns="72000" rIns="0" bIns="72000" anchor="b">
            <a:noAutofit/>
          </a:bodyPr>
          <a:lstStyle>
            <a:lvl1pPr marL="0" indent="0">
              <a:buNone/>
              <a:defRPr sz="1200">
                <a:solidFill>
                  <a:schemeClr val="bg1"/>
                </a:solidFill>
              </a:defRPr>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pic>
        <p:nvPicPr>
          <p:cNvPr id="6" name="Graphic 5">
            <a:extLst>
              <a:ext uri="{FF2B5EF4-FFF2-40B4-BE49-F238E27FC236}">
                <a16:creationId xmlns:a16="http://schemas.microsoft.com/office/drawing/2014/main" id="{A8F5241F-6CBA-AE82-8AEE-138E90E20FA2}"/>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7328" t="12162" r="1499" b="12843"/>
          <a:stretch/>
        </p:blipFill>
        <p:spPr>
          <a:xfrm>
            <a:off x="219299" y="6191252"/>
            <a:ext cx="1215582" cy="563804"/>
          </a:xfrm>
          <a:prstGeom prst="rect">
            <a:avLst/>
          </a:prstGeom>
        </p:spPr>
      </p:pic>
      <p:sp>
        <p:nvSpPr>
          <p:cNvPr id="9" name="Title 1">
            <a:extLst>
              <a:ext uri="{FF2B5EF4-FFF2-40B4-BE49-F238E27FC236}">
                <a16:creationId xmlns:a16="http://schemas.microsoft.com/office/drawing/2014/main" id="{70C54E86-8E74-E1E1-9919-BF95D8B21B8F}"/>
              </a:ext>
            </a:extLst>
          </p:cNvPr>
          <p:cNvSpPr>
            <a:spLocks noGrp="1"/>
          </p:cNvSpPr>
          <p:nvPr>
            <p:ph type="title"/>
          </p:nvPr>
        </p:nvSpPr>
        <p:spPr>
          <a:xfrm>
            <a:off x="365125" y="242888"/>
            <a:ext cx="11460163" cy="430887"/>
          </a:xfrm>
        </p:spPr>
        <p:txBody>
          <a:bodyPr/>
          <a:lstStyle>
            <a:lvl1pPr>
              <a:defRPr>
                <a:solidFill>
                  <a:schemeClr val="bg1"/>
                </a:solidFill>
              </a:defRPr>
            </a:lvl1pPr>
          </a:lstStyle>
          <a:p>
            <a:r>
              <a:rPr lang="en-US"/>
              <a:t>Click to edit Master title style</a:t>
            </a:r>
            <a:endParaRPr lang="en-US" dirty="0"/>
          </a:p>
        </p:txBody>
      </p:sp>
      <p:sp>
        <p:nvSpPr>
          <p:cNvPr id="14" name="Subtitle 2">
            <a:extLst>
              <a:ext uri="{FF2B5EF4-FFF2-40B4-BE49-F238E27FC236}">
                <a16:creationId xmlns:a16="http://schemas.microsoft.com/office/drawing/2014/main" id="{5936C739-784E-0B16-D78E-DAACEC459BEA}"/>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7" name="Freeform: Shape 16">
            <a:extLst>
              <a:ext uri="{FF2B5EF4-FFF2-40B4-BE49-F238E27FC236}">
                <a16:creationId xmlns:a16="http://schemas.microsoft.com/office/drawing/2014/main" id="{A8BE41CA-ABEC-55CB-D62E-31831DAD300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25779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3EA56-5111-4037-9D95-99472C98B371}"/>
              </a:ext>
            </a:extLst>
          </p:cNvPr>
          <p:cNvSpPr>
            <a:spLocks noGrp="1"/>
          </p:cNvSpPr>
          <p:nvPr>
            <p:ph type="dt" sz="half" idx="10"/>
          </p:nvPr>
        </p:nvSpPr>
        <p:spPr/>
        <p:txBody>
          <a:bodyPr/>
          <a:lstStyle/>
          <a:p>
            <a:fld id="{CA6CC219-B124-41FD-9E27-C1D168DAD0D9}" type="datetime3">
              <a:rPr lang="en-US" smtClean="0"/>
              <a:t>20 July 2025</a:t>
            </a:fld>
            <a:endParaRPr lang="en-GB" dirty="0"/>
          </a:p>
        </p:txBody>
      </p:sp>
      <p:sp>
        <p:nvSpPr>
          <p:cNvPr id="3" name="Footer Placeholder 2">
            <a:extLst>
              <a:ext uri="{FF2B5EF4-FFF2-40B4-BE49-F238E27FC236}">
                <a16:creationId xmlns:a16="http://schemas.microsoft.com/office/drawing/2014/main" id="{D0CE7BCF-23E0-421B-8A21-1CDDB167314E}"/>
              </a:ext>
            </a:extLst>
          </p:cNvPr>
          <p:cNvSpPr>
            <a:spLocks noGrp="1"/>
          </p:cNvSpPr>
          <p:nvPr>
            <p:ph type="ftr" sz="quarter" idx="11"/>
          </p:nvPr>
        </p:nvSpPr>
        <p:spPr/>
        <p:txBody>
          <a:bodyPr/>
          <a:lstStyle/>
          <a:p>
            <a:endParaRPr lang="en-GB" dirty="0"/>
          </a:p>
        </p:txBody>
      </p:sp>
      <p:sp>
        <p:nvSpPr>
          <p:cNvPr id="4" name="Slide Number Placeholder 3">
            <a:extLst>
              <a:ext uri="{FF2B5EF4-FFF2-40B4-BE49-F238E27FC236}">
                <a16:creationId xmlns:a16="http://schemas.microsoft.com/office/drawing/2014/main" id="{FB1F21D1-F1DD-4945-8EF8-43393EDC3F66}"/>
              </a:ext>
            </a:extLst>
          </p:cNvPr>
          <p:cNvSpPr>
            <a:spLocks noGrp="1"/>
          </p:cNvSpPr>
          <p:nvPr>
            <p:ph type="sldNum" sz="quarter" idx="12"/>
          </p:nvPr>
        </p:nvSpPr>
        <p:spPr/>
        <p:txBody>
          <a:bodyPr/>
          <a:lstStyle/>
          <a:p>
            <a:fld id="{9F9F533D-B52E-4A2F-BF72-0ADD2D94BD75}" type="slidenum">
              <a:rPr lang="en-GB" smtClean="0"/>
              <a:pPr/>
              <a:t>‹#›</a:t>
            </a:fld>
            <a:endParaRPr lang="en-GB" dirty="0"/>
          </a:p>
        </p:txBody>
      </p:sp>
      <p:sp>
        <p:nvSpPr>
          <p:cNvPr id="7" name="Text Placeholder 6">
            <a:extLst>
              <a:ext uri="{FF2B5EF4-FFF2-40B4-BE49-F238E27FC236}">
                <a16:creationId xmlns:a16="http://schemas.microsoft.com/office/drawing/2014/main" id="{F2A2858F-078E-2E59-C8A6-5102082DA345}"/>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Tree>
    <p:extLst>
      <p:ext uri="{BB962C8B-B14F-4D97-AF65-F5344CB8AC3E}">
        <p14:creationId xmlns:p14="http://schemas.microsoft.com/office/powerpoint/2010/main" val="4016590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Section Header 1">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5" cstate="print">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105857959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1_Section Header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2E210B85-691C-7298-6DB6-61C25A5191F9}"/>
              </a:ext>
            </a:extLst>
          </p:cNvPr>
          <p:cNvGraphicFramePr>
            <a:graphicFrameLocks noChangeAspect="1"/>
          </p:cNvGraphicFramePr>
          <p:nvPr userDrawn="1">
            <p:custDataLst>
              <p:tags r:id="rId1"/>
            </p:custDataLst>
            <p:extLst>
              <p:ext uri="{D42A27DB-BD31-4B8C-83A1-F6EECF244321}">
                <p14:modId xmlns:p14="http://schemas.microsoft.com/office/powerpoint/2010/main" val="2476115388"/>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2E210B85-691C-7298-6DB6-61C25A5191F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Title 1">
            <a:extLst>
              <a:ext uri="{FF2B5EF4-FFF2-40B4-BE49-F238E27FC236}">
                <a16:creationId xmlns:a16="http://schemas.microsoft.com/office/drawing/2014/main" id="{1F7EFD61-0B79-2619-1483-7B804B2C82CE}"/>
              </a:ext>
            </a:extLst>
          </p:cNvPr>
          <p:cNvSpPr>
            <a:spLocks noGrp="1"/>
          </p:cNvSpPr>
          <p:nvPr>
            <p:ph type="title" hasCustomPrompt="1"/>
          </p:nvPr>
        </p:nvSpPr>
        <p:spPr>
          <a:xfrm>
            <a:off x="365125" y="3235800"/>
            <a:ext cx="11460163" cy="1260000"/>
          </a:xfrm>
        </p:spPr>
        <p:txBody>
          <a:bodyPr vert="horz">
            <a:noAutofit/>
          </a:bodyPr>
          <a:lstStyle>
            <a:lvl1pPr>
              <a:defRPr sz="3600"/>
            </a:lvl1pPr>
          </a:lstStyle>
          <a:p>
            <a:r>
              <a:rPr lang="en-US" dirty="0"/>
              <a:t>Click to enter section header title</a:t>
            </a:r>
          </a:p>
        </p:txBody>
      </p:sp>
      <p:sp>
        <p:nvSpPr>
          <p:cNvPr id="9" name="Subtitle 2">
            <a:extLst>
              <a:ext uri="{FF2B5EF4-FFF2-40B4-BE49-F238E27FC236}">
                <a16:creationId xmlns:a16="http://schemas.microsoft.com/office/drawing/2014/main" id="{BBC9BD8C-031D-7F0A-C46B-D38FB0136781}"/>
              </a:ext>
            </a:extLst>
          </p:cNvPr>
          <p:cNvSpPr>
            <a:spLocks noGrp="1"/>
          </p:cNvSpPr>
          <p:nvPr>
            <p:ph type="subTitle" idx="1" hasCustomPrompt="1"/>
          </p:nvPr>
        </p:nvSpPr>
        <p:spPr>
          <a:xfrm>
            <a:off x="365125" y="4514654"/>
            <a:ext cx="11460164"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tx2"/>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10" name="Graphic 9">
            <a:extLst>
              <a:ext uri="{FF2B5EF4-FFF2-40B4-BE49-F238E27FC236}">
                <a16:creationId xmlns:a16="http://schemas.microsoft.com/office/drawing/2014/main" id="{0B01FA46-1D8D-93AD-9A24-7740D438F0BA}"/>
              </a:ext>
            </a:extLst>
          </p:cNvPr>
          <p:cNvPicPr>
            <a:picLocks noChangeAspect="1"/>
          </p:cNvPicPr>
          <p:nvPr userDrawn="1"/>
        </p:nvPicPr>
        <p:blipFill>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437175" y="5967611"/>
            <a:ext cx="1401150" cy="422366"/>
          </a:xfrm>
          <a:prstGeom prst="rect">
            <a:avLst/>
          </a:prstGeom>
        </p:spPr>
      </p:pic>
    </p:spTree>
    <p:extLst>
      <p:ext uri="{BB962C8B-B14F-4D97-AF65-F5344CB8AC3E}">
        <p14:creationId xmlns:p14="http://schemas.microsoft.com/office/powerpoint/2010/main" val="3544975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userDrawn="1">
  <p:cSld name="Section Header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C8276E86-C9B6-1B20-0470-A93E9FE76804}"/>
              </a:ext>
            </a:extLst>
          </p:cNvPr>
          <p:cNvGraphicFramePr>
            <a:graphicFrameLocks noChangeAspect="1"/>
          </p:cNvGraphicFramePr>
          <p:nvPr userDrawn="1">
            <p:custDataLst>
              <p:tags r:id="rId1"/>
            </p:custDataLst>
            <p:extLst>
              <p:ext uri="{D42A27DB-BD31-4B8C-83A1-F6EECF244321}">
                <p14:modId xmlns:p14="http://schemas.microsoft.com/office/powerpoint/2010/main" val="403634700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5" imgH="424" progId="TCLayout.ActiveDocument.1">
                  <p:embed/>
                </p:oleObj>
              </mc:Choice>
              <mc:Fallback>
                <p:oleObj name="think-cell Slide" r:id="rId4" imgW="425" imgH="424" progId="TCLayout.ActiveDocument.1">
                  <p:embed/>
                  <p:pic>
                    <p:nvPicPr>
                      <p:cNvPr id="3" name="Object 2" hidden="1">
                        <a:extLst>
                          <a:ext uri="{FF2B5EF4-FFF2-40B4-BE49-F238E27FC236}">
                            <a16:creationId xmlns:a16="http://schemas.microsoft.com/office/drawing/2014/main" id="{C8276E86-C9B6-1B20-0470-A93E9FE76804}"/>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6" name="Title 1">
            <a:extLst>
              <a:ext uri="{FF2B5EF4-FFF2-40B4-BE49-F238E27FC236}">
                <a16:creationId xmlns:a16="http://schemas.microsoft.com/office/drawing/2014/main" id="{7905DD1F-ADCE-21F5-3B42-348B73562E77}"/>
              </a:ext>
            </a:extLst>
          </p:cNvPr>
          <p:cNvSpPr>
            <a:spLocks noGrp="1"/>
          </p:cNvSpPr>
          <p:nvPr>
            <p:ph type="title" hasCustomPrompt="1"/>
          </p:nvPr>
        </p:nvSpPr>
        <p:spPr>
          <a:xfrm>
            <a:off x="365125" y="3235800"/>
            <a:ext cx="8651875" cy="1260000"/>
          </a:xfrm>
        </p:spPr>
        <p:txBody>
          <a:bodyPr vert="horz">
            <a:noAutofit/>
          </a:bodyPr>
          <a:lstStyle>
            <a:lvl1pPr>
              <a:defRPr sz="3600">
                <a:solidFill>
                  <a:schemeClr val="bg1"/>
                </a:solidFill>
              </a:defRPr>
            </a:lvl1pPr>
          </a:lstStyle>
          <a:p>
            <a:r>
              <a:rPr lang="en-US" dirty="0"/>
              <a:t>Click to enter section header title</a:t>
            </a:r>
          </a:p>
        </p:txBody>
      </p:sp>
      <p:sp>
        <p:nvSpPr>
          <p:cNvPr id="7" name="Subtitle 2">
            <a:extLst>
              <a:ext uri="{FF2B5EF4-FFF2-40B4-BE49-F238E27FC236}">
                <a16:creationId xmlns:a16="http://schemas.microsoft.com/office/drawing/2014/main" id="{1A65F606-CDCB-0367-61AA-199FECCB3A72}"/>
              </a:ext>
            </a:extLst>
          </p:cNvPr>
          <p:cNvSpPr>
            <a:spLocks noGrp="1"/>
          </p:cNvSpPr>
          <p:nvPr>
            <p:ph type="subTitle" idx="1" hasCustomPrompt="1"/>
          </p:nvPr>
        </p:nvSpPr>
        <p:spPr>
          <a:xfrm>
            <a:off x="365125" y="4514654"/>
            <a:ext cx="8651876" cy="475200"/>
          </a:xfrm>
          <a:prstGeom prst="rect">
            <a:avLst/>
          </a:prstGeom>
        </p:spPr>
        <p:txBody>
          <a:bodyPr wrap="square" lIns="0" tIns="0" rIns="0" bIns="0" anchor="t" anchorCtr="0">
            <a:noAutofit/>
          </a:bodyPr>
          <a:lstStyle>
            <a:lvl1pPr marL="0" indent="0" algn="l">
              <a:spcBef>
                <a:spcPts val="0"/>
              </a:spcBef>
              <a:spcAft>
                <a:spcPts val="0"/>
              </a:spcAft>
              <a:buNone/>
              <a:defRPr sz="28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section subtitle</a:t>
            </a:r>
          </a:p>
        </p:txBody>
      </p:sp>
      <p:pic>
        <p:nvPicPr>
          <p:cNvPr id="8" name="Graphic 7">
            <a:extLst>
              <a:ext uri="{FF2B5EF4-FFF2-40B4-BE49-F238E27FC236}">
                <a16:creationId xmlns:a16="http://schemas.microsoft.com/office/drawing/2014/main" id="{FE066BEF-B097-8826-7B68-974384A3DA4A}"/>
              </a:ext>
            </a:extLst>
          </p:cNvPr>
          <p:cNvPicPr>
            <a:picLocks noChangeAspect="1"/>
          </p:cNvPicPr>
          <p:nvPr userDrawn="1"/>
        </p:nvPicPr>
        <p:blipFill rotWithShape="1">
          <a:blip r:embed="rId6" cstate="print">
            <a:extLst>
              <a:ext uri="{28A0092B-C50C-407E-A947-70E740481C1C}">
                <a14:useLocalDpi xmlns:a14="http://schemas.microsoft.com/office/drawing/2010/main"/>
              </a:ext>
              <a:ext uri="{96DAC541-7B7A-43D3-8B79-37D633B846F1}">
                <asvg:svgBlip xmlns:asvg="http://schemas.microsoft.com/office/drawing/2016/SVG/main" r:embed="rId7"/>
              </a:ext>
            </a:extLst>
          </a:blip>
          <a:srcRect l="13772" t="25173" r="16016" b="28870"/>
          <a:stretch/>
        </p:blipFill>
        <p:spPr>
          <a:xfrm>
            <a:off x="322824" y="5861243"/>
            <a:ext cx="1586940" cy="585704"/>
          </a:xfrm>
          <a:prstGeom prst="rect">
            <a:avLst/>
          </a:prstGeom>
        </p:spPr>
      </p:pic>
      <p:sp>
        <p:nvSpPr>
          <p:cNvPr id="2" name="Rectangle 1">
            <a:extLst>
              <a:ext uri="{FF2B5EF4-FFF2-40B4-BE49-F238E27FC236}">
                <a16:creationId xmlns:a16="http://schemas.microsoft.com/office/drawing/2014/main" id="{548F8A31-858D-C50C-D7AC-3713BA83E951}"/>
              </a:ext>
            </a:extLst>
          </p:cNvPr>
          <p:cNvSpPr/>
          <p:nvPr userDrawn="1"/>
        </p:nvSpPr>
        <p:spPr>
          <a:xfrm>
            <a:off x="4559300" y="6627168"/>
            <a:ext cx="3073400" cy="215444"/>
          </a:xfrm>
          <a:prstGeom prst="rect">
            <a:avLst/>
          </a:prstGeom>
        </p:spPr>
        <p:txBody>
          <a:bodyPr wrap="square">
            <a:spAutoFit/>
          </a:bodyPr>
          <a:lstStyle/>
          <a:p>
            <a:pPr algn="ctr">
              <a:spcAft>
                <a:spcPts val="0"/>
              </a:spcAft>
            </a:pPr>
            <a:r>
              <a:rPr lang="en-US" sz="800" b="1" i="0" spc="100" baseline="0" dirty="0">
                <a:solidFill>
                  <a:schemeClr val="bg1"/>
                </a:solidFill>
              </a:rPr>
              <a:t>FOR GSK INTERNAL USE ONLY</a:t>
            </a:r>
            <a:endParaRPr lang="en-GB" sz="800" i="0" spc="100" baseline="0" dirty="0">
              <a:solidFill>
                <a:schemeClr val="bg1"/>
              </a:solidFill>
            </a:endParaRPr>
          </a:p>
        </p:txBody>
      </p:sp>
    </p:spTree>
    <p:extLst>
      <p:ext uri="{BB962C8B-B14F-4D97-AF65-F5344CB8AC3E}">
        <p14:creationId xmlns:p14="http://schemas.microsoft.com/office/powerpoint/2010/main" val="114359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B20AFD6-6925-491B-B024-5E0A32A58D07}"/>
              </a:ext>
            </a:extLst>
          </p:cNvPr>
          <p:cNvPicPr>
            <a:picLocks noChangeAspect="1"/>
          </p:cNvPicPr>
          <p:nvPr userDrawn="1"/>
        </p:nvPicPr>
        <p:blipFill rotWithShape="1">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rcRect l="17590" t="25173" r="17185" b="31039"/>
          <a:stretch/>
        </p:blipFill>
        <p:spPr>
          <a:xfrm>
            <a:off x="152399" y="2073890"/>
            <a:ext cx="11992273" cy="4539635"/>
          </a:xfrm>
          <a:prstGeom prst="rect">
            <a:avLst/>
          </a:prstGeom>
        </p:spPr>
      </p:pic>
      <p:sp>
        <p:nvSpPr>
          <p:cNvPr id="2" name="Rectangle 1">
            <a:extLst>
              <a:ext uri="{FF2B5EF4-FFF2-40B4-BE49-F238E27FC236}">
                <a16:creationId xmlns:a16="http://schemas.microsoft.com/office/drawing/2014/main" id="{2B90B266-F3BD-2613-5CB9-7E4A4FDFC416}"/>
              </a:ext>
            </a:extLst>
          </p:cNvPr>
          <p:cNvSpPr/>
          <p:nvPr userDrawn="1"/>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3" name="Graphic 2">
            <a:extLst>
              <a:ext uri="{FF2B5EF4-FFF2-40B4-BE49-F238E27FC236}">
                <a16:creationId xmlns:a16="http://schemas.microsoft.com/office/drawing/2014/main" id="{FF8659A8-C764-F3A5-40B7-A3CB7A35D235}"/>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1094470" y="243283"/>
            <a:ext cx="159543" cy="159543"/>
          </a:xfrm>
          <a:prstGeom prst="rect">
            <a:avLst/>
          </a:prstGeom>
        </p:spPr>
      </p:pic>
    </p:spTree>
    <p:extLst>
      <p:ext uri="{BB962C8B-B14F-4D97-AF65-F5344CB8AC3E}">
        <p14:creationId xmlns:p14="http://schemas.microsoft.com/office/powerpoint/2010/main" val="66031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WARNING">
    <p:bg>
      <p:bgPr>
        <a:solidFill>
          <a:schemeClr val="accent4"/>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B03810C-0168-8013-6BD1-DF4493DB8F41}"/>
              </a:ext>
            </a:extLst>
          </p:cNvPr>
          <p:cNvSpPr/>
          <p:nvPr userDrawn="1"/>
        </p:nvSpPr>
        <p:spPr bwMode="auto">
          <a:xfrm>
            <a:off x="242888" y="242888"/>
            <a:ext cx="11704637" cy="584835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eaLnBrk="0" fontAlgn="auto" hangingPunct="0">
              <a:spcBef>
                <a:spcPts val="300"/>
              </a:spcBef>
              <a:spcAft>
                <a:spcPts val="300"/>
              </a:spcAft>
              <a:buClr>
                <a:schemeClr val="bg1"/>
              </a:buClr>
            </a:pPr>
            <a:r>
              <a:rPr lang="en-GB" sz="9600" kern="0" dirty="0">
                <a:solidFill>
                  <a:schemeClr val="bg1"/>
                </a:solidFill>
              </a:rPr>
              <a:t>Do not use </a:t>
            </a:r>
            <a:br>
              <a:rPr lang="en-GB" sz="9600" kern="0" dirty="0">
                <a:solidFill>
                  <a:schemeClr val="bg1"/>
                </a:solidFill>
              </a:rPr>
            </a:br>
            <a:r>
              <a:rPr lang="en-GB" sz="9600" kern="0" dirty="0">
                <a:solidFill>
                  <a:schemeClr val="bg1"/>
                </a:solidFill>
              </a:rPr>
              <a:t>layouts that appear </a:t>
            </a:r>
            <a:br>
              <a:rPr lang="en-GB" sz="9600" kern="0" dirty="0">
                <a:solidFill>
                  <a:schemeClr val="bg1"/>
                </a:solidFill>
              </a:rPr>
            </a:br>
            <a:r>
              <a:rPr lang="en-GB" sz="9600" kern="0" dirty="0">
                <a:solidFill>
                  <a:schemeClr val="bg1"/>
                </a:solidFill>
              </a:rPr>
              <a:t>after this point</a:t>
            </a:r>
          </a:p>
        </p:txBody>
      </p:sp>
      <p:pic>
        <p:nvPicPr>
          <p:cNvPr id="4" name="Graphic 3">
            <a:extLst>
              <a:ext uri="{FF2B5EF4-FFF2-40B4-BE49-F238E27FC236}">
                <a16:creationId xmlns:a16="http://schemas.microsoft.com/office/drawing/2014/main" id="{1AFE542C-8ECE-F9C9-8F96-80B2751FAA98}"/>
              </a:ext>
            </a:extLst>
          </p:cNvPr>
          <p:cNvPicPr>
            <a:picLocks noChangeAspect="1"/>
          </p:cNvPicPr>
          <p:nvPr userDrawn="1"/>
        </p:nvPicPr>
        <p:blipFill rotWithShape="1">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rcRect l="7328" t="12162" r="1499" b="12843"/>
          <a:stretch/>
        </p:blipFill>
        <p:spPr>
          <a:xfrm>
            <a:off x="90711" y="6207919"/>
            <a:ext cx="1215582" cy="563804"/>
          </a:xfrm>
          <a:prstGeom prst="rect">
            <a:avLst/>
          </a:prstGeom>
        </p:spPr>
      </p:pic>
    </p:spTree>
    <p:extLst>
      <p:ext uri="{BB962C8B-B14F-4D97-AF65-F5344CB8AC3E}">
        <p14:creationId xmlns:p14="http://schemas.microsoft.com/office/powerpoint/2010/main" val="42234539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4AD654D-16D0-E8DF-1E60-12D34292B74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5400000">
            <a:off x="2667000" y="-2666999"/>
            <a:ext cx="6858001" cy="12192002"/>
          </a:xfrm>
          <a:prstGeom prst="rect">
            <a:avLst/>
          </a:prstGeom>
        </p:spPr>
      </p:pic>
      <p:pic>
        <p:nvPicPr>
          <p:cNvPr id="11" name="Picture 10">
            <a:extLst>
              <a:ext uri="{FF2B5EF4-FFF2-40B4-BE49-F238E27FC236}">
                <a16:creationId xmlns:a16="http://schemas.microsoft.com/office/drawing/2014/main" id="{3075EA21-4E38-0BE0-6B5A-B7F6BCC3793F}"/>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342900" y="6078538"/>
            <a:ext cx="582842" cy="557592"/>
          </a:xfrm>
          <a:prstGeom prst="rect">
            <a:avLst/>
          </a:prstGeom>
        </p:spPr>
      </p:pic>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1AE0A6A0-929F-45DB-BA56-861159B377F4}" type="datetime4">
              <a:rPr lang="en-GB" smtClean="0"/>
              <a:t>20 July 2025</a:t>
            </a:fld>
            <a:endParaRPr lang="en-GB"/>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1009650" y="6315762"/>
            <a:ext cx="10815639" cy="298800"/>
          </a:xfrm>
        </p:spPr>
        <p:txBody>
          <a:bodyPr lIns="0" tIns="0" rIns="0" bIns="0" anchor="b">
            <a:noAutofit/>
          </a:bodyPr>
          <a:lstStyle>
            <a:lvl1pPr marL="0" indent="0">
              <a:spcBef>
                <a:spcPts val="0"/>
              </a:spcBef>
              <a:spcAft>
                <a:spcPts val="0"/>
              </a:spcAft>
              <a:buNone/>
              <a:defRPr sz="7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0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
        <p:nvSpPr>
          <p:cNvPr id="2" name="Freeform: Shape 1">
            <a:extLst>
              <a:ext uri="{FF2B5EF4-FFF2-40B4-BE49-F238E27FC236}">
                <a16:creationId xmlns:a16="http://schemas.microsoft.com/office/drawing/2014/main" id="{BB627EE7-29BC-7E7B-5DF4-1D96E07AD3F9}"/>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a:p>
        </p:txBody>
      </p:sp>
    </p:spTree>
    <p:extLst>
      <p:ext uri="{BB962C8B-B14F-4D97-AF65-F5344CB8AC3E}">
        <p14:creationId xmlns:p14="http://schemas.microsoft.com/office/powerpoint/2010/main" val="3423534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cSld name="Title and Content ">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US"/>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endParaRPr lang="en-US"/>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BEE2726F-1D7E-4D71-9048-9F50C83A58CE}" type="slidenum">
              <a:rPr lang="en-US" smtClean="0"/>
              <a:t>‹#›</a:t>
            </a:fld>
            <a:endParaRPr lang="en-US"/>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38819988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Title Slide Blank">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12534"/>
          <a:stretch/>
        </p:blipFill>
        <p:spPr>
          <a:xfrm>
            <a:off x="0" y="1421232"/>
            <a:ext cx="5469731" cy="5103195"/>
          </a:xfrm>
          <a:prstGeom prst="rect">
            <a:avLst/>
          </a:prstGeom>
        </p:spPr>
      </p:pic>
      <p:sp>
        <p:nvSpPr>
          <p:cNvPr id="17"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0" name="Subtitle 2"/>
          <p:cNvSpPr>
            <a:spLocks noGrp="1"/>
          </p:cNvSpPr>
          <p:nvPr>
            <p:ph type="subTitle" idx="1" hasCustomPrompt="1"/>
          </p:nvPr>
        </p:nvSpPr>
        <p:spPr>
          <a:xfrm>
            <a:off x="395361" y="4570119"/>
            <a:ext cx="3405675" cy="656591"/>
          </a:xfrm>
          <a:prstGeom prst="rect">
            <a:avLst/>
          </a:prstGeom>
        </p:spPr>
        <p:txBody>
          <a:bodyPr wrap="square" lIns="0" tIns="0" rIns="0" bIns="0"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pic>
        <p:nvPicPr>
          <p:cNvPr id="2" name="Graphic 1">
            <a:extLst>
              <a:ext uri="{FF2B5EF4-FFF2-40B4-BE49-F238E27FC236}">
                <a16:creationId xmlns:a16="http://schemas.microsoft.com/office/drawing/2014/main" id="{B4C9B377-A2CB-6911-3761-4C64F0928555}"/>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153219752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Title Slide Text Only">
    <p:spTree>
      <p:nvGrpSpPr>
        <p:cNvPr id="1" name=""/>
        <p:cNvGrpSpPr/>
        <p:nvPr/>
      </p:nvGrpSpPr>
      <p:grpSpPr>
        <a:xfrm>
          <a:off x="0" y="0"/>
          <a:ext cx="0" cy="0"/>
          <a:chOff x="0" y="0"/>
          <a:chExt cx="0" cy="0"/>
        </a:xfrm>
      </p:grpSpPr>
      <p:sp>
        <p:nvSpPr>
          <p:cNvPr id="9" name="Title 1"/>
          <p:cNvSpPr>
            <a:spLocks noGrp="1"/>
          </p:cNvSpPr>
          <p:nvPr>
            <p:ph type="ctrTitle" hasCustomPrompt="1"/>
          </p:nvPr>
        </p:nvSpPr>
        <p:spPr>
          <a:xfrm>
            <a:off x="395361" y="3203154"/>
            <a:ext cx="6723193" cy="889132"/>
          </a:xfrm>
          <a:prstGeom prst="rect">
            <a:avLst/>
          </a:prstGeom>
        </p:spPr>
        <p:txBody>
          <a:bodyPr anchor="b" anchorCtr="0"/>
          <a:lstStyle>
            <a:lvl1pPr>
              <a:lnSpc>
                <a:spcPts val="3467"/>
              </a:lnSpc>
              <a:defRPr sz="3467">
                <a:solidFill>
                  <a:schemeClr val="bg2"/>
                </a:solidFill>
              </a:defRPr>
            </a:lvl1pPr>
          </a:lstStyle>
          <a:p>
            <a:r>
              <a:rPr lang="en-US" dirty="0"/>
              <a:t>Click to edit Master </a:t>
            </a:r>
            <a:br>
              <a:rPr lang="en-US" dirty="0"/>
            </a:br>
            <a:r>
              <a:rPr lang="en-US" dirty="0"/>
              <a:t>heading style</a:t>
            </a:r>
            <a:endParaRPr lang="en-GB" dirty="0"/>
          </a:p>
        </p:txBody>
      </p:sp>
      <p:sp>
        <p:nvSpPr>
          <p:cNvPr id="10" name="Subtitle 2"/>
          <p:cNvSpPr>
            <a:spLocks noGrp="1"/>
          </p:cNvSpPr>
          <p:nvPr>
            <p:ph type="subTitle" idx="1" hasCustomPrompt="1"/>
          </p:nvPr>
        </p:nvSpPr>
        <p:spPr>
          <a:xfrm>
            <a:off x="395361" y="4570120"/>
            <a:ext cx="6723193"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p>
        </p:txBody>
      </p:sp>
    </p:spTree>
    <p:extLst>
      <p:ext uri="{BB962C8B-B14F-4D97-AF65-F5344CB8AC3E}">
        <p14:creationId xmlns:p14="http://schemas.microsoft.com/office/powerpoint/2010/main" val="250920988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Title Slide Text and Table">
    <p:spTree>
      <p:nvGrpSpPr>
        <p:cNvPr id="1" name=""/>
        <p:cNvGrpSpPr/>
        <p:nvPr/>
      </p:nvGrpSpPr>
      <p:grpSpPr>
        <a:xfrm>
          <a:off x="0" y="0"/>
          <a:ext cx="0" cy="0"/>
          <a:chOff x="0" y="0"/>
          <a:chExt cx="0" cy="0"/>
        </a:xfrm>
      </p:grpSpPr>
      <p:sp>
        <p:nvSpPr>
          <p:cNvPr id="21" name="Title 1"/>
          <p:cNvSpPr>
            <a:spLocks noGrp="1"/>
          </p:cNvSpPr>
          <p:nvPr>
            <p:ph type="ctrTitle" hasCustomPrompt="1"/>
          </p:nvPr>
        </p:nvSpPr>
        <p:spPr>
          <a:xfrm>
            <a:off x="395361" y="1479613"/>
            <a:ext cx="6723192" cy="889132"/>
          </a:xfrm>
          <a:prstGeom prst="rect">
            <a:avLst/>
          </a:prstGeom>
        </p:spPr>
        <p:txBody>
          <a:bodyPr anchor="b" anchorCtr="0"/>
          <a:lstStyle>
            <a:lvl1pPr>
              <a:lnSpc>
                <a:spcPts val="3467"/>
              </a:lnSpc>
              <a:defRPr sz="3467">
                <a:solidFill>
                  <a:schemeClr val="bg2"/>
                </a:solidFill>
              </a:defRPr>
            </a:lvl1pPr>
          </a:lstStyle>
          <a:p>
            <a:r>
              <a:rPr lang="en-US" dirty="0"/>
              <a:t>Click to edit Master </a:t>
            </a:r>
            <a:br>
              <a:rPr lang="en-US" dirty="0"/>
            </a:br>
            <a:r>
              <a:rPr lang="en-US" dirty="0"/>
              <a:t>heading style</a:t>
            </a:r>
            <a:endParaRPr lang="en-GB" dirty="0"/>
          </a:p>
        </p:txBody>
      </p:sp>
      <p:sp>
        <p:nvSpPr>
          <p:cNvPr id="22" name="Subtitle 2"/>
          <p:cNvSpPr>
            <a:spLocks noGrp="1"/>
          </p:cNvSpPr>
          <p:nvPr>
            <p:ph type="subTitle" idx="1" hasCustomPrompt="1"/>
          </p:nvPr>
        </p:nvSpPr>
        <p:spPr>
          <a:xfrm>
            <a:off x="395361" y="2846576"/>
            <a:ext cx="6679881" cy="420564"/>
          </a:xfrm>
          <a:prstGeom prst="rect">
            <a:avLst/>
          </a:prstGeom>
        </p:spPr>
        <p:txBody>
          <a:bodyPr wrap="square" lIns="0" anchor="t" anchorCtr="0">
            <a:spAutoFit/>
          </a:bodyPr>
          <a:lstStyle>
            <a:lvl1pPr marL="0" indent="0" algn="l">
              <a:spcAft>
                <a:spcPts val="0"/>
              </a:spcAft>
              <a:buNone/>
              <a:defRPr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pic>
        <p:nvPicPr>
          <p:cNvPr id="2" name="Graphic 1">
            <a:extLst>
              <a:ext uri="{FF2B5EF4-FFF2-40B4-BE49-F238E27FC236}">
                <a16:creationId xmlns:a16="http://schemas.microsoft.com/office/drawing/2014/main" id="{10DE2E9A-CA0E-D812-F5A8-27B9619099C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396092776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1-Title and Content with Ref">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0" y="1589851"/>
            <a:ext cx="11231033" cy="409340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8" name="Text Placeholder 2"/>
          <p:cNvSpPr>
            <a:spLocks noGrp="1"/>
          </p:cNvSpPr>
          <p:nvPr>
            <p:ph type="body" sz="quarter" idx="14"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4" name="Title 3"/>
          <p:cNvSpPr>
            <a:spLocks noGrp="1"/>
          </p:cNvSpPr>
          <p:nvPr>
            <p:ph type="title" hasCustomPrompt="1"/>
          </p:nvPr>
        </p:nvSpPr>
        <p:spPr>
          <a:xfrm>
            <a:off x="478870" y="384852"/>
            <a:ext cx="10102852" cy="451405"/>
          </a:xfrm>
        </p:spPr>
        <p:txBody>
          <a:bodyPr/>
          <a:lstStyle/>
          <a:p>
            <a:r>
              <a:rPr lang="en-US" dirty="0"/>
              <a:t>Click to edit Master heading style</a:t>
            </a:r>
            <a:endParaRPr lang="en-GB" dirty="0"/>
          </a:p>
        </p:txBody>
      </p:sp>
      <p:sp>
        <p:nvSpPr>
          <p:cNvPr id="10" name="Slide Number Placeholder 9"/>
          <p:cNvSpPr>
            <a:spLocks noGrp="1"/>
          </p:cNvSpPr>
          <p:nvPr>
            <p:ph type="sldNum" sz="quarter" idx="21"/>
          </p:nvPr>
        </p:nvSpPr>
        <p:spPr>
          <a:xfrm>
            <a:off x="11143130" y="6272002"/>
            <a:ext cx="567740" cy="365125"/>
          </a:xfrm>
        </p:spPr>
        <p:txBody>
          <a:bodyPr/>
          <a:lstStyle/>
          <a:p>
            <a:fld id="{9F9F533D-B52E-4A2F-BF72-0ADD2D94BD75}" type="slidenum">
              <a:rPr lang="en-GB" smtClean="0"/>
              <a:pPr/>
              <a:t>‹#›</a:t>
            </a:fld>
            <a:endParaRPr lang="en-GB"/>
          </a:p>
        </p:txBody>
      </p:sp>
      <p:sp>
        <p:nvSpPr>
          <p:cNvPr id="12" name="Footer Placeholder 2">
            <a:extLst>
              <a:ext uri="{FF2B5EF4-FFF2-40B4-BE49-F238E27FC236}">
                <a16:creationId xmlns:a16="http://schemas.microsoft.com/office/drawing/2014/main" id="{52959BF2-FA84-464D-A3A9-DC6679F24207}"/>
              </a:ext>
            </a:extLst>
          </p:cNvPr>
          <p:cNvSpPr>
            <a:spLocks noGrp="1"/>
          </p:cNvSpPr>
          <p:nvPr>
            <p:ph type="ftr" sz="quarter" idx="3"/>
          </p:nvPr>
        </p:nvSpPr>
        <p:spPr>
          <a:xfrm>
            <a:off x="411136" y="5821809"/>
            <a:ext cx="10990643" cy="615036"/>
          </a:xfrm>
          <a:prstGeom prst="rect">
            <a:avLst/>
          </a:prstGeom>
        </p:spPr>
        <p:txBody>
          <a:bodyPr vert="horz" lIns="91440" tIns="45720" rIns="91440" bIns="45720" rtlCol="0" anchor="t"/>
          <a:lstStyle>
            <a:lvl1pPr algn="l">
              <a:defRPr sz="933" b="0" i="0">
                <a:solidFill>
                  <a:schemeClr val="tx1"/>
                </a:solidFill>
                <a:latin typeface="Arial" panose="020B0604020202020204" pitchFamily="34" charset="0"/>
                <a:cs typeface="Arial" panose="020B0604020202020204" pitchFamily="34" charset="0"/>
              </a:defRPr>
            </a:lvl1pPr>
          </a:lstStyle>
          <a:p>
            <a:endParaRPr lang="en-US" dirty="0"/>
          </a:p>
        </p:txBody>
      </p:sp>
      <p:sp>
        <p:nvSpPr>
          <p:cNvPr id="9" name="Date Placeholder 6">
            <a:extLst>
              <a:ext uri="{FF2B5EF4-FFF2-40B4-BE49-F238E27FC236}">
                <a16:creationId xmlns:a16="http://schemas.microsoft.com/office/drawing/2014/main" id="{CB78D8DB-6354-D745-96DD-EE7429220E2D}"/>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spTree>
    <p:extLst>
      <p:ext uri="{BB962C8B-B14F-4D97-AF65-F5344CB8AC3E}">
        <p14:creationId xmlns:p14="http://schemas.microsoft.com/office/powerpoint/2010/main" val="326107037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Image and Text with Ref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478870" y="384852"/>
            <a:ext cx="10102852" cy="451405"/>
          </a:xfrm>
        </p:spPr>
        <p:txBody>
          <a:bodyPr anchor="b"/>
          <a:lstStyle/>
          <a:p>
            <a:r>
              <a:rPr lang="en-US" dirty="0"/>
              <a:t>Click to edit Master heading style</a:t>
            </a:r>
            <a:endParaRPr lang="en-GB" dirty="0"/>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13" name="Picture Placeholder 8"/>
          <p:cNvSpPr>
            <a:spLocks noGrp="1"/>
          </p:cNvSpPr>
          <p:nvPr>
            <p:ph type="pic" sz="quarter" idx="14" hasCustomPrompt="1"/>
          </p:nvPr>
        </p:nvSpPr>
        <p:spPr>
          <a:xfrm>
            <a:off x="6400607" y="1591733"/>
            <a:ext cx="5310263" cy="4412756"/>
          </a:xfrm>
          <a:prstGeom prst="rect">
            <a:avLst/>
          </a:prstGeom>
        </p:spPr>
        <p:txBody>
          <a:bodyPr lIns="0" tIns="0"/>
          <a:lstStyle>
            <a:lvl1pPr marL="0" indent="0">
              <a:buNone/>
              <a:defRPr sz="1467" baseline="0"/>
            </a:lvl1pPr>
          </a:lstStyle>
          <a:p>
            <a:r>
              <a:rPr lang="en-GB" dirty="0"/>
              <a:t>Click on the picture icon to insert your picture</a:t>
            </a:r>
          </a:p>
        </p:txBody>
      </p:sp>
      <p:sp>
        <p:nvSpPr>
          <p:cNvPr id="9" name="Text Placeholder 6"/>
          <p:cNvSpPr>
            <a:spLocks noGrp="1"/>
          </p:cNvSpPr>
          <p:nvPr>
            <p:ph type="body" sz="quarter" idx="13"/>
          </p:nvPr>
        </p:nvSpPr>
        <p:spPr>
          <a:xfrm>
            <a:off x="478870" y="1587502"/>
            <a:ext cx="5657909" cy="3718277"/>
          </a:xfrm>
          <a:prstGeom prst="rect">
            <a:avLst/>
          </a:prstGeom>
        </p:spPr>
        <p:txBody>
          <a:bodyPr l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11" name="Footer Placeholder 2">
            <a:extLst>
              <a:ext uri="{FF2B5EF4-FFF2-40B4-BE49-F238E27FC236}">
                <a16:creationId xmlns:a16="http://schemas.microsoft.com/office/drawing/2014/main" id="{B8715B15-3528-8648-B807-F6DCBFF38EEE}"/>
              </a:ext>
            </a:extLst>
          </p:cNvPr>
          <p:cNvSpPr>
            <a:spLocks noGrp="1"/>
          </p:cNvSpPr>
          <p:nvPr>
            <p:ph type="ftr" sz="quarter" idx="3"/>
          </p:nvPr>
        </p:nvSpPr>
        <p:spPr>
          <a:xfrm>
            <a:off x="411136" y="5821809"/>
            <a:ext cx="10990643" cy="815319"/>
          </a:xfrm>
          <a:prstGeom prst="rect">
            <a:avLst/>
          </a:prstGeom>
        </p:spPr>
        <p:txBody>
          <a:bodyPr vert="horz" lIns="91440" tIns="45720" rIns="91440" bIns="45720" rtlCol="0" anchor="t"/>
          <a:lstStyle>
            <a:lvl1pPr algn="l">
              <a:defRPr sz="933" b="0" i="0">
                <a:solidFill>
                  <a:schemeClr val="tx1"/>
                </a:solidFill>
                <a:latin typeface="Arial" panose="020B0604020202020204" pitchFamily="34" charset="0"/>
                <a:cs typeface="Arial" panose="020B0604020202020204" pitchFamily="34" charset="0"/>
              </a:defRPr>
            </a:lvl1pPr>
          </a:lstStyle>
          <a:p>
            <a:endParaRPr lang="en-US" dirty="0"/>
          </a:p>
        </p:txBody>
      </p:sp>
      <p:sp>
        <p:nvSpPr>
          <p:cNvPr id="10" name="Date Placeholder 6">
            <a:extLst>
              <a:ext uri="{FF2B5EF4-FFF2-40B4-BE49-F238E27FC236}">
                <a16:creationId xmlns:a16="http://schemas.microsoft.com/office/drawing/2014/main" id="{84419614-DB0A-9B4A-87F4-1425986494F6}"/>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spTree>
    <p:extLst>
      <p:ext uri="{BB962C8B-B14F-4D97-AF65-F5344CB8AC3E}">
        <p14:creationId xmlns:p14="http://schemas.microsoft.com/office/powerpoint/2010/main" val="572661246"/>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ext - No Refs">
    <p:spTree>
      <p:nvGrpSpPr>
        <p:cNvPr id="1" name=""/>
        <p:cNvGrpSpPr/>
        <p:nvPr/>
      </p:nvGrpSpPr>
      <p:grpSpPr>
        <a:xfrm>
          <a:off x="0" y="0"/>
          <a:ext cx="0" cy="0"/>
          <a:chOff x="0" y="0"/>
          <a:chExt cx="0" cy="0"/>
        </a:xfrm>
      </p:grpSpPr>
      <p:sp>
        <p:nvSpPr>
          <p:cNvPr id="6" name="Title 5"/>
          <p:cNvSpPr>
            <a:spLocks noGrp="1"/>
          </p:cNvSpPr>
          <p:nvPr>
            <p:ph type="title" hasCustomPrompt="1"/>
          </p:nvPr>
        </p:nvSpPr>
        <p:spPr>
          <a:xfrm>
            <a:off x="478870" y="384852"/>
            <a:ext cx="10102852" cy="451405"/>
          </a:xfrm>
        </p:spPr>
        <p:txBody>
          <a:bodyPr/>
          <a:lstStyle/>
          <a:p>
            <a:r>
              <a:rPr lang="en-US" dirty="0"/>
              <a:t>Click to edit Master heading style</a:t>
            </a:r>
            <a:endParaRPr lang="en-GB" dirty="0"/>
          </a:p>
        </p:txBody>
      </p:sp>
      <p:sp>
        <p:nvSpPr>
          <p:cNvPr id="12" name="Text Placeholder 2"/>
          <p:cNvSpPr>
            <a:spLocks noGrp="1"/>
          </p:cNvSpPr>
          <p:nvPr>
            <p:ph type="body" sz="quarter" idx="27" hasCustomPrompt="1"/>
          </p:nvPr>
        </p:nvSpPr>
        <p:spPr>
          <a:xfrm>
            <a:off x="478869" y="924738"/>
            <a:ext cx="10104000" cy="369332"/>
          </a:xfrm>
          <a:prstGeom prst="rect">
            <a:avLst/>
          </a:prstGeom>
        </p:spPr>
        <p:txBody>
          <a:bodyPr lIns="0" anchor="t" anchorCtr="0">
            <a:noAutofit/>
          </a:bodyPr>
          <a:lstStyle>
            <a:lvl1pPr marL="0" marR="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42" indent="0">
              <a:buNone/>
              <a:defRPr/>
            </a:lvl2pPr>
            <a:lvl3pPr marL="711182" indent="0">
              <a:buNone/>
              <a:defRPr/>
            </a:lvl3pPr>
            <a:lvl4pPr marL="1087939" indent="0">
              <a:buNone/>
              <a:defRPr/>
            </a:lvl4pPr>
            <a:lvl5pPr marL="1473163" indent="0">
              <a:buNone/>
              <a:defRPr/>
            </a:lvl5pPr>
          </a:lstStyle>
          <a:p>
            <a:pPr marL="0" marR="0" lvl="0" indent="0" algn="l" defTabSz="1219170" rtl="0" eaLnBrk="1" fontAlgn="auto" latinLnBrk="0" hangingPunct="1">
              <a:lnSpc>
                <a:spcPct val="1000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sp>
        <p:nvSpPr>
          <p:cNvPr id="9" name="Text Placeholder 6"/>
          <p:cNvSpPr>
            <a:spLocks noGrp="1"/>
          </p:cNvSpPr>
          <p:nvPr>
            <p:ph type="body" sz="quarter" idx="13"/>
          </p:nvPr>
        </p:nvSpPr>
        <p:spPr>
          <a:xfrm>
            <a:off x="478869" y="1587501"/>
            <a:ext cx="11232000" cy="4416988"/>
          </a:xfrm>
          <a:prstGeom prst="rect">
            <a:avLst/>
          </a:prstGeom>
        </p:spPr>
        <p:txBody>
          <a:bodyPr lIns="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cxnSp>
        <p:nvCxnSpPr>
          <p:cNvPr id="11" name="Straight Connector 10">
            <a:extLst>
              <a:ext uri="{FF2B5EF4-FFF2-40B4-BE49-F238E27FC236}">
                <a16:creationId xmlns:a16="http://schemas.microsoft.com/office/drawing/2014/main" id="{12759DDA-A391-6340-8F70-F1450D57F28C}"/>
              </a:ext>
            </a:extLst>
          </p:cNvPr>
          <p:cNvCxnSpPr/>
          <p:nvPr userDrawn="1"/>
        </p:nvCxnSpPr>
        <p:spPr>
          <a:xfrm>
            <a:off x="478869" y="6194996"/>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49F06D1-C35A-1549-BC47-504719FD1A13}"/>
              </a:ext>
            </a:extLst>
          </p:cNvPr>
          <p:cNvSpPr/>
          <p:nvPr userDrawn="1"/>
        </p:nvSpPr>
        <p:spPr bwMode="auto">
          <a:xfrm>
            <a:off x="0" y="5504330"/>
            <a:ext cx="12186000" cy="582705"/>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sp>
        <p:nvSpPr>
          <p:cNvPr id="10" name="Date Placeholder 6">
            <a:extLst>
              <a:ext uri="{FF2B5EF4-FFF2-40B4-BE49-F238E27FC236}">
                <a16:creationId xmlns:a16="http://schemas.microsoft.com/office/drawing/2014/main" id="{24D08F5B-2F26-C64F-9B6F-CEE6AB6BD8C0}"/>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spTree>
    <p:extLst>
      <p:ext uri="{BB962C8B-B14F-4D97-AF65-F5344CB8AC3E}">
        <p14:creationId xmlns:p14="http://schemas.microsoft.com/office/powerpoint/2010/main" val="3808831905"/>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progress-bar">
    <p:spTree>
      <p:nvGrpSpPr>
        <p:cNvPr id="1" name=""/>
        <p:cNvGrpSpPr/>
        <p:nvPr/>
      </p:nvGrpSpPr>
      <p:grpSpPr>
        <a:xfrm>
          <a:off x="0" y="0"/>
          <a:ext cx="0" cy="0"/>
          <a:chOff x="0" y="0"/>
          <a:chExt cx="0" cy="0"/>
        </a:xfrm>
      </p:grpSpPr>
      <p:sp>
        <p:nvSpPr>
          <p:cNvPr id="4" name="Slide Number Placeholder 3"/>
          <p:cNvSpPr>
            <a:spLocks noGrp="1"/>
          </p:cNvSpPr>
          <p:nvPr>
            <p:ph type="sldNum" sz="quarter" idx="30"/>
          </p:nvPr>
        </p:nvSpPr>
        <p:spPr/>
        <p:txBody>
          <a:bodyPr/>
          <a:lstStyle/>
          <a:p>
            <a:fld id="{9F9F533D-B52E-4A2F-BF72-0ADD2D94BD75}" type="slidenum">
              <a:rPr lang="en-GB" smtClean="0"/>
              <a:pPr/>
              <a:t>‹#›</a:t>
            </a:fld>
            <a:endParaRPr lang="en-GB"/>
          </a:p>
        </p:txBody>
      </p:sp>
      <p:cxnSp>
        <p:nvCxnSpPr>
          <p:cNvPr id="11" name="Straight Connector 10">
            <a:extLst>
              <a:ext uri="{FF2B5EF4-FFF2-40B4-BE49-F238E27FC236}">
                <a16:creationId xmlns:a16="http://schemas.microsoft.com/office/drawing/2014/main" id="{12759DDA-A391-6340-8F70-F1450D57F28C}"/>
              </a:ext>
            </a:extLst>
          </p:cNvPr>
          <p:cNvCxnSpPr/>
          <p:nvPr userDrawn="1"/>
        </p:nvCxnSpPr>
        <p:spPr>
          <a:xfrm>
            <a:off x="478869" y="6194996"/>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A49F06D1-C35A-1549-BC47-504719FD1A13}"/>
              </a:ext>
            </a:extLst>
          </p:cNvPr>
          <p:cNvSpPr/>
          <p:nvPr userDrawn="1"/>
        </p:nvSpPr>
        <p:spPr bwMode="auto">
          <a:xfrm>
            <a:off x="0" y="5504330"/>
            <a:ext cx="12186000" cy="582705"/>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sp>
        <p:nvSpPr>
          <p:cNvPr id="10" name="Date Placeholder 6">
            <a:extLst>
              <a:ext uri="{FF2B5EF4-FFF2-40B4-BE49-F238E27FC236}">
                <a16:creationId xmlns:a16="http://schemas.microsoft.com/office/drawing/2014/main" id="{24D08F5B-2F26-C64F-9B6F-CEE6AB6BD8C0}"/>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sp>
        <p:nvSpPr>
          <p:cNvPr id="2" name="Rectangle 1">
            <a:extLst>
              <a:ext uri="{FF2B5EF4-FFF2-40B4-BE49-F238E27FC236}">
                <a16:creationId xmlns:a16="http://schemas.microsoft.com/office/drawing/2014/main" id="{CD89A794-F08E-054F-ABD8-EE4A982E7C23}"/>
              </a:ext>
            </a:extLst>
          </p:cNvPr>
          <p:cNvSpPr/>
          <p:nvPr userDrawn="1"/>
        </p:nvSpPr>
        <p:spPr bwMode="auto">
          <a:xfrm>
            <a:off x="447853" y="1344247"/>
            <a:ext cx="11353379" cy="211015"/>
          </a:xfrm>
          <a:prstGeom prst="rect">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cxnSp>
        <p:nvCxnSpPr>
          <p:cNvPr id="13" name="Straight Connector 12">
            <a:extLst>
              <a:ext uri="{FF2B5EF4-FFF2-40B4-BE49-F238E27FC236}">
                <a16:creationId xmlns:a16="http://schemas.microsoft.com/office/drawing/2014/main" id="{E980B7D8-C164-5F4C-92E6-35F6DDE397E7}"/>
              </a:ext>
            </a:extLst>
          </p:cNvPr>
          <p:cNvCxnSpPr>
            <a:cxnSpLocks noChangeAspect="1"/>
          </p:cNvCxnSpPr>
          <p:nvPr userDrawn="1"/>
        </p:nvCxnSpPr>
        <p:spPr>
          <a:xfrm flipH="1">
            <a:off x="708373" y="1296100"/>
            <a:ext cx="342057" cy="0"/>
          </a:xfrm>
          <a:prstGeom prst="line">
            <a:avLst/>
          </a:prstGeom>
          <a:ln w="2540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5A09D1C4-8FB3-E942-8FD1-596CBF878F66}"/>
              </a:ext>
            </a:extLst>
          </p:cNvPr>
          <p:cNvCxnSpPr>
            <a:cxnSpLocks noChangeAspect="1"/>
          </p:cNvCxnSpPr>
          <p:nvPr userDrawn="1"/>
        </p:nvCxnSpPr>
        <p:spPr>
          <a:xfrm>
            <a:off x="447471" y="1564328"/>
            <a:ext cx="0" cy="1496419"/>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16" name="Arc 15">
            <a:extLst>
              <a:ext uri="{FF2B5EF4-FFF2-40B4-BE49-F238E27FC236}">
                <a16:creationId xmlns:a16="http://schemas.microsoft.com/office/drawing/2014/main" id="{61861557-DA3C-BD4E-9F58-BBF0C6BA7D3C}"/>
              </a:ext>
            </a:extLst>
          </p:cNvPr>
          <p:cNvSpPr>
            <a:spLocks noChangeAspect="1"/>
          </p:cNvSpPr>
          <p:nvPr userDrawn="1"/>
        </p:nvSpPr>
        <p:spPr>
          <a:xfrm rot="10800000">
            <a:off x="447853" y="2789104"/>
            <a:ext cx="549963" cy="531237"/>
          </a:xfrm>
          <a:prstGeom prst="arc">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r>
              <a:rPr lang="en-US" sz="2400" dirty="0"/>
              <a:t> </a:t>
            </a:r>
          </a:p>
        </p:txBody>
      </p:sp>
      <p:cxnSp>
        <p:nvCxnSpPr>
          <p:cNvPr id="17" name="Straight Connector 16">
            <a:extLst>
              <a:ext uri="{FF2B5EF4-FFF2-40B4-BE49-F238E27FC236}">
                <a16:creationId xmlns:a16="http://schemas.microsoft.com/office/drawing/2014/main" id="{C9B1FFC0-1327-8B49-BCEF-B4CF97DDBC61}"/>
              </a:ext>
            </a:extLst>
          </p:cNvPr>
          <p:cNvCxnSpPr>
            <a:cxnSpLocks noChangeAspect="1"/>
            <a:endCxn id="16" idx="0"/>
          </p:cNvCxnSpPr>
          <p:nvPr userDrawn="1"/>
        </p:nvCxnSpPr>
        <p:spPr>
          <a:xfrm flipH="1">
            <a:off x="722836" y="3320341"/>
            <a:ext cx="239569"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0C806560-DFBB-9F4D-AE4F-C7EC9DA56ABF}"/>
              </a:ext>
            </a:extLst>
          </p:cNvPr>
          <p:cNvSpPr>
            <a:spLocks noChangeAspect="1"/>
          </p:cNvSpPr>
          <p:nvPr userDrawn="1"/>
        </p:nvSpPr>
        <p:spPr bwMode="auto">
          <a:xfrm>
            <a:off x="816174" y="1008122"/>
            <a:ext cx="4061077" cy="579417"/>
          </a:xfrm>
          <a:prstGeom prst="roundRect">
            <a:avLst/>
          </a:prstGeom>
          <a:solidFill>
            <a:schemeClr val="bg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sp>
        <p:nvSpPr>
          <p:cNvPr id="21" name="TextBox 20">
            <a:extLst>
              <a:ext uri="{FF2B5EF4-FFF2-40B4-BE49-F238E27FC236}">
                <a16:creationId xmlns:a16="http://schemas.microsoft.com/office/drawing/2014/main" id="{3E008C0D-EE49-6D46-9E8D-78B607B6C959}"/>
              </a:ext>
            </a:extLst>
          </p:cNvPr>
          <p:cNvSpPr txBox="1">
            <a:spLocks noChangeAspect="1"/>
          </p:cNvSpPr>
          <p:nvPr userDrawn="1"/>
        </p:nvSpPr>
        <p:spPr>
          <a:xfrm>
            <a:off x="815791" y="1030849"/>
            <a:ext cx="4061077" cy="502766"/>
          </a:xfrm>
          <a:prstGeom prst="rect">
            <a:avLst/>
          </a:prstGeom>
          <a:noFill/>
        </p:spPr>
        <p:txBody>
          <a:bodyPr wrap="square" rtlCol="0">
            <a:spAutoFit/>
          </a:bodyPr>
          <a:lstStyle/>
          <a:p>
            <a:pPr algn="ctr">
              <a:buClr>
                <a:srgbClr val="635A54"/>
              </a:buClr>
            </a:pPr>
            <a:r>
              <a:rPr lang="en-GB" sz="2667" b="1" dirty="0">
                <a:solidFill>
                  <a:srgbClr val="FFFFFF"/>
                </a:solidFill>
              </a:rPr>
              <a:t>Core training modules</a:t>
            </a:r>
          </a:p>
        </p:txBody>
      </p:sp>
      <p:sp>
        <p:nvSpPr>
          <p:cNvPr id="23" name="Arc 22">
            <a:extLst>
              <a:ext uri="{FF2B5EF4-FFF2-40B4-BE49-F238E27FC236}">
                <a16:creationId xmlns:a16="http://schemas.microsoft.com/office/drawing/2014/main" id="{6C82B0C2-75FF-5349-BC75-F1E21E1CAAFA}"/>
              </a:ext>
            </a:extLst>
          </p:cNvPr>
          <p:cNvSpPr>
            <a:spLocks noChangeAspect="1"/>
          </p:cNvSpPr>
          <p:nvPr userDrawn="1"/>
        </p:nvSpPr>
        <p:spPr>
          <a:xfrm rot="16200000">
            <a:off x="438492" y="1307192"/>
            <a:ext cx="549963" cy="531237"/>
          </a:xfrm>
          <a:prstGeom prst="arc">
            <a:avLst/>
          </a:prstGeom>
          <a:ln w="254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sz="2400"/>
          </a:p>
        </p:txBody>
      </p:sp>
      <p:sp>
        <p:nvSpPr>
          <p:cNvPr id="33" name="Rectangle 32">
            <a:extLst>
              <a:ext uri="{FF2B5EF4-FFF2-40B4-BE49-F238E27FC236}">
                <a16:creationId xmlns:a16="http://schemas.microsoft.com/office/drawing/2014/main" id="{C013C1BF-3DE1-B34E-90EC-38C6F29CCCED}"/>
              </a:ext>
            </a:extLst>
          </p:cNvPr>
          <p:cNvSpPr>
            <a:spLocks noChangeAspect="1"/>
          </p:cNvSpPr>
          <p:nvPr userDrawn="1"/>
        </p:nvSpPr>
        <p:spPr>
          <a:xfrm>
            <a:off x="682763" y="1954830"/>
            <a:ext cx="10659403" cy="297454"/>
          </a:xfrm>
          <a:prstGeom prst="rect">
            <a:avLst/>
          </a:prstGeom>
        </p:spPr>
        <p:txBody>
          <a:bodyPr wrap="square">
            <a:spAutoFit/>
          </a:bodyPr>
          <a:lstStyle/>
          <a:p>
            <a:r>
              <a:rPr lang="en-GB" sz="1333" dirty="0"/>
              <a:t>These modules are designed to equip you with the essential science you need when working on brands within GSK’s respiratory portfolio. </a:t>
            </a:r>
          </a:p>
        </p:txBody>
      </p:sp>
      <p:sp>
        <p:nvSpPr>
          <p:cNvPr id="40" name="Date Placeholder 6">
            <a:extLst>
              <a:ext uri="{FF2B5EF4-FFF2-40B4-BE49-F238E27FC236}">
                <a16:creationId xmlns:a16="http://schemas.microsoft.com/office/drawing/2014/main" id="{3969623C-FC08-2748-91D9-528A505047F2}"/>
              </a:ext>
            </a:extLst>
          </p:cNvPr>
          <p:cNvSpPr txBox="1">
            <a:spLocks/>
          </p:cNvSpPr>
          <p:nvPr userDrawn="1"/>
        </p:nvSpPr>
        <p:spPr>
          <a:xfrm>
            <a:off x="411134" y="6606223"/>
            <a:ext cx="11114820" cy="341611"/>
          </a:xfrm>
          <a:prstGeom prst="rect">
            <a:avLst/>
          </a:prstGeom>
        </p:spPr>
        <p:txBody>
          <a:bodyPr vert="horz" lIns="96000" tIns="0" rIns="96000" bIns="0" rtlCol="0" anchor="t" anchorCtr="1"/>
          <a:lstStyle>
            <a:defPPr>
              <a:defRPr lang="en-US"/>
            </a:defPPr>
            <a:lvl1pPr marL="0" marR="0" indent="0" algn="just" defTabSz="914400" rtl="0" eaLnBrk="1" fontAlgn="auto" latinLnBrk="0" hangingPunct="1">
              <a:lnSpc>
                <a:spcPct val="100000"/>
              </a:lnSpc>
              <a:spcBef>
                <a:spcPts val="0"/>
              </a:spcBef>
              <a:spcAft>
                <a:spcPts val="0"/>
              </a:spcAft>
              <a:buClrTx/>
              <a:buSzTx/>
              <a:buFontTx/>
              <a:buNone/>
              <a:tabLst/>
              <a:defRPr lang="en-US" sz="800" b="0" i="0" kern="1200" smtClean="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lang="en-US" sz="1067"/>
              <a:t>Confidential. For internal training purposes only. Do not show to customers.</a:t>
            </a:r>
            <a:endParaRPr lang="en-US" sz="1067" dirty="0"/>
          </a:p>
        </p:txBody>
      </p:sp>
    </p:spTree>
    <p:extLst>
      <p:ext uri="{BB962C8B-B14F-4D97-AF65-F5344CB8AC3E}">
        <p14:creationId xmlns:p14="http://schemas.microsoft.com/office/powerpoint/2010/main" val="271425807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cxnSp>
        <p:nvCxnSpPr>
          <p:cNvPr id="12" name="Straight Connector 11"/>
          <p:cNvCxnSpPr/>
          <p:nvPr userDrawn="1"/>
        </p:nvCxnSpPr>
        <p:spPr>
          <a:xfrm>
            <a:off x="478869" y="6132244"/>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p:cNvSpPr>
            <a:spLocks noGrp="1"/>
          </p:cNvSpPr>
          <p:nvPr>
            <p:ph type="sldNum" sz="quarter" idx="12"/>
          </p:nvPr>
        </p:nvSpPr>
        <p:spPr/>
        <p:txBody>
          <a:bodyPr/>
          <a:lstStyle/>
          <a:p>
            <a:fld id="{9F9F533D-B52E-4A2F-BF72-0ADD2D94BD75}" type="slidenum">
              <a:rPr lang="en-GB" smtClean="0"/>
              <a:pPr/>
              <a:t>‹#›</a:t>
            </a:fld>
            <a:endParaRPr lang="en-GB"/>
          </a:p>
        </p:txBody>
      </p:sp>
      <p:sp>
        <p:nvSpPr>
          <p:cNvPr id="6" name="Date Placeholder 6">
            <a:extLst>
              <a:ext uri="{FF2B5EF4-FFF2-40B4-BE49-F238E27FC236}">
                <a16:creationId xmlns:a16="http://schemas.microsoft.com/office/drawing/2014/main" id="{DAA801FA-9881-7446-9357-DCFAB089A363}"/>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pic>
        <p:nvPicPr>
          <p:cNvPr id="2" name="Graphic 1">
            <a:extLst>
              <a:ext uri="{FF2B5EF4-FFF2-40B4-BE49-F238E27FC236}">
                <a16:creationId xmlns:a16="http://schemas.microsoft.com/office/drawing/2014/main" id="{9D01D71C-1B28-DE05-7C91-EB230C16F2EB}"/>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12037"/>
            <a:ext cx="1094316" cy="329875"/>
          </a:xfrm>
          <a:prstGeom prst="rect">
            <a:avLst/>
          </a:prstGeom>
        </p:spPr>
      </p:pic>
    </p:spTree>
    <p:extLst>
      <p:ext uri="{BB962C8B-B14F-4D97-AF65-F5344CB8AC3E}">
        <p14:creationId xmlns:p14="http://schemas.microsoft.com/office/powerpoint/2010/main" val="800051395"/>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ORANGE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2"/>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bg2"/>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pic>
        <p:nvPicPr>
          <p:cNvPr id="2" name="Graphic 1">
            <a:extLst>
              <a:ext uri="{FF2B5EF4-FFF2-40B4-BE49-F238E27FC236}">
                <a16:creationId xmlns:a16="http://schemas.microsoft.com/office/drawing/2014/main" id="{A5B6C813-489F-30FA-9C75-71503A9F2334}"/>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387799855"/>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Section Header WHITE with GREY Text">
    <p:spTree>
      <p:nvGrpSpPr>
        <p:cNvPr id="1" name=""/>
        <p:cNvGrpSpPr/>
        <p:nvPr/>
      </p:nvGrpSpPr>
      <p:grpSpPr>
        <a:xfrm>
          <a:off x="0" y="0"/>
          <a:ext cx="0" cy="0"/>
          <a:chOff x="0" y="0"/>
          <a:chExt cx="0" cy="0"/>
        </a:xfrm>
      </p:grpSpPr>
      <p:sp>
        <p:nvSpPr>
          <p:cNvPr id="12" name="Text Placeholder 5"/>
          <p:cNvSpPr>
            <a:spLocks noGrp="1"/>
          </p:cNvSpPr>
          <p:nvPr>
            <p:ph type="body" sz="quarter" idx="11" hasCustomPrompt="1"/>
          </p:nvPr>
        </p:nvSpPr>
        <p:spPr>
          <a:xfrm>
            <a:off x="480000" y="4990682"/>
            <a:ext cx="10924032" cy="502702"/>
          </a:xfrm>
          <a:prstGeom prst="rect">
            <a:avLst/>
          </a:prstGeom>
        </p:spPr>
        <p:txBody>
          <a:bodyPr lIns="0"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tx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3787180"/>
            <a:ext cx="10928936" cy="1097736"/>
          </a:xfrm>
          <a:prstGeom prst="rect">
            <a:avLst/>
          </a:prstGeom>
        </p:spPr>
        <p:txBody>
          <a:bodyPr wrap="square" lIns="0" anchor="b" anchorCtr="0">
            <a:spAutoFit/>
          </a:bodyPr>
          <a:lstStyle>
            <a:lvl1pPr marL="0" indent="0">
              <a:lnSpc>
                <a:spcPts val="7600"/>
              </a:lnSpc>
              <a:spcAft>
                <a:spcPts val="0"/>
              </a:spcAft>
              <a:buNone/>
              <a:defRPr sz="7333" b="1">
                <a:solidFill>
                  <a:schemeClr val="tx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pic>
        <p:nvPicPr>
          <p:cNvPr id="2" name="Graphic 1">
            <a:extLst>
              <a:ext uri="{FF2B5EF4-FFF2-40B4-BE49-F238E27FC236}">
                <a16:creationId xmlns:a16="http://schemas.microsoft.com/office/drawing/2014/main" id="{90605E9D-E692-580E-B190-555A7AD29CD6}"/>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1506722191"/>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preserve="1" userDrawn="1">
  <p:cSld name="Section Header INNOVATION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dirty="0">
                <a:solidFill>
                  <a:schemeClr val="accent5"/>
                </a:solidFill>
              </a:rPr>
              <a:t>Innovation</a:t>
            </a:r>
          </a:p>
        </p:txBody>
      </p:sp>
      <p:pic>
        <p:nvPicPr>
          <p:cNvPr id="2" name="Graphic 1">
            <a:extLst>
              <a:ext uri="{FF2B5EF4-FFF2-40B4-BE49-F238E27FC236}">
                <a16:creationId xmlns:a16="http://schemas.microsoft.com/office/drawing/2014/main" id="{A84975C7-69FF-E018-47EF-A2EDE94DC1A2}"/>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4245297676"/>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Section Header PERFORMANCE White">
    <p:spTree>
      <p:nvGrpSpPr>
        <p:cNvPr id="1" name=""/>
        <p:cNvGrpSpPr/>
        <p:nvPr/>
      </p:nvGrpSpPr>
      <p:grpSpPr>
        <a:xfrm>
          <a:off x="0" y="0"/>
          <a:ext cx="0" cy="0"/>
          <a:chOff x="0" y="0"/>
          <a:chExt cx="0" cy="0"/>
        </a:xfrm>
      </p:grpSpPr>
      <p:sp>
        <p:nvSpPr>
          <p:cNvPr id="8" name="TextBox 7"/>
          <p:cNvSpPr txBox="1"/>
          <p:nvPr userDrawn="1"/>
        </p:nvSpPr>
        <p:spPr>
          <a:xfrm>
            <a:off x="475787" y="3671678"/>
            <a:ext cx="10497013" cy="1231106"/>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marL="0" marR="0" lvl="0" indent="0" algn="l" defTabSz="1219170" rtl="0" eaLnBrk="1" fontAlgn="auto" latinLnBrk="0" hangingPunct="1">
              <a:lnSpc>
                <a:spcPts val="9600"/>
              </a:lnSpc>
              <a:spcBef>
                <a:spcPts val="0"/>
              </a:spcBef>
              <a:spcAft>
                <a:spcPts val="0"/>
              </a:spcAft>
              <a:buClr>
                <a:schemeClr val="tx1"/>
              </a:buClr>
              <a:buSzTx/>
              <a:buFont typeface="Arial" pitchFamily="34" charset="0"/>
              <a:buNone/>
              <a:tabLst/>
              <a:defRPr/>
            </a:pPr>
            <a:r>
              <a:rPr lang="en-US" sz="9333" dirty="0">
                <a:solidFill>
                  <a:schemeClr val="accent4"/>
                </a:solidFill>
              </a:rPr>
              <a:t>Pe</a:t>
            </a:r>
            <a:r>
              <a:rPr lang="en-US" sz="9333" spc="667" baseline="0" dirty="0">
                <a:solidFill>
                  <a:schemeClr val="accent4"/>
                </a:solidFill>
              </a:rPr>
              <a:t>r</a:t>
            </a:r>
            <a:r>
              <a:rPr lang="en-US" sz="9333" dirty="0">
                <a:solidFill>
                  <a:schemeClr val="accent4"/>
                </a:solidFill>
              </a:rPr>
              <a:t>formance</a:t>
            </a:r>
          </a:p>
        </p:txBody>
      </p:sp>
      <p:pic>
        <p:nvPicPr>
          <p:cNvPr id="2" name="Graphic 1">
            <a:extLst>
              <a:ext uri="{FF2B5EF4-FFF2-40B4-BE49-F238E27FC236}">
                <a16:creationId xmlns:a16="http://schemas.microsoft.com/office/drawing/2014/main" id="{83594709-CBEF-9674-3EA4-E2E55384BA1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4163090660"/>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Section Header TRUST White">
    <p:spTree>
      <p:nvGrpSpPr>
        <p:cNvPr id="1" name=""/>
        <p:cNvGrpSpPr/>
        <p:nvPr/>
      </p:nvGrpSpPr>
      <p:grpSpPr>
        <a:xfrm>
          <a:off x="0" y="0"/>
          <a:ext cx="0" cy="0"/>
          <a:chOff x="0" y="0"/>
          <a:chExt cx="0" cy="0"/>
        </a:xfrm>
      </p:grpSpPr>
      <p:sp>
        <p:nvSpPr>
          <p:cNvPr id="6" name="TextBox 5"/>
          <p:cNvSpPr txBox="1"/>
          <p:nvPr userDrawn="1"/>
        </p:nvSpPr>
        <p:spPr>
          <a:xfrm>
            <a:off x="475787" y="3937840"/>
            <a:ext cx="10497013" cy="964944"/>
          </a:xfrm>
          <a:prstGeom prst="rect">
            <a:avLst/>
          </a:prstGeom>
        </p:spPr>
        <p:txBody>
          <a:bodyPr vert="horz" wrap="square" lIns="0" tIns="0" rIns="0" bIns="0" rtlCol="0" anchor="b" anchorCtr="0">
            <a:spAutoFit/>
          </a:bodyPr>
          <a:lstStyle>
            <a:lvl1pPr lvl="0" indent="0">
              <a:lnSpc>
                <a:spcPts val="7200"/>
              </a:lnSpc>
              <a:spcBef>
                <a:spcPts val="0"/>
              </a:spcBef>
              <a:spcAft>
                <a:spcPts val="0"/>
              </a:spcAft>
              <a:buClr>
                <a:schemeClr val="tx1"/>
              </a:buClr>
              <a:buFont typeface="Arial" pitchFamily="34" charset="0"/>
              <a:buNone/>
              <a:tabLst/>
              <a:defRPr sz="7000" b="1" baseline="0">
                <a:solidFill>
                  <a:schemeClr val="bg1"/>
                </a:solidFill>
              </a:defRPr>
            </a:lvl1pPr>
            <a:lvl2pPr marL="271463" indent="0">
              <a:spcBef>
                <a:spcPts val="0"/>
              </a:spcBef>
              <a:spcAft>
                <a:spcPts val="600"/>
              </a:spcAft>
              <a:buFont typeface="Arial" pitchFamily="34" charset="0"/>
              <a:buNone/>
              <a:defRPr sz="2600" b="1">
                <a:solidFill>
                  <a:schemeClr val="bg1"/>
                </a:solidFill>
              </a:defRPr>
            </a:lvl2pPr>
            <a:lvl3pPr marL="533400" indent="0">
              <a:spcBef>
                <a:spcPts val="0"/>
              </a:spcBef>
              <a:spcAft>
                <a:spcPts val="600"/>
              </a:spcAft>
              <a:buFont typeface="Arial" pitchFamily="34" charset="0"/>
              <a:buNone/>
              <a:defRPr sz="2600" b="1">
                <a:solidFill>
                  <a:schemeClr val="bg1"/>
                </a:solidFill>
              </a:defRPr>
            </a:lvl3pPr>
            <a:lvl4pPr marL="815975" indent="0">
              <a:spcBef>
                <a:spcPts val="0"/>
              </a:spcBef>
              <a:spcAft>
                <a:spcPts val="600"/>
              </a:spcAft>
              <a:buFont typeface="Arial" pitchFamily="34" charset="0"/>
              <a:buNone/>
              <a:defRPr sz="2600" b="1">
                <a:solidFill>
                  <a:schemeClr val="bg1"/>
                </a:solidFill>
              </a:defRPr>
            </a:lvl4pPr>
            <a:lvl5pPr marL="1104900" indent="0">
              <a:spcBef>
                <a:spcPts val="0"/>
              </a:spcBef>
              <a:spcAft>
                <a:spcPts val="600"/>
              </a:spcAft>
              <a:buFont typeface="Arial" pitchFamily="34" charset="0"/>
              <a:buNone/>
              <a:defRPr sz="2600" b="1">
                <a:solidFill>
                  <a:schemeClr val="bg1"/>
                </a:solidFill>
              </a:defRPr>
            </a:lvl5pPr>
            <a:lvl6pPr marL="1620000" indent="-270000">
              <a:spcBef>
                <a:spcPts val="0"/>
              </a:spcBef>
              <a:spcAft>
                <a:spcPts val="600"/>
              </a:spcAft>
              <a:buFont typeface="Arial" pitchFamily="34" charset="0"/>
              <a:buChar char="–"/>
              <a:defRPr sz="1200"/>
            </a:lvl6pPr>
            <a:lvl7pPr marL="1800000" indent="-270000">
              <a:spcBef>
                <a:spcPts val="0"/>
              </a:spcBef>
              <a:spcAft>
                <a:spcPts val="600"/>
              </a:spcAft>
              <a:buFont typeface="Arial" pitchFamily="34" charset="0"/>
              <a:buChar char="–"/>
              <a:defRPr sz="1200"/>
            </a:lvl7pPr>
            <a:lvl8pPr marL="2070000" indent="-270000">
              <a:spcBef>
                <a:spcPts val="0"/>
              </a:spcBef>
              <a:spcAft>
                <a:spcPts val="600"/>
              </a:spcAft>
              <a:buFont typeface="Arial" pitchFamily="34" charset="0"/>
              <a:buChar char="–"/>
              <a:defRPr sz="1200"/>
            </a:lvl8pPr>
            <a:lvl9pPr marL="2340000" indent="-270000">
              <a:spcBef>
                <a:spcPts val="0"/>
              </a:spcBef>
              <a:spcAft>
                <a:spcPts val="600"/>
              </a:spcAft>
              <a:buFont typeface="Arial" pitchFamily="34" charset="0"/>
              <a:buChar char="–"/>
              <a:defRPr sz="1200"/>
            </a:lvl9pPr>
          </a:lstStyle>
          <a:p>
            <a:pPr lvl="0"/>
            <a:r>
              <a:rPr lang="en-US" sz="9333" dirty="0">
                <a:solidFill>
                  <a:schemeClr val="accent3"/>
                </a:solidFill>
              </a:rPr>
              <a:t>Trust</a:t>
            </a:r>
          </a:p>
        </p:txBody>
      </p:sp>
      <p:pic>
        <p:nvPicPr>
          <p:cNvPr id="2" name="Graphic 1">
            <a:extLst>
              <a:ext uri="{FF2B5EF4-FFF2-40B4-BE49-F238E27FC236}">
                <a16:creationId xmlns:a16="http://schemas.microsoft.com/office/drawing/2014/main" id="{542AE0CA-DA20-235E-FC3A-6F7B6241F7B3}"/>
              </a:ext>
            </a:extLst>
          </p:cNvPr>
          <p:cNvPicPr>
            <a:picLocks noChangeAspect="1"/>
          </p:cNvPicPr>
          <p:nvPr userDrawn="1"/>
        </p:nvPicPr>
        <p:blipFill>
          <a:blip r:embed="rId2" cstate="print">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2004058081"/>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42548-8E48-5749-A9DB-50BB8D7632F6}"/>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DF43CEC7-AD91-624A-9F95-D2AEBB8AA599}"/>
              </a:ext>
            </a:extLst>
          </p:cNvPr>
          <p:cNvSpPr>
            <a:spLocks noGrp="1"/>
          </p:cNvSpPr>
          <p:nvPr>
            <p:ph type="sldNum" sz="quarter" idx="10"/>
          </p:nvPr>
        </p:nvSpPr>
        <p:spPr/>
        <p:txBody>
          <a:bodyPr/>
          <a:lstStyle/>
          <a:p>
            <a:fld id="{9F9F533D-B52E-4A2F-BF72-0ADD2D94BD75}" type="slidenum">
              <a:rPr lang="en-GB" smtClean="0"/>
              <a:pPr/>
              <a:t>‹#›</a:t>
            </a:fld>
            <a:endParaRPr lang="en-GB"/>
          </a:p>
        </p:txBody>
      </p:sp>
      <p:sp>
        <p:nvSpPr>
          <p:cNvPr id="5" name="Footer Placeholder 4">
            <a:extLst>
              <a:ext uri="{FF2B5EF4-FFF2-40B4-BE49-F238E27FC236}">
                <a16:creationId xmlns:a16="http://schemas.microsoft.com/office/drawing/2014/main" id="{94154A79-CD15-7242-9118-100FC39D6AEF}"/>
              </a:ext>
            </a:extLst>
          </p:cNvPr>
          <p:cNvSpPr>
            <a:spLocks noGrp="1"/>
          </p:cNvSpPr>
          <p:nvPr>
            <p:ph type="ftr" sz="quarter" idx="12"/>
          </p:nvPr>
        </p:nvSpPr>
        <p:spPr/>
        <p:txBody>
          <a:bodyPr/>
          <a:lstStyle/>
          <a:p>
            <a:endParaRPr lang="en-US" dirty="0"/>
          </a:p>
        </p:txBody>
      </p:sp>
      <p:sp>
        <p:nvSpPr>
          <p:cNvPr id="6" name="Date Placeholder 6">
            <a:extLst>
              <a:ext uri="{FF2B5EF4-FFF2-40B4-BE49-F238E27FC236}">
                <a16:creationId xmlns:a16="http://schemas.microsoft.com/office/drawing/2014/main" id="{470EA007-B67B-A14E-964E-BB98004A2A56}"/>
              </a:ext>
            </a:extLst>
          </p:cNvPr>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spTree>
    <p:extLst>
      <p:ext uri="{BB962C8B-B14F-4D97-AF65-F5344CB8AC3E}">
        <p14:creationId xmlns:p14="http://schemas.microsoft.com/office/powerpoint/2010/main" val="668616938"/>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7">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CF03F460-4F44-6945-80FC-CBCBEEBD9D1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pic>
        <p:nvPicPr>
          <p:cNvPr id="2" name="Graphic 1">
            <a:extLst>
              <a:ext uri="{FF2B5EF4-FFF2-40B4-BE49-F238E27FC236}">
                <a16:creationId xmlns:a16="http://schemas.microsoft.com/office/drawing/2014/main" id="{961BB9BC-26CD-4DB9-8166-A08C93AD441A}"/>
              </a:ext>
            </a:extLst>
          </p:cNvPr>
          <p:cNvPicPr>
            <a:picLocks noChangeAspect="1"/>
          </p:cNvPicPr>
          <p:nvPr userDrawn="1"/>
        </p:nvPicPr>
        <p:blipFill>
          <a:blip r:embed="rId4" cstate="print">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1723871480"/>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Section Header GREEN">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pic>
        <p:nvPicPr>
          <p:cNvPr id="2" name="Graphic 1">
            <a:extLst>
              <a:ext uri="{FF2B5EF4-FFF2-40B4-BE49-F238E27FC236}">
                <a16:creationId xmlns:a16="http://schemas.microsoft.com/office/drawing/2014/main" id="{5C4BC3F0-AE7B-F866-E9F1-3874B8E47961}"/>
              </a:ext>
            </a:extLst>
          </p:cNvPr>
          <p:cNvPicPr>
            <a:picLocks noChangeAspect="1"/>
          </p:cNvPicPr>
          <p:nvPr userDrawn="1"/>
        </p:nvPicPr>
        <p:blipFill>
          <a:blip r:embed="rId3" cstate="print">
            <a:extLst>
              <a:ext uri="{28A0092B-C50C-407E-A947-70E740481C1C}">
                <a14:useLocalDpi xmlns:a14="http://schemas.microsoft.com/office/drawing/2010/main"/>
              </a:ext>
              <a:ext uri="{96DAC541-7B7A-43D3-8B79-37D633B846F1}">
                <asvg:svgBlip xmlns:asvg="http://schemas.microsoft.com/office/drawing/2016/SVG/main" r:embed="rId4"/>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1964638294"/>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2_Title Slide Image 7">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9B0BAF2-4158-8D43-8169-20D973A1A1C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5532" cy="6865963"/>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spTree>
    <p:extLst>
      <p:ext uri="{BB962C8B-B14F-4D97-AF65-F5344CB8AC3E}">
        <p14:creationId xmlns:p14="http://schemas.microsoft.com/office/powerpoint/2010/main" val="2933109188"/>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Section Header TEAL">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5532"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4112436811"/>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3_Title Slide Image 7">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B532B91-3642-2041-9CF1-D4CC5874975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5532" cy="6865963"/>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spTree>
    <p:extLst>
      <p:ext uri="{BB962C8B-B14F-4D97-AF65-F5344CB8AC3E}">
        <p14:creationId xmlns:p14="http://schemas.microsoft.com/office/powerpoint/2010/main" val="1420549806"/>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1_Section Header TEAL">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FF3AEDF8-77E5-7F45-A9C6-7197EDD02B06}"/>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5532"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2341581505"/>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preserve="1" userDrawn="1">
  <p:cSld name="5_Title Slide Image 7">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01E3518-7C6A-4841-82FC-57DCF5B86F4D}"/>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spTree>
    <p:extLst>
      <p:ext uri="{BB962C8B-B14F-4D97-AF65-F5344CB8AC3E}">
        <p14:creationId xmlns:p14="http://schemas.microsoft.com/office/powerpoint/2010/main" val="3310604718"/>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3_Section Header TEAL">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6BD7C15D-98A9-FE4C-A641-932ABA9F2074}"/>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1227577070"/>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4_Title Slide Image 7">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71F2110B-1899-254D-909C-4B1EE04E3F2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6091" cy="6867221"/>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spTree>
    <p:extLst>
      <p:ext uri="{BB962C8B-B14F-4D97-AF65-F5344CB8AC3E}">
        <p14:creationId xmlns:p14="http://schemas.microsoft.com/office/powerpoint/2010/main" val="731933707"/>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preserve="1" userDrawn="1">
  <p:cSld name="2_Section Header TEAL">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D93FEAE-7A56-254F-AB79-D65DB11FC6A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 y="0"/>
            <a:ext cx="12196091" cy="6867221"/>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3777181999"/>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preserve="1" userDrawn="1">
  <p:cSld name="6_Title Slide Image 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B38F07B6-A735-924E-BF27-334C8860227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pic>
        <p:nvPicPr>
          <p:cNvPr id="7" name="Picture 6"/>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0" y="1421232"/>
            <a:ext cx="5469731" cy="5103195"/>
          </a:xfrm>
          <a:prstGeom prst="rect">
            <a:avLst/>
          </a:prstGeom>
        </p:spPr>
      </p:pic>
      <p:sp>
        <p:nvSpPr>
          <p:cNvPr id="20" name="Title 1"/>
          <p:cNvSpPr>
            <a:spLocks noGrp="1"/>
          </p:cNvSpPr>
          <p:nvPr>
            <p:ph type="ctrTitle" hasCustomPrompt="1"/>
          </p:nvPr>
        </p:nvSpPr>
        <p:spPr>
          <a:xfrm>
            <a:off x="395362" y="2758587"/>
            <a:ext cx="3835980" cy="1333699"/>
          </a:xfrm>
          <a:prstGeom prst="rect">
            <a:avLst/>
          </a:prstGeom>
        </p:spPr>
        <p:txBody>
          <a:bodyPr anchor="b" anchorCtr="0"/>
          <a:lstStyle>
            <a:lvl1pPr>
              <a:lnSpc>
                <a:spcPts val="3467"/>
              </a:lnSpc>
              <a:defRPr sz="3467">
                <a:solidFill>
                  <a:schemeClr val="bg1"/>
                </a:solidFill>
              </a:defRPr>
            </a:lvl1pPr>
          </a:lstStyle>
          <a:p>
            <a:r>
              <a:rPr lang="en-US" dirty="0"/>
              <a:t>Click to edit Master heading style</a:t>
            </a:r>
            <a:endParaRPr lang="en-GB" dirty="0"/>
          </a:p>
        </p:txBody>
      </p:sp>
      <p:sp>
        <p:nvSpPr>
          <p:cNvPr id="21" name="Subtitle 2"/>
          <p:cNvSpPr>
            <a:spLocks noGrp="1"/>
          </p:cNvSpPr>
          <p:nvPr>
            <p:ph type="subTitle" idx="1" hasCustomPrompt="1"/>
          </p:nvPr>
        </p:nvSpPr>
        <p:spPr>
          <a:xfrm>
            <a:off x="395361" y="4570119"/>
            <a:ext cx="3405675" cy="4449318"/>
          </a:xfrm>
        </p:spPr>
        <p:txBody>
          <a:bodyPr wrap="square" anchor="t" anchorCtr="0">
            <a:spAutoFit/>
          </a:bodyPr>
          <a:lstStyle>
            <a:lvl1pPr marL="0" indent="0" algn="l">
              <a:spcAft>
                <a:spcPts val="0"/>
              </a:spcAft>
              <a:buNone/>
              <a:defRPr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dirty="0"/>
              <a:t>Click to edit Master subheading</a:t>
            </a:r>
            <a:endParaRPr lang="en-GB" dirty="0"/>
          </a:p>
        </p:txBody>
      </p:sp>
    </p:spTree>
    <p:extLst>
      <p:ext uri="{BB962C8B-B14F-4D97-AF65-F5344CB8AC3E}">
        <p14:creationId xmlns:p14="http://schemas.microsoft.com/office/powerpoint/2010/main" val="195213001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preserve="1" userDrawn="1">
  <p:cSld name="4_Section Header TEAL">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11F96D-30CB-7043-AAFE-23FB5596AE30}"/>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5533"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r>
              <a:rPr lang="en-US" dirty="0"/>
              <a:t> here if required</a:t>
            </a:r>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1862436043"/>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Section Header ORANGE">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0"/>
            <a:ext cx="12192000" cy="6865963"/>
          </a:xfrm>
          <a:prstGeom prst="rect">
            <a:avLst/>
          </a:prstGeom>
        </p:spPr>
      </p:pic>
      <p:sp>
        <p:nvSpPr>
          <p:cNvPr id="11" name="Text Placeholder 5"/>
          <p:cNvSpPr>
            <a:spLocks noGrp="1"/>
          </p:cNvSpPr>
          <p:nvPr>
            <p:ph type="body" sz="quarter" idx="11" hasCustomPrompt="1"/>
          </p:nvPr>
        </p:nvSpPr>
        <p:spPr>
          <a:xfrm>
            <a:off x="480000" y="4990681"/>
            <a:ext cx="10924032" cy="2987040"/>
          </a:xfrm>
        </p:spPr>
        <p:txBody>
          <a:bodyPr anchor="t" anchorCtr="0">
            <a:spAutoFit/>
          </a:bodyPr>
          <a:lstStyle>
            <a:lvl1pPr marL="0" marR="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sz="2933" i="0">
                <a:solidFill>
                  <a:schemeClr val="bg1"/>
                </a:solidFill>
                <a:latin typeface="+mn-lt"/>
              </a:defRPr>
            </a:lvl1pPr>
            <a:lvl2pPr marL="361942" indent="0">
              <a:spcAft>
                <a:spcPts val="0"/>
              </a:spcAft>
              <a:buNone/>
              <a:defRPr>
                <a:solidFill>
                  <a:schemeClr val="bg1"/>
                </a:solidFill>
              </a:defRPr>
            </a:lvl2pPr>
            <a:lvl3pPr marL="711182" indent="0">
              <a:spcAft>
                <a:spcPts val="0"/>
              </a:spcAft>
              <a:buNone/>
              <a:defRPr>
                <a:solidFill>
                  <a:schemeClr val="bg1"/>
                </a:solidFill>
              </a:defRPr>
            </a:lvl3pPr>
            <a:lvl4pPr marL="1087939" indent="0">
              <a:spcAft>
                <a:spcPts val="0"/>
              </a:spcAft>
              <a:buNone/>
              <a:defRPr>
                <a:solidFill>
                  <a:schemeClr val="bg1"/>
                </a:solidFill>
              </a:defRPr>
            </a:lvl4pPr>
            <a:lvl5pPr marL="1473163" indent="0">
              <a:spcAft>
                <a:spcPts val="0"/>
              </a:spcAft>
              <a:buNone/>
              <a:defRPr>
                <a:solidFill>
                  <a:schemeClr val="bg1"/>
                </a:solidFill>
              </a:defRPr>
            </a:lvl5pPr>
          </a:lstStyle>
          <a:p>
            <a:pPr marL="0" marR="0" lvl="0" indent="0" algn="l" defTabSz="1219170" rtl="0" eaLnBrk="1" fontAlgn="auto" latinLnBrk="0" hangingPunct="1">
              <a:lnSpc>
                <a:spcPts val="3200"/>
              </a:lnSpc>
              <a:spcBef>
                <a:spcPts val="0"/>
              </a:spcBef>
              <a:spcAft>
                <a:spcPts val="0"/>
              </a:spcAft>
              <a:buClr>
                <a:schemeClr val="tx1"/>
              </a:buClr>
              <a:buSzTx/>
              <a:buFont typeface="Arial" pitchFamily="34" charset="0"/>
              <a:buNone/>
              <a:tabLst/>
              <a:defRPr/>
            </a:pPr>
            <a:r>
              <a:rPr lang="en-GB" dirty="0"/>
              <a:t>Supporting heading</a:t>
            </a:r>
            <a:endParaRPr lang="en-US" dirty="0"/>
          </a:p>
        </p:txBody>
      </p:sp>
      <p:sp>
        <p:nvSpPr>
          <p:cNvPr id="13" name="Text Placeholder 3"/>
          <p:cNvSpPr>
            <a:spLocks noGrp="1"/>
          </p:cNvSpPr>
          <p:nvPr>
            <p:ph type="body" sz="quarter" idx="10" hasCustomPrompt="1"/>
          </p:nvPr>
        </p:nvSpPr>
        <p:spPr>
          <a:xfrm>
            <a:off x="480000" y="-1454923"/>
            <a:ext cx="10928936" cy="6339840"/>
          </a:xfrm>
        </p:spPr>
        <p:txBody>
          <a:bodyPr wrap="square" anchor="b" anchorCtr="0">
            <a:spAutoFit/>
          </a:bodyPr>
          <a:lstStyle>
            <a:lvl1pPr marL="0" indent="0">
              <a:lnSpc>
                <a:spcPts val="7600"/>
              </a:lnSpc>
              <a:spcAft>
                <a:spcPts val="0"/>
              </a:spcAft>
              <a:buNone/>
              <a:defRPr sz="7333" b="1">
                <a:solidFill>
                  <a:schemeClr val="bg1"/>
                </a:solidFill>
              </a:defRPr>
            </a:lvl1pPr>
            <a:lvl2pPr marL="361942" indent="0">
              <a:buNone/>
              <a:defRPr sz="3467" b="1">
                <a:solidFill>
                  <a:schemeClr val="bg1"/>
                </a:solidFill>
              </a:defRPr>
            </a:lvl2pPr>
            <a:lvl3pPr marL="711182" indent="0">
              <a:buNone/>
              <a:defRPr sz="3467" b="1">
                <a:solidFill>
                  <a:schemeClr val="bg1"/>
                </a:solidFill>
              </a:defRPr>
            </a:lvl3pPr>
            <a:lvl4pPr marL="1087939" indent="0">
              <a:buNone/>
              <a:defRPr sz="3467" b="1">
                <a:solidFill>
                  <a:schemeClr val="bg1"/>
                </a:solidFill>
              </a:defRPr>
            </a:lvl4pPr>
            <a:lvl5pPr marL="1473163" indent="0">
              <a:buNone/>
              <a:defRPr sz="3467" b="1">
                <a:solidFill>
                  <a:schemeClr val="bg1"/>
                </a:solidFill>
              </a:defRPr>
            </a:lvl5pPr>
          </a:lstStyle>
          <a:p>
            <a:pPr lvl="0"/>
            <a:r>
              <a:rPr lang="en-US" dirty="0"/>
              <a:t>Section heading title</a:t>
            </a:r>
          </a:p>
        </p:txBody>
      </p:sp>
    </p:spTree>
    <p:extLst>
      <p:ext uri="{BB962C8B-B14F-4D97-AF65-F5344CB8AC3E}">
        <p14:creationId xmlns:p14="http://schemas.microsoft.com/office/powerpoint/2010/main" val="1021903655"/>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16" name="Content Placeholder 15"/>
          <p:cNvSpPr>
            <a:spLocks noGrp="1" noChangeAspect="1"/>
          </p:cNvSpPr>
          <p:nvPr>
            <p:ph sz="quarter" idx="12"/>
          </p:nvPr>
        </p:nvSpPr>
        <p:spPr>
          <a:xfrm>
            <a:off x="478872" y="1589851"/>
            <a:ext cx="11231033" cy="4093400"/>
          </a:xfrm>
          <a:prstGeom prst="rect">
            <a:avLst/>
          </a:prstGeom>
        </p:spPr>
        <p:txBody>
          <a:bodyPr lIns="0"/>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Text Placeholder 2"/>
          <p:cNvSpPr>
            <a:spLocks noGrp="1"/>
          </p:cNvSpPr>
          <p:nvPr>
            <p:ph type="body" sz="quarter" idx="14" hasCustomPrompt="1"/>
          </p:nvPr>
        </p:nvSpPr>
        <p:spPr>
          <a:xfrm>
            <a:off x="478869" y="924739"/>
            <a:ext cx="10104000" cy="369332"/>
          </a:xfrm>
          <a:prstGeom prst="rect">
            <a:avLst/>
          </a:prstGeom>
        </p:spPr>
        <p:txBody>
          <a:bodyPr lIns="0" anchor="t" anchorCtr="0">
            <a:noAutofit/>
          </a:bodyPr>
          <a:lstStyle>
            <a:lvl1pPr marL="0" marR="0" indent="0" algn="l" defTabSz="1219140" rtl="0" eaLnBrk="1" fontAlgn="auto" latinLnBrk="0" hangingPunct="1">
              <a:lnSpc>
                <a:spcPct val="100000"/>
              </a:lnSpc>
              <a:spcBef>
                <a:spcPts val="0"/>
              </a:spcBef>
              <a:spcAft>
                <a:spcPts val="0"/>
              </a:spcAft>
              <a:buClr>
                <a:schemeClr val="tx1"/>
              </a:buClr>
              <a:buSzTx/>
              <a:buFont typeface="Arial" pitchFamily="34" charset="0"/>
              <a:buNone/>
              <a:tabLst/>
              <a:defRPr sz="2133" i="0">
                <a:latin typeface="+mn-lt"/>
              </a:defRPr>
            </a:lvl1pPr>
            <a:lvl2pPr marL="361934" indent="0">
              <a:buNone/>
              <a:defRPr/>
            </a:lvl2pPr>
            <a:lvl3pPr marL="711165" indent="0">
              <a:buNone/>
              <a:defRPr/>
            </a:lvl3pPr>
            <a:lvl4pPr marL="1087911" indent="0">
              <a:buNone/>
              <a:defRPr/>
            </a:lvl4pPr>
            <a:lvl5pPr marL="1473126" indent="0">
              <a:buNone/>
              <a:defRPr/>
            </a:lvl5pPr>
          </a:lstStyle>
          <a:p>
            <a:pPr marL="0" marR="0" lvl="0" indent="0" algn="l" defTabSz="1219140" rtl="0" eaLnBrk="1" fontAlgn="auto" latinLnBrk="0" hangingPunct="1">
              <a:lnSpc>
                <a:spcPct val="100000"/>
              </a:lnSpc>
              <a:spcBef>
                <a:spcPts val="0"/>
              </a:spcBef>
              <a:spcAft>
                <a:spcPts val="0"/>
              </a:spcAft>
              <a:buClr>
                <a:schemeClr val="tx1"/>
              </a:buClr>
              <a:buSzTx/>
              <a:buFont typeface="Arial" pitchFamily="34" charset="0"/>
              <a:buNone/>
              <a:tabLst/>
              <a:defRPr/>
            </a:pPr>
            <a:r>
              <a:rPr lang="en-GB"/>
              <a:t>Supporting heading</a:t>
            </a:r>
            <a:r>
              <a:rPr lang="en-US"/>
              <a:t> here if required</a:t>
            </a:r>
          </a:p>
        </p:txBody>
      </p:sp>
      <p:sp>
        <p:nvSpPr>
          <p:cNvPr id="6" name="Text Placeholder 5"/>
          <p:cNvSpPr>
            <a:spLocks noGrp="1"/>
          </p:cNvSpPr>
          <p:nvPr>
            <p:ph type="body" sz="quarter" idx="18" hasCustomPrompt="1"/>
          </p:nvPr>
        </p:nvSpPr>
        <p:spPr>
          <a:xfrm>
            <a:off x="478869" y="6212165"/>
            <a:ext cx="11232000" cy="256545"/>
          </a:xfrm>
          <a:prstGeom prst="rect">
            <a:avLst/>
          </a:prstGeom>
        </p:spPr>
        <p:txBody>
          <a:bodyPr wrap="square" anchor="b" anchorCtr="0">
            <a:spAutoFit/>
          </a:bodyPr>
          <a:lstStyle>
            <a:lvl1pPr marL="0" indent="0">
              <a:spcAft>
                <a:spcPts val="0"/>
              </a:spcAft>
              <a:buNone/>
              <a:defRPr sz="1067" baseline="0"/>
            </a:lvl1pPr>
            <a:lvl2pPr marL="357534" indent="0">
              <a:buNone/>
              <a:defRPr sz="1067"/>
            </a:lvl2pPr>
            <a:lvl3pPr marL="719965" indent="0">
              <a:buNone/>
              <a:defRPr sz="1067"/>
            </a:lvl3pPr>
            <a:lvl4pPr marL="1081397" indent="0">
              <a:buNone/>
              <a:defRPr sz="1067"/>
            </a:lvl4pPr>
            <a:lvl5pPr marL="1439928" indent="0">
              <a:buNone/>
              <a:defRPr sz="1067"/>
            </a:lvl5pPr>
          </a:lstStyle>
          <a:p>
            <a:pPr lvl="0"/>
            <a:r>
              <a:rPr lang="en-US"/>
              <a:t>Insert Source text here</a:t>
            </a:r>
          </a:p>
        </p:txBody>
      </p:sp>
      <p:sp>
        <p:nvSpPr>
          <p:cNvPr id="4" name="Title 3"/>
          <p:cNvSpPr>
            <a:spLocks noGrp="1"/>
          </p:cNvSpPr>
          <p:nvPr>
            <p:ph type="title" hasCustomPrompt="1"/>
          </p:nvPr>
        </p:nvSpPr>
        <p:spPr>
          <a:xfrm>
            <a:off x="478871" y="384852"/>
            <a:ext cx="10102852" cy="451405"/>
          </a:xfrm>
        </p:spPr>
        <p:txBody>
          <a:bodyPr/>
          <a:lstStyle>
            <a:lvl1pPr>
              <a:defRPr sz="2933"/>
            </a:lvl1pPr>
          </a:lstStyle>
          <a:p>
            <a:r>
              <a:rPr lang="en-US"/>
              <a:t>Click to edit Master heading style</a:t>
            </a:r>
            <a:endParaRPr lang="en-GB"/>
          </a:p>
        </p:txBody>
      </p:sp>
    </p:spTree>
    <p:extLst>
      <p:ext uri="{BB962C8B-B14F-4D97-AF65-F5344CB8AC3E}">
        <p14:creationId xmlns:p14="http://schemas.microsoft.com/office/powerpoint/2010/main" val="849963247"/>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showMasterSp="0">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3D179B60-1587-941E-A723-1C3CC5C0E0E2}"/>
              </a:ext>
            </a:extLst>
          </p:cNvPr>
          <p:cNvSpPr/>
          <p:nvPr/>
        </p:nvSpPr>
        <p:spPr>
          <a:xfrm>
            <a:off x="0" y="4842854"/>
            <a:ext cx="426190" cy="902918"/>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
        <p:nvSpPr>
          <p:cNvPr id="17" name="Title 1"/>
          <p:cNvSpPr>
            <a:spLocks noGrp="1"/>
          </p:cNvSpPr>
          <p:nvPr>
            <p:ph type="ctrTitle" hasCustomPrompt="1"/>
          </p:nvPr>
        </p:nvSpPr>
        <p:spPr>
          <a:xfrm>
            <a:off x="520700" y="5010784"/>
            <a:ext cx="11150600" cy="548009"/>
          </a:xfrm>
          <a:prstGeom prst="rect">
            <a:avLst/>
          </a:prstGeom>
        </p:spPr>
        <p:txBody>
          <a:bodyPr anchor="b" anchorCtr="0">
            <a:normAutofit/>
          </a:bodyPr>
          <a:lstStyle>
            <a:lvl1pPr>
              <a:lnSpc>
                <a:spcPct val="100000"/>
              </a:lnSpc>
              <a:defRPr sz="3600">
                <a:solidFill>
                  <a:schemeClr val="bg1"/>
                </a:solidFill>
              </a:defRPr>
            </a:lvl1pPr>
          </a:lstStyle>
          <a:p>
            <a:r>
              <a:rPr lang="en-GB" dirty="0"/>
              <a:t>Click to enter presentation title</a:t>
            </a:r>
          </a:p>
        </p:txBody>
      </p:sp>
      <p:sp>
        <p:nvSpPr>
          <p:cNvPr id="20" name="Subtitle 2"/>
          <p:cNvSpPr>
            <a:spLocks noGrp="1"/>
          </p:cNvSpPr>
          <p:nvPr>
            <p:ph type="subTitle" idx="1" hasCustomPrompt="1"/>
          </p:nvPr>
        </p:nvSpPr>
        <p:spPr>
          <a:xfrm>
            <a:off x="520700" y="5558794"/>
            <a:ext cx="11150600" cy="475200"/>
          </a:xfrm>
          <a:prstGeom prst="rect">
            <a:avLst/>
          </a:prstGeom>
        </p:spPr>
        <p:txBody>
          <a:bodyPr wrap="square" lIns="0" tIns="0" rIns="0" bIns="0" anchor="t" anchorCtr="0">
            <a:normAutofit/>
          </a:bodyPr>
          <a:lstStyle>
            <a:lvl1pPr marL="0" indent="0" algn="l">
              <a:spcBef>
                <a:spcPts val="0"/>
              </a:spcBef>
              <a:spcAft>
                <a:spcPts val="0"/>
              </a:spcAft>
              <a:buNone/>
              <a:defRPr sz="2400" i="0">
                <a:solidFill>
                  <a:schemeClr val="bg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subtitle / presenter name</a:t>
            </a:r>
          </a:p>
        </p:txBody>
      </p:sp>
      <p:sp>
        <p:nvSpPr>
          <p:cNvPr id="5" name="Rectangle 4">
            <a:extLst>
              <a:ext uri="{FF2B5EF4-FFF2-40B4-BE49-F238E27FC236}">
                <a16:creationId xmlns:a16="http://schemas.microsoft.com/office/drawing/2014/main" id="{B081E81C-A3CE-333A-79BA-25D8F93FB564}"/>
              </a:ext>
            </a:extLst>
          </p:cNvPr>
          <p:cNvSpPr/>
          <p:nvPr/>
        </p:nvSpPr>
        <p:spPr bwMode="auto">
          <a:xfrm>
            <a:off x="11039475" y="164305"/>
            <a:ext cx="862012" cy="317500"/>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p>
            <a:pPr marL="0" indent="0" algn="r" eaLnBrk="0" fontAlgn="auto" hangingPunct="0">
              <a:spcBef>
                <a:spcPts val="0"/>
              </a:spcBef>
              <a:spcAft>
                <a:spcPts val="0"/>
              </a:spcAft>
              <a:buClr>
                <a:schemeClr val="bg1"/>
              </a:buClr>
              <a:buFont typeface="Arial" pitchFamily="34" charset="0"/>
              <a:buNone/>
            </a:pPr>
            <a:r>
              <a:rPr lang="en-GB" sz="1000" b="1" kern="0" dirty="0">
                <a:solidFill>
                  <a:srgbClr val="FFFFFF"/>
                </a:solidFill>
                <a:latin typeface="+mn-lt"/>
              </a:rPr>
              <a:t>gsk.com</a:t>
            </a:r>
          </a:p>
        </p:txBody>
      </p:sp>
      <p:pic>
        <p:nvPicPr>
          <p:cNvPr id="7" name="Graphic 6">
            <a:extLst>
              <a:ext uri="{FF2B5EF4-FFF2-40B4-BE49-F238E27FC236}">
                <a16:creationId xmlns:a16="http://schemas.microsoft.com/office/drawing/2014/main" id="{8E1FA932-514A-C951-F952-F8A43667EAEB}"/>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094470" y="243283"/>
            <a:ext cx="159543" cy="159543"/>
          </a:xfrm>
          <a:prstGeom prst="rect">
            <a:avLst/>
          </a:prstGeom>
        </p:spPr>
      </p:pic>
      <p:sp>
        <p:nvSpPr>
          <p:cNvPr id="9" name="Text Placeholder 8">
            <a:extLst>
              <a:ext uri="{FF2B5EF4-FFF2-40B4-BE49-F238E27FC236}">
                <a16:creationId xmlns:a16="http://schemas.microsoft.com/office/drawing/2014/main" id="{C04D693C-2F89-1D26-FDEF-3BF8AB9EE532}"/>
              </a:ext>
            </a:extLst>
          </p:cNvPr>
          <p:cNvSpPr>
            <a:spLocks noGrp="1"/>
          </p:cNvSpPr>
          <p:nvPr>
            <p:ph type="body" sz="quarter" idx="11" hasCustomPrompt="1"/>
          </p:nvPr>
        </p:nvSpPr>
        <p:spPr>
          <a:xfrm>
            <a:off x="501650" y="230188"/>
            <a:ext cx="1817688" cy="163512"/>
          </a:xfrm>
        </p:spPr>
        <p:txBody>
          <a:bodyPr lIns="0" tIns="72000" rIns="0" bIns="72000" anchor="ctr">
            <a:noAutofit/>
          </a:bodyPr>
          <a:lstStyle>
            <a:lvl1pPr marL="0" indent="0">
              <a:buNone/>
              <a:defRPr sz="1000" b="1">
                <a:solidFill>
                  <a:schemeClr val="bg1"/>
                </a:solidFill>
              </a:defRPr>
            </a:lvl1pPr>
            <a:lvl2pPr marL="357542" indent="0">
              <a:buNone/>
              <a:defRPr>
                <a:solidFill>
                  <a:schemeClr val="bg1"/>
                </a:solidFill>
              </a:defRPr>
            </a:lvl2pPr>
            <a:lvl3pPr marL="719982" indent="0">
              <a:buNone/>
              <a:defRPr>
                <a:solidFill>
                  <a:schemeClr val="bg1"/>
                </a:solidFill>
              </a:defRPr>
            </a:lvl3pPr>
            <a:lvl4pPr marL="1081424" indent="0">
              <a:buNone/>
              <a:defRPr>
                <a:solidFill>
                  <a:schemeClr val="bg1"/>
                </a:solidFill>
              </a:defRPr>
            </a:lvl4pPr>
            <a:lvl5pPr marL="1439964" indent="0">
              <a:buNone/>
              <a:defRPr>
                <a:solidFill>
                  <a:schemeClr val="bg1"/>
                </a:solidFill>
              </a:defRPr>
            </a:lvl5pPr>
          </a:lstStyle>
          <a:p>
            <a:pPr lvl="0"/>
            <a:r>
              <a:rPr lang="en-US" dirty="0"/>
              <a:t>Click to insert date</a:t>
            </a:r>
          </a:p>
        </p:txBody>
      </p:sp>
      <p:pic>
        <p:nvPicPr>
          <p:cNvPr id="11" name="Graphic 10">
            <a:extLst>
              <a:ext uri="{FF2B5EF4-FFF2-40B4-BE49-F238E27FC236}">
                <a16:creationId xmlns:a16="http://schemas.microsoft.com/office/drawing/2014/main" id="{6CD1A09A-E74F-DDD9-A7A4-4FD32035ACFA}"/>
              </a:ext>
            </a:extLst>
          </p:cNvPr>
          <p:cNvPicPr>
            <a:picLocks noChangeAspect="1"/>
          </p:cNvPicPr>
          <p:nvPr/>
        </p:nvPicPr>
        <p:blipFill>
          <a:blip r:embed="rId5" cstate="print">
            <a:lum bright="100000"/>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444399" y="2100263"/>
            <a:ext cx="5303202" cy="1598612"/>
          </a:xfrm>
          <a:prstGeom prst="rect">
            <a:avLst/>
          </a:prstGeom>
        </p:spPr>
      </p:pic>
    </p:spTree>
    <p:extLst>
      <p:ext uri="{BB962C8B-B14F-4D97-AF65-F5344CB8AC3E}">
        <p14:creationId xmlns:p14="http://schemas.microsoft.com/office/powerpoint/2010/main" val="74484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8870" y="384853"/>
            <a:ext cx="10102852" cy="461665"/>
          </a:xfrm>
        </p:spPr>
        <p:txBody>
          <a:bodyPr/>
          <a:lstStyle>
            <a:lvl1pPr>
              <a:defRPr sz="3000" baseline="0">
                <a:solidFill>
                  <a:srgbClr val="F36633"/>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baseline="0">
                <a:solidFill>
                  <a:schemeClr val="bg2">
                    <a:lumMod val="50000"/>
                  </a:schemeClr>
                </a:solidFill>
              </a:defRPr>
            </a:lvl1pPr>
            <a:lvl2pPr>
              <a:defRPr baseline="0">
                <a:solidFill>
                  <a:schemeClr val="bg2">
                    <a:lumMod val="50000"/>
                  </a:schemeClr>
                </a:solidFill>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3" hasCustomPrompt="1"/>
          </p:nvPr>
        </p:nvSpPr>
        <p:spPr>
          <a:xfrm>
            <a:off x="442913" y="968351"/>
            <a:ext cx="11314113" cy="504000"/>
          </a:xfrm>
        </p:spPr>
        <p:txBody>
          <a:bodyPr anchor="t" anchorCtr="0">
            <a:noAutofit/>
          </a:bodyPr>
          <a:lstStyle>
            <a:lvl1pPr marL="0" indent="0">
              <a:spcAft>
                <a:spcPts val="0"/>
              </a:spcAft>
              <a:buFont typeface="Arial" panose="020B0604020202020204" pitchFamily="34" charset="0"/>
              <a:buNone/>
              <a:defRPr sz="1600" b="0">
                <a:solidFill>
                  <a:srgbClr val="544F40"/>
                </a:solidFill>
              </a:defRPr>
            </a:lvl1pPr>
            <a:lvl2pPr marL="457189" indent="0">
              <a:buNone/>
              <a:defRPr/>
            </a:lvl2pPr>
          </a:lstStyle>
          <a:p>
            <a:r>
              <a:rPr lang="en-GB" dirty="0"/>
              <a:t>Supporting heading 16pt</a:t>
            </a:r>
            <a:endParaRPr lang="en-US" dirty="0"/>
          </a:p>
        </p:txBody>
      </p:sp>
      <p:sp>
        <p:nvSpPr>
          <p:cNvPr id="10" name="Text Placeholder 14"/>
          <p:cNvSpPr>
            <a:spLocks noGrp="1"/>
          </p:cNvSpPr>
          <p:nvPr>
            <p:ph type="body" sz="quarter" idx="21" hasCustomPrompt="1"/>
          </p:nvPr>
        </p:nvSpPr>
        <p:spPr>
          <a:xfrm>
            <a:off x="442913" y="6221528"/>
            <a:ext cx="10771521" cy="468000"/>
          </a:xfrm>
        </p:spPr>
        <p:txBody>
          <a:bodyPr lIns="0" tIns="0" rIns="0" bIns="0" anchor="t" anchorCtr="0"/>
          <a:lstStyle>
            <a:lvl1pPr marL="0" indent="0" algn="l">
              <a:lnSpc>
                <a:spcPct val="100000"/>
              </a:lnSpc>
              <a:spcBef>
                <a:spcPts val="0"/>
              </a:spcBef>
              <a:spcAft>
                <a:spcPts val="0"/>
              </a:spcAft>
              <a:buNone/>
              <a:defRPr sz="800" b="0">
                <a:solidFill>
                  <a:schemeClr val="tx1"/>
                </a:solidFill>
              </a:defRPr>
            </a:lvl1pPr>
          </a:lstStyle>
          <a:p>
            <a:pPr lvl="0"/>
            <a:r>
              <a:rPr lang="en-GB" dirty="0"/>
              <a:t>References</a:t>
            </a:r>
          </a:p>
        </p:txBody>
      </p:sp>
      <p:sp>
        <p:nvSpPr>
          <p:cNvPr id="11" name="Text Placeholder 14"/>
          <p:cNvSpPr>
            <a:spLocks noGrp="1"/>
          </p:cNvSpPr>
          <p:nvPr>
            <p:ph type="body" sz="quarter" idx="19" hasCustomPrompt="1"/>
          </p:nvPr>
        </p:nvSpPr>
        <p:spPr>
          <a:xfrm>
            <a:off x="449973" y="5962570"/>
            <a:ext cx="11271627" cy="194733"/>
          </a:xfrm>
        </p:spPr>
        <p:txBody>
          <a:bodyPr lIns="0" tIns="0" rIns="0" bIns="0" anchor="b" anchorCtr="0">
            <a:noAutofit/>
          </a:bodyPr>
          <a:lstStyle>
            <a:lvl1pPr marL="0" indent="0" algn="l">
              <a:lnSpc>
                <a:spcPct val="100000"/>
              </a:lnSpc>
              <a:spcBef>
                <a:spcPts val="0"/>
              </a:spcBef>
              <a:spcAft>
                <a:spcPts val="0"/>
              </a:spcAft>
              <a:buNone/>
              <a:defRPr sz="800" b="0">
                <a:solidFill>
                  <a:schemeClr val="tx1"/>
                </a:solidFill>
              </a:defRPr>
            </a:lvl1pPr>
          </a:lstStyle>
          <a:p>
            <a:pPr lvl="0"/>
            <a:r>
              <a:rPr lang="en-GB" dirty="0"/>
              <a:t>Abbreviations</a:t>
            </a:r>
          </a:p>
        </p:txBody>
      </p:sp>
      <p:sp>
        <p:nvSpPr>
          <p:cNvPr id="16" name="Date Placeholder 15">
            <a:extLst>
              <a:ext uri="{FF2B5EF4-FFF2-40B4-BE49-F238E27FC236}">
                <a16:creationId xmlns:a16="http://schemas.microsoft.com/office/drawing/2014/main" id="{35E8B5F8-28B9-2948-9ECA-21C43436137B}"/>
              </a:ext>
            </a:extLst>
          </p:cNvPr>
          <p:cNvSpPr>
            <a:spLocks noGrp="1"/>
          </p:cNvSpPr>
          <p:nvPr>
            <p:ph type="dt" sz="half" idx="22"/>
          </p:nvPr>
        </p:nvSpPr>
        <p:spPr/>
        <p:txBody>
          <a:bodyPr/>
          <a:lstStyle/>
          <a:p>
            <a:pPr algn="r"/>
            <a:endParaRPr lang="en-US" dirty="0"/>
          </a:p>
        </p:txBody>
      </p:sp>
      <p:sp>
        <p:nvSpPr>
          <p:cNvPr id="17" name="Footer Placeholder 16">
            <a:extLst>
              <a:ext uri="{FF2B5EF4-FFF2-40B4-BE49-F238E27FC236}">
                <a16:creationId xmlns:a16="http://schemas.microsoft.com/office/drawing/2014/main" id="{E912C940-258A-9748-9BD5-375E278B63AE}"/>
              </a:ext>
            </a:extLst>
          </p:cNvPr>
          <p:cNvSpPr>
            <a:spLocks noGrp="1"/>
          </p:cNvSpPr>
          <p:nvPr>
            <p:ph type="ftr" sz="quarter" idx="23"/>
          </p:nvPr>
        </p:nvSpPr>
        <p:spPr/>
        <p:txBody>
          <a:bodyPr/>
          <a:lstStyle/>
          <a:p>
            <a:endParaRPr lang="en-US" dirty="0"/>
          </a:p>
        </p:txBody>
      </p:sp>
      <p:sp>
        <p:nvSpPr>
          <p:cNvPr id="18" name="Slide Number Placeholder 17">
            <a:extLst>
              <a:ext uri="{FF2B5EF4-FFF2-40B4-BE49-F238E27FC236}">
                <a16:creationId xmlns:a16="http://schemas.microsoft.com/office/drawing/2014/main" id="{D9501C94-2A94-BD46-AC94-7F14F22B636F}"/>
              </a:ext>
            </a:extLst>
          </p:cNvPr>
          <p:cNvSpPr>
            <a:spLocks noGrp="1"/>
          </p:cNvSpPr>
          <p:nvPr>
            <p:ph type="sldNum" sz="quarter" idx="24"/>
          </p:nvPr>
        </p:nvSpPr>
        <p:spPr/>
        <p:txBody>
          <a:bodyPr/>
          <a:lstStyle/>
          <a:p>
            <a:fld id="{9F9F533D-B52E-4A2F-BF72-0ADD2D94BD75}" type="slidenum">
              <a:rPr lang="en-GB" smtClean="0"/>
              <a:pPr/>
              <a:t>‹#›</a:t>
            </a:fld>
            <a:endParaRPr lang="en-GB"/>
          </a:p>
        </p:txBody>
      </p:sp>
      <p:sp>
        <p:nvSpPr>
          <p:cNvPr id="19" name="Rectangle 18">
            <a:extLst>
              <a:ext uri="{FF2B5EF4-FFF2-40B4-BE49-F238E27FC236}">
                <a16:creationId xmlns:a16="http://schemas.microsoft.com/office/drawing/2014/main" id="{85C55302-ABB3-944D-A14D-FABA087573CF}"/>
              </a:ext>
            </a:extLst>
          </p:cNvPr>
          <p:cNvSpPr/>
          <p:nvPr userDrawn="1"/>
        </p:nvSpPr>
        <p:spPr bwMode="auto">
          <a:xfrm>
            <a:off x="411134" y="6055211"/>
            <a:ext cx="1062508" cy="341611"/>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spTree>
    <p:extLst>
      <p:ext uri="{BB962C8B-B14F-4D97-AF65-F5344CB8AC3E}">
        <p14:creationId xmlns:p14="http://schemas.microsoft.com/office/powerpoint/2010/main" val="3681510487"/>
      </p:ext>
    </p:extLst>
  </p:cSld>
  <p:clrMapOvr>
    <a:masterClrMapping/>
  </p:clrMapOvr>
  <p:transition>
    <p:fade/>
  </p:transition>
</p:sldLayout>
</file>

<file path=ppt/slideLayouts/slideLayout169.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78870" y="384853"/>
            <a:ext cx="10102852" cy="461665"/>
          </a:xfrm>
        </p:spPr>
        <p:txBody>
          <a:bodyPr/>
          <a:lstStyle>
            <a:lvl1pPr>
              <a:defRPr sz="3000" baseline="0">
                <a:solidFill>
                  <a:srgbClr val="F36633"/>
                </a:solidFill>
              </a:defRPr>
            </a:lvl1pPr>
          </a:lstStyle>
          <a:p>
            <a:r>
              <a:rPr lang="en-US" dirty="0"/>
              <a:t>Click to edit Master title style</a:t>
            </a:r>
          </a:p>
        </p:txBody>
      </p:sp>
      <p:sp>
        <p:nvSpPr>
          <p:cNvPr id="3" name="Content Placeholder 2"/>
          <p:cNvSpPr>
            <a:spLocks noGrp="1"/>
          </p:cNvSpPr>
          <p:nvPr>
            <p:ph idx="1"/>
          </p:nvPr>
        </p:nvSpPr>
        <p:spPr/>
        <p:txBody>
          <a:bodyPr/>
          <a:lstStyle>
            <a:lvl1pPr>
              <a:defRPr baseline="0">
                <a:solidFill>
                  <a:schemeClr val="bg2">
                    <a:lumMod val="50000"/>
                  </a:schemeClr>
                </a:solidFill>
              </a:defRPr>
            </a:lvl1pPr>
            <a:lvl2pPr>
              <a:defRPr baseline="0">
                <a:solidFill>
                  <a:schemeClr val="bg2">
                    <a:lumMod val="50000"/>
                  </a:schemeClr>
                </a:solidFill>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p:cNvSpPr>
            <a:spLocks noGrp="1"/>
          </p:cNvSpPr>
          <p:nvPr>
            <p:ph type="body" sz="quarter" idx="13" hasCustomPrompt="1"/>
          </p:nvPr>
        </p:nvSpPr>
        <p:spPr>
          <a:xfrm>
            <a:off x="442913" y="968351"/>
            <a:ext cx="11314113" cy="504000"/>
          </a:xfrm>
        </p:spPr>
        <p:txBody>
          <a:bodyPr anchor="t" anchorCtr="0">
            <a:noAutofit/>
          </a:bodyPr>
          <a:lstStyle>
            <a:lvl1pPr marL="0" indent="0">
              <a:spcAft>
                <a:spcPts val="0"/>
              </a:spcAft>
              <a:buFont typeface="Arial" panose="020B0604020202020204" pitchFamily="34" charset="0"/>
              <a:buNone/>
              <a:defRPr sz="1600" b="0">
                <a:solidFill>
                  <a:srgbClr val="544F40"/>
                </a:solidFill>
              </a:defRPr>
            </a:lvl1pPr>
            <a:lvl2pPr marL="457189" indent="0">
              <a:buNone/>
              <a:defRPr/>
            </a:lvl2pPr>
          </a:lstStyle>
          <a:p>
            <a:r>
              <a:rPr lang="en-GB" dirty="0"/>
              <a:t>Supporting heading 16pt</a:t>
            </a:r>
            <a:endParaRPr lang="en-US" dirty="0"/>
          </a:p>
        </p:txBody>
      </p:sp>
      <p:sp>
        <p:nvSpPr>
          <p:cNvPr id="10" name="Text Placeholder 14"/>
          <p:cNvSpPr>
            <a:spLocks noGrp="1"/>
          </p:cNvSpPr>
          <p:nvPr>
            <p:ph type="body" sz="quarter" idx="21" hasCustomPrompt="1"/>
          </p:nvPr>
        </p:nvSpPr>
        <p:spPr>
          <a:xfrm>
            <a:off x="442913" y="6221528"/>
            <a:ext cx="10771521" cy="468000"/>
          </a:xfrm>
        </p:spPr>
        <p:txBody>
          <a:bodyPr lIns="0" tIns="0" rIns="0" bIns="0" anchor="t" anchorCtr="0"/>
          <a:lstStyle>
            <a:lvl1pPr marL="0" indent="0" algn="l">
              <a:lnSpc>
                <a:spcPct val="100000"/>
              </a:lnSpc>
              <a:spcBef>
                <a:spcPts val="0"/>
              </a:spcBef>
              <a:spcAft>
                <a:spcPts val="0"/>
              </a:spcAft>
              <a:buNone/>
              <a:defRPr sz="800" b="0">
                <a:solidFill>
                  <a:schemeClr val="tx1"/>
                </a:solidFill>
              </a:defRPr>
            </a:lvl1pPr>
          </a:lstStyle>
          <a:p>
            <a:pPr lvl="0"/>
            <a:r>
              <a:rPr lang="en-GB" dirty="0"/>
              <a:t>References</a:t>
            </a:r>
          </a:p>
        </p:txBody>
      </p:sp>
      <p:sp>
        <p:nvSpPr>
          <p:cNvPr id="11" name="Text Placeholder 14"/>
          <p:cNvSpPr>
            <a:spLocks noGrp="1"/>
          </p:cNvSpPr>
          <p:nvPr>
            <p:ph type="body" sz="quarter" idx="19" hasCustomPrompt="1"/>
          </p:nvPr>
        </p:nvSpPr>
        <p:spPr>
          <a:xfrm>
            <a:off x="449973" y="5962570"/>
            <a:ext cx="11271627" cy="194733"/>
          </a:xfrm>
        </p:spPr>
        <p:txBody>
          <a:bodyPr lIns="0" tIns="0" rIns="0" bIns="0" anchor="b" anchorCtr="0">
            <a:noAutofit/>
          </a:bodyPr>
          <a:lstStyle>
            <a:lvl1pPr marL="0" indent="0" algn="l">
              <a:lnSpc>
                <a:spcPct val="100000"/>
              </a:lnSpc>
              <a:spcBef>
                <a:spcPts val="0"/>
              </a:spcBef>
              <a:spcAft>
                <a:spcPts val="0"/>
              </a:spcAft>
              <a:buNone/>
              <a:defRPr sz="800" b="0">
                <a:solidFill>
                  <a:schemeClr val="tx1"/>
                </a:solidFill>
              </a:defRPr>
            </a:lvl1pPr>
          </a:lstStyle>
          <a:p>
            <a:pPr lvl="0"/>
            <a:r>
              <a:rPr lang="en-GB" dirty="0"/>
              <a:t>Abbreviations</a:t>
            </a:r>
          </a:p>
        </p:txBody>
      </p:sp>
      <p:sp>
        <p:nvSpPr>
          <p:cNvPr id="16" name="Date Placeholder 15">
            <a:extLst>
              <a:ext uri="{FF2B5EF4-FFF2-40B4-BE49-F238E27FC236}">
                <a16:creationId xmlns:a16="http://schemas.microsoft.com/office/drawing/2014/main" id="{35E8B5F8-28B9-2948-9ECA-21C43436137B}"/>
              </a:ext>
            </a:extLst>
          </p:cNvPr>
          <p:cNvSpPr>
            <a:spLocks noGrp="1"/>
          </p:cNvSpPr>
          <p:nvPr>
            <p:ph type="dt" sz="half" idx="22"/>
          </p:nvPr>
        </p:nvSpPr>
        <p:spPr/>
        <p:txBody>
          <a:bodyPr/>
          <a:lstStyle/>
          <a:p>
            <a:pPr algn="r"/>
            <a:endParaRPr lang="en-US" dirty="0"/>
          </a:p>
        </p:txBody>
      </p:sp>
      <p:sp>
        <p:nvSpPr>
          <p:cNvPr id="17" name="Footer Placeholder 16">
            <a:extLst>
              <a:ext uri="{FF2B5EF4-FFF2-40B4-BE49-F238E27FC236}">
                <a16:creationId xmlns:a16="http://schemas.microsoft.com/office/drawing/2014/main" id="{E912C940-258A-9748-9BD5-375E278B63AE}"/>
              </a:ext>
            </a:extLst>
          </p:cNvPr>
          <p:cNvSpPr>
            <a:spLocks noGrp="1"/>
          </p:cNvSpPr>
          <p:nvPr>
            <p:ph type="ftr" sz="quarter" idx="23"/>
          </p:nvPr>
        </p:nvSpPr>
        <p:spPr/>
        <p:txBody>
          <a:bodyPr/>
          <a:lstStyle/>
          <a:p>
            <a:endParaRPr lang="en-US" dirty="0"/>
          </a:p>
        </p:txBody>
      </p:sp>
      <p:sp>
        <p:nvSpPr>
          <p:cNvPr id="18" name="Slide Number Placeholder 17">
            <a:extLst>
              <a:ext uri="{FF2B5EF4-FFF2-40B4-BE49-F238E27FC236}">
                <a16:creationId xmlns:a16="http://schemas.microsoft.com/office/drawing/2014/main" id="{D9501C94-2A94-BD46-AC94-7F14F22B636F}"/>
              </a:ext>
            </a:extLst>
          </p:cNvPr>
          <p:cNvSpPr>
            <a:spLocks noGrp="1"/>
          </p:cNvSpPr>
          <p:nvPr>
            <p:ph type="sldNum" sz="quarter" idx="24"/>
          </p:nvPr>
        </p:nvSpPr>
        <p:spPr/>
        <p:txBody>
          <a:bodyPr/>
          <a:lstStyle/>
          <a:p>
            <a:fld id="{9F9F533D-B52E-4A2F-BF72-0ADD2D94BD75}" type="slidenum">
              <a:rPr lang="en-GB" smtClean="0"/>
              <a:pPr/>
              <a:t>‹#›</a:t>
            </a:fld>
            <a:endParaRPr lang="en-GB"/>
          </a:p>
        </p:txBody>
      </p:sp>
      <p:sp>
        <p:nvSpPr>
          <p:cNvPr id="19" name="Rectangle 18">
            <a:extLst>
              <a:ext uri="{FF2B5EF4-FFF2-40B4-BE49-F238E27FC236}">
                <a16:creationId xmlns:a16="http://schemas.microsoft.com/office/drawing/2014/main" id="{85C55302-ABB3-944D-A14D-FABA087573CF}"/>
              </a:ext>
            </a:extLst>
          </p:cNvPr>
          <p:cNvSpPr/>
          <p:nvPr userDrawn="1"/>
        </p:nvSpPr>
        <p:spPr bwMode="auto">
          <a:xfrm>
            <a:off x="411134" y="6055211"/>
            <a:ext cx="1062508" cy="341611"/>
          </a:xfrm>
          <a:prstGeom prst="rect">
            <a:avLst/>
          </a:prstGeom>
          <a:solidFill>
            <a:schemeClr val="bg1"/>
          </a:solidFill>
          <a:ln>
            <a:solidFill>
              <a:schemeClr val="bg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6000" tIns="96000" rIns="96000" bIns="96000" numCol="1" spcCol="0" rtlCol="0" fromWordArt="0" anchor="t" anchorCtr="0" forceAA="0" compatLnSpc="1">
            <a:prstTxWarp prst="textNoShape">
              <a:avLst/>
            </a:prstTxWarp>
            <a:noAutofit/>
          </a:bodyPr>
          <a:lstStyle/>
          <a:p>
            <a:pPr marL="241294" indent="-241294" algn="ctr" eaLnBrk="0" fontAlgn="auto" hangingPunct="0">
              <a:spcBef>
                <a:spcPts val="0"/>
              </a:spcBef>
              <a:spcAft>
                <a:spcPts val="0"/>
              </a:spcAft>
              <a:buClr>
                <a:schemeClr val="bg1"/>
              </a:buClr>
              <a:buFont typeface="Arial" pitchFamily="34" charset="0"/>
              <a:buChar char="–"/>
            </a:pPr>
            <a:endParaRPr lang="en-US" sz="1600" b="1" kern="0" dirty="0" err="1">
              <a:solidFill>
                <a:srgbClr val="FFFFFF"/>
              </a:solidFill>
              <a:latin typeface="Arial"/>
            </a:endParaRPr>
          </a:p>
        </p:txBody>
      </p:sp>
    </p:spTree>
    <p:extLst>
      <p:ext uri="{BB962C8B-B14F-4D97-AF65-F5344CB8AC3E}">
        <p14:creationId xmlns:p14="http://schemas.microsoft.com/office/powerpoint/2010/main" val="3957280668"/>
      </p:ext>
    </p:extLst>
  </p:cSld>
  <p:clrMapOvr>
    <a:masterClrMapping/>
  </p:clrMapOvr>
  <p:transition>
    <p:fade/>
  </p:transition>
</p:sldLayout>
</file>

<file path=ppt/slideLayouts/slideLayout170.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0DD48070-D695-60C2-898C-9832D9369B0C}"/>
              </a:ext>
            </a:extLst>
          </p:cNvPr>
          <p:cNvSpPr>
            <a:spLocks noGrp="1"/>
          </p:cNvSpPr>
          <p:nvPr>
            <p:ph type="body" sz="quarter" idx="22" hasCustomPrompt="1"/>
          </p:nvPr>
        </p:nvSpPr>
        <p:spPr>
          <a:xfrm>
            <a:off x="365125" y="1311162"/>
            <a:ext cx="11460164" cy="4484800"/>
          </a:xfrm>
          <a:custGeom>
            <a:avLst/>
            <a:gdLst>
              <a:gd name="connsiteX0" fmla="*/ 185682 w 11460164"/>
              <a:gd name="connsiteY0" fmla="*/ 0 h 4484800"/>
              <a:gd name="connsiteX1" fmla="*/ 11274482 w 11460164"/>
              <a:gd name="connsiteY1" fmla="*/ 0 h 4484800"/>
              <a:gd name="connsiteX2" fmla="*/ 11460164 w 11460164"/>
              <a:gd name="connsiteY2" fmla="*/ 185682 h 4484800"/>
              <a:gd name="connsiteX3" fmla="*/ 11460164 w 11460164"/>
              <a:gd name="connsiteY3" fmla="*/ 456183 h 4484800"/>
              <a:gd name="connsiteX4" fmla="*/ 11460164 w 11460164"/>
              <a:gd name="connsiteY4" fmla="*/ 715601 h 4484800"/>
              <a:gd name="connsiteX5" fmla="*/ 11460164 w 11460164"/>
              <a:gd name="connsiteY5" fmla="*/ 4299118 h 4484800"/>
              <a:gd name="connsiteX6" fmla="*/ 11274482 w 11460164"/>
              <a:gd name="connsiteY6" fmla="*/ 4484800 h 4484800"/>
              <a:gd name="connsiteX7" fmla="*/ 185682 w 11460164"/>
              <a:gd name="connsiteY7" fmla="*/ 4484800 h 4484800"/>
              <a:gd name="connsiteX8" fmla="*/ 0 w 11460164"/>
              <a:gd name="connsiteY8" fmla="*/ 4299118 h 4484800"/>
              <a:gd name="connsiteX9" fmla="*/ 0 w 11460164"/>
              <a:gd name="connsiteY9" fmla="*/ 715601 h 4484800"/>
              <a:gd name="connsiteX10" fmla="*/ 0 w 11460164"/>
              <a:gd name="connsiteY10" fmla="*/ 456183 h 4484800"/>
              <a:gd name="connsiteX11" fmla="*/ 0 w 11460164"/>
              <a:gd name="connsiteY11" fmla="*/ 185682 h 4484800"/>
              <a:gd name="connsiteX12" fmla="*/ 185682 w 11460164"/>
              <a:gd name="connsiteY12" fmla="*/ 0 h 448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60164" h="4484800">
                <a:moveTo>
                  <a:pt x="185682" y="0"/>
                </a:moveTo>
                <a:lnTo>
                  <a:pt x="11274482" y="0"/>
                </a:lnTo>
                <a:cubicBezTo>
                  <a:pt x="11377031" y="0"/>
                  <a:pt x="11460164" y="83133"/>
                  <a:pt x="11460164" y="185682"/>
                </a:cubicBezTo>
                <a:lnTo>
                  <a:pt x="11460164" y="456183"/>
                </a:lnTo>
                <a:lnTo>
                  <a:pt x="11460164" y="715601"/>
                </a:lnTo>
                <a:lnTo>
                  <a:pt x="11460164" y="4299118"/>
                </a:lnTo>
                <a:cubicBezTo>
                  <a:pt x="11460164" y="4401667"/>
                  <a:pt x="11377031" y="4484800"/>
                  <a:pt x="11274482" y="4484800"/>
                </a:cubicBezTo>
                <a:lnTo>
                  <a:pt x="185682" y="4484800"/>
                </a:lnTo>
                <a:cubicBezTo>
                  <a:pt x="83133" y="4484800"/>
                  <a:pt x="0" y="4401667"/>
                  <a:pt x="0" y="4299118"/>
                </a:cubicBezTo>
                <a:lnTo>
                  <a:pt x="0" y="715601"/>
                </a:lnTo>
                <a:lnTo>
                  <a:pt x="0" y="456183"/>
                </a:lnTo>
                <a:lnTo>
                  <a:pt x="0" y="185682"/>
                </a:lnTo>
                <a:cubicBezTo>
                  <a:pt x="0" y="83133"/>
                  <a:pt x="83133" y="0"/>
                  <a:pt x="185682" y="0"/>
                </a:cubicBezTo>
                <a:close/>
              </a:path>
            </a:pathLst>
          </a:custGeom>
          <a:solidFill>
            <a:schemeClr val="bg1">
              <a:lumMod val="95000"/>
            </a:schemeClr>
          </a:solidFill>
          <a:ln>
            <a:noFill/>
          </a:ln>
        </p:spPr>
        <p:txBody>
          <a:bodyPr wrap="square" tIns="180000">
            <a:noAutofit/>
          </a:bodyPr>
          <a:lstStyle>
            <a:lvl1pPr>
              <a:defRPr/>
            </a:lvl1pPr>
          </a:lstStyle>
          <a:p>
            <a:pPr lvl="0"/>
            <a:r>
              <a:rPr lang="en-US" dirty="0"/>
              <a:t>Click to enter TEXT content ONLY.</a:t>
            </a:r>
            <a:br>
              <a:rPr lang="en-US" dirty="0"/>
            </a:br>
            <a:r>
              <a:rPr lang="en-US" dirty="0"/>
              <a:t>If text content appears outside of grey holder please reduce the size of the font.</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6" name="Text Placeholder 5"/>
          <p:cNvSpPr>
            <a:spLocks noGrp="1"/>
          </p:cNvSpPr>
          <p:nvPr>
            <p:ph type="body" sz="quarter" idx="18" hasCustomPrompt="1"/>
          </p:nvPr>
        </p:nvSpPr>
        <p:spPr>
          <a:xfrm>
            <a:off x="365125" y="5792438"/>
            <a:ext cx="11460164" cy="298800"/>
          </a:xfrm>
          <a:prstGeom prst="rect">
            <a:avLst/>
          </a:prstGeom>
        </p:spPr>
        <p:txBody>
          <a:bodyPr wrap="square" lIns="0" tIns="72000" rIns="0" bIns="72000" anchor="b" anchorCtr="0">
            <a:noAutofit/>
          </a:bodyPr>
          <a:lstStyle>
            <a:lvl1pPr marL="0" indent="0">
              <a:spcBef>
                <a:spcPts val="0"/>
              </a:spcBef>
              <a:spcAft>
                <a:spcPts val="0"/>
              </a:spcAft>
              <a:buNone/>
              <a:defRPr sz="1200" baseline="0"/>
            </a:lvl1pPr>
            <a:lvl2pPr marL="357542" indent="0">
              <a:buNone/>
              <a:defRPr sz="1067"/>
            </a:lvl2pPr>
            <a:lvl3pPr marL="719982" indent="0">
              <a:buNone/>
              <a:defRPr sz="1067"/>
            </a:lvl3pPr>
            <a:lvl4pPr marL="1081424" indent="0">
              <a:buNone/>
              <a:defRPr sz="1067"/>
            </a:lvl4pPr>
            <a:lvl5pPr marL="1439964" indent="0">
              <a:buNone/>
              <a:defRPr sz="1067"/>
            </a:lvl5pPr>
          </a:lstStyle>
          <a:p>
            <a:pPr lvl="0"/>
            <a:r>
              <a:rPr lang="en-GB"/>
              <a:t>Insert Source text here</a:t>
            </a:r>
            <a:endParaRPr lang="en-GB" dirty="0"/>
          </a:p>
        </p:txBody>
      </p:sp>
      <p:sp>
        <p:nvSpPr>
          <p:cNvPr id="3" name="Date Placeholder 2">
            <a:extLst>
              <a:ext uri="{FF2B5EF4-FFF2-40B4-BE49-F238E27FC236}">
                <a16:creationId xmlns:a16="http://schemas.microsoft.com/office/drawing/2014/main" id="{341B731B-8FAA-4A1B-8740-D7002967C1CA}"/>
              </a:ext>
            </a:extLst>
          </p:cNvPr>
          <p:cNvSpPr>
            <a:spLocks noGrp="1"/>
          </p:cNvSpPr>
          <p:nvPr>
            <p:ph type="dt" sz="half" idx="19"/>
          </p:nvPr>
        </p:nvSpPr>
        <p:spPr/>
        <p:txBody>
          <a:bodyPr/>
          <a:lstStyle/>
          <a:p>
            <a:endParaRPr lang="en-GB" dirty="0"/>
          </a:p>
        </p:txBody>
      </p:sp>
      <p:sp>
        <p:nvSpPr>
          <p:cNvPr id="5" name="Footer Placeholder 4">
            <a:extLst>
              <a:ext uri="{FF2B5EF4-FFF2-40B4-BE49-F238E27FC236}">
                <a16:creationId xmlns:a16="http://schemas.microsoft.com/office/drawing/2014/main" id="{D1C84BE9-25CA-45B1-9061-9DCABA70A1E6}"/>
              </a:ext>
            </a:extLst>
          </p:cNvPr>
          <p:cNvSpPr>
            <a:spLocks noGrp="1"/>
          </p:cNvSpPr>
          <p:nvPr>
            <p:ph type="ftr" sz="quarter" idx="20"/>
          </p:nvPr>
        </p:nvSpPr>
        <p:spPr/>
        <p:txBody>
          <a:bodyPr/>
          <a:lstStyle/>
          <a:p>
            <a:r>
              <a:rPr lang="en-GB"/>
              <a:t>For Internal Use Only</a:t>
            </a:r>
            <a:endParaRPr lang="en-GB" dirty="0"/>
          </a:p>
        </p:txBody>
      </p:sp>
      <p:sp>
        <p:nvSpPr>
          <p:cNvPr id="11" name="Slide Number Placeholder 10">
            <a:extLst>
              <a:ext uri="{FF2B5EF4-FFF2-40B4-BE49-F238E27FC236}">
                <a16:creationId xmlns:a16="http://schemas.microsoft.com/office/drawing/2014/main" id="{BF0296A1-E119-4AEC-80A5-65FD719F9631}"/>
              </a:ext>
            </a:extLst>
          </p:cNvPr>
          <p:cNvSpPr>
            <a:spLocks noGrp="1"/>
          </p:cNvSpPr>
          <p:nvPr>
            <p:ph type="sldNum" sz="quarter" idx="21"/>
          </p:nvPr>
        </p:nvSpPr>
        <p:spPr/>
        <p:txBody>
          <a:bodyPr/>
          <a:lstStyle/>
          <a:p>
            <a:fld id="{9F9F533D-B52E-4A2F-BF72-0ADD2D94BD75}" type="slidenum">
              <a:rPr lang="en-GB" smtClean="0"/>
              <a:pPr/>
              <a:t>‹#›</a:t>
            </a:fld>
            <a:endParaRPr lang="en-GB" dirty="0"/>
          </a:p>
        </p:txBody>
      </p:sp>
      <p:sp>
        <p:nvSpPr>
          <p:cNvPr id="12" name="Title 1">
            <a:extLst>
              <a:ext uri="{FF2B5EF4-FFF2-40B4-BE49-F238E27FC236}">
                <a16:creationId xmlns:a16="http://schemas.microsoft.com/office/drawing/2014/main" id="{88C0D48C-007D-FEEC-D1DF-C00891876F0F}"/>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13" name="Subtitle 2">
            <a:extLst>
              <a:ext uri="{FF2B5EF4-FFF2-40B4-BE49-F238E27FC236}">
                <a16:creationId xmlns:a16="http://schemas.microsoft.com/office/drawing/2014/main" id="{1F6E4BF1-5B10-6CC3-60CB-FA773CAB8AF3}"/>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4" name="Freeform: Shape 13">
            <a:extLst>
              <a:ext uri="{FF2B5EF4-FFF2-40B4-BE49-F238E27FC236}">
                <a16:creationId xmlns:a16="http://schemas.microsoft.com/office/drawing/2014/main" id="{099DCD39-6F77-D442-9C41-7FE9A4CBB7FE}"/>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custDataLst>
      <p:tags r:id="rId1"/>
    </p:custDataLst>
    <p:extLst>
      <p:ext uri="{BB962C8B-B14F-4D97-AF65-F5344CB8AC3E}">
        <p14:creationId xmlns:p14="http://schemas.microsoft.com/office/powerpoint/2010/main" val="2938317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2E57A6D-CCB0-DF2D-0D9A-6184CE396941}"/>
              </a:ext>
            </a:extLst>
          </p:cNvPr>
          <p:cNvSpPr>
            <a:spLocks noGrp="1"/>
          </p:cNvSpPr>
          <p:nvPr>
            <p:ph type="ftr" sz="quarter" idx="10"/>
          </p:nvPr>
        </p:nvSpPr>
        <p:spPr/>
        <p:txBody>
          <a:bodyPr/>
          <a:lstStyle/>
          <a:p>
            <a:endParaRPr lang="en-GB" dirty="0"/>
          </a:p>
        </p:txBody>
      </p:sp>
      <p:sp>
        <p:nvSpPr>
          <p:cNvPr id="4" name="Slide Number Placeholder 3">
            <a:extLst>
              <a:ext uri="{FF2B5EF4-FFF2-40B4-BE49-F238E27FC236}">
                <a16:creationId xmlns:a16="http://schemas.microsoft.com/office/drawing/2014/main" id="{FC42BDB7-A7FE-AA4E-3952-EBCCAC237C98}"/>
              </a:ext>
            </a:extLst>
          </p:cNvPr>
          <p:cNvSpPr>
            <a:spLocks noGrp="1"/>
          </p:cNvSpPr>
          <p:nvPr>
            <p:ph type="sldNum" sz="quarter" idx="11"/>
          </p:nvPr>
        </p:nvSpPr>
        <p:spPr/>
        <p:txBody>
          <a:bodyPr/>
          <a:lstStyle/>
          <a:p>
            <a:fld id="{9F9F533D-B52E-4A2F-BF72-0ADD2D94BD75}" type="slidenum">
              <a:rPr lang="en-GB" smtClean="0"/>
              <a:pPr/>
              <a:t>‹#›</a:t>
            </a:fld>
            <a:endParaRPr lang="en-GB" dirty="0"/>
          </a:p>
        </p:txBody>
      </p:sp>
      <p:sp>
        <p:nvSpPr>
          <p:cNvPr id="5" name="Date Placeholder 4">
            <a:extLst>
              <a:ext uri="{FF2B5EF4-FFF2-40B4-BE49-F238E27FC236}">
                <a16:creationId xmlns:a16="http://schemas.microsoft.com/office/drawing/2014/main" id="{676D6505-B9A2-3A36-B9B6-3E3CF07A64AF}"/>
              </a:ext>
            </a:extLst>
          </p:cNvPr>
          <p:cNvSpPr>
            <a:spLocks noGrp="1"/>
          </p:cNvSpPr>
          <p:nvPr>
            <p:ph type="dt" sz="half" idx="12"/>
          </p:nvPr>
        </p:nvSpPr>
        <p:spPr/>
        <p:txBody>
          <a:bodyPr/>
          <a:lstStyle/>
          <a:p>
            <a:fld id="{346B58B4-0D72-4C8B-9355-854FB5782278}" type="datetime4">
              <a:rPr lang="en-GB" smtClean="0"/>
              <a:t>20 July 2025</a:t>
            </a:fld>
            <a:endParaRPr lang="en-GB" dirty="0"/>
          </a:p>
        </p:txBody>
      </p:sp>
      <p:sp>
        <p:nvSpPr>
          <p:cNvPr id="7" name="Text Placeholder 6">
            <a:extLst>
              <a:ext uri="{FF2B5EF4-FFF2-40B4-BE49-F238E27FC236}">
                <a16:creationId xmlns:a16="http://schemas.microsoft.com/office/drawing/2014/main" id="{4B3924AB-56D4-343D-306B-195A924E9EF9}"/>
              </a:ext>
            </a:extLst>
          </p:cNvPr>
          <p:cNvSpPr>
            <a:spLocks noGrp="1"/>
          </p:cNvSpPr>
          <p:nvPr>
            <p:ph type="body" sz="quarter" idx="13" hasCustomPrompt="1"/>
          </p:nvPr>
        </p:nvSpPr>
        <p:spPr>
          <a:xfrm>
            <a:off x="365125" y="5792400"/>
            <a:ext cx="11460164" cy="298800"/>
          </a:xfrm>
        </p:spPr>
        <p:txBody>
          <a:bodyPr lIns="0" tIns="72000" rIns="0" bIns="72000" anchor="b">
            <a:noAutofit/>
          </a:bodyPr>
          <a:lstStyle>
            <a:lvl1pPr marL="0" indent="0">
              <a:buNone/>
              <a:defRPr sz="1200"/>
            </a:lvl1pPr>
            <a:lvl2pPr marL="357542" indent="0">
              <a:buNone/>
              <a:defRPr sz="1000"/>
            </a:lvl2pPr>
            <a:lvl3pPr marL="719982" indent="0">
              <a:buNone/>
              <a:defRPr sz="1000"/>
            </a:lvl3pPr>
            <a:lvl4pPr marL="1081424" indent="0">
              <a:buNone/>
              <a:defRPr sz="1000"/>
            </a:lvl4pPr>
            <a:lvl5pPr marL="1439964" indent="0">
              <a:buNone/>
              <a:defRPr sz="1000"/>
            </a:lvl5pPr>
          </a:lstStyle>
          <a:p>
            <a:pPr lvl="0"/>
            <a:r>
              <a:rPr lang="en-US" dirty="0"/>
              <a:t>Insert Source text</a:t>
            </a:r>
          </a:p>
        </p:txBody>
      </p:sp>
      <p:sp>
        <p:nvSpPr>
          <p:cNvPr id="8" name="Title 1">
            <a:extLst>
              <a:ext uri="{FF2B5EF4-FFF2-40B4-BE49-F238E27FC236}">
                <a16:creationId xmlns:a16="http://schemas.microsoft.com/office/drawing/2014/main" id="{3484351E-5906-1465-ED52-DA75D3630DE8}"/>
              </a:ext>
            </a:extLst>
          </p:cNvPr>
          <p:cNvSpPr>
            <a:spLocks noGrp="1"/>
          </p:cNvSpPr>
          <p:nvPr>
            <p:ph type="title"/>
          </p:nvPr>
        </p:nvSpPr>
        <p:spPr>
          <a:xfrm>
            <a:off x="365125" y="242888"/>
            <a:ext cx="11460163" cy="430887"/>
          </a:xfrm>
        </p:spPr>
        <p:txBody>
          <a:bodyPr/>
          <a:lstStyle/>
          <a:p>
            <a:r>
              <a:rPr lang="en-US"/>
              <a:t>Click to edit Master title style</a:t>
            </a:r>
            <a:endParaRPr lang="en-US" dirty="0"/>
          </a:p>
        </p:txBody>
      </p:sp>
      <p:sp>
        <p:nvSpPr>
          <p:cNvPr id="9" name="Subtitle 2">
            <a:extLst>
              <a:ext uri="{FF2B5EF4-FFF2-40B4-BE49-F238E27FC236}">
                <a16:creationId xmlns:a16="http://schemas.microsoft.com/office/drawing/2014/main" id="{62BDBB70-10FD-DDED-C062-9AA92765646E}"/>
              </a:ext>
            </a:extLst>
          </p:cNvPr>
          <p:cNvSpPr>
            <a:spLocks noGrp="1"/>
          </p:cNvSpPr>
          <p:nvPr>
            <p:ph type="subTitle" idx="1" hasCustomPrompt="1"/>
          </p:nvPr>
        </p:nvSpPr>
        <p:spPr>
          <a:xfrm>
            <a:off x="365125" y="694950"/>
            <a:ext cx="11460164" cy="352800"/>
          </a:xfrm>
          <a:prstGeom prst="rect">
            <a:avLst/>
          </a:prstGeom>
        </p:spPr>
        <p:txBody>
          <a:bodyPr wrap="square" lIns="0" tIns="0" rIns="0" bIns="0" anchor="t" anchorCtr="0">
            <a:noAutofit/>
          </a:bodyPr>
          <a:lstStyle>
            <a:lvl1pPr marL="0" indent="0" algn="l">
              <a:spcBef>
                <a:spcPts val="0"/>
              </a:spcBef>
              <a:spcAft>
                <a:spcPts val="0"/>
              </a:spcAft>
              <a:buNone/>
              <a:defRPr sz="2400" i="0">
                <a:solidFill>
                  <a:schemeClr val="tx1"/>
                </a:solidFill>
                <a:latin typeface="+mn-lt"/>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dirty="0"/>
              <a:t>Click to enter slide subtitle</a:t>
            </a:r>
          </a:p>
        </p:txBody>
      </p:sp>
      <p:sp>
        <p:nvSpPr>
          <p:cNvPr id="12" name="Freeform: Shape 11">
            <a:extLst>
              <a:ext uri="{FF2B5EF4-FFF2-40B4-BE49-F238E27FC236}">
                <a16:creationId xmlns:a16="http://schemas.microsoft.com/office/drawing/2014/main" id="{8DBDFC7D-EB75-1C71-FBB6-74679DF5FB23}"/>
              </a:ext>
            </a:extLst>
          </p:cNvPr>
          <p:cNvSpPr/>
          <p:nvPr userDrawn="1"/>
        </p:nvSpPr>
        <p:spPr>
          <a:xfrm>
            <a:off x="0" y="18464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dirty="0"/>
          </a:p>
        </p:txBody>
      </p:sp>
    </p:spTree>
    <p:extLst>
      <p:ext uri="{BB962C8B-B14F-4D97-AF65-F5344CB8AC3E}">
        <p14:creationId xmlns:p14="http://schemas.microsoft.com/office/powerpoint/2010/main" val="1623061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21" Type="http://schemas.openxmlformats.org/officeDocument/2006/relationships/slideLayout" Target="../slideLayouts/slideLayout32.xml"/><Relationship Id="rId34" Type="http://schemas.openxmlformats.org/officeDocument/2006/relationships/oleObject" Target="../embeddings/oleObject1.bin"/><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tags" Target="../tags/tag1.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theme" Target="../theme/theme2.xml"/><Relationship Id="rId37" Type="http://schemas.openxmlformats.org/officeDocument/2006/relationships/image" Target="../media/image3.svg"/><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image" Target="../media/image2.png"/><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image" Target="../media/image1.emf"/><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5.xml"/><Relationship Id="rId18" Type="http://schemas.openxmlformats.org/officeDocument/2006/relationships/slideLayout" Target="../slideLayouts/slideLayout60.xml"/><Relationship Id="rId26" Type="http://schemas.openxmlformats.org/officeDocument/2006/relationships/slideLayout" Target="../slideLayouts/slideLayout68.xml"/><Relationship Id="rId21" Type="http://schemas.openxmlformats.org/officeDocument/2006/relationships/slideLayout" Target="../slideLayouts/slideLayout63.xml"/><Relationship Id="rId34" Type="http://schemas.openxmlformats.org/officeDocument/2006/relationships/tags" Target="../tags/tag15.xml"/><Relationship Id="rId7" Type="http://schemas.openxmlformats.org/officeDocument/2006/relationships/slideLayout" Target="../slideLayouts/slideLayout49.xml"/><Relationship Id="rId12" Type="http://schemas.openxmlformats.org/officeDocument/2006/relationships/slideLayout" Target="../slideLayouts/slideLayout54.xml"/><Relationship Id="rId17" Type="http://schemas.openxmlformats.org/officeDocument/2006/relationships/slideLayout" Target="../slideLayouts/slideLayout59.xml"/><Relationship Id="rId25" Type="http://schemas.openxmlformats.org/officeDocument/2006/relationships/slideLayout" Target="../slideLayouts/slideLayout67.xml"/><Relationship Id="rId33" Type="http://schemas.openxmlformats.org/officeDocument/2006/relationships/theme" Target="../theme/theme3.xml"/><Relationship Id="rId38" Type="http://schemas.openxmlformats.org/officeDocument/2006/relationships/image" Target="../media/image3.svg"/><Relationship Id="rId2" Type="http://schemas.openxmlformats.org/officeDocument/2006/relationships/slideLayout" Target="../slideLayouts/slideLayout44.xml"/><Relationship Id="rId16" Type="http://schemas.openxmlformats.org/officeDocument/2006/relationships/slideLayout" Target="../slideLayouts/slideLayout58.xml"/><Relationship Id="rId20" Type="http://schemas.openxmlformats.org/officeDocument/2006/relationships/slideLayout" Target="../slideLayouts/slideLayout62.xml"/><Relationship Id="rId29" Type="http://schemas.openxmlformats.org/officeDocument/2006/relationships/slideLayout" Target="../slideLayouts/slideLayout71.xml"/><Relationship Id="rId1" Type="http://schemas.openxmlformats.org/officeDocument/2006/relationships/slideLayout" Target="../slideLayouts/slideLayout43.xml"/><Relationship Id="rId6" Type="http://schemas.openxmlformats.org/officeDocument/2006/relationships/slideLayout" Target="../slideLayouts/slideLayout48.xml"/><Relationship Id="rId11" Type="http://schemas.openxmlformats.org/officeDocument/2006/relationships/slideLayout" Target="../slideLayouts/slideLayout53.xml"/><Relationship Id="rId24" Type="http://schemas.openxmlformats.org/officeDocument/2006/relationships/slideLayout" Target="../slideLayouts/slideLayout66.xml"/><Relationship Id="rId32" Type="http://schemas.openxmlformats.org/officeDocument/2006/relationships/slideLayout" Target="../slideLayouts/slideLayout74.xml"/><Relationship Id="rId37" Type="http://schemas.openxmlformats.org/officeDocument/2006/relationships/image" Target="../media/image2.png"/><Relationship Id="rId5" Type="http://schemas.openxmlformats.org/officeDocument/2006/relationships/slideLayout" Target="../slideLayouts/slideLayout47.xml"/><Relationship Id="rId15" Type="http://schemas.openxmlformats.org/officeDocument/2006/relationships/slideLayout" Target="../slideLayouts/slideLayout57.xml"/><Relationship Id="rId23" Type="http://schemas.openxmlformats.org/officeDocument/2006/relationships/slideLayout" Target="../slideLayouts/slideLayout65.xml"/><Relationship Id="rId28" Type="http://schemas.openxmlformats.org/officeDocument/2006/relationships/slideLayout" Target="../slideLayouts/slideLayout70.xml"/><Relationship Id="rId36" Type="http://schemas.openxmlformats.org/officeDocument/2006/relationships/image" Target="../media/image1.emf"/><Relationship Id="rId10" Type="http://schemas.openxmlformats.org/officeDocument/2006/relationships/slideLayout" Target="../slideLayouts/slideLayout52.xml"/><Relationship Id="rId19" Type="http://schemas.openxmlformats.org/officeDocument/2006/relationships/slideLayout" Target="../slideLayouts/slideLayout61.xml"/><Relationship Id="rId31" Type="http://schemas.openxmlformats.org/officeDocument/2006/relationships/slideLayout" Target="../slideLayouts/slideLayout73.xml"/><Relationship Id="rId4" Type="http://schemas.openxmlformats.org/officeDocument/2006/relationships/slideLayout" Target="../slideLayouts/slideLayout46.xml"/><Relationship Id="rId9" Type="http://schemas.openxmlformats.org/officeDocument/2006/relationships/slideLayout" Target="../slideLayouts/slideLayout51.xml"/><Relationship Id="rId14" Type="http://schemas.openxmlformats.org/officeDocument/2006/relationships/slideLayout" Target="../slideLayouts/slideLayout56.xml"/><Relationship Id="rId22" Type="http://schemas.openxmlformats.org/officeDocument/2006/relationships/slideLayout" Target="../slideLayouts/slideLayout64.xml"/><Relationship Id="rId27" Type="http://schemas.openxmlformats.org/officeDocument/2006/relationships/slideLayout" Target="../slideLayouts/slideLayout69.xml"/><Relationship Id="rId30" Type="http://schemas.openxmlformats.org/officeDocument/2006/relationships/slideLayout" Target="../slideLayouts/slideLayout72.xml"/><Relationship Id="rId35" Type="http://schemas.openxmlformats.org/officeDocument/2006/relationships/oleObject" Target="../embeddings/oleObject1.bin"/><Relationship Id="rId8" Type="http://schemas.openxmlformats.org/officeDocument/2006/relationships/slideLayout" Target="../slideLayouts/slideLayout50.xml"/><Relationship Id="rId3" Type="http://schemas.openxmlformats.org/officeDocument/2006/relationships/slideLayout" Target="../slideLayouts/slideLayout45.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slideLayout" Target="../slideLayouts/slideLayout100.xml"/><Relationship Id="rId21" Type="http://schemas.openxmlformats.org/officeDocument/2006/relationships/slideLayout" Target="../slideLayouts/slideLayout95.xml"/><Relationship Id="rId34" Type="http://schemas.openxmlformats.org/officeDocument/2006/relationships/oleObject" Target="../embeddings/oleObject1.bin"/><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slideLayout" Target="../slideLayouts/slideLayout99.xml"/><Relationship Id="rId33" Type="http://schemas.openxmlformats.org/officeDocument/2006/relationships/tags" Target="../tags/tag29.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29" Type="http://schemas.openxmlformats.org/officeDocument/2006/relationships/slideLayout" Target="../slideLayouts/slideLayout103.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32" Type="http://schemas.openxmlformats.org/officeDocument/2006/relationships/theme" Target="../theme/theme4.xml"/><Relationship Id="rId37" Type="http://schemas.openxmlformats.org/officeDocument/2006/relationships/image" Target="../media/image3.svg"/><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slideLayout" Target="../slideLayouts/slideLayout102.xml"/><Relationship Id="rId36" Type="http://schemas.openxmlformats.org/officeDocument/2006/relationships/image" Target="../media/image2.png"/><Relationship Id="rId10" Type="http://schemas.openxmlformats.org/officeDocument/2006/relationships/slideLayout" Target="../slideLayouts/slideLayout84.xml"/><Relationship Id="rId19" Type="http://schemas.openxmlformats.org/officeDocument/2006/relationships/slideLayout" Target="../slideLayouts/slideLayout93.xml"/><Relationship Id="rId31" Type="http://schemas.openxmlformats.org/officeDocument/2006/relationships/slideLayout" Target="../slideLayouts/slideLayout105.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slideLayout" Target="../slideLayouts/slideLayout101.xml"/><Relationship Id="rId30" Type="http://schemas.openxmlformats.org/officeDocument/2006/relationships/slideLayout" Target="../slideLayouts/slideLayout104.xml"/><Relationship Id="rId35" Type="http://schemas.openxmlformats.org/officeDocument/2006/relationships/image" Target="../media/image1.emf"/><Relationship Id="rId8" Type="http://schemas.openxmlformats.org/officeDocument/2006/relationships/slideLayout" Target="../slideLayouts/slideLayout82.xml"/><Relationship Id="rId3" Type="http://schemas.openxmlformats.org/officeDocument/2006/relationships/slideLayout" Target="../slideLayouts/slideLayout77.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118.xml"/><Relationship Id="rId18" Type="http://schemas.openxmlformats.org/officeDocument/2006/relationships/slideLayout" Target="../slideLayouts/slideLayout123.xml"/><Relationship Id="rId26" Type="http://schemas.openxmlformats.org/officeDocument/2006/relationships/slideLayout" Target="../slideLayouts/slideLayout131.xml"/><Relationship Id="rId39" Type="http://schemas.openxmlformats.org/officeDocument/2006/relationships/image" Target="../media/image3.svg"/><Relationship Id="rId21" Type="http://schemas.openxmlformats.org/officeDocument/2006/relationships/slideLayout" Target="../slideLayouts/slideLayout126.xml"/><Relationship Id="rId34" Type="http://schemas.openxmlformats.org/officeDocument/2006/relationships/theme" Target="../theme/theme5.xml"/><Relationship Id="rId7" Type="http://schemas.openxmlformats.org/officeDocument/2006/relationships/slideLayout" Target="../slideLayouts/slideLayout112.xml"/><Relationship Id="rId12" Type="http://schemas.openxmlformats.org/officeDocument/2006/relationships/slideLayout" Target="../slideLayouts/slideLayout117.xml"/><Relationship Id="rId17" Type="http://schemas.openxmlformats.org/officeDocument/2006/relationships/slideLayout" Target="../slideLayouts/slideLayout122.xml"/><Relationship Id="rId25" Type="http://schemas.openxmlformats.org/officeDocument/2006/relationships/slideLayout" Target="../slideLayouts/slideLayout130.xml"/><Relationship Id="rId33" Type="http://schemas.openxmlformats.org/officeDocument/2006/relationships/slideLayout" Target="../slideLayouts/slideLayout138.xml"/><Relationship Id="rId38" Type="http://schemas.openxmlformats.org/officeDocument/2006/relationships/image" Target="../media/image2.png"/><Relationship Id="rId2" Type="http://schemas.openxmlformats.org/officeDocument/2006/relationships/slideLayout" Target="../slideLayouts/slideLayout107.xml"/><Relationship Id="rId16" Type="http://schemas.openxmlformats.org/officeDocument/2006/relationships/slideLayout" Target="../slideLayouts/slideLayout121.xml"/><Relationship Id="rId20" Type="http://schemas.openxmlformats.org/officeDocument/2006/relationships/slideLayout" Target="../slideLayouts/slideLayout125.xml"/><Relationship Id="rId29" Type="http://schemas.openxmlformats.org/officeDocument/2006/relationships/slideLayout" Target="../slideLayouts/slideLayout134.xml"/><Relationship Id="rId1" Type="http://schemas.openxmlformats.org/officeDocument/2006/relationships/slideLayout" Target="../slideLayouts/slideLayout106.xml"/><Relationship Id="rId6" Type="http://schemas.openxmlformats.org/officeDocument/2006/relationships/slideLayout" Target="../slideLayouts/slideLayout111.xml"/><Relationship Id="rId11" Type="http://schemas.openxmlformats.org/officeDocument/2006/relationships/slideLayout" Target="../slideLayouts/slideLayout116.xml"/><Relationship Id="rId24" Type="http://schemas.openxmlformats.org/officeDocument/2006/relationships/slideLayout" Target="../slideLayouts/slideLayout129.xml"/><Relationship Id="rId32" Type="http://schemas.openxmlformats.org/officeDocument/2006/relationships/slideLayout" Target="../slideLayouts/slideLayout137.xml"/><Relationship Id="rId37" Type="http://schemas.openxmlformats.org/officeDocument/2006/relationships/image" Target="../media/image1.emf"/><Relationship Id="rId5" Type="http://schemas.openxmlformats.org/officeDocument/2006/relationships/slideLayout" Target="../slideLayouts/slideLayout110.xml"/><Relationship Id="rId15" Type="http://schemas.openxmlformats.org/officeDocument/2006/relationships/slideLayout" Target="../slideLayouts/slideLayout120.xml"/><Relationship Id="rId23" Type="http://schemas.openxmlformats.org/officeDocument/2006/relationships/slideLayout" Target="../slideLayouts/slideLayout128.xml"/><Relationship Id="rId28" Type="http://schemas.openxmlformats.org/officeDocument/2006/relationships/slideLayout" Target="../slideLayouts/slideLayout133.xml"/><Relationship Id="rId36" Type="http://schemas.openxmlformats.org/officeDocument/2006/relationships/oleObject" Target="../embeddings/oleObject1.bin"/><Relationship Id="rId10" Type="http://schemas.openxmlformats.org/officeDocument/2006/relationships/slideLayout" Target="../slideLayouts/slideLayout115.xml"/><Relationship Id="rId19" Type="http://schemas.openxmlformats.org/officeDocument/2006/relationships/slideLayout" Target="../slideLayouts/slideLayout124.xml"/><Relationship Id="rId31" Type="http://schemas.openxmlformats.org/officeDocument/2006/relationships/slideLayout" Target="../slideLayouts/slideLayout136.xml"/><Relationship Id="rId4" Type="http://schemas.openxmlformats.org/officeDocument/2006/relationships/slideLayout" Target="../slideLayouts/slideLayout109.xml"/><Relationship Id="rId9" Type="http://schemas.openxmlformats.org/officeDocument/2006/relationships/slideLayout" Target="../slideLayouts/slideLayout114.xml"/><Relationship Id="rId14" Type="http://schemas.openxmlformats.org/officeDocument/2006/relationships/slideLayout" Target="../slideLayouts/slideLayout119.xml"/><Relationship Id="rId22" Type="http://schemas.openxmlformats.org/officeDocument/2006/relationships/slideLayout" Target="../slideLayouts/slideLayout127.xml"/><Relationship Id="rId27" Type="http://schemas.openxmlformats.org/officeDocument/2006/relationships/slideLayout" Target="../slideLayouts/slideLayout132.xml"/><Relationship Id="rId30" Type="http://schemas.openxmlformats.org/officeDocument/2006/relationships/slideLayout" Target="../slideLayouts/slideLayout135.xml"/><Relationship Id="rId35" Type="http://schemas.openxmlformats.org/officeDocument/2006/relationships/tags" Target="../tags/tag43.xml"/><Relationship Id="rId8" Type="http://schemas.openxmlformats.org/officeDocument/2006/relationships/slideLayout" Target="../slideLayouts/slideLayout113.xml"/><Relationship Id="rId3" Type="http://schemas.openxmlformats.org/officeDocument/2006/relationships/slideLayout" Target="../slideLayouts/slideLayout108.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51.xml"/><Relationship Id="rId18" Type="http://schemas.openxmlformats.org/officeDocument/2006/relationships/slideLayout" Target="../slideLayouts/slideLayout156.xml"/><Relationship Id="rId26" Type="http://schemas.openxmlformats.org/officeDocument/2006/relationships/slideLayout" Target="../slideLayouts/slideLayout164.xml"/><Relationship Id="rId3" Type="http://schemas.openxmlformats.org/officeDocument/2006/relationships/slideLayout" Target="../slideLayouts/slideLayout141.xml"/><Relationship Id="rId21" Type="http://schemas.openxmlformats.org/officeDocument/2006/relationships/slideLayout" Target="../slideLayouts/slideLayout159.xml"/><Relationship Id="rId34" Type="http://schemas.openxmlformats.org/officeDocument/2006/relationships/theme" Target="../theme/theme6.xml"/><Relationship Id="rId7" Type="http://schemas.openxmlformats.org/officeDocument/2006/relationships/slideLayout" Target="../slideLayouts/slideLayout145.xml"/><Relationship Id="rId12" Type="http://schemas.openxmlformats.org/officeDocument/2006/relationships/slideLayout" Target="../slideLayouts/slideLayout150.xml"/><Relationship Id="rId17" Type="http://schemas.openxmlformats.org/officeDocument/2006/relationships/slideLayout" Target="../slideLayouts/slideLayout155.xml"/><Relationship Id="rId25" Type="http://schemas.openxmlformats.org/officeDocument/2006/relationships/slideLayout" Target="../slideLayouts/slideLayout163.xml"/><Relationship Id="rId33" Type="http://schemas.openxmlformats.org/officeDocument/2006/relationships/slideLayout" Target="../slideLayouts/slideLayout171.xml"/><Relationship Id="rId2" Type="http://schemas.openxmlformats.org/officeDocument/2006/relationships/slideLayout" Target="../slideLayouts/slideLayout140.xml"/><Relationship Id="rId16" Type="http://schemas.openxmlformats.org/officeDocument/2006/relationships/slideLayout" Target="../slideLayouts/slideLayout154.xml"/><Relationship Id="rId20" Type="http://schemas.openxmlformats.org/officeDocument/2006/relationships/slideLayout" Target="../slideLayouts/slideLayout158.xml"/><Relationship Id="rId29" Type="http://schemas.openxmlformats.org/officeDocument/2006/relationships/slideLayout" Target="../slideLayouts/slideLayout167.xml"/><Relationship Id="rId1" Type="http://schemas.openxmlformats.org/officeDocument/2006/relationships/slideLayout" Target="../slideLayouts/slideLayout139.xml"/><Relationship Id="rId6" Type="http://schemas.openxmlformats.org/officeDocument/2006/relationships/slideLayout" Target="../slideLayouts/slideLayout144.xml"/><Relationship Id="rId11" Type="http://schemas.openxmlformats.org/officeDocument/2006/relationships/slideLayout" Target="../slideLayouts/slideLayout149.xml"/><Relationship Id="rId24" Type="http://schemas.openxmlformats.org/officeDocument/2006/relationships/slideLayout" Target="../slideLayouts/slideLayout162.xml"/><Relationship Id="rId32" Type="http://schemas.openxmlformats.org/officeDocument/2006/relationships/slideLayout" Target="../slideLayouts/slideLayout170.xml"/><Relationship Id="rId5" Type="http://schemas.openxmlformats.org/officeDocument/2006/relationships/slideLayout" Target="../slideLayouts/slideLayout143.xml"/><Relationship Id="rId15" Type="http://schemas.openxmlformats.org/officeDocument/2006/relationships/slideLayout" Target="../slideLayouts/slideLayout153.xml"/><Relationship Id="rId23" Type="http://schemas.openxmlformats.org/officeDocument/2006/relationships/slideLayout" Target="../slideLayouts/slideLayout161.xml"/><Relationship Id="rId28" Type="http://schemas.openxmlformats.org/officeDocument/2006/relationships/slideLayout" Target="../slideLayouts/slideLayout166.xml"/><Relationship Id="rId36" Type="http://schemas.openxmlformats.org/officeDocument/2006/relationships/image" Target="../media/image3.svg"/><Relationship Id="rId10" Type="http://schemas.openxmlformats.org/officeDocument/2006/relationships/slideLayout" Target="../slideLayouts/slideLayout148.xml"/><Relationship Id="rId19" Type="http://schemas.openxmlformats.org/officeDocument/2006/relationships/slideLayout" Target="../slideLayouts/slideLayout157.xml"/><Relationship Id="rId31" Type="http://schemas.openxmlformats.org/officeDocument/2006/relationships/slideLayout" Target="../slideLayouts/slideLayout169.xml"/><Relationship Id="rId4" Type="http://schemas.openxmlformats.org/officeDocument/2006/relationships/slideLayout" Target="../slideLayouts/slideLayout142.xml"/><Relationship Id="rId9" Type="http://schemas.openxmlformats.org/officeDocument/2006/relationships/slideLayout" Target="../slideLayouts/slideLayout147.xml"/><Relationship Id="rId14" Type="http://schemas.openxmlformats.org/officeDocument/2006/relationships/slideLayout" Target="../slideLayouts/slideLayout152.xml"/><Relationship Id="rId22" Type="http://schemas.openxmlformats.org/officeDocument/2006/relationships/slideLayout" Target="../slideLayouts/slideLayout160.xml"/><Relationship Id="rId27" Type="http://schemas.openxmlformats.org/officeDocument/2006/relationships/slideLayout" Target="../slideLayouts/slideLayout165.xml"/><Relationship Id="rId30" Type="http://schemas.openxmlformats.org/officeDocument/2006/relationships/slideLayout" Target="../slideLayouts/slideLayout168.xml"/><Relationship Id="rId35" Type="http://schemas.openxmlformats.org/officeDocument/2006/relationships/image" Target="../media/image2.png"/><Relationship Id="rId8" Type="http://schemas.openxmlformats.org/officeDocument/2006/relationships/slideLayout" Target="../slideLayouts/slideLayout1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5D1CE3A-2C83-AB7A-6A4D-DA4E5A6B80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F53AD5-4AD5-4C24-73F4-CEFCAD986F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5559D76-A37A-1DAB-51D1-57DF0C4A19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2FBCA2-5B8E-4B0B-A310-80CD54297024}" type="datetimeFigureOut">
              <a:rPr lang="en-US" smtClean="0"/>
              <a:t>7/20/2025</a:t>
            </a:fld>
            <a:endParaRPr lang="en-US"/>
          </a:p>
        </p:txBody>
      </p:sp>
      <p:sp>
        <p:nvSpPr>
          <p:cNvPr id="5" name="Footer Placeholder 4">
            <a:extLst>
              <a:ext uri="{FF2B5EF4-FFF2-40B4-BE49-F238E27FC236}">
                <a16:creationId xmlns:a16="http://schemas.microsoft.com/office/drawing/2014/main" id="{E1C396D1-913B-D2C1-57F8-3318F25420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C516418-AE09-B1AD-0A10-427DFE36338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1172C16-A3A7-46B6-B6F9-BA381D0222B1}" type="slidenum">
              <a:rPr lang="en-US" smtClean="0"/>
              <a:t>‹#›</a:t>
            </a:fld>
            <a:endParaRPr lang="en-US"/>
          </a:p>
        </p:txBody>
      </p:sp>
    </p:spTree>
    <p:extLst>
      <p:ext uri="{BB962C8B-B14F-4D97-AF65-F5344CB8AC3E}">
        <p14:creationId xmlns:p14="http://schemas.microsoft.com/office/powerpoint/2010/main" val="928765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3"/>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25" imgH="424" progId="TCLayout.ActiveDocument.1">
                  <p:embed/>
                </p:oleObj>
              </mc:Choice>
              <mc:Fallback>
                <p:oleObj name="think-cell Slide" r:id="rId34"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fld id="{346B58B4-0D72-4C8B-9355-854FB5782278}" type="datetime4">
              <a:rPr lang="en-GB" smtClean="0"/>
              <a:t>20 July 2025</a:t>
            </a:fld>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6" cstate="print">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376239" y="6354213"/>
            <a:ext cx="820737" cy="247406"/>
          </a:xfrm>
          <a:prstGeom prst="rect">
            <a:avLst/>
          </a:prstGeom>
        </p:spPr>
      </p:pic>
    </p:spTree>
    <p:extLst>
      <p:ext uri="{BB962C8B-B14F-4D97-AF65-F5344CB8AC3E}">
        <p14:creationId xmlns:p14="http://schemas.microsoft.com/office/powerpoint/2010/main" val="5891682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4"/>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5" imgW="425" imgH="424" progId="TCLayout.ActiveDocument.1">
                  <p:embed/>
                </p:oleObj>
              </mc:Choice>
              <mc:Fallback>
                <p:oleObj name="think-cell Slide" r:id="rId35"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6"/>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fld id="{16FB7A62-6939-45BA-B9CE-85D7024983B7}" type="datetime3">
              <a:rPr lang="en-US" smtClean="0"/>
              <a:t>20 July 2025</a:t>
            </a:fld>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7" cstate="print">
            <a:extLst>
              <a:ext uri="{28A0092B-C50C-407E-A947-70E740481C1C}">
                <a14:useLocalDpi xmlns:a14="http://schemas.microsoft.com/office/drawing/2010/main"/>
              </a:ext>
              <a:ext uri="{96DAC541-7B7A-43D3-8B79-37D633B846F1}">
                <asvg:svgBlip xmlns:asvg="http://schemas.microsoft.com/office/drawing/2016/SVG/main" r:embed="rId38"/>
              </a:ext>
            </a:extLst>
          </a:blip>
          <a:stretch>
            <a:fillRect/>
          </a:stretch>
        </p:blipFill>
        <p:spPr>
          <a:xfrm>
            <a:off x="376239" y="6354213"/>
            <a:ext cx="820737" cy="247406"/>
          </a:xfrm>
          <a:prstGeom prst="rect">
            <a:avLst/>
          </a:prstGeom>
        </p:spPr>
      </p:pic>
    </p:spTree>
    <p:extLst>
      <p:ext uri="{BB962C8B-B14F-4D97-AF65-F5344CB8AC3E}">
        <p14:creationId xmlns:p14="http://schemas.microsoft.com/office/powerpoint/2010/main" val="646431151"/>
      </p:ext>
    </p:extLst>
  </p:cSld>
  <p:clrMap bg1="lt1" tx1="dk1" bg2="lt2" tx2="dk2" accent1="accent1" accent2="accent2" accent3="accent3" accent4="accent4" accent5="accent5" accent6="accent6" hlink="hlink" folHlink="folHlink"/>
  <p:sldLayoutIdLst>
    <p:sldLayoutId id="2147483693" r:id="rId1"/>
    <p:sldLayoutId id="2147483694" r:id="rId2"/>
    <p:sldLayoutId id="2147483695" r:id="rId3"/>
    <p:sldLayoutId id="2147483696" r:id="rId4"/>
    <p:sldLayoutId id="2147483697" r:id="rId5"/>
    <p:sldLayoutId id="2147483698" r:id="rId6"/>
    <p:sldLayoutId id="2147483699" r:id="rId7"/>
    <p:sldLayoutId id="2147483700" r:id="rId8"/>
    <p:sldLayoutId id="2147483701" r:id="rId9"/>
    <p:sldLayoutId id="2147483702" r:id="rId10"/>
    <p:sldLayoutId id="2147483703" r:id="rId11"/>
    <p:sldLayoutId id="2147483704" r:id="rId12"/>
    <p:sldLayoutId id="2147483705" r:id="rId13"/>
    <p:sldLayoutId id="2147483706" r:id="rId14"/>
    <p:sldLayoutId id="2147483707" r:id="rId15"/>
    <p:sldLayoutId id="2147483708" r:id="rId16"/>
    <p:sldLayoutId id="2147483709" r:id="rId17"/>
    <p:sldLayoutId id="2147483710" r:id="rId18"/>
    <p:sldLayoutId id="2147483711" r:id="rId19"/>
    <p:sldLayoutId id="2147483712" r:id="rId20"/>
    <p:sldLayoutId id="2147483713" r:id="rId21"/>
    <p:sldLayoutId id="2147483714" r:id="rId22"/>
    <p:sldLayoutId id="2147483715" r:id="rId23"/>
    <p:sldLayoutId id="2147483716" r:id="rId24"/>
    <p:sldLayoutId id="2147483717" r:id="rId25"/>
    <p:sldLayoutId id="2147483718" r:id="rId26"/>
    <p:sldLayoutId id="2147483719" r:id="rId27"/>
    <p:sldLayoutId id="2147483720" r:id="rId28"/>
    <p:sldLayoutId id="2147483721" r:id="rId29"/>
    <p:sldLayoutId id="2147483722" r:id="rId30"/>
    <p:sldLayoutId id="2147483723" r:id="rId31"/>
    <p:sldLayoutId id="2147483724" r:id="rId3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3"/>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4" imgW="425" imgH="424" progId="TCLayout.ActiveDocument.1">
                  <p:embed/>
                </p:oleObj>
              </mc:Choice>
              <mc:Fallback>
                <p:oleObj name="think-cell Slide" r:id="rId34"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5"/>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fld id="{533D0CBE-FD7D-4360-9D2A-BDC419E33992}" type="datetime4">
              <a:rPr lang="en-US" smtClean="0"/>
              <a:t>July 20, 2025</a:t>
            </a:fld>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6" cstate="print">
            <a:extLst>
              <a:ext uri="{28A0092B-C50C-407E-A947-70E740481C1C}">
                <a14:useLocalDpi xmlns:a14="http://schemas.microsoft.com/office/drawing/2010/main"/>
              </a:ext>
              <a:ext uri="{96DAC541-7B7A-43D3-8B79-37D633B846F1}">
                <asvg:svgBlip xmlns:asvg="http://schemas.microsoft.com/office/drawing/2016/SVG/main" r:embed="rId37"/>
              </a:ext>
            </a:extLst>
          </a:blip>
          <a:stretch>
            <a:fillRect/>
          </a:stretch>
        </p:blipFill>
        <p:spPr>
          <a:xfrm>
            <a:off x="376239" y="6354213"/>
            <a:ext cx="820737" cy="247406"/>
          </a:xfrm>
          <a:prstGeom prst="rect">
            <a:avLst/>
          </a:prstGeom>
        </p:spPr>
      </p:pic>
      <p:sp>
        <p:nvSpPr>
          <p:cNvPr id="2" name="Rectangle 1">
            <a:extLst>
              <a:ext uri="{FF2B5EF4-FFF2-40B4-BE49-F238E27FC236}">
                <a16:creationId xmlns:a16="http://schemas.microsoft.com/office/drawing/2014/main" id="{B0DDF728-CB51-0186-DD69-64502759EC09}"/>
              </a:ext>
            </a:extLst>
          </p:cNvPr>
          <p:cNvSpPr/>
          <p:nvPr userDrawn="1"/>
        </p:nvSpPr>
        <p:spPr>
          <a:xfrm>
            <a:off x="4559300" y="6627168"/>
            <a:ext cx="3073400" cy="215444"/>
          </a:xfrm>
          <a:prstGeom prst="rect">
            <a:avLst/>
          </a:prstGeom>
        </p:spPr>
        <p:txBody>
          <a:bodyPr wrap="square">
            <a:spAutoFit/>
          </a:bodyPr>
          <a:lstStyle/>
          <a:p>
            <a:pPr algn="ctr">
              <a:spcAft>
                <a:spcPts val="0"/>
              </a:spcAft>
            </a:pPr>
            <a:r>
              <a:rPr lang="en-US" sz="800" b="1" i="0" spc="200" baseline="0" dirty="0">
                <a:solidFill>
                  <a:schemeClr val="tx2"/>
                </a:solidFill>
              </a:rPr>
              <a:t>FOR GSK INTERNAL USE ONLY</a:t>
            </a:r>
            <a:endParaRPr lang="en-GB" sz="800" i="0" spc="200" baseline="0" dirty="0">
              <a:solidFill>
                <a:schemeClr val="tx2"/>
              </a:solidFill>
            </a:endParaRPr>
          </a:p>
        </p:txBody>
      </p:sp>
    </p:spTree>
    <p:extLst>
      <p:ext uri="{BB962C8B-B14F-4D97-AF65-F5344CB8AC3E}">
        <p14:creationId xmlns:p14="http://schemas.microsoft.com/office/powerpoint/2010/main" val="3106551983"/>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92280360-3C6D-A798-8CAC-A26D562C3683}"/>
              </a:ext>
            </a:extLst>
          </p:cNvPr>
          <p:cNvGraphicFramePr>
            <a:graphicFrameLocks noChangeAspect="1"/>
          </p:cNvGraphicFramePr>
          <p:nvPr userDrawn="1">
            <p:custDataLst>
              <p:tags r:id="rId35"/>
            </p:custDataLst>
            <p:extLst>
              <p:ext uri="{D42A27DB-BD31-4B8C-83A1-F6EECF244321}">
                <p14:modId xmlns:p14="http://schemas.microsoft.com/office/powerpoint/2010/main" val="96625904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6" imgW="425" imgH="424" progId="TCLayout.ActiveDocument.1">
                  <p:embed/>
                </p:oleObj>
              </mc:Choice>
              <mc:Fallback>
                <p:oleObj name="think-cell Slide" r:id="rId36" imgW="425" imgH="424" progId="TCLayout.ActiveDocument.1">
                  <p:embed/>
                  <p:pic>
                    <p:nvPicPr>
                      <p:cNvPr id="3" name="Object 2" hidden="1">
                        <a:extLst>
                          <a:ext uri="{FF2B5EF4-FFF2-40B4-BE49-F238E27FC236}">
                            <a16:creationId xmlns:a16="http://schemas.microsoft.com/office/drawing/2014/main" id="{92280360-3C6D-A798-8CAC-A26D562C3683}"/>
                          </a:ext>
                        </a:extLst>
                      </p:cNvPr>
                      <p:cNvPicPr/>
                      <p:nvPr/>
                    </p:nvPicPr>
                    <p:blipFill>
                      <a:blip r:embed="rId37"/>
                      <a:stretch>
                        <a:fillRect/>
                      </a:stretch>
                    </p:blipFill>
                    <p:spPr>
                      <a:xfrm>
                        <a:off x="1588" y="1588"/>
                        <a:ext cx="1588" cy="1588"/>
                      </a:xfrm>
                      <a:prstGeom prst="rect">
                        <a:avLst/>
                      </a:prstGeom>
                    </p:spPr>
                  </p:pic>
                </p:oleObj>
              </mc:Fallback>
            </mc:AlternateContent>
          </a:graphicData>
        </a:graphic>
      </p:graphicFrame>
      <p:sp>
        <p:nvSpPr>
          <p:cNvPr id="5" name="Footer Placeholder 4"/>
          <p:cNvSpPr>
            <a:spLocks noGrp="1"/>
          </p:cNvSpPr>
          <p:nvPr>
            <p:ph type="ftr" sz="quarter" idx="3"/>
          </p:nvPr>
        </p:nvSpPr>
        <p:spPr>
          <a:xfrm>
            <a:off x="2319338" y="6343650"/>
            <a:ext cx="5600700" cy="269875"/>
          </a:xfrm>
          <a:prstGeom prst="rect">
            <a:avLst/>
          </a:prstGeom>
        </p:spPr>
        <p:txBody>
          <a:bodyPr vert="horz" lIns="0" tIns="0" rIns="0" bIns="0" rtlCol="0" anchor="b" anchorCtr="0">
            <a:noAutofit/>
          </a:bodyPr>
          <a:lstStyle>
            <a:lvl1pPr algn="l">
              <a:defRPr sz="1200">
                <a:solidFill>
                  <a:schemeClr val="tx1"/>
                </a:solidFill>
              </a:defRPr>
            </a:lvl1pPr>
          </a:lstStyle>
          <a:p>
            <a:endParaRPr lang="en-GB" dirty="0"/>
          </a:p>
        </p:txBody>
      </p:sp>
      <p:sp>
        <p:nvSpPr>
          <p:cNvPr id="6" name="Slide Number Placeholder 5"/>
          <p:cNvSpPr>
            <a:spLocks noGrp="1"/>
          </p:cNvSpPr>
          <p:nvPr>
            <p:ph type="sldNum" sz="quarter" idx="4"/>
          </p:nvPr>
        </p:nvSpPr>
        <p:spPr>
          <a:xfrm>
            <a:off x="11285288" y="6343650"/>
            <a:ext cx="540000" cy="269875"/>
          </a:xfrm>
          <a:prstGeom prst="rect">
            <a:avLst/>
          </a:prstGeom>
        </p:spPr>
        <p:txBody>
          <a:bodyPr vert="horz" lIns="0" tIns="0" rIns="0" bIns="0" rtlCol="0" anchor="b" anchorCtr="0">
            <a:noAutofit/>
          </a:bodyPr>
          <a:lstStyle>
            <a:lvl1pPr algn="r">
              <a:defRPr sz="1000">
                <a:solidFill>
                  <a:schemeClr val="tx1"/>
                </a:solidFill>
              </a:defRPr>
            </a:lvl1pPr>
          </a:lstStyle>
          <a:p>
            <a:fld id="{9F9F533D-B52E-4A2F-BF72-0ADD2D94BD75}" type="slidenum">
              <a:rPr lang="en-GB" smtClean="0"/>
              <a:pPr/>
              <a:t>‹#›</a:t>
            </a:fld>
            <a:endParaRPr lang="en-GB" dirty="0"/>
          </a:p>
        </p:txBody>
      </p:sp>
      <p:sp>
        <p:nvSpPr>
          <p:cNvPr id="4" name="Title Placeholder 3"/>
          <p:cNvSpPr>
            <a:spLocks noGrp="1"/>
          </p:cNvSpPr>
          <p:nvPr>
            <p:ph type="title"/>
          </p:nvPr>
        </p:nvSpPr>
        <p:spPr>
          <a:xfrm>
            <a:off x="365125" y="242888"/>
            <a:ext cx="11460163" cy="430887"/>
          </a:xfrm>
          <a:prstGeom prst="rect">
            <a:avLst/>
          </a:prstGeom>
        </p:spPr>
        <p:txBody>
          <a:bodyPr vert="horz" lIns="0" tIns="0" rIns="0" bIns="0" rtlCol="0" anchor="b" anchorCtr="0">
            <a:noAutofit/>
          </a:bodyPr>
          <a:lstStyle/>
          <a:p>
            <a:r>
              <a:rPr lang="en-GB" dirty="0"/>
              <a:t>Click to enter slide title</a:t>
            </a:r>
          </a:p>
        </p:txBody>
      </p:sp>
      <p:sp>
        <p:nvSpPr>
          <p:cNvPr id="7" name="Date Placeholder 6"/>
          <p:cNvSpPr>
            <a:spLocks noGrp="1"/>
          </p:cNvSpPr>
          <p:nvPr>
            <p:ph type="dt" sz="half" idx="2"/>
          </p:nvPr>
        </p:nvSpPr>
        <p:spPr>
          <a:xfrm>
            <a:off x="8172450" y="6343650"/>
            <a:ext cx="2776537" cy="269875"/>
          </a:xfrm>
          <a:prstGeom prst="rect">
            <a:avLst/>
          </a:prstGeom>
        </p:spPr>
        <p:txBody>
          <a:bodyPr vert="horz" lIns="0" tIns="0" rIns="0" bIns="0" rtlCol="0" anchor="b" anchorCtr="0">
            <a:noAutofit/>
          </a:bodyPr>
          <a:lstStyle>
            <a:lvl1pPr algn="r">
              <a:defRPr sz="1000">
                <a:solidFill>
                  <a:schemeClr val="tx1"/>
                </a:solidFill>
              </a:defRPr>
            </a:lvl1pPr>
          </a:lstStyle>
          <a:p>
            <a:fld id="{F710AE73-5346-481C-9F95-8D6658D12499}" type="datetime3">
              <a:rPr lang="en-US" smtClean="0"/>
              <a:t>20 July 2025</a:t>
            </a:fld>
            <a:endParaRPr lang="en-GB" dirty="0"/>
          </a:p>
        </p:txBody>
      </p:sp>
      <p:sp>
        <p:nvSpPr>
          <p:cNvPr id="8" name="Text Placeholder 2">
            <a:extLst>
              <a:ext uri="{FF2B5EF4-FFF2-40B4-BE49-F238E27FC236}">
                <a16:creationId xmlns:a16="http://schemas.microsoft.com/office/drawing/2014/main" id="{BBC2AD35-7761-4742-BEF1-3D0CAD2E1DED}"/>
              </a:ext>
            </a:extLst>
          </p:cNvPr>
          <p:cNvSpPr>
            <a:spLocks noGrp="1"/>
          </p:cNvSpPr>
          <p:nvPr>
            <p:ph type="body" idx="1"/>
          </p:nvPr>
        </p:nvSpPr>
        <p:spPr>
          <a:xfrm>
            <a:off x="365125" y="1303338"/>
            <a:ext cx="11460163" cy="4787899"/>
          </a:xfrm>
          <a:prstGeom prst="rect">
            <a:avLst/>
          </a:prstGeom>
        </p:spPr>
        <p:txBody>
          <a:bodyPr vert="horz" lIns="180000" tIns="180000" rIns="180000" bIns="180000" rtlCol="0">
            <a:noAutofit/>
          </a:bodyPr>
          <a:lstStyle/>
          <a:p>
            <a:pPr lvl="0"/>
            <a:r>
              <a:rPr lang="en-GB" dirty="0"/>
              <a:t>Click to enter text content.</a:t>
            </a:r>
            <a:br>
              <a:rPr lang="en-GB" dirty="0"/>
            </a:br>
            <a:r>
              <a:rPr lang="en-GB" dirty="0"/>
              <a:t>To increase bullet level, select your text &gt; press ‘Tab’.</a:t>
            </a:r>
            <a:br>
              <a:rPr lang="en-GB" dirty="0"/>
            </a:br>
            <a:r>
              <a:rPr lang="en-GB" dirty="0"/>
              <a:t>To decrease bullet level, select your text &gt; press ‘Shift’ + ‘Tab’.</a:t>
            </a:r>
            <a:br>
              <a:rPr lang="en-GB" dirty="0"/>
            </a:br>
            <a:r>
              <a:rPr lang="en-GB" dirty="0"/>
              <a:t>To remove bullet levels, select your text &gt; right click &gt; press ‘bullets’.</a:t>
            </a:r>
          </a:p>
          <a:p>
            <a:pPr lvl="1"/>
            <a:r>
              <a:rPr lang="en-GB" dirty="0"/>
              <a:t>Second level</a:t>
            </a:r>
          </a:p>
          <a:p>
            <a:pPr lvl="2"/>
            <a:r>
              <a:rPr lang="en-GB" dirty="0"/>
              <a:t>Third level</a:t>
            </a:r>
          </a:p>
          <a:p>
            <a:pPr lvl="3"/>
            <a:r>
              <a:rPr lang="en-GB" dirty="0"/>
              <a:t>Fourth level</a:t>
            </a:r>
          </a:p>
          <a:p>
            <a:pPr lvl="4"/>
            <a:r>
              <a:rPr lang="en-GB" dirty="0"/>
              <a:t>Fifth level</a:t>
            </a:r>
          </a:p>
          <a:p>
            <a:pPr lvl="5"/>
            <a:r>
              <a:rPr lang="en-GB" dirty="0"/>
              <a:t>Sixth level</a:t>
            </a:r>
          </a:p>
          <a:p>
            <a:pPr lvl="6"/>
            <a:r>
              <a:rPr lang="en-GB" dirty="0"/>
              <a:t>Seventh level</a:t>
            </a:r>
          </a:p>
          <a:p>
            <a:pPr lvl="7"/>
            <a:r>
              <a:rPr lang="en-GB" dirty="0"/>
              <a:t>Eighth level</a:t>
            </a:r>
          </a:p>
          <a:p>
            <a:pPr lvl="8"/>
            <a:r>
              <a:rPr lang="en-GB" dirty="0"/>
              <a:t>Ninth level</a:t>
            </a:r>
          </a:p>
          <a:p>
            <a:pPr lvl="4"/>
            <a:endParaRPr lang="en-GB" dirty="0"/>
          </a:p>
        </p:txBody>
      </p:sp>
      <p:pic>
        <p:nvPicPr>
          <p:cNvPr id="26" name="Graphic 25">
            <a:extLst>
              <a:ext uri="{FF2B5EF4-FFF2-40B4-BE49-F238E27FC236}">
                <a16:creationId xmlns:a16="http://schemas.microsoft.com/office/drawing/2014/main" id="{7B7C2D6E-A9EC-414F-8A58-3207DA98D6C5}"/>
              </a:ext>
            </a:extLst>
          </p:cNvPr>
          <p:cNvPicPr>
            <a:picLocks noChangeAspect="1"/>
          </p:cNvPicPr>
          <p:nvPr userDrawn="1"/>
        </p:nvPicPr>
        <p:blipFill>
          <a:blip r:embed="rId38" cstate="print">
            <a:extLst>
              <a:ext uri="{28A0092B-C50C-407E-A947-70E740481C1C}">
                <a14:useLocalDpi xmlns:a14="http://schemas.microsoft.com/office/drawing/2010/main"/>
              </a:ext>
              <a:ext uri="{96DAC541-7B7A-43D3-8B79-37D633B846F1}">
                <asvg:svgBlip xmlns:asvg="http://schemas.microsoft.com/office/drawing/2016/SVG/main" r:embed="rId39"/>
              </a:ext>
            </a:extLst>
          </a:blip>
          <a:stretch>
            <a:fillRect/>
          </a:stretch>
        </p:blipFill>
        <p:spPr>
          <a:xfrm>
            <a:off x="376239" y="6354213"/>
            <a:ext cx="820737" cy="247406"/>
          </a:xfrm>
          <a:prstGeom prst="rect">
            <a:avLst/>
          </a:prstGeom>
        </p:spPr>
      </p:pic>
      <p:sp>
        <p:nvSpPr>
          <p:cNvPr id="2" name="Rectangle 1">
            <a:extLst>
              <a:ext uri="{FF2B5EF4-FFF2-40B4-BE49-F238E27FC236}">
                <a16:creationId xmlns:a16="http://schemas.microsoft.com/office/drawing/2014/main" id="{B0DDF728-CB51-0186-DD69-64502759EC09}"/>
              </a:ext>
            </a:extLst>
          </p:cNvPr>
          <p:cNvSpPr/>
          <p:nvPr userDrawn="1"/>
        </p:nvSpPr>
        <p:spPr>
          <a:xfrm>
            <a:off x="4559300" y="6627168"/>
            <a:ext cx="3073400" cy="215444"/>
          </a:xfrm>
          <a:prstGeom prst="rect">
            <a:avLst/>
          </a:prstGeom>
        </p:spPr>
        <p:txBody>
          <a:bodyPr wrap="square">
            <a:spAutoFit/>
          </a:bodyPr>
          <a:lstStyle/>
          <a:p>
            <a:pPr algn="ctr">
              <a:spcAft>
                <a:spcPts val="0"/>
              </a:spcAft>
            </a:pPr>
            <a:r>
              <a:rPr lang="en-US" sz="800" b="1" i="0" spc="200" baseline="0" dirty="0">
                <a:solidFill>
                  <a:schemeClr val="tx2"/>
                </a:solidFill>
              </a:rPr>
              <a:t>FOR GSK INTERNAL USE ONLY</a:t>
            </a:r>
            <a:endParaRPr lang="en-GB" sz="800" i="0" spc="200" baseline="0" dirty="0">
              <a:solidFill>
                <a:schemeClr val="tx2"/>
              </a:solidFill>
            </a:endParaRPr>
          </a:p>
        </p:txBody>
      </p:sp>
    </p:spTree>
    <p:extLst>
      <p:ext uri="{BB962C8B-B14F-4D97-AF65-F5344CB8AC3E}">
        <p14:creationId xmlns:p14="http://schemas.microsoft.com/office/powerpoint/2010/main" val="779986620"/>
      </p:ext>
    </p:extLst>
  </p:cSld>
  <p:clrMap bg1="lt1" tx1="dk1" bg2="lt2" tx2="dk2" accent1="accent1" accent2="accent2" accent3="accent3" accent4="accent4" accent5="accent5" accent6="accent6" hlink="hlink" folHlink="folHlink"/>
  <p:sldLayoutIdLst>
    <p:sldLayoutId id="2147483758" r:id="rId1"/>
    <p:sldLayoutId id="2147483759" r:id="rId2"/>
    <p:sldLayoutId id="2147483760" r:id="rId3"/>
    <p:sldLayoutId id="2147483761" r:id="rId4"/>
    <p:sldLayoutId id="2147483762" r:id="rId5"/>
    <p:sldLayoutId id="2147483763" r:id="rId6"/>
    <p:sldLayoutId id="2147483764" r:id="rId7"/>
    <p:sldLayoutId id="2147483765" r:id="rId8"/>
    <p:sldLayoutId id="2147483766" r:id="rId9"/>
    <p:sldLayoutId id="2147483767" r:id="rId10"/>
    <p:sldLayoutId id="2147483768" r:id="rId11"/>
    <p:sldLayoutId id="2147483769" r:id="rId12"/>
    <p:sldLayoutId id="2147483770" r:id="rId13"/>
    <p:sldLayoutId id="2147483771" r:id="rId14"/>
    <p:sldLayoutId id="2147483772" r:id="rId15"/>
    <p:sldLayoutId id="2147483773" r:id="rId16"/>
    <p:sldLayoutId id="2147483774" r:id="rId17"/>
    <p:sldLayoutId id="2147483775" r:id="rId18"/>
    <p:sldLayoutId id="2147483776" r:id="rId19"/>
    <p:sldLayoutId id="2147483777" r:id="rId20"/>
    <p:sldLayoutId id="2147483778" r:id="rId21"/>
    <p:sldLayoutId id="2147483779" r:id="rId22"/>
    <p:sldLayoutId id="2147483780" r:id="rId23"/>
    <p:sldLayoutId id="2147483781" r:id="rId24"/>
    <p:sldLayoutId id="2147483782" r:id="rId25"/>
    <p:sldLayoutId id="2147483783" r:id="rId26"/>
    <p:sldLayoutId id="2147483784" r:id="rId27"/>
    <p:sldLayoutId id="2147483785" r:id="rId28"/>
    <p:sldLayoutId id="2147483786" r:id="rId29"/>
    <p:sldLayoutId id="2147483787" r:id="rId30"/>
    <p:sldLayoutId id="2147483788" r:id="rId31"/>
    <p:sldLayoutId id="2147483789" r:id="rId32"/>
    <p:sldLayoutId id="2147483824" r:id="rId3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ftr="0"/>
  <p:txStyles>
    <p:title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p:titleStyle>
    <p:body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A6A6A6"/>
          </p15:clr>
        </p15:guide>
        <p15:guide id="2" pos="7680">
          <p15:clr>
            <a:srgbClr val="A6A6A6"/>
          </p15:clr>
        </p15:guide>
        <p15:guide id="3" pos="230">
          <p15:clr>
            <a:srgbClr val="A6A6A6"/>
          </p15:clr>
        </p15:guide>
        <p15:guide id="4" pos="1301">
          <p15:clr>
            <a:srgbClr val="A6A6A6"/>
          </p15:clr>
        </p15:guide>
        <p15:guide id="5" pos="1461">
          <p15:clr>
            <a:srgbClr val="A6A6A6"/>
          </p15:clr>
        </p15:guide>
        <p15:guide id="6" pos="2531">
          <p15:clr>
            <a:srgbClr val="A6A6A6"/>
          </p15:clr>
        </p15:guide>
        <p15:guide id="7" pos="2690">
          <p15:clr>
            <a:srgbClr val="A6A6A6"/>
          </p15:clr>
        </p15:guide>
        <p15:guide id="8" pos="3759">
          <p15:clr>
            <a:srgbClr val="A6A6A6"/>
          </p15:clr>
        </p15:guide>
        <p15:guide id="9" pos="3920">
          <p15:clr>
            <a:srgbClr val="A6A6A6"/>
          </p15:clr>
        </p15:guide>
        <p15:guide id="10" pos="4989">
          <p15:clr>
            <a:srgbClr val="A6A6A6"/>
          </p15:clr>
        </p15:guide>
        <p15:guide id="11" pos="5148">
          <p15:clr>
            <a:srgbClr val="A6A6A6"/>
          </p15:clr>
        </p15:guide>
        <p15:guide id="12" pos="6218">
          <p15:clr>
            <a:srgbClr val="A6A6A6"/>
          </p15:clr>
        </p15:guide>
        <p15:guide id="13" pos="6378">
          <p15:clr>
            <a:srgbClr val="A6A6A6"/>
          </p15:clr>
        </p15:guide>
        <p15:guide id="14" pos="7449">
          <p15:clr>
            <a:srgbClr val="A6A6A6"/>
          </p15:clr>
        </p15:guide>
        <p15:guide id="15" orient="horz">
          <p15:clr>
            <a:srgbClr val="A6A6A6"/>
          </p15:clr>
        </p15:guide>
        <p15:guide id="16" orient="horz" pos="4315">
          <p15:clr>
            <a:srgbClr val="A6A6A6"/>
          </p15:clr>
        </p15:guide>
        <p15:guide id="17" orient="horz" pos="153">
          <p15:clr>
            <a:srgbClr val="A6A6A6"/>
          </p15:clr>
        </p15:guide>
        <p15:guide id="18" orient="horz" pos="686">
          <p15:clr>
            <a:srgbClr val="A6A6A6"/>
          </p15:clr>
        </p15:guide>
        <p15:guide id="19" orient="horz" pos="821">
          <p15:clr>
            <a:srgbClr val="A6A6A6"/>
          </p15:clr>
        </p15:guide>
        <p15:guide id="20" orient="horz" pos="1323">
          <p15:clr>
            <a:srgbClr val="A6A6A6"/>
          </p15:clr>
        </p15:guide>
        <p15:guide id="21" orient="horz" pos="2330">
          <p15:clr>
            <a:srgbClr val="A6A6A6"/>
          </p15:clr>
        </p15:guide>
        <p15:guide id="22" orient="horz" pos="3335">
          <p15:clr>
            <a:srgbClr val="A6A6A6"/>
          </p15:clr>
        </p15:guide>
        <p15:guide id="23" orient="horz" pos="3837">
          <p15:clr>
            <a:srgbClr val="A6A6A6"/>
          </p15:clr>
        </p15:guide>
        <p15:guide id="24" orient="horz" pos="4166">
          <p15:clr>
            <a:srgbClr val="A6A6A6"/>
          </p15:clr>
        </p15:guide>
        <p15:guide id="25" orient="horz" pos="1827">
          <p15:clr>
            <a:srgbClr val="A4A3A4"/>
          </p15:clr>
        </p15:guide>
        <p15:guide id="26" orient="horz" pos="2832">
          <p15:clr>
            <a:srgbClr val="A4A3A4"/>
          </p15:clr>
        </p15:guide>
        <p15:guide id="27" orient="horz" pos="3996">
          <p15:clr>
            <a:srgbClr val="A4A3A4"/>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1367911" y="6272002"/>
            <a:ext cx="342959" cy="365125"/>
          </a:xfrm>
          <a:prstGeom prst="rect">
            <a:avLst/>
          </a:prstGeom>
        </p:spPr>
        <p:txBody>
          <a:bodyPr vert="horz" lIns="72000" tIns="0" rIns="0" bIns="0" rtlCol="0" anchor="t" anchorCtr="0"/>
          <a:lstStyle>
            <a:lvl1pPr algn="r">
              <a:defRPr sz="1067">
                <a:solidFill>
                  <a:schemeClr val="tx1"/>
                </a:solidFill>
              </a:defRPr>
            </a:lvl1pPr>
          </a:lstStyle>
          <a:p>
            <a:fld id="{9F9F533D-B52E-4A2F-BF72-0ADD2D94BD75}" type="slidenum">
              <a:rPr lang="en-GB" smtClean="0"/>
              <a:pPr/>
              <a:t>‹#›</a:t>
            </a:fld>
            <a:endParaRPr lang="en-GB"/>
          </a:p>
        </p:txBody>
      </p:sp>
      <p:sp>
        <p:nvSpPr>
          <p:cNvPr id="4" name="Title Placeholder 3"/>
          <p:cNvSpPr>
            <a:spLocks noGrp="1"/>
          </p:cNvSpPr>
          <p:nvPr>
            <p:ph type="title"/>
          </p:nvPr>
        </p:nvSpPr>
        <p:spPr>
          <a:xfrm>
            <a:off x="478870" y="384852"/>
            <a:ext cx="10102852" cy="451405"/>
          </a:xfrm>
          <a:prstGeom prst="rect">
            <a:avLst/>
          </a:prstGeom>
        </p:spPr>
        <p:txBody>
          <a:bodyPr vert="horz" lIns="0" tIns="0" rIns="0" bIns="0" rtlCol="0" anchor="t" anchorCtr="0">
            <a:spAutoFit/>
          </a:bodyPr>
          <a:lstStyle/>
          <a:p>
            <a:r>
              <a:rPr lang="en-US" dirty="0"/>
              <a:t>Click to edit Master heading style</a:t>
            </a:r>
            <a:endParaRPr lang="en-GB" dirty="0"/>
          </a:p>
        </p:txBody>
      </p:sp>
      <p:sp>
        <p:nvSpPr>
          <p:cNvPr id="7" name="Date Placeholder 6"/>
          <p:cNvSpPr>
            <a:spLocks noGrp="1"/>
          </p:cNvSpPr>
          <p:nvPr>
            <p:ph type="dt" sz="half" idx="2"/>
          </p:nvPr>
        </p:nvSpPr>
        <p:spPr>
          <a:xfrm>
            <a:off x="411134" y="6606223"/>
            <a:ext cx="11114820" cy="341611"/>
          </a:xfrm>
          <a:prstGeom prst="rect">
            <a:avLst/>
          </a:prstGeom>
        </p:spPr>
        <p:txBody>
          <a:bodyPr vert="horz" lIns="72000" tIns="0" rIns="72000" bIns="0" rtlCol="0" anchor="t" anchorCtr="1"/>
          <a:lstStyle>
            <a:lvl1pPr marL="0" marR="0" indent="0" algn="just" defTabSz="1219170" rtl="0" eaLnBrk="1" fontAlgn="auto" latinLnBrk="0" hangingPunct="1">
              <a:lnSpc>
                <a:spcPct val="100000"/>
              </a:lnSpc>
              <a:spcBef>
                <a:spcPts val="0"/>
              </a:spcBef>
              <a:spcAft>
                <a:spcPts val="0"/>
              </a:spcAft>
              <a:buClrTx/>
              <a:buSzTx/>
              <a:buFontTx/>
              <a:buNone/>
              <a:tabLst/>
              <a:defRPr lang="en-US" sz="1067" b="0" i="0" smtClean="0">
                <a:effectLst/>
              </a:defRPr>
            </a:lvl1pPr>
          </a:lstStyle>
          <a:p>
            <a:pPr algn="r"/>
            <a:endParaRPr lang="en-US" dirty="0"/>
          </a:p>
        </p:txBody>
      </p:sp>
      <p:cxnSp>
        <p:nvCxnSpPr>
          <p:cNvPr id="10" name="Straight Connector 9"/>
          <p:cNvCxnSpPr/>
          <p:nvPr userDrawn="1"/>
        </p:nvCxnSpPr>
        <p:spPr>
          <a:xfrm>
            <a:off x="478869" y="5737796"/>
            <a:ext cx="112320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userDrawn="1"/>
        </p:nvCxnSpPr>
        <p:spPr>
          <a:xfrm>
            <a:off x="478869" y="1438055"/>
            <a:ext cx="11232000" cy="0"/>
          </a:xfrm>
          <a:prstGeom prst="line">
            <a:avLst/>
          </a:prstGeom>
          <a:ln w="12700">
            <a:solidFill>
              <a:schemeClr val="bg2"/>
            </a:solidFill>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6EB48ECA-0D85-0A45-876F-F1132D925080}"/>
              </a:ext>
            </a:extLst>
          </p:cNvPr>
          <p:cNvSpPr>
            <a:spLocks noGrp="1"/>
          </p:cNvSpPr>
          <p:nvPr>
            <p:ph type="ftr" sz="quarter" idx="3"/>
          </p:nvPr>
        </p:nvSpPr>
        <p:spPr>
          <a:xfrm>
            <a:off x="411135" y="5821810"/>
            <a:ext cx="11114820" cy="531989"/>
          </a:xfrm>
          <a:prstGeom prst="rect">
            <a:avLst/>
          </a:prstGeom>
        </p:spPr>
        <p:txBody>
          <a:bodyPr vert="horz" lIns="91440" tIns="45720" rIns="91440" bIns="45720" rtlCol="0" anchor="t"/>
          <a:lstStyle>
            <a:lvl1pPr algn="l">
              <a:defRPr sz="933" b="0" i="0">
                <a:solidFill>
                  <a:schemeClr val="tx1"/>
                </a:solidFill>
                <a:latin typeface="Arial" panose="020B0604020202020204" pitchFamily="34" charset="0"/>
                <a:cs typeface="Arial" panose="020B0604020202020204" pitchFamily="34" charset="0"/>
              </a:defRPr>
            </a:lvl1pPr>
          </a:lstStyle>
          <a:p>
            <a:endParaRPr lang="en-US" dirty="0"/>
          </a:p>
        </p:txBody>
      </p:sp>
      <p:pic>
        <p:nvPicPr>
          <p:cNvPr id="2" name="Graphic 1">
            <a:extLst>
              <a:ext uri="{FF2B5EF4-FFF2-40B4-BE49-F238E27FC236}">
                <a16:creationId xmlns:a16="http://schemas.microsoft.com/office/drawing/2014/main" id="{F61468D7-E487-B817-2A48-B002E17ACB8A}"/>
              </a:ext>
            </a:extLst>
          </p:cNvPr>
          <p:cNvPicPr>
            <a:picLocks noChangeAspect="1"/>
          </p:cNvPicPr>
          <p:nvPr userDrawn="1"/>
        </p:nvPicPr>
        <p:blipFill>
          <a:blip r:embed="rId35" cstate="print">
            <a:extLst>
              <a:ext uri="{28A0092B-C50C-407E-A947-70E740481C1C}">
                <a14:useLocalDpi xmlns:a14="http://schemas.microsoft.com/office/drawing/2010/main"/>
              </a:ext>
              <a:ext uri="{96DAC541-7B7A-43D3-8B79-37D633B846F1}">
                <asvg:svgBlip xmlns:asvg="http://schemas.microsoft.com/office/drawing/2016/SVG/main" r:embed="rId36"/>
              </a:ext>
            </a:extLst>
          </a:blip>
          <a:stretch>
            <a:fillRect/>
          </a:stretch>
        </p:blipFill>
        <p:spPr>
          <a:xfrm>
            <a:off x="10803893" y="202044"/>
            <a:ext cx="1094316" cy="329875"/>
          </a:xfrm>
          <a:prstGeom prst="rect">
            <a:avLst/>
          </a:prstGeom>
        </p:spPr>
      </p:pic>
    </p:spTree>
    <p:extLst>
      <p:ext uri="{BB962C8B-B14F-4D97-AF65-F5344CB8AC3E}">
        <p14:creationId xmlns:p14="http://schemas.microsoft.com/office/powerpoint/2010/main" val="4141985612"/>
      </p:ext>
    </p:extLst>
  </p:cSld>
  <p:clrMap bg1="lt1" tx1="dk1" bg2="lt2" tx2="dk2" accent1="accent1" accent2="accent2" accent3="accent3" accent4="accent4" accent5="accent5" accent6="accent6" hlink="hlink" folHlink="folHlink"/>
  <p:sldLayoutIdLst>
    <p:sldLayoutId id="2147483791" r:id="rId1"/>
    <p:sldLayoutId id="2147483792" r:id="rId2"/>
    <p:sldLayoutId id="2147483793" r:id="rId3"/>
    <p:sldLayoutId id="2147483794" r:id="rId4"/>
    <p:sldLayoutId id="2147483795" r:id="rId5"/>
    <p:sldLayoutId id="2147483796" r:id="rId6"/>
    <p:sldLayoutId id="2147483797" r:id="rId7"/>
    <p:sldLayoutId id="2147483798" r:id="rId8"/>
    <p:sldLayoutId id="2147483799" r:id="rId9"/>
    <p:sldLayoutId id="2147483800" r:id="rId10"/>
    <p:sldLayoutId id="2147483801" r:id="rId11"/>
    <p:sldLayoutId id="2147483802" r:id="rId12"/>
    <p:sldLayoutId id="2147483803" r:id="rId13"/>
    <p:sldLayoutId id="2147483804" r:id="rId14"/>
    <p:sldLayoutId id="2147483805" r:id="rId15"/>
    <p:sldLayoutId id="2147483806" r:id="rId16"/>
    <p:sldLayoutId id="2147483807" r:id="rId17"/>
    <p:sldLayoutId id="2147483808" r:id="rId18"/>
    <p:sldLayoutId id="2147483809" r:id="rId19"/>
    <p:sldLayoutId id="2147483810" r:id="rId20"/>
    <p:sldLayoutId id="2147483811" r:id="rId21"/>
    <p:sldLayoutId id="2147483812" r:id="rId22"/>
    <p:sldLayoutId id="2147483813" r:id="rId23"/>
    <p:sldLayoutId id="2147483814" r:id="rId24"/>
    <p:sldLayoutId id="2147483815" r:id="rId25"/>
    <p:sldLayoutId id="2147483816" r:id="rId26"/>
    <p:sldLayoutId id="2147483817" r:id="rId27"/>
    <p:sldLayoutId id="2147483818" r:id="rId28"/>
    <p:sldLayoutId id="2147483819" r:id="rId29"/>
    <p:sldLayoutId id="2147483820" r:id="rId30"/>
    <p:sldLayoutId id="2147483821" r:id="rId31"/>
    <p:sldLayoutId id="2147483822" r:id="rId32"/>
    <p:sldLayoutId id="2147483823" r:id="rId33"/>
  </p:sldLayoutIdLst>
  <p:hf hdr="0" ftr="0" dt="0"/>
  <p:txStyles>
    <p:titleStyle>
      <a:lvl1pPr algn="l" defTabSz="1219170" rtl="0" eaLnBrk="1" latinLnBrk="0" hangingPunct="1">
        <a:lnSpc>
          <a:spcPct val="100000"/>
        </a:lnSpc>
        <a:spcBef>
          <a:spcPct val="0"/>
        </a:spcBef>
        <a:buNone/>
        <a:defRPr sz="2933" b="1" kern="1200">
          <a:solidFill>
            <a:schemeClr val="bg2"/>
          </a:solidFill>
          <a:latin typeface="+mj-lt"/>
          <a:ea typeface="+mj-ea"/>
          <a:cs typeface="+mj-cs"/>
        </a:defRPr>
      </a:lvl1pPr>
    </p:titleStyle>
    <p:bodyStyle>
      <a:lvl1pPr marL="359991" indent="-359991" algn="l" defTabSz="1219170" rtl="0" eaLnBrk="1" latinLnBrk="0" hangingPunct="1">
        <a:spcBef>
          <a:spcPts val="0"/>
        </a:spcBef>
        <a:spcAft>
          <a:spcPts val="800"/>
        </a:spcAft>
        <a:buClr>
          <a:schemeClr val="tx1"/>
        </a:buClr>
        <a:buFont typeface="Arial" pitchFamily="34" charset="0"/>
        <a:buChar char="–"/>
        <a:defRPr sz="2133" kern="1200">
          <a:solidFill>
            <a:schemeClr val="tx1"/>
          </a:solidFill>
          <a:latin typeface="+mn-lt"/>
          <a:ea typeface="+mn-ea"/>
          <a:cs typeface="+mn-cs"/>
        </a:defRPr>
      </a:lvl1pPr>
      <a:lvl2pPr marL="717533" indent="-359991" algn="l" defTabSz="1219170" rtl="0" eaLnBrk="1" latinLnBrk="0" hangingPunct="1">
        <a:spcBef>
          <a:spcPts val="0"/>
        </a:spcBef>
        <a:spcAft>
          <a:spcPts val="800"/>
        </a:spcAft>
        <a:buFont typeface="Arial" pitchFamily="34" charset="0"/>
        <a:buChar char="–"/>
        <a:defRPr sz="1867" kern="1200">
          <a:solidFill>
            <a:schemeClr val="tx1"/>
          </a:solidFill>
          <a:latin typeface="+mn-lt"/>
          <a:ea typeface="+mn-ea"/>
          <a:cs typeface="+mn-cs"/>
        </a:defRPr>
      </a:lvl2pPr>
      <a:lvl3pPr marL="1079973"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3pPr>
      <a:lvl4pPr marL="1441415"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0"/>
        </a:spcBef>
        <a:spcAft>
          <a:spcPts val="800"/>
        </a:spcAft>
        <a:buFont typeface="Arial" pitchFamily="34" charset="0"/>
        <a:buChar char="–"/>
        <a:defRPr sz="1600" b="0" kern="1200">
          <a:solidFill>
            <a:schemeClr val="tx1"/>
          </a:solidFill>
          <a:latin typeface="+mn-lt"/>
          <a:ea typeface="+mn-ea"/>
          <a:cs typeface="+mn-cs"/>
        </a:defRPr>
      </a:lvl5pPr>
      <a:lvl6pPr marL="2159946"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6pPr>
      <a:lvl7pPr marL="2399940"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7pPr>
      <a:lvl8pPr marL="2759931"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8pPr>
      <a:lvl9pPr marL="3119922" indent="-359991" algn="l" defTabSz="1219170" rtl="0" eaLnBrk="1" latinLnBrk="0" hangingPunct="1">
        <a:spcBef>
          <a:spcPts val="0"/>
        </a:spcBef>
        <a:spcAft>
          <a:spcPts val="800"/>
        </a:spcAft>
        <a:buFont typeface="Arial" pitchFamily="34" charset="0"/>
        <a:buChar char="–"/>
        <a:defRPr sz="16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6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xml.rels><?xml version="1.0" encoding="UTF-8" standalone="yes"?>
<Relationships xmlns="http://schemas.openxmlformats.org/package/2006/relationships"><Relationship Id="rId2" Type="http://schemas.openxmlformats.org/officeDocument/2006/relationships/hyperlink" Target="https://goldcopd.org/wp-content/uploads/2024/11/GOLD-2025-Report-v1.0-15Nov2024_WMV.pdf" TargetMode="Externa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66.xml"/></Relationships>
</file>

<file path=ppt/slides/_rels/slide7.xml.rels><?xml version="1.0" encoding="UTF-8" standalone="yes"?>
<Relationships xmlns="http://schemas.openxmlformats.org/package/2006/relationships"><Relationship Id="rId8" Type="http://schemas.openxmlformats.org/officeDocument/2006/relationships/image" Target="../media/image36.jpeg"/><Relationship Id="rId3" Type="http://schemas.openxmlformats.org/officeDocument/2006/relationships/image" Target="../media/image31.jpeg"/><Relationship Id="rId7" Type="http://schemas.openxmlformats.org/officeDocument/2006/relationships/image" Target="../media/image35.png"/><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 Id="rId6" Type="http://schemas.openxmlformats.org/officeDocument/2006/relationships/image" Target="../media/image34.jpg"/><Relationship Id="rId5" Type="http://schemas.openxmlformats.org/officeDocument/2006/relationships/image" Target="../media/image33.jpeg"/><Relationship Id="rId4" Type="http://schemas.openxmlformats.org/officeDocument/2006/relationships/image" Target="../media/image3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 Id="rId4" Type="http://schemas.openxmlformats.org/officeDocument/2006/relationships/image" Target="../media/image3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11.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12.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13.xml.rels><?xml version="1.0" encoding="UTF-8" standalone="yes"?>
<Relationships xmlns="http://schemas.openxmlformats.org/package/2006/relationships"><Relationship Id="rId3" Type="http://schemas.openxmlformats.org/officeDocument/2006/relationships/hyperlink" Target="https://goldcopd.org/2023-gold-report-2/" TargetMode="External"/><Relationship Id="rId2" Type="http://schemas.openxmlformats.org/officeDocument/2006/relationships/image" Target="../media/image39.jpeg"/><Relationship Id="rId1" Type="http://schemas.openxmlformats.org/officeDocument/2006/relationships/slideLayout" Target="../slideLayouts/slideLayout66.xml"/></Relationships>
</file>

<file path=ppt/slides/_rels/slide14.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16.xml.rels><?xml version="1.0" encoding="UTF-8" standalone="yes"?>
<Relationships xmlns="http://schemas.openxmlformats.org/package/2006/relationships"><Relationship Id="rId2" Type="http://schemas.openxmlformats.org/officeDocument/2006/relationships/hyperlink" Target="https://goldcopd.org/wp-content/uploads/2024/11/GOLD-2025-Report-v1.0-15Nov2024_WMV.pdf" TargetMode="External"/><Relationship Id="rId1" Type="http://schemas.openxmlformats.org/officeDocument/2006/relationships/slideLayout" Target="../slideLayouts/slideLayout48.xml"/></Relationships>
</file>

<file path=ppt/slides/_rels/slide1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1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image" Target="../media/image41.png"/><Relationship Id="rId1" Type="http://schemas.openxmlformats.org/officeDocument/2006/relationships/slideLayout" Target="../slideLayouts/slideLayout66.xml"/><Relationship Id="rId6" Type="http://schemas.openxmlformats.org/officeDocument/2006/relationships/image" Target="../media/image45.png"/><Relationship Id="rId5" Type="http://schemas.openxmlformats.org/officeDocument/2006/relationships/image" Target="../media/image44.jpeg"/><Relationship Id="rId4" Type="http://schemas.openxmlformats.org/officeDocument/2006/relationships/image" Target="../media/image43.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20.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png"/><Relationship Id="rId1" Type="http://schemas.openxmlformats.org/officeDocument/2006/relationships/slideLayout" Target="../slideLayouts/slideLayout66.xml"/><Relationship Id="rId5" Type="http://schemas.openxmlformats.org/officeDocument/2006/relationships/image" Target="../media/image49.svg"/><Relationship Id="rId4" Type="http://schemas.openxmlformats.org/officeDocument/2006/relationships/image" Target="../media/image4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hyperlink" Target="https://goldcopd.org/wp-content/uploads/2024/11/GOLD-2025-Report-v1.0-15Nov2024_WMV.pdf" TargetMode="External"/><Relationship Id="rId1" Type="http://schemas.openxmlformats.org/officeDocument/2006/relationships/slideLayout" Target="../slideLayouts/slideLayout66.xml"/><Relationship Id="rId6" Type="http://schemas.openxmlformats.org/officeDocument/2006/relationships/image" Target="../media/image53.svg"/><Relationship Id="rId5" Type="http://schemas.openxmlformats.org/officeDocument/2006/relationships/image" Target="../media/image52.png"/><Relationship Id="rId4" Type="http://schemas.openxmlformats.org/officeDocument/2006/relationships/image" Target="../media/image51.svg"/></Relationships>
</file>

<file path=ppt/slides/_rels/slide23.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25.xml.rels><?xml version="1.0" encoding="UTF-8" standalone="yes"?>
<Relationships xmlns="http://schemas.openxmlformats.org/package/2006/relationships"><Relationship Id="rId2" Type="http://schemas.openxmlformats.org/officeDocument/2006/relationships/hyperlink" Target="https://goldcopd.org/wp-content/uploads/2024/11/GOLD-2025-Report-v1.0-15Nov2024_WMV.pdf" TargetMode="External"/><Relationship Id="rId1" Type="http://schemas.openxmlformats.org/officeDocument/2006/relationships/slideLayout" Target="../slideLayouts/slideLayout66.xml"/></Relationships>
</file>

<file path=ppt/slides/_rels/slide26.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66.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75.xml"/><Relationship Id="rId2" Type="http://schemas.openxmlformats.org/officeDocument/2006/relationships/tags" Target="../tags/tag60.xml"/><Relationship Id="rId1" Type="http://schemas.openxmlformats.org/officeDocument/2006/relationships/tags" Target="../tags/tag59.xml"/><Relationship Id="rId5" Type="http://schemas.openxmlformats.org/officeDocument/2006/relationships/image" Target="../media/image54.emf"/><Relationship Id="rId4" Type="http://schemas.openxmlformats.org/officeDocument/2006/relationships/oleObject" Target="../embeddings/oleObject7.bin"/></Relationships>
</file>

<file path=ppt/slides/_rels/slide28.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hyperlink" Target="https://goldcopd.org/2023-gold-report-2/" TargetMode="External"/><Relationship Id="rId7" Type="http://schemas.openxmlformats.org/officeDocument/2006/relationships/image" Target="../media/image57.png"/><Relationship Id="rId2" Type="http://schemas.openxmlformats.org/officeDocument/2006/relationships/slideLayout" Target="../slideLayouts/slideLayout98.xml"/><Relationship Id="rId1" Type="http://schemas.openxmlformats.org/officeDocument/2006/relationships/tags" Target="../tags/tag61.xml"/><Relationship Id="rId6" Type="http://schemas.openxmlformats.org/officeDocument/2006/relationships/image" Target="../media/image56.svg"/><Relationship Id="rId5" Type="http://schemas.openxmlformats.org/officeDocument/2006/relationships/image" Target="../media/image55.png"/><Relationship Id="rId10" Type="http://schemas.openxmlformats.org/officeDocument/2006/relationships/image" Target="../media/image53.svg"/><Relationship Id="rId4" Type="http://schemas.openxmlformats.org/officeDocument/2006/relationships/hyperlink" Target="https://www.who.int/news-room/fact-sheets/detail/chronic-obstructive-pulmonary-disease-(copd)" TargetMode="External"/><Relationship Id="rId9" Type="http://schemas.openxmlformats.org/officeDocument/2006/relationships/image" Target="../media/image52.png"/></Relationships>
</file>

<file path=ppt/slides/_rels/slide29.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hyperlink" Target="https://goldcopd.org/2023-gold-report-2/" TargetMode="External"/><Relationship Id="rId7" Type="http://schemas.openxmlformats.org/officeDocument/2006/relationships/image" Target="../media/image62.svg"/><Relationship Id="rId2" Type="http://schemas.openxmlformats.org/officeDocument/2006/relationships/slideLayout" Target="../slideLayouts/slideLayout98.xml"/><Relationship Id="rId1" Type="http://schemas.openxmlformats.org/officeDocument/2006/relationships/tags" Target="../tags/tag62.xml"/><Relationship Id="rId6" Type="http://schemas.openxmlformats.org/officeDocument/2006/relationships/image" Target="../media/image61.png"/><Relationship Id="rId11" Type="http://schemas.openxmlformats.org/officeDocument/2006/relationships/image" Target="../media/image66.svg"/><Relationship Id="rId5" Type="http://schemas.openxmlformats.org/officeDocument/2006/relationships/image" Target="../media/image60.svg"/><Relationship Id="rId10" Type="http://schemas.openxmlformats.org/officeDocument/2006/relationships/image" Target="../media/image65.png"/><Relationship Id="rId4" Type="http://schemas.openxmlformats.org/officeDocument/2006/relationships/image" Target="../media/image59.png"/><Relationship Id="rId9" Type="http://schemas.openxmlformats.org/officeDocument/2006/relationships/image" Target="../media/image64.svg"/></Relationships>
</file>

<file path=ppt/slides/_rels/slide30.xml.rels><?xml version="1.0" encoding="UTF-8" standalone="yes"?>
<Relationships xmlns="http://schemas.openxmlformats.org/package/2006/relationships"><Relationship Id="rId3" Type="http://schemas.openxmlformats.org/officeDocument/2006/relationships/hyperlink" Target="https://goldcopd.org/2023-gold-report-2/" TargetMode="External"/><Relationship Id="rId2" Type="http://schemas.openxmlformats.org/officeDocument/2006/relationships/slideLayout" Target="../slideLayouts/slideLayout98.xml"/><Relationship Id="rId1" Type="http://schemas.openxmlformats.org/officeDocument/2006/relationships/tags" Target="../tags/tag63.xml"/><Relationship Id="rId5" Type="http://schemas.openxmlformats.org/officeDocument/2006/relationships/image" Target="../media/image67.png"/><Relationship Id="rId4" Type="http://schemas.openxmlformats.org/officeDocument/2006/relationships/hyperlink" Target="https://www.cdc.gov/copd/basics-about.html" TargetMode="External"/></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98.xml"/><Relationship Id="rId1" Type="http://schemas.openxmlformats.org/officeDocument/2006/relationships/tags" Target="../tags/tag64.xml"/><Relationship Id="rId4" Type="http://schemas.openxmlformats.org/officeDocument/2006/relationships/hyperlink" Target="https://goldcopd.org/2023-gold-report-2/"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goldcopd.org/2023-gold-report-2/" TargetMode="External"/><Relationship Id="rId2" Type="http://schemas.openxmlformats.org/officeDocument/2006/relationships/slideLayout" Target="../slideLayouts/slideLayout98.xml"/><Relationship Id="rId1" Type="http://schemas.openxmlformats.org/officeDocument/2006/relationships/tags" Target="../tags/tag65.xml"/><Relationship Id="rId4" Type="http://schemas.openxmlformats.org/officeDocument/2006/relationships/chart" Target="../charts/chart1.xml"/></Relationships>
</file>

<file path=ppt/slides/_rels/slide33.xml.rels><?xml version="1.0" encoding="UTF-8" standalone="yes"?>
<Relationships xmlns="http://schemas.openxmlformats.org/package/2006/relationships"><Relationship Id="rId3" Type="http://schemas.openxmlformats.org/officeDocument/2006/relationships/hyperlink" Target="https://goldcopd.org/2023-gold-report-2/" TargetMode="External"/><Relationship Id="rId2" Type="http://schemas.openxmlformats.org/officeDocument/2006/relationships/slideLayout" Target="../slideLayouts/slideLayout98.xml"/><Relationship Id="rId1" Type="http://schemas.openxmlformats.org/officeDocument/2006/relationships/tags" Target="../tags/tag66.xml"/><Relationship Id="rId5" Type="http://schemas.openxmlformats.org/officeDocument/2006/relationships/image" Target="../media/image69.svg"/><Relationship Id="rId4" Type="http://schemas.openxmlformats.org/officeDocument/2006/relationships/image" Target="../media/image6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35.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s>
</file>

<file path=ppt/slides/_rels/slide36.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s>
</file>

<file path=ppt/slides/_rels/slide3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s>
</file>

<file path=ppt/slides/_rels/slide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9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8.xml"/></Relationships>
</file>

<file path=ppt/slides/_rels/slide41.xml.rels><?xml version="1.0" encoding="UTF-8" standalone="yes"?>
<Relationships xmlns="http://schemas.openxmlformats.org/package/2006/relationships"><Relationship Id="rId3" Type="http://schemas.openxmlformats.org/officeDocument/2006/relationships/image" Target="../media/image72.jpeg"/><Relationship Id="rId7" Type="http://schemas.openxmlformats.org/officeDocument/2006/relationships/image" Target="../media/image76.jpeg"/><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 Id="rId6" Type="http://schemas.openxmlformats.org/officeDocument/2006/relationships/image" Target="../media/image75.jpeg"/><Relationship Id="rId5" Type="http://schemas.openxmlformats.org/officeDocument/2006/relationships/image" Target="../media/image74.jpeg"/><Relationship Id="rId4" Type="http://schemas.openxmlformats.org/officeDocument/2006/relationships/image" Target="../media/image73.jpe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3.xml"/></Relationships>
</file>

<file path=ppt/slides/_rels/slide43.xml.rels><?xml version="1.0" encoding="UTF-8" standalone="yes"?>
<Relationships xmlns="http://schemas.openxmlformats.org/package/2006/relationships"><Relationship Id="rId3" Type="http://schemas.openxmlformats.org/officeDocument/2006/relationships/hyperlink" Target="https://www.cdc.gov/copd/infographics/copd-costs.html" TargetMode="External"/><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 Id="rId6" Type="http://schemas.openxmlformats.org/officeDocument/2006/relationships/image" Target="../media/image79.png"/><Relationship Id="rId5" Type="http://schemas.openxmlformats.org/officeDocument/2006/relationships/image" Target="../media/image78.png"/><Relationship Id="rId4" Type="http://schemas.openxmlformats.org/officeDocument/2006/relationships/image" Target="../media/image77.jpeg"/></Relationships>
</file>

<file path=ppt/slides/_rels/slide44.xml.rels><?xml version="1.0" encoding="UTF-8" standalone="yes"?>
<Relationships xmlns="http://schemas.openxmlformats.org/package/2006/relationships"><Relationship Id="rId2" Type="http://schemas.openxmlformats.org/officeDocument/2006/relationships/hyperlink" Target="https://goldcopd.org/2023-gold-report-2/" TargetMode="External"/><Relationship Id="rId1" Type="http://schemas.openxmlformats.org/officeDocument/2006/relationships/slideLayout" Target="../slideLayouts/slideLayout98.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48.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66.xml"/></Relationships>
</file>

<file path=ppt/slides/_rels/slide49.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66.xml"/></Relationships>
</file>

<file path=ppt/slides/_rels/slide50.xml.rels><?xml version="1.0" encoding="UTF-8" standalone="yes"?>
<Relationships xmlns="http://schemas.openxmlformats.org/package/2006/relationships"><Relationship Id="rId8" Type="http://schemas.openxmlformats.org/officeDocument/2006/relationships/image" Target="../media/image88.png"/><Relationship Id="rId13" Type="http://schemas.openxmlformats.org/officeDocument/2006/relationships/image" Target="../media/image93.png"/><Relationship Id="rId3" Type="http://schemas.openxmlformats.org/officeDocument/2006/relationships/image" Target="../media/image83.png"/><Relationship Id="rId7" Type="http://schemas.openxmlformats.org/officeDocument/2006/relationships/image" Target="../media/image87.png"/><Relationship Id="rId12" Type="http://schemas.openxmlformats.org/officeDocument/2006/relationships/image" Target="../media/image92.png"/><Relationship Id="rId2" Type="http://schemas.openxmlformats.org/officeDocument/2006/relationships/image" Target="../media/image82.png"/><Relationship Id="rId1" Type="http://schemas.openxmlformats.org/officeDocument/2006/relationships/slideLayout" Target="../slideLayouts/slideLayout66.xml"/><Relationship Id="rId6" Type="http://schemas.openxmlformats.org/officeDocument/2006/relationships/image" Target="../media/image86.png"/><Relationship Id="rId11" Type="http://schemas.openxmlformats.org/officeDocument/2006/relationships/image" Target="../media/image91.jp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84.png"/><Relationship Id="rId9" Type="http://schemas.openxmlformats.org/officeDocument/2006/relationships/image" Target="../media/image89.png"/></Relationships>
</file>

<file path=ppt/slides/_rels/slide51.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66.xml"/></Relationships>
</file>

<file path=ppt/slides/_rels/slide52.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66.xml"/></Relationships>
</file>

<file path=ppt/slides/_rels/slide53.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66.xml"/></Relationships>
</file>

<file path=ppt/slides/_rels/slide54.xml.rels><?xml version="1.0" encoding="UTF-8" standalone="yes"?>
<Relationships xmlns="http://schemas.openxmlformats.org/package/2006/relationships"><Relationship Id="rId8" Type="http://schemas.openxmlformats.org/officeDocument/2006/relationships/image" Target="../media/image105.png"/><Relationship Id="rId3" Type="http://schemas.openxmlformats.org/officeDocument/2006/relationships/image" Target="../media/image100.png"/><Relationship Id="rId7" Type="http://schemas.openxmlformats.org/officeDocument/2006/relationships/image" Target="../media/image104.png"/><Relationship Id="rId2" Type="http://schemas.openxmlformats.org/officeDocument/2006/relationships/image" Target="../media/image82.png"/><Relationship Id="rId1" Type="http://schemas.openxmlformats.org/officeDocument/2006/relationships/slideLayout" Target="../slideLayouts/slideLayout66.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 Id="rId9" Type="http://schemas.openxmlformats.org/officeDocument/2006/relationships/image" Target="../media/image106.png"/></Relationships>
</file>

<file path=ppt/slides/_rels/slide55.xml.rels><?xml version="1.0" encoding="UTF-8" standalone="yes"?>
<Relationships xmlns="http://schemas.openxmlformats.org/package/2006/relationships"><Relationship Id="rId8" Type="http://schemas.openxmlformats.org/officeDocument/2006/relationships/image" Target="../media/image89.png"/><Relationship Id="rId3" Type="http://schemas.openxmlformats.org/officeDocument/2006/relationships/image" Target="../media/image82.png"/><Relationship Id="rId7" Type="http://schemas.openxmlformats.org/officeDocument/2006/relationships/image" Target="../media/image109.png"/><Relationship Id="rId2" Type="http://schemas.openxmlformats.org/officeDocument/2006/relationships/image" Target="../media/image107.png"/><Relationship Id="rId1" Type="http://schemas.openxmlformats.org/officeDocument/2006/relationships/slideLayout" Target="../slideLayouts/slideLayout66.xml"/><Relationship Id="rId6" Type="http://schemas.openxmlformats.org/officeDocument/2006/relationships/image" Target="../media/image87.png"/><Relationship Id="rId5" Type="http://schemas.openxmlformats.org/officeDocument/2006/relationships/image" Target="../media/image86.png"/><Relationship Id="rId4" Type="http://schemas.openxmlformats.org/officeDocument/2006/relationships/image" Target="../media/image108.png"/><Relationship Id="rId9" Type="http://schemas.openxmlformats.org/officeDocument/2006/relationships/image" Target="../media/image90.png"/></Relationships>
</file>

<file path=ppt/slides/_rels/slide56.xml.rels><?xml version="1.0" encoding="UTF-8" standalone="yes"?>
<Relationships xmlns="http://schemas.openxmlformats.org/package/2006/relationships"><Relationship Id="rId8" Type="http://schemas.openxmlformats.org/officeDocument/2006/relationships/image" Target="../media/image114.png"/><Relationship Id="rId3" Type="http://schemas.openxmlformats.org/officeDocument/2006/relationships/image" Target="../media/image107.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66.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image82.png"/></Relationships>
</file>

<file path=ppt/slides/_rels/slide57.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image" Target="../media/image82.png"/><Relationship Id="rId7" Type="http://schemas.openxmlformats.org/officeDocument/2006/relationships/image" Target="../media/image119.png"/><Relationship Id="rId2" Type="http://schemas.openxmlformats.org/officeDocument/2006/relationships/image" Target="../media/image115.png"/><Relationship Id="rId1" Type="http://schemas.openxmlformats.org/officeDocument/2006/relationships/slideLayout" Target="../slideLayouts/slideLayout66.xml"/><Relationship Id="rId6" Type="http://schemas.openxmlformats.org/officeDocument/2006/relationships/image" Target="../media/image118.png"/><Relationship Id="rId11" Type="http://schemas.openxmlformats.org/officeDocument/2006/relationships/image" Target="../media/image123.jpeg"/><Relationship Id="rId5" Type="http://schemas.openxmlformats.org/officeDocument/2006/relationships/image" Target="../media/image117.png"/><Relationship Id="rId10" Type="http://schemas.openxmlformats.org/officeDocument/2006/relationships/image" Target="../media/image122.png"/><Relationship Id="rId4" Type="http://schemas.openxmlformats.org/officeDocument/2006/relationships/image" Target="../media/image116.png"/><Relationship Id="rId9" Type="http://schemas.openxmlformats.org/officeDocument/2006/relationships/image" Target="../media/image121.png"/></Relationships>
</file>

<file path=ppt/slides/_rels/slide58.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66.xml"/></Relationships>
</file>

<file path=ppt/slides/_rels/slide59.xml.rels><?xml version="1.0" encoding="UTF-8" standalone="yes"?>
<Relationships xmlns="http://schemas.openxmlformats.org/package/2006/relationships"><Relationship Id="rId3" Type="http://schemas.openxmlformats.org/officeDocument/2006/relationships/image" Target="../media/image82.png"/><Relationship Id="rId7" Type="http://schemas.openxmlformats.org/officeDocument/2006/relationships/image" Target="../media/image128.png"/><Relationship Id="rId2" Type="http://schemas.openxmlformats.org/officeDocument/2006/relationships/image" Target="../media/image107.png"/><Relationship Id="rId1" Type="http://schemas.openxmlformats.org/officeDocument/2006/relationships/slideLayout" Target="../slideLayouts/slideLayout66.xml"/><Relationship Id="rId6" Type="http://schemas.openxmlformats.org/officeDocument/2006/relationships/image" Target="../media/image127.png"/><Relationship Id="rId5" Type="http://schemas.openxmlformats.org/officeDocument/2006/relationships/image" Target="../media/image126.png"/><Relationship Id="rId4" Type="http://schemas.openxmlformats.org/officeDocument/2006/relationships/image" Target="../media/image125.png"/></Relationships>
</file>

<file path=ppt/slides/_rels/slide60.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6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6.xml"/></Relationships>
</file>

<file path=ppt/slides/_rels/slide65.xml.rels><?xml version="1.0" encoding="UTF-8" standalone="yes"?>
<Relationships xmlns="http://schemas.openxmlformats.org/package/2006/relationships"><Relationship Id="rId3" Type="http://schemas.openxmlformats.org/officeDocument/2006/relationships/image" Target="../media/image131.jpeg"/><Relationship Id="rId2" Type="http://schemas.openxmlformats.org/officeDocument/2006/relationships/image" Target="../media/image130.jpeg"/><Relationship Id="rId1" Type="http://schemas.openxmlformats.org/officeDocument/2006/relationships/slideLayout" Target="../slideLayouts/slideLayout66.xml"/><Relationship Id="rId6" Type="http://schemas.openxmlformats.org/officeDocument/2006/relationships/image" Target="../media/image134.png"/><Relationship Id="rId5" Type="http://schemas.openxmlformats.org/officeDocument/2006/relationships/image" Target="../media/image133.jpeg"/><Relationship Id="rId4" Type="http://schemas.openxmlformats.org/officeDocument/2006/relationships/image" Target="../media/image132.png"/></Relationships>
</file>

<file path=ppt/slides/_rels/slide66.xml.rels><?xml version="1.0" encoding="UTF-8" standalone="yes"?>
<Relationships xmlns="http://schemas.openxmlformats.org/package/2006/relationships"><Relationship Id="rId2" Type="http://schemas.openxmlformats.org/officeDocument/2006/relationships/image" Target="../media/image135.png"/><Relationship Id="rId1" Type="http://schemas.openxmlformats.org/officeDocument/2006/relationships/slideLayout" Target="../slideLayouts/slideLayout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68.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67.xml"/></Relationships>
</file>

<file path=ppt/slides/_rels/slide69.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68.xml"/><Relationship Id="rId4" Type="http://schemas.openxmlformats.org/officeDocument/2006/relationships/image" Target="../media/image136.jpg"/></Relationships>
</file>

<file path=ppt/slides/_rels/slide70.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69.xml"/></Relationships>
</file>

<file path=ppt/slides/_rels/slide71.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0.xml"/></Relationships>
</file>

<file path=ppt/slides/_rels/slide72.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1.xml"/></Relationships>
</file>

<file path=ppt/slides/_rels/slide73.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2.xml"/></Relationships>
</file>

<file path=ppt/slides/_rels/slide74.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3.xml"/></Relationships>
</file>

<file path=ppt/slides/_rels/slide75.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4.xml"/><Relationship Id="rId4" Type="http://schemas.openxmlformats.org/officeDocument/2006/relationships/hyperlink" Target="https://www.thoracic.org/members/assemblies/assemblies/srn/questionaires/sgrq.php" TargetMode="External"/></Relationships>
</file>

<file path=ppt/slides/_rels/slide76.xml.rels><?xml version="1.0" encoding="UTF-8" standalone="yes"?>
<Relationships xmlns="http://schemas.openxmlformats.org/package/2006/relationships"><Relationship Id="rId3" Type="http://schemas.openxmlformats.org/officeDocument/2006/relationships/hyperlink" Target="https://ccq.nl/?page_id=4" TargetMode="External"/><Relationship Id="rId2" Type="http://schemas.openxmlformats.org/officeDocument/2006/relationships/slideLayout" Target="../slideLayouts/slideLayout129.xml"/><Relationship Id="rId1" Type="http://schemas.openxmlformats.org/officeDocument/2006/relationships/tags" Target="../tags/tag75.xml"/></Relationships>
</file>

<file path=ppt/slides/_rels/slide77.xml.rels><?xml version="1.0" encoding="UTF-8" standalone="yes"?>
<Relationships xmlns="http://schemas.openxmlformats.org/package/2006/relationships"><Relationship Id="rId3" Type="http://schemas.openxmlformats.org/officeDocument/2006/relationships/hyperlink" Target="http://www.ema.europa.eu/docs/en_GB/document_library/Other/2015/04/WC500185443.pdf" TargetMode="External"/><Relationship Id="rId2" Type="http://schemas.openxmlformats.org/officeDocument/2006/relationships/slideLayout" Target="../slideLayouts/slideLayout129.xml"/><Relationship Id="rId1" Type="http://schemas.openxmlformats.org/officeDocument/2006/relationships/tags" Target="../tags/tag76.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79.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7.xml"/></Relationships>
</file>

<file path=ppt/slides/_rels/slide80.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8.xml"/></Relationships>
</file>

<file path=ppt/slides/_rels/slide81.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79.xml"/></Relationships>
</file>

<file path=ppt/slides/_rels/slide82.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0.xml"/></Relationships>
</file>

<file path=ppt/slides/_rels/slide83.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1.xml"/></Relationships>
</file>

<file path=ppt/slides/_rels/slide84.xml.rels><?xml version="1.0" encoding="UTF-8" standalone="yes"?>
<Relationships xmlns="http://schemas.openxmlformats.org/package/2006/relationships"><Relationship Id="rId3" Type="http://schemas.openxmlformats.org/officeDocument/2006/relationships/hyperlink" Target="https://goldcopd.org/wp-content/uploads/2024/11/GOLD-2025-Report-v1.0-15Nov2024_WMV.pdf" TargetMode="External"/><Relationship Id="rId7" Type="http://schemas.openxmlformats.org/officeDocument/2006/relationships/slide" Target="slide83.xml"/><Relationship Id="rId2" Type="http://schemas.openxmlformats.org/officeDocument/2006/relationships/notesSlide" Target="../notesSlides/notesSlide4.xml"/><Relationship Id="rId1" Type="http://schemas.openxmlformats.org/officeDocument/2006/relationships/slideLayout" Target="../slideLayouts/slideLayout137.xml"/><Relationship Id="rId6" Type="http://schemas.openxmlformats.org/officeDocument/2006/relationships/image" Target="../media/image139.svg"/><Relationship Id="rId5" Type="http://schemas.openxmlformats.org/officeDocument/2006/relationships/image" Target="../media/image138.png"/><Relationship Id="rId4" Type="http://schemas.openxmlformats.org/officeDocument/2006/relationships/image" Target="../media/image137.png"/></Relationships>
</file>

<file path=ppt/slides/_rels/slide85.xml.rels><?xml version="1.0" encoding="UTF-8" standalone="yes"?>
<Relationships xmlns="http://schemas.openxmlformats.org/package/2006/relationships"><Relationship Id="rId3" Type="http://schemas.openxmlformats.org/officeDocument/2006/relationships/hyperlink" Target="https://goldcopd.org/wp-content/uploads/2024/11/GOLD-2025-Report-v1.0-15Nov2024_WMV.pdf" TargetMode="External"/><Relationship Id="rId2" Type="http://schemas.openxmlformats.org/officeDocument/2006/relationships/slideLayout" Target="../slideLayouts/slideLayout129.xml"/><Relationship Id="rId1" Type="http://schemas.openxmlformats.org/officeDocument/2006/relationships/tags" Target="../tags/tag82.xml"/></Relationships>
</file>

<file path=ppt/slides/_rels/slide86.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88.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4.xml"/><Relationship Id="rId6" Type="http://schemas.openxmlformats.org/officeDocument/2006/relationships/image" Target="../media/image142.png"/><Relationship Id="rId5" Type="http://schemas.openxmlformats.org/officeDocument/2006/relationships/image" Target="../media/image141.jpeg"/><Relationship Id="rId4" Type="http://schemas.openxmlformats.org/officeDocument/2006/relationships/image" Target="../media/image140.jpeg"/></Relationships>
</file>

<file path=ppt/slides/_rels/slide89.xml.rels><?xml version="1.0" encoding="UTF-8" standalone="yes"?>
<Relationships xmlns="http://schemas.openxmlformats.org/package/2006/relationships"><Relationship Id="rId2" Type="http://schemas.openxmlformats.org/officeDocument/2006/relationships/slideLayout" Target="../slideLayouts/slideLayout129.xml"/><Relationship Id="rId1" Type="http://schemas.openxmlformats.org/officeDocument/2006/relationships/tags" Target="../tags/tag85.xml"/></Relationships>
</file>

<file path=ppt/slides/_rels/slide90.xml.rels><?xml version="1.0" encoding="UTF-8" standalone="yes"?>
<Relationships xmlns="http://schemas.openxmlformats.org/package/2006/relationships"><Relationship Id="rId8" Type="http://schemas.openxmlformats.org/officeDocument/2006/relationships/image" Target="../media/image147.png"/><Relationship Id="rId13" Type="http://schemas.openxmlformats.org/officeDocument/2006/relationships/image" Target="../media/image152.svg"/><Relationship Id="rId3" Type="http://schemas.openxmlformats.org/officeDocument/2006/relationships/hyperlink" Target="https://goldcopd.org/wp-content/uploads/2023/01/GOLD-2023-ver-1.2-7Jan2023_WMV.pdf" TargetMode="External"/><Relationship Id="rId7" Type="http://schemas.openxmlformats.org/officeDocument/2006/relationships/image" Target="../media/image146.svg"/><Relationship Id="rId12" Type="http://schemas.openxmlformats.org/officeDocument/2006/relationships/image" Target="../media/image151.png"/><Relationship Id="rId2" Type="http://schemas.openxmlformats.org/officeDocument/2006/relationships/slideLayout" Target="../slideLayouts/slideLayout129.xml"/><Relationship Id="rId1" Type="http://schemas.openxmlformats.org/officeDocument/2006/relationships/tags" Target="../tags/tag86.xml"/><Relationship Id="rId6" Type="http://schemas.openxmlformats.org/officeDocument/2006/relationships/image" Target="../media/image145.png"/><Relationship Id="rId11" Type="http://schemas.openxmlformats.org/officeDocument/2006/relationships/image" Target="../media/image150.svg"/><Relationship Id="rId5" Type="http://schemas.openxmlformats.org/officeDocument/2006/relationships/image" Target="../media/image144.svg"/><Relationship Id="rId10" Type="http://schemas.openxmlformats.org/officeDocument/2006/relationships/image" Target="../media/image149.png"/><Relationship Id="rId4" Type="http://schemas.openxmlformats.org/officeDocument/2006/relationships/image" Target="../media/image143.png"/><Relationship Id="rId9" Type="http://schemas.openxmlformats.org/officeDocument/2006/relationships/image" Target="../media/image148.sv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92.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7.xml"/></Relationships>
</file>

<file path=ppt/slides/_rels/slide93.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8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95.xml.rels><?xml version="1.0" encoding="UTF-8" standalone="yes"?>
<Relationships xmlns="http://schemas.openxmlformats.org/package/2006/relationships"><Relationship Id="rId8" Type="http://schemas.openxmlformats.org/officeDocument/2006/relationships/image" Target="../media/image158.svg"/><Relationship Id="rId3" Type="http://schemas.openxmlformats.org/officeDocument/2006/relationships/image" Target="../media/image153.png"/><Relationship Id="rId7" Type="http://schemas.openxmlformats.org/officeDocument/2006/relationships/image" Target="../media/image157.png"/><Relationship Id="rId2" Type="http://schemas.openxmlformats.org/officeDocument/2006/relationships/slideLayout" Target="../slideLayouts/slideLayout129.xml"/><Relationship Id="rId1" Type="http://schemas.openxmlformats.org/officeDocument/2006/relationships/tags" Target="../tags/tag89.xml"/><Relationship Id="rId6" Type="http://schemas.openxmlformats.org/officeDocument/2006/relationships/image" Target="../media/image156.svg"/><Relationship Id="rId5" Type="http://schemas.openxmlformats.org/officeDocument/2006/relationships/image" Target="../media/image155.png"/><Relationship Id="rId4" Type="http://schemas.openxmlformats.org/officeDocument/2006/relationships/image" Target="../media/image154.svg"/></Relationships>
</file>

<file path=ppt/slides/_rels/slide96.xml.rels><?xml version="1.0" encoding="UTF-8" standalone="yes"?>
<Relationships xmlns="http://schemas.openxmlformats.org/package/2006/relationships"><Relationship Id="rId8" Type="http://schemas.openxmlformats.org/officeDocument/2006/relationships/image" Target="../media/image163.svg"/><Relationship Id="rId3" Type="http://schemas.openxmlformats.org/officeDocument/2006/relationships/hyperlink" Target="https://goldcopd.org/wp-content/uploads/2023/01/GOLD-2023-ver-1.2-7Jan2023_WMV.pdf" TargetMode="External"/><Relationship Id="rId7" Type="http://schemas.openxmlformats.org/officeDocument/2006/relationships/image" Target="../media/image162.png"/><Relationship Id="rId2" Type="http://schemas.openxmlformats.org/officeDocument/2006/relationships/slideLayout" Target="../slideLayouts/slideLayout129.xml"/><Relationship Id="rId1" Type="http://schemas.openxmlformats.org/officeDocument/2006/relationships/tags" Target="../tags/tag90.xml"/><Relationship Id="rId6" Type="http://schemas.openxmlformats.org/officeDocument/2006/relationships/image" Target="../media/image161.png"/><Relationship Id="rId5" Type="http://schemas.openxmlformats.org/officeDocument/2006/relationships/image" Target="../media/image160.png"/><Relationship Id="rId4" Type="http://schemas.openxmlformats.org/officeDocument/2006/relationships/image" Target="../media/image159.png"/></Relationships>
</file>

<file path=ppt/slides/_rels/slide97.xml.rels><?xml version="1.0" encoding="UTF-8" standalone="yes"?>
<Relationships xmlns="http://schemas.openxmlformats.org/package/2006/relationships"><Relationship Id="rId3" Type="http://schemas.openxmlformats.org/officeDocument/2006/relationships/hyperlink" Target="https://goldcopd.org/wp-content/uploads/2023/01/GOLD-2023-ver-1.2-7Jan2023_WMV.pdf" TargetMode="External"/><Relationship Id="rId2" Type="http://schemas.openxmlformats.org/officeDocument/2006/relationships/slideLayout" Target="../slideLayouts/slideLayout129.xml"/><Relationship Id="rId1" Type="http://schemas.openxmlformats.org/officeDocument/2006/relationships/tags" Target="../tags/tag91.xml"/></Relationships>
</file>

<file path=ppt/slides/_rels/slide9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5.xml"/><Relationship Id="rId1" Type="http://schemas.openxmlformats.org/officeDocument/2006/relationships/slideLayout" Target="../slideLayouts/slideLayout138.xml"/><Relationship Id="rId5" Type="http://schemas.openxmlformats.org/officeDocument/2006/relationships/hyperlink" Target="mailto:MI.Egypt@gsk.com" TargetMode="External"/><Relationship Id="rId4" Type="http://schemas.openxmlformats.org/officeDocument/2006/relationships/hyperlink" Target="mailto:ae.egypt@gsk.com" TargetMode="Externa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4D584-6699-DE19-6461-38F5E9CDAC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14A29-67BD-83EE-FD73-FDB530E3B81A}"/>
              </a:ext>
            </a:extLst>
          </p:cNvPr>
          <p:cNvSpPr>
            <a:spLocks noGrp="1"/>
          </p:cNvSpPr>
          <p:nvPr>
            <p:ph type="ctrTitle"/>
          </p:nvPr>
        </p:nvSpPr>
        <p:spPr>
          <a:xfrm>
            <a:off x="520700" y="4552950"/>
            <a:ext cx="11150600" cy="1024893"/>
          </a:xfrm>
        </p:spPr>
        <p:txBody>
          <a:bodyPr>
            <a:normAutofit/>
          </a:bodyPr>
          <a:lstStyle/>
          <a:p>
            <a:r>
              <a:rPr lang="en-GB" dirty="0"/>
              <a:t>COPD Medical Training</a:t>
            </a:r>
            <a:endParaRPr lang="en-US" dirty="0"/>
          </a:p>
        </p:txBody>
      </p:sp>
      <p:sp>
        <p:nvSpPr>
          <p:cNvPr id="3" name="Subtitle 2">
            <a:extLst>
              <a:ext uri="{FF2B5EF4-FFF2-40B4-BE49-F238E27FC236}">
                <a16:creationId xmlns:a16="http://schemas.microsoft.com/office/drawing/2014/main" id="{99D746B7-D21C-F2D7-3A91-906AA44FB767}"/>
              </a:ext>
            </a:extLst>
          </p:cNvPr>
          <p:cNvSpPr>
            <a:spLocks noGrp="1"/>
          </p:cNvSpPr>
          <p:nvPr>
            <p:ph type="subTitle" idx="1"/>
          </p:nvPr>
        </p:nvSpPr>
        <p:spPr/>
        <p:txBody>
          <a:bodyPr/>
          <a:lstStyle/>
          <a:p>
            <a:r>
              <a:rPr lang="en-US" dirty="0"/>
              <a:t>Medical Affairs Team</a:t>
            </a:r>
            <a:endParaRPr lang="ar-EG" dirty="0"/>
          </a:p>
          <a:p>
            <a:endParaRPr lang="en-US" dirty="0"/>
          </a:p>
        </p:txBody>
      </p:sp>
      <p:sp>
        <p:nvSpPr>
          <p:cNvPr id="5" name="Title 1">
            <a:extLst>
              <a:ext uri="{FF2B5EF4-FFF2-40B4-BE49-F238E27FC236}">
                <a16:creationId xmlns:a16="http://schemas.microsoft.com/office/drawing/2014/main" id="{66F9893F-D22B-552A-7743-13EE790AFB59}"/>
              </a:ext>
            </a:extLst>
          </p:cNvPr>
          <p:cNvSpPr txBox="1">
            <a:spLocks/>
          </p:cNvSpPr>
          <p:nvPr/>
        </p:nvSpPr>
        <p:spPr>
          <a:xfrm>
            <a:off x="4796676" y="6061553"/>
            <a:ext cx="7101410" cy="807913"/>
          </a:xfrm>
          <a:prstGeom prst="rect">
            <a:avLst/>
          </a:prstGeom>
        </p:spPr>
        <p:txBody>
          <a:bodyPr vert="horz" wrap="square" lIns="0" tIns="0" rIns="0" bIns="0" rtlCol="0" anchor="t" anchorCtr="0">
            <a:spAutoFit/>
          </a:bodyPr>
          <a:lstStyle>
            <a:lvl1pPr algn="l" defTabSz="914400" rtl="0" eaLnBrk="1" latinLnBrk="0" hangingPunct="1">
              <a:lnSpc>
                <a:spcPts val="2600"/>
              </a:lnSpc>
              <a:spcBef>
                <a:spcPct val="0"/>
              </a:spcBef>
              <a:buNone/>
              <a:defRPr sz="2600" b="1" kern="1200">
                <a:solidFill>
                  <a:schemeClr val="bg1"/>
                </a:solidFill>
                <a:latin typeface="+mj-lt"/>
                <a:ea typeface="+mj-ea"/>
                <a:cs typeface="+mj-cs"/>
              </a:defRPr>
            </a:lvl1pPr>
          </a:lstStyle>
          <a:p>
            <a:pPr marL="0" marR="0" lvl="0" indent="0" algn="r" defTabSz="914400" rtl="0" eaLnBrk="1" fontAlgn="auto" latinLnBrk="0" hangingPunct="1">
              <a:lnSpc>
                <a:spcPct val="100000"/>
              </a:lnSpc>
              <a:spcBef>
                <a:spcPct val="0"/>
              </a:spcBef>
              <a:spcAft>
                <a:spcPts val="0"/>
              </a:spcAft>
              <a:buClrTx/>
              <a:buSzTx/>
              <a:buFontTx/>
              <a:buNone/>
              <a:tabLst/>
              <a:defRPr/>
            </a:pPr>
            <a:r>
              <a:rPr kumimoji="0" lang="en-GB" sz="1050" b="0" i="0" u="none" strike="noStrike" kern="1200" cap="none" spc="0" normalizeH="0" baseline="0" noProof="0" dirty="0">
                <a:ln>
                  <a:noFill/>
                </a:ln>
                <a:solidFill>
                  <a:prstClr val="white"/>
                </a:solidFill>
                <a:effectLst/>
                <a:uLnTx/>
                <a:uFillTx/>
                <a:latin typeface="Arial"/>
                <a:ea typeface="+mj-ea"/>
                <a:cs typeface="Noto Sans"/>
              </a:rPr>
              <a:t>For internal use only </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GB" sz="1050" b="0" i="0" u="none" strike="noStrike" kern="1200" cap="none" spc="0" normalizeH="0" baseline="0" noProof="0" dirty="0">
                <a:ln>
                  <a:noFill/>
                </a:ln>
                <a:solidFill>
                  <a:prstClr val="white"/>
                </a:solidFill>
                <a:effectLst/>
                <a:uLnTx/>
                <a:uFillTx/>
                <a:latin typeface="Arial"/>
                <a:ea typeface="+mj-ea"/>
                <a:cs typeface="Noto Sans"/>
              </a:rPr>
              <a:t>Date of preparation: May 2025</a:t>
            </a:r>
          </a:p>
          <a:p>
            <a:pPr marL="0" marR="0" lvl="0" indent="0" algn="r" defTabSz="914400" rtl="0" eaLnBrk="1" fontAlgn="auto" latinLnBrk="0" hangingPunct="1">
              <a:lnSpc>
                <a:spcPct val="100000"/>
              </a:lnSpc>
              <a:spcBef>
                <a:spcPct val="0"/>
              </a:spcBef>
              <a:spcAft>
                <a:spcPts val="0"/>
              </a:spcAft>
              <a:buClrTx/>
              <a:buSzTx/>
              <a:buFontTx/>
              <a:buNone/>
              <a:tabLst/>
              <a:defRPr/>
            </a:pPr>
            <a:r>
              <a:rPr kumimoji="0" lang="en-GB" sz="1050" i="0" u="none" strike="noStrike" kern="1200" cap="none" spc="0" normalizeH="0" baseline="0" noProof="0" dirty="0">
                <a:ln>
                  <a:noFill/>
                </a:ln>
                <a:effectLst/>
                <a:uLnTx/>
                <a:uFillTx/>
                <a:latin typeface="Arial"/>
                <a:ea typeface="+mj-ea"/>
                <a:cs typeface="Noto Sans"/>
              </a:rPr>
              <a:t>Content Lab Code:</a:t>
            </a:r>
            <a:r>
              <a:rPr lang="en-US" sz="1050" i="0" dirty="0">
                <a:effectLst/>
                <a:latin typeface="Arial" panose="020B0604020202020204" pitchFamily="34" charset="0"/>
              </a:rPr>
              <a:t>NP-EG-CPU-PPT-250003</a:t>
            </a:r>
          </a:p>
          <a:p>
            <a:pPr marL="0" marR="0" lvl="0" indent="0" algn="r" defTabSz="914400" rtl="0" eaLnBrk="1" fontAlgn="auto" latinLnBrk="0" hangingPunct="1">
              <a:lnSpc>
                <a:spcPct val="100000"/>
              </a:lnSpc>
              <a:spcBef>
                <a:spcPct val="0"/>
              </a:spcBef>
              <a:spcAft>
                <a:spcPts val="0"/>
              </a:spcAft>
              <a:buClrTx/>
              <a:buSzTx/>
              <a:buFontTx/>
              <a:buNone/>
              <a:tabLst/>
              <a:defRPr/>
            </a:pPr>
            <a:endParaRPr lang="en-US" sz="1050" i="0" dirty="0">
              <a:effectLst/>
              <a:latin typeface="Arial" panose="020B0604020202020204" pitchFamily="34" charset="0"/>
            </a:endParaRPr>
          </a:p>
          <a:p>
            <a:pPr marL="0" marR="0" lvl="0" indent="0" algn="r" defTabSz="914400" rtl="0" eaLnBrk="1" fontAlgn="auto" latinLnBrk="0" hangingPunct="1">
              <a:lnSpc>
                <a:spcPct val="100000"/>
              </a:lnSpc>
              <a:spcBef>
                <a:spcPct val="0"/>
              </a:spcBef>
              <a:spcAft>
                <a:spcPts val="0"/>
              </a:spcAft>
              <a:buClrTx/>
              <a:buSzTx/>
              <a:buFontTx/>
              <a:buNone/>
              <a:tabLst/>
              <a:defRPr/>
            </a:pPr>
            <a:endParaRPr kumimoji="0" lang="en-GB" sz="1050" i="0" u="none" strike="noStrike" kern="1200" cap="none" spc="0" normalizeH="0" baseline="0" noProof="0" dirty="0">
              <a:ln>
                <a:noFill/>
              </a:ln>
              <a:effectLst/>
              <a:uLnTx/>
              <a:uFillTx/>
              <a:latin typeface="Arial"/>
              <a:ea typeface="+mj-ea"/>
              <a:cs typeface="Noto Sans"/>
            </a:endParaRPr>
          </a:p>
        </p:txBody>
      </p:sp>
    </p:spTree>
    <p:extLst>
      <p:ext uri="{BB962C8B-B14F-4D97-AF65-F5344CB8AC3E}">
        <p14:creationId xmlns:p14="http://schemas.microsoft.com/office/powerpoint/2010/main" val="57757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A11617B-3C30-0E8E-1AA5-E9E15C11C17C}"/>
              </a:ext>
            </a:extLst>
          </p:cNvPr>
          <p:cNvSpPr>
            <a:spLocks noGrp="1"/>
          </p:cNvSpPr>
          <p:nvPr>
            <p:ph type="body" sz="quarter" idx="22"/>
          </p:nvPr>
        </p:nvSpPr>
        <p:spPr/>
        <p:txBody>
          <a:bodyPr/>
          <a:lstStyle/>
          <a:p>
            <a:r>
              <a:rPr lang="en-US" sz="2400" dirty="0"/>
              <a:t>These slides are for internal training only.</a:t>
            </a:r>
          </a:p>
          <a:p>
            <a:r>
              <a:rPr lang="en-US" sz="2400" dirty="0"/>
              <a:t>These slides are not for onward distribution outside GSK.</a:t>
            </a:r>
          </a:p>
          <a:p>
            <a:r>
              <a:rPr lang="en-US" sz="2400" dirty="0"/>
              <a:t>These slides are not to be used for any external promotional purposes.</a:t>
            </a:r>
          </a:p>
          <a:p>
            <a:pPr marL="0" indent="0">
              <a:buNone/>
            </a:pPr>
            <a:endParaRPr lang="ar-EG" dirty="0"/>
          </a:p>
        </p:txBody>
      </p:sp>
      <p:sp>
        <p:nvSpPr>
          <p:cNvPr id="3" name="Text Placeholder 2">
            <a:extLst>
              <a:ext uri="{FF2B5EF4-FFF2-40B4-BE49-F238E27FC236}">
                <a16:creationId xmlns:a16="http://schemas.microsoft.com/office/drawing/2014/main" id="{659EC8F6-6A2D-BD25-F235-0B0C7F702BCF}"/>
              </a:ext>
            </a:extLst>
          </p:cNvPr>
          <p:cNvSpPr>
            <a:spLocks noGrp="1"/>
          </p:cNvSpPr>
          <p:nvPr>
            <p:ph type="body" sz="quarter" idx="18"/>
          </p:nvPr>
        </p:nvSpPr>
        <p:spPr/>
        <p:txBody>
          <a:bodyPr/>
          <a:lstStyle/>
          <a:p>
            <a:endParaRPr lang="ar-EG"/>
          </a:p>
        </p:txBody>
      </p:sp>
      <p:sp>
        <p:nvSpPr>
          <p:cNvPr id="6" name="Title 5">
            <a:extLst>
              <a:ext uri="{FF2B5EF4-FFF2-40B4-BE49-F238E27FC236}">
                <a16:creationId xmlns:a16="http://schemas.microsoft.com/office/drawing/2014/main" id="{F82F5BAA-A725-9041-AB9D-91C94B9DC03E}"/>
              </a:ext>
            </a:extLst>
          </p:cNvPr>
          <p:cNvSpPr>
            <a:spLocks noGrp="1"/>
          </p:cNvSpPr>
          <p:nvPr>
            <p:ph type="title"/>
          </p:nvPr>
        </p:nvSpPr>
        <p:spPr/>
        <p:txBody>
          <a:bodyPr/>
          <a:lstStyle/>
          <a:p>
            <a:r>
              <a:rPr lang="en-US" dirty="0"/>
              <a:t>Disclaimer</a:t>
            </a:r>
            <a:endParaRPr lang="ar-EG" dirty="0"/>
          </a:p>
        </p:txBody>
      </p:sp>
      <p:sp>
        <p:nvSpPr>
          <p:cNvPr id="7" name="Subtitle 6">
            <a:extLst>
              <a:ext uri="{FF2B5EF4-FFF2-40B4-BE49-F238E27FC236}">
                <a16:creationId xmlns:a16="http://schemas.microsoft.com/office/drawing/2014/main" id="{DE2787AF-3A94-17CC-89C0-E7FAB36A604D}"/>
              </a:ext>
            </a:extLst>
          </p:cNvPr>
          <p:cNvSpPr>
            <a:spLocks noGrp="1"/>
          </p:cNvSpPr>
          <p:nvPr>
            <p:ph type="subTitle" idx="1"/>
          </p:nvPr>
        </p:nvSpPr>
        <p:spPr/>
        <p:txBody>
          <a:bodyPr/>
          <a:lstStyle/>
          <a:p>
            <a:endParaRPr lang="ar-EG"/>
          </a:p>
        </p:txBody>
      </p:sp>
      <p:sp>
        <p:nvSpPr>
          <p:cNvPr id="8" name="Footer Placeholder 7">
            <a:extLst>
              <a:ext uri="{FF2B5EF4-FFF2-40B4-BE49-F238E27FC236}">
                <a16:creationId xmlns:a16="http://schemas.microsoft.com/office/drawing/2014/main" id="{43A0178A-1E62-7A39-6ECA-30F9FAF7A7A9}"/>
              </a:ext>
            </a:extLst>
          </p:cNvPr>
          <p:cNvSpPr>
            <a:spLocks noGrp="1"/>
          </p:cNvSpPr>
          <p:nvPr>
            <p:ph type="ftr" sz="quarter" idx="20"/>
          </p:nvPr>
        </p:nvSpPr>
        <p:spPr/>
        <p:txBody>
          <a:bodyPr/>
          <a:lstStyle/>
          <a:p>
            <a:r>
              <a:rPr lang="en-GB"/>
              <a:t>For Internal Use Only</a:t>
            </a:r>
            <a:endParaRPr lang="en-GB" dirty="0"/>
          </a:p>
        </p:txBody>
      </p:sp>
    </p:spTree>
    <p:extLst>
      <p:ext uri="{BB962C8B-B14F-4D97-AF65-F5344CB8AC3E}">
        <p14:creationId xmlns:p14="http://schemas.microsoft.com/office/powerpoint/2010/main" val="3115010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Learning objectives</a:t>
            </a:r>
          </a:p>
        </p:txBody>
      </p:sp>
      <p:sp>
        <p:nvSpPr>
          <p:cNvPr id="5" name="Text Placeholder 4">
            <a:extLst>
              <a:ext uri="{FF2B5EF4-FFF2-40B4-BE49-F238E27FC236}">
                <a16:creationId xmlns:a16="http://schemas.microsoft.com/office/drawing/2014/main" id="{666AC11E-8414-80B2-66D4-16E48DF80589}"/>
              </a:ext>
            </a:extLst>
          </p:cNvPr>
          <p:cNvSpPr>
            <a:spLocks noGrp="1"/>
          </p:cNvSpPr>
          <p:nvPr>
            <p:ph type="body" sz="quarter" idx="13"/>
          </p:nvPr>
        </p:nvSpPr>
        <p:spPr>
          <a:xfrm>
            <a:off x="365125" y="5863830"/>
            <a:ext cx="11460164" cy="298800"/>
          </a:xfrm>
        </p:spPr>
        <p:txBody>
          <a:bodyPr/>
          <a:lstStyle/>
          <a:p>
            <a:r>
              <a:rPr lang="en-US" sz="800" dirty="0"/>
              <a:t>GOLD, Global Initiative for Chronic Obstructive Lung Disease.</a:t>
            </a:r>
          </a:p>
        </p:txBody>
      </p:sp>
      <p:sp>
        <p:nvSpPr>
          <p:cNvPr id="6" name="Rectangle 5">
            <a:extLst>
              <a:ext uri="{FF2B5EF4-FFF2-40B4-BE49-F238E27FC236}">
                <a16:creationId xmlns:a16="http://schemas.microsoft.com/office/drawing/2014/main" id="{5F51CE07-D340-C0CD-857B-F2186C53AF81}"/>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7" name="Content Placeholder 4">
            <a:extLst>
              <a:ext uri="{FF2B5EF4-FFF2-40B4-BE49-F238E27FC236}">
                <a16:creationId xmlns:a16="http://schemas.microsoft.com/office/drawing/2014/main" id="{A4FD66E3-6C36-C507-5E53-AD238511A1AD}"/>
              </a:ext>
            </a:extLst>
          </p:cNvPr>
          <p:cNvSpPr txBox="1">
            <a:spLocks/>
          </p:cNvSpPr>
          <p:nvPr/>
        </p:nvSpPr>
        <p:spPr>
          <a:xfrm>
            <a:off x="362988" y="1186924"/>
            <a:ext cx="11424000" cy="569387"/>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This module should enable you to</a:t>
            </a:r>
          </a:p>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endPar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149" name="Group 148">
            <a:extLst>
              <a:ext uri="{FF2B5EF4-FFF2-40B4-BE49-F238E27FC236}">
                <a16:creationId xmlns:a16="http://schemas.microsoft.com/office/drawing/2014/main" id="{EBB1D9C6-3D6E-A5D4-82BB-EDDBB80BE3C2}"/>
              </a:ext>
            </a:extLst>
          </p:cNvPr>
          <p:cNvGrpSpPr/>
          <p:nvPr/>
        </p:nvGrpSpPr>
        <p:grpSpPr>
          <a:xfrm>
            <a:off x="367432" y="3227593"/>
            <a:ext cx="11460834" cy="691200"/>
            <a:chOff x="367432" y="3227593"/>
            <a:chExt cx="11460834" cy="691200"/>
          </a:xfrm>
        </p:grpSpPr>
        <p:sp>
          <p:nvSpPr>
            <p:cNvPr id="17" name="object 13"/>
            <p:cNvSpPr/>
            <p:nvPr/>
          </p:nvSpPr>
          <p:spPr>
            <a:xfrm>
              <a:off x="367432" y="3227593"/>
              <a:ext cx="698400" cy="691200"/>
            </a:xfrm>
            <a:custGeom>
              <a:avLst/>
              <a:gdLst/>
              <a:ahLst/>
              <a:cxnLst/>
              <a:rect l="l" t="t" r="r" b="b"/>
              <a:pathLst>
                <a:path w="742950" h="734695">
                  <a:moveTo>
                    <a:pt x="466344" y="177533"/>
                  </a:moveTo>
                  <a:lnTo>
                    <a:pt x="411480" y="177533"/>
                  </a:lnTo>
                  <a:lnTo>
                    <a:pt x="411480" y="122669"/>
                  </a:lnTo>
                  <a:lnTo>
                    <a:pt x="341376" y="122669"/>
                  </a:lnTo>
                  <a:lnTo>
                    <a:pt x="341376" y="177533"/>
                  </a:lnTo>
                  <a:lnTo>
                    <a:pt x="286512" y="177533"/>
                  </a:lnTo>
                  <a:lnTo>
                    <a:pt x="286512" y="247637"/>
                  </a:lnTo>
                  <a:lnTo>
                    <a:pt x="341376" y="247637"/>
                  </a:lnTo>
                  <a:lnTo>
                    <a:pt x="341376" y="303263"/>
                  </a:lnTo>
                  <a:lnTo>
                    <a:pt x="411480" y="303263"/>
                  </a:lnTo>
                  <a:lnTo>
                    <a:pt x="411480" y="247637"/>
                  </a:lnTo>
                  <a:lnTo>
                    <a:pt x="466344" y="247637"/>
                  </a:lnTo>
                  <a:lnTo>
                    <a:pt x="466344" y="177533"/>
                  </a:lnTo>
                  <a:close/>
                </a:path>
                <a:path w="742950" h="734695">
                  <a:moveTo>
                    <a:pt x="635508" y="399275"/>
                  </a:moveTo>
                  <a:lnTo>
                    <a:pt x="633793" y="390804"/>
                  </a:lnTo>
                  <a:lnTo>
                    <a:pt x="629310" y="384035"/>
                  </a:lnTo>
                  <a:lnTo>
                    <a:pt x="622960" y="379564"/>
                  </a:lnTo>
                  <a:lnTo>
                    <a:pt x="615696" y="377939"/>
                  </a:lnTo>
                  <a:lnTo>
                    <a:pt x="596646" y="377939"/>
                  </a:lnTo>
                  <a:lnTo>
                    <a:pt x="588518" y="379564"/>
                  </a:lnTo>
                  <a:lnTo>
                    <a:pt x="582549" y="384035"/>
                  </a:lnTo>
                  <a:lnTo>
                    <a:pt x="578853" y="390804"/>
                  </a:lnTo>
                  <a:lnTo>
                    <a:pt x="577596" y="399275"/>
                  </a:lnTo>
                  <a:lnTo>
                    <a:pt x="577596" y="469379"/>
                  </a:lnTo>
                  <a:lnTo>
                    <a:pt x="572262" y="467093"/>
                  </a:lnTo>
                  <a:lnTo>
                    <a:pt x="339090" y="467093"/>
                  </a:lnTo>
                  <a:lnTo>
                    <a:pt x="345948" y="461759"/>
                  </a:lnTo>
                  <a:lnTo>
                    <a:pt x="351282" y="454901"/>
                  </a:lnTo>
                  <a:lnTo>
                    <a:pt x="351282" y="428231"/>
                  </a:lnTo>
                  <a:lnTo>
                    <a:pt x="349542" y="419760"/>
                  </a:lnTo>
                  <a:lnTo>
                    <a:pt x="344805" y="412991"/>
                  </a:lnTo>
                  <a:lnTo>
                    <a:pt x="337769" y="408520"/>
                  </a:lnTo>
                  <a:lnTo>
                    <a:pt x="329184" y="406895"/>
                  </a:lnTo>
                  <a:lnTo>
                    <a:pt x="187452" y="406895"/>
                  </a:lnTo>
                  <a:lnTo>
                    <a:pt x="187452" y="467093"/>
                  </a:lnTo>
                  <a:lnTo>
                    <a:pt x="185166" y="467093"/>
                  </a:lnTo>
                  <a:lnTo>
                    <a:pt x="180594" y="469379"/>
                  </a:lnTo>
                  <a:lnTo>
                    <a:pt x="177546" y="471665"/>
                  </a:lnTo>
                  <a:lnTo>
                    <a:pt x="177546" y="459473"/>
                  </a:lnTo>
                  <a:lnTo>
                    <a:pt x="182880" y="464807"/>
                  </a:lnTo>
                  <a:lnTo>
                    <a:pt x="187452" y="467093"/>
                  </a:lnTo>
                  <a:lnTo>
                    <a:pt x="187452" y="406895"/>
                  </a:lnTo>
                  <a:lnTo>
                    <a:pt x="180594" y="413753"/>
                  </a:lnTo>
                  <a:lnTo>
                    <a:pt x="177546" y="421373"/>
                  </a:lnTo>
                  <a:lnTo>
                    <a:pt x="177546" y="300977"/>
                  </a:lnTo>
                  <a:lnTo>
                    <a:pt x="175920" y="293712"/>
                  </a:lnTo>
                  <a:lnTo>
                    <a:pt x="171450" y="287362"/>
                  </a:lnTo>
                  <a:lnTo>
                    <a:pt x="164680" y="282879"/>
                  </a:lnTo>
                  <a:lnTo>
                    <a:pt x="156210" y="281165"/>
                  </a:lnTo>
                  <a:lnTo>
                    <a:pt x="139446" y="281165"/>
                  </a:lnTo>
                  <a:lnTo>
                    <a:pt x="130848" y="282879"/>
                  </a:lnTo>
                  <a:lnTo>
                    <a:pt x="123825" y="287362"/>
                  </a:lnTo>
                  <a:lnTo>
                    <a:pt x="119075" y="293712"/>
                  </a:lnTo>
                  <a:lnTo>
                    <a:pt x="117348" y="300977"/>
                  </a:lnTo>
                  <a:lnTo>
                    <a:pt x="117348" y="585203"/>
                  </a:lnTo>
                  <a:lnTo>
                    <a:pt x="119075" y="593686"/>
                  </a:lnTo>
                  <a:lnTo>
                    <a:pt x="123825" y="600443"/>
                  </a:lnTo>
                  <a:lnTo>
                    <a:pt x="130848" y="604926"/>
                  </a:lnTo>
                  <a:lnTo>
                    <a:pt x="139446" y="606539"/>
                  </a:lnTo>
                  <a:lnTo>
                    <a:pt x="156210" y="606539"/>
                  </a:lnTo>
                  <a:lnTo>
                    <a:pt x="164680" y="604926"/>
                  </a:lnTo>
                  <a:lnTo>
                    <a:pt x="171450" y="600443"/>
                  </a:lnTo>
                  <a:lnTo>
                    <a:pt x="175920" y="593686"/>
                  </a:lnTo>
                  <a:lnTo>
                    <a:pt x="177546" y="585203"/>
                  </a:lnTo>
                  <a:lnTo>
                    <a:pt x="177546" y="539483"/>
                  </a:lnTo>
                  <a:lnTo>
                    <a:pt x="180594" y="544055"/>
                  </a:lnTo>
                  <a:lnTo>
                    <a:pt x="187452" y="544055"/>
                  </a:lnTo>
                  <a:lnTo>
                    <a:pt x="339090" y="544055"/>
                  </a:lnTo>
                  <a:lnTo>
                    <a:pt x="572262" y="544055"/>
                  </a:lnTo>
                  <a:lnTo>
                    <a:pt x="577596" y="541769"/>
                  </a:lnTo>
                  <a:lnTo>
                    <a:pt x="577596" y="585203"/>
                  </a:lnTo>
                  <a:lnTo>
                    <a:pt x="578853" y="593686"/>
                  </a:lnTo>
                  <a:lnTo>
                    <a:pt x="582549" y="600443"/>
                  </a:lnTo>
                  <a:lnTo>
                    <a:pt x="588518" y="604926"/>
                  </a:lnTo>
                  <a:lnTo>
                    <a:pt x="596646" y="606539"/>
                  </a:lnTo>
                  <a:lnTo>
                    <a:pt x="615696" y="606539"/>
                  </a:lnTo>
                  <a:lnTo>
                    <a:pt x="622960" y="604926"/>
                  </a:lnTo>
                  <a:lnTo>
                    <a:pt x="629310" y="600443"/>
                  </a:lnTo>
                  <a:lnTo>
                    <a:pt x="633793" y="593686"/>
                  </a:lnTo>
                  <a:lnTo>
                    <a:pt x="635508" y="585203"/>
                  </a:lnTo>
                  <a:lnTo>
                    <a:pt x="635508" y="399275"/>
                  </a:lnTo>
                  <a:close/>
                </a:path>
                <a:path w="742950" h="734695">
                  <a:moveTo>
                    <a:pt x="742950" y="0"/>
                  </a:moveTo>
                  <a:lnTo>
                    <a:pt x="723900" y="0"/>
                  </a:lnTo>
                  <a:lnTo>
                    <a:pt x="723900" y="19037"/>
                  </a:lnTo>
                  <a:lnTo>
                    <a:pt x="723900" y="715505"/>
                  </a:lnTo>
                  <a:lnTo>
                    <a:pt x="19050" y="715505"/>
                  </a:lnTo>
                  <a:lnTo>
                    <a:pt x="19050" y="19037"/>
                  </a:lnTo>
                  <a:lnTo>
                    <a:pt x="723900" y="19037"/>
                  </a:lnTo>
                  <a:lnTo>
                    <a:pt x="723900" y="0"/>
                  </a:lnTo>
                  <a:lnTo>
                    <a:pt x="0" y="0"/>
                  </a:lnTo>
                  <a:lnTo>
                    <a:pt x="0" y="734555"/>
                  </a:lnTo>
                  <a:lnTo>
                    <a:pt x="9144" y="734555"/>
                  </a:lnTo>
                  <a:lnTo>
                    <a:pt x="19050" y="734555"/>
                  </a:lnTo>
                  <a:lnTo>
                    <a:pt x="723900" y="734555"/>
                  </a:lnTo>
                  <a:lnTo>
                    <a:pt x="733806" y="734555"/>
                  </a:lnTo>
                  <a:lnTo>
                    <a:pt x="742950" y="734555"/>
                  </a:lnTo>
                  <a:lnTo>
                    <a:pt x="742950" y="0"/>
                  </a:lnTo>
                  <a:close/>
                </a:path>
              </a:pathLst>
            </a:custGeom>
            <a:solidFill>
              <a:schemeClr val="accent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0" name="object 13">
              <a:extLst>
                <a:ext uri="{FF2B5EF4-FFF2-40B4-BE49-F238E27FC236}">
                  <a16:creationId xmlns:a16="http://schemas.microsoft.com/office/drawing/2014/main" id="{774A0A39-D43B-10DF-3CE8-38F5AD1BC7E9}"/>
                </a:ext>
              </a:extLst>
            </p:cNvPr>
            <p:cNvSpPr txBox="1">
              <a:spLocks/>
            </p:cNvSpPr>
            <p:nvPr/>
          </p:nvSpPr>
          <p:spPr>
            <a:xfrm>
              <a:off x="1143466" y="3234865"/>
              <a:ext cx="10684800" cy="676656"/>
            </a:xfrm>
            <a:prstGeom prst="rect">
              <a:avLst/>
            </a:prstGeom>
            <a:solidFill>
              <a:schemeClr val="accent2"/>
            </a:solidFill>
            <a:ln w="19050">
              <a:noFill/>
            </a:ln>
          </p:spPr>
          <p:txBody>
            <a:bodyPr vert="horz" wrap="square" lIns="91440" tIns="91440" rIns="91440" bIns="91440" rtlCol="0" anchor="ctr">
              <a:noAutofit/>
            </a:bodyPr>
            <a:lstStyle/>
            <a:p>
              <a:pPr marL="71755"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Discuss exacerbations in COPD and their impact on patients</a:t>
              </a:r>
              <a:endParaRPr kumimoji="0" lang="en-US" sz="16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50" name="Group 149">
            <a:extLst>
              <a:ext uri="{FF2B5EF4-FFF2-40B4-BE49-F238E27FC236}">
                <a16:creationId xmlns:a16="http://schemas.microsoft.com/office/drawing/2014/main" id="{7E43A519-378E-907D-4229-122509441E9A}"/>
              </a:ext>
            </a:extLst>
          </p:cNvPr>
          <p:cNvGrpSpPr/>
          <p:nvPr/>
        </p:nvGrpSpPr>
        <p:grpSpPr>
          <a:xfrm>
            <a:off x="367432" y="3990775"/>
            <a:ext cx="11460834" cy="691200"/>
            <a:chOff x="367432" y="3990775"/>
            <a:chExt cx="11460834" cy="691200"/>
          </a:xfrm>
        </p:grpSpPr>
        <p:sp>
          <p:nvSpPr>
            <p:cNvPr id="14" name="object 11"/>
            <p:cNvSpPr/>
            <p:nvPr/>
          </p:nvSpPr>
          <p:spPr>
            <a:xfrm>
              <a:off x="367432" y="3990775"/>
              <a:ext cx="698400" cy="691200"/>
            </a:xfrm>
            <a:custGeom>
              <a:avLst/>
              <a:gdLst/>
              <a:ahLst/>
              <a:cxnLst/>
              <a:rect l="l" t="t" r="r" b="b"/>
              <a:pathLst>
                <a:path w="742950" h="740410">
                  <a:moveTo>
                    <a:pt x="306324" y="486918"/>
                  </a:moveTo>
                  <a:lnTo>
                    <a:pt x="218694" y="486918"/>
                  </a:lnTo>
                  <a:lnTo>
                    <a:pt x="218694" y="574548"/>
                  </a:lnTo>
                  <a:lnTo>
                    <a:pt x="306324" y="574548"/>
                  </a:lnTo>
                  <a:lnTo>
                    <a:pt x="306324" y="486918"/>
                  </a:lnTo>
                  <a:close/>
                </a:path>
                <a:path w="742950" h="740410">
                  <a:moveTo>
                    <a:pt x="306324" y="341376"/>
                  </a:moveTo>
                  <a:lnTo>
                    <a:pt x="218694" y="341376"/>
                  </a:lnTo>
                  <a:lnTo>
                    <a:pt x="218694" y="429768"/>
                  </a:lnTo>
                  <a:lnTo>
                    <a:pt x="306324" y="429768"/>
                  </a:lnTo>
                  <a:lnTo>
                    <a:pt x="306324" y="341376"/>
                  </a:lnTo>
                  <a:close/>
                </a:path>
                <a:path w="742950" h="740410">
                  <a:moveTo>
                    <a:pt x="455676" y="196596"/>
                  </a:moveTo>
                  <a:lnTo>
                    <a:pt x="218694" y="196596"/>
                  </a:lnTo>
                  <a:lnTo>
                    <a:pt x="218694" y="284226"/>
                  </a:lnTo>
                  <a:lnTo>
                    <a:pt x="455676" y="284226"/>
                  </a:lnTo>
                  <a:lnTo>
                    <a:pt x="455676" y="196596"/>
                  </a:lnTo>
                  <a:close/>
                </a:path>
                <a:path w="742950" h="740410">
                  <a:moveTo>
                    <a:pt x="564642" y="559320"/>
                  </a:moveTo>
                  <a:lnTo>
                    <a:pt x="561594" y="555510"/>
                  </a:lnTo>
                  <a:lnTo>
                    <a:pt x="339852" y="555510"/>
                  </a:lnTo>
                  <a:lnTo>
                    <a:pt x="334518" y="559320"/>
                  </a:lnTo>
                  <a:lnTo>
                    <a:pt x="334518" y="569988"/>
                  </a:lnTo>
                  <a:lnTo>
                    <a:pt x="339852" y="574560"/>
                  </a:lnTo>
                  <a:lnTo>
                    <a:pt x="344424" y="574560"/>
                  </a:lnTo>
                  <a:lnTo>
                    <a:pt x="561594" y="574560"/>
                  </a:lnTo>
                  <a:lnTo>
                    <a:pt x="564642" y="569988"/>
                  </a:lnTo>
                  <a:lnTo>
                    <a:pt x="564642" y="559320"/>
                  </a:lnTo>
                  <a:close/>
                </a:path>
                <a:path w="742950" h="740410">
                  <a:moveTo>
                    <a:pt x="564642" y="488442"/>
                  </a:moveTo>
                  <a:lnTo>
                    <a:pt x="561594" y="483870"/>
                  </a:lnTo>
                  <a:lnTo>
                    <a:pt x="339852" y="483870"/>
                  </a:lnTo>
                  <a:lnTo>
                    <a:pt x="334518" y="488442"/>
                  </a:lnTo>
                  <a:lnTo>
                    <a:pt x="334518" y="499872"/>
                  </a:lnTo>
                  <a:lnTo>
                    <a:pt x="339852" y="502920"/>
                  </a:lnTo>
                  <a:lnTo>
                    <a:pt x="344424" y="502920"/>
                  </a:lnTo>
                  <a:lnTo>
                    <a:pt x="561594" y="502920"/>
                  </a:lnTo>
                  <a:lnTo>
                    <a:pt x="564642" y="499872"/>
                  </a:lnTo>
                  <a:lnTo>
                    <a:pt x="564642" y="488442"/>
                  </a:lnTo>
                  <a:close/>
                </a:path>
                <a:path w="742950" h="740410">
                  <a:moveTo>
                    <a:pt x="564642" y="419100"/>
                  </a:moveTo>
                  <a:lnTo>
                    <a:pt x="561594" y="414528"/>
                  </a:lnTo>
                  <a:lnTo>
                    <a:pt x="339852" y="414528"/>
                  </a:lnTo>
                  <a:lnTo>
                    <a:pt x="334518" y="419100"/>
                  </a:lnTo>
                  <a:lnTo>
                    <a:pt x="334518" y="428244"/>
                  </a:lnTo>
                  <a:lnTo>
                    <a:pt x="339852" y="433578"/>
                  </a:lnTo>
                  <a:lnTo>
                    <a:pt x="344424" y="433578"/>
                  </a:lnTo>
                  <a:lnTo>
                    <a:pt x="561594" y="433578"/>
                  </a:lnTo>
                  <a:lnTo>
                    <a:pt x="564642" y="428244"/>
                  </a:lnTo>
                  <a:lnTo>
                    <a:pt x="564642" y="419100"/>
                  </a:lnTo>
                  <a:close/>
                </a:path>
                <a:path w="742950" h="740410">
                  <a:moveTo>
                    <a:pt x="564642" y="348234"/>
                  </a:moveTo>
                  <a:lnTo>
                    <a:pt x="561594" y="344424"/>
                  </a:lnTo>
                  <a:lnTo>
                    <a:pt x="339852" y="344424"/>
                  </a:lnTo>
                  <a:lnTo>
                    <a:pt x="334518" y="348234"/>
                  </a:lnTo>
                  <a:lnTo>
                    <a:pt x="334518" y="358902"/>
                  </a:lnTo>
                  <a:lnTo>
                    <a:pt x="339852" y="363474"/>
                  </a:lnTo>
                  <a:lnTo>
                    <a:pt x="344424" y="363474"/>
                  </a:lnTo>
                  <a:lnTo>
                    <a:pt x="561594" y="363474"/>
                  </a:lnTo>
                  <a:lnTo>
                    <a:pt x="564642" y="358902"/>
                  </a:lnTo>
                  <a:lnTo>
                    <a:pt x="564642" y="348234"/>
                  </a:lnTo>
                  <a:close/>
                </a:path>
                <a:path w="742950" h="740410">
                  <a:moveTo>
                    <a:pt x="627126" y="270510"/>
                  </a:moveTo>
                  <a:lnTo>
                    <a:pt x="607314" y="250698"/>
                  </a:lnTo>
                  <a:lnTo>
                    <a:pt x="607314" y="278130"/>
                  </a:lnTo>
                  <a:lnTo>
                    <a:pt x="607314" y="278904"/>
                  </a:lnTo>
                  <a:lnTo>
                    <a:pt x="607314" y="581406"/>
                  </a:lnTo>
                  <a:lnTo>
                    <a:pt x="604354" y="596163"/>
                  </a:lnTo>
                  <a:lnTo>
                    <a:pt x="596265" y="608558"/>
                  </a:lnTo>
                  <a:lnTo>
                    <a:pt x="584161" y="617093"/>
                  </a:lnTo>
                  <a:lnTo>
                    <a:pt x="569214" y="620268"/>
                  </a:lnTo>
                  <a:lnTo>
                    <a:pt x="182880" y="620268"/>
                  </a:lnTo>
                  <a:lnTo>
                    <a:pt x="168236" y="617093"/>
                  </a:lnTo>
                  <a:lnTo>
                    <a:pt x="156108" y="608558"/>
                  </a:lnTo>
                  <a:lnTo>
                    <a:pt x="147828" y="596163"/>
                  </a:lnTo>
                  <a:lnTo>
                    <a:pt x="144780" y="581406"/>
                  </a:lnTo>
                  <a:lnTo>
                    <a:pt x="144780" y="162306"/>
                  </a:lnTo>
                  <a:lnTo>
                    <a:pt x="164592" y="162306"/>
                  </a:lnTo>
                  <a:lnTo>
                    <a:pt x="164592" y="580644"/>
                  </a:lnTo>
                  <a:lnTo>
                    <a:pt x="164592" y="585216"/>
                  </a:lnTo>
                  <a:lnTo>
                    <a:pt x="169926" y="590550"/>
                  </a:lnTo>
                  <a:lnTo>
                    <a:pt x="181356" y="590550"/>
                  </a:lnTo>
                  <a:lnTo>
                    <a:pt x="185928" y="585216"/>
                  </a:lnTo>
                  <a:lnTo>
                    <a:pt x="185928" y="162306"/>
                  </a:lnTo>
                  <a:lnTo>
                    <a:pt x="485394" y="162306"/>
                  </a:lnTo>
                  <a:lnTo>
                    <a:pt x="485394" y="278904"/>
                  </a:lnTo>
                  <a:lnTo>
                    <a:pt x="607314" y="278904"/>
                  </a:lnTo>
                  <a:lnTo>
                    <a:pt x="607314" y="278155"/>
                  </a:lnTo>
                  <a:lnTo>
                    <a:pt x="490740" y="162306"/>
                  </a:lnTo>
                  <a:lnTo>
                    <a:pt x="491490" y="162306"/>
                  </a:lnTo>
                  <a:lnTo>
                    <a:pt x="495300" y="166116"/>
                  </a:lnTo>
                  <a:lnTo>
                    <a:pt x="607314" y="278130"/>
                  </a:lnTo>
                  <a:lnTo>
                    <a:pt x="607314" y="250698"/>
                  </a:lnTo>
                  <a:lnTo>
                    <a:pt x="499110" y="142494"/>
                  </a:lnTo>
                  <a:lnTo>
                    <a:pt x="181356" y="142494"/>
                  </a:lnTo>
                  <a:lnTo>
                    <a:pt x="169926" y="142494"/>
                  </a:lnTo>
                  <a:lnTo>
                    <a:pt x="124968" y="142494"/>
                  </a:lnTo>
                  <a:lnTo>
                    <a:pt x="124968" y="581406"/>
                  </a:lnTo>
                  <a:lnTo>
                    <a:pt x="142201" y="622363"/>
                  </a:lnTo>
                  <a:lnTo>
                    <a:pt x="182880" y="639318"/>
                  </a:lnTo>
                  <a:lnTo>
                    <a:pt x="569214" y="639318"/>
                  </a:lnTo>
                  <a:lnTo>
                    <a:pt x="607314" y="624293"/>
                  </a:lnTo>
                  <a:lnTo>
                    <a:pt x="627126" y="581406"/>
                  </a:lnTo>
                  <a:lnTo>
                    <a:pt x="627126" y="270510"/>
                  </a:lnTo>
                  <a:close/>
                </a:path>
                <a:path w="742950" h="740410">
                  <a:moveTo>
                    <a:pt x="742950" y="0"/>
                  </a:moveTo>
                  <a:lnTo>
                    <a:pt x="723900" y="0"/>
                  </a:lnTo>
                  <a:lnTo>
                    <a:pt x="723900" y="19050"/>
                  </a:lnTo>
                  <a:lnTo>
                    <a:pt x="723900" y="720852"/>
                  </a:lnTo>
                  <a:lnTo>
                    <a:pt x="19050" y="720852"/>
                  </a:lnTo>
                  <a:lnTo>
                    <a:pt x="19050" y="19050"/>
                  </a:lnTo>
                  <a:lnTo>
                    <a:pt x="723900" y="19050"/>
                  </a:lnTo>
                  <a:lnTo>
                    <a:pt x="723900" y="0"/>
                  </a:lnTo>
                  <a:lnTo>
                    <a:pt x="0" y="0"/>
                  </a:lnTo>
                  <a:lnTo>
                    <a:pt x="0" y="739902"/>
                  </a:lnTo>
                  <a:lnTo>
                    <a:pt x="9144" y="739902"/>
                  </a:lnTo>
                  <a:lnTo>
                    <a:pt x="19050" y="739902"/>
                  </a:lnTo>
                  <a:lnTo>
                    <a:pt x="723900" y="739902"/>
                  </a:lnTo>
                  <a:lnTo>
                    <a:pt x="733806" y="739902"/>
                  </a:lnTo>
                  <a:lnTo>
                    <a:pt x="742950" y="739902"/>
                  </a:lnTo>
                  <a:lnTo>
                    <a:pt x="742950" y="0"/>
                  </a:lnTo>
                  <a:close/>
                </a:path>
              </a:pathLst>
            </a:custGeom>
            <a:solidFill>
              <a:schemeClr val="accent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1" name="object 17">
              <a:extLst>
                <a:ext uri="{FF2B5EF4-FFF2-40B4-BE49-F238E27FC236}">
                  <a16:creationId xmlns:a16="http://schemas.microsoft.com/office/drawing/2014/main" id="{AB4DEEFE-363A-9D77-8EB8-D3001F72BD32}"/>
                </a:ext>
              </a:extLst>
            </p:cNvPr>
            <p:cNvSpPr txBox="1">
              <a:spLocks/>
            </p:cNvSpPr>
            <p:nvPr/>
          </p:nvSpPr>
          <p:spPr>
            <a:xfrm>
              <a:off x="1143466" y="3998047"/>
              <a:ext cx="10684800" cy="676656"/>
            </a:xfrm>
            <a:prstGeom prst="rect">
              <a:avLst/>
            </a:prstGeom>
            <a:solidFill>
              <a:schemeClr val="accent3"/>
            </a:solidFill>
            <a:ln w="19050">
              <a:noFill/>
            </a:ln>
          </p:spPr>
          <p:txBody>
            <a:bodyPr vert="horz" wrap="square" lIns="91440" tIns="91440" rIns="91440" bIns="91440" rtlCol="0" anchor="ctr">
              <a:noAutofit/>
            </a:bodyPr>
            <a:lstStyle/>
            <a:p>
              <a:pPr marL="71755" marR="0" lvl="0" indent="0" algn="l" defTabSz="914400" rtl="0" eaLnBrk="1" fontAlgn="auto" latinLnBrk="0" hangingPunct="1">
                <a:lnSpc>
                  <a:spcPct val="100000"/>
                </a:lnSpc>
                <a:spcBef>
                  <a:spcPts val="5"/>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Understand the GOLD 2025 COPD strategy document</a:t>
              </a:r>
              <a:endParaRPr kumimoji="0" lang="en-US" sz="16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52" name="Group 151">
            <a:extLst>
              <a:ext uri="{FF2B5EF4-FFF2-40B4-BE49-F238E27FC236}">
                <a16:creationId xmlns:a16="http://schemas.microsoft.com/office/drawing/2014/main" id="{40E1D030-792B-629E-BAE2-1FED6A305BC8}"/>
              </a:ext>
            </a:extLst>
          </p:cNvPr>
          <p:cNvGrpSpPr/>
          <p:nvPr/>
        </p:nvGrpSpPr>
        <p:grpSpPr>
          <a:xfrm>
            <a:off x="367432" y="4754289"/>
            <a:ext cx="698400" cy="691200"/>
            <a:chOff x="367432" y="4754289"/>
            <a:chExt cx="698400" cy="691200"/>
          </a:xfrm>
        </p:grpSpPr>
        <p:sp>
          <p:nvSpPr>
            <p:cNvPr id="25" name="object 16"/>
            <p:cNvSpPr/>
            <p:nvPr/>
          </p:nvSpPr>
          <p:spPr>
            <a:xfrm>
              <a:off x="367432" y="4754289"/>
              <a:ext cx="698400" cy="691200"/>
            </a:xfrm>
            <a:custGeom>
              <a:avLst/>
              <a:gdLst/>
              <a:ahLst/>
              <a:cxnLst/>
              <a:rect l="l" t="t" r="r" b="b"/>
              <a:pathLst>
                <a:path w="744219" h="734695">
                  <a:moveTo>
                    <a:pt x="374142" y="227838"/>
                  </a:moveTo>
                  <a:lnTo>
                    <a:pt x="367347" y="181927"/>
                  </a:lnTo>
                  <a:lnTo>
                    <a:pt x="348335" y="142519"/>
                  </a:lnTo>
                  <a:lnTo>
                    <a:pt x="340614" y="134378"/>
                  </a:lnTo>
                  <a:lnTo>
                    <a:pt x="340614" y="227838"/>
                  </a:lnTo>
                  <a:lnTo>
                    <a:pt x="338963" y="237642"/>
                  </a:lnTo>
                  <a:lnTo>
                    <a:pt x="334327" y="245084"/>
                  </a:lnTo>
                  <a:lnTo>
                    <a:pt x="327101" y="249809"/>
                  </a:lnTo>
                  <a:lnTo>
                    <a:pt x="317754" y="251460"/>
                  </a:lnTo>
                  <a:lnTo>
                    <a:pt x="308063" y="249809"/>
                  </a:lnTo>
                  <a:lnTo>
                    <a:pt x="300888" y="245084"/>
                  </a:lnTo>
                  <a:lnTo>
                    <a:pt x="296418" y="237642"/>
                  </a:lnTo>
                  <a:lnTo>
                    <a:pt x="294894" y="227838"/>
                  </a:lnTo>
                  <a:lnTo>
                    <a:pt x="296418" y="217601"/>
                  </a:lnTo>
                  <a:lnTo>
                    <a:pt x="300888" y="209931"/>
                  </a:lnTo>
                  <a:lnTo>
                    <a:pt x="308063" y="205130"/>
                  </a:lnTo>
                  <a:lnTo>
                    <a:pt x="317754" y="203454"/>
                  </a:lnTo>
                  <a:lnTo>
                    <a:pt x="327101" y="205130"/>
                  </a:lnTo>
                  <a:lnTo>
                    <a:pt x="334327" y="209931"/>
                  </a:lnTo>
                  <a:lnTo>
                    <a:pt x="338963" y="217601"/>
                  </a:lnTo>
                  <a:lnTo>
                    <a:pt x="340614" y="227838"/>
                  </a:lnTo>
                  <a:lnTo>
                    <a:pt x="340614" y="134378"/>
                  </a:lnTo>
                  <a:lnTo>
                    <a:pt x="319163" y="111747"/>
                  </a:lnTo>
                  <a:lnTo>
                    <a:pt x="281863" y="91732"/>
                  </a:lnTo>
                  <a:lnTo>
                    <a:pt x="261366" y="88353"/>
                  </a:lnTo>
                  <a:lnTo>
                    <a:pt x="261366" y="227838"/>
                  </a:lnTo>
                  <a:lnTo>
                    <a:pt x="259829" y="237642"/>
                  </a:lnTo>
                  <a:lnTo>
                    <a:pt x="255358" y="245084"/>
                  </a:lnTo>
                  <a:lnTo>
                    <a:pt x="248183" y="249809"/>
                  </a:lnTo>
                  <a:lnTo>
                    <a:pt x="238506" y="251460"/>
                  </a:lnTo>
                  <a:lnTo>
                    <a:pt x="229146" y="249809"/>
                  </a:lnTo>
                  <a:lnTo>
                    <a:pt x="221932" y="245084"/>
                  </a:lnTo>
                  <a:lnTo>
                    <a:pt x="217284" y="237642"/>
                  </a:lnTo>
                  <a:lnTo>
                    <a:pt x="215646" y="227838"/>
                  </a:lnTo>
                  <a:lnTo>
                    <a:pt x="217284" y="217601"/>
                  </a:lnTo>
                  <a:lnTo>
                    <a:pt x="221932" y="209931"/>
                  </a:lnTo>
                  <a:lnTo>
                    <a:pt x="229146" y="205130"/>
                  </a:lnTo>
                  <a:lnTo>
                    <a:pt x="238506" y="203454"/>
                  </a:lnTo>
                  <a:lnTo>
                    <a:pt x="248183" y="205130"/>
                  </a:lnTo>
                  <a:lnTo>
                    <a:pt x="255358" y="209931"/>
                  </a:lnTo>
                  <a:lnTo>
                    <a:pt x="259829" y="217601"/>
                  </a:lnTo>
                  <a:lnTo>
                    <a:pt x="261366" y="227838"/>
                  </a:lnTo>
                  <a:lnTo>
                    <a:pt x="261366" y="88353"/>
                  </a:lnTo>
                  <a:lnTo>
                    <a:pt x="238506" y="84582"/>
                  </a:lnTo>
                  <a:lnTo>
                    <a:pt x="195135" y="91732"/>
                  </a:lnTo>
                  <a:lnTo>
                    <a:pt x="182118" y="98729"/>
                  </a:lnTo>
                  <a:lnTo>
                    <a:pt x="182118" y="227838"/>
                  </a:lnTo>
                  <a:lnTo>
                    <a:pt x="180581" y="237642"/>
                  </a:lnTo>
                  <a:lnTo>
                    <a:pt x="176110" y="245084"/>
                  </a:lnTo>
                  <a:lnTo>
                    <a:pt x="168935" y="249809"/>
                  </a:lnTo>
                  <a:lnTo>
                    <a:pt x="159258" y="251460"/>
                  </a:lnTo>
                  <a:lnTo>
                    <a:pt x="150012" y="249809"/>
                  </a:lnTo>
                  <a:lnTo>
                    <a:pt x="143065" y="245084"/>
                  </a:lnTo>
                  <a:lnTo>
                    <a:pt x="138684" y="237642"/>
                  </a:lnTo>
                  <a:lnTo>
                    <a:pt x="137160" y="227838"/>
                  </a:lnTo>
                  <a:lnTo>
                    <a:pt x="138684" y="217601"/>
                  </a:lnTo>
                  <a:lnTo>
                    <a:pt x="143065" y="209931"/>
                  </a:lnTo>
                  <a:lnTo>
                    <a:pt x="150012" y="205130"/>
                  </a:lnTo>
                  <a:lnTo>
                    <a:pt x="159258" y="203454"/>
                  </a:lnTo>
                  <a:lnTo>
                    <a:pt x="168935" y="205130"/>
                  </a:lnTo>
                  <a:lnTo>
                    <a:pt x="176110" y="209931"/>
                  </a:lnTo>
                  <a:lnTo>
                    <a:pt x="180581" y="217601"/>
                  </a:lnTo>
                  <a:lnTo>
                    <a:pt x="182118" y="227838"/>
                  </a:lnTo>
                  <a:lnTo>
                    <a:pt x="182118" y="98729"/>
                  </a:lnTo>
                  <a:lnTo>
                    <a:pt x="157835" y="111747"/>
                  </a:lnTo>
                  <a:lnTo>
                    <a:pt x="128663" y="142519"/>
                  </a:lnTo>
                  <a:lnTo>
                    <a:pt x="109651" y="181927"/>
                  </a:lnTo>
                  <a:lnTo>
                    <a:pt x="102870" y="227838"/>
                  </a:lnTo>
                  <a:lnTo>
                    <a:pt x="109651" y="273469"/>
                  </a:lnTo>
                  <a:lnTo>
                    <a:pt x="128663" y="312839"/>
                  </a:lnTo>
                  <a:lnTo>
                    <a:pt x="137160" y="321818"/>
                  </a:lnTo>
                  <a:lnTo>
                    <a:pt x="157835" y="343712"/>
                  </a:lnTo>
                  <a:lnTo>
                    <a:pt x="182118" y="356844"/>
                  </a:lnTo>
                  <a:lnTo>
                    <a:pt x="195135" y="363880"/>
                  </a:lnTo>
                  <a:lnTo>
                    <a:pt x="215646" y="367296"/>
                  </a:lnTo>
                  <a:lnTo>
                    <a:pt x="238506" y="371094"/>
                  </a:lnTo>
                  <a:lnTo>
                    <a:pt x="249936" y="371094"/>
                  </a:lnTo>
                  <a:lnTo>
                    <a:pt x="261366" y="383146"/>
                  </a:lnTo>
                  <a:lnTo>
                    <a:pt x="294894" y="418490"/>
                  </a:lnTo>
                  <a:lnTo>
                    <a:pt x="306324" y="430530"/>
                  </a:lnTo>
                  <a:lnTo>
                    <a:pt x="306324" y="352806"/>
                  </a:lnTo>
                  <a:lnTo>
                    <a:pt x="333629" y="329539"/>
                  </a:lnTo>
                  <a:lnTo>
                    <a:pt x="340614" y="320040"/>
                  </a:lnTo>
                  <a:lnTo>
                    <a:pt x="355092" y="300329"/>
                  </a:lnTo>
                  <a:lnTo>
                    <a:pt x="369112" y="266128"/>
                  </a:lnTo>
                  <a:lnTo>
                    <a:pt x="374142" y="227838"/>
                  </a:lnTo>
                  <a:close/>
                </a:path>
                <a:path w="744219" h="734695">
                  <a:moveTo>
                    <a:pt x="743712" y="0"/>
                  </a:moveTo>
                  <a:lnTo>
                    <a:pt x="724662" y="0"/>
                  </a:lnTo>
                  <a:lnTo>
                    <a:pt x="724662" y="19050"/>
                  </a:lnTo>
                  <a:lnTo>
                    <a:pt x="724662" y="715518"/>
                  </a:lnTo>
                  <a:lnTo>
                    <a:pt x="19050" y="715518"/>
                  </a:lnTo>
                  <a:lnTo>
                    <a:pt x="19050" y="19050"/>
                  </a:lnTo>
                  <a:lnTo>
                    <a:pt x="724662" y="19050"/>
                  </a:lnTo>
                  <a:lnTo>
                    <a:pt x="724662" y="0"/>
                  </a:lnTo>
                  <a:lnTo>
                    <a:pt x="0" y="0"/>
                  </a:lnTo>
                  <a:lnTo>
                    <a:pt x="0" y="734568"/>
                  </a:lnTo>
                  <a:lnTo>
                    <a:pt x="9906" y="734568"/>
                  </a:lnTo>
                  <a:lnTo>
                    <a:pt x="19050" y="734568"/>
                  </a:lnTo>
                  <a:lnTo>
                    <a:pt x="724662" y="734568"/>
                  </a:lnTo>
                  <a:lnTo>
                    <a:pt x="733806" y="734568"/>
                  </a:lnTo>
                  <a:lnTo>
                    <a:pt x="743712" y="734568"/>
                  </a:lnTo>
                  <a:lnTo>
                    <a:pt x="743712" y="0"/>
                  </a:lnTo>
                  <a:close/>
                </a:path>
              </a:pathLst>
            </a:custGeom>
            <a:solidFill>
              <a:schemeClr val="accent6"/>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100" name="Group 99">
              <a:extLst>
                <a:ext uri="{FF2B5EF4-FFF2-40B4-BE49-F238E27FC236}">
                  <a16:creationId xmlns:a16="http://schemas.microsoft.com/office/drawing/2014/main" id="{2BB539CA-3513-5C67-D7D7-5825761B4F9C}"/>
                </a:ext>
              </a:extLst>
            </p:cNvPr>
            <p:cNvGrpSpPr/>
            <p:nvPr/>
          </p:nvGrpSpPr>
          <p:grpSpPr>
            <a:xfrm>
              <a:off x="615668" y="4980007"/>
              <a:ext cx="366684" cy="393315"/>
              <a:chOff x="623954" y="5063157"/>
              <a:chExt cx="389366" cy="421462"/>
            </a:xfrm>
            <a:solidFill>
              <a:schemeClr val="accent6"/>
            </a:solidFill>
          </p:grpSpPr>
          <p:sp>
            <p:nvSpPr>
              <p:cNvPr id="27" name="object 18"/>
              <p:cNvSpPr/>
              <p:nvPr/>
            </p:nvSpPr>
            <p:spPr>
              <a:xfrm>
                <a:off x="623954" y="5306015"/>
                <a:ext cx="389366" cy="178604"/>
              </a:xfrm>
              <a:custGeom>
                <a:avLst/>
                <a:gdLst/>
                <a:ahLst/>
                <a:cxnLst/>
                <a:rect l="l" t="t" r="r" b="b"/>
                <a:pathLst>
                  <a:path w="386080" h="177164">
                    <a:moveTo>
                      <a:pt x="189737" y="176783"/>
                    </a:moveTo>
                    <a:lnTo>
                      <a:pt x="189737" y="51053"/>
                    </a:lnTo>
                    <a:lnTo>
                      <a:pt x="175259" y="71627"/>
                    </a:lnTo>
                    <a:lnTo>
                      <a:pt x="175259" y="128777"/>
                    </a:lnTo>
                    <a:lnTo>
                      <a:pt x="135635" y="0"/>
                    </a:lnTo>
                    <a:lnTo>
                      <a:pt x="33527" y="35813"/>
                    </a:lnTo>
                    <a:lnTo>
                      <a:pt x="7072" y="86344"/>
                    </a:lnTo>
                    <a:lnTo>
                      <a:pt x="928" y="148923"/>
                    </a:lnTo>
                    <a:lnTo>
                      <a:pt x="0" y="176783"/>
                    </a:lnTo>
                    <a:lnTo>
                      <a:pt x="189737" y="176783"/>
                    </a:lnTo>
                    <a:close/>
                  </a:path>
                  <a:path w="386080" h="177164">
                    <a:moveTo>
                      <a:pt x="209549" y="35813"/>
                    </a:moveTo>
                    <a:lnTo>
                      <a:pt x="192785" y="21335"/>
                    </a:lnTo>
                    <a:lnTo>
                      <a:pt x="175259" y="35813"/>
                    </a:lnTo>
                    <a:lnTo>
                      <a:pt x="189737" y="51053"/>
                    </a:lnTo>
                    <a:lnTo>
                      <a:pt x="189737" y="176783"/>
                    </a:lnTo>
                    <a:lnTo>
                      <a:pt x="195833" y="176783"/>
                    </a:lnTo>
                    <a:lnTo>
                      <a:pt x="195833" y="51053"/>
                    </a:lnTo>
                    <a:lnTo>
                      <a:pt x="209549" y="35813"/>
                    </a:lnTo>
                    <a:close/>
                  </a:path>
                  <a:path w="386080" h="177164">
                    <a:moveTo>
                      <a:pt x="385571" y="176783"/>
                    </a:moveTo>
                    <a:lnTo>
                      <a:pt x="381857" y="117347"/>
                    </a:lnTo>
                    <a:lnTo>
                      <a:pt x="374141" y="60197"/>
                    </a:lnTo>
                    <a:lnTo>
                      <a:pt x="249173" y="0"/>
                    </a:lnTo>
                    <a:lnTo>
                      <a:pt x="209549" y="128777"/>
                    </a:lnTo>
                    <a:lnTo>
                      <a:pt x="209549" y="71627"/>
                    </a:lnTo>
                    <a:lnTo>
                      <a:pt x="195833" y="51053"/>
                    </a:lnTo>
                    <a:lnTo>
                      <a:pt x="195833" y="176783"/>
                    </a:lnTo>
                    <a:lnTo>
                      <a:pt x="385571" y="176783"/>
                    </a:lnTo>
                    <a:close/>
                  </a:path>
                </a:pathLst>
              </a:custGeom>
              <a:grp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9" name="Freeform: Shape 98">
                <a:extLst>
                  <a:ext uri="{FF2B5EF4-FFF2-40B4-BE49-F238E27FC236}">
                    <a16:creationId xmlns:a16="http://schemas.microsoft.com/office/drawing/2014/main" id="{4A914C13-E37F-EF11-03CB-AEB4C16F4E9F}"/>
                  </a:ext>
                </a:extLst>
              </p:cNvPr>
              <p:cNvSpPr/>
              <p:nvPr/>
            </p:nvSpPr>
            <p:spPr>
              <a:xfrm>
                <a:off x="726343" y="5063157"/>
                <a:ext cx="184588" cy="265023"/>
              </a:xfrm>
              <a:custGeom>
                <a:avLst/>
                <a:gdLst>
                  <a:gd name="connsiteX0" fmla="*/ 90640 w 184588"/>
                  <a:gd name="connsiteY0" fmla="*/ 17 h 265023"/>
                  <a:gd name="connsiteX1" fmla="*/ 90640 w 184588"/>
                  <a:gd name="connsiteY1" fmla="*/ 24 h 265023"/>
                  <a:gd name="connsiteX2" fmla="*/ 143211 w 184588"/>
                  <a:gd name="connsiteY2" fmla="*/ 18515 h 265023"/>
                  <a:gd name="connsiteX3" fmla="*/ 166922 w 184588"/>
                  <a:gd name="connsiteY3" fmla="*/ 58393 h 265023"/>
                  <a:gd name="connsiteX4" fmla="*/ 168408 w 184588"/>
                  <a:gd name="connsiteY4" fmla="*/ 85588 h 265023"/>
                  <a:gd name="connsiteX5" fmla="*/ 167938 w 184588"/>
                  <a:gd name="connsiteY5" fmla="*/ 100586 h 265023"/>
                  <a:gd name="connsiteX6" fmla="*/ 167949 w 184588"/>
                  <a:gd name="connsiteY6" fmla="*/ 102642 h 265023"/>
                  <a:gd name="connsiteX7" fmla="*/ 171619 w 184588"/>
                  <a:gd name="connsiteY7" fmla="*/ 102642 h 265023"/>
                  <a:gd name="connsiteX8" fmla="*/ 182925 w 184588"/>
                  <a:gd name="connsiteY8" fmla="*/ 108010 h 265023"/>
                  <a:gd name="connsiteX9" fmla="*/ 183385 w 184588"/>
                  <a:gd name="connsiteY9" fmla="*/ 128090 h 265023"/>
                  <a:gd name="connsiteX10" fmla="*/ 166292 w 184588"/>
                  <a:gd name="connsiteY10" fmla="*/ 153737 h 265023"/>
                  <a:gd name="connsiteX11" fmla="*/ 164267 w 184588"/>
                  <a:gd name="connsiteY11" fmla="*/ 153498 h 265023"/>
                  <a:gd name="connsiteX12" fmla="*/ 162471 w 184588"/>
                  <a:gd name="connsiteY12" fmla="*/ 157729 h 265023"/>
                  <a:gd name="connsiteX13" fmla="*/ 146330 w 184588"/>
                  <a:gd name="connsiteY13" fmla="*/ 189300 h 265023"/>
                  <a:gd name="connsiteX14" fmla="*/ 128906 w 184588"/>
                  <a:gd name="connsiteY14" fmla="*/ 206232 h 265023"/>
                  <a:gd name="connsiteX15" fmla="*/ 137347 w 184588"/>
                  <a:gd name="connsiteY15" fmla="*/ 232245 h 265023"/>
                  <a:gd name="connsiteX16" fmla="*/ 92294 w 184588"/>
                  <a:gd name="connsiteY16" fmla="*/ 265023 h 265023"/>
                  <a:gd name="connsiteX17" fmla="*/ 47242 w 184588"/>
                  <a:gd name="connsiteY17" fmla="*/ 232245 h 265023"/>
                  <a:gd name="connsiteX18" fmla="*/ 55625 w 184588"/>
                  <a:gd name="connsiteY18" fmla="*/ 206409 h 265023"/>
                  <a:gd name="connsiteX19" fmla="*/ 38755 w 184588"/>
                  <a:gd name="connsiteY19" fmla="*/ 190080 h 265023"/>
                  <a:gd name="connsiteX20" fmla="*/ 21469 w 184588"/>
                  <a:gd name="connsiteY20" fmla="*/ 156000 h 265023"/>
                  <a:gd name="connsiteX21" fmla="*/ 19562 w 184588"/>
                  <a:gd name="connsiteY21" fmla="*/ 153445 h 265023"/>
                  <a:gd name="connsiteX22" fmla="*/ 13026 w 184588"/>
                  <a:gd name="connsiteY22" fmla="*/ 152825 h 265023"/>
                  <a:gd name="connsiteX23" fmla="*/ 523 w 184588"/>
                  <a:gd name="connsiteY23" fmla="*/ 123396 h 265023"/>
                  <a:gd name="connsiteX24" fmla="*/ 3787 w 184588"/>
                  <a:gd name="connsiteY24" fmla="*/ 105361 h 265023"/>
                  <a:gd name="connsiteX25" fmla="*/ 13190 w 184588"/>
                  <a:gd name="connsiteY25" fmla="*/ 102638 h 265023"/>
                  <a:gd name="connsiteX26" fmla="*/ 16882 w 184588"/>
                  <a:gd name="connsiteY26" fmla="*/ 102635 h 265023"/>
                  <a:gd name="connsiteX27" fmla="*/ 16611 w 184588"/>
                  <a:gd name="connsiteY27" fmla="*/ 96269 h 265023"/>
                  <a:gd name="connsiteX28" fmla="*/ 17199 w 184588"/>
                  <a:gd name="connsiteY28" fmla="*/ 60553 h 265023"/>
                  <a:gd name="connsiteX29" fmla="*/ 82036 w 184588"/>
                  <a:gd name="connsiteY29" fmla="*/ 626 h 265023"/>
                  <a:gd name="connsiteX30" fmla="*/ 90640 w 184588"/>
                  <a:gd name="connsiteY30" fmla="*/ 17 h 265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4588" h="265023">
                    <a:moveTo>
                      <a:pt x="90640" y="17"/>
                    </a:moveTo>
                    <a:lnTo>
                      <a:pt x="90640" y="24"/>
                    </a:lnTo>
                    <a:cubicBezTo>
                      <a:pt x="110420" y="-439"/>
                      <a:pt x="128174" y="5795"/>
                      <a:pt x="143211" y="18515"/>
                    </a:cubicBezTo>
                    <a:cubicBezTo>
                      <a:pt x="154466" y="28035"/>
                      <a:pt x="163540" y="43292"/>
                      <a:pt x="166922" y="58393"/>
                    </a:cubicBezTo>
                    <a:cubicBezTo>
                      <a:pt x="168679" y="66242"/>
                      <a:pt x="168940" y="71046"/>
                      <a:pt x="168408" y="85588"/>
                    </a:cubicBezTo>
                    <a:cubicBezTo>
                      <a:pt x="168148" y="92703"/>
                      <a:pt x="167934" y="99456"/>
                      <a:pt x="167938" y="100586"/>
                    </a:cubicBezTo>
                    <a:lnTo>
                      <a:pt x="167949" y="102642"/>
                    </a:lnTo>
                    <a:lnTo>
                      <a:pt x="171619" y="102642"/>
                    </a:lnTo>
                    <a:cubicBezTo>
                      <a:pt x="177682" y="102642"/>
                      <a:pt x="180812" y="104125"/>
                      <a:pt x="182925" y="108010"/>
                    </a:cubicBezTo>
                    <a:cubicBezTo>
                      <a:pt x="184996" y="111817"/>
                      <a:pt x="185114" y="117127"/>
                      <a:pt x="183385" y="128090"/>
                    </a:cubicBezTo>
                    <a:cubicBezTo>
                      <a:pt x="180709" y="145084"/>
                      <a:pt x="174154" y="154917"/>
                      <a:pt x="166292" y="153737"/>
                    </a:cubicBezTo>
                    <a:cubicBezTo>
                      <a:pt x="165372" y="153599"/>
                      <a:pt x="164463" y="153495"/>
                      <a:pt x="164267" y="153498"/>
                    </a:cubicBezTo>
                    <a:cubicBezTo>
                      <a:pt x="164071" y="153502"/>
                      <a:pt x="163266" y="155402"/>
                      <a:pt x="162471" y="157729"/>
                    </a:cubicBezTo>
                    <a:cubicBezTo>
                      <a:pt x="158453" y="169516"/>
                      <a:pt x="152997" y="180143"/>
                      <a:pt x="146330" y="189300"/>
                    </a:cubicBezTo>
                    <a:lnTo>
                      <a:pt x="128906" y="206232"/>
                    </a:lnTo>
                    <a:lnTo>
                      <a:pt x="137347" y="232245"/>
                    </a:lnTo>
                    <a:lnTo>
                      <a:pt x="92294" y="265023"/>
                    </a:lnTo>
                    <a:lnTo>
                      <a:pt x="47242" y="232245"/>
                    </a:lnTo>
                    <a:lnTo>
                      <a:pt x="55625" y="206409"/>
                    </a:lnTo>
                    <a:lnTo>
                      <a:pt x="38755" y="190080"/>
                    </a:lnTo>
                    <a:cubicBezTo>
                      <a:pt x="31954" y="180942"/>
                      <a:pt x="25111" y="167441"/>
                      <a:pt x="21469" y="156000"/>
                    </a:cubicBezTo>
                    <a:cubicBezTo>
                      <a:pt x="20606" y="153296"/>
                      <a:pt x="20521" y="153182"/>
                      <a:pt x="19562" y="153445"/>
                    </a:cubicBezTo>
                    <a:cubicBezTo>
                      <a:pt x="17730" y="153947"/>
                      <a:pt x="14658" y="153659"/>
                      <a:pt x="13026" y="152825"/>
                    </a:cubicBezTo>
                    <a:cubicBezTo>
                      <a:pt x="6824" y="149660"/>
                      <a:pt x="2547" y="139595"/>
                      <a:pt x="523" y="123396"/>
                    </a:cubicBezTo>
                    <a:cubicBezTo>
                      <a:pt x="-711" y="113509"/>
                      <a:pt x="184" y="108533"/>
                      <a:pt x="3787" y="105361"/>
                    </a:cubicBezTo>
                    <a:cubicBezTo>
                      <a:pt x="6076" y="103351"/>
                      <a:pt x="8535" y="102638"/>
                      <a:pt x="13190" y="102638"/>
                    </a:cubicBezTo>
                    <a:lnTo>
                      <a:pt x="16882" y="102635"/>
                    </a:lnTo>
                    <a:lnTo>
                      <a:pt x="16611" y="96269"/>
                    </a:lnTo>
                    <a:cubicBezTo>
                      <a:pt x="15641" y="73790"/>
                      <a:pt x="15731" y="68123"/>
                      <a:pt x="17199" y="60553"/>
                    </a:cubicBezTo>
                    <a:cubicBezTo>
                      <a:pt x="23375" y="28711"/>
                      <a:pt x="49667" y="4411"/>
                      <a:pt x="82036" y="626"/>
                    </a:cubicBezTo>
                    <a:cubicBezTo>
                      <a:pt x="84945" y="284"/>
                      <a:pt x="87814" y="84"/>
                      <a:pt x="90640" y="17"/>
                    </a:cubicBezTo>
                    <a:close/>
                  </a:path>
                </a:pathLst>
              </a:custGeom>
              <a:grpFill/>
              <a:ln w="979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grpSp>
      </p:grpSp>
      <p:sp>
        <p:nvSpPr>
          <p:cNvPr id="122" name="object 21">
            <a:extLst>
              <a:ext uri="{FF2B5EF4-FFF2-40B4-BE49-F238E27FC236}">
                <a16:creationId xmlns:a16="http://schemas.microsoft.com/office/drawing/2014/main" id="{D66B33ED-5840-B9F0-6997-59A9587C096F}"/>
              </a:ext>
            </a:extLst>
          </p:cNvPr>
          <p:cNvSpPr txBox="1">
            <a:spLocks/>
          </p:cNvSpPr>
          <p:nvPr/>
        </p:nvSpPr>
        <p:spPr>
          <a:xfrm>
            <a:off x="1143466" y="4761561"/>
            <a:ext cx="10684800" cy="676656"/>
          </a:xfrm>
          <a:prstGeom prst="rect">
            <a:avLst/>
          </a:prstGeom>
          <a:solidFill>
            <a:schemeClr val="accent6"/>
          </a:solidFill>
          <a:ln w="19050">
            <a:noFill/>
          </a:ln>
        </p:spPr>
        <p:txBody>
          <a:bodyPr vert="horz" wrap="square" lIns="91440" tIns="91440" rIns="91440" bIns="91440" rtlCol="0" anchor="ctr">
            <a:noAutofit/>
          </a:bodyPr>
          <a:lstStyle/>
          <a:p>
            <a:pPr marL="71755" marR="480059" lvl="0" indent="0" algn="l" defTabSz="914400" rtl="0" eaLnBrk="1" fontAlgn="auto" latinLnBrk="0" hangingPunct="1">
              <a:lnSpc>
                <a:spcPct val="100000"/>
              </a:lnSpc>
              <a:spcBef>
                <a:spcPts val="865"/>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Provide an overview of the recommendations in the GOLD 2023 COPD strategy document</a:t>
            </a:r>
            <a:endParaRPr kumimoji="0" lang="en-US" sz="16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47" name="Group 146">
            <a:extLst>
              <a:ext uri="{FF2B5EF4-FFF2-40B4-BE49-F238E27FC236}">
                <a16:creationId xmlns:a16="http://schemas.microsoft.com/office/drawing/2014/main" id="{EE0CC8DA-6B06-7AEA-C78A-10A530FF1D96}"/>
              </a:ext>
            </a:extLst>
          </p:cNvPr>
          <p:cNvGrpSpPr/>
          <p:nvPr/>
        </p:nvGrpSpPr>
        <p:grpSpPr>
          <a:xfrm>
            <a:off x="367432" y="1702247"/>
            <a:ext cx="11460834" cy="691339"/>
            <a:chOff x="367432" y="1702247"/>
            <a:chExt cx="11460834" cy="691339"/>
          </a:xfrm>
        </p:grpSpPr>
        <p:sp>
          <p:nvSpPr>
            <p:cNvPr id="123" name="object 5">
              <a:extLst>
                <a:ext uri="{FF2B5EF4-FFF2-40B4-BE49-F238E27FC236}">
                  <a16:creationId xmlns:a16="http://schemas.microsoft.com/office/drawing/2014/main" id="{385EBB2B-EE82-BDD1-AEF2-974343BB0A00}"/>
                </a:ext>
              </a:extLst>
            </p:cNvPr>
            <p:cNvSpPr txBox="1">
              <a:spLocks/>
            </p:cNvSpPr>
            <p:nvPr/>
          </p:nvSpPr>
          <p:spPr>
            <a:xfrm>
              <a:off x="1145349" y="1711684"/>
              <a:ext cx="10682917" cy="672465"/>
            </a:xfrm>
            <a:prstGeom prst="rect">
              <a:avLst/>
            </a:prstGeom>
            <a:solidFill>
              <a:srgbClr val="F36633"/>
            </a:solidFill>
            <a:ln w="19050">
              <a:noFill/>
            </a:ln>
          </p:spPr>
          <p:txBody>
            <a:bodyPr vert="horz" wrap="square" lIns="91440" tIns="91440" rIns="91440" bIns="91440" rtlCol="0" anchor="ctr">
              <a:noAutofit/>
            </a:bodyPr>
            <a:lstStyle/>
            <a:p>
              <a:pPr marL="71755" marR="0" lvl="0" indent="0" algn="l" defTabSz="914400" rtl="0" eaLnBrk="1" fontAlgn="auto" latinLnBrk="0" hangingPunct="1">
                <a:lnSpc>
                  <a:spcPct val="100000"/>
                </a:lnSpc>
                <a:spcBef>
                  <a:spcPts val="5"/>
                </a:spcBef>
                <a:spcAft>
                  <a:spcPts val="0"/>
                </a:spcAft>
                <a:buClrTx/>
                <a:buSzTx/>
                <a:buFontTx/>
                <a:buNone/>
                <a:tabLst/>
                <a:defRPr/>
              </a:pPr>
              <a:r>
                <a:rPr kumimoji="0" lang="en-GB" sz="1600" b="1" i="0" u="none" strike="noStrike" kern="1200" cap="none" spc="0" normalizeH="0" baseline="0" noProof="0" dirty="0">
                  <a:ln>
                    <a:noFill/>
                  </a:ln>
                  <a:solidFill>
                    <a:srgbClr val="FFFFFF"/>
                  </a:solidFill>
                  <a:effectLst/>
                  <a:uLnTx/>
                  <a:uFillTx/>
                  <a:latin typeface="Arial"/>
                  <a:ea typeface="+mn-ea"/>
                  <a:cs typeface="Arial"/>
                </a:rPr>
                <a:t>Define COPD and its characteristic features</a:t>
              </a:r>
              <a:endParaRPr kumimoji="0" lang="en-GB" sz="1600" b="0" i="0" u="none" strike="noStrike" kern="1200" cap="none" spc="0" normalizeH="0" baseline="0" noProof="0" dirty="0">
                <a:ln>
                  <a:noFill/>
                </a:ln>
                <a:solidFill>
                  <a:srgbClr val="000000"/>
                </a:solidFill>
                <a:effectLst/>
                <a:uLnTx/>
                <a:uFillTx/>
                <a:latin typeface="Arial"/>
                <a:ea typeface="+mn-ea"/>
                <a:cs typeface="Arial"/>
              </a:endParaRPr>
            </a:p>
          </p:txBody>
        </p:sp>
        <p:sp>
          <p:nvSpPr>
            <p:cNvPr id="145" name="object 7">
              <a:extLst>
                <a:ext uri="{FF2B5EF4-FFF2-40B4-BE49-F238E27FC236}">
                  <a16:creationId xmlns:a16="http://schemas.microsoft.com/office/drawing/2014/main" id="{AC738D7D-DBA4-37A6-6344-58918B6391C8}"/>
                </a:ext>
              </a:extLst>
            </p:cNvPr>
            <p:cNvSpPr/>
            <p:nvPr/>
          </p:nvSpPr>
          <p:spPr>
            <a:xfrm>
              <a:off x="367432" y="1702247"/>
              <a:ext cx="698400" cy="691339"/>
            </a:xfrm>
            <a:custGeom>
              <a:avLst/>
              <a:gdLst/>
              <a:ahLst/>
              <a:cxnLst/>
              <a:rect l="l" t="t" r="r" b="b"/>
              <a:pathLst>
                <a:path w="739140" h="730885">
                  <a:moveTo>
                    <a:pt x="192786" y="604266"/>
                  </a:moveTo>
                  <a:lnTo>
                    <a:pt x="134874" y="546354"/>
                  </a:lnTo>
                  <a:lnTo>
                    <a:pt x="131457" y="558571"/>
                  </a:lnTo>
                  <a:lnTo>
                    <a:pt x="131635" y="571500"/>
                  </a:lnTo>
                  <a:lnTo>
                    <a:pt x="154419" y="602348"/>
                  </a:lnTo>
                  <a:lnTo>
                    <a:pt x="179895" y="607441"/>
                  </a:lnTo>
                  <a:lnTo>
                    <a:pt x="192786" y="604266"/>
                  </a:lnTo>
                  <a:close/>
                </a:path>
                <a:path w="739140" h="730885">
                  <a:moveTo>
                    <a:pt x="616458" y="294894"/>
                  </a:moveTo>
                  <a:lnTo>
                    <a:pt x="610235" y="247878"/>
                  </a:lnTo>
                  <a:lnTo>
                    <a:pt x="592658" y="205524"/>
                  </a:lnTo>
                  <a:lnTo>
                    <a:pt x="587502" y="198755"/>
                  </a:lnTo>
                  <a:lnTo>
                    <a:pt x="587502" y="294894"/>
                  </a:lnTo>
                  <a:lnTo>
                    <a:pt x="580097" y="340766"/>
                  </a:lnTo>
                  <a:lnTo>
                    <a:pt x="559435" y="380746"/>
                  </a:lnTo>
                  <a:lnTo>
                    <a:pt x="527748" y="412419"/>
                  </a:lnTo>
                  <a:lnTo>
                    <a:pt x="487324" y="433374"/>
                  </a:lnTo>
                  <a:lnTo>
                    <a:pt x="440436" y="441198"/>
                  </a:lnTo>
                  <a:lnTo>
                    <a:pt x="394119" y="433374"/>
                  </a:lnTo>
                  <a:lnTo>
                    <a:pt x="353771" y="412419"/>
                  </a:lnTo>
                  <a:lnTo>
                    <a:pt x="321868" y="380746"/>
                  </a:lnTo>
                  <a:lnTo>
                    <a:pt x="300901" y="340766"/>
                  </a:lnTo>
                  <a:lnTo>
                    <a:pt x="293370" y="294894"/>
                  </a:lnTo>
                  <a:lnTo>
                    <a:pt x="300901" y="247992"/>
                  </a:lnTo>
                  <a:lnTo>
                    <a:pt x="321868" y="207479"/>
                  </a:lnTo>
                  <a:lnTo>
                    <a:pt x="353771" y="175564"/>
                  </a:lnTo>
                  <a:lnTo>
                    <a:pt x="394119" y="154444"/>
                  </a:lnTo>
                  <a:lnTo>
                    <a:pt x="440436" y="146304"/>
                  </a:lnTo>
                  <a:lnTo>
                    <a:pt x="487324" y="154444"/>
                  </a:lnTo>
                  <a:lnTo>
                    <a:pt x="527748" y="175564"/>
                  </a:lnTo>
                  <a:lnTo>
                    <a:pt x="559435" y="207479"/>
                  </a:lnTo>
                  <a:lnTo>
                    <a:pt x="580097" y="247992"/>
                  </a:lnTo>
                  <a:lnTo>
                    <a:pt x="587502" y="294894"/>
                  </a:lnTo>
                  <a:lnTo>
                    <a:pt x="587502" y="198755"/>
                  </a:lnTo>
                  <a:lnTo>
                    <a:pt x="565302" y="169545"/>
                  </a:lnTo>
                  <a:lnTo>
                    <a:pt x="529755" y="141706"/>
                  </a:lnTo>
                  <a:lnTo>
                    <a:pt x="487603" y="123736"/>
                  </a:lnTo>
                  <a:lnTo>
                    <a:pt x="440436" y="117348"/>
                  </a:lnTo>
                  <a:lnTo>
                    <a:pt x="393788" y="123736"/>
                  </a:lnTo>
                  <a:lnTo>
                    <a:pt x="351790" y="141706"/>
                  </a:lnTo>
                  <a:lnTo>
                    <a:pt x="316128" y="169545"/>
                  </a:lnTo>
                  <a:lnTo>
                    <a:pt x="288544" y="205524"/>
                  </a:lnTo>
                  <a:lnTo>
                    <a:pt x="270725" y="247878"/>
                  </a:lnTo>
                  <a:lnTo>
                    <a:pt x="264414" y="294894"/>
                  </a:lnTo>
                  <a:lnTo>
                    <a:pt x="267462" y="327126"/>
                  </a:lnTo>
                  <a:lnTo>
                    <a:pt x="276225" y="357289"/>
                  </a:lnTo>
                  <a:lnTo>
                    <a:pt x="290131" y="385013"/>
                  </a:lnTo>
                  <a:lnTo>
                    <a:pt x="293370" y="389394"/>
                  </a:lnTo>
                  <a:lnTo>
                    <a:pt x="308610" y="409956"/>
                  </a:lnTo>
                  <a:lnTo>
                    <a:pt x="303276" y="416052"/>
                  </a:lnTo>
                  <a:lnTo>
                    <a:pt x="289725" y="411797"/>
                  </a:lnTo>
                  <a:lnTo>
                    <a:pt x="276034" y="411670"/>
                  </a:lnTo>
                  <a:lnTo>
                    <a:pt x="263194" y="415848"/>
                  </a:lnTo>
                  <a:lnTo>
                    <a:pt x="252222" y="424434"/>
                  </a:lnTo>
                  <a:lnTo>
                    <a:pt x="143256" y="532638"/>
                  </a:lnTo>
                  <a:lnTo>
                    <a:pt x="143256" y="534162"/>
                  </a:lnTo>
                  <a:lnTo>
                    <a:pt x="204978" y="595884"/>
                  </a:lnTo>
                  <a:lnTo>
                    <a:pt x="204978" y="594360"/>
                  </a:lnTo>
                  <a:lnTo>
                    <a:pt x="308610" y="491464"/>
                  </a:lnTo>
                  <a:lnTo>
                    <a:pt x="325729" y="449516"/>
                  </a:lnTo>
                  <a:lnTo>
                    <a:pt x="322326" y="436626"/>
                  </a:lnTo>
                  <a:lnTo>
                    <a:pt x="329184" y="430530"/>
                  </a:lnTo>
                  <a:lnTo>
                    <a:pt x="353529" y="447014"/>
                  </a:lnTo>
                  <a:lnTo>
                    <a:pt x="380517" y="459486"/>
                  </a:lnTo>
                  <a:lnTo>
                    <a:pt x="409651" y="467398"/>
                  </a:lnTo>
                  <a:lnTo>
                    <a:pt x="440436" y="470154"/>
                  </a:lnTo>
                  <a:lnTo>
                    <a:pt x="487603" y="463842"/>
                  </a:lnTo>
                  <a:lnTo>
                    <a:pt x="529755" y="446062"/>
                  </a:lnTo>
                  <a:lnTo>
                    <a:pt x="565302" y="418528"/>
                  </a:lnTo>
                  <a:lnTo>
                    <a:pt x="592658" y="383006"/>
                  </a:lnTo>
                  <a:lnTo>
                    <a:pt x="610235" y="341223"/>
                  </a:lnTo>
                  <a:lnTo>
                    <a:pt x="616458" y="294894"/>
                  </a:lnTo>
                  <a:close/>
                </a:path>
                <a:path w="739140" h="730885">
                  <a:moveTo>
                    <a:pt x="739140" y="0"/>
                  </a:moveTo>
                  <a:lnTo>
                    <a:pt x="720090" y="0"/>
                  </a:lnTo>
                  <a:lnTo>
                    <a:pt x="720090" y="19050"/>
                  </a:lnTo>
                  <a:lnTo>
                    <a:pt x="720090" y="711708"/>
                  </a:lnTo>
                  <a:lnTo>
                    <a:pt x="19050" y="711708"/>
                  </a:lnTo>
                  <a:lnTo>
                    <a:pt x="19050" y="19050"/>
                  </a:lnTo>
                  <a:lnTo>
                    <a:pt x="720090" y="19050"/>
                  </a:lnTo>
                  <a:lnTo>
                    <a:pt x="720090" y="0"/>
                  </a:lnTo>
                  <a:lnTo>
                    <a:pt x="0" y="0"/>
                  </a:lnTo>
                  <a:lnTo>
                    <a:pt x="0" y="730758"/>
                  </a:lnTo>
                  <a:lnTo>
                    <a:pt x="9144" y="730758"/>
                  </a:lnTo>
                  <a:lnTo>
                    <a:pt x="19050" y="730758"/>
                  </a:lnTo>
                  <a:lnTo>
                    <a:pt x="720090" y="730758"/>
                  </a:lnTo>
                  <a:lnTo>
                    <a:pt x="729996" y="730758"/>
                  </a:lnTo>
                  <a:lnTo>
                    <a:pt x="739140" y="730758"/>
                  </a:lnTo>
                  <a:lnTo>
                    <a:pt x="739140"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48" name="Group 147">
            <a:extLst>
              <a:ext uri="{FF2B5EF4-FFF2-40B4-BE49-F238E27FC236}">
                <a16:creationId xmlns:a16="http://schemas.microsoft.com/office/drawing/2014/main" id="{BD1A0DD0-C8E9-C3EB-D918-DFFC8492372C}"/>
              </a:ext>
            </a:extLst>
          </p:cNvPr>
          <p:cNvGrpSpPr/>
          <p:nvPr/>
        </p:nvGrpSpPr>
        <p:grpSpPr>
          <a:xfrm>
            <a:off x="367432" y="2463539"/>
            <a:ext cx="11460834" cy="691200"/>
            <a:chOff x="367432" y="2463539"/>
            <a:chExt cx="11460834" cy="691200"/>
          </a:xfrm>
        </p:grpSpPr>
        <p:sp>
          <p:nvSpPr>
            <p:cNvPr id="119" name="object 9">
              <a:extLst>
                <a:ext uri="{FF2B5EF4-FFF2-40B4-BE49-F238E27FC236}">
                  <a16:creationId xmlns:a16="http://schemas.microsoft.com/office/drawing/2014/main" id="{300F9309-33A9-5A1C-F814-01B880D9CA91}"/>
                </a:ext>
              </a:extLst>
            </p:cNvPr>
            <p:cNvSpPr txBox="1">
              <a:spLocks/>
            </p:cNvSpPr>
            <p:nvPr/>
          </p:nvSpPr>
          <p:spPr>
            <a:xfrm>
              <a:off x="1143466" y="2470811"/>
              <a:ext cx="10684800" cy="676656"/>
            </a:xfrm>
            <a:prstGeom prst="rect">
              <a:avLst/>
            </a:prstGeom>
            <a:solidFill>
              <a:schemeClr val="accent1"/>
            </a:solidFill>
            <a:ln w="19050">
              <a:noFill/>
            </a:ln>
          </p:spPr>
          <p:txBody>
            <a:bodyPr vert="horz" wrap="square" lIns="91440" tIns="91440" rIns="91440" bIns="91440" rtlCol="0" anchor="ctr">
              <a:noAutofit/>
            </a:bodyPr>
            <a:lstStyle/>
            <a:p>
              <a:pPr marL="71755" marR="0" lvl="0" indent="0" algn="l" defTabSz="914400" rtl="0" eaLnBrk="1" fontAlgn="auto" latinLnBrk="0" hangingPunct="1">
                <a:lnSpc>
                  <a:spcPct val="100000"/>
                </a:lnSpc>
                <a:spcBef>
                  <a:spcPts val="5"/>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Describe the common symptoms of COPD and their impact on patients</a:t>
              </a:r>
              <a:endParaRPr kumimoji="0" lang="en-US" sz="1600" b="0" i="0" u="none" strike="noStrike" kern="1200" cap="none" spc="0" normalizeH="0" baseline="0" noProof="0" dirty="0">
                <a:ln>
                  <a:noFill/>
                </a:ln>
                <a:solidFill>
                  <a:srgbClr val="000000"/>
                </a:solidFill>
                <a:effectLst/>
                <a:uLnTx/>
                <a:uFillTx/>
                <a:latin typeface="Arial"/>
                <a:ea typeface="+mn-ea"/>
                <a:cs typeface="Arial"/>
              </a:endParaRPr>
            </a:p>
          </p:txBody>
        </p:sp>
        <p:sp>
          <p:nvSpPr>
            <p:cNvPr id="146" name="object 9">
              <a:extLst>
                <a:ext uri="{FF2B5EF4-FFF2-40B4-BE49-F238E27FC236}">
                  <a16:creationId xmlns:a16="http://schemas.microsoft.com/office/drawing/2014/main" id="{0FBF58BA-F44D-4F9A-C488-DA7F304B8DAB}"/>
                </a:ext>
              </a:extLst>
            </p:cNvPr>
            <p:cNvSpPr/>
            <p:nvPr/>
          </p:nvSpPr>
          <p:spPr>
            <a:xfrm>
              <a:off x="367432" y="2463539"/>
              <a:ext cx="698400" cy="691200"/>
            </a:xfrm>
            <a:custGeom>
              <a:avLst/>
              <a:gdLst/>
              <a:ahLst/>
              <a:cxnLst/>
              <a:rect l="l" t="t" r="r" b="b"/>
              <a:pathLst>
                <a:path w="742950" h="725804">
                  <a:moveTo>
                    <a:pt x="639813" y="546976"/>
                  </a:moveTo>
                  <a:lnTo>
                    <a:pt x="637794" y="506730"/>
                  </a:lnTo>
                  <a:lnTo>
                    <a:pt x="631164" y="462381"/>
                  </a:lnTo>
                  <a:lnTo>
                    <a:pt x="620268" y="419392"/>
                  </a:lnTo>
                  <a:lnTo>
                    <a:pt x="606501" y="377393"/>
                  </a:lnTo>
                  <a:lnTo>
                    <a:pt x="591312" y="336042"/>
                  </a:lnTo>
                  <a:lnTo>
                    <a:pt x="575576" y="299034"/>
                  </a:lnTo>
                  <a:lnTo>
                    <a:pt x="526694" y="245287"/>
                  </a:lnTo>
                  <a:lnTo>
                    <a:pt x="489966" y="236982"/>
                  </a:lnTo>
                  <a:lnTo>
                    <a:pt x="471678" y="239268"/>
                  </a:lnTo>
                  <a:lnTo>
                    <a:pt x="456704" y="251472"/>
                  </a:lnTo>
                  <a:lnTo>
                    <a:pt x="447954" y="270611"/>
                  </a:lnTo>
                  <a:lnTo>
                    <a:pt x="443064" y="292747"/>
                  </a:lnTo>
                  <a:lnTo>
                    <a:pt x="439674" y="313944"/>
                  </a:lnTo>
                  <a:lnTo>
                    <a:pt x="437388" y="319278"/>
                  </a:lnTo>
                  <a:lnTo>
                    <a:pt x="437388" y="328422"/>
                  </a:lnTo>
                  <a:lnTo>
                    <a:pt x="403098" y="301752"/>
                  </a:lnTo>
                  <a:lnTo>
                    <a:pt x="403098" y="118872"/>
                  </a:lnTo>
                  <a:lnTo>
                    <a:pt x="400812" y="116586"/>
                  </a:lnTo>
                  <a:lnTo>
                    <a:pt x="363474" y="116586"/>
                  </a:lnTo>
                  <a:lnTo>
                    <a:pt x="361188" y="118872"/>
                  </a:lnTo>
                  <a:lnTo>
                    <a:pt x="361188" y="301752"/>
                  </a:lnTo>
                  <a:lnTo>
                    <a:pt x="333756" y="326136"/>
                  </a:lnTo>
                  <a:lnTo>
                    <a:pt x="333756" y="321564"/>
                  </a:lnTo>
                  <a:lnTo>
                    <a:pt x="331470" y="316230"/>
                  </a:lnTo>
                  <a:lnTo>
                    <a:pt x="331470" y="313944"/>
                  </a:lnTo>
                  <a:lnTo>
                    <a:pt x="323176" y="270611"/>
                  </a:lnTo>
                  <a:lnTo>
                    <a:pt x="299466" y="239268"/>
                  </a:lnTo>
                  <a:lnTo>
                    <a:pt x="281178" y="236982"/>
                  </a:lnTo>
                  <a:lnTo>
                    <a:pt x="244436" y="245287"/>
                  </a:lnTo>
                  <a:lnTo>
                    <a:pt x="195554" y="299034"/>
                  </a:lnTo>
                  <a:lnTo>
                    <a:pt x="179832" y="336042"/>
                  </a:lnTo>
                  <a:lnTo>
                    <a:pt x="164642" y="377393"/>
                  </a:lnTo>
                  <a:lnTo>
                    <a:pt x="150964" y="419392"/>
                  </a:lnTo>
                  <a:lnTo>
                    <a:pt x="140284" y="462381"/>
                  </a:lnTo>
                  <a:lnTo>
                    <a:pt x="134112" y="506730"/>
                  </a:lnTo>
                  <a:lnTo>
                    <a:pt x="132067" y="546976"/>
                  </a:lnTo>
                  <a:lnTo>
                    <a:pt x="136677" y="583501"/>
                  </a:lnTo>
                  <a:lnTo>
                    <a:pt x="153720" y="610031"/>
                  </a:lnTo>
                  <a:lnTo>
                    <a:pt x="188976" y="620268"/>
                  </a:lnTo>
                  <a:lnTo>
                    <a:pt x="219379" y="613867"/>
                  </a:lnTo>
                  <a:lnTo>
                    <a:pt x="246507" y="598170"/>
                  </a:lnTo>
                  <a:lnTo>
                    <a:pt x="271907" y="578485"/>
                  </a:lnTo>
                  <a:lnTo>
                    <a:pt x="297180" y="560070"/>
                  </a:lnTo>
                  <a:lnTo>
                    <a:pt x="328041" y="536549"/>
                  </a:lnTo>
                  <a:lnTo>
                    <a:pt x="345186" y="502158"/>
                  </a:lnTo>
                  <a:lnTo>
                    <a:pt x="347078" y="477901"/>
                  </a:lnTo>
                  <a:lnTo>
                    <a:pt x="346608" y="452628"/>
                  </a:lnTo>
                  <a:lnTo>
                    <a:pt x="344855" y="427367"/>
                  </a:lnTo>
                  <a:lnTo>
                    <a:pt x="342900" y="403098"/>
                  </a:lnTo>
                  <a:lnTo>
                    <a:pt x="342861" y="394436"/>
                  </a:lnTo>
                  <a:lnTo>
                    <a:pt x="342607" y="386334"/>
                  </a:lnTo>
                  <a:lnTo>
                    <a:pt x="341934" y="378244"/>
                  </a:lnTo>
                  <a:lnTo>
                    <a:pt x="340614" y="369570"/>
                  </a:lnTo>
                  <a:lnTo>
                    <a:pt x="382524" y="338328"/>
                  </a:lnTo>
                  <a:lnTo>
                    <a:pt x="428244" y="374142"/>
                  </a:lnTo>
                  <a:lnTo>
                    <a:pt x="428244" y="403098"/>
                  </a:lnTo>
                  <a:lnTo>
                    <a:pt x="426275" y="427367"/>
                  </a:lnTo>
                  <a:lnTo>
                    <a:pt x="424522" y="452628"/>
                  </a:lnTo>
                  <a:lnTo>
                    <a:pt x="424053" y="477901"/>
                  </a:lnTo>
                  <a:lnTo>
                    <a:pt x="425958" y="502158"/>
                  </a:lnTo>
                  <a:lnTo>
                    <a:pt x="428244" y="509473"/>
                  </a:lnTo>
                  <a:lnTo>
                    <a:pt x="432168" y="522033"/>
                  </a:lnTo>
                  <a:lnTo>
                    <a:pt x="443103" y="536549"/>
                  </a:lnTo>
                  <a:lnTo>
                    <a:pt x="457454" y="548347"/>
                  </a:lnTo>
                  <a:lnTo>
                    <a:pt x="473964" y="560070"/>
                  </a:lnTo>
                  <a:lnTo>
                    <a:pt x="499541" y="578485"/>
                  </a:lnTo>
                  <a:lnTo>
                    <a:pt x="524916" y="598170"/>
                  </a:lnTo>
                  <a:lnTo>
                    <a:pt x="551865" y="613867"/>
                  </a:lnTo>
                  <a:lnTo>
                    <a:pt x="582168" y="620268"/>
                  </a:lnTo>
                  <a:lnTo>
                    <a:pt x="617855" y="610031"/>
                  </a:lnTo>
                  <a:lnTo>
                    <a:pt x="635127" y="583501"/>
                  </a:lnTo>
                  <a:lnTo>
                    <a:pt x="639813" y="546976"/>
                  </a:lnTo>
                  <a:close/>
                </a:path>
                <a:path w="742950" h="725804">
                  <a:moveTo>
                    <a:pt x="742950" y="0"/>
                  </a:moveTo>
                  <a:lnTo>
                    <a:pt x="723900" y="0"/>
                  </a:lnTo>
                  <a:lnTo>
                    <a:pt x="723900" y="19050"/>
                  </a:lnTo>
                  <a:lnTo>
                    <a:pt x="723900" y="706374"/>
                  </a:lnTo>
                  <a:lnTo>
                    <a:pt x="19050" y="706374"/>
                  </a:lnTo>
                  <a:lnTo>
                    <a:pt x="19050" y="19050"/>
                  </a:lnTo>
                  <a:lnTo>
                    <a:pt x="723900" y="19050"/>
                  </a:lnTo>
                  <a:lnTo>
                    <a:pt x="723900" y="0"/>
                  </a:lnTo>
                  <a:lnTo>
                    <a:pt x="0" y="0"/>
                  </a:lnTo>
                  <a:lnTo>
                    <a:pt x="0" y="725424"/>
                  </a:lnTo>
                  <a:lnTo>
                    <a:pt x="9144" y="725424"/>
                  </a:lnTo>
                  <a:lnTo>
                    <a:pt x="19050" y="725424"/>
                  </a:lnTo>
                  <a:lnTo>
                    <a:pt x="723900" y="725424"/>
                  </a:lnTo>
                  <a:lnTo>
                    <a:pt x="733806" y="725424"/>
                  </a:lnTo>
                  <a:lnTo>
                    <a:pt x="742950" y="725424"/>
                  </a:lnTo>
                  <a:lnTo>
                    <a:pt x="742950"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21" name="Date Placeholder 4">
            <a:extLst>
              <a:ext uri="{FF2B5EF4-FFF2-40B4-BE49-F238E27FC236}">
                <a16:creationId xmlns:a16="http://schemas.microsoft.com/office/drawing/2014/main" id="{F1E36AA9-6D33-E0E4-A7C0-092D4FF165C3}"/>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6B58B4-0D72-4C8B-9355-854FB5782278}" type="datetime4">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6393095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What is COPD?</a:t>
            </a:r>
          </a:p>
        </p:txBody>
      </p:sp>
      <p:sp>
        <p:nvSpPr>
          <p:cNvPr id="2" name="Rectangle 1">
            <a:extLst>
              <a:ext uri="{FF2B5EF4-FFF2-40B4-BE49-F238E27FC236}">
                <a16:creationId xmlns:a16="http://schemas.microsoft.com/office/drawing/2014/main" id="{84747514-40C8-ADA3-8E3A-C9DD2830F2D5}"/>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5888195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0E55D54E-EEA0-18C4-0DF1-B6EC38886E66}"/>
              </a:ext>
            </a:extLst>
          </p:cNvPr>
          <p:cNvSpPr/>
          <p:nvPr/>
        </p:nvSpPr>
        <p:spPr bwMode="auto">
          <a:xfrm>
            <a:off x="365919" y="1300161"/>
            <a:ext cx="11460162" cy="4135665"/>
          </a:xfrm>
          <a:prstGeom prst="roundRect">
            <a:avLst>
              <a:gd name="adj" fmla="val 6073"/>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4" name="Rounded Rectangle 3"/>
          <p:cNvSpPr/>
          <p:nvPr/>
        </p:nvSpPr>
        <p:spPr>
          <a:xfrm>
            <a:off x="1010293" y="1574515"/>
            <a:ext cx="10171415" cy="3708971"/>
          </a:xfrm>
          <a:prstGeom prst="roundRect">
            <a:avLst>
              <a:gd name="adj" fmla="val 226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20" name="Text Placeholder 19"/>
          <p:cNvSpPr>
            <a:spLocks noGrp="1"/>
          </p:cNvSpPr>
          <p:nvPr>
            <p:ph type="body" sz="quarter" idx="18"/>
          </p:nvPr>
        </p:nvSpPr>
        <p:spPr>
          <a:xfrm>
            <a:off x="365125" y="5864250"/>
            <a:ext cx="11460164" cy="298800"/>
          </a:xfrm>
        </p:spPr>
        <p:txBody>
          <a:bodyPr/>
          <a:lstStyle/>
          <a:p>
            <a:r>
              <a:rPr lang="en-US" sz="800" dirty="0">
                <a:latin typeface="Arial"/>
                <a:cs typeface="Arial"/>
              </a:rPr>
              <a:t>GOLD, Global Initiative for Chronic Obstructive Lung Disease.</a:t>
            </a:r>
          </a:p>
          <a:p>
            <a:endParaRPr lang="en-US" sz="800" dirty="0">
              <a:latin typeface="Arial"/>
              <a:cs typeface="Arial"/>
            </a:endParaRPr>
          </a:p>
          <a:p>
            <a:r>
              <a:rPr lang="en-US" sz="800"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sz="800" kern="100" dirty="0">
                <a:effectLst/>
                <a:ea typeface="Calibri" panose="020F0502020204030204" pitchFamily="34" charset="0"/>
                <a:cs typeface="Times New Roman" panose="02020603050405020304" pitchFamily="18" charset="0"/>
                <a:hlinkClick r:id="rId2"/>
              </a:rPr>
              <a:t>https://goldcopd.org/wp-content/uploads/2024/11/GOLD-2025-Report-v1.0-15Nov2024_WMV.pdf</a:t>
            </a:r>
            <a:r>
              <a:rPr lang="en-US" sz="800" kern="100" dirty="0">
                <a:effectLst/>
                <a:ea typeface="Calibri" panose="020F0502020204030204" pitchFamily="34" charset="0"/>
                <a:cs typeface="Times New Roman" panose="02020603050405020304" pitchFamily="18" charset="0"/>
              </a:rPr>
              <a:t>. Accessed November </a:t>
            </a:r>
            <a:r>
              <a:rPr lang="en-US" sz="800" kern="100" dirty="0">
                <a:ea typeface="Calibri" panose="020F0502020204030204" pitchFamily="34" charset="0"/>
                <a:cs typeface="Times New Roman" panose="02020603050405020304" pitchFamily="18" charset="0"/>
              </a:rPr>
              <a:t>21,</a:t>
            </a:r>
            <a:r>
              <a:rPr lang="en-US" sz="800" kern="100" dirty="0">
                <a:effectLst/>
                <a:ea typeface="Calibri" panose="020F0502020204030204" pitchFamily="34" charset="0"/>
                <a:cs typeface="Times New Roman" panose="02020603050405020304" pitchFamily="18" charset="0"/>
              </a:rPr>
              <a:t> 2024.</a:t>
            </a:r>
            <a:endParaRPr lang="en-US" sz="800" dirty="0">
              <a:latin typeface="+mj-lt"/>
              <a:cs typeface="Arial"/>
            </a:endParaRPr>
          </a:p>
        </p:txBody>
      </p:sp>
      <p:sp>
        <p:nvSpPr>
          <p:cNvPr id="16" name="Slide Number Placeholder 15"/>
          <p:cNvSpPr>
            <a:spLocks noGrp="1"/>
          </p:cNvSpPr>
          <p:nvPr>
            <p:ph type="sldNum" sz="quarter" idx="2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What is COPD?</a:t>
            </a:r>
          </a:p>
        </p:txBody>
      </p:sp>
      <p:sp>
        <p:nvSpPr>
          <p:cNvPr id="9" name="object 7"/>
          <p:cNvSpPr txBox="1"/>
          <p:nvPr/>
        </p:nvSpPr>
        <p:spPr>
          <a:xfrm>
            <a:off x="1508928" y="2183631"/>
            <a:ext cx="9174144" cy="2368725"/>
          </a:xfrm>
          <a:prstGeom prst="rect">
            <a:avLst/>
          </a:prstGeom>
        </p:spPr>
        <p:txBody>
          <a:bodyPr vert="horz" wrap="square" lIns="0" tIns="12700" rIns="0" bIns="0" rtlCol="0">
            <a:spAutoFit/>
          </a:bodyPr>
          <a:lstStyle/>
          <a:p>
            <a:pPr marL="0" marR="186690" lvl="0" indent="-635" algn="ctr" defTabSz="914400" rtl="0" eaLnBrk="1" fontAlgn="auto" latinLnBrk="0" hangingPunct="1">
              <a:lnSpc>
                <a:spcPts val="3100"/>
              </a:lnSpc>
              <a:spcBef>
                <a:spcPts val="0"/>
              </a:spcBef>
              <a:spcAft>
                <a:spcPts val="0"/>
              </a:spcAft>
              <a:buClrTx/>
              <a:buSzTx/>
              <a:buFontTx/>
              <a:buNone/>
              <a:tabLst/>
              <a:defRPr/>
            </a:pPr>
            <a:r>
              <a:rPr kumimoji="0" lang="en-US" sz="2400" b="1" i="1" u="none" strike="noStrike" kern="1200" cap="none" spc="0" normalizeH="0" baseline="0" noProof="0" dirty="0">
                <a:ln>
                  <a:noFill/>
                </a:ln>
                <a:solidFill>
                  <a:srgbClr val="000000"/>
                </a:solidFill>
                <a:effectLst/>
                <a:uLnTx/>
                <a:uFillTx/>
                <a:latin typeface="Arial"/>
                <a:ea typeface="+mn-ea"/>
                <a:cs typeface="Arial"/>
              </a:rPr>
              <a:t>‘Chronic Obstructive Pulmonary Disease (COPD) is a heterogenous lung condition characterized by chronic respiratory symptoms (dyspnea, cough, sputum production, exacerbations) due to abnormalities of the airways (bronchitis, bronchiolitis) and/or alveoli (emphysema) that cause persistent, often progressive, airflow obstruction’.</a:t>
            </a:r>
            <a:endParaRPr kumimoji="0" sz="2400" b="1" i="0" u="none" strike="noStrike" kern="1200" cap="none" spc="0" normalizeH="0" baseline="30000" noProof="0" dirty="0">
              <a:ln>
                <a:noFill/>
              </a:ln>
              <a:solidFill>
                <a:srgbClr val="000000"/>
              </a:solidFill>
              <a:effectLst/>
              <a:uLnTx/>
              <a:uFillTx/>
              <a:latin typeface="Arial"/>
              <a:ea typeface="+mn-ea"/>
              <a:cs typeface="Arial"/>
            </a:endParaRPr>
          </a:p>
        </p:txBody>
      </p:sp>
      <p:sp>
        <p:nvSpPr>
          <p:cNvPr id="13" name="Subtitle 12">
            <a:extLst>
              <a:ext uri="{FF2B5EF4-FFF2-40B4-BE49-F238E27FC236}">
                <a16:creationId xmlns:a16="http://schemas.microsoft.com/office/drawing/2014/main" id="{81F3592D-9BC9-AA7D-2441-A6D1F0EAE210}"/>
              </a:ext>
            </a:extLst>
          </p:cNvPr>
          <p:cNvSpPr>
            <a:spLocks noGrp="1"/>
          </p:cNvSpPr>
          <p:nvPr>
            <p:ph type="subTitle" idx="1"/>
          </p:nvPr>
        </p:nvSpPr>
        <p:spPr/>
        <p:txBody>
          <a:bodyPr/>
          <a:lstStyle/>
          <a:p>
            <a:r>
              <a:rPr lang="en-US" dirty="0"/>
              <a:t> GOLD 2025 definition</a:t>
            </a:r>
          </a:p>
        </p:txBody>
      </p:sp>
      <p:sp>
        <p:nvSpPr>
          <p:cNvPr id="2" name="Rectangle 1">
            <a:extLst>
              <a:ext uri="{FF2B5EF4-FFF2-40B4-BE49-F238E27FC236}">
                <a16:creationId xmlns:a16="http://schemas.microsoft.com/office/drawing/2014/main" id="{6B4317E8-7C5B-09A2-7207-1CE6064EC9AE}"/>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Date Placeholder 2">
            <a:extLst>
              <a:ext uri="{FF2B5EF4-FFF2-40B4-BE49-F238E27FC236}">
                <a16:creationId xmlns:a16="http://schemas.microsoft.com/office/drawing/2014/main" id="{E83C3F2B-EAFC-C240-0B5E-447CB860028B}"/>
              </a:ext>
            </a:extLst>
          </p:cNvPr>
          <p:cNvSpPr>
            <a:spLocks noGrp="1"/>
          </p:cNvSpPr>
          <p:nvPr>
            <p:ph type="dt" sz="half" idx="19"/>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124F8D-6A21-41BB-B641-CA493D4F9456}" type="datetime4">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5540544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 name="object 4"/>
          <p:cNvSpPr txBox="1">
            <a:spLocks noGrp="1"/>
          </p:cNvSpPr>
          <p:nvPr>
            <p:ph type="body" sz="quarter" idx="13"/>
          </p:nvPr>
        </p:nvSpPr>
        <p:spPr>
          <a:xfrm>
            <a:off x="365125" y="5952884"/>
            <a:ext cx="11460164" cy="135935"/>
          </a:xfrm>
          <a:prstGeom prst="rect">
            <a:avLst/>
          </a:prstGeom>
        </p:spPr>
        <p:txBody>
          <a:bodyPr vert="horz" wrap="square" lIns="0" tIns="12700" rIns="0" bIns="0" rtlCol="0">
            <a:spAutoFit/>
          </a:bodyPr>
          <a:lstStyle/>
          <a:p>
            <a:r>
              <a:rPr lang="en-US" sz="800" dirty="0">
                <a:latin typeface="Arial"/>
                <a:cs typeface="Arial"/>
              </a:rPr>
              <a:t>1. Agusti AG. </a:t>
            </a:r>
            <a:r>
              <a:rPr lang="en-US" sz="800" i="1" dirty="0">
                <a:latin typeface="Arial"/>
                <a:cs typeface="Arial"/>
              </a:rPr>
              <a:t>Respir Med</a:t>
            </a:r>
            <a:r>
              <a:rPr lang="en-US" sz="800" dirty="0">
                <a:latin typeface="Arial"/>
                <a:cs typeface="Arial"/>
              </a:rPr>
              <a:t>. 2005;99(6):670-682; 2. Wedzicha JA, et al. </a:t>
            </a:r>
            <a:r>
              <a:rPr lang="en-US" sz="800" i="1" dirty="0">
                <a:latin typeface="Arial"/>
                <a:cs typeface="Arial"/>
              </a:rPr>
              <a:t>Respir Care. </a:t>
            </a:r>
            <a:r>
              <a:rPr lang="en-US" sz="800" dirty="0">
                <a:latin typeface="Arial"/>
                <a:cs typeface="Arial"/>
              </a:rPr>
              <a:t>2003;48(12):1204-1213; 3. Marsh SE, et al. </a:t>
            </a:r>
            <a:r>
              <a:rPr lang="en-US" sz="800" i="1" dirty="0">
                <a:latin typeface="Arial"/>
                <a:cs typeface="Arial"/>
              </a:rPr>
              <a:t>Thorax</a:t>
            </a:r>
            <a:r>
              <a:rPr lang="en-US" sz="800" dirty="0">
                <a:latin typeface="Arial"/>
                <a:cs typeface="Arial"/>
              </a:rPr>
              <a:t>. 2008;63(9):761-767; 4. Hogg JC, et al. </a:t>
            </a:r>
            <a:r>
              <a:rPr lang="en-US" sz="800" i="1" dirty="0">
                <a:latin typeface="Arial"/>
                <a:cs typeface="Arial"/>
              </a:rPr>
              <a:t>N Engl J Med</a:t>
            </a:r>
            <a:r>
              <a:rPr lang="en-US" sz="800" dirty="0">
                <a:latin typeface="Arial"/>
                <a:cs typeface="Arial"/>
              </a:rPr>
              <a:t>. 2004;350(26):2645-2653.</a:t>
            </a:r>
          </a:p>
        </p:txBody>
      </p:sp>
      <p:sp>
        <p:nvSpPr>
          <p:cNvPr id="18" name="Title 17"/>
          <p:cNvSpPr>
            <a:spLocks noGrp="1"/>
          </p:cNvSpPr>
          <p:nvPr>
            <p:ph type="title"/>
          </p:nvPr>
        </p:nvSpPr>
        <p:spPr/>
        <p:txBody>
          <a:bodyPr/>
          <a:lstStyle/>
          <a:p>
            <a:r>
              <a:rPr lang="en-US" dirty="0"/>
              <a:t>COPD is a complex, multicomponent, heterogeneous disease</a:t>
            </a:r>
            <a:r>
              <a:rPr lang="en-US" baseline="30000" dirty="0"/>
              <a:t>1</a:t>
            </a:r>
          </a:p>
        </p:txBody>
      </p:sp>
      <p:grpSp>
        <p:nvGrpSpPr>
          <p:cNvPr id="90" name="Group 89">
            <a:extLst>
              <a:ext uri="{FF2B5EF4-FFF2-40B4-BE49-F238E27FC236}">
                <a16:creationId xmlns:a16="http://schemas.microsoft.com/office/drawing/2014/main" id="{ABED27D6-D895-EF0C-FB8F-93003430BCC9}"/>
              </a:ext>
            </a:extLst>
          </p:cNvPr>
          <p:cNvGrpSpPr/>
          <p:nvPr/>
        </p:nvGrpSpPr>
        <p:grpSpPr>
          <a:xfrm>
            <a:off x="1754219" y="2870200"/>
            <a:ext cx="8683562" cy="2863252"/>
            <a:chOff x="1754219" y="3010228"/>
            <a:chExt cx="8683562" cy="2863252"/>
          </a:xfrm>
        </p:grpSpPr>
        <p:sp>
          <p:nvSpPr>
            <p:cNvPr id="89" name="Rectangle: Rounded Corners 88">
              <a:extLst>
                <a:ext uri="{FF2B5EF4-FFF2-40B4-BE49-F238E27FC236}">
                  <a16:creationId xmlns:a16="http://schemas.microsoft.com/office/drawing/2014/main" id="{928982B6-5F90-C965-6B26-80C77D36E6AC}"/>
                </a:ext>
              </a:extLst>
            </p:cNvPr>
            <p:cNvSpPr/>
            <p:nvPr/>
          </p:nvSpPr>
          <p:spPr bwMode="auto">
            <a:xfrm>
              <a:off x="1754219" y="3010228"/>
              <a:ext cx="8683562" cy="2863252"/>
            </a:xfrm>
            <a:prstGeom prst="roundRect">
              <a:avLst>
                <a:gd name="adj" fmla="val 8310"/>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nvGrpSpPr>
            <p:cNvPr id="64" name="Group 63">
              <a:extLst>
                <a:ext uri="{FF2B5EF4-FFF2-40B4-BE49-F238E27FC236}">
                  <a16:creationId xmlns:a16="http://schemas.microsoft.com/office/drawing/2014/main" id="{3CE8A0E1-455F-EB82-E51B-7BEAD861FFED}"/>
                </a:ext>
              </a:extLst>
            </p:cNvPr>
            <p:cNvGrpSpPr/>
            <p:nvPr/>
          </p:nvGrpSpPr>
          <p:grpSpPr>
            <a:xfrm>
              <a:off x="1880946" y="3156654"/>
              <a:ext cx="8430109" cy="2570400"/>
              <a:chOff x="2367431" y="3042354"/>
              <a:chExt cx="8430109" cy="2570400"/>
            </a:xfrm>
          </p:grpSpPr>
          <p:grpSp>
            <p:nvGrpSpPr>
              <p:cNvPr id="63" name="Group 62">
                <a:extLst>
                  <a:ext uri="{FF2B5EF4-FFF2-40B4-BE49-F238E27FC236}">
                    <a16:creationId xmlns:a16="http://schemas.microsoft.com/office/drawing/2014/main" id="{636B5EB0-331C-6B9B-6755-C58FEC7E07DA}"/>
                  </a:ext>
                </a:extLst>
              </p:cNvPr>
              <p:cNvGrpSpPr/>
              <p:nvPr/>
            </p:nvGrpSpPr>
            <p:grpSpPr>
              <a:xfrm>
                <a:off x="4941899" y="3358242"/>
                <a:ext cx="5855641" cy="1693150"/>
                <a:chOff x="4949519" y="3358242"/>
                <a:chExt cx="5855641" cy="1693150"/>
              </a:xfrm>
            </p:grpSpPr>
            <p:sp>
              <p:nvSpPr>
                <p:cNvPr id="37" name="object 26"/>
                <p:cNvSpPr txBox="1"/>
                <p:nvPr/>
              </p:nvSpPr>
              <p:spPr>
                <a:xfrm>
                  <a:off x="5927449" y="3358242"/>
                  <a:ext cx="2669532" cy="443711"/>
                </a:xfrm>
                <a:prstGeom prst="rect">
                  <a:avLst/>
                </a:prstGeom>
              </p:spPr>
              <p:txBody>
                <a:bodyPr vert="horz" wrap="square" lIns="0" tIns="12700" rIns="0" bIns="0" rtlCol="0">
                  <a:spAutoFit/>
                </a:bodyPr>
                <a:lstStyle/>
                <a:p>
                  <a:pPr marL="0" marR="30480" lvl="0" indent="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5" normalizeH="0" baseline="0" noProof="0" dirty="0">
                      <a:ln>
                        <a:noFill/>
                      </a:ln>
                      <a:solidFill>
                        <a:srgbClr val="000000"/>
                      </a:solidFill>
                      <a:effectLst/>
                      <a:uLnTx/>
                      <a:uFillTx/>
                      <a:latin typeface="Arial"/>
                      <a:ea typeface="+mn-ea"/>
                      <a:cs typeface="Arial"/>
                    </a:rPr>
                    <a:t>Classical representation</a:t>
                  </a:r>
                  <a:r>
                    <a:rPr kumimoji="0" lang="en-US" sz="1400" b="1" i="0" u="none" strike="noStrike" kern="1200" cap="none" spc="-5"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of</a:t>
                  </a:r>
                  <a:r>
                    <a:rPr kumimoji="0" sz="1400" b="1" i="0" u="none" strike="noStrike" kern="1200" cap="none" spc="-25" normalizeH="0" baseline="0" noProof="0" dirty="0">
                      <a:ln>
                        <a:noFill/>
                      </a:ln>
                      <a:solidFill>
                        <a:srgbClr val="000000"/>
                      </a:solidFill>
                      <a:effectLst/>
                      <a:uLnTx/>
                      <a:uFillTx/>
                      <a:latin typeface="Arial"/>
                      <a:ea typeface="+mn-ea"/>
                      <a:cs typeface="Arial"/>
                    </a:rPr>
                    <a:t> </a:t>
                  </a:r>
                  <a:r>
                    <a:rPr kumimoji="0" sz="1400" b="1" i="0" u="none" strike="noStrike" kern="1200" cap="none" spc="-5" normalizeH="0" baseline="0" noProof="0" dirty="0">
                      <a:ln>
                        <a:noFill/>
                      </a:ln>
                      <a:solidFill>
                        <a:srgbClr val="000000"/>
                      </a:solidFill>
                      <a:effectLst/>
                      <a:uLnTx/>
                      <a:uFillTx/>
                      <a:latin typeface="Arial"/>
                      <a:ea typeface="+mn-ea"/>
                      <a:cs typeface="Arial"/>
                    </a:rPr>
                    <a:t>disease</a:t>
                  </a:r>
                  <a:r>
                    <a:rPr kumimoji="0" sz="1400" b="1" i="0" u="none" strike="noStrike" kern="1200" cap="none" spc="-40" normalizeH="0" baseline="0" noProof="0" dirty="0">
                      <a:ln>
                        <a:noFill/>
                      </a:ln>
                      <a:solidFill>
                        <a:srgbClr val="000000"/>
                      </a:solidFill>
                      <a:effectLst/>
                      <a:uLnTx/>
                      <a:uFillTx/>
                      <a:latin typeface="Arial"/>
                      <a:ea typeface="+mn-ea"/>
                      <a:cs typeface="Arial"/>
                    </a:rPr>
                    <a:t> </a:t>
                  </a:r>
                  <a:r>
                    <a:rPr kumimoji="0" sz="1400" b="1" i="0" u="none" strike="noStrike" kern="1200" cap="none" spc="-5" normalizeH="0" baseline="0" noProof="0" dirty="0">
                      <a:ln>
                        <a:noFill/>
                      </a:ln>
                      <a:solidFill>
                        <a:srgbClr val="000000"/>
                      </a:solidFill>
                      <a:effectLst/>
                      <a:uLnTx/>
                      <a:uFillTx/>
                      <a:latin typeface="Arial"/>
                      <a:ea typeface="+mn-ea"/>
                      <a:cs typeface="Arial"/>
                    </a:rPr>
                    <a:t>progression</a:t>
                  </a:r>
                  <a:r>
                    <a:rPr kumimoji="0" sz="1400" b="1" i="0" u="none" strike="noStrike" kern="1200" cap="none" spc="-7" normalizeH="0" baseline="30000" noProof="0" dirty="0">
                      <a:ln>
                        <a:noFill/>
                      </a:ln>
                      <a:solidFill>
                        <a:srgbClr val="000000"/>
                      </a:solidFill>
                      <a:effectLst/>
                      <a:uLnTx/>
                      <a:uFillTx/>
                      <a:latin typeface="Arial"/>
                      <a:ea typeface="+mn-ea"/>
                      <a:cs typeface="Arial"/>
                    </a:rPr>
                    <a:t>1</a:t>
                  </a:r>
                  <a:r>
                    <a:rPr kumimoji="0" lang="en-US" sz="1400" b="1" i="0" u="none" strike="noStrike" kern="1200" cap="none" spc="-7" normalizeH="0" baseline="30000" noProof="0" dirty="0">
                      <a:ln>
                        <a:noFill/>
                      </a:ln>
                      <a:solidFill>
                        <a:srgbClr val="000000"/>
                      </a:solidFill>
                      <a:effectLst/>
                      <a:uLnTx/>
                      <a:uFillTx/>
                      <a:latin typeface="Arial"/>
                      <a:ea typeface="+mn-ea"/>
                      <a:cs typeface="Arial"/>
                    </a:rPr>
                    <a:t>,2,4</a:t>
                  </a:r>
                  <a:endParaRPr kumimoji="0" sz="1400" b="0" i="0" u="none" strike="noStrike" kern="1200" cap="none" spc="0" normalizeH="0" baseline="30000" noProof="0" dirty="0">
                    <a:ln>
                      <a:noFill/>
                    </a:ln>
                    <a:solidFill>
                      <a:srgbClr val="000000"/>
                    </a:solidFill>
                    <a:effectLst/>
                    <a:uLnTx/>
                    <a:uFillTx/>
                    <a:latin typeface="Arial"/>
                    <a:ea typeface="+mn-ea"/>
                    <a:cs typeface="Arial"/>
                  </a:endParaRPr>
                </a:p>
              </p:txBody>
            </p:sp>
            <p:grpSp>
              <p:nvGrpSpPr>
                <p:cNvPr id="60" name="Group 59">
                  <a:extLst>
                    <a:ext uri="{FF2B5EF4-FFF2-40B4-BE49-F238E27FC236}">
                      <a16:creationId xmlns:a16="http://schemas.microsoft.com/office/drawing/2014/main" id="{08411C92-3586-8ECE-C4AB-B31328D19E23}"/>
                    </a:ext>
                  </a:extLst>
                </p:cNvPr>
                <p:cNvGrpSpPr/>
                <p:nvPr/>
              </p:nvGrpSpPr>
              <p:grpSpPr>
                <a:xfrm>
                  <a:off x="4949519" y="3603716"/>
                  <a:ext cx="5855641" cy="1447676"/>
                  <a:chOff x="5113427" y="3976374"/>
                  <a:chExt cx="5855641" cy="1447676"/>
                </a:xfrm>
              </p:grpSpPr>
              <p:sp>
                <p:nvSpPr>
                  <p:cNvPr id="13" name="object 7"/>
                  <p:cNvSpPr/>
                  <p:nvPr/>
                </p:nvSpPr>
                <p:spPr>
                  <a:xfrm>
                    <a:off x="5113427" y="3976374"/>
                    <a:ext cx="5855641" cy="1447676"/>
                  </a:xfrm>
                  <a:custGeom>
                    <a:avLst/>
                    <a:gdLst/>
                    <a:ahLst/>
                    <a:cxnLst/>
                    <a:rect l="l" t="t" r="r" b="b"/>
                    <a:pathLst>
                      <a:path w="4029075" h="1332229">
                        <a:moveTo>
                          <a:pt x="4028694" y="665987"/>
                        </a:moveTo>
                        <a:lnTo>
                          <a:pt x="3194304" y="0"/>
                        </a:lnTo>
                        <a:lnTo>
                          <a:pt x="3194304" y="248411"/>
                        </a:lnTo>
                        <a:lnTo>
                          <a:pt x="0" y="248412"/>
                        </a:lnTo>
                        <a:lnTo>
                          <a:pt x="0" y="1083564"/>
                        </a:lnTo>
                        <a:lnTo>
                          <a:pt x="3194304" y="1083564"/>
                        </a:lnTo>
                        <a:lnTo>
                          <a:pt x="3194304" y="1331975"/>
                        </a:lnTo>
                        <a:lnTo>
                          <a:pt x="4028694" y="665987"/>
                        </a:lnTo>
                        <a:close/>
                      </a:path>
                    </a:pathLst>
                  </a:custGeom>
                  <a:solidFill>
                    <a:schemeClr val="accent1"/>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59" name="Group 58">
                    <a:extLst>
                      <a:ext uri="{FF2B5EF4-FFF2-40B4-BE49-F238E27FC236}">
                        <a16:creationId xmlns:a16="http://schemas.microsoft.com/office/drawing/2014/main" id="{D652FC74-640D-FDAB-7EA7-FEC0A14A294F}"/>
                      </a:ext>
                    </a:extLst>
                  </p:cNvPr>
                  <p:cNvGrpSpPr/>
                  <p:nvPr/>
                </p:nvGrpSpPr>
                <p:grpSpPr>
                  <a:xfrm>
                    <a:off x="5289546" y="4509455"/>
                    <a:ext cx="5026027" cy="381515"/>
                    <a:chOff x="5289546" y="4509455"/>
                    <a:chExt cx="5026027" cy="381515"/>
                  </a:xfrm>
                </p:grpSpPr>
                <p:sp>
                  <p:nvSpPr>
                    <p:cNvPr id="14" name="object 8"/>
                    <p:cNvSpPr txBox="1"/>
                    <p:nvPr/>
                  </p:nvSpPr>
                  <p:spPr>
                    <a:xfrm>
                      <a:off x="5289546" y="4601620"/>
                      <a:ext cx="801811" cy="197185"/>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FFFFFF"/>
                          </a:solidFill>
                          <a:effectLst/>
                          <a:uLnTx/>
                          <a:uFillTx/>
                          <a:latin typeface="Arial"/>
                          <a:ea typeface="+mn-ea"/>
                          <a:cs typeface="Arial"/>
                        </a:rPr>
                        <a:t>S</a:t>
                      </a:r>
                      <a:r>
                        <a:rPr kumimoji="0" sz="1200" b="1" i="0" u="none" strike="noStrike" kern="1200" cap="none" spc="-20" normalizeH="0" baseline="0" noProof="0" dirty="0">
                          <a:ln>
                            <a:noFill/>
                          </a:ln>
                          <a:solidFill>
                            <a:srgbClr val="FFFFFF"/>
                          </a:solidFill>
                          <a:effectLst/>
                          <a:uLnTx/>
                          <a:uFillTx/>
                          <a:latin typeface="Arial"/>
                          <a:ea typeface="+mn-ea"/>
                          <a:cs typeface="Arial"/>
                        </a:rPr>
                        <a:t>y</a:t>
                      </a:r>
                      <a:r>
                        <a:rPr kumimoji="0" sz="1200" b="1" i="0" u="none" strike="noStrike" kern="1200" cap="none" spc="-5" normalizeH="0" baseline="0" noProof="0" dirty="0">
                          <a:ln>
                            <a:noFill/>
                          </a:ln>
                          <a:solidFill>
                            <a:srgbClr val="FFFFFF"/>
                          </a:solidFill>
                          <a:effectLst/>
                          <a:uLnTx/>
                          <a:uFillTx/>
                          <a:latin typeface="Arial"/>
                          <a:ea typeface="+mn-ea"/>
                          <a:cs typeface="Arial"/>
                        </a:rPr>
                        <a:t>mptoms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5" name="object 9"/>
                    <p:cNvSpPr txBox="1"/>
                    <p:nvPr/>
                  </p:nvSpPr>
                  <p:spPr>
                    <a:xfrm>
                      <a:off x="6638434" y="4509455"/>
                      <a:ext cx="1177478" cy="381515"/>
                    </a:xfrm>
                    <a:prstGeom prst="rect">
                      <a:avLst/>
                    </a:prstGeom>
                  </p:spPr>
                  <p:txBody>
                    <a:bodyPr vert="horz" wrap="square" lIns="0" tIns="12065"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FFFFFF"/>
                          </a:solidFill>
                          <a:effectLst/>
                          <a:uLnTx/>
                          <a:uFillTx/>
                          <a:latin typeface="Arial"/>
                          <a:ea typeface="+mn-ea"/>
                          <a:cs typeface="Arial"/>
                        </a:rPr>
                        <a:t>Exacerbation</a:t>
                      </a:r>
                      <a:r>
                        <a:rPr kumimoji="0" lang="en-US" sz="1200" b="1" i="0" u="none" strike="noStrike" kern="1200" cap="none" spc="-5" normalizeH="0" baseline="0" noProof="0" dirty="0">
                          <a:ln>
                            <a:noFill/>
                          </a:ln>
                          <a:solidFill>
                            <a:srgbClr val="FFFFFF"/>
                          </a:solidFill>
                          <a:effectLst/>
                          <a:uLnTx/>
                          <a:uFillTx/>
                          <a:latin typeface="Arial"/>
                          <a:ea typeface="+mn-ea"/>
                          <a:cs typeface="Arial"/>
                        </a:rPr>
                        <a:t> </a:t>
                      </a:r>
                      <a:br>
                        <a:rPr kumimoji="0" lang="en-US" sz="1200" b="1" i="0" u="none" strike="noStrike" kern="1200" cap="none" spc="-5" normalizeH="0" baseline="0" noProof="0" dirty="0">
                          <a:ln>
                            <a:noFill/>
                          </a:ln>
                          <a:solidFill>
                            <a:srgbClr val="FFFFFF"/>
                          </a:solidFill>
                          <a:effectLst/>
                          <a:uLnTx/>
                          <a:uFillTx/>
                          <a:latin typeface="Arial"/>
                          <a:ea typeface="+mn-ea"/>
                          <a:cs typeface="Arial"/>
                        </a:rPr>
                      </a:br>
                      <a:r>
                        <a:rPr kumimoji="0" sz="1200" b="1" i="0" u="none" strike="noStrike" kern="1200" cap="none" spc="-5" normalizeH="0" baseline="0" noProof="0" dirty="0">
                          <a:ln>
                            <a:noFill/>
                          </a:ln>
                          <a:solidFill>
                            <a:srgbClr val="FFFFFF"/>
                          </a:solidFill>
                          <a:effectLst/>
                          <a:uLnTx/>
                          <a:uFillTx/>
                          <a:latin typeface="Arial"/>
                          <a:ea typeface="+mn-ea"/>
                          <a:cs typeface="Arial"/>
                        </a:rPr>
                        <a:t>(or</a:t>
                      </a:r>
                      <a:r>
                        <a:rPr kumimoji="0" sz="1200" b="1" i="0" u="none" strike="noStrike" kern="1200" cap="none" spc="-45" normalizeH="0" baseline="0" noProof="0" dirty="0">
                          <a:ln>
                            <a:noFill/>
                          </a:ln>
                          <a:solidFill>
                            <a:srgbClr val="FFFFFF"/>
                          </a:solidFill>
                          <a:effectLst/>
                          <a:uLnTx/>
                          <a:uFillTx/>
                          <a:latin typeface="Arial"/>
                          <a:ea typeface="+mn-ea"/>
                          <a:cs typeface="Arial"/>
                        </a:rPr>
                        <a:t> </a:t>
                      </a:r>
                      <a:r>
                        <a:rPr kumimoji="0" lang="en-IN" sz="1200" b="1" i="0" u="none" strike="noStrike" kern="1200" cap="none" spc="-5" normalizeH="0" baseline="0" noProof="0" dirty="0">
                          <a:ln>
                            <a:noFill/>
                          </a:ln>
                          <a:solidFill>
                            <a:srgbClr val="FFFFFF"/>
                          </a:solidFill>
                          <a:effectLst/>
                          <a:uLnTx/>
                          <a:uFillTx/>
                          <a:latin typeface="Arial"/>
                          <a:ea typeface="+mn-ea"/>
                          <a:cs typeface="Arial"/>
                        </a:rPr>
                        <a:t>‘</a:t>
                      </a:r>
                      <a:r>
                        <a:rPr kumimoji="0" sz="1200" b="1" i="0" u="none" strike="noStrike" kern="1200" cap="none" spc="-5" normalizeH="0" baseline="0" noProof="0" dirty="0">
                          <a:ln>
                            <a:noFill/>
                          </a:ln>
                          <a:solidFill>
                            <a:srgbClr val="FFFFFF"/>
                          </a:solidFill>
                          <a:effectLst/>
                          <a:uLnTx/>
                          <a:uFillTx/>
                          <a:latin typeface="Arial"/>
                          <a:ea typeface="+mn-ea"/>
                          <a:cs typeface="Arial"/>
                        </a:rPr>
                        <a:t>flare-ups</a:t>
                      </a:r>
                      <a:r>
                        <a:rPr kumimoji="0" lang="en-GB" sz="1200" b="1" i="0" u="none" strike="noStrike" kern="1200" cap="none" spc="-5" normalizeH="0" baseline="0" noProof="0" dirty="0">
                          <a:ln>
                            <a:noFill/>
                          </a:ln>
                          <a:solidFill>
                            <a:srgbClr val="FFFFFF"/>
                          </a:solidFill>
                          <a:effectLst/>
                          <a:uLnTx/>
                          <a:uFillTx/>
                          <a:latin typeface="Arial"/>
                          <a:ea typeface="+mn-ea"/>
                          <a:cs typeface="Arial"/>
                        </a:rPr>
                        <a:t>’</a:t>
                      </a:r>
                      <a:r>
                        <a:rPr kumimoji="0" sz="1200" b="1" i="0" u="none" strike="noStrike" kern="1200" cap="none" spc="-5" normalizeH="0" baseline="0" noProof="0" dirty="0">
                          <a:ln>
                            <a:noFill/>
                          </a:ln>
                          <a:solidFill>
                            <a:srgbClr val="FFFFFF"/>
                          </a:solidFill>
                          <a:effectLst/>
                          <a:uLnTx/>
                          <a:uFillTx/>
                          <a:latin typeface="Arial"/>
                          <a:ea typeface="+mn-ea"/>
                          <a:cs typeface="Arial"/>
                        </a:rPr>
                        <a: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7" name="object 10"/>
                    <p:cNvSpPr txBox="1"/>
                    <p:nvPr/>
                  </p:nvSpPr>
                  <p:spPr>
                    <a:xfrm>
                      <a:off x="9866367" y="4601620"/>
                      <a:ext cx="449206" cy="197185"/>
                    </a:xfrm>
                    <a:prstGeom prst="rect">
                      <a:avLst/>
                    </a:prstGeom>
                  </p:spPr>
                  <p:txBody>
                    <a:bodyPr vert="horz" wrap="square" lIns="0" tIns="12065"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FFFFFF"/>
                          </a:solidFill>
                          <a:effectLst/>
                          <a:uLnTx/>
                          <a:uFillTx/>
                          <a:latin typeface="Arial"/>
                          <a:ea typeface="+mn-ea"/>
                          <a:cs typeface="Arial"/>
                        </a:rPr>
                        <a:t>Death</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pic>
                  <p:nvPicPr>
                    <p:cNvPr id="19" name="object 11"/>
                    <p:cNvPicPr/>
                    <p:nvPr/>
                  </p:nvPicPr>
                  <p:blipFill>
                    <a:blip r:embed="rId2" cstate="print"/>
                    <a:stretch>
                      <a:fillRect/>
                    </a:stretch>
                  </p:blipFill>
                  <p:spPr>
                    <a:xfrm>
                      <a:off x="6264704" y="4582632"/>
                      <a:ext cx="200383" cy="235160"/>
                    </a:xfrm>
                    <a:prstGeom prst="rect">
                      <a:avLst/>
                    </a:prstGeom>
                  </p:spPr>
                </p:pic>
                <p:sp>
                  <p:nvSpPr>
                    <p:cNvPr id="23" name="object 12"/>
                    <p:cNvSpPr txBox="1"/>
                    <p:nvPr/>
                  </p:nvSpPr>
                  <p:spPr>
                    <a:xfrm>
                      <a:off x="8362989" y="4509455"/>
                      <a:ext cx="957130" cy="381515"/>
                    </a:xfrm>
                    <a:prstGeom prst="rect">
                      <a:avLst/>
                    </a:prstGeom>
                  </p:spPr>
                  <p:txBody>
                    <a:bodyPr vert="horz" wrap="square" lIns="0" tIns="12065"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FFFFFF"/>
                          </a:solidFill>
                          <a:effectLst/>
                          <a:uLnTx/>
                          <a:uFillTx/>
                          <a:latin typeface="Arial"/>
                          <a:ea typeface="+mn-ea"/>
                          <a:cs typeface="Arial"/>
                        </a:rPr>
                        <a:t>Declining</a:t>
                      </a:r>
                      <a:r>
                        <a:rPr kumimoji="0" lang="en-US" sz="1200" b="1" i="0" u="none" strike="noStrike" kern="1200" cap="none" spc="-5" normalizeH="0" baseline="0" noProof="0" dirty="0">
                          <a:ln>
                            <a:noFill/>
                          </a:ln>
                          <a:solidFill>
                            <a:srgbClr val="FFFFFF"/>
                          </a:solidFill>
                          <a:effectLst/>
                          <a:uLnTx/>
                          <a:uFillTx/>
                          <a:latin typeface="Arial"/>
                          <a:ea typeface="+mn-ea"/>
                          <a:cs typeface="Arial"/>
                        </a:rPr>
                        <a:t> </a:t>
                      </a:r>
                      <a:r>
                        <a:rPr kumimoji="0" sz="1200" b="1" i="0" u="none" strike="noStrike" kern="1200" cap="none" spc="-5" normalizeH="0" baseline="0" noProof="0" dirty="0">
                          <a:ln>
                            <a:noFill/>
                          </a:ln>
                          <a:solidFill>
                            <a:srgbClr val="FFFFFF"/>
                          </a:solidFill>
                          <a:effectLst/>
                          <a:uLnTx/>
                          <a:uFillTx/>
                          <a:latin typeface="Arial"/>
                          <a:ea typeface="+mn-ea"/>
                          <a:cs typeface="Arial"/>
                        </a:rPr>
                        <a:t>health</a:t>
                      </a:r>
                      <a:r>
                        <a:rPr kumimoji="0" lang="en-US" sz="1200" b="1" i="0" u="none" strike="noStrike" kern="1200" cap="none" spc="-5" normalizeH="0" baseline="0" noProof="0" dirty="0">
                          <a:ln>
                            <a:noFill/>
                          </a:ln>
                          <a:solidFill>
                            <a:srgbClr val="FFFFFF"/>
                          </a:solidFill>
                          <a:effectLst/>
                          <a:uLnTx/>
                          <a:uFillTx/>
                          <a:latin typeface="Arial"/>
                          <a:ea typeface="+mn-ea"/>
                          <a:cs typeface="Arial"/>
                        </a:rPr>
                        <a:t> </a:t>
                      </a:r>
                      <a:r>
                        <a:rPr kumimoji="0" sz="1200" b="1" i="0" u="none" strike="noStrike" kern="1200" cap="none" spc="-5" normalizeH="0" baseline="0" noProof="0" dirty="0">
                          <a:ln>
                            <a:noFill/>
                          </a:ln>
                          <a:solidFill>
                            <a:srgbClr val="FFFFFF"/>
                          </a:solidFill>
                          <a:effectLst/>
                          <a:uLnTx/>
                          <a:uFillTx/>
                          <a:latin typeface="Arial"/>
                          <a:ea typeface="+mn-ea"/>
                          <a:cs typeface="Arial"/>
                        </a:rPr>
                        <a:t>status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pic>
                  <p:nvPicPr>
                    <p:cNvPr id="39" name="object 28"/>
                    <p:cNvPicPr/>
                    <p:nvPr/>
                  </p:nvPicPr>
                  <p:blipFill>
                    <a:blip r:embed="rId2" cstate="print"/>
                    <a:stretch>
                      <a:fillRect/>
                    </a:stretch>
                  </p:blipFill>
                  <p:spPr>
                    <a:xfrm>
                      <a:off x="7989259" y="4582632"/>
                      <a:ext cx="200383" cy="235160"/>
                    </a:xfrm>
                    <a:prstGeom prst="rect">
                      <a:avLst/>
                    </a:prstGeom>
                  </p:spPr>
                </p:pic>
                <p:pic>
                  <p:nvPicPr>
                    <p:cNvPr id="40" name="object 29"/>
                    <p:cNvPicPr/>
                    <p:nvPr/>
                  </p:nvPicPr>
                  <p:blipFill>
                    <a:blip r:embed="rId3" cstate="print"/>
                    <a:stretch>
                      <a:fillRect/>
                    </a:stretch>
                  </p:blipFill>
                  <p:spPr>
                    <a:xfrm>
                      <a:off x="9493466" y="4582632"/>
                      <a:ext cx="199556" cy="235160"/>
                    </a:xfrm>
                    <a:prstGeom prst="rect">
                      <a:avLst/>
                    </a:prstGeom>
                  </p:spPr>
                </p:pic>
              </p:grpSp>
            </p:grpSp>
          </p:grpSp>
          <p:grpSp>
            <p:nvGrpSpPr>
              <p:cNvPr id="57" name="Group 56">
                <a:extLst>
                  <a:ext uri="{FF2B5EF4-FFF2-40B4-BE49-F238E27FC236}">
                    <a16:creationId xmlns:a16="http://schemas.microsoft.com/office/drawing/2014/main" id="{DCB4C965-467C-320C-3069-89D6F293F33F}"/>
                  </a:ext>
                </a:extLst>
              </p:cNvPr>
              <p:cNvGrpSpPr/>
              <p:nvPr/>
            </p:nvGrpSpPr>
            <p:grpSpPr>
              <a:xfrm>
                <a:off x="2367431" y="3042354"/>
                <a:ext cx="2571039" cy="2570400"/>
                <a:chOff x="2563089" y="3042354"/>
                <a:chExt cx="2571039" cy="2570400"/>
              </a:xfrm>
            </p:grpSpPr>
            <p:sp>
              <p:nvSpPr>
                <p:cNvPr id="25" name="object 14"/>
                <p:cNvSpPr/>
                <p:nvPr/>
              </p:nvSpPr>
              <p:spPr>
                <a:xfrm>
                  <a:off x="2563089" y="3042354"/>
                  <a:ext cx="2571039" cy="2570400"/>
                </a:xfrm>
                <a:prstGeom prst="roundRect">
                  <a:avLst>
                    <a:gd name="adj" fmla="val 6291"/>
                  </a:avLst>
                </a:prstGeom>
                <a:solidFill>
                  <a:srgbClr val="FFFFFF"/>
                </a:solidFill>
                <a:ln>
                  <a:solidFill>
                    <a:schemeClr val="tx2"/>
                  </a:solidFill>
                </a:ln>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56" name="Group 55">
                  <a:extLst>
                    <a:ext uri="{FF2B5EF4-FFF2-40B4-BE49-F238E27FC236}">
                      <a16:creationId xmlns:a16="http://schemas.microsoft.com/office/drawing/2014/main" id="{70540FFF-7D38-6264-204E-77BE5CC7641D}"/>
                    </a:ext>
                  </a:extLst>
                </p:cNvPr>
                <p:cNvGrpSpPr/>
                <p:nvPr/>
              </p:nvGrpSpPr>
              <p:grpSpPr>
                <a:xfrm>
                  <a:off x="2625674" y="3089922"/>
                  <a:ext cx="2445868" cy="2475264"/>
                  <a:chOff x="2626433" y="3080444"/>
                  <a:chExt cx="2445868" cy="2475264"/>
                </a:xfrm>
              </p:grpSpPr>
              <p:grpSp>
                <p:nvGrpSpPr>
                  <p:cNvPr id="55" name="Group 54">
                    <a:extLst>
                      <a:ext uri="{FF2B5EF4-FFF2-40B4-BE49-F238E27FC236}">
                        <a16:creationId xmlns:a16="http://schemas.microsoft.com/office/drawing/2014/main" id="{34EAC81D-FD71-0751-CC97-5F1D28572DE9}"/>
                      </a:ext>
                    </a:extLst>
                  </p:cNvPr>
                  <p:cNvGrpSpPr/>
                  <p:nvPr/>
                </p:nvGrpSpPr>
                <p:grpSpPr>
                  <a:xfrm>
                    <a:off x="2626433" y="3080444"/>
                    <a:ext cx="2445868" cy="2475264"/>
                    <a:chOff x="2626433" y="3080444"/>
                    <a:chExt cx="2445868" cy="2475264"/>
                  </a:xfrm>
                </p:grpSpPr>
                <p:grpSp>
                  <p:nvGrpSpPr>
                    <p:cNvPr id="53" name="Group 52">
                      <a:extLst>
                        <a:ext uri="{FF2B5EF4-FFF2-40B4-BE49-F238E27FC236}">
                          <a16:creationId xmlns:a16="http://schemas.microsoft.com/office/drawing/2014/main" id="{8FBFED85-6100-6636-B5AF-46F32B1AC122}"/>
                        </a:ext>
                      </a:extLst>
                    </p:cNvPr>
                    <p:cNvGrpSpPr/>
                    <p:nvPr/>
                  </p:nvGrpSpPr>
                  <p:grpSpPr>
                    <a:xfrm>
                      <a:off x="2626433" y="3080444"/>
                      <a:ext cx="1095071" cy="2475264"/>
                      <a:chOff x="2626433" y="3080444"/>
                      <a:chExt cx="1095071" cy="2475264"/>
                    </a:xfrm>
                  </p:grpSpPr>
                  <p:grpSp>
                    <p:nvGrpSpPr>
                      <p:cNvPr id="49" name="Group 48">
                        <a:extLst>
                          <a:ext uri="{FF2B5EF4-FFF2-40B4-BE49-F238E27FC236}">
                            <a16:creationId xmlns:a16="http://schemas.microsoft.com/office/drawing/2014/main" id="{65B17EC2-376F-45AB-069F-0DF03AE7A93B}"/>
                          </a:ext>
                        </a:extLst>
                      </p:cNvPr>
                      <p:cNvGrpSpPr/>
                      <p:nvPr/>
                    </p:nvGrpSpPr>
                    <p:grpSpPr>
                      <a:xfrm>
                        <a:off x="2626433" y="3080444"/>
                        <a:ext cx="1095071" cy="1095762"/>
                        <a:chOff x="2626019" y="3080445"/>
                        <a:chExt cx="1095071" cy="1095762"/>
                      </a:xfrm>
                    </p:grpSpPr>
                    <p:sp>
                      <p:nvSpPr>
                        <p:cNvPr id="29" name="object 18"/>
                        <p:cNvSpPr/>
                        <p:nvPr/>
                      </p:nvSpPr>
                      <p:spPr>
                        <a:xfrm>
                          <a:off x="2626019" y="3080445"/>
                          <a:ext cx="1095071" cy="1095762"/>
                        </a:xfrm>
                        <a:custGeom>
                          <a:avLst/>
                          <a:gdLst/>
                          <a:ahLst/>
                          <a:cxnLst/>
                          <a:rect l="l" t="t" r="r" b="b"/>
                          <a:pathLst>
                            <a:path w="1007745" h="1008379">
                              <a:moveTo>
                                <a:pt x="1007363" y="504444"/>
                              </a:moveTo>
                              <a:lnTo>
                                <a:pt x="1005057" y="455935"/>
                              </a:lnTo>
                              <a:lnTo>
                                <a:pt x="998280" y="408716"/>
                              </a:lnTo>
                              <a:lnTo>
                                <a:pt x="987242" y="362998"/>
                              </a:lnTo>
                              <a:lnTo>
                                <a:pt x="972155" y="318996"/>
                              </a:lnTo>
                              <a:lnTo>
                                <a:pt x="953230" y="276921"/>
                              </a:lnTo>
                              <a:lnTo>
                                <a:pt x="930679" y="236988"/>
                              </a:lnTo>
                              <a:lnTo>
                                <a:pt x="904712" y="199410"/>
                              </a:lnTo>
                              <a:lnTo>
                                <a:pt x="875542" y="164399"/>
                              </a:lnTo>
                              <a:lnTo>
                                <a:pt x="843379" y="132168"/>
                              </a:lnTo>
                              <a:lnTo>
                                <a:pt x="808434" y="102932"/>
                              </a:lnTo>
                              <a:lnTo>
                                <a:pt x="770919" y="76902"/>
                              </a:lnTo>
                              <a:lnTo>
                                <a:pt x="731045" y="54292"/>
                              </a:lnTo>
                              <a:lnTo>
                                <a:pt x="689023" y="35315"/>
                              </a:lnTo>
                              <a:lnTo>
                                <a:pt x="645064" y="20184"/>
                              </a:lnTo>
                              <a:lnTo>
                                <a:pt x="599380" y="9112"/>
                              </a:lnTo>
                              <a:lnTo>
                                <a:pt x="552182" y="2313"/>
                              </a:lnTo>
                              <a:lnTo>
                                <a:pt x="503681" y="0"/>
                              </a:lnTo>
                              <a:lnTo>
                                <a:pt x="455181" y="2313"/>
                              </a:lnTo>
                              <a:lnTo>
                                <a:pt x="407983" y="9112"/>
                              </a:lnTo>
                              <a:lnTo>
                                <a:pt x="362299" y="20184"/>
                              </a:lnTo>
                              <a:lnTo>
                                <a:pt x="318340" y="35315"/>
                              </a:lnTo>
                              <a:lnTo>
                                <a:pt x="276318" y="54292"/>
                              </a:lnTo>
                              <a:lnTo>
                                <a:pt x="236444" y="76902"/>
                              </a:lnTo>
                              <a:lnTo>
                                <a:pt x="198929" y="102932"/>
                              </a:lnTo>
                              <a:lnTo>
                                <a:pt x="163984" y="132168"/>
                              </a:lnTo>
                              <a:lnTo>
                                <a:pt x="131821" y="164399"/>
                              </a:lnTo>
                              <a:lnTo>
                                <a:pt x="102651" y="199410"/>
                              </a:lnTo>
                              <a:lnTo>
                                <a:pt x="76684" y="236988"/>
                              </a:lnTo>
                              <a:lnTo>
                                <a:pt x="54133" y="276921"/>
                              </a:lnTo>
                              <a:lnTo>
                                <a:pt x="35208" y="318996"/>
                              </a:lnTo>
                              <a:lnTo>
                                <a:pt x="20121" y="362998"/>
                              </a:lnTo>
                              <a:lnTo>
                                <a:pt x="9083" y="408716"/>
                              </a:lnTo>
                              <a:lnTo>
                                <a:pt x="2306" y="455935"/>
                              </a:lnTo>
                              <a:lnTo>
                                <a:pt x="0" y="504444"/>
                              </a:lnTo>
                              <a:lnTo>
                                <a:pt x="2306" y="552944"/>
                              </a:lnTo>
                              <a:lnTo>
                                <a:pt x="9083" y="600142"/>
                              </a:lnTo>
                              <a:lnTo>
                                <a:pt x="20121" y="645826"/>
                              </a:lnTo>
                              <a:lnTo>
                                <a:pt x="35208" y="689785"/>
                              </a:lnTo>
                              <a:lnTo>
                                <a:pt x="54133" y="731807"/>
                              </a:lnTo>
                              <a:lnTo>
                                <a:pt x="76684" y="771681"/>
                              </a:lnTo>
                              <a:lnTo>
                                <a:pt x="102651" y="809196"/>
                              </a:lnTo>
                              <a:lnTo>
                                <a:pt x="131821" y="844141"/>
                              </a:lnTo>
                              <a:lnTo>
                                <a:pt x="163984" y="876304"/>
                              </a:lnTo>
                              <a:lnTo>
                                <a:pt x="198929" y="905474"/>
                              </a:lnTo>
                              <a:lnTo>
                                <a:pt x="236444" y="931441"/>
                              </a:lnTo>
                              <a:lnTo>
                                <a:pt x="276318" y="953992"/>
                              </a:lnTo>
                              <a:lnTo>
                                <a:pt x="318340" y="972917"/>
                              </a:lnTo>
                              <a:lnTo>
                                <a:pt x="362299" y="988004"/>
                              </a:lnTo>
                              <a:lnTo>
                                <a:pt x="407983" y="999042"/>
                              </a:lnTo>
                              <a:lnTo>
                                <a:pt x="455181" y="1005819"/>
                              </a:lnTo>
                              <a:lnTo>
                                <a:pt x="503681" y="1008126"/>
                              </a:lnTo>
                              <a:lnTo>
                                <a:pt x="552182" y="1005819"/>
                              </a:lnTo>
                              <a:lnTo>
                                <a:pt x="599380" y="999042"/>
                              </a:lnTo>
                              <a:lnTo>
                                <a:pt x="645064" y="988004"/>
                              </a:lnTo>
                              <a:lnTo>
                                <a:pt x="689023" y="972917"/>
                              </a:lnTo>
                              <a:lnTo>
                                <a:pt x="731045" y="953992"/>
                              </a:lnTo>
                              <a:lnTo>
                                <a:pt x="770919" y="931441"/>
                              </a:lnTo>
                              <a:lnTo>
                                <a:pt x="808434" y="905474"/>
                              </a:lnTo>
                              <a:lnTo>
                                <a:pt x="843379" y="876304"/>
                              </a:lnTo>
                              <a:lnTo>
                                <a:pt x="875542" y="844141"/>
                              </a:lnTo>
                              <a:lnTo>
                                <a:pt x="904712" y="809196"/>
                              </a:lnTo>
                              <a:lnTo>
                                <a:pt x="930679" y="771681"/>
                              </a:lnTo>
                              <a:lnTo>
                                <a:pt x="953230" y="731807"/>
                              </a:lnTo>
                              <a:lnTo>
                                <a:pt x="972155" y="689785"/>
                              </a:lnTo>
                              <a:lnTo>
                                <a:pt x="987242" y="645826"/>
                              </a:lnTo>
                              <a:lnTo>
                                <a:pt x="998280" y="600142"/>
                              </a:lnTo>
                              <a:lnTo>
                                <a:pt x="1005057" y="552944"/>
                              </a:lnTo>
                              <a:lnTo>
                                <a:pt x="1007363" y="504444"/>
                              </a:lnTo>
                              <a:close/>
                            </a:path>
                          </a:pathLst>
                        </a:custGeom>
                        <a:solidFill>
                          <a:srgbClr val="E7E6E6"/>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0" name="object 19"/>
                        <p:cNvSpPr txBox="1"/>
                        <p:nvPr/>
                      </p:nvSpPr>
                      <p:spPr>
                        <a:xfrm>
                          <a:off x="2712998" y="3437248"/>
                          <a:ext cx="921113" cy="382156"/>
                        </a:xfrm>
                        <a:prstGeom prst="rect">
                          <a:avLst/>
                        </a:prstGeom>
                      </p:spPr>
                      <p:txBody>
                        <a:bodyPr vert="horz" wrap="square" lIns="0" tIns="12700"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10" normalizeH="0" baseline="0" noProof="0" dirty="0">
                              <a:ln>
                                <a:noFill/>
                              </a:ln>
                              <a:solidFill>
                                <a:srgbClr val="000000"/>
                              </a:solidFill>
                              <a:effectLst/>
                              <a:uLnTx/>
                              <a:uFillTx/>
                              <a:latin typeface="Arial"/>
                              <a:ea typeface="+mn-ea"/>
                              <a:cs typeface="Arial"/>
                            </a:rPr>
                            <a:t>Systemic</a:t>
                          </a:r>
                          <a:r>
                            <a:rPr kumimoji="0" lang="en-US" sz="1200" b="1" i="0" u="none" strike="noStrike" kern="1200" cap="none" spc="-10" normalizeH="0" baseline="0" noProof="0" dirty="0">
                              <a:ln>
                                <a:noFill/>
                              </a:ln>
                              <a:solidFill>
                                <a:srgbClr val="000000"/>
                              </a:solidFill>
                              <a:effectLst/>
                              <a:uLnTx/>
                              <a:uFillTx/>
                              <a:latin typeface="Arial"/>
                              <a:ea typeface="+mn-ea"/>
                              <a:cs typeface="Arial"/>
                            </a:rPr>
                            <a:t> </a:t>
                          </a:r>
                          <a:r>
                            <a:rPr kumimoji="0" sz="1200" b="1" i="0" u="none" strike="noStrike" kern="1200" cap="none" spc="-5" normalizeH="0" baseline="0" noProof="0" dirty="0">
                              <a:ln>
                                <a:noFill/>
                              </a:ln>
                              <a:solidFill>
                                <a:srgbClr val="000000"/>
                              </a:solidFill>
                              <a:effectLst/>
                              <a:uLnTx/>
                              <a:uFillTx/>
                              <a:latin typeface="Arial"/>
                              <a:ea typeface="+mn-ea"/>
                              <a:cs typeface="Arial"/>
                            </a:rPr>
                            <a:t>component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52" name="Group 51">
                        <a:extLst>
                          <a:ext uri="{FF2B5EF4-FFF2-40B4-BE49-F238E27FC236}">
                            <a16:creationId xmlns:a16="http://schemas.microsoft.com/office/drawing/2014/main" id="{45A182D1-C32D-8D32-42A3-B8529C87EBFF}"/>
                          </a:ext>
                        </a:extLst>
                      </p:cNvPr>
                      <p:cNvGrpSpPr/>
                      <p:nvPr/>
                    </p:nvGrpSpPr>
                    <p:grpSpPr>
                      <a:xfrm>
                        <a:off x="2626433" y="4459946"/>
                        <a:ext cx="1095071" cy="1095762"/>
                        <a:chOff x="2626847" y="4459946"/>
                        <a:chExt cx="1095071" cy="1095762"/>
                      </a:xfrm>
                    </p:grpSpPr>
                    <p:sp>
                      <p:nvSpPr>
                        <p:cNvPr id="31" name="object 20"/>
                        <p:cNvSpPr/>
                        <p:nvPr/>
                      </p:nvSpPr>
                      <p:spPr>
                        <a:xfrm>
                          <a:off x="2626847" y="4459946"/>
                          <a:ext cx="1095071" cy="1095762"/>
                        </a:xfrm>
                        <a:custGeom>
                          <a:avLst/>
                          <a:gdLst/>
                          <a:ahLst/>
                          <a:cxnLst/>
                          <a:rect l="l" t="t" r="r" b="b"/>
                          <a:pathLst>
                            <a:path w="1007745" h="1008379">
                              <a:moveTo>
                                <a:pt x="1007363" y="504443"/>
                              </a:moveTo>
                              <a:lnTo>
                                <a:pt x="1005057" y="455816"/>
                              </a:lnTo>
                              <a:lnTo>
                                <a:pt x="998280" y="408506"/>
                              </a:lnTo>
                              <a:lnTo>
                                <a:pt x="987242" y="362725"/>
                              </a:lnTo>
                              <a:lnTo>
                                <a:pt x="972155" y="318681"/>
                              </a:lnTo>
                              <a:lnTo>
                                <a:pt x="953230" y="276586"/>
                              </a:lnTo>
                              <a:lnTo>
                                <a:pt x="930679" y="236651"/>
                              </a:lnTo>
                              <a:lnTo>
                                <a:pt x="904712" y="199084"/>
                              </a:lnTo>
                              <a:lnTo>
                                <a:pt x="875542" y="164097"/>
                              </a:lnTo>
                              <a:lnTo>
                                <a:pt x="843379" y="131900"/>
                              </a:lnTo>
                              <a:lnTo>
                                <a:pt x="808434" y="102704"/>
                              </a:lnTo>
                              <a:lnTo>
                                <a:pt x="770919" y="76718"/>
                              </a:lnTo>
                              <a:lnTo>
                                <a:pt x="731045" y="54152"/>
                              </a:lnTo>
                              <a:lnTo>
                                <a:pt x="689023" y="35218"/>
                              </a:lnTo>
                              <a:lnTo>
                                <a:pt x="645064" y="20125"/>
                              </a:lnTo>
                              <a:lnTo>
                                <a:pt x="599380" y="9085"/>
                              </a:lnTo>
                              <a:lnTo>
                                <a:pt x="552182" y="2306"/>
                              </a:lnTo>
                              <a:lnTo>
                                <a:pt x="503681" y="0"/>
                              </a:lnTo>
                              <a:lnTo>
                                <a:pt x="455181" y="2306"/>
                              </a:lnTo>
                              <a:lnTo>
                                <a:pt x="407983" y="9085"/>
                              </a:lnTo>
                              <a:lnTo>
                                <a:pt x="362299" y="20125"/>
                              </a:lnTo>
                              <a:lnTo>
                                <a:pt x="318340" y="35218"/>
                              </a:lnTo>
                              <a:lnTo>
                                <a:pt x="276318" y="54152"/>
                              </a:lnTo>
                              <a:lnTo>
                                <a:pt x="236444" y="76718"/>
                              </a:lnTo>
                              <a:lnTo>
                                <a:pt x="198929" y="102704"/>
                              </a:lnTo>
                              <a:lnTo>
                                <a:pt x="163984" y="131900"/>
                              </a:lnTo>
                              <a:lnTo>
                                <a:pt x="131821" y="164097"/>
                              </a:lnTo>
                              <a:lnTo>
                                <a:pt x="102651" y="199084"/>
                              </a:lnTo>
                              <a:lnTo>
                                <a:pt x="76684" y="236651"/>
                              </a:lnTo>
                              <a:lnTo>
                                <a:pt x="54133" y="276586"/>
                              </a:lnTo>
                              <a:lnTo>
                                <a:pt x="35208" y="318681"/>
                              </a:lnTo>
                              <a:lnTo>
                                <a:pt x="20121" y="362725"/>
                              </a:lnTo>
                              <a:lnTo>
                                <a:pt x="9083" y="408506"/>
                              </a:lnTo>
                              <a:lnTo>
                                <a:pt x="2306" y="455816"/>
                              </a:lnTo>
                              <a:lnTo>
                                <a:pt x="0" y="504443"/>
                              </a:lnTo>
                              <a:lnTo>
                                <a:pt x="2306" y="552944"/>
                              </a:lnTo>
                              <a:lnTo>
                                <a:pt x="9083" y="600142"/>
                              </a:lnTo>
                              <a:lnTo>
                                <a:pt x="20121" y="645826"/>
                              </a:lnTo>
                              <a:lnTo>
                                <a:pt x="35208" y="689785"/>
                              </a:lnTo>
                              <a:lnTo>
                                <a:pt x="54133" y="731807"/>
                              </a:lnTo>
                              <a:lnTo>
                                <a:pt x="76684" y="771681"/>
                              </a:lnTo>
                              <a:lnTo>
                                <a:pt x="102651" y="809196"/>
                              </a:lnTo>
                              <a:lnTo>
                                <a:pt x="131821" y="844141"/>
                              </a:lnTo>
                              <a:lnTo>
                                <a:pt x="163984" y="876304"/>
                              </a:lnTo>
                              <a:lnTo>
                                <a:pt x="198929" y="905474"/>
                              </a:lnTo>
                              <a:lnTo>
                                <a:pt x="236444" y="931441"/>
                              </a:lnTo>
                              <a:lnTo>
                                <a:pt x="276318" y="953992"/>
                              </a:lnTo>
                              <a:lnTo>
                                <a:pt x="318340" y="972917"/>
                              </a:lnTo>
                              <a:lnTo>
                                <a:pt x="362299" y="988004"/>
                              </a:lnTo>
                              <a:lnTo>
                                <a:pt x="407983" y="999042"/>
                              </a:lnTo>
                              <a:lnTo>
                                <a:pt x="455181" y="1005819"/>
                              </a:lnTo>
                              <a:lnTo>
                                <a:pt x="503681" y="1008125"/>
                              </a:lnTo>
                              <a:lnTo>
                                <a:pt x="552182" y="1005819"/>
                              </a:lnTo>
                              <a:lnTo>
                                <a:pt x="599380" y="999042"/>
                              </a:lnTo>
                              <a:lnTo>
                                <a:pt x="645064" y="988004"/>
                              </a:lnTo>
                              <a:lnTo>
                                <a:pt x="689023" y="972917"/>
                              </a:lnTo>
                              <a:lnTo>
                                <a:pt x="731045" y="953992"/>
                              </a:lnTo>
                              <a:lnTo>
                                <a:pt x="770919" y="931441"/>
                              </a:lnTo>
                              <a:lnTo>
                                <a:pt x="808434" y="905474"/>
                              </a:lnTo>
                              <a:lnTo>
                                <a:pt x="843379" y="876304"/>
                              </a:lnTo>
                              <a:lnTo>
                                <a:pt x="875542" y="844141"/>
                              </a:lnTo>
                              <a:lnTo>
                                <a:pt x="904712" y="809196"/>
                              </a:lnTo>
                              <a:lnTo>
                                <a:pt x="930679" y="771681"/>
                              </a:lnTo>
                              <a:lnTo>
                                <a:pt x="953230" y="731807"/>
                              </a:lnTo>
                              <a:lnTo>
                                <a:pt x="972155" y="689785"/>
                              </a:lnTo>
                              <a:lnTo>
                                <a:pt x="987242" y="645826"/>
                              </a:lnTo>
                              <a:lnTo>
                                <a:pt x="998280" y="600142"/>
                              </a:lnTo>
                              <a:lnTo>
                                <a:pt x="1005057" y="552944"/>
                              </a:lnTo>
                              <a:lnTo>
                                <a:pt x="1007363" y="504443"/>
                              </a:lnTo>
                              <a:close/>
                            </a:path>
                          </a:pathLst>
                        </a:custGeom>
                        <a:solidFill>
                          <a:srgbClr val="E7E6E6"/>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2" name="object 21"/>
                        <p:cNvSpPr txBox="1"/>
                        <p:nvPr/>
                      </p:nvSpPr>
                      <p:spPr>
                        <a:xfrm>
                          <a:off x="2791955" y="4816914"/>
                          <a:ext cx="764854" cy="382156"/>
                        </a:xfrm>
                        <a:prstGeom prst="rect">
                          <a:avLst/>
                        </a:prstGeom>
                      </p:spPr>
                      <p:txBody>
                        <a:bodyPr vert="horz" wrap="square" lIns="0" tIns="12700"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000000"/>
                              </a:solidFill>
                              <a:effectLst/>
                              <a:uLnTx/>
                              <a:uFillTx/>
                              <a:latin typeface="Arial"/>
                              <a:ea typeface="+mn-ea"/>
                              <a:cs typeface="Arial"/>
                            </a:rPr>
                            <a:t>Airflow</a:t>
                          </a:r>
                          <a:r>
                            <a:rPr kumimoji="0" lang="en-US" sz="1200" b="1" i="0" u="none" strike="noStrike" kern="1200" cap="none" spc="-5" normalizeH="0" baseline="0" noProof="0" dirty="0">
                              <a:ln>
                                <a:noFill/>
                              </a:ln>
                              <a:solidFill>
                                <a:srgbClr val="000000"/>
                              </a:solidFill>
                              <a:effectLst/>
                              <a:uLnTx/>
                              <a:uFillTx/>
                              <a:latin typeface="Arial"/>
                              <a:ea typeface="+mn-ea"/>
                              <a:cs typeface="Arial"/>
                            </a:rPr>
                            <a:t> </a:t>
                          </a:r>
                          <a:r>
                            <a:rPr kumimoji="0" sz="1200" b="1" i="0" u="none" strike="noStrike" kern="1200" cap="none" spc="-5" normalizeH="0" baseline="0" noProof="0" dirty="0">
                              <a:ln>
                                <a:noFill/>
                              </a:ln>
                              <a:solidFill>
                                <a:srgbClr val="000000"/>
                              </a:solidFill>
                              <a:effectLst/>
                              <a:uLnTx/>
                              <a:uFillTx/>
                              <a:latin typeface="Arial"/>
                              <a:ea typeface="+mn-ea"/>
                              <a:cs typeface="Arial"/>
                            </a:rPr>
                            <a:t>limitation</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nvGrpSpPr>
                    <p:cNvPr id="54" name="Group 53">
                      <a:extLst>
                        <a:ext uri="{FF2B5EF4-FFF2-40B4-BE49-F238E27FC236}">
                          <a16:creationId xmlns:a16="http://schemas.microsoft.com/office/drawing/2014/main" id="{58B539A2-9C13-8D5D-B8C5-B6757481016D}"/>
                        </a:ext>
                      </a:extLst>
                    </p:cNvPr>
                    <p:cNvGrpSpPr/>
                    <p:nvPr/>
                  </p:nvGrpSpPr>
                  <p:grpSpPr>
                    <a:xfrm>
                      <a:off x="3976539" y="3080444"/>
                      <a:ext cx="1095762" cy="2475264"/>
                      <a:chOff x="3976539" y="3080444"/>
                      <a:chExt cx="1095762" cy="2475264"/>
                    </a:xfrm>
                  </p:grpSpPr>
                  <p:grpSp>
                    <p:nvGrpSpPr>
                      <p:cNvPr id="51" name="Group 50">
                        <a:extLst>
                          <a:ext uri="{FF2B5EF4-FFF2-40B4-BE49-F238E27FC236}">
                            <a16:creationId xmlns:a16="http://schemas.microsoft.com/office/drawing/2014/main" id="{05E28EA3-4DFB-1112-A6B2-7038A9E0A925}"/>
                          </a:ext>
                        </a:extLst>
                      </p:cNvPr>
                      <p:cNvGrpSpPr/>
                      <p:nvPr/>
                    </p:nvGrpSpPr>
                    <p:grpSpPr>
                      <a:xfrm>
                        <a:off x="3976539" y="3080444"/>
                        <a:ext cx="1095762" cy="1095762"/>
                        <a:chOff x="3976539" y="3080443"/>
                        <a:chExt cx="1095762" cy="1095762"/>
                      </a:xfrm>
                    </p:grpSpPr>
                    <p:sp>
                      <p:nvSpPr>
                        <p:cNvPr id="27" name="object 16"/>
                        <p:cNvSpPr/>
                        <p:nvPr/>
                      </p:nvSpPr>
                      <p:spPr>
                        <a:xfrm>
                          <a:off x="3976539" y="3080443"/>
                          <a:ext cx="1095762" cy="1095762"/>
                        </a:xfrm>
                        <a:custGeom>
                          <a:avLst/>
                          <a:gdLst/>
                          <a:ahLst/>
                          <a:cxnLst/>
                          <a:rect l="l" t="t" r="r" b="b"/>
                          <a:pathLst>
                            <a:path w="1008379" h="1008379">
                              <a:moveTo>
                                <a:pt x="1008126" y="504444"/>
                              </a:moveTo>
                              <a:lnTo>
                                <a:pt x="1005812" y="455935"/>
                              </a:lnTo>
                              <a:lnTo>
                                <a:pt x="999013" y="408716"/>
                              </a:lnTo>
                              <a:lnTo>
                                <a:pt x="987941" y="362998"/>
                              </a:lnTo>
                              <a:lnTo>
                                <a:pt x="972810" y="318996"/>
                              </a:lnTo>
                              <a:lnTo>
                                <a:pt x="953833" y="276921"/>
                              </a:lnTo>
                              <a:lnTo>
                                <a:pt x="931223" y="236988"/>
                              </a:lnTo>
                              <a:lnTo>
                                <a:pt x="905193" y="199410"/>
                              </a:lnTo>
                              <a:lnTo>
                                <a:pt x="875957" y="164399"/>
                              </a:lnTo>
                              <a:lnTo>
                                <a:pt x="843726" y="132168"/>
                              </a:lnTo>
                              <a:lnTo>
                                <a:pt x="808715" y="102932"/>
                              </a:lnTo>
                              <a:lnTo>
                                <a:pt x="771137" y="76902"/>
                              </a:lnTo>
                              <a:lnTo>
                                <a:pt x="731204" y="54292"/>
                              </a:lnTo>
                              <a:lnTo>
                                <a:pt x="689129" y="35315"/>
                              </a:lnTo>
                              <a:lnTo>
                                <a:pt x="645127" y="20184"/>
                              </a:lnTo>
                              <a:lnTo>
                                <a:pt x="599409" y="9112"/>
                              </a:lnTo>
                              <a:lnTo>
                                <a:pt x="552190" y="2313"/>
                              </a:lnTo>
                              <a:lnTo>
                                <a:pt x="503681" y="0"/>
                              </a:lnTo>
                              <a:lnTo>
                                <a:pt x="455181" y="2313"/>
                              </a:lnTo>
                              <a:lnTo>
                                <a:pt x="407983" y="9112"/>
                              </a:lnTo>
                              <a:lnTo>
                                <a:pt x="362299" y="20184"/>
                              </a:lnTo>
                              <a:lnTo>
                                <a:pt x="318340" y="35315"/>
                              </a:lnTo>
                              <a:lnTo>
                                <a:pt x="276318" y="54292"/>
                              </a:lnTo>
                              <a:lnTo>
                                <a:pt x="236444" y="76902"/>
                              </a:lnTo>
                              <a:lnTo>
                                <a:pt x="198929" y="102932"/>
                              </a:lnTo>
                              <a:lnTo>
                                <a:pt x="163984" y="132168"/>
                              </a:lnTo>
                              <a:lnTo>
                                <a:pt x="131821" y="164399"/>
                              </a:lnTo>
                              <a:lnTo>
                                <a:pt x="102651" y="199410"/>
                              </a:lnTo>
                              <a:lnTo>
                                <a:pt x="76684" y="236988"/>
                              </a:lnTo>
                              <a:lnTo>
                                <a:pt x="54133" y="276921"/>
                              </a:lnTo>
                              <a:lnTo>
                                <a:pt x="35208" y="318996"/>
                              </a:lnTo>
                              <a:lnTo>
                                <a:pt x="20121" y="362998"/>
                              </a:lnTo>
                              <a:lnTo>
                                <a:pt x="9083" y="408716"/>
                              </a:lnTo>
                              <a:lnTo>
                                <a:pt x="2306" y="455935"/>
                              </a:lnTo>
                              <a:lnTo>
                                <a:pt x="0" y="504444"/>
                              </a:lnTo>
                              <a:lnTo>
                                <a:pt x="2306" y="552944"/>
                              </a:lnTo>
                              <a:lnTo>
                                <a:pt x="9083" y="600142"/>
                              </a:lnTo>
                              <a:lnTo>
                                <a:pt x="20121" y="645826"/>
                              </a:lnTo>
                              <a:lnTo>
                                <a:pt x="35208" y="689785"/>
                              </a:lnTo>
                              <a:lnTo>
                                <a:pt x="54133" y="731807"/>
                              </a:lnTo>
                              <a:lnTo>
                                <a:pt x="76684" y="771681"/>
                              </a:lnTo>
                              <a:lnTo>
                                <a:pt x="102651" y="809196"/>
                              </a:lnTo>
                              <a:lnTo>
                                <a:pt x="131821" y="844141"/>
                              </a:lnTo>
                              <a:lnTo>
                                <a:pt x="163984" y="876304"/>
                              </a:lnTo>
                              <a:lnTo>
                                <a:pt x="198929" y="905474"/>
                              </a:lnTo>
                              <a:lnTo>
                                <a:pt x="236444" y="931441"/>
                              </a:lnTo>
                              <a:lnTo>
                                <a:pt x="276318" y="953992"/>
                              </a:lnTo>
                              <a:lnTo>
                                <a:pt x="318340" y="972917"/>
                              </a:lnTo>
                              <a:lnTo>
                                <a:pt x="362299" y="988004"/>
                              </a:lnTo>
                              <a:lnTo>
                                <a:pt x="407983" y="999042"/>
                              </a:lnTo>
                              <a:lnTo>
                                <a:pt x="455181" y="1005819"/>
                              </a:lnTo>
                              <a:lnTo>
                                <a:pt x="503681" y="1008126"/>
                              </a:lnTo>
                              <a:lnTo>
                                <a:pt x="552190" y="1005819"/>
                              </a:lnTo>
                              <a:lnTo>
                                <a:pt x="599409" y="999042"/>
                              </a:lnTo>
                              <a:lnTo>
                                <a:pt x="645127" y="988004"/>
                              </a:lnTo>
                              <a:lnTo>
                                <a:pt x="689129" y="972917"/>
                              </a:lnTo>
                              <a:lnTo>
                                <a:pt x="731204" y="953992"/>
                              </a:lnTo>
                              <a:lnTo>
                                <a:pt x="771137" y="931441"/>
                              </a:lnTo>
                              <a:lnTo>
                                <a:pt x="808715" y="905474"/>
                              </a:lnTo>
                              <a:lnTo>
                                <a:pt x="843726" y="876304"/>
                              </a:lnTo>
                              <a:lnTo>
                                <a:pt x="875957" y="844141"/>
                              </a:lnTo>
                              <a:lnTo>
                                <a:pt x="905193" y="809196"/>
                              </a:lnTo>
                              <a:lnTo>
                                <a:pt x="931223" y="771681"/>
                              </a:lnTo>
                              <a:lnTo>
                                <a:pt x="953833" y="731807"/>
                              </a:lnTo>
                              <a:lnTo>
                                <a:pt x="972810" y="689785"/>
                              </a:lnTo>
                              <a:lnTo>
                                <a:pt x="987941" y="645826"/>
                              </a:lnTo>
                              <a:lnTo>
                                <a:pt x="999013" y="600142"/>
                              </a:lnTo>
                              <a:lnTo>
                                <a:pt x="1005812" y="552944"/>
                              </a:lnTo>
                              <a:lnTo>
                                <a:pt x="1008126" y="504444"/>
                              </a:lnTo>
                              <a:close/>
                            </a:path>
                          </a:pathLst>
                        </a:custGeom>
                        <a:solidFill>
                          <a:srgbClr val="E7E6E6"/>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 name="object 17"/>
                        <p:cNvSpPr txBox="1"/>
                        <p:nvPr/>
                      </p:nvSpPr>
                      <p:spPr>
                        <a:xfrm>
                          <a:off x="4042069" y="3452635"/>
                          <a:ext cx="964703" cy="382156"/>
                        </a:xfrm>
                        <a:prstGeom prst="rect">
                          <a:avLst/>
                        </a:prstGeom>
                      </p:spPr>
                      <p:txBody>
                        <a:bodyPr vert="horz" wrap="square" lIns="0" tIns="12700"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err="1">
                              <a:ln>
                                <a:noFill/>
                              </a:ln>
                              <a:solidFill>
                                <a:srgbClr val="000000"/>
                              </a:solidFill>
                              <a:effectLst/>
                              <a:uLnTx/>
                              <a:uFillTx/>
                              <a:latin typeface="Arial"/>
                              <a:ea typeface="+mn-ea"/>
                              <a:cs typeface="Arial"/>
                            </a:rPr>
                            <a:t>Mucociliary</a:t>
                          </a:r>
                          <a:r>
                            <a:rPr kumimoji="0" lang="en-US" sz="1200" b="1" i="0" u="none" strike="noStrike" kern="1200" cap="none" spc="-5"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d</a:t>
                          </a:r>
                          <a:r>
                            <a:rPr kumimoji="0" sz="1200" b="1" i="0" u="none" strike="noStrike" kern="1200" cap="none" spc="-20" normalizeH="0" baseline="0" noProof="0" dirty="0">
                              <a:ln>
                                <a:noFill/>
                              </a:ln>
                              <a:solidFill>
                                <a:srgbClr val="000000"/>
                              </a:solidFill>
                              <a:effectLst/>
                              <a:uLnTx/>
                              <a:uFillTx/>
                              <a:latin typeface="Arial"/>
                              <a:ea typeface="+mn-ea"/>
                              <a:cs typeface="Arial"/>
                            </a:rPr>
                            <a:t>y</a:t>
                          </a:r>
                          <a:r>
                            <a:rPr kumimoji="0" sz="1200" b="1" i="0" u="none" strike="noStrike" kern="1200" cap="none" spc="0" normalizeH="0" baseline="0" noProof="0" dirty="0">
                              <a:ln>
                                <a:noFill/>
                              </a:ln>
                              <a:solidFill>
                                <a:srgbClr val="000000"/>
                              </a:solidFill>
                              <a:effectLst/>
                              <a:uLnTx/>
                              <a:uFillTx/>
                              <a:latin typeface="Arial"/>
                              <a:ea typeface="+mn-ea"/>
                              <a:cs typeface="Arial"/>
                            </a:rPr>
                            <a:t>sfunction</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50" name="Group 49">
                        <a:extLst>
                          <a:ext uri="{FF2B5EF4-FFF2-40B4-BE49-F238E27FC236}">
                            <a16:creationId xmlns:a16="http://schemas.microsoft.com/office/drawing/2014/main" id="{7EBF6315-6C33-6D82-202A-0DEAC2DEF9AA}"/>
                          </a:ext>
                        </a:extLst>
                      </p:cNvPr>
                      <p:cNvGrpSpPr/>
                      <p:nvPr/>
                    </p:nvGrpSpPr>
                    <p:grpSpPr>
                      <a:xfrm>
                        <a:off x="3976539" y="4459946"/>
                        <a:ext cx="1095762" cy="1095762"/>
                        <a:chOff x="3976539" y="4459946"/>
                        <a:chExt cx="1095762" cy="1095762"/>
                      </a:xfrm>
                    </p:grpSpPr>
                    <p:sp>
                      <p:nvSpPr>
                        <p:cNvPr id="33" name="object 22"/>
                        <p:cNvSpPr/>
                        <p:nvPr/>
                      </p:nvSpPr>
                      <p:spPr>
                        <a:xfrm>
                          <a:off x="3976539" y="4459946"/>
                          <a:ext cx="1095762" cy="1095762"/>
                        </a:xfrm>
                        <a:custGeom>
                          <a:avLst/>
                          <a:gdLst/>
                          <a:ahLst/>
                          <a:cxnLst/>
                          <a:rect l="l" t="t" r="r" b="b"/>
                          <a:pathLst>
                            <a:path w="1008379" h="1008379">
                              <a:moveTo>
                                <a:pt x="1008126" y="504443"/>
                              </a:moveTo>
                              <a:lnTo>
                                <a:pt x="1005812" y="455816"/>
                              </a:lnTo>
                              <a:lnTo>
                                <a:pt x="999013" y="408506"/>
                              </a:lnTo>
                              <a:lnTo>
                                <a:pt x="987941" y="362725"/>
                              </a:lnTo>
                              <a:lnTo>
                                <a:pt x="972810" y="318681"/>
                              </a:lnTo>
                              <a:lnTo>
                                <a:pt x="953833" y="276586"/>
                              </a:lnTo>
                              <a:lnTo>
                                <a:pt x="931223" y="236651"/>
                              </a:lnTo>
                              <a:lnTo>
                                <a:pt x="905193" y="199084"/>
                              </a:lnTo>
                              <a:lnTo>
                                <a:pt x="875957" y="164097"/>
                              </a:lnTo>
                              <a:lnTo>
                                <a:pt x="843726" y="131900"/>
                              </a:lnTo>
                              <a:lnTo>
                                <a:pt x="808715" y="102704"/>
                              </a:lnTo>
                              <a:lnTo>
                                <a:pt x="771137" y="76718"/>
                              </a:lnTo>
                              <a:lnTo>
                                <a:pt x="731204" y="54152"/>
                              </a:lnTo>
                              <a:lnTo>
                                <a:pt x="689129" y="35218"/>
                              </a:lnTo>
                              <a:lnTo>
                                <a:pt x="645127" y="20125"/>
                              </a:lnTo>
                              <a:lnTo>
                                <a:pt x="599409" y="9085"/>
                              </a:lnTo>
                              <a:lnTo>
                                <a:pt x="552190" y="2306"/>
                              </a:lnTo>
                              <a:lnTo>
                                <a:pt x="503681" y="0"/>
                              </a:lnTo>
                              <a:lnTo>
                                <a:pt x="455181" y="2306"/>
                              </a:lnTo>
                              <a:lnTo>
                                <a:pt x="407983" y="9085"/>
                              </a:lnTo>
                              <a:lnTo>
                                <a:pt x="362299" y="20125"/>
                              </a:lnTo>
                              <a:lnTo>
                                <a:pt x="318340" y="35218"/>
                              </a:lnTo>
                              <a:lnTo>
                                <a:pt x="276318" y="54152"/>
                              </a:lnTo>
                              <a:lnTo>
                                <a:pt x="236444" y="76718"/>
                              </a:lnTo>
                              <a:lnTo>
                                <a:pt x="198929" y="102704"/>
                              </a:lnTo>
                              <a:lnTo>
                                <a:pt x="163984" y="131900"/>
                              </a:lnTo>
                              <a:lnTo>
                                <a:pt x="131821" y="164097"/>
                              </a:lnTo>
                              <a:lnTo>
                                <a:pt x="102651" y="199084"/>
                              </a:lnTo>
                              <a:lnTo>
                                <a:pt x="76684" y="236651"/>
                              </a:lnTo>
                              <a:lnTo>
                                <a:pt x="54133" y="276586"/>
                              </a:lnTo>
                              <a:lnTo>
                                <a:pt x="35208" y="318681"/>
                              </a:lnTo>
                              <a:lnTo>
                                <a:pt x="20121" y="362725"/>
                              </a:lnTo>
                              <a:lnTo>
                                <a:pt x="9083" y="408506"/>
                              </a:lnTo>
                              <a:lnTo>
                                <a:pt x="2306" y="455816"/>
                              </a:lnTo>
                              <a:lnTo>
                                <a:pt x="0" y="504443"/>
                              </a:lnTo>
                              <a:lnTo>
                                <a:pt x="2306" y="552944"/>
                              </a:lnTo>
                              <a:lnTo>
                                <a:pt x="9083" y="600142"/>
                              </a:lnTo>
                              <a:lnTo>
                                <a:pt x="20121" y="645826"/>
                              </a:lnTo>
                              <a:lnTo>
                                <a:pt x="35208" y="689785"/>
                              </a:lnTo>
                              <a:lnTo>
                                <a:pt x="54133" y="731807"/>
                              </a:lnTo>
                              <a:lnTo>
                                <a:pt x="76684" y="771681"/>
                              </a:lnTo>
                              <a:lnTo>
                                <a:pt x="102651" y="809196"/>
                              </a:lnTo>
                              <a:lnTo>
                                <a:pt x="131821" y="844141"/>
                              </a:lnTo>
                              <a:lnTo>
                                <a:pt x="163984" y="876304"/>
                              </a:lnTo>
                              <a:lnTo>
                                <a:pt x="198929" y="905474"/>
                              </a:lnTo>
                              <a:lnTo>
                                <a:pt x="236444" y="931441"/>
                              </a:lnTo>
                              <a:lnTo>
                                <a:pt x="276318" y="953992"/>
                              </a:lnTo>
                              <a:lnTo>
                                <a:pt x="318340" y="972917"/>
                              </a:lnTo>
                              <a:lnTo>
                                <a:pt x="362299" y="988004"/>
                              </a:lnTo>
                              <a:lnTo>
                                <a:pt x="407983" y="999042"/>
                              </a:lnTo>
                              <a:lnTo>
                                <a:pt x="455181" y="1005819"/>
                              </a:lnTo>
                              <a:lnTo>
                                <a:pt x="503681" y="1008125"/>
                              </a:lnTo>
                              <a:lnTo>
                                <a:pt x="552190" y="1005819"/>
                              </a:lnTo>
                              <a:lnTo>
                                <a:pt x="599409" y="999042"/>
                              </a:lnTo>
                              <a:lnTo>
                                <a:pt x="645127" y="988004"/>
                              </a:lnTo>
                              <a:lnTo>
                                <a:pt x="689129" y="972917"/>
                              </a:lnTo>
                              <a:lnTo>
                                <a:pt x="731204" y="953992"/>
                              </a:lnTo>
                              <a:lnTo>
                                <a:pt x="771137" y="931441"/>
                              </a:lnTo>
                              <a:lnTo>
                                <a:pt x="808715" y="905474"/>
                              </a:lnTo>
                              <a:lnTo>
                                <a:pt x="843726" y="876304"/>
                              </a:lnTo>
                              <a:lnTo>
                                <a:pt x="875957" y="844141"/>
                              </a:lnTo>
                              <a:lnTo>
                                <a:pt x="905193" y="809196"/>
                              </a:lnTo>
                              <a:lnTo>
                                <a:pt x="931223" y="771681"/>
                              </a:lnTo>
                              <a:lnTo>
                                <a:pt x="953833" y="731807"/>
                              </a:lnTo>
                              <a:lnTo>
                                <a:pt x="972810" y="689785"/>
                              </a:lnTo>
                              <a:lnTo>
                                <a:pt x="987941" y="645826"/>
                              </a:lnTo>
                              <a:lnTo>
                                <a:pt x="999013" y="600142"/>
                              </a:lnTo>
                              <a:lnTo>
                                <a:pt x="1005812" y="552944"/>
                              </a:lnTo>
                              <a:lnTo>
                                <a:pt x="1008126" y="504443"/>
                              </a:lnTo>
                              <a:close/>
                            </a:path>
                          </a:pathLst>
                        </a:custGeom>
                        <a:solidFill>
                          <a:srgbClr val="E7E6E6"/>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4" name="object 23"/>
                        <p:cNvSpPr txBox="1"/>
                        <p:nvPr/>
                      </p:nvSpPr>
                      <p:spPr>
                        <a:xfrm>
                          <a:off x="4118144" y="4816914"/>
                          <a:ext cx="812553" cy="382156"/>
                        </a:xfrm>
                        <a:prstGeom prst="rect">
                          <a:avLst/>
                        </a:prstGeom>
                      </p:spPr>
                      <p:txBody>
                        <a:bodyPr vert="horz" wrap="square" lIns="0" tIns="12700"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Structural</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5" normalizeH="0" baseline="0" noProof="0" dirty="0">
                              <a:ln>
                                <a:noFill/>
                              </a:ln>
                              <a:solidFill>
                                <a:srgbClr val="000000"/>
                              </a:solidFill>
                              <a:effectLst/>
                              <a:uLnTx/>
                              <a:uFillTx/>
                              <a:latin typeface="Arial"/>
                              <a:ea typeface="+mn-ea"/>
                              <a:cs typeface="Arial"/>
                            </a:rPr>
                            <a:t>changes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sp>
                <p:nvSpPr>
                  <p:cNvPr id="35" name="object 24"/>
                  <p:cNvSpPr/>
                  <p:nvPr/>
                </p:nvSpPr>
                <p:spPr>
                  <a:xfrm>
                    <a:off x="3301486" y="3770195"/>
                    <a:ext cx="1095762" cy="1095762"/>
                  </a:xfrm>
                  <a:custGeom>
                    <a:avLst/>
                    <a:gdLst/>
                    <a:ahLst/>
                    <a:cxnLst/>
                    <a:rect l="l" t="t" r="r" b="b"/>
                    <a:pathLst>
                      <a:path w="1008379" h="1008379">
                        <a:moveTo>
                          <a:pt x="1008126" y="504443"/>
                        </a:moveTo>
                        <a:lnTo>
                          <a:pt x="1005819" y="455816"/>
                        </a:lnTo>
                        <a:lnTo>
                          <a:pt x="999042" y="408506"/>
                        </a:lnTo>
                        <a:lnTo>
                          <a:pt x="988004" y="362725"/>
                        </a:lnTo>
                        <a:lnTo>
                          <a:pt x="972917" y="318681"/>
                        </a:lnTo>
                        <a:lnTo>
                          <a:pt x="953992" y="276586"/>
                        </a:lnTo>
                        <a:lnTo>
                          <a:pt x="931441" y="236651"/>
                        </a:lnTo>
                        <a:lnTo>
                          <a:pt x="905474" y="199084"/>
                        </a:lnTo>
                        <a:lnTo>
                          <a:pt x="876304" y="164097"/>
                        </a:lnTo>
                        <a:lnTo>
                          <a:pt x="844141" y="131900"/>
                        </a:lnTo>
                        <a:lnTo>
                          <a:pt x="809196" y="102704"/>
                        </a:lnTo>
                        <a:lnTo>
                          <a:pt x="771681" y="76718"/>
                        </a:lnTo>
                        <a:lnTo>
                          <a:pt x="731807" y="54152"/>
                        </a:lnTo>
                        <a:lnTo>
                          <a:pt x="689785" y="35218"/>
                        </a:lnTo>
                        <a:lnTo>
                          <a:pt x="645826" y="20125"/>
                        </a:lnTo>
                        <a:lnTo>
                          <a:pt x="600142" y="9085"/>
                        </a:lnTo>
                        <a:lnTo>
                          <a:pt x="552944" y="2306"/>
                        </a:lnTo>
                        <a:lnTo>
                          <a:pt x="504444" y="0"/>
                        </a:lnTo>
                        <a:lnTo>
                          <a:pt x="455816" y="2306"/>
                        </a:lnTo>
                        <a:lnTo>
                          <a:pt x="408506" y="9085"/>
                        </a:lnTo>
                        <a:lnTo>
                          <a:pt x="362725" y="20125"/>
                        </a:lnTo>
                        <a:lnTo>
                          <a:pt x="318681" y="35218"/>
                        </a:lnTo>
                        <a:lnTo>
                          <a:pt x="276586" y="54152"/>
                        </a:lnTo>
                        <a:lnTo>
                          <a:pt x="236651" y="76718"/>
                        </a:lnTo>
                        <a:lnTo>
                          <a:pt x="199084" y="102704"/>
                        </a:lnTo>
                        <a:lnTo>
                          <a:pt x="164097" y="131900"/>
                        </a:lnTo>
                        <a:lnTo>
                          <a:pt x="131900" y="164097"/>
                        </a:lnTo>
                        <a:lnTo>
                          <a:pt x="102704" y="199084"/>
                        </a:lnTo>
                        <a:lnTo>
                          <a:pt x="76718" y="236651"/>
                        </a:lnTo>
                        <a:lnTo>
                          <a:pt x="54152" y="276586"/>
                        </a:lnTo>
                        <a:lnTo>
                          <a:pt x="35218" y="318681"/>
                        </a:lnTo>
                        <a:lnTo>
                          <a:pt x="20125" y="362725"/>
                        </a:lnTo>
                        <a:lnTo>
                          <a:pt x="9085" y="408506"/>
                        </a:lnTo>
                        <a:lnTo>
                          <a:pt x="2306" y="455816"/>
                        </a:lnTo>
                        <a:lnTo>
                          <a:pt x="0" y="504443"/>
                        </a:lnTo>
                        <a:lnTo>
                          <a:pt x="2306" y="552944"/>
                        </a:lnTo>
                        <a:lnTo>
                          <a:pt x="9085" y="600142"/>
                        </a:lnTo>
                        <a:lnTo>
                          <a:pt x="20125" y="645826"/>
                        </a:lnTo>
                        <a:lnTo>
                          <a:pt x="35218" y="689785"/>
                        </a:lnTo>
                        <a:lnTo>
                          <a:pt x="54152" y="731807"/>
                        </a:lnTo>
                        <a:lnTo>
                          <a:pt x="76718" y="771681"/>
                        </a:lnTo>
                        <a:lnTo>
                          <a:pt x="102704" y="809196"/>
                        </a:lnTo>
                        <a:lnTo>
                          <a:pt x="131900" y="844141"/>
                        </a:lnTo>
                        <a:lnTo>
                          <a:pt x="164097" y="876304"/>
                        </a:lnTo>
                        <a:lnTo>
                          <a:pt x="199084" y="905474"/>
                        </a:lnTo>
                        <a:lnTo>
                          <a:pt x="236651" y="931441"/>
                        </a:lnTo>
                        <a:lnTo>
                          <a:pt x="276586" y="953992"/>
                        </a:lnTo>
                        <a:lnTo>
                          <a:pt x="318681" y="972917"/>
                        </a:lnTo>
                        <a:lnTo>
                          <a:pt x="362725" y="988004"/>
                        </a:lnTo>
                        <a:lnTo>
                          <a:pt x="408506" y="999042"/>
                        </a:lnTo>
                        <a:lnTo>
                          <a:pt x="455816" y="1005819"/>
                        </a:lnTo>
                        <a:lnTo>
                          <a:pt x="504444" y="1008125"/>
                        </a:lnTo>
                        <a:lnTo>
                          <a:pt x="552944" y="1005819"/>
                        </a:lnTo>
                        <a:lnTo>
                          <a:pt x="600142" y="999042"/>
                        </a:lnTo>
                        <a:lnTo>
                          <a:pt x="645826" y="988004"/>
                        </a:lnTo>
                        <a:lnTo>
                          <a:pt x="689785" y="972917"/>
                        </a:lnTo>
                        <a:lnTo>
                          <a:pt x="731807" y="953992"/>
                        </a:lnTo>
                        <a:lnTo>
                          <a:pt x="771681" y="931441"/>
                        </a:lnTo>
                        <a:lnTo>
                          <a:pt x="809196" y="905474"/>
                        </a:lnTo>
                        <a:lnTo>
                          <a:pt x="844141" y="876304"/>
                        </a:lnTo>
                        <a:lnTo>
                          <a:pt x="876304" y="844141"/>
                        </a:lnTo>
                        <a:lnTo>
                          <a:pt x="905474" y="809196"/>
                        </a:lnTo>
                        <a:lnTo>
                          <a:pt x="931441" y="771681"/>
                        </a:lnTo>
                        <a:lnTo>
                          <a:pt x="953992" y="731807"/>
                        </a:lnTo>
                        <a:lnTo>
                          <a:pt x="972917" y="689785"/>
                        </a:lnTo>
                        <a:lnTo>
                          <a:pt x="988004" y="645826"/>
                        </a:lnTo>
                        <a:lnTo>
                          <a:pt x="999042" y="600142"/>
                        </a:lnTo>
                        <a:lnTo>
                          <a:pt x="1005819" y="552944"/>
                        </a:lnTo>
                        <a:lnTo>
                          <a:pt x="1008126" y="504443"/>
                        </a:lnTo>
                        <a:close/>
                      </a:path>
                    </a:pathLst>
                  </a:custGeom>
                  <a:solidFill>
                    <a:srgbClr val="F36600"/>
                  </a:solidFill>
                </p:spPr>
                <p:txBody>
                  <a:bodyPr wrap="square" lIns="0" tIns="0" rIns="0" bIns="0" rtlCol="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6" name="object 25"/>
                  <p:cNvSpPr txBox="1"/>
                  <p:nvPr/>
                </p:nvSpPr>
                <p:spPr>
                  <a:xfrm>
                    <a:off x="3363244" y="4134202"/>
                    <a:ext cx="972247" cy="381515"/>
                  </a:xfrm>
                  <a:prstGeom prst="rect">
                    <a:avLst/>
                  </a:prstGeom>
                </p:spPr>
                <p:txBody>
                  <a:bodyPr vert="horz" wrap="square" lIns="0" tIns="12065"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1200" cap="none" spc="-5" normalizeH="0" baseline="0" noProof="0" dirty="0">
                        <a:ln>
                          <a:noFill/>
                        </a:ln>
                        <a:solidFill>
                          <a:srgbClr val="FFFFFF"/>
                        </a:solidFill>
                        <a:effectLst/>
                        <a:uLnTx/>
                        <a:uFillTx/>
                        <a:latin typeface="Arial"/>
                        <a:ea typeface="+mn-ea"/>
                        <a:cs typeface="Arial"/>
                      </a:rPr>
                      <a:t>Airway</a:t>
                    </a:r>
                    <a:r>
                      <a:rPr kumimoji="0" lang="en-US" sz="1200" b="1" i="0" u="none" strike="noStrike" kern="1200" cap="none" spc="-5" normalizeH="0" baseline="0" noProof="0" dirty="0">
                        <a:ln>
                          <a:noFill/>
                        </a:ln>
                        <a:solidFill>
                          <a:srgbClr val="FFFFFF"/>
                        </a:solidFill>
                        <a:effectLst/>
                        <a:uLnTx/>
                        <a:uFillTx/>
                        <a:latin typeface="Arial"/>
                        <a:ea typeface="+mn-ea"/>
                        <a:cs typeface="Arial"/>
                      </a:rPr>
                      <a:t> </a:t>
                    </a:r>
                    <a:r>
                      <a:rPr kumimoji="0" sz="1200" b="1" i="0" u="none" strike="noStrike" kern="1200" cap="none" spc="-5" normalizeH="0" baseline="0" noProof="0" dirty="0">
                        <a:ln>
                          <a:noFill/>
                        </a:ln>
                        <a:solidFill>
                          <a:srgbClr val="FFFFFF"/>
                        </a:solidFill>
                        <a:effectLst/>
                        <a:uLnTx/>
                        <a:uFillTx/>
                        <a:latin typeface="Arial"/>
                        <a:ea typeface="+mn-ea"/>
                        <a:cs typeface="Arial"/>
                      </a:rPr>
                      <a:t>inflammation</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grpSp>
      <p:sp>
        <p:nvSpPr>
          <p:cNvPr id="43" name="TextBox 42">
            <a:extLst>
              <a:ext uri="{FF2B5EF4-FFF2-40B4-BE49-F238E27FC236}">
                <a16:creationId xmlns:a16="http://schemas.microsoft.com/office/drawing/2014/main" id="{C025FB2A-E7D4-1E9D-8BDC-851C40F518C8}"/>
              </a:ext>
            </a:extLst>
          </p:cNvPr>
          <p:cNvSpPr txBox="1"/>
          <p:nvPr/>
        </p:nvSpPr>
        <p:spPr>
          <a:xfrm>
            <a:off x="267488" y="848771"/>
            <a:ext cx="11570497" cy="2144177"/>
          </a:xfrm>
          <a:prstGeom prst="rect">
            <a:avLst/>
          </a:prstGeom>
          <a:noFill/>
        </p:spPr>
        <p:txBody>
          <a:bodyPr wrap="square">
            <a:spAutoFit/>
          </a:bodyPr>
          <a:lstStyle/>
          <a:p>
            <a:pPr marL="285750" marR="0" lvl="0" indent="-285750" algn="l" defTabSz="914400" rtl="0" eaLnBrk="1" fontAlgn="auto" latinLnBrk="0" hangingPunct="1">
              <a:lnSpc>
                <a:spcPts val="1600"/>
              </a:lnSpc>
              <a:spcBef>
                <a:spcPts val="400"/>
              </a:spcBef>
              <a:spcAft>
                <a:spcPts val="30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Noto Sans"/>
              </a:rPr>
              <a:t>COPD is a </a:t>
            </a:r>
            <a:r>
              <a:rPr kumimoji="0" lang="en-GB" sz="1400" b="1" i="0" u="none" strike="noStrike" kern="1200" cap="none" spc="0" normalizeH="0" baseline="0" noProof="0" dirty="0">
                <a:ln>
                  <a:noFill/>
                </a:ln>
                <a:solidFill>
                  <a:srgbClr val="000000"/>
                </a:solidFill>
                <a:effectLst/>
                <a:uLnTx/>
                <a:uFillTx/>
                <a:latin typeface="Arial"/>
                <a:ea typeface="+mn-ea"/>
                <a:cs typeface="Arial"/>
              </a:rPr>
              <a:t>multicomponent </a:t>
            </a:r>
            <a:r>
              <a:rPr kumimoji="0" lang="en-GB" sz="1400" b="0" i="0" u="none" strike="noStrike" kern="1200" cap="none" spc="0" normalizeH="0" baseline="0" noProof="0" dirty="0">
                <a:ln>
                  <a:noFill/>
                </a:ln>
                <a:solidFill>
                  <a:srgbClr val="000000"/>
                </a:solidFill>
                <a:effectLst/>
                <a:uLnTx/>
                <a:uFillTx/>
                <a:latin typeface="Arial"/>
                <a:ea typeface="+mn-ea"/>
                <a:cs typeface="Noto Sans"/>
              </a:rPr>
              <a:t>disease characterised by chronic obstruction of lung airflow.</a:t>
            </a:r>
            <a:r>
              <a:rPr kumimoji="0" lang="en-GB" sz="1400" b="0" i="0" u="none" strike="noStrike" kern="1200" cap="none" spc="0" normalizeH="0" baseline="26455" noProof="0" dirty="0">
                <a:ln>
                  <a:noFill/>
                </a:ln>
                <a:solidFill>
                  <a:srgbClr val="000000"/>
                </a:solidFill>
                <a:effectLst/>
                <a:uLnTx/>
                <a:uFillTx/>
                <a:latin typeface="Arial"/>
                <a:ea typeface="+mn-ea"/>
                <a:cs typeface="Noto Sans"/>
              </a:rPr>
              <a:t>1</a:t>
            </a:r>
            <a:endParaRPr kumimoji="0" lang="en-GB" sz="1400" b="0" i="0" u="none" strike="noStrike" kern="1200" cap="none" spc="0" normalizeH="0" baseline="26455" noProof="0" dirty="0">
              <a:ln>
                <a:noFill/>
              </a:ln>
              <a:solidFill>
                <a:srgbClr val="000000"/>
              </a:solidFill>
              <a:effectLst/>
              <a:uLnTx/>
              <a:uFillTx/>
              <a:latin typeface="Arial"/>
              <a:ea typeface="+mn-ea"/>
              <a:cs typeface="Arial"/>
            </a:endParaRPr>
          </a:p>
          <a:p>
            <a:pPr marL="285750" marR="0" lvl="0" indent="-285750" algn="l" defTabSz="914400" rtl="0" eaLnBrk="1" fontAlgn="auto" latinLnBrk="0" hangingPunct="1">
              <a:lnSpc>
                <a:spcPts val="1600"/>
              </a:lnSpc>
              <a:spcBef>
                <a:spcPts val="400"/>
              </a:spcBef>
              <a:spcAft>
                <a:spcPts val="30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Noto Sans"/>
              </a:rPr>
              <a:t>COPD is a </a:t>
            </a:r>
            <a:r>
              <a:rPr kumimoji="0" lang="en-GB" sz="1400" b="1" i="0" u="none" strike="noStrike" kern="1200" cap="none" spc="0" normalizeH="0" baseline="0" noProof="0" dirty="0">
                <a:ln>
                  <a:noFill/>
                </a:ln>
                <a:solidFill>
                  <a:srgbClr val="000000"/>
                </a:solidFill>
                <a:effectLst/>
                <a:uLnTx/>
                <a:uFillTx/>
                <a:latin typeface="Arial"/>
                <a:ea typeface="+mn-ea"/>
                <a:cs typeface="Arial"/>
              </a:rPr>
              <a:t>progressive disease </a:t>
            </a:r>
            <a:r>
              <a:rPr kumimoji="0" lang="en-GB" sz="1400" b="0" i="0" u="none" strike="noStrike" kern="1200" cap="none" spc="0" normalizeH="0" baseline="0" noProof="0" dirty="0">
                <a:ln>
                  <a:noFill/>
                </a:ln>
                <a:solidFill>
                  <a:srgbClr val="000000"/>
                </a:solidFill>
                <a:effectLst/>
                <a:uLnTx/>
                <a:uFillTx/>
                <a:latin typeface="Arial"/>
                <a:ea typeface="+mn-ea"/>
                <a:cs typeface="Noto Sans"/>
              </a:rPr>
              <a:t>that usually worsens over time.</a:t>
            </a:r>
            <a:r>
              <a:rPr kumimoji="0" lang="en-GB" sz="1400" b="0" i="0" u="none" strike="noStrike" kern="1200" cap="none" spc="0" normalizeH="0" baseline="26455" noProof="0" dirty="0">
                <a:ln>
                  <a:noFill/>
                </a:ln>
                <a:solidFill>
                  <a:srgbClr val="000000"/>
                </a:solidFill>
                <a:effectLst/>
                <a:uLnTx/>
                <a:uFillTx/>
                <a:latin typeface="Arial"/>
                <a:ea typeface="+mn-ea"/>
                <a:cs typeface="Noto Sans"/>
              </a:rPr>
              <a:t>2</a:t>
            </a:r>
            <a:endParaRPr kumimoji="0" lang="en-GB" sz="1400" b="0" i="0" u="none" strike="noStrike" kern="1200" cap="none" spc="0" normalizeH="0" baseline="26455" noProof="0" dirty="0">
              <a:ln>
                <a:noFill/>
              </a:ln>
              <a:solidFill>
                <a:srgbClr val="000000"/>
              </a:solidFill>
              <a:effectLst/>
              <a:uLnTx/>
              <a:uFillTx/>
              <a:latin typeface="Arial"/>
              <a:ea typeface="+mn-ea"/>
              <a:cs typeface="Arial"/>
            </a:endParaRPr>
          </a:p>
          <a:p>
            <a:pPr marL="285750" marR="30480" lvl="0" indent="-285750" algn="l" defTabSz="914400" rtl="0" eaLnBrk="1" fontAlgn="auto" latinLnBrk="0" hangingPunct="1">
              <a:lnSpc>
                <a:spcPts val="1600"/>
              </a:lnSpc>
              <a:spcBef>
                <a:spcPts val="400"/>
              </a:spcBef>
              <a:spcAft>
                <a:spcPts val="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Noto Sans"/>
              </a:rPr>
              <a:t>The clinical, functional and radiological presentation of COPD varies greatly from patient to patient despite having a similar degree of airflow limitation.</a:t>
            </a:r>
            <a:r>
              <a:rPr kumimoji="0" lang="en-GB" sz="1400" b="0" i="0" u="none" strike="noStrike" kern="1200" cap="none" spc="0" normalizeH="0" baseline="26455" noProof="0" dirty="0">
                <a:ln>
                  <a:noFill/>
                </a:ln>
                <a:solidFill>
                  <a:srgbClr val="000000"/>
                </a:solidFill>
                <a:effectLst/>
                <a:uLnTx/>
                <a:uFillTx/>
                <a:latin typeface="Arial"/>
                <a:ea typeface="+mn-ea"/>
                <a:cs typeface="Noto Sans"/>
              </a:rPr>
              <a:t>1</a:t>
            </a:r>
          </a:p>
          <a:p>
            <a:pPr marL="285750" marR="30480" lvl="0" indent="-285750" algn="l" defTabSz="914400" rtl="0" eaLnBrk="1" fontAlgn="auto" latinLnBrk="0" hangingPunct="1">
              <a:lnSpc>
                <a:spcPts val="1600"/>
              </a:lnSpc>
              <a:spcBef>
                <a:spcPts val="400"/>
              </a:spcBef>
              <a:spcAft>
                <a:spcPts val="30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Noto Sans"/>
              </a:rPr>
              <a:t>COPD encompasses a </a:t>
            </a:r>
            <a:r>
              <a:rPr kumimoji="0" lang="en-GB" sz="1400" b="1" i="0" u="none" strike="noStrike" kern="1200" cap="none" spc="0" normalizeH="0" baseline="0" noProof="0" dirty="0">
                <a:ln>
                  <a:noFill/>
                </a:ln>
                <a:solidFill>
                  <a:srgbClr val="000000"/>
                </a:solidFill>
                <a:effectLst/>
                <a:uLnTx/>
                <a:uFillTx/>
                <a:latin typeface="Arial"/>
                <a:ea typeface="+mn-ea"/>
                <a:cs typeface="Arial"/>
              </a:rPr>
              <a:t>group of disorders </a:t>
            </a:r>
            <a:r>
              <a:rPr kumimoji="0" lang="en-GB" sz="1400" b="0" i="0" u="none" strike="noStrike" kern="1200" cap="none" spc="0" normalizeH="0" baseline="0" noProof="0" dirty="0">
                <a:ln>
                  <a:noFill/>
                </a:ln>
                <a:solidFill>
                  <a:srgbClr val="000000"/>
                </a:solidFill>
                <a:effectLst/>
                <a:uLnTx/>
                <a:uFillTx/>
                <a:latin typeface="Arial"/>
                <a:ea typeface="+mn-ea"/>
                <a:cs typeface="Noto Sans"/>
              </a:rPr>
              <a:t>characterised by the presence of incompletely reversible airflow obstruction with overlapping symptoms from different disease entities, including</a:t>
            </a:r>
            <a:r>
              <a:rPr kumimoji="0" lang="en-GB" sz="1400" b="0" i="0" u="none" strike="noStrike" kern="1200" cap="none" spc="0" normalizeH="0" baseline="26455" noProof="0" dirty="0">
                <a:ln>
                  <a:noFill/>
                </a:ln>
                <a:solidFill>
                  <a:srgbClr val="000000"/>
                </a:solidFill>
                <a:effectLst/>
                <a:uLnTx/>
                <a:uFillTx/>
                <a:latin typeface="Arial"/>
                <a:ea typeface="+mn-ea"/>
                <a:cs typeface="Noto Sans"/>
              </a:rPr>
              <a:t>3</a:t>
            </a:r>
          </a:p>
          <a:p>
            <a:pPr marL="447675" marR="48260" lvl="0" indent="-180975" algn="l" defTabSz="914400" rtl="0" eaLnBrk="1" fontAlgn="auto" latinLnBrk="0" hangingPunct="1">
              <a:lnSpc>
                <a:spcPts val="1600"/>
              </a:lnSpc>
              <a:spcBef>
                <a:spcPts val="400"/>
              </a:spcBef>
              <a:spcAft>
                <a:spcPts val="30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Arial"/>
              </a:rPr>
              <a:t>Chronic bronchitis</a:t>
            </a:r>
          </a:p>
          <a:p>
            <a:pPr marL="447675" marR="48260" lvl="0" indent="-180975" algn="l" defTabSz="914400" rtl="0" eaLnBrk="1" fontAlgn="auto" latinLnBrk="0" hangingPunct="1">
              <a:lnSpc>
                <a:spcPts val="1600"/>
              </a:lnSpc>
              <a:spcBef>
                <a:spcPts val="400"/>
              </a:spcBef>
              <a:spcAft>
                <a:spcPts val="300"/>
              </a:spcAft>
              <a:buClr>
                <a:srgbClr val="F36633"/>
              </a:buClr>
              <a:buSzTx/>
              <a:buFont typeface="Arial" panose="020B0604020202020204" pitchFamily="34" charset="0"/>
              <a:buChar char="-"/>
              <a:tabLst>
                <a:tab pos="224154" algn="l"/>
              </a:tabLst>
              <a:defRPr/>
            </a:pPr>
            <a:r>
              <a:rPr kumimoji="0" lang="en-GB" sz="1400" b="0" i="0" u="none" strike="noStrike" kern="1200" cap="none" spc="0" normalizeH="0" baseline="0" noProof="0" dirty="0">
                <a:ln>
                  <a:noFill/>
                </a:ln>
                <a:solidFill>
                  <a:srgbClr val="000000"/>
                </a:solidFill>
                <a:effectLst/>
                <a:uLnTx/>
                <a:uFillTx/>
                <a:latin typeface="Arial"/>
                <a:ea typeface="+mn-ea"/>
                <a:cs typeface="Arial"/>
              </a:rPr>
              <a:t>Emphysema.</a:t>
            </a:r>
          </a:p>
        </p:txBody>
      </p:sp>
      <p:sp>
        <p:nvSpPr>
          <p:cNvPr id="22" name="Rectangle 21">
            <a:extLst>
              <a:ext uri="{FF2B5EF4-FFF2-40B4-BE49-F238E27FC236}">
                <a16:creationId xmlns:a16="http://schemas.microsoft.com/office/drawing/2014/main" id="{1C873665-F146-FE1D-2DC5-8482AA0683AF}"/>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Date Placeholder 4">
            <a:extLst>
              <a:ext uri="{FF2B5EF4-FFF2-40B4-BE49-F238E27FC236}">
                <a16:creationId xmlns:a16="http://schemas.microsoft.com/office/drawing/2014/main" id="{994C5420-759E-BDAC-204E-FF4A1809389C}"/>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93905488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 name="object 4"/>
          <p:cNvSpPr txBox="1">
            <a:spLocks noGrp="1"/>
          </p:cNvSpPr>
          <p:nvPr>
            <p:ph type="body" sz="quarter" idx="13"/>
          </p:nvPr>
        </p:nvSpPr>
        <p:spPr>
          <a:xfrm>
            <a:off x="365125" y="5955265"/>
            <a:ext cx="11460164" cy="135935"/>
          </a:xfrm>
          <a:prstGeom prst="rect">
            <a:avLst/>
          </a:prstGeom>
        </p:spPr>
        <p:txBody>
          <a:bodyPr vert="horz" wrap="square" lIns="0" tIns="12700" rIns="0" bIns="0" rtlCol="0">
            <a:spAutoFit/>
          </a:bodyPr>
          <a:lstStyle/>
          <a:p>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p>
        </p:txBody>
      </p:sp>
      <p:sp>
        <p:nvSpPr>
          <p:cNvPr id="18" name="Title 17"/>
          <p:cNvSpPr>
            <a:spLocks noGrp="1"/>
          </p:cNvSpPr>
          <p:nvPr>
            <p:ph type="title"/>
          </p:nvPr>
        </p:nvSpPr>
        <p:spPr/>
        <p:txBody>
          <a:bodyPr/>
          <a:lstStyle/>
          <a:p>
            <a:r>
              <a:rPr lang="en-US" dirty="0"/>
              <a:t>COPD is a complex, multicomponent, heterogeneous disease</a:t>
            </a:r>
            <a:endParaRPr lang="en-US" baseline="30000" dirty="0"/>
          </a:p>
        </p:txBody>
      </p:sp>
      <p:sp>
        <p:nvSpPr>
          <p:cNvPr id="51" name="TextBox 50">
            <a:extLst>
              <a:ext uri="{FF2B5EF4-FFF2-40B4-BE49-F238E27FC236}">
                <a16:creationId xmlns:a16="http://schemas.microsoft.com/office/drawing/2014/main" id="{1B995DC0-56DE-B741-19B9-1BC3C46AC26D}"/>
              </a:ext>
            </a:extLst>
          </p:cNvPr>
          <p:cNvSpPr txBox="1"/>
          <p:nvPr/>
        </p:nvSpPr>
        <p:spPr>
          <a:xfrm>
            <a:off x="272624" y="866097"/>
            <a:ext cx="4649891" cy="4016484"/>
          </a:xfrm>
          <a:prstGeom prst="rect">
            <a:avLst/>
          </a:prstGeom>
          <a:noFill/>
        </p:spPr>
        <p:txBody>
          <a:bodyPr wrap="square">
            <a:spAutoFit/>
          </a:bodyPr>
          <a:lstStyle/>
          <a:p>
            <a:pPr marL="285750" marR="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Noto Sans"/>
              </a:rPr>
              <a:t>COPD results from gene-environment interactions occurring over time that may damage the lungs or alter normal development.</a:t>
            </a:r>
          </a:p>
          <a:p>
            <a:pPr marL="285750" marR="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Noto Sans"/>
              </a:rPr>
              <a:t>Patients with COPD typically experience dyspnoea, activity limitation and/or cough with or without sputum production. </a:t>
            </a:r>
          </a:p>
          <a:p>
            <a:pPr marL="285750" marR="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Noto Sans"/>
              </a:rPr>
              <a:t>Patients can also experience acute episodes of increased respiratory symptoms termed exacerbations that can influence their prognosis and may require additional therapy.</a:t>
            </a:r>
          </a:p>
          <a:p>
            <a:pPr marL="285750" marR="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Noto Sans"/>
              </a:rPr>
              <a:t>Patients may harbour other comorbid diseases that could influence treatment/prognosis and may require specific treatment.</a:t>
            </a:r>
          </a:p>
        </p:txBody>
      </p:sp>
      <p:grpSp>
        <p:nvGrpSpPr>
          <p:cNvPr id="114" name="Group 113">
            <a:extLst>
              <a:ext uri="{FF2B5EF4-FFF2-40B4-BE49-F238E27FC236}">
                <a16:creationId xmlns:a16="http://schemas.microsoft.com/office/drawing/2014/main" id="{1DD8B0BC-38FA-7292-8B2E-C77B7D633E85}"/>
              </a:ext>
            </a:extLst>
          </p:cNvPr>
          <p:cNvGrpSpPr/>
          <p:nvPr/>
        </p:nvGrpSpPr>
        <p:grpSpPr>
          <a:xfrm>
            <a:off x="6210301" y="741909"/>
            <a:ext cx="5617494" cy="4937102"/>
            <a:chOff x="6438901" y="802869"/>
            <a:chExt cx="5617494" cy="4937102"/>
          </a:xfrm>
        </p:grpSpPr>
        <p:sp>
          <p:nvSpPr>
            <p:cNvPr id="46" name="Rectangle: Rounded Corners 45">
              <a:extLst>
                <a:ext uri="{FF2B5EF4-FFF2-40B4-BE49-F238E27FC236}">
                  <a16:creationId xmlns:a16="http://schemas.microsoft.com/office/drawing/2014/main" id="{445B5826-96F2-636F-56F6-029C9013A5DC}"/>
                </a:ext>
              </a:extLst>
            </p:cNvPr>
            <p:cNvSpPr/>
            <p:nvPr/>
          </p:nvSpPr>
          <p:spPr bwMode="auto">
            <a:xfrm>
              <a:off x="6438901" y="802869"/>
              <a:ext cx="5617494" cy="4937102"/>
            </a:xfrm>
            <a:prstGeom prst="roundRect">
              <a:avLst>
                <a:gd name="adj" fmla="val 3411"/>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nvGrpSpPr>
            <p:cNvPr id="113" name="Group 112">
              <a:extLst>
                <a:ext uri="{FF2B5EF4-FFF2-40B4-BE49-F238E27FC236}">
                  <a16:creationId xmlns:a16="http://schemas.microsoft.com/office/drawing/2014/main" id="{8659C532-AEC3-02E0-974C-126198CB6D72}"/>
                </a:ext>
              </a:extLst>
            </p:cNvPr>
            <p:cNvGrpSpPr/>
            <p:nvPr/>
          </p:nvGrpSpPr>
          <p:grpSpPr>
            <a:xfrm>
              <a:off x="6638761" y="996640"/>
              <a:ext cx="5217772" cy="4549559"/>
              <a:chOff x="6743374" y="1328480"/>
              <a:chExt cx="5217772" cy="4549559"/>
            </a:xfrm>
          </p:grpSpPr>
          <p:grpSp>
            <p:nvGrpSpPr>
              <p:cNvPr id="89" name="Group 88">
                <a:extLst>
                  <a:ext uri="{FF2B5EF4-FFF2-40B4-BE49-F238E27FC236}">
                    <a16:creationId xmlns:a16="http://schemas.microsoft.com/office/drawing/2014/main" id="{0B2532CA-6981-7D86-1A63-FA1F6E7E9246}"/>
                  </a:ext>
                </a:extLst>
              </p:cNvPr>
              <p:cNvGrpSpPr/>
              <p:nvPr/>
            </p:nvGrpSpPr>
            <p:grpSpPr>
              <a:xfrm>
                <a:off x="6743374" y="1328480"/>
                <a:ext cx="2081649" cy="2837326"/>
                <a:chOff x="6876430" y="1328480"/>
                <a:chExt cx="2081649" cy="2837326"/>
              </a:xfrm>
            </p:grpSpPr>
            <p:grpSp>
              <p:nvGrpSpPr>
                <p:cNvPr id="62" name="Group 61">
                  <a:extLst>
                    <a:ext uri="{FF2B5EF4-FFF2-40B4-BE49-F238E27FC236}">
                      <a16:creationId xmlns:a16="http://schemas.microsoft.com/office/drawing/2014/main" id="{08A740FE-E737-1CC9-BE92-1B59608C45EB}"/>
                    </a:ext>
                  </a:extLst>
                </p:cNvPr>
                <p:cNvGrpSpPr/>
                <p:nvPr/>
              </p:nvGrpSpPr>
              <p:grpSpPr>
                <a:xfrm>
                  <a:off x="6876430" y="1328480"/>
                  <a:ext cx="2081649" cy="1267200"/>
                  <a:chOff x="6876430" y="1328480"/>
                  <a:chExt cx="2081649" cy="1267200"/>
                </a:xfrm>
              </p:grpSpPr>
              <p:grpSp>
                <p:nvGrpSpPr>
                  <p:cNvPr id="54" name="Group 53">
                    <a:extLst>
                      <a:ext uri="{FF2B5EF4-FFF2-40B4-BE49-F238E27FC236}">
                        <a16:creationId xmlns:a16="http://schemas.microsoft.com/office/drawing/2014/main" id="{79DAEFC4-6EAE-C30B-51AA-45083BCD774E}"/>
                      </a:ext>
                    </a:extLst>
                  </p:cNvPr>
                  <p:cNvGrpSpPr/>
                  <p:nvPr/>
                </p:nvGrpSpPr>
                <p:grpSpPr>
                  <a:xfrm>
                    <a:off x="6884367" y="1331208"/>
                    <a:ext cx="2073712" cy="1260796"/>
                    <a:chOff x="6884367" y="1331208"/>
                    <a:chExt cx="2073712" cy="1260796"/>
                  </a:xfrm>
                </p:grpSpPr>
                <p:sp>
                  <p:nvSpPr>
                    <p:cNvPr id="26" name="object 14"/>
                    <p:cNvSpPr/>
                    <p:nvPr/>
                  </p:nvSpPr>
                  <p:spPr>
                    <a:xfrm>
                      <a:off x="8146803" y="1814321"/>
                      <a:ext cx="811276" cy="300974"/>
                    </a:xfrm>
                    <a:custGeom>
                      <a:avLst/>
                      <a:gdLst/>
                      <a:ahLst/>
                      <a:cxnLst/>
                      <a:rect l="l" t="t" r="r" b="b"/>
                      <a:pathLst>
                        <a:path w="340995" h="219075">
                          <a:moveTo>
                            <a:pt x="340614" y="108966"/>
                          </a:moveTo>
                          <a:lnTo>
                            <a:pt x="220218" y="0"/>
                          </a:lnTo>
                          <a:lnTo>
                            <a:pt x="220218" y="66294"/>
                          </a:lnTo>
                          <a:lnTo>
                            <a:pt x="0" y="66294"/>
                          </a:lnTo>
                          <a:lnTo>
                            <a:pt x="0" y="152400"/>
                          </a:lnTo>
                          <a:lnTo>
                            <a:pt x="220218" y="152400"/>
                          </a:lnTo>
                          <a:lnTo>
                            <a:pt x="220218" y="218694"/>
                          </a:lnTo>
                          <a:lnTo>
                            <a:pt x="340614" y="108966"/>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pic>
                  <p:nvPicPr>
                    <p:cNvPr id="27" name="Picture 26"/>
                    <p:cNvPicPr>
                      <a:picLocks noChangeAspect="1"/>
                    </p:cNvPicPr>
                    <p:nvPr/>
                  </p:nvPicPr>
                  <p:blipFill rotWithShape="1">
                    <a:blip r:embed="rId3" cstate="print">
                      <a:extLst>
                        <a:ext uri="{28A0092B-C50C-407E-A947-70E740481C1C}">
                          <a14:useLocalDpi xmlns:a14="http://schemas.microsoft.com/office/drawing/2010/main" val="0"/>
                        </a:ext>
                      </a:extLst>
                    </a:blip>
                    <a:srcRect r="28804"/>
                    <a:stretch/>
                  </p:blipFill>
                  <p:spPr>
                    <a:xfrm>
                      <a:off x="6884367" y="1331208"/>
                      <a:ext cx="1259262" cy="1260796"/>
                    </a:xfrm>
                    <a:prstGeom prst="rect">
                      <a:avLst/>
                    </a:prstGeom>
                  </p:spPr>
                </p:pic>
              </p:grpSp>
              <p:sp>
                <p:nvSpPr>
                  <p:cNvPr id="61" name="Rectangle 60">
                    <a:extLst>
                      <a:ext uri="{FF2B5EF4-FFF2-40B4-BE49-F238E27FC236}">
                        <a16:creationId xmlns:a16="http://schemas.microsoft.com/office/drawing/2014/main" id="{FCB5E9E1-04C3-B091-FFEA-DA6EEA87AEF5}"/>
                      </a:ext>
                    </a:extLst>
                  </p:cNvPr>
                  <p:cNvSpPr/>
                  <p:nvPr/>
                </p:nvSpPr>
                <p:spPr bwMode="auto">
                  <a:xfrm>
                    <a:off x="6876430" y="1328480"/>
                    <a:ext cx="1267200" cy="1267200"/>
                  </a:xfrm>
                  <a:prstGeom prst="rect">
                    <a:avLst/>
                  </a:prstGeom>
                  <a:noFill/>
                  <a:ln w="12700">
                    <a:solidFill>
                      <a:schemeClr val="bg2">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sp>
              <p:nvSpPr>
                <p:cNvPr id="66" name="object 14">
                  <a:extLst>
                    <a:ext uri="{FF2B5EF4-FFF2-40B4-BE49-F238E27FC236}">
                      <a16:creationId xmlns:a16="http://schemas.microsoft.com/office/drawing/2014/main" id="{B74FFAAE-877B-0A66-82CE-C224D0FFA2F0}"/>
                    </a:ext>
                  </a:extLst>
                </p:cNvPr>
                <p:cNvSpPr/>
                <p:nvPr/>
              </p:nvSpPr>
              <p:spPr>
                <a:xfrm>
                  <a:off x="8146803" y="3384447"/>
                  <a:ext cx="811276" cy="300974"/>
                </a:xfrm>
                <a:custGeom>
                  <a:avLst/>
                  <a:gdLst/>
                  <a:ahLst/>
                  <a:cxnLst/>
                  <a:rect l="l" t="t" r="r" b="b"/>
                  <a:pathLst>
                    <a:path w="340995" h="219075">
                      <a:moveTo>
                        <a:pt x="340614" y="108966"/>
                      </a:moveTo>
                      <a:lnTo>
                        <a:pt x="220218" y="0"/>
                      </a:lnTo>
                      <a:lnTo>
                        <a:pt x="220218" y="66294"/>
                      </a:lnTo>
                      <a:lnTo>
                        <a:pt x="0" y="66294"/>
                      </a:lnTo>
                      <a:lnTo>
                        <a:pt x="0" y="152400"/>
                      </a:lnTo>
                      <a:lnTo>
                        <a:pt x="220218" y="152400"/>
                      </a:lnTo>
                      <a:lnTo>
                        <a:pt x="220218" y="218694"/>
                      </a:lnTo>
                      <a:lnTo>
                        <a:pt x="340614" y="108966"/>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5" name="Rectangle 64">
                  <a:extLst>
                    <a:ext uri="{FF2B5EF4-FFF2-40B4-BE49-F238E27FC236}">
                      <a16:creationId xmlns:a16="http://schemas.microsoft.com/office/drawing/2014/main" id="{657DC552-2F03-0E62-D11A-67B56EA7F472}"/>
                    </a:ext>
                  </a:extLst>
                </p:cNvPr>
                <p:cNvSpPr/>
                <p:nvPr/>
              </p:nvSpPr>
              <p:spPr bwMode="auto">
                <a:xfrm>
                  <a:off x="6876430" y="2898606"/>
                  <a:ext cx="1267200" cy="1267200"/>
                </a:xfrm>
                <a:prstGeom prst="rect">
                  <a:avLst/>
                </a:prstGeom>
                <a:solidFill>
                  <a:schemeClr val="bg1"/>
                </a:solidFill>
                <a:ln w="12700">
                  <a:solidFill>
                    <a:schemeClr val="bg2">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68" name="object 10">
                  <a:extLst>
                    <a:ext uri="{FF2B5EF4-FFF2-40B4-BE49-F238E27FC236}">
                      <a16:creationId xmlns:a16="http://schemas.microsoft.com/office/drawing/2014/main" id="{8945A6A5-D35B-1BA5-9E92-059CE3BE030F}"/>
                    </a:ext>
                  </a:extLst>
                </p:cNvPr>
                <p:cNvPicPr/>
                <p:nvPr/>
              </p:nvPicPr>
              <p:blipFill>
                <a:blip r:embed="rId4" cstate="print"/>
                <a:stretch>
                  <a:fillRect/>
                </a:stretch>
              </p:blipFill>
              <p:spPr>
                <a:xfrm>
                  <a:off x="6921219" y="2917404"/>
                  <a:ext cx="1189228" cy="1229604"/>
                </a:xfrm>
                <a:prstGeom prst="rect">
                  <a:avLst/>
                </a:prstGeom>
              </p:spPr>
            </p:pic>
          </p:grpSp>
          <p:grpSp>
            <p:nvGrpSpPr>
              <p:cNvPr id="80" name="Group 79">
                <a:extLst>
                  <a:ext uri="{FF2B5EF4-FFF2-40B4-BE49-F238E27FC236}">
                    <a16:creationId xmlns:a16="http://schemas.microsoft.com/office/drawing/2014/main" id="{D5C2F9D8-FB91-26B1-F92C-7B33477A1AF0}"/>
                  </a:ext>
                </a:extLst>
              </p:cNvPr>
              <p:cNvGrpSpPr/>
              <p:nvPr/>
            </p:nvGrpSpPr>
            <p:grpSpPr>
              <a:xfrm>
                <a:off x="9244122" y="1331208"/>
                <a:ext cx="2717024" cy="2834598"/>
                <a:chOff x="8841460" y="1331208"/>
                <a:chExt cx="2717024" cy="2834598"/>
              </a:xfrm>
            </p:grpSpPr>
            <p:pic>
              <p:nvPicPr>
                <p:cNvPr id="78" name="Picture 77">
                  <a:extLst>
                    <a:ext uri="{FF2B5EF4-FFF2-40B4-BE49-F238E27FC236}">
                      <a16:creationId xmlns:a16="http://schemas.microsoft.com/office/drawing/2014/main" id="{96D3B4CB-83EB-A6A3-B77D-84D9FDE50B5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6693" t="16491" r="9234" b="10000"/>
                <a:stretch/>
              </p:blipFill>
              <p:spPr>
                <a:xfrm>
                  <a:off x="8848027" y="1335711"/>
                  <a:ext cx="2710457" cy="2826089"/>
                </a:xfrm>
                <a:prstGeom prst="rect">
                  <a:avLst/>
                </a:prstGeom>
              </p:spPr>
            </p:pic>
            <p:sp>
              <p:nvSpPr>
                <p:cNvPr id="79" name="Rectangle 78">
                  <a:extLst>
                    <a:ext uri="{FF2B5EF4-FFF2-40B4-BE49-F238E27FC236}">
                      <a16:creationId xmlns:a16="http://schemas.microsoft.com/office/drawing/2014/main" id="{38A1D18D-238C-AF8B-B9FC-50B4E8F9D9ED}"/>
                    </a:ext>
                  </a:extLst>
                </p:cNvPr>
                <p:cNvSpPr/>
                <p:nvPr/>
              </p:nvSpPr>
              <p:spPr bwMode="auto">
                <a:xfrm>
                  <a:off x="8841460" y="1331208"/>
                  <a:ext cx="2717024" cy="2834598"/>
                </a:xfrm>
                <a:prstGeom prst="rect">
                  <a:avLst/>
                </a:prstGeom>
                <a:noFill/>
                <a:ln w="12700">
                  <a:solidFill>
                    <a:schemeClr val="bg2">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12" name="Group 111">
                <a:extLst>
                  <a:ext uri="{FF2B5EF4-FFF2-40B4-BE49-F238E27FC236}">
                    <a16:creationId xmlns:a16="http://schemas.microsoft.com/office/drawing/2014/main" id="{E3FF5EDC-F3E1-CBC0-B3D8-2F721CE552C2}"/>
                  </a:ext>
                </a:extLst>
              </p:cNvPr>
              <p:cNvGrpSpPr/>
              <p:nvPr/>
            </p:nvGrpSpPr>
            <p:grpSpPr>
              <a:xfrm>
                <a:off x="6743374" y="4264860"/>
                <a:ext cx="5217772" cy="1613179"/>
                <a:chOff x="6743374" y="4436310"/>
                <a:chExt cx="5217772" cy="1613179"/>
              </a:xfrm>
            </p:grpSpPr>
            <p:grpSp>
              <p:nvGrpSpPr>
                <p:cNvPr id="87" name="Group 86">
                  <a:extLst>
                    <a:ext uri="{FF2B5EF4-FFF2-40B4-BE49-F238E27FC236}">
                      <a16:creationId xmlns:a16="http://schemas.microsoft.com/office/drawing/2014/main" id="{A2811FF7-BC02-907F-FE19-E5DF485B602F}"/>
                    </a:ext>
                  </a:extLst>
                </p:cNvPr>
                <p:cNvGrpSpPr/>
                <p:nvPr/>
              </p:nvGrpSpPr>
              <p:grpSpPr>
                <a:xfrm>
                  <a:off x="6743374" y="4436310"/>
                  <a:ext cx="1533312" cy="1613179"/>
                  <a:chOff x="6743374" y="4436310"/>
                  <a:chExt cx="1533312" cy="1613179"/>
                </a:xfrm>
              </p:grpSpPr>
              <p:grpSp>
                <p:nvGrpSpPr>
                  <p:cNvPr id="85" name="Group 84">
                    <a:extLst>
                      <a:ext uri="{FF2B5EF4-FFF2-40B4-BE49-F238E27FC236}">
                        <a16:creationId xmlns:a16="http://schemas.microsoft.com/office/drawing/2014/main" id="{A29E84F0-5A9E-F96F-8D26-CC5AD95839EB}"/>
                      </a:ext>
                    </a:extLst>
                  </p:cNvPr>
                  <p:cNvGrpSpPr/>
                  <p:nvPr/>
                </p:nvGrpSpPr>
                <p:grpSpPr>
                  <a:xfrm>
                    <a:off x="6743376" y="4447945"/>
                    <a:ext cx="1533308" cy="1543024"/>
                    <a:chOff x="6743377" y="4447945"/>
                    <a:chExt cx="1533308" cy="1543024"/>
                  </a:xfrm>
                </p:grpSpPr>
                <p:pic>
                  <p:nvPicPr>
                    <p:cNvPr id="83" name="Picture 82">
                      <a:extLst>
                        <a:ext uri="{FF2B5EF4-FFF2-40B4-BE49-F238E27FC236}">
                          <a16:creationId xmlns:a16="http://schemas.microsoft.com/office/drawing/2014/main" id="{53AD27FD-F7B3-06F0-66C0-B22946F7A60D}"/>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1922" t="3374" r="11922"/>
                    <a:stretch/>
                  </p:blipFill>
                  <p:spPr>
                    <a:xfrm>
                      <a:off x="6743377" y="4447945"/>
                      <a:ext cx="1533308" cy="1293719"/>
                    </a:xfrm>
                    <a:prstGeom prst="rect">
                      <a:avLst/>
                    </a:prstGeom>
                  </p:spPr>
                </p:pic>
                <p:sp>
                  <p:nvSpPr>
                    <p:cNvPr id="84" name="object 5">
                      <a:extLst>
                        <a:ext uri="{FF2B5EF4-FFF2-40B4-BE49-F238E27FC236}">
                          <a16:creationId xmlns:a16="http://schemas.microsoft.com/office/drawing/2014/main" id="{BB7C7EA6-C5E6-8793-2D9E-D0A6F31230CD}"/>
                        </a:ext>
                      </a:extLst>
                    </p:cNvPr>
                    <p:cNvSpPr txBox="1"/>
                    <p:nvPr/>
                  </p:nvSpPr>
                  <p:spPr>
                    <a:xfrm>
                      <a:off x="6871876" y="5697940"/>
                      <a:ext cx="1271754" cy="293029"/>
                    </a:xfrm>
                    <a:prstGeom prst="rect">
                      <a:avLst/>
                    </a:prstGeom>
                  </p:spPr>
                  <p:txBody>
                    <a:bodyPr vert="horz" wrap="square" lIns="0" tIns="76835" rIns="0" bIns="0" rtlCol="0">
                      <a:spAutoFit/>
                    </a:bodyPr>
                    <a:lstStyle/>
                    <a:p>
                      <a:pPr marL="50800" marR="0" lvl="0" indent="0" algn="ctr" defTabSz="914400" rtl="0" eaLnBrk="1" fontAlgn="auto" latinLnBrk="0" hangingPunct="1">
                        <a:lnSpc>
                          <a:spcPct val="100000"/>
                        </a:lnSpc>
                        <a:spcBef>
                          <a:spcPts val="605"/>
                        </a:spcBef>
                        <a:spcAft>
                          <a:spcPts val="0"/>
                        </a:spcAft>
                        <a:buClrTx/>
                        <a:buSzTx/>
                        <a:buFontTx/>
                        <a:buNone/>
                        <a:tabLst/>
                        <a:defRPr/>
                      </a:pPr>
                      <a:r>
                        <a:rPr kumimoji="0" lang="en-GB" sz="1400" b="1" i="0" u="none" strike="noStrike" kern="1200" cap="none" spc="-10" normalizeH="0" baseline="0" noProof="0" dirty="0">
                          <a:ln>
                            <a:noFill/>
                          </a:ln>
                          <a:solidFill>
                            <a:srgbClr val="F36633"/>
                          </a:solidFill>
                          <a:effectLst/>
                          <a:uLnTx/>
                          <a:uFillTx/>
                          <a:latin typeface="Arial"/>
                          <a:ea typeface="+mn-ea"/>
                          <a:cs typeface="Arial"/>
                        </a:rPr>
                        <a:t>Dyspnoea</a:t>
                      </a:r>
                    </a:p>
                  </p:txBody>
                </p:sp>
              </p:grpSp>
              <p:sp>
                <p:nvSpPr>
                  <p:cNvPr id="86" name="Rectangle 85">
                    <a:extLst>
                      <a:ext uri="{FF2B5EF4-FFF2-40B4-BE49-F238E27FC236}">
                        <a16:creationId xmlns:a16="http://schemas.microsoft.com/office/drawing/2014/main" id="{CA7C7A5E-FF14-CCF9-C6A1-0F0568A280EA}"/>
                      </a:ext>
                    </a:extLst>
                  </p:cNvPr>
                  <p:cNvSpPr/>
                  <p:nvPr/>
                </p:nvSpPr>
                <p:spPr bwMode="auto">
                  <a:xfrm>
                    <a:off x="6743374" y="4436310"/>
                    <a:ext cx="1533312" cy="1613179"/>
                  </a:xfrm>
                  <a:prstGeom prst="rect">
                    <a:avLst/>
                  </a:prstGeom>
                  <a:noFill/>
                  <a:ln w="12700">
                    <a:solidFill>
                      <a:schemeClr val="tx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07" name="Group 106">
                  <a:extLst>
                    <a:ext uri="{FF2B5EF4-FFF2-40B4-BE49-F238E27FC236}">
                      <a16:creationId xmlns:a16="http://schemas.microsoft.com/office/drawing/2014/main" id="{4F0D6210-E377-EE0E-8832-F19AA7C733B5}"/>
                    </a:ext>
                  </a:extLst>
                </p:cNvPr>
                <p:cNvGrpSpPr/>
                <p:nvPr/>
              </p:nvGrpSpPr>
              <p:grpSpPr>
                <a:xfrm>
                  <a:off x="8585604" y="4436310"/>
                  <a:ext cx="1533312" cy="1613179"/>
                  <a:chOff x="8585604" y="4436310"/>
                  <a:chExt cx="1533312" cy="1613179"/>
                </a:xfrm>
              </p:grpSpPr>
              <p:sp>
                <p:nvSpPr>
                  <p:cNvPr id="103" name="Freeform: Shape 102">
                    <a:extLst>
                      <a:ext uri="{FF2B5EF4-FFF2-40B4-BE49-F238E27FC236}">
                        <a16:creationId xmlns:a16="http://schemas.microsoft.com/office/drawing/2014/main" id="{6FBA47D6-A96A-D91E-53D9-38B3B5BC5C0B}"/>
                      </a:ext>
                    </a:extLst>
                  </p:cNvPr>
                  <p:cNvSpPr/>
                  <p:nvPr/>
                </p:nvSpPr>
                <p:spPr bwMode="auto">
                  <a:xfrm>
                    <a:off x="8585606" y="4447945"/>
                    <a:ext cx="1533308" cy="1293719"/>
                  </a:xfrm>
                  <a:custGeom>
                    <a:avLst/>
                    <a:gdLst>
                      <a:gd name="connsiteX0" fmla="*/ 0 w 1533308"/>
                      <a:gd name="connsiteY0" fmla="*/ 0 h 1293719"/>
                      <a:gd name="connsiteX1" fmla="*/ 1533308 w 1533308"/>
                      <a:gd name="connsiteY1" fmla="*/ 0 h 1293719"/>
                      <a:gd name="connsiteX2" fmla="*/ 1533308 w 1533308"/>
                      <a:gd name="connsiteY2" fmla="*/ 1293719 h 1293719"/>
                      <a:gd name="connsiteX3" fmla="*/ 0 w 1533308"/>
                      <a:gd name="connsiteY3" fmla="*/ 1293719 h 1293719"/>
                    </a:gdLst>
                    <a:ahLst/>
                    <a:cxnLst>
                      <a:cxn ang="0">
                        <a:pos x="connsiteX0" y="connsiteY0"/>
                      </a:cxn>
                      <a:cxn ang="0">
                        <a:pos x="connsiteX1" y="connsiteY1"/>
                      </a:cxn>
                      <a:cxn ang="0">
                        <a:pos x="connsiteX2" y="connsiteY2"/>
                      </a:cxn>
                      <a:cxn ang="0">
                        <a:pos x="connsiteX3" y="connsiteY3"/>
                      </a:cxn>
                    </a:cxnLst>
                    <a:rect l="l" t="t" r="r" b="b"/>
                    <a:pathLst>
                      <a:path w="1533308" h="1293719">
                        <a:moveTo>
                          <a:pt x="0" y="0"/>
                        </a:moveTo>
                        <a:lnTo>
                          <a:pt x="1533308" y="0"/>
                        </a:lnTo>
                        <a:lnTo>
                          <a:pt x="1533308" y="1293719"/>
                        </a:lnTo>
                        <a:lnTo>
                          <a:pt x="0" y="1293719"/>
                        </a:lnTo>
                        <a:close/>
                      </a:path>
                    </a:pathLst>
                  </a:custGeom>
                  <a:solidFill>
                    <a:srgbClr val="797979"/>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04" name="object 5">
                    <a:extLst>
                      <a:ext uri="{FF2B5EF4-FFF2-40B4-BE49-F238E27FC236}">
                        <a16:creationId xmlns:a16="http://schemas.microsoft.com/office/drawing/2014/main" id="{0BA8A302-FECD-A4A9-1DC1-0307561B40B5}"/>
                      </a:ext>
                    </a:extLst>
                  </p:cNvPr>
                  <p:cNvSpPr txBox="1"/>
                  <p:nvPr/>
                </p:nvSpPr>
                <p:spPr>
                  <a:xfrm>
                    <a:off x="8714105" y="5697940"/>
                    <a:ext cx="1271754" cy="293029"/>
                  </a:xfrm>
                  <a:prstGeom prst="rect">
                    <a:avLst/>
                  </a:prstGeom>
                </p:spPr>
                <p:txBody>
                  <a:bodyPr vert="horz" wrap="square" lIns="0" tIns="76835" rIns="0" bIns="0" rtlCol="0">
                    <a:spAutoFit/>
                  </a:bodyPr>
                  <a:lstStyle/>
                  <a:p>
                    <a:pPr marL="50800" marR="0" lvl="0" indent="0" algn="ctr" defTabSz="914400" rtl="0" eaLnBrk="1" fontAlgn="auto" latinLnBrk="0" hangingPunct="1">
                      <a:lnSpc>
                        <a:spcPct val="100000"/>
                      </a:lnSpc>
                      <a:spcBef>
                        <a:spcPts val="605"/>
                      </a:spcBef>
                      <a:spcAft>
                        <a:spcPts val="0"/>
                      </a:spcAft>
                      <a:buClrTx/>
                      <a:buSzTx/>
                      <a:buFontTx/>
                      <a:buNone/>
                      <a:tabLst/>
                      <a:defRPr/>
                    </a:pPr>
                    <a:r>
                      <a:rPr kumimoji="0" lang="en-US" sz="1400" b="1" i="0" u="none" strike="noStrike" kern="1200" cap="none" spc="-10" normalizeH="0" baseline="0" noProof="0" dirty="0">
                        <a:ln>
                          <a:noFill/>
                        </a:ln>
                        <a:solidFill>
                          <a:srgbClr val="F36633"/>
                        </a:solidFill>
                        <a:effectLst/>
                        <a:uLnTx/>
                        <a:uFillTx/>
                        <a:latin typeface="Arial"/>
                        <a:ea typeface="+mn-ea"/>
                        <a:cs typeface="Arial"/>
                      </a:rPr>
                      <a:t>Exacerbation</a:t>
                    </a:r>
                  </a:p>
                </p:txBody>
              </p:sp>
              <p:sp>
                <p:nvSpPr>
                  <p:cNvPr id="105" name="Rectangle 104">
                    <a:extLst>
                      <a:ext uri="{FF2B5EF4-FFF2-40B4-BE49-F238E27FC236}">
                        <a16:creationId xmlns:a16="http://schemas.microsoft.com/office/drawing/2014/main" id="{56D6AFE4-F066-3CC9-7438-63E83FEB3BD2}"/>
                      </a:ext>
                    </a:extLst>
                  </p:cNvPr>
                  <p:cNvSpPr/>
                  <p:nvPr/>
                </p:nvSpPr>
                <p:spPr bwMode="auto">
                  <a:xfrm>
                    <a:off x="8585604" y="4436310"/>
                    <a:ext cx="1533312" cy="1613179"/>
                  </a:xfrm>
                  <a:prstGeom prst="rect">
                    <a:avLst/>
                  </a:prstGeom>
                  <a:noFill/>
                  <a:ln w="12700">
                    <a:solidFill>
                      <a:schemeClr val="tx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106" name="Picture 105">
                    <a:extLst>
                      <a:ext uri="{FF2B5EF4-FFF2-40B4-BE49-F238E27FC236}">
                        <a16:creationId xmlns:a16="http://schemas.microsoft.com/office/drawing/2014/main" id="{32639C7E-68DE-FE7D-62DF-251941CF1C43}"/>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8826650" y="4594428"/>
                    <a:ext cx="1051221" cy="1050106"/>
                  </a:xfrm>
                  <a:prstGeom prst="rect">
                    <a:avLst/>
                  </a:prstGeom>
                </p:spPr>
              </p:pic>
            </p:grpSp>
            <p:grpSp>
              <p:nvGrpSpPr>
                <p:cNvPr id="111" name="Group 110">
                  <a:extLst>
                    <a:ext uri="{FF2B5EF4-FFF2-40B4-BE49-F238E27FC236}">
                      <a16:creationId xmlns:a16="http://schemas.microsoft.com/office/drawing/2014/main" id="{8C9B5921-3D43-ED91-5F16-F88E190FE183}"/>
                    </a:ext>
                  </a:extLst>
                </p:cNvPr>
                <p:cNvGrpSpPr/>
                <p:nvPr/>
              </p:nvGrpSpPr>
              <p:grpSpPr>
                <a:xfrm>
                  <a:off x="10427834" y="4436310"/>
                  <a:ext cx="1533312" cy="1613179"/>
                  <a:chOff x="10427834" y="4436310"/>
                  <a:chExt cx="1533312" cy="1613179"/>
                </a:xfrm>
              </p:grpSpPr>
              <p:sp>
                <p:nvSpPr>
                  <p:cNvPr id="99" name="object 5">
                    <a:extLst>
                      <a:ext uri="{FF2B5EF4-FFF2-40B4-BE49-F238E27FC236}">
                        <a16:creationId xmlns:a16="http://schemas.microsoft.com/office/drawing/2014/main" id="{0BC5624F-D410-6FCA-D8CB-2620EBB9B277}"/>
                      </a:ext>
                    </a:extLst>
                  </p:cNvPr>
                  <p:cNvSpPr txBox="1"/>
                  <p:nvPr/>
                </p:nvSpPr>
                <p:spPr>
                  <a:xfrm>
                    <a:off x="10556335" y="5697940"/>
                    <a:ext cx="1271754" cy="293029"/>
                  </a:xfrm>
                  <a:prstGeom prst="rect">
                    <a:avLst/>
                  </a:prstGeom>
                </p:spPr>
                <p:txBody>
                  <a:bodyPr vert="horz" wrap="square" lIns="0" tIns="76835" rIns="0" bIns="0" rtlCol="0">
                    <a:spAutoFit/>
                  </a:bodyPr>
                  <a:lstStyle/>
                  <a:p>
                    <a:pPr marL="50800" marR="0" lvl="0" indent="0" algn="ctr" defTabSz="914400" rtl="0" eaLnBrk="1" fontAlgn="auto" latinLnBrk="0" hangingPunct="1">
                      <a:lnSpc>
                        <a:spcPct val="100000"/>
                      </a:lnSpc>
                      <a:spcBef>
                        <a:spcPts val="605"/>
                      </a:spcBef>
                      <a:spcAft>
                        <a:spcPts val="0"/>
                      </a:spcAft>
                      <a:buClrTx/>
                      <a:buSzTx/>
                      <a:buFontTx/>
                      <a:buNone/>
                      <a:tabLst/>
                      <a:defRPr/>
                    </a:pPr>
                    <a:r>
                      <a:rPr kumimoji="0" lang="en-US" sz="1400" b="1" i="0" u="none" strike="noStrike" kern="1200" cap="none" spc="-10" normalizeH="0" baseline="0" noProof="0" dirty="0">
                        <a:ln>
                          <a:noFill/>
                        </a:ln>
                        <a:solidFill>
                          <a:srgbClr val="F36633"/>
                        </a:solidFill>
                        <a:effectLst/>
                        <a:uLnTx/>
                        <a:uFillTx/>
                        <a:latin typeface="Arial"/>
                        <a:ea typeface="+mn-ea"/>
                        <a:cs typeface="Arial"/>
                      </a:rPr>
                      <a:t>Coughing</a:t>
                    </a:r>
                  </a:p>
                </p:txBody>
              </p:sp>
              <p:sp>
                <p:nvSpPr>
                  <p:cNvPr id="110" name="Freeform: Shape 109">
                    <a:extLst>
                      <a:ext uri="{FF2B5EF4-FFF2-40B4-BE49-F238E27FC236}">
                        <a16:creationId xmlns:a16="http://schemas.microsoft.com/office/drawing/2014/main" id="{8371B806-E198-D675-23BC-02586925EA78}"/>
                      </a:ext>
                    </a:extLst>
                  </p:cNvPr>
                  <p:cNvSpPr/>
                  <p:nvPr/>
                </p:nvSpPr>
                <p:spPr bwMode="auto">
                  <a:xfrm>
                    <a:off x="10427835" y="4447945"/>
                    <a:ext cx="1533308" cy="1293719"/>
                  </a:xfrm>
                  <a:custGeom>
                    <a:avLst/>
                    <a:gdLst>
                      <a:gd name="connsiteX0" fmla="*/ 0 w 1533308"/>
                      <a:gd name="connsiteY0" fmla="*/ 0 h 1293719"/>
                      <a:gd name="connsiteX1" fmla="*/ 1533308 w 1533308"/>
                      <a:gd name="connsiteY1" fmla="*/ 0 h 1293719"/>
                      <a:gd name="connsiteX2" fmla="*/ 1533308 w 1533308"/>
                      <a:gd name="connsiteY2" fmla="*/ 1293719 h 1293719"/>
                      <a:gd name="connsiteX3" fmla="*/ 0 w 1533308"/>
                      <a:gd name="connsiteY3" fmla="*/ 1293719 h 1293719"/>
                    </a:gdLst>
                    <a:ahLst/>
                    <a:cxnLst>
                      <a:cxn ang="0">
                        <a:pos x="connsiteX0" y="connsiteY0"/>
                      </a:cxn>
                      <a:cxn ang="0">
                        <a:pos x="connsiteX1" y="connsiteY1"/>
                      </a:cxn>
                      <a:cxn ang="0">
                        <a:pos x="connsiteX2" y="connsiteY2"/>
                      </a:cxn>
                      <a:cxn ang="0">
                        <a:pos x="connsiteX3" y="connsiteY3"/>
                      </a:cxn>
                    </a:cxnLst>
                    <a:rect l="l" t="t" r="r" b="b"/>
                    <a:pathLst>
                      <a:path w="1533308" h="1293719">
                        <a:moveTo>
                          <a:pt x="0" y="0"/>
                        </a:moveTo>
                        <a:lnTo>
                          <a:pt x="1533308" y="0"/>
                        </a:lnTo>
                        <a:lnTo>
                          <a:pt x="1533308" y="1293719"/>
                        </a:lnTo>
                        <a:lnTo>
                          <a:pt x="0" y="1293719"/>
                        </a:lnTo>
                        <a:close/>
                      </a:path>
                    </a:pathLst>
                  </a:cu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108" name="Picture 107">
                    <a:extLst>
                      <a:ext uri="{FF2B5EF4-FFF2-40B4-BE49-F238E27FC236}">
                        <a16:creationId xmlns:a16="http://schemas.microsoft.com/office/drawing/2014/main" id="{47B9B4C8-755E-99A3-F039-30012BF7B860}"/>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16894" t="12556" r="17779"/>
                  <a:stretch/>
                </p:blipFill>
                <p:spPr>
                  <a:xfrm>
                    <a:off x="10623395" y="4447945"/>
                    <a:ext cx="1142191" cy="1297724"/>
                  </a:xfrm>
                  <a:prstGeom prst="rect">
                    <a:avLst/>
                  </a:prstGeom>
                </p:spPr>
              </p:pic>
              <p:sp>
                <p:nvSpPr>
                  <p:cNvPr id="97" name="Rectangle 96">
                    <a:extLst>
                      <a:ext uri="{FF2B5EF4-FFF2-40B4-BE49-F238E27FC236}">
                        <a16:creationId xmlns:a16="http://schemas.microsoft.com/office/drawing/2014/main" id="{73F666B1-F9F4-A2C0-06E2-A41AA833A796}"/>
                      </a:ext>
                    </a:extLst>
                  </p:cNvPr>
                  <p:cNvSpPr/>
                  <p:nvPr/>
                </p:nvSpPr>
                <p:spPr bwMode="auto">
                  <a:xfrm>
                    <a:off x="10427834" y="4436310"/>
                    <a:ext cx="1533312" cy="1613179"/>
                  </a:xfrm>
                  <a:prstGeom prst="rect">
                    <a:avLst/>
                  </a:prstGeom>
                  <a:noFill/>
                  <a:ln w="12700">
                    <a:solidFill>
                      <a:schemeClr val="tx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grpSp>
      </p:grpSp>
      <p:sp>
        <p:nvSpPr>
          <p:cNvPr id="15" name="Rectangle 14">
            <a:extLst>
              <a:ext uri="{FF2B5EF4-FFF2-40B4-BE49-F238E27FC236}">
                <a16:creationId xmlns:a16="http://schemas.microsoft.com/office/drawing/2014/main" id="{0A69F47C-DA4B-A9D3-EC20-781306C34742}"/>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Date Placeholder 4">
            <a:extLst>
              <a:ext uri="{FF2B5EF4-FFF2-40B4-BE49-F238E27FC236}">
                <a16:creationId xmlns:a16="http://schemas.microsoft.com/office/drawing/2014/main" id="{49625F15-CA5D-1870-8324-F5867BDCB338}"/>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435477257"/>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Common symptoms of COPD</a:t>
            </a:r>
          </a:p>
        </p:txBody>
      </p:sp>
      <p:sp>
        <p:nvSpPr>
          <p:cNvPr id="2" name="Rectangle 1">
            <a:extLst>
              <a:ext uri="{FF2B5EF4-FFF2-40B4-BE49-F238E27FC236}">
                <a16:creationId xmlns:a16="http://schemas.microsoft.com/office/drawing/2014/main" id="{180A02C6-7D8C-5EC4-72F4-90BF5134F8C5}"/>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31073241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Text Placeholder 25">
            <a:extLst>
              <a:ext uri="{FF2B5EF4-FFF2-40B4-BE49-F238E27FC236}">
                <a16:creationId xmlns:a16="http://schemas.microsoft.com/office/drawing/2014/main" id="{24144A4D-51D6-0636-9505-5F2E06486C9D}"/>
              </a:ext>
            </a:extLst>
          </p:cNvPr>
          <p:cNvSpPr>
            <a:spLocks noGrp="1"/>
          </p:cNvSpPr>
          <p:nvPr>
            <p:ph type="body" sz="quarter" idx="13"/>
          </p:nvPr>
        </p:nvSpPr>
        <p:spPr>
          <a:xfrm>
            <a:off x="365125" y="5863837"/>
            <a:ext cx="11460164" cy="298800"/>
          </a:xfrm>
        </p:spPr>
        <p:txBody>
          <a:bodyPr/>
          <a:lstStyle/>
          <a:p>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p>
        </p:txBody>
      </p:sp>
      <p:sp>
        <p:nvSpPr>
          <p:cNvPr id="27" name="TextBox 26">
            <a:extLst>
              <a:ext uri="{FF2B5EF4-FFF2-40B4-BE49-F238E27FC236}">
                <a16:creationId xmlns:a16="http://schemas.microsoft.com/office/drawing/2014/main" id="{4D0B9AFC-FD79-ADE0-C6F7-FC0203F2573F}"/>
              </a:ext>
            </a:extLst>
          </p:cNvPr>
          <p:cNvSpPr txBox="1"/>
          <p:nvPr/>
        </p:nvSpPr>
        <p:spPr>
          <a:xfrm>
            <a:off x="267860" y="861337"/>
            <a:ext cx="11657841" cy="1682512"/>
          </a:xfrm>
          <a:prstGeom prst="rect">
            <a:avLst/>
          </a:prstGeom>
          <a:noFill/>
        </p:spPr>
        <p:txBody>
          <a:bodyPr wrap="square">
            <a:spAutoFit/>
          </a:bodyPr>
          <a:lstStyle/>
          <a:p>
            <a:pPr marL="285750" marR="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241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Noto Sans"/>
              </a:rPr>
              <a:t>Chronic dyspnoea is one of the most characteristic symptoms of COPD, and cough with sputum production is present in up to 30% of patients.</a:t>
            </a:r>
          </a:p>
          <a:p>
            <a:pPr marL="285750" marR="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241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Noto Sans"/>
              </a:rPr>
              <a:t>Airflow limitation may be present without chronic dyspnoea and/or cough and sputum production and vice versa.</a:t>
            </a:r>
          </a:p>
          <a:p>
            <a:pPr marL="285750" marR="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241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Noto Sans"/>
              </a:rPr>
              <a:t>Symptoms may vary from day to day and may precede the development of airflow limitation.</a:t>
            </a:r>
          </a:p>
        </p:txBody>
      </p:sp>
      <p:sp>
        <p:nvSpPr>
          <p:cNvPr id="3" name="Rectangle: Rounded Corners 2"/>
          <p:cNvSpPr/>
          <p:nvPr/>
        </p:nvSpPr>
        <p:spPr>
          <a:xfrm>
            <a:off x="381000" y="2489833"/>
            <a:ext cx="11430000" cy="3050117"/>
          </a:xfrm>
          <a:prstGeom prst="roundRect">
            <a:avLst>
              <a:gd name="adj" fmla="val 7923"/>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Common symptoms of COPD</a:t>
            </a:r>
            <a:endParaRPr lang="en-US" baseline="30000" dirty="0"/>
          </a:p>
        </p:txBody>
      </p:sp>
      <p:grpSp>
        <p:nvGrpSpPr>
          <p:cNvPr id="40" name="Group 39">
            <a:extLst>
              <a:ext uri="{FF2B5EF4-FFF2-40B4-BE49-F238E27FC236}">
                <a16:creationId xmlns:a16="http://schemas.microsoft.com/office/drawing/2014/main" id="{1365D4D5-67DE-E36D-F747-7B8A21865DFF}"/>
              </a:ext>
            </a:extLst>
          </p:cNvPr>
          <p:cNvGrpSpPr/>
          <p:nvPr/>
        </p:nvGrpSpPr>
        <p:grpSpPr>
          <a:xfrm>
            <a:off x="583900" y="2647076"/>
            <a:ext cx="11024201" cy="2721843"/>
            <a:chOff x="656308" y="2690618"/>
            <a:chExt cx="11024201" cy="2721843"/>
          </a:xfrm>
        </p:grpSpPr>
        <p:grpSp>
          <p:nvGrpSpPr>
            <p:cNvPr id="38" name="Group 37">
              <a:extLst>
                <a:ext uri="{FF2B5EF4-FFF2-40B4-BE49-F238E27FC236}">
                  <a16:creationId xmlns:a16="http://schemas.microsoft.com/office/drawing/2014/main" id="{1AFC54F7-57F7-9AE5-7349-0D4FFCA409DB}"/>
                </a:ext>
              </a:extLst>
            </p:cNvPr>
            <p:cNvGrpSpPr/>
            <p:nvPr/>
          </p:nvGrpSpPr>
          <p:grpSpPr>
            <a:xfrm>
              <a:off x="4647218" y="2690618"/>
              <a:ext cx="7033291" cy="2721843"/>
              <a:chOff x="4647218" y="2690618"/>
              <a:chExt cx="7033291" cy="2721843"/>
            </a:xfrm>
          </p:grpSpPr>
          <p:pic>
            <p:nvPicPr>
              <p:cNvPr id="30" name="Picture 29">
                <a:extLst>
                  <a:ext uri="{FF2B5EF4-FFF2-40B4-BE49-F238E27FC236}">
                    <a16:creationId xmlns:a16="http://schemas.microsoft.com/office/drawing/2014/main" id="{47DEC6C8-41B2-430A-A584-33772A225696}"/>
                  </a:ext>
                </a:extLst>
              </p:cNvPr>
              <p:cNvPicPr>
                <a:picLocks noChangeAspect="1"/>
              </p:cNvPicPr>
              <p:nvPr/>
            </p:nvPicPr>
            <p:blipFill rotWithShape="1">
              <a:blip r:embed="rId3">
                <a:extLst>
                  <a:ext uri="{28A0092B-C50C-407E-A947-70E740481C1C}">
                    <a14:useLocalDpi xmlns:a14="http://schemas.microsoft.com/office/drawing/2010/main" val="0"/>
                  </a:ext>
                </a:extLst>
              </a:blip>
              <a:srcRect l="23430" r="805" b="3441"/>
              <a:stretch/>
            </p:blipFill>
            <p:spPr>
              <a:xfrm>
                <a:off x="5474088" y="3033597"/>
                <a:ext cx="4974824" cy="2378864"/>
              </a:xfrm>
              <a:prstGeom prst="roundRect">
                <a:avLst>
                  <a:gd name="adj" fmla="val 9956"/>
                </a:avLst>
              </a:prstGeom>
              <a:ln w="19050">
                <a:solidFill>
                  <a:schemeClr val="bg1"/>
                </a:solidFill>
              </a:ln>
              <a:effectLst/>
            </p:spPr>
          </p:pic>
          <p:grpSp>
            <p:nvGrpSpPr>
              <p:cNvPr id="37" name="Group 36">
                <a:extLst>
                  <a:ext uri="{FF2B5EF4-FFF2-40B4-BE49-F238E27FC236}">
                    <a16:creationId xmlns:a16="http://schemas.microsoft.com/office/drawing/2014/main" id="{78EECD40-F4BA-280B-4818-45EC8E8961E7}"/>
                  </a:ext>
                </a:extLst>
              </p:cNvPr>
              <p:cNvGrpSpPr/>
              <p:nvPr/>
            </p:nvGrpSpPr>
            <p:grpSpPr>
              <a:xfrm>
                <a:off x="4647218" y="2690618"/>
                <a:ext cx="7033291" cy="1451230"/>
                <a:chOff x="4647218" y="2690618"/>
                <a:chExt cx="7033291" cy="1451230"/>
              </a:xfrm>
            </p:grpSpPr>
            <p:sp>
              <p:nvSpPr>
                <p:cNvPr id="31" name="Oval Callout 51">
                  <a:extLst>
                    <a:ext uri="{FF2B5EF4-FFF2-40B4-BE49-F238E27FC236}">
                      <a16:creationId xmlns:a16="http://schemas.microsoft.com/office/drawing/2014/main" id="{9331E751-A1AE-92DC-E3BA-97608401EF7F}"/>
                    </a:ext>
                  </a:extLst>
                </p:cNvPr>
                <p:cNvSpPr/>
                <p:nvPr/>
              </p:nvSpPr>
              <p:spPr>
                <a:xfrm>
                  <a:off x="9830095" y="3313245"/>
                  <a:ext cx="1850414" cy="828603"/>
                </a:xfrm>
                <a:prstGeom prst="wedgeEllipseCallout">
                  <a:avLst>
                    <a:gd name="adj1" fmla="val -61126"/>
                    <a:gd name="adj2" fmla="val 37034"/>
                  </a:avLst>
                </a:prstGeom>
                <a:solidFill>
                  <a:schemeClr val="tx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Wheezing and chest tightness </a:t>
                  </a:r>
                </a:p>
              </p:txBody>
            </p:sp>
            <p:sp>
              <p:nvSpPr>
                <p:cNvPr id="32" name="Oval Callout 54">
                  <a:extLst>
                    <a:ext uri="{FF2B5EF4-FFF2-40B4-BE49-F238E27FC236}">
                      <a16:creationId xmlns:a16="http://schemas.microsoft.com/office/drawing/2014/main" id="{BBC642A1-45A1-63F5-069B-B87AD88586C9}"/>
                    </a:ext>
                  </a:extLst>
                </p:cNvPr>
                <p:cNvSpPr/>
                <p:nvPr/>
              </p:nvSpPr>
              <p:spPr>
                <a:xfrm>
                  <a:off x="4647218" y="3055646"/>
                  <a:ext cx="1204633" cy="616423"/>
                </a:xfrm>
                <a:prstGeom prst="wedgeEllipseCallout">
                  <a:avLst>
                    <a:gd name="adj1" fmla="val 86445"/>
                    <a:gd name="adj2" fmla="val 65276"/>
                  </a:avLst>
                </a:prstGeom>
                <a:solidFill>
                  <a:schemeClr val="tx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Cough</a:t>
                  </a:r>
                </a:p>
              </p:txBody>
            </p:sp>
            <p:sp>
              <p:nvSpPr>
                <p:cNvPr id="33" name="Oval Callout 55">
                  <a:extLst>
                    <a:ext uri="{FF2B5EF4-FFF2-40B4-BE49-F238E27FC236}">
                      <a16:creationId xmlns:a16="http://schemas.microsoft.com/office/drawing/2014/main" id="{974D7242-C75F-5B92-CEA6-8D6A8E0DCEC4}"/>
                    </a:ext>
                  </a:extLst>
                </p:cNvPr>
                <p:cNvSpPr/>
                <p:nvPr/>
              </p:nvSpPr>
              <p:spPr>
                <a:xfrm>
                  <a:off x="6676859" y="2690618"/>
                  <a:ext cx="1417271" cy="685958"/>
                </a:xfrm>
                <a:prstGeom prst="wedgeEllipseCallout">
                  <a:avLst>
                    <a:gd name="adj1" fmla="val 38048"/>
                    <a:gd name="adj2" fmla="val 95313"/>
                  </a:avLst>
                </a:prstGeom>
                <a:solidFill>
                  <a:schemeClr val="tx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Sputum production</a:t>
                  </a:r>
                </a:p>
              </p:txBody>
            </p:sp>
          </p:grpSp>
        </p:grpSp>
        <p:grpSp>
          <p:nvGrpSpPr>
            <p:cNvPr id="39" name="Group 38">
              <a:extLst>
                <a:ext uri="{FF2B5EF4-FFF2-40B4-BE49-F238E27FC236}">
                  <a16:creationId xmlns:a16="http://schemas.microsoft.com/office/drawing/2014/main" id="{66313E6E-9B03-EA5D-0D37-B96A1E6B0175}"/>
                </a:ext>
              </a:extLst>
            </p:cNvPr>
            <p:cNvGrpSpPr/>
            <p:nvPr/>
          </p:nvGrpSpPr>
          <p:grpSpPr>
            <a:xfrm>
              <a:off x="656308" y="2709206"/>
              <a:ext cx="3466421" cy="2670680"/>
              <a:chOff x="656308" y="2709206"/>
              <a:chExt cx="3466421" cy="2670680"/>
            </a:xfrm>
          </p:grpSpPr>
          <p:pic>
            <p:nvPicPr>
              <p:cNvPr id="29" name="Picture 28">
                <a:extLst>
                  <a:ext uri="{FF2B5EF4-FFF2-40B4-BE49-F238E27FC236}">
                    <a16:creationId xmlns:a16="http://schemas.microsoft.com/office/drawing/2014/main" id="{4B7EAE84-F895-7D7B-8B52-5767CE41C030}"/>
                  </a:ext>
                </a:extLst>
              </p:cNvPr>
              <p:cNvPicPr>
                <a:picLocks noChangeAspect="1"/>
              </p:cNvPicPr>
              <p:nvPr/>
            </p:nvPicPr>
            <p:blipFill rotWithShape="1">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l="6346" t="6826" r="6230" b="5467"/>
              <a:stretch/>
            </p:blipFill>
            <p:spPr>
              <a:xfrm>
                <a:off x="1809013" y="3066172"/>
                <a:ext cx="2313716" cy="2313714"/>
              </a:xfrm>
              <a:custGeom>
                <a:avLst/>
                <a:gdLst>
                  <a:gd name="connsiteX0" fmla="*/ 1156858 w 2313716"/>
                  <a:gd name="connsiteY0" fmla="*/ 0 h 2313714"/>
                  <a:gd name="connsiteX1" fmla="*/ 2313716 w 2313716"/>
                  <a:gd name="connsiteY1" fmla="*/ 1156857 h 2313714"/>
                  <a:gd name="connsiteX2" fmla="*/ 1156858 w 2313716"/>
                  <a:gd name="connsiteY2" fmla="*/ 2313714 h 2313714"/>
                  <a:gd name="connsiteX3" fmla="*/ 0 w 2313716"/>
                  <a:gd name="connsiteY3" fmla="*/ 1156857 h 2313714"/>
                  <a:gd name="connsiteX4" fmla="*/ 1156858 w 2313716"/>
                  <a:gd name="connsiteY4" fmla="*/ 0 h 23137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13716" h="2313714">
                    <a:moveTo>
                      <a:pt x="1156858" y="0"/>
                    </a:moveTo>
                    <a:cubicBezTo>
                      <a:pt x="1795773" y="0"/>
                      <a:pt x="2313716" y="517943"/>
                      <a:pt x="2313716" y="1156857"/>
                    </a:cubicBezTo>
                    <a:cubicBezTo>
                      <a:pt x="2313716" y="1795771"/>
                      <a:pt x="1795773" y="2313714"/>
                      <a:pt x="1156858" y="2313714"/>
                    </a:cubicBezTo>
                    <a:cubicBezTo>
                      <a:pt x="517943" y="2313714"/>
                      <a:pt x="0" y="1795771"/>
                      <a:pt x="0" y="1156857"/>
                    </a:cubicBezTo>
                    <a:cubicBezTo>
                      <a:pt x="0" y="517943"/>
                      <a:pt x="517943" y="0"/>
                      <a:pt x="1156858" y="0"/>
                    </a:cubicBezTo>
                    <a:close/>
                  </a:path>
                </a:pathLst>
              </a:custGeom>
              <a:ln w="19050">
                <a:solidFill>
                  <a:schemeClr val="bg1"/>
                </a:solidFill>
              </a:ln>
              <a:effectLst/>
            </p:spPr>
          </p:pic>
          <p:sp>
            <p:nvSpPr>
              <p:cNvPr id="35" name="Oval Callout 5">
                <a:extLst>
                  <a:ext uri="{FF2B5EF4-FFF2-40B4-BE49-F238E27FC236}">
                    <a16:creationId xmlns:a16="http://schemas.microsoft.com/office/drawing/2014/main" id="{7071A41F-7494-85A5-4401-0EBF2D398491}"/>
                  </a:ext>
                </a:extLst>
              </p:cNvPr>
              <p:cNvSpPr/>
              <p:nvPr/>
            </p:nvSpPr>
            <p:spPr>
              <a:xfrm>
                <a:off x="656308" y="2709206"/>
                <a:ext cx="1470647" cy="862446"/>
              </a:xfrm>
              <a:prstGeom prst="wedgeEllipseCallout">
                <a:avLst>
                  <a:gd name="adj1" fmla="val 71168"/>
                  <a:gd name="adj2" fmla="val 48058"/>
                </a:avLst>
              </a:prstGeom>
              <a:solidFill>
                <a:schemeClr val="tx2"/>
              </a:solid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prstClr val="white"/>
                    </a:solidFill>
                    <a:effectLst/>
                    <a:uLnTx/>
                    <a:uFillTx/>
                    <a:latin typeface="Arial"/>
                    <a:ea typeface="+mn-ea"/>
                    <a:cs typeface="Noto Sans"/>
                  </a:rPr>
                  <a:t>Dyspnoea</a:t>
                </a:r>
              </a:p>
            </p:txBody>
          </p:sp>
        </p:grpSp>
      </p:grpSp>
      <p:sp>
        <p:nvSpPr>
          <p:cNvPr id="15" name="Rectangle 14">
            <a:extLst>
              <a:ext uri="{FF2B5EF4-FFF2-40B4-BE49-F238E27FC236}">
                <a16:creationId xmlns:a16="http://schemas.microsoft.com/office/drawing/2014/main" id="{2E194D99-504B-AE0C-C46F-07A23459427A}"/>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Date Placeholder 4">
            <a:extLst>
              <a:ext uri="{FF2B5EF4-FFF2-40B4-BE49-F238E27FC236}">
                <a16:creationId xmlns:a16="http://schemas.microsoft.com/office/drawing/2014/main" id="{891A4101-2E4F-9535-2448-2D19CF239173}"/>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42844053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GB" dirty="0"/>
              <a:t>Dyspnoea: A cardinal symptom of COPD</a:t>
            </a:r>
            <a:endParaRPr lang="en-GB" baseline="30000" dirty="0"/>
          </a:p>
        </p:txBody>
      </p:sp>
      <p:sp>
        <p:nvSpPr>
          <p:cNvPr id="28" name="Text Placeholder 27">
            <a:extLst>
              <a:ext uri="{FF2B5EF4-FFF2-40B4-BE49-F238E27FC236}">
                <a16:creationId xmlns:a16="http://schemas.microsoft.com/office/drawing/2014/main" id="{D6FCD638-C510-5440-9EC5-B8B3D898E7AB}"/>
              </a:ext>
            </a:extLst>
          </p:cNvPr>
          <p:cNvSpPr>
            <a:spLocks noGrp="1"/>
          </p:cNvSpPr>
          <p:nvPr>
            <p:ph type="body" sz="quarter" idx="13"/>
          </p:nvPr>
        </p:nvSpPr>
        <p:spPr>
          <a:xfrm>
            <a:off x="365125" y="5863931"/>
            <a:ext cx="11460164" cy="298800"/>
          </a:xfrm>
        </p:spPr>
        <p:txBody>
          <a:bodyPr/>
          <a:lstStyle/>
          <a:p>
            <a:r>
              <a:rPr lang="en-US" sz="800" dirty="0">
                <a:latin typeface="Arial"/>
                <a:cs typeface="Arial"/>
              </a:rPr>
              <a:t>1. </a:t>
            </a:r>
            <a:r>
              <a:rPr lang="en-US" sz="800" dirty="0"/>
              <a:t>Miravitlles M, et al. </a:t>
            </a:r>
            <a:r>
              <a:rPr lang="en-US" sz="800" i="1" dirty="0"/>
              <a:t>Respir Res</a:t>
            </a:r>
            <a:r>
              <a:rPr lang="en-US" sz="800" dirty="0"/>
              <a:t>. 2014;15(1):122</a:t>
            </a:r>
            <a:r>
              <a:rPr lang="en-US" sz="800" dirty="0">
                <a:latin typeface="Arial"/>
                <a:cs typeface="Arial"/>
              </a:rPr>
              <a:t>; 2. </a:t>
            </a:r>
            <a:r>
              <a:rPr lang="en-US" sz="800" dirty="0"/>
              <a:t>Kessler R, et al. </a:t>
            </a:r>
            <a:r>
              <a:rPr lang="en-US" sz="800" i="1" dirty="0"/>
              <a:t>Eur Respir J</a:t>
            </a:r>
            <a:r>
              <a:rPr lang="en-US" sz="800" dirty="0"/>
              <a:t>. 2011;37(2):264-272</a:t>
            </a:r>
            <a:r>
              <a:rPr lang="en-US" sz="800" dirty="0">
                <a:latin typeface="Arial"/>
                <a:cs typeface="Arial"/>
              </a:rPr>
              <a:t>; 3. </a:t>
            </a:r>
            <a:r>
              <a:rPr lang="en-US" sz="800" dirty="0"/>
              <a:t>Booth S, et al. </a:t>
            </a:r>
            <a:r>
              <a:rPr lang="en-US" sz="800" i="1" dirty="0"/>
              <a:t>Expert Rev Respir Med</a:t>
            </a:r>
            <a:r>
              <a:rPr lang="en-US" sz="800" dirty="0"/>
              <a:t>. 2009;3(1):21-36</a:t>
            </a:r>
            <a:r>
              <a:rPr lang="en-US" sz="800" dirty="0">
                <a:latin typeface="Arial"/>
                <a:cs typeface="Arial"/>
              </a:rPr>
              <a:t>; 4. </a:t>
            </a:r>
            <a:r>
              <a:rPr lang="en-US" sz="800" dirty="0"/>
              <a:t>Burgel PR, et al. </a:t>
            </a:r>
            <a:r>
              <a:rPr lang="en-US" sz="800" i="1" dirty="0"/>
              <a:t>Respir Med</a:t>
            </a:r>
            <a:r>
              <a:rPr lang="en-US" sz="800" dirty="0"/>
              <a:t>. 2013;107(2):233-241</a:t>
            </a:r>
            <a:r>
              <a:rPr lang="en-US" sz="800" dirty="0">
                <a:latin typeface="Arial"/>
                <a:cs typeface="Arial"/>
              </a:rPr>
              <a:t>; 5. </a:t>
            </a:r>
            <a:r>
              <a:rPr lang="en-US" sz="800" dirty="0"/>
              <a:t>Wong SSL, et al. </a:t>
            </a:r>
            <a:r>
              <a:rPr lang="en-US" sz="800" i="1" dirty="0"/>
              <a:t>BMC Fam Pract</a:t>
            </a:r>
            <a:r>
              <a:rPr lang="en-US" sz="800" dirty="0"/>
              <a:t>. 2014;15:67</a:t>
            </a:r>
            <a:r>
              <a:rPr lang="en-US" sz="800" dirty="0">
                <a:latin typeface="Arial"/>
                <a:cs typeface="Arial"/>
              </a:rPr>
              <a:t>; 6. </a:t>
            </a:r>
            <a:r>
              <a:rPr lang="en-GB" sz="800" dirty="0"/>
              <a:t>Avşar</a:t>
            </a:r>
            <a:r>
              <a:rPr lang="en-US" sz="800" dirty="0"/>
              <a:t> G, et al. </a:t>
            </a:r>
            <a:r>
              <a:rPr lang="en-US" sz="800" i="1" dirty="0"/>
              <a:t>Aust J Adv Nurs</a:t>
            </a:r>
            <a:r>
              <a:rPr lang="en-US" sz="800" dirty="0"/>
              <a:t>. 2011;28(2):46-52; 7. Carette H, et al. </a:t>
            </a:r>
            <a:r>
              <a:rPr lang="en-US" sz="800" i="1" dirty="0"/>
              <a:t>BMC Pulm Med</a:t>
            </a:r>
            <a:r>
              <a:rPr lang="en-US" sz="800" dirty="0"/>
              <a:t>. 2019;19(1):95.</a:t>
            </a:r>
            <a:endParaRPr lang="en-US" sz="800" dirty="0">
              <a:solidFill>
                <a:srgbClr val="FF0000"/>
              </a:solidFill>
              <a:latin typeface="Arial"/>
              <a:cs typeface="Arial"/>
            </a:endParaRPr>
          </a:p>
        </p:txBody>
      </p:sp>
      <p:sp>
        <p:nvSpPr>
          <p:cNvPr id="31" name="TextBox 30">
            <a:extLst>
              <a:ext uri="{FF2B5EF4-FFF2-40B4-BE49-F238E27FC236}">
                <a16:creationId xmlns:a16="http://schemas.microsoft.com/office/drawing/2014/main" id="{E0FD8F95-353A-AAA9-045F-12A860810B96}"/>
              </a:ext>
            </a:extLst>
          </p:cNvPr>
          <p:cNvSpPr txBox="1"/>
          <p:nvPr/>
        </p:nvSpPr>
        <p:spPr>
          <a:xfrm>
            <a:off x="267860" y="851812"/>
            <a:ext cx="11622509" cy="1231106"/>
          </a:xfrm>
          <a:prstGeom prst="rect">
            <a:avLst/>
          </a:prstGeom>
          <a:noFill/>
        </p:spPr>
        <p:txBody>
          <a:bodyPr wrap="square">
            <a:spAutoFit/>
          </a:bodyPr>
          <a:lstStyle/>
          <a:p>
            <a:pPr marL="285750" marR="1072515" lvl="0" indent="-285750" algn="l" defTabSz="914400" rtl="0" eaLnBrk="1" fontAlgn="auto" latinLnBrk="0" hangingPunct="1">
              <a:lnSpc>
                <a:spcPct val="100000"/>
              </a:lnSpc>
              <a:spcBef>
                <a:spcPts val="6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Dyspnoea is a </a:t>
            </a:r>
            <a:r>
              <a:rPr kumimoji="0" lang="en-GB" sz="1600" b="1" i="0" u="none" strike="noStrike" kern="1200" cap="none" spc="0" normalizeH="0" baseline="0" noProof="0" dirty="0">
                <a:ln>
                  <a:noFill/>
                </a:ln>
                <a:solidFill>
                  <a:srgbClr val="000000"/>
                </a:solidFill>
                <a:effectLst/>
                <a:uLnTx/>
                <a:uFillTx/>
                <a:latin typeface="Arial"/>
                <a:ea typeface="+mn-ea"/>
                <a:cs typeface="Arial"/>
              </a:rPr>
              <a:t>cardinal symptom of COPD </a:t>
            </a:r>
            <a:r>
              <a:rPr kumimoji="0" lang="en-GB" sz="1600" b="0" i="0" u="none" strike="noStrike" kern="1200" cap="none" spc="0" normalizeH="0" baseline="0" noProof="0" dirty="0">
                <a:ln>
                  <a:noFill/>
                </a:ln>
                <a:solidFill>
                  <a:srgbClr val="000000"/>
                </a:solidFill>
                <a:effectLst/>
                <a:uLnTx/>
                <a:uFillTx/>
                <a:latin typeface="Arial"/>
                <a:ea typeface="+mn-ea"/>
                <a:cs typeface="Arial"/>
              </a:rPr>
              <a:t>and a major cause of disability and anxiety.</a:t>
            </a:r>
            <a:r>
              <a:rPr kumimoji="0" lang="en-GB" sz="1600" b="0" i="0" u="none" strike="noStrike" kern="1200" cap="none" spc="0" normalizeH="0" baseline="26455" noProof="0" dirty="0">
                <a:ln>
                  <a:noFill/>
                </a:ln>
                <a:solidFill>
                  <a:srgbClr val="000000"/>
                </a:solidFill>
                <a:effectLst/>
                <a:uLnTx/>
                <a:uFillTx/>
                <a:latin typeface="Arial"/>
                <a:ea typeface="+mn-ea"/>
                <a:cs typeface="Arial"/>
              </a:rPr>
              <a:t>1</a:t>
            </a:r>
          </a:p>
          <a:p>
            <a:pPr marL="285750" marR="0" lvl="0" indent="-285750" algn="l" defTabSz="914400" rtl="0" eaLnBrk="1" fontAlgn="auto" latinLnBrk="0" hangingPunct="1">
              <a:lnSpc>
                <a:spcPct val="100000"/>
              </a:lnSpc>
              <a:spcBef>
                <a:spcPts val="6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In a study of 2441 patients with COPD across 17 European countries, dyspnoea was the </a:t>
            </a:r>
            <a:r>
              <a:rPr kumimoji="0" lang="en-GB" sz="1600" b="1" i="0" u="none" strike="noStrike" kern="1200" cap="none" spc="0" normalizeH="0" baseline="0" noProof="0" dirty="0">
                <a:ln>
                  <a:noFill/>
                </a:ln>
                <a:solidFill>
                  <a:srgbClr val="000000"/>
                </a:solidFill>
                <a:effectLst/>
                <a:uLnTx/>
                <a:uFillTx/>
                <a:latin typeface="Arial"/>
                <a:ea typeface="+mn-ea"/>
                <a:cs typeface="Arial"/>
              </a:rPr>
              <a:t>most frequent symptom experienced by patients (72.5%)</a:t>
            </a:r>
            <a:r>
              <a:rPr kumimoji="0" lang="en-GB" sz="1600" b="0" i="0" u="none" strike="noStrike" kern="1200" cap="none" spc="0" normalizeH="0" baseline="0" noProof="0" dirty="0">
                <a:ln>
                  <a:noFill/>
                </a:ln>
                <a:solidFill>
                  <a:srgbClr val="000000"/>
                </a:solidFill>
                <a:effectLst/>
                <a:uLnTx/>
                <a:uFillTx/>
                <a:latin typeface="Arial"/>
                <a:ea typeface="+mn-ea"/>
                <a:cs typeface="Arial"/>
              </a:rPr>
              <a:t>.</a:t>
            </a:r>
            <a:r>
              <a:rPr kumimoji="0" lang="en-GB" sz="1600" b="0" i="0" u="none" strike="noStrike" kern="1200" cap="none" spc="0" normalizeH="0" baseline="26455" noProof="0" dirty="0">
                <a:ln>
                  <a:noFill/>
                </a:ln>
                <a:solidFill>
                  <a:srgbClr val="000000"/>
                </a:solidFill>
                <a:effectLst/>
                <a:uLnTx/>
                <a:uFillTx/>
                <a:latin typeface="Arial"/>
                <a:ea typeface="+mn-ea"/>
                <a:cs typeface="Arial"/>
              </a:rPr>
              <a:t>2</a:t>
            </a:r>
          </a:p>
          <a:p>
            <a:pPr marL="285750" marR="0" lvl="0" indent="-285750" algn="l" defTabSz="914400" rtl="0" eaLnBrk="1" fontAlgn="auto" latinLnBrk="0" hangingPunct="1">
              <a:lnSpc>
                <a:spcPct val="100000"/>
              </a:lnSpc>
              <a:spcBef>
                <a:spcPts val="600"/>
              </a:spcBef>
              <a:spcAft>
                <a:spcPts val="0"/>
              </a:spcAft>
              <a:buClr>
                <a:srgbClr val="F36633"/>
              </a:buClr>
              <a:buSzTx/>
              <a:buFont typeface="Arial" panose="020B0604020202020204" pitchFamily="34" charset="0"/>
              <a:buChar char="•"/>
              <a:tabLst>
                <a:tab pos="2241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Dyspnoea significantly contributes to </a:t>
            </a:r>
            <a:r>
              <a:rPr kumimoji="0" lang="en-GB" sz="1600" b="1" i="0" u="none" strike="noStrike" kern="1200" cap="none" spc="0" normalizeH="0" baseline="0" noProof="0" dirty="0">
                <a:ln>
                  <a:noFill/>
                </a:ln>
                <a:solidFill>
                  <a:srgbClr val="000000"/>
                </a:solidFill>
                <a:effectLst/>
                <a:uLnTx/>
                <a:uFillTx/>
                <a:latin typeface="Arial"/>
                <a:ea typeface="+mn-ea"/>
                <a:cs typeface="Arial"/>
              </a:rPr>
              <a:t>disease burden </a:t>
            </a:r>
            <a:r>
              <a:rPr kumimoji="0" lang="en-GB" sz="1600" b="0" i="0" u="none" strike="noStrike" kern="1200" cap="none" spc="0" normalizeH="0" baseline="0" noProof="0" dirty="0">
                <a:ln>
                  <a:noFill/>
                </a:ln>
                <a:solidFill>
                  <a:srgbClr val="000000"/>
                </a:solidFill>
                <a:effectLst/>
                <a:uLnTx/>
                <a:uFillTx/>
                <a:latin typeface="Arial"/>
                <a:ea typeface="+mn-ea"/>
                <a:cs typeface="Arial"/>
              </a:rPr>
              <a:t>and </a:t>
            </a:r>
            <a:r>
              <a:rPr kumimoji="0" lang="en-GB" sz="1600" b="1" i="0" u="none" strike="noStrike" kern="1200" cap="none" spc="0" normalizeH="0" baseline="0" noProof="0" dirty="0">
                <a:ln>
                  <a:noFill/>
                </a:ln>
                <a:solidFill>
                  <a:srgbClr val="000000"/>
                </a:solidFill>
                <a:effectLst/>
                <a:uLnTx/>
                <a:uFillTx/>
                <a:latin typeface="Arial"/>
                <a:ea typeface="+mn-ea"/>
                <a:cs typeface="Arial"/>
              </a:rPr>
              <a:t>poor quality of life</a:t>
            </a:r>
            <a:r>
              <a:rPr kumimoji="0" lang="en-GB" sz="1600" b="0" i="0" u="none" strike="noStrike" kern="1200" cap="none" spc="0" normalizeH="0" baseline="0" noProof="0" dirty="0">
                <a:ln>
                  <a:noFill/>
                </a:ln>
                <a:solidFill>
                  <a:srgbClr val="000000"/>
                </a:solidFill>
                <a:effectLst/>
                <a:uLnTx/>
                <a:uFillTx/>
                <a:latin typeface="Arial"/>
                <a:ea typeface="+mn-ea"/>
                <a:cs typeface="Arial"/>
              </a:rPr>
              <a:t>.</a:t>
            </a:r>
            <a:r>
              <a:rPr kumimoji="0" lang="en-GB" sz="1600" b="0" i="0" u="none" strike="noStrike" kern="1200" cap="none" spc="0" normalizeH="0" baseline="26455" noProof="0" dirty="0">
                <a:ln>
                  <a:noFill/>
                </a:ln>
                <a:solidFill>
                  <a:srgbClr val="000000"/>
                </a:solidFill>
                <a:effectLst/>
                <a:uLnTx/>
                <a:uFillTx/>
                <a:latin typeface="Arial"/>
                <a:ea typeface="+mn-ea"/>
                <a:cs typeface="Arial"/>
              </a:rPr>
              <a:t>3,4</a:t>
            </a:r>
          </a:p>
        </p:txBody>
      </p:sp>
      <p:grpSp>
        <p:nvGrpSpPr>
          <p:cNvPr id="43" name="Group 42">
            <a:extLst>
              <a:ext uri="{FF2B5EF4-FFF2-40B4-BE49-F238E27FC236}">
                <a16:creationId xmlns:a16="http://schemas.microsoft.com/office/drawing/2014/main" id="{F7F044A0-1483-23C6-D6B3-EFAB56AF70E6}"/>
              </a:ext>
            </a:extLst>
          </p:cNvPr>
          <p:cNvGrpSpPr/>
          <p:nvPr/>
        </p:nvGrpSpPr>
        <p:grpSpPr>
          <a:xfrm>
            <a:off x="361952" y="2104367"/>
            <a:ext cx="11468097" cy="3157979"/>
            <a:chOff x="361952" y="2337277"/>
            <a:chExt cx="11468097" cy="3157979"/>
          </a:xfrm>
        </p:grpSpPr>
        <p:sp>
          <p:nvSpPr>
            <p:cNvPr id="7" name="Rectangle: Rounded Corners 6"/>
            <p:cNvSpPr/>
            <p:nvPr/>
          </p:nvSpPr>
          <p:spPr>
            <a:xfrm>
              <a:off x="361952" y="2337277"/>
              <a:ext cx="11468097" cy="3157979"/>
            </a:xfrm>
            <a:prstGeom prst="roundRect">
              <a:avLst>
                <a:gd name="adj" fmla="val 58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cxnSp>
          <p:nvCxnSpPr>
            <p:cNvPr id="5" name="Straight Connector 4"/>
            <p:cNvCxnSpPr>
              <a:cxnSpLocks/>
            </p:cNvCxnSpPr>
            <p:nvPr/>
          </p:nvCxnSpPr>
          <p:spPr>
            <a:xfrm>
              <a:off x="6096000" y="2480821"/>
              <a:ext cx="0" cy="2870890"/>
            </a:xfrm>
            <a:prstGeom prst="line">
              <a:avLst/>
            </a:prstGeom>
            <a:ln>
              <a:solidFill>
                <a:schemeClr val="bg1">
                  <a:lumMod val="75000"/>
                </a:schemeClr>
              </a:solidFill>
              <a:prstDash val="solid"/>
            </a:ln>
          </p:spPr>
          <p:style>
            <a:lnRef idx="1">
              <a:schemeClr val="accent1"/>
            </a:lnRef>
            <a:fillRef idx="0">
              <a:schemeClr val="accent1"/>
            </a:fillRef>
            <a:effectRef idx="0">
              <a:schemeClr val="accent1"/>
            </a:effectRef>
            <a:fontRef idx="minor">
              <a:schemeClr val="tx1"/>
            </a:fontRef>
          </p:style>
        </p:cxnSp>
        <p:grpSp>
          <p:nvGrpSpPr>
            <p:cNvPr id="40" name="Group 39">
              <a:extLst>
                <a:ext uri="{FF2B5EF4-FFF2-40B4-BE49-F238E27FC236}">
                  <a16:creationId xmlns:a16="http://schemas.microsoft.com/office/drawing/2014/main" id="{C621A499-C659-C51F-B140-97C9C815BFD0}"/>
                </a:ext>
              </a:extLst>
            </p:cNvPr>
            <p:cNvGrpSpPr/>
            <p:nvPr/>
          </p:nvGrpSpPr>
          <p:grpSpPr>
            <a:xfrm>
              <a:off x="607951" y="2469253"/>
              <a:ext cx="10976099" cy="2923228"/>
              <a:chOff x="430212" y="2469253"/>
              <a:chExt cx="10976099" cy="2923228"/>
            </a:xfrm>
          </p:grpSpPr>
          <p:grpSp>
            <p:nvGrpSpPr>
              <p:cNvPr id="39" name="Group 38">
                <a:extLst>
                  <a:ext uri="{FF2B5EF4-FFF2-40B4-BE49-F238E27FC236}">
                    <a16:creationId xmlns:a16="http://schemas.microsoft.com/office/drawing/2014/main" id="{28D865AF-AB9D-23F6-FF94-2CEAC1CDB655}"/>
                  </a:ext>
                </a:extLst>
              </p:cNvPr>
              <p:cNvGrpSpPr/>
              <p:nvPr/>
            </p:nvGrpSpPr>
            <p:grpSpPr>
              <a:xfrm>
                <a:off x="430212" y="2469253"/>
                <a:ext cx="5060860" cy="2890201"/>
                <a:chOff x="430212" y="2469253"/>
                <a:chExt cx="5060860" cy="2890201"/>
              </a:xfrm>
            </p:grpSpPr>
            <p:sp>
              <p:nvSpPr>
                <p:cNvPr id="17" name="Freeform 1791">
                  <a:extLst>
                    <a:ext uri="{FF2B5EF4-FFF2-40B4-BE49-F238E27FC236}">
                      <a16:creationId xmlns:a16="http://schemas.microsoft.com/office/drawing/2014/main" id="{013C1824-E800-4B96-B476-A41B7F6E00F0}"/>
                    </a:ext>
                  </a:extLst>
                </p:cNvPr>
                <p:cNvSpPr>
                  <a:spLocks noChangeAspect="1" noEditPoints="1"/>
                </p:cNvSpPr>
                <p:nvPr/>
              </p:nvSpPr>
              <p:spPr bwMode="auto">
                <a:xfrm>
                  <a:off x="2365819" y="4069405"/>
                  <a:ext cx="1189646" cy="1290049"/>
                </a:xfrm>
                <a:custGeom>
                  <a:avLst/>
                  <a:gdLst>
                    <a:gd name="T0" fmla="*/ 594 w 2031"/>
                    <a:gd name="T1" fmla="*/ 948 h 2200"/>
                    <a:gd name="T2" fmla="*/ 594 w 2031"/>
                    <a:gd name="T3" fmla="*/ 835 h 2200"/>
                    <a:gd name="T4" fmla="*/ 595 w 2031"/>
                    <a:gd name="T5" fmla="*/ 835 h 2200"/>
                    <a:gd name="T6" fmla="*/ 821 w 2031"/>
                    <a:gd name="T7" fmla="*/ 609 h 2200"/>
                    <a:gd name="T8" fmla="*/ 1085 w 2031"/>
                    <a:gd name="T9" fmla="*/ 609 h 2200"/>
                    <a:gd name="T10" fmla="*/ 1312 w 2031"/>
                    <a:gd name="T11" fmla="*/ 382 h 2200"/>
                    <a:gd name="T12" fmla="*/ 1312 w 2031"/>
                    <a:gd name="T13" fmla="*/ 307 h 2200"/>
                    <a:gd name="T14" fmla="*/ 1435 w 2031"/>
                    <a:gd name="T15" fmla="*/ 603 h 2200"/>
                    <a:gd name="T16" fmla="*/ 1435 w 2031"/>
                    <a:gd name="T17" fmla="*/ 948 h 2200"/>
                    <a:gd name="T18" fmla="*/ 1014 w 2031"/>
                    <a:gd name="T19" fmla="*/ 1373 h 2200"/>
                    <a:gd name="T20" fmla="*/ 594 w 2031"/>
                    <a:gd name="T21" fmla="*/ 948 h 2200"/>
                    <a:gd name="T22" fmla="*/ 1474 w 2031"/>
                    <a:gd name="T23" fmla="*/ 2016 h 2200"/>
                    <a:gd name="T24" fmla="*/ 1474 w 2031"/>
                    <a:gd name="T25" fmla="*/ 1833 h 2200"/>
                    <a:gd name="T26" fmla="*/ 1015 w 2031"/>
                    <a:gd name="T27" fmla="*/ 1833 h 2200"/>
                    <a:gd name="T28" fmla="*/ 1015 w 2031"/>
                    <a:gd name="T29" fmla="*/ 2016 h 2200"/>
                    <a:gd name="T30" fmla="*/ 197 w 2031"/>
                    <a:gd name="T31" fmla="*/ 2016 h 2200"/>
                    <a:gd name="T32" fmla="*/ 208 w 2031"/>
                    <a:gd name="T33" fmla="*/ 1899 h 2200"/>
                    <a:gd name="T34" fmla="*/ 239 w 2031"/>
                    <a:gd name="T35" fmla="*/ 1855 h 2200"/>
                    <a:gd name="T36" fmla="*/ 246 w 2031"/>
                    <a:gd name="T37" fmla="*/ 1851 h 2200"/>
                    <a:gd name="T38" fmla="*/ 856 w 2031"/>
                    <a:gd name="T39" fmla="*/ 1534 h 2200"/>
                    <a:gd name="T40" fmla="*/ 1014 w 2031"/>
                    <a:gd name="T41" fmla="*/ 1556 h 2200"/>
                    <a:gd name="T42" fmla="*/ 1173 w 2031"/>
                    <a:gd name="T43" fmla="*/ 1534 h 2200"/>
                    <a:gd name="T44" fmla="*/ 1785 w 2031"/>
                    <a:gd name="T45" fmla="*/ 1852 h 2200"/>
                    <a:gd name="T46" fmla="*/ 1791 w 2031"/>
                    <a:gd name="T47" fmla="*/ 1854 h 2200"/>
                    <a:gd name="T48" fmla="*/ 1822 w 2031"/>
                    <a:gd name="T49" fmla="*/ 1896 h 2200"/>
                    <a:gd name="T50" fmla="*/ 1834 w 2031"/>
                    <a:gd name="T51" fmla="*/ 2016 h 2200"/>
                    <a:gd name="T52" fmla="*/ 1474 w 2031"/>
                    <a:gd name="T53" fmla="*/ 2016 h 2200"/>
                    <a:gd name="T54" fmla="*/ 2005 w 2031"/>
                    <a:gd name="T55" fmla="*/ 1879 h 2200"/>
                    <a:gd name="T56" fmla="*/ 1870 w 2031"/>
                    <a:gd name="T57" fmla="*/ 1689 h 2200"/>
                    <a:gd name="T58" fmla="*/ 1376 w 2031"/>
                    <a:gd name="T59" fmla="*/ 1434 h 2200"/>
                    <a:gd name="T60" fmla="*/ 1444 w 2031"/>
                    <a:gd name="T61" fmla="*/ 1374 h 2200"/>
                    <a:gd name="T62" fmla="*/ 1683 w 2031"/>
                    <a:gd name="T63" fmla="*/ 1374 h 2200"/>
                    <a:gd name="T64" fmla="*/ 1740 w 2031"/>
                    <a:gd name="T65" fmla="*/ 1342 h 2200"/>
                    <a:gd name="T66" fmla="*/ 1742 w 2031"/>
                    <a:gd name="T67" fmla="*/ 1276 h 2200"/>
                    <a:gd name="T68" fmla="*/ 1618 w 2031"/>
                    <a:gd name="T69" fmla="*/ 776 h 2200"/>
                    <a:gd name="T70" fmla="*/ 1618 w 2031"/>
                    <a:gd name="T71" fmla="*/ 603 h 2200"/>
                    <a:gd name="T72" fmla="*/ 1014 w 2031"/>
                    <a:gd name="T73" fmla="*/ 0 h 2200"/>
                    <a:gd name="T74" fmla="*/ 411 w 2031"/>
                    <a:gd name="T75" fmla="*/ 603 h 2200"/>
                    <a:gd name="T76" fmla="*/ 411 w 2031"/>
                    <a:gd name="T77" fmla="*/ 776 h 2200"/>
                    <a:gd name="T78" fmla="*/ 287 w 2031"/>
                    <a:gd name="T79" fmla="*/ 1276 h 2200"/>
                    <a:gd name="T80" fmla="*/ 289 w 2031"/>
                    <a:gd name="T81" fmla="*/ 1342 h 2200"/>
                    <a:gd name="T82" fmla="*/ 346 w 2031"/>
                    <a:gd name="T83" fmla="*/ 1374 h 2200"/>
                    <a:gd name="T84" fmla="*/ 585 w 2031"/>
                    <a:gd name="T85" fmla="*/ 1374 h 2200"/>
                    <a:gd name="T86" fmla="*/ 654 w 2031"/>
                    <a:gd name="T87" fmla="*/ 1435 h 2200"/>
                    <a:gd name="T88" fmla="*/ 161 w 2031"/>
                    <a:gd name="T89" fmla="*/ 1689 h 2200"/>
                    <a:gd name="T90" fmla="*/ 26 w 2031"/>
                    <a:gd name="T91" fmla="*/ 1879 h 2200"/>
                    <a:gd name="T92" fmla="*/ 8 w 2031"/>
                    <a:gd name="T93" fmla="*/ 2066 h 2200"/>
                    <a:gd name="T94" fmla="*/ 128 w 2031"/>
                    <a:gd name="T95" fmla="*/ 2200 h 2200"/>
                    <a:gd name="T96" fmla="*/ 1015 w 2031"/>
                    <a:gd name="T97" fmla="*/ 2200 h 2200"/>
                    <a:gd name="T98" fmla="*/ 1474 w 2031"/>
                    <a:gd name="T99" fmla="*/ 2200 h 2200"/>
                    <a:gd name="T100" fmla="*/ 1903 w 2031"/>
                    <a:gd name="T101" fmla="*/ 2200 h 2200"/>
                    <a:gd name="T102" fmla="*/ 2023 w 2031"/>
                    <a:gd name="T103" fmla="*/ 2066 h 2200"/>
                    <a:gd name="T104" fmla="*/ 2005 w 2031"/>
                    <a:gd name="T105" fmla="*/ 1879 h 2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031" h="2200">
                      <a:moveTo>
                        <a:pt x="594" y="948"/>
                      </a:moveTo>
                      <a:cubicBezTo>
                        <a:pt x="594" y="835"/>
                        <a:pt x="594" y="835"/>
                        <a:pt x="594" y="835"/>
                      </a:cubicBezTo>
                      <a:cubicBezTo>
                        <a:pt x="595" y="835"/>
                        <a:pt x="595" y="835"/>
                        <a:pt x="595" y="835"/>
                      </a:cubicBezTo>
                      <a:cubicBezTo>
                        <a:pt x="595" y="710"/>
                        <a:pt x="696" y="609"/>
                        <a:pt x="821" y="609"/>
                      </a:cubicBezTo>
                      <a:cubicBezTo>
                        <a:pt x="1085" y="609"/>
                        <a:pt x="1085" y="609"/>
                        <a:pt x="1085" y="609"/>
                      </a:cubicBezTo>
                      <a:cubicBezTo>
                        <a:pt x="1211" y="609"/>
                        <a:pt x="1312" y="507"/>
                        <a:pt x="1312" y="382"/>
                      </a:cubicBezTo>
                      <a:cubicBezTo>
                        <a:pt x="1312" y="307"/>
                        <a:pt x="1312" y="307"/>
                        <a:pt x="1312" y="307"/>
                      </a:cubicBezTo>
                      <a:cubicBezTo>
                        <a:pt x="1388" y="383"/>
                        <a:pt x="1435" y="488"/>
                        <a:pt x="1435" y="603"/>
                      </a:cubicBezTo>
                      <a:cubicBezTo>
                        <a:pt x="1435" y="948"/>
                        <a:pt x="1435" y="948"/>
                        <a:pt x="1435" y="948"/>
                      </a:cubicBezTo>
                      <a:cubicBezTo>
                        <a:pt x="1435" y="1182"/>
                        <a:pt x="1246" y="1373"/>
                        <a:pt x="1014" y="1373"/>
                      </a:cubicBezTo>
                      <a:cubicBezTo>
                        <a:pt x="783" y="1373"/>
                        <a:pt x="594" y="1182"/>
                        <a:pt x="594" y="948"/>
                      </a:cubicBezTo>
                      <a:moveTo>
                        <a:pt x="1474" y="2016"/>
                      </a:moveTo>
                      <a:cubicBezTo>
                        <a:pt x="1474" y="1833"/>
                        <a:pt x="1474" y="1833"/>
                        <a:pt x="1474" y="1833"/>
                      </a:cubicBezTo>
                      <a:cubicBezTo>
                        <a:pt x="1015" y="1833"/>
                        <a:pt x="1015" y="1833"/>
                        <a:pt x="1015" y="1833"/>
                      </a:cubicBezTo>
                      <a:cubicBezTo>
                        <a:pt x="1015" y="2016"/>
                        <a:pt x="1015" y="2016"/>
                        <a:pt x="1015" y="2016"/>
                      </a:cubicBezTo>
                      <a:cubicBezTo>
                        <a:pt x="197" y="2016"/>
                        <a:pt x="197" y="2016"/>
                        <a:pt x="197" y="2016"/>
                      </a:cubicBezTo>
                      <a:cubicBezTo>
                        <a:pt x="208" y="1899"/>
                        <a:pt x="208" y="1899"/>
                        <a:pt x="208" y="1899"/>
                      </a:cubicBezTo>
                      <a:cubicBezTo>
                        <a:pt x="210" y="1886"/>
                        <a:pt x="229" y="1861"/>
                        <a:pt x="239" y="1855"/>
                      </a:cubicBezTo>
                      <a:cubicBezTo>
                        <a:pt x="241" y="1854"/>
                        <a:pt x="243" y="1853"/>
                        <a:pt x="246" y="1851"/>
                      </a:cubicBezTo>
                      <a:cubicBezTo>
                        <a:pt x="856" y="1534"/>
                        <a:pt x="856" y="1534"/>
                        <a:pt x="856" y="1534"/>
                      </a:cubicBezTo>
                      <a:cubicBezTo>
                        <a:pt x="907" y="1548"/>
                        <a:pt x="960" y="1556"/>
                        <a:pt x="1014" y="1556"/>
                      </a:cubicBezTo>
                      <a:cubicBezTo>
                        <a:pt x="1069" y="1556"/>
                        <a:pt x="1122" y="1548"/>
                        <a:pt x="1173" y="1534"/>
                      </a:cubicBezTo>
                      <a:cubicBezTo>
                        <a:pt x="1785" y="1852"/>
                        <a:pt x="1785" y="1852"/>
                        <a:pt x="1785" y="1852"/>
                      </a:cubicBezTo>
                      <a:cubicBezTo>
                        <a:pt x="1788" y="1853"/>
                        <a:pt x="1789" y="1853"/>
                        <a:pt x="1791" y="1854"/>
                      </a:cubicBezTo>
                      <a:cubicBezTo>
                        <a:pt x="1802" y="1861"/>
                        <a:pt x="1820" y="1886"/>
                        <a:pt x="1822" y="1896"/>
                      </a:cubicBezTo>
                      <a:cubicBezTo>
                        <a:pt x="1834" y="2016"/>
                        <a:pt x="1834" y="2016"/>
                        <a:pt x="1834" y="2016"/>
                      </a:cubicBezTo>
                      <a:lnTo>
                        <a:pt x="1474" y="2016"/>
                      </a:lnTo>
                      <a:close/>
                      <a:moveTo>
                        <a:pt x="2005" y="1879"/>
                      </a:moveTo>
                      <a:cubicBezTo>
                        <a:pt x="1997" y="1806"/>
                        <a:pt x="1936" y="1720"/>
                        <a:pt x="1870" y="1689"/>
                      </a:cubicBezTo>
                      <a:cubicBezTo>
                        <a:pt x="1376" y="1434"/>
                        <a:pt x="1376" y="1434"/>
                        <a:pt x="1376" y="1434"/>
                      </a:cubicBezTo>
                      <a:cubicBezTo>
                        <a:pt x="1400" y="1415"/>
                        <a:pt x="1423" y="1396"/>
                        <a:pt x="1444" y="1374"/>
                      </a:cubicBezTo>
                      <a:cubicBezTo>
                        <a:pt x="1683" y="1374"/>
                        <a:pt x="1683" y="1374"/>
                        <a:pt x="1683" y="1374"/>
                      </a:cubicBezTo>
                      <a:cubicBezTo>
                        <a:pt x="1706" y="1374"/>
                        <a:pt x="1728" y="1362"/>
                        <a:pt x="1740" y="1342"/>
                      </a:cubicBezTo>
                      <a:cubicBezTo>
                        <a:pt x="1752" y="1322"/>
                        <a:pt x="1753" y="1297"/>
                        <a:pt x="1742" y="1276"/>
                      </a:cubicBezTo>
                      <a:cubicBezTo>
                        <a:pt x="1618" y="1037"/>
                        <a:pt x="1618" y="1002"/>
                        <a:pt x="1618" y="776"/>
                      </a:cubicBezTo>
                      <a:cubicBezTo>
                        <a:pt x="1618" y="603"/>
                        <a:pt x="1618" y="603"/>
                        <a:pt x="1618" y="603"/>
                      </a:cubicBezTo>
                      <a:cubicBezTo>
                        <a:pt x="1618" y="270"/>
                        <a:pt x="1348" y="0"/>
                        <a:pt x="1014" y="0"/>
                      </a:cubicBezTo>
                      <a:cubicBezTo>
                        <a:pt x="681" y="0"/>
                        <a:pt x="411" y="270"/>
                        <a:pt x="411" y="603"/>
                      </a:cubicBezTo>
                      <a:cubicBezTo>
                        <a:pt x="411" y="776"/>
                        <a:pt x="411" y="776"/>
                        <a:pt x="411" y="776"/>
                      </a:cubicBezTo>
                      <a:cubicBezTo>
                        <a:pt x="411" y="1002"/>
                        <a:pt x="411" y="1037"/>
                        <a:pt x="287" y="1276"/>
                      </a:cubicBezTo>
                      <a:cubicBezTo>
                        <a:pt x="276" y="1297"/>
                        <a:pt x="277" y="1322"/>
                        <a:pt x="289" y="1342"/>
                      </a:cubicBezTo>
                      <a:cubicBezTo>
                        <a:pt x="301" y="1362"/>
                        <a:pt x="323" y="1374"/>
                        <a:pt x="346" y="1374"/>
                      </a:cubicBezTo>
                      <a:cubicBezTo>
                        <a:pt x="585" y="1374"/>
                        <a:pt x="585" y="1374"/>
                        <a:pt x="585" y="1374"/>
                      </a:cubicBezTo>
                      <a:cubicBezTo>
                        <a:pt x="606" y="1396"/>
                        <a:pt x="630" y="1416"/>
                        <a:pt x="654" y="1435"/>
                      </a:cubicBezTo>
                      <a:cubicBezTo>
                        <a:pt x="161" y="1689"/>
                        <a:pt x="161" y="1689"/>
                        <a:pt x="161" y="1689"/>
                      </a:cubicBezTo>
                      <a:cubicBezTo>
                        <a:pt x="94" y="1720"/>
                        <a:pt x="33" y="1806"/>
                        <a:pt x="26" y="1879"/>
                      </a:cubicBezTo>
                      <a:cubicBezTo>
                        <a:pt x="8" y="2066"/>
                        <a:pt x="8" y="2066"/>
                        <a:pt x="8" y="2066"/>
                      </a:cubicBezTo>
                      <a:cubicBezTo>
                        <a:pt x="0" y="2140"/>
                        <a:pt x="54" y="2200"/>
                        <a:pt x="128" y="2200"/>
                      </a:cubicBezTo>
                      <a:cubicBezTo>
                        <a:pt x="1015" y="2200"/>
                        <a:pt x="1015" y="2200"/>
                        <a:pt x="1015" y="2200"/>
                      </a:cubicBezTo>
                      <a:cubicBezTo>
                        <a:pt x="1474" y="2200"/>
                        <a:pt x="1474" y="2200"/>
                        <a:pt x="1474" y="2200"/>
                      </a:cubicBezTo>
                      <a:cubicBezTo>
                        <a:pt x="1903" y="2200"/>
                        <a:pt x="1903" y="2200"/>
                        <a:pt x="1903" y="2200"/>
                      </a:cubicBezTo>
                      <a:cubicBezTo>
                        <a:pt x="1977" y="2200"/>
                        <a:pt x="2031" y="2140"/>
                        <a:pt x="2023" y="2066"/>
                      </a:cubicBezTo>
                      <a:lnTo>
                        <a:pt x="2005" y="1879"/>
                      </a:lnTo>
                      <a:close/>
                    </a:path>
                  </a:pathLst>
                </a:custGeom>
                <a:solidFill>
                  <a:schemeClr val="tx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34" name="Group 33">
                  <a:extLst>
                    <a:ext uri="{FF2B5EF4-FFF2-40B4-BE49-F238E27FC236}">
                      <a16:creationId xmlns:a16="http://schemas.microsoft.com/office/drawing/2014/main" id="{7DC87154-84C3-84AB-6B36-C7AFA37EA41F}"/>
                    </a:ext>
                  </a:extLst>
                </p:cNvPr>
                <p:cNvGrpSpPr/>
                <p:nvPr/>
              </p:nvGrpSpPr>
              <p:grpSpPr>
                <a:xfrm>
                  <a:off x="430212" y="2469253"/>
                  <a:ext cx="5060860" cy="1484044"/>
                  <a:chOff x="430212" y="2469253"/>
                  <a:chExt cx="5060860" cy="1484044"/>
                </a:xfrm>
              </p:grpSpPr>
              <p:sp>
                <p:nvSpPr>
                  <p:cNvPr id="32" name="Rounded Rectangular Callout 20">
                    <a:extLst>
                      <a:ext uri="{FF2B5EF4-FFF2-40B4-BE49-F238E27FC236}">
                        <a16:creationId xmlns:a16="http://schemas.microsoft.com/office/drawing/2014/main" id="{CC1B992F-6DDB-F097-1EC7-B1376D519F64}"/>
                      </a:ext>
                    </a:extLst>
                  </p:cNvPr>
                  <p:cNvSpPr/>
                  <p:nvPr/>
                </p:nvSpPr>
                <p:spPr>
                  <a:xfrm flipH="1">
                    <a:off x="430212" y="2469253"/>
                    <a:ext cx="2204122" cy="1484044"/>
                  </a:xfrm>
                  <a:prstGeom prst="wedgeRoundRectCallout">
                    <a:avLst>
                      <a:gd name="adj1" fmla="val -38639"/>
                      <a:gd name="adj2" fmla="val 62492"/>
                      <a:gd name="adj3" fmla="val 16667"/>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Noto Sans"/>
                      </a:rPr>
                      <a:t>I am afraid to stay at home alone</a:t>
                    </a:r>
                    <a:r>
                      <a:rPr kumimoji="0" lang="en-US" sz="1400" b="1" i="0" u="none" strike="noStrike" kern="1200" cap="none" spc="0" normalizeH="0" baseline="30000" noProof="0" dirty="0">
                        <a:ln>
                          <a:noFill/>
                        </a:ln>
                        <a:solidFill>
                          <a:srgbClr val="000000"/>
                        </a:solidFill>
                        <a:effectLst/>
                        <a:uLnTx/>
                        <a:uFillTx/>
                        <a:latin typeface="Arial"/>
                        <a:ea typeface="+mn-ea"/>
                        <a:cs typeface="Noto Sans"/>
                      </a:rPr>
                      <a:t>5</a:t>
                    </a:r>
                  </a:p>
                </p:txBody>
              </p:sp>
              <p:sp>
                <p:nvSpPr>
                  <p:cNvPr id="33" name="Rounded Rectangular Callout 20">
                    <a:extLst>
                      <a:ext uri="{FF2B5EF4-FFF2-40B4-BE49-F238E27FC236}">
                        <a16:creationId xmlns:a16="http://schemas.microsoft.com/office/drawing/2014/main" id="{F7FA81B9-2323-A562-AA9A-8C7FDA5429F6}"/>
                      </a:ext>
                    </a:extLst>
                  </p:cNvPr>
                  <p:cNvSpPr/>
                  <p:nvPr/>
                </p:nvSpPr>
                <p:spPr>
                  <a:xfrm>
                    <a:off x="3286950" y="2469253"/>
                    <a:ext cx="2204122" cy="1484044"/>
                  </a:xfrm>
                  <a:prstGeom prst="wedgeRoundRectCallout">
                    <a:avLst>
                      <a:gd name="adj1" fmla="val -38639"/>
                      <a:gd name="adj2" fmla="val 62492"/>
                      <a:gd name="adj3" fmla="val 16667"/>
                    </a:avLst>
                  </a:prstGeom>
                  <a:solidFill>
                    <a:schemeClr val="tx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Noto Sans"/>
                      </a:rPr>
                      <a:t>I postpone everything to prevent gasping for breath. Housework, cooking, going out...</a:t>
                    </a:r>
                    <a:r>
                      <a:rPr kumimoji="0" lang="en-US" sz="1400" b="1" i="0" u="none" strike="noStrike" kern="1200" cap="none" spc="0" normalizeH="0" baseline="30000" noProof="0" dirty="0">
                        <a:ln>
                          <a:noFill/>
                        </a:ln>
                        <a:solidFill>
                          <a:srgbClr val="000000"/>
                        </a:solidFill>
                        <a:effectLst/>
                        <a:uLnTx/>
                        <a:uFillTx/>
                        <a:latin typeface="Arial"/>
                        <a:ea typeface="+mn-ea"/>
                        <a:cs typeface="Noto Sans"/>
                      </a:rPr>
                      <a:t>6</a:t>
                    </a:r>
                  </a:p>
                </p:txBody>
              </p:sp>
            </p:grpSp>
          </p:grpSp>
          <p:grpSp>
            <p:nvGrpSpPr>
              <p:cNvPr id="38" name="Group 37">
                <a:extLst>
                  <a:ext uri="{FF2B5EF4-FFF2-40B4-BE49-F238E27FC236}">
                    <a16:creationId xmlns:a16="http://schemas.microsoft.com/office/drawing/2014/main" id="{982D2F00-E279-1951-0F62-9513B5A60E6C}"/>
                  </a:ext>
                </a:extLst>
              </p:cNvPr>
              <p:cNvGrpSpPr/>
              <p:nvPr/>
            </p:nvGrpSpPr>
            <p:grpSpPr>
              <a:xfrm>
                <a:off x="6235588" y="2469253"/>
                <a:ext cx="5170723" cy="2923228"/>
                <a:chOff x="6235588" y="2469253"/>
                <a:chExt cx="5170723" cy="2923228"/>
              </a:xfrm>
            </p:grpSpPr>
            <p:sp>
              <p:nvSpPr>
                <p:cNvPr id="20" name="Freeform 20"/>
                <p:cNvSpPr>
                  <a:spLocks noEditPoints="1"/>
                </p:cNvSpPr>
                <p:nvPr/>
              </p:nvSpPr>
              <p:spPr bwMode="auto">
                <a:xfrm>
                  <a:off x="8316946" y="4036377"/>
                  <a:ext cx="1117871" cy="1356104"/>
                </a:xfrm>
                <a:custGeom>
                  <a:avLst/>
                  <a:gdLst>
                    <a:gd name="T0" fmla="*/ 94 w 4371"/>
                    <a:gd name="T1" fmla="*/ 4481 h 5310"/>
                    <a:gd name="T2" fmla="*/ 27 w 4371"/>
                    <a:gd name="T3" fmla="*/ 4203 h 5310"/>
                    <a:gd name="T4" fmla="*/ 1084 w 4371"/>
                    <a:gd name="T5" fmla="*/ 2698 h 5310"/>
                    <a:gd name="T6" fmla="*/ 802 w 4371"/>
                    <a:gd name="T7" fmla="*/ 3481 h 5310"/>
                    <a:gd name="T8" fmla="*/ 455 w 4371"/>
                    <a:gd name="T9" fmla="*/ 3855 h 5310"/>
                    <a:gd name="T10" fmla="*/ 395 w 4371"/>
                    <a:gd name="T11" fmla="*/ 4356 h 5310"/>
                    <a:gd name="T12" fmla="*/ 511 w 4371"/>
                    <a:gd name="T13" fmla="*/ 4539 h 5310"/>
                    <a:gd name="T14" fmla="*/ 521 w 4371"/>
                    <a:gd name="T15" fmla="*/ 4372 h 5310"/>
                    <a:gd name="T16" fmla="*/ 427 w 4371"/>
                    <a:gd name="T17" fmla="*/ 4076 h 5310"/>
                    <a:gd name="T18" fmla="*/ 1062 w 4371"/>
                    <a:gd name="T19" fmla="*/ 3647 h 5310"/>
                    <a:gd name="T20" fmla="*/ 1243 w 4371"/>
                    <a:gd name="T21" fmla="*/ 4370 h 5310"/>
                    <a:gd name="T22" fmla="*/ 1280 w 4371"/>
                    <a:gd name="T23" fmla="*/ 4514 h 5310"/>
                    <a:gd name="T24" fmla="*/ 1355 w 4371"/>
                    <a:gd name="T25" fmla="*/ 4361 h 5310"/>
                    <a:gd name="T26" fmla="*/ 993 w 4371"/>
                    <a:gd name="T27" fmla="*/ 3552 h 5310"/>
                    <a:gd name="T28" fmla="*/ 924 w 4371"/>
                    <a:gd name="T29" fmla="*/ 3404 h 5310"/>
                    <a:gd name="T30" fmla="*/ 1485 w 4371"/>
                    <a:gd name="T31" fmla="*/ 2488 h 5310"/>
                    <a:gd name="T32" fmla="*/ 1101 w 4371"/>
                    <a:gd name="T33" fmla="*/ 1458 h 5310"/>
                    <a:gd name="T34" fmla="*/ 2428 w 4371"/>
                    <a:gd name="T35" fmla="*/ 120 h 5310"/>
                    <a:gd name="T36" fmla="*/ 3276 w 4371"/>
                    <a:gd name="T37" fmla="*/ 1272 h 5310"/>
                    <a:gd name="T38" fmla="*/ 2882 w 4371"/>
                    <a:gd name="T39" fmla="*/ 2494 h 5310"/>
                    <a:gd name="T40" fmla="*/ 3221 w 4371"/>
                    <a:gd name="T41" fmla="*/ 2835 h 5310"/>
                    <a:gd name="T42" fmla="*/ 3193 w 4371"/>
                    <a:gd name="T43" fmla="*/ 3579 h 5310"/>
                    <a:gd name="T44" fmla="*/ 3601 w 4371"/>
                    <a:gd name="T45" fmla="*/ 3315 h 5310"/>
                    <a:gd name="T46" fmla="*/ 3297 w 4371"/>
                    <a:gd name="T47" fmla="*/ 2764 h 5310"/>
                    <a:gd name="T48" fmla="*/ 3541 w 4371"/>
                    <a:gd name="T49" fmla="*/ 2854 h 5310"/>
                    <a:gd name="T50" fmla="*/ 4371 w 4371"/>
                    <a:gd name="T51" fmla="*/ 4358 h 5310"/>
                    <a:gd name="T52" fmla="*/ 2633 w 4371"/>
                    <a:gd name="T53" fmla="*/ 5280 h 5310"/>
                    <a:gd name="T54" fmla="*/ 2864 w 4371"/>
                    <a:gd name="T55" fmla="*/ 4530 h 5310"/>
                    <a:gd name="T56" fmla="*/ 2967 w 4371"/>
                    <a:gd name="T57" fmla="*/ 4405 h 5310"/>
                    <a:gd name="T58" fmla="*/ 3072 w 4371"/>
                    <a:gd name="T59" fmla="*/ 4331 h 5310"/>
                    <a:gd name="T60" fmla="*/ 2968 w 4371"/>
                    <a:gd name="T61" fmla="*/ 4222 h 5310"/>
                    <a:gd name="T62" fmla="*/ 2866 w 4371"/>
                    <a:gd name="T63" fmla="*/ 4118 h 5310"/>
                    <a:gd name="T64" fmla="*/ 2769 w 4371"/>
                    <a:gd name="T65" fmla="*/ 4014 h 5310"/>
                    <a:gd name="T66" fmla="*/ 2672 w 4371"/>
                    <a:gd name="T67" fmla="*/ 4117 h 5310"/>
                    <a:gd name="T68" fmla="*/ 2564 w 4371"/>
                    <a:gd name="T69" fmla="*/ 4225 h 5310"/>
                    <a:gd name="T70" fmla="*/ 2456 w 4371"/>
                    <a:gd name="T71" fmla="*/ 4317 h 5310"/>
                    <a:gd name="T72" fmla="*/ 2556 w 4371"/>
                    <a:gd name="T73" fmla="*/ 4409 h 5310"/>
                    <a:gd name="T74" fmla="*/ 2666 w 4371"/>
                    <a:gd name="T75" fmla="*/ 4519 h 5310"/>
                    <a:gd name="T76" fmla="*/ 2766 w 4371"/>
                    <a:gd name="T77" fmla="*/ 4619 h 5310"/>
                    <a:gd name="T78" fmla="*/ 2864 w 4371"/>
                    <a:gd name="T79" fmla="*/ 4530 h 5310"/>
                    <a:gd name="T80" fmla="*/ 2728 w 4371"/>
                    <a:gd name="T81" fmla="*/ 2659 h 5310"/>
                    <a:gd name="T82" fmla="*/ 2186 w 4371"/>
                    <a:gd name="T83" fmla="*/ 2847 h 5310"/>
                    <a:gd name="T84" fmla="*/ 1611 w 4371"/>
                    <a:gd name="T85" fmla="*/ 2640 h 5310"/>
                    <a:gd name="T86" fmla="*/ 2456 w 4371"/>
                    <a:gd name="T87" fmla="*/ 3034 h 5310"/>
                    <a:gd name="T88" fmla="*/ 2842 w 4371"/>
                    <a:gd name="T89" fmla="*/ 2308 h 5310"/>
                    <a:gd name="T90" fmla="*/ 3145 w 4371"/>
                    <a:gd name="T91" fmla="*/ 1326 h 5310"/>
                    <a:gd name="T92" fmla="*/ 3019 w 4371"/>
                    <a:gd name="T93" fmla="*/ 1408 h 5310"/>
                    <a:gd name="T94" fmla="*/ 2685 w 4371"/>
                    <a:gd name="T95" fmla="*/ 853 h 5310"/>
                    <a:gd name="T96" fmla="*/ 1472 w 4371"/>
                    <a:gd name="T97" fmla="*/ 820 h 5310"/>
                    <a:gd name="T98" fmla="*/ 1375 w 4371"/>
                    <a:gd name="T99" fmla="*/ 1520 h 5310"/>
                    <a:gd name="T100" fmla="*/ 1243 w 4371"/>
                    <a:gd name="T101" fmla="*/ 1475 h 5310"/>
                    <a:gd name="T102" fmla="*/ 2334 w 4371"/>
                    <a:gd name="T103" fmla="*/ 2671 h 5310"/>
                    <a:gd name="T104" fmla="*/ 3302 w 4371"/>
                    <a:gd name="T105" fmla="*/ 3630 h 5310"/>
                    <a:gd name="T106" fmla="*/ 3505 w 4371"/>
                    <a:gd name="T107" fmla="*/ 3422 h 5310"/>
                    <a:gd name="T108" fmla="*/ 3505 w 4371"/>
                    <a:gd name="T109" fmla="*/ 3838 h 5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4371" h="5310">
                      <a:moveTo>
                        <a:pt x="1719" y="5279"/>
                      </a:moveTo>
                      <a:cubicBezTo>
                        <a:pt x="960" y="5183"/>
                        <a:pt x="434" y="4924"/>
                        <a:pt x="94" y="4481"/>
                      </a:cubicBezTo>
                      <a:lnTo>
                        <a:pt x="0" y="4358"/>
                      </a:lnTo>
                      <a:lnTo>
                        <a:pt x="27" y="4203"/>
                      </a:lnTo>
                      <a:cubicBezTo>
                        <a:pt x="137" y="3555"/>
                        <a:pt x="521" y="2978"/>
                        <a:pt x="1040" y="2681"/>
                      </a:cubicBezTo>
                      <a:cubicBezTo>
                        <a:pt x="1122" y="2634"/>
                        <a:pt x="1145" y="2643"/>
                        <a:pt x="1084" y="2698"/>
                      </a:cubicBezTo>
                      <a:cubicBezTo>
                        <a:pt x="1041" y="2737"/>
                        <a:pt x="943" y="2912"/>
                        <a:pt x="899" y="3027"/>
                      </a:cubicBezTo>
                      <a:cubicBezTo>
                        <a:pt x="860" y="3128"/>
                        <a:pt x="802" y="3400"/>
                        <a:pt x="802" y="3481"/>
                      </a:cubicBezTo>
                      <a:cubicBezTo>
                        <a:pt x="802" y="3530"/>
                        <a:pt x="795" y="3538"/>
                        <a:pt x="740" y="3556"/>
                      </a:cubicBezTo>
                      <a:cubicBezTo>
                        <a:pt x="654" y="3585"/>
                        <a:pt x="518" y="3727"/>
                        <a:pt x="455" y="3855"/>
                      </a:cubicBezTo>
                      <a:cubicBezTo>
                        <a:pt x="405" y="3958"/>
                        <a:pt x="352" y="4170"/>
                        <a:pt x="352" y="4270"/>
                      </a:cubicBezTo>
                      <a:cubicBezTo>
                        <a:pt x="352" y="4298"/>
                        <a:pt x="369" y="4332"/>
                        <a:pt x="395" y="4356"/>
                      </a:cubicBezTo>
                      <a:cubicBezTo>
                        <a:pt x="425" y="4385"/>
                        <a:pt x="435" y="4407"/>
                        <a:pt x="428" y="4434"/>
                      </a:cubicBezTo>
                      <a:cubicBezTo>
                        <a:pt x="417" y="4475"/>
                        <a:pt x="467" y="4539"/>
                        <a:pt x="511" y="4539"/>
                      </a:cubicBezTo>
                      <a:cubicBezTo>
                        <a:pt x="541" y="4539"/>
                        <a:pt x="602" y="4480"/>
                        <a:pt x="602" y="4451"/>
                      </a:cubicBezTo>
                      <a:cubicBezTo>
                        <a:pt x="601" y="4414"/>
                        <a:pt x="558" y="4372"/>
                        <a:pt x="521" y="4372"/>
                      </a:cubicBezTo>
                      <a:cubicBezTo>
                        <a:pt x="501" y="4372"/>
                        <a:pt x="466" y="4360"/>
                        <a:pt x="443" y="4345"/>
                      </a:cubicBezTo>
                      <a:cubicBezTo>
                        <a:pt x="394" y="4313"/>
                        <a:pt x="389" y="4237"/>
                        <a:pt x="427" y="4076"/>
                      </a:cubicBezTo>
                      <a:cubicBezTo>
                        <a:pt x="473" y="3884"/>
                        <a:pt x="573" y="3729"/>
                        <a:pt x="710" y="3641"/>
                      </a:cubicBezTo>
                      <a:cubicBezTo>
                        <a:pt x="810" y="3577"/>
                        <a:pt x="951" y="3579"/>
                        <a:pt x="1062" y="3647"/>
                      </a:cubicBezTo>
                      <a:cubicBezTo>
                        <a:pt x="1211" y="3739"/>
                        <a:pt x="1322" y="3947"/>
                        <a:pt x="1353" y="4196"/>
                      </a:cubicBezTo>
                      <a:cubicBezTo>
                        <a:pt x="1368" y="4316"/>
                        <a:pt x="1343" y="4354"/>
                        <a:pt x="1243" y="4370"/>
                      </a:cubicBezTo>
                      <a:cubicBezTo>
                        <a:pt x="1170" y="4382"/>
                        <a:pt x="1143" y="4416"/>
                        <a:pt x="1158" y="4477"/>
                      </a:cubicBezTo>
                      <a:cubicBezTo>
                        <a:pt x="1172" y="4533"/>
                        <a:pt x="1225" y="4549"/>
                        <a:pt x="1280" y="4514"/>
                      </a:cubicBezTo>
                      <a:cubicBezTo>
                        <a:pt x="1311" y="4493"/>
                        <a:pt x="1320" y="4475"/>
                        <a:pt x="1315" y="4446"/>
                      </a:cubicBezTo>
                      <a:cubicBezTo>
                        <a:pt x="1309" y="4418"/>
                        <a:pt x="1321" y="4393"/>
                        <a:pt x="1355" y="4361"/>
                      </a:cubicBezTo>
                      <a:cubicBezTo>
                        <a:pt x="1394" y="4324"/>
                        <a:pt x="1402" y="4302"/>
                        <a:pt x="1402" y="4240"/>
                      </a:cubicBezTo>
                      <a:cubicBezTo>
                        <a:pt x="1401" y="3946"/>
                        <a:pt x="1200" y="3607"/>
                        <a:pt x="993" y="3552"/>
                      </a:cubicBezTo>
                      <a:lnTo>
                        <a:pt x="915" y="3531"/>
                      </a:lnTo>
                      <a:lnTo>
                        <a:pt x="924" y="3404"/>
                      </a:lnTo>
                      <a:cubicBezTo>
                        <a:pt x="953" y="3034"/>
                        <a:pt x="1165" y="2639"/>
                        <a:pt x="1393" y="2532"/>
                      </a:cubicBezTo>
                      <a:lnTo>
                        <a:pt x="1485" y="2488"/>
                      </a:lnTo>
                      <a:lnTo>
                        <a:pt x="1428" y="2409"/>
                      </a:lnTo>
                      <a:cubicBezTo>
                        <a:pt x="1259" y="2173"/>
                        <a:pt x="1141" y="1830"/>
                        <a:pt x="1101" y="1458"/>
                      </a:cubicBezTo>
                      <a:cubicBezTo>
                        <a:pt x="1069" y="1154"/>
                        <a:pt x="1103" y="938"/>
                        <a:pt x="1221" y="699"/>
                      </a:cubicBezTo>
                      <a:cubicBezTo>
                        <a:pt x="1441" y="253"/>
                        <a:pt x="1968" y="0"/>
                        <a:pt x="2428" y="120"/>
                      </a:cubicBezTo>
                      <a:cubicBezTo>
                        <a:pt x="2755" y="205"/>
                        <a:pt x="3016" y="421"/>
                        <a:pt x="3163" y="730"/>
                      </a:cubicBezTo>
                      <a:cubicBezTo>
                        <a:pt x="3253" y="920"/>
                        <a:pt x="3277" y="1036"/>
                        <a:pt x="3276" y="1272"/>
                      </a:cubicBezTo>
                      <a:cubicBezTo>
                        <a:pt x="3273" y="1692"/>
                        <a:pt x="3158" y="2090"/>
                        <a:pt x="2950" y="2395"/>
                      </a:cubicBezTo>
                      <a:lnTo>
                        <a:pt x="2882" y="2494"/>
                      </a:lnTo>
                      <a:lnTo>
                        <a:pt x="2954" y="2553"/>
                      </a:lnTo>
                      <a:cubicBezTo>
                        <a:pt x="3050" y="2630"/>
                        <a:pt x="3159" y="2746"/>
                        <a:pt x="3221" y="2835"/>
                      </a:cubicBezTo>
                      <a:cubicBezTo>
                        <a:pt x="3331" y="2992"/>
                        <a:pt x="3451" y="3303"/>
                        <a:pt x="3407" y="3317"/>
                      </a:cubicBezTo>
                      <a:cubicBezTo>
                        <a:pt x="3307" y="3351"/>
                        <a:pt x="3210" y="3470"/>
                        <a:pt x="3193" y="3579"/>
                      </a:cubicBezTo>
                      <a:cubicBezTo>
                        <a:pt x="3146" y="3895"/>
                        <a:pt x="3529" y="4084"/>
                        <a:pt x="3746" y="3852"/>
                      </a:cubicBezTo>
                      <a:cubicBezTo>
                        <a:pt x="3910" y="3678"/>
                        <a:pt x="3833" y="3392"/>
                        <a:pt x="3601" y="3315"/>
                      </a:cubicBezTo>
                      <a:cubicBezTo>
                        <a:pt x="3552" y="3299"/>
                        <a:pt x="3542" y="3284"/>
                        <a:pt x="3502" y="3164"/>
                      </a:cubicBezTo>
                      <a:cubicBezTo>
                        <a:pt x="3445" y="2994"/>
                        <a:pt x="3391" y="2890"/>
                        <a:pt x="3297" y="2764"/>
                      </a:cubicBezTo>
                      <a:cubicBezTo>
                        <a:pt x="3255" y="2709"/>
                        <a:pt x="3224" y="2661"/>
                        <a:pt x="3228" y="2658"/>
                      </a:cubicBezTo>
                      <a:cubicBezTo>
                        <a:pt x="3240" y="2646"/>
                        <a:pt x="3425" y="2762"/>
                        <a:pt x="3541" y="2854"/>
                      </a:cubicBezTo>
                      <a:cubicBezTo>
                        <a:pt x="3964" y="3191"/>
                        <a:pt x="4244" y="3664"/>
                        <a:pt x="4345" y="4211"/>
                      </a:cubicBezTo>
                      <a:lnTo>
                        <a:pt x="4371" y="4358"/>
                      </a:lnTo>
                      <a:lnTo>
                        <a:pt x="4277" y="4481"/>
                      </a:lnTo>
                      <a:cubicBezTo>
                        <a:pt x="3936" y="4927"/>
                        <a:pt x="3400" y="5187"/>
                        <a:pt x="2633" y="5280"/>
                      </a:cubicBezTo>
                      <a:cubicBezTo>
                        <a:pt x="2381" y="5310"/>
                        <a:pt x="1963" y="5310"/>
                        <a:pt x="1719" y="5279"/>
                      </a:cubicBezTo>
                      <a:close/>
                      <a:moveTo>
                        <a:pt x="2864" y="4530"/>
                      </a:moveTo>
                      <a:cubicBezTo>
                        <a:pt x="2865" y="4484"/>
                        <a:pt x="2867" y="4438"/>
                        <a:pt x="2868" y="4426"/>
                      </a:cubicBezTo>
                      <a:cubicBezTo>
                        <a:pt x="2869" y="4412"/>
                        <a:pt x="2900" y="4405"/>
                        <a:pt x="2967" y="4405"/>
                      </a:cubicBezTo>
                      <a:lnTo>
                        <a:pt x="3066" y="4405"/>
                      </a:lnTo>
                      <a:lnTo>
                        <a:pt x="3072" y="4331"/>
                      </a:lnTo>
                      <a:cubicBezTo>
                        <a:pt x="3075" y="4289"/>
                        <a:pt x="3075" y="4248"/>
                        <a:pt x="3072" y="4239"/>
                      </a:cubicBezTo>
                      <a:cubicBezTo>
                        <a:pt x="3069" y="4230"/>
                        <a:pt x="3022" y="4222"/>
                        <a:pt x="2968" y="4222"/>
                      </a:cubicBezTo>
                      <a:lnTo>
                        <a:pt x="2871" y="4222"/>
                      </a:lnTo>
                      <a:lnTo>
                        <a:pt x="2866" y="4118"/>
                      </a:lnTo>
                      <a:lnTo>
                        <a:pt x="2861" y="4014"/>
                      </a:lnTo>
                      <a:lnTo>
                        <a:pt x="2769" y="4014"/>
                      </a:lnTo>
                      <a:lnTo>
                        <a:pt x="2677" y="4014"/>
                      </a:lnTo>
                      <a:lnTo>
                        <a:pt x="2672" y="4117"/>
                      </a:lnTo>
                      <a:lnTo>
                        <a:pt x="2667" y="4220"/>
                      </a:lnTo>
                      <a:lnTo>
                        <a:pt x="2564" y="4225"/>
                      </a:lnTo>
                      <a:lnTo>
                        <a:pt x="2461" y="4230"/>
                      </a:lnTo>
                      <a:lnTo>
                        <a:pt x="2456" y="4317"/>
                      </a:lnTo>
                      <a:lnTo>
                        <a:pt x="2451" y="4404"/>
                      </a:lnTo>
                      <a:lnTo>
                        <a:pt x="2556" y="4409"/>
                      </a:lnTo>
                      <a:lnTo>
                        <a:pt x="2661" y="4414"/>
                      </a:lnTo>
                      <a:lnTo>
                        <a:pt x="2666" y="4519"/>
                      </a:lnTo>
                      <a:lnTo>
                        <a:pt x="2671" y="4624"/>
                      </a:lnTo>
                      <a:lnTo>
                        <a:pt x="2766" y="4619"/>
                      </a:lnTo>
                      <a:lnTo>
                        <a:pt x="2861" y="4614"/>
                      </a:lnTo>
                      <a:lnTo>
                        <a:pt x="2864" y="4530"/>
                      </a:lnTo>
                      <a:close/>
                      <a:moveTo>
                        <a:pt x="2456" y="3034"/>
                      </a:moveTo>
                      <a:cubicBezTo>
                        <a:pt x="2609" y="2831"/>
                        <a:pt x="2731" y="2662"/>
                        <a:pt x="2728" y="2659"/>
                      </a:cubicBezTo>
                      <a:cubicBezTo>
                        <a:pt x="2725" y="2656"/>
                        <a:pt x="2675" y="2684"/>
                        <a:pt x="2617" y="2722"/>
                      </a:cubicBezTo>
                      <a:cubicBezTo>
                        <a:pt x="2476" y="2813"/>
                        <a:pt x="2359" y="2847"/>
                        <a:pt x="2186" y="2847"/>
                      </a:cubicBezTo>
                      <a:cubicBezTo>
                        <a:pt x="2006" y="2847"/>
                        <a:pt x="1889" y="2811"/>
                        <a:pt x="1741" y="2712"/>
                      </a:cubicBezTo>
                      <a:cubicBezTo>
                        <a:pt x="1590" y="2610"/>
                        <a:pt x="1595" y="2613"/>
                        <a:pt x="1611" y="2640"/>
                      </a:cubicBezTo>
                      <a:cubicBezTo>
                        <a:pt x="1650" y="2707"/>
                        <a:pt x="2157" y="3405"/>
                        <a:pt x="2167" y="3405"/>
                      </a:cubicBezTo>
                      <a:cubicBezTo>
                        <a:pt x="2172" y="3404"/>
                        <a:pt x="2303" y="3238"/>
                        <a:pt x="2456" y="3034"/>
                      </a:cubicBezTo>
                      <a:close/>
                      <a:moveTo>
                        <a:pt x="2334" y="2671"/>
                      </a:moveTo>
                      <a:cubicBezTo>
                        <a:pt x="2510" y="2630"/>
                        <a:pt x="2710" y="2487"/>
                        <a:pt x="2842" y="2308"/>
                      </a:cubicBezTo>
                      <a:cubicBezTo>
                        <a:pt x="2920" y="2202"/>
                        <a:pt x="3009" y="2021"/>
                        <a:pt x="3059" y="1866"/>
                      </a:cubicBezTo>
                      <a:cubicBezTo>
                        <a:pt x="3105" y="1726"/>
                        <a:pt x="3165" y="1346"/>
                        <a:pt x="3145" y="1326"/>
                      </a:cubicBezTo>
                      <a:cubicBezTo>
                        <a:pt x="3138" y="1319"/>
                        <a:pt x="3107" y="1344"/>
                        <a:pt x="3076" y="1380"/>
                      </a:cubicBezTo>
                      <a:cubicBezTo>
                        <a:pt x="3024" y="1441"/>
                        <a:pt x="3019" y="1444"/>
                        <a:pt x="3019" y="1408"/>
                      </a:cubicBezTo>
                      <a:cubicBezTo>
                        <a:pt x="3019" y="1330"/>
                        <a:pt x="2965" y="1161"/>
                        <a:pt x="2895" y="1014"/>
                      </a:cubicBezTo>
                      <a:cubicBezTo>
                        <a:pt x="2787" y="789"/>
                        <a:pt x="2795" y="795"/>
                        <a:pt x="2685" y="853"/>
                      </a:cubicBezTo>
                      <a:cubicBezTo>
                        <a:pt x="2423" y="995"/>
                        <a:pt x="2034" y="994"/>
                        <a:pt x="1641" y="852"/>
                      </a:cubicBezTo>
                      <a:cubicBezTo>
                        <a:pt x="1536" y="814"/>
                        <a:pt x="1497" y="807"/>
                        <a:pt x="1472" y="820"/>
                      </a:cubicBezTo>
                      <a:cubicBezTo>
                        <a:pt x="1388" y="865"/>
                        <a:pt x="1337" y="1121"/>
                        <a:pt x="1364" y="1364"/>
                      </a:cubicBezTo>
                      <a:cubicBezTo>
                        <a:pt x="1373" y="1446"/>
                        <a:pt x="1378" y="1517"/>
                        <a:pt x="1375" y="1520"/>
                      </a:cubicBezTo>
                      <a:cubicBezTo>
                        <a:pt x="1372" y="1524"/>
                        <a:pt x="1343" y="1513"/>
                        <a:pt x="1311" y="1496"/>
                      </a:cubicBezTo>
                      <a:cubicBezTo>
                        <a:pt x="1280" y="1479"/>
                        <a:pt x="1249" y="1470"/>
                        <a:pt x="1243" y="1475"/>
                      </a:cubicBezTo>
                      <a:cubicBezTo>
                        <a:pt x="1226" y="1492"/>
                        <a:pt x="1269" y="1735"/>
                        <a:pt x="1313" y="1869"/>
                      </a:cubicBezTo>
                      <a:cubicBezTo>
                        <a:pt x="1500" y="2441"/>
                        <a:pt x="1915" y="2768"/>
                        <a:pt x="2334" y="2671"/>
                      </a:cubicBezTo>
                      <a:close/>
                      <a:moveTo>
                        <a:pt x="3367" y="3774"/>
                      </a:moveTo>
                      <a:cubicBezTo>
                        <a:pt x="3310" y="3717"/>
                        <a:pt x="3302" y="3700"/>
                        <a:pt x="3302" y="3630"/>
                      </a:cubicBezTo>
                      <a:cubicBezTo>
                        <a:pt x="3302" y="3558"/>
                        <a:pt x="3309" y="3543"/>
                        <a:pt x="3370" y="3486"/>
                      </a:cubicBezTo>
                      <a:cubicBezTo>
                        <a:pt x="3425" y="3433"/>
                        <a:pt x="3449" y="3422"/>
                        <a:pt x="3505" y="3422"/>
                      </a:cubicBezTo>
                      <a:cubicBezTo>
                        <a:pt x="3630" y="3422"/>
                        <a:pt x="3720" y="3510"/>
                        <a:pt x="3718" y="3633"/>
                      </a:cubicBezTo>
                      <a:cubicBezTo>
                        <a:pt x="3717" y="3756"/>
                        <a:pt x="3632" y="3838"/>
                        <a:pt x="3505" y="3838"/>
                      </a:cubicBezTo>
                      <a:cubicBezTo>
                        <a:pt x="3442" y="3839"/>
                        <a:pt x="3422" y="3829"/>
                        <a:pt x="3367" y="3774"/>
                      </a:cubicBezTo>
                      <a:close/>
                    </a:path>
                  </a:pathLst>
                </a:custGeom>
                <a:solidFill>
                  <a:schemeClr val="accent1"/>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35" name="Group 34">
                  <a:extLst>
                    <a:ext uri="{FF2B5EF4-FFF2-40B4-BE49-F238E27FC236}">
                      <a16:creationId xmlns:a16="http://schemas.microsoft.com/office/drawing/2014/main" id="{E9B1CDD4-3A10-1254-F2EC-03F9B11BF993}"/>
                    </a:ext>
                  </a:extLst>
                </p:cNvPr>
                <p:cNvGrpSpPr/>
                <p:nvPr/>
              </p:nvGrpSpPr>
              <p:grpSpPr>
                <a:xfrm>
                  <a:off x="6235588" y="2469253"/>
                  <a:ext cx="5170723" cy="1484044"/>
                  <a:chOff x="320349" y="2469253"/>
                  <a:chExt cx="5170723" cy="1484044"/>
                </a:xfrm>
              </p:grpSpPr>
              <p:sp>
                <p:nvSpPr>
                  <p:cNvPr id="36" name="Rounded Rectangular Callout 20">
                    <a:extLst>
                      <a:ext uri="{FF2B5EF4-FFF2-40B4-BE49-F238E27FC236}">
                        <a16:creationId xmlns:a16="http://schemas.microsoft.com/office/drawing/2014/main" id="{46D3ABF7-6DF7-9603-93E8-CC87B6EAF5AF}"/>
                      </a:ext>
                    </a:extLst>
                  </p:cNvPr>
                  <p:cNvSpPr/>
                  <p:nvPr/>
                </p:nvSpPr>
                <p:spPr>
                  <a:xfrm flipH="1">
                    <a:off x="320349" y="2469253"/>
                    <a:ext cx="2313985" cy="1464349"/>
                  </a:xfrm>
                  <a:prstGeom prst="wedgeRoundRectCallout">
                    <a:avLst>
                      <a:gd name="adj1" fmla="val -38639"/>
                      <a:gd name="adj2" fmla="val 62492"/>
                      <a:gd name="adj3" fmla="val 1666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a:ea typeface="+mn-ea"/>
                        <a:cs typeface="Noto Sans"/>
                      </a:rPr>
                      <a:t>96% of pulmonologists recommend pulmonary rehabilitation in an online questionnaire on dyspnoea management conducted in France</a:t>
                    </a:r>
                    <a:r>
                      <a:rPr kumimoji="0" lang="en-GB" sz="1400" b="1" i="0" u="none" strike="noStrike" kern="1200" cap="none" spc="0" normalizeH="0" baseline="30000" noProof="0" dirty="0">
                        <a:ln>
                          <a:noFill/>
                        </a:ln>
                        <a:solidFill>
                          <a:srgbClr val="000000"/>
                        </a:solidFill>
                        <a:effectLst/>
                        <a:uLnTx/>
                        <a:uFillTx/>
                        <a:latin typeface="Arial"/>
                        <a:ea typeface="+mn-ea"/>
                        <a:cs typeface="Noto Sans"/>
                      </a:rPr>
                      <a:t>7</a:t>
                    </a:r>
                  </a:p>
                </p:txBody>
              </p:sp>
              <p:sp>
                <p:nvSpPr>
                  <p:cNvPr id="37" name="Rounded Rectangular Callout 20">
                    <a:extLst>
                      <a:ext uri="{FF2B5EF4-FFF2-40B4-BE49-F238E27FC236}">
                        <a16:creationId xmlns:a16="http://schemas.microsoft.com/office/drawing/2014/main" id="{3AE28DDB-38D7-2459-897D-F052FD088A26}"/>
                      </a:ext>
                    </a:extLst>
                  </p:cNvPr>
                  <p:cNvSpPr/>
                  <p:nvPr/>
                </p:nvSpPr>
                <p:spPr>
                  <a:xfrm>
                    <a:off x="3286950" y="2469253"/>
                    <a:ext cx="2204122" cy="1484044"/>
                  </a:xfrm>
                  <a:prstGeom prst="wedgeRoundRectCallout">
                    <a:avLst>
                      <a:gd name="adj1" fmla="val -38639"/>
                      <a:gd name="adj2" fmla="val 62492"/>
                      <a:gd name="adj3" fmla="val 1666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dirty="0">
                        <a:ln>
                          <a:noFill/>
                        </a:ln>
                        <a:solidFill>
                          <a:srgbClr val="000000"/>
                        </a:solidFill>
                        <a:effectLst/>
                        <a:uLnTx/>
                        <a:uFillTx/>
                        <a:latin typeface="Arial"/>
                        <a:ea typeface="+mn-ea"/>
                        <a:cs typeface="Noto Sans"/>
                      </a:rPr>
                      <a:t>46% of pulmonologists were willing to prescribe benzodiazepines for hospitalised patients</a:t>
                    </a:r>
                    <a:r>
                      <a:rPr kumimoji="0" lang="en-GB" sz="1400" b="1" i="0" u="none" strike="noStrike" kern="1200" cap="none" spc="0" normalizeH="0" baseline="30000" noProof="0" dirty="0">
                        <a:ln>
                          <a:noFill/>
                        </a:ln>
                        <a:solidFill>
                          <a:srgbClr val="000000"/>
                        </a:solidFill>
                        <a:effectLst/>
                        <a:uLnTx/>
                        <a:uFillTx/>
                        <a:latin typeface="Arial"/>
                        <a:ea typeface="+mn-ea"/>
                        <a:cs typeface="Noto Sans"/>
                      </a:rPr>
                      <a:t>7</a:t>
                    </a:r>
                  </a:p>
                </p:txBody>
              </p:sp>
            </p:grpSp>
          </p:grpSp>
        </p:grpSp>
      </p:grpSp>
      <p:sp>
        <p:nvSpPr>
          <p:cNvPr id="19" name="Rectangle 18">
            <a:extLst>
              <a:ext uri="{FF2B5EF4-FFF2-40B4-BE49-F238E27FC236}">
                <a16:creationId xmlns:a16="http://schemas.microsoft.com/office/drawing/2014/main" id="{F09D6A56-436B-9401-7309-4F9456263031}"/>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 name="Date Placeholder 4">
            <a:extLst>
              <a:ext uri="{FF2B5EF4-FFF2-40B4-BE49-F238E27FC236}">
                <a16:creationId xmlns:a16="http://schemas.microsoft.com/office/drawing/2014/main" id="{7E0CF792-28AF-77CB-4CC9-603981703634}"/>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3389942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Text Placeholder 27">
            <a:extLst>
              <a:ext uri="{FF2B5EF4-FFF2-40B4-BE49-F238E27FC236}">
                <a16:creationId xmlns:a16="http://schemas.microsoft.com/office/drawing/2014/main" id="{3EE6A6FA-EE5C-54FF-F1B8-4731E4B532EC}"/>
              </a:ext>
            </a:extLst>
          </p:cNvPr>
          <p:cNvSpPr>
            <a:spLocks noGrp="1"/>
          </p:cNvSpPr>
          <p:nvPr>
            <p:ph type="body" sz="quarter" idx="13"/>
          </p:nvPr>
        </p:nvSpPr>
        <p:spPr>
          <a:xfrm>
            <a:off x="365125" y="5863838"/>
            <a:ext cx="11460164" cy="298800"/>
          </a:xfrm>
        </p:spPr>
        <p:txBody>
          <a:bodyPr/>
          <a:lstStyle/>
          <a:p>
            <a:r>
              <a:rPr lang="nb-NO" sz="800" dirty="0">
                <a:cs typeface="Arial"/>
              </a:rPr>
              <a:t>GSK created figure from Kessler R, et al</a:t>
            </a:r>
            <a:r>
              <a:rPr lang="nb-NO" sz="800" i="1" dirty="0">
                <a:cs typeface="Arial"/>
              </a:rPr>
              <a:t>. </a:t>
            </a:r>
            <a:r>
              <a:rPr lang="nb-NO" sz="800" dirty="0">
                <a:cs typeface="Arial"/>
              </a:rPr>
              <a:t>2011; GSK created figure from Reardon JZ, et al</a:t>
            </a:r>
            <a:r>
              <a:rPr lang="nb-NO" sz="800" i="1" dirty="0">
                <a:cs typeface="Arial"/>
              </a:rPr>
              <a:t>.</a:t>
            </a:r>
            <a:r>
              <a:rPr lang="nb-NO" sz="800" dirty="0">
                <a:cs typeface="Arial"/>
              </a:rPr>
              <a:t> 2006.</a:t>
            </a:r>
          </a:p>
          <a:p>
            <a:r>
              <a:rPr lang="en-US" sz="800" dirty="0">
                <a:cs typeface="Arial"/>
              </a:rPr>
              <a:t>1. </a:t>
            </a:r>
            <a:r>
              <a:rPr lang="en-US" sz="800" dirty="0"/>
              <a:t>Reardon JZ, et al. </a:t>
            </a:r>
            <a:r>
              <a:rPr lang="en-US" sz="800" i="1" dirty="0"/>
              <a:t>Am J Med</a:t>
            </a:r>
            <a:r>
              <a:rPr lang="en-US" sz="800" dirty="0"/>
              <a:t>. 2006;119(10 suppl 1):32-37</a:t>
            </a:r>
            <a:r>
              <a:rPr lang="en-US" sz="800" dirty="0">
                <a:cs typeface="Arial"/>
              </a:rPr>
              <a:t>; 2. </a:t>
            </a:r>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r>
              <a:rPr lang="en-US" sz="800" dirty="0">
                <a:cs typeface="Arial"/>
              </a:rPr>
              <a:t> 3. </a:t>
            </a:r>
            <a:r>
              <a:rPr lang="en-US" sz="800" dirty="0"/>
              <a:t>Kessler R, et al. </a:t>
            </a:r>
            <a:r>
              <a:rPr lang="en-US" sz="800" i="1" dirty="0"/>
              <a:t>Eur Respir J</a:t>
            </a:r>
            <a:r>
              <a:rPr lang="en-US" sz="800" dirty="0"/>
              <a:t>. 2011;37(2):264-272.</a:t>
            </a:r>
            <a:endParaRPr lang="en-US" sz="800" dirty="0">
              <a:cs typeface="Arial"/>
            </a:endParaRP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GB" dirty="0"/>
              <a:t>Dyspnoea leads to declining functional status</a:t>
            </a:r>
            <a:r>
              <a:rPr lang="en-GB" baseline="30000" dirty="0"/>
              <a:t>1,2</a:t>
            </a:r>
          </a:p>
        </p:txBody>
      </p:sp>
      <p:grpSp>
        <p:nvGrpSpPr>
          <p:cNvPr id="128" name="Group 127">
            <a:extLst>
              <a:ext uri="{FF2B5EF4-FFF2-40B4-BE49-F238E27FC236}">
                <a16:creationId xmlns:a16="http://schemas.microsoft.com/office/drawing/2014/main" id="{838151EB-146F-8A61-1CCB-CEC29C9B33C9}"/>
              </a:ext>
            </a:extLst>
          </p:cNvPr>
          <p:cNvGrpSpPr/>
          <p:nvPr/>
        </p:nvGrpSpPr>
        <p:grpSpPr>
          <a:xfrm>
            <a:off x="361953" y="892678"/>
            <a:ext cx="11463333" cy="4261100"/>
            <a:chOff x="361953" y="1159378"/>
            <a:chExt cx="11463333" cy="4261100"/>
          </a:xfrm>
        </p:grpSpPr>
        <p:sp>
          <p:nvSpPr>
            <p:cNvPr id="117" name="Rectangle: Rounded Corners 116">
              <a:extLst>
                <a:ext uri="{FF2B5EF4-FFF2-40B4-BE49-F238E27FC236}">
                  <a16:creationId xmlns:a16="http://schemas.microsoft.com/office/drawing/2014/main" id="{64E131FD-4D2D-12BA-C388-791AE66C541F}"/>
                </a:ext>
              </a:extLst>
            </p:cNvPr>
            <p:cNvSpPr/>
            <p:nvPr/>
          </p:nvSpPr>
          <p:spPr>
            <a:xfrm>
              <a:off x="361953" y="1159378"/>
              <a:ext cx="5896108" cy="4261100"/>
            </a:xfrm>
            <a:prstGeom prst="roundRect">
              <a:avLst>
                <a:gd name="adj" fmla="val 58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nvGrpSpPr>
            <p:cNvPr id="116" name="Group 115">
              <a:extLst>
                <a:ext uri="{FF2B5EF4-FFF2-40B4-BE49-F238E27FC236}">
                  <a16:creationId xmlns:a16="http://schemas.microsoft.com/office/drawing/2014/main" id="{32687EBF-A0E4-4599-7DC0-55BA9E12C4B1}"/>
                </a:ext>
              </a:extLst>
            </p:cNvPr>
            <p:cNvGrpSpPr/>
            <p:nvPr/>
          </p:nvGrpSpPr>
          <p:grpSpPr>
            <a:xfrm>
              <a:off x="491976" y="1217120"/>
              <a:ext cx="5636062" cy="4142710"/>
              <a:chOff x="561538" y="1556572"/>
              <a:chExt cx="5636062" cy="4226187"/>
            </a:xfrm>
          </p:grpSpPr>
          <p:sp>
            <p:nvSpPr>
              <p:cNvPr id="20" name="object 5"/>
              <p:cNvSpPr txBox="1"/>
              <p:nvPr/>
            </p:nvSpPr>
            <p:spPr>
              <a:xfrm>
                <a:off x="1486312" y="1556572"/>
                <a:ext cx="4367767" cy="263611"/>
              </a:xfrm>
              <a:prstGeom prst="rect">
                <a:avLst/>
              </a:prstGeom>
            </p:spPr>
            <p:txBody>
              <a:bodyPr vert="horz" wrap="square" lIns="0" tIns="12065" rIns="0" bIns="0" rtlCol="0">
                <a:spAutoFit/>
              </a:bodyPr>
              <a:lstStyle/>
              <a:p>
                <a:pPr marL="38100" marR="0" lvl="0" indent="0" algn="ctr" defTabSz="914400" rtl="0" eaLnBrk="1" fontAlgn="auto" latinLnBrk="0" hangingPunct="1">
                  <a:lnSpc>
                    <a:spcPct val="100000"/>
                  </a:lnSpc>
                  <a:spcBef>
                    <a:spcPts val="95"/>
                  </a:spcBef>
                  <a:spcAft>
                    <a:spcPts val="0"/>
                  </a:spcAft>
                  <a:buClrTx/>
                  <a:buSzTx/>
                  <a:buFontTx/>
                  <a:buNone/>
                  <a:tabLst/>
                  <a:defRPr/>
                </a:pPr>
                <a:r>
                  <a:rPr kumimoji="0" lang="en-GB" sz="1600" b="1" i="0" u="none" strike="noStrike" kern="1200" cap="none" spc="0" normalizeH="0" baseline="0" noProof="0" dirty="0">
                    <a:ln>
                      <a:noFill/>
                    </a:ln>
                    <a:solidFill>
                      <a:srgbClr val="F36633"/>
                    </a:solidFill>
                    <a:effectLst/>
                    <a:uLnTx/>
                    <a:uFillTx/>
                    <a:latin typeface="Arial"/>
                    <a:ea typeface="+mn-ea"/>
                    <a:cs typeface="Arial"/>
                  </a:rPr>
                  <a:t>Dyspn</a:t>
                </a:r>
                <a:r>
                  <a:rPr kumimoji="0" lang="en-IN" sz="1600" b="1" i="0" u="none" strike="noStrike" kern="1200" cap="none" spc="0" normalizeH="0" baseline="0" noProof="0" dirty="0">
                    <a:ln>
                      <a:noFill/>
                    </a:ln>
                    <a:solidFill>
                      <a:srgbClr val="F36633"/>
                    </a:solidFill>
                    <a:effectLst/>
                    <a:uLnTx/>
                    <a:uFillTx/>
                    <a:latin typeface="Arial"/>
                    <a:ea typeface="+mn-ea"/>
                    <a:cs typeface="Arial"/>
                  </a:rPr>
                  <a:t>o</a:t>
                </a:r>
                <a:r>
                  <a:rPr kumimoji="0" sz="1600" b="1" i="0" u="none" strike="noStrike" kern="1200" cap="none" spc="0" normalizeH="0" baseline="0" noProof="0" dirty="0" err="1">
                    <a:ln>
                      <a:noFill/>
                    </a:ln>
                    <a:solidFill>
                      <a:srgbClr val="F36633"/>
                    </a:solidFill>
                    <a:effectLst/>
                    <a:uLnTx/>
                    <a:uFillTx/>
                    <a:latin typeface="Arial"/>
                    <a:ea typeface="+mn-ea"/>
                    <a:cs typeface="Arial"/>
                  </a:rPr>
                  <a:t>ea</a:t>
                </a:r>
                <a:r>
                  <a:rPr kumimoji="0" sz="1600" b="1" i="0" u="none" strike="noStrike" kern="1200" cap="none" spc="0" normalizeH="0" baseline="0" noProof="0" dirty="0">
                    <a:ln>
                      <a:noFill/>
                    </a:ln>
                    <a:solidFill>
                      <a:srgbClr val="F36633"/>
                    </a:solidFill>
                    <a:effectLst/>
                    <a:uLnTx/>
                    <a:uFillTx/>
                    <a:latin typeface="Arial"/>
                    <a:ea typeface="+mn-ea"/>
                    <a:cs typeface="Arial"/>
                  </a:rPr>
                  <a:t> interferes with daily activities</a:t>
                </a:r>
                <a:r>
                  <a:rPr kumimoji="0" sz="1600" b="1" i="0" u="none" strike="noStrike" kern="1200" cap="none" spc="0" normalizeH="0" baseline="24691" noProof="0" dirty="0">
                    <a:ln>
                      <a:noFill/>
                    </a:ln>
                    <a:solidFill>
                      <a:srgbClr val="F36633"/>
                    </a:solidFill>
                    <a:effectLst/>
                    <a:uLnTx/>
                    <a:uFillTx/>
                    <a:latin typeface="Arial"/>
                    <a:ea typeface="+mn-ea"/>
                    <a:cs typeface="Arial"/>
                  </a:rPr>
                  <a:t>3</a:t>
                </a:r>
                <a:endParaRPr kumimoji="0" sz="1600" b="0" i="0" u="none" strike="noStrike" kern="1200" cap="none" spc="0" normalizeH="0" baseline="24691" noProof="0" dirty="0">
                  <a:ln>
                    <a:noFill/>
                  </a:ln>
                  <a:solidFill>
                    <a:srgbClr val="F36633"/>
                  </a:solidFill>
                  <a:effectLst/>
                  <a:uLnTx/>
                  <a:uFillTx/>
                  <a:latin typeface="Arial"/>
                  <a:ea typeface="+mn-ea"/>
                  <a:cs typeface="Arial"/>
                </a:endParaRPr>
              </a:p>
            </p:txBody>
          </p:sp>
          <p:sp>
            <p:nvSpPr>
              <p:cNvPr id="25" name="object 6"/>
              <p:cNvSpPr txBox="1"/>
              <p:nvPr/>
            </p:nvSpPr>
            <p:spPr>
              <a:xfrm>
                <a:off x="571480" y="1677969"/>
                <a:ext cx="179536" cy="3419495"/>
              </a:xfrm>
              <a:prstGeom prst="rect">
                <a:avLst/>
              </a:prstGeom>
            </p:spPr>
            <p:txBody>
              <a:bodyPr vert="vert270" wrap="square" lIns="0" tIns="0" rIns="0" bIns="0" rtlCol="0">
                <a:spAutoFit/>
              </a:bodyPr>
              <a:lstStyle/>
              <a:p>
                <a:pPr marL="12700" marR="0" lvl="0" indent="0" algn="ctr" defTabSz="914400" rtl="0" eaLnBrk="1" fontAlgn="auto" latinLnBrk="0" hangingPunct="1">
                  <a:lnSpc>
                    <a:spcPts val="1425"/>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Proportion of patients affected (%)</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6" name="object 7"/>
              <p:cNvSpPr txBox="1"/>
              <p:nvPr/>
            </p:nvSpPr>
            <p:spPr>
              <a:xfrm>
                <a:off x="1195644" y="5581290"/>
                <a:ext cx="4658432" cy="201469"/>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Daily activities affected by COPD symptoms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46" name="Group 45">
                <a:extLst>
                  <a:ext uri="{FF2B5EF4-FFF2-40B4-BE49-F238E27FC236}">
                    <a16:creationId xmlns:a16="http://schemas.microsoft.com/office/drawing/2014/main" id="{EF5BF12B-5741-C926-9CDB-8F312DBC2F89}"/>
                  </a:ext>
                </a:extLst>
              </p:cNvPr>
              <p:cNvGrpSpPr/>
              <p:nvPr/>
            </p:nvGrpSpPr>
            <p:grpSpPr>
              <a:xfrm>
                <a:off x="1486313" y="3890963"/>
                <a:ext cx="749247" cy="1643568"/>
                <a:chOff x="1424154" y="3890963"/>
                <a:chExt cx="749247" cy="1643568"/>
              </a:xfrm>
            </p:grpSpPr>
            <p:sp>
              <p:nvSpPr>
                <p:cNvPr id="36" name="object 17"/>
                <p:cNvSpPr txBox="1"/>
                <p:nvPr/>
              </p:nvSpPr>
              <p:spPr>
                <a:xfrm>
                  <a:off x="1424154" y="5145328"/>
                  <a:ext cx="749247" cy="389203"/>
                </a:xfrm>
                <a:prstGeom prst="rect">
                  <a:avLst/>
                </a:prstGeom>
              </p:spPr>
              <p:txBody>
                <a:bodyPr vert="horz" wrap="square" lIns="0" tIns="12065" rIns="0" bIns="0" rtlCol="0">
                  <a:spAutoFit/>
                </a:bodyPr>
                <a:lstStyle/>
                <a:p>
                  <a:pPr marL="12700" marR="5080" lvl="0" indent="23495" algn="ctr" defTabSz="914400" rtl="0" eaLnBrk="1" fontAlgn="auto" latinLnBrk="0" hangingPunct="1">
                    <a:lnSpc>
                      <a:spcPct val="100000"/>
                    </a:lnSpc>
                    <a:spcBef>
                      <a:spcPts val="95"/>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Sports/</a:t>
                  </a:r>
                  <a:r>
                    <a:rPr kumimoji="0" lang="en-US" sz="1200" b="0" i="0" u="none" strike="noStrike" kern="1200" cap="none" spc="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hobbies</a:t>
                  </a:r>
                </a:p>
              </p:txBody>
            </p:sp>
            <p:sp>
              <p:nvSpPr>
                <p:cNvPr id="45" name="Rectangle 44">
                  <a:extLst>
                    <a:ext uri="{FF2B5EF4-FFF2-40B4-BE49-F238E27FC236}">
                      <a16:creationId xmlns:a16="http://schemas.microsoft.com/office/drawing/2014/main" id="{73170B5F-743A-2C36-9481-1B68BDB130D4}"/>
                    </a:ext>
                  </a:extLst>
                </p:cNvPr>
                <p:cNvSpPr/>
                <p:nvPr/>
              </p:nvSpPr>
              <p:spPr bwMode="auto">
                <a:xfrm>
                  <a:off x="1424156" y="3890963"/>
                  <a:ext cx="749242" cy="1208444"/>
                </a:xfrm>
                <a:prstGeom prst="rect">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48" name="Group 47">
                <a:extLst>
                  <a:ext uri="{FF2B5EF4-FFF2-40B4-BE49-F238E27FC236}">
                    <a16:creationId xmlns:a16="http://schemas.microsoft.com/office/drawing/2014/main" id="{399484C7-A5DF-139B-51AC-94CE06A6C700}"/>
                  </a:ext>
                </a:extLst>
              </p:cNvPr>
              <p:cNvGrpSpPr/>
              <p:nvPr/>
            </p:nvGrpSpPr>
            <p:grpSpPr>
              <a:xfrm>
                <a:off x="2692488" y="3648075"/>
                <a:ext cx="749247" cy="1886456"/>
                <a:chOff x="1424154" y="3648075"/>
                <a:chExt cx="749247" cy="1886456"/>
              </a:xfrm>
            </p:grpSpPr>
            <p:sp>
              <p:nvSpPr>
                <p:cNvPr id="52" name="object 17">
                  <a:extLst>
                    <a:ext uri="{FF2B5EF4-FFF2-40B4-BE49-F238E27FC236}">
                      <a16:creationId xmlns:a16="http://schemas.microsoft.com/office/drawing/2014/main" id="{09E1039D-096A-33FC-7684-7E7499596824}"/>
                    </a:ext>
                  </a:extLst>
                </p:cNvPr>
                <p:cNvSpPr txBox="1"/>
                <p:nvPr/>
              </p:nvSpPr>
              <p:spPr>
                <a:xfrm>
                  <a:off x="1424154" y="5145328"/>
                  <a:ext cx="749247" cy="389203"/>
                </a:xfrm>
                <a:prstGeom prst="rect">
                  <a:avLst/>
                </a:prstGeom>
              </p:spPr>
              <p:txBody>
                <a:bodyPr vert="horz" wrap="square" lIns="0" tIns="12065" rIns="0" bIns="0" rtlCol="0">
                  <a:spAutoFit/>
                </a:bodyPr>
                <a:lstStyle/>
                <a:p>
                  <a:pPr marL="12700" marR="5080" lvl="0" indent="-12700" algn="ctr" defTabSz="914400" rtl="0" eaLnBrk="1" fontAlgn="auto" latinLnBrk="0" hangingPunct="1">
                    <a:lnSpc>
                      <a:spcPct val="100000"/>
                    </a:lnSpc>
                    <a:spcBef>
                      <a:spcPts val="95"/>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Going shopping</a:t>
                  </a:r>
                </a:p>
              </p:txBody>
            </p:sp>
            <p:sp>
              <p:nvSpPr>
                <p:cNvPr id="53" name="Rectangle 52">
                  <a:extLst>
                    <a:ext uri="{FF2B5EF4-FFF2-40B4-BE49-F238E27FC236}">
                      <a16:creationId xmlns:a16="http://schemas.microsoft.com/office/drawing/2014/main" id="{061D56AD-2AEC-03C9-87A1-716857FE7341}"/>
                    </a:ext>
                  </a:extLst>
                </p:cNvPr>
                <p:cNvSpPr/>
                <p:nvPr/>
              </p:nvSpPr>
              <p:spPr bwMode="auto">
                <a:xfrm>
                  <a:off x="1424156" y="3648075"/>
                  <a:ext cx="749242" cy="1451332"/>
                </a:xfrm>
                <a:prstGeom prst="rect">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54" name="Group 53">
                <a:extLst>
                  <a:ext uri="{FF2B5EF4-FFF2-40B4-BE49-F238E27FC236}">
                    <a16:creationId xmlns:a16="http://schemas.microsoft.com/office/drawing/2014/main" id="{EAB6AD37-F57E-A39D-4BAB-4DC6BE087DEC}"/>
                  </a:ext>
                </a:extLst>
              </p:cNvPr>
              <p:cNvGrpSpPr/>
              <p:nvPr/>
            </p:nvGrpSpPr>
            <p:grpSpPr>
              <a:xfrm>
                <a:off x="3651011" y="3165475"/>
                <a:ext cx="1244552" cy="2369056"/>
                <a:chOff x="1176502" y="3165475"/>
                <a:chExt cx="1244552" cy="2369056"/>
              </a:xfrm>
            </p:grpSpPr>
            <p:sp>
              <p:nvSpPr>
                <p:cNvPr id="55" name="object 17">
                  <a:extLst>
                    <a:ext uri="{FF2B5EF4-FFF2-40B4-BE49-F238E27FC236}">
                      <a16:creationId xmlns:a16="http://schemas.microsoft.com/office/drawing/2014/main" id="{32C38B03-495E-F966-A5E3-9A152275C5FE}"/>
                    </a:ext>
                  </a:extLst>
                </p:cNvPr>
                <p:cNvSpPr txBox="1"/>
                <p:nvPr/>
              </p:nvSpPr>
              <p:spPr>
                <a:xfrm>
                  <a:off x="1176502" y="5145328"/>
                  <a:ext cx="1244552" cy="389203"/>
                </a:xfrm>
                <a:prstGeom prst="rect">
                  <a:avLst/>
                </a:prstGeom>
              </p:spPr>
              <p:txBody>
                <a:bodyPr vert="horz" wrap="square" lIns="0" tIns="12065" rIns="0" bIns="0" rtlCol="0">
                  <a:spAutoFit/>
                </a:bodyPr>
                <a:lstStyle/>
                <a:p>
                  <a:pPr marL="12700" marR="5080" lvl="0" indent="635" algn="ctr" defTabSz="914400" rtl="0" eaLnBrk="1" fontAlgn="auto" latinLnBrk="0" hangingPunct="1">
                    <a:lnSpc>
                      <a:spcPct val="100000"/>
                    </a:lnSpc>
                    <a:spcBef>
                      <a:spcPts val="95"/>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Heavy household chores</a:t>
                  </a:r>
                </a:p>
              </p:txBody>
            </p:sp>
            <p:sp>
              <p:nvSpPr>
                <p:cNvPr id="56" name="Rectangle 55">
                  <a:extLst>
                    <a:ext uri="{FF2B5EF4-FFF2-40B4-BE49-F238E27FC236}">
                      <a16:creationId xmlns:a16="http://schemas.microsoft.com/office/drawing/2014/main" id="{0D5B5A8E-27D0-3CC1-785A-751A2C591503}"/>
                    </a:ext>
                  </a:extLst>
                </p:cNvPr>
                <p:cNvSpPr/>
                <p:nvPr/>
              </p:nvSpPr>
              <p:spPr bwMode="auto">
                <a:xfrm>
                  <a:off x="1424156" y="3165475"/>
                  <a:ext cx="749242" cy="1933932"/>
                </a:xfrm>
                <a:prstGeom prst="rect">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57" name="Group 56">
                <a:extLst>
                  <a:ext uri="{FF2B5EF4-FFF2-40B4-BE49-F238E27FC236}">
                    <a16:creationId xmlns:a16="http://schemas.microsoft.com/office/drawing/2014/main" id="{57F3145C-6850-EFB0-DA5F-010327B9CB6D}"/>
                  </a:ext>
                </a:extLst>
              </p:cNvPr>
              <p:cNvGrpSpPr/>
              <p:nvPr/>
            </p:nvGrpSpPr>
            <p:grpSpPr>
              <a:xfrm>
                <a:off x="5032419" y="2310365"/>
                <a:ext cx="894086" cy="3224166"/>
                <a:chOff x="1351735" y="2310365"/>
                <a:chExt cx="894086" cy="3224166"/>
              </a:xfrm>
            </p:grpSpPr>
            <p:sp>
              <p:nvSpPr>
                <p:cNvPr id="58" name="object 17">
                  <a:extLst>
                    <a:ext uri="{FF2B5EF4-FFF2-40B4-BE49-F238E27FC236}">
                      <a16:creationId xmlns:a16="http://schemas.microsoft.com/office/drawing/2014/main" id="{3467149A-58F5-2651-8F69-29002696CA28}"/>
                    </a:ext>
                  </a:extLst>
                </p:cNvPr>
                <p:cNvSpPr txBox="1"/>
                <p:nvPr/>
              </p:nvSpPr>
              <p:spPr>
                <a:xfrm>
                  <a:off x="1351735" y="5145328"/>
                  <a:ext cx="894086" cy="389203"/>
                </a:xfrm>
                <a:prstGeom prst="rect">
                  <a:avLst/>
                </a:prstGeom>
              </p:spPr>
              <p:txBody>
                <a:bodyPr vert="horz" wrap="square" lIns="0" tIns="12065" rIns="0" bIns="0" rtlCol="0">
                  <a:spAutoFit/>
                </a:bodyPr>
                <a:lstStyle/>
                <a:p>
                  <a:pPr marL="12700" marR="5080" lvl="0" indent="0" algn="ctr" defTabSz="914400" rtl="0" eaLnBrk="1" fontAlgn="auto" latinLnBrk="0" hangingPunct="1">
                    <a:lnSpc>
                      <a:spcPct val="100000"/>
                    </a:lnSpc>
                    <a:spcBef>
                      <a:spcPts val="95"/>
                    </a:spcBef>
                    <a:spcAft>
                      <a:spcPts val="0"/>
                    </a:spcAft>
                    <a:buClrTx/>
                    <a:buSzTx/>
                    <a:buFontTx/>
                    <a:buNone/>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Going up/ down stairs</a:t>
                  </a:r>
                </a:p>
              </p:txBody>
            </p:sp>
            <p:sp>
              <p:nvSpPr>
                <p:cNvPr id="59" name="Rectangle 58">
                  <a:extLst>
                    <a:ext uri="{FF2B5EF4-FFF2-40B4-BE49-F238E27FC236}">
                      <a16:creationId xmlns:a16="http://schemas.microsoft.com/office/drawing/2014/main" id="{839C6816-4273-F4C3-2350-B9DCC77DE108}"/>
                    </a:ext>
                  </a:extLst>
                </p:cNvPr>
                <p:cNvSpPr/>
                <p:nvPr/>
              </p:nvSpPr>
              <p:spPr bwMode="auto">
                <a:xfrm>
                  <a:off x="1424156" y="2310365"/>
                  <a:ext cx="749242" cy="2789042"/>
                </a:xfrm>
                <a:prstGeom prst="rect">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15" name="Group 114">
                <a:extLst>
                  <a:ext uri="{FF2B5EF4-FFF2-40B4-BE49-F238E27FC236}">
                    <a16:creationId xmlns:a16="http://schemas.microsoft.com/office/drawing/2014/main" id="{C271373E-6BC7-3987-B75A-133FDAFC697B}"/>
                  </a:ext>
                </a:extLst>
              </p:cNvPr>
              <p:cNvGrpSpPr/>
              <p:nvPr/>
            </p:nvGrpSpPr>
            <p:grpSpPr>
              <a:xfrm>
                <a:off x="1127330" y="1677969"/>
                <a:ext cx="5070270" cy="3421438"/>
                <a:chOff x="1127330" y="1677969"/>
                <a:chExt cx="5070270" cy="3421438"/>
              </a:xfrm>
            </p:grpSpPr>
            <p:grpSp>
              <p:nvGrpSpPr>
                <p:cNvPr id="65" name="Group 64">
                  <a:extLst>
                    <a:ext uri="{FF2B5EF4-FFF2-40B4-BE49-F238E27FC236}">
                      <a16:creationId xmlns:a16="http://schemas.microsoft.com/office/drawing/2014/main" id="{2F4D858D-A727-610C-1A2C-ECCE3EC04EAF}"/>
                    </a:ext>
                  </a:extLst>
                </p:cNvPr>
                <p:cNvGrpSpPr/>
                <p:nvPr/>
              </p:nvGrpSpPr>
              <p:grpSpPr>
                <a:xfrm>
                  <a:off x="1195644" y="1678762"/>
                  <a:ext cx="5001956" cy="3420645"/>
                  <a:chOff x="1195644" y="1678762"/>
                  <a:chExt cx="5001956" cy="3420645"/>
                </a:xfrm>
              </p:grpSpPr>
              <p:cxnSp>
                <p:nvCxnSpPr>
                  <p:cNvPr id="61" name="Straight Connector 60">
                    <a:extLst>
                      <a:ext uri="{FF2B5EF4-FFF2-40B4-BE49-F238E27FC236}">
                        <a16:creationId xmlns:a16="http://schemas.microsoft.com/office/drawing/2014/main" id="{681E75A2-EC0D-DD20-98EC-985F9C77E4B1}"/>
                      </a:ext>
                    </a:extLst>
                  </p:cNvPr>
                  <p:cNvCxnSpPr>
                    <a:cxnSpLocks/>
                  </p:cNvCxnSpPr>
                  <p:nvPr/>
                </p:nvCxnSpPr>
                <p:spPr>
                  <a:xfrm>
                    <a:off x="1195644" y="1678762"/>
                    <a:ext cx="0" cy="3420645"/>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E521B44-4912-91F7-A52C-5FF52F237746}"/>
                      </a:ext>
                    </a:extLst>
                  </p:cNvPr>
                  <p:cNvCxnSpPr>
                    <a:cxnSpLocks/>
                  </p:cNvCxnSpPr>
                  <p:nvPr/>
                </p:nvCxnSpPr>
                <p:spPr>
                  <a:xfrm>
                    <a:off x="1195644" y="5099407"/>
                    <a:ext cx="5001956"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102" name="Group 101">
                  <a:extLst>
                    <a:ext uri="{FF2B5EF4-FFF2-40B4-BE49-F238E27FC236}">
                      <a16:creationId xmlns:a16="http://schemas.microsoft.com/office/drawing/2014/main" id="{46BCD3B1-0F45-2E6A-6A4C-692C2560F440}"/>
                    </a:ext>
                  </a:extLst>
                </p:cNvPr>
                <p:cNvGrpSpPr/>
                <p:nvPr/>
              </p:nvGrpSpPr>
              <p:grpSpPr>
                <a:xfrm>
                  <a:off x="1127330" y="1677969"/>
                  <a:ext cx="68623" cy="3419504"/>
                  <a:chOff x="1127330" y="1677969"/>
                  <a:chExt cx="68623" cy="3419504"/>
                </a:xfrm>
              </p:grpSpPr>
              <p:cxnSp>
                <p:nvCxnSpPr>
                  <p:cNvPr id="68" name="Straight Connector 67">
                    <a:extLst>
                      <a:ext uri="{FF2B5EF4-FFF2-40B4-BE49-F238E27FC236}">
                        <a16:creationId xmlns:a16="http://schemas.microsoft.com/office/drawing/2014/main" id="{2B72D34C-974B-0C01-3E3D-2C20F86DE4A8}"/>
                      </a:ext>
                    </a:extLst>
                  </p:cNvPr>
                  <p:cNvCxnSpPr>
                    <a:cxnSpLocks/>
                  </p:cNvCxnSpPr>
                  <p:nvPr/>
                </p:nvCxnSpPr>
                <p:spPr>
                  <a:xfrm>
                    <a:off x="1127330" y="5097473"/>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A2ECBFAC-FD88-8CD4-0FBE-6D9F4F488CF5}"/>
                      </a:ext>
                    </a:extLst>
                  </p:cNvPr>
                  <p:cNvCxnSpPr>
                    <a:cxnSpLocks/>
                  </p:cNvCxnSpPr>
                  <p:nvPr/>
                </p:nvCxnSpPr>
                <p:spPr>
                  <a:xfrm>
                    <a:off x="1127330" y="475551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A98780C0-9417-CA4B-463D-32BC97B15D73}"/>
                      </a:ext>
                    </a:extLst>
                  </p:cNvPr>
                  <p:cNvCxnSpPr>
                    <a:cxnSpLocks/>
                  </p:cNvCxnSpPr>
                  <p:nvPr/>
                </p:nvCxnSpPr>
                <p:spPr>
                  <a:xfrm>
                    <a:off x="1127330" y="441356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62778D20-95D9-4F3B-4141-DBF81A6FA4F8}"/>
                      </a:ext>
                    </a:extLst>
                  </p:cNvPr>
                  <p:cNvCxnSpPr>
                    <a:cxnSpLocks/>
                  </p:cNvCxnSpPr>
                  <p:nvPr/>
                </p:nvCxnSpPr>
                <p:spPr>
                  <a:xfrm>
                    <a:off x="1127330" y="407161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15846573-32E7-F83E-4208-2C4BEA06A547}"/>
                      </a:ext>
                    </a:extLst>
                  </p:cNvPr>
                  <p:cNvCxnSpPr>
                    <a:cxnSpLocks/>
                  </p:cNvCxnSpPr>
                  <p:nvPr/>
                </p:nvCxnSpPr>
                <p:spPr>
                  <a:xfrm>
                    <a:off x="1127330" y="372966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BDDC2951-34EB-3EF7-6231-E95D6783A05B}"/>
                      </a:ext>
                    </a:extLst>
                  </p:cNvPr>
                  <p:cNvCxnSpPr>
                    <a:cxnSpLocks/>
                  </p:cNvCxnSpPr>
                  <p:nvPr/>
                </p:nvCxnSpPr>
                <p:spPr>
                  <a:xfrm>
                    <a:off x="1127330" y="338771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C7979259-ED17-9CE0-4418-C3053C2198CF}"/>
                      </a:ext>
                    </a:extLst>
                  </p:cNvPr>
                  <p:cNvCxnSpPr>
                    <a:cxnSpLocks/>
                  </p:cNvCxnSpPr>
                  <p:nvPr/>
                </p:nvCxnSpPr>
                <p:spPr>
                  <a:xfrm>
                    <a:off x="1127330" y="304576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1D3AFE63-DE0E-07C9-9521-2340823751C4}"/>
                      </a:ext>
                    </a:extLst>
                  </p:cNvPr>
                  <p:cNvCxnSpPr>
                    <a:cxnSpLocks/>
                  </p:cNvCxnSpPr>
                  <p:nvPr/>
                </p:nvCxnSpPr>
                <p:spPr>
                  <a:xfrm>
                    <a:off x="1127330" y="270381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B9508DA-DEF1-2429-427A-05BEB6D8D4BE}"/>
                      </a:ext>
                    </a:extLst>
                  </p:cNvPr>
                  <p:cNvCxnSpPr>
                    <a:cxnSpLocks/>
                  </p:cNvCxnSpPr>
                  <p:nvPr/>
                </p:nvCxnSpPr>
                <p:spPr>
                  <a:xfrm>
                    <a:off x="1127330" y="236186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8E3772E4-1E24-8188-EEF0-65448C386ABF}"/>
                      </a:ext>
                    </a:extLst>
                  </p:cNvPr>
                  <p:cNvCxnSpPr>
                    <a:cxnSpLocks/>
                  </p:cNvCxnSpPr>
                  <p:nvPr/>
                </p:nvCxnSpPr>
                <p:spPr>
                  <a:xfrm>
                    <a:off x="1127330" y="201991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99" name="Straight Connector 98">
                    <a:extLst>
                      <a:ext uri="{FF2B5EF4-FFF2-40B4-BE49-F238E27FC236}">
                        <a16:creationId xmlns:a16="http://schemas.microsoft.com/office/drawing/2014/main" id="{453D32D4-9405-6BD1-14C1-09355E189A5C}"/>
                      </a:ext>
                    </a:extLst>
                  </p:cNvPr>
                  <p:cNvCxnSpPr>
                    <a:cxnSpLocks/>
                  </p:cNvCxnSpPr>
                  <p:nvPr/>
                </p:nvCxnSpPr>
                <p:spPr>
                  <a:xfrm>
                    <a:off x="1127330" y="1677969"/>
                    <a:ext cx="68623" cy="0"/>
                  </a:xfrm>
                  <a:prstGeom prst="line">
                    <a:avLst/>
                  </a:prstGeom>
                  <a:ln w="6350" cap="rnd">
                    <a:solidFill>
                      <a:schemeClr val="bg2"/>
                    </a:solidFill>
                  </a:ln>
                </p:spPr>
                <p:style>
                  <a:lnRef idx="1">
                    <a:schemeClr val="accent1"/>
                  </a:lnRef>
                  <a:fillRef idx="0">
                    <a:schemeClr val="accent1"/>
                  </a:fillRef>
                  <a:effectRef idx="0">
                    <a:schemeClr val="accent1"/>
                  </a:effectRef>
                  <a:fontRef idx="minor">
                    <a:schemeClr val="tx1"/>
                  </a:fontRef>
                </p:style>
              </p:cxnSp>
            </p:grpSp>
          </p:grpSp>
          <p:grpSp>
            <p:nvGrpSpPr>
              <p:cNvPr id="114" name="Group 113">
                <a:extLst>
                  <a:ext uri="{FF2B5EF4-FFF2-40B4-BE49-F238E27FC236}">
                    <a16:creationId xmlns:a16="http://schemas.microsoft.com/office/drawing/2014/main" id="{8EEFF34C-77E7-3762-2156-338980B5E70E}"/>
                  </a:ext>
                </a:extLst>
              </p:cNvPr>
              <p:cNvGrpSpPr/>
              <p:nvPr/>
            </p:nvGrpSpPr>
            <p:grpSpPr>
              <a:xfrm>
                <a:off x="561538" y="1579224"/>
                <a:ext cx="443582" cy="3620973"/>
                <a:chOff x="855182" y="1579224"/>
                <a:chExt cx="149937" cy="3620973"/>
              </a:xfrm>
            </p:grpSpPr>
            <p:sp>
              <p:nvSpPr>
                <p:cNvPr id="103" name="object 19">
                  <a:extLst>
                    <a:ext uri="{FF2B5EF4-FFF2-40B4-BE49-F238E27FC236}">
                      <a16:creationId xmlns:a16="http://schemas.microsoft.com/office/drawing/2014/main" id="{E7F5E84F-B1DF-D408-0099-65A6EB7EFA1C}"/>
                    </a:ext>
                  </a:extLst>
                </p:cNvPr>
                <p:cNvSpPr txBox="1"/>
                <p:nvPr/>
              </p:nvSpPr>
              <p:spPr>
                <a:xfrm>
                  <a:off x="855182" y="4998728"/>
                  <a:ext cx="149937" cy="201469"/>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4" name="object 19">
                  <a:extLst>
                    <a:ext uri="{FF2B5EF4-FFF2-40B4-BE49-F238E27FC236}">
                      <a16:creationId xmlns:a16="http://schemas.microsoft.com/office/drawing/2014/main" id="{99A269B0-9D9E-0C41-1081-338C4C091748}"/>
                    </a:ext>
                  </a:extLst>
                </p:cNvPr>
                <p:cNvSpPr txBox="1"/>
                <p:nvPr/>
              </p:nvSpPr>
              <p:spPr>
                <a:xfrm>
                  <a:off x="855182" y="465677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1</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5" name="object 19">
                  <a:extLst>
                    <a:ext uri="{FF2B5EF4-FFF2-40B4-BE49-F238E27FC236}">
                      <a16:creationId xmlns:a16="http://schemas.microsoft.com/office/drawing/2014/main" id="{942B640B-B487-0C2F-3FFD-854924B8A96F}"/>
                    </a:ext>
                  </a:extLst>
                </p:cNvPr>
                <p:cNvSpPr txBox="1"/>
                <p:nvPr/>
              </p:nvSpPr>
              <p:spPr>
                <a:xfrm>
                  <a:off x="922589" y="4314824"/>
                  <a:ext cx="82530"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2</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6" name="object 19">
                  <a:extLst>
                    <a:ext uri="{FF2B5EF4-FFF2-40B4-BE49-F238E27FC236}">
                      <a16:creationId xmlns:a16="http://schemas.microsoft.com/office/drawing/2014/main" id="{E594E028-A29E-5BA4-6497-8965422B5A0D}"/>
                    </a:ext>
                  </a:extLst>
                </p:cNvPr>
                <p:cNvSpPr txBox="1"/>
                <p:nvPr/>
              </p:nvSpPr>
              <p:spPr>
                <a:xfrm>
                  <a:off x="855182" y="397287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3</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7" name="object 19">
                  <a:extLst>
                    <a:ext uri="{FF2B5EF4-FFF2-40B4-BE49-F238E27FC236}">
                      <a16:creationId xmlns:a16="http://schemas.microsoft.com/office/drawing/2014/main" id="{D14A4D69-A288-5A9F-625D-113E8C727B75}"/>
                    </a:ext>
                  </a:extLst>
                </p:cNvPr>
                <p:cNvSpPr txBox="1"/>
                <p:nvPr/>
              </p:nvSpPr>
              <p:spPr>
                <a:xfrm>
                  <a:off x="855182" y="363092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4</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8" name="object 19">
                  <a:extLst>
                    <a:ext uri="{FF2B5EF4-FFF2-40B4-BE49-F238E27FC236}">
                      <a16:creationId xmlns:a16="http://schemas.microsoft.com/office/drawing/2014/main" id="{D7F88C4D-9AE2-73FC-F6AD-40B3AB348389}"/>
                    </a:ext>
                  </a:extLst>
                </p:cNvPr>
                <p:cNvSpPr txBox="1"/>
                <p:nvPr/>
              </p:nvSpPr>
              <p:spPr>
                <a:xfrm>
                  <a:off x="855182" y="328897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5</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09" name="object 19">
                  <a:extLst>
                    <a:ext uri="{FF2B5EF4-FFF2-40B4-BE49-F238E27FC236}">
                      <a16:creationId xmlns:a16="http://schemas.microsoft.com/office/drawing/2014/main" id="{83448810-1B2B-DA5A-C422-69C6AFB72285}"/>
                    </a:ext>
                  </a:extLst>
                </p:cNvPr>
                <p:cNvSpPr txBox="1"/>
                <p:nvPr/>
              </p:nvSpPr>
              <p:spPr>
                <a:xfrm>
                  <a:off x="855182" y="294702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6</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10" name="object 19">
                  <a:extLst>
                    <a:ext uri="{FF2B5EF4-FFF2-40B4-BE49-F238E27FC236}">
                      <a16:creationId xmlns:a16="http://schemas.microsoft.com/office/drawing/2014/main" id="{EC96DCD8-2DA0-2989-BAA2-CFA8368CDE80}"/>
                    </a:ext>
                  </a:extLst>
                </p:cNvPr>
                <p:cNvSpPr txBox="1"/>
                <p:nvPr/>
              </p:nvSpPr>
              <p:spPr>
                <a:xfrm>
                  <a:off x="855182" y="260507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7</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11" name="object 19">
                  <a:extLst>
                    <a:ext uri="{FF2B5EF4-FFF2-40B4-BE49-F238E27FC236}">
                      <a16:creationId xmlns:a16="http://schemas.microsoft.com/office/drawing/2014/main" id="{092E3728-BDBE-4FFD-0D42-91A4EE24E486}"/>
                    </a:ext>
                  </a:extLst>
                </p:cNvPr>
                <p:cNvSpPr txBox="1"/>
                <p:nvPr/>
              </p:nvSpPr>
              <p:spPr>
                <a:xfrm>
                  <a:off x="855182" y="226312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8</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12" name="object 19">
                  <a:extLst>
                    <a:ext uri="{FF2B5EF4-FFF2-40B4-BE49-F238E27FC236}">
                      <a16:creationId xmlns:a16="http://schemas.microsoft.com/office/drawing/2014/main" id="{06AFD819-4B85-670A-5CCA-B57D5931F41A}"/>
                    </a:ext>
                  </a:extLst>
                </p:cNvPr>
                <p:cNvSpPr txBox="1"/>
                <p:nvPr/>
              </p:nvSpPr>
              <p:spPr>
                <a:xfrm>
                  <a:off x="855182" y="192117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9</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sp>
              <p:nvSpPr>
                <p:cNvPr id="113" name="object 19">
                  <a:extLst>
                    <a:ext uri="{FF2B5EF4-FFF2-40B4-BE49-F238E27FC236}">
                      <a16:creationId xmlns:a16="http://schemas.microsoft.com/office/drawing/2014/main" id="{0C03E29E-2986-A68A-B072-F276C3796E0E}"/>
                    </a:ext>
                  </a:extLst>
                </p:cNvPr>
                <p:cNvSpPr txBox="1"/>
                <p:nvPr/>
              </p:nvSpPr>
              <p:spPr>
                <a:xfrm>
                  <a:off x="855182" y="1579224"/>
                  <a:ext cx="149937" cy="201470"/>
                </a:xfrm>
                <a:prstGeom prst="rect">
                  <a:avLst/>
                </a:prstGeom>
              </p:spPr>
              <p:txBody>
                <a:bodyPr vert="horz" wrap="square" lIns="0" tIns="12700" rIns="0" bIns="0" rtlCol="0">
                  <a:spAutoFit/>
                </a:bodyPr>
                <a:lstStyle/>
                <a:p>
                  <a:pPr marL="12700" marR="0" lvl="0" indent="0" algn="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10</a:t>
                  </a:r>
                  <a:r>
                    <a:rPr kumimoji="0" sz="1200" b="0" i="0" u="none" strike="noStrike" kern="1200" cap="none" spc="0" normalizeH="0" baseline="0" noProof="0" dirty="0">
                      <a:ln>
                        <a:noFill/>
                      </a:ln>
                      <a:solidFill>
                        <a:srgbClr val="000000"/>
                      </a:solidFill>
                      <a:effectLst/>
                      <a:uLnTx/>
                      <a:uFillTx/>
                      <a:latin typeface="Arial"/>
                      <a:ea typeface="+mn-ea"/>
                      <a:cs typeface="Arial"/>
                    </a:rPr>
                    <a:t>0</a:t>
                  </a:r>
                </a:p>
              </p:txBody>
            </p:sp>
          </p:grpSp>
        </p:grpSp>
        <p:grpSp>
          <p:nvGrpSpPr>
            <p:cNvPr id="126" name="Group 125">
              <a:extLst>
                <a:ext uri="{FF2B5EF4-FFF2-40B4-BE49-F238E27FC236}">
                  <a16:creationId xmlns:a16="http://schemas.microsoft.com/office/drawing/2014/main" id="{8F4D60B8-7444-7420-C42A-8E994EF236AB}"/>
                </a:ext>
              </a:extLst>
            </p:cNvPr>
            <p:cNvGrpSpPr/>
            <p:nvPr/>
          </p:nvGrpSpPr>
          <p:grpSpPr>
            <a:xfrm>
              <a:off x="6388176" y="1159378"/>
              <a:ext cx="5437110" cy="4261100"/>
              <a:chOff x="6388176" y="1159378"/>
              <a:chExt cx="5437110" cy="4261100"/>
            </a:xfrm>
          </p:grpSpPr>
          <p:sp>
            <p:nvSpPr>
              <p:cNvPr id="125" name="Rectangle: Rounded Corners 124">
                <a:extLst>
                  <a:ext uri="{FF2B5EF4-FFF2-40B4-BE49-F238E27FC236}">
                    <a16:creationId xmlns:a16="http://schemas.microsoft.com/office/drawing/2014/main" id="{321C1E2B-7C7F-29EC-FEE7-1F88202764E7}"/>
                  </a:ext>
                </a:extLst>
              </p:cNvPr>
              <p:cNvSpPr/>
              <p:nvPr/>
            </p:nvSpPr>
            <p:spPr>
              <a:xfrm>
                <a:off x="6388176" y="1159378"/>
                <a:ext cx="5437110" cy="4261100"/>
              </a:xfrm>
              <a:prstGeom prst="roundRect">
                <a:avLst>
                  <a:gd name="adj" fmla="val 5809"/>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nvGrpSpPr>
              <p:cNvPr id="122" name="Group 121">
                <a:extLst>
                  <a:ext uri="{FF2B5EF4-FFF2-40B4-BE49-F238E27FC236}">
                    <a16:creationId xmlns:a16="http://schemas.microsoft.com/office/drawing/2014/main" id="{696509A4-2D43-B1F5-66AD-2F6082ACFD12}"/>
                  </a:ext>
                </a:extLst>
              </p:cNvPr>
              <p:cNvGrpSpPr/>
              <p:nvPr/>
            </p:nvGrpSpPr>
            <p:grpSpPr>
              <a:xfrm>
                <a:off x="6598586" y="1247021"/>
                <a:ext cx="5016290" cy="4085815"/>
                <a:chOff x="6621596" y="1443768"/>
                <a:chExt cx="5016290" cy="4085815"/>
              </a:xfrm>
            </p:grpSpPr>
            <p:grpSp>
              <p:nvGrpSpPr>
                <p:cNvPr id="19" name="Group 18"/>
                <p:cNvGrpSpPr/>
                <p:nvPr/>
              </p:nvGrpSpPr>
              <p:grpSpPr>
                <a:xfrm>
                  <a:off x="7194474" y="1447706"/>
                  <a:ext cx="4443412" cy="4048358"/>
                  <a:chOff x="11101388" y="1523906"/>
                  <a:chExt cx="4443412" cy="4295563"/>
                </a:xfrm>
              </p:grpSpPr>
              <p:grpSp>
                <p:nvGrpSpPr>
                  <p:cNvPr id="17" name="Group 16"/>
                  <p:cNvGrpSpPr/>
                  <p:nvPr/>
                </p:nvGrpSpPr>
                <p:grpSpPr>
                  <a:xfrm>
                    <a:off x="11101388" y="1523906"/>
                    <a:ext cx="4443412" cy="4295563"/>
                    <a:chOff x="11101388" y="1523906"/>
                    <a:chExt cx="4443412" cy="4295563"/>
                  </a:xfrm>
                </p:grpSpPr>
                <p:sp>
                  <p:nvSpPr>
                    <p:cNvPr id="4" name="Trapezoid 3"/>
                    <p:cNvSpPr/>
                    <p:nvPr/>
                  </p:nvSpPr>
                  <p:spPr>
                    <a:xfrm rot="10800000">
                      <a:off x="11101388" y="1523906"/>
                      <a:ext cx="4443412" cy="915335"/>
                    </a:xfrm>
                    <a:prstGeom prst="trapezoid">
                      <a:avLst>
                        <a:gd name="adj" fmla="val 51535"/>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Arial"/>
                          <a:ea typeface="+mn-ea"/>
                          <a:cs typeface="Noto Sans"/>
                        </a:rPr>
                        <a:t> </a:t>
                      </a:r>
                    </a:p>
                  </p:txBody>
                </p:sp>
                <p:sp>
                  <p:nvSpPr>
                    <p:cNvPr id="47" name="Trapezoid 46"/>
                    <p:cNvSpPr/>
                    <p:nvPr/>
                  </p:nvSpPr>
                  <p:spPr>
                    <a:xfrm rot="10800000">
                      <a:off x="11565031" y="2502330"/>
                      <a:ext cx="3516126" cy="1152849"/>
                    </a:xfrm>
                    <a:prstGeom prst="trapezoid">
                      <a:avLst>
                        <a:gd name="adj" fmla="val 52040"/>
                      </a:avLst>
                    </a:prstGeom>
                    <a:solidFill>
                      <a:srgbClr val="4048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5" name="Isosceles Triangle 4"/>
                    <p:cNvSpPr/>
                    <p:nvPr/>
                  </p:nvSpPr>
                  <p:spPr>
                    <a:xfrm rot="10800000">
                      <a:off x="12162174" y="3718268"/>
                      <a:ext cx="2321840" cy="2101201"/>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sp>
                <p:nvSpPr>
                  <p:cNvPr id="49" name="object 10"/>
                  <p:cNvSpPr txBox="1"/>
                  <p:nvPr/>
                </p:nvSpPr>
                <p:spPr>
                  <a:xfrm>
                    <a:off x="12186639" y="2507255"/>
                    <a:ext cx="2272910" cy="1142996"/>
                  </a:xfrm>
                  <a:prstGeom prst="rect">
                    <a:avLst/>
                  </a:prstGeom>
                </p:spPr>
                <p:txBody>
                  <a:bodyPr vert="horz" wrap="square" lIns="0" tIns="0" rIns="0" bIns="0" rtlCol="0" anchor="ctr" anchorCtr="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prstClr val="white"/>
                        </a:solidFill>
                        <a:effectLst/>
                        <a:uLnTx/>
                        <a:uFillTx/>
                        <a:latin typeface="Arial"/>
                        <a:ea typeface="+mn-ea"/>
                        <a:cs typeface="Arial"/>
                      </a:rPr>
                      <a:t>Patient becomes more</a:t>
                    </a:r>
                    <a:r>
                      <a:rPr kumimoji="0" lang="en-US" sz="1400" b="0" i="0" u="none" strike="noStrike" kern="1200" cap="none" spc="0" normalizeH="0" baseline="0" noProof="0" dirty="0">
                        <a:ln>
                          <a:noFill/>
                        </a:ln>
                        <a:solidFill>
                          <a:prstClr val="white"/>
                        </a:solidFill>
                        <a:effectLst/>
                        <a:uLnTx/>
                        <a:uFillTx/>
                        <a:latin typeface="Arial"/>
                        <a:ea typeface="+mn-ea"/>
                        <a:cs typeface="Arial"/>
                      </a:rPr>
                      <a:t> </a:t>
                    </a:r>
                    <a:r>
                      <a:rPr kumimoji="0" sz="1400" b="0" i="0" u="none" strike="noStrike" kern="1200" cap="none" spc="0" normalizeH="0" baseline="0" noProof="0" dirty="0">
                        <a:ln>
                          <a:noFill/>
                        </a:ln>
                        <a:solidFill>
                          <a:prstClr val="white"/>
                        </a:solidFill>
                        <a:effectLst/>
                        <a:uLnTx/>
                        <a:uFillTx/>
                        <a:latin typeface="Arial"/>
                        <a:ea typeface="+mn-ea"/>
                        <a:cs typeface="Arial"/>
                      </a:rPr>
                      <a:t>sedentary to avoid</a:t>
                    </a:r>
                    <a:r>
                      <a:rPr kumimoji="0" lang="en-US" sz="1400" b="0" i="0" u="none" strike="noStrike" kern="1200" cap="none" spc="0" normalizeH="0" baseline="0" noProof="0" dirty="0">
                        <a:ln>
                          <a:noFill/>
                        </a:ln>
                        <a:solidFill>
                          <a:prstClr val="white"/>
                        </a:solidFill>
                        <a:effectLst/>
                        <a:uLnTx/>
                        <a:uFillTx/>
                        <a:latin typeface="Arial"/>
                        <a:ea typeface="+mn-ea"/>
                        <a:cs typeface="Arial"/>
                      </a:rPr>
                      <a:t> </a:t>
                    </a:r>
                    <a:r>
                      <a:rPr kumimoji="0" sz="1400" b="0" i="0" u="none" strike="noStrike" kern="1200" cap="none" spc="0" normalizeH="0" baseline="0" noProof="0" dirty="0" err="1">
                        <a:ln>
                          <a:noFill/>
                        </a:ln>
                        <a:solidFill>
                          <a:prstClr val="white"/>
                        </a:solidFill>
                        <a:effectLst/>
                        <a:uLnTx/>
                        <a:uFillTx/>
                        <a:latin typeface="Arial"/>
                        <a:ea typeface="+mn-ea"/>
                        <a:cs typeface="Arial"/>
                      </a:rPr>
                      <a:t>dyspn</a:t>
                    </a:r>
                    <a:r>
                      <a:rPr kumimoji="0" lang="en-IN" sz="1400" b="0" i="0" u="none" strike="noStrike" kern="1200" cap="none" spc="0" normalizeH="0" baseline="0" noProof="0" dirty="0">
                        <a:ln>
                          <a:noFill/>
                        </a:ln>
                        <a:solidFill>
                          <a:prstClr val="white"/>
                        </a:solidFill>
                        <a:effectLst/>
                        <a:uLnTx/>
                        <a:uFillTx/>
                        <a:latin typeface="Arial"/>
                        <a:ea typeface="+mn-ea"/>
                        <a:cs typeface="Arial"/>
                      </a:rPr>
                      <a:t>o</a:t>
                    </a:r>
                    <a:r>
                      <a:rPr kumimoji="0" sz="1400" b="0" i="0" u="none" strike="noStrike" kern="1200" cap="none" spc="0" normalizeH="0" baseline="0" noProof="0" dirty="0" err="1">
                        <a:ln>
                          <a:noFill/>
                        </a:ln>
                        <a:solidFill>
                          <a:prstClr val="white"/>
                        </a:solidFill>
                        <a:effectLst/>
                        <a:uLnTx/>
                        <a:uFillTx/>
                        <a:latin typeface="Arial"/>
                        <a:ea typeface="+mn-ea"/>
                        <a:cs typeface="Arial"/>
                      </a:rPr>
                      <a:t>ea</a:t>
                    </a:r>
                    <a:r>
                      <a:rPr kumimoji="0" lang="en-IN" sz="1400" b="0" i="0" u="none" strike="noStrike" kern="1200" cap="none" spc="0" normalizeH="0" baseline="0" noProof="0" dirty="0">
                        <a:ln>
                          <a:noFill/>
                        </a:ln>
                        <a:solidFill>
                          <a:prstClr val="white"/>
                        </a:solidFill>
                        <a:effectLst/>
                        <a:uLnTx/>
                        <a:uFillTx/>
                        <a:latin typeface="Arial"/>
                        <a:ea typeface="Calibri" panose="020F0502020204030204" pitchFamily="34" charset="0"/>
                        <a:cs typeface="Noto Sans"/>
                      </a:rPr>
                      <a:t>‑</a:t>
                    </a:r>
                    <a:r>
                      <a:rPr kumimoji="0" sz="1400" b="0" i="0" u="none" strike="noStrike" kern="1200" cap="none" spc="0" normalizeH="0" baseline="0" noProof="0" dirty="0">
                        <a:ln>
                          <a:noFill/>
                        </a:ln>
                        <a:solidFill>
                          <a:prstClr val="white"/>
                        </a:solidFill>
                        <a:effectLst/>
                        <a:uLnTx/>
                        <a:uFillTx/>
                        <a:latin typeface="Arial"/>
                        <a:ea typeface="+mn-ea"/>
                        <a:cs typeface="Arial"/>
                      </a:rPr>
                      <a:t>producing</a:t>
                    </a:r>
                    <a:r>
                      <a:rPr kumimoji="0" lang="en-US" sz="1400" b="0" i="0" u="none" strike="noStrike" kern="1200" cap="none" spc="0" normalizeH="0" baseline="0" noProof="0" dirty="0">
                        <a:ln>
                          <a:noFill/>
                        </a:ln>
                        <a:solidFill>
                          <a:prstClr val="white"/>
                        </a:solidFill>
                        <a:effectLst/>
                        <a:uLnTx/>
                        <a:uFillTx/>
                        <a:latin typeface="Arial"/>
                        <a:ea typeface="+mn-ea"/>
                        <a:cs typeface="Arial"/>
                      </a:rPr>
                      <a:t> </a:t>
                    </a:r>
                    <a:r>
                      <a:rPr kumimoji="0" lang="en-GB" sz="1400" b="0" i="0" u="none" strike="noStrike" kern="1200" cap="none" spc="0" normalizeH="0" baseline="0" noProof="0" dirty="0">
                        <a:ln>
                          <a:noFill/>
                        </a:ln>
                        <a:solidFill>
                          <a:prstClr val="white"/>
                        </a:solidFill>
                        <a:effectLst/>
                        <a:uLnTx/>
                        <a:uFillTx/>
                        <a:latin typeface="Arial"/>
                        <a:ea typeface="+mn-ea"/>
                        <a:cs typeface="Arial"/>
                      </a:rPr>
                      <a:t>activit</a:t>
                    </a:r>
                    <a:r>
                      <a:rPr kumimoji="0" lang="en-IN" sz="1400" b="0" i="0" u="none" strike="noStrike" kern="1200" cap="none" spc="0" normalizeH="0" baseline="0" noProof="0" dirty="0">
                        <a:ln>
                          <a:noFill/>
                        </a:ln>
                        <a:solidFill>
                          <a:prstClr val="white"/>
                        </a:solidFill>
                        <a:effectLst/>
                        <a:uLnTx/>
                        <a:uFillTx/>
                        <a:latin typeface="Arial"/>
                        <a:ea typeface="+mn-ea"/>
                        <a:cs typeface="Arial"/>
                      </a:rPr>
                      <a:t>ies</a:t>
                    </a:r>
                    <a:endParaRPr kumimoji="0" sz="1400" b="0" i="0" u="none" strike="noStrike" kern="1200" cap="none" spc="0" normalizeH="0" baseline="0" noProof="0" dirty="0">
                      <a:ln>
                        <a:noFill/>
                      </a:ln>
                      <a:solidFill>
                        <a:prstClr val="white"/>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prstClr val="white"/>
                        </a:solidFill>
                        <a:effectLst/>
                        <a:uLnTx/>
                        <a:uFillTx/>
                        <a:latin typeface="Arial"/>
                        <a:ea typeface="+mn-ea"/>
                        <a:cs typeface="Arial"/>
                      </a:rPr>
                      <a:t>(decreases activity)</a:t>
                    </a:r>
                  </a:p>
                </p:txBody>
              </p:sp>
              <p:sp>
                <p:nvSpPr>
                  <p:cNvPr id="50" name="object 11"/>
                  <p:cNvSpPr txBox="1"/>
                  <p:nvPr/>
                </p:nvSpPr>
                <p:spPr>
                  <a:xfrm>
                    <a:off x="12545608" y="3765190"/>
                    <a:ext cx="1554972" cy="979711"/>
                  </a:xfrm>
                  <a:prstGeom prst="rect">
                    <a:avLst/>
                  </a:prstGeom>
                </p:spPr>
                <p:txBody>
                  <a:bodyPr vert="horz" wrap="square" lIns="0" tIns="0" rIns="0" bIns="0" rtlCol="0" anchor="ctr" anchorCtr="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solidFill>
                        <a:effectLst/>
                        <a:uLnTx/>
                        <a:uFillTx/>
                        <a:latin typeface="Arial"/>
                        <a:ea typeface="+mn-ea"/>
                        <a:cs typeface="Arial"/>
                      </a:rPr>
                      <a:t>Deconditioning</a:t>
                    </a:r>
                    <a:r>
                      <a:rPr kumimoji="0" lang="en-US" sz="1200" b="0" i="0" u="none" strike="noStrike" kern="1200" cap="none" spc="0" normalizeH="0" baseline="0" noProof="0" dirty="0">
                        <a:ln>
                          <a:noFill/>
                        </a:ln>
                        <a:solidFill>
                          <a:prstClr val="white"/>
                        </a:solidFill>
                        <a:effectLst/>
                        <a:uLnTx/>
                        <a:uFillTx/>
                        <a:latin typeface="Arial"/>
                        <a:ea typeface="+mn-ea"/>
                        <a:cs typeface="Arial"/>
                      </a:rPr>
                      <a:t> </a:t>
                    </a:r>
                    <a:r>
                      <a:rPr kumimoji="0" sz="1200" b="0" i="0" u="none" strike="noStrike" kern="1200" cap="none" spc="0" normalizeH="0" baseline="0" noProof="0" dirty="0">
                        <a:ln>
                          <a:noFill/>
                        </a:ln>
                        <a:solidFill>
                          <a:prstClr val="white"/>
                        </a:solidFill>
                        <a:effectLst/>
                        <a:uLnTx/>
                        <a:uFillTx/>
                        <a:latin typeface="Arial"/>
                        <a:ea typeface="+mn-ea"/>
                        <a:cs typeface="Arial"/>
                      </a:rPr>
                      <a:t>aggravates </a:t>
                    </a:r>
                    <a:r>
                      <a:rPr kumimoji="0" lang="en-GB" sz="1200" b="0" i="0" u="none" strike="noStrike" kern="1200" cap="none" spc="0" normalizeH="0" baseline="0" noProof="0" dirty="0">
                        <a:ln>
                          <a:noFill/>
                        </a:ln>
                        <a:solidFill>
                          <a:prstClr val="white"/>
                        </a:solidFill>
                        <a:effectLst/>
                        <a:uLnTx/>
                        <a:uFillTx/>
                        <a:latin typeface="Arial"/>
                        <a:ea typeface="+mn-ea"/>
                        <a:cs typeface="Arial"/>
                      </a:rPr>
                      <a:t>dyspn</a:t>
                    </a:r>
                    <a:r>
                      <a:rPr kumimoji="0" lang="en-IN" sz="1200" b="0" i="0" u="none" strike="noStrike" kern="1200" cap="none" spc="0" normalizeH="0" baseline="0" noProof="0" dirty="0">
                        <a:ln>
                          <a:noFill/>
                        </a:ln>
                        <a:solidFill>
                          <a:prstClr val="white"/>
                        </a:solidFill>
                        <a:effectLst/>
                        <a:uLnTx/>
                        <a:uFillTx/>
                        <a:latin typeface="Arial"/>
                        <a:ea typeface="+mn-ea"/>
                        <a:cs typeface="Arial"/>
                      </a:rPr>
                      <a:t>o</a:t>
                    </a:r>
                    <a:r>
                      <a:rPr kumimoji="0" sz="1200" b="0" i="0" u="none" strike="noStrike" kern="1200" cap="none" spc="0" normalizeH="0" baseline="0" noProof="0" dirty="0" err="1">
                        <a:ln>
                          <a:noFill/>
                        </a:ln>
                        <a:solidFill>
                          <a:prstClr val="white"/>
                        </a:solidFill>
                        <a:effectLst/>
                        <a:uLnTx/>
                        <a:uFillTx/>
                        <a:latin typeface="Arial"/>
                        <a:ea typeface="+mn-ea"/>
                        <a:cs typeface="Arial"/>
                      </a:rPr>
                      <a:t>ea</a:t>
                    </a:r>
                    <a:r>
                      <a:rPr kumimoji="0" sz="1200" b="0" i="0" u="none" strike="noStrike" kern="1200" cap="none" spc="0" normalizeH="0" baseline="0" noProof="0" dirty="0">
                        <a:ln>
                          <a:noFill/>
                        </a:ln>
                        <a:solidFill>
                          <a:prstClr val="white"/>
                        </a:solidFill>
                        <a:effectLst/>
                        <a:uLnTx/>
                        <a:uFillTx/>
                        <a:latin typeface="Arial"/>
                        <a:ea typeface="+mn-ea"/>
                        <a:cs typeface="Arial"/>
                      </a:rPr>
                      <a:t>:</a:t>
                    </a:r>
                    <a:r>
                      <a:rPr kumimoji="0" lang="en-US" sz="1200" b="0" i="0" u="none" strike="noStrike" kern="1200" cap="none" spc="0" normalizeH="0" baseline="0" noProof="0" dirty="0">
                        <a:ln>
                          <a:noFill/>
                        </a:ln>
                        <a:solidFill>
                          <a:prstClr val="white"/>
                        </a:solidFill>
                        <a:effectLst/>
                        <a:uLnTx/>
                        <a:uFillTx/>
                        <a:latin typeface="Arial"/>
                        <a:ea typeface="+mn-ea"/>
                        <a:cs typeface="Arial"/>
                      </a:rPr>
                      <a:t> </a:t>
                    </a:r>
                    <a:r>
                      <a:rPr kumimoji="0" sz="1200" b="0" i="0" u="none" strike="noStrike" kern="1200" cap="none" spc="0" normalizeH="0" baseline="0" noProof="0" dirty="0">
                        <a:ln>
                          <a:noFill/>
                        </a:ln>
                        <a:solidFill>
                          <a:prstClr val="white"/>
                        </a:solidFill>
                        <a:effectLst/>
                        <a:uLnTx/>
                        <a:uFillTx/>
                        <a:latin typeface="Arial"/>
                        <a:ea typeface="+mn-ea"/>
                        <a:cs typeface="Arial"/>
                      </a:rPr>
                      <a:t>patient adjusts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solidFill>
                        <a:effectLst/>
                        <a:uLnTx/>
                        <a:uFillTx/>
                        <a:latin typeface="Arial"/>
                        <a:ea typeface="+mn-ea"/>
                        <a:cs typeface="Arial"/>
                      </a:rPr>
                      <a:t>by reducing</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1200" cap="none" spc="0" normalizeH="0" baseline="0" noProof="0" dirty="0">
                        <a:ln>
                          <a:noFill/>
                        </a:ln>
                        <a:solidFill>
                          <a:prstClr val="white"/>
                        </a:solidFill>
                        <a:effectLst/>
                        <a:uLnTx/>
                        <a:uFillTx/>
                        <a:latin typeface="Arial"/>
                        <a:ea typeface="+mn-ea"/>
                        <a:cs typeface="Arial"/>
                      </a:rPr>
                      <a:t>activity further</a:t>
                    </a:r>
                  </a:p>
                </p:txBody>
              </p:sp>
              <p:sp>
                <p:nvSpPr>
                  <p:cNvPr id="51" name="object 12"/>
                  <p:cNvSpPr txBox="1"/>
                  <p:nvPr/>
                </p:nvSpPr>
                <p:spPr>
                  <a:xfrm>
                    <a:off x="11742919" y="1867273"/>
                    <a:ext cx="3160352" cy="228600"/>
                  </a:xfrm>
                  <a:prstGeom prst="rect">
                    <a:avLst/>
                  </a:prstGeom>
                </p:spPr>
                <p:txBody>
                  <a:bodyPr vert="horz" wrap="square" lIns="0" tIns="0" rIns="0" bIns="0" rtlCol="0" anchor="ctr" anchorCtr="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prstClr val="white"/>
                        </a:solidFill>
                        <a:effectLst/>
                        <a:uLnTx/>
                        <a:uFillTx/>
                        <a:latin typeface="Arial"/>
                        <a:ea typeface="+mn-ea"/>
                        <a:cs typeface="Arial"/>
                      </a:rPr>
                      <a:t>Dyspn</a:t>
                    </a:r>
                    <a:r>
                      <a:rPr kumimoji="0" lang="en-IN" sz="1400" b="0" i="0" u="none" strike="noStrike" kern="1200" cap="none" spc="0" normalizeH="0" baseline="0" noProof="0" dirty="0">
                        <a:ln>
                          <a:noFill/>
                        </a:ln>
                        <a:solidFill>
                          <a:prstClr val="white"/>
                        </a:solidFill>
                        <a:effectLst/>
                        <a:uLnTx/>
                        <a:uFillTx/>
                        <a:latin typeface="Arial"/>
                        <a:ea typeface="+mn-ea"/>
                        <a:cs typeface="Arial"/>
                      </a:rPr>
                      <a:t>o</a:t>
                    </a:r>
                    <a:r>
                      <a:rPr kumimoji="0" sz="1400" b="0" i="0" u="none" strike="noStrike" kern="1200" cap="none" spc="0" normalizeH="0" baseline="0" noProof="0" dirty="0" err="1">
                        <a:ln>
                          <a:noFill/>
                        </a:ln>
                        <a:solidFill>
                          <a:prstClr val="white"/>
                        </a:solidFill>
                        <a:effectLst/>
                        <a:uLnTx/>
                        <a:uFillTx/>
                        <a:latin typeface="Arial"/>
                        <a:ea typeface="+mn-ea"/>
                        <a:cs typeface="Arial"/>
                      </a:rPr>
                      <a:t>ea</a:t>
                    </a:r>
                    <a:r>
                      <a:rPr kumimoji="0" sz="1400" b="0" i="0" u="none" strike="noStrike" kern="1200" cap="none" spc="0" normalizeH="0" baseline="0" noProof="0" dirty="0">
                        <a:ln>
                          <a:noFill/>
                        </a:ln>
                        <a:solidFill>
                          <a:prstClr val="white"/>
                        </a:solidFill>
                        <a:effectLst/>
                        <a:uLnTx/>
                        <a:uFillTx/>
                        <a:latin typeface="Arial"/>
                        <a:ea typeface="+mn-ea"/>
                        <a:cs typeface="Arial"/>
                      </a:rPr>
                      <a:t> with</a:t>
                    </a:r>
                    <a:r>
                      <a:rPr kumimoji="0" lang="en-US" sz="1400" b="0" i="0" u="none" strike="noStrike" kern="1200" cap="none" spc="0" normalizeH="0" baseline="0" noProof="0" dirty="0">
                        <a:ln>
                          <a:noFill/>
                        </a:ln>
                        <a:solidFill>
                          <a:prstClr val="white"/>
                        </a:solidFill>
                        <a:effectLst/>
                        <a:uLnTx/>
                        <a:uFillTx/>
                        <a:latin typeface="Arial"/>
                        <a:ea typeface="+mn-ea"/>
                        <a:cs typeface="Arial"/>
                      </a:rPr>
                      <a:t> </a:t>
                    </a:r>
                    <a:r>
                      <a:rPr kumimoji="0" sz="1400" b="0" i="0" u="none" strike="noStrike" kern="1200" cap="none" spc="0" normalizeH="0" baseline="0" noProof="0" dirty="0">
                        <a:ln>
                          <a:noFill/>
                        </a:ln>
                        <a:solidFill>
                          <a:prstClr val="white"/>
                        </a:solidFill>
                        <a:effectLst/>
                        <a:uLnTx/>
                        <a:uFillTx/>
                        <a:latin typeface="Arial"/>
                        <a:ea typeface="+mn-ea"/>
                        <a:cs typeface="Arial"/>
                      </a:rPr>
                      <a:t>activities</a:t>
                    </a:r>
                  </a:p>
                </p:txBody>
              </p:sp>
            </p:grpSp>
            <p:grpSp>
              <p:nvGrpSpPr>
                <p:cNvPr id="121" name="Group 120">
                  <a:extLst>
                    <a:ext uri="{FF2B5EF4-FFF2-40B4-BE49-F238E27FC236}">
                      <a16:creationId xmlns:a16="http://schemas.microsoft.com/office/drawing/2014/main" id="{A4823DA2-3F11-6BA4-386E-38D37784898D}"/>
                    </a:ext>
                  </a:extLst>
                </p:cNvPr>
                <p:cNvGrpSpPr/>
                <p:nvPr/>
              </p:nvGrpSpPr>
              <p:grpSpPr>
                <a:xfrm>
                  <a:off x="6621596" y="1443768"/>
                  <a:ext cx="446010" cy="4085815"/>
                  <a:chOff x="6621596" y="1443768"/>
                  <a:chExt cx="446010" cy="4085815"/>
                </a:xfrm>
              </p:grpSpPr>
              <p:cxnSp>
                <p:nvCxnSpPr>
                  <p:cNvPr id="119" name="Straight Arrow Connector 118">
                    <a:extLst>
                      <a:ext uri="{FF2B5EF4-FFF2-40B4-BE49-F238E27FC236}">
                        <a16:creationId xmlns:a16="http://schemas.microsoft.com/office/drawing/2014/main" id="{2F9B55B6-9FDE-1F80-8C2C-3C89B69C0CE6}"/>
                      </a:ext>
                    </a:extLst>
                  </p:cNvPr>
                  <p:cNvCxnSpPr>
                    <a:cxnSpLocks/>
                  </p:cNvCxnSpPr>
                  <p:nvPr/>
                </p:nvCxnSpPr>
                <p:spPr>
                  <a:xfrm>
                    <a:off x="7067606" y="1443768"/>
                    <a:ext cx="0" cy="4085815"/>
                  </a:xfrm>
                  <a:prstGeom prst="straightConnector1">
                    <a:avLst/>
                  </a:prstGeom>
                  <a:ln w="28575">
                    <a:solidFill>
                      <a:srgbClr val="544F40"/>
                    </a:solidFill>
                    <a:tailEnd type="triangle" w="lg" len="med"/>
                  </a:ln>
                </p:spPr>
                <p:style>
                  <a:lnRef idx="1">
                    <a:schemeClr val="accent1"/>
                  </a:lnRef>
                  <a:fillRef idx="0">
                    <a:schemeClr val="accent1"/>
                  </a:fillRef>
                  <a:effectRef idx="0">
                    <a:schemeClr val="accent1"/>
                  </a:effectRef>
                  <a:fontRef idx="minor">
                    <a:schemeClr val="tx1"/>
                  </a:fontRef>
                </p:style>
              </p:cxnSp>
              <p:sp>
                <p:nvSpPr>
                  <p:cNvPr id="120" name="object 8">
                    <a:extLst>
                      <a:ext uri="{FF2B5EF4-FFF2-40B4-BE49-F238E27FC236}">
                        <a16:creationId xmlns:a16="http://schemas.microsoft.com/office/drawing/2014/main" id="{9611EA5B-AA02-3CCC-8CF7-6519729AB288}"/>
                      </a:ext>
                    </a:extLst>
                  </p:cNvPr>
                  <p:cNvSpPr txBox="1"/>
                  <p:nvPr/>
                </p:nvSpPr>
                <p:spPr>
                  <a:xfrm rot="16200000">
                    <a:off x="5696343" y="3363565"/>
                    <a:ext cx="2096728" cy="246221"/>
                  </a:xfrm>
                  <a:prstGeom prst="rect">
                    <a:avLst/>
                  </a:prstGeom>
                </p:spPr>
                <p:txBody>
                  <a:bodyPr vert="horz" wrap="none" lIns="0" tIns="0" rIns="0" bIns="0" rtlCol="0" anchor="ctr" anchorCtr="0">
                    <a:spAutoFit/>
                  </a:bodyPr>
                  <a:lstStyle/>
                  <a:p>
                    <a:pPr marL="38100" marR="0" lvl="0" indent="0" algn="ctr" defTabSz="914400" rtl="0" eaLnBrk="1" fontAlgn="auto" latinLnBrk="0" hangingPunct="1">
                      <a:lnSpc>
                        <a:spcPct val="100000"/>
                      </a:lnSpc>
                      <a:spcBef>
                        <a:spcPts val="95"/>
                      </a:spcBef>
                      <a:spcAft>
                        <a:spcPts val="0"/>
                      </a:spcAft>
                      <a:buClrTx/>
                      <a:buSzTx/>
                      <a:buFontTx/>
                      <a:buNone/>
                      <a:tabLst/>
                      <a:defRPr/>
                    </a:pPr>
                    <a:r>
                      <a:rPr kumimoji="0" lang="en-US" sz="1600" b="1" i="0" u="none" strike="noStrike" kern="1200" cap="none" spc="0" normalizeH="0" baseline="0" noProof="0" dirty="0">
                        <a:ln>
                          <a:noFill/>
                        </a:ln>
                        <a:solidFill>
                          <a:srgbClr val="F36633"/>
                        </a:solidFill>
                        <a:effectLst/>
                        <a:uLnTx/>
                        <a:uFillTx/>
                        <a:latin typeface="Arial"/>
                        <a:ea typeface="+mn-ea"/>
                        <a:cs typeface="Arial"/>
                      </a:rPr>
                      <a:t>D</a:t>
                    </a:r>
                    <a:r>
                      <a:rPr kumimoji="0" sz="1600" b="1" i="0" u="none" strike="noStrike" kern="1200" cap="none" spc="0" normalizeH="0" baseline="0" noProof="0" dirty="0">
                        <a:ln>
                          <a:noFill/>
                        </a:ln>
                        <a:solidFill>
                          <a:srgbClr val="F36633"/>
                        </a:solidFill>
                        <a:effectLst/>
                        <a:uLnTx/>
                        <a:uFillTx/>
                        <a:latin typeface="Arial"/>
                        <a:ea typeface="+mn-ea"/>
                        <a:cs typeface="Arial"/>
                      </a:rPr>
                      <a:t>ecline in </a:t>
                    </a:r>
                    <a:r>
                      <a:rPr kumimoji="0" lang="en-GB" sz="1600" b="1" i="0" u="none" strike="noStrike" kern="1200" cap="none" spc="0" normalizeH="0" baseline="0" noProof="0" dirty="0">
                        <a:ln>
                          <a:noFill/>
                        </a:ln>
                        <a:solidFill>
                          <a:srgbClr val="F36633"/>
                        </a:solidFill>
                        <a:effectLst/>
                        <a:uLnTx/>
                        <a:uFillTx/>
                        <a:latin typeface="Arial"/>
                        <a:ea typeface="+mn-ea"/>
                        <a:cs typeface="Arial"/>
                      </a:rPr>
                      <a:t>dyspn</a:t>
                    </a:r>
                    <a:r>
                      <a:rPr kumimoji="0" lang="en-IN" sz="1600" b="1" i="0" u="none" strike="noStrike" kern="1200" cap="none" spc="0" normalizeH="0" baseline="0" noProof="0" dirty="0">
                        <a:ln>
                          <a:noFill/>
                        </a:ln>
                        <a:solidFill>
                          <a:srgbClr val="F36633"/>
                        </a:solidFill>
                        <a:effectLst/>
                        <a:uLnTx/>
                        <a:uFillTx/>
                        <a:latin typeface="Arial"/>
                        <a:ea typeface="+mn-ea"/>
                        <a:cs typeface="Arial"/>
                      </a:rPr>
                      <a:t>o</a:t>
                    </a:r>
                    <a:r>
                      <a:rPr kumimoji="0" sz="1600" b="1" i="0" u="none" strike="noStrike" kern="1200" cap="none" spc="0" normalizeH="0" baseline="0" noProof="0" dirty="0">
                        <a:ln>
                          <a:noFill/>
                        </a:ln>
                        <a:solidFill>
                          <a:srgbClr val="F36633"/>
                        </a:solidFill>
                        <a:effectLst/>
                        <a:uLnTx/>
                        <a:uFillTx/>
                        <a:latin typeface="Arial"/>
                        <a:ea typeface="+mn-ea"/>
                        <a:cs typeface="Arial"/>
                      </a:rPr>
                      <a:t>ea</a:t>
                    </a:r>
                    <a:r>
                      <a:rPr kumimoji="0" sz="1600" b="1" i="0" u="none" strike="noStrike" kern="1200" cap="none" spc="0" normalizeH="0" baseline="24691" noProof="0" dirty="0">
                        <a:ln>
                          <a:noFill/>
                        </a:ln>
                        <a:solidFill>
                          <a:srgbClr val="F36633"/>
                        </a:solidFill>
                        <a:effectLst/>
                        <a:uLnTx/>
                        <a:uFillTx/>
                        <a:latin typeface="Arial"/>
                        <a:ea typeface="+mn-ea"/>
                        <a:cs typeface="Arial"/>
                      </a:rPr>
                      <a:t>1</a:t>
                    </a:r>
                    <a:endParaRPr kumimoji="0" sz="1600" b="0" i="0" u="none" strike="noStrike" kern="1200" cap="none" spc="0" normalizeH="0" baseline="24691" noProof="0" dirty="0">
                      <a:ln>
                        <a:noFill/>
                      </a:ln>
                      <a:solidFill>
                        <a:srgbClr val="F36633"/>
                      </a:solidFill>
                      <a:effectLst/>
                      <a:uLnTx/>
                      <a:uFillTx/>
                      <a:latin typeface="Arial"/>
                      <a:ea typeface="+mn-ea"/>
                      <a:cs typeface="Arial"/>
                    </a:endParaRPr>
                  </a:p>
                </p:txBody>
              </p:sp>
            </p:grpSp>
          </p:grpSp>
        </p:grpSp>
      </p:grpSp>
      <p:sp>
        <p:nvSpPr>
          <p:cNvPr id="21" name="Rectangle 20">
            <a:extLst>
              <a:ext uri="{FF2B5EF4-FFF2-40B4-BE49-F238E27FC236}">
                <a16:creationId xmlns:a16="http://schemas.microsoft.com/office/drawing/2014/main" id="{BEC047A3-15F8-EF9F-95B3-101CBF49B92F}"/>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 name="Date Placeholder 4">
            <a:extLst>
              <a:ext uri="{FF2B5EF4-FFF2-40B4-BE49-F238E27FC236}">
                <a16:creationId xmlns:a16="http://schemas.microsoft.com/office/drawing/2014/main" id="{EBE994DE-82E0-D600-E4F1-86B39EF52BFE}"/>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64858079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E782B05E-F9F5-AE9C-3490-C212641DFC26}"/>
              </a:ext>
            </a:extLst>
          </p:cNvPr>
          <p:cNvSpPr>
            <a:spLocks noGrp="1"/>
          </p:cNvSpPr>
          <p:nvPr>
            <p:ph type="body" sz="quarter" idx="13"/>
          </p:nvPr>
        </p:nvSpPr>
        <p:spPr>
          <a:xfrm>
            <a:off x="365125" y="5861915"/>
            <a:ext cx="11460164" cy="298800"/>
          </a:xfrm>
        </p:spPr>
        <p:txBody>
          <a:bodyPr/>
          <a:lstStyle/>
          <a:p>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p>
        </p:txBody>
      </p:sp>
      <p:grpSp>
        <p:nvGrpSpPr>
          <p:cNvPr id="31" name="Group 30">
            <a:extLst>
              <a:ext uri="{FF2B5EF4-FFF2-40B4-BE49-F238E27FC236}">
                <a16:creationId xmlns:a16="http://schemas.microsoft.com/office/drawing/2014/main" id="{3112AA40-C46F-1923-50C3-F0F6E8B00B7E}"/>
              </a:ext>
            </a:extLst>
          </p:cNvPr>
          <p:cNvGrpSpPr/>
          <p:nvPr/>
        </p:nvGrpSpPr>
        <p:grpSpPr>
          <a:xfrm>
            <a:off x="272623" y="1340918"/>
            <a:ext cx="11557428" cy="3272691"/>
            <a:chOff x="272623" y="1340918"/>
            <a:chExt cx="11557428" cy="3272691"/>
          </a:xfrm>
        </p:grpSpPr>
        <p:grpSp>
          <p:nvGrpSpPr>
            <p:cNvPr id="30" name="Group 29">
              <a:extLst>
                <a:ext uri="{FF2B5EF4-FFF2-40B4-BE49-F238E27FC236}">
                  <a16:creationId xmlns:a16="http://schemas.microsoft.com/office/drawing/2014/main" id="{7CA6E589-2B08-871C-3E22-B7FE07776EC7}"/>
                </a:ext>
              </a:extLst>
            </p:cNvPr>
            <p:cNvGrpSpPr/>
            <p:nvPr/>
          </p:nvGrpSpPr>
          <p:grpSpPr>
            <a:xfrm>
              <a:off x="8347496" y="1368007"/>
              <a:ext cx="3482555" cy="3218512"/>
              <a:chOff x="7823317" y="1352767"/>
              <a:chExt cx="3482555" cy="3218512"/>
            </a:xfrm>
          </p:grpSpPr>
          <p:grpSp>
            <p:nvGrpSpPr>
              <p:cNvPr id="28" name="Group 27">
                <a:extLst>
                  <a:ext uri="{FF2B5EF4-FFF2-40B4-BE49-F238E27FC236}">
                    <a16:creationId xmlns:a16="http://schemas.microsoft.com/office/drawing/2014/main" id="{635CB652-C7BA-D0EC-2BE4-AB53739EC827}"/>
                  </a:ext>
                </a:extLst>
              </p:cNvPr>
              <p:cNvGrpSpPr/>
              <p:nvPr/>
            </p:nvGrpSpPr>
            <p:grpSpPr>
              <a:xfrm>
                <a:off x="8087360" y="1352767"/>
                <a:ext cx="3218512" cy="3218512"/>
                <a:chOff x="8087360" y="1352767"/>
                <a:chExt cx="3218512" cy="3218512"/>
              </a:xfrm>
            </p:grpSpPr>
            <p:sp>
              <p:nvSpPr>
                <p:cNvPr id="27" name="Rectangle: Rounded Corners 26">
                  <a:extLst>
                    <a:ext uri="{FF2B5EF4-FFF2-40B4-BE49-F238E27FC236}">
                      <a16:creationId xmlns:a16="http://schemas.microsoft.com/office/drawing/2014/main" id="{6163D09F-9071-EC7D-2E2D-141044CDC456}"/>
                    </a:ext>
                  </a:extLst>
                </p:cNvPr>
                <p:cNvSpPr/>
                <p:nvPr/>
              </p:nvSpPr>
              <p:spPr bwMode="auto">
                <a:xfrm>
                  <a:off x="8087360" y="1352767"/>
                  <a:ext cx="3218512" cy="3218512"/>
                </a:xfrm>
                <a:prstGeom prst="roundRect">
                  <a:avLst>
                    <a:gd name="adj" fmla="val 5129"/>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8" name="Freeform 5"/>
                <p:cNvSpPr>
                  <a:spLocks noEditPoints="1"/>
                </p:cNvSpPr>
                <p:nvPr/>
              </p:nvSpPr>
              <p:spPr bwMode="auto">
                <a:xfrm flipH="1">
                  <a:off x="8851311" y="2159947"/>
                  <a:ext cx="1690610" cy="1604153"/>
                </a:xfrm>
                <a:custGeom>
                  <a:avLst/>
                  <a:gdLst>
                    <a:gd name="T0" fmla="*/ 884 w 2514"/>
                    <a:gd name="T1" fmla="*/ 2368 h 2387"/>
                    <a:gd name="T2" fmla="*/ 412 w 2514"/>
                    <a:gd name="T3" fmla="*/ 2214 h 2387"/>
                    <a:gd name="T4" fmla="*/ 226 w 2514"/>
                    <a:gd name="T5" fmla="*/ 2154 h 2387"/>
                    <a:gd name="T6" fmla="*/ 221 w 2514"/>
                    <a:gd name="T7" fmla="*/ 2037 h 2387"/>
                    <a:gd name="T8" fmla="*/ 339 w 2514"/>
                    <a:gd name="T9" fmla="*/ 1652 h 2387"/>
                    <a:gd name="T10" fmla="*/ 229 w 2514"/>
                    <a:gd name="T11" fmla="*/ 1388 h 2387"/>
                    <a:gd name="T12" fmla="*/ 45 w 2514"/>
                    <a:gd name="T13" fmla="*/ 848 h 2387"/>
                    <a:gd name="T14" fmla="*/ 545 w 2514"/>
                    <a:gd name="T15" fmla="*/ 44 h 2387"/>
                    <a:gd name="T16" fmla="*/ 1195 w 2514"/>
                    <a:gd name="T17" fmla="*/ 44 h 2387"/>
                    <a:gd name="T18" fmla="*/ 1696 w 2514"/>
                    <a:gd name="T19" fmla="*/ 476 h 2387"/>
                    <a:gd name="T20" fmla="*/ 1773 w 2514"/>
                    <a:gd name="T21" fmla="*/ 717 h 2387"/>
                    <a:gd name="T22" fmla="*/ 1805 w 2514"/>
                    <a:gd name="T23" fmla="*/ 892 h 2387"/>
                    <a:gd name="T24" fmla="*/ 1785 w 2514"/>
                    <a:gd name="T25" fmla="*/ 991 h 2387"/>
                    <a:gd name="T26" fmla="*/ 1907 w 2514"/>
                    <a:gd name="T27" fmla="*/ 1208 h 2387"/>
                    <a:gd name="T28" fmla="*/ 1894 w 2514"/>
                    <a:gd name="T29" fmla="*/ 1371 h 2387"/>
                    <a:gd name="T30" fmla="*/ 1834 w 2514"/>
                    <a:gd name="T31" fmla="*/ 1434 h 2387"/>
                    <a:gd name="T32" fmla="*/ 1789 w 2514"/>
                    <a:gd name="T33" fmla="*/ 1587 h 2387"/>
                    <a:gd name="T34" fmla="*/ 1706 w 2514"/>
                    <a:gd name="T35" fmla="*/ 1662 h 2387"/>
                    <a:gd name="T36" fmla="*/ 1730 w 2514"/>
                    <a:gd name="T37" fmla="*/ 1753 h 2387"/>
                    <a:gd name="T38" fmla="*/ 1720 w 2514"/>
                    <a:gd name="T39" fmla="*/ 1921 h 2387"/>
                    <a:gd name="T40" fmla="*/ 1679 w 2514"/>
                    <a:gd name="T41" fmla="*/ 2023 h 2387"/>
                    <a:gd name="T42" fmla="*/ 1605 w 2514"/>
                    <a:gd name="T43" fmla="*/ 2180 h 2387"/>
                    <a:gd name="T44" fmla="*/ 1498 w 2514"/>
                    <a:gd name="T45" fmla="*/ 2163 h 2387"/>
                    <a:gd name="T46" fmla="*/ 1237 w 2514"/>
                    <a:gd name="T47" fmla="*/ 2257 h 2387"/>
                    <a:gd name="T48" fmla="*/ 1072 w 2514"/>
                    <a:gd name="T49" fmla="*/ 2385 h 2387"/>
                    <a:gd name="T50" fmla="*/ 884 w 2514"/>
                    <a:gd name="T51" fmla="*/ 2368 h 2387"/>
                    <a:gd name="T52" fmla="*/ 1848 w 2514"/>
                    <a:gd name="T53" fmla="*/ 2072 h 2387"/>
                    <a:gd name="T54" fmla="*/ 1875 w 2514"/>
                    <a:gd name="T55" fmla="*/ 1990 h 2387"/>
                    <a:gd name="T56" fmla="*/ 1912 w 2514"/>
                    <a:gd name="T57" fmla="*/ 2062 h 2387"/>
                    <a:gd name="T58" fmla="*/ 1848 w 2514"/>
                    <a:gd name="T59" fmla="*/ 2072 h 2387"/>
                    <a:gd name="T60" fmla="*/ 2020 w 2514"/>
                    <a:gd name="T61" fmla="*/ 2008 h 2387"/>
                    <a:gd name="T62" fmla="*/ 1914 w 2514"/>
                    <a:gd name="T63" fmla="*/ 1846 h 2387"/>
                    <a:gd name="T64" fmla="*/ 1854 w 2514"/>
                    <a:gd name="T65" fmla="*/ 1763 h 2387"/>
                    <a:gd name="T66" fmla="*/ 1912 w 2514"/>
                    <a:gd name="T67" fmla="*/ 1803 h 2387"/>
                    <a:gd name="T68" fmla="*/ 2125 w 2514"/>
                    <a:gd name="T69" fmla="*/ 2068 h 2387"/>
                    <a:gd name="T70" fmla="*/ 2020 w 2514"/>
                    <a:gd name="T71" fmla="*/ 2008 h 2387"/>
                    <a:gd name="T72" fmla="*/ 2287 w 2514"/>
                    <a:gd name="T73" fmla="*/ 1906 h 2387"/>
                    <a:gd name="T74" fmla="*/ 2073 w 2514"/>
                    <a:gd name="T75" fmla="*/ 1756 h 2387"/>
                    <a:gd name="T76" fmla="*/ 2132 w 2514"/>
                    <a:gd name="T77" fmla="*/ 1738 h 2387"/>
                    <a:gd name="T78" fmla="*/ 2426 w 2514"/>
                    <a:gd name="T79" fmla="*/ 1909 h 2387"/>
                    <a:gd name="T80" fmla="*/ 2418 w 2514"/>
                    <a:gd name="T81" fmla="*/ 1999 h 2387"/>
                    <a:gd name="T82" fmla="*/ 2287 w 2514"/>
                    <a:gd name="T83" fmla="*/ 1906 h 2387"/>
                    <a:gd name="T84" fmla="*/ 2418 w 2514"/>
                    <a:gd name="T85" fmla="*/ 1729 h 2387"/>
                    <a:gd name="T86" fmla="*/ 2451 w 2514"/>
                    <a:gd name="T87" fmla="*/ 1654 h 2387"/>
                    <a:gd name="T88" fmla="*/ 2502 w 2514"/>
                    <a:gd name="T89" fmla="*/ 1727 h 2387"/>
                    <a:gd name="T90" fmla="*/ 2418 w 2514"/>
                    <a:gd name="T91" fmla="*/ 1729 h 2387"/>
                    <a:gd name="T92" fmla="*/ 1990 w 2514"/>
                    <a:gd name="T93" fmla="*/ 1627 h 2387"/>
                    <a:gd name="T94" fmla="*/ 2287 w 2514"/>
                    <a:gd name="T95" fmla="*/ 1515 h 2387"/>
                    <a:gd name="T96" fmla="*/ 2320 w 2514"/>
                    <a:gd name="T97" fmla="*/ 1554 h 2387"/>
                    <a:gd name="T98" fmla="*/ 2237 w 2514"/>
                    <a:gd name="T99" fmla="*/ 1615 h 2387"/>
                    <a:gd name="T100" fmla="*/ 1990 w 2514"/>
                    <a:gd name="T101" fmla="*/ 1627 h 2387"/>
                    <a:gd name="T102" fmla="*/ 2257 w 2514"/>
                    <a:gd name="T103" fmla="*/ 1381 h 2387"/>
                    <a:gd name="T104" fmla="*/ 2269 w 2514"/>
                    <a:gd name="T105" fmla="*/ 1328 h 2387"/>
                    <a:gd name="T106" fmla="*/ 2345 w 2514"/>
                    <a:gd name="T107" fmla="*/ 1362 h 2387"/>
                    <a:gd name="T108" fmla="*/ 2306 w 2514"/>
                    <a:gd name="T109" fmla="*/ 1404 h 2387"/>
                    <a:gd name="T110" fmla="*/ 2257 w 2514"/>
                    <a:gd name="T111" fmla="*/ 1381 h 2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14" h="2387">
                      <a:moveTo>
                        <a:pt x="884" y="2368"/>
                      </a:moveTo>
                      <a:cubicBezTo>
                        <a:pt x="773" y="2352"/>
                        <a:pt x="636" y="2308"/>
                        <a:pt x="412" y="2214"/>
                      </a:cubicBezTo>
                      <a:cubicBezTo>
                        <a:pt x="334" y="2181"/>
                        <a:pt x="250" y="2154"/>
                        <a:pt x="226" y="2154"/>
                      </a:cubicBezTo>
                      <a:cubicBezTo>
                        <a:pt x="158" y="2154"/>
                        <a:pt x="157" y="2132"/>
                        <a:pt x="221" y="2037"/>
                      </a:cubicBezTo>
                      <a:cubicBezTo>
                        <a:pt x="297" y="1924"/>
                        <a:pt x="353" y="1741"/>
                        <a:pt x="339" y="1652"/>
                      </a:cubicBezTo>
                      <a:cubicBezTo>
                        <a:pt x="333" y="1615"/>
                        <a:pt x="284" y="1497"/>
                        <a:pt x="229" y="1388"/>
                      </a:cubicBezTo>
                      <a:cubicBezTo>
                        <a:pt x="106" y="1143"/>
                        <a:pt x="64" y="1020"/>
                        <a:pt x="45" y="848"/>
                      </a:cubicBezTo>
                      <a:cubicBezTo>
                        <a:pt x="0" y="455"/>
                        <a:pt x="179" y="168"/>
                        <a:pt x="545" y="44"/>
                      </a:cubicBezTo>
                      <a:cubicBezTo>
                        <a:pt x="675" y="0"/>
                        <a:pt x="1041" y="0"/>
                        <a:pt x="1195" y="44"/>
                      </a:cubicBezTo>
                      <a:cubicBezTo>
                        <a:pt x="1466" y="122"/>
                        <a:pt x="1636" y="269"/>
                        <a:pt x="1696" y="476"/>
                      </a:cubicBezTo>
                      <a:cubicBezTo>
                        <a:pt x="1715" y="542"/>
                        <a:pt x="1749" y="650"/>
                        <a:pt x="1773" y="717"/>
                      </a:cubicBezTo>
                      <a:cubicBezTo>
                        <a:pt x="1803" y="801"/>
                        <a:pt x="1813" y="854"/>
                        <a:pt x="1805" y="892"/>
                      </a:cubicBezTo>
                      <a:cubicBezTo>
                        <a:pt x="1799" y="921"/>
                        <a:pt x="1790" y="966"/>
                        <a:pt x="1785" y="991"/>
                      </a:cubicBezTo>
                      <a:cubicBezTo>
                        <a:pt x="1775" y="1039"/>
                        <a:pt x="1805" y="1093"/>
                        <a:pt x="1907" y="1208"/>
                      </a:cubicBezTo>
                      <a:cubicBezTo>
                        <a:pt x="1981" y="1292"/>
                        <a:pt x="1978" y="1328"/>
                        <a:pt x="1894" y="1371"/>
                      </a:cubicBezTo>
                      <a:cubicBezTo>
                        <a:pt x="1845" y="1397"/>
                        <a:pt x="1828" y="1414"/>
                        <a:pt x="1834" y="1434"/>
                      </a:cubicBezTo>
                      <a:cubicBezTo>
                        <a:pt x="1866" y="1535"/>
                        <a:pt x="1867" y="1531"/>
                        <a:pt x="1789" y="1587"/>
                      </a:cubicBezTo>
                      <a:cubicBezTo>
                        <a:pt x="1748" y="1617"/>
                        <a:pt x="1711" y="1651"/>
                        <a:pt x="1706" y="1662"/>
                      </a:cubicBezTo>
                      <a:cubicBezTo>
                        <a:pt x="1702" y="1673"/>
                        <a:pt x="1713" y="1714"/>
                        <a:pt x="1730" y="1753"/>
                      </a:cubicBezTo>
                      <a:cubicBezTo>
                        <a:pt x="1772" y="1846"/>
                        <a:pt x="1770" y="1874"/>
                        <a:pt x="1720" y="1921"/>
                      </a:cubicBezTo>
                      <a:cubicBezTo>
                        <a:pt x="1690" y="1949"/>
                        <a:pt x="1679" y="1977"/>
                        <a:pt x="1679" y="2023"/>
                      </a:cubicBezTo>
                      <a:cubicBezTo>
                        <a:pt x="1679" y="2105"/>
                        <a:pt x="1649" y="2169"/>
                        <a:pt x="1605" y="2180"/>
                      </a:cubicBezTo>
                      <a:cubicBezTo>
                        <a:pt x="1586" y="2185"/>
                        <a:pt x="1538" y="2177"/>
                        <a:pt x="1498" y="2163"/>
                      </a:cubicBezTo>
                      <a:cubicBezTo>
                        <a:pt x="1355" y="2113"/>
                        <a:pt x="1289" y="2136"/>
                        <a:pt x="1237" y="2257"/>
                      </a:cubicBezTo>
                      <a:cubicBezTo>
                        <a:pt x="1187" y="2373"/>
                        <a:pt x="1168" y="2387"/>
                        <a:pt x="1072" y="2385"/>
                      </a:cubicBezTo>
                      <a:cubicBezTo>
                        <a:pt x="1025" y="2384"/>
                        <a:pt x="941" y="2376"/>
                        <a:pt x="884" y="2368"/>
                      </a:cubicBezTo>
                      <a:close/>
                      <a:moveTo>
                        <a:pt x="1848" y="2072"/>
                      </a:moveTo>
                      <a:cubicBezTo>
                        <a:pt x="1814" y="2051"/>
                        <a:pt x="1832" y="1996"/>
                        <a:pt x="1875" y="1990"/>
                      </a:cubicBezTo>
                      <a:cubicBezTo>
                        <a:pt x="1920" y="1984"/>
                        <a:pt x="1942" y="2027"/>
                        <a:pt x="1912" y="2062"/>
                      </a:cubicBezTo>
                      <a:cubicBezTo>
                        <a:pt x="1888" y="2091"/>
                        <a:pt x="1879" y="2092"/>
                        <a:pt x="1848" y="2072"/>
                      </a:cubicBezTo>
                      <a:close/>
                      <a:moveTo>
                        <a:pt x="2020" y="2008"/>
                      </a:moveTo>
                      <a:cubicBezTo>
                        <a:pt x="1994" y="1965"/>
                        <a:pt x="1947" y="1891"/>
                        <a:pt x="1914" y="1846"/>
                      </a:cubicBezTo>
                      <a:lnTo>
                        <a:pt x="1854" y="1763"/>
                      </a:lnTo>
                      <a:lnTo>
                        <a:pt x="1912" y="1803"/>
                      </a:lnTo>
                      <a:cubicBezTo>
                        <a:pt x="2060" y="1904"/>
                        <a:pt x="2162" y="2031"/>
                        <a:pt x="2125" y="2068"/>
                      </a:cubicBezTo>
                      <a:cubicBezTo>
                        <a:pt x="2090" y="2102"/>
                        <a:pt x="2066" y="2089"/>
                        <a:pt x="2020" y="2008"/>
                      </a:cubicBezTo>
                      <a:close/>
                      <a:moveTo>
                        <a:pt x="2287" y="1906"/>
                      </a:moveTo>
                      <a:cubicBezTo>
                        <a:pt x="2225" y="1852"/>
                        <a:pt x="2129" y="1784"/>
                        <a:pt x="2073" y="1756"/>
                      </a:cubicBezTo>
                      <a:cubicBezTo>
                        <a:pt x="1955" y="1697"/>
                        <a:pt x="1984" y="1688"/>
                        <a:pt x="2132" y="1738"/>
                      </a:cubicBezTo>
                      <a:cubicBezTo>
                        <a:pt x="2236" y="1773"/>
                        <a:pt x="2386" y="1860"/>
                        <a:pt x="2426" y="1909"/>
                      </a:cubicBezTo>
                      <a:cubicBezTo>
                        <a:pt x="2451" y="1939"/>
                        <a:pt x="2447" y="1990"/>
                        <a:pt x="2418" y="1999"/>
                      </a:cubicBezTo>
                      <a:cubicBezTo>
                        <a:pt x="2407" y="2003"/>
                        <a:pt x="2349" y="1961"/>
                        <a:pt x="2287" y="1906"/>
                      </a:cubicBezTo>
                      <a:close/>
                      <a:moveTo>
                        <a:pt x="2418" y="1729"/>
                      </a:moveTo>
                      <a:cubicBezTo>
                        <a:pt x="2405" y="1694"/>
                        <a:pt x="2423" y="1654"/>
                        <a:pt x="2451" y="1654"/>
                      </a:cubicBezTo>
                      <a:cubicBezTo>
                        <a:pt x="2485" y="1654"/>
                        <a:pt x="2514" y="1695"/>
                        <a:pt x="2502" y="1727"/>
                      </a:cubicBezTo>
                      <a:cubicBezTo>
                        <a:pt x="2489" y="1761"/>
                        <a:pt x="2431" y="1762"/>
                        <a:pt x="2418" y="1729"/>
                      </a:cubicBezTo>
                      <a:close/>
                      <a:moveTo>
                        <a:pt x="1990" y="1627"/>
                      </a:moveTo>
                      <a:cubicBezTo>
                        <a:pt x="1979" y="1615"/>
                        <a:pt x="2231" y="1521"/>
                        <a:pt x="2287" y="1515"/>
                      </a:cubicBezTo>
                      <a:cubicBezTo>
                        <a:pt x="2312" y="1513"/>
                        <a:pt x="2320" y="1522"/>
                        <a:pt x="2320" y="1554"/>
                      </a:cubicBezTo>
                      <a:cubicBezTo>
                        <a:pt x="2320" y="1590"/>
                        <a:pt x="2310" y="1598"/>
                        <a:pt x="2237" y="1615"/>
                      </a:cubicBezTo>
                      <a:cubicBezTo>
                        <a:pt x="2144" y="1636"/>
                        <a:pt x="2007" y="1643"/>
                        <a:pt x="1990" y="1627"/>
                      </a:cubicBezTo>
                      <a:close/>
                      <a:moveTo>
                        <a:pt x="2257" y="1381"/>
                      </a:moveTo>
                      <a:cubicBezTo>
                        <a:pt x="2252" y="1368"/>
                        <a:pt x="2257" y="1344"/>
                        <a:pt x="2269" y="1328"/>
                      </a:cubicBezTo>
                      <a:cubicBezTo>
                        <a:pt x="2299" y="1288"/>
                        <a:pt x="2345" y="1309"/>
                        <a:pt x="2345" y="1362"/>
                      </a:cubicBezTo>
                      <a:cubicBezTo>
                        <a:pt x="2345" y="1395"/>
                        <a:pt x="2337" y="1404"/>
                        <a:pt x="2306" y="1404"/>
                      </a:cubicBezTo>
                      <a:cubicBezTo>
                        <a:pt x="2284" y="1404"/>
                        <a:pt x="2262" y="1393"/>
                        <a:pt x="2257" y="1381"/>
                      </a:cubicBezTo>
                      <a:close/>
                    </a:path>
                  </a:pathLst>
                </a:custGeom>
                <a:solidFill>
                  <a:schemeClr val="tx2"/>
                </a:solidFill>
                <a:ln w="0">
                  <a:no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29" name="Freeform: Shape 28">
                <a:extLst>
                  <a:ext uri="{FF2B5EF4-FFF2-40B4-BE49-F238E27FC236}">
                    <a16:creationId xmlns:a16="http://schemas.microsoft.com/office/drawing/2014/main" id="{BCC6A53C-C7D1-74D9-FE07-FF55769F30B2}"/>
                  </a:ext>
                </a:extLst>
              </p:cNvPr>
              <p:cNvSpPr/>
              <p:nvPr/>
            </p:nvSpPr>
            <p:spPr>
              <a:xfrm rot="10800000">
                <a:off x="7823317" y="268232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a:ea typeface="+mn-ea"/>
                  <a:cs typeface="Noto Sans"/>
                </a:endParaRPr>
              </a:p>
            </p:txBody>
          </p:sp>
        </p:grpSp>
        <p:sp>
          <p:nvSpPr>
            <p:cNvPr id="25" name="TextBox 24">
              <a:extLst>
                <a:ext uri="{FF2B5EF4-FFF2-40B4-BE49-F238E27FC236}">
                  <a16:creationId xmlns:a16="http://schemas.microsoft.com/office/drawing/2014/main" id="{32CE0C6D-4801-0C54-E15F-A6EF326EC2CA}"/>
                </a:ext>
              </a:extLst>
            </p:cNvPr>
            <p:cNvSpPr txBox="1"/>
            <p:nvPr/>
          </p:nvSpPr>
          <p:spPr>
            <a:xfrm>
              <a:off x="272623" y="1340918"/>
              <a:ext cx="7576551" cy="3272691"/>
            </a:xfrm>
            <a:prstGeom prst="rect">
              <a:avLst/>
            </a:prstGeom>
            <a:noFill/>
          </p:spPr>
          <p:txBody>
            <a:bodyPr wrap="square">
              <a:spAutoFit/>
            </a:bodyPr>
            <a:lstStyle/>
            <a:p>
              <a:pPr marL="285750" marR="0" lvl="0" indent="-285750" algn="l" defTabSz="914400" rtl="0" eaLnBrk="1" fontAlgn="auto" latinLnBrk="0" hangingPunct="1">
                <a:lnSpc>
                  <a:spcPts val="2200"/>
                </a:lnSpc>
                <a:spcBef>
                  <a:spcPts val="2400"/>
                </a:spcBef>
                <a:spcAft>
                  <a:spcPts val="0"/>
                </a:spcAft>
                <a:buClr>
                  <a:srgbClr val="F36633"/>
                </a:buClr>
                <a:buSzTx/>
                <a:buFont typeface="Arial" panose="020B0604020202020204" pitchFamily="34" charset="0"/>
                <a:buChar char="•"/>
                <a:tabLst>
                  <a:tab pos="224154" algn="l"/>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Chronic cough is often the first symptom of COPD and is frequently disregarded by the patient as a consequence of smoking or environmental pollution.</a:t>
              </a:r>
            </a:p>
            <a:p>
              <a:pPr marL="285750" marR="0" lvl="0" indent="-285750" algn="l" defTabSz="914400" rtl="0" eaLnBrk="1" fontAlgn="auto" latinLnBrk="0" hangingPunct="1">
                <a:lnSpc>
                  <a:spcPts val="2200"/>
                </a:lnSpc>
                <a:spcBef>
                  <a:spcPts val="2400"/>
                </a:spcBef>
                <a:spcAft>
                  <a:spcPts val="0"/>
                </a:spcAft>
                <a:buClr>
                  <a:srgbClr val="F36633"/>
                </a:buClr>
                <a:buSzTx/>
                <a:buFont typeface="Arial" panose="020B0604020202020204" pitchFamily="34" charset="0"/>
                <a:buChar char="•"/>
                <a:tabLst>
                  <a:tab pos="224154" algn="l"/>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Initially, cough may be intermittent but can often persist throughout the day.</a:t>
              </a:r>
            </a:p>
            <a:p>
              <a:pPr marL="285750" marR="0" lvl="0" indent="-285750" algn="l" defTabSz="914400" rtl="0" eaLnBrk="1" fontAlgn="auto" latinLnBrk="0" hangingPunct="1">
                <a:lnSpc>
                  <a:spcPts val="2200"/>
                </a:lnSpc>
                <a:spcBef>
                  <a:spcPts val="2400"/>
                </a:spcBef>
                <a:spcAft>
                  <a:spcPts val="0"/>
                </a:spcAft>
                <a:buClr>
                  <a:srgbClr val="F36633"/>
                </a:buClr>
                <a:buSzTx/>
                <a:buFont typeface="Arial" panose="020B0604020202020204" pitchFamily="34" charset="0"/>
                <a:buChar char="•"/>
                <a:tabLst>
                  <a:tab pos="224154" algn="l"/>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Chronic cough may or may not hamper productivity.</a:t>
              </a:r>
            </a:p>
            <a:p>
              <a:pPr marL="285750" marR="0" lvl="0" indent="-285750" algn="l" defTabSz="914400" rtl="0" eaLnBrk="1" fontAlgn="auto" latinLnBrk="0" hangingPunct="1">
                <a:lnSpc>
                  <a:spcPts val="2200"/>
                </a:lnSpc>
                <a:spcBef>
                  <a:spcPts val="2400"/>
                </a:spcBef>
                <a:spcAft>
                  <a:spcPts val="0"/>
                </a:spcAft>
                <a:buClr>
                  <a:srgbClr val="F36633"/>
                </a:buClr>
                <a:buSzTx/>
                <a:buFont typeface="Arial" panose="020B0604020202020204" pitchFamily="34" charset="0"/>
                <a:buChar char="•"/>
                <a:tabLst>
                  <a:tab pos="224154" algn="l"/>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In some cases, significant air flow limitation may develop without the presence of cough.</a:t>
              </a:r>
            </a:p>
          </p:txBody>
        </p:sp>
      </p:gr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Chronic cough: First symptom of COPD</a:t>
            </a:r>
            <a:endParaRPr lang="en-US" baseline="30000" dirty="0"/>
          </a:p>
        </p:txBody>
      </p:sp>
      <p:sp>
        <p:nvSpPr>
          <p:cNvPr id="15" name="Rectangle 14">
            <a:extLst>
              <a:ext uri="{FF2B5EF4-FFF2-40B4-BE49-F238E27FC236}">
                <a16:creationId xmlns:a16="http://schemas.microsoft.com/office/drawing/2014/main" id="{846EA697-4A5A-1201-6E2B-FCD2E95F14C4}"/>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Date Placeholder 4">
            <a:extLst>
              <a:ext uri="{FF2B5EF4-FFF2-40B4-BE49-F238E27FC236}">
                <a16:creationId xmlns:a16="http://schemas.microsoft.com/office/drawing/2014/main" id="{598DF974-51A7-4F7B-7C19-BF67FCA01804}"/>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17843601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CB078795-A40E-E074-E532-ECB8272C6327}"/>
              </a:ext>
            </a:extLst>
          </p:cNvPr>
          <p:cNvPicPr>
            <a:picLocks noChangeAspect="1"/>
          </p:cNvPicPr>
          <p:nvPr/>
        </p:nvPicPr>
        <p:blipFill rotWithShape="1">
          <a:blip r:embed="rId2" cstate="hqprint">
            <a:extLst>
              <a:ext uri="{28A0092B-C50C-407E-A947-70E740481C1C}">
                <a14:useLocalDpi xmlns:a14="http://schemas.microsoft.com/office/drawing/2010/main" val="0"/>
              </a:ext>
            </a:extLst>
          </a:blip>
          <a:srcRect l="11271" r="16730" b="153"/>
          <a:stretch/>
        </p:blipFill>
        <p:spPr>
          <a:xfrm>
            <a:off x="8347496" y="1368009"/>
            <a:ext cx="3482555" cy="3218511"/>
          </a:xfrm>
          <a:custGeom>
            <a:avLst/>
            <a:gdLst>
              <a:gd name="connsiteX0" fmla="*/ 429115 w 3482555"/>
              <a:gd name="connsiteY0" fmla="*/ 0 h 3218511"/>
              <a:gd name="connsiteX1" fmla="*/ 3317483 w 3482555"/>
              <a:gd name="connsiteY1" fmla="*/ 0 h 3218511"/>
              <a:gd name="connsiteX2" fmla="*/ 3381734 w 3482555"/>
              <a:gd name="connsiteY2" fmla="*/ 12972 h 3218511"/>
              <a:gd name="connsiteX3" fmla="*/ 3482555 w 3482555"/>
              <a:gd name="connsiteY3" fmla="*/ 165076 h 3218511"/>
              <a:gd name="connsiteX4" fmla="*/ 3482555 w 3482555"/>
              <a:gd name="connsiteY4" fmla="*/ 3053434 h 3218511"/>
              <a:gd name="connsiteX5" fmla="*/ 3317478 w 3482555"/>
              <a:gd name="connsiteY5" fmla="*/ 3218511 h 3218511"/>
              <a:gd name="connsiteX6" fmla="*/ 429120 w 3482555"/>
              <a:gd name="connsiteY6" fmla="*/ 3218511 h 3218511"/>
              <a:gd name="connsiteX7" fmla="*/ 264043 w 3482555"/>
              <a:gd name="connsiteY7" fmla="*/ 3053434 h 3218511"/>
              <a:gd name="connsiteX8" fmla="*/ 264043 w 3482555"/>
              <a:gd name="connsiteY8" fmla="*/ 1888954 h 3218511"/>
              <a:gd name="connsiteX9" fmla="*/ 4860 w 3482555"/>
              <a:gd name="connsiteY9" fmla="*/ 1614657 h 3218511"/>
              <a:gd name="connsiteX10" fmla="*/ 4860 w 3482555"/>
              <a:gd name="connsiteY10" fmla="*/ 1603857 h 3218511"/>
              <a:gd name="connsiteX11" fmla="*/ 264043 w 3482555"/>
              <a:gd name="connsiteY11" fmla="*/ 1329557 h 3218511"/>
              <a:gd name="connsiteX12" fmla="*/ 264043 w 3482555"/>
              <a:gd name="connsiteY12" fmla="*/ 165076 h 3218511"/>
              <a:gd name="connsiteX13" fmla="*/ 364864 w 3482555"/>
              <a:gd name="connsiteY13" fmla="*/ 12972 h 3218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482555" h="3218511">
                <a:moveTo>
                  <a:pt x="429115" y="0"/>
                </a:moveTo>
                <a:lnTo>
                  <a:pt x="3317483" y="0"/>
                </a:lnTo>
                <a:lnTo>
                  <a:pt x="3381734" y="12972"/>
                </a:lnTo>
                <a:cubicBezTo>
                  <a:pt x="3440982" y="38032"/>
                  <a:pt x="3482555" y="96699"/>
                  <a:pt x="3482555" y="165076"/>
                </a:cubicBezTo>
                <a:lnTo>
                  <a:pt x="3482555" y="3053434"/>
                </a:lnTo>
                <a:cubicBezTo>
                  <a:pt x="3482555" y="3144604"/>
                  <a:pt x="3408648" y="3218511"/>
                  <a:pt x="3317478" y="3218511"/>
                </a:cubicBezTo>
                <a:lnTo>
                  <a:pt x="429120" y="3218511"/>
                </a:lnTo>
                <a:cubicBezTo>
                  <a:pt x="337950" y="3218511"/>
                  <a:pt x="264043" y="3144604"/>
                  <a:pt x="264043" y="3053434"/>
                </a:cubicBezTo>
                <a:lnTo>
                  <a:pt x="264043" y="1888954"/>
                </a:lnTo>
                <a:cubicBezTo>
                  <a:pt x="264043" y="1746404"/>
                  <a:pt x="171171" y="1660013"/>
                  <a:pt x="4860" y="1614657"/>
                </a:cubicBezTo>
                <a:cubicBezTo>
                  <a:pt x="-1620" y="1612497"/>
                  <a:pt x="-1620" y="1606017"/>
                  <a:pt x="4860" y="1603857"/>
                </a:cubicBezTo>
                <a:cubicBezTo>
                  <a:pt x="171171" y="1558501"/>
                  <a:pt x="264043" y="1472107"/>
                  <a:pt x="264043" y="1329557"/>
                </a:cubicBezTo>
                <a:lnTo>
                  <a:pt x="264043" y="165076"/>
                </a:lnTo>
                <a:cubicBezTo>
                  <a:pt x="264043" y="96699"/>
                  <a:pt x="305616" y="38032"/>
                  <a:pt x="364864" y="12972"/>
                </a:cubicBezTo>
                <a:close/>
              </a:path>
            </a:pathLst>
          </a:custGeom>
        </p:spPr>
      </p:pic>
      <p:sp>
        <p:nvSpPr>
          <p:cNvPr id="12" name="TextBox 11">
            <a:extLst>
              <a:ext uri="{FF2B5EF4-FFF2-40B4-BE49-F238E27FC236}">
                <a16:creationId xmlns:a16="http://schemas.microsoft.com/office/drawing/2014/main" id="{10D7A411-E6FD-8743-2C4A-76308CEFEDDB}"/>
              </a:ext>
            </a:extLst>
          </p:cNvPr>
          <p:cNvSpPr txBox="1"/>
          <p:nvPr/>
        </p:nvSpPr>
        <p:spPr>
          <a:xfrm>
            <a:off x="272623" y="1340918"/>
            <a:ext cx="8074873" cy="3247043"/>
          </a:xfrm>
          <a:prstGeom prst="rect">
            <a:avLst/>
          </a:prstGeom>
          <a:noFill/>
        </p:spPr>
        <p:txBody>
          <a:bodyPr wrap="square">
            <a:spAutoFit/>
          </a:bodyPr>
          <a:lstStyle/>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Patients with COPD commonly produce small quantities of tenacious sputum with coughing.</a:t>
            </a:r>
            <a:r>
              <a:rPr kumimoji="0" lang="en-GB" sz="2000" b="0" i="0" u="none" strike="noStrike" kern="1200" cap="none" spc="0" normalizeH="0" baseline="30000" noProof="0" dirty="0">
                <a:ln>
                  <a:noFill/>
                </a:ln>
                <a:solidFill>
                  <a:srgbClr val="000000"/>
                </a:solidFill>
                <a:effectLst/>
                <a:uLnTx/>
                <a:uFillTx/>
                <a:latin typeface="Arial"/>
                <a:ea typeface="+mn-ea"/>
                <a:cs typeface="Arial"/>
              </a:rPr>
              <a:t>1</a:t>
            </a:r>
          </a:p>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Sputum production is often difficult to evaluate because patients may swallow rather than expectorate it.</a:t>
            </a:r>
            <a:r>
              <a:rPr kumimoji="0" lang="en-GB" sz="2000" b="0" i="0" u="none" strike="noStrike" kern="1200" cap="none" spc="0" normalizeH="0" baseline="30000" noProof="0" dirty="0">
                <a:ln>
                  <a:noFill/>
                </a:ln>
                <a:solidFill>
                  <a:srgbClr val="000000"/>
                </a:solidFill>
                <a:effectLst/>
                <a:uLnTx/>
                <a:uFillTx/>
                <a:latin typeface="Arial"/>
                <a:ea typeface="+mn-ea"/>
                <a:cs typeface="Arial"/>
              </a:rPr>
              <a:t>1</a:t>
            </a:r>
          </a:p>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Sputum production could be intermittent, with periods of flare-up interspersed with periods of remission.</a:t>
            </a:r>
            <a:r>
              <a:rPr kumimoji="0" lang="en-GB" sz="2000" b="0" i="0" u="none" strike="noStrike" kern="1200" cap="none" spc="0" normalizeH="0" baseline="30000" noProof="0" dirty="0">
                <a:ln>
                  <a:noFill/>
                </a:ln>
                <a:solidFill>
                  <a:srgbClr val="000000"/>
                </a:solidFill>
                <a:effectLst/>
                <a:uLnTx/>
                <a:uFillTx/>
                <a:latin typeface="Arial"/>
                <a:ea typeface="+mn-ea"/>
                <a:cs typeface="Arial"/>
              </a:rPr>
              <a:t>2</a:t>
            </a:r>
          </a:p>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A large volume of sputum production may be associated with underlying bronchiectasis.</a:t>
            </a:r>
            <a:r>
              <a:rPr kumimoji="0" lang="en-GB" sz="2000" b="0" i="0" u="none" strike="noStrike" kern="1200" cap="none" spc="0" normalizeH="0" baseline="30000" noProof="0" dirty="0">
                <a:ln>
                  <a:noFill/>
                </a:ln>
                <a:solidFill>
                  <a:srgbClr val="000000"/>
                </a:solidFill>
                <a:effectLst/>
                <a:uLnTx/>
                <a:uFillTx/>
                <a:latin typeface="Arial"/>
                <a:ea typeface="+mn-ea"/>
                <a:cs typeface="Arial"/>
              </a:rPr>
              <a:t>1</a:t>
            </a: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Sputum production: Common symptom in COPD</a:t>
            </a:r>
            <a:endParaRPr lang="en-US" baseline="30000" dirty="0"/>
          </a:p>
        </p:txBody>
      </p:sp>
      <p:sp>
        <p:nvSpPr>
          <p:cNvPr id="6" name="Text Placeholder 5">
            <a:extLst>
              <a:ext uri="{FF2B5EF4-FFF2-40B4-BE49-F238E27FC236}">
                <a16:creationId xmlns:a16="http://schemas.microsoft.com/office/drawing/2014/main" id="{F17C11BB-E762-4977-F47A-040E9F0856CC}"/>
              </a:ext>
            </a:extLst>
          </p:cNvPr>
          <p:cNvSpPr>
            <a:spLocks noGrp="1"/>
          </p:cNvSpPr>
          <p:nvPr>
            <p:ph type="body" sz="quarter" idx="13"/>
          </p:nvPr>
        </p:nvSpPr>
        <p:spPr>
          <a:xfrm>
            <a:off x="365125" y="5863837"/>
            <a:ext cx="11460164" cy="298800"/>
          </a:xfrm>
        </p:spPr>
        <p:txBody>
          <a:bodyPr/>
          <a:lstStyle/>
          <a:p>
            <a:r>
              <a:rPr lang="en-US" sz="800" dirty="0"/>
              <a:t>1. </a:t>
            </a:r>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3">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r>
              <a:rPr lang="en-US" sz="800" dirty="0"/>
              <a:t>; 2. Allinson JP, et al. </a:t>
            </a:r>
            <a:r>
              <a:rPr lang="en-US" sz="800" i="1" dirty="0"/>
              <a:t>Am J Respir Crit Care</a:t>
            </a:r>
            <a:r>
              <a:rPr lang="en-US" sz="800" dirty="0"/>
              <a:t> </a:t>
            </a:r>
            <a:r>
              <a:rPr lang="en-US" sz="800" i="1" dirty="0"/>
              <a:t>Med</a:t>
            </a:r>
            <a:r>
              <a:rPr lang="en-US" sz="800" dirty="0"/>
              <a:t>. 2016;193(6):662-672.</a:t>
            </a:r>
            <a:endParaRPr lang="en-US" sz="800" dirty="0">
              <a:latin typeface="Arial"/>
              <a:cs typeface="Arial"/>
            </a:endParaRPr>
          </a:p>
        </p:txBody>
      </p:sp>
      <p:sp>
        <p:nvSpPr>
          <p:cNvPr id="17" name="Rectangle 16">
            <a:extLst>
              <a:ext uri="{FF2B5EF4-FFF2-40B4-BE49-F238E27FC236}">
                <a16:creationId xmlns:a16="http://schemas.microsoft.com/office/drawing/2014/main" id="{D2CC65AB-5061-0E72-D65E-70E0F90A9CDB}"/>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Date Placeholder 4">
            <a:extLst>
              <a:ext uri="{FF2B5EF4-FFF2-40B4-BE49-F238E27FC236}">
                <a16:creationId xmlns:a16="http://schemas.microsoft.com/office/drawing/2014/main" id="{BF23EE1B-1EBC-9C7E-5A8A-D331ADBA7247}"/>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911668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79E3F3CF-35A9-D162-DA38-474FFC3F7EB2}"/>
              </a:ext>
            </a:extLst>
          </p:cNvPr>
          <p:cNvSpPr txBox="1"/>
          <p:nvPr/>
        </p:nvSpPr>
        <p:spPr>
          <a:xfrm>
            <a:off x="272623" y="1340918"/>
            <a:ext cx="8338916" cy="2400657"/>
          </a:xfrm>
          <a:prstGeom prst="rect">
            <a:avLst/>
          </a:prstGeom>
          <a:noFill/>
        </p:spPr>
        <p:txBody>
          <a:bodyPr wrap="square">
            <a:spAutoFit/>
          </a:bodyPr>
          <a:lstStyle/>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May vary between days and over the course of a single day.</a:t>
            </a:r>
          </a:p>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Chest tightness often follows exertion, is poorly localised and may arise from isometric contraction of intercostal muscles. </a:t>
            </a:r>
          </a:p>
          <a:p>
            <a:pPr marL="342900" marR="1072515" lvl="0" indent="-342900" algn="l" defTabSz="914400" rtl="0" eaLnBrk="1" fontAlgn="auto" latinLnBrk="0" hangingPunct="1">
              <a:lnSpc>
                <a:spcPct val="100000"/>
              </a:lnSpc>
              <a:spcBef>
                <a:spcPts val="600"/>
              </a:spcBef>
              <a:spcAft>
                <a:spcPts val="1200"/>
              </a:spcAft>
              <a:buClr>
                <a:srgbClr val="F36633"/>
              </a:buClr>
              <a:buSzTx/>
              <a:buFont typeface="Arial" panose="020B0604020202020204" pitchFamily="34" charset="0"/>
              <a:buChar char="•"/>
              <a:tabLst>
                <a:tab pos="224154" algn="l"/>
              </a:tabLst>
              <a:defRPr/>
            </a:pPr>
            <a:r>
              <a:rPr kumimoji="0" lang="en-GB" sz="2000" b="0" i="0" u="none" strike="noStrike" kern="1200" cap="none" spc="0" normalizeH="0" baseline="0" noProof="0" dirty="0">
                <a:ln>
                  <a:noFill/>
                </a:ln>
                <a:solidFill>
                  <a:srgbClr val="000000"/>
                </a:solidFill>
                <a:effectLst/>
                <a:uLnTx/>
                <a:uFillTx/>
                <a:latin typeface="Arial"/>
                <a:ea typeface="+mn-ea"/>
                <a:cs typeface="Arial"/>
              </a:rPr>
              <a:t>The absence of wheezing or chest tightness does not exclude diagnosis of COPD.</a:t>
            </a: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Wheezing and chest tightness: Common symptom in COPD</a:t>
            </a:r>
            <a:endParaRPr lang="en-US" baseline="30000" dirty="0"/>
          </a:p>
        </p:txBody>
      </p:sp>
      <p:sp>
        <p:nvSpPr>
          <p:cNvPr id="7" name="Text Placeholder 6">
            <a:extLst>
              <a:ext uri="{FF2B5EF4-FFF2-40B4-BE49-F238E27FC236}">
                <a16:creationId xmlns:a16="http://schemas.microsoft.com/office/drawing/2014/main" id="{01E42E7E-479B-7E67-93BF-7EF831D1186A}"/>
              </a:ext>
            </a:extLst>
          </p:cNvPr>
          <p:cNvSpPr>
            <a:spLocks noGrp="1"/>
          </p:cNvSpPr>
          <p:nvPr>
            <p:ph type="body" sz="quarter" idx="13"/>
          </p:nvPr>
        </p:nvSpPr>
        <p:spPr>
          <a:xfrm>
            <a:off x="365125" y="5863836"/>
            <a:ext cx="11460164" cy="298800"/>
          </a:xfrm>
        </p:spPr>
        <p:txBody>
          <a:bodyPr/>
          <a:lstStyle/>
          <a:p>
            <a:pPr marR="5080">
              <a:spcBef>
                <a:spcPts val="95"/>
              </a:spcBef>
            </a:pPr>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p>
        </p:txBody>
      </p:sp>
      <p:grpSp>
        <p:nvGrpSpPr>
          <p:cNvPr id="103" name="Group 102">
            <a:extLst>
              <a:ext uri="{FF2B5EF4-FFF2-40B4-BE49-F238E27FC236}">
                <a16:creationId xmlns:a16="http://schemas.microsoft.com/office/drawing/2014/main" id="{9ADE00B3-4678-7E1D-6AA1-9FD2DB2311CC}"/>
              </a:ext>
            </a:extLst>
          </p:cNvPr>
          <p:cNvGrpSpPr/>
          <p:nvPr/>
        </p:nvGrpSpPr>
        <p:grpSpPr>
          <a:xfrm>
            <a:off x="8347496" y="1368007"/>
            <a:ext cx="3482555" cy="3218512"/>
            <a:chOff x="8347496" y="1368007"/>
            <a:chExt cx="3482555" cy="3218512"/>
          </a:xfrm>
        </p:grpSpPr>
        <p:sp>
          <p:nvSpPr>
            <p:cNvPr id="13" name="Rectangle: Rounded Corners 12">
              <a:extLst>
                <a:ext uri="{FF2B5EF4-FFF2-40B4-BE49-F238E27FC236}">
                  <a16:creationId xmlns:a16="http://schemas.microsoft.com/office/drawing/2014/main" id="{4B17BF5A-8A86-8C53-7EC5-5D695B80076F}"/>
                </a:ext>
              </a:extLst>
            </p:cNvPr>
            <p:cNvSpPr/>
            <p:nvPr/>
          </p:nvSpPr>
          <p:spPr bwMode="auto">
            <a:xfrm>
              <a:off x="8611539" y="1368007"/>
              <a:ext cx="3218512" cy="3218512"/>
            </a:xfrm>
            <a:prstGeom prst="roundRect">
              <a:avLst>
                <a:gd name="adj" fmla="val 5129"/>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2" name="Freeform: Shape 11">
              <a:extLst>
                <a:ext uri="{FF2B5EF4-FFF2-40B4-BE49-F238E27FC236}">
                  <a16:creationId xmlns:a16="http://schemas.microsoft.com/office/drawing/2014/main" id="{34BB5B6E-B664-4D7D-E886-7F2D4EDF3DCE}"/>
                </a:ext>
              </a:extLst>
            </p:cNvPr>
            <p:cNvSpPr/>
            <p:nvPr/>
          </p:nvSpPr>
          <p:spPr>
            <a:xfrm rot="10800000">
              <a:off x="8347496" y="2697565"/>
              <a:ext cx="264043"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prstClr val="white"/>
                </a:solidFill>
                <a:effectLst/>
                <a:uLnTx/>
                <a:uFillTx/>
                <a:latin typeface="Arial"/>
                <a:ea typeface="+mn-ea"/>
                <a:cs typeface="Noto Sans"/>
              </a:endParaRPr>
            </a:p>
          </p:txBody>
        </p:sp>
        <p:grpSp>
          <p:nvGrpSpPr>
            <p:cNvPr id="102" name="Group 101">
              <a:extLst>
                <a:ext uri="{FF2B5EF4-FFF2-40B4-BE49-F238E27FC236}">
                  <a16:creationId xmlns:a16="http://schemas.microsoft.com/office/drawing/2014/main" id="{BF8E0ACD-1A3D-1054-8A92-4B30B1B85A8C}"/>
                </a:ext>
              </a:extLst>
            </p:cNvPr>
            <p:cNvGrpSpPr/>
            <p:nvPr/>
          </p:nvGrpSpPr>
          <p:grpSpPr>
            <a:xfrm>
              <a:off x="9438751" y="1918764"/>
              <a:ext cx="1564088" cy="2116999"/>
              <a:chOff x="9665676" y="1892867"/>
              <a:chExt cx="1564088" cy="2116999"/>
            </a:xfrm>
          </p:grpSpPr>
          <p:grpSp>
            <p:nvGrpSpPr>
              <p:cNvPr id="97" name="Group 96">
                <a:extLst>
                  <a:ext uri="{FF2B5EF4-FFF2-40B4-BE49-F238E27FC236}">
                    <a16:creationId xmlns:a16="http://schemas.microsoft.com/office/drawing/2014/main" id="{824F5EBD-AF0E-9939-55EB-ECDADA75FEF5}"/>
                  </a:ext>
                </a:extLst>
              </p:cNvPr>
              <p:cNvGrpSpPr/>
              <p:nvPr/>
            </p:nvGrpSpPr>
            <p:grpSpPr>
              <a:xfrm>
                <a:off x="9665676" y="1892867"/>
                <a:ext cx="1564088" cy="1967514"/>
                <a:chOff x="9665676" y="1892867"/>
                <a:chExt cx="1564088" cy="1967514"/>
              </a:xfrm>
            </p:grpSpPr>
            <p:sp>
              <p:nvSpPr>
                <p:cNvPr id="96" name="Freeform: Shape 95">
                  <a:extLst>
                    <a:ext uri="{FF2B5EF4-FFF2-40B4-BE49-F238E27FC236}">
                      <a16:creationId xmlns:a16="http://schemas.microsoft.com/office/drawing/2014/main" id="{314EC79D-2E23-A4E1-C0B0-321EEB7F5113}"/>
                    </a:ext>
                  </a:extLst>
                </p:cNvPr>
                <p:cNvSpPr/>
                <p:nvPr/>
              </p:nvSpPr>
              <p:spPr>
                <a:xfrm rot="503673">
                  <a:off x="9665676" y="1892867"/>
                  <a:ext cx="1564088" cy="1967514"/>
                </a:xfrm>
                <a:custGeom>
                  <a:avLst/>
                  <a:gdLst>
                    <a:gd name="connsiteX0" fmla="*/ 815395 w 1564088"/>
                    <a:gd name="connsiteY0" fmla="*/ 4639 h 1967514"/>
                    <a:gd name="connsiteX1" fmla="*/ 932619 w 1564088"/>
                    <a:gd name="connsiteY1" fmla="*/ 1076 h 1967514"/>
                    <a:gd name="connsiteX2" fmla="*/ 1500945 w 1564088"/>
                    <a:gd name="connsiteY2" fmla="*/ 414216 h 1967514"/>
                    <a:gd name="connsiteX3" fmla="*/ 1468987 w 1564088"/>
                    <a:gd name="connsiteY3" fmla="*/ 1128612 h 1967514"/>
                    <a:gd name="connsiteX4" fmla="*/ 1398234 w 1564088"/>
                    <a:gd name="connsiteY4" fmla="*/ 1292962 h 1967514"/>
                    <a:gd name="connsiteX5" fmla="*/ 1398224 w 1564088"/>
                    <a:gd name="connsiteY5" fmla="*/ 1292952 h 1967514"/>
                    <a:gd name="connsiteX6" fmla="*/ 1407339 w 1564088"/>
                    <a:gd name="connsiteY6" fmla="*/ 1491532 h 1967514"/>
                    <a:gd name="connsiteX7" fmla="*/ 1459556 w 1564088"/>
                    <a:gd name="connsiteY7" fmla="*/ 1781982 h 1967514"/>
                    <a:gd name="connsiteX8" fmla="*/ 1470910 w 1564088"/>
                    <a:gd name="connsiteY8" fmla="*/ 1864099 h 1967514"/>
                    <a:gd name="connsiteX9" fmla="*/ 770125 w 1564088"/>
                    <a:gd name="connsiteY9" fmla="*/ 1967514 h 1967514"/>
                    <a:gd name="connsiteX10" fmla="*/ 720327 w 1564088"/>
                    <a:gd name="connsiteY10" fmla="*/ 1852190 h 1967514"/>
                    <a:gd name="connsiteX11" fmla="*/ 629018 w 1564088"/>
                    <a:gd name="connsiteY11" fmla="*/ 1754032 h 1967514"/>
                    <a:gd name="connsiteX12" fmla="*/ 425883 w 1564088"/>
                    <a:gd name="connsiteY12" fmla="*/ 1797399 h 1967514"/>
                    <a:gd name="connsiteX13" fmla="*/ 240997 w 1564088"/>
                    <a:gd name="connsiteY13" fmla="*/ 1751746 h 1967514"/>
                    <a:gd name="connsiteX14" fmla="*/ 243285 w 1564088"/>
                    <a:gd name="connsiteY14" fmla="*/ 1651321 h 1967514"/>
                    <a:gd name="connsiteX15" fmla="*/ 234149 w 1564088"/>
                    <a:gd name="connsiteY15" fmla="*/ 1612513 h 1967514"/>
                    <a:gd name="connsiteX16" fmla="*/ 229594 w 1564088"/>
                    <a:gd name="connsiteY16" fmla="*/ 1585129 h 1967514"/>
                    <a:gd name="connsiteX17" fmla="*/ 291232 w 1564088"/>
                    <a:gd name="connsiteY17" fmla="*/ 1548609 h 1967514"/>
                    <a:gd name="connsiteX18" fmla="*/ 272962 w 1564088"/>
                    <a:gd name="connsiteY18" fmla="*/ 1496107 h 1967514"/>
                    <a:gd name="connsiteX19" fmla="*/ 231887 w 1564088"/>
                    <a:gd name="connsiteY19" fmla="*/ 1507510 h 1967514"/>
                    <a:gd name="connsiteX20" fmla="*/ 183961 w 1564088"/>
                    <a:gd name="connsiteY20" fmla="*/ 1459587 h 1967514"/>
                    <a:gd name="connsiteX21" fmla="*/ 183961 w 1564088"/>
                    <a:gd name="connsiteY21" fmla="*/ 1443605 h 1967514"/>
                    <a:gd name="connsiteX22" fmla="*/ 1362 w 1564088"/>
                    <a:gd name="connsiteY22" fmla="*/ 1297526 h 1967514"/>
                    <a:gd name="connsiteX23" fmla="*/ 58420 w 1564088"/>
                    <a:gd name="connsiteY23" fmla="*/ 1135465 h 1967514"/>
                    <a:gd name="connsiteX24" fmla="*/ 81248 w 1564088"/>
                    <a:gd name="connsiteY24" fmla="*/ 850155 h 1967514"/>
                    <a:gd name="connsiteX25" fmla="*/ 49284 w 1564088"/>
                    <a:gd name="connsiteY25" fmla="*/ 523770 h 1967514"/>
                    <a:gd name="connsiteX26" fmla="*/ 476112 w 1564088"/>
                    <a:gd name="connsiteY26" fmla="*/ 106075 h 1967514"/>
                    <a:gd name="connsiteX27" fmla="*/ 815395 w 1564088"/>
                    <a:gd name="connsiteY27" fmla="*/ 4639 h 19675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564088" h="1967514">
                      <a:moveTo>
                        <a:pt x="815395" y="4639"/>
                      </a:moveTo>
                      <a:cubicBezTo>
                        <a:pt x="854162" y="218"/>
                        <a:pt x="893248" y="-1208"/>
                        <a:pt x="932619" y="1076"/>
                      </a:cubicBezTo>
                      <a:cubicBezTo>
                        <a:pt x="1179117" y="14792"/>
                        <a:pt x="1402790" y="188250"/>
                        <a:pt x="1500945" y="414216"/>
                      </a:cubicBezTo>
                      <a:cubicBezTo>
                        <a:pt x="1599082" y="637878"/>
                        <a:pt x="1578546" y="907206"/>
                        <a:pt x="1468987" y="1128612"/>
                      </a:cubicBezTo>
                      <a:cubicBezTo>
                        <a:pt x="1441601" y="1183403"/>
                        <a:pt x="1411928" y="1233617"/>
                        <a:pt x="1398234" y="1292962"/>
                      </a:cubicBezTo>
                      <a:lnTo>
                        <a:pt x="1398224" y="1292952"/>
                      </a:lnTo>
                      <a:cubicBezTo>
                        <a:pt x="1384534" y="1356855"/>
                        <a:pt x="1395937" y="1427608"/>
                        <a:pt x="1407339" y="1491532"/>
                      </a:cubicBezTo>
                      <a:cubicBezTo>
                        <a:pt x="1418754" y="1566859"/>
                        <a:pt x="1441010" y="1671282"/>
                        <a:pt x="1459556" y="1781982"/>
                      </a:cubicBezTo>
                      <a:lnTo>
                        <a:pt x="1470910" y="1864099"/>
                      </a:lnTo>
                      <a:lnTo>
                        <a:pt x="770125" y="1967514"/>
                      </a:lnTo>
                      <a:lnTo>
                        <a:pt x="720327" y="1852190"/>
                      </a:lnTo>
                      <a:cubicBezTo>
                        <a:pt x="699770" y="1811090"/>
                        <a:pt x="672386" y="1770015"/>
                        <a:pt x="629018" y="1754032"/>
                      </a:cubicBezTo>
                      <a:cubicBezTo>
                        <a:pt x="562826" y="1728921"/>
                        <a:pt x="492075" y="1770015"/>
                        <a:pt x="425883" y="1797399"/>
                      </a:cubicBezTo>
                      <a:cubicBezTo>
                        <a:pt x="357403" y="1824785"/>
                        <a:pt x="261534" y="1820224"/>
                        <a:pt x="240997" y="1751746"/>
                      </a:cubicBezTo>
                      <a:cubicBezTo>
                        <a:pt x="231882" y="1719801"/>
                        <a:pt x="240997" y="1683281"/>
                        <a:pt x="243285" y="1651321"/>
                      </a:cubicBezTo>
                      <a:cubicBezTo>
                        <a:pt x="243285" y="1635338"/>
                        <a:pt x="238709" y="1621648"/>
                        <a:pt x="234149" y="1612513"/>
                      </a:cubicBezTo>
                      <a:cubicBezTo>
                        <a:pt x="229594" y="1605666"/>
                        <a:pt x="222747" y="1594264"/>
                        <a:pt x="229594" y="1585129"/>
                      </a:cubicBezTo>
                      <a:cubicBezTo>
                        <a:pt x="241017" y="1566875"/>
                        <a:pt x="234175" y="1560012"/>
                        <a:pt x="291232" y="1548609"/>
                      </a:cubicBezTo>
                      <a:cubicBezTo>
                        <a:pt x="348288" y="1537182"/>
                        <a:pt x="325463" y="1475565"/>
                        <a:pt x="272962" y="1496107"/>
                      </a:cubicBezTo>
                      <a:lnTo>
                        <a:pt x="231887" y="1507510"/>
                      </a:lnTo>
                      <a:cubicBezTo>
                        <a:pt x="204503" y="1514378"/>
                        <a:pt x="179405" y="1489259"/>
                        <a:pt x="183961" y="1459587"/>
                      </a:cubicBezTo>
                      <a:lnTo>
                        <a:pt x="183961" y="1443605"/>
                      </a:lnTo>
                      <a:cubicBezTo>
                        <a:pt x="158843" y="1290678"/>
                        <a:pt x="21904" y="1388836"/>
                        <a:pt x="1362" y="1297526"/>
                      </a:cubicBezTo>
                      <a:cubicBezTo>
                        <a:pt x="-7774" y="1249579"/>
                        <a:pt x="31034" y="1215351"/>
                        <a:pt x="58420" y="1135465"/>
                      </a:cubicBezTo>
                      <a:cubicBezTo>
                        <a:pt x="94939" y="1032753"/>
                        <a:pt x="99519" y="957426"/>
                        <a:pt x="81248" y="850155"/>
                      </a:cubicBezTo>
                      <a:cubicBezTo>
                        <a:pt x="62979" y="740600"/>
                        <a:pt x="31018" y="631041"/>
                        <a:pt x="49284" y="523770"/>
                      </a:cubicBezTo>
                      <a:cubicBezTo>
                        <a:pt x="83532" y="320634"/>
                        <a:pt x="286667" y="188250"/>
                        <a:pt x="476112" y="106075"/>
                      </a:cubicBezTo>
                      <a:cubicBezTo>
                        <a:pt x="585671" y="58133"/>
                        <a:pt x="699094" y="17904"/>
                        <a:pt x="815395" y="4639"/>
                      </a:cubicBezTo>
                      <a:close/>
                    </a:path>
                  </a:pathLst>
                </a:custGeom>
                <a:solidFill>
                  <a:schemeClr val="tx2"/>
                </a:solidFill>
                <a:ln w="296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6" name="Freeform: Shape 85">
                  <a:extLst>
                    <a:ext uri="{FF2B5EF4-FFF2-40B4-BE49-F238E27FC236}">
                      <a16:creationId xmlns:a16="http://schemas.microsoft.com/office/drawing/2014/main" id="{B5E24D75-7269-EF43-ADC2-024E67D4B627}"/>
                    </a:ext>
                  </a:extLst>
                </p:cNvPr>
                <p:cNvSpPr/>
                <p:nvPr/>
              </p:nvSpPr>
              <p:spPr bwMode="auto">
                <a:xfrm>
                  <a:off x="9819730" y="3275506"/>
                  <a:ext cx="783411" cy="572594"/>
                </a:xfrm>
                <a:custGeom>
                  <a:avLst/>
                  <a:gdLst>
                    <a:gd name="connsiteX0" fmla="*/ 242296 w 783411"/>
                    <a:gd name="connsiteY0" fmla="*/ 0 h 572594"/>
                    <a:gd name="connsiteX1" fmla="*/ 308768 w 783411"/>
                    <a:gd name="connsiteY1" fmla="*/ 0 h 572594"/>
                    <a:gd name="connsiteX2" fmla="*/ 783411 w 783411"/>
                    <a:gd name="connsiteY2" fmla="*/ 474643 h 572594"/>
                    <a:gd name="connsiteX3" fmla="*/ 783411 w 783411"/>
                    <a:gd name="connsiteY3" fmla="*/ 572594 h 572594"/>
                    <a:gd name="connsiteX4" fmla="*/ 673374 w 783411"/>
                    <a:gd name="connsiteY4" fmla="*/ 572594 h 572594"/>
                    <a:gd name="connsiteX5" fmla="*/ 673374 w 783411"/>
                    <a:gd name="connsiteY5" fmla="*/ 469891 h 572594"/>
                    <a:gd name="connsiteX6" fmla="*/ 265405 w 783411"/>
                    <a:gd name="connsiteY6" fmla="*/ 61922 h 572594"/>
                    <a:gd name="connsiteX7" fmla="*/ 65585 w 783411"/>
                    <a:gd name="connsiteY7" fmla="*/ 61922 h 572594"/>
                    <a:gd name="connsiteX8" fmla="*/ 0 w 783411"/>
                    <a:gd name="connsiteY8" fmla="*/ 68534 h 572594"/>
                    <a:gd name="connsiteX9" fmla="*/ 57544 w 783411"/>
                    <a:gd name="connsiteY9" fmla="*/ 37300 h 572594"/>
                    <a:gd name="connsiteX10" fmla="*/ 242296 w 783411"/>
                    <a:gd name="connsiteY10" fmla="*/ 0 h 572594"/>
                    <a:gd name="connsiteX0" fmla="*/ 242296 w 783411"/>
                    <a:gd name="connsiteY0" fmla="*/ 0 h 572594"/>
                    <a:gd name="connsiteX1" fmla="*/ 308768 w 783411"/>
                    <a:gd name="connsiteY1" fmla="*/ 0 h 572594"/>
                    <a:gd name="connsiteX2" fmla="*/ 783411 w 783411"/>
                    <a:gd name="connsiteY2" fmla="*/ 474643 h 572594"/>
                    <a:gd name="connsiteX3" fmla="*/ 783411 w 783411"/>
                    <a:gd name="connsiteY3" fmla="*/ 572594 h 572594"/>
                    <a:gd name="connsiteX4" fmla="*/ 673374 w 783411"/>
                    <a:gd name="connsiteY4" fmla="*/ 572594 h 572594"/>
                    <a:gd name="connsiteX5" fmla="*/ 673374 w 783411"/>
                    <a:gd name="connsiteY5" fmla="*/ 469891 h 572594"/>
                    <a:gd name="connsiteX6" fmla="*/ 265405 w 783411"/>
                    <a:gd name="connsiteY6" fmla="*/ 61922 h 572594"/>
                    <a:gd name="connsiteX7" fmla="*/ 56060 w 783411"/>
                    <a:gd name="connsiteY7" fmla="*/ 85735 h 572594"/>
                    <a:gd name="connsiteX8" fmla="*/ 0 w 783411"/>
                    <a:gd name="connsiteY8" fmla="*/ 68534 h 572594"/>
                    <a:gd name="connsiteX9" fmla="*/ 57544 w 783411"/>
                    <a:gd name="connsiteY9" fmla="*/ 37300 h 572594"/>
                    <a:gd name="connsiteX10" fmla="*/ 242296 w 783411"/>
                    <a:gd name="connsiteY10" fmla="*/ 0 h 572594"/>
                    <a:gd name="connsiteX0" fmla="*/ 242296 w 783411"/>
                    <a:gd name="connsiteY0" fmla="*/ 0 h 572594"/>
                    <a:gd name="connsiteX1" fmla="*/ 308768 w 783411"/>
                    <a:gd name="connsiteY1" fmla="*/ 0 h 572594"/>
                    <a:gd name="connsiteX2" fmla="*/ 783411 w 783411"/>
                    <a:gd name="connsiteY2" fmla="*/ 474643 h 572594"/>
                    <a:gd name="connsiteX3" fmla="*/ 783411 w 783411"/>
                    <a:gd name="connsiteY3" fmla="*/ 572594 h 572594"/>
                    <a:gd name="connsiteX4" fmla="*/ 673374 w 783411"/>
                    <a:gd name="connsiteY4" fmla="*/ 572594 h 572594"/>
                    <a:gd name="connsiteX5" fmla="*/ 673374 w 783411"/>
                    <a:gd name="connsiteY5" fmla="*/ 469891 h 572594"/>
                    <a:gd name="connsiteX6" fmla="*/ 265405 w 783411"/>
                    <a:gd name="connsiteY6" fmla="*/ 61922 h 572594"/>
                    <a:gd name="connsiteX7" fmla="*/ 56060 w 783411"/>
                    <a:gd name="connsiteY7" fmla="*/ 85735 h 572594"/>
                    <a:gd name="connsiteX8" fmla="*/ 0 w 783411"/>
                    <a:gd name="connsiteY8" fmla="*/ 68534 h 572594"/>
                    <a:gd name="connsiteX9" fmla="*/ 40875 w 783411"/>
                    <a:gd name="connsiteY9" fmla="*/ 37300 h 572594"/>
                    <a:gd name="connsiteX10" fmla="*/ 242296 w 783411"/>
                    <a:gd name="connsiteY10" fmla="*/ 0 h 572594"/>
                    <a:gd name="connsiteX0" fmla="*/ 242296 w 783411"/>
                    <a:gd name="connsiteY0" fmla="*/ 0 h 572594"/>
                    <a:gd name="connsiteX1" fmla="*/ 308768 w 783411"/>
                    <a:gd name="connsiteY1" fmla="*/ 0 h 572594"/>
                    <a:gd name="connsiteX2" fmla="*/ 783411 w 783411"/>
                    <a:gd name="connsiteY2" fmla="*/ 474643 h 572594"/>
                    <a:gd name="connsiteX3" fmla="*/ 783411 w 783411"/>
                    <a:gd name="connsiteY3" fmla="*/ 572594 h 572594"/>
                    <a:gd name="connsiteX4" fmla="*/ 673374 w 783411"/>
                    <a:gd name="connsiteY4" fmla="*/ 572594 h 572594"/>
                    <a:gd name="connsiteX5" fmla="*/ 673374 w 783411"/>
                    <a:gd name="connsiteY5" fmla="*/ 469891 h 572594"/>
                    <a:gd name="connsiteX6" fmla="*/ 265405 w 783411"/>
                    <a:gd name="connsiteY6" fmla="*/ 61922 h 572594"/>
                    <a:gd name="connsiteX7" fmla="*/ 56060 w 783411"/>
                    <a:gd name="connsiteY7" fmla="*/ 85735 h 572594"/>
                    <a:gd name="connsiteX8" fmla="*/ 0 w 783411"/>
                    <a:gd name="connsiteY8" fmla="*/ 68534 h 572594"/>
                    <a:gd name="connsiteX9" fmla="*/ 40875 w 783411"/>
                    <a:gd name="connsiteY9" fmla="*/ 37300 h 572594"/>
                    <a:gd name="connsiteX10" fmla="*/ 242296 w 783411"/>
                    <a:gd name="connsiteY10" fmla="*/ 0 h 5725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83411" h="572594">
                      <a:moveTo>
                        <a:pt x="242296" y="0"/>
                      </a:moveTo>
                      <a:lnTo>
                        <a:pt x="308768" y="0"/>
                      </a:lnTo>
                      <a:cubicBezTo>
                        <a:pt x="570906" y="0"/>
                        <a:pt x="783411" y="212505"/>
                        <a:pt x="783411" y="474643"/>
                      </a:cubicBezTo>
                      <a:lnTo>
                        <a:pt x="783411" y="572594"/>
                      </a:lnTo>
                      <a:lnTo>
                        <a:pt x="673374" y="572594"/>
                      </a:lnTo>
                      <a:lnTo>
                        <a:pt x="673374" y="469891"/>
                      </a:lnTo>
                      <a:cubicBezTo>
                        <a:pt x="673374" y="244576"/>
                        <a:pt x="490720" y="61922"/>
                        <a:pt x="265405" y="61922"/>
                      </a:cubicBezTo>
                      <a:lnTo>
                        <a:pt x="56060" y="85735"/>
                      </a:lnTo>
                      <a:lnTo>
                        <a:pt x="0" y="68534"/>
                      </a:lnTo>
                      <a:lnTo>
                        <a:pt x="40875" y="37300"/>
                      </a:lnTo>
                      <a:cubicBezTo>
                        <a:pt x="107185" y="15663"/>
                        <a:pt x="176762" y="0"/>
                        <a:pt x="242296" y="0"/>
                      </a:cubicBezTo>
                      <a:close/>
                    </a:path>
                  </a:pathLst>
                </a:cu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87" name="Oval 86">
                  <a:extLst>
                    <a:ext uri="{FF2B5EF4-FFF2-40B4-BE49-F238E27FC236}">
                      <a16:creationId xmlns:a16="http://schemas.microsoft.com/office/drawing/2014/main" id="{2D80DFBB-106E-EC8D-41BD-781F8E6A9F88}"/>
                    </a:ext>
                  </a:extLst>
                </p:cNvPr>
                <p:cNvSpPr/>
                <p:nvPr/>
              </p:nvSpPr>
              <p:spPr bwMode="auto">
                <a:xfrm>
                  <a:off x="10301517" y="3643545"/>
                  <a:ext cx="116512" cy="116512"/>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88" name="Oval 87">
                  <a:extLst>
                    <a:ext uri="{FF2B5EF4-FFF2-40B4-BE49-F238E27FC236}">
                      <a16:creationId xmlns:a16="http://schemas.microsoft.com/office/drawing/2014/main" id="{07B6E243-7DF6-4BB4-DC9E-3158C01537C6}"/>
                    </a:ext>
                  </a:extLst>
                </p:cNvPr>
                <p:cNvSpPr/>
                <p:nvPr/>
              </p:nvSpPr>
              <p:spPr bwMode="auto">
                <a:xfrm>
                  <a:off x="9867900" y="2988201"/>
                  <a:ext cx="55113" cy="55113"/>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89" name="Oval 88">
                  <a:extLst>
                    <a:ext uri="{FF2B5EF4-FFF2-40B4-BE49-F238E27FC236}">
                      <a16:creationId xmlns:a16="http://schemas.microsoft.com/office/drawing/2014/main" id="{51CE38C5-1FBF-DFBC-63F4-D65981FC04C8}"/>
                    </a:ext>
                  </a:extLst>
                </p:cNvPr>
                <p:cNvSpPr/>
                <p:nvPr/>
              </p:nvSpPr>
              <p:spPr bwMode="auto">
                <a:xfrm>
                  <a:off x="9968888" y="2964120"/>
                  <a:ext cx="55113" cy="55113"/>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90" name="Oval 89">
                  <a:extLst>
                    <a:ext uri="{FF2B5EF4-FFF2-40B4-BE49-F238E27FC236}">
                      <a16:creationId xmlns:a16="http://schemas.microsoft.com/office/drawing/2014/main" id="{EE574E9E-7F6B-72EB-0E20-9A04B73D95DB}"/>
                    </a:ext>
                  </a:extLst>
                </p:cNvPr>
                <p:cNvSpPr/>
                <p:nvPr/>
              </p:nvSpPr>
              <p:spPr bwMode="auto">
                <a:xfrm>
                  <a:off x="10089877" y="2990314"/>
                  <a:ext cx="55113" cy="55113"/>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91" name="Oval 90">
                  <a:extLst>
                    <a:ext uri="{FF2B5EF4-FFF2-40B4-BE49-F238E27FC236}">
                      <a16:creationId xmlns:a16="http://schemas.microsoft.com/office/drawing/2014/main" id="{282C3B2D-2974-F93C-BA19-4EF682CA0FA3}"/>
                    </a:ext>
                  </a:extLst>
                </p:cNvPr>
                <p:cNvSpPr/>
                <p:nvPr/>
              </p:nvSpPr>
              <p:spPr bwMode="auto">
                <a:xfrm>
                  <a:off x="10220795" y="3066428"/>
                  <a:ext cx="55113" cy="55113"/>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92" name="Oval 91">
                  <a:extLst>
                    <a:ext uri="{FF2B5EF4-FFF2-40B4-BE49-F238E27FC236}">
                      <a16:creationId xmlns:a16="http://schemas.microsoft.com/office/drawing/2014/main" id="{B1189B11-E7EB-DB96-6E4A-6642685BF0EE}"/>
                    </a:ext>
                  </a:extLst>
                </p:cNvPr>
                <p:cNvSpPr/>
                <p:nvPr/>
              </p:nvSpPr>
              <p:spPr bwMode="auto">
                <a:xfrm>
                  <a:off x="10316565" y="3187006"/>
                  <a:ext cx="55113" cy="55113"/>
                </a:xfrm>
                <a:prstGeom prst="ellipse">
                  <a:avLst/>
                </a:prstGeom>
                <a:solidFill>
                  <a:srgbClr val="F2F2F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01" name="Group 100">
                <a:extLst>
                  <a:ext uri="{FF2B5EF4-FFF2-40B4-BE49-F238E27FC236}">
                    <a16:creationId xmlns:a16="http://schemas.microsoft.com/office/drawing/2014/main" id="{326AA4E9-FA3D-30B5-875B-3B93E5B9DED3}"/>
                  </a:ext>
                </a:extLst>
              </p:cNvPr>
              <p:cNvGrpSpPr/>
              <p:nvPr/>
            </p:nvGrpSpPr>
            <p:grpSpPr>
              <a:xfrm rot="12600000">
                <a:off x="10012872" y="3518860"/>
                <a:ext cx="491006" cy="491006"/>
                <a:chOff x="11294264" y="3265110"/>
                <a:chExt cx="491006" cy="491006"/>
              </a:xfrm>
            </p:grpSpPr>
            <p:sp>
              <p:nvSpPr>
                <p:cNvPr id="98" name="Arc 97">
                  <a:extLst>
                    <a:ext uri="{FF2B5EF4-FFF2-40B4-BE49-F238E27FC236}">
                      <a16:creationId xmlns:a16="http://schemas.microsoft.com/office/drawing/2014/main" id="{F59AAF1A-9DE0-B4E4-AB18-2BDBE9D40C16}"/>
                    </a:ext>
                  </a:extLst>
                </p:cNvPr>
                <p:cNvSpPr/>
                <p:nvPr/>
              </p:nvSpPr>
              <p:spPr>
                <a:xfrm>
                  <a:off x="11425238" y="3396084"/>
                  <a:ext cx="229058" cy="229058"/>
                </a:xfrm>
                <a:prstGeom prst="arc">
                  <a:avLst/>
                </a:prstGeom>
                <a:ln w="19050" cap="rnd">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9" name="Arc 98">
                  <a:extLst>
                    <a:ext uri="{FF2B5EF4-FFF2-40B4-BE49-F238E27FC236}">
                      <a16:creationId xmlns:a16="http://schemas.microsoft.com/office/drawing/2014/main" id="{0C8CD7FE-A960-1151-93A5-F16398B2BD8A}"/>
                    </a:ext>
                  </a:extLst>
                </p:cNvPr>
                <p:cNvSpPr/>
                <p:nvPr/>
              </p:nvSpPr>
              <p:spPr>
                <a:xfrm>
                  <a:off x="11355317" y="3326163"/>
                  <a:ext cx="368900" cy="368900"/>
                </a:xfrm>
                <a:prstGeom prst="arc">
                  <a:avLst/>
                </a:prstGeom>
                <a:ln w="19050" cap="rnd">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0" name="Arc 99">
                  <a:extLst>
                    <a:ext uri="{FF2B5EF4-FFF2-40B4-BE49-F238E27FC236}">
                      <a16:creationId xmlns:a16="http://schemas.microsoft.com/office/drawing/2014/main" id="{FE4DA42E-8F0E-7325-576F-BD39F6552441}"/>
                    </a:ext>
                  </a:extLst>
                </p:cNvPr>
                <p:cNvSpPr/>
                <p:nvPr/>
              </p:nvSpPr>
              <p:spPr>
                <a:xfrm>
                  <a:off x="11294264" y="3265110"/>
                  <a:ext cx="491006" cy="491006"/>
                </a:xfrm>
                <a:prstGeom prst="arc">
                  <a:avLst/>
                </a:prstGeom>
                <a:ln w="19050" cap="rnd">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grpSp>
        </p:grpSp>
      </p:grpSp>
      <p:sp>
        <p:nvSpPr>
          <p:cNvPr id="20" name="Rectangle 19">
            <a:extLst>
              <a:ext uri="{FF2B5EF4-FFF2-40B4-BE49-F238E27FC236}">
                <a16:creationId xmlns:a16="http://schemas.microsoft.com/office/drawing/2014/main" id="{47F7A3B9-6DCE-9AE3-8FFB-EF2CBD6E9491}"/>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 name="Date Placeholder 4">
            <a:extLst>
              <a:ext uri="{FF2B5EF4-FFF2-40B4-BE49-F238E27FC236}">
                <a16:creationId xmlns:a16="http://schemas.microsoft.com/office/drawing/2014/main" id="{3596170B-11F0-F495-780A-3BC6C20DDE4B}"/>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7723890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Exacerbations:</a:t>
            </a:r>
            <a:br>
              <a:rPr lang="en-US" dirty="0"/>
            </a:br>
            <a:r>
              <a:rPr lang="en-US" dirty="0"/>
              <a:t>A key component of COPD</a:t>
            </a:r>
          </a:p>
        </p:txBody>
      </p:sp>
      <p:sp>
        <p:nvSpPr>
          <p:cNvPr id="2" name="Rectangle 1">
            <a:extLst>
              <a:ext uri="{FF2B5EF4-FFF2-40B4-BE49-F238E27FC236}">
                <a16:creationId xmlns:a16="http://schemas.microsoft.com/office/drawing/2014/main" id="{E3585C1F-41AB-9531-CE66-452B43147E95}"/>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12686410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Rounded Corners 13">
            <a:extLst>
              <a:ext uri="{FF2B5EF4-FFF2-40B4-BE49-F238E27FC236}">
                <a16:creationId xmlns:a16="http://schemas.microsoft.com/office/drawing/2014/main" id="{0E55D54E-EEA0-18C4-0DF1-B6EC38886E66}"/>
              </a:ext>
            </a:extLst>
          </p:cNvPr>
          <p:cNvSpPr/>
          <p:nvPr/>
        </p:nvSpPr>
        <p:spPr bwMode="auto">
          <a:xfrm>
            <a:off x="365919" y="1300161"/>
            <a:ext cx="11460162" cy="4135665"/>
          </a:xfrm>
          <a:prstGeom prst="roundRect">
            <a:avLst>
              <a:gd name="adj" fmla="val 6073"/>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4" name="Rounded Rectangle 3"/>
          <p:cNvSpPr/>
          <p:nvPr/>
        </p:nvSpPr>
        <p:spPr>
          <a:xfrm>
            <a:off x="1010293" y="1574515"/>
            <a:ext cx="10171415" cy="3708971"/>
          </a:xfrm>
          <a:prstGeom prst="roundRect">
            <a:avLst>
              <a:gd name="adj" fmla="val 2263"/>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20" name="Text Placeholder 19"/>
          <p:cNvSpPr>
            <a:spLocks noGrp="1"/>
          </p:cNvSpPr>
          <p:nvPr>
            <p:ph type="body" sz="quarter" idx="18"/>
          </p:nvPr>
        </p:nvSpPr>
        <p:spPr>
          <a:xfrm>
            <a:off x="365125" y="5864250"/>
            <a:ext cx="11460164" cy="298800"/>
          </a:xfrm>
        </p:spPr>
        <p:txBody>
          <a:bodyPr/>
          <a:lstStyle/>
          <a:p>
            <a:r>
              <a:rPr lang="en-US" sz="800" dirty="0">
                <a:latin typeface="Arial"/>
                <a:cs typeface="Arial"/>
              </a:rPr>
              <a:t>GOLD, Global Initiative for Chronic Obstructive Lung Disease.</a:t>
            </a:r>
          </a:p>
          <a:p>
            <a:endParaRPr lang="en-US" sz="800" dirty="0">
              <a:latin typeface="Arial"/>
              <a:cs typeface="Arial"/>
            </a:endParaRPr>
          </a:p>
          <a:p>
            <a:r>
              <a:rPr lang="en-US" sz="800"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sz="800" kern="100" dirty="0">
                <a:effectLst/>
                <a:ea typeface="Calibri" panose="020F0502020204030204" pitchFamily="34" charset="0"/>
                <a:cs typeface="Times New Roman" panose="02020603050405020304" pitchFamily="18" charset="0"/>
                <a:hlinkClick r:id="rId2"/>
              </a:rPr>
              <a:t>https://goldcopd.org/wp-content/uploads/2024/11/GOLD-2025-Report-v1.0-15Nov2024_WMV.pdf</a:t>
            </a:r>
            <a:r>
              <a:rPr lang="en-US" sz="800" kern="100" dirty="0">
                <a:effectLst/>
                <a:ea typeface="Calibri" panose="020F0502020204030204" pitchFamily="34" charset="0"/>
                <a:cs typeface="Times New Roman" panose="02020603050405020304" pitchFamily="18" charset="0"/>
              </a:rPr>
              <a:t>. Accessed November </a:t>
            </a:r>
            <a:r>
              <a:rPr lang="en-US" sz="800" kern="100" dirty="0">
                <a:ea typeface="Calibri" panose="020F0502020204030204" pitchFamily="34" charset="0"/>
                <a:cs typeface="Times New Roman" panose="02020603050405020304" pitchFamily="18" charset="0"/>
              </a:rPr>
              <a:t>21,</a:t>
            </a:r>
            <a:r>
              <a:rPr lang="en-US" sz="800" kern="100" dirty="0">
                <a:effectLst/>
                <a:ea typeface="Calibri" panose="020F0502020204030204" pitchFamily="34" charset="0"/>
                <a:cs typeface="Times New Roman" panose="02020603050405020304" pitchFamily="18" charset="0"/>
              </a:rPr>
              <a:t> 2024.</a:t>
            </a:r>
            <a:endParaRPr lang="en-US" sz="800" dirty="0">
              <a:latin typeface="+mj-lt"/>
              <a:cs typeface="Arial"/>
            </a:endParaRPr>
          </a:p>
        </p:txBody>
      </p:sp>
      <p:sp>
        <p:nvSpPr>
          <p:cNvPr id="16" name="Slide Number Placeholder 15"/>
          <p:cNvSpPr>
            <a:spLocks noGrp="1"/>
          </p:cNvSpPr>
          <p:nvPr>
            <p:ph type="sldNum" sz="quarter" idx="2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What is an exacerbation of COPD?</a:t>
            </a:r>
          </a:p>
        </p:txBody>
      </p:sp>
      <p:sp>
        <p:nvSpPr>
          <p:cNvPr id="9" name="object 7"/>
          <p:cNvSpPr txBox="1"/>
          <p:nvPr/>
        </p:nvSpPr>
        <p:spPr>
          <a:xfrm>
            <a:off x="1508928" y="2183631"/>
            <a:ext cx="9174144" cy="2368725"/>
          </a:xfrm>
          <a:prstGeom prst="rect">
            <a:avLst/>
          </a:prstGeom>
        </p:spPr>
        <p:txBody>
          <a:bodyPr vert="horz" wrap="square" lIns="0" tIns="12700" rIns="0" bIns="0" rtlCol="0">
            <a:spAutoFit/>
          </a:bodyPr>
          <a:lstStyle/>
          <a:p>
            <a:pPr marL="0" marR="186690" lvl="0" indent="-635" algn="ctr" defTabSz="914400" rtl="0" eaLnBrk="1" fontAlgn="auto" latinLnBrk="0" hangingPunct="1">
              <a:lnSpc>
                <a:spcPts val="3100"/>
              </a:lnSpc>
              <a:spcBef>
                <a:spcPts val="0"/>
              </a:spcBef>
              <a:spcAft>
                <a:spcPts val="0"/>
              </a:spcAft>
              <a:buClrTx/>
              <a:buSzTx/>
              <a:buFontTx/>
              <a:buNone/>
              <a:tabLst/>
              <a:defRPr/>
            </a:pPr>
            <a:r>
              <a:rPr kumimoji="0" lang="en-IN" sz="2400" b="1" i="1" u="none" strike="noStrike" kern="1200" cap="none" spc="0" normalizeH="0" baseline="0" noProof="0" dirty="0">
                <a:ln>
                  <a:noFill/>
                </a:ln>
                <a:solidFill>
                  <a:srgbClr val="000000"/>
                </a:solidFill>
                <a:effectLst/>
                <a:uLnTx/>
                <a:uFillTx/>
                <a:latin typeface="Arial"/>
                <a:ea typeface="+mn-ea"/>
                <a:cs typeface="Arial"/>
              </a:rPr>
              <a:t>‘An exacerbation of </a:t>
            </a:r>
            <a:r>
              <a:rPr kumimoji="0" lang="en-US" sz="2400" b="1" i="1" u="none" strike="noStrike" kern="1200" cap="none" spc="0" normalizeH="0" baseline="0" noProof="0" dirty="0">
                <a:ln>
                  <a:noFill/>
                </a:ln>
                <a:solidFill>
                  <a:srgbClr val="000000"/>
                </a:solidFill>
                <a:effectLst/>
                <a:uLnTx/>
                <a:uFillTx/>
                <a:latin typeface="Arial"/>
                <a:ea typeface="+mn-ea"/>
                <a:cs typeface="Arial"/>
              </a:rPr>
              <a:t>Chronic Obstructive Pulmonary Disease (COPD) is an event characterized by increase dyspnea and/or cough and sputum that worsens in &lt; 14 days which may be accompanied by tachypnea and/or tachycardia and is often associated with increased local and systemic inflammation caused by infection, pollution, or other insult to the </a:t>
            </a:r>
            <a:r>
              <a:rPr kumimoji="0" lang="en-GB" sz="2400" b="1" i="1" u="none" strike="noStrike" kern="1200" cap="none" spc="0" normalizeH="0" baseline="0" noProof="0" dirty="0">
                <a:ln>
                  <a:noFill/>
                </a:ln>
                <a:solidFill>
                  <a:srgbClr val="000000"/>
                </a:solidFill>
                <a:effectLst/>
                <a:uLnTx/>
                <a:uFillTx/>
                <a:latin typeface="Arial"/>
                <a:ea typeface="+mn-ea"/>
                <a:cs typeface="Arial"/>
              </a:rPr>
              <a:t>airways</a:t>
            </a:r>
            <a:r>
              <a:rPr kumimoji="0" lang="en-US" sz="2400" b="1" i="1" u="none" strike="noStrike" kern="1200" cap="none" spc="0" normalizeH="0" baseline="0" noProof="0" dirty="0">
                <a:ln>
                  <a:noFill/>
                </a:ln>
                <a:solidFill>
                  <a:srgbClr val="000000"/>
                </a:solidFill>
                <a:effectLst/>
                <a:uLnTx/>
                <a:uFillTx/>
                <a:latin typeface="Arial"/>
                <a:ea typeface="+mn-ea"/>
                <a:cs typeface="Arial"/>
              </a:rPr>
              <a:t>’.</a:t>
            </a:r>
            <a:endParaRPr kumimoji="0" sz="2400" b="1" i="0" u="none" strike="noStrike" kern="1200" cap="none" spc="0" normalizeH="0" baseline="30000" noProof="0" dirty="0">
              <a:ln>
                <a:noFill/>
              </a:ln>
              <a:solidFill>
                <a:srgbClr val="000000"/>
              </a:solidFill>
              <a:effectLst/>
              <a:uLnTx/>
              <a:uFillTx/>
              <a:latin typeface="Arial"/>
              <a:ea typeface="+mn-ea"/>
              <a:cs typeface="Arial"/>
            </a:endParaRPr>
          </a:p>
        </p:txBody>
      </p:sp>
      <p:sp>
        <p:nvSpPr>
          <p:cNvPr id="13" name="Subtitle 12">
            <a:extLst>
              <a:ext uri="{FF2B5EF4-FFF2-40B4-BE49-F238E27FC236}">
                <a16:creationId xmlns:a16="http://schemas.microsoft.com/office/drawing/2014/main" id="{81F3592D-9BC9-AA7D-2441-A6D1F0EAE210}"/>
              </a:ext>
            </a:extLst>
          </p:cNvPr>
          <p:cNvSpPr>
            <a:spLocks noGrp="1"/>
          </p:cNvSpPr>
          <p:nvPr>
            <p:ph type="subTitle" idx="1"/>
          </p:nvPr>
        </p:nvSpPr>
        <p:spPr>
          <a:xfrm>
            <a:off x="365125" y="694950"/>
            <a:ext cx="11460162" cy="352800"/>
          </a:xfrm>
        </p:spPr>
        <p:txBody>
          <a:bodyPr/>
          <a:lstStyle/>
          <a:p>
            <a:r>
              <a:rPr lang="en-US" dirty="0"/>
              <a:t> Revised GOLD 2025 definition</a:t>
            </a:r>
          </a:p>
        </p:txBody>
      </p:sp>
      <p:sp>
        <p:nvSpPr>
          <p:cNvPr id="2" name="Rectangle 1">
            <a:extLst>
              <a:ext uri="{FF2B5EF4-FFF2-40B4-BE49-F238E27FC236}">
                <a16:creationId xmlns:a16="http://schemas.microsoft.com/office/drawing/2014/main" id="{6B4317E8-7C5B-09A2-7207-1CE6064EC9AE}"/>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Date Placeholder 2">
            <a:extLst>
              <a:ext uri="{FF2B5EF4-FFF2-40B4-BE49-F238E27FC236}">
                <a16:creationId xmlns:a16="http://schemas.microsoft.com/office/drawing/2014/main" id="{E83C3F2B-EAFC-C240-0B5E-447CB860028B}"/>
              </a:ext>
            </a:extLst>
          </p:cNvPr>
          <p:cNvSpPr>
            <a:spLocks noGrp="1"/>
          </p:cNvSpPr>
          <p:nvPr>
            <p:ph type="dt" sz="half" idx="19"/>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B124F8D-6A21-41BB-B641-CA493D4F9456}" type="datetime4">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66496665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solidFill>
                  <a:srgbClr val="F36500"/>
                </a:solidFill>
              </a:rPr>
              <a:t>Exacerbations are important events in the management of COPD</a:t>
            </a:r>
            <a:endParaRPr lang="en-US" baseline="30000" dirty="0"/>
          </a:p>
        </p:txBody>
      </p:sp>
      <p:sp>
        <p:nvSpPr>
          <p:cNvPr id="9" name="object 7"/>
          <p:cNvSpPr txBox="1"/>
          <p:nvPr/>
        </p:nvSpPr>
        <p:spPr>
          <a:xfrm>
            <a:off x="383106" y="959159"/>
            <a:ext cx="11425788" cy="457200"/>
          </a:xfrm>
          <a:prstGeom prst="roundRect">
            <a:avLst/>
          </a:prstGeom>
          <a:solidFill>
            <a:schemeClr val="tx2"/>
          </a:solidFill>
        </p:spPr>
        <p:txBody>
          <a:bodyPr vert="horz" wrap="square" lIns="0" tIns="0" rIns="0" bIns="0" rtlCol="0" anchor="ctr" anchorCtr="0">
            <a:noAutofit/>
          </a:bodyPr>
          <a:lstStyle/>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Arial"/>
              </a:rPr>
              <a:t>Exacerbation: An acute worsening of respiratory symptoms that results in additional therapy</a:t>
            </a:r>
            <a:endParaRPr kumimoji="0" sz="1800" b="0" i="0" u="none" strike="noStrike" kern="1200" cap="none" spc="0" normalizeH="0" baseline="0" noProof="0" dirty="0">
              <a:ln>
                <a:noFill/>
              </a:ln>
              <a:solidFill>
                <a:srgbClr val="000000"/>
              </a:solidFill>
              <a:effectLst/>
              <a:uLnTx/>
              <a:uFillTx/>
              <a:latin typeface="Arial"/>
              <a:ea typeface="+mn-ea"/>
              <a:cs typeface="Arial"/>
            </a:endParaRPr>
          </a:p>
        </p:txBody>
      </p:sp>
      <p:sp>
        <p:nvSpPr>
          <p:cNvPr id="23" name="Text Placeholder 22">
            <a:extLst>
              <a:ext uri="{FF2B5EF4-FFF2-40B4-BE49-F238E27FC236}">
                <a16:creationId xmlns:a16="http://schemas.microsoft.com/office/drawing/2014/main" id="{36969A7C-E79A-0B88-4057-1D3498D1F81F}"/>
              </a:ext>
            </a:extLst>
          </p:cNvPr>
          <p:cNvSpPr>
            <a:spLocks noGrp="1"/>
          </p:cNvSpPr>
          <p:nvPr>
            <p:ph type="body" sz="quarter" idx="13"/>
          </p:nvPr>
        </p:nvSpPr>
        <p:spPr>
          <a:xfrm>
            <a:off x="365125" y="5864552"/>
            <a:ext cx="11460164" cy="298800"/>
          </a:xfrm>
        </p:spPr>
        <p:txBody>
          <a:bodyPr/>
          <a:lstStyle/>
          <a:p>
            <a:pPr>
              <a:spcBef>
                <a:spcPts val="95"/>
              </a:spcBef>
            </a:pPr>
            <a:r>
              <a:rPr lang="en-US" sz="800" dirty="0">
                <a:latin typeface="Arial"/>
                <a:cs typeface="Arial"/>
              </a:rPr>
              <a:t>SABD, short-acting bronchodilator.</a:t>
            </a:r>
          </a:p>
          <a:p>
            <a:pPr>
              <a:spcBef>
                <a:spcPts val="95"/>
              </a:spcBef>
            </a:pPr>
            <a:r>
              <a:rPr lang="en-US" sz="800" dirty="0">
                <a:latin typeface="Arial"/>
                <a:cs typeface="Arial"/>
              </a:rPr>
              <a:t>GOLD. Global Strategy for the Diagnosis, Management, and Prevention of Chronic Obstructive Pulmonary Disease (2023 Report). </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https://goldcopd.org/2023-gold-report-2/</a:t>
            </a:r>
            <a:r>
              <a:rPr lang="en-US" sz="800" dirty="0">
                <a:latin typeface="Arial"/>
                <a:cs typeface="Arial"/>
              </a:rPr>
              <a:t>. Accessed February 20, 2023.</a:t>
            </a:r>
          </a:p>
        </p:txBody>
      </p:sp>
      <p:grpSp>
        <p:nvGrpSpPr>
          <p:cNvPr id="41" name="Group 40">
            <a:extLst>
              <a:ext uri="{FF2B5EF4-FFF2-40B4-BE49-F238E27FC236}">
                <a16:creationId xmlns:a16="http://schemas.microsoft.com/office/drawing/2014/main" id="{440BC53B-11D7-8D98-B4A1-65D6DDAE63E9}"/>
              </a:ext>
            </a:extLst>
          </p:cNvPr>
          <p:cNvGrpSpPr/>
          <p:nvPr/>
        </p:nvGrpSpPr>
        <p:grpSpPr>
          <a:xfrm>
            <a:off x="272623" y="1643645"/>
            <a:ext cx="11557428" cy="3805799"/>
            <a:chOff x="272623" y="1923395"/>
            <a:chExt cx="11557428" cy="3805799"/>
          </a:xfrm>
        </p:grpSpPr>
        <p:pic>
          <p:nvPicPr>
            <p:cNvPr id="40" name="Picture 39">
              <a:extLst>
                <a:ext uri="{FF2B5EF4-FFF2-40B4-BE49-F238E27FC236}">
                  <a16:creationId xmlns:a16="http://schemas.microsoft.com/office/drawing/2014/main" id="{353131F5-2386-B9B7-40D5-0FF626F8DD9E}"/>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98" t="4198" r="9019" b="4198"/>
            <a:stretch/>
          </p:blipFill>
          <p:spPr>
            <a:xfrm>
              <a:off x="7649024" y="1923395"/>
              <a:ext cx="4181027" cy="3805799"/>
            </a:xfrm>
            <a:custGeom>
              <a:avLst/>
              <a:gdLst>
                <a:gd name="connsiteX0" fmla="*/ 346277 w 3482555"/>
                <a:gd name="connsiteY0" fmla="*/ 0 h 3170012"/>
                <a:gd name="connsiteX1" fmla="*/ 3400321 w 3482555"/>
                <a:gd name="connsiteY1" fmla="*/ 0 h 3170012"/>
                <a:gd name="connsiteX2" fmla="*/ 3422483 w 3482555"/>
                <a:gd name="connsiteY2" fmla="*/ 13446 h 3170012"/>
                <a:gd name="connsiteX3" fmla="*/ 3482555 w 3482555"/>
                <a:gd name="connsiteY3" fmla="*/ 140827 h 3170012"/>
                <a:gd name="connsiteX4" fmla="*/ 3482555 w 3482555"/>
                <a:gd name="connsiteY4" fmla="*/ 3029185 h 3170012"/>
                <a:gd name="connsiteX5" fmla="*/ 3434205 w 3482555"/>
                <a:gd name="connsiteY5" fmla="*/ 3145913 h 3170012"/>
                <a:gd name="connsiteX6" fmla="*/ 3398461 w 3482555"/>
                <a:gd name="connsiteY6" fmla="*/ 3170012 h 3170012"/>
                <a:gd name="connsiteX7" fmla="*/ 348138 w 3482555"/>
                <a:gd name="connsiteY7" fmla="*/ 3170012 h 3170012"/>
                <a:gd name="connsiteX8" fmla="*/ 312393 w 3482555"/>
                <a:gd name="connsiteY8" fmla="*/ 3145913 h 3170012"/>
                <a:gd name="connsiteX9" fmla="*/ 264043 w 3482555"/>
                <a:gd name="connsiteY9" fmla="*/ 3029185 h 3170012"/>
                <a:gd name="connsiteX10" fmla="*/ 264043 w 3482555"/>
                <a:gd name="connsiteY10" fmla="*/ 1864705 h 3170012"/>
                <a:gd name="connsiteX11" fmla="*/ 4860 w 3482555"/>
                <a:gd name="connsiteY11" fmla="*/ 1590408 h 3170012"/>
                <a:gd name="connsiteX12" fmla="*/ 4860 w 3482555"/>
                <a:gd name="connsiteY12" fmla="*/ 1579608 h 3170012"/>
                <a:gd name="connsiteX13" fmla="*/ 264043 w 3482555"/>
                <a:gd name="connsiteY13" fmla="*/ 1305308 h 3170012"/>
                <a:gd name="connsiteX14" fmla="*/ 264043 w 3482555"/>
                <a:gd name="connsiteY14" fmla="*/ 140827 h 3170012"/>
                <a:gd name="connsiteX15" fmla="*/ 324115 w 3482555"/>
                <a:gd name="connsiteY15" fmla="*/ 13446 h 3170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482555" h="3170012">
                  <a:moveTo>
                    <a:pt x="346277" y="0"/>
                  </a:moveTo>
                  <a:lnTo>
                    <a:pt x="3400321" y="0"/>
                  </a:lnTo>
                  <a:lnTo>
                    <a:pt x="3422483" y="13446"/>
                  </a:lnTo>
                  <a:cubicBezTo>
                    <a:pt x="3459170" y="43723"/>
                    <a:pt x="3482555" y="89544"/>
                    <a:pt x="3482555" y="140827"/>
                  </a:cubicBezTo>
                  <a:lnTo>
                    <a:pt x="3482555" y="3029185"/>
                  </a:lnTo>
                  <a:cubicBezTo>
                    <a:pt x="3482555" y="3074770"/>
                    <a:pt x="3464078" y="3116040"/>
                    <a:pt x="3434205" y="3145913"/>
                  </a:cubicBezTo>
                  <a:lnTo>
                    <a:pt x="3398461" y="3170012"/>
                  </a:lnTo>
                  <a:lnTo>
                    <a:pt x="348138" y="3170012"/>
                  </a:lnTo>
                  <a:lnTo>
                    <a:pt x="312393" y="3145913"/>
                  </a:lnTo>
                  <a:cubicBezTo>
                    <a:pt x="282520" y="3116040"/>
                    <a:pt x="264043" y="3074770"/>
                    <a:pt x="264043" y="3029185"/>
                  </a:cubicBezTo>
                  <a:lnTo>
                    <a:pt x="264043" y="1864705"/>
                  </a:lnTo>
                  <a:cubicBezTo>
                    <a:pt x="264043" y="1722155"/>
                    <a:pt x="171171" y="1635764"/>
                    <a:pt x="4860" y="1590408"/>
                  </a:cubicBezTo>
                  <a:cubicBezTo>
                    <a:pt x="-1620" y="1588248"/>
                    <a:pt x="-1620" y="1581768"/>
                    <a:pt x="4860" y="1579608"/>
                  </a:cubicBezTo>
                  <a:cubicBezTo>
                    <a:pt x="171171" y="1534252"/>
                    <a:pt x="264043" y="1447858"/>
                    <a:pt x="264043" y="1305308"/>
                  </a:cubicBezTo>
                  <a:lnTo>
                    <a:pt x="264043" y="140827"/>
                  </a:lnTo>
                  <a:cubicBezTo>
                    <a:pt x="264043" y="89544"/>
                    <a:pt x="287428" y="43723"/>
                    <a:pt x="324115" y="13446"/>
                  </a:cubicBezTo>
                  <a:close/>
                </a:path>
              </a:pathLst>
            </a:custGeom>
          </p:spPr>
        </p:pic>
        <p:sp>
          <p:nvSpPr>
            <p:cNvPr id="36" name="TextBox 35">
              <a:extLst>
                <a:ext uri="{FF2B5EF4-FFF2-40B4-BE49-F238E27FC236}">
                  <a16:creationId xmlns:a16="http://schemas.microsoft.com/office/drawing/2014/main" id="{1E57FDEE-E834-FA27-4491-A468EFDC1D06}"/>
                </a:ext>
              </a:extLst>
            </p:cNvPr>
            <p:cNvSpPr txBox="1"/>
            <p:nvPr/>
          </p:nvSpPr>
          <p:spPr>
            <a:xfrm>
              <a:off x="272623" y="1933468"/>
              <a:ext cx="7456463" cy="3708708"/>
            </a:xfrm>
            <a:prstGeom prst="rect">
              <a:avLst/>
            </a:prstGeom>
            <a:noFill/>
          </p:spPr>
          <p:txBody>
            <a:bodyPr wrap="square">
              <a:spAutoFit/>
            </a:bodyPr>
            <a:lstStyle/>
            <a:p>
              <a:pPr marL="285750" marR="4318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368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Exacerbations of respiratory symptoms can be triggered by factors (alone or in combination) such as bacterial/viral infections and environmental pollutants.</a:t>
              </a:r>
            </a:p>
            <a:p>
              <a:pPr marL="285750" marR="4318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368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Exacerbations of COPD are important events in the management of COPD because they negatively impact health status and increase the chance of hospitalisation and disease progression. </a:t>
              </a:r>
            </a:p>
            <a:p>
              <a:pPr marL="285750" marR="4318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368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COPD exacerbations are complex events usually associated with increased airway inflammation, increased mucous production and marked gas trapping.</a:t>
              </a:r>
            </a:p>
            <a:p>
              <a:pPr marL="285750" marR="43180" lvl="0"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368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Till now, grading of severity of an exacerbation has been based on the use of healthcare resources; however, this leads to variability in exacerbation outcomes due to differences in local resources and criteria for hospital visits </a:t>
              </a:r>
            </a:p>
            <a:p>
              <a:pPr marL="742950" marR="43180" lvl="1" indent="-285750" algn="l" defTabSz="914400" rtl="0" eaLnBrk="1" fontAlgn="auto" latinLnBrk="0" hangingPunct="1">
                <a:lnSpc>
                  <a:spcPts val="1800"/>
                </a:lnSpc>
                <a:spcBef>
                  <a:spcPts val="1200"/>
                </a:spcBef>
                <a:spcAft>
                  <a:spcPts val="0"/>
                </a:spcAft>
                <a:buClr>
                  <a:srgbClr val="F36633"/>
                </a:buClr>
                <a:buSzTx/>
                <a:buFont typeface="Arial" panose="020B0604020202020204" pitchFamily="34" charset="0"/>
                <a:buChar char="•"/>
                <a:tabLst>
                  <a:tab pos="236854" algn="l"/>
                </a:tabLst>
                <a:defRPr/>
              </a:pPr>
              <a:r>
                <a:rPr kumimoji="0" lang="en-GB" sz="1600" b="0" i="0" u="none" strike="noStrike" kern="1200" cap="none" spc="0" normalizeH="0" baseline="0" noProof="0" dirty="0">
                  <a:ln>
                    <a:noFill/>
                  </a:ln>
                  <a:solidFill>
                    <a:srgbClr val="000000"/>
                  </a:solidFill>
                  <a:effectLst/>
                  <a:uLnTx/>
                  <a:uFillTx/>
                  <a:latin typeface="Arial"/>
                  <a:ea typeface="+mn-ea"/>
                  <a:cs typeface="Arial"/>
                </a:rPr>
                <a:t>Notably, as per GOLD 2025, exacerbations are classified as </a:t>
              </a:r>
              <a:r>
                <a:rPr kumimoji="0" lang="en-GB" sz="1600" b="1" i="0" u="none" strike="noStrike" kern="1200" cap="none" spc="0" normalizeH="0" baseline="0" noProof="0" dirty="0">
                  <a:ln>
                    <a:noFill/>
                  </a:ln>
                  <a:solidFill>
                    <a:srgbClr val="000000"/>
                  </a:solidFill>
                  <a:effectLst/>
                  <a:uLnTx/>
                  <a:uFillTx/>
                  <a:latin typeface="Arial"/>
                  <a:ea typeface="+mn-ea"/>
                  <a:cs typeface="Arial"/>
                </a:rPr>
                <a:t>mild, moderate, or severe </a:t>
              </a:r>
              <a:r>
                <a:rPr kumimoji="0" lang="en-GB" sz="1600" b="0" i="0" u="none" strike="noStrike" kern="1200" cap="none" spc="0" normalizeH="0" baseline="0" noProof="0" dirty="0">
                  <a:ln>
                    <a:noFill/>
                  </a:ln>
                  <a:solidFill>
                    <a:srgbClr val="000000"/>
                  </a:solidFill>
                  <a:effectLst/>
                  <a:uLnTx/>
                  <a:uFillTx/>
                  <a:latin typeface="Arial"/>
                  <a:ea typeface="+mn-ea"/>
                  <a:cs typeface="Arial"/>
                </a:rPr>
                <a:t>based on clinically measurable thresholds.</a:t>
              </a:r>
            </a:p>
          </p:txBody>
        </p:sp>
      </p:grpSp>
      <p:sp>
        <p:nvSpPr>
          <p:cNvPr id="15" name="Rectangle 14">
            <a:extLst>
              <a:ext uri="{FF2B5EF4-FFF2-40B4-BE49-F238E27FC236}">
                <a16:creationId xmlns:a16="http://schemas.microsoft.com/office/drawing/2014/main" id="{27006EA6-5816-38EC-09C3-AA3B4B425918}"/>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Date Placeholder 4">
            <a:extLst>
              <a:ext uri="{FF2B5EF4-FFF2-40B4-BE49-F238E27FC236}">
                <a16:creationId xmlns:a16="http://schemas.microsoft.com/office/drawing/2014/main" id="{FDC61B04-9F36-2CF8-9A28-EC5482BD62A4}"/>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4107157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solidFill>
                  <a:srgbClr val="F36500"/>
                </a:solidFill>
              </a:rPr>
              <a:t>The cause of COPD exacerbations is heterogeneous</a:t>
            </a:r>
            <a:r>
              <a:rPr lang="en-US" baseline="30000" dirty="0">
                <a:solidFill>
                  <a:srgbClr val="F36500"/>
                </a:solidFill>
              </a:rPr>
              <a:t>1,2</a:t>
            </a:r>
            <a:endParaRPr lang="en-US" baseline="30000" dirty="0"/>
          </a:p>
        </p:txBody>
      </p:sp>
      <p:grpSp>
        <p:nvGrpSpPr>
          <p:cNvPr id="44" name="Group 43">
            <a:extLst>
              <a:ext uri="{FF2B5EF4-FFF2-40B4-BE49-F238E27FC236}">
                <a16:creationId xmlns:a16="http://schemas.microsoft.com/office/drawing/2014/main" id="{DC545B90-D05B-30C1-56E4-4367F2913891}"/>
              </a:ext>
            </a:extLst>
          </p:cNvPr>
          <p:cNvGrpSpPr/>
          <p:nvPr/>
        </p:nvGrpSpPr>
        <p:grpSpPr>
          <a:xfrm>
            <a:off x="637581" y="4215695"/>
            <a:ext cx="11187705" cy="1628889"/>
            <a:chOff x="637581" y="4215695"/>
            <a:chExt cx="11187705" cy="1628889"/>
          </a:xfrm>
        </p:grpSpPr>
        <p:grpSp>
          <p:nvGrpSpPr>
            <p:cNvPr id="38" name="Group 37">
              <a:extLst>
                <a:ext uri="{FF2B5EF4-FFF2-40B4-BE49-F238E27FC236}">
                  <a16:creationId xmlns:a16="http://schemas.microsoft.com/office/drawing/2014/main" id="{BF6AB4F8-6748-1D01-2237-BBEC36A0424B}"/>
                </a:ext>
              </a:extLst>
            </p:cNvPr>
            <p:cNvGrpSpPr/>
            <p:nvPr/>
          </p:nvGrpSpPr>
          <p:grpSpPr>
            <a:xfrm>
              <a:off x="637581" y="4215695"/>
              <a:ext cx="5458419" cy="1126509"/>
              <a:chOff x="637581" y="4215695"/>
              <a:chExt cx="5458419" cy="1126509"/>
            </a:xfrm>
          </p:grpSpPr>
          <p:grpSp>
            <p:nvGrpSpPr>
              <p:cNvPr id="22" name="Group 21">
                <a:extLst>
                  <a:ext uri="{FF2B5EF4-FFF2-40B4-BE49-F238E27FC236}">
                    <a16:creationId xmlns:a16="http://schemas.microsoft.com/office/drawing/2014/main" id="{2C3BA39C-771B-FB6B-3D5A-DF1C669CC9EB}"/>
                  </a:ext>
                </a:extLst>
              </p:cNvPr>
              <p:cNvGrpSpPr/>
              <p:nvPr/>
            </p:nvGrpSpPr>
            <p:grpSpPr>
              <a:xfrm>
                <a:off x="637581" y="4215695"/>
                <a:ext cx="2086748" cy="1126509"/>
                <a:chOff x="637581" y="4519186"/>
                <a:chExt cx="2086748" cy="1126509"/>
              </a:xfrm>
            </p:grpSpPr>
            <p:sp>
              <p:nvSpPr>
                <p:cNvPr id="13" name="object 4"/>
                <p:cNvSpPr txBox="1"/>
                <p:nvPr/>
              </p:nvSpPr>
              <p:spPr>
                <a:xfrm>
                  <a:off x="637581" y="4987181"/>
                  <a:ext cx="2086748" cy="658514"/>
                </a:xfrm>
                <a:prstGeom prst="rect">
                  <a:avLst/>
                </a:prstGeom>
              </p:spPr>
              <p:txBody>
                <a:bodyPr vert="horz" wrap="square" lIns="0" tIns="12065" rIns="0" bIns="0" rtlCol="0">
                  <a:spAutoFit/>
                </a:bodyPr>
                <a:lstStyle/>
                <a:p>
                  <a:pPr marL="38100" marR="30480" lvl="0" indent="0" algn="ctr" defTabSz="914400" rtl="0" eaLnBrk="1" fontAlgn="auto" latinLnBrk="0" hangingPunct="1">
                    <a:lnSpc>
                      <a:spcPct val="100000"/>
                    </a:lnSpc>
                    <a:spcBef>
                      <a:spcPts val="95"/>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Viral and bacterial infections</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are the most common triggers</a:t>
                  </a:r>
                  <a:r>
                    <a:rPr kumimoji="0" sz="1400" b="1" i="0" u="none" strike="noStrike" kern="1200" cap="none" spc="0" normalizeH="0" baseline="24691" noProof="0" dirty="0">
                      <a:ln>
                        <a:noFill/>
                      </a:ln>
                      <a:solidFill>
                        <a:srgbClr val="F36633"/>
                      </a:solidFill>
                      <a:effectLst/>
                      <a:uLnTx/>
                      <a:uFillTx/>
                      <a:latin typeface="Arial"/>
                      <a:ea typeface="+mn-ea"/>
                      <a:cs typeface="Arial"/>
                    </a:rPr>
                    <a:t>1</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sp>
              <p:nvSpPr>
                <p:cNvPr id="76" name="Down Arrow 75"/>
                <p:cNvSpPr/>
                <p:nvPr/>
              </p:nvSpPr>
              <p:spPr>
                <a:xfrm rot="10800000">
                  <a:off x="1499040" y="4519186"/>
                  <a:ext cx="363830" cy="364870"/>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grpSp>
            <p:nvGrpSpPr>
              <p:cNvPr id="32" name="Group 31">
                <a:extLst>
                  <a:ext uri="{FF2B5EF4-FFF2-40B4-BE49-F238E27FC236}">
                    <a16:creationId xmlns:a16="http://schemas.microsoft.com/office/drawing/2014/main" id="{478133B8-5961-61EF-F4EE-55D0EBF8BEEF}"/>
                  </a:ext>
                </a:extLst>
              </p:cNvPr>
              <p:cNvGrpSpPr/>
              <p:nvPr/>
            </p:nvGrpSpPr>
            <p:grpSpPr>
              <a:xfrm>
                <a:off x="4206668" y="4215695"/>
                <a:ext cx="1889332" cy="1126509"/>
                <a:chOff x="4206668" y="4519186"/>
                <a:chExt cx="1889332" cy="1126509"/>
              </a:xfrm>
            </p:grpSpPr>
            <p:sp>
              <p:nvSpPr>
                <p:cNvPr id="14" name="object 5"/>
                <p:cNvSpPr txBox="1"/>
                <p:nvPr/>
              </p:nvSpPr>
              <p:spPr>
                <a:xfrm>
                  <a:off x="4206668" y="4987181"/>
                  <a:ext cx="1889332" cy="658514"/>
                </a:xfrm>
                <a:prstGeom prst="rect">
                  <a:avLst/>
                </a:prstGeom>
              </p:spPr>
              <p:txBody>
                <a:bodyPr vert="horz" wrap="square" lIns="0" tIns="12065" rIns="0" bIns="0" rtlCol="0">
                  <a:spAutoFit/>
                </a:bodyPr>
                <a:lstStyle/>
                <a:p>
                  <a:pPr marL="38100" marR="30480" lvl="0" indent="0" algn="ctr" defTabSz="914400" rtl="0" eaLnBrk="1" fontAlgn="auto" latinLnBrk="0" hangingPunct="1">
                    <a:lnSpc>
                      <a:spcPct val="100000"/>
                    </a:lnSpc>
                    <a:spcBef>
                      <a:spcPts val="95"/>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Different triggers can cause</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different types of inflammation</a:t>
                  </a:r>
                  <a:r>
                    <a:rPr kumimoji="0" sz="1400" b="1" i="0" u="none" strike="noStrike" kern="1200" cap="none" spc="0" normalizeH="0" baseline="24691" noProof="0" dirty="0">
                      <a:ln>
                        <a:noFill/>
                      </a:ln>
                      <a:solidFill>
                        <a:srgbClr val="F36633"/>
                      </a:solidFill>
                      <a:effectLst/>
                      <a:uLnTx/>
                      <a:uFillTx/>
                      <a:latin typeface="Arial"/>
                      <a:ea typeface="+mn-ea"/>
                      <a:cs typeface="Arial"/>
                    </a:rPr>
                    <a:t>2</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sp>
              <p:nvSpPr>
                <p:cNvPr id="77" name="Down Arrow 76"/>
                <p:cNvSpPr/>
                <p:nvPr/>
              </p:nvSpPr>
              <p:spPr>
                <a:xfrm rot="10800000">
                  <a:off x="4969420" y="4519186"/>
                  <a:ext cx="363830" cy="364870"/>
                </a:xfrm>
                <a:prstGeom prst="downArrow">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grpSp>
        <p:sp>
          <p:nvSpPr>
            <p:cNvPr id="78" name="Rectangle: Rounded Corners 77"/>
            <p:cNvSpPr/>
            <p:nvPr/>
          </p:nvSpPr>
          <p:spPr>
            <a:xfrm>
              <a:off x="6192550" y="4215695"/>
              <a:ext cx="5632733" cy="1628889"/>
            </a:xfrm>
            <a:prstGeom prst="roundRect">
              <a:avLst>
                <a:gd name="adj" fmla="val 6531"/>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nvGrpSpPr>
            <p:cNvPr id="42" name="Group 41">
              <a:extLst>
                <a:ext uri="{FF2B5EF4-FFF2-40B4-BE49-F238E27FC236}">
                  <a16:creationId xmlns:a16="http://schemas.microsoft.com/office/drawing/2014/main" id="{E2020B8D-87B4-E3A2-F472-C60258CDC4F2}"/>
                </a:ext>
              </a:extLst>
            </p:cNvPr>
            <p:cNvGrpSpPr/>
            <p:nvPr/>
          </p:nvGrpSpPr>
          <p:grpSpPr>
            <a:xfrm>
              <a:off x="6304519" y="4342947"/>
              <a:ext cx="5520767" cy="1487600"/>
              <a:chOff x="6304519" y="4406447"/>
              <a:chExt cx="5520767" cy="1487600"/>
            </a:xfrm>
          </p:grpSpPr>
          <p:sp>
            <p:nvSpPr>
              <p:cNvPr id="80" name="object 7"/>
              <p:cNvSpPr txBox="1"/>
              <p:nvPr/>
            </p:nvSpPr>
            <p:spPr>
              <a:xfrm>
                <a:off x="6304519" y="4816829"/>
                <a:ext cx="5520767" cy="1077218"/>
              </a:xfrm>
              <a:prstGeom prst="rect">
                <a:avLst/>
              </a:prstGeom>
            </p:spPr>
            <p:txBody>
              <a:bodyPr vert="horz" wrap="square" lIns="0" tIns="0" rIns="0" bIns="0" rtlCol="0">
                <a:spAutoFit/>
              </a:bodyPr>
              <a:lstStyle/>
              <a:p>
                <a:pPr marL="228600" marR="407670" lvl="0" indent="-228600" algn="l" defTabSz="91440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tab pos="300355" algn="l"/>
                    <a:tab pos="300990"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Results from air being trapped within the</a:t>
                </a:r>
                <a:r>
                  <a:rPr kumimoji="0" lang="en-US" sz="1200" b="0" i="0" u="none" strike="noStrike" kern="1200" cap="none" spc="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lungs after each breath</a:t>
                </a:r>
              </a:p>
              <a:p>
                <a:pPr marL="228600" marR="437515" lvl="0" indent="-228600" algn="l" defTabSz="91440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tab pos="300355" algn="l"/>
                    <a:tab pos="300990" algn="l"/>
                  </a:tabLst>
                  <a:defRPr/>
                </a:pPr>
                <a:r>
                  <a:rPr kumimoji="0" lang="en-IN" sz="1200" b="0" i="0" u="none" strike="noStrike" kern="1200" cap="none" spc="0" normalizeH="0" baseline="0" noProof="0" dirty="0">
                    <a:ln>
                      <a:noFill/>
                    </a:ln>
                    <a:solidFill>
                      <a:srgbClr val="000000"/>
                    </a:solidFill>
                    <a:effectLst/>
                    <a:uLnTx/>
                    <a:uFillTx/>
                    <a:latin typeface="Arial"/>
                    <a:ea typeface="+mn-ea"/>
                    <a:cs typeface="Arial"/>
                  </a:rPr>
                  <a:t>Is c</a:t>
                </a:r>
                <a:r>
                  <a:rPr kumimoji="0" sz="1200" b="0" i="0" u="none" strike="noStrike" kern="1200" cap="none" spc="0" normalizeH="0" baseline="0" noProof="0" dirty="0" err="1">
                    <a:ln>
                      <a:noFill/>
                    </a:ln>
                    <a:solidFill>
                      <a:srgbClr val="000000"/>
                    </a:solidFill>
                    <a:effectLst/>
                    <a:uLnTx/>
                    <a:uFillTx/>
                    <a:latin typeface="Arial"/>
                    <a:ea typeface="+mn-ea"/>
                    <a:cs typeface="Arial"/>
                  </a:rPr>
                  <a:t>aused</a:t>
                </a:r>
                <a:r>
                  <a:rPr kumimoji="0" sz="1200" b="0" i="0" u="none" strike="noStrike" kern="1200" cap="none" spc="0" normalizeH="0" baseline="0" noProof="0" dirty="0">
                    <a:ln>
                      <a:noFill/>
                    </a:ln>
                    <a:solidFill>
                      <a:srgbClr val="000000"/>
                    </a:solidFill>
                    <a:effectLst/>
                    <a:uLnTx/>
                    <a:uFillTx/>
                    <a:latin typeface="Arial"/>
                    <a:ea typeface="+mn-ea"/>
                    <a:cs typeface="Arial"/>
                  </a:rPr>
                  <a:t> by a disequilibrium between the</a:t>
                </a:r>
                <a:r>
                  <a:rPr kumimoji="0" lang="en-US" sz="1200" b="0" i="0" u="none" strike="noStrike" kern="1200" cap="none" spc="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volume inhaled and exhaled</a:t>
                </a:r>
              </a:p>
              <a:p>
                <a:pPr marL="228600" marR="189230" lvl="0" indent="-228600" algn="l" defTabSz="91440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tab pos="300355" algn="l"/>
                    <a:tab pos="300990"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Occurs when patients commence inhalation before achieving full exhalation</a:t>
                </a:r>
              </a:p>
              <a:p>
                <a:pPr marL="228600" marR="137795" lvl="0" indent="-228600" algn="l" defTabSz="91440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tab pos="300355" algn="l"/>
                    <a:tab pos="300990"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Breathing in hyperinflated patients increases</a:t>
                </a:r>
                <a:r>
                  <a:rPr kumimoji="0" lang="en-US" sz="1200" b="0" i="0" u="none" strike="noStrike" kern="1200" cap="none" spc="0" normalizeH="0" baseline="0" noProof="0" dirty="0">
                    <a:ln>
                      <a:noFill/>
                    </a:ln>
                    <a:solidFill>
                      <a:srgbClr val="000000"/>
                    </a:solidFill>
                    <a:effectLst/>
                    <a:uLnTx/>
                    <a:uFillTx/>
                    <a:latin typeface="Arial"/>
                    <a:ea typeface="+mn-ea"/>
                    <a:cs typeface="Arial"/>
                  </a:rPr>
                  <a:t> the </a:t>
                </a:r>
                <a:r>
                  <a:rPr kumimoji="0" sz="1200" b="0" i="0" u="none" strike="noStrike" kern="1200" cap="none" spc="0" normalizeH="0" baseline="0" noProof="0" dirty="0">
                    <a:ln>
                      <a:noFill/>
                    </a:ln>
                    <a:solidFill>
                      <a:srgbClr val="000000"/>
                    </a:solidFill>
                    <a:effectLst/>
                    <a:uLnTx/>
                    <a:uFillTx/>
                    <a:latin typeface="Arial"/>
                    <a:ea typeface="+mn-ea"/>
                    <a:cs typeface="Arial"/>
                  </a:rPr>
                  <a:t>demand on respiratory muscles</a:t>
                </a:r>
                <a:r>
                  <a:rPr kumimoji="0" lang="en-IN" sz="1200" b="0" i="0" u="none" strike="noStrike" kern="1200" cap="none" spc="0" normalizeH="0" baseline="0" noProof="0" dirty="0">
                    <a:ln>
                      <a:noFill/>
                    </a:ln>
                    <a:solidFill>
                      <a:srgbClr val="000000"/>
                    </a:solidFill>
                    <a:effectLst/>
                    <a:uLnTx/>
                    <a:uFillTx/>
                    <a:latin typeface="Arial"/>
                    <a:ea typeface="+mn-ea"/>
                    <a:cs typeface="Arial"/>
                  </a:rPr>
                  <a: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39" name="Group 38">
                <a:extLst>
                  <a:ext uri="{FF2B5EF4-FFF2-40B4-BE49-F238E27FC236}">
                    <a16:creationId xmlns:a16="http://schemas.microsoft.com/office/drawing/2014/main" id="{CD4A5195-05FB-5ED0-55F2-1F90505D5E08}"/>
                  </a:ext>
                </a:extLst>
              </p:cNvPr>
              <p:cNvGrpSpPr/>
              <p:nvPr/>
            </p:nvGrpSpPr>
            <p:grpSpPr>
              <a:xfrm>
                <a:off x="6304520" y="4406447"/>
                <a:ext cx="2963287" cy="351058"/>
                <a:chOff x="6693342" y="4524432"/>
                <a:chExt cx="2963287" cy="351058"/>
              </a:xfrm>
            </p:grpSpPr>
            <p:sp>
              <p:nvSpPr>
                <p:cNvPr id="17" name="object 7"/>
                <p:cNvSpPr txBox="1"/>
                <p:nvPr/>
              </p:nvSpPr>
              <p:spPr>
                <a:xfrm>
                  <a:off x="7189051" y="4592239"/>
                  <a:ext cx="2467578" cy="215444"/>
                </a:xfrm>
                <a:prstGeom prst="rect">
                  <a:avLst/>
                </a:prstGeom>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Dynamic hyperinflation:</a:t>
                  </a:r>
                  <a:r>
                    <a:rPr kumimoji="0" sz="1400" b="1" i="0" u="none" strike="noStrike" kern="1200" cap="none" spc="0" normalizeH="0" baseline="24691" noProof="0" dirty="0">
                      <a:ln>
                        <a:noFill/>
                      </a:ln>
                      <a:solidFill>
                        <a:srgbClr val="F36633"/>
                      </a:solidFill>
                      <a:effectLst/>
                      <a:uLnTx/>
                      <a:uFillTx/>
                      <a:latin typeface="Arial"/>
                      <a:ea typeface="+mn-ea"/>
                      <a:cs typeface="Arial"/>
                    </a:rPr>
                    <a:t>3</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grpSp>
              <p:nvGrpSpPr>
                <p:cNvPr id="81" name="Group 772">
                  <a:extLst>
                    <a:ext uri="{FF2B5EF4-FFF2-40B4-BE49-F238E27FC236}">
                      <a16:creationId xmlns:a16="http://schemas.microsoft.com/office/drawing/2014/main" id="{573FC485-62E2-41B9-AF12-B4CB669039CC}"/>
                    </a:ext>
                  </a:extLst>
                </p:cNvPr>
                <p:cNvGrpSpPr>
                  <a:grpSpLocks noChangeAspect="1"/>
                </p:cNvGrpSpPr>
                <p:nvPr/>
              </p:nvGrpSpPr>
              <p:grpSpPr bwMode="auto">
                <a:xfrm>
                  <a:off x="6693342" y="4524432"/>
                  <a:ext cx="351406" cy="351058"/>
                  <a:chOff x="2998" y="3383"/>
                  <a:chExt cx="1011" cy="1010"/>
                </a:xfrm>
                <a:solidFill>
                  <a:srgbClr val="BC1077"/>
                </a:solidFill>
              </p:grpSpPr>
              <p:sp>
                <p:nvSpPr>
                  <p:cNvPr id="82" name="Freeform 773">
                    <a:extLst>
                      <a:ext uri="{FF2B5EF4-FFF2-40B4-BE49-F238E27FC236}">
                        <a16:creationId xmlns:a16="http://schemas.microsoft.com/office/drawing/2014/main" id="{62041C46-E7D5-425F-82CF-5180171A7420}"/>
                      </a:ext>
                    </a:extLst>
                  </p:cNvPr>
                  <p:cNvSpPr>
                    <a:spLocks/>
                  </p:cNvSpPr>
                  <p:nvPr/>
                </p:nvSpPr>
                <p:spPr bwMode="auto">
                  <a:xfrm>
                    <a:off x="2998" y="3940"/>
                    <a:ext cx="453" cy="453"/>
                  </a:xfrm>
                  <a:custGeom>
                    <a:avLst/>
                    <a:gdLst>
                      <a:gd name="T0" fmla="*/ 736 w 995"/>
                      <a:gd name="T1" fmla="*/ 0 h 995"/>
                      <a:gd name="T2" fmla="*/ 73 w 995"/>
                      <a:gd name="T3" fmla="*/ 663 h 995"/>
                      <a:gd name="T4" fmla="*/ 72 w 995"/>
                      <a:gd name="T5" fmla="*/ 664 h 995"/>
                      <a:gd name="T6" fmla="*/ 72 w 995"/>
                      <a:gd name="T7" fmla="*/ 923 h 995"/>
                      <a:gd name="T8" fmla="*/ 331 w 995"/>
                      <a:gd name="T9" fmla="*/ 923 h 995"/>
                      <a:gd name="T10" fmla="*/ 995 w 995"/>
                      <a:gd name="T11" fmla="*/ 260 h 995"/>
                      <a:gd name="T12" fmla="*/ 736 w 995"/>
                      <a:gd name="T13" fmla="*/ 0 h 995"/>
                    </a:gdLst>
                    <a:ahLst/>
                    <a:cxnLst>
                      <a:cxn ang="0">
                        <a:pos x="T0" y="T1"/>
                      </a:cxn>
                      <a:cxn ang="0">
                        <a:pos x="T2" y="T3"/>
                      </a:cxn>
                      <a:cxn ang="0">
                        <a:pos x="T4" y="T5"/>
                      </a:cxn>
                      <a:cxn ang="0">
                        <a:pos x="T6" y="T7"/>
                      </a:cxn>
                      <a:cxn ang="0">
                        <a:pos x="T8" y="T9"/>
                      </a:cxn>
                      <a:cxn ang="0">
                        <a:pos x="T10" y="T11"/>
                      </a:cxn>
                      <a:cxn ang="0">
                        <a:pos x="T12" y="T13"/>
                      </a:cxn>
                    </a:cxnLst>
                    <a:rect l="0" t="0" r="r" b="b"/>
                    <a:pathLst>
                      <a:path w="995" h="995">
                        <a:moveTo>
                          <a:pt x="736" y="0"/>
                        </a:moveTo>
                        <a:cubicBezTo>
                          <a:pt x="73" y="663"/>
                          <a:pt x="73" y="663"/>
                          <a:pt x="73" y="663"/>
                        </a:cubicBezTo>
                        <a:cubicBezTo>
                          <a:pt x="72" y="663"/>
                          <a:pt x="72" y="664"/>
                          <a:pt x="72" y="664"/>
                        </a:cubicBezTo>
                        <a:cubicBezTo>
                          <a:pt x="0" y="735"/>
                          <a:pt x="0" y="852"/>
                          <a:pt x="72" y="923"/>
                        </a:cubicBezTo>
                        <a:cubicBezTo>
                          <a:pt x="144" y="995"/>
                          <a:pt x="260" y="995"/>
                          <a:pt x="331" y="923"/>
                        </a:cubicBezTo>
                        <a:cubicBezTo>
                          <a:pt x="995" y="260"/>
                          <a:pt x="995" y="260"/>
                          <a:pt x="995" y="260"/>
                        </a:cubicBezTo>
                        <a:cubicBezTo>
                          <a:pt x="892" y="192"/>
                          <a:pt x="803" y="104"/>
                          <a:pt x="736" y="0"/>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3" name="Freeform 774">
                    <a:extLst>
                      <a:ext uri="{FF2B5EF4-FFF2-40B4-BE49-F238E27FC236}">
                        <a16:creationId xmlns:a16="http://schemas.microsoft.com/office/drawing/2014/main" id="{D818BEDB-1E6B-4FBF-8284-AEC3D520ABA9}"/>
                      </a:ext>
                    </a:extLst>
                  </p:cNvPr>
                  <p:cNvSpPr>
                    <a:spLocks noEditPoints="1"/>
                  </p:cNvSpPr>
                  <p:nvPr/>
                </p:nvSpPr>
                <p:spPr bwMode="auto">
                  <a:xfrm>
                    <a:off x="3341" y="3383"/>
                    <a:ext cx="668" cy="667"/>
                  </a:xfrm>
                  <a:custGeom>
                    <a:avLst/>
                    <a:gdLst>
                      <a:gd name="T0" fmla="*/ 733 w 1466"/>
                      <a:gd name="T1" fmla="*/ 0 h 1466"/>
                      <a:gd name="T2" fmla="*/ 0 w 1466"/>
                      <a:gd name="T3" fmla="*/ 733 h 1466"/>
                      <a:gd name="T4" fmla="*/ 733 w 1466"/>
                      <a:gd name="T5" fmla="*/ 1466 h 1466"/>
                      <a:gd name="T6" fmla="*/ 1466 w 1466"/>
                      <a:gd name="T7" fmla="*/ 733 h 1466"/>
                      <a:gd name="T8" fmla="*/ 733 w 1466"/>
                      <a:gd name="T9" fmla="*/ 0 h 1466"/>
                      <a:gd name="T10" fmla="*/ 733 w 1466"/>
                      <a:gd name="T11" fmla="*/ 1237 h 1466"/>
                      <a:gd name="T12" fmla="*/ 229 w 1466"/>
                      <a:gd name="T13" fmla="*/ 733 h 1466"/>
                      <a:gd name="T14" fmla="*/ 733 w 1466"/>
                      <a:gd name="T15" fmla="*/ 229 h 1466"/>
                      <a:gd name="T16" fmla="*/ 1237 w 1466"/>
                      <a:gd name="T17" fmla="*/ 733 h 1466"/>
                      <a:gd name="T18" fmla="*/ 733 w 1466"/>
                      <a:gd name="T19" fmla="*/ 1237 h 14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66" h="1466">
                        <a:moveTo>
                          <a:pt x="733" y="0"/>
                        </a:moveTo>
                        <a:cubicBezTo>
                          <a:pt x="328" y="0"/>
                          <a:pt x="0" y="328"/>
                          <a:pt x="0" y="733"/>
                        </a:cubicBezTo>
                        <a:cubicBezTo>
                          <a:pt x="0" y="1138"/>
                          <a:pt x="328" y="1466"/>
                          <a:pt x="733" y="1466"/>
                        </a:cubicBezTo>
                        <a:cubicBezTo>
                          <a:pt x="1138" y="1466"/>
                          <a:pt x="1466" y="1138"/>
                          <a:pt x="1466" y="733"/>
                        </a:cubicBezTo>
                        <a:cubicBezTo>
                          <a:pt x="1466" y="328"/>
                          <a:pt x="1138" y="0"/>
                          <a:pt x="733" y="0"/>
                        </a:cubicBezTo>
                        <a:close/>
                        <a:moveTo>
                          <a:pt x="733" y="1237"/>
                        </a:moveTo>
                        <a:cubicBezTo>
                          <a:pt x="455" y="1237"/>
                          <a:pt x="229" y="1011"/>
                          <a:pt x="229" y="733"/>
                        </a:cubicBezTo>
                        <a:cubicBezTo>
                          <a:pt x="229" y="455"/>
                          <a:pt x="455" y="229"/>
                          <a:pt x="733" y="229"/>
                        </a:cubicBezTo>
                        <a:cubicBezTo>
                          <a:pt x="1011" y="229"/>
                          <a:pt x="1237" y="455"/>
                          <a:pt x="1237" y="733"/>
                        </a:cubicBezTo>
                        <a:cubicBezTo>
                          <a:pt x="1237" y="1011"/>
                          <a:pt x="1011" y="1237"/>
                          <a:pt x="733" y="1237"/>
                        </a:cubicBez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000000"/>
                      </a:solidFill>
                      <a:effectLst/>
                      <a:uLnTx/>
                      <a:uFillTx/>
                      <a:latin typeface="Arial"/>
                      <a:ea typeface="+mn-ea"/>
                      <a:cs typeface="Noto Sans"/>
                    </a:endParaRPr>
                  </a:p>
                </p:txBody>
              </p:sp>
            </p:grpSp>
          </p:grpSp>
        </p:grpSp>
      </p:grpSp>
      <p:sp>
        <p:nvSpPr>
          <p:cNvPr id="41" name="Text Placeholder 40">
            <a:extLst>
              <a:ext uri="{FF2B5EF4-FFF2-40B4-BE49-F238E27FC236}">
                <a16:creationId xmlns:a16="http://schemas.microsoft.com/office/drawing/2014/main" id="{989B9D68-D141-7402-B679-D3A816E53194}"/>
              </a:ext>
            </a:extLst>
          </p:cNvPr>
          <p:cNvSpPr>
            <a:spLocks noGrp="1"/>
          </p:cNvSpPr>
          <p:nvPr>
            <p:ph type="body" sz="quarter" idx="13"/>
          </p:nvPr>
        </p:nvSpPr>
        <p:spPr>
          <a:xfrm>
            <a:off x="365125" y="5863830"/>
            <a:ext cx="11460164" cy="298800"/>
          </a:xfrm>
        </p:spPr>
        <p:txBody>
          <a:bodyPr/>
          <a:lstStyle/>
          <a:p>
            <a:pPr marL="12700">
              <a:spcBef>
                <a:spcPts val="95"/>
              </a:spcBef>
            </a:pPr>
            <a:r>
              <a:rPr lang="en-US" sz="800" dirty="0">
                <a:latin typeface="Arial"/>
                <a:cs typeface="Arial"/>
              </a:rPr>
              <a:t>GSK created image from Wedzicha JA, et al. 2007. </a:t>
            </a:r>
          </a:p>
          <a:p>
            <a:pPr marL="12700">
              <a:spcBef>
                <a:spcPts val="95"/>
              </a:spcBef>
            </a:pPr>
            <a:r>
              <a:rPr lang="en-US" sz="800" dirty="0">
                <a:latin typeface="Arial"/>
                <a:cs typeface="Arial"/>
              </a:rPr>
              <a:t>1. </a:t>
            </a:r>
            <a:r>
              <a:rPr lang="en-US" sz="800" dirty="0"/>
              <a:t>Wedzicha JA, et al. </a:t>
            </a:r>
            <a:r>
              <a:rPr lang="en-US" sz="800" i="1" dirty="0"/>
              <a:t>Lancet</a:t>
            </a:r>
            <a:r>
              <a:rPr lang="en-US" sz="800" dirty="0"/>
              <a:t>. 2007;370(9589):786-796</a:t>
            </a:r>
            <a:r>
              <a:rPr lang="en-US" sz="800" dirty="0">
                <a:latin typeface="Arial"/>
                <a:cs typeface="Arial"/>
              </a:rPr>
              <a:t>; 2. </a:t>
            </a:r>
            <a:r>
              <a:rPr lang="en-US" sz="800" dirty="0"/>
              <a:t>Bafadhel M, et al. </a:t>
            </a:r>
            <a:r>
              <a:rPr lang="en-US" sz="800" i="1" dirty="0"/>
              <a:t>Am J Respir Crit Care Med</a:t>
            </a:r>
            <a:r>
              <a:rPr lang="en-US" sz="800" dirty="0"/>
              <a:t>. 2011;184(6):662-671</a:t>
            </a:r>
            <a:r>
              <a:rPr lang="en-US" sz="800" dirty="0">
                <a:latin typeface="Arial"/>
                <a:cs typeface="Arial"/>
              </a:rPr>
              <a:t>; 3. </a:t>
            </a:r>
            <a:r>
              <a:rPr lang="en-US" sz="800" dirty="0"/>
              <a:t>Ferguson GT. </a:t>
            </a:r>
            <a:r>
              <a:rPr lang="en-US" sz="800" i="1" dirty="0"/>
              <a:t>Proc Am Thorac Soc</a:t>
            </a:r>
            <a:r>
              <a:rPr lang="en-US" sz="800" dirty="0"/>
              <a:t>. 2006;3(2):176-179.</a:t>
            </a:r>
            <a:endParaRPr lang="en-US" sz="800" dirty="0">
              <a:latin typeface="Arial"/>
              <a:cs typeface="Arial"/>
            </a:endParaRPr>
          </a:p>
        </p:txBody>
      </p:sp>
      <p:grpSp>
        <p:nvGrpSpPr>
          <p:cNvPr id="12" name="Group 11">
            <a:extLst>
              <a:ext uri="{FF2B5EF4-FFF2-40B4-BE49-F238E27FC236}">
                <a16:creationId xmlns:a16="http://schemas.microsoft.com/office/drawing/2014/main" id="{5237ECBE-906F-C4A0-C568-A3A87174FBC0}"/>
              </a:ext>
            </a:extLst>
          </p:cNvPr>
          <p:cNvGrpSpPr/>
          <p:nvPr/>
        </p:nvGrpSpPr>
        <p:grpSpPr>
          <a:xfrm>
            <a:off x="374652" y="951721"/>
            <a:ext cx="11450635" cy="3111194"/>
            <a:chOff x="374652" y="951721"/>
            <a:chExt cx="11450635" cy="3111194"/>
          </a:xfrm>
        </p:grpSpPr>
        <p:sp>
          <p:nvSpPr>
            <p:cNvPr id="52" name="Rounded Rectangle 51"/>
            <p:cNvSpPr/>
            <p:nvPr/>
          </p:nvSpPr>
          <p:spPr>
            <a:xfrm>
              <a:off x="374652" y="951721"/>
              <a:ext cx="11450635" cy="3111194"/>
            </a:xfrm>
            <a:prstGeom prst="roundRect">
              <a:avLst>
                <a:gd name="adj" fmla="val 2982"/>
              </a:avLst>
            </a:prstGeom>
            <a:solidFill>
              <a:schemeClr val="bg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27" name="object 15"/>
            <p:cNvSpPr txBox="1"/>
            <p:nvPr/>
          </p:nvSpPr>
          <p:spPr>
            <a:xfrm>
              <a:off x="478574" y="1050494"/>
              <a:ext cx="836319" cy="20116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F36633"/>
                  </a:solidFill>
                  <a:effectLst/>
                  <a:uLnTx/>
                  <a:uFillTx/>
                  <a:latin typeface="Arial"/>
                  <a:ea typeface="+mn-ea"/>
                  <a:cs typeface="Arial"/>
                </a:rPr>
                <a:t>TRIGGERS</a:t>
              </a:r>
              <a:endParaRPr kumimoji="0" sz="1200" b="0" i="0" u="none" strike="noStrike" kern="1200" cap="none" spc="0" normalizeH="0" baseline="0" noProof="0" dirty="0">
                <a:ln>
                  <a:noFill/>
                </a:ln>
                <a:solidFill>
                  <a:srgbClr val="F36633"/>
                </a:solidFill>
                <a:effectLst/>
                <a:uLnTx/>
                <a:uFillTx/>
                <a:latin typeface="Arial"/>
                <a:ea typeface="+mn-ea"/>
                <a:cs typeface="Arial"/>
              </a:endParaRPr>
            </a:p>
          </p:txBody>
        </p:sp>
        <p:sp>
          <p:nvSpPr>
            <p:cNvPr id="34" name="object 22"/>
            <p:cNvSpPr txBox="1"/>
            <p:nvPr/>
          </p:nvSpPr>
          <p:spPr>
            <a:xfrm>
              <a:off x="5039407" y="1563921"/>
              <a:ext cx="1360408" cy="1692252"/>
            </a:xfrm>
            <a:prstGeom prst="rect">
              <a:avLst/>
            </a:prstGeom>
          </p:spPr>
          <p:txBody>
            <a:bodyPr vert="horz" wrap="none" lIns="0" tIns="0" rIns="0" bIns="0" rtlCol="0" anchor="ctr" anchorCtr="0">
              <a:prstTxWarp prst="textArchDown">
                <a:avLst>
                  <a:gd name="adj" fmla="val 646450"/>
                </a:avLst>
              </a:prstTxWarp>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100" b="1" i="0" u="none" strike="noStrike" kern="1200" cap="none" spc="-5" normalizeH="0" baseline="0" noProof="0" dirty="0">
                  <a:ln>
                    <a:noFill/>
                  </a:ln>
                  <a:solidFill>
                    <a:srgbClr val="000000"/>
                  </a:solidFill>
                  <a:effectLst/>
                  <a:uLnTx/>
                  <a:uFillTx/>
                  <a:latin typeface="Arial"/>
                  <a:ea typeface="+mn-ea"/>
                  <a:cs typeface="Arial"/>
                </a:rPr>
                <a:t>Increased</a:t>
              </a:r>
              <a:r>
                <a:rPr kumimoji="0" lang="en-US" sz="1100" b="1" i="0" u="none" strike="noStrike" kern="1200" cap="none" spc="-5" normalizeH="0" baseline="0" noProof="0" dirty="0">
                  <a:ln>
                    <a:noFill/>
                  </a:ln>
                  <a:solidFill>
                    <a:srgbClr val="000000"/>
                  </a:solidFill>
                  <a:effectLst/>
                  <a:uLnTx/>
                  <a:uFillTx/>
                  <a:latin typeface="Arial"/>
                  <a:ea typeface="+mn-ea"/>
                  <a:cs typeface="Arial"/>
                </a:rPr>
                <a:t> </a:t>
              </a:r>
              <a:r>
                <a:rPr kumimoji="0" sz="1100" b="1" i="0" u="none" strike="noStrike" kern="1200" cap="none" spc="-5" normalizeH="0" baseline="0" noProof="0" dirty="0">
                  <a:ln>
                    <a:noFill/>
                  </a:ln>
                  <a:solidFill>
                    <a:srgbClr val="000000"/>
                  </a:solidFill>
                  <a:effectLst/>
                  <a:uLnTx/>
                  <a:uFillTx/>
                  <a:latin typeface="Arial"/>
                  <a:ea typeface="+mn-ea"/>
                  <a:cs typeface="Arial"/>
                </a:rPr>
                <a:t>inflammation</a:t>
              </a:r>
              <a:endParaRPr kumimoji="0" sz="1100" b="1" i="0" u="none" strike="noStrike" kern="1200" cap="none" spc="0" normalizeH="0" baseline="0" noProof="0" dirty="0">
                <a:ln>
                  <a:noFill/>
                </a:ln>
                <a:solidFill>
                  <a:srgbClr val="000000"/>
                </a:solidFill>
                <a:effectLst/>
                <a:uLnTx/>
                <a:uFillTx/>
                <a:latin typeface="Arial"/>
                <a:ea typeface="+mn-ea"/>
                <a:cs typeface="Arial"/>
              </a:endParaRPr>
            </a:p>
          </p:txBody>
        </p:sp>
        <p:sp>
          <p:nvSpPr>
            <p:cNvPr id="36" name="object 24"/>
            <p:cNvSpPr txBox="1"/>
            <p:nvPr/>
          </p:nvSpPr>
          <p:spPr>
            <a:xfrm>
              <a:off x="6831359" y="1347171"/>
              <a:ext cx="1258624" cy="563486"/>
            </a:xfrm>
            <a:prstGeom prst="roundRect">
              <a:avLst>
                <a:gd name="adj" fmla="val 11049"/>
              </a:avLst>
            </a:prstGeom>
            <a:solidFill>
              <a:srgbClr val="40488D"/>
            </a:solidFill>
            <a:ln>
              <a:solidFill>
                <a:srgbClr val="40488D"/>
              </a:solidFill>
            </a:ln>
          </p:spPr>
          <p:txBody>
            <a:bodyPr vert="horz" wrap="square" lIns="18288" tIns="18288" rIns="18288" bIns="18288"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00" b="0" i="0" u="none" strike="noStrike" kern="1200" cap="none" spc="-5" normalizeH="0" baseline="0" noProof="0" dirty="0">
                  <a:ln>
                    <a:noFill/>
                  </a:ln>
                  <a:solidFill>
                    <a:prstClr val="white"/>
                  </a:solidFill>
                  <a:effectLst/>
                  <a:uLnTx/>
                  <a:uFillTx/>
                  <a:latin typeface="Arial"/>
                  <a:ea typeface="+mn-ea"/>
                  <a:cs typeface="Arial"/>
                </a:rPr>
                <a:t>Systemic</a:t>
              </a:r>
              <a:r>
                <a:rPr kumimoji="0" sz="1000" b="0" i="0" u="none" strike="noStrike" kern="1200" cap="none" spc="-60" normalizeH="0" baseline="0" noProof="0" dirty="0">
                  <a:ln>
                    <a:noFill/>
                  </a:ln>
                  <a:solidFill>
                    <a:prstClr val="white"/>
                  </a:solidFill>
                  <a:effectLst/>
                  <a:uLnTx/>
                  <a:uFillTx/>
                  <a:latin typeface="Arial"/>
                  <a:ea typeface="+mn-ea"/>
                  <a:cs typeface="Arial"/>
                </a:rPr>
                <a:t> </a:t>
              </a:r>
              <a:r>
                <a:rPr kumimoji="0" sz="1000" b="0" i="0" u="none" strike="noStrike" kern="1200" cap="none" spc="-5" normalizeH="0" baseline="0" noProof="0" dirty="0">
                  <a:ln>
                    <a:noFill/>
                  </a:ln>
                  <a:solidFill>
                    <a:prstClr val="white"/>
                  </a:solidFill>
                  <a:effectLst/>
                  <a:uLnTx/>
                  <a:uFillTx/>
                  <a:latin typeface="Arial"/>
                  <a:ea typeface="+mn-ea"/>
                  <a:cs typeface="Arial"/>
                </a:rPr>
                <a:t>inflammation</a:t>
              </a:r>
              <a:endParaRPr kumimoji="0" sz="1000" b="0" i="0" u="none" strike="noStrike" kern="1200" cap="none" spc="0" normalizeH="0" baseline="0" noProof="0" dirty="0">
                <a:ln>
                  <a:noFill/>
                </a:ln>
                <a:solidFill>
                  <a:prstClr val="white"/>
                </a:solidFill>
                <a:effectLst/>
                <a:uLnTx/>
                <a:uFillTx/>
                <a:latin typeface="Arial"/>
                <a:ea typeface="+mn-ea"/>
                <a:cs typeface="Arial"/>
              </a:endParaRPr>
            </a:p>
          </p:txBody>
        </p:sp>
        <p:sp>
          <p:nvSpPr>
            <p:cNvPr id="57" name="object 43"/>
            <p:cNvSpPr txBox="1"/>
            <p:nvPr/>
          </p:nvSpPr>
          <p:spPr>
            <a:xfrm>
              <a:off x="4744734" y="1050494"/>
              <a:ext cx="732184" cy="201162"/>
            </a:xfrm>
            <a:prstGeom prst="rect">
              <a:avLst/>
            </a:prstGeom>
          </p:spPr>
          <p:txBody>
            <a:bodyPr vert="horz" wrap="square" lIns="0" tIns="1270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40488D"/>
                  </a:solidFill>
                  <a:effectLst/>
                  <a:uLnTx/>
                  <a:uFillTx/>
                  <a:latin typeface="Arial"/>
                  <a:ea typeface="+mn-ea"/>
                  <a:cs typeface="Arial"/>
                </a:rPr>
                <a:t>EFFECTS</a:t>
              </a:r>
              <a:endParaRPr kumimoji="0" sz="1200" b="0" i="0" u="none" strike="noStrike" kern="1200" cap="none" spc="0" normalizeH="0" baseline="0" noProof="0" dirty="0">
                <a:ln>
                  <a:noFill/>
                </a:ln>
                <a:solidFill>
                  <a:srgbClr val="40488D"/>
                </a:solidFill>
                <a:effectLst/>
                <a:uLnTx/>
                <a:uFillTx/>
                <a:latin typeface="Arial"/>
                <a:ea typeface="+mn-ea"/>
                <a:cs typeface="Arial"/>
              </a:endParaRPr>
            </a:p>
          </p:txBody>
        </p:sp>
        <p:cxnSp>
          <p:nvCxnSpPr>
            <p:cNvPr id="59" name="Straight Arrow Connector 58"/>
            <p:cNvCxnSpPr>
              <a:cxnSpLocks/>
            </p:cNvCxnSpPr>
            <p:nvPr/>
          </p:nvCxnSpPr>
          <p:spPr>
            <a:xfrm>
              <a:off x="1444427" y="1151075"/>
              <a:ext cx="3170773" cy="0"/>
            </a:xfrm>
            <a:prstGeom prst="straightConnector1">
              <a:avLst/>
            </a:prstGeom>
            <a:ln>
              <a:solidFill>
                <a:schemeClr val="tx2"/>
              </a:solidFill>
              <a:tailEnd type="oval"/>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a:cxnSpLocks/>
            </p:cNvCxnSpPr>
            <p:nvPr/>
          </p:nvCxnSpPr>
          <p:spPr>
            <a:xfrm>
              <a:off x="5606451" y="1151075"/>
              <a:ext cx="6037924" cy="0"/>
            </a:xfrm>
            <a:prstGeom prst="straightConnector1">
              <a:avLst/>
            </a:prstGeom>
            <a:ln>
              <a:solidFill>
                <a:schemeClr val="accent1"/>
              </a:solidFill>
              <a:tailEnd type="oval"/>
            </a:ln>
          </p:spPr>
          <p:style>
            <a:lnRef idx="1">
              <a:schemeClr val="accent1"/>
            </a:lnRef>
            <a:fillRef idx="0">
              <a:schemeClr val="accent1"/>
            </a:fillRef>
            <a:effectRef idx="0">
              <a:schemeClr val="accent1"/>
            </a:effectRef>
            <a:fontRef idx="minor">
              <a:schemeClr val="tx1"/>
            </a:fontRef>
          </p:style>
        </p:cxnSp>
        <p:grpSp>
          <p:nvGrpSpPr>
            <p:cNvPr id="9" name="Group 8">
              <a:extLst>
                <a:ext uri="{FF2B5EF4-FFF2-40B4-BE49-F238E27FC236}">
                  <a16:creationId xmlns:a16="http://schemas.microsoft.com/office/drawing/2014/main" id="{9585CE29-9DF1-B3CC-0D7F-EA48BBDF212C}"/>
                </a:ext>
              </a:extLst>
            </p:cNvPr>
            <p:cNvGrpSpPr/>
            <p:nvPr/>
          </p:nvGrpSpPr>
          <p:grpSpPr>
            <a:xfrm>
              <a:off x="483893" y="1362017"/>
              <a:ext cx="11160482" cy="2563451"/>
              <a:chOff x="483893" y="1362017"/>
              <a:chExt cx="11160482" cy="2563451"/>
            </a:xfrm>
          </p:grpSpPr>
          <p:sp>
            <p:nvSpPr>
              <p:cNvPr id="33" name="object 21"/>
              <p:cNvSpPr txBox="1"/>
              <p:nvPr/>
            </p:nvSpPr>
            <p:spPr>
              <a:xfrm rot="16200000">
                <a:off x="4139606" y="2559104"/>
                <a:ext cx="1482136" cy="169277"/>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sz="1100" b="1" i="0" u="none" strike="noStrike" kern="1200" cap="none" spc="-5" normalizeH="0" baseline="0" noProof="0" dirty="0">
                    <a:ln>
                      <a:noFill/>
                    </a:ln>
                    <a:solidFill>
                      <a:srgbClr val="F36633"/>
                    </a:solidFill>
                    <a:effectLst/>
                    <a:uLnTx/>
                    <a:uFillTx/>
                    <a:latin typeface="Arial"/>
                    <a:ea typeface="+mn-ea"/>
                    <a:cs typeface="Arial"/>
                  </a:rPr>
                  <a:t>Inflamed</a:t>
                </a:r>
                <a:r>
                  <a:rPr kumimoji="0" sz="1100" b="1" i="0" u="none" strike="noStrike" kern="1200" cap="none" spc="-35" normalizeH="0" baseline="0" noProof="0" dirty="0">
                    <a:ln>
                      <a:noFill/>
                    </a:ln>
                    <a:solidFill>
                      <a:srgbClr val="F36633"/>
                    </a:solidFill>
                    <a:effectLst/>
                    <a:uLnTx/>
                    <a:uFillTx/>
                    <a:latin typeface="Arial"/>
                    <a:ea typeface="+mn-ea"/>
                    <a:cs typeface="Arial"/>
                  </a:rPr>
                  <a:t> </a:t>
                </a:r>
                <a:r>
                  <a:rPr kumimoji="0" sz="1100" b="1" i="0" u="none" strike="noStrike" kern="1200" cap="none" spc="-5" normalizeH="0" baseline="0" noProof="0" dirty="0">
                    <a:ln>
                      <a:noFill/>
                    </a:ln>
                    <a:solidFill>
                      <a:srgbClr val="F36633"/>
                    </a:solidFill>
                    <a:effectLst/>
                    <a:uLnTx/>
                    <a:uFillTx/>
                    <a:latin typeface="Arial"/>
                    <a:ea typeface="+mn-ea"/>
                    <a:cs typeface="Arial"/>
                  </a:rPr>
                  <a:t>COPD</a:t>
                </a:r>
                <a:r>
                  <a:rPr kumimoji="0" sz="1100" b="1" i="0" u="none" strike="noStrike" kern="1200" cap="none" spc="-30" normalizeH="0" baseline="0" noProof="0" dirty="0">
                    <a:ln>
                      <a:noFill/>
                    </a:ln>
                    <a:solidFill>
                      <a:srgbClr val="F36633"/>
                    </a:solidFill>
                    <a:effectLst/>
                    <a:uLnTx/>
                    <a:uFillTx/>
                    <a:latin typeface="Arial"/>
                    <a:ea typeface="+mn-ea"/>
                    <a:cs typeface="Arial"/>
                  </a:rPr>
                  <a:t> </a:t>
                </a:r>
                <a:r>
                  <a:rPr kumimoji="0" sz="1100" b="1" i="0" u="none" strike="noStrike" kern="1200" cap="none" spc="-5" normalizeH="0" baseline="0" noProof="0" dirty="0">
                    <a:ln>
                      <a:noFill/>
                    </a:ln>
                    <a:solidFill>
                      <a:srgbClr val="F36633"/>
                    </a:solidFill>
                    <a:effectLst/>
                    <a:uLnTx/>
                    <a:uFillTx/>
                    <a:latin typeface="Arial"/>
                    <a:ea typeface="+mn-ea"/>
                    <a:cs typeface="Arial"/>
                  </a:rPr>
                  <a:t>airway</a:t>
                </a:r>
                <a:endParaRPr kumimoji="0" sz="1100" b="0" i="0" u="none" strike="noStrike" kern="1200" cap="none" spc="0" normalizeH="0" baseline="0" noProof="0" dirty="0">
                  <a:ln>
                    <a:noFill/>
                  </a:ln>
                  <a:solidFill>
                    <a:srgbClr val="F36633"/>
                  </a:solidFill>
                  <a:effectLst/>
                  <a:uLnTx/>
                  <a:uFillTx/>
                  <a:latin typeface="Arial"/>
                  <a:ea typeface="+mn-ea"/>
                  <a:cs typeface="Arial"/>
                </a:endParaRPr>
              </a:p>
            </p:txBody>
          </p:sp>
          <p:pic>
            <p:nvPicPr>
              <p:cNvPr id="6" name="Picture 5"/>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283322" y="2207454"/>
                <a:ext cx="872576" cy="872576"/>
              </a:xfrm>
              <a:prstGeom prst="rect">
                <a:avLst/>
              </a:prstGeom>
            </p:spPr>
          </p:pic>
          <p:grpSp>
            <p:nvGrpSpPr>
              <p:cNvPr id="93" name="Group 92">
                <a:extLst>
                  <a:ext uri="{FF2B5EF4-FFF2-40B4-BE49-F238E27FC236}">
                    <a16:creationId xmlns:a16="http://schemas.microsoft.com/office/drawing/2014/main" id="{E6D6A716-9D04-AF8A-925E-A4B91BCA572B}"/>
                  </a:ext>
                </a:extLst>
              </p:cNvPr>
              <p:cNvGrpSpPr/>
              <p:nvPr/>
            </p:nvGrpSpPr>
            <p:grpSpPr>
              <a:xfrm>
                <a:off x="1917657" y="1766376"/>
                <a:ext cx="2682658" cy="1754732"/>
                <a:chOff x="1917657" y="1683793"/>
                <a:chExt cx="2682658" cy="1754732"/>
              </a:xfrm>
            </p:grpSpPr>
            <p:sp>
              <p:nvSpPr>
                <p:cNvPr id="92" name="Rectangle: Rounded Corners 91">
                  <a:extLst>
                    <a:ext uri="{FF2B5EF4-FFF2-40B4-BE49-F238E27FC236}">
                      <a16:creationId xmlns:a16="http://schemas.microsoft.com/office/drawing/2014/main" id="{798A6499-7637-C3D9-6D5E-0361E543CC0D}"/>
                    </a:ext>
                  </a:extLst>
                </p:cNvPr>
                <p:cNvSpPr/>
                <p:nvPr/>
              </p:nvSpPr>
              <p:spPr bwMode="auto">
                <a:xfrm>
                  <a:off x="1917657" y="1683793"/>
                  <a:ext cx="2682658" cy="1754732"/>
                </a:xfrm>
                <a:prstGeom prst="roundRect">
                  <a:avLst>
                    <a:gd name="adj" fmla="val 7439"/>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nvGrpSpPr>
                <p:cNvPr id="29" name="Group 28"/>
                <p:cNvGrpSpPr/>
                <p:nvPr/>
              </p:nvGrpSpPr>
              <p:grpSpPr>
                <a:xfrm>
                  <a:off x="1984381" y="1749656"/>
                  <a:ext cx="2549146" cy="1585308"/>
                  <a:chOff x="1721715" y="1844750"/>
                  <a:chExt cx="2616151" cy="1626981"/>
                </a:xfrm>
              </p:grpSpPr>
              <p:grpSp>
                <p:nvGrpSpPr>
                  <p:cNvPr id="28" name="Group 27"/>
                  <p:cNvGrpSpPr/>
                  <p:nvPr/>
                </p:nvGrpSpPr>
                <p:grpSpPr>
                  <a:xfrm>
                    <a:off x="1905644" y="2032205"/>
                    <a:ext cx="2209156" cy="1260542"/>
                    <a:chOff x="3037285" y="186602"/>
                    <a:chExt cx="2679934" cy="1529167"/>
                  </a:xfrm>
                </p:grpSpPr>
                <p:pic>
                  <p:nvPicPr>
                    <p:cNvPr id="10" name="Picture 9"/>
                    <p:cNvPicPr>
                      <a:picLocks noChangeAspect="1"/>
                    </p:cNvPicPr>
                    <p:nvPr/>
                  </p:nvPicPr>
                  <p:blipFill rotWithShape="1">
                    <a:blip r:embed="rId3" cstate="hqprint">
                      <a:extLst>
                        <a:ext uri="{28A0092B-C50C-407E-A947-70E740481C1C}">
                          <a14:useLocalDpi xmlns:a14="http://schemas.microsoft.com/office/drawing/2010/main" val="0"/>
                        </a:ext>
                      </a:extLst>
                    </a:blip>
                    <a:srcRect l="5214" t="8329" r="3983" b="18628"/>
                    <a:stretch/>
                  </p:blipFill>
                  <p:spPr>
                    <a:xfrm>
                      <a:off x="3076542" y="203272"/>
                      <a:ext cx="2626062" cy="1460810"/>
                    </a:xfrm>
                    <a:prstGeom prst="rect">
                      <a:avLst/>
                    </a:prstGeom>
                  </p:spPr>
                </p:pic>
                <p:sp>
                  <p:nvSpPr>
                    <p:cNvPr id="24" name="Rectangle 23"/>
                    <p:cNvSpPr/>
                    <p:nvPr/>
                  </p:nvSpPr>
                  <p:spPr>
                    <a:xfrm>
                      <a:off x="5100441" y="186602"/>
                      <a:ext cx="508009" cy="10708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49" name="Rectangle 48"/>
                    <p:cNvSpPr/>
                    <p:nvPr/>
                  </p:nvSpPr>
                  <p:spPr>
                    <a:xfrm>
                      <a:off x="5377371" y="1340973"/>
                      <a:ext cx="339848" cy="1248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50" name="Rectangle 49"/>
                    <p:cNvSpPr/>
                    <p:nvPr/>
                  </p:nvSpPr>
                  <p:spPr>
                    <a:xfrm>
                      <a:off x="4978901" y="1614407"/>
                      <a:ext cx="440203" cy="92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51" name="Rectangle 50"/>
                    <p:cNvSpPr/>
                    <p:nvPr/>
                  </p:nvSpPr>
                  <p:spPr>
                    <a:xfrm>
                      <a:off x="3037285" y="1527751"/>
                      <a:ext cx="639586" cy="188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sp>
                <p:nvSpPr>
                  <p:cNvPr id="45" name="object 21"/>
                  <p:cNvSpPr txBox="1"/>
                  <p:nvPr/>
                </p:nvSpPr>
                <p:spPr>
                  <a:xfrm>
                    <a:off x="1721715" y="3155864"/>
                    <a:ext cx="759397" cy="315867"/>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1000" b="1" i="0" u="none" strike="noStrike" kern="1200" cap="none" spc="-5" normalizeH="0" baseline="0" noProof="0" dirty="0">
                        <a:ln>
                          <a:noFill/>
                        </a:ln>
                        <a:solidFill>
                          <a:srgbClr val="000000"/>
                        </a:solidFill>
                        <a:effectLst/>
                        <a:uLnTx/>
                        <a:uFillTx/>
                        <a:latin typeface="Arial"/>
                        <a:ea typeface="+mn-ea"/>
                        <a:cs typeface="Arial"/>
                      </a:rPr>
                      <a:t>Normal lung</a:t>
                    </a:r>
                    <a:br>
                      <a:rPr kumimoji="0" lang="en-US" sz="1000" b="1" i="0" u="none" strike="noStrike" kern="1200" cap="none" spc="-5" normalizeH="0" baseline="0" noProof="0" dirty="0">
                        <a:ln>
                          <a:noFill/>
                        </a:ln>
                        <a:solidFill>
                          <a:srgbClr val="000000"/>
                        </a:solidFill>
                        <a:effectLst/>
                        <a:uLnTx/>
                        <a:uFillTx/>
                        <a:latin typeface="Arial"/>
                        <a:ea typeface="+mn-ea"/>
                        <a:cs typeface="Arial"/>
                      </a:rPr>
                    </a:br>
                    <a:r>
                      <a:rPr kumimoji="0" lang="en-US" sz="1000" b="1" i="0" u="none" strike="noStrike" kern="1200" cap="none" spc="-5" normalizeH="0" baseline="0" noProof="0" dirty="0">
                        <a:ln>
                          <a:noFill/>
                        </a:ln>
                        <a:solidFill>
                          <a:srgbClr val="000000"/>
                        </a:solidFill>
                        <a:effectLst/>
                        <a:uLnTx/>
                        <a:uFillTx/>
                        <a:latin typeface="Arial"/>
                        <a:ea typeface="+mn-ea"/>
                        <a:cs typeface="Arial"/>
                      </a:rPr>
                      <a:t>and airway</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sp>
                <p:nvSpPr>
                  <p:cNvPr id="46" name="object 21"/>
                  <p:cNvSpPr txBox="1"/>
                  <p:nvPr/>
                </p:nvSpPr>
                <p:spPr>
                  <a:xfrm>
                    <a:off x="3474871" y="3151303"/>
                    <a:ext cx="845272" cy="315867"/>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1000" b="1" i="0" u="none" strike="noStrike" kern="1200" cap="none" spc="-5" normalizeH="0" baseline="0" noProof="0" dirty="0">
                        <a:ln>
                          <a:noFill/>
                        </a:ln>
                        <a:solidFill>
                          <a:srgbClr val="000000"/>
                        </a:solidFill>
                        <a:effectLst/>
                        <a:uLnTx/>
                        <a:uFillTx/>
                        <a:latin typeface="Arial"/>
                        <a:ea typeface="+mn-ea"/>
                        <a:cs typeface="Arial"/>
                      </a:rPr>
                      <a:t>Inflamed lung</a:t>
                    </a:r>
                    <a:br>
                      <a:rPr kumimoji="0" lang="en-US" sz="1000" b="1" i="0" u="none" strike="noStrike" kern="1200" cap="none" spc="-5" normalizeH="0" baseline="0" noProof="0" dirty="0">
                        <a:ln>
                          <a:noFill/>
                        </a:ln>
                        <a:solidFill>
                          <a:srgbClr val="000000"/>
                        </a:solidFill>
                        <a:effectLst/>
                        <a:uLnTx/>
                        <a:uFillTx/>
                        <a:latin typeface="Arial"/>
                        <a:ea typeface="+mn-ea"/>
                        <a:cs typeface="Arial"/>
                      </a:rPr>
                    </a:br>
                    <a:r>
                      <a:rPr kumimoji="0" lang="en-US" sz="1000" b="1" i="0" u="none" strike="noStrike" kern="1200" cap="none" spc="-5" normalizeH="0" baseline="0" noProof="0" dirty="0">
                        <a:ln>
                          <a:noFill/>
                        </a:ln>
                        <a:solidFill>
                          <a:srgbClr val="000000"/>
                        </a:solidFill>
                        <a:effectLst/>
                        <a:uLnTx/>
                        <a:uFillTx/>
                        <a:latin typeface="Arial"/>
                        <a:ea typeface="+mn-ea"/>
                        <a:cs typeface="Arial"/>
                      </a:rPr>
                      <a:t>and airway</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sp>
                <p:nvSpPr>
                  <p:cNvPr id="47" name="object 21"/>
                  <p:cNvSpPr txBox="1"/>
                  <p:nvPr/>
                </p:nvSpPr>
                <p:spPr>
                  <a:xfrm>
                    <a:off x="3924936" y="2914566"/>
                    <a:ext cx="412930" cy="157933"/>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1000" b="1" i="0" u="none" strike="noStrike" kern="1200" cap="none" spc="-5" normalizeH="0" baseline="0" noProof="0" dirty="0">
                        <a:ln>
                          <a:noFill/>
                        </a:ln>
                        <a:solidFill>
                          <a:srgbClr val="000000"/>
                        </a:solidFill>
                        <a:effectLst/>
                        <a:uLnTx/>
                        <a:uFillTx/>
                        <a:latin typeface="Arial"/>
                        <a:ea typeface="+mn-ea"/>
                        <a:cs typeface="Arial"/>
                      </a:rPr>
                      <a:t>Mucus</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sp>
                <p:nvSpPr>
                  <p:cNvPr id="48" name="object 21"/>
                  <p:cNvSpPr txBox="1"/>
                  <p:nvPr/>
                </p:nvSpPr>
                <p:spPr>
                  <a:xfrm>
                    <a:off x="3500037" y="1844750"/>
                    <a:ext cx="600147" cy="315867"/>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1000" b="1" i="0" u="none" strike="noStrike" kern="1200" cap="none" spc="-5" normalizeH="0" baseline="0" noProof="0" dirty="0">
                        <a:ln>
                          <a:noFill/>
                        </a:ln>
                        <a:solidFill>
                          <a:srgbClr val="000000"/>
                        </a:solidFill>
                        <a:effectLst/>
                        <a:uLnTx/>
                        <a:uFillTx/>
                        <a:latin typeface="Arial"/>
                        <a:ea typeface="+mn-ea"/>
                        <a:cs typeface="Arial"/>
                      </a:rPr>
                      <a:t>Narrowed</a:t>
                    </a:r>
                    <a:br>
                      <a:rPr kumimoji="0" lang="en-US" sz="1000" b="1" i="0" u="none" strike="noStrike" kern="1200" cap="none" spc="-5" normalizeH="0" baseline="0" noProof="0" dirty="0">
                        <a:ln>
                          <a:noFill/>
                        </a:ln>
                        <a:solidFill>
                          <a:srgbClr val="000000"/>
                        </a:solidFill>
                        <a:effectLst/>
                        <a:uLnTx/>
                        <a:uFillTx/>
                        <a:latin typeface="Arial"/>
                        <a:ea typeface="+mn-ea"/>
                        <a:cs typeface="Arial"/>
                      </a:rPr>
                    </a:br>
                    <a:r>
                      <a:rPr kumimoji="0" lang="en-US" sz="1000" b="1" i="0" u="none" strike="noStrike" kern="1200" cap="none" spc="-5" normalizeH="0" baseline="0" noProof="0" dirty="0">
                        <a:ln>
                          <a:noFill/>
                        </a:ln>
                        <a:solidFill>
                          <a:srgbClr val="000000"/>
                        </a:solidFill>
                        <a:effectLst/>
                        <a:uLnTx/>
                        <a:uFillTx/>
                        <a:latin typeface="Arial"/>
                        <a:ea typeface="+mn-ea"/>
                        <a:cs typeface="Arial"/>
                      </a:rPr>
                      <a:t>lumen</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grpSp>
          </p:grpSp>
          <p:grpSp>
            <p:nvGrpSpPr>
              <p:cNvPr id="7" name="Group 6">
                <a:extLst>
                  <a:ext uri="{FF2B5EF4-FFF2-40B4-BE49-F238E27FC236}">
                    <a16:creationId xmlns:a16="http://schemas.microsoft.com/office/drawing/2014/main" id="{B5542513-B5DA-7881-124A-6ADBCB2E1EB6}"/>
                  </a:ext>
                </a:extLst>
              </p:cNvPr>
              <p:cNvGrpSpPr/>
              <p:nvPr/>
            </p:nvGrpSpPr>
            <p:grpSpPr>
              <a:xfrm>
                <a:off x="6831359" y="1543980"/>
                <a:ext cx="4813016" cy="2199524"/>
                <a:chOff x="6831359" y="1499785"/>
                <a:chExt cx="4813016" cy="2199524"/>
              </a:xfrm>
            </p:grpSpPr>
            <p:sp>
              <p:nvSpPr>
                <p:cNvPr id="62" name="object 24"/>
                <p:cNvSpPr txBox="1"/>
                <p:nvPr/>
              </p:nvSpPr>
              <p:spPr>
                <a:xfrm>
                  <a:off x="6831359" y="3135823"/>
                  <a:ext cx="1258624" cy="563486"/>
                </a:xfrm>
                <a:prstGeom prst="roundRect">
                  <a:avLst>
                    <a:gd name="adj" fmla="val 11049"/>
                  </a:avLst>
                </a:prstGeom>
                <a:solidFill>
                  <a:srgbClr val="40488D"/>
                </a:solidFill>
                <a:ln>
                  <a:solidFill>
                    <a:srgbClr val="40488D"/>
                  </a:solidFill>
                </a:ln>
              </p:spPr>
              <p:txBody>
                <a:bodyPr vert="horz" wrap="square" lIns="18288" tIns="18288" rIns="18288" bIns="18288"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 normalizeH="0" baseline="0" noProof="0" dirty="0">
                      <a:ln>
                        <a:noFill/>
                      </a:ln>
                      <a:solidFill>
                        <a:prstClr val="white"/>
                      </a:solidFill>
                      <a:effectLst/>
                      <a:uLnTx/>
                      <a:uFillTx/>
                      <a:latin typeface="Arial"/>
                      <a:ea typeface="+mn-ea"/>
                      <a:cs typeface="Arial"/>
                    </a:rPr>
                    <a:t>Bronchoconstriction, oedema, mucus</a:t>
                  </a:r>
                  <a:endParaRPr kumimoji="0" sz="1000" b="0" i="0" u="none" strike="noStrike" kern="1200" cap="none" spc="0" normalizeH="0" baseline="0" noProof="0" dirty="0">
                    <a:ln>
                      <a:noFill/>
                    </a:ln>
                    <a:solidFill>
                      <a:prstClr val="white"/>
                    </a:solidFill>
                    <a:effectLst/>
                    <a:uLnTx/>
                    <a:uFillTx/>
                    <a:latin typeface="Arial"/>
                    <a:ea typeface="+mn-ea"/>
                    <a:cs typeface="Arial"/>
                  </a:endParaRPr>
                </a:p>
              </p:txBody>
            </p:sp>
            <p:sp>
              <p:nvSpPr>
                <p:cNvPr id="69" name="object 24"/>
                <p:cNvSpPr txBox="1"/>
                <p:nvPr/>
              </p:nvSpPr>
              <p:spPr>
                <a:xfrm>
                  <a:off x="10386511" y="2214350"/>
                  <a:ext cx="1257864" cy="563486"/>
                </a:xfrm>
                <a:prstGeom prst="roundRect">
                  <a:avLst>
                    <a:gd name="adj" fmla="val 11049"/>
                  </a:avLst>
                </a:prstGeom>
                <a:solidFill>
                  <a:srgbClr val="40488D"/>
                </a:solidFill>
                <a:ln>
                  <a:solidFill>
                    <a:srgbClr val="40488D"/>
                  </a:solidFill>
                </a:ln>
              </p:spPr>
              <p:txBody>
                <a:bodyPr vert="horz" wrap="square" lIns="18288" tIns="18288" rIns="18288" bIns="18288"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 normalizeH="0" baseline="0" noProof="0" dirty="0">
                      <a:ln>
                        <a:noFill/>
                      </a:ln>
                      <a:solidFill>
                        <a:prstClr val="white"/>
                      </a:solidFill>
                      <a:effectLst/>
                      <a:uLnTx/>
                      <a:uFillTx/>
                      <a:latin typeface="Arial"/>
                      <a:ea typeface="+mn-ea"/>
                      <a:cs typeface="Arial"/>
                    </a:rPr>
                    <a:t>Exacerbations: increased severity </a:t>
                  </a:r>
                  <a:br>
                    <a:rPr kumimoji="0" lang="en-US" sz="1000" b="0" i="0" u="none" strike="noStrike" kern="1200" cap="none" spc="-5" normalizeH="0" baseline="0" noProof="0" dirty="0">
                      <a:ln>
                        <a:noFill/>
                      </a:ln>
                      <a:solidFill>
                        <a:prstClr val="white"/>
                      </a:solidFill>
                      <a:effectLst/>
                      <a:uLnTx/>
                      <a:uFillTx/>
                      <a:latin typeface="Arial"/>
                      <a:ea typeface="+mn-ea"/>
                      <a:cs typeface="Arial"/>
                    </a:rPr>
                  </a:br>
                  <a:r>
                    <a:rPr kumimoji="0" lang="en-US" sz="1000" b="0" i="0" u="none" strike="noStrike" kern="1200" cap="none" spc="-5" normalizeH="0" baseline="0" noProof="0" dirty="0">
                      <a:ln>
                        <a:noFill/>
                      </a:ln>
                      <a:solidFill>
                        <a:prstClr val="white"/>
                      </a:solidFill>
                      <a:effectLst/>
                      <a:uLnTx/>
                      <a:uFillTx/>
                      <a:latin typeface="Arial"/>
                      <a:ea typeface="+mn-ea"/>
                      <a:cs typeface="Arial"/>
                    </a:rPr>
                    <a:t>of symptoms</a:t>
                  </a:r>
                  <a:endParaRPr kumimoji="0" sz="1000" b="0" i="0" u="none" strike="noStrike" kern="1200" cap="none" spc="0" normalizeH="0" baseline="0" noProof="0" dirty="0">
                    <a:ln>
                      <a:noFill/>
                    </a:ln>
                    <a:solidFill>
                      <a:prstClr val="white"/>
                    </a:solidFill>
                    <a:effectLst/>
                    <a:uLnTx/>
                    <a:uFillTx/>
                    <a:latin typeface="Arial"/>
                    <a:ea typeface="+mn-ea"/>
                    <a:cs typeface="Arial"/>
                  </a:endParaRPr>
                </a:p>
              </p:txBody>
            </p:sp>
            <p:sp>
              <p:nvSpPr>
                <p:cNvPr id="70" name="object 24"/>
                <p:cNvSpPr txBox="1"/>
                <p:nvPr/>
              </p:nvSpPr>
              <p:spPr>
                <a:xfrm>
                  <a:off x="8381511" y="2214350"/>
                  <a:ext cx="1113772" cy="563486"/>
                </a:xfrm>
                <a:prstGeom prst="roundRect">
                  <a:avLst>
                    <a:gd name="adj" fmla="val 11049"/>
                  </a:avLst>
                </a:prstGeom>
                <a:solidFill>
                  <a:srgbClr val="40488D"/>
                </a:solidFill>
                <a:ln>
                  <a:solidFill>
                    <a:srgbClr val="40488D"/>
                  </a:solidFill>
                </a:ln>
              </p:spPr>
              <p:txBody>
                <a:bodyPr vert="horz" wrap="square" lIns="18288" tIns="18288" rIns="18288" bIns="18288"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5" normalizeH="0" baseline="0" noProof="0" dirty="0">
                      <a:ln>
                        <a:noFill/>
                      </a:ln>
                      <a:solidFill>
                        <a:prstClr val="white"/>
                      </a:solidFill>
                      <a:effectLst/>
                      <a:uLnTx/>
                      <a:uFillTx/>
                      <a:latin typeface="Arial"/>
                      <a:ea typeface="+mn-ea"/>
                      <a:cs typeface="Arial"/>
                    </a:rPr>
                    <a:t>Dynamic hyperinflation</a:t>
                  </a:r>
                  <a:endParaRPr kumimoji="0" sz="1000" b="0" i="0" u="none" strike="noStrike" kern="1200" cap="none" spc="0" normalizeH="0" baseline="0" noProof="0" dirty="0">
                    <a:ln>
                      <a:noFill/>
                    </a:ln>
                    <a:solidFill>
                      <a:prstClr val="white"/>
                    </a:solidFill>
                    <a:effectLst/>
                    <a:uLnTx/>
                    <a:uFillTx/>
                    <a:latin typeface="Arial"/>
                    <a:ea typeface="+mn-ea"/>
                    <a:cs typeface="Arial"/>
                  </a:endParaRPr>
                </a:p>
              </p:txBody>
            </p:sp>
            <p:sp>
              <p:nvSpPr>
                <p:cNvPr id="72" name="Down Arrow 71"/>
                <p:cNvSpPr/>
                <p:nvPr/>
              </p:nvSpPr>
              <p:spPr>
                <a:xfrm rot="16200000">
                  <a:off x="9758982" y="2280817"/>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73" name="Bent Arrow 72"/>
                <p:cNvSpPr/>
                <p:nvPr/>
              </p:nvSpPr>
              <p:spPr>
                <a:xfrm>
                  <a:off x="7354697" y="2286246"/>
                  <a:ext cx="877382" cy="803138"/>
                </a:xfrm>
                <a:prstGeom prst="bentArrow">
                  <a:avLst>
                    <a:gd name="adj1" fmla="val 27115"/>
                    <a:gd name="adj2" fmla="val 25771"/>
                    <a:gd name="adj3" fmla="val 25000"/>
                    <a:gd name="adj4" fmla="val 29463"/>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4" name="Bent Arrow 73"/>
                <p:cNvSpPr/>
                <p:nvPr/>
              </p:nvSpPr>
              <p:spPr>
                <a:xfrm rot="16200000" flipV="1">
                  <a:off x="9364370" y="1617792"/>
                  <a:ext cx="677959" cy="3071262"/>
                </a:xfrm>
                <a:prstGeom prst="bentArrow">
                  <a:avLst>
                    <a:gd name="adj1" fmla="val 31900"/>
                    <a:gd name="adj2" fmla="val 31528"/>
                    <a:gd name="adj3" fmla="val 25000"/>
                    <a:gd name="adj4" fmla="val 27818"/>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5" name="Bent Arrow 74"/>
                <p:cNvSpPr/>
                <p:nvPr/>
              </p:nvSpPr>
              <p:spPr>
                <a:xfrm rot="5400000">
                  <a:off x="9391116" y="276388"/>
                  <a:ext cx="624468" cy="3071262"/>
                </a:xfrm>
                <a:prstGeom prst="bentArrow">
                  <a:avLst>
                    <a:gd name="adj1" fmla="val 33749"/>
                    <a:gd name="adj2" fmla="val 31114"/>
                    <a:gd name="adj3" fmla="val 25000"/>
                    <a:gd name="adj4" fmla="val 36859"/>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91" name="Group 90">
                <a:extLst>
                  <a:ext uri="{FF2B5EF4-FFF2-40B4-BE49-F238E27FC236}">
                    <a16:creationId xmlns:a16="http://schemas.microsoft.com/office/drawing/2014/main" id="{66F2644D-D026-67D3-A286-7510D64BEAA8}"/>
                  </a:ext>
                </a:extLst>
              </p:cNvPr>
              <p:cNvGrpSpPr/>
              <p:nvPr/>
            </p:nvGrpSpPr>
            <p:grpSpPr>
              <a:xfrm>
                <a:off x="483893" y="1362017"/>
                <a:ext cx="825680" cy="2563451"/>
                <a:chOff x="477894" y="1362017"/>
                <a:chExt cx="825680" cy="2563451"/>
              </a:xfrm>
            </p:grpSpPr>
            <p:sp>
              <p:nvSpPr>
                <p:cNvPr id="43" name="object 31"/>
                <p:cNvSpPr txBox="1"/>
                <p:nvPr/>
              </p:nvSpPr>
              <p:spPr>
                <a:xfrm>
                  <a:off x="578071" y="1939625"/>
                  <a:ext cx="625326" cy="197490"/>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000000"/>
                      </a:solidFill>
                      <a:effectLst/>
                      <a:uLnTx/>
                      <a:uFillTx/>
                      <a:latin typeface="Arial"/>
                      <a:ea typeface="+mn-ea"/>
                      <a:cs typeface="Arial"/>
                    </a:rPr>
                    <a:t>Viruses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pic>
              <p:nvPicPr>
                <p:cNvPr id="85" name="Picture 84">
                  <a:extLst>
                    <a:ext uri="{FF2B5EF4-FFF2-40B4-BE49-F238E27FC236}">
                      <a16:creationId xmlns:a16="http://schemas.microsoft.com/office/drawing/2014/main" id="{8A1753AA-F7A1-41DC-32CB-1FB72850958E}"/>
                    </a:ext>
                  </a:extLst>
                </p:cNvPr>
                <p:cNvPicPr>
                  <a:picLocks noChangeAspect="1"/>
                </p:cNvPicPr>
                <p:nvPr/>
              </p:nvPicPr>
              <p:blipFill>
                <a:blip r:embed="rId4" cstate="hqprint">
                  <a:extLst>
                    <a:ext uri="{28A0092B-C50C-407E-A947-70E740481C1C}">
                      <a14:useLocalDpi xmlns:a14="http://schemas.microsoft.com/office/drawing/2010/main" val="0"/>
                    </a:ext>
                  </a:extLst>
                </a:blip>
                <a:srcRect l="16153" r="16153"/>
                <a:stretch>
                  <a:fillRect/>
                </a:stretch>
              </p:blipFill>
              <p:spPr>
                <a:xfrm>
                  <a:off x="612190" y="1362017"/>
                  <a:ext cx="557088" cy="548640"/>
                </a:xfrm>
                <a:custGeom>
                  <a:avLst/>
                  <a:gdLst>
                    <a:gd name="connsiteX0" fmla="*/ 0 w 557088"/>
                    <a:gd name="connsiteY0" fmla="*/ 0 h 548640"/>
                    <a:gd name="connsiteX1" fmla="*/ 557088 w 557088"/>
                    <a:gd name="connsiteY1" fmla="*/ 0 h 548640"/>
                    <a:gd name="connsiteX2" fmla="*/ 557088 w 557088"/>
                    <a:gd name="connsiteY2" fmla="*/ 548640 h 548640"/>
                    <a:gd name="connsiteX3" fmla="*/ 0 w 557088"/>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557088" h="548640">
                      <a:moveTo>
                        <a:pt x="0" y="0"/>
                      </a:moveTo>
                      <a:lnTo>
                        <a:pt x="557088" y="0"/>
                      </a:lnTo>
                      <a:lnTo>
                        <a:pt x="557088" y="548640"/>
                      </a:lnTo>
                      <a:lnTo>
                        <a:pt x="0" y="548640"/>
                      </a:lnTo>
                      <a:close/>
                    </a:path>
                  </a:pathLst>
                </a:custGeom>
              </p:spPr>
            </p:pic>
            <p:sp>
              <p:nvSpPr>
                <p:cNvPr id="66" name="object 32">
                  <a:extLst>
                    <a:ext uri="{FF2B5EF4-FFF2-40B4-BE49-F238E27FC236}">
                      <a16:creationId xmlns:a16="http://schemas.microsoft.com/office/drawing/2014/main" id="{CAE050C5-D7C7-5374-0A0C-41AF56F9890A}"/>
                    </a:ext>
                  </a:extLst>
                </p:cNvPr>
                <p:cNvSpPr txBox="1"/>
                <p:nvPr/>
              </p:nvSpPr>
              <p:spPr>
                <a:xfrm>
                  <a:off x="551071" y="2843412"/>
                  <a:ext cx="679327" cy="197490"/>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000000"/>
                      </a:solidFill>
                      <a:effectLst/>
                      <a:uLnTx/>
                      <a:uFillTx/>
                      <a:latin typeface="Arial"/>
                      <a:ea typeface="+mn-ea"/>
                      <a:cs typeface="Arial"/>
                    </a:rPr>
                    <a:t>Bacteria</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pic>
              <p:nvPicPr>
                <p:cNvPr id="79" name="Picture 78">
                  <a:extLst>
                    <a:ext uri="{FF2B5EF4-FFF2-40B4-BE49-F238E27FC236}">
                      <a16:creationId xmlns:a16="http://schemas.microsoft.com/office/drawing/2014/main" id="{53B5E932-C9FC-8DCF-1F63-5A717A331D4C}"/>
                    </a:ext>
                  </a:extLst>
                </p:cNvPr>
                <p:cNvPicPr>
                  <a:picLocks noChangeAspect="1"/>
                </p:cNvPicPr>
                <p:nvPr/>
              </p:nvPicPr>
              <p:blipFill rotWithShape="1">
                <a:blip r:embed="rId5" cstate="hqprint">
                  <a:extLst>
                    <a:ext uri="{28A0092B-C50C-407E-A947-70E740481C1C}">
                      <a14:useLocalDpi xmlns:a14="http://schemas.microsoft.com/office/drawing/2010/main" val="0"/>
                    </a:ext>
                  </a:extLst>
                </a:blip>
                <a:srcRect t="10655" b="10655"/>
                <a:stretch/>
              </p:blipFill>
              <p:spPr>
                <a:xfrm>
                  <a:off x="612190" y="2265804"/>
                  <a:ext cx="557088" cy="548640"/>
                </a:xfrm>
                <a:custGeom>
                  <a:avLst/>
                  <a:gdLst>
                    <a:gd name="connsiteX0" fmla="*/ 0 w 557088"/>
                    <a:gd name="connsiteY0" fmla="*/ 0 h 548640"/>
                    <a:gd name="connsiteX1" fmla="*/ 557088 w 557088"/>
                    <a:gd name="connsiteY1" fmla="*/ 0 h 548640"/>
                    <a:gd name="connsiteX2" fmla="*/ 557088 w 557088"/>
                    <a:gd name="connsiteY2" fmla="*/ 548640 h 548640"/>
                    <a:gd name="connsiteX3" fmla="*/ 0 w 557088"/>
                    <a:gd name="connsiteY3" fmla="*/ 548640 h 548640"/>
                  </a:gdLst>
                  <a:ahLst/>
                  <a:cxnLst>
                    <a:cxn ang="0">
                      <a:pos x="connsiteX0" y="connsiteY0"/>
                    </a:cxn>
                    <a:cxn ang="0">
                      <a:pos x="connsiteX1" y="connsiteY1"/>
                    </a:cxn>
                    <a:cxn ang="0">
                      <a:pos x="connsiteX2" y="connsiteY2"/>
                    </a:cxn>
                    <a:cxn ang="0">
                      <a:pos x="connsiteX3" y="connsiteY3"/>
                    </a:cxn>
                  </a:cxnLst>
                  <a:rect l="l" t="t" r="r" b="b"/>
                  <a:pathLst>
                    <a:path w="557088" h="548640">
                      <a:moveTo>
                        <a:pt x="0" y="0"/>
                      </a:moveTo>
                      <a:lnTo>
                        <a:pt x="557088" y="0"/>
                      </a:lnTo>
                      <a:lnTo>
                        <a:pt x="557088" y="548640"/>
                      </a:lnTo>
                      <a:lnTo>
                        <a:pt x="0" y="548640"/>
                      </a:lnTo>
                      <a:close/>
                    </a:path>
                  </a:pathLst>
                </a:custGeom>
              </p:spPr>
            </p:pic>
            <p:sp>
              <p:nvSpPr>
                <p:cNvPr id="87" name="object 20">
                  <a:extLst>
                    <a:ext uri="{FF2B5EF4-FFF2-40B4-BE49-F238E27FC236}">
                      <a16:creationId xmlns:a16="http://schemas.microsoft.com/office/drawing/2014/main" id="{E4CF36B1-0DDF-387E-B0E2-EAA0BDAC4C62}"/>
                    </a:ext>
                  </a:extLst>
                </p:cNvPr>
                <p:cNvSpPr txBox="1"/>
                <p:nvPr/>
              </p:nvSpPr>
              <p:spPr>
                <a:xfrm>
                  <a:off x="477894" y="3727978"/>
                  <a:ext cx="825680" cy="197490"/>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000000"/>
                      </a:solidFill>
                      <a:effectLst/>
                      <a:uLnTx/>
                      <a:uFillTx/>
                      <a:latin typeface="Arial"/>
                      <a:ea typeface="+mn-ea"/>
                      <a:cs typeface="Arial"/>
                    </a:rPr>
                    <a:t>Pollutants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pic>
              <p:nvPicPr>
                <p:cNvPr id="90" name="Picture 89">
                  <a:extLst>
                    <a:ext uri="{FF2B5EF4-FFF2-40B4-BE49-F238E27FC236}">
                      <a16:creationId xmlns:a16="http://schemas.microsoft.com/office/drawing/2014/main" id="{A4BABB07-1A9C-9E39-DA84-83DA9C22E613}"/>
                    </a:ext>
                  </a:extLst>
                </p:cNvPr>
                <p:cNvPicPr>
                  <a:picLocks noChangeAspect="1"/>
                </p:cNvPicPr>
                <p:nvPr/>
              </p:nvPicPr>
              <p:blipFill rotWithShape="1">
                <a:blip r:embed="rId6" cstate="hqprint">
                  <a:extLst>
                    <a:ext uri="{28A0092B-C50C-407E-A947-70E740481C1C}">
                      <a14:useLocalDpi xmlns:a14="http://schemas.microsoft.com/office/drawing/2010/main" val="0"/>
                    </a:ext>
                  </a:extLst>
                </a:blip>
                <a:srcRect l="4590" t="6657" r="5856" b="4806"/>
                <a:stretch/>
              </p:blipFill>
              <p:spPr>
                <a:xfrm>
                  <a:off x="612190" y="3142221"/>
                  <a:ext cx="557088" cy="557088"/>
                </a:xfrm>
                <a:custGeom>
                  <a:avLst/>
                  <a:gdLst>
                    <a:gd name="connsiteX0" fmla="*/ 0 w 557088"/>
                    <a:gd name="connsiteY0" fmla="*/ 0 h 557088"/>
                    <a:gd name="connsiteX1" fmla="*/ 557088 w 557088"/>
                    <a:gd name="connsiteY1" fmla="*/ 0 h 557088"/>
                    <a:gd name="connsiteX2" fmla="*/ 557088 w 557088"/>
                    <a:gd name="connsiteY2" fmla="*/ 557088 h 557088"/>
                    <a:gd name="connsiteX3" fmla="*/ 0 w 557088"/>
                    <a:gd name="connsiteY3" fmla="*/ 557088 h 557088"/>
                  </a:gdLst>
                  <a:ahLst/>
                  <a:cxnLst>
                    <a:cxn ang="0">
                      <a:pos x="connsiteX0" y="connsiteY0"/>
                    </a:cxn>
                    <a:cxn ang="0">
                      <a:pos x="connsiteX1" y="connsiteY1"/>
                    </a:cxn>
                    <a:cxn ang="0">
                      <a:pos x="connsiteX2" y="connsiteY2"/>
                    </a:cxn>
                    <a:cxn ang="0">
                      <a:pos x="connsiteX3" y="connsiteY3"/>
                    </a:cxn>
                  </a:cxnLst>
                  <a:rect l="l" t="t" r="r" b="b"/>
                  <a:pathLst>
                    <a:path w="557088" h="557088">
                      <a:moveTo>
                        <a:pt x="0" y="0"/>
                      </a:moveTo>
                      <a:lnTo>
                        <a:pt x="557088" y="0"/>
                      </a:lnTo>
                      <a:lnTo>
                        <a:pt x="557088" y="557088"/>
                      </a:lnTo>
                      <a:lnTo>
                        <a:pt x="0" y="557088"/>
                      </a:lnTo>
                      <a:close/>
                    </a:path>
                  </a:pathLst>
                </a:custGeom>
              </p:spPr>
            </p:pic>
          </p:grpSp>
          <p:grpSp>
            <p:nvGrpSpPr>
              <p:cNvPr id="95" name="Group 94">
                <a:extLst>
                  <a:ext uri="{FF2B5EF4-FFF2-40B4-BE49-F238E27FC236}">
                    <a16:creationId xmlns:a16="http://schemas.microsoft.com/office/drawing/2014/main" id="{CBF26524-8717-53FD-C8FB-5F249698D2EC}"/>
                  </a:ext>
                </a:extLst>
              </p:cNvPr>
              <p:cNvGrpSpPr/>
              <p:nvPr/>
            </p:nvGrpSpPr>
            <p:grpSpPr>
              <a:xfrm>
                <a:off x="1347254" y="1596829"/>
                <a:ext cx="492668" cy="2093827"/>
                <a:chOff x="1347254" y="1557520"/>
                <a:chExt cx="492668" cy="2093827"/>
              </a:xfrm>
            </p:grpSpPr>
            <p:sp>
              <p:nvSpPr>
                <p:cNvPr id="23" name="Down Arrow 22"/>
                <p:cNvSpPr/>
                <p:nvPr/>
              </p:nvSpPr>
              <p:spPr>
                <a:xfrm rot="18000000">
                  <a:off x="1380615" y="1524159"/>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53" name="Down Arrow 52"/>
                <p:cNvSpPr/>
                <p:nvPr/>
              </p:nvSpPr>
              <p:spPr>
                <a:xfrm rot="16200000">
                  <a:off x="1442731" y="2428466"/>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94" name="Down Arrow 22">
                  <a:extLst>
                    <a:ext uri="{FF2B5EF4-FFF2-40B4-BE49-F238E27FC236}">
                      <a16:creationId xmlns:a16="http://schemas.microsoft.com/office/drawing/2014/main" id="{4618006F-C175-D848-67D4-C61BEF121669}"/>
                    </a:ext>
                  </a:extLst>
                </p:cNvPr>
                <p:cNvSpPr/>
                <p:nvPr/>
              </p:nvSpPr>
              <p:spPr>
                <a:xfrm rot="3600000" flipV="1">
                  <a:off x="1380615" y="3254156"/>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grpSp>
            <p:nvGrpSpPr>
              <p:cNvPr id="3" name="Group 2">
                <a:extLst>
                  <a:ext uri="{FF2B5EF4-FFF2-40B4-BE49-F238E27FC236}">
                    <a16:creationId xmlns:a16="http://schemas.microsoft.com/office/drawing/2014/main" id="{62334DBE-C055-674A-430B-939989993EE8}"/>
                  </a:ext>
                </a:extLst>
              </p:cNvPr>
              <p:cNvGrpSpPr/>
              <p:nvPr/>
            </p:nvGrpSpPr>
            <p:grpSpPr>
              <a:xfrm>
                <a:off x="6225479" y="1680287"/>
                <a:ext cx="430552" cy="1926911"/>
                <a:chOff x="6225479" y="1587506"/>
                <a:chExt cx="430552" cy="1926911"/>
              </a:xfrm>
            </p:grpSpPr>
            <p:sp>
              <p:nvSpPr>
                <p:cNvPr id="61" name="Down Arrow 60"/>
                <p:cNvSpPr/>
                <p:nvPr/>
              </p:nvSpPr>
              <p:spPr>
                <a:xfrm rot="14400000">
                  <a:off x="6258840" y="1554145"/>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2" name="Down Arrow 60">
                  <a:extLst>
                    <a:ext uri="{FF2B5EF4-FFF2-40B4-BE49-F238E27FC236}">
                      <a16:creationId xmlns:a16="http://schemas.microsoft.com/office/drawing/2014/main" id="{15A0551F-7F18-BCC1-0E2E-F11737D56641}"/>
                    </a:ext>
                  </a:extLst>
                </p:cNvPr>
                <p:cNvSpPr/>
                <p:nvPr/>
              </p:nvSpPr>
              <p:spPr>
                <a:xfrm rot="7200000" flipV="1">
                  <a:off x="6258840" y="3117226"/>
                  <a:ext cx="363830" cy="430552"/>
                </a:xfrm>
                <a:prstGeom prst="downArrow">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Arial"/>
                    <a:ea typeface="+mn-ea"/>
                    <a:cs typeface="Noto Sans"/>
                  </a:endParaRPr>
                </a:p>
              </p:txBody>
            </p:sp>
          </p:grpSp>
        </p:grpSp>
      </p:grpSp>
      <p:sp>
        <p:nvSpPr>
          <p:cNvPr id="35" name="Rectangle 34">
            <a:extLst>
              <a:ext uri="{FF2B5EF4-FFF2-40B4-BE49-F238E27FC236}">
                <a16:creationId xmlns:a16="http://schemas.microsoft.com/office/drawing/2014/main" id="{BD0A3D91-E37E-8446-7BD0-AAFB0E8169C2}"/>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7" name="Date Placeholder 4">
            <a:extLst>
              <a:ext uri="{FF2B5EF4-FFF2-40B4-BE49-F238E27FC236}">
                <a16:creationId xmlns:a16="http://schemas.microsoft.com/office/drawing/2014/main" id="{150407D4-5697-AE33-6B82-8E9BFB854B08}"/>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796163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solidFill>
                  <a:srgbClr val="F36500"/>
                </a:solidFill>
              </a:rPr>
              <a:t>Exacerbations are more likely to occur as COPD progresses</a:t>
            </a:r>
            <a:endParaRPr lang="en-US" baseline="30000" dirty="0"/>
          </a:p>
        </p:txBody>
      </p:sp>
      <p:sp>
        <p:nvSpPr>
          <p:cNvPr id="20" name="Text Placeholder 19">
            <a:extLst>
              <a:ext uri="{FF2B5EF4-FFF2-40B4-BE49-F238E27FC236}">
                <a16:creationId xmlns:a16="http://schemas.microsoft.com/office/drawing/2014/main" id="{10C5C882-6039-2144-7D48-910DEAC3F9EC}"/>
              </a:ext>
            </a:extLst>
          </p:cNvPr>
          <p:cNvSpPr>
            <a:spLocks noGrp="1"/>
          </p:cNvSpPr>
          <p:nvPr>
            <p:ph type="body" sz="quarter" idx="13"/>
          </p:nvPr>
        </p:nvSpPr>
        <p:spPr>
          <a:xfrm>
            <a:off x="365125" y="5863832"/>
            <a:ext cx="11460164" cy="298800"/>
          </a:xfrm>
        </p:spPr>
        <p:txBody>
          <a:bodyPr/>
          <a:lstStyle/>
          <a:p>
            <a:pPr marL="12700">
              <a:spcBef>
                <a:spcPts val="95"/>
              </a:spcBef>
            </a:pPr>
            <a:r>
              <a:rPr lang="en-US" sz="800" dirty="0">
                <a:cs typeface="Arial"/>
              </a:rPr>
              <a:t>*Global survey of 1400 clinicians from 14 countries; GSK created image from Barnes N. 2014. </a:t>
            </a:r>
            <a:br>
              <a:rPr lang="en-US" sz="800" dirty="0">
                <a:cs typeface="Arial"/>
              </a:rPr>
            </a:br>
            <a:r>
              <a:rPr lang="en-US" sz="800" dirty="0">
                <a:cs typeface="Arial"/>
              </a:rPr>
              <a:t>FEV</a:t>
            </a:r>
            <a:r>
              <a:rPr lang="en-US" sz="800" baseline="-22222" dirty="0">
                <a:cs typeface="Arial"/>
              </a:rPr>
              <a:t>1</a:t>
            </a:r>
            <a:r>
              <a:rPr lang="en-US" sz="800" dirty="0">
                <a:cs typeface="Arial"/>
              </a:rPr>
              <a:t>, forced expiratory volume in 1 second.</a:t>
            </a:r>
          </a:p>
          <a:p>
            <a:pPr marL="12700">
              <a:spcBef>
                <a:spcPts val="95"/>
              </a:spcBef>
            </a:pPr>
            <a:r>
              <a:rPr lang="en-US" sz="800" dirty="0">
                <a:cs typeface="Arial"/>
              </a:rPr>
              <a:t>1. </a:t>
            </a:r>
            <a:r>
              <a:rPr lang="en-US" sz="800" dirty="0"/>
              <a:t>Barnes N, et al. </a:t>
            </a:r>
            <a:r>
              <a:rPr lang="en-US" sz="800" i="1" dirty="0"/>
              <a:t>BMC Pulm Med</a:t>
            </a:r>
            <a:r>
              <a:rPr lang="en-US" sz="800" dirty="0"/>
              <a:t>. 2013;13:1-11</a:t>
            </a:r>
            <a:r>
              <a:rPr lang="en-US" sz="800" dirty="0">
                <a:cs typeface="Arial"/>
              </a:rPr>
              <a:t>; 2. </a:t>
            </a:r>
            <a:r>
              <a:rPr lang="en-US" sz="800" dirty="0"/>
              <a:t>Barnes N. </a:t>
            </a:r>
            <a:r>
              <a:rPr lang="en-US" sz="800" i="1" dirty="0"/>
              <a:t>Curr Med Res Opin</a:t>
            </a:r>
            <a:r>
              <a:rPr lang="en-US" sz="800" dirty="0"/>
              <a:t>. 2014;30(4):667-684.</a:t>
            </a:r>
          </a:p>
        </p:txBody>
      </p:sp>
      <p:sp>
        <p:nvSpPr>
          <p:cNvPr id="58" name="object 7"/>
          <p:cNvSpPr txBox="1"/>
          <p:nvPr/>
        </p:nvSpPr>
        <p:spPr>
          <a:xfrm>
            <a:off x="361953" y="807789"/>
            <a:ext cx="11468094" cy="457200"/>
          </a:xfrm>
          <a:prstGeom prst="roundRect">
            <a:avLst/>
          </a:prstGeom>
          <a:solidFill>
            <a:schemeClr val="tx2"/>
          </a:solid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409"/>
              </a:spcBef>
              <a:spcAft>
                <a:spcPts val="0"/>
              </a:spcAft>
              <a:buClrTx/>
              <a:buSzTx/>
              <a:buFontTx/>
              <a:buNone/>
              <a:tabLst/>
              <a:defRPr/>
            </a:pPr>
            <a:r>
              <a:rPr kumimoji="0" lang="en-US" sz="1800" b="1" i="0" u="none" strike="noStrike" kern="1200" cap="none" spc="0" normalizeH="0" baseline="0" noProof="0" dirty="0">
                <a:ln>
                  <a:noFill/>
                </a:ln>
                <a:solidFill>
                  <a:srgbClr val="FFFFFF"/>
                </a:solidFill>
                <a:effectLst/>
                <a:uLnTx/>
                <a:uFillTx/>
                <a:latin typeface="Arial"/>
                <a:ea typeface="+mn-ea"/>
                <a:cs typeface="Arial"/>
              </a:rPr>
              <a:t>Many patients with COPD experience exacerbations</a:t>
            </a:r>
            <a:r>
              <a:rPr kumimoji="0" lang="en-US" sz="1800" b="1" i="0" u="none" strike="noStrike" kern="1200" cap="none" spc="0" normalizeH="0" baseline="26455" noProof="0" dirty="0">
                <a:ln>
                  <a:noFill/>
                </a:ln>
                <a:solidFill>
                  <a:srgbClr val="FFFFFF"/>
                </a:solidFill>
                <a:effectLst/>
                <a:uLnTx/>
                <a:uFillTx/>
                <a:latin typeface="Arial"/>
                <a:ea typeface="+mn-ea"/>
                <a:cs typeface="Arial"/>
              </a:rPr>
              <a:t>1</a:t>
            </a:r>
            <a:endParaRPr kumimoji="0" lang="en-US" sz="1800" b="0" i="0" u="none" strike="noStrike" kern="1200" cap="none" spc="0" normalizeH="0" baseline="26455" noProof="0" dirty="0">
              <a:ln>
                <a:noFill/>
              </a:ln>
              <a:solidFill>
                <a:srgbClr val="000000"/>
              </a:solidFill>
              <a:effectLst/>
              <a:uLnTx/>
              <a:uFillTx/>
              <a:latin typeface="Arial"/>
              <a:ea typeface="+mn-ea"/>
              <a:cs typeface="Arial"/>
            </a:endParaRPr>
          </a:p>
        </p:txBody>
      </p:sp>
      <p:grpSp>
        <p:nvGrpSpPr>
          <p:cNvPr id="235" name="Group 234">
            <a:extLst>
              <a:ext uri="{FF2B5EF4-FFF2-40B4-BE49-F238E27FC236}">
                <a16:creationId xmlns:a16="http://schemas.microsoft.com/office/drawing/2014/main" id="{0062DDFF-2A7E-8452-FA2D-BF152DC80D55}"/>
              </a:ext>
            </a:extLst>
          </p:cNvPr>
          <p:cNvGrpSpPr/>
          <p:nvPr/>
        </p:nvGrpSpPr>
        <p:grpSpPr>
          <a:xfrm>
            <a:off x="361953" y="1341853"/>
            <a:ext cx="11468091" cy="4069662"/>
            <a:chOff x="361953" y="1399003"/>
            <a:chExt cx="11468091" cy="4069662"/>
          </a:xfrm>
        </p:grpSpPr>
        <p:sp>
          <p:nvSpPr>
            <p:cNvPr id="233" name="Rectangle: Rounded Corners 232">
              <a:extLst>
                <a:ext uri="{FF2B5EF4-FFF2-40B4-BE49-F238E27FC236}">
                  <a16:creationId xmlns:a16="http://schemas.microsoft.com/office/drawing/2014/main" id="{C73CBFB3-9025-64AB-024A-0B5984B6E8F0}"/>
                </a:ext>
              </a:extLst>
            </p:cNvPr>
            <p:cNvSpPr/>
            <p:nvPr/>
          </p:nvSpPr>
          <p:spPr bwMode="auto">
            <a:xfrm>
              <a:off x="361953" y="1399003"/>
              <a:ext cx="11468091" cy="4069662"/>
            </a:xfrm>
            <a:prstGeom prst="roundRect">
              <a:avLst>
                <a:gd name="adj" fmla="val 5882"/>
              </a:avLst>
            </a:prstGeom>
            <a:solidFill>
              <a:schemeClr val="bg1">
                <a:lumMod val="95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nvGrpSpPr>
            <p:cNvPr id="234" name="Group 233">
              <a:extLst>
                <a:ext uri="{FF2B5EF4-FFF2-40B4-BE49-F238E27FC236}">
                  <a16:creationId xmlns:a16="http://schemas.microsoft.com/office/drawing/2014/main" id="{0A115CE7-FA1F-CB34-9A5E-2994350A91C8}"/>
                </a:ext>
              </a:extLst>
            </p:cNvPr>
            <p:cNvGrpSpPr/>
            <p:nvPr/>
          </p:nvGrpSpPr>
          <p:grpSpPr>
            <a:xfrm>
              <a:off x="906714" y="1499727"/>
              <a:ext cx="10378572" cy="3794447"/>
              <a:chOff x="906714" y="1423527"/>
              <a:chExt cx="10378572" cy="3794447"/>
            </a:xfrm>
          </p:grpSpPr>
          <p:sp>
            <p:nvSpPr>
              <p:cNvPr id="87" name="object 4"/>
              <p:cNvSpPr txBox="1"/>
              <p:nvPr/>
            </p:nvSpPr>
            <p:spPr>
              <a:xfrm>
                <a:off x="906714" y="1423527"/>
                <a:ext cx="10378572" cy="227626"/>
              </a:xfrm>
              <a:prstGeom prst="rect">
                <a:avLst/>
              </a:prstGeom>
            </p:spPr>
            <p:txBody>
              <a:bodyPr vert="horz" wrap="square" lIns="0" tIns="12065" rIns="0" bIns="0" rtlCol="0">
                <a:spAutoFit/>
              </a:bodyPr>
              <a:lstStyle/>
              <a:p>
                <a:pPr marL="545465" marR="30480" lvl="0" indent="-508000" algn="ctr" defTabSz="914400" rtl="0" eaLnBrk="1" fontAlgn="auto" latinLnBrk="0" hangingPunct="1">
                  <a:lnSpc>
                    <a:spcPct val="100000"/>
                  </a:lnSpc>
                  <a:spcBef>
                    <a:spcPts val="95"/>
                  </a:spcBef>
                  <a:spcAft>
                    <a:spcPts val="0"/>
                  </a:spcAft>
                  <a:buClrTx/>
                  <a:buSzTx/>
                  <a:buFontTx/>
                  <a:buNone/>
                  <a:tabLst/>
                  <a:defRPr/>
                </a:pPr>
                <a:r>
                  <a:rPr kumimoji="0" sz="1400" b="1" i="0" u="none" strike="noStrike" kern="1200" cap="none" spc="0" normalizeH="0" baseline="0" noProof="0" dirty="0">
                    <a:ln>
                      <a:noFill/>
                    </a:ln>
                    <a:solidFill>
                      <a:srgbClr val="000000"/>
                    </a:solidFill>
                    <a:effectLst/>
                    <a:uLnTx/>
                    <a:uFillTx/>
                    <a:latin typeface="Arial"/>
                    <a:ea typeface="+mn-ea"/>
                    <a:cs typeface="Arial"/>
                  </a:rPr>
                  <a:t>Clinicians’ estimate of proportion of patients with COPD</a:t>
                </a:r>
                <a:r>
                  <a:rPr kumimoji="0" lang="en-US" sz="1400" b="1"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with an exacerbation in the last 12 months*</a:t>
                </a:r>
                <a:r>
                  <a:rPr kumimoji="0" lang="en-IN" sz="1400" b="1" i="0" u="none" strike="noStrike" kern="1200" cap="none" spc="0" normalizeH="0" baseline="30000" noProof="0" dirty="0">
                    <a:ln>
                      <a:noFill/>
                    </a:ln>
                    <a:solidFill>
                      <a:srgbClr val="000000"/>
                    </a:solidFill>
                    <a:effectLst/>
                    <a:uLnTx/>
                    <a:uFillTx/>
                    <a:latin typeface="Arial"/>
                    <a:ea typeface="+mn-ea"/>
                    <a:cs typeface="Arial"/>
                  </a:rPr>
                  <a:t>,</a:t>
                </a:r>
                <a:r>
                  <a:rPr kumimoji="0" sz="1400" b="1" i="0" u="none" strike="noStrike" kern="1200" cap="none" spc="0" normalizeH="0" baseline="24691" noProof="0" dirty="0">
                    <a:ln>
                      <a:noFill/>
                    </a:ln>
                    <a:solidFill>
                      <a:srgbClr val="000000"/>
                    </a:solidFill>
                    <a:effectLst/>
                    <a:uLnTx/>
                    <a:uFillTx/>
                    <a:latin typeface="Arial"/>
                    <a:ea typeface="+mn-ea"/>
                    <a:cs typeface="Arial"/>
                  </a:rPr>
                  <a:t>2</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grpSp>
            <p:nvGrpSpPr>
              <p:cNvPr id="231" name="Group 230">
                <a:extLst>
                  <a:ext uri="{FF2B5EF4-FFF2-40B4-BE49-F238E27FC236}">
                    <a16:creationId xmlns:a16="http://schemas.microsoft.com/office/drawing/2014/main" id="{D109EBB6-A1F9-0381-C958-9BEC230DC22E}"/>
                  </a:ext>
                </a:extLst>
              </p:cNvPr>
              <p:cNvGrpSpPr/>
              <p:nvPr/>
            </p:nvGrpSpPr>
            <p:grpSpPr>
              <a:xfrm>
                <a:off x="1423747" y="1673360"/>
                <a:ext cx="9344506" cy="3544614"/>
                <a:chOff x="1423747" y="2092460"/>
                <a:chExt cx="9344506" cy="3544614"/>
              </a:xfrm>
            </p:grpSpPr>
            <p:grpSp>
              <p:nvGrpSpPr>
                <p:cNvPr id="225" name="Group 224">
                  <a:extLst>
                    <a:ext uri="{FF2B5EF4-FFF2-40B4-BE49-F238E27FC236}">
                      <a16:creationId xmlns:a16="http://schemas.microsoft.com/office/drawing/2014/main" id="{B5058B76-CC57-8252-F391-8DD67B8059BE}"/>
                    </a:ext>
                  </a:extLst>
                </p:cNvPr>
                <p:cNvGrpSpPr/>
                <p:nvPr/>
              </p:nvGrpSpPr>
              <p:grpSpPr>
                <a:xfrm>
                  <a:off x="1423747" y="2092460"/>
                  <a:ext cx="9344506" cy="3275204"/>
                  <a:chOff x="1435951" y="2092460"/>
                  <a:chExt cx="9344506" cy="3275204"/>
                </a:xfrm>
              </p:grpSpPr>
              <p:grpSp>
                <p:nvGrpSpPr>
                  <p:cNvPr id="214" name="Group 213">
                    <a:extLst>
                      <a:ext uri="{FF2B5EF4-FFF2-40B4-BE49-F238E27FC236}">
                        <a16:creationId xmlns:a16="http://schemas.microsoft.com/office/drawing/2014/main" id="{9239C0DF-E366-3116-A3BD-33065D90855C}"/>
                      </a:ext>
                    </a:extLst>
                  </p:cNvPr>
                  <p:cNvGrpSpPr/>
                  <p:nvPr/>
                </p:nvGrpSpPr>
                <p:grpSpPr>
                  <a:xfrm>
                    <a:off x="3067904" y="5140266"/>
                    <a:ext cx="7712553" cy="227398"/>
                    <a:chOff x="3067904" y="5089466"/>
                    <a:chExt cx="7712553" cy="227398"/>
                  </a:xfrm>
                </p:grpSpPr>
                <p:sp>
                  <p:nvSpPr>
                    <p:cNvPr id="191" name="object 20">
                      <a:extLst>
                        <a:ext uri="{FF2B5EF4-FFF2-40B4-BE49-F238E27FC236}">
                          <a16:creationId xmlns:a16="http://schemas.microsoft.com/office/drawing/2014/main" id="{C1721FE4-A98C-170C-9FD7-C55A33741A7A}"/>
                        </a:ext>
                      </a:extLst>
                    </p:cNvPr>
                    <p:cNvSpPr txBox="1"/>
                    <p:nvPr/>
                  </p:nvSpPr>
                  <p:spPr>
                    <a:xfrm>
                      <a:off x="3067904" y="5089466"/>
                      <a:ext cx="268303"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4" name="object 20">
                      <a:extLst>
                        <a:ext uri="{FF2B5EF4-FFF2-40B4-BE49-F238E27FC236}">
                          <a16:creationId xmlns:a16="http://schemas.microsoft.com/office/drawing/2014/main" id="{A3C6B351-500B-EE87-C5A7-CC2C77286680}"/>
                        </a:ext>
                      </a:extLst>
                    </p:cNvPr>
                    <p:cNvSpPr txBox="1"/>
                    <p:nvPr/>
                  </p:nvSpPr>
                  <p:spPr>
                    <a:xfrm>
                      <a:off x="4220430"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1</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7" name="object 20">
                      <a:extLst>
                        <a:ext uri="{FF2B5EF4-FFF2-40B4-BE49-F238E27FC236}">
                          <a16:creationId xmlns:a16="http://schemas.microsoft.com/office/drawing/2014/main" id="{9927CC28-0B35-62E4-A53A-1E79B3D1D0C6}"/>
                        </a:ext>
                      </a:extLst>
                    </p:cNvPr>
                    <p:cNvSpPr txBox="1"/>
                    <p:nvPr/>
                  </p:nvSpPr>
                  <p:spPr>
                    <a:xfrm>
                      <a:off x="5448541"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2</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00" name="object 20">
                      <a:extLst>
                        <a:ext uri="{FF2B5EF4-FFF2-40B4-BE49-F238E27FC236}">
                          <a16:creationId xmlns:a16="http://schemas.microsoft.com/office/drawing/2014/main" id="{789741BB-C99B-5082-0203-0DFEC3ADF1FD}"/>
                        </a:ext>
                      </a:extLst>
                    </p:cNvPr>
                    <p:cNvSpPr txBox="1"/>
                    <p:nvPr/>
                  </p:nvSpPr>
                  <p:spPr>
                    <a:xfrm>
                      <a:off x="6676652"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3</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03" name="object 20">
                      <a:extLst>
                        <a:ext uri="{FF2B5EF4-FFF2-40B4-BE49-F238E27FC236}">
                          <a16:creationId xmlns:a16="http://schemas.microsoft.com/office/drawing/2014/main" id="{1022B15F-BB81-8182-0132-10389F12FAFC}"/>
                        </a:ext>
                      </a:extLst>
                    </p:cNvPr>
                    <p:cNvSpPr txBox="1"/>
                    <p:nvPr/>
                  </p:nvSpPr>
                  <p:spPr>
                    <a:xfrm>
                      <a:off x="7904763"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4</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06" name="object 20">
                      <a:extLst>
                        <a:ext uri="{FF2B5EF4-FFF2-40B4-BE49-F238E27FC236}">
                          <a16:creationId xmlns:a16="http://schemas.microsoft.com/office/drawing/2014/main" id="{406009C8-1C81-AAD8-E3B1-D43FF3B9DB46}"/>
                        </a:ext>
                      </a:extLst>
                    </p:cNvPr>
                    <p:cNvSpPr txBox="1"/>
                    <p:nvPr/>
                  </p:nvSpPr>
                  <p:spPr>
                    <a:xfrm>
                      <a:off x="9132874"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5</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09" name="object 20">
                      <a:extLst>
                        <a:ext uri="{FF2B5EF4-FFF2-40B4-BE49-F238E27FC236}">
                          <a16:creationId xmlns:a16="http://schemas.microsoft.com/office/drawing/2014/main" id="{E4176842-447B-F143-A5CE-7796C465E0A6}"/>
                        </a:ext>
                      </a:extLst>
                    </p:cNvPr>
                    <p:cNvSpPr txBox="1"/>
                    <p:nvPr/>
                  </p:nvSpPr>
                  <p:spPr>
                    <a:xfrm>
                      <a:off x="10360983" y="5089466"/>
                      <a:ext cx="419474" cy="227398"/>
                    </a:xfrm>
                    <a:prstGeom prst="rect">
                      <a:avLst/>
                    </a:prstGeom>
                  </p:spPr>
                  <p:txBody>
                    <a:bodyPr vert="horz" wrap="square" lIns="0" tIns="12700" rIns="0" bIns="0" rtlCol="0">
                      <a:no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6</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sp>
                <p:nvSpPr>
                  <p:cNvPr id="80" name="object 27"/>
                  <p:cNvSpPr txBox="1"/>
                  <p:nvPr/>
                </p:nvSpPr>
                <p:spPr>
                  <a:xfrm>
                    <a:off x="1435951" y="2092460"/>
                    <a:ext cx="242651" cy="2999488"/>
                  </a:xfrm>
                  <a:prstGeom prst="rect">
                    <a:avLst/>
                  </a:prstGeom>
                </p:spPr>
                <p:txBody>
                  <a:bodyPr vert="vert270" wrap="square" lIns="0" tIns="0" rIns="0" bIns="0" rtlCol="0">
                    <a:noAutofit/>
                  </a:bodyPr>
                  <a:lstStyle/>
                  <a:p>
                    <a:pPr marL="12700" marR="0" lvl="0" indent="0" algn="ctr" defTabSz="914400" rtl="0" eaLnBrk="1" fontAlgn="auto" latinLnBrk="0" hangingPunct="1">
                      <a:lnSpc>
                        <a:spcPts val="1425"/>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Severity</a:t>
                    </a:r>
                    <a:r>
                      <a:rPr kumimoji="0" sz="1200" b="1" i="0" u="none" strike="noStrike" kern="1200" cap="none" spc="-35"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of</a:t>
                    </a:r>
                    <a:r>
                      <a:rPr kumimoji="0" sz="1200" b="1" i="0" u="none" strike="noStrike" kern="1200" cap="none" spc="-15" normalizeH="0" baseline="0" noProof="0" dirty="0">
                        <a:ln>
                          <a:noFill/>
                        </a:ln>
                        <a:solidFill>
                          <a:srgbClr val="000000"/>
                        </a:solidFill>
                        <a:effectLst/>
                        <a:uLnTx/>
                        <a:uFillTx/>
                        <a:latin typeface="Arial"/>
                        <a:ea typeface="+mn-ea"/>
                        <a:cs typeface="Arial"/>
                      </a:rPr>
                      <a:t> </a:t>
                    </a:r>
                    <a:r>
                      <a:rPr kumimoji="0" sz="1200" b="1" i="0" u="none" strike="noStrike" kern="1200" cap="none" spc="-5" normalizeH="0" baseline="0" noProof="0" dirty="0">
                        <a:ln>
                          <a:noFill/>
                        </a:ln>
                        <a:solidFill>
                          <a:srgbClr val="000000"/>
                        </a:solidFill>
                        <a:effectLst/>
                        <a:uLnTx/>
                        <a:uFillTx/>
                        <a:latin typeface="Arial"/>
                        <a:ea typeface="+mn-ea"/>
                        <a:cs typeface="Arial"/>
                      </a:rPr>
                      <a:t>COPD</a:t>
                    </a:r>
                    <a:r>
                      <a:rPr kumimoji="0" sz="1200" b="1" i="0" u="none" strike="noStrike" kern="1200" cap="none" spc="-15"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(predicted</a:t>
                    </a:r>
                    <a:r>
                      <a:rPr kumimoji="0" sz="1200" b="1" i="0" u="none" strike="noStrike" kern="1200" cap="none" spc="-15" normalizeH="0" baseline="0" noProof="0" dirty="0">
                        <a:ln>
                          <a:noFill/>
                        </a:ln>
                        <a:solidFill>
                          <a:srgbClr val="000000"/>
                        </a:solidFill>
                        <a:effectLst/>
                        <a:uLnTx/>
                        <a:uFillTx/>
                        <a:latin typeface="Arial"/>
                        <a:ea typeface="+mn-ea"/>
                        <a:cs typeface="Arial"/>
                      </a:rPr>
                      <a:t> </a:t>
                    </a:r>
                    <a:r>
                      <a:rPr kumimoji="0" sz="1200" b="1" i="0" u="none" strike="noStrike" kern="1200" cap="none" spc="-5" normalizeH="0" baseline="0" noProof="0" dirty="0">
                        <a:ln>
                          <a:noFill/>
                        </a:ln>
                        <a:solidFill>
                          <a:srgbClr val="000000"/>
                        </a:solidFill>
                        <a:effectLst/>
                        <a:uLnTx/>
                        <a:uFillTx/>
                        <a:latin typeface="Arial"/>
                        <a:ea typeface="+mn-ea"/>
                        <a:cs typeface="Arial"/>
                      </a:rPr>
                      <a:t>FEV</a:t>
                    </a:r>
                    <a:r>
                      <a:rPr kumimoji="0" sz="1200" b="1" i="0" u="none" strike="noStrike" kern="1200" cap="none" spc="-7" normalizeH="0" baseline="-20833" noProof="0" dirty="0">
                        <a:ln>
                          <a:noFill/>
                        </a:ln>
                        <a:solidFill>
                          <a:srgbClr val="000000"/>
                        </a:solidFill>
                        <a:effectLst/>
                        <a:uLnTx/>
                        <a:uFillTx/>
                        <a:latin typeface="Arial"/>
                        <a:ea typeface="+mn-ea"/>
                        <a:cs typeface="Arial"/>
                      </a:rPr>
                      <a:t>1</a:t>
                    </a:r>
                    <a:r>
                      <a:rPr kumimoji="0" sz="1200" b="1" i="0" u="none" strike="noStrike" kern="1200" cap="none" spc="-5" normalizeH="0" baseline="0" noProof="0" dirty="0">
                        <a:ln>
                          <a:noFill/>
                        </a:ln>
                        <a:solidFill>
                          <a:srgbClr val="000000"/>
                        </a:solidFill>
                        <a:effectLst/>
                        <a:uLnTx/>
                        <a:uFillTx/>
                        <a:latin typeface="Arial"/>
                        <a:ea typeface="+mn-ea"/>
                        <a:cs typeface="Arial"/>
                      </a:rPr>
                      <a: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07" name="Group 106">
                    <a:extLst>
                      <a:ext uri="{FF2B5EF4-FFF2-40B4-BE49-F238E27FC236}">
                        <a16:creationId xmlns:a16="http://schemas.microsoft.com/office/drawing/2014/main" id="{BE5FF1D5-88FA-FF16-44A8-69149F24F6DC}"/>
                      </a:ext>
                    </a:extLst>
                  </p:cNvPr>
                  <p:cNvGrpSpPr/>
                  <p:nvPr/>
                </p:nvGrpSpPr>
                <p:grpSpPr>
                  <a:xfrm>
                    <a:off x="1837551" y="2157965"/>
                    <a:ext cx="8814154" cy="2746898"/>
                    <a:chOff x="1837551" y="2157965"/>
                    <a:chExt cx="8814154" cy="2746898"/>
                  </a:xfrm>
                </p:grpSpPr>
                <p:grpSp>
                  <p:nvGrpSpPr>
                    <p:cNvPr id="108" name="Group 107">
                      <a:extLst>
                        <a:ext uri="{FF2B5EF4-FFF2-40B4-BE49-F238E27FC236}">
                          <a16:creationId xmlns:a16="http://schemas.microsoft.com/office/drawing/2014/main" id="{0556F54C-783E-3D16-E167-EFA1A941AD28}"/>
                        </a:ext>
                      </a:extLst>
                    </p:cNvPr>
                    <p:cNvGrpSpPr/>
                    <p:nvPr/>
                  </p:nvGrpSpPr>
                  <p:grpSpPr>
                    <a:xfrm>
                      <a:off x="1837551" y="2157965"/>
                      <a:ext cx="3874527" cy="429182"/>
                      <a:chOff x="1837551" y="2157965"/>
                      <a:chExt cx="3874527" cy="429182"/>
                    </a:xfrm>
                  </p:grpSpPr>
                  <p:sp>
                    <p:nvSpPr>
                      <p:cNvPr id="136" name="object 11">
                        <a:extLst>
                          <a:ext uri="{FF2B5EF4-FFF2-40B4-BE49-F238E27FC236}">
                            <a16:creationId xmlns:a16="http://schemas.microsoft.com/office/drawing/2014/main" id="{7F82F480-D158-AC0C-6352-A9CCD1CF7A68}"/>
                          </a:ext>
                        </a:extLst>
                      </p:cNvPr>
                      <p:cNvSpPr txBox="1"/>
                      <p:nvPr/>
                    </p:nvSpPr>
                    <p:spPr>
                      <a:xfrm>
                        <a:off x="1837551" y="2171192"/>
                        <a:ext cx="1243070" cy="403200"/>
                      </a:xfrm>
                      <a:prstGeom prst="rect">
                        <a:avLst/>
                      </a:prstGeom>
                      <a:solidFill>
                        <a:schemeClr val="accent1"/>
                      </a:solidFill>
                    </p:spPr>
                    <p:txBody>
                      <a:bodyPr vert="horz" wrap="square" lIns="0" tIns="0" rIns="0" bIns="0" rtlCol="0" anchor="ctr" anchorCtr="0">
                        <a:noAutofit/>
                      </a:bodyPr>
                      <a:lstStyle/>
                      <a:p>
                        <a:pPr marL="90170" marR="0" lvl="0" indent="0" algn="l" defTabSz="914400" rtl="0" eaLnBrk="1" fontAlgn="auto" latinLnBrk="0" hangingPunct="1">
                          <a:lnSpc>
                            <a:spcPct val="100000"/>
                          </a:lnSpc>
                          <a:spcBef>
                            <a:spcPts val="66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Mild</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37" name="Group 136">
                        <a:extLst>
                          <a:ext uri="{FF2B5EF4-FFF2-40B4-BE49-F238E27FC236}">
                            <a16:creationId xmlns:a16="http://schemas.microsoft.com/office/drawing/2014/main" id="{3448DF2F-B124-F965-FEC1-8483996C30E9}"/>
                          </a:ext>
                        </a:extLst>
                      </p:cNvPr>
                      <p:cNvGrpSpPr/>
                      <p:nvPr/>
                    </p:nvGrpSpPr>
                    <p:grpSpPr>
                      <a:xfrm>
                        <a:off x="3196464" y="2157965"/>
                        <a:ext cx="2515614" cy="429182"/>
                        <a:chOff x="3196464" y="2157965"/>
                        <a:chExt cx="2515614" cy="429182"/>
                      </a:xfrm>
                    </p:grpSpPr>
                    <p:grpSp>
                      <p:nvGrpSpPr>
                        <p:cNvPr id="138" name="Group 137">
                          <a:extLst>
                            <a:ext uri="{FF2B5EF4-FFF2-40B4-BE49-F238E27FC236}">
                              <a16:creationId xmlns:a16="http://schemas.microsoft.com/office/drawing/2014/main" id="{C0A58846-F0E4-8348-A2CF-5DFA8BCA7E41}"/>
                            </a:ext>
                          </a:extLst>
                        </p:cNvPr>
                        <p:cNvGrpSpPr/>
                        <p:nvPr/>
                      </p:nvGrpSpPr>
                      <p:grpSpPr>
                        <a:xfrm>
                          <a:off x="3196465" y="2157965"/>
                          <a:ext cx="1758499" cy="227398"/>
                          <a:chOff x="3204438" y="2157965"/>
                          <a:chExt cx="1758499" cy="227398"/>
                        </a:xfrm>
                      </p:grpSpPr>
                      <p:sp>
                        <p:nvSpPr>
                          <p:cNvPr id="142" name="Rectangle 141">
                            <a:extLst>
                              <a:ext uri="{FF2B5EF4-FFF2-40B4-BE49-F238E27FC236}">
                                <a16:creationId xmlns:a16="http://schemas.microsoft.com/office/drawing/2014/main" id="{5DE8A177-1BA7-9B6F-274C-521D601D5AC0}"/>
                              </a:ext>
                            </a:extLst>
                          </p:cNvPr>
                          <p:cNvSpPr/>
                          <p:nvPr/>
                        </p:nvSpPr>
                        <p:spPr bwMode="auto">
                          <a:xfrm>
                            <a:off x="3204438" y="2170652"/>
                            <a:ext cx="1346960" cy="202024"/>
                          </a:xfrm>
                          <a:prstGeom prst="rect">
                            <a:avLst/>
                          </a:prstGeom>
                          <a:solidFill>
                            <a:schemeClr val="accent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43" name="object 19">
                            <a:extLst>
                              <a:ext uri="{FF2B5EF4-FFF2-40B4-BE49-F238E27FC236}">
                                <a16:creationId xmlns:a16="http://schemas.microsoft.com/office/drawing/2014/main" id="{7C503354-2806-C027-376D-BB4590DB0D56}"/>
                              </a:ext>
                            </a:extLst>
                          </p:cNvPr>
                          <p:cNvSpPr txBox="1"/>
                          <p:nvPr/>
                        </p:nvSpPr>
                        <p:spPr>
                          <a:xfrm>
                            <a:off x="4628771" y="2157965"/>
                            <a:ext cx="334166" cy="227398"/>
                          </a:xfrm>
                          <a:prstGeom prst="rect">
                            <a:avLst/>
                          </a:prstGeom>
                        </p:spPr>
                        <p:txBody>
                          <a:bodyPr vert="horz" wrap="square" lIns="0" tIns="12700" rIns="0" bIns="0" rtlCol="0">
                            <a:no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95" normalizeH="0" baseline="0" noProof="0" dirty="0">
                                <a:ln>
                                  <a:noFill/>
                                </a:ln>
                                <a:solidFill>
                                  <a:srgbClr val="544F40"/>
                                </a:solidFill>
                                <a:effectLst/>
                                <a:uLnTx/>
                                <a:uFillTx/>
                                <a:latin typeface="Arial"/>
                                <a:ea typeface="+mn-ea"/>
                                <a:cs typeface="Arial"/>
                              </a:rPr>
                              <a:t>1</a:t>
                            </a:r>
                            <a:r>
                              <a:rPr kumimoji="0" sz="1200" b="0" i="0" u="none" strike="noStrike" kern="1200" cap="none" spc="-5" normalizeH="0" baseline="0" noProof="0" dirty="0">
                                <a:ln>
                                  <a:noFill/>
                                </a:ln>
                                <a:solidFill>
                                  <a:srgbClr val="544F40"/>
                                </a:solidFill>
                                <a:effectLst/>
                                <a:uLnTx/>
                                <a:uFillTx/>
                                <a:latin typeface="Arial"/>
                                <a:ea typeface="+mn-ea"/>
                                <a:cs typeface="Arial"/>
                              </a:rPr>
                              <a:t>1</a:t>
                            </a:r>
                            <a:r>
                              <a:rPr kumimoji="0" sz="1200" b="0" i="0" u="none" strike="noStrike" kern="1200" cap="none" spc="0" normalizeH="0" baseline="0" noProof="0" dirty="0">
                                <a:ln>
                                  <a:noFill/>
                                </a:ln>
                                <a:solidFill>
                                  <a:srgbClr val="544F40"/>
                                </a:solidFill>
                                <a:effectLst/>
                                <a:uLnTx/>
                                <a:uFillTx/>
                                <a:latin typeface="Arial"/>
                                <a:ea typeface="+mn-ea"/>
                                <a:cs typeface="Arial"/>
                              </a:rPr>
                              <a: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39" name="Group 138">
                          <a:extLst>
                            <a:ext uri="{FF2B5EF4-FFF2-40B4-BE49-F238E27FC236}">
                              <a16:creationId xmlns:a16="http://schemas.microsoft.com/office/drawing/2014/main" id="{6A17C6B8-35A5-348C-C8F5-486AF9683C97}"/>
                            </a:ext>
                          </a:extLst>
                        </p:cNvPr>
                        <p:cNvGrpSpPr/>
                        <p:nvPr/>
                      </p:nvGrpSpPr>
                      <p:grpSpPr>
                        <a:xfrm>
                          <a:off x="3196464" y="2359749"/>
                          <a:ext cx="2515614" cy="227398"/>
                          <a:chOff x="3204437" y="2359749"/>
                          <a:chExt cx="2515614" cy="227398"/>
                        </a:xfrm>
                      </p:grpSpPr>
                      <p:sp>
                        <p:nvSpPr>
                          <p:cNvPr id="140" name="Rectangle 139">
                            <a:extLst>
                              <a:ext uri="{FF2B5EF4-FFF2-40B4-BE49-F238E27FC236}">
                                <a16:creationId xmlns:a16="http://schemas.microsoft.com/office/drawing/2014/main" id="{390A89E9-1765-3649-0C99-4C1F3201C3F0}"/>
                              </a:ext>
                            </a:extLst>
                          </p:cNvPr>
                          <p:cNvSpPr/>
                          <p:nvPr/>
                        </p:nvSpPr>
                        <p:spPr bwMode="auto">
                          <a:xfrm>
                            <a:off x="3204437" y="2372436"/>
                            <a:ext cx="2092130" cy="202024"/>
                          </a:xfrm>
                          <a:prstGeom prst="rect">
                            <a:avLst/>
                          </a:prstGeom>
                          <a:solidFill>
                            <a:schemeClr val="accent3"/>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41" name="object 32">
                            <a:extLst>
                              <a:ext uri="{FF2B5EF4-FFF2-40B4-BE49-F238E27FC236}">
                                <a16:creationId xmlns:a16="http://schemas.microsoft.com/office/drawing/2014/main" id="{BACD2BF2-7EF0-AD35-2FE4-18F1EE9797CB}"/>
                              </a:ext>
                            </a:extLst>
                          </p:cNvPr>
                          <p:cNvSpPr txBox="1"/>
                          <p:nvPr/>
                        </p:nvSpPr>
                        <p:spPr>
                          <a:xfrm>
                            <a:off x="5373406" y="2359749"/>
                            <a:ext cx="346645" cy="227398"/>
                          </a:xfrm>
                          <a:prstGeom prst="rect">
                            <a:avLst/>
                          </a:prstGeom>
                        </p:spPr>
                        <p:txBody>
                          <a:bodyPr vert="horz" wrap="square" lIns="0" tIns="12700" rIns="0" bIns="0" rtlCol="0">
                            <a:noAutofit/>
                          </a:body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544F40"/>
                                </a:solidFill>
                                <a:effectLst/>
                                <a:uLnTx/>
                                <a:uFillTx/>
                                <a:latin typeface="Arial"/>
                                <a:ea typeface="+mn-ea"/>
                                <a:cs typeface="Arial"/>
                              </a:rPr>
                              <a:t>17%</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grpSp>
                  <p:nvGrpSpPr>
                    <p:cNvPr id="109" name="Group 108">
                      <a:extLst>
                        <a:ext uri="{FF2B5EF4-FFF2-40B4-BE49-F238E27FC236}">
                          <a16:creationId xmlns:a16="http://schemas.microsoft.com/office/drawing/2014/main" id="{8CD4B1F8-2518-AB54-C7CA-443AFEF24635}"/>
                        </a:ext>
                      </a:extLst>
                    </p:cNvPr>
                    <p:cNvGrpSpPr/>
                    <p:nvPr/>
                  </p:nvGrpSpPr>
                  <p:grpSpPr>
                    <a:xfrm>
                      <a:off x="1837551" y="2930537"/>
                      <a:ext cx="5343376" cy="429182"/>
                      <a:chOff x="1837551" y="2157965"/>
                      <a:chExt cx="5343376" cy="429182"/>
                    </a:xfrm>
                  </p:grpSpPr>
                  <p:sp>
                    <p:nvSpPr>
                      <p:cNvPr id="128" name="object 11">
                        <a:extLst>
                          <a:ext uri="{FF2B5EF4-FFF2-40B4-BE49-F238E27FC236}">
                            <a16:creationId xmlns:a16="http://schemas.microsoft.com/office/drawing/2014/main" id="{45ECD6CA-78CB-FAF5-D37D-B93F74B9792E}"/>
                          </a:ext>
                        </a:extLst>
                      </p:cNvPr>
                      <p:cNvSpPr txBox="1"/>
                      <p:nvPr/>
                    </p:nvSpPr>
                    <p:spPr>
                      <a:xfrm>
                        <a:off x="1837551" y="2171192"/>
                        <a:ext cx="1243070" cy="403200"/>
                      </a:xfrm>
                      <a:prstGeom prst="rect">
                        <a:avLst/>
                      </a:prstGeom>
                      <a:solidFill>
                        <a:schemeClr val="accent1"/>
                      </a:solidFill>
                    </p:spPr>
                    <p:txBody>
                      <a:bodyPr vert="horz" wrap="square" lIns="0" tIns="0" rIns="0" bIns="0" rtlCol="0" anchor="ctr" anchorCtr="0">
                        <a:noAutofit/>
                      </a:bodyPr>
                      <a:lstStyle/>
                      <a:p>
                        <a:pPr marL="90170" marR="0" lvl="0" indent="0" algn="l" defTabSz="914400" rtl="0" eaLnBrk="1" fontAlgn="auto" latinLnBrk="0" hangingPunct="1">
                          <a:lnSpc>
                            <a:spcPct val="100000"/>
                          </a:lnSpc>
                          <a:spcBef>
                            <a:spcPts val="66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Arial"/>
                          </a:rPr>
                          <a:t>Moderate</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29" name="Group 128">
                        <a:extLst>
                          <a:ext uri="{FF2B5EF4-FFF2-40B4-BE49-F238E27FC236}">
                            <a16:creationId xmlns:a16="http://schemas.microsoft.com/office/drawing/2014/main" id="{CA0FBFB2-D378-90BB-C87E-A0DFC56CF7BB}"/>
                          </a:ext>
                        </a:extLst>
                      </p:cNvPr>
                      <p:cNvGrpSpPr/>
                      <p:nvPr/>
                    </p:nvGrpSpPr>
                    <p:grpSpPr>
                      <a:xfrm>
                        <a:off x="3196464" y="2157965"/>
                        <a:ext cx="3984463" cy="429182"/>
                        <a:chOff x="3196464" y="2157965"/>
                        <a:chExt cx="3984463" cy="429182"/>
                      </a:xfrm>
                    </p:grpSpPr>
                    <p:grpSp>
                      <p:nvGrpSpPr>
                        <p:cNvPr id="130" name="Group 129">
                          <a:extLst>
                            <a:ext uri="{FF2B5EF4-FFF2-40B4-BE49-F238E27FC236}">
                              <a16:creationId xmlns:a16="http://schemas.microsoft.com/office/drawing/2014/main" id="{6A431FA1-4D2B-B101-592D-718638146E8A}"/>
                            </a:ext>
                          </a:extLst>
                        </p:cNvPr>
                        <p:cNvGrpSpPr/>
                        <p:nvPr/>
                      </p:nvGrpSpPr>
                      <p:grpSpPr>
                        <a:xfrm>
                          <a:off x="3196464" y="2157965"/>
                          <a:ext cx="3591318" cy="227398"/>
                          <a:chOff x="3204437" y="2157965"/>
                          <a:chExt cx="3591318" cy="227398"/>
                        </a:xfrm>
                      </p:grpSpPr>
                      <p:sp>
                        <p:nvSpPr>
                          <p:cNvPr id="134" name="Rectangle 133">
                            <a:extLst>
                              <a:ext uri="{FF2B5EF4-FFF2-40B4-BE49-F238E27FC236}">
                                <a16:creationId xmlns:a16="http://schemas.microsoft.com/office/drawing/2014/main" id="{72D7C761-89B3-8B9C-C462-454B9FF348ED}"/>
                              </a:ext>
                            </a:extLst>
                          </p:cNvPr>
                          <p:cNvSpPr/>
                          <p:nvPr/>
                        </p:nvSpPr>
                        <p:spPr bwMode="auto">
                          <a:xfrm>
                            <a:off x="3204437" y="2170652"/>
                            <a:ext cx="3178353" cy="202024"/>
                          </a:xfrm>
                          <a:prstGeom prst="rect">
                            <a:avLst/>
                          </a:prstGeom>
                          <a:solidFill>
                            <a:schemeClr val="accent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35" name="object 19">
                            <a:extLst>
                              <a:ext uri="{FF2B5EF4-FFF2-40B4-BE49-F238E27FC236}">
                                <a16:creationId xmlns:a16="http://schemas.microsoft.com/office/drawing/2014/main" id="{5B221067-31BA-C2BE-1949-C0C36BD96326}"/>
                              </a:ext>
                            </a:extLst>
                          </p:cNvPr>
                          <p:cNvSpPr txBox="1"/>
                          <p:nvPr/>
                        </p:nvSpPr>
                        <p:spPr>
                          <a:xfrm>
                            <a:off x="6461589" y="2157965"/>
                            <a:ext cx="334166"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26%</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31" name="Group 130">
                          <a:extLst>
                            <a:ext uri="{FF2B5EF4-FFF2-40B4-BE49-F238E27FC236}">
                              <a16:creationId xmlns:a16="http://schemas.microsoft.com/office/drawing/2014/main" id="{586B4635-EB19-791A-1E8D-61A31776501B}"/>
                            </a:ext>
                          </a:extLst>
                        </p:cNvPr>
                        <p:cNvGrpSpPr/>
                        <p:nvPr/>
                      </p:nvGrpSpPr>
                      <p:grpSpPr>
                        <a:xfrm>
                          <a:off x="3196465" y="2359749"/>
                          <a:ext cx="3984462" cy="227398"/>
                          <a:chOff x="3204438" y="2359749"/>
                          <a:chExt cx="3984462" cy="227398"/>
                        </a:xfrm>
                      </p:grpSpPr>
                      <p:sp>
                        <p:nvSpPr>
                          <p:cNvPr id="132" name="Rectangle 131">
                            <a:extLst>
                              <a:ext uri="{FF2B5EF4-FFF2-40B4-BE49-F238E27FC236}">
                                <a16:creationId xmlns:a16="http://schemas.microsoft.com/office/drawing/2014/main" id="{AC91CC15-3E57-A3FE-32F0-535136421646}"/>
                              </a:ext>
                            </a:extLst>
                          </p:cNvPr>
                          <p:cNvSpPr/>
                          <p:nvPr/>
                        </p:nvSpPr>
                        <p:spPr bwMode="auto">
                          <a:xfrm>
                            <a:off x="3204438" y="2372436"/>
                            <a:ext cx="3558724" cy="202024"/>
                          </a:xfrm>
                          <a:prstGeom prst="rect">
                            <a:avLst/>
                          </a:prstGeom>
                          <a:solidFill>
                            <a:schemeClr val="accent3"/>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33" name="object 32">
                            <a:extLst>
                              <a:ext uri="{FF2B5EF4-FFF2-40B4-BE49-F238E27FC236}">
                                <a16:creationId xmlns:a16="http://schemas.microsoft.com/office/drawing/2014/main" id="{FB5475CD-44EB-38F9-F84D-C55D95432F1C}"/>
                              </a:ext>
                            </a:extLst>
                          </p:cNvPr>
                          <p:cNvSpPr txBox="1"/>
                          <p:nvPr/>
                        </p:nvSpPr>
                        <p:spPr>
                          <a:xfrm>
                            <a:off x="6842255" y="2359749"/>
                            <a:ext cx="346645"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29%</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grpSp>
                  <p:nvGrpSpPr>
                    <p:cNvPr id="110" name="Group 109">
                      <a:extLst>
                        <a:ext uri="{FF2B5EF4-FFF2-40B4-BE49-F238E27FC236}">
                          <a16:creationId xmlns:a16="http://schemas.microsoft.com/office/drawing/2014/main" id="{81D5979B-7475-F7B8-4897-3E6F640E0721}"/>
                        </a:ext>
                      </a:extLst>
                    </p:cNvPr>
                    <p:cNvGrpSpPr/>
                    <p:nvPr/>
                  </p:nvGrpSpPr>
                  <p:grpSpPr>
                    <a:xfrm>
                      <a:off x="1837551" y="3703109"/>
                      <a:ext cx="7457720" cy="429182"/>
                      <a:chOff x="1837551" y="2157965"/>
                      <a:chExt cx="7457720" cy="429182"/>
                    </a:xfrm>
                  </p:grpSpPr>
                  <p:sp>
                    <p:nvSpPr>
                      <p:cNvPr id="120" name="object 11">
                        <a:extLst>
                          <a:ext uri="{FF2B5EF4-FFF2-40B4-BE49-F238E27FC236}">
                            <a16:creationId xmlns:a16="http://schemas.microsoft.com/office/drawing/2014/main" id="{BBBB3F0B-599B-1BEC-DBA3-DF10736366FE}"/>
                          </a:ext>
                        </a:extLst>
                      </p:cNvPr>
                      <p:cNvSpPr txBox="1"/>
                      <p:nvPr/>
                    </p:nvSpPr>
                    <p:spPr>
                      <a:xfrm>
                        <a:off x="1837551" y="2171192"/>
                        <a:ext cx="1243070" cy="403200"/>
                      </a:xfrm>
                      <a:prstGeom prst="rect">
                        <a:avLst/>
                      </a:prstGeom>
                      <a:solidFill>
                        <a:schemeClr val="accent1"/>
                      </a:solidFill>
                    </p:spPr>
                    <p:txBody>
                      <a:bodyPr vert="horz" wrap="square" lIns="0" tIns="0" rIns="0" bIns="0" rtlCol="0" anchor="ctr" anchorCtr="0">
                        <a:noAutofit/>
                      </a:bodyPr>
                      <a:lstStyle/>
                      <a:p>
                        <a:pPr marL="90170" marR="0" lvl="0" indent="0" algn="l" defTabSz="914400" rtl="0" eaLnBrk="1" fontAlgn="auto" latinLnBrk="0" hangingPunct="1">
                          <a:lnSpc>
                            <a:spcPct val="100000"/>
                          </a:lnSpc>
                          <a:spcBef>
                            <a:spcPts val="660"/>
                          </a:spcBef>
                          <a:spcAft>
                            <a:spcPts val="0"/>
                          </a:spcAft>
                          <a:buClrTx/>
                          <a:buSzTx/>
                          <a:buFontTx/>
                          <a:buNone/>
                          <a:tabLst/>
                          <a:defRPr/>
                        </a:pPr>
                        <a:r>
                          <a:rPr kumimoji="0" lang="en-GB" sz="1200" b="1" i="0" u="none" strike="noStrike" kern="1200" cap="none" spc="-5" normalizeH="0" baseline="0" noProof="0" dirty="0">
                            <a:ln>
                              <a:noFill/>
                            </a:ln>
                            <a:solidFill>
                              <a:srgbClr val="FFFFFF"/>
                            </a:solidFill>
                            <a:effectLst/>
                            <a:uLnTx/>
                            <a:uFillTx/>
                            <a:latin typeface="Arial"/>
                            <a:ea typeface="+mn-ea"/>
                            <a:cs typeface="Arial"/>
                          </a:rPr>
                          <a:t>Severe</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21" name="Group 120">
                        <a:extLst>
                          <a:ext uri="{FF2B5EF4-FFF2-40B4-BE49-F238E27FC236}">
                            <a16:creationId xmlns:a16="http://schemas.microsoft.com/office/drawing/2014/main" id="{CFEDAD52-B927-3EE2-B12A-AF3EE3C37E1A}"/>
                          </a:ext>
                        </a:extLst>
                      </p:cNvPr>
                      <p:cNvGrpSpPr/>
                      <p:nvPr/>
                    </p:nvGrpSpPr>
                    <p:grpSpPr>
                      <a:xfrm>
                        <a:off x="3196464" y="2157965"/>
                        <a:ext cx="6098807" cy="429182"/>
                        <a:chOff x="3196464" y="2157965"/>
                        <a:chExt cx="6098807" cy="429182"/>
                      </a:xfrm>
                    </p:grpSpPr>
                    <p:grpSp>
                      <p:nvGrpSpPr>
                        <p:cNvPr id="122" name="Group 121">
                          <a:extLst>
                            <a:ext uri="{FF2B5EF4-FFF2-40B4-BE49-F238E27FC236}">
                              <a16:creationId xmlns:a16="http://schemas.microsoft.com/office/drawing/2014/main" id="{09F05052-0F3B-1E3B-4AB8-0C7D8AB09B82}"/>
                            </a:ext>
                          </a:extLst>
                        </p:cNvPr>
                        <p:cNvGrpSpPr/>
                        <p:nvPr/>
                      </p:nvGrpSpPr>
                      <p:grpSpPr>
                        <a:xfrm>
                          <a:off x="3196464" y="2157965"/>
                          <a:ext cx="6034974" cy="227398"/>
                          <a:chOff x="3204437" y="2157965"/>
                          <a:chExt cx="6034974" cy="227398"/>
                        </a:xfrm>
                      </p:grpSpPr>
                      <p:sp>
                        <p:nvSpPr>
                          <p:cNvPr id="126" name="Rectangle 125">
                            <a:extLst>
                              <a:ext uri="{FF2B5EF4-FFF2-40B4-BE49-F238E27FC236}">
                                <a16:creationId xmlns:a16="http://schemas.microsoft.com/office/drawing/2014/main" id="{7EBFBDA7-E1E0-0D61-06FB-27DB12ED19FC}"/>
                              </a:ext>
                            </a:extLst>
                          </p:cNvPr>
                          <p:cNvSpPr/>
                          <p:nvPr/>
                        </p:nvSpPr>
                        <p:spPr bwMode="auto">
                          <a:xfrm>
                            <a:off x="3204437" y="2170652"/>
                            <a:ext cx="5622155" cy="202024"/>
                          </a:xfrm>
                          <a:prstGeom prst="rect">
                            <a:avLst/>
                          </a:prstGeom>
                          <a:solidFill>
                            <a:schemeClr val="accent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27" name="object 19">
                            <a:extLst>
                              <a:ext uri="{FF2B5EF4-FFF2-40B4-BE49-F238E27FC236}">
                                <a16:creationId xmlns:a16="http://schemas.microsoft.com/office/drawing/2014/main" id="{A8810D7B-B5CF-0658-F063-11E98B0AB0BA}"/>
                              </a:ext>
                            </a:extLst>
                          </p:cNvPr>
                          <p:cNvSpPr txBox="1"/>
                          <p:nvPr/>
                        </p:nvSpPr>
                        <p:spPr>
                          <a:xfrm>
                            <a:off x="8905245" y="2157965"/>
                            <a:ext cx="334166"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45%</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23" name="Group 122">
                          <a:extLst>
                            <a:ext uri="{FF2B5EF4-FFF2-40B4-BE49-F238E27FC236}">
                              <a16:creationId xmlns:a16="http://schemas.microsoft.com/office/drawing/2014/main" id="{06476C82-4986-D6BA-909D-2368256B82FF}"/>
                            </a:ext>
                          </a:extLst>
                        </p:cNvPr>
                        <p:cNvGrpSpPr/>
                        <p:nvPr/>
                      </p:nvGrpSpPr>
                      <p:grpSpPr>
                        <a:xfrm>
                          <a:off x="3196464" y="2359749"/>
                          <a:ext cx="6098807" cy="227398"/>
                          <a:chOff x="3204437" y="2359749"/>
                          <a:chExt cx="6098807" cy="227398"/>
                        </a:xfrm>
                      </p:grpSpPr>
                      <p:sp>
                        <p:nvSpPr>
                          <p:cNvPr id="124" name="Rectangle 123">
                            <a:extLst>
                              <a:ext uri="{FF2B5EF4-FFF2-40B4-BE49-F238E27FC236}">
                                <a16:creationId xmlns:a16="http://schemas.microsoft.com/office/drawing/2014/main" id="{6D4EF910-19E8-3E79-79B6-3699610EAFD9}"/>
                              </a:ext>
                            </a:extLst>
                          </p:cNvPr>
                          <p:cNvSpPr/>
                          <p:nvPr/>
                        </p:nvSpPr>
                        <p:spPr bwMode="auto">
                          <a:xfrm>
                            <a:off x="3204437" y="2372436"/>
                            <a:ext cx="5674095" cy="202024"/>
                          </a:xfrm>
                          <a:prstGeom prst="rect">
                            <a:avLst/>
                          </a:prstGeom>
                          <a:solidFill>
                            <a:schemeClr val="accent3"/>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25" name="object 32">
                            <a:extLst>
                              <a:ext uri="{FF2B5EF4-FFF2-40B4-BE49-F238E27FC236}">
                                <a16:creationId xmlns:a16="http://schemas.microsoft.com/office/drawing/2014/main" id="{E80D1D68-18CF-1373-BFAF-875A8D773BB9}"/>
                              </a:ext>
                            </a:extLst>
                          </p:cNvPr>
                          <p:cNvSpPr txBox="1"/>
                          <p:nvPr/>
                        </p:nvSpPr>
                        <p:spPr>
                          <a:xfrm>
                            <a:off x="8956599" y="2359749"/>
                            <a:ext cx="346645"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46%</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grpSp>
                  <p:nvGrpSpPr>
                    <p:cNvPr id="111" name="Group 110">
                      <a:extLst>
                        <a:ext uri="{FF2B5EF4-FFF2-40B4-BE49-F238E27FC236}">
                          <a16:creationId xmlns:a16="http://schemas.microsoft.com/office/drawing/2014/main" id="{FED700DA-C31E-4BCF-5EE0-D54327C98B37}"/>
                        </a:ext>
                      </a:extLst>
                    </p:cNvPr>
                    <p:cNvGrpSpPr/>
                    <p:nvPr/>
                  </p:nvGrpSpPr>
                  <p:grpSpPr>
                    <a:xfrm>
                      <a:off x="1837551" y="4475681"/>
                      <a:ext cx="8814154" cy="429182"/>
                      <a:chOff x="1837551" y="2157965"/>
                      <a:chExt cx="8814154" cy="429182"/>
                    </a:xfrm>
                  </p:grpSpPr>
                  <p:sp>
                    <p:nvSpPr>
                      <p:cNvPr id="112" name="object 11">
                        <a:extLst>
                          <a:ext uri="{FF2B5EF4-FFF2-40B4-BE49-F238E27FC236}">
                            <a16:creationId xmlns:a16="http://schemas.microsoft.com/office/drawing/2014/main" id="{E1B25105-E1AF-279F-60BC-8F9954FF48A8}"/>
                          </a:ext>
                        </a:extLst>
                      </p:cNvPr>
                      <p:cNvSpPr txBox="1"/>
                      <p:nvPr/>
                    </p:nvSpPr>
                    <p:spPr>
                      <a:xfrm>
                        <a:off x="1837551" y="2171192"/>
                        <a:ext cx="1243070" cy="403200"/>
                      </a:xfrm>
                      <a:prstGeom prst="rect">
                        <a:avLst/>
                      </a:prstGeom>
                      <a:solidFill>
                        <a:schemeClr val="accent1"/>
                      </a:solidFill>
                    </p:spPr>
                    <p:txBody>
                      <a:bodyPr vert="horz" wrap="square" lIns="0" tIns="0" rIns="0" bIns="0" rtlCol="0" anchor="ctr" anchorCtr="0">
                        <a:noAutofit/>
                      </a:bodyPr>
                      <a:lstStyle/>
                      <a:p>
                        <a:pPr marL="90170" marR="0" lvl="0" indent="0" algn="l" defTabSz="914400" rtl="0" eaLnBrk="1" fontAlgn="auto" latinLnBrk="0" hangingPunct="1">
                          <a:lnSpc>
                            <a:spcPct val="100000"/>
                          </a:lnSpc>
                          <a:spcBef>
                            <a:spcPts val="660"/>
                          </a:spcBef>
                          <a:spcAft>
                            <a:spcPts val="0"/>
                          </a:spcAft>
                          <a:buClrTx/>
                          <a:buSzTx/>
                          <a:buFontTx/>
                          <a:buNone/>
                          <a:tabLst/>
                          <a:defRPr/>
                        </a:pPr>
                        <a:r>
                          <a:rPr kumimoji="0" lang="en-GB" sz="1200" b="1" i="0" u="none" strike="noStrike" kern="1200" cap="none" spc="-20" normalizeH="0" baseline="0" noProof="0" dirty="0">
                            <a:ln>
                              <a:noFill/>
                            </a:ln>
                            <a:solidFill>
                              <a:srgbClr val="FFFFFF"/>
                            </a:solidFill>
                            <a:effectLst/>
                            <a:uLnTx/>
                            <a:uFillTx/>
                            <a:latin typeface="Arial"/>
                            <a:ea typeface="+mn-ea"/>
                            <a:cs typeface="Arial"/>
                          </a:rPr>
                          <a:t>Very</a:t>
                        </a:r>
                        <a:r>
                          <a:rPr kumimoji="0" lang="en-GB" sz="1200" b="1" i="0" u="none" strike="noStrike" kern="1200" cap="none" spc="-30" normalizeH="0" baseline="0" noProof="0" dirty="0">
                            <a:ln>
                              <a:noFill/>
                            </a:ln>
                            <a:solidFill>
                              <a:srgbClr val="FFFFFF"/>
                            </a:solidFill>
                            <a:effectLst/>
                            <a:uLnTx/>
                            <a:uFillTx/>
                            <a:latin typeface="Arial"/>
                            <a:ea typeface="+mn-ea"/>
                            <a:cs typeface="Arial"/>
                          </a:rPr>
                          <a:t> </a:t>
                        </a:r>
                        <a:r>
                          <a:rPr kumimoji="0" lang="en-GB" sz="1200" b="1" i="0" u="none" strike="noStrike" kern="1200" cap="none" spc="-5" normalizeH="0" baseline="0" noProof="0" dirty="0">
                            <a:ln>
                              <a:noFill/>
                            </a:ln>
                            <a:solidFill>
                              <a:srgbClr val="FFFFFF"/>
                            </a:solidFill>
                            <a:effectLst/>
                            <a:uLnTx/>
                            <a:uFillTx/>
                            <a:latin typeface="Arial"/>
                            <a:ea typeface="+mn-ea"/>
                            <a:cs typeface="Arial"/>
                          </a:rPr>
                          <a:t>severe</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13" name="Group 112">
                        <a:extLst>
                          <a:ext uri="{FF2B5EF4-FFF2-40B4-BE49-F238E27FC236}">
                            <a16:creationId xmlns:a16="http://schemas.microsoft.com/office/drawing/2014/main" id="{5A3691C8-9E03-490E-2A0D-BEFBA5279414}"/>
                          </a:ext>
                        </a:extLst>
                      </p:cNvPr>
                      <p:cNvGrpSpPr/>
                      <p:nvPr/>
                    </p:nvGrpSpPr>
                    <p:grpSpPr>
                      <a:xfrm>
                        <a:off x="3196464" y="2157965"/>
                        <a:ext cx="7455241" cy="429182"/>
                        <a:chOff x="3196464" y="2157965"/>
                        <a:chExt cx="7455241" cy="429182"/>
                      </a:xfrm>
                    </p:grpSpPr>
                    <p:grpSp>
                      <p:nvGrpSpPr>
                        <p:cNvPr id="114" name="Group 113">
                          <a:extLst>
                            <a:ext uri="{FF2B5EF4-FFF2-40B4-BE49-F238E27FC236}">
                              <a16:creationId xmlns:a16="http://schemas.microsoft.com/office/drawing/2014/main" id="{21FBB9B8-7A20-5143-55C7-AF9196E38AA2}"/>
                            </a:ext>
                          </a:extLst>
                        </p:cNvPr>
                        <p:cNvGrpSpPr/>
                        <p:nvPr/>
                      </p:nvGrpSpPr>
                      <p:grpSpPr>
                        <a:xfrm>
                          <a:off x="3196464" y="2157965"/>
                          <a:ext cx="7455241" cy="227398"/>
                          <a:chOff x="3204437" y="2157965"/>
                          <a:chExt cx="7455241" cy="227398"/>
                        </a:xfrm>
                      </p:grpSpPr>
                      <p:sp>
                        <p:nvSpPr>
                          <p:cNvPr id="118" name="Rectangle 117">
                            <a:extLst>
                              <a:ext uri="{FF2B5EF4-FFF2-40B4-BE49-F238E27FC236}">
                                <a16:creationId xmlns:a16="http://schemas.microsoft.com/office/drawing/2014/main" id="{4DAEACC9-BA8C-56A0-5054-67F3517F7665}"/>
                              </a:ext>
                            </a:extLst>
                          </p:cNvPr>
                          <p:cNvSpPr/>
                          <p:nvPr/>
                        </p:nvSpPr>
                        <p:spPr bwMode="auto">
                          <a:xfrm>
                            <a:off x="3204437" y="2170652"/>
                            <a:ext cx="7044873" cy="202024"/>
                          </a:xfrm>
                          <a:prstGeom prst="rect">
                            <a:avLst/>
                          </a:prstGeom>
                          <a:solidFill>
                            <a:schemeClr val="accent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19" name="object 19">
                            <a:extLst>
                              <a:ext uri="{FF2B5EF4-FFF2-40B4-BE49-F238E27FC236}">
                                <a16:creationId xmlns:a16="http://schemas.microsoft.com/office/drawing/2014/main" id="{FEB2E0FF-B766-3EDB-EFE9-1897E3DEC06C}"/>
                              </a:ext>
                            </a:extLst>
                          </p:cNvPr>
                          <p:cNvSpPr txBox="1"/>
                          <p:nvPr/>
                        </p:nvSpPr>
                        <p:spPr>
                          <a:xfrm>
                            <a:off x="10325512" y="2157965"/>
                            <a:ext cx="334166"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57%</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15" name="Group 114">
                          <a:extLst>
                            <a:ext uri="{FF2B5EF4-FFF2-40B4-BE49-F238E27FC236}">
                              <a16:creationId xmlns:a16="http://schemas.microsoft.com/office/drawing/2014/main" id="{86F79342-1E3E-5ADA-2924-8803897AF0B7}"/>
                            </a:ext>
                          </a:extLst>
                        </p:cNvPr>
                        <p:cNvGrpSpPr/>
                        <p:nvPr/>
                      </p:nvGrpSpPr>
                      <p:grpSpPr>
                        <a:xfrm>
                          <a:off x="3196465" y="2359749"/>
                          <a:ext cx="7248571" cy="227398"/>
                          <a:chOff x="3204438" y="2359749"/>
                          <a:chExt cx="7248571" cy="227398"/>
                        </a:xfrm>
                      </p:grpSpPr>
                      <p:sp>
                        <p:nvSpPr>
                          <p:cNvPr id="116" name="Rectangle 115">
                            <a:extLst>
                              <a:ext uri="{FF2B5EF4-FFF2-40B4-BE49-F238E27FC236}">
                                <a16:creationId xmlns:a16="http://schemas.microsoft.com/office/drawing/2014/main" id="{37E8077A-A195-466C-8A85-96BD6ED336B5}"/>
                              </a:ext>
                            </a:extLst>
                          </p:cNvPr>
                          <p:cNvSpPr/>
                          <p:nvPr/>
                        </p:nvSpPr>
                        <p:spPr bwMode="auto">
                          <a:xfrm>
                            <a:off x="3204438" y="2372436"/>
                            <a:ext cx="6823574" cy="202024"/>
                          </a:xfrm>
                          <a:prstGeom prst="rect">
                            <a:avLst/>
                          </a:prstGeom>
                          <a:solidFill>
                            <a:schemeClr val="accent3"/>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17" name="object 32">
                            <a:extLst>
                              <a:ext uri="{FF2B5EF4-FFF2-40B4-BE49-F238E27FC236}">
                                <a16:creationId xmlns:a16="http://schemas.microsoft.com/office/drawing/2014/main" id="{778C330F-E7E7-8635-9D2A-B10E010EBB81}"/>
                              </a:ext>
                            </a:extLst>
                          </p:cNvPr>
                          <p:cNvSpPr txBox="1"/>
                          <p:nvPr/>
                        </p:nvSpPr>
                        <p:spPr>
                          <a:xfrm>
                            <a:off x="10106364" y="2359749"/>
                            <a:ext cx="346645" cy="227398"/>
                          </a:xfrm>
                          <a:prstGeom prst="rect">
                            <a:avLst/>
                          </a:prstGeom>
                        </p:spPr>
                        <p:txBody>
                          <a:bodyPr vert="horz" wrap="square" lIns="0" tIns="12700" rIns="0" bIns="0" rtlCol="0">
                            <a:no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lang="en-GB" sz="1200" b="0" i="0" u="none" strike="noStrike" kern="1200" cap="none" spc="-5" normalizeH="0" baseline="0" noProof="0" dirty="0">
                                <a:ln>
                                  <a:noFill/>
                                </a:ln>
                                <a:solidFill>
                                  <a:srgbClr val="544F40"/>
                                </a:solidFill>
                                <a:effectLst/>
                                <a:uLnTx/>
                                <a:uFillTx/>
                                <a:latin typeface="Arial"/>
                                <a:ea typeface="+mn-ea"/>
                                <a:cs typeface="Arial"/>
                              </a:rPr>
                              <a:t>55%</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grpSp>
              </p:grpSp>
              <p:cxnSp>
                <p:nvCxnSpPr>
                  <p:cNvPr id="211" name="Straight Connector 210">
                    <a:extLst>
                      <a:ext uri="{FF2B5EF4-FFF2-40B4-BE49-F238E27FC236}">
                        <a16:creationId xmlns:a16="http://schemas.microsoft.com/office/drawing/2014/main" id="{A2963237-C326-E2C3-C003-530713D1EE88}"/>
                      </a:ext>
                    </a:extLst>
                  </p:cNvPr>
                  <p:cNvCxnSpPr>
                    <a:cxnSpLocks/>
                  </p:cNvCxnSpPr>
                  <p:nvPr/>
                </p:nvCxnSpPr>
                <p:spPr>
                  <a:xfrm>
                    <a:off x="3201441" y="5041149"/>
                    <a:ext cx="7368031" cy="0"/>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grpSp>
                <p:nvGrpSpPr>
                  <p:cNvPr id="221" name="Group 220">
                    <a:extLst>
                      <a:ext uri="{FF2B5EF4-FFF2-40B4-BE49-F238E27FC236}">
                        <a16:creationId xmlns:a16="http://schemas.microsoft.com/office/drawing/2014/main" id="{37F56DB7-48C3-C2AE-B37E-A89B6F49105A}"/>
                      </a:ext>
                    </a:extLst>
                  </p:cNvPr>
                  <p:cNvGrpSpPr/>
                  <p:nvPr/>
                </p:nvGrpSpPr>
                <p:grpSpPr>
                  <a:xfrm>
                    <a:off x="4428919" y="5046229"/>
                    <a:ext cx="6140553" cy="45719"/>
                    <a:chOff x="4428919" y="2092460"/>
                    <a:chExt cx="6140553" cy="2999489"/>
                  </a:xfrm>
                </p:grpSpPr>
                <p:cxnSp>
                  <p:nvCxnSpPr>
                    <p:cNvPr id="215" name="Straight Connector 214">
                      <a:extLst>
                        <a:ext uri="{FF2B5EF4-FFF2-40B4-BE49-F238E27FC236}">
                          <a16:creationId xmlns:a16="http://schemas.microsoft.com/office/drawing/2014/main" id="{1DFB4763-B09C-AD43-88BD-424CCAD683B5}"/>
                        </a:ext>
                      </a:extLst>
                    </p:cNvPr>
                    <p:cNvCxnSpPr/>
                    <p:nvPr/>
                  </p:nvCxnSpPr>
                  <p:spPr>
                    <a:xfrm>
                      <a:off x="4428919"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6" name="Straight Connector 215">
                      <a:extLst>
                        <a:ext uri="{FF2B5EF4-FFF2-40B4-BE49-F238E27FC236}">
                          <a16:creationId xmlns:a16="http://schemas.microsoft.com/office/drawing/2014/main" id="{4794A609-150D-9AEF-9862-25A87697CCA7}"/>
                        </a:ext>
                      </a:extLst>
                    </p:cNvPr>
                    <p:cNvCxnSpPr/>
                    <p:nvPr/>
                  </p:nvCxnSpPr>
                  <p:spPr>
                    <a:xfrm>
                      <a:off x="5657030"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7" name="Straight Connector 216">
                      <a:extLst>
                        <a:ext uri="{FF2B5EF4-FFF2-40B4-BE49-F238E27FC236}">
                          <a16:creationId xmlns:a16="http://schemas.microsoft.com/office/drawing/2014/main" id="{A151E9B7-A594-3851-0026-226764A98343}"/>
                        </a:ext>
                      </a:extLst>
                    </p:cNvPr>
                    <p:cNvCxnSpPr/>
                    <p:nvPr/>
                  </p:nvCxnSpPr>
                  <p:spPr>
                    <a:xfrm>
                      <a:off x="6885141"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8" name="Straight Connector 217">
                      <a:extLst>
                        <a:ext uri="{FF2B5EF4-FFF2-40B4-BE49-F238E27FC236}">
                          <a16:creationId xmlns:a16="http://schemas.microsoft.com/office/drawing/2014/main" id="{8AFBD78A-0047-2078-9228-D55B8C0BA481}"/>
                        </a:ext>
                      </a:extLst>
                    </p:cNvPr>
                    <p:cNvCxnSpPr/>
                    <p:nvPr/>
                  </p:nvCxnSpPr>
                  <p:spPr>
                    <a:xfrm>
                      <a:off x="8113252"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19" name="Straight Connector 218">
                      <a:extLst>
                        <a:ext uri="{FF2B5EF4-FFF2-40B4-BE49-F238E27FC236}">
                          <a16:creationId xmlns:a16="http://schemas.microsoft.com/office/drawing/2014/main" id="{C2183FB6-4094-7DEB-6A84-1D8119108CE7}"/>
                        </a:ext>
                      </a:extLst>
                    </p:cNvPr>
                    <p:cNvCxnSpPr/>
                    <p:nvPr/>
                  </p:nvCxnSpPr>
                  <p:spPr>
                    <a:xfrm>
                      <a:off x="9341363"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a:extLst>
                        <a:ext uri="{FF2B5EF4-FFF2-40B4-BE49-F238E27FC236}">
                          <a16:creationId xmlns:a16="http://schemas.microsoft.com/office/drawing/2014/main" id="{AF5ED900-2C84-DC0C-338F-6E7810FB3801}"/>
                        </a:ext>
                      </a:extLst>
                    </p:cNvPr>
                    <p:cNvCxnSpPr/>
                    <p:nvPr/>
                  </p:nvCxnSpPr>
                  <p:spPr>
                    <a:xfrm>
                      <a:off x="10569472"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grpSp>
              <p:cxnSp>
                <p:nvCxnSpPr>
                  <p:cNvPr id="224" name="Straight Connector 223">
                    <a:extLst>
                      <a:ext uri="{FF2B5EF4-FFF2-40B4-BE49-F238E27FC236}">
                        <a16:creationId xmlns:a16="http://schemas.microsoft.com/office/drawing/2014/main" id="{EF063373-EBA9-337C-3283-605609864B3F}"/>
                      </a:ext>
                    </a:extLst>
                  </p:cNvPr>
                  <p:cNvCxnSpPr/>
                  <p:nvPr/>
                </p:nvCxnSpPr>
                <p:spPr>
                  <a:xfrm>
                    <a:off x="3200808" y="2092460"/>
                    <a:ext cx="0" cy="2999489"/>
                  </a:xfrm>
                  <a:prstGeom prst="line">
                    <a:avLst/>
                  </a:prstGeom>
                  <a:ln w="12700" cap="rnd">
                    <a:solidFill>
                      <a:schemeClr val="bg2"/>
                    </a:solidFill>
                  </a:ln>
                </p:spPr>
                <p:style>
                  <a:lnRef idx="1">
                    <a:schemeClr val="accent1"/>
                  </a:lnRef>
                  <a:fillRef idx="0">
                    <a:schemeClr val="accent1"/>
                  </a:fillRef>
                  <a:effectRef idx="0">
                    <a:schemeClr val="accent1"/>
                  </a:effectRef>
                  <a:fontRef idx="minor">
                    <a:schemeClr val="tx1"/>
                  </a:fontRef>
                </p:style>
              </p:cxnSp>
            </p:grpSp>
            <p:grpSp>
              <p:nvGrpSpPr>
                <p:cNvPr id="230" name="Group 229">
                  <a:extLst>
                    <a:ext uri="{FF2B5EF4-FFF2-40B4-BE49-F238E27FC236}">
                      <a16:creationId xmlns:a16="http://schemas.microsoft.com/office/drawing/2014/main" id="{039F1EC2-99DF-ECD9-6044-750A5C04B775}"/>
                    </a:ext>
                  </a:extLst>
                </p:cNvPr>
                <p:cNvGrpSpPr/>
                <p:nvPr/>
              </p:nvGrpSpPr>
              <p:grpSpPr>
                <a:xfrm>
                  <a:off x="4254558" y="5408806"/>
                  <a:ext cx="3682885" cy="228268"/>
                  <a:chOff x="4156190" y="5319906"/>
                  <a:chExt cx="3682885" cy="228268"/>
                </a:xfrm>
              </p:grpSpPr>
              <p:grpSp>
                <p:nvGrpSpPr>
                  <p:cNvPr id="226" name="Group 225">
                    <a:extLst>
                      <a:ext uri="{FF2B5EF4-FFF2-40B4-BE49-F238E27FC236}">
                        <a16:creationId xmlns:a16="http://schemas.microsoft.com/office/drawing/2014/main" id="{C1E7524C-D81A-738D-DA69-8DAC52C18126}"/>
                      </a:ext>
                    </a:extLst>
                  </p:cNvPr>
                  <p:cNvGrpSpPr/>
                  <p:nvPr/>
                </p:nvGrpSpPr>
                <p:grpSpPr>
                  <a:xfrm>
                    <a:off x="4156190" y="5319906"/>
                    <a:ext cx="1816461" cy="228268"/>
                    <a:chOff x="4156190" y="6034591"/>
                    <a:chExt cx="1816461" cy="228268"/>
                  </a:xfrm>
                </p:grpSpPr>
                <p:sp>
                  <p:nvSpPr>
                    <p:cNvPr id="67" name="object 12"/>
                    <p:cNvSpPr/>
                    <p:nvPr/>
                  </p:nvSpPr>
                  <p:spPr>
                    <a:xfrm>
                      <a:off x="4156190" y="6089089"/>
                      <a:ext cx="207987" cy="157377"/>
                    </a:xfrm>
                    <a:custGeom>
                      <a:avLst/>
                      <a:gdLst/>
                      <a:ahLst/>
                      <a:cxnLst/>
                      <a:rect l="l" t="t" r="r" b="b"/>
                      <a:pathLst>
                        <a:path w="190500" h="144145">
                          <a:moveTo>
                            <a:pt x="190500" y="144017"/>
                          </a:moveTo>
                          <a:lnTo>
                            <a:pt x="190500" y="0"/>
                          </a:lnTo>
                          <a:lnTo>
                            <a:pt x="0" y="0"/>
                          </a:lnTo>
                          <a:lnTo>
                            <a:pt x="0" y="144017"/>
                          </a:lnTo>
                          <a:lnTo>
                            <a:pt x="190500" y="144017"/>
                          </a:lnTo>
                          <a:close/>
                        </a:path>
                      </a:pathLst>
                    </a:custGeom>
                    <a:solidFill>
                      <a:schemeClr val="accent2"/>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8" name="object 13"/>
                    <p:cNvSpPr txBox="1"/>
                    <p:nvPr/>
                  </p:nvSpPr>
                  <p:spPr>
                    <a:xfrm>
                      <a:off x="4451044" y="6034591"/>
                      <a:ext cx="1521607" cy="228268"/>
                    </a:xfrm>
                    <a:prstGeom prst="rect">
                      <a:avLst/>
                    </a:prstGeom>
                  </p:spPr>
                  <p:txBody>
                    <a:bodyPr vert="horz" wrap="square" lIns="0" tIns="43180" rIns="0" bIns="0" rtlCol="0">
                      <a:spAutoFit/>
                    </a:bodyPr>
                    <a:lstStyle/>
                    <a:p>
                      <a:pPr marL="0" marR="0" lvl="0" indent="0" algn="l" defTabSz="914400" rtl="0" eaLnBrk="1" fontAlgn="auto" latinLnBrk="0" hangingPunct="1">
                        <a:lnSpc>
                          <a:spcPct val="100000"/>
                        </a:lnSpc>
                        <a:spcBef>
                          <a:spcPts val="24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Respirator</a:t>
                      </a:r>
                      <a:r>
                        <a:rPr kumimoji="0" sz="1200" b="0" i="0" u="none" strike="noStrike" kern="1200" cap="none" spc="0" normalizeH="0" baseline="0" noProof="0" dirty="0">
                          <a:ln>
                            <a:noFill/>
                          </a:ln>
                          <a:solidFill>
                            <a:srgbClr val="000000"/>
                          </a:solidFill>
                          <a:effectLst/>
                          <a:uLnTx/>
                          <a:uFillTx/>
                          <a:latin typeface="Arial"/>
                          <a:ea typeface="+mn-ea"/>
                          <a:cs typeface="Arial"/>
                        </a:rPr>
                        <a:t>y</a:t>
                      </a:r>
                      <a:r>
                        <a:rPr kumimoji="0" sz="1200" b="0" i="0" u="none" strike="noStrike" kern="1200" cap="none" spc="-20" normalizeH="0" baseline="0" noProof="0" dirty="0">
                          <a:ln>
                            <a:noFill/>
                          </a:ln>
                          <a:solidFill>
                            <a:srgbClr val="000000"/>
                          </a:solidFill>
                          <a:effectLst/>
                          <a:uLnTx/>
                          <a:uFillTx/>
                          <a:latin typeface="Arial"/>
                          <a:ea typeface="+mn-ea"/>
                          <a:cs typeface="Arial"/>
                        </a:rPr>
                        <a:t> </a:t>
                      </a:r>
                      <a:r>
                        <a:rPr kumimoji="0" lang="en-IN" sz="1200" b="0" i="0" u="none" strike="noStrike" kern="1200" cap="none" spc="-5" normalizeH="0" baseline="0" noProof="0" dirty="0">
                          <a:ln>
                            <a:noFill/>
                          </a:ln>
                          <a:solidFill>
                            <a:srgbClr val="000000"/>
                          </a:solidFill>
                          <a:effectLst/>
                          <a:uLnTx/>
                          <a:uFillTx/>
                          <a:latin typeface="Arial"/>
                          <a:ea typeface="+mn-ea"/>
                          <a:cs typeface="Arial"/>
                        </a:rPr>
                        <a:t>s</a:t>
                      </a:r>
                      <a:r>
                        <a:rPr kumimoji="0" lang="en-GB" sz="1200" b="0" i="0" u="none" strike="noStrike" kern="1200" cap="none" spc="-5" normalizeH="0" baseline="0" noProof="0" dirty="0">
                          <a:ln>
                            <a:noFill/>
                          </a:ln>
                          <a:solidFill>
                            <a:srgbClr val="000000"/>
                          </a:solidFill>
                          <a:effectLst/>
                          <a:uLnTx/>
                          <a:uFillTx/>
                          <a:latin typeface="Arial"/>
                          <a:ea typeface="+mn-ea"/>
                          <a:cs typeface="Arial"/>
                        </a:rPr>
                        <a:t>pecialist</a:t>
                      </a:r>
                      <a:endParaRPr kumimoji="0" lang="en-GB"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227" name="Group 226">
                    <a:extLst>
                      <a:ext uri="{FF2B5EF4-FFF2-40B4-BE49-F238E27FC236}">
                        <a16:creationId xmlns:a16="http://schemas.microsoft.com/office/drawing/2014/main" id="{8CE2B556-31F1-E910-B8BF-95C071DA13A7}"/>
                      </a:ext>
                    </a:extLst>
                  </p:cNvPr>
                  <p:cNvGrpSpPr/>
                  <p:nvPr/>
                </p:nvGrpSpPr>
                <p:grpSpPr>
                  <a:xfrm>
                    <a:off x="6260492" y="5319906"/>
                    <a:ext cx="1578583" cy="228268"/>
                    <a:chOff x="4156190" y="6034591"/>
                    <a:chExt cx="1578583" cy="228268"/>
                  </a:xfrm>
                </p:grpSpPr>
                <p:sp>
                  <p:nvSpPr>
                    <p:cNvPr id="228" name="object 12">
                      <a:extLst>
                        <a:ext uri="{FF2B5EF4-FFF2-40B4-BE49-F238E27FC236}">
                          <a16:creationId xmlns:a16="http://schemas.microsoft.com/office/drawing/2014/main" id="{437A7942-5581-E228-AA63-30FD9A4199E5}"/>
                        </a:ext>
                      </a:extLst>
                    </p:cNvPr>
                    <p:cNvSpPr/>
                    <p:nvPr/>
                  </p:nvSpPr>
                  <p:spPr>
                    <a:xfrm>
                      <a:off x="4156190" y="6089089"/>
                      <a:ext cx="207987" cy="157377"/>
                    </a:xfrm>
                    <a:custGeom>
                      <a:avLst/>
                      <a:gdLst/>
                      <a:ahLst/>
                      <a:cxnLst/>
                      <a:rect l="l" t="t" r="r" b="b"/>
                      <a:pathLst>
                        <a:path w="190500" h="144145">
                          <a:moveTo>
                            <a:pt x="190500" y="144017"/>
                          </a:moveTo>
                          <a:lnTo>
                            <a:pt x="190500" y="0"/>
                          </a:lnTo>
                          <a:lnTo>
                            <a:pt x="0" y="0"/>
                          </a:lnTo>
                          <a:lnTo>
                            <a:pt x="0" y="144017"/>
                          </a:lnTo>
                          <a:lnTo>
                            <a:pt x="190500" y="144017"/>
                          </a:lnTo>
                          <a:close/>
                        </a:path>
                      </a:pathLst>
                    </a:custGeom>
                    <a:solidFill>
                      <a:schemeClr val="accent3"/>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9" name="object 13">
                      <a:extLst>
                        <a:ext uri="{FF2B5EF4-FFF2-40B4-BE49-F238E27FC236}">
                          <a16:creationId xmlns:a16="http://schemas.microsoft.com/office/drawing/2014/main" id="{D5777DAB-D0F1-4680-8D2B-A71A821FEA68}"/>
                        </a:ext>
                      </a:extLst>
                    </p:cNvPr>
                    <p:cNvSpPr txBox="1"/>
                    <p:nvPr/>
                  </p:nvSpPr>
                  <p:spPr>
                    <a:xfrm>
                      <a:off x="4451045" y="6034591"/>
                      <a:ext cx="1283728" cy="228268"/>
                    </a:xfrm>
                    <a:prstGeom prst="rect">
                      <a:avLst/>
                    </a:prstGeom>
                  </p:spPr>
                  <p:txBody>
                    <a:bodyPr vert="horz" wrap="square" lIns="0" tIns="43180" rIns="0" bIns="0" rtlCol="0">
                      <a:spAutoFit/>
                    </a:bodyPr>
                    <a:lstStyle/>
                    <a:p>
                      <a:pPr marL="0" marR="0" lvl="0" indent="0" algn="l" defTabSz="914400" rtl="0" eaLnBrk="1" fontAlgn="auto" latinLnBrk="0" hangingPunct="1">
                        <a:lnSpc>
                          <a:spcPct val="100000"/>
                        </a:lnSpc>
                        <a:spcBef>
                          <a:spcPts val="240"/>
                        </a:spcBef>
                        <a:spcAft>
                          <a:spcPts val="0"/>
                        </a:spcAft>
                        <a:buClrTx/>
                        <a:buSzTx/>
                        <a:buFontTx/>
                        <a:buNone/>
                        <a:tabLst/>
                        <a:defRPr/>
                      </a:pPr>
                      <a:r>
                        <a:rPr kumimoji="0" lang="en-GB" sz="1200" b="0" i="0" u="none" strike="noStrike" kern="1200" cap="none" spc="-5" normalizeH="0" baseline="0" noProof="0" dirty="0">
                          <a:ln>
                            <a:noFill/>
                          </a:ln>
                          <a:solidFill>
                            <a:srgbClr val="000000"/>
                          </a:solidFill>
                          <a:effectLst/>
                          <a:uLnTx/>
                          <a:uFillTx/>
                          <a:latin typeface="Arial"/>
                          <a:ea typeface="+mn-ea"/>
                          <a:cs typeface="Arial"/>
                        </a:rPr>
                        <a:t>General physician</a:t>
                      </a:r>
                    </a:p>
                  </p:txBody>
                </p:sp>
              </p:grpSp>
            </p:grpSp>
          </p:grpSp>
        </p:grpSp>
      </p:grpSp>
      <p:sp>
        <p:nvSpPr>
          <p:cNvPr id="14" name="Rectangle 13">
            <a:extLst>
              <a:ext uri="{FF2B5EF4-FFF2-40B4-BE49-F238E27FC236}">
                <a16:creationId xmlns:a16="http://schemas.microsoft.com/office/drawing/2014/main" id="{6B19770D-691E-806F-6EB7-3D2E766E7FC0}"/>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Date Placeholder 4">
            <a:extLst>
              <a:ext uri="{FF2B5EF4-FFF2-40B4-BE49-F238E27FC236}">
                <a16:creationId xmlns:a16="http://schemas.microsoft.com/office/drawing/2014/main" id="{271DABFE-9392-6473-D4D8-7ACF01723302}"/>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947314782"/>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solidFill>
                  <a:srgbClr val="F36500"/>
                </a:solidFill>
              </a:rPr>
              <a:t>Impact of exacerbations in COPD</a:t>
            </a:r>
            <a:endParaRPr lang="en-US" baseline="30000" dirty="0"/>
          </a:p>
        </p:txBody>
      </p:sp>
      <p:sp>
        <p:nvSpPr>
          <p:cNvPr id="23" name="Text Placeholder 22">
            <a:extLst>
              <a:ext uri="{FF2B5EF4-FFF2-40B4-BE49-F238E27FC236}">
                <a16:creationId xmlns:a16="http://schemas.microsoft.com/office/drawing/2014/main" id="{D3CEC990-A7F5-4803-A500-A3411EFD4719}"/>
              </a:ext>
            </a:extLst>
          </p:cNvPr>
          <p:cNvSpPr>
            <a:spLocks noGrp="1"/>
          </p:cNvSpPr>
          <p:nvPr>
            <p:ph type="body" sz="quarter" idx="13"/>
          </p:nvPr>
        </p:nvSpPr>
        <p:spPr>
          <a:xfrm>
            <a:off x="365125" y="5863837"/>
            <a:ext cx="11460164" cy="298800"/>
          </a:xfrm>
        </p:spPr>
        <p:txBody>
          <a:bodyPr/>
          <a:lstStyle/>
          <a:p>
            <a:pPr marL="12700">
              <a:spcBef>
                <a:spcPts val="95"/>
              </a:spcBef>
            </a:pPr>
            <a:r>
              <a:rPr lang="en-US" sz="800" dirty="0">
                <a:cs typeface="Arial"/>
              </a:rPr>
              <a:t>GSK created image from Qureshi H, et al. 2014. </a:t>
            </a:r>
          </a:p>
          <a:p>
            <a:pPr marL="12700">
              <a:spcBef>
                <a:spcPts val="95"/>
              </a:spcBef>
            </a:pPr>
            <a:r>
              <a:rPr lang="en-US" sz="800" dirty="0"/>
              <a:t>Qureshi H, et al. </a:t>
            </a:r>
            <a:r>
              <a:rPr lang="en-US" sz="800" i="1" dirty="0"/>
              <a:t>Ther Adv Chronic Dis</a:t>
            </a:r>
            <a:r>
              <a:rPr lang="en-US" sz="800" dirty="0"/>
              <a:t>. 2014;5(5):212-227.</a:t>
            </a:r>
            <a:endParaRPr lang="en-US" sz="800" dirty="0">
              <a:cs typeface="Arial"/>
            </a:endParaRPr>
          </a:p>
        </p:txBody>
      </p:sp>
      <p:sp>
        <p:nvSpPr>
          <p:cNvPr id="24" name="object 7">
            <a:extLst>
              <a:ext uri="{FF2B5EF4-FFF2-40B4-BE49-F238E27FC236}">
                <a16:creationId xmlns:a16="http://schemas.microsoft.com/office/drawing/2014/main" id="{DA3237AF-C710-C103-299F-E53E6C408164}"/>
              </a:ext>
            </a:extLst>
          </p:cNvPr>
          <p:cNvSpPr txBox="1"/>
          <p:nvPr/>
        </p:nvSpPr>
        <p:spPr>
          <a:xfrm>
            <a:off x="361952" y="5107351"/>
            <a:ext cx="11468096" cy="381664"/>
          </a:xfrm>
          <a:prstGeom prst="roundRect">
            <a:avLst/>
          </a:prstGeom>
          <a:solidFill>
            <a:srgbClr val="40488D"/>
          </a:solid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409"/>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COPD exacerbations adversely impact morbidity, healthcare costs and mortality</a:t>
            </a:r>
          </a:p>
        </p:txBody>
      </p:sp>
      <p:grpSp>
        <p:nvGrpSpPr>
          <p:cNvPr id="119" name="Group 118">
            <a:extLst>
              <a:ext uri="{FF2B5EF4-FFF2-40B4-BE49-F238E27FC236}">
                <a16:creationId xmlns:a16="http://schemas.microsoft.com/office/drawing/2014/main" id="{02161F5E-2676-1F0D-8A97-853B98AC340B}"/>
              </a:ext>
            </a:extLst>
          </p:cNvPr>
          <p:cNvGrpSpPr/>
          <p:nvPr/>
        </p:nvGrpSpPr>
        <p:grpSpPr>
          <a:xfrm>
            <a:off x="1530843" y="837798"/>
            <a:ext cx="9130314" cy="4122094"/>
            <a:chOff x="1530843" y="955786"/>
            <a:chExt cx="9130314" cy="4122094"/>
          </a:xfrm>
        </p:grpSpPr>
        <p:grpSp>
          <p:nvGrpSpPr>
            <p:cNvPr id="67" name="Group 66">
              <a:extLst>
                <a:ext uri="{FF2B5EF4-FFF2-40B4-BE49-F238E27FC236}">
                  <a16:creationId xmlns:a16="http://schemas.microsoft.com/office/drawing/2014/main" id="{25DD38A6-85B2-3DD0-A650-9D86155B1DE9}"/>
                </a:ext>
              </a:extLst>
            </p:cNvPr>
            <p:cNvGrpSpPr/>
            <p:nvPr/>
          </p:nvGrpSpPr>
          <p:grpSpPr>
            <a:xfrm>
              <a:off x="1530843" y="955786"/>
              <a:ext cx="9130314" cy="4122094"/>
              <a:chOff x="1530843" y="1178807"/>
              <a:chExt cx="9130314" cy="4122094"/>
            </a:xfrm>
          </p:grpSpPr>
          <p:grpSp>
            <p:nvGrpSpPr>
              <p:cNvPr id="31" name="Group 30">
                <a:extLst>
                  <a:ext uri="{FF2B5EF4-FFF2-40B4-BE49-F238E27FC236}">
                    <a16:creationId xmlns:a16="http://schemas.microsoft.com/office/drawing/2014/main" id="{64B80EDC-543E-FC0C-BACA-36C82BE964B4}"/>
                  </a:ext>
                </a:extLst>
              </p:cNvPr>
              <p:cNvGrpSpPr/>
              <p:nvPr/>
            </p:nvGrpSpPr>
            <p:grpSpPr>
              <a:xfrm>
                <a:off x="4963735" y="2107589"/>
                <a:ext cx="2264530" cy="2264530"/>
                <a:chOff x="4963735" y="2296735"/>
                <a:chExt cx="2264530" cy="2264530"/>
              </a:xfrm>
            </p:grpSpPr>
            <p:sp>
              <p:nvSpPr>
                <p:cNvPr id="33" name="Oval 32">
                  <a:extLst>
                    <a:ext uri="{FF2B5EF4-FFF2-40B4-BE49-F238E27FC236}">
                      <a16:creationId xmlns:a16="http://schemas.microsoft.com/office/drawing/2014/main" id="{B091A341-CA1E-E43F-91B8-E8BAD9747541}"/>
                    </a:ext>
                  </a:extLst>
                </p:cNvPr>
                <p:cNvSpPr/>
                <p:nvPr/>
              </p:nvSpPr>
              <p:spPr bwMode="auto">
                <a:xfrm>
                  <a:off x="4963735" y="2296735"/>
                  <a:ext cx="2264530" cy="2264530"/>
                </a:xfrm>
                <a:prstGeom prst="ellipse">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648000" rIns="0" bIns="0" numCol="1" spcCol="0" rtlCol="0" fromWordArt="0" anchor="ctr" anchorCtr="0" forceAA="0" compatLnSpc="1">
                  <a:prstTxWarp prst="textNoShape">
                    <a:avLst/>
                  </a:prstTxWarp>
                  <a:noAutofit/>
                </a:bodyPr>
                <a:lstStyle/>
                <a:p>
                  <a:pPr marL="12700" marR="5080" lvl="0" indent="0" algn="ctr" defTabSz="914400" rtl="0" eaLnBrk="1" fontAlgn="auto" latinLnBrk="0" hangingPunct="1">
                    <a:lnSpc>
                      <a:spcPct val="100000"/>
                    </a:lnSpc>
                    <a:spcBef>
                      <a:spcPts val="290"/>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Patients with frequent exacerbations</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grpSp>
              <p:nvGrpSpPr>
                <p:cNvPr id="34" name="Group 33">
                  <a:extLst>
                    <a:ext uri="{FF2B5EF4-FFF2-40B4-BE49-F238E27FC236}">
                      <a16:creationId xmlns:a16="http://schemas.microsoft.com/office/drawing/2014/main" id="{20B1CB7D-B4F0-F9B2-2D55-477C4C0DD98A}"/>
                    </a:ext>
                  </a:extLst>
                </p:cNvPr>
                <p:cNvGrpSpPr/>
                <p:nvPr/>
              </p:nvGrpSpPr>
              <p:grpSpPr>
                <a:xfrm>
                  <a:off x="5638800" y="2394270"/>
                  <a:ext cx="914400" cy="914400"/>
                  <a:chOff x="5572206" y="2189437"/>
                  <a:chExt cx="914400" cy="914400"/>
                </a:xfrm>
              </p:grpSpPr>
              <p:pic>
                <p:nvPicPr>
                  <p:cNvPr id="35" name="Graphic 34" descr="Male profile with solid fill">
                    <a:extLst>
                      <a:ext uri="{FF2B5EF4-FFF2-40B4-BE49-F238E27FC236}">
                        <a16:creationId xmlns:a16="http://schemas.microsoft.com/office/drawing/2014/main" id="{AC45A132-012C-0204-644D-F548941CD9B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5572206" y="2189437"/>
                    <a:ext cx="914400" cy="914400"/>
                  </a:xfrm>
                  <a:prstGeom prst="rect">
                    <a:avLst/>
                  </a:prstGeom>
                </p:spPr>
              </p:pic>
              <p:grpSp>
                <p:nvGrpSpPr>
                  <p:cNvPr id="36" name="Group 35">
                    <a:extLst>
                      <a:ext uri="{FF2B5EF4-FFF2-40B4-BE49-F238E27FC236}">
                        <a16:creationId xmlns:a16="http://schemas.microsoft.com/office/drawing/2014/main" id="{7A8FCD72-FAF3-A8DC-FD7B-451F65358333}"/>
                      </a:ext>
                    </a:extLst>
                  </p:cNvPr>
                  <p:cNvGrpSpPr/>
                  <p:nvPr/>
                </p:nvGrpSpPr>
                <p:grpSpPr>
                  <a:xfrm>
                    <a:off x="6119996" y="2622178"/>
                    <a:ext cx="338125" cy="338125"/>
                    <a:chOff x="5259390" y="2626700"/>
                    <a:chExt cx="338125" cy="338125"/>
                  </a:xfrm>
                </p:grpSpPr>
                <p:sp>
                  <p:nvSpPr>
                    <p:cNvPr id="37" name="Oval 36">
                      <a:extLst>
                        <a:ext uri="{FF2B5EF4-FFF2-40B4-BE49-F238E27FC236}">
                          <a16:creationId xmlns:a16="http://schemas.microsoft.com/office/drawing/2014/main" id="{C16796C7-119C-2D36-FA74-05032E41875A}"/>
                        </a:ext>
                      </a:extLst>
                    </p:cNvPr>
                    <p:cNvSpPr/>
                    <p:nvPr/>
                  </p:nvSpPr>
                  <p:spPr bwMode="auto">
                    <a:xfrm>
                      <a:off x="5278591" y="2645901"/>
                      <a:ext cx="299723" cy="299723"/>
                    </a:xfrm>
                    <a:prstGeom prst="ellipse">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38" name="Graphic 37" descr="Medical with solid fill">
                      <a:extLst>
                        <a:ext uri="{FF2B5EF4-FFF2-40B4-BE49-F238E27FC236}">
                          <a16:creationId xmlns:a16="http://schemas.microsoft.com/office/drawing/2014/main" id="{EB84B455-DDB0-EB64-542F-CCE83E39471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259390" y="2626700"/>
                      <a:ext cx="338125" cy="338125"/>
                    </a:xfrm>
                    <a:prstGeom prst="rect">
                      <a:avLst/>
                    </a:prstGeom>
                  </p:spPr>
                </p:pic>
              </p:grpSp>
            </p:grpSp>
          </p:grpSp>
          <p:grpSp>
            <p:nvGrpSpPr>
              <p:cNvPr id="66" name="Group 65">
                <a:extLst>
                  <a:ext uri="{FF2B5EF4-FFF2-40B4-BE49-F238E27FC236}">
                    <a16:creationId xmlns:a16="http://schemas.microsoft.com/office/drawing/2014/main" id="{9483D685-734B-65EE-D009-14EC41ADDB2A}"/>
                  </a:ext>
                </a:extLst>
              </p:cNvPr>
              <p:cNvGrpSpPr/>
              <p:nvPr/>
            </p:nvGrpSpPr>
            <p:grpSpPr>
              <a:xfrm>
                <a:off x="1530843" y="1927487"/>
                <a:ext cx="9130314" cy="2624734"/>
                <a:chOff x="1652925" y="1946128"/>
                <a:chExt cx="9130314" cy="2624734"/>
              </a:xfrm>
            </p:grpSpPr>
            <p:sp>
              <p:nvSpPr>
                <p:cNvPr id="42" name="Rectangle: Rounded Corners 41"/>
                <p:cNvSpPr/>
                <p:nvPr/>
              </p:nvSpPr>
              <p:spPr>
                <a:xfrm>
                  <a:off x="1652925" y="1946128"/>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Mortality</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sp>
              <p:nvSpPr>
                <p:cNvPr id="57" name="Rectangle: Rounded Corners 56">
                  <a:extLst>
                    <a:ext uri="{FF2B5EF4-FFF2-40B4-BE49-F238E27FC236}">
                      <a16:creationId xmlns:a16="http://schemas.microsoft.com/office/drawing/2014/main" id="{AC269374-79D1-08EC-F02A-3DA135264B7C}"/>
                    </a:ext>
                  </a:extLst>
                </p:cNvPr>
                <p:cNvSpPr/>
                <p:nvPr/>
              </p:nvSpPr>
              <p:spPr>
                <a:xfrm>
                  <a:off x="1652925" y="3777913"/>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5080" lvl="0" indent="78105" algn="ctr" defTabSz="914400" rtl="0" eaLnBrk="1" fontAlgn="auto" latinLnBrk="0" hangingPunct="1">
                    <a:lnSpc>
                      <a:spcPct val="100000"/>
                    </a:lnSpc>
                    <a:spcBef>
                      <a:spcPts val="29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Disease progression</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sp>
              <p:nvSpPr>
                <p:cNvPr id="60" name="Rectangle: Rounded Corners 59">
                  <a:extLst>
                    <a:ext uri="{FF2B5EF4-FFF2-40B4-BE49-F238E27FC236}">
                      <a16:creationId xmlns:a16="http://schemas.microsoft.com/office/drawing/2014/main" id="{EB7B662C-C541-A06E-6119-15C57AD619E2}"/>
                    </a:ext>
                  </a:extLst>
                </p:cNvPr>
                <p:cNvSpPr/>
                <p:nvPr/>
              </p:nvSpPr>
              <p:spPr>
                <a:xfrm>
                  <a:off x="8273487" y="1946128"/>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42545" marR="5080" lvl="0" indent="-30480" algn="ctr" defTabSz="914400" rtl="0" eaLnBrk="1" fontAlgn="auto" latinLnBrk="0" hangingPunct="1">
                    <a:lnSpc>
                      <a:spcPct val="100000"/>
                    </a:lnSpc>
                    <a:spcBef>
                      <a:spcPts val="17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Likelihood of hospitalisation</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sp>
              <p:nvSpPr>
                <p:cNvPr id="61" name="Rectangle: Rounded Corners 60">
                  <a:extLst>
                    <a:ext uri="{FF2B5EF4-FFF2-40B4-BE49-F238E27FC236}">
                      <a16:creationId xmlns:a16="http://schemas.microsoft.com/office/drawing/2014/main" id="{62A6F02C-6DF6-5B6B-054D-BAB774C640E9}"/>
                    </a:ext>
                  </a:extLst>
                </p:cNvPr>
                <p:cNvSpPr/>
                <p:nvPr/>
              </p:nvSpPr>
              <p:spPr>
                <a:xfrm>
                  <a:off x="8273487" y="3777913"/>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87630" marR="5080" lvl="0" indent="-75565" algn="ctr" defTabSz="914400" rtl="0" eaLnBrk="1" fontAlgn="auto" latinLnBrk="0" hangingPunct="1">
                    <a:lnSpc>
                      <a:spcPct val="100000"/>
                    </a:lnSpc>
                    <a:spcBef>
                      <a:spcPts val="17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Future risk of exacerbations</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grpSp>
          <p:grpSp>
            <p:nvGrpSpPr>
              <p:cNvPr id="65" name="Group 64">
                <a:extLst>
                  <a:ext uri="{FF2B5EF4-FFF2-40B4-BE49-F238E27FC236}">
                    <a16:creationId xmlns:a16="http://schemas.microsoft.com/office/drawing/2014/main" id="{A19D45A8-8E2B-E667-8967-05000D1F1E83}"/>
                  </a:ext>
                </a:extLst>
              </p:cNvPr>
              <p:cNvGrpSpPr/>
              <p:nvPr/>
            </p:nvGrpSpPr>
            <p:grpSpPr>
              <a:xfrm>
                <a:off x="4841124" y="1178807"/>
                <a:ext cx="2509752" cy="4122094"/>
                <a:chOff x="4841124" y="1178807"/>
                <a:chExt cx="2509752" cy="4122094"/>
              </a:xfrm>
            </p:grpSpPr>
            <p:sp>
              <p:nvSpPr>
                <p:cNvPr id="62" name="Rectangle: Rounded Corners 61">
                  <a:extLst>
                    <a:ext uri="{FF2B5EF4-FFF2-40B4-BE49-F238E27FC236}">
                      <a16:creationId xmlns:a16="http://schemas.microsoft.com/office/drawing/2014/main" id="{1925D09B-E091-B745-7D58-C257105E7FF1}"/>
                    </a:ext>
                  </a:extLst>
                </p:cNvPr>
                <p:cNvSpPr/>
                <p:nvPr/>
              </p:nvSpPr>
              <p:spPr>
                <a:xfrm>
                  <a:off x="4841124" y="1178807"/>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Inflammation</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sp>
              <p:nvSpPr>
                <p:cNvPr id="63" name="Rectangle: Rounded Corners 62">
                  <a:extLst>
                    <a:ext uri="{FF2B5EF4-FFF2-40B4-BE49-F238E27FC236}">
                      <a16:creationId xmlns:a16="http://schemas.microsoft.com/office/drawing/2014/main" id="{4B0DBA62-72CF-F46F-ACDB-BA92430EE23C}"/>
                    </a:ext>
                  </a:extLst>
                </p:cNvPr>
                <p:cNvSpPr/>
                <p:nvPr/>
              </p:nvSpPr>
              <p:spPr>
                <a:xfrm>
                  <a:off x="4841124" y="4507952"/>
                  <a:ext cx="2509752" cy="792949"/>
                </a:xfrm>
                <a:prstGeom prst="round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2700" marR="0" lvl="0" indent="0" algn="ctr" defTabSz="914400" rtl="0" eaLnBrk="1" fontAlgn="auto" latinLnBrk="0" hangingPunct="1">
                    <a:lnSpc>
                      <a:spcPct val="100000"/>
                    </a:lnSpc>
                    <a:spcBef>
                      <a:spcPts val="95"/>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 Quality of life</a:t>
                  </a:r>
                  <a:endParaRPr kumimoji="0" lang="en-GB" sz="1800" b="0" i="0" u="none" strike="noStrike" kern="1200" cap="none" spc="0" normalizeH="0" baseline="0" noProof="0" dirty="0">
                    <a:ln>
                      <a:noFill/>
                    </a:ln>
                    <a:solidFill>
                      <a:prstClr val="white"/>
                    </a:solidFill>
                    <a:effectLst/>
                    <a:uLnTx/>
                    <a:uFillTx/>
                    <a:latin typeface="Arial"/>
                    <a:ea typeface="+mn-ea"/>
                    <a:cs typeface="Arial"/>
                  </a:endParaRPr>
                </a:p>
              </p:txBody>
            </p:sp>
          </p:grpSp>
        </p:grpSp>
        <p:grpSp>
          <p:nvGrpSpPr>
            <p:cNvPr id="115" name="Group 114">
              <a:extLst>
                <a:ext uri="{FF2B5EF4-FFF2-40B4-BE49-F238E27FC236}">
                  <a16:creationId xmlns:a16="http://schemas.microsoft.com/office/drawing/2014/main" id="{2C5BEB7B-2A67-556E-0A0E-878B26F09BC9}"/>
                </a:ext>
              </a:extLst>
            </p:cNvPr>
            <p:cNvGrpSpPr/>
            <p:nvPr/>
          </p:nvGrpSpPr>
          <p:grpSpPr>
            <a:xfrm>
              <a:off x="4037890" y="1744127"/>
              <a:ext cx="4116221" cy="2545412"/>
              <a:chOff x="4037890" y="1744127"/>
              <a:chExt cx="4116221" cy="2545412"/>
            </a:xfrm>
          </p:grpSpPr>
          <p:grpSp>
            <p:nvGrpSpPr>
              <p:cNvPr id="112" name="Group 111">
                <a:extLst>
                  <a:ext uri="{FF2B5EF4-FFF2-40B4-BE49-F238E27FC236}">
                    <a16:creationId xmlns:a16="http://schemas.microsoft.com/office/drawing/2014/main" id="{2B08CB2F-B83E-ACC8-D084-B0DD4726ED6C}"/>
                  </a:ext>
                </a:extLst>
              </p:cNvPr>
              <p:cNvGrpSpPr/>
              <p:nvPr/>
            </p:nvGrpSpPr>
            <p:grpSpPr>
              <a:xfrm>
                <a:off x="4037890" y="2099886"/>
                <a:ext cx="4116221" cy="1833895"/>
                <a:chOff x="4035184" y="2100940"/>
                <a:chExt cx="4116221" cy="1833895"/>
              </a:xfrm>
            </p:grpSpPr>
            <p:grpSp>
              <p:nvGrpSpPr>
                <p:cNvPr id="104" name="Group 103">
                  <a:extLst>
                    <a:ext uri="{FF2B5EF4-FFF2-40B4-BE49-F238E27FC236}">
                      <a16:creationId xmlns:a16="http://schemas.microsoft.com/office/drawing/2014/main" id="{1050EC95-3EB3-2202-78AD-F8F0EA9E003D}"/>
                    </a:ext>
                  </a:extLst>
                </p:cNvPr>
                <p:cNvGrpSpPr/>
                <p:nvPr/>
              </p:nvGrpSpPr>
              <p:grpSpPr>
                <a:xfrm>
                  <a:off x="7105122" y="2100940"/>
                  <a:ext cx="1046283" cy="1833895"/>
                  <a:chOff x="7105122" y="2100940"/>
                  <a:chExt cx="1046283" cy="1833895"/>
                </a:xfrm>
              </p:grpSpPr>
              <p:grpSp>
                <p:nvGrpSpPr>
                  <p:cNvPr id="98" name="Group 97">
                    <a:extLst>
                      <a:ext uri="{FF2B5EF4-FFF2-40B4-BE49-F238E27FC236}">
                        <a16:creationId xmlns:a16="http://schemas.microsoft.com/office/drawing/2014/main" id="{08623189-25E6-ECAA-A52C-A136BFA9A125}"/>
                      </a:ext>
                    </a:extLst>
                  </p:cNvPr>
                  <p:cNvGrpSpPr/>
                  <p:nvPr/>
                </p:nvGrpSpPr>
                <p:grpSpPr>
                  <a:xfrm>
                    <a:off x="7105122" y="2100940"/>
                    <a:ext cx="1043577" cy="401444"/>
                    <a:chOff x="7209751" y="2171625"/>
                    <a:chExt cx="1043577" cy="401444"/>
                  </a:xfrm>
                </p:grpSpPr>
                <p:cxnSp>
                  <p:nvCxnSpPr>
                    <p:cNvPr id="95" name="Straight Connector 94">
                      <a:extLst>
                        <a:ext uri="{FF2B5EF4-FFF2-40B4-BE49-F238E27FC236}">
                          <a16:creationId xmlns:a16="http://schemas.microsoft.com/office/drawing/2014/main" id="{29ECAE03-C930-1791-EEFA-E67449DD8DE3}"/>
                        </a:ext>
                      </a:extLst>
                    </p:cNvPr>
                    <p:cNvCxnSpPr/>
                    <p:nvPr/>
                  </p:nvCxnSpPr>
                  <p:spPr>
                    <a:xfrm flipV="1">
                      <a:off x="7209751" y="2171625"/>
                      <a:ext cx="401444" cy="401444"/>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66F7A78-B750-B67F-57AB-F5C89704E6D2}"/>
                        </a:ext>
                      </a:extLst>
                    </p:cNvPr>
                    <p:cNvCxnSpPr>
                      <a:cxnSpLocks/>
                      <a:endCxn id="60" idx="1"/>
                    </p:cNvCxnSpPr>
                    <p:nvPr/>
                  </p:nvCxnSpPr>
                  <p:spPr>
                    <a:xfrm>
                      <a:off x="7611195" y="2171625"/>
                      <a:ext cx="642133" cy="1055"/>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01" name="Group 100">
                    <a:extLst>
                      <a:ext uri="{FF2B5EF4-FFF2-40B4-BE49-F238E27FC236}">
                        <a16:creationId xmlns:a16="http://schemas.microsoft.com/office/drawing/2014/main" id="{7306F167-FC2B-BFE0-15CC-13DB32B31EC9}"/>
                      </a:ext>
                    </a:extLst>
                  </p:cNvPr>
                  <p:cNvGrpSpPr/>
                  <p:nvPr/>
                </p:nvGrpSpPr>
                <p:grpSpPr>
                  <a:xfrm flipV="1">
                    <a:off x="7105122" y="3533391"/>
                    <a:ext cx="1046283" cy="401444"/>
                    <a:chOff x="7209751" y="2171625"/>
                    <a:chExt cx="1046283" cy="401444"/>
                  </a:xfrm>
                </p:grpSpPr>
                <p:cxnSp>
                  <p:nvCxnSpPr>
                    <p:cNvPr id="102" name="Straight Connector 101">
                      <a:extLst>
                        <a:ext uri="{FF2B5EF4-FFF2-40B4-BE49-F238E27FC236}">
                          <a16:creationId xmlns:a16="http://schemas.microsoft.com/office/drawing/2014/main" id="{854D06C2-739E-7182-FE27-1BDE4B1B7DB0}"/>
                        </a:ext>
                      </a:extLst>
                    </p:cNvPr>
                    <p:cNvCxnSpPr/>
                    <p:nvPr/>
                  </p:nvCxnSpPr>
                  <p:spPr>
                    <a:xfrm flipV="1">
                      <a:off x="7209751" y="2171625"/>
                      <a:ext cx="401444" cy="401444"/>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455B4FBA-1BC4-FCE3-C56E-EF701370A3A1}"/>
                        </a:ext>
                      </a:extLst>
                    </p:cNvPr>
                    <p:cNvCxnSpPr>
                      <a:cxnSpLocks/>
                    </p:cNvCxnSpPr>
                    <p:nvPr/>
                  </p:nvCxnSpPr>
                  <p:spPr>
                    <a:xfrm>
                      <a:off x="7611195" y="2171625"/>
                      <a:ext cx="644839" cy="1"/>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grpSp>
            </p:grpSp>
            <p:grpSp>
              <p:nvGrpSpPr>
                <p:cNvPr id="105" name="Group 104">
                  <a:extLst>
                    <a:ext uri="{FF2B5EF4-FFF2-40B4-BE49-F238E27FC236}">
                      <a16:creationId xmlns:a16="http://schemas.microsoft.com/office/drawing/2014/main" id="{7C1F2554-9CD6-8AC4-B7B3-382D01033D0A}"/>
                    </a:ext>
                  </a:extLst>
                </p:cNvPr>
                <p:cNvGrpSpPr/>
                <p:nvPr/>
              </p:nvGrpSpPr>
              <p:grpSpPr>
                <a:xfrm flipH="1">
                  <a:off x="4035184" y="2100940"/>
                  <a:ext cx="1046283" cy="1833895"/>
                  <a:chOff x="7105122" y="2100940"/>
                  <a:chExt cx="1046283" cy="1833895"/>
                </a:xfrm>
              </p:grpSpPr>
              <p:grpSp>
                <p:nvGrpSpPr>
                  <p:cNvPr id="106" name="Group 105">
                    <a:extLst>
                      <a:ext uri="{FF2B5EF4-FFF2-40B4-BE49-F238E27FC236}">
                        <a16:creationId xmlns:a16="http://schemas.microsoft.com/office/drawing/2014/main" id="{B3DB5BE9-F459-EEB8-3716-F8332307CCC7}"/>
                      </a:ext>
                    </a:extLst>
                  </p:cNvPr>
                  <p:cNvGrpSpPr/>
                  <p:nvPr/>
                </p:nvGrpSpPr>
                <p:grpSpPr>
                  <a:xfrm>
                    <a:off x="7105122" y="2100940"/>
                    <a:ext cx="1046283" cy="401444"/>
                    <a:chOff x="7209751" y="2171625"/>
                    <a:chExt cx="1046283" cy="401444"/>
                  </a:xfrm>
                </p:grpSpPr>
                <p:cxnSp>
                  <p:nvCxnSpPr>
                    <p:cNvPr id="110" name="Straight Connector 109">
                      <a:extLst>
                        <a:ext uri="{FF2B5EF4-FFF2-40B4-BE49-F238E27FC236}">
                          <a16:creationId xmlns:a16="http://schemas.microsoft.com/office/drawing/2014/main" id="{ADEFE234-208D-EA82-06A9-FEC0FF961E05}"/>
                        </a:ext>
                      </a:extLst>
                    </p:cNvPr>
                    <p:cNvCxnSpPr/>
                    <p:nvPr/>
                  </p:nvCxnSpPr>
                  <p:spPr>
                    <a:xfrm flipV="1">
                      <a:off x="7209751" y="2171625"/>
                      <a:ext cx="401444" cy="401444"/>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6F11669-2B8E-FC99-C99E-AB854B215789}"/>
                        </a:ext>
                      </a:extLst>
                    </p:cNvPr>
                    <p:cNvCxnSpPr>
                      <a:cxnSpLocks/>
                    </p:cNvCxnSpPr>
                    <p:nvPr/>
                  </p:nvCxnSpPr>
                  <p:spPr>
                    <a:xfrm>
                      <a:off x="7611195" y="2171625"/>
                      <a:ext cx="644839" cy="1"/>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grpSp>
              <p:grpSp>
                <p:nvGrpSpPr>
                  <p:cNvPr id="107" name="Group 106">
                    <a:extLst>
                      <a:ext uri="{FF2B5EF4-FFF2-40B4-BE49-F238E27FC236}">
                        <a16:creationId xmlns:a16="http://schemas.microsoft.com/office/drawing/2014/main" id="{574CC276-C3E3-A61E-E272-BA1D57DC6A86}"/>
                      </a:ext>
                    </a:extLst>
                  </p:cNvPr>
                  <p:cNvGrpSpPr/>
                  <p:nvPr/>
                </p:nvGrpSpPr>
                <p:grpSpPr>
                  <a:xfrm flipV="1">
                    <a:off x="7105122" y="3533391"/>
                    <a:ext cx="1046283" cy="401444"/>
                    <a:chOff x="7209751" y="2171625"/>
                    <a:chExt cx="1046283" cy="401444"/>
                  </a:xfrm>
                </p:grpSpPr>
                <p:cxnSp>
                  <p:nvCxnSpPr>
                    <p:cNvPr id="108" name="Straight Connector 107">
                      <a:extLst>
                        <a:ext uri="{FF2B5EF4-FFF2-40B4-BE49-F238E27FC236}">
                          <a16:creationId xmlns:a16="http://schemas.microsoft.com/office/drawing/2014/main" id="{93892FAB-6275-2924-D796-21A727C105F5}"/>
                        </a:ext>
                      </a:extLst>
                    </p:cNvPr>
                    <p:cNvCxnSpPr/>
                    <p:nvPr/>
                  </p:nvCxnSpPr>
                  <p:spPr>
                    <a:xfrm flipV="1">
                      <a:off x="7209751" y="2171625"/>
                      <a:ext cx="401444" cy="401444"/>
                    </a:xfrm>
                    <a:prstGeom prst="line">
                      <a:avLst/>
                    </a:prstGeom>
                    <a:ln w="12700" cap="rnd">
                      <a:solidFill>
                        <a:schemeClr val="tx2"/>
                      </a:solidFill>
                      <a:prstDash val="sysDot"/>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E8C6DD32-B668-CBFF-B8A4-6EC23F86037D}"/>
                        </a:ext>
                      </a:extLst>
                    </p:cNvPr>
                    <p:cNvCxnSpPr>
                      <a:cxnSpLocks/>
                    </p:cNvCxnSpPr>
                    <p:nvPr/>
                  </p:nvCxnSpPr>
                  <p:spPr>
                    <a:xfrm>
                      <a:off x="7611195" y="2171625"/>
                      <a:ext cx="644839" cy="1"/>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grpSp>
            </p:grpSp>
          </p:grpSp>
          <p:cxnSp>
            <p:nvCxnSpPr>
              <p:cNvPr id="114" name="Straight Connector 113">
                <a:extLst>
                  <a:ext uri="{FF2B5EF4-FFF2-40B4-BE49-F238E27FC236}">
                    <a16:creationId xmlns:a16="http://schemas.microsoft.com/office/drawing/2014/main" id="{8915A2D5-F1B5-E794-5200-B9E27363B245}"/>
                  </a:ext>
                </a:extLst>
              </p:cNvPr>
              <p:cNvCxnSpPr>
                <a:cxnSpLocks/>
              </p:cNvCxnSpPr>
              <p:nvPr/>
            </p:nvCxnSpPr>
            <p:spPr>
              <a:xfrm flipV="1">
                <a:off x="6096000" y="1744127"/>
                <a:ext cx="0" cy="140441"/>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FF4A0C53-63B3-69A3-64B2-4444C80CA5F1}"/>
                  </a:ext>
                </a:extLst>
              </p:cNvPr>
              <p:cNvCxnSpPr>
                <a:cxnSpLocks/>
              </p:cNvCxnSpPr>
              <p:nvPr/>
            </p:nvCxnSpPr>
            <p:spPr>
              <a:xfrm>
                <a:off x="6096000" y="4149098"/>
                <a:ext cx="0" cy="140441"/>
              </a:xfrm>
              <a:prstGeom prst="line">
                <a:avLst/>
              </a:prstGeom>
              <a:ln w="12700" cap="rnd">
                <a:solidFill>
                  <a:schemeClr val="tx2"/>
                </a:solidFill>
                <a:prstDash val="sysDot"/>
                <a:tailEnd type="oval"/>
              </a:ln>
            </p:spPr>
            <p:style>
              <a:lnRef idx="1">
                <a:schemeClr val="accent1"/>
              </a:lnRef>
              <a:fillRef idx="0">
                <a:schemeClr val="accent1"/>
              </a:fillRef>
              <a:effectRef idx="0">
                <a:schemeClr val="accent1"/>
              </a:effectRef>
              <a:fontRef idx="minor">
                <a:schemeClr val="tx1"/>
              </a:fontRef>
            </p:style>
          </p:cxnSp>
        </p:grpSp>
      </p:grpSp>
      <p:sp>
        <p:nvSpPr>
          <p:cNvPr id="14" name="Rectangle 13">
            <a:extLst>
              <a:ext uri="{FF2B5EF4-FFF2-40B4-BE49-F238E27FC236}">
                <a16:creationId xmlns:a16="http://schemas.microsoft.com/office/drawing/2014/main" id="{BFBE1FE2-E3E3-CD47-2697-517CCBED2C4B}"/>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Date Placeholder 4">
            <a:extLst>
              <a:ext uri="{FF2B5EF4-FFF2-40B4-BE49-F238E27FC236}">
                <a16:creationId xmlns:a16="http://schemas.microsoft.com/office/drawing/2014/main" id="{1E5DB591-E2BF-9A57-25FA-C369BF29BEAC}"/>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71916934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Introduction to the GOLD report</a:t>
            </a:r>
          </a:p>
        </p:txBody>
      </p:sp>
      <p:sp>
        <p:nvSpPr>
          <p:cNvPr id="2" name="Rectangle 1">
            <a:extLst>
              <a:ext uri="{FF2B5EF4-FFF2-40B4-BE49-F238E27FC236}">
                <a16:creationId xmlns:a16="http://schemas.microsoft.com/office/drawing/2014/main" id="{B9526356-345F-EED5-2711-3FA230362F4D}"/>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77964356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1BB818AB-82C8-FDA3-E46C-DDD756A8301E}"/>
              </a:ext>
            </a:extLst>
          </p:cNvPr>
          <p:cNvSpPr>
            <a:spLocks noGrp="1"/>
          </p:cNvSpPr>
          <p:nvPr>
            <p:ph type="body" sz="quarter" idx="13"/>
          </p:nvPr>
        </p:nvSpPr>
        <p:spPr>
          <a:xfrm>
            <a:off x="365125" y="5863848"/>
            <a:ext cx="11460164" cy="298800"/>
          </a:xfrm>
        </p:spPr>
        <p:txBody>
          <a:bodyPr/>
          <a:lstStyle/>
          <a:p>
            <a:r>
              <a:rPr lang="en-US" sz="800" dirty="0"/>
              <a:t>GOLD, Global Initiative for Chronic Obstructive Lung Disease; HCP, healthcare professional.</a:t>
            </a:r>
          </a:p>
          <a:p>
            <a:r>
              <a:rPr lang="en-US" sz="800"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sz="800" kern="100" dirty="0">
                <a:effectLst/>
                <a:ea typeface="Calibri" panose="020F0502020204030204" pitchFamily="34" charset="0"/>
                <a:cs typeface="Times New Roman" panose="02020603050405020304" pitchFamily="18" charset="0"/>
                <a:hlinkClick r:id="rId2"/>
              </a:rPr>
              <a:t>https://goldcopd.org/wp-content/uploads/2024/11/GOLD-2025-Report-v1.0-15Nov2024_WMV.pdf</a:t>
            </a:r>
            <a:r>
              <a:rPr lang="en-US" sz="800" kern="100" dirty="0">
                <a:effectLst/>
                <a:ea typeface="Calibri" panose="020F0502020204030204" pitchFamily="34" charset="0"/>
                <a:cs typeface="Times New Roman" panose="02020603050405020304" pitchFamily="18" charset="0"/>
              </a:rPr>
              <a:t>. Accessed November </a:t>
            </a:r>
            <a:r>
              <a:rPr lang="en-US" sz="800" kern="100" dirty="0">
                <a:ea typeface="Calibri" panose="020F0502020204030204" pitchFamily="34" charset="0"/>
                <a:cs typeface="Times New Roman" panose="02020603050405020304" pitchFamily="18" charset="0"/>
              </a:rPr>
              <a:t>21,</a:t>
            </a:r>
            <a:r>
              <a:rPr lang="en-US" sz="800" kern="100" dirty="0">
                <a:effectLst/>
                <a:ea typeface="Calibri" panose="020F0502020204030204" pitchFamily="34" charset="0"/>
                <a:cs typeface="Times New Roman" panose="02020603050405020304" pitchFamily="18" charset="0"/>
              </a:rPr>
              <a:t> 2024.</a:t>
            </a:r>
            <a:endParaRPr lang="en-US" sz="800" dirty="0">
              <a:latin typeface="+mj-lt"/>
              <a:cs typeface="Arial"/>
            </a:endParaRP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a:xfrm>
            <a:off x="365125" y="270989"/>
            <a:ext cx="11460163" cy="430887"/>
          </a:xfrm>
        </p:spPr>
        <p:txBody>
          <a:bodyPr/>
          <a:lstStyle/>
          <a:p>
            <a:r>
              <a:rPr lang="en-US" dirty="0">
                <a:solidFill>
                  <a:srgbClr val="F36500"/>
                </a:solidFill>
              </a:rPr>
              <a:t>The GOLD report</a:t>
            </a:r>
            <a:endParaRPr lang="en-US" baseline="30000" dirty="0"/>
          </a:p>
        </p:txBody>
      </p:sp>
      <p:sp>
        <p:nvSpPr>
          <p:cNvPr id="30" name="object 7">
            <a:extLst>
              <a:ext uri="{FF2B5EF4-FFF2-40B4-BE49-F238E27FC236}">
                <a16:creationId xmlns:a16="http://schemas.microsoft.com/office/drawing/2014/main" id="{06F18450-ECD1-2750-26B5-21C01857F7C7}"/>
              </a:ext>
            </a:extLst>
          </p:cNvPr>
          <p:cNvSpPr txBox="1"/>
          <p:nvPr/>
        </p:nvSpPr>
        <p:spPr>
          <a:xfrm>
            <a:off x="361952" y="1299542"/>
            <a:ext cx="11468096" cy="863390"/>
          </a:xfrm>
          <a:prstGeom prst="roundRect">
            <a:avLst/>
          </a:prstGeom>
          <a:solidFill>
            <a:schemeClr val="tx2"/>
          </a:solidFill>
        </p:spPr>
        <p:txBody>
          <a:bodyPr vert="horz" wrap="square" lIns="1097280" tIns="0" rIns="0" bIns="0" rtlCol="0" anchor="ctr" anchorCtr="0">
            <a:noAutofit/>
          </a:bodyPr>
          <a:lstStyle/>
          <a:p>
            <a:pPr marL="91440" marR="0" lvl="0" indent="0" algn="l"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1200" cap="none" spc="0" normalizeH="0" baseline="0" noProof="0" dirty="0">
                <a:ln>
                  <a:noFill/>
                </a:ln>
                <a:solidFill>
                  <a:srgbClr val="FFFFFF"/>
                </a:solidFill>
                <a:effectLst/>
                <a:uLnTx/>
                <a:uFillTx/>
                <a:latin typeface="Arial"/>
                <a:ea typeface="+mn-ea"/>
                <a:cs typeface="Arial"/>
              </a:rPr>
              <a:t>The GOLD report is revised annually and has been used as a tool by HCPs to implement effective management programmes based on local healthcare systems</a:t>
            </a:r>
            <a:endParaRPr kumimoji="0" lang="en-GB" sz="18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41" name="Group 40">
            <a:extLst>
              <a:ext uri="{FF2B5EF4-FFF2-40B4-BE49-F238E27FC236}">
                <a16:creationId xmlns:a16="http://schemas.microsoft.com/office/drawing/2014/main" id="{D5F67D48-B2E5-D15F-A3F5-4FA194B47D20}"/>
              </a:ext>
            </a:extLst>
          </p:cNvPr>
          <p:cNvGrpSpPr/>
          <p:nvPr/>
        </p:nvGrpSpPr>
        <p:grpSpPr>
          <a:xfrm>
            <a:off x="596041" y="1377969"/>
            <a:ext cx="854202" cy="706536"/>
            <a:chOff x="703262" y="1466655"/>
            <a:chExt cx="639760" cy="529164"/>
          </a:xfrm>
        </p:grpSpPr>
        <p:pic>
          <p:nvPicPr>
            <p:cNvPr id="37" name="object 8" descr="Open book with solid fill">
              <a:extLst>
                <a:ext uri="{FF2B5EF4-FFF2-40B4-BE49-F238E27FC236}">
                  <a16:creationId xmlns:a16="http://schemas.microsoft.com/office/drawing/2014/main" id="{0443F843-8043-E0C6-E998-CD799B2806D9}"/>
                </a:ext>
              </a:extLst>
            </p:cNvPr>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flipH="1">
              <a:off x="703262" y="1466655"/>
              <a:ext cx="529164" cy="529164"/>
            </a:xfrm>
            <a:prstGeom prst="rect">
              <a:avLst/>
            </a:prstGeom>
          </p:spPr>
        </p:pic>
        <p:grpSp>
          <p:nvGrpSpPr>
            <p:cNvPr id="40" name="Group 39">
              <a:extLst>
                <a:ext uri="{FF2B5EF4-FFF2-40B4-BE49-F238E27FC236}">
                  <a16:creationId xmlns:a16="http://schemas.microsoft.com/office/drawing/2014/main" id="{E9476C03-E323-5924-0F99-5AEC253E5347}"/>
                </a:ext>
              </a:extLst>
            </p:cNvPr>
            <p:cNvGrpSpPr/>
            <p:nvPr/>
          </p:nvGrpSpPr>
          <p:grpSpPr>
            <a:xfrm>
              <a:off x="998800" y="1651597"/>
              <a:ext cx="344222" cy="344222"/>
              <a:chOff x="1177394" y="1634757"/>
              <a:chExt cx="529164" cy="529164"/>
            </a:xfrm>
          </p:grpSpPr>
          <p:sp>
            <p:nvSpPr>
              <p:cNvPr id="39" name="Oval 38">
                <a:extLst>
                  <a:ext uri="{FF2B5EF4-FFF2-40B4-BE49-F238E27FC236}">
                    <a16:creationId xmlns:a16="http://schemas.microsoft.com/office/drawing/2014/main" id="{37A44F51-8EBF-E73E-421D-D8E5C0A89DC0}"/>
                  </a:ext>
                </a:extLst>
              </p:cNvPr>
              <p:cNvSpPr/>
              <p:nvPr/>
            </p:nvSpPr>
            <p:spPr bwMode="auto">
              <a:xfrm>
                <a:off x="1238650" y="1695257"/>
                <a:ext cx="302943" cy="302943"/>
              </a:xfrm>
              <a:prstGeom prst="ellipse">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38" name="object 8" descr="Magnifying glass with solid fill">
                <a:extLst>
                  <a:ext uri="{FF2B5EF4-FFF2-40B4-BE49-F238E27FC236}">
                    <a16:creationId xmlns:a16="http://schemas.microsoft.com/office/drawing/2014/main" id="{339F62C9-B0CA-78C0-0057-A6F9163C98E1}"/>
                  </a:ext>
                </a:extLst>
              </p:cNvPr>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177394" y="1634757"/>
                <a:ext cx="529164" cy="529164"/>
              </a:xfrm>
              <a:prstGeom prst="rect">
                <a:avLst/>
              </a:prstGeom>
            </p:spPr>
          </p:pic>
        </p:grpSp>
      </p:grpSp>
      <p:sp>
        <p:nvSpPr>
          <p:cNvPr id="42" name="TextBox 41">
            <a:extLst>
              <a:ext uri="{FF2B5EF4-FFF2-40B4-BE49-F238E27FC236}">
                <a16:creationId xmlns:a16="http://schemas.microsoft.com/office/drawing/2014/main" id="{26C74A86-A9BE-DED7-A791-2FD5F86D35CD}"/>
              </a:ext>
            </a:extLst>
          </p:cNvPr>
          <p:cNvSpPr txBox="1"/>
          <p:nvPr/>
        </p:nvSpPr>
        <p:spPr>
          <a:xfrm>
            <a:off x="272623" y="2180655"/>
            <a:ext cx="11559014" cy="2503249"/>
          </a:xfrm>
          <a:prstGeom prst="rect">
            <a:avLst/>
          </a:prstGeom>
          <a:noFill/>
        </p:spPr>
        <p:txBody>
          <a:bodyPr wrap="square">
            <a:spAutoFit/>
          </a:bodyPr>
          <a:lstStyle/>
          <a:p>
            <a:pPr marL="285750" marR="4318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368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Arial"/>
              </a:rPr>
              <a:t>GOLD works with HCPs and public health officials to</a:t>
            </a:r>
          </a:p>
          <a:p>
            <a:pPr marL="623888" marR="4318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368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Arial"/>
              </a:rPr>
              <a:t>Raise awareness of the burden of COPD</a:t>
            </a:r>
          </a:p>
          <a:p>
            <a:pPr marL="623888" marR="4318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368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Arial"/>
              </a:rPr>
              <a:t>Develop programmes for early detection, prevention and approaches to management.</a:t>
            </a:r>
          </a:p>
          <a:p>
            <a:pPr marL="285750" marR="4318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368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Arial"/>
              </a:rPr>
              <a:t>The GOLD scientific committee was established in 2002 to review published literature on COPD management and prevention and evaluate the impact of this research on recommendations in the GOLD document.</a:t>
            </a:r>
          </a:p>
          <a:p>
            <a:pPr marL="285750" marR="43180" lvl="0" indent="-285750" algn="l" defTabSz="914400" rtl="0" eaLnBrk="1" fontAlgn="auto" latinLnBrk="0" hangingPunct="1">
              <a:lnSpc>
                <a:spcPts val="2000"/>
              </a:lnSpc>
              <a:spcBef>
                <a:spcPts val="1200"/>
              </a:spcBef>
              <a:spcAft>
                <a:spcPts val="0"/>
              </a:spcAft>
              <a:buClr>
                <a:srgbClr val="F36633"/>
              </a:buClr>
              <a:buSzTx/>
              <a:buFont typeface="Arial" panose="020B0604020202020204" pitchFamily="34" charset="0"/>
              <a:buChar char="•"/>
              <a:tabLst>
                <a:tab pos="236854" algn="l"/>
              </a:tabLst>
              <a:defRPr/>
            </a:pPr>
            <a:r>
              <a:rPr kumimoji="0" lang="en-GB" sz="1800" b="0" i="0" u="none" strike="noStrike" kern="1200" cap="none" spc="0" normalizeH="0" baseline="0" noProof="0" dirty="0">
                <a:ln>
                  <a:noFill/>
                </a:ln>
                <a:solidFill>
                  <a:srgbClr val="000000"/>
                </a:solidFill>
                <a:effectLst/>
                <a:uLnTx/>
                <a:uFillTx/>
                <a:latin typeface="Arial"/>
                <a:ea typeface="+mn-ea"/>
                <a:cs typeface="Arial"/>
              </a:rPr>
              <a:t>Its members are recognised leaders in COPD research and clinical practice.</a:t>
            </a:r>
          </a:p>
        </p:txBody>
      </p:sp>
      <p:sp>
        <p:nvSpPr>
          <p:cNvPr id="43" name="object 7">
            <a:extLst>
              <a:ext uri="{FF2B5EF4-FFF2-40B4-BE49-F238E27FC236}">
                <a16:creationId xmlns:a16="http://schemas.microsoft.com/office/drawing/2014/main" id="{19FA255D-F729-34D2-9E16-51F3D1B40624}"/>
              </a:ext>
            </a:extLst>
          </p:cNvPr>
          <p:cNvSpPr txBox="1"/>
          <p:nvPr/>
        </p:nvSpPr>
        <p:spPr>
          <a:xfrm>
            <a:off x="361952" y="4766653"/>
            <a:ext cx="11468096" cy="743753"/>
          </a:xfrm>
          <a:prstGeom prst="roundRect">
            <a:avLst/>
          </a:prstGeom>
          <a:solidFill>
            <a:srgbClr val="40488D"/>
          </a:solidFill>
        </p:spPr>
        <p:txBody>
          <a:bodyPr vert="horz" wrap="square" lIns="0" tIns="0" rIns="0" bIns="0" rtlCol="0" anchor="ctr" anchorCtr="0">
            <a:noAutofit/>
          </a:bodyPr>
          <a:lstStyle/>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The GOLD strategy is consistent with GSK’s COPD strategy and commitment </a:t>
            </a:r>
            <a:br>
              <a:rPr kumimoji="0" lang="en-US" sz="1600" b="1" i="0" u="none" strike="noStrike" kern="1200" cap="none" spc="0" normalizeH="0" baseline="0" noProof="0" dirty="0">
                <a:ln>
                  <a:noFill/>
                </a:ln>
                <a:solidFill>
                  <a:srgbClr val="FFFFFF"/>
                </a:solidFill>
                <a:effectLst/>
                <a:uLnTx/>
                <a:uFillTx/>
                <a:latin typeface="Arial"/>
                <a:ea typeface="+mn-ea"/>
                <a:cs typeface="Arial"/>
              </a:rPr>
            </a:br>
            <a:r>
              <a:rPr kumimoji="0" lang="en-US" sz="1600" b="1" i="0" u="none" strike="noStrike" kern="1200" cap="none" spc="0" normalizeH="0" baseline="0" noProof="0" dirty="0">
                <a:ln>
                  <a:noFill/>
                </a:ln>
                <a:solidFill>
                  <a:srgbClr val="FFFFFF"/>
                </a:solidFill>
                <a:effectLst/>
                <a:uLnTx/>
                <a:uFillTx/>
                <a:latin typeface="Arial"/>
                <a:ea typeface="+mn-ea"/>
                <a:cs typeface="Arial"/>
              </a:rPr>
              <a:t>to helping physicians, provide the right patient with the right treatment</a:t>
            </a:r>
          </a:p>
        </p:txBody>
      </p:sp>
      <p:sp>
        <p:nvSpPr>
          <p:cNvPr id="14" name="Rectangle 13">
            <a:extLst>
              <a:ext uri="{FF2B5EF4-FFF2-40B4-BE49-F238E27FC236}">
                <a16:creationId xmlns:a16="http://schemas.microsoft.com/office/drawing/2014/main" id="{2173600E-EFDD-1FA4-21C4-27F901B1A92C}"/>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Date Placeholder 4">
            <a:extLst>
              <a:ext uri="{FF2B5EF4-FFF2-40B4-BE49-F238E27FC236}">
                <a16:creationId xmlns:a16="http://schemas.microsoft.com/office/drawing/2014/main" id="{060B23E2-E6FD-8533-F58E-5F422A921B25}"/>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9194255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 name="Text Placeholder 9"/>
          <p:cNvSpPr>
            <a:spLocks noGrp="1"/>
          </p:cNvSpPr>
          <p:nvPr>
            <p:ph type="body" sz="quarter" idx="13"/>
          </p:nvPr>
        </p:nvSpPr>
        <p:spPr>
          <a:xfrm>
            <a:off x="365125" y="5864050"/>
            <a:ext cx="11460164" cy="298800"/>
          </a:xfrm>
        </p:spPr>
        <p:txBody>
          <a:bodyPr/>
          <a:lstStyle/>
          <a:p>
            <a:r>
              <a:rPr lang="en-US" sz="800" baseline="30000" dirty="0"/>
              <a:t>a</a:t>
            </a:r>
            <a:r>
              <a:rPr lang="en-US" sz="800" dirty="0"/>
              <a:t>ABCD, A – few symptoms, better lung function; B – more symptoms, better lung function; C – few symptoms, poor lung function; D – more symptoms, poor lung function; </a:t>
            </a:r>
            <a:r>
              <a:rPr lang="en-GB" sz="800" baseline="30000" dirty="0">
                <a:solidFill>
                  <a:srgbClr val="202124"/>
                </a:solidFill>
                <a:latin typeface="arial" panose="020B0604020202020204" pitchFamily="34" charset="0"/>
              </a:rPr>
              <a:t>b</a:t>
            </a:r>
            <a:r>
              <a:rPr lang="en-US" sz="800" dirty="0"/>
              <a:t>ABE, A – bronchodilator; B – LABA + LAMA; E – LABA + LAMA and/or ICS.</a:t>
            </a:r>
          </a:p>
          <a:p>
            <a:r>
              <a:rPr lang="en-US" sz="800" dirty="0"/>
              <a:t>CAT, Chronic Obstructive Pulmonary Disease Assessment Test; </a:t>
            </a:r>
            <a:r>
              <a:rPr lang="en-US" sz="800" dirty="0">
                <a:latin typeface="Arial"/>
                <a:cs typeface="Arial"/>
              </a:rPr>
              <a:t>GOLD, Global Initiative for Chronic Obstructive Lung Disease; ICS, inhaled corticosteroid; LABA, long-acting beta agonist; LAMA, long-acting muscarinic antagonist; </a:t>
            </a:r>
            <a:r>
              <a:rPr lang="en-US" sz="800" dirty="0"/>
              <a:t>mMRC, modified British Medical Research Council.</a:t>
            </a:r>
          </a:p>
          <a:p>
            <a:r>
              <a:rPr lang="en-US" sz="800" dirty="0">
                <a:latin typeface="Arial"/>
                <a:cs typeface="Arial"/>
              </a:rPr>
              <a:t>GOLD. Global Strategy for the Diagnosis, Management, and Prevention of Chronic Obstructive Pulmonary Disease (2023 Report).</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 https://goldcopd.org/2023-gold-report-2/</a:t>
            </a:r>
            <a:r>
              <a:rPr lang="en-US" sz="800" dirty="0">
                <a:latin typeface="Arial"/>
                <a:cs typeface="Arial"/>
              </a:rPr>
              <a:t>. Accessed February 20, 2023.</a:t>
            </a:r>
          </a:p>
        </p:txBody>
      </p:sp>
      <p:sp>
        <p:nvSpPr>
          <p:cNvPr id="18" name="Title 17"/>
          <p:cNvSpPr>
            <a:spLocks noGrp="1"/>
          </p:cNvSpPr>
          <p:nvPr>
            <p:ph type="title"/>
          </p:nvPr>
        </p:nvSpPr>
        <p:spPr/>
        <p:txBody>
          <a:bodyPr/>
          <a:lstStyle/>
          <a:p>
            <a:r>
              <a:rPr lang="en-US" dirty="0"/>
              <a:t>Evolution of the GOLD strategy document</a:t>
            </a:r>
          </a:p>
        </p:txBody>
      </p:sp>
      <p:sp>
        <p:nvSpPr>
          <p:cNvPr id="45" name="Rectangle 44">
            <a:extLst>
              <a:ext uri="{FF2B5EF4-FFF2-40B4-BE49-F238E27FC236}">
                <a16:creationId xmlns:a16="http://schemas.microsoft.com/office/drawing/2014/main" id="{E2ACA1F8-57E3-7A2C-D9A2-4B60388BFC7F}"/>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7" name="Subtitle 46">
            <a:extLst>
              <a:ext uri="{FF2B5EF4-FFF2-40B4-BE49-F238E27FC236}">
                <a16:creationId xmlns:a16="http://schemas.microsoft.com/office/drawing/2014/main" id="{25921CE7-A0B2-37BF-D2A7-58C2B3A957DA}"/>
              </a:ext>
            </a:extLst>
          </p:cNvPr>
          <p:cNvSpPr>
            <a:spLocks noGrp="1"/>
          </p:cNvSpPr>
          <p:nvPr>
            <p:ph type="subTitle" idx="1"/>
          </p:nvPr>
        </p:nvSpPr>
        <p:spPr/>
        <p:txBody>
          <a:bodyPr/>
          <a:lstStyle/>
          <a:p>
            <a:r>
              <a:rPr lang="en-GB" dirty="0"/>
              <a:t>Individualised treatment for each patient</a:t>
            </a:r>
          </a:p>
        </p:txBody>
      </p:sp>
      <p:grpSp>
        <p:nvGrpSpPr>
          <p:cNvPr id="78" name="Group 77">
            <a:extLst>
              <a:ext uri="{FF2B5EF4-FFF2-40B4-BE49-F238E27FC236}">
                <a16:creationId xmlns:a16="http://schemas.microsoft.com/office/drawing/2014/main" id="{62F72464-A267-F333-8BC0-671A2CFFD96E}"/>
              </a:ext>
            </a:extLst>
          </p:cNvPr>
          <p:cNvGrpSpPr/>
          <p:nvPr/>
        </p:nvGrpSpPr>
        <p:grpSpPr>
          <a:xfrm>
            <a:off x="370509" y="1230967"/>
            <a:ext cx="11450983" cy="2168167"/>
            <a:chOff x="380654" y="1230967"/>
            <a:chExt cx="10563546" cy="2168167"/>
          </a:xfrm>
        </p:grpSpPr>
        <p:grpSp>
          <p:nvGrpSpPr>
            <p:cNvPr id="57" name="Group 56">
              <a:extLst>
                <a:ext uri="{FF2B5EF4-FFF2-40B4-BE49-F238E27FC236}">
                  <a16:creationId xmlns:a16="http://schemas.microsoft.com/office/drawing/2014/main" id="{28EEB727-9A89-7122-1CEA-052EE99CD101}"/>
                </a:ext>
              </a:extLst>
            </p:cNvPr>
            <p:cNvGrpSpPr/>
            <p:nvPr/>
          </p:nvGrpSpPr>
          <p:grpSpPr>
            <a:xfrm>
              <a:off x="380654" y="1230967"/>
              <a:ext cx="1970658" cy="2168167"/>
              <a:chOff x="380654" y="1230967"/>
              <a:chExt cx="1970658" cy="2168167"/>
            </a:xfrm>
          </p:grpSpPr>
          <p:grpSp>
            <p:nvGrpSpPr>
              <p:cNvPr id="54" name="Group 53">
                <a:extLst>
                  <a:ext uri="{FF2B5EF4-FFF2-40B4-BE49-F238E27FC236}">
                    <a16:creationId xmlns:a16="http://schemas.microsoft.com/office/drawing/2014/main" id="{22E463A6-062C-6D52-C28E-B642467F1123}"/>
                  </a:ext>
                </a:extLst>
              </p:cNvPr>
              <p:cNvGrpSpPr/>
              <p:nvPr/>
            </p:nvGrpSpPr>
            <p:grpSpPr>
              <a:xfrm>
                <a:off x="380654" y="1230967"/>
                <a:ext cx="1970658" cy="2168167"/>
                <a:chOff x="380654" y="1832632"/>
                <a:chExt cx="1970658" cy="2168167"/>
              </a:xfrm>
            </p:grpSpPr>
            <p:sp>
              <p:nvSpPr>
                <p:cNvPr id="52" name="Rectangle: Rounded Corners 51">
                  <a:extLst>
                    <a:ext uri="{FF2B5EF4-FFF2-40B4-BE49-F238E27FC236}">
                      <a16:creationId xmlns:a16="http://schemas.microsoft.com/office/drawing/2014/main" id="{C55C8974-EE6E-F058-6ABF-76ED08EA467F}"/>
                    </a:ext>
                  </a:extLst>
                </p:cNvPr>
                <p:cNvSpPr/>
                <p:nvPr/>
              </p:nvSpPr>
              <p:spPr bwMode="auto">
                <a:xfrm>
                  <a:off x="380654" y="2032000"/>
                  <a:ext cx="1970658" cy="1968799"/>
                </a:xfrm>
                <a:prstGeom prst="roundRect">
                  <a:avLst>
                    <a:gd name="adj" fmla="val 6769"/>
                  </a:avLst>
                </a:prstGeom>
                <a:solidFill>
                  <a:schemeClr val="bg1"/>
                </a:solidFill>
                <a:ln>
                  <a:solidFill>
                    <a:schemeClr val="tx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53" name="Arrow: Chevron 52">
                  <a:extLst>
                    <a:ext uri="{FF2B5EF4-FFF2-40B4-BE49-F238E27FC236}">
                      <a16:creationId xmlns:a16="http://schemas.microsoft.com/office/drawing/2014/main" id="{469D4C82-9F80-A3F6-CE39-713421CF4B24}"/>
                    </a:ext>
                  </a:extLst>
                </p:cNvPr>
                <p:cNvSpPr/>
                <p:nvPr/>
              </p:nvSpPr>
              <p:spPr bwMode="auto">
                <a:xfrm>
                  <a:off x="428583" y="1832632"/>
                  <a:ext cx="1869825" cy="391241"/>
                </a:xfrm>
                <a:prstGeom prst="chevron">
                  <a:avLst/>
                </a:prstGeom>
                <a:solidFill>
                  <a:schemeClr val="tx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80000" rIns="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Prior to 2011</a:t>
                  </a:r>
                </a:p>
              </p:txBody>
            </p:sp>
          </p:grpSp>
          <p:sp>
            <p:nvSpPr>
              <p:cNvPr id="56" name="object 25">
                <a:extLst>
                  <a:ext uri="{FF2B5EF4-FFF2-40B4-BE49-F238E27FC236}">
                    <a16:creationId xmlns:a16="http://schemas.microsoft.com/office/drawing/2014/main" id="{768526E5-02A9-EAAE-93B5-1F631A0D67B0}"/>
                  </a:ext>
                </a:extLst>
              </p:cNvPr>
              <p:cNvSpPr txBox="1"/>
              <p:nvPr/>
            </p:nvSpPr>
            <p:spPr>
              <a:xfrm>
                <a:off x="474975" y="1715727"/>
                <a:ext cx="1782014" cy="430887"/>
              </a:xfrm>
              <a:prstGeom prst="rect">
                <a:avLst/>
              </a:prstGeom>
            </p:spPr>
            <p:txBody>
              <a:bodyPr vert="horz" wrap="square" lIns="0" tIns="0" rIns="0" bIns="0" rtlCol="0" anchor="ctr" anchorCtr="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Simple spirometric</a:t>
                </a:r>
                <a:br>
                  <a:rPr kumimoji="0" lang="en-US" sz="1400" b="0" i="0" u="none" strike="noStrike" kern="1200" cap="none" spc="0" normalizeH="0" baseline="0" noProof="0" dirty="0">
                    <a:ln>
                      <a:noFill/>
                    </a:ln>
                    <a:solidFill>
                      <a:srgbClr val="000000"/>
                    </a:solidFill>
                    <a:effectLst/>
                    <a:uLnTx/>
                    <a:uFillTx/>
                    <a:latin typeface="Arial"/>
                    <a:ea typeface="+mn-ea"/>
                    <a:cs typeface="Arial"/>
                  </a:rPr>
                </a:br>
                <a:r>
                  <a:rPr kumimoji="0" lang="en-US" sz="1400" b="0" i="0" u="none" strike="noStrike" kern="1200" cap="none" spc="0" normalizeH="0" baseline="0" noProof="0" dirty="0">
                    <a:ln>
                      <a:noFill/>
                    </a:ln>
                    <a:solidFill>
                      <a:srgbClr val="000000"/>
                    </a:solidFill>
                    <a:effectLst/>
                    <a:uLnTx/>
                    <a:uFillTx/>
                    <a:latin typeface="Arial"/>
                    <a:ea typeface="+mn-ea"/>
                    <a:cs typeface="Arial"/>
                  </a:rPr>
                  <a:t>grading system</a:t>
                </a:r>
              </a:p>
            </p:txBody>
          </p:sp>
        </p:grpSp>
        <p:grpSp>
          <p:nvGrpSpPr>
            <p:cNvPr id="58" name="Group 57">
              <a:extLst>
                <a:ext uri="{FF2B5EF4-FFF2-40B4-BE49-F238E27FC236}">
                  <a16:creationId xmlns:a16="http://schemas.microsoft.com/office/drawing/2014/main" id="{10D56E43-00FD-098D-FDCD-F3E0A104922E}"/>
                </a:ext>
              </a:extLst>
            </p:cNvPr>
            <p:cNvGrpSpPr/>
            <p:nvPr/>
          </p:nvGrpSpPr>
          <p:grpSpPr>
            <a:xfrm>
              <a:off x="2528876" y="1230967"/>
              <a:ext cx="1970658" cy="2168167"/>
              <a:chOff x="380654" y="1230967"/>
              <a:chExt cx="1970658" cy="2168167"/>
            </a:xfrm>
          </p:grpSpPr>
          <p:grpSp>
            <p:nvGrpSpPr>
              <p:cNvPr id="59" name="Group 58">
                <a:extLst>
                  <a:ext uri="{FF2B5EF4-FFF2-40B4-BE49-F238E27FC236}">
                    <a16:creationId xmlns:a16="http://schemas.microsoft.com/office/drawing/2014/main" id="{9B382867-BF0A-635E-220E-EF14CC344AC4}"/>
                  </a:ext>
                </a:extLst>
              </p:cNvPr>
              <p:cNvGrpSpPr/>
              <p:nvPr/>
            </p:nvGrpSpPr>
            <p:grpSpPr>
              <a:xfrm>
                <a:off x="380654" y="1230967"/>
                <a:ext cx="1970658" cy="2168167"/>
                <a:chOff x="380654" y="1832632"/>
                <a:chExt cx="1970658" cy="2168167"/>
              </a:xfrm>
            </p:grpSpPr>
            <p:sp>
              <p:nvSpPr>
                <p:cNvPr id="61" name="Rectangle: Rounded Corners 60">
                  <a:extLst>
                    <a:ext uri="{FF2B5EF4-FFF2-40B4-BE49-F238E27FC236}">
                      <a16:creationId xmlns:a16="http://schemas.microsoft.com/office/drawing/2014/main" id="{61549829-8027-81D1-DC0C-8FDB52FA171C}"/>
                    </a:ext>
                  </a:extLst>
                </p:cNvPr>
                <p:cNvSpPr/>
                <p:nvPr/>
              </p:nvSpPr>
              <p:spPr bwMode="auto">
                <a:xfrm>
                  <a:off x="380654" y="2032000"/>
                  <a:ext cx="1970658" cy="1968799"/>
                </a:xfrm>
                <a:prstGeom prst="roundRect">
                  <a:avLst>
                    <a:gd name="adj" fmla="val 6769"/>
                  </a:avLst>
                </a:prstGeom>
                <a:solidFill>
                  <a:schemeClr val="bg1"/>
                </a:solidFill>
                <a:ln>
                  <a:solidFill>
                    <a:schemeClr val="accent1"/>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62" name="Arrow: Chevron 61">
                  <a:extLst>
                    <a:ext uri="{FF2B5EF4-FFF2-40B4-BE49-F238E27FC236}">
                      <a16:creationId xmlns:a16="http://schemas.microsoft.com/office/drawing/2014/main" id="{71A41671-87D0-2300-171B-01D1A6EF91E2}"/>
                    </a:ext>
                  </a:extLst>
                </p:cNvPr>
                <p:cNvSpPr/>
                <p:nvPr/>
              </p:nvSpPr>
              <p:spPr bwMode="auto">
                <a:xfrm>
                  <a:off x="428583" y="1832632"/>
                  <a:ext cx="1869825" cy="391241"/>
                </a:xfrm>
                <a:prstGeom prst="chevron">
                  <a:avLst/>
                </a:prstGeom>
                <a:solidFill>
                  <a:schemeClr val="accent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80000" rIns="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GOLD 2011 update</a:t>
                  </a:r>
                </a:p>
              </p:txBody>
            </p:sp>
          </p:grpSp>
          <p:sp>
            <p:nvSpPr>
              <p:cNvPr id="60" name="object 25">
                <a:extLst>
                  <a:ext uri="{FF2B5EF4-FFF2-40B4-BE49-F238E27FC236}">
                    <a16:creationId xmlns:a16="http://schemas.microsoft.com/office/drawing/2014/main" id="{3B4909C6-69C9-9BBE-4E59-18898CAD2C93}"/>
                  </a:ext>
                </a:extLst>
              </p:cNvPr>
              <p:cNvSpPr txBox="1"/>
              <p:nvPr/>
            </p:nvSpPr>
            <p:spPr>
              <a:xfrm>
                <a:off x="474975" y="1715727"/>
                <a:ext cx="1782014" cy="1508105"/>
              </a:xfrm>
              <a:prstGeom prst="rect">
                <a:avLst/>
              </a:prstGeom>
            </p:spPr>
            <p:txBody>
              <a:bodyPr vert="horz" wrap="square" lIns="0" tIns="0" rIns="0" bIns="0" rtlCol="0" anchor="ctr" anchorCtr="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Multimodal ‘ABCD’</a:t>
                </a:r>
                <a:r>
                  <a:rPr kumimoji="0" lang="en-US" sz="1400" b="0" i="0" u="none" strike="noStrike" kern="1200" cap="none" spc="0" normalizeH="0" baseline="30000" noProof="0" dirty="0">
                    <a:ln>
                      <a:noFill/>
                    </a:ln>
                    <a:solidFill>
                      <a:srgbClr val="000000"/>
                    </a:solidFill>
                    <a:effectLst/>
                    <a:uLnTx/>
                    <a:uFillTx/>
                    <a:latin typeface="Arial"/>
                    <a:ea typeface="+mn-ea"/>
                    <a:cs typeface="Arial"/>
                  </a:rPr>
                  <a:t>a</a:t>
                </a:r>
                <a:r>
                  <a:rPr kumimoji="0" lang="en-US" sz="1400" b="0" i="0" u="none" strike="noStrike" kern="1200" cap="none" spc="0" normalizeH="0" baseline="0" noProof="0" dirty="0">
                    <a:ln>
                      <a:noFill/>
                    </a:ln>
                    <a:solidFill>
                      <a:srgbClr val="000000"/>
                    </a:solidFill>
                    <a:effectLst/>
                    <a:uLnTx/>
                    <a:uFillTx/>
                    <a:latin typeface="Arial"/>
                    <a:ea typeface="+mn-ea"/>
                    <a:cs typeface="Arial"/>
                  </a:rPr>
                  <a:t> assessment: a combination of spirometric grades, future exacerbation </a:t>
                </a:r>
                <a:br>
                  <a:rPr kumimoji="0" lang="en-US" sz="1400" b="0" i="0" u="none" strike="noStrike" kern="1200" cap="none" spc="0" normalizeH="0" baseline="0" noProof="0" dirty="0">
                    <a:ln>
                      <a:noFill/>
                    </a:ln>
                    <a:solidFill>
                      <a:srgbClr val="000000"/>
                    </a:solidFill>
                    <a:effectLst/>
                    <a:uLnTx/>
                    <a:uFillTx/>
                    <a:latin typeface="Arial"/>
                    <a:ea typeface="+mn-ea"/>
                    <a:cs typeface="Arial"/>
                  </a:rPr>
                </a:br>
                <a:r>
                  <a:rPr kumimoji="0" lang="en-US" sz="1400" b="0" i="0" u="none" strike="noStrike" kern="1200" cap="none" spc="0" normalizeH="0" baseline="0" noProof="0" dirty="0">
                    <a:ln>
                      <a:noFill/>
                    </a:ln>
                    <a:solidFill>
                      <a:srgbClr val="000000"/>
                    </a:solidFill>
                    <a:effectLst/>
                    <a:uLnTx/>
                    <a:uFillTx/>
                    <a:latin typeface="Arial"/>
                    <a:ea typeface="+mn-ea"/>
                    <a:cs typeface="Arial"/>
                  </a:rPr>
                  <a:t>risk and severity </a:t>
                </a:r>
                <a:br>
                  <a:rPr kumimoji="0" lang="en-US" sz="1400" b="0" i="0" u="none" strike="noStrike" kern="1200" cap="none" spc="0" normalizeH="0" baseline="0" noProof="0" dirty="0">
                    <a:ln>
                      <a:noFill/>
                    </a:ln>
                    <a:solidFill>
                      <a:srgbClr val="000000"/>
                    </a:solidFill>
                    <a:effectLst/>
                    <a:uLnTx/>
                    <a:uFillTx/>
                    <a:latin typeface="Arial"/>
                    <a:ea typeface="+mn-ea"/>
                    <a:cs typeface="Arial"/>
                  </a:rPr>
                </a:br>
                <a:r>
                  <a:rPr kumimoji="0" lang="en-US" sz="1400" b="0" i="0" u="none" strike="noStrike" kern="1200" cap="none" spc="0" normalizeH="0" baseline="0" noProof="0" dirty="0">
                    <a:ln>
                      <a:noFill/>
                    </a:ln>
                    <a:solidFill>
                      <a:srgbClr val="000000"/>
                    </a:solidFill>
                    <a:effectLst/>
                    <a:uLnTx/>
                    <a:uFillTx/>
                    <a:latin typeface="Arial"/>
                    <a:ea typeface="+mn-ea"/>
                    <a:cs typeface="Arial"/>
                  </a:rPr>
                  <a:t>of symptoms</a:t>
                </a:r>
              </a:p>
            </p:txBody>
          </p:sp>
        </p:grpSp>
        <p:grpSp>
          <p:nvGrpSpPr>
            <p:cNvPr id="63" name="Group 62">
              <a:extLst>
                <a:ext uri="{FF2B5EF4-FFF2-40B4-BE49-F238E27FC236}">
                  <a16:creationId xmlns:a16="http://schemas.microsoft.com/office/drawing/2014/main" id="{275A7967-AF80-4852-E40D-4B204BB1743F}"/>
                </a:ext>
              </a:extLst>
            </p:cNvPr>
            <p:cNvGrpSpPr/>
            <p:nvPr/>
          </p:nvGrpSpPr>
          <p:grpSpPr>
            <a:xfrm>
              <a:off x="4677098" y="1230967"/>
              <a:ext cx="1970658" cy="2168167"/>
              <a:chOff x="380654" y="1230967"/>
              <a:chExt cx="1970658" cy="2168167"/>
            </a:xfrm>
          </p:grpSpPr>
          <p:grpSp>
            <p:nvGrpSpPr>
              <p:cNvPr id="64" name="Group 63">
                <a:extLst>
                  <a:ext uri="{FF2B5EF4-FFF2-40B4-BE49-F238E27FC236}">
                    <a16:creationId xmlns:a16="http://schemas.microsoft.com/office/drawing/2014/main" id="{278B167C-3F64-327B-962D-6739263E54CF}"/>
                  </a:ext>
                </a:extLst>
              </p:cNvPr>
              <p:cNvGrpSpPr/>
              <p:nvPr/>
            </p:nvGrpSpPr>
            <p:grpSpPr>
              <a:xfrm>
                <a:off x="380654" y="1230967"/>
                <a:ext cx="1970658" cy="2168167"/>
                <a:chOff x="380654" y="1832632"/>
                <a:chExt cx="1970658" cy="2168167"/>
              </a:xfrm>
            </p:grpSpPr>
            <p:sp>
              <p:nvSpPr>
                <p:cNvPr id="66" name="Rectangle: Rounded Corners 65">
                  <a:extLst>
                    <a:ext uri="{FF2B5EF4-FFF2-40B4-BE49-F238E27FC236}">
                      <a16:creationId xmlns:a16="http://schemas.microsoft.com/office/drawing/2014/main" id="{B06CBED4-4C05-59CC-B065-D52CB98086BD}"/>
                    </a:ext>
                  </a:extLst>
                </p:cNvPr>
                <p:cNvSpPr/>
                <p:nvPr/>
              </p:nvSpPr>
              <p:spPr bwMode="auto">
                <a:xfrm>
                  <a:off x="380654" y="2032000"/>
                  <a:ext cx="1970658" cy="1968799"/>
                </a:xfrm>
                <a:prstGeom prst="roundRect">
                  <a:avLst>
                    <a:gd name="adj" fmla="val 6769"/>
                  </a:avLst>
                </a:prstGeom>
                <a:solidFill>
                  <a:schemeClr val="bg1"/>
                </a:solidFill>
                <a:ln>
                  <a:solidFill>
                    <a:schemeClr val="accent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67" name="Arrow: Chevron 66">
                  <a:extLst>
                    <a:ext uri="{FF2B5EF4-FFF2-40B4-BE49-F238E27FC236}">
                      <a16:creationId xmlns:a16="http://schemas.microsoft.com/office/drawing/2014/main" id="{174B1C1F-E98B-25D9-6195-7DDE35302306}"/>
                    </a:ext>
                  </a:extLst>
                </p:cNvPr>
                <p:cNvSpPr/>
                <p:nvPr/>
              </p:nvSpPr>
              <p:spPr bwMode="auto">
                <a:xfrm>
                  <a:off x="428583" y="1832632"/>
                  <a:ext cx="1869825" cy="391241"/>
                </a:xfrm>
                <a:prstGeom prst="chevron">
                  <a:avLst/>
                </a:prstGeom>
                <a:solidFill>
                  <a:schemeClr val="accent2"/>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80000" rIns="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GOLD 2017 update</a:t>
                  </a:r>
                </a:p>
              </p:txBody>
            </p:sp>
          </p:grpSp>
          <p:sp>
            <p:nvSpPr>
              <p:cNvPr id="65" name="object 25">
                <a:extLst>
                  <a:ext uri="{FF2B5EF4-FFF2-40B4-BE49-F238E27FC236}">
                    <a16:creationId xmlns:a16="http://schemas.microsoft.com/office/drawing/2014/main" id="{0BF13FAD-40EF-F57E-6D8F-A0319DD06324}"/>
                  </a:ext>
                </a:extLst>
              </p:cNvPr>
              <p:cNvSpPr txBox="1"/>
              <p:nvPr/>
            </p:nvSpPr>
            <p:spPr>
              <a:xfrm>
                <a:off x="474975" y="1715727"/>
                <a:ext cx="1782014" cy="1292662"/>
              </a:xfrm>
              <a:prstGeom prst="rect">
                <a:avLst/>
              </a:prstGeom>
            </p:spPr>
            <p:txBody>
              <a:bodyPr vert="horz" wrap="square" lIns="0" tIns="0" rIns="0" bIns="0" rtlCol="0" anchor="ctr" anchorCtr="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Refinement of the ‘ABCD’ assessment tool: criteria now based on patient symptoms and exacerbation history</a:t>
                </a:r>
              </a:p>
            </p:txBody>
          </p:sp>
        </p:grpSp>
        <p:grpSp>
          <p:nvGrpSpPr>
            <p:cNvPr id="68" name="Group 67">
              <a:extLst>
                <a:ext uri="{FF2B5EF4-FFF2-40B4-BE49-F238E27FC236}">
                  <a16:creationId xmlns:a16="http://schemas.microsoft.com/office/drawing/2014/main" id="{3074C10B-C397-F328-2533-C52D7DDF8EB9}"/>
                </a:ext>
              </a:extLst>
            </p:cNvPr>
            <p:cNvGrpSpPr/>
            <p:nvPr/>
          </p:nvGrpSpPr>
          <p:grpSpPr>
            <a:xfrm>
              <a:off x="6825320" y="1230967"/>
              <a:ext cx="1970658" cy="2168167"/>
              <a:chOff x="380654" y="1230967"/>
              <a:chExt cx="1970658" cy="2168167"/>
            </a:xfrm>
          </p:grpSpPr>
          <p:grpSp>
            <p:nvGrpSpPr>
              <p:cNvPr id="69" name="Group 68">
                <a:extLst>
                  <a:ext uri="{FF2B5EF4-FFF2-40B4-BE49-F238E27FC236}">
                    <a16:creationId xmlns:a16="http://schemas.microsoft.com/office/drawing/2014/main" id="{7E384A22-6F76-67A0-B240-E20919D5B426}"/>
                  </a:ext>
                </a:extLst>
              </p:cNvPr>
              <p:cNvGrpSpPr/>
              <p:nvPr/>
            </p:nvGrpSpPr>
            <p:grpSpPr>
              <a:xfrm>
                <a:off x="380654" y="1230967"/>
                <a:ext cx="1970658" cy="2168167"/>
                <a:chOff x="380654" y="1832632"/>
                <a:chExt cx="1970658" cy="2168167"/>
              </a:xfrm>
            </p:grpSpPr>
            <p:sp>
              <p:nvSpPr>
                <p:cNvPr id="71" name="Rectangle: Rounded Corners 70">
                  <a:extLst>
                    <a:ext uri="{FF2B5EF4-FFF2-40B4-BE49-F238E27FC236}">
                      <a16:creationId xmlns:a16="http://schemas.microsoft.com/office/drawing/2014/main" id="{52C12626-858B-9C54-93C2-A9B0CE701849}"/>
                    </a:ext>
                  </a:extLst>
                </p:cNvPr>
                <p:cNvSpPr/>
                <p:nvPr/>
              </p:nvSpPr>
              <p:spPr bwMode="auto">
                <a:xfrm>
                  <a:off x="380654" y="2032000"/>
                  <a:ext cx="1970658" cy="1968799"/>
                </a:xfrm>
                <a:prstGeom prst="roundRect">
                  <a:avLst>
                    <a:gd name="adj" fmla="val 6769"/>
                  </a:avLst>
                </a:prstGeom>
                <a:solidFill>
                  <a:schemeClr val="bg1"/>
                </a:solidFill>
                <a:ln>
                  <a:solidFill>
                    <a:schemeClr val="accent3"/>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72" name="Arrow: Chevron 71">
                  <a:extLst>
                    <a:ext uri="{FF2B5EF4-FFF2-40B4-BE49-F238E27FC236}">
                      <a16:creationId xmlns:a16="http://schemas.microsoft.com/office/drawing/2014/main" id="{090ADE36-9BC6-7B3D-72DD-FF27426C5A70}"/>
                    </a:ext>
                  </a:extLst>
                </p:cNvPr>
                <p:cNvSpPr/>
                <p:nvPr/>
              </p:nvSpPr>
              <p:spPr bwMode="auto">
                <a:xfrm>
                  <a:off x="428583" y="1832632"/>
                  <a:ext cx="1869825" cy="391241"/>
                </a:xfrm>
                <a:prstGeom prst="chevron">
                  <a:avLst/>
                </a:prstGeom>
                <a:solidFill>
                  <a:schemeClr val="accent3"/>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80000" rIns="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GOLD 2021 update</a:t>
                  </a:r>
                </a:p>
              </p:txBody>
            </p:sp>
          </p:grpSp>
          <p:sp>
            <p:nvSpPr>
              <p:cNvPr id="70" name="object 25">
                <a:extLst>
                  <a:ext uri="{FF2B5EF4-FFF2-40B4-BE49-F238E27FC236}">
                    <a16:creationId xmlns:a16="http://schemas.microsoft.com/office/drawing/2014/main" id="{E7A9F1D7-244E-91E9-6DF1-06B420B4F03B}"/>
                  </a:ext>
                </a:extLst>
              </p:cNvPr>
              <p:cNvSpPr txBox="1"/>
              <p:nvPr/>
            </p:nvSpPr>
            <p:spPr>
              <a:xfrm>
                <a:off x="474975" y="1715727"/>
                <a:ext cx="1782014" cy="1292662"/>
              </a:xfrm>
              <a:prstGeom prst="rect">
                <a:avLst/>
              </a:prstGeom>
            </p:spPr>
            <p:txBody>
              <a:bodyPr vert="horz" wrap="square" lIns="0" tIns="0" rIns="0" bIns="0" rtlCol="0" anchor="ctr" anchorCtr="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Refinement of the ‘ABCD’ assessment tool: criteria now based on spirometry,</a:t>
                </a:r>
              </a:p>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patient symptoms and</a:t>
                </a:r>
              </a:p>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exacerbation history</a:t>
                </a:r>
              </a:p>
            </p:txBody>
          </p:sp>
        </p:grpSp>
        <p:grpSp>
          <p:nvGrpSpPr>
            <p:cNvPr id="73" name="Group 72">
              <a:extLst>
                <a:ext uri="{FF2B5EF4-FFF2-40B4-BE49-F238E27FC236}">
                  <a16:creationId xmlns:a16="http://schemas.microsoft.com/office/drawing/2014/main" id="{1BB644F9-BE8E-D19B-438D-551631E7AC70}"/>
                </a:ext>
              </a:extLst>
            </p:cNvPr>
            <p:cNvGrpSpPr/>
            <p:nvPr/>
          </p:nvGrpSpPr>
          <p:grpSpPr>
            <a:xfrm>
              <a:off x="8973542" y="1230967"/>
              <a:ext cx="1970658" cy="2168167"/>
              <a:chOff x="380654" y="1230967"/>
              <a:chExt cx="1970658" cy="2168167"/>
            </a:xfrm>
          </p:grpSpPr>
          <p:grpSp>
            <p:nvGrpSpPr>
              <p:cNvPr id="74" name="Group 73">
                <a:extLst>
                  <a:ext uri="{FF2B5EF4-FFF2-40B4-BE49-F238E27FC236}">
                    <a16:creationId xmlns:a16="http://schemas.microsoft.com/office/drawing/2014/main" id="{D0668488-4997-B77E-7E24-E2173EBD021E}"/>
                  </a:ext>
                </a:extLst>
              </p:cNvPr>
              <p:cNvGrpSpPr/>
              <p:nvPr/>
            </p:nvGrpSpPr>
            <p:grpSpPr>
              <a:xfrm>
                <a:off x="380654" y="1230967"/>
                <a:ext cx="1970658" cy="2168167"/>
                <a:chOff x="380654" y="1832632"/>
                <a:chExt cx="1970658" cy="2168167"/>
              </a:xfrm>
            </p:grpSpPr>
            <p:sp>
              <p:nvSpPr>
                <p:cNvPr id="76" name="Rectangle: Rounded Corners 75">
                  <a:extLst>
                    <a:ext uri="{FF2B5EF4-FFF2-40B4-BE49-F238E27FC236}">
                      <a16:creationId xmlns:a16="http://schemas.microsoft.com/office/drawing/2014/main" id="{56931A4B-2255-2DCF-3CE3-ECCB2C6C58D6}"/>
                    </a:ext>
                  </a:extLst>
                </p:cNvPr>
                <p:cNvSpPr/>
                <p:nvPr/>
              </p:nvSpPr>
              <p:spPr bwMode="auto">
                <a:xfrm>
                  <a:off x="380654" y="2032000"/>
                  <a:ext cx="1970658" cy="1968799"/>
                </a:xfrm>
                <a:prstGeom prst="roundRect">
                  <a:avLst>
                    <a:gd name="adj" fmla="val 6769"/>
                  </a:avLst>
                </a:prstGeom>
                <a:solidFill>
                  <a:schemeClr val="bg1"/>
                </a:solidFill>
                <a:ln>
                  <a:solidFill>
                    <a:schemeClr val="accent4"/>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91440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77" name="Arrow: Chevron 76">
                  <a:extLst>
                    <a:ext uri="{FF2B5EF4-FFF2-40B4-BE49-F238E27FC236}">
                      <a16:creationId xmlns:a16="http://schemas.microsoft.com/office/drawing/2014/main" id="{CA973AF6-2C4C-A80E-325A-33C4D555FE48}"/>
                    </a:ext>
                  </a:extLst>
                </p:cNvPr>
                <p:cNvSpPr/>
                <p:nvPr/>
              </p:nvSpPr>
              <p:spPr bwMode="auto">
                <a:xfrm>
                  <a:off x="428583" y="1832632"/>
                  <a:ext cx="1869825" cy="391241"/>
                </a:xfrm>
                <a:prstGeom prst="chevron">
                  <a:avLst/>
                </a:prstGeom>
                <a:solidFill>
                  <a:schemeClr val="accent4"/>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0" tIns="180000" rIns="0" bIns="180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GOLD 2023 update</a:t>
                  </a:r>
                </a:p>
              </p:txBody>
            </p:sp>
          </p:grpSp>
          <p:sp>
            <p:nvSpPr>
              <p:cNvPr id="75" name="object 25">
                <a:extLst>
                  <a:ext uri="{FF2B5EF4-FFF2-40B4-BE49-F238E27FC236}">
                    <a16:creationId xmlns:a16="http://schemas.microsoft.com/office/drawing/2014/main" id="{11073F96-4E6D-FB89-2538-52100EC43B35}"/>
                  </a:ext>
                </a:extLst>
              </p:cNvPr>
              <p:cNvSpPr txBox="1"/>
              <p:nvPr/>
            </p:nvSpPr>
            <p:spPr>
              <a:xfrm>
                <a:off x="474975" y="1715727"/>
                <a:ext cx="1782014" cy="1292662"/>
              </a:xfrm>
              <a:prstGeom prst="rect">
                <a:avLst/>
              </a:prstGeom>
            </p:spPr>
            <p:txBody>
              <a:bodyPr vert="horz" wrap="square" lIns="0" tIns="0" rIns="0" bIns="0" rtlCol="0" anchor="ctr" anchorCtr="0">
                <a:spAutoFit/>
              </a:bodyPr>
              <a:lstStyle/>
              <a:p>
                <a:pPr marL="12700" marR="508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Revision of the ‘ABCD’ assessment tool to the ‘ABE’</a:t>
                </a:r>
                <a:r>
                  <a:rPr kumimoji="0" lang="en-US" sz="1400" b="0" i="0" u="none" strike="noStrike" kern="1200" cap="none" spc="0" normalizeH="0" baseline="30000" noProof="0" dirty="0">
                    <a:ln>
                      <a:noFill/>
                    </a:ln>
                    <a:solidFill>
                      <a:srgbClr val="000000"/>
                    </a:solidFill>
                    <a:effectLst/>
                    <a:uLnTx/>
                    <a:uFillTx/>
                    <a:latin typeface="Arial"/>
                    <a:ea typeface="+mn-ea"/>
                    <a:cs typeface="Arial"/>
                  </a:rPr>
                  <a:t>b</a:t>
                </a:r>
                <a:r>
                  <a:rPr kumimoji="0" lang="en-US" sz="1400" b="0" i="0" u="none" strike="noStrike" kern="1200" cap="none" spc="0" normalizeH="0" baseline="0" noProof="0" dirty="0">
                    <a:ln>
                      <a:noFill/>
                    </a:ln>
                    <a:solidFill>
                      <a:srgbClr val="000000"/>
                    </a:solidFill>
                    <a:effectLst/>
                    <a:uLnTx/>
                    <a:uFillTx/>
                    <a:latin typeface="Arial"/>
                    <a:ea typeface="+mn-ea"/>
                    <a:cs typeface="Arial"/>
                  </a:rPr>
                  <a:t> assessment tool: criteria now independent of the level of patient symptoms</a:t>
                </a:r>
              </a:p>
            </p:txBody>
          </p:sp>
        </p:grpSp>
      </p:grpSp>
      <p:sp>
        <p:nvSpPr>
          <p:cNvPr id="83" name="TextBox 82">
            <a:extLst>
              <a:ext uri="{FF2B5EF4-FFF2-40B4-BE49-F238E27FC236}">
                <a16:creationId xmlns:a16="http://schemas.microsoft.com/office/drawing/2014/main" id="{94B6308B-B5E0-AF6A-1B52-D9522F9B6595}"/>
              </a:ext>
            </a:extLst>
          </p:cNvPr>
          <p:cNvSpPr txBox="1"/>
          <p:nvPr/>
        </p:nvSpPr>
        <p:spPr>
          <a:xfrm>
            <a:off x="272623" y="3449602"/>
            <a:ext cx="11559014" cy="2015936"/>
          </a:xfrm>
          <a:prstGeom prst="rect">
            <a:avLst/>
          </a:prstGeom>
          <a:noFill/>
        </p:spPr>
        <p:txBody>
          <a:bodyPr wrap="square">
            <a:spAutoFit/>
          </a:bodyPr>
          <a:lstStyle/>
          <a:p>
            <a:pPr marL="285750" marR="43180" lvl="0" indent="-285750" algn="l" defTabSz="914400" rtl="0" eaLnBrk="1" fontAlgn="auto" latinLnBrk="0" hangingPunct="1">
              <a:lnSpc>
                <a:spcPts val="1400"/>
              </a:lnSpc>
              <a:spcBef>
                <a:spcPts val="600"/>
              </a:spcBef>
              <a:spcAft>
                <a:spcPts val="0"/>
              </a:spcAft>
              <a:buClr>
                <a:srgbClr val="F36633"/>
              </a:buClr>
              <a:buSzTx/>
              <a:buFont typeface="Arial" panose="020B0604020202020204" pitchFamily="34" charset="0"/>
              <a:buChar char="•"/>
              <a:tabLst>
                <a:tab pos="236854"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The GOLD 2011 strategy document established the ‘ABCD’ assessment tool, based on patient spirometric grades, future exacerbation risk and severity of symptoms.</a:t>
            </a:r>
          </a:p>
          <a:p>
            <a:pPr marL="285750" marR="43180" lvl="0" indent="-285750" algn="l" defTabSz="914400" rtl="0" eaLnBrk="1" fontAlgn="auto" latinLnBrk="0" hangingPunct="1">
              <a:lnSpc>
                <a:spcPts val="1400"/>
              </a:lnSpc>
              <a:spcBef>
                <a:spcPts val="600"/>
              </a:spcBef>
              <a:spcAft>
                <a:spcPts val="0"/>
              </a:spcAft>
              <a:buClr>
                <a:srgbClr val="F36633"/>
              </a:buClr>
              <a:buSzTx/>
              <a:buFont typeface="Arial" panose="020B0604020202020204" pitchFamily="34" charset="0"/>
              <a:buChar char="•"/>
              <a:tabLst>
                <a:tab pos="236854"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The GOLD 2017 update to the strategy document determined that the ‘ABCD’ groups will be derived from patient symptoms (mMRC/CAT score) and their exacerbation history.</a:t>
            </a:r>
          </a:p>
          <a:p>
            <a:pPr marL="285750" marR="43180" lvl="0" indent="-285750" algn="l" defTabSz="914400" rtl="0" eaLnBrk="1" fontAlgn="auto" latinLnBrk="0" hangingPunct="1">
              <a:lnSpc>
                <a:spcPts val="1400"/>
              </a:lnSpc>
              <a:spcBef>
                <a:spcPts val="600"/>
              </a:spcBef>
              <a:spcAft>
                <a:spcPts val="0"/>
              </a:spcAft>
              <a:buClr>
                <a:srgbClr val="F36633"/>
              </a:buClr>
              <a:buSzTx/>
              <a:buFont typeface="Arial" panose="020B0604020202020204" pitchFamily="34" charset="0"/>
              <a:buChar char="•"/>
              <a:tabLst>
                <a:tab pos="236854"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The GOLD 2021 update to the strategy document determined that the ‘ABCD’ groups will be derived from patient spirometric analysis, patient symptoms (mMRC/CAT score) and their exacerbation history. </a:t>
            </a:r>
          </a:p>
          <a:p>
            <a:pPr marL="285750" marR="43180" lvl="0" indent="-285750" algn="l" defTabSz="914400" rtl="0" eaLnBrk="1" fontAlgn="auto" latinLnBrk="0" hangingPunct="1">
              <a:lnSpc>
                <a:spcPts val="1400"/>
              </a:lnSpc>
              <a:spcBef>
                <a:spcPts val="600"/>
              </a:spcBef>
              <a:spcAft>
                <a:spcPts val="0"/>
              </a:spcAft>
              <a:buClr>
                <a:srgbClr val="F36633"/>
              </a:buClr>
              <a:buSzTx/>
              <a:buFont typeface="Arial" panose="020B0604020202020204" pitchFamily="34" charset="0"/>
              <a:buChar char="•"/>
              <a:tabLst>
                <a:tab pos="236854"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The GOLD 2023 update to the strategy document determined that the ‘ABCD’ assessment tool will be revised to the ‘ABE’ assessment tool to recognise the clinical relevance of exacerbations, independent of the level of patient symptoms.</a:t>
            </a:r>
          </a:p>
          <a:p>
            <a:pPr marL="285750" marR="43180" lvl="0" indent="-285750" algn="l" defTabSz="914400" rtl="0" eaLnBrk="1" fontAlgn="auto" latinLnBrk="0" hangingPunct="1">
              <a:lnSpc>
                <a:spcPts val="1400"/>
              </a:lnSpc>
              <a:spcBef>
                <a:spcPts val="600"/>
              </a:spcBef>
              <a:spcAft>
                <a:spcPts val="0"/>
              </a:spcAft>
              <a:buClr>
                <a:srgbClr val="F36633"/>
              </a:buClr>
              <a:buSzTx/>
              <a:buFont typeface="Arial" panose="020B0604020202020204" pitchFamily="34" charset="0"/>
              <a:buChar char="•"/>
              <a:tabLst>
                <a:tab pos="236854"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Spirometry remains key in diagnosis, prognosis and determining treatment with other therapeutic approaches.</a:t>
            </a:r>
          </a:p>
        </p:txBody>
      </p:sp>
    </p:spTree>
    <p:extLst>
      <p:ext uri="{BB962C8B-B14F-4D97-AF65-F5344CB8AC3E}">
        <p14:creationId xmlns:p14="http://schemas.microsoft.com/office/powerpoint/2010/main" val="178307042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Recommendations in the GOLD 2025</a:t>
            </a:r>
            <a:br>
              <a:rPr lang="en-US" dirty="0"/>
            </a:br>
            <a:r>
              <a:rPr lang="en-US" dirty="0"/>
              <a:t>strategy document</a:t>
            </a:r>
          </a:p>
        </p:txBody>
      </p:sp>
      <p:sp>
        <p:nvSpPr>
          <p:cNvPr id="2" name="Rectangle 1">
            <a:extLst>
              <a:ext uri="{FF2B5EF4-FFF2-40B4-BE49-F238E27FC236}">
                <a16:creationId xmlns:a16="http://schemas.microsoft.com/office/drawing/2014/main" id="{3A37C5D4-FB69-7F2B-1850-51B72552A169}"/>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41011254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 name="Text Placeholder 9"/>
          <p:cNvSpPr>
            <a:spLocks noGrp="1"/>
          </p:cNvSpPr>
          <p:nvPr>
            <p:ph type="body" sz="quarter" idx="13"/>
          </p:nvPr>
        </p:nvSpPr>
        <p:spPr>
          <a:xfrm>
            <a:off x="365125" y="5863845"/>
            <a:ext cx="11460164" cy="365759"/>
          </a:xfrm>
        </p:spPr>
        <p:txBody>
          <a:bodyPr/>
          <a:lstStyle/>
          <a:p>
            <a:r>
              <a:rPr lang="en-US" sz="800" dirty="0">
                <a:latin typeface="Arial"/>
                <a:cs typeface="Arial"/>
              </a:rPr>
              <a:t>FEV</a:t>
            </a:r>
            <a:r>
              <a:rPr lang="en-US" sz="800" baseline="-22222" dirty="0">
                <a:latin typeface="Arial"/>
                <a:cs typeface="Arial"/>
              </a:rPr>
              <a:t>1</a:t>
            </a:r>
            <a:r>
              <a:rPr lang="en-US" sz="800" dirty="0">
                <a:latin typeface="Arial"/>
                <a:cs typeface="Arial"/>
              </a:rPr>
              <a:t>, forced expiratory volume in 1 second; FVC, forced vital capacity; GOLD, Global Initiative for Chronic Obstructive Lung Disease; HCP, healthcare professional.</a:t>
            </a:r>
          </a:p>
          <a:p>
            <a:r>
              <a:rPr lang="en-US" sz="800"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sz="800" kern="100" dirty="0">
                <a:effectLst/>
                <a:ea typeface="Calibri" panose="020F0502020204030204" pitchFamily="34" charset="0"/>
                <a:cs typeface="Times New Roman" panose="02020603050405020304" pitchFamily="18" charset="0"/>
                <a:hlinkClick r:id="rId2"/>
              </a:rPr>
              <a:t>https://goldcopd.org/wp-content/uploads/2024/11/GOLD-2025-Report-v1.0-15Nov2024_WMV.pdf</a:t>
            </a:r>
            <a:r>
              <a:rPr lang="en-US" sz="800" kern="100" dirty="0">
                <a:effectLst/>
                <a:ea typeface="Calibri" panose="020F0502020204030204" pitchFamily="34" charset="0"/>
                <a:cs typeface="Times New Roman" panose="02020603050405020304" pitchFamily="18" charset="0"/>
              </a:rPr>
              <a:t>. Accessed November </a:t>
            </a:r>
            <a:r>
              <a:rPr lang="en-US" sz="800" kern="100" dirty="0">
                <a:ea typeface="Calibri" panose="020F0502020204030204" pitchFamily="34" charset="0"/>
                <a:cs typeface="Times New Roman" panose="02020603050405020304" pitchFamily="18" charset="0"/>
              </a:rPr>
              <a:t>21,</a:t>
            </a:r>
            <a:r>
              <a:rPr lang="en-US" sz="800" kern="100" dirty="0">
                <a:effectLst/>
                <a:ea typeface="Calibri" panose="020F0502020204030204" pitchFamily="34" charset="0"/>
                <a:cs typeface="Times New Roman" panose="02020603050405020304" pitchFamily="18" charset="0"/>
              </a:rPr>
              <a:t> 2024.</a:t>
            </a:r>
            <a:endParaRPr lang="en-US" sz="800" dirty="0">
              <a:latin typeface="+mj-lt"/>
              <a:cs typeface="Arial"/>
            </a:endParaRPr>
          </a:p>
        </p:txBody>
      </p:sp>
      <p:sp>
        <p:nvSpPr>
          <p:cNvPr id="18" name="Title 17"/>
          <p:cNvSpPr>
            <a:spLocks noGrp="1"/>
          </p:cNvSpPr>
          <p:nvPr>
            <p:ph type="title"/>
          </p:nvPr>
        </p:nvSpPr>
        <p:spPr/>
        <p:txBody>
          <a:bodyPr/>
          <a:lstStyle/>
          <a:p>
            <a:r>
              <a:rPr lang="en-US" dirty="0"/>
              <a:t>GOLD 2025 strategy document</a:t>
            </a:r>
          </a:p>
        </p:txBody>
      </p:sp>
      <p:sp>
        <p:nvSpPr>
          <p:cNvPr id="3" name="Subtitle 2">
            <a:extLst>
              <a:ext uri="{FF2B5EF4-FFF2-40B4-BE49-F238E27FC236}">
                <a16:creationId xmlns:a16="http://schemas.microsoft.com/office/drawing/2014/main" id="{1DA509F7-D94B-E863-093B-5B6123747EED}"/>
              </a:ext>
            </a:extLst>
          </p:cNvPr>
          <p:cNvSpPr>
            <a:spLocks noGrp="1"/>
          </p:cNvSpPr>
          <p:nvPr>
            <p:ph type="subTitle" idx="1"/>
          </p:nvPr>
        </p:nvSpPr>
        <p:spPr/>
        <p:txBody>
          <a:bodyPr/>
          <a:lstStyle/>
          <a:p>
            <a:r>
              <a:rPr lang="en-US" dirty="0"/>
              <a:t>Overview of recommendations</a:t>
            </a:r>
          </a:p>
        </p:txBody>
      </p:sp>
      <p:sp>
        <p:nvSpPr>
          <p:cNvPr id="34" name="object 7"/>
          <p:cNvSpPr txBox="1"/>
          <p:nvPr/>
        </p:nvSpPr>
        <p:spPr>
          <a:xfrm>
            <a:off x="361954" y="1104012"/>
            <a:ext cx="11468092" cy="365760"/>
          </a:xfrm>
          <a:prstGeom prst="roundRect">
            <a:avLst/>
          </a:prstGeom>
          <a:solidFill>
            <a:schemeClr val="tx2"/>
          </a:solidFill>
        </p:spPr>
        <p:txBody>
          <a:bodyPr vert="horz" wrap="square" lIns="0" tIns="0" rIns="0" bIns="0" rtlCol="0" anchor="ctr" anchorCtr="0">
            <a:noAutofit/>
          </a:bodyPr>
          <a:lstStyle/>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Arial"/>
                <a:ea typeface="+mn-ea"/>
                <a:cs typeface="Arial"/>
              </a:rPr>
              <a:t>GOLD 2025 strategy document</a:t>
            </a:r>
            <a:endParaRPr kumimoji="0" sz="1600" b="0" i="0" u="none" strike="noStrike" kern="1200" cap="none" spc="0" normalizeH="0" baseline="24691" noProof="0" dirty="0">
              <a:ln>
                <a:noFill/>
              </a:ln>
              <a:solidFill>
                <a:srgbClr val="000000"/>
              </a:solidFill>
              <a:effectLst/>
              <a:uLnTx/>
              <a:uFillTx/>
              <a:latin typeface="Arial"/>
              <a:ea typeface="+mn-ea"/>
              <a:cs typeface="Arial"/>
            </a:endParaRPr>
          </a:p>
        </p:txBody>
      </p:sp>
      <p:grpSp>
        <p:nvGrpSpPr>
          <p:cNvPr id="65" name="Group 64">
            <a:extLst>
              <a:ext uri="{FF2B5EF4-FFF2-40B4-BE49-F238E27FC236}">
                <a16:creationId xmlns:a16="http://schemas.microsoft.com/office/drawing/2014/main" id="{798E3748-A7FA-F90D-BC31-72B8CA2C3233}"/>
              </a:ext>
            </a:extLst>
          </p:cNvPr>
          <p:cNvGrpSpPr/>
          <p:nvPr/>
        </p:nvGrpSpPr>
        <p:grpSpPr>
          <a:xfrm>
            <a:off x="367750" y="1516000"/>
            <a:ext cx="11455488" cy="4132324"/>
            <a:chOff x="367750" y="1563625"/>
            <a:chExt cx="11455488" cy="4132324"/>
          </a:xfrm>
        </p:grpSpPr>
        <p:grpSp>
          <p:nvGrpSpPr>
            <p:cNvPr id="25" name="Group 24">
              <a:extLst>
                <a:ext uri="{FF2B5EF4-FFF2-40B4-BE49-F238E27FC236}">
                  <a16:creationId xmlns:a16="http://schemas.microsoft.com/office/drawing/2014/main" id="{F0466E84-3F2E-2BD6-C1E3-72E47474AF5D}"/>
                </a:ext>
              </a:extLst>
            </p:cNvPr>
            <p:cNvGrpSpPr/>
            <p:nvPr/>
          </p:nvGrpSpPr>
          <p:grpSpPr>
            <a:xfrm>
              <a:off x="367750" y="1563625"/>
              <a:ext cx="2758361" cy="4132324"/>
              <a:chOff x="336000" y="1922922"/>
              <a:chExt cx="2758361" cy="4132324"/>
            </a:xfrm>
          </p:grpSpPr>
          <p:grpSp>
            <p:nvGrpSpPr>
              <p:cNvPr id="43" name="Group 42"/>
              <p:cNvGrpSpPr/>
              <p:nvPr/>
            </p:nvGrpSpPr>
            <p:grpSpPr>
              <a:xfrm>
                <a:off x="336000" y="1922922"/>
                <a:ext cx="2758361" cy="4132324"/>
                <a:chOff x="336000" y="1922922"/>
                <a:chExt cx="2758361" cy="4132324"/>
              </a:xfrm>
            </p:grpSpPr>
            <p:sp>
              <p:nvSpPr>
                <p:cNvPr id="39" name="Rounded Rectangle 38"/>
                <p:cNvSpPr/>
                <p:nvPr/>
              </p:nvSpPr>
              <p:spPr>
                <a:xfrm>
                  <a:off x="336000" y="1922922"/>
                  <a:ext cx="2758361" cy="4132324"/>
                </a:xfrm>
                <a:prstGeom prst="roundRect">
                  <a:avLst>
                    <a:gd name="adj" fmla="val 2306"/>
                  </a:avLst>
                </a:prstGeom>
                <a:solidFill>
                  <a:schemeClr val="bg1"/>
                </a:solidFill>
                <a:ln w="95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Arial"/>
                    <a:ea typeface="+mn-ea"/>
                    <a:cs typeface="Noto Sans"/>
                  </a:endParaRPr>
                </a:p>
              </p:txBody>
            </p:sp>
            <p:sp>
              <p:nvSpPr>
                <p:cNvPr id="36" name="Rounded Rectangle 35"/>
                <p:cNvSpPr/>
                <p:nvPr/>
              </p:nvSpPr>
              <p:spPr>
                <a:xfrm>
                  <a:off x="336000" y="1922922"/>
                  <a:ext cx="2758361" cy="777240"/>
                </a:xfrm>
                <a:prstGeom prst="roundRect">
                  <a:avLst>
                    <a:gd name="adj" fmla="val 10133"/>
                  </a:avLst>
                </a:prstGeom>
                <a:solidFill>
                  <a:schemeClr val="accent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Diagnosis of COPD</a:t>
                  </a:r>
                </a:p>
              </p:txBody>
            </p:sp>
          </p:grpSp>
          <p:sp>
            <p:nvSpPr>
              <p:cNvPr id="46" name="object 7"/>
              <p:cNvSpPr txBox="1"/>
              <p:nvPr/>
            </p:nvSpPr>
            <p:spPr>
              <a:xfrm>
                <a:off x="467947" y="2734520"/>
                <a:ext cx="2626411" cy="3306033"/>
              </a:xfrm>
              <a:prstGeom prst="rect">
                <a:avLst/>
              </a:prstGeom>
            </p:spPr>
            <p:txBody>
              <a:bodyPr vert="horz" wrap="square" lIns="0" tIns="12700" rIns="0" bIns="0" rtlCol="0">
                <a:spAutoFit/>
              </a:bodyPr>
              <a:lstStyle/>
              <a:p>
                <a:pPr marL="274320" marR="76835"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COPD should be considered in any patient who has dyspnoea, chronic cough or sputum production, a history of recurrent lower respiratory tract infections and/or a history of exposure to risk factors for the disease.</a:t>
                </a:r>
              </a:p>
              <a:p>
                <a:pPr marL="274320" marR="76835"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Forced spirometry showing the presence of post-bronchodilator FEV</a:t>
                </a:r>
                <a:r>
                  <a:rPr kumimoji="0" lang="en-GB" sz="1200" b="0" i="0" u="none" strike="noStrike" kern="1200" cap="none" spc="0" normalizeH="0" baseline="-25000" noProof="0" dirty="0">
                    <a:ln>
                      <a:noFill/>
                    </a:ln>
                    <a:solidFill>
                      <a:srgbClr val="000000"/>
                    </a:solidFill>
                    <a:effectLst/>
                    <a:uLnTx/>
                    <a:uFillTx/>
                    <a:latin typeface="Arial"/>
                    <a:ea typeface="+mn-ea"/>
                    <a:cs typeface="Arial"/>
                  </a:rPr>
                  <a:t>1</a:t>
                </a:r>
                <a:r>
                  <a:rPr kumimoji="0" lang="en-GB" sz="1200" b="0" i="0" u="none" strike="noStrike" kern="1200" cap="none" spc="0" normalizeH="0" baseline="0" noProof="0" dirty="0">
                    <a:ln>
                      <a:noFill/>
                    </a:ln>
                    <a:solidFill>
                      <a:srgbClr val="000000"/>
                    </a:solidFill>
                    <a:effectLst/>
                    <a:uLnTx/>
                    <a:uFillTx/>
                    <a:latin typeface="Arial"/>
                    <a:ea typeface="+mn-ea"/>
                    <a:cs typeface="Arial"/>
                  </a:rPr>
                  <a:t>/FVC &lt; 0.7 is mandatory to establish a COPD diagnosis.</a:t>
                </a:r>
              </a:p>
              <a:p>
                <a:pPr marL="274320" marR="76835"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Additional clinical assessment such as lung volume measurement, diffusion capacity and exercise training may be done in patients with persistent symptoms after initial treatment.</a:t>
                </a:r>
              </a:p>
            </p:txBody>
          </p:sp>
        </p:grpSp>
        <p:grpSp>
          <p:nvGrpSpPr>
            <p:cNvPr id="26" name="Group 25">
              <a:extLst>
                <a:ext uri="{FF2B5EF4-FFF2-40B4-BE49-F238E27FC236}">
                  <a16:creationId xmlns:a16="http://schemas.microsoft.com/office/drawing/2014/main" id="{A169B8F6-51E2-ACD5-79C0-E27A9F5D4D18}"/>
                </a:ext>
              </a:extLst>
            </p:cNvPr>
            <p:cNvGrpSpPr/>
            <p:nvPr/>
          </p:nvGrpSpPr>
          <p:grpSpPr>
            <a:xfrm>
              <a:off x="3266792" y="1563625"/>
              <a:ext cx="2758361" cy="4132324"/>
              <a:chOff x="336000" y="1922922"/>
              <a:chExt cx="2758361" cy="4132324"/>
            </a:xfrm>
          </p:grpSpPr>
          <p:grpSp>
            <p:nvGrpSpPr>
              <p:cNvPr id="27" name="Group 26">
                <a:extLst>
                  <a:ext uri="{FF2B5EF4-FFF2-40B4-BE49-F238E27FC236}">
                    <a16:creationId xmlns:a16="http://schemas.microsoft.com/office/drawing/2014/main" id="{05D94844-2EBE-A0A4-93EB-9C79C5C4E073}"/>
                  </a:ext>
                </a:extLst>
              </p:cNvPr>
              <p:cNvGrpSpPr/>
              <p:nvPr/>
            </p:nvGrpSpPr>
            <p:grpSpPr>
              <a:xfrm>
                <a:off x="336000" y="1922922"/>
                <a:ext cx="2758361" cy="4132324"/>
                <a:chOff x="336000" y="1922922"/>
                <a:chExt cx="2758361" cy="4132324"/>
              </a:xfrm>
            </p:grpSpPr>
            <p:sp>
              <p:nvSpPr>
                <p:cNvPr id="29" name="Rounded Rectangle 38">
                  <a:extLst>
                    <a:ext uri="{FF2B5EF4-FFF2-40B4-BE49-F238E27FC236}">
                      <a16:creationId xmlns:a16="http://schemas.microsoft.com/office/drawing/2014/main" id="{D84B524C-9D2E-4136-CEF2-1F45B4812F44}"/>
                    </a:ext>
                  </a:extLst>
                </p:cNvPr>
                <p:cNvSpPr/>
                <p:nvPr/>
              </p:nvSpPr>
              <p:spPr>
                <a:xfrm>
                  <a:off x="336000" y="1922922"/>
                  <a:ext cx="2758361" cy="4132324"/>
                </a:xfrm>
                <a:prstGeom prst="roundRect">
                  <a:avLst>
                    <a:gd name="adj" fmla="val 2306"/>
                  </a:avLst>
                </a:prstGeom>
                <a:solidFill>
                  <a:schemeClr val="bg1"/>
                </a:solidFill>
                <a:ln w="952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Arial"/>
                    <a:ea typeface="+mn-ea"/>
                    <a:cs typeface="Noto Sans"/>
                  </a:endParaRPr>
                </a:p>
              </p:txBody>
            </p:sp>
            <p:sp>
              <p:nvSpPr>
                <p:cNvPr id="30" name="Rounded Rectangle 35">
                  <a:extLst>
                    <a:ext uri="{FF2B5EF4-FFF2-40B4-BE49-F238E27FC236}">
                      <a16:creationId xmlns:a16="http://schemas.microsoft.com/office/drawing/2014/main" id="{004C44D0-551F-E59B-75D6-C78AE2A2EEB6}"/>
                    </a:ext>
                  </a:extLst>
                </p:cNvPr>
                <p:cNvSpPr/>
                <p:nvPr/>
              </p:nvSpPr>
              <p:spPr>
                <a:xfrm>
                  <a:off x="336000" y="1922922"/>
                  <a:ext cx="2758361" cy="777240"/>
                </a:xfrm>
                <a:prstGeom prst="roundRect">
                  <a:avLst>
                    <a:gd name="adj" fmla="val 10133"/>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Assessment of COPD</a:t>
                  </a:r>
                </a:p>
              </p:txBody>
            </p:sp>
          </p:grpSp>
          <p:sp>
            <p:nvSpPr>
              <p:cNvPr id="28" name="object 7">
                <a:extLst>
                  <a:ext uri="{FF2B5EF4-FFF2-40B4-BE49-F238E27FC236}">
                    <a16:creationId xmlns:a16="http://schemas.microsoft.com/office/drawing/2014/main" id="{FD1DB397-69D0-BA53-149E-ADE32370037E}"/>
                  </a:ext>
                </a:extLst>
              </p:cNvPr>
              <p:cNvSpPr txBox="1"/>
              <p:nvPr/>
            </p:nvSpPr>
            <p:spPr>
              <a:xfrm>
                <a:off x="467948" y="2734520"/>
                <a:ext cx="2576076" cy="2536592"/>
              </a:xfrm>
              <a:prstGeom prst="rect">
                <a:avLst/>
              </a:prstGeom>
            </p:spPr>
            <p:txBody>
              <a:bodyPr vert="horz" wrap="square" lIns="0" tIns="12700" rIns="0" bIns="0" rtlCol="0">
                <a:spAutoFit/>
              </a:bodyPr>
              <a:lstStyle/>
              <a:p>
                <a:pPr marL="274320" marR="76835"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The goals of COPD assessment are to determine the</a:t>
                </a:r>
              </a:p>
              <a:p>
                <a:pPr marL="444500" marR="76835" lvl="0" indent="-169863"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Severity of airflow obstruction</a:t>
                </a:r>
              </a:p>
              <a:p>
                <a:pPr marL="444500" marR="76835" lvl="0" indent="-169863"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Impact of disease on the patient’s health status</a:t>
                </a:r>
              </a:p>
              <a:p>
                <a:pPr marL="444500" marR="76835" lvl="0" indent="-169863"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Risk of future events such as hospitalisations, exacerbations or death.</a:t>
                </a:r>
              </a:p>
              <a:p>
                <a:pPr marL="274320" marR="76835"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Validated and comprehensive questionnaires can be used to carry out a formal assessment </a:t>
                </a:r>
                <a:br>
                  <a:rPr kumimoji="0" lang="en-GB" sz="1200" b="0" i="0" u="none" strike="noStrike" kern="1200" cap="none" spc="0" normalizeH="0" baseline="0" noProof="0" dirty="0">
                    <a:ln>
                      <a:noFill/>
                    </a:ln>
                    <a:solidFill>
                      <a:srgbClr val="000000"/>
                    </a:solidFill>
                    <a:effectLst/>
                    <a:uLnTx/>
                    <a:uFillTx/>
                    <a:latin typeface="Arial"/>
                    <a:ea typeface="+mn-ea"/>
                    <a:cs typeface="Arial"/>
                  </a:rPr>
                </a:br>
                <a:r>
                  <a:rPr kumimoji="0" lang="en-GB" sz="1200" b="0" i="0" u="none" strike="noStrike" kern="1200" cap="none" spc="0" normalizeH="0" baseline="0" noProof="0" dirty="0">
                    <a:ln>
                      <a:noFill/>
                    </a:ln>
                    <a:solidFill>
                      <a:srgbClr val="000000"/>
                    </a:solidFill>
                    <a:effectLst/>
                    <a:uLnTx/>
                    <a:uFillTx/>
                    <a:latin typeface="Arial"/>
                    <a:ea typeface="+mn-ea"/>
                    <a:cs typeface="Arial"/>
                  </a:rPr>
                  <a:t>of symptoms. </a:t>
                </a:r>
                <a:endParaRPr kumimoji="0" lang="en-GB" sz="1200" b="0" i="0" u="none" strike="sngStrike" kern="1200" cap="none" spc="0" normalizeH="0" baseline="0" noProof="0" dirty="0">
                  <a:ln>
                    <a:noFill/>
                  </a:ln>
                  <a:solidFill>
                    <a:srgbClr val="000000"/>
                  </a:solidFill>
                  <a:effectLst/>
                  <a:uLnTx/>
                  <a:uFillTx/>
                  <a:latin typeface="Arial"/>
                  <a:ea typeface="+mn-ea"/>
                  <a:cs typeface="Arial"/>
                </a:endParaRPr>
              </a:p>
            </p:txBody>
          </p:sp>
        </p:grpSp>
        <p:grpSp>
          <p:nvGrpSpPr>
            <p:cNvPr id="31" name="Group 30">
              <a:extLst>
                <a:ext uri="{FF2B5EF4-FFF2-40B4-BE49-F238E27FC236}">
                  <a16:creationId xmlns:a16="http://schemas.microsoft.com/office/drawing/2014/main" id="{5530E08A-A14E-113D-E7E8-838E4624F25B}"/>
                </a:ext>
              </a:extLst>
            </p:cNvPr>
            <p:cNvGrpSpPr/>
            <p:nvPr/>
          </p:nvGrpSpPr>
          <p:grpSpPr>
            <a:xfrm>
              <a:off x="6165834" y="1563625"/>
              <a:ext cx="2758361" cy="4132324"/>
              <a:chOff x="336000" y="1922922"/>
              <a:chExt cx="2758361" cy="4132324"/>
            </a:xfrm>
          </p:grpSpPr>
          <p:grpSp>
            <p:nvGrpSpPr>
              <p:cNvPr id="32" name="Group 31">
                <a:extLst>
                  <a:ext uri="{FF2B5EF4-FFF2-40B4-BE49-F238E27FC236}">
                    <a16:creationId xmlns:a16="http://schemas.microsoft.com/office/drawing/2014/main" id="{44213355-334B-ED58-56C8-E6C3966D8F93}"/>
                  </a:ext>
                </a:extLst>
              </p:cNvPr>
              <p:cNvGrpSpPr/>
              <p:nvPr/>
            </p:nvGrpSpPr>
            <p:grpSpPr>
              <a:xfrm>
                <a:off x="336000" y="1922922"/>
                <a:ext cx="2758361" cy="4132324"/>
                <a:chOff x="336000" y="1922922"/>
                <a:chExt cx="2758361" cy="4132324"/>
              </a:xfrm>
            </p:grpSpPr>
            <p:sp>
              <p:nvSpPr>
                <p:cNvPr id="45" name="Rounded Rectangle 38">
                  <a:extLst>
                    <a:ext uri="{FF2B5EF4-FFF2-40B4-BE49-F238E27FC236}">
                      <a16:creationId xmlns:a16="http://schemas.microsoft.com/office/drawing/2014/main" id="{CB25B272-0D86-C99C-BDCB-DBF31D94F9EE}"/>
                    </a:ext>
                  </a:extLst>
                </p:cNvPr>
                <p:cNvSpPr/>
                <p:nvPr/>
              </p:nvSpPr>
              <p:spPr>
                <a:xfrm>
                  <a:off x="336000" y="1922922"/>
                  <a:ext cx="2758361" cy="4132324"/>
                </a:xfrm>
                <a:prstGeom prst="roundRect">
                  <a:avLst>
                    <a:gd name="adj" fmla="val 2306"/>
                  </a:avLst>
                </a:prstGeom>
                <a:solidFill>
                  <a:schemeClr val="bg1"/>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Arial"/>
                    <a:ea typeface="+mn-ea"/>
                    <a:cs typeface="Noto Sans"/>
                  </a:endParaRPr>
                </a:p>
              </p:txBody>
            </p:sp>
            <p:sp>
              <p:nvSpPr>
                <p:cNvPr id="53" name="Rounded Rectangle 35">
                  <a:extLst>
                    <a:ext uri="{FF2B5EF4-FFF2-40B4-BE49-F238E27FC236}">
                      <a16:creationId xmlns:a16="http://schemas.microsoft.com/office/drawing/2014/main" id="{971BD70A-2CF3-0846-F732-88DF8CCEA454}"/>
                    </a:ext>
                  </a:extLst>
                </p:cNvPr>
                <p:cNvSpPr/>
                <p:nvPr/>
              </p:nvSpPr>
              <p:spPr>
                <a:xfrm>
                  <a:off x="336000" y="1922922"/>
                  <a:ext cx="2758361" cy="777240"/>
                </a:xfrm>
                <a:prstGeom prst="roundRect">
                  <a:avLst>
                    <a:gd name="adj" fmla="val 10133"/>
                  </a:avLst>
                </a:prstGeom>
                <a:solidFill>
                  <a:schemeClr val="accent3"/>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Pharmacological and </a:t>
                  </a:r>
                  <a:br>
                    <a:rPr kumimoji="0" lang="en-US" sz="1400" b="1" i="0" u="none" strike="noStrike" kern="1200" cap="none" spc="0" normalizeH="0" baseline="0" noProof="0" dirty="0">
                      <a:ln>
                        <a:noFill/>
                      </a:ln>
                      <a:solidFill>
                        <a:prstClr val="white"/>
                      </a:solidFill>
                      <a:effectLst/>
                      <a:uLnTx/>
                      <a:uFillTx/>
                      <a:latin typeface="Arial"/>
                      <a:ea typeface="+mn-ea"/>
                      <a:cs typeface="Noto Sans"/>
                    </a:rPr>
                  </a:br>
                  <a:r>
                    <a:rPr kumimoji="0" lang="en-US" sz="1400" b="1" i="0" u="none" strike="noStrike" kern="1200" cap="none" spc="0" normalizeH="0" baseline="0" noProof="0" dirty="0">
                      <a:ln>
                        <a:noFill/>
                      </a:ln>
                      <a:solidFill>
                        <a:prstClr val="white"/>
                      </a:solidFill>
                      <a:effectLst/>
                      <a:uLnTx/>
                      <a:uFillTx/>
                      <a:latin typeface="Arial"/>
                      <a:ea typeface="+mn-ea"/>
                      <a:cs typeface="Noto Sans"/>
                    </a:rPr>
                    <a:t>non-pharmacological management of COPD</a:t>
                  </a:r>
                </a:p>
              </p:txBody>
            </p:sp>
          </p:grpSp>
          <p:sp>
            <p:nvSpPr>
              <p:cNvPr id="33" name="object 7">
                <a:extLst>
                  <a:ext uri="{FF2B5EF4-FFF2-40B4-BE49-F238E27FC236}">
                    <a16:creationId xmlns:a16="http://schemas.microsoft.com/office/drawing/2014/main" id="{A17F3A27-8704-06AC-E11E-D73DDA136F40}"/>
                  </a:ext>
                </a:extLst>
              </p:cNvPr>
              <p:cNvSpPr txBox="1"/>
              <p:nvPr/>
            </p:nvSpPr>
            <p:spPr>
              <a:xfrm>
                <a:off x="467948" y="2734520"/>
                <a:ext cx="2576076" cy="2936701"/>
              </a:xfrm>
              <a:prstGeom prst="rect">
                <a:avLst/>
              </a:prstGeom>
            </p:spPr>
            <p:txBody>
              <a:bodyPr vert="horz" wrap="square" lIns="0" tIns="12700" rIns="0" bIns="0" rtlCol="0">
                <a:spAutoFit/>
              </a:bodyPr>
              <a:lstStyle/>
              <a:p>
                <a:pPr marL="198120" marR="22860"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Initial pharmacotherapy should be based on the patients’ GOLD group (ABE); patients should be offered guidance on self‐management and should be provided with a written action plan.</a:t>
                </a:r>
              </a:p>
              <a:p>
                <a:pPr marL="198120" marR="85725"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An individualised approach to COPD treatment based on level of symptoms and exacerbations is recommended.</a:t>
                </a:r>
              </a:p>
              <a:p>
                <a:pPr marL="198120" marR="5080"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GB" sz="1200" b="0" i="0" u="none" strike="noStrike" kern="1200" cap="none" spc="0" normalizeH="0" baseline="0" noProof="0" dirty="0">
                    <a:ln>
                      <a:noFill/>
                    </a:ln>
                    <a:solidFill>
                      <a:srgbClr val="000000"/>
                    </a:solidFill>
                    <a:effectLst/>
                    <a:uLnTx/>
                    <a:uFillTx/>
                    <a:latin typeface="Arial"/>
                    <a:ea typeface="+mn-ea"/>
                    <a:cs typeface="Arial"/>
                  </a:rPr>
                  <a:t>HCPs should use complementary pharmacological and non‐pharmacological approaches as a part of the comprehensive management plan.</a:t>
                </a:r>
              </a:p>
            </p:txBody>
          </p:sp>
        </p:grpSp>
        <p:grpSp>
          <p:nvGrpSpPr>
            <p:cNvPr id="54" name="Group 53">
              <a:extLst>
                <a:ext uri="{FF2B5EF4-FFF2-40B4-BE49-F238E27FC236}">
                  <a16:creationId xmlns:a16="http://schemas.microsoft.com/office/drawing/2014/main" id="{A18C092A-8BA7-53E6-8FEF-1EE219D71A12}"/>
                </a:ext>
              </a:extLst>
            </p:cNvPr>
            <p:cNvGrpSpPr/>
            <p:nvPr/>
          </p:nvGrpSpPr>
          <p:grpSpPr>
            <a:xfrm>
              <a:off x="9064877" y="1563625"/>
              <a:ext cx="2758361" cy="4132324"/>
              <a:chOff x="336000" y="1922922"/>
              <a:chExt cx="2758361" cy="4132324"/>
            </a:xfrm>
          </p:grpSpPr>
          <p:grpSp>
            <p:nvGrpSpPr>
              <p:cNvPr id="55" name="Group 54">
                <a:extLst>
                  <a:ext uri="{FF2B5EF4-FFF2-40B4-BE49-F238E27FC236}">
                    <a16:creationId xmlns:a16="http://schemas.microsoft.com/office/drawing/2014/main" id="{CCAE6F46-9516-A7B8-A7B5-C28D1063073B}"/>
                  </a:ext>
                </a:extLst>
              </p:cNvPr>
              <p:cNvGrpSpPr/>
              <p:nvPr/>
            </p:nvGrpSpPr>
            <p:grpSpPr>
              <a:xfrm>
                <a:off x="336000" y="1922922"/>
                <a:ext cx="2758361" cy="4132324"/>
                <a:chOff x="336000" y="1922922"/>
                <a:chExt cx="2758361" cy="4132324"/>
              </a:xfrm>
            </p:grpSpPr>
            <p:sp>
              <p:nvSpPr>
                <p:cNvPr id="57" name="Rounded Rectangle 38">
                  <a:extLst>
                    <a:ext uri="{FF2B5EF4-FFF2-40B4-BE49-F238E27FC236}">
                      <a16:creationId xmlns:a16="http://schemas.microsoft.com/office/drawing/2014/main" id="{5502D16D-880E-7ADA-C337-76ED50949AE4}"/>
                    </a:ext>
                  </a:extLst>
                </p:cNvPr>
                <p:cNvSpPr/>
                <p:nvPr/>
              </p:nvSpPr>
              <p:spPr>
                <a:xfrm>
                  <a:off x="336000" y="1922922"/>
                  <a:ext cx="2758361" cy="4132324"/>
                </a:xfrm>
                <a:prstGeom prst="roundRect">
                  <a:avLst>
                    <a:gd name="adj" fmla="val 2306"/>
                  </a:avLst>
                </a:prstGeom>
                <a:solidFill>
                  <a:schemeClr val="bg1"/>
                </a:solidFill>
                <a:ln w="9525">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Arial"/>
                    <a:ea typeface="+mn-ea"/>
                    <a:cs typeface="Noto Sans"/>
                  </a:endParaRPr>
                </a:p>
              </p:txBody>
            </p:sp>
            <p:sp>
              <p:nvSpPr>
                <p:cNvPr id="58" name="Rounded Rectangle 35">
                  <a:extLst>
                    <a:ext uri="{FF2B5EF4-FFF2-40B4-BE49-F238E27FC236}">
                      <a16:creationId xmlns:a16="http://schemas.microsoft.com/office/drawing/2014/main" id="{A109A655-E15A-1675-3B8C-0660D50790CF}"/>
                    </a:ext>
                  </a:extLst>
                </p:cNvPr>
                <p:cNvSpPr/>
                <p:nvPr/>
              </p:nvSpPr>
              <p:spPr>
                <a:xfrm>
                  <a:off x="336000" y="1922922"/>
                  <a:ext cx="2758361" cy="777240"/>
                </a:xfrm>
                <a:prstGeom prst="roundRect">
                  <a:avLst>
                    <a:gd name="adj" fmla="val 10133"/>
                  </a:avLst>
                </a:prstGeom>
                <a:solidFill>
                  <a:schemeClr val="accent4"/>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Monitoring of COPD</a:t>
                  </a:r>
                </a:p>
              </p:txBody>
            </p:sp>
          </p:grpSp>
          <p:sp>
            <p:nvSpPr>
              <p:cNvPr id="56" name="object 7">
                <a:extLst>
                  <a:ext uri="{FF2B5EF4-FFF2-40B4-BE49-F238E27FC236}">
                    <a16:creationId xmlns:a16="http://schemas.microsoft.com/office/drawing/2014/main" id="{E3483905-BF0D-0902-8779-8E706AA62765}"/>
                  </a:ext>
                </a:extLst>
              </p:cNvPr>
              <p:cNvSpPr txBox="1"/>
              <p:nvPr/>
            </p:nvSpPr>
            <p:spPr>
              <a:xfrm>
                <a:off x="467948" y="2734520"/>
                <a:ext cx="2576076" cy="3121367"/>
              </a:xfrm>
              <a:prstGeom prst="rect">
                <a:avLst/>
              </a:prstGeom>
            </p:spPr>
            <p:txBody>
              <a:bodyPr vert="horz" wrap="square" lIns="0" tIns="12700" rIns="0" bIns="0" rtlCol="0">
                <a:spAutoFit/>
              </a:bodyPr>
              <a:lstStyle/>
              <a:p>
                <a:pPr marL="198120" marR="5080"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Routine follow-up is essential to modify management as lung function may worsen over time </a:t>
                </a:r>
                <a:br>
                  <a:rPr kumimoji="0" lang="en-US" sz="1200" b="0" i="0" u="none" strike="noStrike" kern="1200" cap="none" spc="0" normalizeH="0" baseline="0" noProof="0" dirty="0">
                    <a:ln>
                      <a:noFill/>
                    </a:ln>
                    <a:solidFill>
                      <a:srgbClr val="000000"/>
                    </a:solidFill>
                    <a:effectLst/>
                    <a:uLnTx/>
                    <a:uFillTx/>
                    <a:latin typeface="Arial"/>
                    <a:ea typeface="+mn-ea"/>
                    <a:cs typeface="Arial"/>
                  </a:rPr>
                </a:br>
                <a:r>
                  <a:rPr kumimoji="0" lang="en-US" sz="1200" b="0" i="0" u="none" strike="noStrike" kern="1200" cap="none" spc="0" normalizeH="0" baseline="0" noProof="0" dirty="0">
                    <a:ln>
                      <a:noFill/>
                    </a:ln>
                    <a:solidFill>
                      <a:srgbClr val="000000"/>
                    </a:solidFill>
                    <a:effectLst/>
                    <a:uLnTx/>
                    <a:uFillTx/>
                    <a:latin typeface="Arial"/>
                    <a:ea typeface="+mn-ea"/>
                    <a:cs typeface="Arial"/>
                  </a:rPr>
                  <a:t>and to identify complications or </a:t>
                </a:r>
                <a:br>
                  <a:rPr kumimoji="0" lang="en-US" sz="1200" b="0" i="0" u="none" strike="noStrike" kern="1200" cap="none" spc="0" normalizeH="0" baseline="0" noProof="0" dirty="0">
                    <a:ln>
                      <a:noFill/>
                    </a:ln>
                    <a:solidFill>
                      <a:srgbClr val="000000"/>
                    </a:solidFill>
                    <a:effectLst/>
                    <a:uLnTx/>
                    <a:uFillTx/>
                    <a:latin typeface="Arial"/>
                    <a:ea typeface="+mn-ea"/>
                    <a:cs typeface="Arial"/>
                  </a:rPr>
                </a:br>
                <a:r>
                  <a:rPr kumimoji="0" lang="en-US" sz="1200" b="0" i="0" u="none" strike="noStrike" kern="1200" cap="none" spc="0" normalizeH="0" baseline="0" noProof="0" dirty="0">
                    <a:ln>
                      <a:noFill/>
                    </a:ln>
                    <a:solidFill>
                      <a:srgbClr val="000000"/>
                    </a:solidFill>
                    <a:effectLst/>
                    <a:uLnTx/>
                    <a:uFillTx/>
                    <a:latin typeface="Arial"/>
                    <a:ea typeface="+mn-ea"/>
                    <a:cs typeface="Arial"/>
                  </a:rPr>
                  <a:t>comorbidities</a:t>
                </a:r>
                <a:r>
                  <a:rPr kumimoji="0" lang="en-GB" sz="1200" b="0" i="0" u="none" strike="noStrike" kern="1200" cap="none" spc="0" normalizeH="0" baseline="0" noProof="0" dirty="0">
                    <a:ln>
                      <a:noFill/>
                    </a:ln>
                    <a:solidFill>
                      <a:srgbClr val="000000"/>
                    </a:solidFill>
                    <a:effectLst/>
                    <a:uLnTx/>
                    <a:uFillTx/>
                    <a:latin typeface="Arial"/>
                    <a:ea typeface="+mn-ea"/>
                    <a:cs typeface="Arial"/>
                  </a:rPr>
                  <a:t>.</a:t>
                </a:r>
                <a:endParaRPr kumimoji="0" lang="en-US" sz="1200" b="0" i="0" u="none" strike="noStrike" kern="1200" cap="none" spc="0" normalizeH="0" baseline="0" noProof="0" dirty="0">
                  <a:ln>
                    <a:noFill/>
                  </a:ln>
                  <a:solidFill>
                    <a:srgbClr val="000000"/>
                  </a:solidFill>
                  <a:effectLst/>
                  <a:uLnTx/>
                  <a:uFillTx/>
                  <a:latin typeface="Arial"/>
                  <a:ea typeface="+mn-ea"/>
                  <a:cs typeface="Arial"/>
                </a:endParaRPr>
              </a:p>
              <a:p>
                <a:pPr marL="198120" marR="108585"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To adjust pharmacotherapy appropriately, the current regimen should be discussed with the patient during each follow-up visit</a:t>
                </a:r>
                <a:r>
                  <a:rPr kumimoji="0" lang="en-GB" sz="1200" b="0" i="0" u="none" strike="noStrike" kern="1200" cap="none" spc="0" normalizeH="0" baseline="0" noProof="0" dirty="0">
                    <a:ln>
                      <a:noFill/>
                    </a:ln>
                    <a:solidFill>
                      <a:srgbClr val="000000"/>
                    </a:solidFill>
                    <a:effectLst/>
                    <a:uLnTx/>
                    <a:uFillTx/>
                    <a:latin typeface="Arial"/>
                    <a:ea typeface="+mn-ea"/>
                    <a:cs typeface="Arial"/>
                  </a:rPr>
                  <a:t>.</a:t>
                </a:r>
                <a:endParaRPr kumimoji="0" lang="en-US" sz="1200" b="0" i="0" u="none" strike="noStrike" kern="1200" cap="none" spc="0" normalizeH="0" baseline="0" noProof="0" dirty="0">
                  <a:ln>
                    <a:noFill/>
                  </a:ln>
                  <a:solidFill>
                    <a:srgbClr val="000000"/>
                  </a:solidFill>
                  <a:effectLst/>
                  <a:uLnTx/>
                  <a:uFillTx/>
                  <a:latin typeface="Arial"/>
                  <a:ea typeface="+mn-ea"/>
                  <a:cs typeface="Arial"/>
                </a:endParaRPr>
              </a:p>
              <a:p>
                <a:pPr marL="198120" marR="271780" lvl="0" indent="-186055"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Factors discussed should include dosage of prescribed medications, smoking status, adherence to the regimen, effectiveness, inhaler technique and side effects</a:t>
                </a:r>
                <a:r>
                  <a:rPr kumimoji="0" lang="en-GB" sz="1200" b="0" i="0" u="none" strike="noStrike" kern="1200" cap="none" spc="0" normalizeH="0" baseline="0" noProof="0" dirty="0">
                    <a:ln>
                      <a:noFill/>
                    </a:ln>
                    <a:solidFill>
                      <a:srgbClr val="000000"/>
                    </a:solidFill>
                    <a:effectLst/>
                    <a:uLnTx/>
                    <a:uFillTx/>
                    <a:latin typeface="Arial"/>
                    <a:ea typeface="+mn-ea"/>
                    <a:cs typeface="Arial"/>
                  </a:rPr>
                  <a:t>.</a:t>
                </a:r>
                <a:endParaRPr kumimoji="0" lang="en-US" sz="1200" b="0" i="0" u="none" strike="noStrike" kern="1200" cap="none" spc="0" normalizeH="0" baseline="0" noProof="0" dirty="0">
                  <a:ln>
                    <a:noFill/>
                  </a:ln>
                  <a:solidFill>
                    <a:srgbClr val="000000"/>
                  </a:solidFill>
                  <a:effectLst/>
                  <a:uLnTx/>
                  <a:uFillTx/>
                  <a:latin typeface="Arial"/>
                  <a:ea typeface="+mn-ea"/>
                  <a:cs typeface="Arial"/>
                </a:endParaRPr>
              </a:p>
            </p:txBody>
          </p:sp>
        </p:grpSp>
      </p:grpSp>
      <p:sp>
        <p:nvSpPr>
          <p:cNvPr id="17" name="Rectangle 16">
            <a:extLst>
              <a:ext uri="{FF2B5EF4-FFF2-40B4-BE49-F238E27FC236}">
                <a16:creationId xmlns:a16="http://schemas.microsoft.com/office/drawing/2014/main" id="{DE891122-DC36-DF1B-BD51-170561EFD37B}"/>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Date Placeholder 4">
            <a:extLst>
              <a:ext uri="{FF2B5EF4-FFF2-40B4-BE49-F238E27FC236}">
                <a16:creationId xmlns:a16="http://schemas.microsoft.com/office/drawing/2014/main" id="{6C8BAD17-7550-B055-D236-96AD2DFEEB50}"/>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18588188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 Placeholder 41">
            <a:extLst>
              <a:ext uri="{FF2B5EF4-FFF2-40B4-BE49-F238E27FC236}">
                <a16:creationId xmlns:a16="http://schemas.microsoft.com/office/drawing/2014/main" id="{22869264-4264-1BBA-9BDF-8A65D32A7D19}"/>
              </a:ext>
            </a:extLst>
          </p:cNvPr>
          <p:cNvSpPr>
            <a:spLocks noGrp="1"/>
          </p:cNvSpPr>
          <p:nvPr>
            <p:ph type="body" sz="quarter" idx="13"/>
          </p:nvPr>
        </p:nvSpPr>
        <p:spPr>
          <a:xfrm>
            <a:off x="365125" y="5863839"/>
            <a:ext cx="11460164" cy="298800"/>
          </a:xfrm>
        </p:spPr>
        <p:txBody>
          <a:bodyPr/>
          <a:lstStyle/>
          <a:p>
            <a:r>
              <a:rPr lang="en-US" sz="800" dirty="0">
                <a:latin typeface="Arial"/>
                <a:cs typeface="Arial"/>
              </a:rPr>
              <a:t>GOLD, Global Initiative for Chronic Obstructive Lung Disease.</a:t>
            </a:r>
          </a:p>
          <a:p>
            <a:r>
              <a:rPr lang="en-US" sz="800" dirty="0">
                <a:latin typeface="Arial"/>
                <a:cs typeface="Arial"/>
              </a:rPr>
              <a:t>GOLD. Global Strategy for the Diagnosis, Management, and Prevention of Chronic Obstructive Pulmonary Disease (2023 Report).</a:t>
            </a:r>
            <a:r>
              <a:rPr lang="en-US" sz="800" u="sng" dirty="0">
                <a:solidFill>
                  <a:schemeClr val="tx2"/>
                </a:solidFill>
                <a:latin typeface="Arial"/>
                <a:cs typeface="Arial"/>
                <a:hlinkClick r:id="rId2">
                  <a:extLst>
                    <a:ext uri="{A12FA001-AC4F-418D-AE19-62706E023703}">
                      <ahyp:hlinkClr xmlns:ahyp="http://schemas.microsoft.com/office/drawing/2018/hyperlinkcolor" val="tx"/>
                    </a:ext>
                  </a:extLst>
                </a:hlinkClick>
              </a:rPr>
              <a:t> https://goldcopd.org/2023-gold-report-2/</a:t>
            </a:r>
            <a:r>
              <a:rPr lang="en-US" sz="800" dirty="0">
                <a:latin typeface="Arial"/>
                <a:cs typeface="Arial"/>
              </a:rPr>
              <a:t>. Accessed February 20, 2023.</a:t>
            </a:r>
          </a:p>
        </p:txBody>
      </p:sp>
      <p:sp>
        <p:nvSpPr>
          <p:cNvPr id="16" name="Slide Number Placeholder 15"/>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C48BEE1-20DB-5D4A-A90C-1A88B0ADB7CF}" type="slidenum">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Title 17"/>
          <p:cNvSpPr>
            <a:spLocks noGrp="1"/>
          </p:cNvSpPr>
          <p:nvPr>
            <p:ph type="title"/>
          </p:nvPr>
        </p:nvSpPr>
        <p:spPr/>
        <p:txBody>
          <a:bodyPr/>
          <a:lstStyle/>
          <a:p>
            <a:r>
              <a:rPr lang="en-US" dirty="0"/>
              <a:t>Summary</a:t>
            </a:r>
          </a:p>
        </p:txBody>
      </p:sp>
      <p:sp>
        <p:nvSpPr>
          <p:cNvPr id="23" name="object 13">
            <a:extLst>
              <a:ext uri="{FF2B5EF4-FFF2-40B4-BE49-F238E27FC236}">
                <a16:creationId xmlns:a16="http://schemas.microsoft.com/office/drawing/2014/main" id="{E796FB0C-5E47-A73D-75ED-6A5BC28EEADF}"/>
              </a:ext>
            </a:extLst>
          </p:cNvPr>
          <p:cNvSpPr/>
          <p:nvPr/>
        </p:nvSpPr>
        <p:spPr>
          <a:xfrm>
            <a:off x="370612" y="3471736"/>
            <a:ext cx="768240" cy="760320"/>
          </a:xfrm>
          <a:custGeom>
            <a:avLst/>
            <a:gdLst/>
            <a:ahLst/>
            <a:cxnLst/>
            <a:rect l="l" t="t" r="r" b="b"/>
            <a:pathLst>
              <a:path w="742950" h="734695">
                <a:moveTo>
                  <a:pt x="466344" y="177533"/>
                </a:moveTo>
                <a:lnTo>
                  <a:pt x="411480" y="177533"/>
                </a:lnTo>
                <a:lnTo>
                  <a:pt x="411480" y="122669"/>
                </a:lnTo>
                <a:lnTo>
                  <a:pt x="341376" y="122669"/>
                </a:lnTo>
                <a:lnTo>
                  <a:pt x="341376" y="177533"/>
                </a:lnTo>
                <a:lnTo>
                  <a:pt x="286512" y="177533"/>
                </a:lnTo>
                <a:lnTo>
                  <a:pt x="286512" y="247637"/>
                </a:lnTo>
                <a:lnTo>
                  <a:pt x="341376" y="247637"/>
                </a:lnTo>
                <a:lnTo>
                  <a:pt x="341376" y="303263"/>
                </a:lnTo>
                <a:lnTo>
                  <a:pt x="411480" y="303263"/>
                </a:lnTo>
                <a:lnTo>
                  <a:pt x="411480" y="247637"/>
                </a:lnTo>
                <a:lnTo>
                  <a:pt x="466344" y="247637"/>
                </a:lnTo>
                <a:lnTo>
                  <a:pt x="466344" y="177533"/>
                </a:lnTo>
                <a:close/>
              </a:path>
              <a:path w="742950" h="734695">
                <a:moveTo>
                  <a:pt x="635508" y="399275"/>
                </a:moveTo>
                <a:lnTo>
                  <a:pt x="633793" y="390804"/>
                </a:lnTo>
                <a:lnTo>
                  <a:pt x="629310" y="384035"/>
                </a:lnTo>
                <a:lnTo>
                  <a:pt x="622960" y="379564"/>
                </a:lnTo>
                <a:lnTo>
                  <a:pt x="615696" y="377939"/>
                </a:lnTo>
                <a:lnTo>
                  <a:pt x="596646" y="377939"/>
                </a:lnTo>
                <a:lnTo>
                  <a:pt x="588518" y="379564"/>
                </a:lnTo>
                <a:lnTo>
                  <a:pt x="582549" y="384035"/>
                </a:lnTo>
                <a:lnTo>
                  <a:pt x="578853" y="390804"/>
                </a:lnTo>
                <a:lnTo>
                  <a:pt x="577596" y="399275"/>
                </a:lnTo>
                <a:lnTo>
                  <a:pt x="577596" y="469379"/>
                </a:lnTo>
                <a:lnTo>
                  <a:pt x="572262" y="467093"/>
                </a:lnTo>
                <a:lnTo>
                  <a:pt x="339090" y="467093"/>
                </a:lnTo>
                <a:lnTo>
                  <a:pt x="345948" y="461759"/>
                </a:lnTo>
                <a:lnTo>
                  <a:pt x="351282" y="454901"/>
                </a:lnTo>
                <a:lnTo>
                  <a:pt x="351282" y="428231"/>
                </a:lnTo>
                <a:lnTo>
                  <a:pt x="349542" y="419760"/>
                </a:lnTo>
                <a:lnTo>
                  <a:pt x="344805" y="412991"/>
                </a:lnTo>
                <a:lnTo>
                  <a:pt x="337769" y="408520"/>
                </a:lnTo>
                <a:lnTo>
                  <a:pt x="329184" y="406895"/>
                </a:lnTo>
                <a:lnTo>
                  <a:pt x="187452" y="406895"/>
                </a:lnTo>
                <a:lnTo>
                  <a:pt x="187452" y="467093"/>
                </a:lnTo>
                <a:lnTo>
                  <a:pt x="185166" y="467093"/>
                </a:lnTo>
                <a:lnTo>
                  <a:pt x="180594" y="469379"/>
                </a:lnTo>
                <a:lnTo>
                  <a:pt x="177546" y="471665"/>
                </a:lnTo>
                <a:lnTo>
                  <a:pt x="177546" y="459473"/>
                </a:lnTo>
                <a:lnTo>
                  <a:pt x="182880" y="464807"/>
                </a:lnTo>
                <a:lnTo>
                  <a:pt x="187452" y="467093"/>
                </a:lnTo>
                <a:lnTo>
                  <a:pt x="187452" y="406895"/>
                </a:lnTo>
                <a:lnTo>
                  <a:pt x="180594" y="413753"/>
                </a:lnTo>
                <a:lnTo>
                  <a:pt x="177546" y="421373"/>
                </a:lnTo>
                <a:lnTo>
                  <a:pt x="177546" y="300977"/>
                </a:lnTo>
                <a:lnTo>
                  <a:pt x="175920" y="293712"/>
                </a:lnTo>
                <a:lnTo>
                  <a:pt x="171450" y="287362"/>
                </a:lnTo>
                <a:lnTo>
                  <a:pt x="164680" y="282879"/>
                </a:lnTo>
                <a:lnTo>
                  <a:pt x="156210" y="281165"/>
                </a:lnTo>
                <a:lnTo>
                  <a:pt x="139446" y="281165"/>
                </a:lnTo>
                <a:lnTo>
                  <a:pt x="130848" y="282879"/>
                </a:lnTo>
                <a:lnTo>
                  <a:pt x="123825" y="287362"/>
                </a:lnTo>
                <a:lnTo>
                  <a:pt x="119075" y="293712"/>
                </a:lnTo>
                <a:lnTo>
                  <a:pt x="117348" y="300977"/>
                </a:lnTo>
                <a:lnTo>
                  <a:pt x="117348" y="585203"/>
                </a:lnTo>
                <a:lnTo>
                  <a:pt x="119075" y="593686"/>
                </a:lnTo>
                <a:lnTo>
                  <a:pt x="123825" y="600443"/>
                </a:lnTo>
                <a:lnTo>
                  <a:pt x="130848" y="604926"/>
                </a:lnTo>
                <a:lnTo>
                  <a:pt x="139446" y="606539"/>
                </a:lnTo>
                <a:lnTo>
                  <a:pt x="156210" y="606539"/>
                </a:lnTo>
                <a:lnTo>
                  <a:pt x="164680" y="604926"/>
                </a:lnTo>
                <a:lnTo>
                  <a:pt x="171450" y="600443"/>
                </a:lnTo>
                <a:lnTo>
                  <a:pt x="175920" y="593686"/>
                </a:lnTo>
                <a:lnTo>
                  <a:pt x="177546" y="585203"/>
                </a:lnTo>
                <a:lnTo>
                  <a:pt x="177546" y="539483"/>
                </a:lnTo>
                <a:lnTo>
                  <a:pt x="180594" y="544055"/>
                </a:lnTo>
                <a:lnTo>
                  <a:pt x="187452" y="544055"/>
                </a:lnTo>
                <a:lnTo>
                  <a:pt x="339090" y="544055"/>
                </a:lnTo>
                <a:lnTo>
                  <a:pt x="572262" y="544055"/>
                </a:lnTo>
                <a:lnTo>
                  <a:pt x="577596" y="541769"/>
                </a:lnTo>
                <a:lnTo>
                  <a:pt x="577596" y="585203"/>
                </a:lnTo>
                <a:lnTo>
                  <a:pt x="578853" y="593686"/>
                </a:lnTo>
                <a:lnTo>
                  <a:pt x="582549" y="600443"/>
                </a:lnTo>
                <a:lnTo>
                  <a:pt x="588518" y="604926"/>
                </a:lnTo>
                <a:lnTo>
                  <a:pt x="596646" y="606539"/>
                </a:lnTo>
                <a:lnTo>
                  <a:pt x="615696" y="606539"/>
                </a:lnTo>
                <a:lnTo>
                  <a:pt x="622960" y="604926"/>
                </a:lnTo>
                <a:lnTo>
                  <a:pt x="629310" y="600443"/>
                </a:lnTo>
                <a:lnTo>
                  <a:pt x="633793" y="593686"/>
                </a:lnTo>
                <a:lnTo>
                  <a:pt x="635508" y="585203"/>
                </a:lnTo>
                <a:lnTo>
                  <a:pt x="635508" y="399275"/>
                </a:lnTo>
                <a:close/>
              </a:path>
              <a:path w="742950" h="734695">
                <a:moveTo>
                  <a:pt x="742950" y="0"/>
                </a:moveTo>
                <a:lnTo>
                  <a:pt x="723900" y="0"/>
                </a:lnTo>
                <a:lnTo>
                  <a:pt x="723900" y="19037"/>
                </a:lnTo>
                <a:lnTo>
                  <a:pt x="723900" y="715505"/>
                </a:lnTo>
                <a:lnTo>
                  <a:pt x="19050" y="715505"/>
                </a:lnTo>
                <a:lnTo>
                  <a:pt x="19050" y="19037"/>
                </a:lnTo>
                <a:lnTo>
                  <a:pt x="723900" y="19037"/>
                </a:lnTo>
                <a:lnTo>
                  <a:pt x="723900" y="0"/>
                </a:lnTo>
                <a:lnTo>
                  <a:pt x="0" y="0"/>
                </a:lnTo>
                <a:lnTo>
                  <a:pt x="0" y="734555"/>
                </a:lnTo>
                <a:lnTo>
                  <a:pt x="9144" y="734555"/>
                </a:lnTo>
                <a:lnTo>
                  <a:pt x="19050" y="734555"/>
                </a:lnTo>
                <a:lnTo>
                  <a:pt x="723900" y="734555"/>
                </a:lnTo>
                <a:lnTo>
                  <a:pt x="733806" y="734555"/>
                </a:lnTo>
                <a:lnTo>
                  <a:pt x="742950" y="734555"/>
                </a:lnTo>
                <a:lnTo>
                  <a:pt x="742950" y="0"/>
                </a:lnTo>
                <a:close/>
              </a:path>
            </a:pathLst>
          </a:custGeom>
          <a:solidFill>
            <a:schemeClr val="accent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object 13">
            <a:extLst>
              <a:ext uri="{FF2B5EF4-FFF2-40B4-BE49-F238E27FC236}">
                <a16:creationId xmlns:a16="http://schemas.microsoft.com/office/drawing/2014/main" id="{5FF5C163-47A8-4BD3-E5E8-F30FDBA74ABA}"/>
              </a:ext>
            </a:extLst>
          </p:cNvPr>
          <p:cNvSpPr txBox="1">
            <a:spLocks/>
          </p:cNvSpPr>
          <p:nvPr/>
        </p:nvSpPr>
        <p:spPr>
          <a:xfrm>
            <a:off x="1242874" y="3477355"/>
            <a:ext cx="10585391" cy="749082"/>
          </a:xfrm>
          <a:prstGeom prst="rect">
            <a:avLst/>
          </a:prstGeom>
          <a:solidFill>
            <a:schemeClr val="accent2"/>
          </a:solidFill>
          <a:ln w="19050">
            <a:noFill/>
          </a:ln>
        </p:spPr>
        <p:txBody>
          <a:bodyPr vert="horz" wrap="square" lIns="180000" tIns="91440" rIns="91440" bIns="91440" rtlCol="0" anchor="ctr">
            <a:noAutofit/>
          </a:bodyPr>
          <a:lstStyle/>
          <a:p>
            <a:pPr marL="0" marR="0" lvl="0" indent="0" algn="l" defTabSz="914400" rtl="0" eaLnBrk="1" fontAlgn="auto" latinLnBrk="0" hangingPunct="1">
              <a:lnSpc>
                <a:spcPct val="100000"/>
              </a:lnSpc>
              <a:spcBef>
                <a:spcPts val="53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Arial"/>
                <a:ea typeface="+mn-ea"/>
                <a:cs typeface="Arial"/>
              </a:rPr>
              <a:t>Patients can also experience acute episodes of increased respiratory symptoms called exacerbations that can influence their prognosis and may require additional therapy.</a:t>
            </a:r>
          </a:p>
        </p:txBody>
      </p:sp>
      <p:sp>
        <p:nvSpPr>
          <p:cNvPr id="26" name="object 11">
            <a:extLst>
              <a:ext uri="{FF2B5EF4-FFF2-40B4-BE49-F238E27FC236}">
                <a16:creationId xmlns:a16="http://schemas.microsoft.com/office/drawing/2014/main" id="{BBD19880-ACB7-A124-12FD-E3447EC3CF35}"/>
              </a:ext>
            </a:extLst>
          </p:cNvPr>
          <p:cNvSpPr/>
          <p:nvPr/>
        </p:nvSpPr>
        <p:spPr>
          <a:xfrm>
            <a:off x="370612" y="4373692"/>
            <a:ext cx="768240" cy="760320"/>
          </a:xfrm>
          <a:custGeom>
            <a:avLst/>
            <a:gdLst/>
            <a:ahLst/>
            <a:cxnLst/>
            <a:rect l="l" t="t" r="r" b="b"/>
            <a:pathLst>
              <a:path w="742950" h="740410">
                <a:moveTo>
                  <a:pt x="306324" y="486918"/>
                </a:moveTo>
                <a:lnTo>
                  <a:pt x="218694" y="486918"/>
                </a:lnTo>
                <a:lnTo>
                  <a:pt x="218694" y="574548"/>
                </a:lnTo>
                <a:lnTo>
                  <a:pt x="306324" y="574548"/>
                </a:lnTo>
                <a:lnTo>
                  <a:pt x="306324" y="486918"/>
                </a:lnTo>
                <a:close/>
              </a:path>
              <a:path w="742950" h="740410">
                <a:moveTo>
                  <a:pt x="306324" y="341376"/>
                </a:moveTo>
                <a:lnTo>
                  <a:pt x="218694" y="341376"/>
                </a:lnTo>
                <a:lnTo>
                  <a:pt x="218694" y="429768"/>
                </a:lnTo>
                <a:lnTo>
                  <a:pt x="306324" y="429768"/>
                </a:lnTo>
                <a:lnTo>
                  <a:pt x="306324" y="341376"/>
                </a:lnTo>
                <a:close/>
              </a:path>
              <a:path w="742950" h="740410">
                <a:moveTo>
                  <a:pt x="455676" y="196596"/>
                </a:moveTo>
                <a:lnTo>
                  <a:pt x="218694" y="196596"/>
                </a:lnTo>
                <a:lnTo>
                  <a:pt x="218694" y="284226"/>
                </a:lnTo>
                <a:lnTo>
                  <a:pt x="455676" y="284226"/>
                </a:lnTo>
                <a:lnTo>
                  <a:pt x="455676" y="196596"/>
                </a:lnTo>
                <a:close/>
              </a:path>
              <a:path w="742950" h="740410">
                <a:moveTo>
                  <a:pt x="564642" y="559320"/>
                </a:moveTo>
                <a:lnTo>
                  <a:pt x="561594" y="555510"/>
                </a:lnTo>
                <a:lnTo>
                  <a:pt x="339852" y="555510"/>
                </a:lnTo>
                <a:lnTo>
                  <a:pt x="334518" y="559320"/>
                </a:lnTo>
                <a:lnTo>
                  <a:pt x="334518" y="569988"/>
                </a:lnTo>
                <a:lnTo>
                  <a:pt x="339852" y="574560"/>
                </a:lnTo>
                <a:lnTo>
                  <a:pt x="344424" y="574560"/>
                </a:lnTo>
                <a:lnTo>
                  <a:pt x="561594" y="574560"/>
                </a:lnTo>
                <a:lnTo>
                  <a:pt x="564642" y="569988"/>
                </a:lnTo>
                <a:lnTo>
                  <a:pt x="564642" y="559320"/>
                </a:lnTo>
                <a:close/>
              </a:path>
              <a:path w="742950" h="740410">
                <a:moveTo>
                  <a:pt x="564642" y="488442"/>
                </a:moveTo>
                <a:lnTo>
                  <a:pt x="561594" y="483870"/>
                </a:lnTo>
                <a:lnTo>
                  <a:pt x="339852" y="483870"/>
                </a:lnTo>
                <a:lnTo>
                  <a:pt x="334518" y="488442"/>
                </a:lnTo>
                <a:lnTo>
                  <a:pt x="334518" y="499872"/>
                </a:lnTo>
                <a:lnTo>
                  <a:pt x="339852" y="502920"/>
                </a:lnTo>
                <a:lnTo>
                  <a:pt x="344424" y="502920"/>
                </a:lnTo>
                <a:lnTo>
                  <a:pt x="561594" y="502920"/>
                </a:lnTo>
                <a:lnTo>
                  <a:pt x="564642" y="499872"/>
                </a:lnTo>
                <a:lnTo>
                  <a:pt x="564642" y="488442"/>
                </a:lnTo>
                <a:close/>
              </a:path>
              <a:path w="742950" h="740410">
                <a:moveTo>
                  <a:pt x="564642" y="419100"/>
                </a:moveTo>
                <a:lnTo>
                  <a:pt x="561594" y="414528"/>
                </a:lnTo>
                <a:lnTo>
                  <a:pt x="339852" y="414528"/>
                </a:lnTo>
                <a:lnTo>
                  <a:pt x="334518" y="419100"/>
                </a:lnTo>
                <a:lnTo>
                  <a:pt x="334518" y="428244"/>
                </a:lnTo>
                <a:lnTo>
                  <a:pt x="339852" y="433578"/>
                </a:lnTo>
                <a:lnTo>
                  <a:pt x="344424" y="433578"/>
                </a:lnTo>
                <a:lnTo>
                  <a:pt x="561594" y="433578"/>
                </a:lnTo>
                <a:lnTo>
                  <a:pt x="564642" y="428244"/>
                </a:lnTo>
                <a:lnTo>
                  <a:pt x="564642" y="419100"/>
                </a:lnTo>
                <a:close/>
              </a:path>
              <a:path w="742950" h="740410">
                <a:moveTo>
                  <a:pt x="564642" y="348234"/>
                </a:moveTo>
                <a:lnTo>
                  <a:pt x="561594" y="344424"/>
                </a:lnTo>
                <a:lnTo>
                  <a:pt x="339852" y="344424"/>
                </a:lnTo>
                <a:lnTo>
                  <a:pt x="334518" y="348234"/>
                </a:lnTo>
                <a:lnTo>
                  <a:pt x="334518" y="358902"/>
                </a:lnTo>
                <a:lnTo>
                  <a:pt x="339852" y="363474"/>
                </a:lnTo>
                <a:lnTo>
                  <a:pt x="344424" y="363474"/>
                </a:lnTo>
                <a:lnTo>
                  <a:pt x="561594" y="363474"/>
                </a:lnTo>
                <a:lnTo>
                  <a:pt x="564642" y="358902"/>
                </a:lnTo>
                <a:lnTo>
                  <a:pt x="564642" y="348234"/>
                </a:lnTo>
                <a:close/>
              </a:path>
              <a:path w="742950" h="740410">
                <a:moveTo>
                  <a:pt x="627126" y="270510"/>
                </a:moveTo>
                <a:lnTo>
                  <a:pt x="607314" y="250698"/>
                </a:lnTo>
                <a:lnTo>
                  <a:pt x="607314" y="278130"/>
                </a:lnTo>
                <a:lnTo>
                  <a:pt x="607314" y="278904"/>
                </a:lnTo>
                <a:lnTo>
                  <a:pt x="607314" y="581406"/>
                </a:lnTo>
                <a:lnTo>
                  <a:pt x="604354" y="596163"/>
                </a:lnTo>
                <a:lnTo>
                  <a:pt x="596265" y="608558"/>
                </a:lnTo>
                <a:lnTo>
                  <a:pt x="584161" y="617093"/>
                </a:lnTo>
                <a:lnTo>
                  <a:pt x="569214" y="620268"/>
                </a:lnTo>
                <a:lnTo>
                  <a:pt x="182880" y="620268"/>
                </a:lnTo>
                <a:lnTo>
                  <a:pt x="168236" y="617093"/>
                </a:lnTo>
                <a:lnTo>
                  <a:pt x="156108" y="608558"/>
                </a:lnTo>
                <a:lnTo>
                  <a:pt x="147828" y="596163"/>
                </a:lnTo>
                <a:lnTo>
                  <a:pt x="144780" y="581406"/>
                </a:lnTo>
                <a:lnTo>
                  <a:pt x="144780" y="162306"/>
                </a:lnTo>
                <a:lnTo>
                  <a:pt x="164592" y="162306"/>
                </a:lnTo>
                <a:lnTo>
                  <a:pt x="164592" y="580644"/>
                </a:lnTo>
                <a:lnTo>
                  <a:pt x="164592" y="585216"/>
                </a:lnTo>
                <a:lnTo>
                  <a:pt x="169926" y="590550"/>
                </a:lnTo>
                <a:lnTo>
                  <a:pt x="181356" y="590550"/>
                </a:lnTo>
                <a:lnTo>
                  <a:pt x="185928" y="585216"/>
                </a:lnTo>
                <a:lnTo>
                  <a:pt x="185928" y="162306"/>
                </a:lnTo>
                <a:lnTo>
                  <a:pt x="485394" y="162306"/>
                </a:lnTo>
                <a:lnTo>
                  <a:pt x="485394" y="278904"/>
                </a:lnTo>
                <a:lnTo>
                  <a:pt x="607314" y="278904"/>
                </a:lnTo>
                <a:lnTo>
                  <a:pt x="607314" y="278155"/>
                </a:lnTo>
                <a:lnTo>
                  <a:pt x="490740" y="162306"/>
                </a:lnTo>
                <a:lnTo>
                  <a:pt x="491490" y="162306"/>
                </a:lnTo>
                <a:lnTo>
                  <a:pt x="495300" y="166116"/>
                </a:lnTo>
                <a:lnTo>
                  <a:pt x="607314" y="278130"/>
                </a:lnTo>
                <a:lnTo>
                  <a:pt x="607314" y="250698"/>
                </a:lnTo>
                <a:lnTo>
                  <a:pt x="499110" y="142494"/>
                </a:lnTo>
                <a:lnTo>
                  <a:pt x="181356" y="142494"/>
                </a:lnTo>
                <a:lnTo>
                  <a:pt x="169926" y="142494"/>
                </a:lnTo>
                <a:lnTo>
                  <a:pt x="124968" y="142494"/>
                </a:lnTo>
                <a:lnTo>
                  <a:pt x="124968" y="581406"/>
                </a:lnTo>
                <a:lnTo>
                  <a:pt x="142201" y="622363"/>
                </a:lnTo>
                <a:lnTo>
                  <a:pt x="182880" y="639318"/>
                </a:lnTo>
                <a:lnTo>
                  <a:pt x="569214" y="639318"/>
                </a:lnTo>
                <a:lnTo>
                  <a:pt x="607314" y="624293"/>
                </a:lnTo>
                <a:lnTo>
                  <a:pt x="627126" y="581406"/>
                </a:lnTo>
                <a:lnTo>
                  <a:pt x="627126" y="270510"/>
                </a:lnTo>
                <a:close/>
              </a:path>
              <a:path w="742950" h="740410">
                <a:moveTo>
                  <a:pt x="742950" y="0"/>
                </a:moveTo>
                <a:lnTo>
                  <a:pt x="723900" y="0"/>
                </a:lnTo>
                <a:lnTo>
                  <a:pt x="723900" y="19050"/>
                </a:lnTo>
                <a:lnTo>
                  <a:pt x="723900" y="720852"/>
                </a:lnTo>
                <a:lnTo>
                  <a:pt x="19050" y="720852"/>
                </a:lnTo>
                <a:lnTo>
                  <a:pt x="19050" y="19050"/>
                </a:lnTo>
                <a:lnTo>
                  <a:pt x="723900" y="19050"/>
                </a:lnTo>
                <a:lnTo>
                  <a:pt x="723900" y="0"/>
                </a:lnTo>
                <a:lnTo>
                  <a:pt x="0" y="0"/>
                </a:lnTo>
                <a:lnTo>
                  <a:pt x="0" y="739902"/>
                </a:lnTo>
                <a:lnTo>
                  <a:pt x="9144" y="739902"/>
                </a:lnTo>
                <a:lnTo>
                  <a:pt x="19050" y="739902"/>
                </a:lnTo>
                <a:lnTo>
                  <a:pt x="723900" y="739902"/>
                </a:lnTo>
                <a:lnTo>
                  <a:pt x="733806" y="739902"/>
                </a:lnTo>
                <a:lnTo>
                  <a:pt x="742950" y="739902"/>
                </a:lnTo>
                <a:lnTo>
                  <a:pt x="742950" y="0"/>
                </a:lnTo>
                <a:close/>
              </a:path>
            </a:pathLst>
          </a:custGeom>
          <a:solidFill>
            <a:schemeClr val="accent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7" name="object 17">
            <a:extLst>
              <a:ext uri="{FF2B5EF4-FFF2-40B4-BE49-F238E27FC236}">
                <a16:creationId xmlns:a16="http://schemas.microsoft.com/office/drawing/2014/main" id="{C53D432C-DB73-028E-2201-20CF7A09E94A}"/>
              </a:ext>
            </a:extLst>
          </p:cNvPr>
          <p:cNvSpPr txBox="1">
            <a:spLocks/>
          </p:cNvSpPr>
          <p:nvPr/>
        </p:nvSpPr>
        <p:spPr>
          <a:xfrm>
            <a:off x="1242874" y="4379311"/>
            <a:ext cx="10585391" cy="749082"/>
          </a:xfrm>
          <a:prstGeom prst="rect">
            <a:avLst/>
          </a:prstGeom>
          <a:solidFill>
            <a:schemeClr val="accent3"/>
          </a:solidFill>
          <a:ln w="19050">
            <a:noFill/>
          </a:ln>
        </p:spPr>
        <p:txBody>
          <a:bodyPr vert="horz" wrap="square" lIns="180000" tIns="91440" rIns="91440" bIns="91440" rtlCol="0" anchor="ctr">
            <a:noAutofit/>
          </a:bodyPr>
          <a:lstStyle/>
          <a:p>
            <a:pPr marL="0" marR="56642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a:ea typeface="+mn-ea"/>
                <a:cs typeface="Arial"/>
              </a:rPr>
              <a:t>The GOLD 2025 strategy document updates.</a:t>
            </a:r>
          </a:p>
        </p:txBody>
      </p:sp>
      <p:sp>
        <p:nvSpPr>
          <p:cNvPr id="36" name="object 5">
            <a:extLst>
              <a:ext uri="{FF2B5EF4-FFF2-40B4-BE49-F238E27FC236}">
                <a16:creationId xmlns:a16="http://schemas.microsoft.com/office/drawing/2014/main" id="{F8F66AD6-3D2F-7960-5AFA-D3205825F344}"/>
              </a:ext>
            </a:extLst>
          </p:cNvPr>
          <p:cNvSpPr txBox="1">
            <a:spLocks/>
          </p:cNvSpPr>
          <p:nvPr/>
        </p:nvSpPr>
        <p:spPr>
          <a:xfrm>
            <a:off x="1244740" y="1675696"/>
            <a:ext cx="10583526" cy="744443"/>
          </a:xfrm>
          <a:prstGeom prst="rect">
            <a:avLst/>
          </a:prstGeom>
          <a:solidFill>
            <a:srgbClr val="F36633"/>
          </a:solidFill>
          <a:ln w="19050">
            <a:noFill/>
          </a:ln>
        </p:spPr>
        <p:txBody>
          <a:bodyPr vert="horz" wrap="square" lIns="180000" tIns="91440" rIns="91440" bIns="91440" rtlCol="0" anchor="ctr">
            <a:noAutofit/>
          </a:bodyPr>
          <a:lstStyle/>
          <a:p>
            <a:pPr marL="0" marR="425450" lvl="0" indent="0" algn="l"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a:ea typeface="+mn-ea"/>
                <a:cs typeface="Arial"/>
              </a:rPr>
              <a:t>COPD is a heterogenous lung condition characterised by chronic respiratory symptoms due to abnormalities of the airway.</a:t>
            </a:r>
            <a:endParaRPr kumimoji="0" lang="en-GB" sz="1600" b="0" i="0" u="none" strike="noStrike" kern="1200" cap="none" spc="0" normalizeH="0" baseline="0" noProof="0" dirty="0">
              <a:ln>
                <a:noFill/>
              </a:ln>
              <a:solidFill>
                <a:srgbClr val="000000"/>
              </a:solidFill>
              <a:effectLst/>
              <a:uLnTx/>
              <a:uFillTx/>
              <a:latin typeface="Arial"/>
              <a:ea typeface="+mn-ea"/>
              <a:cs typeface="Arial"/>
            </a:endParaRPr>
          </a:p>
        </p:txBody>
      </p:sp>
      <p:sp>
        <p:nvSpPr>
          <p:cNvPr id="37" name="object 7">
            <a:extLst>
              <a:ext uri="{FF2B5EF4-FFF2-40B4-BE49-F238E27FC236}">
                <a16:creationId xmlns:a16="http://schemas.microsoft.com/office/drawing/2014/main" id="{06354BEE-C2F9-F86A-9861-582053F3E426}"/>
              </a:ext>
            </a:extLst>
          </p:cNvPr>
          <p:cNvSpPr/>
          <p:nvPr/>
        </p:nvSpPr>
        <p:spPr>
          <a:xfrm>
            <a:off x="370612" y="1667680"/>
            <a:ext cx="768240" cy="760473"/>
          </a:xfrm>
          <a:custGeom>
            <a:avLst/>
            <a:gdLst/>
            <a:ahLst/>
            <a:cxnLst/>
            <a:rect l="l" t="t" r="r" b="b"/>
            <a:pathLst>
              <a:path w="739140" h="730885">
                <a:moveTo>
                  <a:pt x="192786" y="604266"/>
                </a:moveTo>
                <a:lnTo>
                  <a:pt x="134874" y="546354"/>
                </a:lnTo>
                <a:lnTo>
                  <a:pt x="131457" y="558571"/>
                </a:lnTo>
                <a:lnTo>
                  <a:pt x="131635" y="571500"/>
                </a:lnTo>
                <a:lnTo>
                  <a:pt x="154419" y="602348"/>
                </a:lnTo>
                <a:lnTo>
                  <a:pt x="179895" y="607441"/>
                </a:lnTo>
                <a:lnTo>
                  <a:pt x="192786" y="604266"/>
                </a:lnTo>
                <a:close/>
              </a:path>
              <a:path w="739140" h="730885">
                <a:moveTo>
                  <a:pt x="616458" y="294894"/>
                </a:moveTo>
                <a:lnTo>
                  <a:pt x="610235" y="247878"/>
                </a:lnTo>
                <a:lnTo>
                  <a:pt x="592658" y="205524"/>
                </a:lnTo>
                <a:lnTo>
                  <a:pt x="587502" y="198755"/>
                </a:lnTo>
                <a:lnTo>
                  <a:pt x="587502" y="294894"/>
                </a:lnTo>
                <a:lnTo>
                  <a:pt x="580097" y="340766"/>
                </a:lnTo>
                <a:lnTo>
                  <a:pt x="559435" y="380746"/>
                </a:lnTo>
                <a:lnTo>
                  <a:pt x="527748" y="412419"/>
                </a:lnTo>
                <a:lnTo>
                  <a:pt x="487324" y="433374"/>
                </a:lnTo>
                <a:lnTo>
                  <a:pt x="440436" y="441198"/>
                </a:lnTo>
                <a:lnTo>
                  <a:pt x="394119" y="433374"/>
                </a:lnTo>
                <a:lnTo>
                  <a:pt x="353771" y="412419"/>
                </a:lnTo>
                <a:lnTo>
                  <a:pt x="321868" y="380746"/>
                </a:lnTo>
                <a:lnTo>
                  <a:pt x="300901" y="340766"/>
                </a:lnTo>
                <a:lnTo>
                  <a:pt x="293370" y="294894"/>
                </a:lnTo>
                <a:lnTo>
                  <a:pt x="300901" y="247992"/>
                </a:lnTo>
                <a:lnTo>
                  <a:pt x="321868" y="207479"/>
                </a:lnTo>
                <a:lnTo>
                  <a:pt x="353771" y="175564"/>
                </a:lnTo>
                <a:lnTo>
                  <a:pt x="394119" y="154444"/>
                </a:lnTo>
                <a:lnTo>
                  <a:pt x="440436" y="146304"/>
                </a:lnTo>
                <a:lnTo>
                  <a:pt x="487324" y="154444"/>
                </a:lnTo>
                <a:lnTo>
                  <a:pt x="527748" y="175564"/>
                </a:lnTo>
                <a:lnTo>
                  <a:pt x="559435" y="207479"/>
                </a:lnTo>
                <a:lnTo>
                  <a:pt x="580097" y="247992"/>
                </a:lnTo>
                <a:lnTo>
                  <a:pt x="587502" y="294894"/>
                </a:lnTo>
                <a:lnTo>
                  <a:pt x="587502" y="198755"/>
                </a:lnTo>
                <a:lnTo>
                  <a:pt x="565302" y="169545"/>
                </a:lnTo>
                <a:lnTo>
                  <a:pt x="529755" y="141706"/>
                </a:lnTo>
                <a:lnTo>
                  <a:pt x="487603" y="123736"/>
                </a:lnTo>
                <a:lnTo>
                  <a:pt x="440436" y="117348"/>
                </a:lnTo>
                <a:lnTo>
                  <a:pt x="393788" y="123736"/>
                </a:lnTo>
                <a:lnTo>
                  <a:pt x="351790" y="141706"/>
                </a:lnTo>
                <a:lnTo>
                  <a:pt x="316128" y="169545"/>
                </a:lnTo>
                <a:lnTo>
                  <a:pt x="288544" y="205524"/>
                </a:lnTo>
                <a:lnTo>
                  <a:pt x="270725" y="247878"/>
                </a:lnTo>
                <a:lnTo>
                  <a:pt x="264414" y="294894"/>
                </a:lnTo>
                <a:lnTo>
                  <a:pt x="267462" y="327126"/>
                </a:lnTo>
                <a:lnTo>
                  <a:pt x="276225" y="357289"/>
                </a:lnTo>
                <a:lnTo>
                  <a:pt x="290131" y="385013"/>
                </a:lnTo>
                <a:lnTo>
                  <a:pt x="293370" y="389394"/>
                </a:lnTo>
                <a:lnTo>
                  <a:pt x="308610" y="409956"/>
                </a:lnTo>
                <a:lnTo>
                  <a:pt x="303276" y="416052"/>
                </a:lnTo>
                <a:lnTo>
                  <a:pt x="289725" y="411797"/>
                </a:lnTo>
                <a:lnTo>
                  <a:pt x="276034" y="411670"/>
                </a:lnTo>
                <a:lnTo>
                  <a:pt x="263194" y="415848"/>
                </a:lnTo>
                <a:lnTo>
                  <a:pt x="252222" y="424434"/>
                </a:lnTo>
                <a:lnTo>
                  <a:pt x="143256" y="532638"/>
                </a:lnTo>
                <a:lnTo>
                  <a:pt x="143256" y="534162"/>
                </a:lnTo>
                <a:lnTo>
                  <a:pt x="204978" y="595884"/>
                </a:lnTo>
                <a:lnTo>
                  <a:pt x="204978" y="594360"/>
                </a:lnTo>
                <a:lnTo>
                  <a:pt x="308610" y="491464"/>
                </a:lnTo>
                <a:lnTo>
                  <a:pt x="325729" y="449516"/>
                </a:lnTo>
                <a:lnTo>
                  <a:pt x="322326" y="436626"/>
                </a:lnTo>
                <a:lnTo>
                  <a:pt x="329184" y="430530"/>
                </a:lnTo>
                <a:lnTo>
                  <a:pt x="353529" y="447014"/>
                </a:lnTo>
                <a:lnTo>
                  <a:pt x="380517" y="459486"/>
                </a:lnTo>
                <a:lnTo>
                  <a:pt x="409651" y="467398"/>
                </a:lnTo>
                <a:lnTo>
                  <a:pt x="440436" y="470154"/>
                </a:lnTo>
                <a:lnTo>
                  <a:pt x="487603" y="463842"/>
                </a:lnTo>
                <a:lnTo>
                  <a:pt x="529755" y="446062"/>
                </a:lnTo>
                <a:lnTo>
                  <a:pt x="565302" y="418528"/>
                </a:lnTo>
                <a:lnTo>
                  <a:pt x="592658" y="383006"/>
                </a:lnTo>
                <a:lnTo>
                  <a:pt x="610235" y="341223"/>
                </a:lnTo>
                <a:lnTo>
                  <a:pt x="616458" y="294894"/>
                </a:lnTo>
                <a:close/>
              </a:path>
              <a:path w="739140" h="730885">
                <a:moveTo>
                  <a:pt x="739140" y="0"/>
                </a:moveTo>
                <a:lnTo>
                  <a:pt x="720090" y="0"/>
                </a:lnTo>
                <a:lnTo>
                  <a:pt x="720090" y="19050"/>
                </a:lnTo>
                <a:lnTo>
                  <a:pt x="720090" y="711708"/>
                </a:lnTo>
                <a:lnTo>
                  <a:pt x="19050" y="711708"/>
                </a:lnTo>
                <a:lnTo>
                  <a:pt x="19050" y="19050"/>
                </a:lnTo>
                <a:lnTo>
                  <a:pt x="720090" y="19050"/>
                </a:lnTo>
                <a:lnTo>
                  <a:pt x="720090" y="0"/>
                </a:lnTo>
                <a:lnTo>
                  <a:pt x="0" y="0"/>
                </a:lnTo>
                <a:lnTo>
                  <a:pt x="0" y="730758"/>
                </a:lnTo>
                <a:lnTo>
                  <a:pt x="9144" y="730758"/>
                </a:lnTo>
                <a:lnTo>
                  <a:pt x="19050" y="730758"/>
                </a:lnTo>
                <a:lnTo>
                  <a:pt x="720090" y="730758"/>
                </a:lnTo>
                <a:lnTo>
                  <a:pt x="729996" y="730758"/>
                </a:lnTo>
                <a:lnTo>
                  <a:pt x="739140" y="730758"/>
                </a:lnTo>
                <a:lnTo>
                  <a:pt x="739140"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 name="object 9">
            <a:extLst>
              <a:ext uri="{FF2B5EF4-FFF2-40B4-BE49-F238E27FC236}">
                <a16:creationId xmlns:a16="http://schemas.microsoft.com/office/drawing/2014/main" id="{153A9A1F-6E98-5E63-4D43-19B2EB58FFA0}"/>
              </a:ext>
            </a:extLst>
          </p:cNvPr>
          <p:cNvSpPr txBox="1">
            <a:spLocks/>
          </p:cNvSpPr>
          <p:nvPr/>
        </p:nvSpPr>
        <p:spPr>
          <a:xfrm>
            <a:off x="1242874" y="2575400"/>
            <a:ext cx="10585391" cy="749082"/>
          </a:xfrm>
          <a:prstGeom prst="rect">
            <a:avLst/>
          </a:prstGeom>
          <a:solidFill>
            <a:schemeClr val="accent1"/>
          </a:solidFill>
          <a:ln w="19050">
            <a:noFill/>
          </a:ln>
        </p:spPr>
        <p:txBody>
          <a:bodyPr vert="horz" wrap="square" lIns="180000" tIns="91440" rIns="91440" bIns="91440" rtlCol="0" anchor="ctr">
            <a:noAutofit/>
          </a:bodyPr>
          <a:lstStyle/>
          <a:p>
            <a:pPr marL="0" marR="0" lvl="0" indent="0" algn="l" defTabSz="914400" rtl="0" eaLnBrk="1" fontAlgn="auto" latinLnBrk="0" hangingPunct="1">
              <a:lnSpc>
                <a:spcPct val="100000"/>
              </a:lnSpc>
              <a:spcBef>
                <a:spcPts val="530"/>
              </a:spcBef>
              <a:spcAft>
                <a:spcPts val="0"/>
              </a:spcAft>
              <a:buClrTx/>
              <a:buSzTx/>
              <a:buFontTx/>
              <a:buNone/>
              <a:tabLst/>
              <a:defRPr/>
            </a:pPr>
            <a:r>
              <a:rPr kumimoji="0" lang="en-GB" sz="1600" b="0" i="0" u="none" strike="noStrike" kern="1200" cap="none" spc="0" normalizeH="0" baseline="0" noProof="0" dirty="0">
                <a:ln>
                  <a:noFill/>
                </a:ln>
                <a:solidFill>
                  <a:srgbClr val="FFFFFF"/>
                </a:solidFill>
                <a:effectLst/>
                <a:uLnTx/>
                <a:uFillTx/>
                <a:latin typeface="Arial"/>
                <a:ea typeface="+mn-ea"/>
                <a:cs typeface="Arial"/>
              </a:rPr>
              <a:t>Patients with COPD typically experience dyspnoea, activity limitation and/or cough with or without sputum production. </a:t>
            </a:r>
          </a:p>
        </p:txBody>
      </p:sp>
      <p:sp>
        <p:nvSpPr>
          <p:cNvPr id="40" name="object 9">
            <a:extLst>
              <a:ext uri="{FF2B5EF4-FFF2-40B4-BE49-F238E27FC236}">
                <a16:creationId xmlns:a16="http://schemas.microsoft.com/office/drawing/2014/main" id="{FCCFEC09-62D6-68CA-F32B-DF4E203AD781}"/>
              </a:ext>
            </a:extLst>
          </p:cNvPr>
          <p:cNvSpPr/>
          <p:nvPr/>
        </p:nvSpPr>
        <p:spPr>
          <a:xfrm>
            <a:off x="370612" y="2569781"/>
            <a:ext cx="768240" cy="760320"/>
          </a:xfrm>
          <a:custGeom>
            <a:avLst/>
            <a:gdLst/>
            <a:ahLst/>
            <a:cxnLst/>
            <a:rect l="l" t="t" r="r" b="b"/>
            <a:pathLst>
              <a:path w="742950" h="725804">
                <a:moveTo>
                  <a:pt x="639813" y="546976"/>
                </a:moveTo>
                <a:lnTo>
                  <a:pt x="637794" y="506730"/>
                </a:lnTo>
                <a:lnTo>
                  <a:pt x="631164" y="462381"/>
                </a:lnTo>
                <a:lnTo>
                  <a:pt x="620268" y="419392"/>
                </a:lnTo>
                <a:lnTo>
                  <a:pt x="606501" y="377393"/>
                </a:lnTo>
                <a:lnTo>
                  <a:pt x="591312" y="336042"/>
                </a:lnTo>
                <a:lnTo>
                  <a:pt x="575576" y="299034"/>
                </a:lnTo>
                <a:lnTo>
                  <a:pt x="526694" y="245287"/>
                </a:lnTo>
                <a:lnTo>
                  <a:pt x="489966" y="236982"/>
                </a:lnTo>
                <a:lnTo>
                  <a:pt x="471678" y="239268"/>
                </a:lnTo>
                <a:lnTo>
                  <a:pt x="456704" y="251472"/>
                </a:lnTo>
                <a:lnTo>
                  <a:pt x="447954" y="270611"/>
                </a:lnTo>
                <a:lnTo>
                  <a:pt x="443064" y="292747"/>
                </a:lnTo>
                <a:lnTo>
                  <a:pt x="439674" y="313944"/>
                </a:lnTo>
                <a:lnTo>
                  <a:pt x="437388" y="319278"/>
                </a:lnTo>
                <a:lnTo>
                  <a:pt x="437388" y="328422"/>
                </a:lnTo>
                <a:lnTo>
                  <a:pt x="403098" y="301752"/>
                </a:lnTo>
                <a:lnTo>
                  <a:pt x="403098" y="118872"/>
                </a:lnTo>
                <a:lnTo>
                  <a:pt x="400812" y="116586"/>
                </a:lnTo>
                <a:lnTo>
                  <a:pt x="363474" y="116586"/>
                </a:lnTo>
                <a:lnTo>
                  <a:pt x="361188" y="118872"/>
                </a:lnTo>
                <a:lnTo>
                  <a:pt x="361188" y="301752"/>
                </a:lnTo>
                <a:lnTo>
                  <a:pt x="333756" y="326136"/>
                </a:lnTo>
                <a:lnTo>
                  <a:pt x="333756" y="321564"/>
                </a:lnTo>
                <a:lnTo>
                  <a:pt x="331470" y="316230"/>
                </a:lnTo>
                <a:lnTo>
                  <a:pt x="331470" y="313944"/>
                </a:lnTo>
                <a:lnTo>
                  <a:pt x="323176" y="270611"/>
                </a:lnTo>
                <a:lnTo>
                  <a:pt x="299466" y="239268"/>
                </a:lnTo>
                <a:lnTo>
                  <a:pt x="281178" y="236982"/>
                </a:lnTo>
                <a:lnTo>
                  <a:pt x="244436" y="245287"/>
                </a:lnTo>
                <a:lnTo>
                  <a:pt x="195554" y="299034"/>
                </a:lnTo>
                <a:lnTo>
                  <a:pt x="179832" y="336042"/>
                </a:lnTo>
                <a:lnTo>
                  <a:pt x="164642" y="377393"/>
                </a:lnTo>
                <a:lnTo>
                  <a:pt x="150964" y="419392"/>
                </a:lnTo>
                <a:lnTo>
                  <a:pt x="140284" y="462381"/>
                </a:lnTo>
                <a:lnTo>
                  <a:pt x="134112" y="506730"/>
                </a:lnTo>
                <a:lnTo>
                  <a:pt x="132067" y="546976"/>
                </a:lnTo>
                <a:lnTo>
                  <a:pt x="136677" y="583501"/>
                </a:lnTo>
                <a:lnTo>
                  <a:pt x="153720" y="610031"/>
                </a:lnTo>
                <a:lnTo>
                  <a:pt x="188976" y="620268"/>
                </a:lnTo>
                <a:lnTo>
                  <a:pt x="219379" y="613867"/>
                </a:lnTo>
                <a:lnTo>
                  <a:pt x="246507" y="598170"/>
                </a:lnTo>
                <a:lnTo>
                  <a:pt x="271907" y="578485"/>
                </a:lnTo>
                <a:lnTo>
                  <a:pt x="297180" y="560070"/>
                </a:lnTo>
                <a:lnTo>
                  <a:pt x="328041" y="536549"/>
                </a:lnTo>
                <a:lnTo>
                  <a:pt x="345186" y="502158"/>
                </a:lnTo>
                <a:lnTo>
                  <a:pt x="347078" y="477901"/>
                </a:lnTo>
                <a:lnTo>
                  <a:pt x="346608" y="452628"/>
                </a:lnTo>
                <a:lnTo>
                  <a:pt x="344855" y="427367"/>
                </a:lnTo>
                <a:lnTo>
                  <a:pt x="342900" y="403098"/>
                </a:lnTo>
                <a:lnTo>
                  <a:pt x="342861" y="394436"/>
                </a:lnTo>
                <a:lnTo>
                  <a:pt x="342607" y="386334"/>
                </a:lnTo>
                <a:lnTo>
                  <a:pt x="341934" y="378244"/>
                </a:lnTo>
                <a:lnTo>
                  <a:pt x="340614" y="369570"/>
                </a:lnTo>
                <a:lnTo>
                  <a:pt x="382524" y="338328"/>
                </a:lnTo>
                <a:lnTo>
                  <a:pt x="428244" y="374142"/>
                </a:lnTo>
                <a:lnTo>
                  <a:pt x="428244" y="403098"/>
                </a:lnTo>
                <a:lnTo>
                  <a:pt x="426275" y="427367"/>
                </a:lnTo>
                <a:lnTo>
                  <a:pt x="424522" y="452628"/>
                </a:lnTo>
                <a:lnTo>
                  <a:pt x="424053" y="477901"/>
                </a:lnTo>
                <a:lnTo>
                  <a:pt x="425958" y="502158"/>
                </a:lnTo>
                <a:lnTo>
                  <a:pt x="428244" y="509473"/>
                </a:lnTo>
                <a:lnTo>
                  <a:pt x="432168" y="522033"/>
                </a:lnTo>
                <a:lnTo>
                  <a:pt x="443103" y="536549"/>
                </a:lnTo>
                <a:lnTo>
                  <a:pt x="457454" y="548347"/>
                </a:lnTo>
                <a:lnTo>
                  <a:pt x="473964" y="560070"/>
                </a:lnTo>
                <a:lnTo>
                  <a:pt x="499541" y="578485"/>
                </a:lnTo>
                <a:lnTo>
                  <a:pt x="524916" y="598170"/>
                </a:lnTo>
                <a:lnTo>
                  <a:pt x="551865" y="613867"/>
                </a:lnTo>
                <a:lnTo>
                  <a:pt x="582168" y="620268"/>
                </a:lnTo>
                <a:lnTo>
                  <a:pt x="617855" y="610031"/>
                </a:lnTo>
                <a:lnTo>
                  <a:pt x="635127" y="583501"/>
                </a:lnTo>
                <a:lnTo>
                  <a:pt x="639813" y="546976"/>
                </a:lnTo>
                <a:close/>
              </a:path>
              <a:path w="742950" h="725804">
                <a:moveTo>
                  <a:pt x="742950" y="0"/>
                </a:moveTo>
                <a:lnTo>
                  <a:pt x="723900" y="0"/>
                </a:lnTo>
                <a:lnTo>
                  <a:pt x="723900" y="19050"/>
                </a:lnTo>
                <a:lnTo>
                  <a:pt x="723900" y="706374"/>
                </a:lnTo>
                <a:lnTo>
                  <a:pt x="19050" y="706374"/>
                </a:lnTo>
                <a:lnTo>
                  <a:pt x="19050" y="19050"/>
                </a:lnTo>
                <a:lnTo>
                  <a:pt x="723900" y="19050"/>
                </a:lnTo>
                <a:lnTo>
                  <a:pt x="723900" y="0"/>
                </a:lnTo>
                <a:lnTo>
                  <a:pt x="0" y="0"/>
                </a:lnTo>
                <a:lnTo>
                  <a:pt x="0" y="725424"/>
                </a:lnTo>
                <a:lnTo>
                  <a:pt x="9144" y="725424"/>
                </a:lnTo>
                <a:lnTo>
                  <a:pt x="19050" y="725424"/>
                </a:lnTo>
                <a:lnTo>
                  <a:pt x="723900" y="725424"/>
                </a:lnTo>
                <a:lnTo>
                  <a:pt x="733806" y="725424"/>
                </a:lnTo>
                <a:lnTo>
                  <a:pt x="742950" y="725424"/>
                </a:lnTo>
                <a:lnTo>
                  <a:pt x="742950"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3" name="Rectangle 12">
            <a:extLst>
              <a:ext uri="{FF2B5EF4-FFF2-40B4-BE49-F238E27FC236}">
                <a16:creationId xmlns:a16="http://schemas.microsoft.com/office/drawing/2014/main" id="{12462C42-ADA8-57E1-2045-D9A94E239FFA}"/>
              </a:ext>
            </a:extLst>
          </p:cNvPr>
          <p:cNvSpPr/>
          <p:nvPr/>
        </p:nvSpPr>
        <p:spPr>
          <a:xfrm>
            <a:off x="4559300" y="6603973"/>
            <a:ext cx="3073400" cy="23083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000000"/>
                </a:solidFill>
                <a:effectLst/>
                <a:uLnTx/>
                <a:uFillTx/>
                <a:latin typeface="Arial"/>
                <a:ea typeface="+mn-ea"/>
                <a:cs typeface="Noto Sans"/>
              </a:rPr>
              <a:t>FOR INTERNAL GSK USE ONLY</a:t>
            </a:r>
            <a:endParaRPr kumimoji="0" lang="en-GB" sz="9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Date Placeholder 4">
            <a:extLst>
              <a:ext uri="{FF2B5EF4-FFF2-40B4-BE49-F238E27FC236}">
                <a16:creationId xmlns:a16="http://schemas.microsoft.com/office/drawing/2014/main" id="{30C70A39-1A14-AC3E-5282-BADC83052E39}"/>
              </a:ext>
            </a:extLst>
          </p:cNvPr>
          <p:cNvSpPr>
            <a:spLocks noGrp="1"/>
          </p:cNvSpPr>
          <p:nvPr>
            <p:ph type="dt" sz="half" idx="12"/>
          </p:nvPr>
        </p:nvSpPr>
        <p:spPr>
          <a:xfrm>
            <a:off x="8172450" y="6343650"/>
            <a:ext cx="2776537" cy="26987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91440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8843128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74D6CAE-2D82-65F4-A235-7BA68290EC62}"/>
              </a:ext>
            </a:extLst>
          </p:cNvPr>
          <p:cNvGraphicFramePr>
            <a:graphicFrameLocks noChangeAspect="1"/>
          </p:cNvGraphicFramePr>
          <p:nvPr>
            <p:custDataLst>
              <p:tags r:id="rId2"/>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06" imgH="306" progId="TCLayout.ActiveDocument.1">
                  <p:embed/>
                </p:oleObj>
              </mc:Choice>
              <mc:Fallback>
                <p:oleObj name="think-cell Slide" r:id="rId4" imgW="306" imgH="306" progId="TCLayout.ActiveDocument.1">
                  <p:embed/>
                  <p:pic>
                    <p:nvPicPr>
                      <p:cNvPr id="5" name="Object 4" hidden="1">
                        <a:extLst>
                          <a:ext uri="{FF2B5EF4-FFF2-40B4-BE49-F238E27FC236}">
                            <a16:creationId xmlns:a16="http://schemas.microsoft.com/office/drawing/2014/main" id="{974D6CAE-2D82-65F4-A235-7BA68290EC62}"/>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33A37B-02D0-8890-CFD2-49C17F16C6C4}"/>
              </a:ext>
            </a:extLst>
          </p:cNvPr>
          <p:cNvSpPr>
            <a:spLocks noGrp="1"/>
          </p:cNvSpPr>
          <p:nvPr>
            <p:ph type="ctrTitle"/>
          </p:nvPr>
        </p:nvSpPr>
        <p:spPr/>
        <p:txBody>
          <a:bodyPr vert="horz"/>
          <a:lstStyle/>
          <a:p>
            <a:br>
              <a:rPr lang="en-US" dirty="0"/>
            </a:br>
            <a:r>
              <a:rPr lang="en-US" dirty="0"/>
              <a:t>COPD epidemiology and burden</a:t>
            </a:r>
            <a:endParaRPr lang="en-GB" dirty="0"/>
          </a:p>
        </p:txBody>
      </p:sp>
      <p:sp>
        <p:nvSpPr>
          <p:cNvPr id="3" name="Subtitle 2">
            <a:extLst>
              <a:ext uri="{FF2B5EF4-FFF2-40B4-BE49-F238E27FC236}">
                <a16:creationId xmlns:a16="http://schemas.microsoft.com/office/drawing/2014/main" id="{15E23B74-EBA6-E3E1-4E30-B2A18106C6E1}"/>
              </a:ext>
            </a:extLst>
          </p:cNvPr>
          <p:cNvSpPr>
            <a:spLocks noGrp="1"/>
          </p:cNvSpPr>
          <p:nvPr>
            <p:ph type="subTitle" idx="1"/>
          </p:nvPr>
        </p:nvSpPr>
        <p:spPr/>
        <p:txBody>
          <a:bodyPr/>
          <a:lstStyle/>
          <a:p>
            <a:endParaRPr lang="en-GB" dirty="0"/>
          </a:p>
        </p:txBody>
      </p:sp>
      <p:sp>
        <p:nvSpPr>
          <p:cNvPr id="4" name="Text Placeholder 3">
            <a:extLst>
              <a:ext uri="{FF2B5EF4-FFF2-40B4-BE49-F238E27FC236}">
                <a16:creationId xmlns:a16="http://schemas.microsoft.com/office/drawing/2014/main" id="{38F42EE0-5C3F-AA55-7540-6D5361F1B19B}"/>
              </a:ext>
            </a:extLst>
          </p:cNvPr>
          <p:cNvSpPr>
            <a:spLocks noGrp="1"/>
          </p:cNvSpPr>
          <p:nvPr>
            <p:ph type="body" sz="quarter" idx="11"/>
          </p:nvPr>
        </p:nvSpPr>
        <p:spPr>
          <a:xfrm>
            <a:off x="501650" y="230188"/>
            <a:ext cx="2286000" cy="163512"/>
          </a:xfrm>
        </p:spPr>
        <p:txBody>
          <a:bodyPr/>
          <a:lstStyle/>
          <a:p>
            <a:endParaRPr lang="en-US" dirty="0"/>
          </a:p>
        </p:txBody>
      </p:sp>
    </p:spTree>
    <p:custDataLst>
      <p:tags r:id="rId1"/>
    </p:custDataLst>
    <p:extLst>
      <p:ext uri="{BB962C8B-B14F-4D97-AF65-F5344CB8AC3E}">
        <p14:creationId xmlns:p14="http://schemas.microsoft.com/office/powerpoint/2010/main" val="19726420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a:xfrm>
            <a:off x="365125" y="5554137"/>
            <a:ext cx="11460164" cy="537063"/>
          </a:xfrm>
        </p:spPr>
        <p:txBody>
          <a:bodyPr/>
          <a:lstStyle/>
          <a:p>
            <a:r>
              <a:rPr lang="en-US" dirty="0"/>
              <a:t>1. Adeloye D, et al. </a:t>
            </a:r>
            <a:r>
              <a:rPr lang="en-US" i="1" dirty="0"/>
              <a:t>J Glob Health</a:t>
            </a:r>
            <a:r>
              <a:rPr lang="en-US" dirty="0"/>
              <a:t>. 2015;5(2):1-17; 2.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3">
                  <a:extLst>
                    <a:ext uri="{A12FA001-AC4F-418D-AE19-62706E023703}">
                      <ahyp:hlinkClr xmlns:ahyp="http://schemas.microsoft.com/office/drawing/2018/hyperlinkcolor" val="tx"/>
                    </a:ext>
                  </a:extLst>
                </a:hlinkClick>
              </a:rPr>
              <a:t>https://goldcopd.org/2023-gold-report-2/</a:t>
            </a:r>
            <a:r>
              <a:rPr lang="en-US" dirty="0"/>
              <a:t>. Accessed February 2023; 3. Rycroft CE, et al. </a:t>
            </a:r>
            <a:r>
              <a:rPr lang="en-US" i="1" dirty="0"/>
              <a:t>Int J Chron Obstruct Pulmon Dis</a:t>
            </a:r>
            <a:r>
              <a:rPr lang="en-US" dirty="0"/>
              <a:t>. 2012;7:457-494; 4. Buist AS, et al. </a:t>
            </a:r>
            <a:r>
              <a:rPr lang="en-US" i="1" dirty="0"/>
              <a:t>Lancet</a:t>
            </a:r>
            <a:r>
              <a:rPr lang="en-US" dirty="0"/>
              <a:t>. 2007;370(9589):741-750; 5. Gershon A, et al. </a:t>
            </a:r>
            <a:r>
              <a:rPr lang="en-US" i="1" dirty="0"/>
              <a:t>Lancet</a:t>
            </a:r>
            <a:r>
              <a:rPr lang="en-US" dirty="0"/>
              <a:t>. 2011;378(9795):991-996; 6. WHO 2022. </a:t>
            </a:r>
            <a:r>
              <a:rPr lang="en-US" sz="800" dirty="0">
                <a:latin typeface="Arial"/>
                <a:cs typeface="Arial"/>
              </a:rPr>
              <a:t>Chronic Obstructive Pulmonary Disease (</a:t>
            </a:r>
            <a:r>
              <a:rPr lang="en-US" dirty="0"/>
              <a:t>COPD). </a:t>
            </a:r>
            <a:r>
              <a:rPr lang="en-US" dirty="0">
                <a:solidFill>
                  <a:schemeClr val="tx2"/>
                </a:solidFill>
                <a:hlinkClick r:id="rId4">
                  <a:extLst>
                    <a:ext uri="{A12FA001-AC4F-418D-AE19-62706E023703}">
                      <ahyp:hlinkClr xmlns:ahyp="http://schemas.microsoft.com/office/drawing/2018/hyperlinkcolor" val="tx"/>
                    </a:ext>
                  </a:extLst>
                </a:hlinkClick>
              </a:rPr>
              <a:t>https://www.who.int/news-room/fact-sheets/detail/chronic-obstructive-pulmonary-disease-(copd)</a:t>
            </a:r>
            <a:r>
              <a:rPr lang="en-US" dirty="0"/>
              <a:t>. Accessed March 2023.</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US" dirty="0"/>
              <a:t>COPD affects over 380 million people worldwide</a:t>
            </a:r>
            <a:r>
              <a:rPr lang="en-US" baseline="30000" dirty="0"/>
              <a:t>1</a:t>
            </a:r>
            <a:endParaRPr lang="en-GB" baseline="30000" dirty="0"/>
          </a:p>
        </p:txBody>
      </p:sp>
      <p:sp>
        <p:nvSpPr>
          <p:cNvPr id="5" name="Subtitle 4">
            <a:extLst>
              <a:ext uri="{FF2B5EF4-FFF2-40B4-BE49-F238E27FC236}">
                <a16:creationId xmlns:a16="http://schemas.microsoft.com/office/drawing/2014/main" id="{F956255C-1A2C-A4B6-9283-6AE0EB734377}"/>
              </a:ext>
            </a:extLst>
          </p:cNvPr>
          <p:cNvSpPr>
            <a:spLocks noGrp="1"/>
          </p:cNvSpPr>
          <p:nvPr>
            <p:ph type="subTitle" idx="1"/>
          </p:nvPr>
        </p:nvSpPr>
        <p:spPr>
          <a:xfrm>
            <a:off x="365125" y="694950"/>
            <a:ext cx="11460164" cy="352800"/>
          </a:xfrm>
        </p:spPr>
        <p:txBody>
          <a:bodyPr/>
          <a:lstStyle/>
          <a:p>
            <a:endParaRPr lang="en-GB" dirty="0"/>
          </a:p>
        </p:txBody>
      </p:sp>
      <p:sp>
        <p:nvSpPr>
          <p:cNvPr id="14" name="object 6">
            <a:extLst>
              <a:ext uri="{FF2B5EF4-FFF2-40B4-BE49-F238E27FC236}">
                <a16:creationId xmlns:a16="http://schemas.microsoft.com/office/drawing/2014/main" id="{9479B7AD-3908-C050-F336-D006BC466B0F}"/>
              </a:ext>
            </a:extLst>
          </p:cNvPr>
          <p:cNvSpPr txBox="1"/>
          <p:nvPr/>
        </p:nvSpPr>
        <p:spPr>
          <a:xfrm>
            <a:off x="1341126" y="1303338"/>
            <a:ext cx="10484162" cy="625295"/>
          </a:xfrm>
          <a:prstGeom prst="rect">
            <a:avLst/>
          </a:prstGeom>
          <a:solidFill>
            <a:schemeClr val="accent1">
              <a:lumMod val="20000"/>
              <a:lumOff val="80000"/>
            </a:schemeClr>
          </a:solidFill>
          <a:ln w="9525">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5"/>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In 2012, &gt; 3 million people died of COPD, which accounts for 6% of all global deaths.</a:t>
            </a:r>
            <a:r>
              <a:rPr kumimoji="0" lang="en-US" sz="1200" b="0" i="0" u="none" strike="noStrike" kern="1200" cap="none" spc="-5" normalizeH="0" baseline="30000" noProof="0" dirty="0">
                <a:ln>
                  <a:noFill/>
                </a:ln>
                <a:solidFill>
                  <a:srgbClr val="000000"/>
                </a:solidFill>
                <a:effectLst/>
                <a:uLnTx/>
                <a:uFillTx/>
                <a:latin typeface="Arial"/>
                <a:ea typeface="+mn-ea"/>
                <a:cs typeface="Arial"/>
              </a:rPr>
              <a:t>2</a:t>
            </a:r>
          </a:p>
        </p:txBody>
      </p:sp>
      <p:sp>
        <p:nvSpPr>
          <p:cNvPr id="19" name="object 7">
            <a:extLst>
              <a:ext uri="{FF2B5EF4-FFF2-40B4-BE49-F238E27FC236}">
                <a16:creationId xmlns:a16="http://schemas.microsoft.com/office/drawing/2014/main" id="{1A106006-77B2-2FCF-BF0D-162685829D7F}"/>
              </a:ext>
            </a:extLst>
          </p:cNvPr>
          <p:cNvSpPr/>
          <p:nvPr/>
        </p:nvSpPr>
        <p:spPr>
          <a:xfrm>
            <a:off x="373195" y="1303338"/>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1"/>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object 8">
            <a:extLst>
              <a:ext uri="{FF2B5EF4-FFF2-40B4-BE49-F238E27FC236}">
                <a16:creationId xmlns:a16="http://schemas.microsoft.com/office/drawing/2014/main" id="{9CF97592-5231-C845-569D-DF2194EDAE0A}"/>
              </a:ext>
            </a:extLst>
          </p:cNvPr>
          <p:cNvSpPr txBox="1"/>
          <p:nvPr/>
        </p:nvSpPr>
        <p:spPr>
          <a:xfrm>
            <a:off x="1341120" y="1977542"/>
            <a:ext cx="10483910" cy="625295"/>
          </a:xfrm>
          <a:prstGeom prst="rect">
            <a:avLst/>
          </a:prstGeom>
          <a:solidFill>
            <a:schemeClr val="accent2">
              <a:lumMod val="20000"/>
              <a:lumOff val="80000"/>
            </a:schemeClr>
          </a:solidFill>
          <a:ln w="9525">
            <a:noFill/>
          </a:ln>
        </p:spPr>
        <p:txBody>
          <a:bodyPr vert="horz" wrap="square" lIns="91440" tIns="45720" rIns="45720" bIns="4572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COPD is a major cause of chronic morbidity and mortality throughout the world.</a:t>
            </a:r>
            <a:r>
              <a:rPr kumimoji="0" lang="en-US" sz="1200" b="0" i="0" u="none" strike="noStrike" kern="1200" cap="none" spc="-5" normalizeH="0" baseline="30000" noProof="0" dirty="0">
                <a:ln>
                  <a:noFill/>
                </a:ln>
                <a:solidFill>
                  <a:srgbClr val="000000"/>
                </a:solidFill>
                <a:effectLst/>
                <a:uLnTx/>
                <a:uFillTx/>
                <a:latin typeface="Arial"/>
                <a:ea typeface="+mn-ea"/>
                <a:cs typeface="Arial"/>
              </a:rPr>
              <a:t>2</a:t>
            </a:r>
            <a:r>
              <a:rPr kumimoji="0" lang="en-US" sz="1200" b="0" i="0" u="none" strike="noStrike" kern="1200" cap="none" spc="-5" normalizeH="0" baseline="0" noProof="0" dirty="0">
                <a:ln>
                  <a:noFill/>
                </a:ln>
                <a:solidFill>
                  <a:srgbClr val="000000"/>
                </a:solidFill>
                <a:effectLst/>
                <a:uLnTx/>
                <a:uFillTx/>
                <a:latin typeface="Arial"/>
                <a:ea typeface="+mn-ea"/>
                <a:cs typeface="Arial"/>
              </a:rPr>
              <a:t> Reported prevalence rates vary considerably between countries because of different survey methods, population studies, diagnostic criteria and year of study.</a:t>
            </a:r>
            <a:r>
              <a:rPr kumimoji="0" lang="en-US" sz="1200" b="0" i="0" u="none" strike="noStrike" kern="1200" cap="none" spc="-5" normalizeH="0" baseline="30000" noProof="0" dirty="0">
                <a:ln>
                  <a:noFill/>
                </a:ln>
                <a:solidFill>
                  <a:srgbClr val="000000"/>
                </a:solidFill>
                <a:effectLst/>
                <a:uLnTx/>
                <a:uFillTx/>
                <a:latin typeface="Arial"/>
                <a:ea typeface="+mn-ea"/>
                <a:cs typeface="Arial"/>
              </a:rPr>
              <a:t>3,4</a:t>
            </a:r>
          </a:p>
        </p:txBody>
      </p:sp>
      <p:sp>
        <p:nvSpPr>
          <p:cNvPr id="21" name="object 7">
            <a:extLst>
              <a:ext uri="{FF2B5EF4-FFF2-40B4-BE49-F238E27FC236}">
                <a16:creationId xmlns:a16="http://schemas.microsoft.com/office/drawing/2014/main" id="{F7A69D8B-EB9A-0B28-49EE-AFE29781C7CA}"/>
              </a:ext>
            </a:extLst>
          </p:cNvPr>
          <p:cNvSpPr/>
          <p:nvPr/>
        </p:nvSpPr>
        <p:spPr>
          <a:xfrm>
            <a:off x="373195" y="1977542"/>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2"/>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object 12">
            <a:extLst>
              <a:ext uri="{FF2B5EF4-FFF2-40B4-BE49-F238E27FC236}">
                <a16:creationId xmlns:a16="http://schemas.microsoft.com/office/drawing/2014/main" id="{30033324-D055-5612-108A-EA720D5AE755}"/>
              </a:ext>
            </a:extLst>
          </p:cNvPr>
          <p:cNvSpPr txBox="1"/>
          <p:nvPr/>
        </p:nvSpPr>
        <p:spPr>
          <a:xfrm>
            <a:off x="1341120" y="2651746"/>
            <a:ext cx="10483910" cy="625295"/>
          </a:xfrm>
          <a:prstGeom prst="rect">
            <a:avLst/>
          </a:prstGeom>
          <a:solidFill>
            <a:schemeClr val="accent3">
              <a:lumMod val="20000"/>
              <a:lumOff val="80000"/>
            </a:schemeClr>
          </a:solidFill>
          <a:ln w="9525">
            <a:noFill/>
          </a:ln>
        </p:spPr>
        <p:txBody>
          <a:bodyPr vert="horz" wrap="square" lIns="91440" tIns="45720" rIns="45720" bIns="4572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Evidence suggests that </a:t>
            </a:r>
            <a:r>
              <a:rPr kumimoji="0" lang="en-US" sz="1200" b="1" i="0" u="none" strike="noStrike" kern="1200" cap="none" spc="-5" normalizeH="0" baseline="0" noProof="0" dirty="0">
                <a:ln>
                  <a:noFill/>
                </a:ln>
                <a:solidFill>
                  <a:srgbClr val="69B445"/>
                </a:solidFill>
                <a:effectLst/>
                <a:uLnTx/>
                <a:uFillTx/>
                <a:latin typeface="Arial"/>
                <a:ea typeface="+mn-ea"/>
                <a:cs typeface="Arial"/>
              </a:rPr>
              <a:t>1 in 4 people</a:t>
            </a:r>
            <a:r>
              <a:rPr kumimoji="0" lang="en-US" sz="1200" b="0" i="0" u="none" strike="noStrike" kern="1200" cap="none" spc="-5" normalizeH="0" baseline="0" noProof="0" dirty="0">
                <a:ln>
                  <a:noFill/>
                </a:ln>
                <a:solidFill>
                  <a:srgbClr val="000000"/>
                </a:solidFill>
                <a:effectLst/>
                <a:uLnTx/>
                <a:uFillTx/>
                <a:latin typeface="Arial"/>
                <a:ea typeface="+mn-ea"/>
                <a:cs typeface="Arial"/>
              </a:rPr>
              <a:t> will develop COPD during their lifetime.</a:t>
            </a:r>
            <a:r>
              <a:rPr kumimoji="0" lang="en-US" sz="1200" b="0" i="0" u="none" strike="noStrike" kern="1200" cap="none" spc="-5" normalizeH="0" baseline="30000" noProof="0" dirty="0">
                <a:ln>
                  <a:noFill/>
                </a:ln>
                <a:solidFill>
                  <a:srgbClr val="000000"/>
                </a:solidFill>
                <a:effectLst/>
                <a:uLnTx/>
                <a:uFillTx/>
                <a:latin typeface="Arial"/>
                <a:ea typeface="+mn-ea"/>
                <a:cs typeface="Arial"/>
              </a:rPr>
              <a:t>5</a:t>
            </a:r>
          </a:p>
        </p:txBody>
      </p:sp>
      <p:sp>
        <p:nvSpPr>
          <p:cNvPr id="23" name="object 7">
            <a:extLst>
              <a:ext uri="{FF2B5EF4-FFF2-40B4-BE49-F238E27FC236}">
                <a16:creationId xmlns:a16="http://schemas.microsoft.com/office/drawing/2014/main" id="{09D1F851-491B-C6C6-4928-F61C75A55C5E}"/>
              </a:ext>
            </a:extLst>
          </p:cNvPr>
          <p:cNvSpPr/>
          <p:nvPr/>
        </p:nvSpPr>
        <p:spPr>
          <a:xfrm>
            <a:off x="373195" y="2651746"/>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3"/>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6" name="object 10">
            <a:extLst>
              <a:ext uri="{FF2B5EF4-FFF2-40B4-BE49-F238E27FC236}">
                <a16:creationId xmlns:a16="http://schemas.microsoft.com/office/drawing/2014/main" id="{239F15A9-0F3C-C918-32D3-2CB0BA4BEC20}"/>
              </a:ext>
            </a:extLst>
          </p:cNvPr>
          <p:cNvSpPr txBox="1"/>
          <p:nvPr/>
        </p:nvSpPr>
        <p:spPr>
          <a:xfrm>
            <a:off x="1341120" y="3325950"/>
            <a:ext cx="10483910" cy="625295"/>
          </a:xfrm>
          <a:prstGeom prst="rect">
            <a:avLst/>
          </a:prstGeom>
          <a:solidFill>
            <a:schemeClr val="accent4">
              <a:lumMod val="20000"/>
              <a:lumOff val="80000"/>
            </a:schemeClr>
          </a:solidFill>
          <a:ln w="9525">
            <a:noFill/>
          </a:ln>
        </p:spPr>
        <p:txBody>
          <a:bodyPr vert="horz" wrap="square" lIns="91440" tIns="45720" rIns="45720" bIns="4572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COPD is predicted to become the </a:t>
            </a:r>
            <a:r>
              <a:rPr kumimoji="0" lang="en-US" sz="1200" b="1" i="0" u="none" strike="noStrike" kern="1200" cap="none" spc="-5" normalizeH="0" baseline="0" noProof="0" dirty="0">
                <a:ln>
                  <a:noFill/>
                </a:ln>
                <a:solidFill>
                  <a:srgbClr val="244EA2"/>
                </a:solidFill>
                <a:effectLst/>
                <a:uLnTx/>
                <a:uFillTx/>
                <a:latin typeface="Arial"/>
                <a:ea typeface="+mn-ea"/>
                <a:cs typeface="Arial"/>
              </a:rPr>
              <a:t>third leading cause of death</a:t>
            </a:r>
            <a:r>
              <a:rPr kumimoji="0" lang="en-US" sz="1200" b="0" i="0" u="none" strike="noStrike" kern="1200" cap="none" spc="-5" normalizeH="0" baseline="0" noProof="0" dirty="0">
                <a:ln>
                  <a:noFill/>
                </a:ln>
                <a:solidFill>
                  <a:srgbClr val="000000"/>
                </a:solidFill>
                <a:effectLst/>
                <a:uLnTx/>
                <a:uFillTx/>
                <a:latin typeface="Arial"/>
                <a:ea typeface="+mn-ea"/>
                <a:cs typeface="Arial"/>
              </a:rPr>
              <a:t> by 2030 worldwide and caused 3.23 million deaths in 2019.</a:t>
            </a:r>
            <a:r>
              <a:rPr kumimoji="0" lang="en-US" sz="1200" b="0" i="0" u="none" strike="noStrike" kern="1200" cap="none" spc="-5" normalizeH="0" baseline="30000" noProof="0" dirty="0">
                <a:ln>
                  <a:noFill/>
                </a:ln>
                <a:solidFill>
                  <a:srgbClr val="000000"/>
                </a:solidFill>
                <a:effectLst/>
                <a:uLnTx/>
                <a:uFillTx/>
                <a:latin typeface="Arial"/>
                <a:ea typeface="+mn-ea"/>
                <a:cs typeface="Arial"/>
              </a:rPr>
              <a:t>5,6</a:t>
            </a:r>
          </a:p>
        </p:txBody>
      </p:sp>
      <p:sp>
        <p:nvSpPr>
          <p:cNvPr id="26" name="object 7">
            <a:extLst>
              <a:ext uri="{FF2B5EF4-FFF2-40B4-BE49-F238E27FC236}">
                <a16:creationId xmlns:a16="http://schemas.microsoft.com/office/drawing/2014/main" id="{C0080BFC-65D1-86A7-774E-538D68F36FBF}"/>
              </a:ext>
            </a:extLst>
          </p:cNvPr>
          <p:cNvSpPr/>
          <p:nvPr/>
        </p:nvSpPr>
        <p:spPr>
          <a:xfrm>
            <a:off x="373195" y="3327259"/>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4"/>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object 14">
            <a:extLst>
              <a:ext uri="{FF2B5EF4-FFF2-40B4-BE49-F238E27FC236}">
                <a16:creationId xmlns:a16="http://schemas.microsoft.com/office/drawing/2014/main" id="{4671BC09-54DB-5CA0-28FB-C79DE7A0CEEB}"/>
              </a:ext>
            </a:extLst>
          </p:cNvPr>
          <p:cNvSpPr txBox="1"/>
          <p:nvPr/>
        </p:nvSpPr>
        <p:spPr>
          <a:xfrm>
            <a:off x="1341120" y="4001463"/>
            <a:ext cx="10483910" cy="625295"/>
          </a:xfrm>
          <a:prstGeom prst="rect">
            <a:avLst/>
          </a:prstGeom>
          <a:solidFill>
            <a:schemeClr val="accent5">
              <a:lumMod val="20000"/>
              <a:lumOff val="80000"/>
            </a:schemeClr>
          </a:solidFill>
          <a:ln w="9525">
            <a:noFill/>
          </a:ln>
        </p:spPr>
        <p:txBody>
          <a:bodyPr vert="horz" wrap="square" lIns="91440" tIns="45720" rIns="45720" bIns="4572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The prevalence of COPD</a:t>
            </a:r>
            <a:r>
              <a:rPr kumimoji="0" lang="en-US" sz="1200" b="0" i="0" u="none" strike="noStrike" kern="1200" cap="none" spc="-5" normalizeH="0" baseline="30000" noProof="0" dirty="0">
                <a:ln>
                  <a:noFill/>
                </a:ln>
                <a:solidFill>
                  <a:srgbClr val="000000"/>
                </a:solidFill>
                <a:effectLst/>
                <a:uLnTx/>
                <a:uFillTx/>
                <a:latin typeface="Arial"/>
                <a:ea typeface="+mn-ea"/>
                <a:cs typeface="Arial"/>
              </a:rPr>
              <a:t>2</a:t>
            </a:r>
          </a:p>
          <a:p>
            <a:pPr marL="243840" marR="0" lvl="0" indent="-171450" algn="l" defTabSz="1219170" rtl="0" eaLnBrk="1" fontAlgn="auto" latinLnBrk="0" hangingPunct="1">
              <a:lnSpc>
                <a:spcPct val="100000"/>
              </a:lnSpc>
              <a:spcBef>
                <a:spcPts val="0"/>
              </a:spcBef>
              <a:spcAft>
                <a:spcPts val="0"/>
              </a:spcAft>
              <a:buClr>
                <a:srgbClr val="FFC709"/>
              </a:buClr>
              <a:buSzTx/>
              <a:buFont typeface="Arial" panose="020B0604020202020204" pitchFamily="34" charset="0"/>
              <a:buChar char="•"/>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Risk increases with age due to continued exposure to COPD risk factors; it primarily affects people aged ≥ 40 years</a:t>
            </a:r>
          </a:p>
          <a:p>
            <a:pPr marL="243840" marR="0" lvl="0" indent="-171450" algn="l" defTabSz="1219170" rtl="0" eaLnBrk="1" fontAlgn="auto" latinLnBrk="0" hangingPunct="1">
              <a:lnSpc>
                <a:spcPct val="100000"/>
              </a:lnSpc>
              <a:spcBef>
                <a:spcPts val="0"/>
              </a:spcBef>
              <a:spcAft>
                <a:spcPts val="0"/>
              </a:spcAft>
              <a:buClr>
                <a:srgbClr val="FFC709"/>
              </a:buClr>
              <a:buSzTx/>
              <a:buFont typeface="Arial" panose="020B0604020202020204" pitchFamily="34" charset="0"/>
              <a:buChar char="•"/>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Is higher in smokers and ex-smokers vs non-smokers</a:t>
            </a:r>
          </a:p>
        </p:txBody>
      </p:sp>
      <p:sp>
        <p:nvSpPr>
          <p:cNvPr id="28" name="object 7">
            <a:extLst>
              <a:ext uri="{FF2B5EF4-FFF2-40B4-BE49-F238E27FC236}">
                <a16:creationId xmlns:a16="http://schemas.microsoft.com/office/drawing/2014/main" id="{CCB8CA90-B2A4-E9B1-E9F1-C742116B8D63}"/>
              </a:ext>
            </a:extLst>
          </p:cNvPr>
          <p:cNvSpPr/>
          <p:nvPr/>
        </p:nvSpPr>
        <p:spPr>
          <a:xfrm>
            <a:off x="373195" y="4001463"/>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5"/>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9" name="object 14">
            <a:extLst>
              <a:ext uri="{FF2B5EF4-FFF2-40B4-BE49-F238E27FC236}">
                <a16:creationId xmlns:a16="http://schemas.microsoft.com/office/drawing/2014/main" id="{368A35E8-7E8B-571F-2462-29FB29C2721A}"/>
              </a:ext>
            </a:extLst>
          </p:cNvPr>
          <p:cNvSpPr txBox="1"/>
          <p:nvPr/>
        </p:nvSpPr>
        <p:spPr>
          <a:xfrm>
            <a:off x="1341120" y="4674356"/>
            <a:ext cx="10483910" cy="625295"/>
          </a:xfrm>
          <a:prstGeom prst="rect">
            <a:avLst/>
          </a:prstGeom>
          <a:solidFill>
            <a:schemeClr val="accent6">
              <a:lumMod val="20000"/>
              <a:lumOff val="80000"/>
            </a:schemeClr>
          </a:solidFill>
          <a:ln w="9525">
            <a:noFill/>
          </a:ln>
        </p:spPr>
        <p:txBody>
          <a:bodyPr vert="horz" wrap="square" lIns="91440" tIns="45720" rIns="45720" bIns="4572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The prevalence of COPD is predicted to increase due to a combination of continued exposure to COPD risk factors and world’s population ageing.</a:t>
            </a:r>
            <a:r>
              <a:rPr kumimoji="0" lang="en-US" sz="1200" b="0" i="0" u="none" strike="noStrike" kern="1200" cap="none" spc="-5" normalizeH="0" baseline="30000" noProof="0" dirty="0">
                <a:ln>
                  <a:noFill/>
                </a:ln>
                <a:solidFill>
                  <a:srgbClr val="000000"/>
                </a:solidFill>
                <a:effectLst/>
                <a:uLnTx/>
                <a:uFillTx/>
                <a:latin typeface="Arial"/>
                <a:ea typeface="+mn-ea"/>
                <a:cs typeface="Arial"/>
              </a:rPr>
              <a:t>2</a:t>
            </a:r>
          </a:p>
        </p:txBody>
      </p:sp>
      <p:sp>
        <p:nvSpPr>
          <p:cNvPr id="100" name="object 7">
            <a:extLst>
              <a:ext uri="{FF2B5EF4-FFF2-40B4-BE49-F238E27FC236}">
                <a16:creationId xmlns:a16="http://schemas.microsoft.com/office/drawing/2014/main" id="{7B24A80F-84A4-F077-8750-4E3140B082A2}"/>
              </a:ext>
            </a:extLst>
          </p:cNvPr>
          <p:cNvSpPr/>
          <p:nvPr/>
        </p:nvSpPr>
        <p:spPr>
          <a:xfrm>
            <a:off x="373195" y="4675665"/>
            <a:ext cx="671371"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6"/>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7" name="Freeform: Shape 116">
            <a:extLst>
              <a:ext uri="{FF2B5EF4-FFF2-40B4-BE49-F238E27FC236}">
                <a16:creationId xmlns:a16="http://schemas.microsoft.com/office/drawing/2014/main" id="{4512E15D-DA9E-88C5-79DF-BAF6ECD6C02D}"/>
              </a:ext>
            </a:extLst>
          </p:cNvPr>
          <p:cNvSpPr/>
          <p:nvPr/>
        </p:nvSpPr>
        <p:spPr>
          <a:xfrm>
            <a:off x="1041651" y="1332458"/>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18" name="Freeform: Shape 117">
            <a:extLst>
              <a:ext uri="{FF2B5EF4-FFF2-40B4-BE49-F238E27FC236}">
                <a16:creationId xmlns:a16="http://schemas.microsoft.com/office/drawing/2014/main" id="{2CE3B4DE-A13F-2324-9289-11C55C1DC5C0}"/>
              </a:ext>
            </a:extLst>
          </p:cNvPr>
          <p:cNvSpPr/>
          <p:nvPr/>
        </p:nvSpPr>
        <p:spPr>
          <a:xfrm>
            <a:off x="1041651" y="2006662"/>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19" name="Freeform: Shape 118">
            <a:extLst>
              <a:ext uri="{FF2B5EF4-FFF2-40B4-BE49-F238E27FC236}">
                <a16:creationId xmlns:a16="http://schemas.microsoft.com/office/drawing/2014/main" id="{252FE7AC-B733-6354-0646-D460A9431891}"/>
              </a:ext>
            </a:extLst>
          </p:cNvPr>
          <p:cNvSpPr/>
          <p:nvPr/>
        </p:nvSpPr>
        <p:spPr>
          <a:xfrm>
            <a:off x="1041651" y="2680866"/>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23" name="Freeform: Shape 122">
            <a:extLst>
              <a:ext uri="{FF2B5EF4-FFF2-40B4-BE49-F238E27FC236}">
                <a16:creationId xmlns:a16="http://schemas.microsoft.com/office/drawing/2014/main" id="{08F897E5-2500-460A-CE4D-5DEA9EB2071F}"/>
              </a:ext>
            </a:extLst>
          </p:cNvPr>
          <p:cNvSpPr/>
          <p:nvPr/>
        </p:nvSpPr>
        <p:spPr>
          <a:xfrm>
            <a:off x="1041651" y="3356379"/>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24" name="Freeform: Shape 123">
            <a:extLst>
              <a:ext uri="{FF2B5EF4-FFF2-40B4-BE49-F238E27FC236}">
                <a16:creationId xmlns:a16="http://schemas.microsoft.com/office/drawing/2014/main" id="{2A82DB8A-E056-AC0A-4C84-4075EFA2AB42}"/>
              </a:ext>
            </a:extLst>
          </p:cNvPr>
          <p:cNvSpPr/>
          <p:nvPr/>
        </p:nvSpPr>
        <p:spPr>
          <a:xfrm>
            <a:off x="1041651" y="4030583"/>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25" name="Freeform: Shape 124">
            <a:extLst>
              <a:ext uri="{FF2B5EF4-FFF2-40B4-BE49-F238E27FC236}">
                <a16:creationId xmlns:a16="http://schemas.microsoft.com/office/drawing/2014/main" id="{14CF97A8-4641-FFAE-4F64-E15B33F2FD41}"/>
              </a:ext>
            </a:extLst>
          </p:cNvPr>
          <p:cNvSpPr/>
          <p:nvPr/>
        </p:nvSpPr>
        <p:spPr>
          <a:xfrm>
            <a:off x="1041651" y="4704785"/>
            <a:ext cx="218217" cy="559397"/>
          </a:xfrm>
          <a:custGeom>
            <a:avLst/>
            <a:gdLst>
              <a:gd name="connsiteX0" fmla="*/ 0 w 857257"/>
              <a:gd name="connsiteY0" fmla="*/ 0 h 1816170"/>
              <a:gd name="connsiteX1" fmla="*/ 841477 w 857257"/>
              <a:gd name="connsiteY1" fmla="*/ 890550 h 1816170"/>
              <a:gd name="connsiteX2" fmla="*/ 841477 w 857257"/>
              <a:gd name="connsiteY2" fmla="*/ 925611 h 1816170"/>
              <a:gd name="connsiteX3" fmla="*/ 0 w 857257"/>
              <a:gd name="connsiteY3" fmla="*/ 1816170 h 1816170"/>
              <a:gd name="connsiteX4" fmla="*/ 0 w 857257"/>
              <a:gd name="connsiteY4" fmla="*/ 0 h 181617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7" h="1816170">
                <a:moveTo>
                  <a:pt x="0" y="0"/>
                </a:moveTo>
                <a:cubicBezTo>
                  <a:pt x="0" y="462811"/>
                  <a:pt x="301523" y="743293"/>
                  <a:pt x="841477" y="890550"/>
                </a:cubicBezTo>
                <a:cubicBezTo>
                  <a:pt x="862517" y="897560"/>
                  <a:pt x="862517" y="918601"/>
                  <a:pt x="841477" y="925611"/>
                </a:cubicBezTo>
                <a:cubicBezTo>
                  <a:pt x="301523" y="1072868"/>
                  <a:pt x="0" y="1353360"/>
                  <a:pt x="0" y="1816170"/>
                </a:cubicBezTo>
                <a:lnTo>
                  <a:pt x="0" y="0"/>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prstClr val="white"/>
              </a:solidFill>
              <a:effectLst/>
              <a:uLnTx/>
              <a:uFillTx/>
              <a:latin typeface="Arial"/>
              <a:ea typeface="+mn-ea"/>
              <a:cs typeface="Noto Sans"/>
            </a:endParaRPr>
          </a:p>
        </p:txBody>
      </p:sp>
      <p:pic>
        <p:nvPicPr>
          <p:cNvPr id="151" name="Graphic 150" descr="Clipboard with solid fill">
            <a:extLst>
              <a:ext uri="{FF2B5EF4-FFF2-40B4-BE49-F238E27FC236}">
                <a16:creationId xmlns:a16="http://schemas.microsoft.com/office/drawing/2014/main" id="{7D491DBF-9D03-EAD2-46E3-765AFAE2FBAD}"/>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7712" y="4109113"/>
            <a:ext cx="402336" cy="402336"/>
          </a:xfrm>
          <a:prstGeom prst="rect">
            <a:avLst/>
          </a:prstGeom>
        </p:spPr>
      </p:pic>
      <p:pic>
        <p:nvPicPr>
          <p:cNvPr id="153" name="Graphic 152" descr="Ambulance with solid fill">
            <a:extLst>
              <a:ext uri="{FF2B5EF4-FFF2-40B4-BE49-F238E27FC236}">
                <a16:creationId xmlns:a16="http://schemas.microsoft.com/office/drawing/2014/main" id="{AE6298F4-8EC7-9E45-9B11-4C371CA52BB8}"/>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87595" y="3414792"/>
            <a:ext cx="442570" cy="442570"/>
          </a:xfrm>
          <a:prstGeom prst="rect">
            <a:avLst/>
          </a:prstGeom>
        </p:spPr>
      </p:pic>
      <p:pic>
        <p:nvPicPr>
          <p:cNvPr id="157" name="Graphic 156" descr="Magnifying glass with solid fill">
            <a:extLst>
              <a:ext uri="{FF2B5EF4-FFF2-40B4-BE49-F238E27FC236}">
                <a16:creationId xmlns:a16="http://schemas.microsoft.com/office/drawing/2014/main" id="{C9A8EE63-1FB3-852F-7FC3-83257A0BCF2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07712" y="2085192"/>
            <a:ext cx="402336" cy="402336"/>
          </a:xfrm>
          <a:prstGeom prst="rect">
            <a:avLst/>
          </a:prstGeom>
        </p:spPr>
      </p:pic>
      <p:sp>
        <p:nvSpPr>
          <p:cNvPr id="158" name="Freeform: Shape 157">
            <a:extLst>
              <a:ext uri="{FF2B5EF4-FFF2-40B4-BE49-F238E27FC236}">
                <a16:creationId xmlns:a16="http://schemas.microsoft.com/office/drawing/2014/main" id="{F534B4EC-A795-84E9-5E31-77F8162277B0}"/>
              </a:ext>
            </a:extLst>
          </p:cNvPr>
          <p:cNvSpPr/>
          <p:nvPr/>
        </p:nvSpPr>
        <p:spPr>
          <a:xfrm>
            <a:off x="506376" y="1409652"/>
            <a:ext cx="405008" cy="405009"/>
          </a:xfrm>
          <a:custGeom>
            <a:avLst/>
            <a:gdLst>
              <a:gd name="connsiteX0" fmla="*/ 2654830 w 5309659"/>
              <a:gd name="connsiteY0" fmla="*/ 0 h 5309663"/>
              <a:gd name="connsiteX1" fmla="*/ 0 w 5309659"/>
              <a:gd name="connsiteY1" fmla="*/ 2654834 h 5309663"/>
              <a:gd name="connsiteX2" fmla="*/ 2654830 w 5309659"/>
              <a:gd name="connsiteY2" fmla="*/ 5309664 h 5309663"/>
              <a:gd name="connsiteX3" fmla="*/ 5309660 w 5309659"/>
              <a:gd name="connsiteY3" fmla="*/ 2654834 h 5309663"/>
              <a:gd name="connsiteX4" fmla="*/ 2654830 w 5309659"/>
              <a:gd name="connsiteY4" fmla="*/ 0 h 5309663"/>
              <a:gd name="connsiteX5" fmla="*/ 478297 w 5309659"/>
              <a:gd name="connsiteY5" fmla="*/ 1732629 h 5309663"/>
              <a:gd name="connsiteX6" fmla="*/ 536119 w 5309659"/>
              <a:gd name="connsiteY6" fmla="*/ 1665156 h 5309663"/>
              <a:gd name="connsiteX7" fmla="*/ 632523 w 5309659"/>
              <a:gd name="connsiteY7" fmla="*/ 1578363 h 5309663"/>
              <a:gd name="connsiteX8" fmla="*/ 661454 w 5309659"/>
              <a:gd name="connsiteY8" fmla="*/ 1636186 h 5309663"/>
              <a:gd name="connsiteX9" fmla="*/ 593981 w 5309659"/>
              <a:gd name="connsiteY9" fmla="*/ 1708479 h 5309663"/>
              <a:gd name="connsiteX10" fmla="*/ 613233 w 5309659"/>
              <a:gd name="connsiteY10" fmla="*/ 1804873 h 5309663"/>
              <a:gd name="connsiteX11" fmla="*/ 637304 w 5309659"/>
              <a:gd name="connsiteY11" fmla="*/ 1954328 h 5309663"/>
              <a:gd name="connsiteX12" fmla="*/ 671065 w 5309659"/>
              <a:gd name="connsiteY12" fmla="*/ 2147165 h 5309663"/>
              <a:gd name="connsiteX13" fmla="*/ 511979 w 5309659"/>
              <a:gd name="connsiteY13" fmla="*/ 2142345 h 5309663"/>
              <a:gd name="connsiteX14" fmla="*/ 458937 w 5309659"/>
              <a:gd name="connsiteY14" fmla="*/ 2036301 h 5309663"/>
              <a:gd name="connsiteX15" fmla="*/ 497509 w 5309659"/>
              <a:gd name="connsiteY15" fmla="*/ 1935077 h 5309663"/>
              <a:gd name="connsiteX16" fmla="*/ 361152 w 5309659"/>
              <a:gd name="connsiteY16" fmla="*/ 1664539 h 5309663"/>
              <a:gd name="connsiteX17" fmla="*/ 352540 w 5309659"/>
              <a:gd name="connsiteY17" fmla="*/ 1778930 h 5309663"/>
              <a:gd name="connsiteX18" fmla="*/ 281325 w 5309659"/>
              <a:gd name="connsiteY18" fmla="*/ 1813494 h 5309663"/>
              <a:gd name="connsiteX19" fmla="*/ 354725 w 5309659"/>
              <a:gd name="connsiteY19" fmla="*/ 1850194 h 5309663"/>
              <a:gd name="connsiteX20" fmla="*/ 354725 w 5309659"/>
              <a:gd name="connsiteY20" fmla="*/ 1949508 h 5309663"/>
              <a:gd name="connsiteX21" fmla="*/ 300723 w 5309659"/>
              <a:gd name="connsiteY21" fmla="*/ 1994820 h 5309663"/>
              <a:gd name="connsiteX22" fmla="*/ 233789 w 5309659"/>
              <a:gd name="connsiteY22" fmla="*/ 1996965 h 5309663"/>
              <a:gd name="connsiteX23" fmla="*/ 182010 w 5309659"/>
              <a:gd name="connsiteY23" fmla="*/ 2029335 h 5309663"/>
              <a:gd name="connsiteX24" fmla="*/ 168999 w 5309659"/>
              <a:gd name="connsiteY24" fmla="*/ 2028111 h 5309663"/>
              <a:gd name="connsiteX25" fmla="*/ 263641 w 5309659"/>
              <a:gd name="connsiteY25" fmla="*/ 1732129 h 5309663"/>
              <a:gd name="connsiteX26" fmla="*/ 93641 w 5309659"/>
              <a:gd name="connsiteY26" fmla="*/ 2556960 h 5309663"/>
              <a:gd name="connsiteX27" fmla="*/ 120047 w 5309659"/>
              <a:gd name="connsiteY27" fmla="*/ 2270737 h 5309663"/>
              <a:gd name="connsiteX28" fmla="*/ 189125 w 5309659"/>
              <a:gd name="connsiteY28" fmla="*/ 2267719 h 5309663"/>
              <a:gd name="connsiteX29" fmla="*/ 179404 w 5309659"/>
              <a:gd name="connsiteY29" fmla="*/ 2436416 h 5309663"/>
              <a:gd name="connsiteX30" fmla="*/ 102252 w 5309659"/>
              <a:gd name="connsiteY30" fmla="*/ 2556970 h 5309663"/>
              <a:gd name="connsiteX31" fmla="*/ 4316994 w 5309659"/>
              <a:gd name="connsiteY31" fmla="*/ 4604465 h 5309663"/>
              <a:gd name="connsiteX32" fmla="*/ 4375816 w 5309659"/>
              <a:gd name="connsiteY32" fmla="*/ 4503663 h 5309663"/>
              <a:gd name="connsiteX33" fmla="*/ 4375816 w 5309659"/>
              <a:gd name="connsiteY33" fmla="*/ 4426588 h 5309663"/>
              <a:gd name="connsiteX34" fmla="*/ 4228633 w 5309659"/>
              <a:gd name="connsiteY34" fmla="*/ 4611206 h 5309663"/>
              <a:gd name="connsiteX35" fmla="*/ 4179569 w 5309659"/>
              <a:gd name="connsiteY35" fmla="*/ 4633867 h 5309663"/>
              <a:gd name="connsiteX36" fmla="*/ 4179569 w 5309659"/>
              <a:gd name="connsiteY36" fmla="*/ 4559810 h 5309663"/>
              <a:gd name="connsiteX37" fmla="*/ 4191247 w 5309659"/>
              <a:gd name="connsiteY37" fmla="*/ 4515419 h 5309663"/>
              <a:gd name="connsiteX38" fmla="*/ 4247306 w 5309659"/>
              <a:gd name="connsiteY38" fmla="*/ 4466355 h 5309663"/>
              <a:gd name="connsiteX39" fmla="*/ 4158525 w 5309659"/>
              <a:gd name="connsiteY39" fmla="*/ 4414959 h 5309663"/>
              <a:gd name="connsiteX40" fmla="*/ 4072075 w 5309659"/>
              <a:gd name="connsiteY40" fmla="*/ 4480404 h 5309663"/>
              <a:gd name="connsiteX41" fmla="*/ 4046357 w 5309659"/>
              <a:gd name="connsiteY41" fmla="*/ 4513087 h 5309663"/>
              <a:gd name="connsiteX42" fmla="*/ 3980912 w 5309659"/>
              <a:gd name="connsiteY42" fmla="*/ 4559810 h 5309663"/>
              <a:gd name="connsiteX43" fmla="*/ 3941185 w 5309659"/>
              <a:gd name="connsiteY43" fmla="*/ 4520083 h 5309663"/>
              <a:gd name="connsiteX44" fmla="*/ 3899087 w 5309659"/>
              <a:gd name="connsiteY44" fmla="*/ 4517712 h 5309663"/>
              <a:gd name="connsiteX45" fmla="*/ 3803300 w 5309659"/>
              <a:gd name="connsiteY45" fmla="*/ 4633788 h 5309663"/>
              <a:gd name="connsiteX46" fmla="*/ 3754236 w 5309659"/>
              <a:gd name="connsiteY46" fmla="*/ 4633788 h 5309663"/>
              <a:gd name="connsiteX47" fmla="*/ 3679454 w 5309659"/>
              <a:gd name="connsiteY47" fmla="*/ 4667196 h 5309663"/>
              <a:gd name="connsiteX48" fmla="*/ 3611717 w 5309659"/>
              <a:gd name="connsiteY48" fmla="*/ 4741978 h 5309663"/>
              <a:gd name="connsiteX49" fmla="*/ 3485539 w 5309659"/>
              <a:gd name="connsiteY49" fmla="*/ 4779335 h 5309663"/>
              <a:gd name="connsiteX50" fmla="*/ 3305635 w 5309659"/>
              <a:gd name="connsiteY50" fmla="*/ 4842438 h 5309663"/>
              <a:gd name="connsiteX51" fmla="*/ 3247195 w 5309659"/>
              <a:gd name="connsiteY51" fmla="*/ 4947601 h 5309663"/>
              <a:gd name="connsiteX52" fmla="*/ 3080143 w 5309659"/>
              <a:gd name="connsiteY52" fmla="*/ 5132218 h 5309663"/>
              <a:gd name="connsiteX53" fmla="*/ 3156071 w 5309659"/>
              <a:gd name="connsiteY53" fmla="*/ 5111212 h 5309663"/>
              <a:gd name="connsiteX54" fmla="*/ 3324347 w 5309659"/>
              <a:gd name="connsiteY54" fmla="*/ 5073856 h 5309663"/>
              <a:gd name="connsiteX55" fmla="*/ 3457569 w 5309659"/>
              <a:gd name="connsiteY55" fmla="*/ 5064519 h 5309663"/>
              <a:gd name="connsiteX56" fmla="*/ 3474645 w 5309659"/>
              <a:gd name="connsiteY56" fmla="*/ 5083497 h 5309663"/>
              <a:gd name="connsiteX57" fmla="*/ 2654938 w 5309659"/>
              <a:gd name="connsiteY57" fmla="*/ 5218668 h 5309663"/>
              <a:gd name="connsiteX58" fmla="*/ 983349 w 5309659"/>
              <a:gd name="connsiteY58" fmla="*/ 4596285 h 5309663"/>
              <a:gd name="connsiteX59" fmla="*/ 983349 w 5309659"/>
              <a:gd name="connsiteY59" fmla="*/ 4579336 h 5309663"/>
              <a:gd name="connsiteX60" fmla="*/ 958817 w 5309659"/>
              <a:gd name="connsiteY60" fmla="*/ 4483931 h 5309663"/>
              <a:gd name="connsiteX61" fmla="*/ 860728 w 5309659"/>
              <a:gd name="connsiteY61" fmla="*/ 4383089 h 5309663"/>
              <a:gd name="connsiteX62" fmla="*/ 680902 w 5309659"/>
              <a:gd name="connsiteY62" fmla="*/ 4184158 h 5309663"/>
              <a:gd name="connsiteX63" fmla="*/ 664560 w 5309659"/>
              <a:gd name="connsiteY63" fmla="*/ 4058784 h 5309663"/>
              <a:gd name="connsiteX64" fmla="*/ 661797 w 5309659"/>
              <a:gd name="connsiteY64" fmla="*/ 3982474 h 5309663"/>
              <a:gd name="connsiteX65" fmla="*/ 683576 w 5309659"/>
              <a:gd name="connsiteY65" fmla="*/ 3881632 h 5309663"/>
              <a:gd name="connsiteX66" fmla="*/ 721697 w 5309659"/>
              <a:gd name="connsiteY66" fmla="*/ 3799885 h 5309663"/>
              <a:gd name="connsiteX67" fmla="*/ 721697 w 5309659"/>
              <a:gd name="connsiteY67" fmla="*/ 3647265 h 5309663"/>
              <a:gd name="connsiteX68" fmla="*/ 718934 w 5309659"/>
              <a:gd name="connsiteY68" fmla="*/ 3510987 h 5309663"/>
              <a:gd name="connsiteX69" fmla="*/ 691688 w 5309659"/>
              <a:gd name="connsiteY69" fmla="*/ 3451018 h 5309663"/>
              <a:gd name="connsiteX70" fmla="*/ 585409 w 5309659"/>
              <a:gd name="connsiteY70" fmla="*/ 3480978 h 5309663"/>
              <a:gd name="connsiteX71" fmla="*/ 489965 w 5309659"/>
              <a:gd name="connsiteY71" fmla="*/ 3481056 h 5309663"/>
              <a:gd name="connsiteX72" fmla="*/ 372781 w 5309659"/>
              <a:gd name="connsiteY72" fmla="*/ 3306657 h 5309663"/>
              <a:gd name="connsiteX73" fmla="*/ 310138 w 5309659"/>
              <a:gd name="connsiteY73" fmla="*/ 3260356 h 5309663"/>
              <a:gd name="connsiteX74" fmla="*/ 291034 w 5309659"/>
              <a:gd name="connsiteY74" fmla="*/ 3167704 h 5309663"/>
              <a:gd name="connsiteX75" fmla="*/ 231066 w 5309659"/>
              <a:gd name="connsiteY75" fmla="*/ 3107726 h 5309663"/>
              <a:gd name="connsiteX76" fmla="*/ 231066 w 5309659"/>
              <a:gd name="connsiteY76" fmla="*/ 2990543 h 5309663"/>
              <a:gd name="connsiteX77" fmla="*/ 195630 w 5309659"/>
              <a:gd name="connsiteY77" fmla="*/ 2949522 h 5309663"/>
              <a:gd name="connsiteX78" fmla="*/ 187441 w 5309659"/>
              <a:gd name="connsiteY78" fmla="*/ 2892307 h 5309663"/>
              <a:gd name="connsiteX79" fmla="*/ 152003 w 5309659"/>
              <a:gd name="connsiteY79" fmla="*/ 2750591 h 5309663"/>
              <a:gd name="connsiteX80" fmla="*/ 152003 w 5309659"/>
              <a:gd name="connsiteY80" fmla="*/ 2685185 h 5309663"/>
              <a:gd name="connsiteX81" fmla="*/ 214646 w 5309659"/>
              <a:gd name="connsiteY81" fmla="*/ 2832339 h 5309663"/>
              <a:gd name="connsiteX82" fmla="*/ 282804 w 5309659"/>
              <a:gd name="connsiteY82" fmla="*/ 2927753 h 5309663"/>
              <a:gd name="connsiteX83" fmla="*/ 282804 w 5309659"/>
              <a:gd name="connsiteY83" fmla="*/ 3031348 h 5309663"/>
              <a:gd name="connsiteX84" fmla="*/ 323678 w 5309659"/>
              <a:gd name="connsiteY84" fmla="*/ 3091316 h 5309663"/>
              <a:gd name="connsiteX85" fmla="*/ 389084 w 5309659"/>
              <a:gd name="connsiteY85" fmla="*/ 3227594 h 5309663"/>
              <a:gd name="connsiteX86" fmla="*/ 479022 w 5309659"/>
              <a:gd name="connsiteY86" fmla="*/ 3374747 h 5309663"/>
              <a:gd name="connsiteX87" fmla="*/ 667078 w 5309659"/>
              <a:gd name="connsiteY87" fmla="*/ 3257564 h 5309663"/>
              <a:gd name="connsiteX88" fmla="*/ 702514 w 5309659"/>
              <a:gd name="connsiteY88" fmla="*/ 3189405 h 5309663"/>
              <a:gd name="connsiteX89" fmla="*/ 860571 w 5309659"/>
              <a:gd name="connsiteY89" fmla="*/ 3088563 h 5309663"/>
              <a:gd name="connsiteX90" fmla="*/ 863324 w 5309659"/>
              <a:gd name="connsiteY90" fmla="*/ 3023157 h 5309663"/>
              <a:gd name="connsiteX91" fmla="*/ 920540 w 5309659"/>
              <a:gd name="connsiteY91" fmla="*/ 2911411 h 5309663"/>
              <a:gd name="connsiteX92" fmla="*/ 896008 w 5309659"/>
              <a:gd name="connsiteY92" fmla="*/ 2843252 h 5309663"/>
              <a:gd name="connsiteX93" fmla="*/ 795166 w 5309659"/>
              <a:gd name="connsiteY93" fmla="*/ 2813283 h 5309663"/>
              <a:gd name="connsiteX94" fmla="*/ 727007 w 5309659"/>
              <a:gd name="connsiteY94" fmla="*/ 2742410 h 5309663"/>
              <a:gd name="connsiteX95" fmla="*/ 680706 w 5309659"/>
              <a:gd name="connsiteY95" fmla="*/ 2821473 h 5309663"/>
              <a:gd name="connsiteX96" fmla="*/ 590768 w 5309659"/>
              <a:gd name="connsiteY96" fmla="*/ 2821473 h 5309663"/>
              <a:gd name="connsiteX97" fmla="*/ 577140 w 5309659"/>
              <a:gd name="connsiteY97" fmla="*/ 2758752 h 5309663"/>
              <a:gd name="connsiteX98" fmla="*/ 536266 w 5309659"/>
              <a:gd name="connsiteY98" fmla="*/ 2775094 h 5309663"/>
              <a:gd name="connsiteX99" fmla="*/ 522648 w 5309659"/>
              <a:gd name="connsiteY99" fmla="*/ 2712441 h 5309663"/>
              <a:gd name="connsiteX100" fmla="*/ 438148 w 5309659"/>
              <a:gd name="connsiteY100" fmla="*/ 2603409 h 5309663"/>
              <a:gd name="connsiteX101" fmla="*/ 457243 w 5309659"/>
              <a:gd name="connsiteY101" fmla="*/ 2540687 h 5309663"/>
              <a:gd name="connsiteX102" fmla="*/ 519964 w 5309659"/>
              <a:gd name="connsiteY102" fmla="*/ 2540687 h 5309663"/>
              <a:gd name="connsiteX103" fmla="*/ 585370 w 5309659"/>
              <a:gd name="connsiteY103" fmla="*/ 2630625 h 5309663"/>
              <a:gd name="connsiteX104" fmla="*/ 658926 w 5309659"/>
              <a:gd name="connsiteY104" fmla="*/ 2671499 h 5309663"/>
              <a:gd name="connsiteX105" fmla="*/ 729838 w 5309659"/>
              <a:gd name="connsiteY105" fmla="*/ 2654922 h 5309663"/>
              <a:gd name="connsiteX106" fmla="*/ 811586 w 5309659"/>
              <a:gd name="connsiteY106" fmla="*/ 2728783 h 5309663"/>
              <a:gd name="connsiteX107" fmla="*/ 934207 w 5309659"/>
              <a:gd name="connsiteY107" fmla="*/ 2739697 h 5309663"/>
              <a:gd name="connsiteX108" fmla="*/ 1171327 w 5309659"/>
              <a:gd name="connsiteY108" fmla="*/ 2750601 h 5309663"/>
              <a:gd name="connsiteX109" fmla="*/ 1242199 w 5309659"/>
              <a:gd name="connsiteY109" fmla="*/ 2807816 h 5309663"/>
              <a:gd name="connsiteX110" fmla="*/ 1315756 w 5309659"/>
              <a:gd name="connsiteY110" fmla="*/ 2840499 h 5309663"/>
              <a:gd name="connsiteX111" fmla="*/ 1394829 w 5309659"/>
              <a:gd name="connsiteY111" fmla="*/ 2843252 h 5309663"/>
              <a:gd name="connsiteX112" fmla="*/ 1332176 w 5309659"/>
              <a:gd name="connsiteY112" fmla="*/ 2875936 h 5309663"/>
              <a:gd name="connsiteX113" fmla="*/ 1394829 w 5309659"/>
              <a:gd name="connsiteY113" fmla="*/ 2952246 h 5309663"/>
              <a:gd name="connsiteX114" fmla="*/ 1476567 w 5309659"/>
              <a:gd name="connsiteY114" fmla="*/ 2979492 h 5309663"/>
              <a:gd name="connsiteX115" fmla="*/ 1517440 w 5309659"/>
              <a:gd name="connsiteY115" fmla="*/ 2889554 h 5309663"/>
              <a:gd name="connsiteX116" fmla="*/ 1517440 w 5309659"/>
              <a:gd name="connsiteY116" fmla="*/ 3053048 h 5309663"/>
              <a:gd name="connsiteX117" fmla="*/ 1732713 w 5309659"/>
              <a:gd name="connsiteY117" fmla="*/ 3420980 h 5309663"/>
              <a:gd name="connsiteX118" fmla="*/ 1901675 w 5309659"/>
              <a:gd name="connsiteY118" fmla="*/ 3617227 h 5309663"/>
              <a:gd name="connsiteX119" fmla="*/ 1980738 w 5309659"/>
              <a:gd name="connsiteY119" fmla="*/ 3524575 h 5309663"/>
              <a:gd name="connsiteX120" fmla="*/ 1980738 w 5309659"/>
              <a:gd name="connsiteY120" fmla="*/ 3431924 h 5309663"/>
              <a:gd name="connsiteX121" fmla="*/ 1980738 w 5309659"/>
              <a:gd name="connsiteY121" fmla="*/ 3292961 h 5309663"/>
              <a:gd name="connsiteX122" fmla="*/ 2027049 w 5309659"/>
              <a:gd name="connsiteY122" fmla="*/ 3197556 h 5309663"/>
              <a:gd name="connsiteX123" fmla="*/ 2220542 w 5309659"/>
              <a:gd name="connsiteY123" fmla="*/ 3012214 h 5309663"/>
              <a:gd name="connsiteX124" fmla="*/ 2302289 w 5309659"/>
              <a:gd name="connsiteY124" fmla="*/ 2916809 h 5309663"/>
              <a:gd name="connsiteX125" fmla="*/ 2476688 w 5309659"/>
              <a:gd name="connsiteY125" fmla="*/ 2851404 h 5309663"/>
              <a:gd name="connsiteX126" fmla="*/ 2550246 w 5309659"/>
              <a:gd name="connsiteY126" fmla="*/ 2840499 h 5309663"/>
              <a:gd name="connsiteX127" fmla="*/ 2654918 w 5309659"/>
              <a:gd name="connsiteY127" fmla="*/ 2944134 h 5309663"/>
              <a:gd name="connsiteX128" fmla="*/ 2746610 w 5309659"/>
              <a:gd name="connsiteY128" fmla="*/ 3091287 h 5309663"/>
              <a:gd name="connsiteX129" fmla="*/ 2782046 w 5309659"/>
              <a:gd name="connsiteY129" fmla="*/ 3189376 h 5309663"/>
              <a:gd name="connsiteX130" fmla="*/ 2899230 w 5309659"/>
              <a:gd name="connsiteY130" fmla="*/ 3140312 h 5309663"/>
              <a:gd name="connsiteX131" fmla="*/ 2942856 w 5309659"/>
              <a:gd name="connsiteY131" fmla="*/ 3219374 h 5309663"/>
              <a:gd name="connsiteX132" fmla="*/ 3008262 w 5309659"/>
              <a:gd name="connsiteY132" fmla="*/ 3404717 h 5309663"/>
              <a:gd name="connsiteX133" fmla="*/ 2983730 w 5309659"/>
              <a:gd name="connsiteY133" fmla="*/ 3568212 h 5309663"/>
              <a:gd name="connsiteX134" fmla="*/ 3010985 w 5309659"/>
              <a:gd name="connsiteY134" fmla="*/ 3587306 h 5309663"/>
              <a:gd name="connsiteX135" fmla="*/ 3049096 w 5309659"/>
              <a:gd name="connsiteY135" fmla="*/ 3619990 h 5309663"/>
              <a:gd name="connsiteX136" fmla="*/ 3100874 w 5309659"/>
              <a:gd name="connsiteY136" fmla="*/ 3696300 h 5309663"/>
              <a:gd name="connsiteX137" fmla="*/ 3133558 w 5309659"/>
              <a:gd name="connsiteY137" fmla="*/ 3824387 h 5309663"/>
              <a:gd name="connsiteX138" fmla="*/ 3286177 w 5309659"/>
              <a:gd name="connsiteY138" fmla="*/ 3917039 h 5309663"/>
              <a:gd name="connsiteX139" fmla="*/ 3264408 w 5309659"/>
              <a:gd name="connsiteY139" fmla="*/ 3772570 h 5309663"/>
              <a:gd name="connsiteX140" fmla="*/ 3237152 w 5309659"/>
              <a:gd name="connsiteY140" fmla="*/ 3693507 h 5309663"/>
              <a:gd name="connsiteX141" fmla="*/ 3125406 w 5309659"/>
              <a:gd name="connsiteY141" fmla="*/ 3633539 h 5309663"/>
              <a:gd name="connsiteX142" fmla="*/ 3111788 w 5309659"/>
              <a:gd name="connsiteY142" fmla="*/ 3569515 h 5309663"/>
              <a:gd name="connsiteX143" fmla="*/ 3062724 w 5309659"/>
              <a:gd name="connsiteY143" fmla="*/ 3527260 h 5309663"/>
              <a:gd name="connsiteX144" fmla="*/ 3049096 w 5309659"/>
              <a:gd name="connsiteY144" fmla="*/ 3491823 h 5309663"/>
              <a:gd name="connsiteX145" fmla="*/ 3093840 w 5309659"/>
              <a:gd name="connsiteY145" fmla="*/ 3347316 h 5309663"/>
              <a:gd name="connsiteX146" fmla="*/ 3169876 w 5309659"/>
              <a:gd name="connsiteY146" fmla="*/ 3388228 h 5309663"/>
              <a:gd name="connsiteX147" fmla="*/ 3357021 w 5309659"/>
              <a:gd name="connsiteY147" fmla="*/ 3569515 h 5309663"/>
              <a:gd name="connsiteX148" fmla="*/ 3392153 w 5309659"/>
              <a:gd name="connsiteY148" fmla="*/ 3511036 h 5309663"/>
              <a:gd name="connsiteX149" fmla="*/ 3526668 w 5309659"/>
              <a:gd name="connsiteY149" fmla="*/ 3481801 h 5309663"/>
              <a:gd name="connsiteX150" fmla="*/ 3614382 w 5309659"/>
              <a:gd name="connsiteY150" fmla="*/ 3399936 h 5309663"/>
              <a:gd name="connsiteX151" fmla="*/ 3544195 w 5309659"/>
              <a:gd name="connsiteY151" fmla="*/ 3201123 h 5309663"/>
              <a:gd name="connsiteX152" fmla="*/ 3392143 w 5309659"/>
              <a:gd name="connsiteY152" fmla="*/ 3095842 h 5309663"/>
              <a:gd name="connsiteX153" fmla="*/ 3392143 w 5309659"/>
              <a:gd name="connsiteY153" fmla="*/ 2967177 h 5309663"/>
              <a:gd name="connsiteX154" fmla="*/ 3514911 w 5309659"/>
              <a:gd name="connsiteY154" fmla="*/ 2902888 h 5309663"/>
              <a:gd name="connsiteX155" fmla="*/ 3637679 w 5309659"/>
              <a:gd name="connsiteY155" fmla="*/ 2967177 h 5309663"/>
              <a:gd name="connsiteX156" fmla="*/ 3666924 w 5309659"/>
              <a:gd name="connsiteY156" fmla="*/ 2879463 h 5309663"/>
              <a:gd name="connsiteX157" fmla="*/ 3883303 w 5309659"/>
              <a:gd name="connsiteY157" fmla="*/ 2838550 h 5309663"/>
              <a:gd name="connsiteX158" fmla="*/ 4093824 w 5309659"/>
              <a:gd name="connsiteY158" fmla="*/ 2654932 h 5309663"/>
              <a:gd name="connsiteX159" fmla="*/ 4158192 w 5309659"/>
              <a:gd name="connsiteY159" fmla="*/ 2394122 h 5309663"/>
              <a:gd name="connsiteX160" fmla="*/ 4023677 w 5309659"/>
              <a:gd name="connsiteY160" fmla="*/ 2125122 h 5309663"/>
              <a:gd name="connsiteX161" fmla="*/ 3924256 w 5309659"/>
              <a:gd name="connsiteY161" fmla="*/ 2025700 h 5309663"/>
              <a:gd name="connsiteX162" fmla="*/ 4093834 w 5309659"/>
              <a:gd name="connsiteY162" fmla="*/ 1955514 h 5309663"/>
              <a:gd name="connsiteX163" fmla="*/ 4023648 w 5309659"/>
              <a:gd name="connsiteY163" fmla="*/ 1920381 h 5309663"/>
              <a:gd name="connsiteX164" fmla="*/ 3877415 w 5309659"/>
              <a:gd name="connsiteY164" fmla="*/ 1973002 h 5309663"/>
              <a:gd name="connsiteX165" fmla="*/ 3772135 w 5309659"/>
              <a:gd name="connsiteY165" fmla="*/ 1867721 h 5309663"/>
              <a:gd name="connsiteX166" fmla="*/ 3889094 w 5309659"/>
              <a:gd name="connsiteY166" fmla="*/ 1698143 h 5309663"/>
              <a:gd name="connsiteX167" fmla="*/ 3965139 w 5309659"/>
              <a:gd name="connsiteY167" fmla="*/ 1785866 h 5309663"/>
              <a:gd name="connsiteX168" fmla="*/ 4070419 w 5309659"/>
              <a:gd name="connsiteY168" fmla="*/ 1780008 h 5309663"/>
              <a:gd name="connsiteX169" fmla="*/ 4111322 w 5309659"/>
              <a:gd name="connsiteY169" fmla="*/ 1908674 h 5309663"/>
              <a:gd name="connsiteX170" fmla="*/ 4228281 w 5309659"/>
              <a:gd name="connsiteY170" fmla="*/ 1961294 h 5309663"/>
              <a:gd name="connsiteX171" fmla="*/ 4298477 w 5309659"/>
              <a:gd name="connsiteY171" fmla="*/ 2125014 h 5309663"/>
              <a:gd name="connsiteX172" fmla="*/ 4356947 w 5309659"/>
              <a:gd name="connsiteY172" fmla="*/ 2072394 h 5309663"/>
              <a:gd name="connsiteX173" fmla="*/ 4356947 w 5309659"/>
              <a:gd name="connsiteY173" fmla="*/ 1949626 h 5309663"/>
              <a:gd name="connsiteX174" fmla="*/ 4222432 w 5309659"/>
              <a:gd name="connsiteY174" fmla="*/ 1809291 h 5309663"/>
              <a:gd name="connsiteX175" fmla="*/ 4239998 w 5309659"/>
              <a:gd name="connsiteY175" fmla="*/ 1698192 h 5309663"/>
              <a:gd name="connsiteX176" fmla="*/ 4251676 w 5309659"/>
              <a:gd name="connsiteY176" fmla="*/ 1616327 h 5309663"/>
              <a:gd name="connsiteX177" fmla="*/ 4380342 w 5309659"/>
              <a:gd name="connsiteY177" fmla="*/ 1616327 h 5309663"/>
              <a:gd name="connsiteX178" fmla="*/ 4415475 w 5309659"/>
              <a:gd name="connsiteY178" fmla="*/ 1464275 h 5309663"/>
              <a:gd name="connsiteX179" fmla="*/ 4333610 w 5309659"/>
              <a:gd name="connsiteY179" fmla="*/ 1119230 h 5309663"/>
              <a:gd name="connsiteX180" fmla="*/ 4123089 w 5309659"/>
              <a:gd name="connsiteY180" fmla="*/ 885288 h 5309663"/>
              <a:gd name="connsiteX181" fmla="*/ 3868667 w 5309659"/>
              <a:gd name="connsiteY181" fmla="*/ 815100 h 5309663"/>
              <a:gd name="connsiteX182" fmla="*/ 3807287 w 5309659"/>
              <a:gd name="connsiteY182" fmla="*/ 563666 h 5309663"/>
              <a:gd name="connsiteX183" fmla="*/ 3930055 w 5309659"/>
              <a:gd name="connsiteY183" fmla="*/ 475951 h 5309663"/>
              <a:gd name="connsiteX184" fmla="*/ 3895266 w 5309659"/>
              <a:gd name="connsiteY184" fmla="*/ 412193 h 5309663"/>
              <a:gd name="connsiteX185" fmla="*/ 5218566 w 5309659"/>
              <a:gd name="connsiteY185" fmla="*/ 2654853 h 5309663"/>
              <a:gd name="connsiteX186" fmla="*/ 4317072 w 5309659"/>
              <a:gd name="connsiteY186" fmla="*/ 4604485 h 530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5309659" h="5309663">
                <a:moveTo>
                  <a:pt x="2654830" y="0"/>
                </a:moveTo>
                <a:cubicBezTo>
                  <a:pt x="1190843" y="0"/>
                  <a:pt x="0" y="1190945"/>
                  <a:pt x="0" y="2654834"/>
                </a:cubicBezTo>
                <a:cubicBezTo>
                  <a:pt x="0" y="4118723"/>
                  <a:pt x="1190941" y="5309664"/>
                  <a:pt x="2654830" y="5309664"/>
                </a:cubicBezTo>
                <a:cubicBezTo>
                  <a:pt x="4118719" y="5309664"/>
                  <a:pt x="5309660" y="4118723"/>
                  <a:pt x="5309660" y="2654834"/>
                </a:cubicBezTo>
                <a:cubicBezTo>
                  <a:pt x="5309660" y="1190945"/>
                  <a:pt x="4118719" y="0"/>
                  <a:pt x="2654830" y="0"/>
                </a:cubicBezTo>
                <a:close/>
                <a:moveTo>
                  <a:pt x="478297" y="1732629"/>
                </a:moveTo>
                <a:lnTo>
                  <a:pt x="536119" y="1665156"/>
                </a:lnTo>
                <a:lnTo>
                  <a:pt x="632523" y="1578363"/>
                </a:lnTo>
                <a:lnTo>
                  <a:pt x="661454" y="1636186"/>
                </a:lnTo>
                <a:lnTo>
                  <a:pt x="593981" y="1708479"/>
                </a:lnTo>
                <a:lnTo>
                  <a:pt x="613233" y="1804873"/>
                </a:lnTo>
                <a:lnTo>
                  <a:pt x="637304" y="1954328"/>
                </a:lnTo>
                <a:lnTo>
                  <a:pt x="671065" y="2147165"/>
                </a:lnTo>
                <a:lnTo>
                  <a:pt x="511979" y="2142345"/>
                </a:lnTo>
                <a:lnTo>
                  <a:pt x="458937" y="2036301"/>
                </a:lnTo>
                <a:lnTo>
                  <a:pt x="497509" y="1935077"/>
                </a:lnTo>
                <a:close/>
                <a:moveTo>
                  <a:pt x="361152" y="1664539"/>
                </a:moveTo>
                <a:lnTo>
                  <a:pt x="352540" y="1778930"/>
                </a:lnTo>
                <a:lnTo>
                  <a:pt x="281325" y="1813494"/>
                </a:lnTo>
                <a:lnTo>
                  <a:pt x="354725" y="1850194"/>
                </a:lnTo>
                <a:lnTo>
                  <a:pt x="354725" y="1949508"/>
                </a:lnTo>
                <a:lnTo>
                  <a:pt x="300723" y="1994820"/>
                </a:lnTo>
                <a:lnTo>
                  <a:pt x="233789" y="1996965"/>
                </a:lnTo>
                <a:lnTo>
                  <a:pt x="182010" y="2029335"/>
                </a:lnTo>
                <a:lnTo>
                  <a:pt x="168999" y="2028111"/>
                </a:lnTo>
                <a:cubicBezTo>
                  <a:pt x="194525" y="1926886"/>
                  <a:pt x="226441" y="1828229"/>
                  <a:pt x="263641" y="1732129"/>
                </a:cubicBezTo>
                <a:close/>
                <a:moveTo>
                  <a:pt x="93641" y="2556960"/>
                </a:moveTo>
                <a:cubicBezTo>
                  <a:pt x="97315" y="2460145"/>
                  <a:pt x="105888" y="2364535"/>
                  <a:pt x="120047" y="2270737"/>
                </a:cubicBezTo>
                <a:lnTo>
                  <a:pt x="189125" y="2267719"/>
                </a:lnTo>
                <a:lnTo>
                  <a:pt x="179404" y="2436416"/>
                </a:lnTo>
                <a:lnTo>
                  <a:pt x="102252" y="2556970"/>
                </a:lnTo>
                <a:close/>
                <a:moveTo>
                  <a:pt x="4316994" y="4604465"/>
                </a:moveTo>
                <a:lnTo>
                  <a:pt x="4375816" y="4503663"/>
                </a:lnTo>
                <a:lnTo>
                  <a:pt x="4375816" y="4426588"/>
                </a:lnTo>
                <a:lnTo>
                  <a:pt x="4228633" y="4611206"/>
                </a:lnTo>
                <a:lnTo>
                  <a:pt x="4179569" y="4633867"/>
                </a:lnTo>
                <a:lnTo>
                  <a:pt x="4179569" y="4559810"/>
                </a:lnTo>
                <a:lnTo>
                  <a:pt x="4191247" y="4515419"/>
                </a:lnTo>
                <a:lnTo>
                  <a:pt x="4247306" y="4466355"/>
                </a:lnTo>
                <a:lnTo>
                  <a:pt x="4158525" y="4414959"/>
                </a:lnTo>
                <a:lnTo>
                  <a:pt x="4072075" y="4480404"/>
                </a:lnTo>
                <a:lnTo>
                  <a:pt x="4046357" y="4513087"/>
                </a:lnTo>
                <a:lnTo>
                  <a:pt x="3980912" y="4559810"/>
                </a:lnTo>
                <a:lnTo>
                  <a:pt x="3941185" y="4520083"/>
                </a:lnTo>
                <a:lnTo>
                  <a:pt x="3899087" y="4517712"/>
                </a:lnTo>
                <a:cubicBezTo>
                  <a:pt x="3899087" y="4517712"/>
                  <a:pt x="3812637" y="4618171"/>
                  <a:pt x="3803300" y="4633788"/>
                </a:cubicBezTo>
                <a:cubicBezTo>
                  <a:pt x="3793963" y="4649444"/>
                  <a:pt x="3754236" y="4633788"/>
                  <a:pt x="3754236" y="4633788"/>
                </a:cubicBezTo>
                <a:lnTo>
                  <a:pt x="3679454" y="4667196"/>
                </a:lnTo>
                <a:lnTo>
                  <a:pt x="3611717" y="4741978"/>
                </a:lnTo>
                <a:lnTo>
                  <a:pt x="3485539" y="4779335"/>
                </a:lnTo>
                <a:lnTo>
                  <a:pt x="3305635" y="4842438"/>
                </a:lnTo>
                <a:lnTo>
                  <a:pt x="3247195" y="4947601"/>
                </a:lnTo>
                <a:lnTo>
                  <a:pt x="3080143" y="5132218"/>
                </a:lnTo>
                <a:lnTo>
                  <a:pt x="3156071" y="5111212"/>
                </a:lnTo>
                <a:lnTo>
                  <a:pt x="3324347" y="5073856"/>
                </a:lnTo>
                <a:lnTo>
                  <a:pt x="3457569" y="5064519"/>
                </a:lnTo>
                <a:lnTo>
                  <a:pt x="3474645" y="5083497"/>
                </a:lnTo>
                <a:cubicBezTo>
                  <a:pt x="3217049" y="5170681"/>
                  <a:pt x="2941583" y="5218668"/>
                  <a:pt x="2654938" y="5218668"/>
                </a:cubicBezTo>
                <a:cubicBezTo>
                  <a:pt x="2016634" y="5218668"/>
                  <a:pt x="1432548" y="4983615"/>
                  <a:pt x="983349" y="4596285"/>
                </a:cubicBezTo>
                <a:lnTo>
                  <a:pt x="983349" y="4579336"/>
                </a:lnTo>
                <a:lnTo>
                  <a:pt x="958817" y="4483931"/>
                </a:lnTo>
                <a:lnTo>
                  <a:pt x="860728" y="4383089"/>
                </a:lnTo>
                <a:lnTo>
                  <a:pt x="680902" y="4184158"/>
                </a:lnTo>
                <a:lnTo>
                  <a:pt x="664560" y="4058784"/>
                </a:lnTo>
                <a:lnTo>
                  <a:pt x="661797" y="3982474"/>
                </a:lnTo>
                <a:lnTo>
                  <a:pt x="683576" y="3881632"/>
                </a:lnTo>
                <a:lnTo>
                  <a:pt x="721697" y="3799885"/>
                </a:lnTo>
                <a:lnTo>
                  <a:pt x="721697" y="3647265"/>
                </a:lnTo>
                <a:lnTo>
                  <a:pt x="718934" y="3510987"/>
                </a:lnTo>
                <a:lnTo>
                  <a:pt x="691688" y="3451018"/>
                </a:lnTo>
                <a:lnTo>
                  <a:pt x="585409" y="3480978"/>
                </a:lnTo>
                <a:lnTo>
                  <a:pt x="489965" y="3481056"/>
                </a:lnTo>
                <a:lnTo>
                  <a:pt x="372781" y="3306657"/>
                </a:lnTo>
                <a:lnTo>
                  <a:pt x="310138" y="3260356"/>
                </a:lnTo>
                <a:lnTo>
                  <a:pt x="291034" y="3167704"/>
                </a:lnTo>
                <a:lnTo>
                  <a:pt x="231066" y="3107726"/>
                </a:lnTo>
                <a:lnTo>
                  <a:pt x="231066" y="2990543"/>
                </a:lnTo>
                <a:lnTo>
                  <a:pt x="195630" y="2949522"/>
                </a:lnTo>
                <a:lnTo>
                  <a:pt x="187441" y="2892307"/>
                </a:lnTo>
                <a:lnTo>
                  <a:pt x="152003" y="2750591"/>
                </a:lnTo>
                <a:lnTo>
                  <a:pt x="152003" y="2685185"/>
                </a:lnTo>
                <a:lnTo>
                  <a:pt x="214646" y="2832339"/>
                </a:lnTo>
                <a:lnTo>
                  <a:pt x="282804" y="2927753"/>
                </a:lnTo>
                <a:lnTo>
                  <a:pt x="282804" y="3031348"/>
                </a:lnTo>
                <a:lnTo>
                  <a:pt x="323678" y="3091316"/>
                </a:lnTo>
                <a:lnTo>
                  <a:pt x="389084" y="3227594"/>
                </a:lnTo>
                <a:lnTo>
                  <a:pt x="479022" y="3374747"/>
                </a:lnTo>
                <a:lnTo>
                  <a:pt x="667078" y="3257564"/>
                </a:lnTo>
                <a:lnTo>
                  <a:pt x="702514" y="3189405"/>
                </a:lnTo>
                <a:lnTo>
                  <a:pt x="860571" y="3088563"/>
                </a:lnTo>
                <a:lnTo>
                  <a:pt x="863324" y="3023157"/>
                </a:lnTo>
                <a:lnTo>
                  <a:pt x="920540" y="2911411"/>
                </a:lnTo>
                <a:lnTo>
                  <a:pt x="896008" y="2843252"/>
                </a:lnTo>
                <a:lnTo>
                  <a:pt x="795166" y="2813283"/>
                </a:lnTo>
                <a:lnTo>
                  <a:pt x="727007" y="2742410"/>
                </a:lnTo>
                <a:lnTo>
                  <a:pt x="680706" y="2821473"/>
                </a:lnTo>
                <a:lnTo>
                  <a:pt x="590768" y="2821473"/>
                </a:lnTo>
                <a:lnTo>
                  <a:pt x="577140" y="2758752"/>
                </a:lnTo>
                <a:lnTo>
                  <a:pt x="536266" y="2775094"/>
                </a:lnTo>
                <a:lnTo>
                  <a:pt x="522648" y="2712441"/>
                </a:lnTo>
                <a:lnTo>
                  <a:pt x="438148" y="2603409"/>
                </a:lnTo>
                <a:lnTo>
                  <a:pt x="457243" y="2540687"/>
                </a:lnTo>
                <a:lnTo>
                  <a:pt x="519964" y="2540687"/>
                </a:lnTo>
                <a:lnTo>
                  <a:pt x="585370" y="2630625"/>
                </a:lnTo>
                <a:lnTo>
                  <a:pt x="658926" y="2671499"/>
                </a:lnTo>
                <a:lnTo>
                  <a:pt x="729838" y="2654922"/>
                </a:lnTo>
                <a:lnTo>
                  <a:pt x="811586" y="2728783"/>
                </a:lnTo>
                <a:lnTo>
                  <a:pt x="934207" y="2739697"/>
                </a:lnTo>
                <a:lnTo>
                  <a:pt x="1171327" y="2750601"/>
                </a:lnTo>
                <a:lnTo>
                  <a:pt x="1242199" y="2807816"/>
                </a:lnTo>
                <a:lnTo>
                  <a:pt x="1315756" y="2840499"/>
                </a:lnTo>
                <a:lnTo>
                  <a:pt x="1394829" y="2843252"/>
                </a:lnTo>
                <a:lnTo>
                  <a:pt x="1332176" y="2875936"/>
                </a:lnTo>
                <a:lnTo>
                  <a:pt x="1394829" y="2952246"/>
                </a:lnTo>
                <a:lnTo>
                  <a:pt x="1476567" y="2979492"/>
                </a:lnTo>
                <a:lnTo>
                  <a:pt x="1517440" y="2889554"/>
                </a:lnTo>
                <a:lnTo>
                  <a:pt x="1517440" y="3053048"/>
                </a:lnTo>
                <a:lnTo>
                  <a:pt x="1732713" y="3420980"/>
                </a:lnTo>
                <a:lnTo>
                  <a:pt x="1901675" y="3617227"/>
                </a:lnTo>
                <a:cubicBezTo>
                  <a:pt x="1901675" y="3617227"/>
                  <a:pt x="1969833" y="3538164"/>
                  <a:pt x="1980738" y="3524575"/>
                </a:cubicBezTo>
                <a:cubicBezTo>
                  <a:pt x="1991651" y="3510957"/>
                  <a:pt x="1980738" y="3431924"/>
                  <a:pt x="1980738" y="3431924"/>
                </a:cubicBezTo>
                <a:lnTo>
                  <a:pt x="1980738" y="3292961"/>
                </a:lnTo>
                <a:lnTo>
                  <a:pt x="2027049" y="3197556"/>
                </a:lnTo>
                <a:lnTo>
                  <a:pt x="2220542" y="3012214"/>
                </a:lnTo>
                <a:lnTo>
                  <a:pt x="2302289" y="2916809"/>
                </a:lnTo>
                <a:lnTo>
                  <a:pt x="2476688" y="2851404"/>
                </a:lnTo>
                <a:lnTo>
                  <a:pt x="2550246" y="2840499"/>
                </a:lnTo>
                <a:lnTo>
                  <a:pt x="2654918" y="2944134"/>
                </a:lnTo>
                <a:lnTo>
                  <a:pt x="2746610" y="3091287"/>
                </a:lnTo>
                <a:lnTo>
                  <a:pt x="2782046" y="3189376"/>
                </a:lnTo>
                <a:lnTo>
                  <a:pt x="2899230" y="3140312"/>
                </a:lnTo>
                <a:lnTo>
                  <a:pt x="2942856" y="3219374"/>
                </a:lnTo>
                <a:lnTo>
                  <a:pt x="3008262" y="3404717"/>
                </a:lnTo>
                <a:lnTo>
                  <a:pt x="2983730" y="3568212"/>
                </a:lnTo>
                <a:lnTo>
                  <a:pt x="3010985" y="3587306"/>
                </a:lnTo>
                <a:lnTo>
                  <a:pt x="3049096" y="3619990"/>
                </a:lnTo>
                <a:lnTo>
                  <a:pt x="3100874" y="3696300"/>
                </a:lnTo>
                <a:lnTo>
                  <a:pt x="3133558" y="3824387"/>
                </a:lnTo>
                <a:lnTo>
                  <a:pt x="3286177" y="3917039"/>
                </a:lnTo>
                <a:lnTo>
                  <a:pt x="3264408" y="3772570"/>
                </a:lnTo>
                <a:lnTo>
                  <a:pt x="3237152" y="3693507"/>
                </a:lnTo>
                <a:lnTo>
                  <a:pt x="3125406" y="3633539"/>
                </a:lnTo>
                <a:lnTo>
                  <a:pt x="3111788" y="3569515"/>
                </a:lnTo>
                <a:lnTo>
                  <a:pt x="3062724" y="3527260"/>
                </a:lnTo>
                <a:lnTo>
                  <a:pt x="3049096" y="3491823"/>
                </a:lnTo>
                <a:lnTo>
                  <a:pt x="3093840" y="3347316"/>
                </a:lnTo>
                <a:lnTo>
                  <a:pt x="3169876" y="3388228"/>
                </a:lnTo>
                <a:lnTo>
                  <a:pt x="3357021" y="3569515"/>
                </a:lnTo>
                <a:lnTo>
                  <a:pt x="3392153" y="3511036"/>
                </a:lnTo>
                <a:lnTo>
                  <a:pt x="3526668" y="3481801"/>
                </a:lnTo>
                <a:lnTo>
                  <a:pt x="3614382" y="3399936"/>
                </a:lnTo>
                <a:lnTo>
                  <a:pt x="3544195" y="3201123"/>
                </a:lnTo>
                <a:lnTo>
                  <a:pt x="3392143" y="3095842"/>
                </a:lnTo>
                <a:lnTo>
                  <a:pt x="3392143" y="2967177"/>
                </a:lnTo>
                <a:lnTo>
                  <a:pt x="3514911" y="2902888"/>
                </a:lnTo>
                <a:lnTo>
                  <a:pt x="3637679" y="2967177"/>
                </a:lnTo>
                <a:lnTo>
                  <a:pt x="3666924" y="2879463"/>
                </a:lnTo>
                <a:lnTo>
                  <a:pt x="3883303" y="2838550"/>
                </a:lnTo>
                <a:lnTo>
                  <a:pt x="4093824" y="2654932"/>
                </a:lnTo>
                <a:lnTo>
                  <a:pt x="4158192" y="2394122"/>
                </a:lnTo>
                <a:lnTo>
                  <a:pt x="4023677" y="2125122"/>
                </a:lnTo>
                <a:lnTo>
                  <a:pt x="3924256" y="2025700"/>
                </a:lnTo>
                <a:lnTo>
                  <a:pt x="4093834" y="1955514"/>
                </a:lnTo>
                <a:lnTo>
                  <a:pt x="4023648" y="1920381"/>
                </a:lnTo>
                <a:lnTo>
                  <a:pt x="3877415" y="1973002"/>
                </a:lnTo>
                <a:lnTo>
                  <a:pt x="3772135" y="1867721"/>
                </a:lnTo>
                <a:lnTo>
                  <a:pt x="3889094" y="1698143"/>
                </a:lnTo>
                <a:lnTo>
                  <a:pt x="3965139" y="1785866"/>
                </a:lnTo>
                <a:lnTo>
                  <a:pt x="4070419" y="1780008"/>
                </a:lnTo>
                <a:lnTo>
                  <a:pt x="4111322" y="1908674"/>
                </a:lnTo>
                <a:lnTo>
                  <a:pt x="4228281" y="1961294"/>
                </a:lnTo>
                <a:lnTo>
                  <a:pt x="4298477" y="2125014"/>
                </a:lnTo>
                <a:lnTo>
                  <a:pt x="4356947" y="2072394"/>
                </a:lnTo>
                <a:lnTo>
                  <a:pt x="4356947" y="1949626"/>
                </a:lnTo>
                <a:lnTo>
                  <a:pt x="4222432" y="1809291"/>
                </a:lnTo>
                <a:lnTo>
                  <a:pt x="4239998" y="1698192"/>
                </a:lnTo>
                <a:lnTo>
                  <a:pt x="4251676" y="1616327"/>
                </a:lnTo>
                <a:lnTo>
                  <a:pt x="4380342" y="1616327"/>
                </a:lnTo>
                <a:lnTo>
                  <a:pt x="4415475" y="1464275"/>
                </a:lnTo>
                <a:lnTo>
                  <a:pt x="4333610" y="1119230"/>
                </a:lnTo>
                <a:lnTo>
                  <a:pt x="4123089" y="885288"/>
                </a:lnTo>
                <a:lnTo>
                  <a:pt x="3868667" y="815100"/>
                </a:lnTo>
                <a:lnTo>
                  <a:pt x="3807287" y="563666"/>
                </a:lnTo>
                <a:lnTo>
                  <a:pt x="3930055" y="475951"/>
                </a:lnTo>
                <a:lnTo>
                  <a:pt x="3895266" y="412193"/>
                </a:lnTo>
                <a:cubicBezTo>
                  <a:pt x="4683672" y="849969"/>
                  <a:pt x="5218566" y="1690912"/>
                  <a:pt x="5218566" y="2654853"/>
                </a:cubicBezTo>
                <a:cubicBezTo>
                  <a:pt x="5218674" y="3434755"/>
                  <a:pt x="4868240" y="4133830"/>
                  <a:pt x="4317072" y="4604485"/>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64" name="Freeform: Shape 163">
            <a:extLst>
              <a:ext uri="{FF2B5EF4-FFF2-40B4-BE49-F238E27FC236}">
                <a16:creationId xmlns:a16="http://schemas.microsoft.com/office/drawing/2014/main" id="{CA829F41-7A6E-1EF3-DCF3-DF01FEA439E7}"/>
              </a:ext>
            </a:extLst>
          </p:cNvPr>
          <p:cNvSpPr>
            <a:spLocks noChangeAspect="1"/>
          </p:cNvSpPr>
          <p:nvPr/>
        </p:nvSpPr>
        <p:spPr>
          <a:xfrm>
            <a:off x="507717" y="2759396"/>
            <a:ext cx="402327" cy="402336"/>
          </a:xfrm>
          <a:custGeom>
            <a:avLst/>
            <a:gdLst>
              <a:gd name="connsiteX0" fmla="*/ 2408868 w 4828026"/>
              <a:gd name="connsiteY0" fmla="*/ 0 h 4828140"/>
              <a:gd name="connsiteX1" fmla="*/ 2245795 w 4828026"/>
              <a:gd name="connsiteY1" fmla="*/ 166248 h 4828140"/>
              <a:gd name="connsiteX2" fmla="*/ 2245795 w 4828026"/>
              <a:gd name="connsiteY2" fmla="*/ 1748192 h 4828140"/>
              <a:gd name="connsiteX3" fmla="*/ 2024399 w 4828026"/>
              <a:gd name="connsiteY3" fmla="*/ 1991553 h 4828140"/>
              <a:gd name="connsiteX4" fmla="*/ 2081036 w 4828026"/>
              <a:gd name="connsiteY4" fmla="*/ 889571 h 4828140"/>
              <a:gd name="connsiteX5" fmla="*/ 1876785 w 4828026"/>
              <a:gd name="connsiteY5" fmla="*/ 719884 h 4828140"/>
              <a:gd name="connsiteX6" fmla="*/ 301209 w 4828026"/>
              <a:gd name="connsiteY6" fmla="*/ 2298400 h 4828140"/>
              <a:gd name="connsiteX7" fmla="*/ 110703 w 4828026"/>
              <a:gd name="connsiteY7" fmla="*/ 4706440 h 4828140"/>
              <a:gd name="connsiteX8" fmla="*/ 268604 w 4828026"/>
              <a:gd name="connsiteY8" fmla="*/ 4828140 h 4828140"/>
              <a:gd name="connsiteX9" fmla="*/ 1214293 w 4828026"/>
              <a:gd name="connsiteY9" fmla="*/ 4526496 h 4828140"/>
              <a:gd name="connsiteX10" fmla="*/ 2026113 w 4828026"/>
              <a:gd name="connsiteY10" fmla="*/ 3832388 h 4828140"/>
              <a:gd name="connsiteX11" fmla="*/ 2010653 w 4828026"/>
              <a:gd name="connsiteY11" fmla="*/ 2497233 h 4828140"/>
              <a:gd name="connsiteX12" fmla="*/ 2410573 w 4828026"/>
              <a:gd name="connsiteY12" fmla="*/ 2056744 h 4828140"/>
              <a:gd name="connsiteX13" fmla="*/ 2819064 w 4828026"/>
              <a:gd name="connsiteY13" fmla="*/ 2504081 h 4828140"/>
              <a:gd name="connsiteX14" fmla="*/ 2801919 w 4828026"/>
              <a:gd name="connsiteY14" fmla="*/ 3832378 h 4828140"/>
              <a:gd name="connsiteX15" fmla="*/ 3613740 w 4828026"/>
              <a:gd name="connsiteY15" fmla="*/ 4526486 h 4828140"/>
              <a:gd name="connsiteX16" fmla="*/ 4559429 w 4828026"/>
              <a:gd name="connsiteY16" fmla="*/ 4828130 h 4828140"/>
              <a:gd name="connsiteX17" fmla="*/ 4717330 w 4828026"/>
              <a:gd name="connsiteY17" fmla="*/ 4706430 h 4828140"/>
              <a:gd name="connsiteX18" fmla="*/ 4526824 w 4828026"/>
              <a:gd name="connsiteY18" fmla="*/ 2298390 h 4828140"/>
              <a:gd name="connsiteX19" fmla="*/ 2951248 w 4828026"/>
              <a:gd name="connsiteY19" fmla="*/ 719875 h 4828140"/>
              <a:gd name="connsiteX20" fmla="*/ 2746997 w 4828026"/>
              <a:gd name="connsiteY20" fmla="*/ 889561 h 4828140"/>
              <a:gd name="connsiteX21" fmla="*/ 2803634 w 4828026"/>
              <a:gd name="connsiteY21" fmla="*/ 2000165 h 4828140"/>
              <a:gd name="connsiteX22" fmla="*/ 2575351 w 4828026"/>
              <a:gd name="connsiteY22" fmla="*/ 1748232 h 4828140"/>
              <a:gd name="connsiteX23" fmla="*/ 2575351 w 4828026"/>
              <a:gd name="connsiteY23" fmla="*/ 166287 h 4828140"/>
              <a:gd name="connsiteX24" fmla="*/ 2408878 w 4828026"/>
              <a:gd name="connsiteY24" fmla="*/ 39 h 482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8026" h="4828140">
                <a:moveTo>
                  <a:pt x="2408868" y="0"/>
                </a:moveTo>
                <a:cubicBezTo>
                  <a:pt x="2322604" y="919"/>
                  <a:pt x="2244923" y="80099"/>
                  <a:pt x="2245795" y="166248"/>
                </a:cubicBezTo>
                <a:lnTo>
                  <a:pt x="2245795" y="1748192"/>
                </a:lnTo>
                <a:lnTo>
                  <a:pt x="2024399" y="1991553"/>
                </a:lnTo>
                <a:cubicBezTo>
                  <a:pt x="2039094" y="1624886"/>
                  <a:pt x="2060521" y="1257992"/>
                  <a:pt x="2081036" y="889571"/>
                </a:cubicBezTo>
                <a:cubicBezTo>
                  <a:pt x="2074188" y="770624"/>
                  <a:pt x="1984328" y="706139"/>
                  <a:pt x="1876785" y="719884"/>
                </a:cubicBezTo>
                <a:cubicBezTo>
                  <a:pt x="1147202" y="902013"/>
                  <a:pt x="609427" y="1539474"/>
                  <a:pt x="301209" y="2298400"/>
                </a:cubicBezTo>
                <a:cubicBezTo>
                  <a:pt x="-7098" y="3057296"/>
                  <a:pt x="-93281" y="3949806"/>
                  <a:pt x="110703" y="4706440"/>
                </a:cubicBezTo>
                <a:cubicBezTo>
                  <a:pt x="129308" y="4775284"/>
                  <a:pt x="197192" y="4827601"/>
                  <a:pt x="268604" y="4828140"/>
                </a:cubicBezTo>
                <a:cubicBezTo>
                  <a:pt x="604881" y="4787913"/>
                  <a:pt x="922220" y="4655387"/>
                  <a:pt x="1214293" y="4526496"/>
                </a:cubicBezTo>
                <a:cubicBezTo>
                  <a:pt x="1515751" y="4379000"/>
                  <a:pt x="1997799" y="4175405"/>
                  <a:pt x="2026113" y="3832388"/>
                </a:cubicBezTo>
                <a:cubicBezTo>
                  <a:pt x="2001434" y="3388489"/>
                  <a:pt x="2000552" y="2943522"/>
                  <a:pt x="2010653" y="2497233"/>
                </a:cubicBezTo>
                <a:lnTo>
                  <a:pt x="2410573" y="2056744"/>
                </a:lnTo>
                <a:lnTo>
                  <a:pt x="2819064" y="2504081"/>
                </a:lnTo>
                <a:cubicBezTo>
                  <a:pt x="2828979" y="2948009"/>
                  <a:pt x="2826491" y="3390723"/>
                  <a:pt x="2801919" y="3832378"/>
                </a:cubicBezTo>
                <a:cubicBezTo>
                  <a:pt x="2872224" y="4218758"/>
                  <a:pt x="3322511" y="4396478"/>
                  <a:pt x="3613740" y="4526486"/>
                </a:cubicBezTo>
                <a:cubicBezTo>
                  <a:pt x="3925103" y="4633716"/>
                  <a:pt x="4247077" y="4824534"/>
                  <a:pt x="4559429" y="4828130"/>
                </a:cubicBezTo>
                <a:cubicBezTo>
                  <a:pt x="4630841" y="4827591"/>
                  <a:pt x="4698735" y="4775284"/>
                  <a:pt x="4717330" y="4706430"/>
                </a:cubicBezTo>
                <a:cubicBezTo>
                  <a:pt x="4921306" y="3949826"/>
                  <a:pt x="4835121" y="3057277"/>
                  <a:pt x="4526824" y="2298390"/>
                </a:cubicBezTo>
                <a:cubicBezTo>
                  <a:pt x="4218518" y="1539494"/>
                  <a:pt x="3680821" y="902003"/>
                  <a:pt x="2951248" y="719875"/>
                </a:cubicBezTo>
                <a:cubicBezTo>
                  <a:pt x="2845007" y="700055"/>
                  <a:pt x="2744548" y="808274"/>
                  <a:pt x="2746997" y="889561"/>
                </a:cubicBezTo>
                <a:cubicBezTo>
                  <a:pt x="2767659" y="1260892"/>
                  <a:pt x="2788899" y="1630666"/>
                  <a:pt x="2803634" y="2000165"/>
                </a:cubicBezTo>
                <a:lnTo>
                  <a:pt x="2575351" y="1748232"/>
                </a:lnTo>
                <a:lnTo>
                  <a:pt x="2575351" y="166287"/>
                </a:lnTo>
                <a:cubicBezTo>
                  <a:pt x="2576272" y="78992"/>
                  <a:pt x="2496288" y="-872"/>
                  <a:pt x="2408878" y="39"/>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242" name="Group 241">
            <a:extLst>
              <a:ext uri="{FF2B5EF4-FFF2-40B4-BE49-F238E27FC236}">
                <a16:creationId xmlns:a16="http://schemas.microsoft.com/office/drawing/2014/main" id="{5168AE88-559A-E54F-A4D5-59EC3F3D16BC}"/>
              </a:ext>
            </a:extLst>
          </p:cNvPr>
          <p:cNvGrpSpPr>
            <a:grpSpLocks noChangeAspect="1"/>
          </p:cNvGrpSpPr>
          <p:nvPr/>
        </p:nvGrpSpPr>
        <p:grpSpPr>
          <a:xfrm>
            <a:off x="568065" y="4783315"/>
            <a:ext cx="281631" cy="402336"/>
            <a:chOff x="14560090" y="39"/>
            <a:chExt cx="3840439" cy="5486428"/>
          </a:xfrm>
          <a:solidFill>
            <a:schemeClr val="bg1"/>
          </a:solidFill>
        </p:grpSpPr>
        <p:sp>
          <p:nvSpPr>
            <p:cNvPr id="222" name="Freeform: Shape 221">
              <a:extLst>
                <a:ext uri="{FF2B5EF4-FFF2-40B4-BE49-F238E27FC236}">
                  <a16:creationId xmlns:a16="http://schemas.microsoft.com/office/drawing/2014/main" id="{228337C8-64C8-3D68-56B4-A6B0D23B3AD1}"/>
                </a:ext>
              </a:extLst>
            </p:cNvPr>
            <p:cNvSpPr/>
            <p:nvPr/>
          </p:nvSpPr>
          <p:spPr>
            <a:xfrm>
              <a:off x="14560090" y="908197"/>
              <a:ext cx="3840325" cy="4578270"/>
            </a:xfrm>
            <a:custGeom>
              <a:avLst/>
              <a:gdLst>
                <a:gd name="connsiteX0" fmla="*/ 3732947 w 3840325"/>
                <a:gd name="connsiteY0" fmla="*/ 1660711 h 4578270"/>
                <a:gd name="connsiteX1" fmla="*/ 2143164 w 3840325"/>
                <a:gd name="connsiteY1" fmla="*/ 90915 h 4578270"/>
                <a:gd name="connsiteX2" fmla="*/ 1698315 w 3840325"/>
                <a:gd name="connsiteY2" fmla="*/ 91836 h 4578270"/>
                <a:gd name="connsiteX3" fmla="*/ 107161 w 3840325"/>
                <a:gd name="connsiteY3" fmla="*/ 1661142 h 4578270"/>
                <a:gd name="connsiteX4" fmla="*/ 0 w 3840325"/>
                <a:gd name="connsiteY4" fmla="*/ 1919738 h 4578270"/>
                <a:gd name="connsiteX5" fmla="*/ 107161 w 3840325"/>
                <a:gd name="connsiteY5" fmla="*/ 2178402 h 4578270"/>
                <a:gd name="connsiteX6" fmla="*/ 623696 w 3840325"/>
                <a:gd name="connsiteY6" fmla="*/ 2179049 h 4578270"/>
                <a:gd name="connsiteX7" fmla="*/ 1554464 w 3840325"/>
                <a:gd name="connsiteY7" fmla="*/ 1267307 h 4578270"/>
                <a:gd name="connsiteX8" fmla="*/ 1554464 w 3840325"/>
                <a:gd name="connsiteY8" fmla="*/ 4212524 h 4578270"/>
                <a:gd name="connsiteX9" fmla="*/ 1920211 w 3840325"/>
                <a:gd name="connsiteY9" fmla="*/ 4578271 h 4578270"/>
                <a:gd name="connsiteX10" fmla="*/ 2285958 w 3840325"/>
                <a:gd name="connsiteY10" fmla="*/ 4212524 h 4578270"/>
                <a:gd name="connsiteX11" fmla="*/ 2285997 w 3840325"/>
                <a:gd name="connsiteY11" fmla="*/ 1267111 h 4578270"/>
                <a:gd name="connsiteX12" fmla="*/ 3216118 w 3840325"/>
                <a:gd name="connsiteY12" fmla="*/ 2178471 h 4578270"/>
                <a:gd name="connsiteX13" fmla="*/ 3733378 w 3840325"/>
                <a:gd name="connsiteY13" fmla="*/ 2178471 h 4578270"/>
                <a:gd name="connsiteX14" fmla="*/ 3733378 w 3840325"/>
                <a:gd name="connsiteY14" fmla="*/ 1661211 h 4578270"/>
                <a:gd name="connsiteX15" fmla="*/ 3732957 w 3840325"/>
                <a:gd name="connsiteY15" fmla="*/ 1660750 h 45782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840325" h="4578270">
                  <a:moveTo>
                    <a:pt x="3732947" y="1660711"/>
                  </a:moveTo>
                  <a:lnTo>
                    <a:pt x="2143164" y="90915"/>
                  </a:lnTo>
                  <a:cubicBezTo>
                    <a:pt x="2020014" y="-30785"/>
                    <a:pt x="1820201" y="-30129"/>
                    <a:pt x="1698315" y="91836"/>
                  </a:cubicBezTo>
                  <a:lnTo>
                    <a:pt x="107161" y="1661142"/>
                  </a:lnTo>
                  <a:cubicBezTo>
                    <a:pt x="38042" y="1730183"/>
                    <a:pt x="0" y="1822070"/>
                    <a:pt x="0" y="1919738"/>
                  </a:cubicBezTo>
                  <a:cubicBezTo>
                    <a:pt x="0" y="2017406"/>
                    <a:pt x="38042" y="2109293"/>
                    <a:pt x="107161" y="2178402"/>
                  </a:cubicBezTo>
                  <a:cubicBezTo>
                    <a:pt x="249719" y="2321146"/>
                    <a:pt x="481784" y="2320960"/>
                    <a:pt x="623696" y="2179049"/>
                  </a:cubicBezTo>
                  <a:lnTo>
                    <a:pt x="1554464" y="1267307"/>
                  </a:lnTo>
                  <a:lnTo>
                    <a:pt x="1554464" y="4212524"/>
                  </a:lnTo>
                  <a:cubicBezTo>
                    <a:pt x="1554464" y="4414247"/>
                    <a:pt x="1718488" y="4578271"/>
                    <a:pt x="1920211" y="4578271"/>
                  </a:cubicBezTo>
                  <a:cubicBezTo>
                    <a:pt x="2121934" y="4578271"/>
                    <a:pt x="2285958" y="4414247"/>
                    <a:pt x="2285958" y="4212524"/>
                  </a:cubicBezTo>
                  <a:lnTo>
                    <a:pt x="2285997" y="1267111"/>
                  </a:lnTo>
                  <a:lnTo>
                    <a:pt x="3216118" y="2178471"/>
                  </a:lnTo>
                  <a:cubicBezTo>
                    <a:pt x="3358754" y="2321107"/>
                    <a:pt x="3590741" y="2321107"/>
                    <a:pt x="3733378" y="2178471"/>
                  </a:cubicBezTo>
                  <a:cubicBezTo>
                    <a:pt x="3876015" y="2035834"/>
                    <a:pt x="3875936" y="1803769"/>
                    <a:pt x="3733378" y="1661211"/>
                  </a:cubicBezTo>
                  <a:cubicBezTo>
                    <a:pt x="3733143" y="1661025"/>
                    <a:pt x="3733035" y="1660946"/>
                    <a:pt x="3732957" y="1660750"/>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3" name="Freeform: Shape 222">
              <a:extLst>
                <a:ext uri="{FF2B5EF4-FFF2-40B4-BE49-F238E27FC236}">
                  <a16:creationId xmlns:a16="http://schemas.microsoft.com/office/drawing/2014/main" id="{983C463E-3465-BF50-5744-0E2498AA55D0}"/>
                </a:ext>
              </a:extLst>
            </p:cNvPr>
            <p:cNvSpPr/>
            <p:nvPr/>
          </p:nvSpPr>
          <p:spPr>
            <a:xfrm>
              <a:off x="14560109" y="39"/>
              <a:ext cx="3840420" cy="731493"/>
            </a:xfrm>
            <a:custGeom>
              <a:avLst/>
              <a:gdLst>
                <a:gd name="connsiteX0" fmla="*/ 365747 w 3840420"/>
                <a:gd name="connsiteY0" fmla="*/ 731494 h 731493"/>
                <a:gd name="connsiteX1" fmla="*/ 3474674 w 3840420"/>
                <a:gd name="connsiteY1" fmla="*/ 731494 h 731493"/>
                <a:gd name="connsiteX2" fmla="*/ 3840421 w 3840420"/>
                <a:gd name="connsiteY2" fmla="*/ 365747 h 731493"/>
                <a:gd name="connsiteX3" fmla="*/ 3474674 w 3840420"/>
                <a:gd name="connsiteY3" fmla="*/ 0 h 731493"/>
                <a:gd name="connsiteX4" fmla="*/ 365747 w 3840420"/>
                <a:gd name="connsiteY4" fmla="*/ 0 h 731493"/>
                <a:gd name="connsiteX5" fmla="*/ 0 w 3840420"/>
                <a:gd name="connsiteY5" fmla="*/ 365747 h 731493"/>
                <a:gd name="connsiteX6" fmla="*/ 365747 w 3840420"/>
                <a:gd name="connsiteY6" fmla="*/ 731494 h 7314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40420" h="731493">
                  <a:moveTo>
                    <a:pt x="365747" y="731494"/>
                  </a:moveTo>
                  <a:lnTo>
                    <a:pt x="3474674" y="731494"/>
                  </a:lnTo>
                  <a:cubicBezTo>
                    <a:pt x="3676398" y="731494"/>
                    <a:pt x="3840421" y="567470"/>
                    <a:pt x="3840421" y="365747"/>
                  </a:cubicBezTo>
                  <a:cubicBezTo>
                    <a:pt x="3840421" y="164024"/>
                    <a:pt x="3676398" y="0"/>
                    <a:pt x="3474674" y="0"/>
                  </a:cubicBezTo>
                  <a:lnTo>
                    <a:pt x="365747" y="0"/>
                  </a:lnTo>
                  <a:cubicBezTo>
                    <a:pt x="164024" y="0"/>
                    <a:pt x="0" y="164024"/>
                    <a:pt x="0" y="365747"/>
                  </a:cubicBezTo>
                  <a:cubicBezTo>
                    <a:pt x="0" y="567431"/>
                    <a:pt x="164024" y="731494"/>
                    <a:pt x="365747" y="731494"/>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Tree>
    <p:custDataLst>
      <p:tags r:id="rId1"/>
    </p:custDataLst>
    <p:extLst>
      <p:ext uri="{BB962C8B-B14F-4D97-AF65-F5344CB8AC3E}">
        <p14:creationId xmlns:p14="http://schemas.microsoft.com/office/powerpoint/2010/main" val="2482460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AATD, alpha-1 antitrypsin deficiency; FEV</a:t>
            </a:r>
            <a:r>
              <a:rPr lang="en-US" baseline="-25000" dirty="0"/>
              <a:t>1</a:t>
            </a:r>
            <a:r>
              <a:rPr lang="en-US" dirty="0"/>
              <a:t>, forced expiratory volume in 1 second.</a:t>
            </a:r>
          </a:p>
          <a:p>
            <a:r>
              <a:rPr lang="en-US" dirty="0"/>
              <a:t>1. Buist AS, et al. </a:t>
            </a:r>
            <a:r>
              <a:rPr lang="en-US" i="1" dirty="0"/>
              <a:t>Lancet</a:t>
            </a:r>
            <a:r>
              <a:rPr lang="en-US" dirty="0"/>
              <a:t>. 2007;370(9589):741-750; 2. Kurmi OP, et al. </a:t>
            </a:r>
            <a:r>
              <a:rPr lang="en-US" i="1" dirty="0"/>
              <a:t>Thorax</a:t>
            </a:r>
            <a:r>
              <a:rPr lang="en-US" dirty="0"/>
              <a:t>. 2010. 65(3):221-228; 3. Po JYT, et al. </a:t>
            </a:r>
            <a:r>
              <a:rPr lang="en-US" i="1" dirty="0"/>
              <a:t>Thorax</a:t>
            </a:r>
            <a:r>
              <a:rPr lang="en-US" dirty="0"/>
              <a:t>. 2011;66(3):232-239; 4. Lamprecht B, et al. </a:t>
            </a:r>
            <a:r>
              <a:rPr lang="en-US" i="1" dirty="0"/>
              <a:t>Chest. </a:t>
            </a:r>
            <a:r>
              <a:rPr lang="en-US" dirty="0"/>
              <a:t>2011;139(4):752-763; 5.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3">
                  <a:extLst>
                    <a:ext uri="{A12FA001-AC4F-418D-AE19-62706E023703}">
                      <ahyp:hlinkClr xmlns:ahyp="http://schemas.microsoft.com/office/drawing/2018/hyperlinkcolor" val="tx"/>
                    </a:ext>
                  </a:extLst>
                </a:hlinkClick>
              </a:rPr>
              <a:t>https://goldcopd.org/2023-gold-report-2/</a:t>
            </a:r>
            <a:r>
              <a:rPr lang="en-US" dirty="0"/>
              <a:t>. Accessed February 2023; 6. MacNee W;</a:t>
            </a:r>
            <a:r>
              <a:rPr lang="en-US" i="1" dirty="0"/>
              <a:t>Clinical Respiratory Medicine</a:t>
            </a:r>
            <a:r>
              <a:rPr lang="en-US" dirty="0"/>
              <a:t>;2012;4;531-552.</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US" dirty="0"/>
              <a:t>COPD prevalence is increased by a number of factors</a:t>
            </a:r>
            <a:endParaRPr lang="en-GB" baseline="30000" dirty="0"/>
          </a:p>
        </p:txBody>
      </p:sp>
      <p:sp>
        <p:nvSpPr>
          <p:cNvPr id="5" name="Subtitle 4">
            <a:extLst>
              <a:ext uri="{FF2B5EF4-FFF2-40B4-BE49-F238E27FC236}">
                <a16:creationId xmlns:a16="http://schemas.microsoft.com/office/drawing/2014/main" id="{F956255C-1A2C-A4B6-9283-6AE0EB734377}"/>
              </a:ext>
            </a:extLst>
          </p:cNvPr>
          <p:cNvSpPr>
            <a:spLocks noGrp="1"/>
          </p:cNvSpPr>
          <p:nvPr>
            <p:ph type="subTitle" idx="1"/>
          </p:nvPr>
        </p:nvSpPr>
        <p:spPr>
          <a:xfrm>
            <a:off x="365125" y="694950"/>
            <a:ext cx="11460164" cy="352800"/>
          </a:xfrm>
        </p:spPr>
        <p:txBody>
          <a:bodyPr/>
          <a:lstStyle/>
          <a:p>
            <a:endParaRPr lang="en-GB" dirty="0"/>
          </a:p>
        </p:txBody>
      </p:sp>
      <p:grpSp>
        <p:nvGrpSpPr>
          <p:cNvPr id="161" name="Group 160">
            <a:extLst>
              <a:ext uri="{FF2B5EF4-FFF2-40B4-BE49-F238E27FC236}">
                <a16:creationId xmlns:a16="http://schemas.microsoft.com/office/drawing/2014/main" id="{FC34222F-0199-AE23-AB35-19CB73C79502}"/>
              </a:ext>
            </a:extLst>
          </p:cNvPr>
          <p:cNvGrpSpPr/>
          <p:nvPr/>
        </p:nvGrpSpPr>
        <p:grpSpPr>
          <a:xfrm>
            <a:off x="374301" y="1101927"/>
            <a:ext cx="11457432" cy="4182072"/>
            <a:chOff x="374301" y="1101927"/>
            <a:chExt cx="11457432" cy="4182072"/>
          </a:xfrm>
        </p:grpSpPr>
        <p:sp>
          <p:nvSpPr>
            <p:cNvPr id="9" name="object 7">
              <a:extLst>
                <a:ext uri="{FF2B5EF4-FFF2-40B4-BE49-F238E27FC236}">
                  <a16:creationId xmlns:a16="http://schemas.microsoft.com/office/drawing/2014/main" id="{CAC9D5E0-6002-385E-7249-BDF70F09AF81}"/>
                </a:ext>
              </a:extLst>
            </p:cNvPr>
            <p:cNvSpPr/>
            <p:nvPr/>
          </p:nvSpPr>
          <p:spPr>
            <a:xfrm>
              <a:off x="374302" y="1101928"/>
              <a:ext cx="540090" cy="536480"/>
            </a:xfrm>
            <a:prstGeom prst="ellipse">
              <a:avLst/>
            </a:prstGeom>
            <a:solidFill>
              <a:schemeClr val="accent1"/>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2" name="object 7">
              <a:extLst>
                <a:ext uri="{FF2B5EF4-FFF2-40B4-BE49-F238E27FC236}">
                  <a16:creationId xmlns:a16="http://schemas.microsoft.com/office/drawing/2014/main" id="{F0ECF37E-6E77-E438-9D3B-F9A09231ACAF}"/>
                </a:ext>
              </a:extLst>
            </p:cNvPr>
            <p:cNvSpPr/>
            <p:nvPr/>
          </p:nvSpPr>
          <p:spPr>
            <a:xfrm>
              <a:off x="374302" y="1709526"/>
              <a:ext cx="540090" cy="536480"/>
            </a:xfrm>
            <a:prstGeom prst="ellipse">
              <a:avLst/>
            </a:prstGeom>
            <a:solidFill>
              <a:schemeClr val="accent2"/>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3" name="object 7">
              <a:extLst>
                <a:ext uri="{FF2B5EF4-FFF2-40B4-BE49-F238E27FC236}">
                  <a16:creationId xmlns:a16="http://schemas.microsoft.com/office/drawing/2014/main" id="{E72D9CB0-318C-10E2-3271-B1C93D0BBB02}"/>
                </a:ext>
              </a:extLst>
            </p:cNvPr>
            <p:cNvSpPr/>
            <p:nvPr/>
          </p:nvSpPr>
          <p:spPr>
            <a:xfrm>
              <a:off x="374302" y="2317125"/>
              <a:ext cx="540090" cy="536480"/>
            </a:xfrm>
            <a:prstGeom prst="ellipse">
              <a:avLst/>
            </a:prstGeom>
            <a:solidFill>
              <a:schemeClr val="accent3"/>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4" name="object 7">
              <a:extLst>
                <a:ext uri="{FF2B5EF4-FFF2-40B4-BE49-F238E27FC236}">
                  <a16:creationId xmlns:a16="http://schemas.microsoft.com/office/drawing/2014/main" id="{383E4599-31DB-7D5D-D0A5-136231B097C8}"/>
                </a:ext>
              </a:extLst>
            </p:cNvPr>
            <p:cNvSpPr/>
            <p:nvPr/>
          </p:nvSpPr>
          <p:spPr>
            <a:xfrm>
              <a:off x="374302" y="2924724"/>
              <a:ext cx="540090" cy="536480"/>
            </a:xfrm>
            <a:prstGeom prst="ellipse">
              <a:avLst/>
            </a:prstGeom>
            <a:solidFill>
              <a:schemeClr val="accent4"/>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5" name="object 7">
              <a:extLst>
                <a:ext uri="{FF2B5EF4-FFF2-40B4-BE49-F238E27FC236}">
                  <a16:creationId xmlns:a16="http://schemas.microsoft.com/office/drawing/2014/main" id="{D8398F91-8E2D-136D-9E4A-CDCE8CBF1549}"/>
                </a:ext>
              </a:extLst>
            </p:cNvPr>
            <p:cNvSpPr/>
            <p:nvPr/>
          </p:nvSpPr>
          <p:spPr>
            <a:xfrm>
              <a:off x="374302" y="3532323"/>
              <a:ext cx="540090" cy="536480"/>
            </a:xfrm>
            <a:prstGeom prst="ellipse">
              <a:avLst/>
            </a:prstGeom>
            <a:solidFill>
              <a:schemeClr val="accent5"/>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6" name="object 7">
              <a:extLst>
                <a:ext uri="{FF2B5EF4-FFF2-40B4-BE49-F238E27FC236}">
                  <a16:creationId xmlns:a16="http://schemas.microsoft.com/office/drawing/2014/main" id="{E92C6A6D-1584-F86D-E478-7027B9309ED2}"/>
                </a:ext>
              </a:extLst>
            </p:cNvPr>
            <p:cNvSpPr/>
            <p:nvPr/>
          </p:nvSpPr>
          <p:spPr>
            <a:xfrm>
              <a:off x="374302" y="4139922"/>
              <a:ext cx="540090" cy="536480"/>
            </a:xfrm>
            <a:prstGeom prst="ellipse">
              <a:avLst/>
            </a:prstGeom>
            <a:solidFill>
              <a:schemeClr val="accent6"/>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7" name="object 7">
              <a:extLst>
                <a:ext uri="{FF2B5EF4-FFF2-40B4-BE49-F238E27FC236}">
                  <a16:creationId xmlns:a16="http://schemas.microsoft.com/office/drawing/2014/main" id="{8A99B353-A5D3-070B-6900-323204CE2EC6}"/>
                </a:ext>
              </a:extLst>
            </p:cNvPr>
            <p:cNvSpPr/>
            <p:nvPr/>
          </p:nvSpPr>
          <p:spPr>
            <a:xfrm>
              <a:off x="374302" y="4747519"/>
              <a:ext cx="540090" cy="536480"/>
            </a:xfrm>
            <a:prstGeom prst="ellipse">
              <a:avLst/>
            </a:prstGeom>
            <a:solidFill>
              <a:schemeClr val="bg2"/>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98" name="Graphic 104">
              <a:extLst>
                <a:ext uri="{FF2B5EF4-FFF2-40B4-BE49-F238E27FC236}">
                  <a16:creationId xmlns:a16="http://schemas.microsoft.com/office/drawing/2014/main" id="{A2594BB4-650D-DD88-A83A-AB57182A49F1}"/>
                </a:ext>
              </a:extLst>
            </p:cNvPr>
            <p:cNvGrpSpPr>
              <a:grpSpLocks noChangeAspect="1"/>
            </p:cNvGrpSpPr>
            <p:nvPr/>
          </p:nvGrpSpPr>
          <p:grpSpPr>
            <a:xfrm>
              <a:off x="443258" y="1169000"/>
              <a:ext cx="402179" cy="402336"/>
              <a:chOff x="13766824" y="342184"/>
              <a:chExt cx="4800659" cy="4802539"/>
            </a:xfrm>
            <a:solidFill>
              <a:schemeClr val="bg1"/>
            </a:solidFill>
          </p:grpSpPr>
          <p:sp>
            <p:nvSpPr>
              <p:cNvPr id="101" name="Freeform: Shape 100">
                <a:extLst>
                  <a:ext uri="{FF2B5EF4-FFF2-40B4-BE49-F238E27FC236}">
                    <a16:creationId xmlns:a16="http://schemas.microsoft.com/office/drawing/2014/main" id="{85782C2E-15D9-E54D-9F47-A83FE9CA11AA}"/>
                  </a:ext>
                </a:extLst>
              </p:cNvPr>
              <p:cNvSpPr/>
              <p:nvPr/>
            </p:nvSpPr>
            <p:spPr>
              <a:xfrm>
                <a:off x="13766824" y="342184"/>
                <a:ext cx="4800659" cy="4802539"/>
              </a:xfrm>
              <a:custGeom>
                <a:avLst/>
                <a:gdLst>
                  <a:gd name="connsiteX0" fmla="*/ 2330623 w 4800659"/>
                  <a:gd name="connsiteY0" fmla="*/ 1058 h 4802539"/>
                  <a:gd name="connsiteX1" fmla="*/ 678335 w 4800659"/>
                  <a:gd name="connsiteY1" fmla="*/ 728153 h 4802539"/>
                  <a:gd name="connsiteX2" fmla="*/ 0 w 4800659"/>
                  <a:gd name="connsiteY2" fmla="*/ 2401015 h 4802539"/>
                  <a:gd name="connsiteX3" fmla="*/ 321161 w 4800659"/>
                  <a:gd name="connsiteY3" fmla="*/ 3601655 h 4802539"/>
                  <a:gd name="connsiteX4" fmla="*/ 1199768 w 4800659"/>
                  <a:gd name="connsiteY4" fmla="*/ 4480723 h 4802539"/>
                  <a:gd name="connsiteX5" fmla="*/ 2400310 w 4800659"/>
                  <a:gd name="connsiteY5" fmla="*/ 4802540 h 4802539"/>
                  <a:gd name="connsiteX6" fmla="*/ 3600852 w 4800659"/>
                  <a:gd name="connsiteY6" fmla="*/ 4480723 h 4802539"/>
                  <a:gd name="connsiteX7" fmla="*/ 4479499 w 4800659"/>
                  <a:gd name="connsiteY7" fmla="*/ 3601655 h 4802539"/>
                  <a:gd name="connsiteX8" fmla="*/ 4800659 w 4800659"/>
                  <a:gd name="connsiteY8" fmla="*/ 2401015 h 4802539"/>
                  <a:gd name="connsiteX9" fmla="*/ 4467596 w 4800659"/>
                  <a:gd name="connsiteY9" fmla="*/ 1180487 h 4802539"/>
                  <a:gd name="connsiteX10" fmla="*/ 3560253 w 4800659"/>
                  <a:gd name="connsiteY10" fmla="*/ 298862 h 4802539"/>
                  <a:gd name="connsiteX11" fmla="*/ 2330711 w 4800659"/>
                  <a:gd name="connsiteY11" fmla="*/ 1009 h 4802539"/>
                  <a:gd name="connsiteX12" fmla="*/ 2343330 w 4800659"/>
                  <a:gd name="connsiteY12" fmla="*/ 429340 h 4802539"/>
                  <a:gd name="connsiteX13" fmla="*/ 2343330 w 4800659"/>
                  <a:gd name="connsiteY13" fmla="*/ 429378 h 4802539"/>
                  <a:gd name="connsiteX14" fmla="*/ 3353318 w 4800659"/>
                  <a:gd name="connsiteY14" fmla="*/ 674151 h 4802539"/>
                  <a:gd name="connsiteX15" fmla="*/ 4098508 w 4800659"/>
                  <a:gd name="connsiteY15" fmla="*/ 1398454 h 4802539"/>
                  <a:gd name="connsiteX16" fmla="*/ 4371946 w 4800659"/>
                  <a:gd name="connsiteY16" fmla="*/ 2401093 h 4802539"/>
                  <a:gd name="connsiteX17" fmla="*/ 3963758 w 4800659"/>
                  <a:gd name="connsiteY17" fmla="*/ 3600558 h 4802539"/>
                  <a:gd name="connsiteX18" fmla="*/ 1200474 w 4800659"/>
                  <a:gd name="connsiteY18" fmla="*/ 837274 h 4802539"/>
                  <a:gd name="connsiteX19" fmla="*/ 2343310 w 4800659"/>
                  <a:gd name="connsiteY19" fmla="*/ 429427 h 4802539"/>
                  <a:gd name="connsiteX20" fmla="*/ 837411 w 4800659"/>
                  <a:gd name="connsiteY20" fmla="*/ 1202207 h 4802539"/>
                  <a:gd name="connsiteX21" fmla="*/ 3601087 w 4800659"/>
                  <a:gd name="connsiteY21" fmla="*/ 3965492 h 4802539"/>
                  <a:gd name="connsiteX22" fmla="*/ 3601087 w 4800659"/>
                  <a:gd name="connsiteY22" fmla="*/ 3965531 h 4802539"/>
                  <a:gd name="connsiteX23" fmla="*/ 2228704 w 4800659"/>
                  <a:gd name="connsiteY23" fmla="*/ 4365871 h 4802539"/>
                  <a:gd name="connsiteX24" fmla="*/ 946453 w 4800659"/>
                  <a:gd name="connsiteY24" fmla="*/ 3733574 h 4802539"/>
                  <a:gd name="connsiteX25" fmla="*/ 428586 w 4800659"/>
                  <a:gd name="connsiteY25" fmla="*/ 2401064 h 4802539"/>
                  <a:gd name="connsiteX26" fmla="*/ 837460 w 4800659"/>
                  <a:gd name="connsiteY26" fmla="*/ 1202286 h 4802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4800659" h="4802539">
                    <a:moveTo>
                      <a:pt x="2330623" y="1058"/>
                    </a:moveTo>
                    <a:cubicBezTo>
                      <a:pt x="1706251" y="19198"/>
                      <a:pt x="1113524" y="280012"/>
                      <a:pt x="678335" y="728153"/>
                    </a:cubicBezTo>
                    <a:cubicBezTo>
                      <a:pt x="243166" y="1176255"/>
                      <a:pt x="-196" y="1776349"/>
                      <a:pt x="0" y="2401015"/>
                    </a:cubicBezTo>
                    <a:cubicBezTo>
                      <a:pt x="-225" y="2822488"/>
                      <a:pt x="110522" y="3236604"/>
                      <a:pt x="321161" y="3601655"/>
                    </a:cubicBezTo>
                    <a:cubicBezTo>
                      <a:pt x="531760" y="3966716"/>
                      <a:pt x="834786" y="4269928"/>
                      <a:pt x="1199768" y="4480723"/>
                    </a:cubicBezTo>
                    <a:cubicBezTo>
                      <a:pt x="1564751" y="4691558"/>
                      <a:pt x="1978837" y="4802540"/>
                      <a:pt x="2400310" y="4802540"/>
                    </a:cubicBezTo>
                    <a:cubicBezTo>
                      <a:pt x="2821783" y="4802540"/>
                      <a:pt x="3235860" y="4691558"/>
                      <a:pt x="3600852" y="4480723"/>
                    </a:cubicBezTo>
                    <a:cubicBezTo>
                      <a:pt x="3965835" y="4269928"/>
                      <a:pt x="4268900" y="3966716"/>
                      <a:pt x="4479499" y="3601655"/>
                    </a:cubicBezTo>
                    <a:cubicBezTo>
                      <a:pt x="4690099" y="3236555"/>
                      <a:pt x="4800894" y="2822439"/>
                      <a:pt x="4800659" y="2401015"/>
                    </a:cubicBezTo>
                    <a:cubicBezTo>
                      <a:pt x="4800777" y="1971704"/>
                      <a:pt x="4685768" y="1550231"/>
                      <a:pt x="4467596" y="1180487"/>
                    </a:cubicBezTo>
                    <a:cubicBezTo>
                      <a:pt x="4249413" y="810762"/>
                      <a:pt x="3936101" y="506326"/>
                      <a:pt x="3560253" y="298862"/>
                    </a:cubicBezTo>
                    <a:cubicBezTo>
                      <a:pt x="3184444" y="91397"/>
                      <a:pt x="2759836" y="-11433"/>
                      <a:pt x="2330711" y="1009"/>
                    </a:cubicBezTo>
                    <a:close/>
                    <a:moveTo>
                      <a:pt x="2343330" y="429340"/>
                    </a:moveTo>
                    <a:lnTo>
                      <a:pt x="2343330" y="429378"/>
                    </a:lnTo>
                    <a:cubicBezTo>
                      <a:pt x="2695831" y="419198"/>
                      <a:pt x="3044590" y="503737"/>
                      <a:pt x="3353318" y="674151"/>
                    </a:cubicBezTo>
                    <a:cubicBezTo>
                      <a:pt x="3662006" y="844602"/>
                      <a:pt x="3919328" y="1094742"/>
                      <a:pt x="4098508" y="1398454"/>
                    </a:cubicBezTo>
                    <a:cubicBezTo>
                      <a:pt x="4277649" y="1702204"/>
                      <a:pt x="4372103" y="2048396"/>
                      <a:pt x="4371946" y="2401093"/>
                    </a:cubicBezTo>
                    <a:cubicBezTo>
                      <a:pt x="4371564" y="2834921"/>
                      <a:pt x="4228085" y="3256541"/>
                      <a:pt x="3963758" y="3600558"/>
                    </a:cubicBezTo>
                    <a:lnTo>
                      <a:pt x="1200474" y="837274"/>
                    </a:lnTo>
                    <a:cubicBezTo>
                      <a:pt x="1529060" y="584536"/>
                      <a:pt x="1928980" y="441830"/>
                      <a:pt x="2343310" y="429427"/>
                    </a:cubicBezTo>
                    <a:close/>
                    <a:moveTo>
                      <a:pt x="837411" y="1202207"/>
                    </a:moveTo>
                    <a:lnTo>
                      <a:pt x="3601087" y="3965492"/>
                    </a:lnTo>
                    <a:lnTo>
                      <a:pt x="3601087" y="3965531"/>
                    </a:lnTo>
                    <a:cubicBezTo>
                      <a:pt x="3209809" y="4265951"/>
                      <a:pt x="2720109" y="4408812"/>
                      <a:pt x="2228704" y="4365871"/>
                    </a:cubicBezTo>
                    <a:cubicBezTo>
                      <a:pt x="1737240" y="4322930"/>
                      <a:pt x="1279723" y="4097332"/>
                      <a:pt x="946453" y="3733574"/>
                    </a:cubicBezTo>
                    <a:cubicBezTo>
                      <a:pt x="613194" y="3369815"/>
                      <a:pt x="428429" y="2894350"/>
                      <a:pt x="428586" y="2401064"/>
                    </a:cubicBezTo>
                    <a:cubicBezTo>
                      <a:pt x="429311" y="1967345"/>
                      <a:pt x="573016" y="1545999"/>
                      <a:pt x="837460" y="1202286"/>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2" name="Freeform: Shape 101">
                <a:extLst>
                  <a:ext uri="{FF2B5EF4-FFF2-40B4-BE49-F238E27FC236}">
                    <a16:creationId xmlns:a16="http://schemas.microsoft.com/office/drawing/2014/main" id="{0B5E25FC-61E5-1076-03F9-9470A6B50CFC}"/>
                  </a:ext>
                </a:extLst>
              </p:cNvPr>
              <p:cNvSpPr/>
              <p:nvPr/>
            </p:nvSpPr>
            <p:spPr>
              <a:xfrm>
                <a:off x="17442032" y="1610594"/>
                <a:ext cx="330258" cy="668437"/>
              </a:xfrm>
              <a:custGeom>
                <a:avLst/>
                <a:gdLst>
                  <a:gd name="connsiteX0" fmla="*/ 220900 w 330258"/>
                  <a:gd name="connsiteY0" fmla="*/ 366469 h 668437"/>
                  <a:gd name="connsiteX1" fmla="*/ 328825 w 330258"/>
                  <a:gd name="connsiteY1" fmla="*/ 204474 h 668437"/>
                  <a:gd name="connsiteX2" fmla="*/ 260892 w 330258"/>
                  <a:gd name="connsiteY2" fmla="*/ 22041 h 668437"/>
                  <a:gd name="connsiteX3" fmla="*/ 140338 w 330258"/>
                  <a:gd name="connsiteY3" fmla="*/ 27782 h 668437"/>
                  <a:gd name="connsiteX4" fmla="*/ 144972 w 330258"/>
                  <a:gd name="connsiteY4" fmla="*/ 148375 h 668437"/>
                  <a:gd name="connsiteX5" fmla="*/ 158521 w 330258"/>
                  <a:gd name="connsiteY5" fmla="*/ 184693 h 668437"/>
                  <a:gd name="connsiteX6" fmla="*/ 137017 w 330258"/>
                  <a:gd name="connsiteY6" fmla="*/ 216916 h 668437"/>
                  <a:gd name="connsiteX7" fmla="*/ 2110 w 330258"/>
                  <a:gd name="connsiteY7" fmla="*/ 417297 h 668437"/>
                  <a:gd name="connsiteX8" fmla="*/ 83005 w 330258"/>
                  <a:gd name="connsiteY8" fmla="*/ 644924 h 668437"/>
                  <a:gd name="connsiteX9" fmla="*/ 204019 w 330258"/>
                  <a:gd name="connsiteY9" fmla="*/ 641896 h 668437"/>
                  <a:gd name="connsiteX10" fmla="*/ 201423 w 330258"/>
                  <a:gd name="connsiteY10" fmla="*/ 520882 h 668437"/>
                  <a:gd name="connsiteX11" fmla="*/ 172257 w 330258"/>
                  <a:gd name="connsiteY11" fmla="*/ 438762 h 668437"/>
                  <a:gd name="connsiteX12" fmla="*/ 220900 w 330258"/>
                  <a:gd name="connsiteY12" fmla="*/ 366469 h 66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0258" h="668437">
                    <a:moveTo>
                      <a:pt x="220900" y="366469"/>
                    </a:moveTo>
                    <a:cubicBezTo>
                      <a:pt x="280751" y="332904"/>
                      <a:pt x="320900" y="272671"/>
                      <a:pt x="328825" y="204474"/>
                    </a:cubicBezTo>
                    <a:cubicBezTo>
                      <a:pt x="336751" y="136276"/>
                      <a:pt x="311494" y="68421"/>
                      <a:pt x="260892" y="22041"/>
                    </a:cubicBezTo>
                    <a:cubicBezTo>
                      <a:pt x="225916" y="-9457"/>
                      <a:pt x="172149" y="-6890"/>
                      <a:pt x="140338" y="27782"/>
                    </a:cubicBezTo>
                    <a:cubicBezTo>
                      <a:pt x="108537" y="62454"/>
                      <a:pt x="110604" y="116260"/>
                      <a:pt x="144972" y="148375"/>
                    </a:cubicBezTo>
                    <a:cubicBezTo>
                      <a:pt x="155034" y="157594"/>
                      <a:pt x="160089" y="171104"/>
                      <a:pt x="158521" y="184693"/>
                    </a:cubicBezTo>
                    <a:cubicBezTo>
                      <a:pt x="156915" y="198243"/>
                      <a:pt x="148950" y="210254"/>
                      <a:pt x="137017" y="216916"/>
                    </a:cubicBezTo>
                    <a:cubicBezTo>
                      <a:pt x="62803" y="258554"/>
                      <a:pt x="12750" y="332914"/>
                      <a:pt x="2110" y="417297"/>
                    </a:cubicBezTo>
                    <a:cubicBezTo>
                      <a:pt x="-8530" y="501719"/>
                      <a:pt x="21469" y="586180"/>
                      <a:pt x="83005" y="644924"/>
                    </a:cubicBezTo>
                    <a:cubicBezTo>
                      <a:pt x="117295" y="677411"/>
                      <a:pt x="171415" y="676079"/>
                      <a:pt x="204019" y="641896"/>
                    </a:cubicBezTo>
                    <a:cubicBezTo>
                      <a:pt x="236624" y="607724"/>
                      <a:pt x="235478" y="553614"/>
                      <a:pt x="201423" y="520882"/>
                    </a:cubicBezTo>
                    <a:cubicBezTo>
                      <a:pt x="179223" y="499681"/>
                      <a:pt x="168397" y="469222"/>
                      <a:pt x="172257" y="438762"/>
                    </a:cubicBezTo>
                    <a:cubicBezTo>
                      <a:pt x="176088" y="408332"/>
                      <a:pt x="194154" y="381508"/>
                      <a:pt x="220900" y="366469"/>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3" name="Freeform: Shape 102">
                <a:extLst>
                  <a:ext uri="{FF2B5EF4-FFF2-40B4-BE49-F238E27FC236}">
                    <a16:creationId xmlns:a16="http://schemas.microsoft.com/office/drawing/2014/main" id="{FCA68B18-C235-6230-34D9-C16692D325AA}"/>
                  </a:ext>
                </a:extLst>
              </p:cNvPr>
              <p:cNvSpPr/>
              <p:nvPr/>
            </p:nvSpPr>
            <p:spPr>
              <a:xfrm>
                <a:off x="17099132" y="1610627"/>
                <a:ext cx="330258" cy="668404"/>
              </a:xfrm>
              <a:custGeom>
                <a:avLst/>
                <a:gdLst>
                  <a:gd name="connsiteX0" fmla="*/ 220900 w 330258"/>
                  <a:gd name="connsiteY0" fmla="*/ 366436 h 668404"/>
                  <a:gd name="connsiteX1" fmla="*/ 328825 w 330258"/>
                  <a:gd name="connsiteY1" fmla="*/ 204440 h 668404"/>
                  <a:gd name="connsiteX2" fmla="*/ 260892 w 330258"/>
                  <a:gd name="connsiteY2" fmla="*/ 22008 h 668404"/>
                  <a:gd name="connsiteX3" fmla="*/ 140338 w 330258"/>
                  <a:gd name="connsiteY3" fmla="*/ 27788 h 668404"/>
                  <a:gd name="connsiteX4" fmla="*/ 144972 w 330258"/>
                  <a:gd name="connsiteY4" fmla="*/ 148342 h 668404"/>
                  <a:gd name="connsiteX5" fmla="*/ 158482 w 330258"/>
                  <a:gd name="connsiteY5" fmla="*/ 184660 h 668404"/>
                  <a:gd name="connsiteX6" fmla="*/ 137017 w 330258"/>
                  <a:gd name="connsiteY6" fmla="*/ 216883 h 668404"/>
                  <a:gd name="connsiteX7" fmla="*/ 2110 w 330258"/>
                  <a:gd name="connsiteY7" fmla="*/ 417264 h 668404"/>
                  <a:gd name="connsiteX8" fmla="*/ 83005 w 330258"/>
                  <a:gd name="connsiteY8" fmla="*/ 644890 h 668404"/>
                  <a:gd name="connsiteX9" fmla="*/ 204019 w 330258"/>
                  <a:gd name="connsiteY9" fmla="*/ 641863 h 668404"/>
                  <a:gd name="connsiteX10" fmla="*/ 201423 w 330258"/>
                  <a:gd name="connsiteY10" fmla="*/ 520849 h 668404"/>
                  <a:gd name="connsiteX11" fmla="*/ 172257 w 330258"/>
                  <a:gd name="connsiteY11" fmla="*/ 438729 h 668404"/>
                  <a:gd name="connsiteX12" fmla="*/ 220900 w 330258"/>
                  <a:gd name="connsiteY12" fmla="*/ 366436 h 6684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30258" h="668404">
                    <a:moveTo>
                      <a:pt x="220900" y="366436"/>
                    </a:moveTo>
                    <a:cubicBezTo>
                      <a:pt x="280751" y="332871"/>
                      <a:pt x="320899" y="272638"/>
                      <a:pt x="328825" y="204440"/>
                    </a:cubicBezTo>
                    <a:cubicBezTo>
                      <a:pt x="336751" y="136242"/>
                      <a:pt x="311494" y="68387"/>
                      <a:pt x="260892" y="22008"/>
                    </a:cubicBezTo>
                    <a:cubicBezTo>
                      <a:pt x="225916" y="-9451"/>
                      <a:pt x="172149" y="-6884"/>
                      <a:pt x="140338" y="27788"/>
                    </a:cubicBezTo>
                    <a:cubicBezTo>
                      <a:pt x="108576" y="62421"/>
                      <a:pt x="110643" y="116227"/>
                      <a:pt x="144972" y="148342"/>
                    </a:cubicBezTo>
                    <a:cubicBezTo>
                      <a:pt x="155034" y="157561"/>
                      <a:pt x="160089" y="171071"/>
                      <a:pt x="158482" y="184660"/>
                    </a:cubicBezTo>
                    <a:cubicBezTo>
                      <a:pt x="156915" y="198209"/>
                      <a:pt x="148950" y="210220"/>
                      <a:pt x="137017" y="216883"/>
                    </a:cubicBezTo>
                    <a:cubicBezTo>
                      <a:pt x="62803" y="258520"/>
                      <a:pt x="12750" y="332881"/>
                      <a:pt x="2110" y="417264"/>
                    </a:cubicBezTo>
                    <a:cubicBezTo>
                      <a:pt x="-8530" y="501685"/>
                      <a:pt x="21469" y="586147"/>
                      <a:pt x="83005" y="644890"/>
                    </a:cubicBezTo>
                    <a:cubicBezTo>
                      <a:pt x="117295" y="677378"/>
                      <a:pt x="171415" y="676045"/>
                      <a:pt x="204019" y="641863"/>
                    </a:cubicBezTo>
                    <a:cubicBezTo>
                      <a:pt x="236624" y="607691"/>
                      <a:pt x="235478" y="553581"/>
                      <a:pt x="201423" y="520849"/>
                    </a:cubicBezTo>
                    <a:cubicBezTo>
                      <a:pt x="179223" y="499648"/>
                      <a:pt x="168397" y="469188"/>
                      <a:pt x="172257" y="438729"/>
                    </a:cubicBezTo>
                    <a:cubicBezTo>
                      <a:pt x="176088" y="408299"/>
                      <a:pt x="194154" y="381475"/>
                      <a:pt x="220900" y="366436"/>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4" name="Freeform: Shape 103">
                <a:extLst>
                  <a:ext uri="{FF2B5EF4-FFF2-40B4-BE49-F238E27FC236}">
                    <a16:creationId xmlns:a16="http://schemas.microsoft.com/office/drawing/2014/main" id="{AAA24D5F-D95D-3DDC-18C7-A3CC8D841848}"/>
                  </a:ext>
                </a:extLst>
              </p:cNvPr>
              <p:cNvSpPr/>
              <p:nvPr/>
            </p:nvSpPr>
            <p:spPr>
              <a:xfrm>
                <a:off x="14366880" y="2400300"/>
                <a:ext cx="685800" cy="685800"/>
              </a:xfrm>
              <a:custGeom>
                <a:avLst/>
                <a:gdLst>
                  <a:gd name="connsiteX0" fmla="*/ 0 w 685800"/>
                  <a:gd name="connsiteY0" fmla="*/ 0 h 685800"/>
                  <a:gd name="connsiteX1" fmla="*/ 0 w 685800"/>
                  <a:gd name="connsiteY1" fmla="*/ 685800 h 685800"/>
                  <a:gd name="connsiteX2" fmla="*/ 685800 w 685800"/>
                  <a:gd name="connsiteY2" fmla="*/ 685800 h 685800"/>
                  <a:gd name="connsiteX3" fmla="*/ 685800 w 685800"/>
                  <a:gd name="connsiteY3" fmla="*/ 0 h 685800"/>
                </a:gdLst>
                <a:ahLst/>
                <a:cxnLst>
                  <a:cxn ang="0">
                    <a:pos x="connsiteX0" y="connsiteY0"/>
                  </a:cxn>
                  <a:cxn ang="0">
                    <a:pos x="connsiteX1" y="connsiteY1"/>
                  </a:cxn>
                  <a:cxn ang="0">
                    <a:pos x="connsiteX2" y="connsiteY2"/>
                  </a:cxn>
                  <a:cxn ang="0">
                    <a:pos x="connsiteX3" y="connsiteY3"/>
                  </a:cxn>
                </a:cxnLst>
                <a:rect l="l" t="t" r="r" b="b"/>
                <a:pathLst>
                  <a:path w="685800" h="685800">
                    <a:moveTo>
                      <a:pt x="0" y="0"/>
                    </a:moveTo>
                    <a:lnTo>
                      <a:pt x="0" y="685800"/>
                    </a:lnTo>
                    <a:lnTo>
                      <a:pt x="685800" y="685800"/>
                    </a:lnTo>
                    <a:lnTo>
                      <a:pt x="68580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5" name="Freeform: Shape 104">
                <a:extLst>
                  <a:ext uri="{FF2B5EF4-FFF2-40B4-BE49-F238E27FC236}">
                    <a16:creationId xmlns:a16="http://schemas.microsoft.com/office/drawing/2014/main" id="{F94795B2-A397-3DA7-C9C8-A498DE3B02FB}"/>
                  </a:ext>
                </a:extLst>
              </p:cNvPr>
              <p:cNvSpPr/>
              <p:nvPr/>
            </p:nvSpPr>
            <p:spPr>
              <a:xfrm>
                <a:off x="15138405" y="2400300"/>
                <a:ext cx="886376" cy="685800"/>
              </a:xfrm>
              <a:custGeom>
                <a:avLst/>
                <a:gdLst>
                  <a:gd name="connsiteX0" fmla="*/ 0 w 886376"/>
                  <a:gd name="connsiteY0" fmla="*/ 0 h 685800"/>
                  <a:gd name="connsiteX1" fmla="*/ 0 w 886376"/>
                  <a:gd name="connsiteY1" fmla="*/ 685800 h 685800"/>
                  <a:gd name="connsiteX2" fmla="*/ 886377 w 886376"/>
                  <a:gd name="connsiteY2" fmla="*/ 685800 h 685800"/>
                  <a:gd name="connsiteX3" fmla="*/ 200920 w 886376"/>
                  <a:gd name="connsiteY3" fmla="*/ 0 h 685800"/>
                </a:gdLst>
                <a:ahLst/>
                <a:cxnLst>
                  <a:cxn ang="0">
                    <a:pos x="connsiteX0" y="connsiteY0"/>
                  </a:cxn>
                  <a:cxn ang="0">
                    <a:pos x="connsiteX1" y="connsiteY1"/>
                  </a:cxn>
                  <a:cxn ang="0">
                    <a:pos x="connsiteX2" y="connsiteY2"/>
                  </a:cxn>
                  <a:cxn ang="0">
                    <a:pos x="connsiteX3" y="connsiteY3"/>
                  </a:cxn>
                </a:cxnLst>
                <a:rect l="l" t="t" r="r" b="b"/>
                <a:pathLst>
                  <a:path w="886376" h="685800">
                    <a:moveTo>
                      <a:pt x="0" y="0"/>
                    </a:moveTo>
                    <a:lnTo>
                      <a:pt x="0" y="685800"/>
                    </a:lnTo>
                    <a:lnTo>
                      <a:pt x="886377" y="685800"/>
                    </a:lnTo>
                    <a:lnTo>
                      <a:pt x="20092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6" name="Freeform: Shape 105">
                <a:extLst>
                  <a:ext uri="{FF2B5EF4-FFF2-40B4-BE49-F238E27FC236}">
                    <a16:creationId xmlns:a16="http://schemas.microsoft.com/office/drawing/2014/main" id="{0CE2F291-7058-9568-7E8E-9B46DDD55872}"/>
                  </a:ext>
                </a:extLst>
              </p:cNvPr>
              <p:cNvSpPr/>
              <p:nvPr/>
            </p:nvSpPr>
            <p:spPr>
              <a:xfrm>
                <a:off x="16309457" y="2400300"/>
                <a:ext cx="1229276" cy="685800"/>
              </a:xfrm>
              <a:custGeom>
                <a:avLst/>
                <a:gdLst>
                  <a:gd name="connsiteX0" fmla="*/ 0 w 1229276"/>
                  <a:gd name="connsiteY0" fmla="*/ 0 h 685800"/>
                  <a:gd name="connsiteX1" fmla="*/ 686143 w 1229276"/>
                  <a:gd name="connsiteY1" fmla="*/ 685800 h 685800"/>
                  <a:gd name="connsiteX2" fmla="*/ 1229277 w 1229276"/>
                  <a:gd name="connsiteY2" fmla="*/ 685800 h 685800"/>
                  <a:gd name="connsiteX3" fmla="*/ 1229277 w 1229276"/>
                  <a:gd name="connsiteY3" fmla="*/ 0 h 685800"/>
                </a:gdLst>
                <a:ahLst/>
                <a:cxnLst>
                  <a:cxn ang="0">
                    <a:pos x="connsiteX0" y="connsiteY0"/>
                  </a:cxn>
                  <a:cxn ang="0">
                    <a:pos x="connsiteX1" y="connsiteY1"/>
                  </a:cxn>
                  <a:cxn ang="0">
                    <a:pos x="connsiteX2" y="connsiteY2"/>
                  </a:cxn>
                  <a:cxn ang="0">
                    <a:pos x="connsiteX3" y="connsiteY3"/>
                  </a:cxn>
                </a:cxnLst>
                <a:rect l="l" t="t" r="r" b="b"/>
                <a:pathLst>
                  <a:path w="1229276" h="685800">
                    <a:moveTo>
                      <a:pt x="0" y="0"/>
                    </a:moveTo>
                    <a:lnTo>
                      <a:pt x="686143" y="685800"/>
                    </a:lnTo>
                    <a:lnTo>
                      <a:pt x="1229277" y="685800"/>
                    </a:lnTo>
                    <a:lnTo>
                      <a:pt x="1229277"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7" name="Freeform: Shape 106">
                <a:extLst>
                  <a:ext uri="{FF2B5EF4-FFF2-40B4-BE49-F238E27FC236}">
                    <a16:creationId xmlns:a16="http://schemas.microsoft.com/office/drawing/2014/main" id="{5A271FC2-80D8-7973-259E-13F890B66FFF}"/>
                  </a:ext>
                </a:extLst>
              </p:cNvPr>
              <p:cNvSpPr/>
              <p:nvPr/>
            </p:nvSpPr>
            <p:spPr>
              <a:xfrm>
                <a:off x="17624430" y="2400300"/>
                <a:ext cx="342900" cy="685800"/>
              </a:xfrm>
              <a:custGeom>
                <a:avLst/>
                <a:gdLst>
                  <a:gd name="connsiteX0" fmla="*/ 0 w 342900"/>
                  <a:gd name="connsiteY0" fmla="*/ 0 h 685800"/>
                  <a:gd name="connsiteX1" fmla="*/ 0 w 342900"/>
                  <a:gd name="connsiteY1" fmla="*/ 685800 h 685800"/>
                  <a:gd name="connsiteX2" fmla="*/ 342900 w 342900"/>
                  <a:gd name="connsiteY2" fmla="*/ 685800 h 685800"/>
                  <a:gd name="connsiteX3" fmla="*/ 342900 w 342900"/>
                  <a:gd name="connsiteY3" fmla="*/ 0 h 685800"/>
                </a:gdLst>
                <a:ahLst/>
                <a:cxnLst>
                  <a:cxn ang="0">
                    <a:pos x="connsiteX0" y="connsiteY0"/>
                  </a:cxn>
                  <a:cxn ang="0">
                    <a:pos x="connsiteX1" y="connsiteY1"/>
                  </a:cxn>
                  <a:cxn ang="0">
                    <a:pos x="connsiteX2" y="connsiteY2"/>
                  </a:cxn>
                  <a:cxn ang="0">
                    <a:pos x="connsiteX3" y="connsiteY3"/>
                  </a:cxn>
                </a:cxnLst>
                <a:rect l="l" t="t" r="r" b="b"/>
                <a:pathLst>
                  <a:path w="342900" h="685800">
                    <a:moveTo>
                      <a:pt x="0" y="0"/>
                    </a:moveTo>
                    <a:lnTo>
                      <a:pt x="0" y="685800"/>
                    </a:lnTo>
                    <a:lnTo>
                      <a:pt x="342900" y="685800"/>
                    </a:lnTo>
                    <a:lnTo>
                      <a:pt x="34290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pic>
          <p:nvPicPr>
            <p:cNvPr id="138" name="Graphic 137" descr="DNA with solid fill">
              <a:extLst>
                <a:ext uri="{FF2B5EF4-FFF2-40B4-BE49-F238E27FC236}">
                  <a16:creationId xmlns:a16="http://schemas.microsoft.com/office/drawing/2014/main" id="{6A8F5A04-34FD-C400-C2B8-FBD239DC6D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3179" y="4814591"/>
              <a:ext cx="402336" cy="402336"/>
            </a:xfrm>
            <a:prstGeom prst="rect">
              <a:avLst/>
            </a:prstGeom>
          </p:spPr>
        </p:pic>
        <p:pic>
          <p:nvPicPr>
            <p:cNvPr id="140" name="Graphic 139" descr="Production with solid fill">
              <a:extLst>
                <a:ext uri="{FF2B5EF4-FFF2-40B4-BE49-F238E27FC236}">
                  <a16:creationId xmlns:a16="http://schemas.microsoft.com/office/drawing/2014/main" id="{7D8955DB-E2E7-A65D-2369-2AE7E6A4554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3179" y="4206994"/>
              <a:ext cx="402336" cy="402336"/>
            </a:xfrm>
            <a:prstGeom prst="rect">
              <a:avLst/>
            </a:prstGeom>
          </p:spPr>
        </p:pic>
        <p:pic>
          <p:nvPicPr>
            <p:cNvPr id="142" name="Graphic 141" descr="Man with cane with solid fill">
              <a:extLst>
                <a:ext uri="{FF2B5EF4-FFF2-40B4-BE49-F238E27FC236}">
                  <a16:creationId xmlns:a16="http://schemas.microsoft.com/office/drawing/2014/main" id="{E4484087-0F46-4F21-CD8B-073F62F9B40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443179" y="2384197"/>
              <a:ext cx="402336" cy="402336"/>
            </a:xfrm>
            <a:prstGeom prst="rect">
              <a:avLst/>
            </a:prstGeom>
          </p:spPr>
        </p:pic>
        <p:pic>
          <p:nvPicPr>
            <p:cNvPr id="144" name="Graphic 143" descr="Fire with solid fill">
              <a:extLst>
                <a:ext uri="{FF2B5EF4-FFF2-40B4-BE49-F238E27FC236}">
                  <a16:creationId xmlns:a16="http://schemas.microsoft.com/office/drawing/2014/main" id="{9F68A560-4FEA-2873-DE94-66DBE25C6A6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43179" y="1776598"/>
              <a:ext cx="402336" cy="402336"/>
            </a:xfrm>
            <a:prstGeom prst="rect">
              <a:avLst/>
            </a:prstGeom>
          </p:spPr>
        </p:pic>
        <p:sp>
          <p:nvSpPr>
            <p:cNvPr id="145" name="Freeform: Shape 144">
              <a:extLst>
                <a:ext uri="{FF2B5EF4-FFF2-40B4-BE49-F238E27FC236}">
                  <a16:creationId xmlns:a16="http://schemas.microsoft.com/office/drawing/2014/main" id="{6F37EF14-F1D9-2A4C-3EB3-C952EDCD9042}"/>
                </a:ext>
              </a:extLst>
            </p:cNvPr>
            <p:cNvSpPr>
              <a:spLocks noChangeAspect="1"/>
            </p:cNvSpPr>
            <p:nvPr/>
          </p:nvSpPr>
          <p:spPr>
            <a:xfrm>
              <a:off x="461471" y="3601193"/>
              <a:ext cx="365752" cy="365760"/>
            </a:xfrm>
            <a:custGeom>
              <a:avLst/>
              <a:gdLst>
                <a:gd name="connsiteX0" fmla="*/ 2408868 w 4828026"/>
                <a:gd name="connsiteY0" fmla="*/ 0 h 4828140"/>
                <a:gd name="connsiteX1" fmla="*/ 2245795 w 4828026"/>
                <a:gd name="connsiteY1" fmla="*/ 166248 h 4828140"/>
                <a:gd name="connsiteX2" fmla="*/ 2245795 w 4828026"/>
                <a:gd name="connsiteY2" fmla="*/ 1748192 h 4828140"/>
                <a:gd name="connsiteX3" fmla="*/ 2024399 w 4828026"/>
                <a:gd name="connsiteY3" fmla="*/ 1991553 h 4828140"/>
                <a:gd name="connsiteX4" fmla="*/ 2081036 w 4828026"/>
                <a:gd name="connsiteY4" fmla="*/ 889571 h 4828140"/>
                <a:gd name="connsiteX5" fmla="*/ 1876785 w 4828026"/>
                <a:gd name="connsiteY5" fmla="*/ 719884 h 4828140"/>
                <a:gd name="connsiteX6" fmla="*/ 301209 w 4828026"/>
                <a:gd name="connsiteY6" fmla="*/ 2298400 h 4828140"/>
                <a:gd name="connsiteX7" fmla="*/ 110703 w 4828026"/>
                <a:gd name="connsiteY7" fmla="*/ 4706440 h 4828140"/>
                <a:gd name="connsiteX8" fmla="*/ 268604 w 4828026"/>
                <a:gd name="connsiteY8" fmla="*/ 4828140 h 4828140"/>
                <a:gd name="connsiteX9" fmla="*/ 1214293 w 4828026"/>
                <a:gd name="connsiteY9" fmla="*/ 4526496 h 4828140"/>
                <a:gd name="connsiteX10" fmla="*/ 2026113 w 4828026"/>
                <a:gd name="connsiteY10" fmla="*/ 3832388 h 4828140"/>
                <a:gd name="connsiteX11" fmla="*/ 2010653 w 4828026"/>
                <a:gd name="connsiteY11" fmla="*/ 2497233 h 4828140"/>
                <a:gd name="connsiteX12" fmla="*/ 2410573 w 4828026"/>
                <a:gd name="connsiteY12" fmla="*/ 2056744 h 4828140"/>
                <a:gd name="connsiteX13" fmla="*/ 2819064 w 4828026"/>
                <a:gd name="connsiteY13" fmla="*/ 2504081 h 4828140"/>
                <a:gd name="connsiteX14" fmla="*/ 2801919 w 4828026"/>
                <a:gd name="connsiteY14" fmla="*/ 3832378 h 4828140"/>
                <a:gd name="connsiteX15" fmla="*/ 3613740 w 4828026"/>
                <a:gd name="connsiteY15" fmla="*/ 4526486 h 4828140"/>
                <a:gd name="connsiteX16" fmla="*/ 4559429 w 4828026"/>
                <a:gd name="connsiteY16" fmla="*/ 4828130 h 4828140"/>
                <a:gd name="connsiteX17" fmla="*/ 4717330 w 4828026"/>
                <a:gd name="connsiteY17" fmla="*/ 4706430 h 4828140"/>
                <a:gd name="connsiteX18" fmla="*/ 4526824 w 4828026"/>
                <a:gd name="connsiteY18" fmla="*/ 2298390 h 4828140"/>
                <a:gd name="connsiteX19" fmla="*/ 2951248 w 4828026"/>
                <a:gd name="connsiteY19" fmla="*/ 719875 h 4828140"/>
                <a:gd name="connsiteX20" fmla="*/ 2746997 w 4828026"/>
                <a:gd name="connsiteY20" fmla="*/ 889561 h 4828140"/>
                <a:gd name="connsiteX21" fmla="*/ 2803634 w 4828026"/>
                <a:gd name="connsiteY21" fmla="*/ 2000165 h 4828140"/>
                <a:gd name="connsiteX22" fmla="*/ 2575351 w 4828026"/>
                <a:gd name="connsiteY22" fmla="*/ 1748232 h 4828140"/>
                <a:gd name="connsiteX23" fmla="*/ 2575351 w 4828026"/>
                <a:gd name="connsiteY23" fmla="*/ 166287 h 4828140"/>
                <a:gd name="connsiteX24" fmla="*/ 2408878 w 4828026"/>
                <a:gd name="connsiteY24" fmla="*/ 39 h 482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8026" h="4828140">
                  <a:moveTo>
                    <a:pt x="2408868" y="0"/>
                  </a:moveTo>
                  <a:cubicBezTo>
                    <a:pt x="2322604" y="919"/>
                    <a:pt x="2244923" y="80099"/>
                    <a:pt x="2245795" y="166248"/>
                  </a:cubicBezTo>
                  <a:lnTo>
                    <a:pt x="2245795" y="1748192"/>
                  </a:lnTo>
                  <a:lnTo>
                    <a:pt x="2024399" y="1991553"/>
                  </a:lnTo>
                  <a:cubicBezTo>
                    <a:pt x="2039094" y="1624886"/>
                    <a:pt x="2060521" y="1257992"/>
                    <a:pt x="2081036" y="889571"/>
                  </a:cubicBezTo>
                  <a:cubicBezTo>
                    <a:pt x="2074188" y="770624"/>
                    <a:pt x="1984328" y="706139"/>
                    <a:pt x="1876785" y="719884"/>
                  </a:cubicBezTo>
                  <a:cubicBezTo>
                    <a:pt x="1147202" y="902013"/>
                    <a:pt x="609427" y="1539474"/>
                    <a:pt x="301209" y="2298400"/>
                  </a:cubicBezTo>
                  <a:cubicBezTo>
                    <a:pt x="-7098" y="3057296"/>
                    <a:pt x="-93281" y="3949806"/>
                    <a:pt x="110703" y="4706440"/>
                  </a:cubicBezTo>
                  <a:cubicBezTo>
                    <a:pt x="129308" y="4775284"/>
                    <a:pt x="197192" y="4827601"/>
                    <a:pt x="268604" y="4828140"/>
                  </a:cubicBezTo>
                  <a:cubicBezTo>
                    <a:pt x="604881" y="4787913"/>
                    <a:pt x="922220" y="4655387"/>
                    <a:pt x="1214293" y="4526496"/>
                  </a:cubicBezTo>
                  <a:cubicBezTo>
                    <a:pt x="1515751" y="4379000"/>
                    <a:pt x="1997799" y="4175405"/>
                    <a:pt x="2026113" y="3832388"/>
                  </a:cubicBezTo>
                  <a:cubicBezTo>
                    <a:pt x="2001434" y="3388489"/>
                    <a:pt x="2000552" y="2943522"/>
                    <a:pt x="2010653" y="2497233"/>
                  </a:cubicBezTo>
                  <a:lnTo>
                    <a:pt x="2410573" y="2056744"/>
                  </a:lnTo>
                  <a:lnTo>
                    <a:pt x="2819064" y="2504081"/>
                  </a:lnTo>
                  <a:cubicBezTo>
                    <a:pt x="2828979" y="2948009"/>
                    <a:pt x="2826491" y="3390723"/>
                    <a:pt x="2801919" y="3832378"/>
                  </a:cubicBezTo>
                  <a:cubicBezTo>
                    <a:pt x="2872224" y="4218758"/>
                    <a:pt x="3322511" y="4396478"/>
                    <a:pt x="3613740" y="4526486"/>
                  </a:cubicBezTo>
                  <a:cubicBezTo>
                    <a:pt x="3925103" y="4633716"/>
                    <a:pt x="4247077" y="4824534"/>
                    <a:pt x="4559429" y="4828130"/>
                  </a:cubicBezTo>
                  <a:cubicBezTo>
                    <a:pt x="4630841" y="4827591"/>
                    <a:pt x="4698735" y="4775284"/>
                    <a:pt x="4717330" y="4706430"/>
                  </a:cubicBezTo>
                  <a:cubicBezTo>
                    <a:pt x="4921306" y="3949826"/>
                    <a:pt x="4835121" y="3057277"/>
                    <a:pt x="4526824" y="2298390"/>
                  </a:cubicBezTo>
                  <a:cubicBezTo>
                    <a:pt x="4218518" y="1539494"/>
                    <a:pt x="3680821" y="902003"/>
                    <a:pt x="2951248" y="719875"/>
                  </a:cubicBezTo>
                  <a:cubicBezTo>
                    <a:pt x="2845007" y="700055"/>
                    <a:pt x="2744548" y="808274"/>
                    <a:pt x="2746997" y="889561"/>
                  </a:cubicBezTo>
                  <a:cubicBezTo>
                    <a:pt x="2767659" y="1260892"/>
                    <a:pt x="2788899" y="1630666"/>
                    <a:pt x="2803634" y="2000165"/>
                  </a:cubicBezTo>
                  <a:lnTo>
                    <a:pt x="2575351" y="1748232"/>
                  </a:lnTo>
                  <a:lnTo>
                    <a:pt x="2575351" y="166287"/>
                  </a:lnTo>
                  <a:cubicBezTo>
                    <a:pt x="2576272" y="78992"/>
                    <a:pt x="2496288" y="-872"/>
                    <a:pt x="2408878" y="39"/>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146" name="Group 145">
              <a:extLst>
                <a:ext uri="{FF2B5EF4-FFF2-40B4-BE49-F238E27FC236}">
                  <a16:creationId xmlns:a16="http://schemas.microsoft.com/office/drawing/2014/main" id="{D9A4592E-C96B-0E28-5C5C-95FFC263A2D7}"/>
                </a:ext>
              </a:extLst>
            </p:cNvPr>
            <p:cNvGrpSpPr>
              <a:grpSpLocks noChangeAspect="1"/>
            </p:cNvGrpSpPr>
            <p:nvPr/>
          </p:nvGrpSpPr>
          <p:grpSpPr>
            <a:xfrm>
              <a:off x="479227" y="2991796"/>
              <a:ext cx="330241" cy="402336"/>
              <a:chOff x="14505383" y="329077"/>
              <a:chExt cx="4076449" cy="4966386"/>
            </a:xfrm>
            <a:solidFill>
              <a:schemeClr val="bg1"/>
            </a:solidFill>
          </p:grpSpPr>
          <p:sp>
            <p:nvSpPr>
              <p:cNvPr id="147" name="Freeform: Shape 146">
                <a:extLst>
                  <a:ext uri="{FF2B5EF4-FFF2-40B4-BE49-F238E27FC236}">
                    <a16:creationId xmlns:a16="http://schemas.microsoft.com/office/drawing/2014/main" id="{26EDF4E4-9894-BFB9-CF47-462F0CD98ACA}"/>
                  </a:ext>
                </a:extLst>
              </p:cNvPr>
              <p:cNvSpPr/>
              <p:nvPr/>
            </p:nvSpPr>
            <p:spPr>
              <a:xfrm>
                <a:off x="15096730" y="329102"/>
                <a:ext cx="1015226" cy="1015225"/>
              </a:xfrm>
              <a:custGeom>
                <a:avLst/>
                <a:gdLst>
                  <a:gd name="connsiteX0" fmla="*/ 1001546 w 1015226"/>
                  <a:gd name="connsiteY0" fmla="*/ 391026 h 1015225"/>
                  <a:gd name="connsiteX1" fmla="*/ 624200 w 1015226"/>
                  <a:gd name="connsiteY1" fmla="*/ 1001545 h 1015225"/>
                  <a:gd name="connsiteX2" fmla="*/ 13681 w 1015226"/>
                  <a:gd name="connsiteY2" fmla="*/ 624198 h 1015225"/>
                  <a:gd name="connsiteX3" fmla="*/ 391027 w 1015226"/>
                  <a:gd name="connsiteY3" fmla="*/ 13680 h 1015225"/>
                  <a:gd name="connsiteX4" fmla="*/ 1001546 w 1015226"/>
                  <a:gd name="connsiteY4" fmla="*/ 391026 h 10152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5226" h="1015225">
                    <a:moveTo>
                      <a:pt x="1001546" y="391026"/>
                    </a:moveTo>
                    <a:cubicBezTo>
                      <a:pt x="1065914" y="663818"/>
                      <a:pt x="896991" y="937139"/>
                      <a:pt x="624200" y="1001545"/>
                    </a:cubicBezTo>
                    <a:cubicBezTo>
                      <a:pt x="351408" y="1065912"/>
                      <a:pt x="78087" y="896990"/>
                      <a:pt x="13681" y="624198"/>
                    </a:cubicBezTo>
                    <a:cubicBezTo>
                      <a:pt x="-50686" y="351407"/>
                      <a:pt x="118236" y="78086"/>
                      <a:pt x="391027" y="13680"/>
                    </a:cubicBezTo>
                    <a:cubicBezTo>
                      <a:pt x="663819" y="-50691"/>
                      <a:pt x="937140" y="118274"/>
                      <a:pt x="1001546" y="391026"/>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48" name="Freeform: Shape 147">
                <a:extLst>
                  <a:ext uri="{FF2B5EF4-FFF2-40B4-BE49-F238E27FC236}">
                    <a16:creationId xmlns:a16="http://schemas.microsoft.com/office/drawing/2014/main" id="{FA41901D-9E9B-C784-8BF6-2789725802F0}"/>
                  </a:ext>
                </a:extLst>
              </p:cNvPr>
              <p:cNvSpPr/>
              <p:nvPr/>
            </p:nvSpPr>
            <p:spPr>
              <a:xfrm>
                <a:off x="16975018" y="329077"/>
                <a:ext cx="1014991" cy="1014994"/>
              </a:xfrm>
              <a:custGeom>
                <a:avLst/>
                <a:gdLst>
                  <a:gd name="connsiteX0" fmla="*/ 866366 w 1014991"/>
                  <a:gd name="connsiteY0" fmla="*/ 148651 h 1014994"/>
                  <a:gd name="connsiteX1" fmla="*/ 866366 w 1014991"/>
                  <a:gd name="connsiteY1" fmla="*/ 866370 h 1014994"/>
                  <a:gd name="connsiteX2" fmla="*/ 148647 w 1014991"/>
                  <a:gd name="connsiteY2" fmla="*/ 866370 h 1014994"/>
                  <a:gd name="connsiteX3" fmla="*/ 148647 w 1014991"/>
                  <a:gd name="connsiteY3" fmla="*/ 148651 h 1014994"/>
                  <a:gd name="connsiteX4" fmla="*/ 866366 w 1014991"/>
                  <a:gd name="connsiteY4" fmla="*/ 148651 h 10149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14991" h="1014994">
                    <a:moveTo>
                      <a:pt x="866366" y="148651"/>
                    </a:moveTo>
                    <a:cubicBezTo>
                      <a:pt x="1064533" y="346847"/>
                      <a:pt x="1064533" y="668164"/>
                      <a:pt x="866366" y="866370"/>
                    </a:cubicBezTo>
                    <a:cubicBezTo>
                      <a:pt x="668170" y="1064537"/>
                      <a:pt x="346853" y="1064537"/>
                      <a:pt x="148647" y="866370"/>
                    </a:cubicBezTo>
                    <a:cubicBezTo>
                      <a:pt x="-49549" y="668174"/>
                      <a:pt x="-49549" y="346857"/>
                      <a:pt x="148647" y="148651"/>
                    </a:cubicBezTo>
                    <a:cubicBezTo>
                      <a:pt x="346843" y="-49555"/>
                      <a:pt x="668160" y="-49545"/>
                      <a:pt x="866366" y="148651"/>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49" name="Freeform: Shape 148">
                <a:extLst>
                  <a:ext uri="{FF2B5EF4-FFF2-40B4-BE49-F238E27FC236}">
                    <a16:creationId xmlns:a16="http://schemas.microsoft.com/office/drawing/2014/main" id="{295F69B3-1AB1-7475-5F0A-58AB32DCE984}"/>
                  </a:ext>
                </a:extLst>
              </p:cNvPr>
              <p:cNvSpPr/>
              <p:nvPr/>
            </p:nvSpPr>
            <p:spPr>
              <a:xfrm>
                <a:off x="14505383" y="1461577"/>
                <a:ext cx="4076449" cy="3833886"/>
              </a:xfrm>
              <a:custGeom>
                <a:avLst/>
                <a:gdLst>
                  <a:gd name="connsiteX0" fmla="*/ 4066770 w 4076449"/>
                  <a:gd name="connsiteY0" fmla="*/ 1144463 h 3833886"/>
                  <a:gd name="connsiteX1" fmla="*/ 3732100 w 4076449"/>
                  <a:gd name="connsiteY1" fmla="*/ 200802 h 3833886"/>
                  <a:gd name="connsiteX2" fmla="*/ 3709635 w 4076449"/>
                  <a:gd name="connsiteY2" fmla="*/ 141559 h 3833886"/>
                  <a:gd name="connsiteX3" fmla="*/ 3698075 w 4076449"/>
                  <a:gd name="connsiteY3" fmla="*/ 120701 h 3833886"/>
                  <a:gd name="connsiteX4" fmla="*/ 3478638 w 4076449"/>
                  <a:gd name="connsiteY4" fmla="*/ 0 h 3833886"/>
                  <a:gd name="connsiteX5" fmla="*/ 2475215 w 4076449"/>
                  <a:gd name="connsiteY5" fmla="*/ 0 h 3833886"/>
                  <a:gd name="connsiteX6" fmla="*/ 2255739 w 4076449"/>
                  <a:gd name="connsiteY6" fmla="*/ 120701 h 3833886"/>
                  <a:gd name="connsiteX7" fmla="*/ 2244228 w 4076449"/>
                  <a:gd name="connsiteY7" fmla="*/ 141559 h 3833886"/>
                  <a:gd name="connsiteX8" fmla="*/ 2221724 w 4076449"/>
                  <a:gd name="connsiteY8" fmla="*/ 200802 h 3833886"/>
                  <a:gd name="connsiteX9" fmla="*/ 2037910 w 4076449"/>
                  <a:gd name="connsiteY9" fmla="*/ 718180 h 3833886"/>
                  <a:gd name="connsiteX10" fmla="*/ 1854674 w 4076449"/>
                  <a:gd name="connsiteY10" fmla="*/ 200802 h 3833886"/>
                  <a:gd name="connsiteX11" fmla="*/ 1832209 w 4076449"/>
                  <a:gd name="connsiteY11" fmla="*/ 141559 h 3833886"/>
                  <a:gd name="connsiteX12" fmla="*/ 1820687 w 4076449"/>
                  <a:gd name="connsiteY12" fmla="*/ 120701 h 3833886"/>
                  <a:gd name="connsiteX13" fmla="*/ 1601212 w 4076449"/>
                  <a:gd name="connsiteY13" fmla="*/ 0 h 3833886"/>
                  <a:gd name="connsiteX14" fmla="*/ 597788 w 4076449"/>
                  <a:gd name="connsiteY14" fmla="*/ 0 h 3833886"/>
                  <a:gd name="connsiteX15" fmla="*/ 378313 w 4076449"/>
                  <a:gd name="connsiteY15" fmla="*/ 120701 h 3833886"/>
                  <a:gd name="connsiteX16" fmla="*/ 367330 w 4076449"/>
                  <a:gd name="connsiteY16" fmla="*/ 141559 h 3833886"/>
                  <a:gd name="connsiteX17" fmla="*/ 367369 w 4076449"/>
                  <a:gd name="connsiteY17" fmla="*/ 141559 h 3833886"/>
                  <a:gd name="connsiteX18" fmla="*/ 344287 w 4076449"/>
                  <a:gd name="connsiteY18" fmla="*/ 200802 h 3833886"/>
                  <a:gd name="connsiteX19" fmla="*/ 9656 w 4076449"/>
                  <a:gd name="connsiteY19" fmla="*/ 1144463 h 3833886"/>
                  <a:gd name="connsiteX20" fmla="*/ 37823 w 4076449"/>
                  <a:gd name="connsiteY20" fmla="*/ 1303020 h 3833886"/>
                  <a:gd name="connsiteX21" fmla="*/ 189257 w 4076449"/>
                  <a:gd name="connsiteY21" fmla="*/ 1357904 h 3833886"/>
                  <a:gd name="connsiteX22" fmla="*/ 312486 w 4076449"/>
                  <a:gd name="connsiteY22" fmla="*/ 1254191 h 3833886"/>
                  <a:gd name="connsiteX23" fmla="*/ 550605 w 4076449"/>
                  <a:gd name="connsiteY23" fmla="*/ 583204 h 3833886"/>
                  <a:gd name="connsiteX24" fmla="*/ 550605 w 4076449"/>
                  <a:gd name="connsiteY24" fmla="*/ 3556833 h 3833886"/>
                  <a:gd name="connsiteX25" fmla="*/ 619038 w 4076449"/>
                  <a:gd name="connsiteY25" fmla="*/ 3740069 h 3833886"/>
                  <a:gd name="connsiteX26" fmla="*/ 798865 w 4076449"/>
                  <a:gd name="connsiteY26" fmla="*/ 3817065 h 3833886"/>
                  <a:gd name="connsiteX27" fmla="*/ 978691 w 4076449"/>
                  <a:gd name="connsiteY27" fmla="*/ 3740069 h 3833886"/>
                  <a:gd name="connsiteX28" fmla="*/ 1047115 w 4076449"/>
                  <a:gd name="connsiteY28" fmla="*/ 3556833 h 3833886"/>
                  <a:gd name="connsiteX29" fmla="*/ 1047115 w 4076449"/>
                  <a:gd name="connsiteY29" fmla="*/ 2141342 h 3833886"/>
                  <a:gd name="connsiteX30" fmla="*/ 1160125 w 4076449"/>
                  <a:gd name="connsiteY30" fmla="*/ 2141342 h 3833886"/>
                  <a:gd name="connsiteX31" fmla="*/ 1160125 w 4076449"/>
                  <a:gd name="connsiteY31" fmla="*/ 3556833 h 3833886"/>
                  <a:gd name="connsiteX32" fmla="*/ 1160125 w 4076449"/>
                  <a:gd name="connsiteY32" fmla="*/ 3556794 h 3833886"/>
                  <a:gd name="connsiteX33" fmla="*/ 1234211 w 4076449"/>
                  <a:gd name="connsiteY33" fmla="*/ 3733182 h 3833886"/>
                  <a:gd name="connsiteX34" fmla="*/ 1411402 w 4076449"/>
                  <a:gd name="connsiteY34" fmla="*/ 3805357 h 3833886"/>
                  <a:gd name="connsiteX35" fmla="*/ 1586830 w 4076449"/>
                  <a:gd name="connsiteY35" fmla="*/ 3732221 h 3833886"/>
                  <a:gd name="connsiteX36" fmla="*/ 1659926 w 4076449"/>
                  <a:gd name="connsiteY36" fmla="*/ 3556794 h 3833886"/>
                  <a:gd name="connsiteX37" fmla="*/ 1659926 w 4076449"/>
                  <a:gd name="connsiteY37" fmla="*/ 606188 h 3833886"/>
                  <a:gd name="connsiteX38" fmla="*/ 1888709 w 4076449"/>
                  <a:gd name="connsiteY38" fmla="*/ 1251918 h 3833886"/>
                  <a:gd name="connsiteX39" fmla="*/ 1888709 w 4076449"/>
                  <a:gd name="connsiteY39" fmla="*/ 1251957 h 3833886"/>
                  <a:gd name="connsiteX40" fmla="*/ 1911752 w 4076449"/>
                  <a:gd name="connsiteY40" fmla="*/ 1293634 h 3833886"/>
                  <a:gd name="connsiteX41" fmla="*/ 1930425 w 4076449"/>
                  <a:gd name="connsiteY41" fmla="*/ 1314493 h 3833886"/>
                  <a:gd name="connsiteX42" fmla="*/ 1934824 w 4076449"/>
                  <a:gd name="connsiteY42" fmla="*/ 1318313 h 3833886"/>
                  <a:gd name="connsiteX43" fmla="*/ 1934824 w 4076449"/>
                  <a:gd name="connsiteY43" fmla="*/ 1318352 h 3833886"/>
                  <a:gd name="connsiteX44" fmla="*/ 1953468 w 4076449"/>
                  <a:gd name="connsiteY44" fmla="*/ 1332588 h 3833886"/>
                  <a:gd name="connsiteX45" fmla="*/ 1960042 w 4076449"/>
                  <a:gd name="connsiteY45" fmla="*/ 1336458 h 3833886"/>
                  <a:gd name="connsiteX46" fmla="*/ 1978147 w 4076449"/>
                  <a:gd name="connsiteY46" fmla="*/ 1345216 h 3833886"/>
                  <a:gd name="connsiteX47" fmla="*/ 1984192 w 4076449"/>
                  <a:gd name="connsiteY47" fmla="*/ 1348508 h 3833886"/>
                  <a:gd name="connsiteX48" fmla="*/ 1990247 w 4076449"/>
                  <a:gd name="connsiteY48" fmla="*/ 1348508 h 3833886"/>
                  <a:gd name="connsiteX49" fmla="*/ 2007235 w 4076449"/>
                  <a:gd name="connsiteY49" fmla="*/ 1352917 h 3833886"/>
                  <a:gd name="connsiteX50" fmla="*/ 2068124 w 4076449"/>
                  <a:gd name="connsiteY50" fmla="*/ 1352917 h 3833886"/>
                  <a:gd name="connsiteX51" fmla="*/ 2085112 w 4076449"/>
                  <a:gd name="connsiteY51" fmla="*/ 1348508 h 3833886"/>
                  <a:gd name="connsiteX52" fmla="*/ 2091157 w 4076449"/>
                  <a:gd name="connsiteY52" fmla="*/ 1348508 h 3833886"/>
                  <a:gd name="connsiteX53" fmla="*/ 2097212 w 4076449"/>
                  <a:gd name="connsiteY53" fmla="*/ 1345216 h 3833886"/>
                  <a:gd name="connsiteX54" fmla="*/ 2115307 w 4076449"/>
                  <a:gd name="connsiteY54" fmla="*/ 1336458 h 3833886"/>
                  <a:gd name="connsiteX55" fmla="*/ 2124644 w 4076449"/>
                  <a:gd name="connsiteY55" fmla="*/ 1331520 h 3833886"/>
                  <a:gd name="connsiteX56" fmla="*/ 2143288 w 4076449"/>
                  <a:gd name="connsiteY56" fmla="*/ 1317245 h 3833886"/>
                  <a:gd name="connsiteX57" fmla="*/ 2147148 w 4076449"/>
                  <a:gd name="connsiteY57" fmla="*/ 1313385 h 3833886"/>
                  <a:gd name="connsiteX58" fmla="*/ 2166321 w 4076449"/>
                  <a:gd name="connsiteY58" fmla="*/ 1292566 h 3833886"/>
                  <a:gd name="connsiteX59" fmla="*/ 2189364 w 4076449"/>
                  <a:gd name="connsiteY59" fmla="*/ 1250850 h 3833886"/>
                  <a:gd name="connsiteX60" fmla="*/ 2427483 w 4076449"/>
                  <a:gd name="connsiteY60" fmla="*/ 579863 h 3833886"/>
                  <a:gd name="connsiteX61" fmla="*/ 2427483 w 4076449"/>
                  <a:gd name="connsiteY61" fmla="*/ 1370444 h 3833886"/>
                  <a:gd name="connsiteX62" fmla="*/ 2005021 w 4076449"/>
                  <a:gd name="connsiteY62" fmla="*/ 2274034 h 3833886"/>
                  <a:gd name="connsiteX63" fmla="*/ 2427483 w 4076449"/>
                  <a:gd name="connsiteY63" fmla="*/ 2274034 h 3833886"/>
                  <a:gd name="connsiteX64" fmla="*/ 2427483 w 4076449"/>
                  <a:gd name="connsiteY64" fmla="*/ 3556775 h 3833886"/>
                  <a:gd name="connsiteX65" fmla="*/ 2500805 w 4076449"/>
                  <a:gd name="connsiteY65" fmla="*/ 3732398 h 3833886"/>
                  <a:gd name="connsiteX66" fmla="*/ 2676576 w 4076449"/>
                  <a:gd name="connsiteY66" fmla="*/ 3805338 h 3833886"/>
                  <a:gd name="connsiteX67" fmla="*/ 2852003 w 4076449"/>
                  <a:gd name="connsiteY67" fmla="*/ 3732202 h 3833886"/>
                  <a:gd name="connsiteX68" fmla="*/ 2925100 w 4076449"/>
                  <a:gd name="connsiteY68" fmla="*/ 3556775 h 3833886"/>
                  <a:gd name="connsiteX69" fmla="*/ 2925100 w 4076449"/>
                  <a:gd name="connsiteY69" fmla="*/ 2274034 h 3833886"/>
                  <a:gd name="connsiteX70" fmla="*/ 3038110 w 4076449"/>
                  <a:gd name="connsiteY70" fmla="*/ 2274034 h 3833886"/>
                  <a:gd name="connsiteX71" fmla="*/ 3038110 w 4076449"/>
                  <a:gd name="connsiteY71" fmla="*/ 3556775 h 3833886"/>
                  <a:gd name="connsiteX72" fmla="*/ 3099459 w 4076449"/>
                  <a:gd name="connsiteY72" fmla="*/ 3750689 h 3833886"/>
                  <a:gd name="connsiteX73" fmla="*/ 3284998 w 4076449"/>
                  <a:gd name="connsiteY73" fmla="*/ 3833886 h 3833886"/>
                  <a:gd name="connsiteX74" fmla="*/ 3470565 w 4076449"/>
                  <a:gd name="connsiteY74" fmla="*/ 3750689 h 3833886"/>
                  <a:gd name="connsiteX75" fmla="*/ 3531915 w 4076449"/>
                  <a:gd name="connsiteY75" fmla="*/ 3556775 h 3833886"/>
                  <a:gd name="connsiteX76" fmla="*/ 3531915 w 4076449"/>
                  <a:gd name="connsiteY76" fmla="*/ 2274034 h 3833886"/>
                  <a:gd name="connsiteX77" fmla="*/ 3945570 w 4076449"/>
                  <a:gd name="connsiteY77" fmla="*/ 2274034 h 3833886"/>
                  <a:gd name="connsiteX78" fmla="*/ 3534639 w 4076449"/>
                  <a:gd name="connsiteY78" fmla="*/ 1391263 h 3833886"/>
                  <a:gd name="connsiteX79" fmla="*/ 3534639 w 4076449"/>
                  <a:gd name="connsiteY79" fmla="*/ 606149 h 3833886"/>
                  <a:gd name="connsiteX80" fmla="*/ 3763941 w 4076449"/>
                  <a:gd name="connsiteY80" fmla="*/ 1251879 h 3833886"/>
                  <a:gd name="connsiteX81" fmla="*/ 3763980 w 4076449"/>
                  <a:gd name="connsiteY81" fmla="*/ 1251918 h 3833886"/>
                  <a:gd name="connsiteX82" fmla="*/ 3887208 w 4076449"/>
                  <a:gd name="connsiteY82" fmla="*/ 1355631 h 3833886"/>
                  <a:gd name="connsiteX83" fmla="*/ 4038604 w 4076449"/>
                  <a:gd name="connsiteY83" fmla="*/ 1300757 h 3833886"/>
                  <a:gd name="connsiteX84" fmla="*/ 4066810 w 4076449"/>
                  <a:gd name="connsiteY84" fmla="*/ 1142200 h 3833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4076449" h="3833886">
                    <a:moveTo>
                      <a:pt x="4066770" y="1144463"/>
                    </a:moveTo>
                    <a:lnTo>
                      <a:pt x="3732100" y="200802"/>
                    </a:lnTo>
                    <a:cubicBezTo>
                      <a:pt x="3727162" y="180169"/>
                      <a:pt x="3719628" y="160271"/>
                      <a:pt x="3709635" y="141559"/>
                    </a:cubicBezTo>
                    <a:cubicBezTo>
                      <a:pt x="3706304" y="134329"/>
                      <a:pt x="3702483" y="127363"/>
                      <a:pt x="3698075" y="120701"/>
                    </a:cubicBezTo>
                    <a:cubicBezTo>
                      <a:pt x="3650392" y="45576"/>
                      <a:pt x="3567616" y="39"/>
                      <a:pt x="3478638" y="0"/>
                    </a:cubicBezTo>
                    <a:lnTo>
                      <a:pt x="2475215" y="0"/>
                    </a:lnTo>
                    <a:cubicBezTo>
                      <a:pt x="2386198" y="39"/>
                      <a:pt x="2303422" y="45586"/>
                      <a:pt x="2255739" y="120701"/>
                    </a:cubicBezTo>
                    <a:cubicBezTo>
                      <a:pt x="2251380" y="127363"/>
                      <a:pt x="2247510" y="134329"/>
                      <a:pt x="2244228" y="141559"/>
                    </a:cubicBezTo>
                    <a:cubicBezTo>
                      <a:pt x="2234235" y="160271"/>
                      <a:pt x="2226661" y="180169"/>
                      <a:pt x="2221724" y="200802"/>
                    </a:cubicBezTo>
                    <a:lnTo>
                      <a:pt x="2037910" y="718180"/>
                    </a:lnTo>
                    <a:lnTo>
                      <a:pt x="1854674" y="200802"/>
                    </a:lnTo>
                    <a:cubicBezTo>
                      <a:pt x="1849501" y="180248"/>
                      <a:pt x="1841967" y="160350"/>
                      <a:pt x="1832209" y="141559"/>
                    </a:cubicBezTo>
                    <a:cubicBezTo>
                      <a:pt x="1828917" y="134329"/>
                      <a:pt x="1825047" y="127363"/>
                      <a:pt x="1820687" y="120701"/>
                    </a:cubicBezTo>
                    <a:cubicBezTo>
                      <a:pt x="1772926" y="45655"/>
                      <a:pt x="1690189" y="147"/>
                      <a:pt x="1601212" y="0"/>
                    </a:cubicBezTo>
                    <a:lnTo>
                      <a:pt x="597788" y="0"/>
                    </a:lnTo>
                    <a:cubicBezTo>
                      <a:pt x="508889" y="343"/>
                      <a:pt x="426221" y="45811"/>
                      <a:pt x="378313" y="120701"/>
                    </a:cubicBezTo>
                    <a:cubicBezTo>
                      <a:pt x="374482" y="127284"/>
                      <a:pt x="370622" y="134407"/>
                      <a:pt x="367330" y="141559"/>
                    </a:cubicBezTo>
                    <a:lnTo>
                      <a:pt x="367369" y="141559"/>
                    </a:lnTo>
                    <a:cubicBezTo>
                      <a:pt x="357415" y="160350"/>
                      <a:pt x="349646" y="180209"/>
                      <a:pt x="344287" y="200802"/>
                    </a:cubicBezTo>
                    <a:lnTo>
                      <a:pt x="9656" y="1144463"/>
                    </a:lnTo>
                    <a:cubicBezTo>
                      <a:pt x="-9977" y="1198573"/>
                      <a:pt x="780" y="1259002"/>
                      <a:pt x="37823" y="1303020"/>
                    </a:cubicBezTo>
                    <a:cubicBezTo>
                      <a:pt x="74866" y="1347068"/>
                      <a:pt x="132620" y="1367965"/>
                      <a:pt x="189257" y="1357904"/>
                    </a:cubicBezTo>
                    <a:cubicBezTo>
                      <a:pt x="245895" y="1347832"/>
                      <a:pt x="292891" y="1308301"/>
                      <a:pt x="312486" y="1254191"/>
                    </a:cubicBezTo>
                    <a:lnTo>
                      <a:pt x="550605" y="583204"/>
                    </a:lnTo>
                    <a:lnTo>
                      <a:pt x="550605" y="3556833"/>
                    </a:lnTo>
                    <a:cubicBezTo>
                      <a:pt x="547392" y="3624718"/>
                      <a:pt x="572149" y="3690936"/>
                      <a:pt x="619038" y="3740069"/>
                    </a:cubicBezTo>
                    <a:cubicBezTo>
                      <a:pt x="665957" y="3789241"/>
                      <a:pt x="730931" y="3817065"/>
                      <a:pt x="798865" y="3817065"/>
                    </a:cubicBezTo>
                    <a:cubicBezTo>
                      <a:pt x="866789" y="3817065"/>
                      <a:pt x="931773" y="3789241"/>
                      <a:pt x="978691" y="3740069"/>
                    </a:cubicBezTo>
                    <a:cubicBezTo>
                      <a:pt x="1025571" y="3690927"/>
                      <a:pt x="1050289" y="3624727"/>
                      <a:pt x="1047115" y="3556833"/>
                    </a:cubicBezTo>
                    <a:lnTo>
                      <a:pt x="1047115" y="2141342"/>
                    </a:lnTo>
                    <a:lnTo>
                      <a:pt x="1160125" y="2141342"/>
                    </a:lnTo>
                    <a:lnTo>
                      <a:pt x="1160125" y="3556833"/>
                    </a:lnTo>
                    <a:lnTo>
                      <a:pt x="1160125" y="3556794"/>
                    </a:lnTo>
                    <a:cubicBezTo>
                      <a:pt x="1160429" y="3623111"/>
                      <a:pt x="1187067" y="3686567"/>
                      <a:pt x="1234211" y="3733182"/>
                    </a:cubicBezTo>
                    <a:cubicBezTo>
                      <a:pt x="1281364" y="3779826"/>
                      <a:pt x="1345115" y="3805779"/>
                      <a:pt x="1411402" y="3805357"/>
                    </a:cubicBezTo>
                    <a:cubicBezTo>
                      <a:pt x="1477229" y="3805054"/>
                      <a:pt x="1540254" y="3778758"/>
                      <a:pt x="1586830" y="3732221"/>
                    </a:cubicBezTo>
                    <a:cubicBezTo>
                      <a:pt x="1633366" y="3685685"/>
                      <a:pt x="1659662" y="3622611"/>
                      <a:pt x="1659926" y="3556794"/>
                    </a:cubicBezTo>
                    <a:lnTo>
                      <a:pt x="1659926" y="606188"/>
                    </a:lnTo>
                    <a:lnTo>
                      <a:pt x="1888709" y="1251918"/>
                    </a:lnTo>
                    <a:lnTo>
                      <a:pt x="1888709" y="1251957"/>
                    </a:lnTo>
                    <a:cubicBezTo>
                      <a:pt x="1894342" y="1266878"/>
                      <a:pt x="1902102" y="1280927"/>
                      <a:pt x="1911752" y="1293634"/>
                    </a:cubicBezTo>
                    <a:cubicBezTo>
                      <a:pt x="1917414" y="1301100"/>
                      <a:pt x="1923655" y="1308066"/>
                      <a:pt x="1930425" y="1314493"/>
                    </a:cubicBezTo>
                    <a:lnTo>
                      <a:pt x="1934824" y="1318313"/>
                    </a:lnTo>
                    <a:lnTo>
                      <a:pt x="1934824" y="1318352"/>
                    </a:lnTo>
                    <a:cubicBezTo>
                      <a:pt x="1940644" y="1323565"/>
                      <a:pt x="1946884" y="1328346"/>
                      <a:pt x="1953468" y="1332588"/>
                    </a:cubicBezTo>
                    <a:lnTo>
                      <a:pt x="1960042" y="1336458"/>
                    </a:lnTo>
                    <a:cubicBezTo>
                      <a:pt x="1965861" y="1339789"/>
                      <a:pt x="1971906" y="1342738"/>
                      <a:pt x="1978147" y="1345216"/>
                    </a:cubicBezTo>
                    <a:lnTo>
                      <a:pt x="1984192" y="1348508"/>
                    </a:lnTo>
                    <a:lnTo>
                      <a:pt x="1990247" y="1348508"/>
                    </a:lnTo>
                    <a:lnTo>
                      <a:pt x="2007235" y="1352917"/>
                    </a:lnTo>
                    <a:lnTo>
                      <a:pt x="2068124" y="1352917"/>
                    </a:lnTo>
                    <a:lnTo>
                      <a:pt x="2085112" y="1348508"/>
                    </a:lnTo>
                    <a:lnTo>
                      <a:pt x="2091157" y="1348508"/>
                    </a:lnTo>
                    <a:lnTo>
                      <a:pt x="2097212" y="1345216"/>
                    </a:lnTo>
                    <a:cubicBezTo>
                      <a:pt x="2103443" y="1342738"/>
                      <a:pt x="2109488" y="1339789"/>
                      <a:pt x="2115307" y="1336458"/>
                    </a:cubicBezTo>
                    <a:lnTo>
                      <a:pt x="2124644" y="1331520"/>
                    </a:lnTo>
                    <a:cubicBezTo>
                      <a:pt x="2131227" y="1327239"/>
                      <a:pt x="2137468" y="1322448"/>
                      <a:pt x="2143288" y="1317245"/>
                    </a:cubicBezTo>
                    <a:lnTo>
                      <a:pt x="2147148" y="1313385"/>
                    </a:lnTo>
                    <a:cubicBezTo>
                      <a:pt x="2154231" y="1307106"/>
                      <a:pt x="2160658" y="1300140"/>
                      <a:pt x="2166321" y="1292566"/>
                    </a:cubicBezTo>
                    <a:cubicBezTo>
                      <a:pt x="2176000" y="1279860"/>
                      <a:pt x="2183770" y="1265810"/>
                      <a:pt x="2189364" y="1250850"/>
                    </a:cubicBezTo>
                    <a:lnTo>
                      <a:pt x="2427483" y="579863"/>
                    </a:lnTo>
                    <a:lnTo>
                      <a:pt x="2427483" y="1370444"/>
                    </a:lnTo>
                    <a:lnTo>
                      <a:pt x="2005021" y="2274034"/>
                    </a:lnTo>
                    <a:lnTo>
                      <a:pt x="2427483" y="2274034"/>
                    </a:lnTo>
                    <a:lnTo>
                      <a:pt x="2427483" y="3556775"/>
                    </a:lnTo>
                    <a:cubicBezTo>
                      <a:pt x="2427787" y="3622709"/>
                      <a:pt x="2454122" y="3685861"/>
                      <a:pt x="2500805" y="3732398"/>
                    </a:cubicBezTo>
                    <a:cubicBezTo>
                      <a:pt x="2547459" y="3778974"/>
                      <a:pt x="2610641" y="3805181"/>
                      <a:pt x="2676576" y="3805338"/>
                    </a:cubicBezTo>
                    <a:cubicBezTo>
                      <a:pt x="2742403" y="3805034"/>
                      <a:pt x="2805428" y="3778739"/>
                      <a:pt x="2852003" y="3732202"/>
                    </a:cubicBezTo>
                    <a:cubicBezTo>
                      <a:pt x="2898540" y="3685666"/>
                      <a:pt x="2924796" y="3622591"/>
                      <a:pt x="2925100" y="3556775"/>
                    </a:cubicBezTo>
                    <a:lnTo>
                      <a:pt x="2925100" y="2274034"/>
                    </a:lnTo>
                    <a:lnTo>
                      <a:pt x="3038110" y="2274034"/>
                    </a:lnTo>
                    <a:lnTo>
                      <a:pt x="3038110" y="3556775"/>
                    </a:lnTo>
                    <a:cubicBezTo>
                      <a:pt x="3029959" y="3627196"/>
                      <a:pt x="3052267" y="3697765"/>
                      <a:pt x="3099459" y="3750689"/>
                    </a:cubicBezTo>
                    <a:cubicBezTo>
                      <a:pt x="3146603" y="3803623"/>
                      <a:pt x="3214115" y="3833886"/>
                      <a:pt x="3284998" y="3833886"/>
                    </a:cubicBezTo>
                    <a:cubicBezTo>
                      <a:pt x="3355909" y="3833886"/>
                      <a:pt x="3423421" y="3803623"/>
                      <a:pt x="3470565" y="3750689"/>
                    </a:cubicBezTo>
                    <a:cubicBezTo>
                      <a:pt x="3517709" y="3697765"/>
                      <a:pt x="3540027" y="3627196"/>
                      <a:pt x="3531915" y="3556775"/>
                    </a:cubicBezTo>
                    <a:lnTo>
                      <a:pt x="3531915" y="2274034"/>
                    </a:lnTo>
                    <a:lnTo>
                      <a:pt x="3945570" y="2274034"/>
                    </a:lnTo>
                    <a:lnTo>
                      <a:pt x="3534639" y="1391263"/>
                    </a:lnTo>
                    <a:lnTo>
                      <a:pt x="3534639" y="606149"/>
                    </a:lnTo>
                    <a:lnTo>
                      <a:pt x="3763941" y="1251879"/>
                    </a:lnTo>
                    <a:lnTo>
                      <a:pt x="3763980" y="1251918"/>
                    </a:lnTo>
                    <a:cubicBezTo>
                      <a:pt x="3783574" y="1305998"/>
                      <a:pt x="3830532" y="1345530"/>
                      <a:pt x="3887208" y="1355631"/>
                    </a:cubicBezTo>
                    <a:cubicBezTo>
                      <a:pt x="3943856" y="1365692"/>
                      <a:pt x="4001561" y="1344766"/>
                      <a:pt x="4038604" y="1300757"/>
                    </a:cubicBezTo>
                    <a:cubicBezTo>
                      <a:pt x="4075696" y="1256738"/>
                      <a:pt x="4086404" y="1196280"/>
                      <a:pt x="4066810" y="1142200"/>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245" name="object 6">
              <a:extLst>
                <a:ext uri="{FF2B5EF4-FFF2-40B4-BE49-F238E27FC236}">
                  <a16:creationId xmlns:a16="http://schemas.microsoft.com/office/drawing/2014/main" id="{A9F3C0B5-6000-33BB-9E68-C15DB1160E06}"/>
                </a:ext>
              </a:extLst>
            </p:cNvPr>
            <p:cNvSpPr txBox="1">
              <a:spLocks/>
            </p:cNvSpPr>
            <p:nvPr/>
          </p:nvSpPr>
          <p:spPr>
            <a:xfrm>
              <a:off x="374301" y="1101927"/>
              <a:ext cx="11457432" cy="536480"/>
            </a:xfrm>
            <a:prstGeom prst="rect">
              <a:avLst/>
            </a:prstGeom>
            <a:noFill/>
            <a:ln w="12700">
              <a:noFill/>
            </a:ln>
          </p:spPr>
          <p:txBody>
            <a:bodyPr vert="horz" wrap="square" lIns="731520" tIns="45720" rIns="45720" bIns="45720" rtlCol="0" anchor="ctr" anchorCtr="0">
              <a:noAutofit/>
            </a:bodyPr>
            <a:lstStyle/>
            <a:p>
              <a:pPr marL="0" marR="283845"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6658A6"/>
                  </a:solidFill>
                  <a:effectLst/>
                  <a:uLnTx/>
                  <a:uFillTx/>
                  <a:latin typeface="Arial"/>
                  <a:ea typeface="+mn-ea"/>
                  <a:cs typeface="Arial"/>
                </a:rPr>
                <a:t>Smoking</a:t>
              </a:r>
            </a:p>
            <a:p>
              <a:pPr marL="0" marR="283845"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There </a:t>
              </a:r>
              <a:r>
                <a:rPr kumimoji="0" lang="en-US" sz="1100" b="0" i="0" u="none" strike="noStrike" kern="1200" cap="none" spc="-5" normalizeH="0" baseline="0" noProof="0" dirty="0">
                  <a:ln>
                    <a:noFill/>
                  </a:ln>
                  <a:solidFill>
                    <a:srgbClr val="000000"/>
                  </a:solidFill>
                  <a:effectLst/>
                  <a:uLnTx/>
                  <a:uFillTx/>
                  <a:latin typeface="Arial"/>
                  <a:ea typeface="+mn-ea"/>
                  <a:cs typeface="Arial"/>
                </a:rPr>
                <a:t>is a strong positive association between cigarette </a:t>
              </a:r>
              <a:r>
                <a:rPr kumimoji="0" lang="en-US" sz="1100" b="0" i="0" u="none" strike="noStrike" kern="1200" cap="none" spc="0" normalizeH="0" baseline="0" noProof="0" dirty="0">
                  <a:ln>
                    <a:noFill/>
                  </a:ln>
                  <a:solidFill>
                    <a:srgbClr val="000000"/>
                  </a:solidFill>
                  <a:effectLst/>
                  <a:uLnTx/>
                  <a:uFillTx/>
                  <a:latin typeface="Arial"/>
                  <a:ea typeface="+mn-ea"/>
                  <a:cs typeface="Arial"/>
                </a:rPr>
                <a:t>smoking </a:t>
              </a:r>
              <a:r>
                <a:rPr kumimoji="0" lang="en-US" sz="1100" b="0" i="0" u="none" strike="noStrike" kern="1200" cap="none" spc="-5" normalizeH="0" baseline="0" noProof="0" dirty="0">
                  <a:ln>
                    <a:noFill/>
                  </a:ln>
                  <a:solidFill>
                    <a:srgbClr val="000000"/>
                  </a:solidFill>
                  <a:effectLst/>
                  <a:uLnTx/>
                  <a:uFillTx/>
                  <a:latin typeface="Arial"/>
                  <a:ea typeface="+mn-ea"/>
                  <a:cs typeface="Arial"/>
                </a:rPr>
                <a:t>and </a:t>
              </a:r>
              <a:r>
                <a:rPr kumimoji="0" lang="en-US" sz="1100" b="0" i="0" u="none" strike="noStrike" kern="1200" cap="none" spc="0" normalizeH="0" baseline="0" noProof="0" dirty="0">
                  <a:ln>
                    <a:noFill/>
                  </a:ln>
                  <a:solidFill>
                    <a:srgbClr val="000000"/>
                  </a:solidFill>
                  <a:effectLst/>
                  <a:uLnTx/>
                  <a:uFillTx/>
                  <a:latin typeface="Arial"/>
                  <a:ea typeface="+mn-ea"/>
                  <a:cs typeface="Arial"/>
                </a:rPr>
                <a:t>COPD, </a:t>
              </a:r>
              <a:r>
                <a:rPr kumimoji="0" lang="en-US" sz="1100" b="0" i="0" u="none" strike="noStrike" kern="1200" cap="none" spc="-5" normalizeH="0" baseline="0" noProof="0" dirty="0">
                  <a:ln>
                    <a:noFill/>
                  </a:ln>
                  <a:solidFill>
                    <a:srgbClr val="000000"/>
                  </a:solidFill>
                  <a:effectLst/>
                  <a:uLnTx/>
                  <a:uFillTx/>
                  <a:latin typeface="Arial"/>
                  <a:ea typeface="+mn-ea"/>
                  <a:cs typeface="Arial"/>
                </a:rPr>
                <a:t>with</a:t>
              </a:r>
              <a:r>
                <a:rPr kumimoji="0" lang="en-US" sz="1100" b="0" i="0" u="none" strike="noStrike" kern="1200" cap="none" spc="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higher</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prevalence</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in</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heavy</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smokers.</a:t>
              </a:r>
              <a:r>
                <a:rPr kumimoji="0" lang="en-US" sz="1100" b="0" i="0" u="none" strike="noStrike" kern="1200" cap="none" spc="0" normalizeH="0" baseline="24305" noProof="0" dirty="0">
                  <a:ln>
                    <a:noFill/>
                  </a:ln>
                  <a:solidFill>
                    <a:srgbClr val="000000"/>
                  </a:solidFill>
                  <a:effectLst/>
                  <a:uLnTx/>
                  <a:uFillTx/>
                  <a:latin typeface="Arial"/>
                  <a:ea typeface="+mn-ea"/>
                  <a:cs typeface="Arial"/>
                </a:rPr>
                <a:t>1</a:t>
              </a:r>
            </a:p>
          </p:txBody>
        </p:sp>
        <p:sp>
          <p:nvSpPr>
            <p:cNvPr id="246" name="object 6">
              <a:extLst>
                <a:ext uri="{FF2B5EF4-FFF2-40B4-BE49-F238E27FC236}">
                  <a16:creationId xmlns:a16="http://schemas.microsoft.com/office/drawing/2014/main" id="{2C7B8C7F-D3F7-D96F-8959-7DDC645E0C83}"/>
                </a:ext>
              </a:extLst>
            </p:cNvPr>
            <p:cNvSpPr txBox="1">
              <a:spLocks/>
            </p:cNvSpPr>
            <p:nvPr/>
          </p:nvSpPr>
          <p:spPr>
            <a:xfrm>
              <a:off x="374301" y="1709525"/>
              <a:ext cx="11457432" cy="536480"/>
            </a:xfrm>
            <a:prstGeom prst="rect">
              <a:avLst/>
            </a:prstGeom>
            <a:noFill/>
            <a:ln w="12700">
              <a:noFill/>
            </a:ln>
          </p:spPr>
          <p:txBody>
            <a:bodyPr vert="horz" wrap="square" lIns="731520" tIns="45720" rIns="45720" bIns="45720" rtlCol="0" anchor="ctr" anchorCtr="0">
              <a:noAutofit/>
            </a:bodyPr>
            <a:lstStyle/>
            <a:p>
              <a:pPr marL="0" marR="419734"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E21860"/>
                  </a:solidFill>
                  <a:effectLst/>
                  <a:uLnTx/>
                  <a:uFillTx/>
                  <a:latin typeface="Arial"/>
                  <a:ea typeface="+mn-ea"/>
                  <a:cs typeface="Arial"/>
                </a:rPr>
                <a:t>Biomass exposure</a:t>
              </a:r>
            </a:p>
            <a:p>
              <a:pPr marL="0" marR="419734"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Biomass</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fuel</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(particularly</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wood</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smoke)</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exposure</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increases</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the </a:t>
              </a:r>
              <a:r>
                <a:rPr kumimoji="0" lang="en-US" sz="1100" b="0" i="0" u="none" strike="noStrike" kern="1200" cap="none" spc="-5" normalizeH="0" baseline="0" noProof="0" dirty="0">
                  <a:ln>
                    <a:noFill/>
                  </a:ln>
                  <a:solidFill>
                    <a:srgbClr val="000000"/>
                  </a:solidFill>
                  <a:effectLst/>
                  <a:uLnTx/>
                  <a:uFillTx/>
                  <a:latin typeface="Arial"/>
                  <a:ea typeface="+mn-ea"/>
                  <a:cs typeface="Arial"/>
                </a:rPr>
                <a:t>chances</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of </a:t>
              </a:r>
              <a:r>
                <a:rPr kumimoji="0" lang="en-US" sz="1100" b="0" i="0" u="none" strike="noStrike" kern="1200" cap="none" spc="-5" normalizeH="0" baseline="0" noProof="0" dirty="0">
                  <a:ln>
                    <a:noFill/>
                  </a:ln>
                  <a:solidFill>
                    <a:srgbClr val="000000"/>
                  </a:solidFill>
                  <a:effectLst/>
                  <a:uLnTx/>
                  <a:uFillTx/>
                  <a:latin typeface="Arial"/>
                  <a:ea typeface="+mn-ea"/>
                  <a:cs typeface="Arial"/>
                </a:rPr>
                <a:t>developing</a:t>
              </a:r>
              <a:r>
                <a:rPr kumimoji="0" lang="en-US" sz="1100" b="0" i="0" u="none" strike="noStrike" kern="1200" cap="none" spc="-5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COPD.</a:t>
              </a:r>
              <a:r>
                <a:rPr kumimoji="0" lang="en-US" sz="1100" b="0" i="0" u="none" strike="noStrike" kern="1200" cap="none" spc="0" normalizeH="0" baseline="24305" noProof="0" dirty="0">
                  <a:ln>
                    <a:noFill/>
                  </a:ln>
                  <a:solidFill>
                    <a:srgbClr val="000000"/>
                  </a:solidFill>
                  <a:effectLst/>
                  <a:uLnTx/>
                  <a:uFillTx/>
                  <a:latin typeface="Arial"/>
                  <a:ea typeface="+mn-ea"/>
                  <a:cs typeface="Arial"/>
                </a:rPr>
                <a:t>2,3</a:t>
              </a:r>
            </a:p>
          </p:txBody>
        </p:sp>
        <p:sp>
          <p:nvSpPr>
            <p:cNvPr id="247" name="object 6">
              <a:extLst>
                <a:ext uri="{FF2B5EF4-FFF2-40B4-BE49-F238E27FC236}">
                  <a16:creationId xmlns:a16="http://schemas.microsoft.com/office/drawing/2014/main" id="{7F07AE7C-3372-42CD-CB27-9B221277B6D5}"/>
                </a:ext>
              </a:extLst>
            </p:cNvPr>
            <p:cNvSpPr txBox="1">
              <a:spLocks/>
            </p:cNvSpPr>
            <p:nvPr/>
          </p:nvSpPr>
          <p:spPr>
            <a:xfrm>
              <a:off x="374301" y="2317123"/>
              <a:ext cx="11457432" cy="536480"/>
            </a:xfrm>
            <a:prstGeom prst="rect">
              <a:avLst/>
            </a:prstGeom>
            <a:noFill/>
            <a:ln w="12700">
              <a:noFill/>
            </a:ln>
          </p:spPr>
          <p:txBody>
            <a:bodyPr vert="horz" wrap="square" lIns="731520" tIns="45720" rIns="45720" bIns="45720" rtlCol="0" anchor="ctr" anchorCtr="0">
              <a:noAutofit/>
            </a:bodyPr>
            <a:lstStyle/>
            <a:p>
              <a:pPr marL="0" marR="133731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69B445"/>
                  </a:solidFill>
                  <a:effectLst/>
                  <a:uLnTx/>
                  <a:uFillTx/>
                  <a:latin typeface="Arial"/>
                  <a:ea typeface="+mn-ea"/>
                  <a:cs typeface="Arial"/>
                </a:rPr>
                <a:t>Age</a:t>
              </a:r>
            </a:p>
            <a:p>
              <a:pPr marL="0" marR="133731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The prevalence </a:t>
              </a:r>
              <a:r>
                <a:rPr kumimoji="0" lang="en-US" sz="1100" b="0" i="0" u="none" strike="noStrike" kern="1200" cap="none" spc="0" normalizeH="0" baseline="0" noProof="0" dirty="0">
                  <a:ln>
                    <a:noFill/>
                  </a:ln>
                  <a:solidFill>
                    <a:srgbClr val="000000"/>
                  </a:solidFill>
                  <a:effectLst/>
                  <a:uLnTx/>
                  <a:uFillTx/>
                  <a:latin typeface="Arial"/>
                  <a:ea typeface="+mn-ea"/>
                  <a:cs typeface="Arial"/>
                </a:rPr>
                <a:t>of </a:t>
              </a:r>
              <a:r>
                <a:rPr kumimoji="0" lang="en-US" sz="1100" b="0" i="0" u="none" strike="noStrike" kern="1200" cap="none" spc="-5" normalizeH="0" baseline="0" noProof="0" dirty="0">
                  <a:ln>
                    <a:noFill/>
                  </a:ln>
                  <a:solidFill>
                    <a:srgbClr val="000000"/>
                  </a:solidFill>
                  <a:effectLst/>
                  <a:uLnTx/>
                  <a:uFillTx/>
                  <a:latin typeface="Arial"/>
                  <a:ea typeface="+mn-ea"/>
                  <a:cs typeface="Arial"/>
                </a:rPr>
                <a:t>COPD in </a:t>
              </a:r>
              <a:r>
                <a:rPr kumimoji="0" lang="en-US" sz="1100" b="0" i="0" u="none" strike="noStrike" kern="1200" cap="none" spc="0" normalizeH="0" baseline="0" noProof="0" dirty="0">
                  <a:ln>
                    <a:noFill/>
                  </a:ln>
                  <a:solidFill>
                    <a:srgbClr val="000000"/>
                  </a:solidFill>
                  <a:effectLst/>
                  <a:uLnTx/>
                  <a:uFillTx/>
                  <a:latin typeface="Arial"/>
                  <a:ea typeface="+mn-ea"/>
                  <a:cs typeface="Arial"/>
                </a:rPr>
                <a:t>patients aged ≥ 40 </a:t>
              </a:r>
              <a:r>
                <a:rPr kumimoji="0" lang="en-US" sz="1100" b="0" i="0" u="none" strike="noStrike" kern="1200" cap="none" spc="-5" normalizeH="0" baseline="0" noProof="0" dirty="0">
                  <a:ln>
                    <a:noFill/>
                  </a:ln>
                  <a:solidFill>
                    <a:srgbClr val="000000"/>
                  </a:solidFill>
                  <a:effectLst/>
                  <a:uLnTx/>
                  <a:uFillTx/>
                  <a:latin typeface="Arial"/>
                  <a:ea typeface="+mn-ea"/>
                  <a:cs typeface="Arial"/>
                </a:rPr>
                <a:t>years increases steeply; </a:t>
              </a:r>
              <a:r>
                <a:rPr kumimoji="0" lang="en-US" sz="1100" b="0" i="0" u="none" strike="noStrike" kern="1200" cap="none" spc="0" normalizeH="0" baseline="0" noProof="0" dirty="0">
                  <a:ln>
                    <a:noFill/>
                  </a:ln>
                  <a:solidFill>
                    <a:srgbClr val="000000"/>
                  </a:solidFill>
                  <a:effectLst/>
                  <a:uLnTx/>
                  <a:uFillTx/>
                  <a:latin typeface="Arial"/>
                  <a:ea typeface="+mn-ea"/>
                  <a:cs typeface="Arial"/>
                </a:rPr>
                <a:t>the</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highest</a:t>
              </a:r>
              <a:r>
                <a:rPr kumimoji="0" lang="en-US" sz="1100" b="0" i="0" u="none" strike="noStrike" kern="1200" cap="none" spc="-2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prevalence</a:t>
              </a:r>
              <a:r>
                <a:rPr kumimoji="0" lang="en-US" sz="1100" b="0" i="0" u="none" strike="noStrike" kern="1200" cap="none" spc="-4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is </a:t>
              </a:r>
              <a:r>
                <a:rPr kumimoji="0" lang="en-US" sz="1100" b="0" i="0" u="none" strike="noStrike" kern="1200" cap="none" spc="0" normalizeH="0" baseline="0" noProof="0" dirty="0">
                  <a:ln>
                    <a:noFill/>
                  </a:ln>
                  <a:solidFill>
                    <a:srgbClr val="000000"/>
                  </a:solidFill>
                  <a:effectLst/>
                  <a:uLnTx/>
                  <a:uFillTx/>
                  <a:latin typeface="Arial"/>
                  <a:ea typeface="+mn-ea"/>
                  <a:cs typeface="Arial"/>
                </a:rPr>
                <a:t>among</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those</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aged &gt;</a:t>
              </a:r>
              <a:r>
                <a:rPr kumimoji="0" lang="en-US" sz="1100" b="0" i="0" u="none" strike="noStrike" kern="1200" cap="none" spc="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60</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years.</a:t>
              </a:r>
              <a:r>
                <a:rPr kumimoji="0" lang="en-US" sz="1100" b="0" i="0" u="none" strike="noStrike" kern="1200" cap="none" spc="0" normalizeH="0" baseline="24305" noProof="0" dirty="0">
                  <a:ln>
                    <a:noFill/>
                  </a:ln>
                  <a:solidFill>
                    <a:srgbClr val="000000"/>
                  </a:solidFill>
                  <a:effectLst/>
                  <a:uLnTx/>
                  <a:uFillTx/>
                  <a:latin typeface="Arial"/>
                  <a:ea typeface="+mn-ea"/>
                  <a:cs typeface="Arial"/>
                </a:rPr>
                <a:t>1,4,5</a:t>
              </a:r>
            </a:p>
          </p:txBody>
        </p:sp>
        <p:sp>
          <p:nvSpPr>
            <p:cNvPr id="248" name="object 6">
              <a:extLst>
                <a:ext uri="{FF2B5EF4-FFF2-40B4-BE49-F238E27FC236}">
                  <a16:creationId xmlns:a16="http://schemas.microsoft.com/office/drawing/2014/main" id="{DB6414C1-C66E-1BCC-F457-9B271D0BEACB}"/>
                </a:ext>
              </a:extLst>
            </p:cNvPr>
            <p:cNvSpPr txBox="1">
              <a:spLocks/>
            </p:cNvSpPr>
            <p:nvPr/>
          </p:nvSpPr>
          <p:spPr>
            <a:xfrm>
              <a:off x="374301" y="2924721"/>
              <a:ext cx="11457432" cy="536480"/>
            </a:xfrm>
            <a:prstGeom prst="rect">
              <a:avLst/>
            </a:prstGeom>
            <a:noFill/>
            <a:ln w="12700">
              <a:noFill/>
            </a:ln>
          </p:spPr>
          <p:txBody>
            <a:bodyPr vert="horz" wrap="square" lIns="731520" tIns="45720" rIns="45720" bIns="45720" rtlCol="0" anchor="ctr" anchorCtr="0">
              <a:noAutofit/>
            </a:bodyPr>
            <a:lstStyle/>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244EA2"/>
                  </a:solidFill>
                  <a:effectLst/>
                  <a:uLnTx/>
                  <a:uFillTx/>
                  <a:latin typeface="Arial"/>
                  <a:ea typeface="+mn-ea"/>
                  <a:cs typeface="Arial"/>
                </a:rPr>
                <a:t>Gender</a:t>
              </a:r>
            </a:p>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In smoking</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populations,</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prevalence is</a:t>
              </a:r>
              <a:r>
                <a:rPr kumimoji="0" lang="en-US" sz="1100" b="0" i="0" u="none" strike="noStrike" kern="1200" cap="none" spc="-2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higher</a:t>
              </a:r>
              <a:r>
                <a:rPr kumimoji="0" lang="en-US" sz="1100" b="0" i="0" u="none" strike="noStrike" kern="1200" cap="none" spc="-2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in </a:t>
              </a:r>
              <a:r>
                <a:rPr kumimoji="0" lang="en-US" sz="1100" b="0" i="0" u="none" strike="noStrike" kern="1200" cap="none" spc="0" normalizeH="0" baseline="0" noProof="0" dirty="0">
                  <a:ln>
                    <a:noFill/>
                  </a:ln>
                  <a:solidFill>
                    <a:srgbClr val="000000"/>
                  </a:solidFill>
                  <a:effectLst/>
                  <a:uLnTx/>
                  <a:uFillTx/>
                  <a:latin typeface="Arial"/>
                  <a:ea typeface="+mn-ea"/>
                  <a:cs typeface="Arial"/>
                </a:rPr>
                <a:t>men</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than</a:t>
              </a:r>
              <a:r>
                <a:rPr kumimoji="0" lang="en-US" sz="1100" b="0" i="0" u="none" strike="noStrike" kern="1200" cap="none" spc="-10" normalizeH="0" baseline="0" noProof="0" dirty="0">
                  <a:ln>
                    <a:noFill/>
                  </a:ln>
                  <a:solidFill>
                    <a:srgbClr val="000000"/>
                  </a:solidFill>
                  <a:effectLst/>
                  <a:uLnTx/>
                  <a:uFillTx/>
                  <a:latin typeface="Arial"/>
                  <a:ea typeface="+mn-ea"/>
                  <a:cs typeface="Arial"/>
                </a:rPr>
                <a:t> in </a:t>
              </a:r>
              <a:r>
                <a:rPr kumimoji="0" lang="en-US" sz="1100" b="0" i="0" u="none" strike="noStrike" kern="1200" cap="none" spc="-5" normalizeH="0" baseline="0" noProof="0" dirty="0">
                  <a:ln>
                    <a:noFill/>
                  </a:ln>
                  <a:solidFill>
                    <a:srgbClr val="000000"/>
                  </a:solidFill>
                  <a:effectLst/>
                  <a:uLnTx/>
                  <a:uFillTx/>
                  <a:latin typeface="Arial"/>
                  <a:ea typeface="+mn-ea"/>
                  <a:cs typeface="Arial"/>
                </a:rPr>
                <a:t>women;</a:t>
              </a:r>
              <a:r>
                <a:rPr kumimoji="0" lang="en-US" sz="1100" b="0" i="0" u="none" strike="noStrike" kern="1200" cap="none" spc="-15" normalizeH="0" baseline="0" noProof="0" dirty="0">
                  <a:ln>
                    <a:noFill/>
                  </a:ln>
                  <a:solidFill>
                    <a:srgbClr val="000000"/>
                  </a:solidFill>
                  <a:effectLst/>
                  <a:uLnTx/>
                  <a:uFillTx/>
                  <a:latin typeface="Arial"/>
                  <a:ea typeface="+mn-ea"/>
                  <a:cs typeface="Arial"/>
                </a:rPr>
                <a:t> however,</a:t>
              </a:r>
              <a:r>
                <a:rPr kumimoji="0" lang="en-US" sz="1100" b="0" i="0" u="none" strike="noStrike" kern="1200" cap="none" spc="-5" normalizeH="0" baseline="0" noProof="0" dirty="0">
                  <a:ln>
                    <a:noFill/>
                  </a:ln>
                  <a:solidFill>
                    <a:srgbClr val="000000"/>
                  </a:solidFill>
                  <a:effectLst/>
                  <a:uLnTx/>
                  <a:uFillTx/>
                  <a:latin typeface="Arial"/>
                  <a:ea typeface="+mn-ea"/>
                  <a:cs typeface="Arial"/>
                </a:rPr>
                <a:t> in non-smoking</a:t>
              </a:r>
              <a:r>
                <a:rPr kumimoji="0" lang="en-US" sz="1100" b="0" i="0" u="none" strike="noStrike" kern="1200" cap="none" spc="-4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populations,</a:t>
              </a:r>
              <a:r>
                <a:rPr kumimoji="0" lang="en-US" sz="1100" b="0" i="0" u="none" strike="noStrike" kern="1200" cap="none" spc="-3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it</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is frequently</a:t>
              </a:r>
              <a:r>
                <a:rPr kumimoji="0" lang="en-US" sz="1100" b="0" i="0" u="none" strike="noStrike" kern="1200" cap="none" spc="-2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higher</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in</a:t>
              </a:r>
              <a:r>
                <a:rPr kumimoji="0" lang="en-US" sz="1100" b="0" i="0" u="none" strike="noStrike" kern="1200" cap="none" spc="-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women.</a:t>
              </a:r>
              <a:r>
                <a:rPr kumimoji="0" lang="en-US" sz="1100" b="0" i="0" u="none" strike="noStrike" kern="1200" cap="none" spc="0" normalizeH="0" baseline="24305" noProof="0" dirty="0">
                  <a:ln>
                    <a:noFill/>
                  </a:ln>
                  <a:solidFill>
                    <a:srgbClr val="000000"/>
                  </a:solidFill>
                  <a:effectLst/>
                  <a:uLnTx/>
                  <a:uFillTx/>
                  <a:latin typeface="Arial"/>
                  <a:ea typeface="+mn-ea"/>
                  <a:cs typeface="Arial"/>
                </a:rPr>
                <a:t>1,4,5</a:t>
              </a:r>
            </a:p>
          </p:txBody>
        </p:sp>
        <p:sp>
          <p:nvSpPr>
            <p:cNvPr id="249" name="object 6">
              <a:extLst>
                <a:ext uri="{FF2B5EF4-FFF2-40B4-BE49-F238E27FC236}">
                  <a16:creationId xmlns:a16="http://schemas.microsoft.com/office/drawing/2014/main" id="{16ACE05D-5560-3065-678A-9A98D7BA6F55}"/>
                </a:ext>
              </a:extLst>
            </p:cNvPr>
            <p:cNvSpPr txBox="1">
              <a:spLocks/>
            </p:cNvSpPr>
            <p:nvPr/>
          </p:nvSpPr>
          <p:spPr>
            <a:xfrm>
              <a:off x="374301" y="3542479"/>
              <a:ext cx="11457432" cy="536480"/>
            </a:xfrm>
            <a:prstGeom prst="rect">
              <a:avLst/>
            </a:prstGeom>
            <a:noFill/>
            <a:ln w="12700">
              <a:noFill/>
            </a:ln>
          </p:spPr>
          <p:txBody>
            <a:bodyPr vert="horz" wrap="square" lIns="731520" tIns="45720" rIns="45720" bIns="45720" rtlCol="0" anchor="ctr" anchorCtr="0">
              <a:noAutofit/>
            </a:bodyPr>
            <a:lstStyle/>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FFC709">
                      <a:lumMod val="75000"/>
                    </a:srgbClr>
                  </a:solidFill>
                  <a:effectLst/>
                  <a:uLnTx/>
                  <a:uFillTx/>
                  <a:latin typeface="Arial"/>
                  <a:ea typeface="+mn-ea"/>
                  <a:cs typeface="Arial"/>
                </a:rPr>
                <a:t>Airway hyper-responsiveness</a:t>
              </a:r>
            </a:p>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Airway hyper-responsiveness accounts </a:t>
              </a:r>
              <a:r>
                <a:rPr kumimoji="0" lang="en-US" sz="1100" b="0" i="0" u="none" strike="noStrike" kern="1200" cap="none" spc="0" normalizeH="0" baseline="0" noProof="0" dirty="0">
                  <a:ln>
                    <a:noFill/>
                  </a:ln>
                  <a:solidFill>
                    <a:srgbClr val="000000"/>
                  </a:solidFill>
                  <a:effectLst/>
                  <a:uLnTx/>
                  <a:uFillTx/>
                  <a:latin typeface="Arial"/>
                  <a:ea typeface="+mn-ea"/>
                  <a:cs typeface="Arial"/>
                </a:rPr>
                <a:t>for </a:t>
              </a:r>
              <a:r>
                <a:rPr kumimoji="0" lang="en-US" sz="1100" b="0" i="0" u="none" strike="noStrike" kern="1200" cap="none" spc="-5" normalizeH="0" baseline="0" noProof="0" dirty="0">
                  <a:ln>
                    <a:noFill/>
                  </a:ln>
                  <a:solidFill>
                    <a:srgbClr val="000000"/>
                  </a:solidFill>
                  <a:effectLst/>
                  <a:uLnTx/>
                  <a:uFillTx/>
                  <a:latin typeface="Arial"/>
                  <a:ea typeface="+mn-ea"/>
                  <a:cs typeface="Arial"/>
                </a:rPr>
                <a:t>15% </a:t>
              </a:r>
              <a:r>
                <a:rPr kumimoji="0" lang="en-US" sz="1100" b="0" i="0" u="none" strike="noStrike" kern="1200" cap="none" spc="0" normalizeH="0" baseline="0" noProof="0" dirty="0">
                  <a:ln>
                    <a:noFill/>
                  </a:ln>
                  <a:solidFill>
                    <a:srgbClr val="000000"/>
                  </a:solidFill>
                  <a:effectLst/>
                  <a:uLnTx/>
                  <a:uFillTx/>
                  <a:latin typeface="Arial"/>
                  <a:ea typeface="+mn-ea"/>
                  <a:cs typeface="Arial"/>
                </a:rPr>
                <a:t>of </a:t>
              </a:r>
              <a:r>
                <a:rPr kumimoji="0" lang="en-US" sz="1100" b="0" i="0" u="none" strike="noStrike" kern="1200" cap="none" spc="-5" normalizeH="0" baseline="0" noProof="0" dirty="0">
                  <a:ln>
                    <a:noFill/>
                  </a:ln>
                  <a:solidFill>
                    <a:srgbClr val="000000"/>
                  </a:solidFill>
                  <a:effectLst/>
                  <a:uLnTx/>
                  <a:uFillTx/>
                  <a:latin typeface="Arial"/>
                  <a:ea typeface="+mn-ea"/>
                  <a:cs typeface="Arial"/>
                </a:rPr>
                <a:t>attributable risk and </a:t>
              </a:r>
              <a:r>
                <a:rPr kumimoji="0" lang="en-US" sz="1100" b="0" i="0" u="none" strike="noStrike" kern="1200" cap="none" spc="0" normalizeH="0" baseline="0" noProof="0" dirty="0">
                  <a:ln>
                    <a:noFill/>
                  </a:ln>
                  <a:solidFill>
                    <a:srgbClr val="000000"/>
                  </a:solidFill>
                  <a:effectLst/>
                  <a:uLnTx/>
                  <a:uFillTx/>
                  <a:latin typeface="Arial"/>
                  <a:ea typeface="+mn-ea"/>
                  <a:cs typeface="Arial"/>
                </a:rPr>
                <a:t>leads to </a:t>
              </a:r>
              <a:r>
                <a:rPr kumimoji="0" lang="en-US" sz="1100" b="0" i="0" u="none" strike="noStrike" kern="1200" cap="none" spc="-5" normalizeH="0" baseline="0" noProof="0" dirty="0">
                  <a:ln>
                    <a:noFill/>
                  </a:ln>
                  <a:solidFill>
                    <a:srgbClr val="000000"/>
                  </a:solidFill>
                  <a:effectLst/>
                  <a:uLnTx/>
                  <a:uFillTx/>
                  <a:latin typeface="Arial"/>
                  <a:ea typeface="+mn-ea"/>
                  <a:cs typeface="Arial"/>
                </a:rPr>
                <a:t>reduction</a:t>
              </a:r>
              <a:r>
                <a:rPr kumimoji="0" lang="en-US" sz="1100" b="0" i="0" u="none" strike="noStrike" kern="1200" cap="none" spc="-50" normalizeH="0" baseline="0" noProof="0" dirty="0">
                  <a:ln>
                    <a:noFill/>
                  </a:ln>
                  <a:solidFill>
                    <a:srgbClr val="000000"/>
                  </a:solidFill>
                  <a:effectLst/>
                  <a:uLnTx/>
                  <a:uFillTx/>
                  <a:latin typeface="Arial"/>
                  <a:ea typeface="+mn-ea"/>
                  <a:cs typeface="Arial"/>
                </a:rPr>
                <a:t> in</a:t>
              </a:r>
              <a:r>
                <a:rPr kumimoji="0" lang="en-US" sz="1100" b="0" i="0" u="none" strike="noStrike" kern="1200" cap="none" spc="0" normalizeH="0" baseline="0" noProof="0" dirty="0">
                  <a:ln>
                    <a:noFill/>
                  </a:ln>
                  <a:solidFill>
                    <a:srgbClr val="000000"/>
                  </a:solidFill>
                  <a:effectLst/>
                  <a:uLnTx/>
                  <a:uFillTx/>
                  <a:latin typeface="Arial"/>
                  <a:ea typeface="+mn-ea"/>
                  <a:cs typeface="Arial"/>
                </a:rPr>
                <a:t> FEV</a:t>
              </a:r>
              <a:r>
                <a:rPr kumimoji="0" lang="en-US" sz="1100" b="0" i="0" u="none" strike="noStrike" kern="1200" cap="none" spc="0" normalizeH="0" baseline="-20833" noProof="0" dirty="0">
                  <a:ln>
                    <a:noFill/>
                  </a:ln>
                  <a:solidFill>
                    <a:srgbClr val="000000"/>
                  </a:solidFill>
                  <a:effectLst/>
                  <a:uLnTx/>
                  <a:uFillTx/>
                  <a:latin typeface="Arial"/>
                  <a:ea typeface="+mn-ea"/>
                  <a:cs typeface="Arial"/>
                </a:rPr>
                <a:t>1</a:t>
              </a:r>
              <a:r>
                <a:rPr kumimoji="0" lang="en-US" sz="1100" b="0" i="0" u="none" strike="noStrike" kern="1200" cap="none" spc="0" normalizeH="0" baseline="0" noProof="0" dirty="0">
                  <a:ln>
                    <a:noFill/>
                  </a:ln>
                  <a:solidFill>
                    <a:srgbClr val="000000"/>
                  </a:solidFill>
                  <a:effectLst/>
                  <a:uLnTx/>
                  <a:uFillTx/>
                  <a:latin typeface="Arial"/>
                  <a:ea typeface="+mn-ea"/>
                  <a:cs typeface="Arial"/>
                </a:rPr>
                <a:t>.</a:t>
              </a:r>
              <a:r>
                <a:rPr kumimoji="0" lang="en-US" sz="1100" b="0" i="0" u="none" strike="noStrike" kern="1200" cap="none" spc="0" normalizeH="0" baseline="30000" noProof="0" dirty="0">
                  <a:ln>
                    <a:noFill/>
                  </a:ln>
                  <a:solidFill>
                    <a:srgbClr val="000000"/>
                  </a:solidFill>
                  <a:effectLst/>
                  <a:uLnTx/>
                  <a:uFillTx/>
                  <a:latin typeface="Arial"/>
                  <a:ea typeface="+mn-ea"/>
                  <a:cs typeface="Arial"/>
                </a:rPr>
                <a:t>5</a:t>
              </a:r>
            </a:p>
          </p:txBody>
        </p:sp>
        <p:sp>
          <p:nvSpPr>
            <p:cNvPr id="250" name="object 6">
              <a:extLst>
                <a:ext uri="{FF2B5EF4-FFF2-40B4-BE49-F238E27FC236}">
                  <a16:creationId xmlns:a16="http://schemas.microsoft.com/office/drawing/2014/main" id="{4AE8FC8F-2809-E663-EF8E-70F0F124DD88}"/>
                </a:ext>
              </a:extLst>
            </p:cNvPr>
            <p:cNvSpPr txBox="1">
              <a:spLocks/>
            </p:cNvSpPr>
            <p:nvPr/>
          </p:nvSpPr>
          <p:spPr>
            <a:xfrm>
              <a:off x="374301" y="4139917"/>
              <a:ext cx="11457432" cy="536480"/>
            </a:xfrm>
            <a:prstGeom prst="rect">
              <a:avLst/>
            </a:prstGeom>
            <a:noFill/>
            <a:ln w="12700">
              <a:noFill/>
            </a:ln>
          </p:spPr>
          <p:txBody>
            <a:bodyPr vert="horz" wrap="square" lIns="731520" tIns="45720" rIns="45720" bIns="45720" rtlCol="0" anchor="ctr" anchorCtr="0">
              <a:noAutofit/>
            </a:bodyPr>
            <a:lstStyle/>
            <a:p>
              <a:pPr marL="0" marR="36576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DC4133"/>
                  </a:solidFill>
                  <a:effectLst/>
                  <a:uLnTx/>
                  <a:uFillTx/>
                  <a:latin typeface="Arial"/>
                  <a:ea typeface="+mn-ea"/>
                  <a:cs typeface="Arial"/>
                </a:rPr>
                <a:t>Air pollution</a:t>
              </a:r>
            </a:p>
            <a:p>
              <a:pPr marL="0" marR="36576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Air</a:t>
              </a:r>
              <a:r>
                <a:rPr kumimoji="0" lang="en-US" sz="1100" b="0" i="0" u="none" strike="noStrike" kern="1200" cap="none" spc="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pollution</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is</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associated</a:t>
              </a:r>
              <a:r>
                <a:rPr kumimoji="0" lang="en-US" sz="1100" b="0" i="0" u="none" strike="noStrike" kern="1200" cap="none" spc="-2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with</a:t>
              </a:r>
              <a:r>
                <a:rPr kumimoji="0" lang="en-US" sz="1100" b="0" i="0" u="none" strike="noStrike" kern="1200" cap="none" spc="2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increased</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respiratory </a:t>
              </a:r>
              <a:r>
                <a:rPr kumimoji="0" lang="en-US" sz="1100" b="0" i="0" u="none" strike="noStrike" kern="1200" cap="none" spc="0" normalizeH="0" baseline="0" noProof="0" dirty="0">
                  <a:ln>
                    <a:noFill/>
                  </a:ln>
                  <a:solidFill>
                    <a:srgbClr val="000000"/>
                  </a:solidFill>
                  <a:effectLst/>
                  <a:uLnTx/>
                  <a:uFillTx/>
                  <a:latin typeface="Arial"/>
                  <a:ea typeface="+mn-ea"/>
                  <a:cs typeface="Arial"/>
                </a:rPr>
                <a:t>symptoms</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and</a:t>
              </a:r>
              <a:r>
                <a:rPr kumimoji="0" lang="en-US" sz="1100" b="0" i="0" u="none" strike="noStrike" kern="1200" cap="none" spc="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hospital admissions</a:t>
              </a:r>
              <a:r>
                <a:rPr kumimoji="0" lang="en-US" sz="1100" b="0" i="0" u="none" strike="noStrike" kern="1200" cap="none" spc="-3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in</a:t>
              </a:r>
              <a:r>
                <a:rPr kumimoji="0" lang="en-US" sz="1100" b="0" i="0" u="none" strike="noStrike" kern="1200" cap="none" spc="-10"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patients</a:t>
              </a:r>
              <a:r>
                <a:rPr kumimoji="0" lang="en-US" sz="1100" b="0" i="0" u="none" strike="noStrike" kern="1200" cap="none" spc="-35" normalizeH="0" baseline="0" noProof="0" dirty="0">
                  <a:ln>
                    <a:noFill/>
                  </a:ln>
                  <a:solidFill>
                    <a:srgbClr val="000000"/>
                  </a:solidFill>
                  <a:effectLst/>
                  <a:uLnTx/>
                  <a:uFillTx/>
                  <a:latin typeface="Arial"/>
                  <a:ea typeface="+mn-ea"/>
                  <a:cs typeface="Arial"/>
                </a:rPr>
                <a:t> </a:t>
              </a:r>
              <a:r>
                <a:rPr kumimoji="0" lang="en-US" sz="1100" b="0" i="0" u="none" strike="noStrike" kern="1200" cap="none" spc="-5" normalizeH="0" baseline="0" noProof="0" dirty="0">
                  <a:ln>
                    <a:noFill/>
                  </a:ln>
                  <a:solidFill>
                    <a:srgbClr val="000000"/>
                  </a:solidFill>
                  <a:effectLst/>
                  <a:uLnTx/>
                  <a:uFillTx/>
                  <a:latin typeface="Arial"/>
                  <a:ea typeface="+mn-ea"/>
                  <a:cs typeface="Arial"/>
                </a:rPr>
                <a:t>with</a:t>
              </a:r>
              <a:r>
                <a:rPr kumimoji="0" lang="en-US" sz="1100" b="0" i="0" u="none" strike="noStrike" kern="1200" cap="none" spc="15"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COPD.</a:t>
              </a:r>
              <a:r>
                <a:rPr kumimoji="0" lang="en-US" sz="1100" b="0" i="0" u="none" strike="noStrike" kern="1200" cap="none" spc="0" normalizeH="0" baseline="24305" noProof="0" dirty="0">
                  <a:ln>
                    <a:noFill/>
                  </a:ln>
                  <a:solidFill>
                    <a:srgbClr val="000000"/>
                  </a:solidFill>
                  <a:effectLst/>
                  <a:uLnTx/>
                  <a:uFillTx/>
                  <a:latin typeface="Arial"/>
                  <a:ea typeface="+mn-ea"/>
                  <a:cs typeface="Arial"/>
                </a:rPr>
                <a:t>6</a:t>
              </a:r>
            </a:p>
          </p:txBody>
        </p:sp>
        <p:sp>
          <p:nvSpPr>
            <p:cNvPr id="251" name="object 6">
              <a:extLst>
                <a:ext uri="{FF2B5EF4-FFF2-40B4-BE49-F238E27FC236}">
                  <a16:creationId xmlns:a16="http://schemas.microsoft.com/office/drawing/2014/main" id="{63659694-EA65-944C-3CDE-5A3E739A0071}"/>
                </a:ext>
              </a:extLst>
            </p:cNvPr>
            <p:cNvSpPr txBox="1">
              <a:spLocks/>
            </p:cNvSpPr>
            <p:nvPr/>
          </p:nvSpPr>
          <p:spPr>
            <a:xfrm>
              <a:off x="374301" y="4747519"/>
              <a:ext cx="11457432" cy="536480"/>
            </a:xfrm>
            <a:prstGeom prst="rect">
              <a:avLst/>
            </a:prstGeom>
            <a:noFill/>
            <a:ln w="12700">
              <a:noFill/>
            </a:ln>
          </p:spPr>
          <p:txBody>
            <a:bodyPr vert="horz" wrap="square" lIns="731520" tIns="45720" rIns="45720" bIns="45720" rtlCol="0" anchor="ctr" anchorCtr="0">
              <a:noAutofit/>
            </a:bodyPr>
            <a:lstStyle/>
            <a:p>
              <a:pPr marL="0" marR="73660" lvl="0" indent="0" algn="just"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959595"/>
                  </a:solidFill>
                  <a:effectLst/>
                  <a:uLnTx/>
                  <a:uFillTx/>
                  <a:latin typeface="Arial"/>
                  <a:ea typeface="+mn-ea"/>
                  <a:cs typeface="Arial"/>
                </a:rPr>
                <a:t>Genetics</a:t>
              </a:r>
            </a:p>
            <a:p>
              <a:pPr marL="0" marR="73660" lvl="0" indent="0" algn="just"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Severe hereditary deficiency </a:t>
              </a:r>
              <a:r>
                <a:rPr kumimoji="0" lang="en-US" sz="1100" b="0" i="0" u="none" strike="noStrike" kern="1200" cap="none" spc="0" normalizeH="0" baseline="0" noProof="0" dirty="0">
                  <a:ln>
                    <a:noFill/>
                  </a:ln>
                  <a:solidFill>
                    <a:srgbClr val="000000"/>
                  </a:solidFill>
                  <a:effectLst/>
                  <a:uLnTx/>
                  <a:uFillTx/>
                  <a:latin typeface="Arial"/>
                  <a:ea typeface="+mn-ea"/>
                  <a:cs typeface="Arial"/>
                </a:rPr>
                <a:t>of the </a:t>
              </a:r>
              <a:r>
                <a:rPr kumimoji="0" lang="en-US" sz="1100" b="0" i="0" u="none" strike="noStrike" kern="1200" cap="none" spc="-5" normalizeH="0" baseline="0" noProof="0" dirty="0">
                  <a:ln>
                    <a:noFill/>
                  </a:ln>
                  <a:solidFill>
                    <a:srgbClr val="000000"/>
                  </a:solidFill>
                  <a:effectLst/>
                  <a:uLnTx/>
                  <a:uFillTx/>
                  <a:latin typeface="Arial"/>
                  <a:ea typeface="+mn-ea"/>
                  <a:cs typeface="Arial"/>
                </a:rPr>
                <a:t>protective enzyme </a:t>
              </a:r>
              <a:r>
                <a:rPr kumimoji="0" lang="en-US" sz="1100" b="0" i="0" u="none" strike="noStrike" kern="1200" cap="none" spc="0" normalizeH="0" baseline="0" noProof="0" dirty="0">
                  <a:ln>
                    <a:noFill/>
                  </a:ln>
                  <a:solidFill>
                    <a:srgbClr val="000000"/>
                  </a:solidFill>
                  <a:effectLst/>
                  <a:uLnTx/>
                  <a:uFillTx/>
                  <a:latin typeface="Arial"/>
                  <a:ea typeface="+mn-ea"/>
                  <a:cs typeface="Arial"/>
                </a:rPr>
                <a:t>inhibitor </a:t>
              </a:r>
              <a:r>
                <a:rPr kumimoji="0" lang="en-US" sz="1100" b="0" i="0" u="none" strike="noStrike" kern="1200" cap="none" spc="-20" normalizeH="0" baseline="0" noProof="0" dirty="0">
                  <a:ln>
                    <a:noFill/>
                  </a:ln>
                  <a:solidFill>
                    <a:srgbClr val="000000"/>
                  </a:solidFill>
                  <a:effectLst/>
                  <a:uLnTx/>
                  <a:uFillTx/>
                  <a:latin typeface="Arial"/>
                  <a:ea typeface="+mn-ea"/>
                  <a:cs typeface="Arial"/>
                </a:rPr>
                <a:t>AATD </a:t>
              </a:r>
              <a:r>
                <a:rPr kumimoji="0" lang="en-US" sz="1100" b="0" i="0" u="none" strike="noStrike" kern="1200" cap="none" spc="-5" normalizeH="0" baseline="0" noProof="0" dirty="0">
                  <a:ln>
                    <a:noFill/>
                  </a:ln>
                  <a:solidFill>
                    <a:srgbClr val="000000"/>
                  </a:solidFill>
                  <a:effectLst/>
                  <a:uLnTx/>
                  <a:uFillTx/>
                  <a:latin typeface="Arial"/>
                  <a:ea typeface="+mn-ea"/>
                  <a:cs typeface="Arial"/>
                </a:rPr>
                <a:t>is known as a genetic risk </a:t>
              </a:r>
              <a:r>
                <a:rPr kumimoji="0" lang="en-US" sz="1100" b="0" i="0" u="none" strike="noStrike" kern="1200" cap="none" spc="0" normalizeH="0" baseline="0" noProof="0" dirty="0">
                  <a:ln>
                    <a:noFill/>
                  </a:ln>
                  <a:solidFill>
                    <a:srgbClr val="000000"/>
                  </a:solidFill>
                  <a:effectLst/>
                  <a:uLnTx/>
                  <a:uFillTx/>
                  <a:latin typeface="Arial"/>
                  <a:ea typeface="+mn-ea"/>
                  <a:cs typeface="Arial"/>
                </a:rPr>
                <a:t>factor for COPD; </a:t>
              </a:r>
              <a:r>
                <a:rPr kumimoji="0" lang="en-US" sz="1100" b="0" i="0" u="none" strike="noStrike" kern="1200" cap="none" spc="-15" normalizeH="0" baseline="0" noProof="0" dirty="0">
                  <a:ln>
                    <a:noFill/>
                  </a:ln>
                  <a:solidFill>
                    <a:srgbClr val="000000"/>
                  </a:solidFill>
                  <a:effectLst/>
                  <a:uLnTx/>
                  <a:uFillTx/>
                  <a:latin typeface="Arial"/>
                  <a:ea typeface="+mn-ea"/>
                  <a:cs typeface="Arial"/>
                </a:rPr>
                <a:t>however, </a:t>
              </a:r>
              <a:r>
                <a:rPr kumimoji="0" lang="en-US" sz="1100" b="0" i="0" u="none" strike="noStrike" kern="1200" cap="none" spc="0" normalizeH="0" baseline="0" noProof="0" dirty="0">
                  <a:ln>
                    <a:noFill/>
                  </a:ln>
                  <a:solidFill>
                    <a:srgbClr val="000000"/>
                  </a:solidFill>
                  <a:effectLst/>
                  <a:uLnTx/>
                  <a:uFillTx/>
                  <a:latin typeface="Arial"/>
                  <a:ea typeface="+mn-ea"/>
                  <a:cs typeface="Arial"/>
                </a:rPr>
                <a:t>other </a:t>
              </a:r>
              <a:r>
                <a:rPr kumimoji="0" lang="en-US" sz="1100" b="0" i="0" u="none" strike="noStrike" kern="1200" cap="none" spc="-5" normalizeH="0" baseline="0" noProof="0" dirty="0">
                  <a:ln>
                    <a:noFill/>
                  </a:ln>
                  <a:solidFill>
                    <a:srgbClr val="000000"/>
                  </a:solidFill>
                  <a:effectLst/>
                  <a:uLnTx/>
                  <a:uFillTx/>
                  <a:latin typeface="Arial"/>
                  <a:ea typeface="+mn-ea"/>
                  <a:cs typeface="Arial"/>
                </a:rPr>
                <a:t>genetic risk </a:t>
              </a:r>
              <a:r>
                <a:rPr kumimoji="0" lang="en-US" sz="1100" b="0" i="0" u="none" strike="noStrike" kern="1200" cap="none" spc="0" normalizeH="0" baseline="0" noProof="0" dirty="0">
                  <a:ln>
                    <a:noFill/>
                  </a:ln>
                  <a:solidFill>
                    <a:srgbClr val="000000"/>
                  </a:solidFill>
                  <a:effectLst/>
                  <a:uLnTx/>
                  <a:uFillTx/>
                  <a:latin typeface="Arial"/>
                  <a:ea typeface="+mn-ea"/>
                  <a:cs typeface="Arial"/>
                </a:rPr>
                <a:t>factors </a:t>
              </a:r>
              <a:r>
                <a:rPr kumimoji="0" lang="en-US" sz="1100" b="0" i="0" u="none" strike="noStrike" kern="1200" cap="none" spc="-5" normalizeH="0" baseline="0" noProof="0" dirty="0">
                  <a:ln>
                    <a:noFill/>
                  </a:ln>
                  <a:solidFill>
                    <a:srgbClr val="000000"/>
                  </a:solidFill>
                  <a:effectLst/>
                  <a:uLnTx/>
                  <a:uFillTx/>
                  <a:latin typeface="Arial"/>
                  <a:ea typeface="+mn-ea"/>
                  <a:cs typeface="Arial"/>
                </a:rPr>
                <a:t>have also been identified.</a:t>
              </a:r>
              <a:r>
                <a:rPr kumimoji="0" lang="en-US" sz="1100" b="0" i="0" u="none" strike="noStrike" kern="1200" cap="none" spc="-7" normalizeH="0" baseline="24305" noProof="0" dirty="0">
                  <a:ln>
                    <a:noFill/>
                  </a:ln>
                  <a:solidFill>
                    <a:srgbClr val="000000"/>
                  </a:solidFill>
                  <a:effectLst/>
                  <a:uLnTx/>
                  <a:uFillTx/>
                  <a:latin typeface="Arial"/>
                  <a:ea typeface="+mn-ea"/>
                  <a:cs typeface="Arial"/>
                </a:rPr>
                <a:t>5</a:t>
              </a:r>
              <a:endParaRPr kumimoji="0" lang="en-US" sz="1100" b="0" i="0" u="none" strike="noStrike" kern="1200" cap="none" spc="0" normalizeH="0" baseline="24305" noProof="0" dirty="0">
                <a:ln>
                  <a:noFill/>
                </a:ln>
                <a:solidFill>
                  <a:srgbClr val="000000"/>
                </a:solidFill>
                <a:effectLst/>
                <a:uLnTx/>
                <a:uFillTx/>
                <a:latin typeface="Arial"/>
                <a:ea typeface="+mn-ea"/>
                <a:cs typeface="Arial"/>
              </a:endParaRPr>
            </a:p>
          </p:txBody>
        </p:sp>
        <p:cxnSp>
          <p:nvCxnSpPr>
            <p:cNvPr id="152" name="Straight Connector 151">
              <a:extLst>
                <a:ext uri="{FF2B5EF4-FFF2-40B4-BE49-F238E27FC236}">
                  <a16:creationId xmlns:a16="http://schemas.microsoft.com/office/drawing/2014/main" id="{BA6EC254-25FA-C642-4C4B-5F57EE8F1D69}"/>
                </a:ext>
              </a:extLst>
            </p:cNvPr>
            <p:cNvCxnSpPr>
              <a:cxnSpLocks/>
            </p:cNvCxnSpPr>
            <p:nvPr/>
          </p:nvCxnSpPr>
          <p:spPr>
            <a:xfrm>
              <a:off x="374301" y="1673966"/>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4" name="Straight Connector 153">
              <a:extLst>
                <a:ext uri="{FF2B5EF4-FFF2-40B4-BE49-F238E27FC236}">
                  <a16:creationId xmlns:a16="http://schemas.microsoft.com/office/drawing/2014/main" id="{C9A577D0-6370-3D21-DD3E-CD64BB33E145}"/>
                </a:ext>
              </a:extLst>
            </p:cNvPr>
            <p:cNvCxnSpPr>
              <a:cxnSpLocks/>
            </p:cNvCxnSpPr>
            <p:nvPr/>
          </p:nvCxnSpPr>
          <p:spPr>
            <a:xfrm>
              <a:off x="374301" y="2281564"/>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5" name="Straight Connector 154">
              <a:extLst>
                <a:ext uri="{FF2B5EF4-FFF2-40B4-BE49-F238E27FC236}">
                  <a16:creationId xmlns:a16="http://schemas.microsoft.com/office/drawing/2014/main" id="{D7A14A91-4E02-C1DF-3628-E9EA0E5CFBCE}"/>
                </a:ext>
              </a:extLst>
            </p:cNvPr>
            <p:cNvCxnSpPr>
              <a:cxnSpLocks/>
            </p:cNvCxnSpPr>
            <p:nvPr/>
          </p:nvCxnSpPr>
          <p:spPr>
            <a:xfrm>
              <a:off x="374301" y="2889162"/>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6" name="Straight Connector 155">
              <a:extLst>
                <a:ext uri="{FF2B5EF4-FFF2-40B4-BE49-F238E27FC236}">
                  <a16:creationId xmlns:a16="http://schemas.microsoft.com/office/drawing/2014/main" id="{52227029-5516-62B7-E9CA-A219324153C9}"/>
                </a:ext>
              </a:extLst>
            </p:cNvPr>
            <p:cNvCxnSpPr>
              <a:cxnSpLocks/>
            </p:cNvCxnSpPr>
            <p:nvPr/>
          </p:nvCxnSpPr>
          <p:spPr>
            <a:xfrm>
              <a:off x="374301" y="3496760"/>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9" name="Straight Connector 158">
              <a:extLst>
                <a:ext uri="{FF2B5EF4-FFF2-40B4-BE49-F238E27FC236}">
                  <a16:creationId xmlns:a16="http://schemas.microsoft.com/office/drawing/2014/main" id="{83EC58B3-35A4-AAB9-A4F3-29428030209F}"/>
                </a:ext>
              </a:extLst>
            </p:cNvPr>
            <p:cNvCxnSpPr>
              <a:cxnSpLocks/>
            </p:cNvCxnSpPr>
            <p:nvPr/>
          </p:nvCxnSpPr>
          <p:spPr>
            <a:xfrm>
              <a:off x="374301" y="4104358"/>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60" name="Straight Connector 159">
              <a:extLst>
                <a:ext uri="{FF2B5EF4-FFF2-40B4-BE49-F238E27FC236}">
                  <a16:creationId xmlns:a16="http://schemas.microsoft.com/office/drawing/2014/main" id="{67765264-6048-8A83-68A9-C43219362A28}"/>
                </a:ext>
              </a:extLst>
            </p:cNvPr>
            <p:cNvCxnSpPr>
              <a:cxnSpLocks/>
            </p:cNvCxnSpPr>
            <p:nvPr/>
          </p:nvCxnSpPr>
          <p:spPr>
            <a:xfrm>
              <a:off x="374301" y="4711956"/>
              <a:ext cx="11457432" cy="0"/>
            </a:xfrm>
            <a:prstGeom prst="line">
              <a:avLst/>
            </a:prstGeom>
            <a:ln w="9525" cap="rnd">
              <a:solidFill>
                <a:schemeClr val="bg2"/>
              </a:solidFill>
              <a:prstDash val="dash"/>
            </a:ln>
          </p:spPr>
          <p:style>
            <a:lnRef idx="1">
              <a:schemeClr val="accent1"/>
            </a:lnRef>
            <a:fillRef idx="0">
              <a:schemeClr val="accent1"/>
            </a:fillRef>
            <a:effectRef idx="0">
              <a:schemeClr val="accent1"/>
            </a:effectRef>
            <a:fontRef idx="minor">
              <a:schemeClr val="tx1"/>
            </a:fontRef>
          </p:style>
        </p:cxnSp>
      </p:grpSp>
    </p:spTree>
    <p:custDataLst>
      <p:tags r:id="rId1"/>
    </p:custDataLst>
    <p:extLst>
      <p:ext uri="{BB962C8B-B14F-4D97-AF65-F5344CB8AC3E}">
        <p14:creationId xmlns:p14="http://schemas.microsoft.com/office/powerpoint/2010/main" val="3507236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endParaRPr lang="en-US" dirty="0"/>
          </a:p>
          <a:p>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3">
                  <a:extLst>
                    <a:ext uri="{A12FA001-AC4F-418D-AE19-62706E023703}">
                      <ahyp:hlinkClr xmlns:ahyp="http://schemas.microsoft.com/office/drawing/2018/hyperlinkcolor" val="tx"/>
                    </a:ext>
                  </a:extLst>
                </a:hlinkClick>
              </a:rPr>
              <a:t>https://goldcopd.org/2023-gold-report-2/</a:t>
            </a:r>
            <a:r>
              <a:rPr lang="en-US" dirty="0"/>
              <a:t>. Accessed February 2023; 2. CDC. Basics About COPD. </a:t>
            </a:r>
            <a:r>
              <a:rPr lang="en-US" dirty="0">
                <a:solidFill>
                  <a:schemeClr val="tx2"/>
                </a:solidFill>
                <a:hlinkClick r:id="rId4">
                  <a:extLst>
                    <a:ext uri="{A12FA001-AC4F-418D-AE19-62706E023703}">
                      <ahyp:hlinkClr xmlns:ahyp="http://schemas.microsoft.com/office/drawing/2018/hyperlinkcolor" val="tx"/>
                    </a:ext>
                  </a:extLst>
                </a:hlinkClick>
              </a:rPr>
              <a:t>https://www.cdc.gov/copd/basics-about.html</a:t>
            </a:r>
            <a:r>
              <a:rPr lang="en-US" dirty="0"/>
              <a:t>. Accessed February  2023. </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US" dirty="0"/>
              <a:t>COPD is a leading cause of morbidity and mortality</a:t>
            </a:r>
            <a:endParaRPr lang="en-GB" baseline="30000" dirty="0"/>
          </a:p>
        </p:txBody>
      </p:sp>
      <p:sp>
        <p:nvSpPr>
          <p:cNvPr id="5" name="Subtitle 4">
            <a:extLst>
              <a:ext uri="{FF2B5EF4-FFF2-40B4-BE49-F238E27FC236}">
                <a16:creationId xmlns:a16="http://schemas.microsoft.com/office/drawing/2014/main" id="{F956255C-1A2C-A4B6-9283-6AE0EB734377}"/>
              </a:ext>
            </a:extLst>
          </p:cNvPr>
          <p:cNvSpPr>
            <a:spLocks noGrp="1"/>
          </p:cNvSpPr>
          <p:nvPr>
            <p:ph type="subTitle" idx="1"/>
          </p:nvPr>
        </p:nvSpPr>
        <p:spPr>
          <a:xfrm>
            <a:off x="365125" y="694950"/>
            <a:ext cx="11460164" cy="352800"/>
          </a:xfrm>
        </p:spPr>
        <p:txBody>
          <a:bodyPr/>
          <a:lstStyle/>
          <a:p>
            <a:endParaRPr lang="en-GB" dirty="0"/>
          </a:p>
        </p:txBody>
      </p:sp>
      <p:sp>
        <p:nvSpPr>
          <p:cNvPr id="7" name="object 6">
            <a:extLst>
              <a:ext uri="{FF2B5EF4-FFF2-40B4-BE49-F238E27FC236}">
                <a16:creationId xmlns:a16="http://schemas.microsoft.com/office/drawing/2014/main" id="{7C810635-950E-FF61-3300-744DCAEFF1F9}"/>
              </a:ext>
            </a:extLst>
          </p:cNvPr>
          <p:cNvSpPr txBox="1">
            <a:spLocks/>
          </p:cNvSpPr>
          <p:nvPr/>
        </p:nvSpPr>
        <p:spPr>
          <a:xfrm>
            <a:off x="365125" y="3522445"/>
            <a:ext cx="5602288" cy="1771868"/>
          </a:xfrm>
          <a:prstGeom prst="rect">
            <a:avLst/>
          </a:prstGeom>
          <a:solidFill>
            <a:schemeClr val="tx2">
              <a:lumMod val="20000"/>
              <a:lumOff val="80000"/>
            </a:schemeClr>
          </a:solidFill>
          <a:ln w="12700">
            <a:noFill/>
          </a:ln>
        </p:spPr>
        <p:txBody>
          <a:bodyPr vert="horz" wrap="square" lIns="45720" tIns="45720" rIns="45720" bIns="45720" rtlCol="0" anchor="ctr" anchorCtr="0">
            <a:noAutofit/>
          </a:bodyPr>
          <a:lstStyle/>
          <a:p>
            <a:pPr marL="901065" marR="192405" lvl="0" indent="0" algn="l" defTabSz="1219170" rtl="0" eaLnBrk="1" fontAlgn="auto" latinLnBrk="0" hangingPunct="1">
              <a:lnSpc>
                <a:spcPct val="100000"/>
              </a:lnSpc>
              <a:spcBef>
                <a:spcPts val="93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Arial"/>
              </a:rPr>
              <a:t>Although COPD databases for morbidity outcome measures are less readily available and usually less reliable than mortality databases, data indicate that </a:t>
            </a:r>
            <a:r>
              <a:rPr kumimoji="0" lang="en-US" sz="1600" b="1" i="0" u="none" strike="noStrike" kern="1200" cap="none" spc="0" normalizeH="0" baseline="0" noProof="0" dirty="0">
                <a:ln>
                  <a:noFill/>
                </a:ln>
                <a:solidFill>
                  <a:srgbClr val="F36633"/>
                </a:solidFill>
                <a:effectLst/>
                <a:uLnTx/>
                <a:uFillTx/>
                <a:latin typeface="Arial"/>
                <a:ea typeface="+mn-ea"/>
                <a:cs typeface="Arial"/>
              </a:rPr>
              <a:t>morbidity due to COPD increases with age</a:t>
            </a:r>
            <a:r>
              <a:rPr kumimoji="0" lang="en-US" sz="1600" b="1" i="0" u="none" strike="noStrike" kern="1200" cap="none" spc="0" normalizeH="0" baseline="30000" noProof="0" dirty="0">
                <a:ln>
                  <a:noFill/>
                </a:ln>
                <a:solidFill>
                  <a:srgbClr val="F36633"/>
                </a:solidFill>
                <a:effectLst/>
                <a:uLnTx/>
                <a:uFillTx/>
                <a:latin typeface="Arial"/>
                <a:ea typeface="+mn-ea"/>
                <a:cs typeface="Arial"/>
              </a:rPr>
              <a:t>1</a:t>
            </a:r>
            <a:endParaRPr kumimoji="0" lang="en-US" sz="1600" b="0" i="0" u="none" strike="noStrike" kern="1200" cap="none" spc="0" normalizeH="0" baseline="30000" noProof="0" dirty="0">
              <a:ln>
                <a:noFill/>
              </a:ln>
              <a:solidFill>
                <a:srgbClr val="F36633"/>
              </a:solidFill>
              <a:effectLst/>
              <a:uLnTx/>
              <a:uFillTx/>
              <a:latin typeface="Arial"/>
              <a:ea typeface="+mn-ea"/>
              <a:cs typeface="Arial"/>
            </a:endParaRPr>
          </a:p>
        </p:txBody>
      </p:sp>
      <p:sp>
        <p:nvSpPr>
          <p:cNvPr id="8" name="object 6">
            <a:extLst>
              <a:ext uri="{FF2B5EF4-FFF2-40B4-BE49-F238E27FC236}">
                <a16:creationId xmlns:a16="http://schemas.microsoft.com/office/drawing/2014/main" id="{0E8BEFBD-B175-ABE5-6E5A-46856AF123FD}"/>
              </a:ext>
            </a:extLst>
          </p:cNvPr>
          <p:cNvSpPr txBox="1">
            <a:spLocks/>
          </p:cNvSpPr>
          <p:nvPr/>
        </p:nvSpPr>
        <p:spPr>
          <a:xfrm>
            <a:off x="6223001" y="3522445"/>
            <a:ext cx="5602288" cy="1771868"/>
          </a:xfrm>
          <a:prstGeom prst="rect">
            <a:avLst/>
          </a:prstGeom>
          <a:solidFill>
            <a:schemeClr val="tx2">
              <a:lumMod val="20000"/>
              <a:lumOff val="80000"/>
            </a:schemeClr>
          </a:solidFill>
          <a:ln w="12700">
            <a:noFill/>
          </a:ln>
        </p:spPr>
        <p:txBody>
          <a:bodyPr vert="horz" wrap="square" lIns="45720" tIns="45720" rIns="45720" bIns="45720" rtlCol="0" anchor="ctr" anchorCtr="0">
            <a:noAutofit/>
          </a:bodyPr>
          <a:lstStyle/>
          <a:p>
            <a:pPr marL="901065" marR="192405" lvl="0" indent="0" algn="l" defTabSz="1219170" rtl="0" eaLnBrk="1" fontAlgn="auto" latinLnBrk="0" hangingPunct="1">
              <a:lnSpc>
                <a:spcPct val="100000"/>
              </a:lnSpc>
              <a:spcBef>
                <a:spcPts val="93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Arial"/>
                <a:ea typeface="+mn-ea"/>
                <a:cs typeface="Arial"/>
              </a:rPr>
              <a:t>Morbidity from COPD may be affected by other </a:t>
            </a:r>
            <a:r>
              <a:rPr kumimoji="0" lang="en-US" sz="1600" b="1" i="0" u="none" strike="noStrike" kern="1200" cap="none" spc="0" normalizeH="0" baseline="0" noProof="0" dirty="0">
                <a:ln>
                  <a:noFill/>
                </a:ln>
                <a:solidFill>
                  <a:srgbClr val="F36633"/>
                </a:solidFill>
                <a:effectLst/>
                <a:uLnTx/>
                <a:uFillTx/>
                <a:latin typeface="Arial"/>
                <a:ea typeface="+mn-ea"/>
                <a:cs typeface="Arial"/>
              </a:rPr>
              <a:t>concomitant chronic conditions </a:t>
            </a:r>
            <a:r>
              <a:rPr kumimoji="0" lang="en-US" sz="1600" b="0" i="0" u="none" strike="noStrike" kern="1200" cap="none" spc="0" normalizeH="0" baseline="0" noProof="0" dirty="0">
                <a:ln>
                  <a:noFill/>
                </a:ln>
                <a:solidFill>
                  <a:srgbClr val="000000"/>
                </a:solidFill>
                <a:effectLst/>
                <a:uLnTx/>
                <a:uFillTx/>
                <a:latin typeface="Arial"/>
                <a:ea typeface="+mn-ea"/>
                <a:cs typeface="Arial"/>
              </a:rPr>
              <a:t>that are related to smoking, ageing and COPD</a:t>
            </a:r>
            <a:r>
              <a:rPr kumimoji="0" lang="en-US" sz="1600" b="0" i="0" u="none" strike="noStrike" kern="1200" cap="none" spc="0" normalizeH="0" baseline="30000" noProof="0" dirty="0">
                <a:ln>
                  <a:noFill/>
                </a:ln>
                <a:solidFill>
                  <a:srgbClr val="000000"/>
                </a:solidFill>
                <a:effectLst/>
                <a:uLnTx/>
                <a:uFillTx/>
                <a:latin typeface="Arial"/>
                <a:ea typeface="+mn-ea"/>
                <a:cs typeface="Arial"/>
              </a:rPr>
              <a:t>1</a:t>
            </a:r>
          </a:p>
        </p:txBody>
      </p:sp>
      <p:sp>
        <p:nvSpPr>
          <p:cNvPr id="11" name="object 20">
            <a:extLst>
              <a:ext uri="{FF2B5EF4-FFF2-40B4-BE49-F238E27FC236}">
                <a16:creationId xmlns:a16="http://schemas.microsoft.com/office/drawing/2014/main" id="{0F0B594F-87E6-5262-232B-22C83C044E3C}"/>
              </a:ext>
            </a:extLst>
          </p:cNvPr>
          <p:cNvSpPr/>
          <p:nvPr/>
        </p:nvSpPr>
        <p:spPr>
          <a:xfrm>
            <a:off x="6394340" y="3896382"/>
            <a:ext cx="631131" cy="1023995"/>
          </a:xfrm>
          <a:custGeom>
            <a:avLst/>
            <a:gdLst/>
            <a:ahLst/>
            <a:cxnLst/>
            <a:rect l="l" t="t" r="r" b="b"/>
            <a:pathLst>
              <a:path w="723264" h="1173479">
                <a:moveTo>
                  <a:pt x="374544" y="1137920"/>
                </a:moveTo>
                <a:lnTo>
                  <a:pt x="348382" y="1137920"/>
                </a:lnTo>
                <a:lnTo>
                  <a:pt x="348382" y="1143000"/>
                </a:lnTo>
                <a:lnTo>
                  <a:pt x="349075" y="1155700"/>
                </a:lnTo>
                <a:lnTo>
                  <a:pt x="351160" y="1164590"/>
                </a:lnTo>
                <a:lnTo>
                  <a:pt x="354651" y="1172210"/>
                </a:lnTo>
                <a:lnTo>
                  <a:pt x="359558" y="1173480"/>
                </a:lnTo>
                <a:lnTo>
                  <a:pt x="366668" y="1172210"/>
                </a:lnTo>
                <a:lnTo>
                  <a:pt x="371290" y="1164590"/>
                </a:lnTo>
                <a:lnTo>
                  <a:pt x="373792" y="1155700"/>
                </a:lnTo>
                <a:lnTo>
                  <a:pt x="374544" y="1143000"/>
                </a:lnTo>
                <a:lnTo>
                  <a:pt x="374544" y="1137920"/>
                </a:lnTo>
                <a:close/>
              </a:path>
              <a:path w="723264" h="1173479">
                <a:moveTo>
                  <a:pt x="460650" y="468630"/>
                </a:moveTo>
                <a:lnTo>
                  <a:pt x="262276" y="468630"/>
                </a:lnTo>
                <a:lnTo>
                  <a:pt x="249146" y="482600"/>
                </a:lnTo>
                <a:lnTo>
                  <a:pt x="238861" y="499110"/>
                </a:lnTo>
                <a:lnTo>
                  <a:pt x="232791" y="518160"/>
                </a:lnTo>
                <a:lnTo>
                  <a:pt x="232304" y="539750"/>
                </a:lnTo>
                <a:lnTo>
                  <a:pt x="240490" y="571500"/>
                </a:lnTo>
                <a:lnTo>
                  <a:pt x="261308" y="598170"/>
                </a:lnTo>
                <a:lnTo>
                  <a:pt x="289151" y="621030"/>
                </a:lnTo>
                <a:lnTo>
                  <a:pt x="318410" y="638810"/>
                </a:lnTo>
                <a:lnTo>
                  <a:pt x="314727" y="643889"/>
                </a:lnTo>
                <a:lnTo>
                  <a:pt x="307234" y="652780"/>
                </a:lnTo>
                <a:lnTo>
                  <a:pt x="303424" y="656589"/>
                </a:lnTo>
                <a:lnTo>
                  <a:pt x="293532" y="668020"/>
                </a:lnTo>
                <a:lnTo>
                  <a:pt x="286105" y="680720"/>
                </a:lnTo>
                <a:lnTo>
                  <a:pt x="280797" y="694689"/>
                </a:lnTo>
                <a:lnTo>
                  <a:pt x="277262" y="711200"/>
                </a:lnTo>
                <a:lnTo>
                  <a:pt x="278072" y="725170"/>
                </a:lnTo>
                <a:lnTo>
                  <a:pt x="280977" y="740410"/>
                </a:lnTo>
                <a:lnTo>
                  <a:pt x="286692" y="756920"/>
                </a:lnTo>
                <a:lnTo>
                  <a:pt x="295931" y="773430"/>
                </a:lnTo>
                <a:lnTo>
                  <a:pt x="302261" y="784860"/>
                </a:lnTo>
                <a:lnTo>
                  <a:pt x="309997" y="796290"/>
                </a:lnTo>
                <a:lnTo>
                  <a:pt x="319113" y="807719"/>
                </a:lnTo>
                <a:lnTo>
                  <a:pt x="329586" y="819150"/>
                </a:lnTo>
                <a:lnTo>
                  <a:pt x="304478" y="849630"/>
                </a:lnTo>
                <a:lnTo>
                  <a:pt x="294074" y="877569"/>
                </a:lnTo>
                <a:lnTo>
                  <a:pt x="294886" y="904240"/>
                </a:lnTo>
                <a:lnTo>
                  <a:pt x="303424" y="927100"/>
                </a:lnTo>
                <a:lnTo>
                  <a:pt x="309679" y="938530"/>
                </a:lnTo>
                <a:lnTo>
                  <a:pt x="316982" y="948690"/>
                </a:lnTo>
                <a:lnTo>
                  <a:pt x="333396" y="967740"/>
                </a:lnTo>
                <a:lnTo>
                  <a:pt x="325711" y="977900"/>
                </a:lnTo>
                <a:lnTo>
                  <a:pt x="319823" y="991869"/>
                </a:lnTo>
                <a:lnTo>
                  <a:pt x="316055" y="1007110"/>
                </a:lnTo>
                <a:lnTo>
                  <a:pt x="314727" y="1026160"/>
                </a:lnTo>
                <a:lnTo>
                  <a:pt x="315217" y="1046480"/>
                </a:lnTo>
                <a:lnTo>
                  <a:pt x="321696" y="1069340"/>
                </a:lnTo>
                <a:lnTo>
                  <a:pt x="333105" y="1092200"/>
                </a:lnTo>
                <a:lnTo>
                  <a:pt x="348382" y="1116330"/>
                </a:lnTo>
                <a:lnTo>
                  <a:pt x="348382" y="1134110"/>
                </a:lnTo>
                <a:lnTo>
                  <a:pt x="344572" y="1137920"/>
                </a:lnTo>
                <a:lnTo>
                  <a:pt x="344572" y="1143000"/>
                </a:lnTo>
                <a:lnTo>
                  <a:pt x="348382" y="1137920"/>
                </a:lnTo>
                <a:lnTo>
                  <a:pt x="378354" y="1137920"/>
                </a:lnTo>
                <a:lnTo>
                  <a:pt x="374544" y="1134110"/>
                </a:lnTo>
                <a:lnTo>
                  <a:pt x="374544" y="1116330"/>
                </a:lnTo>
                <a:lnTo>
                  <a:pt x="389822" y="1092200"/>
                </a:lnTo>
                <a:lnTo>
                  <a:pt x="401230" y="1069340"/>
                </a:lnTo>
                <a:lnTo>
                  <a:pt x="407709" y="1046480"/>
                </a:lnTo>
                <a:lnTo>
                  <a:pt x="408199" y="1026160"/>
                </a:lnTo>
                <a:lnTo>
                  <a:pt x="406872" y="1007110"/>
                </a:lnTo>
                <a:lnTo>
                  <a:pt x="403103" y="991869"/>
                </a:lnTo>
                <a:lnTo>
                  <a:pt x="397216" y="977900"/>
                </a:lnTo>
                <a:lnTo>
                  <a:pt x="389530" y="967740"/>
                </a:lnTo>
                <a:lnTo>
                  <a:pt x="405945" y="948690"/>
                </a:lnTo>
                <a:lnTo>
                  <a:pt x="413248" y="938530"/>
                </a:lnTo>
                <a:lnTo>
                  <a:pt x="419502" y="927100"/>
                </a:lnTo>
                <a:lnTo>
                  <a:pt x="421400" y="922019"/>
                </a:lnTo>
                <a:lnTo>
                  <a:pt x="348382" y="922019"/>
                </a:lnTo>
                <a:lnTo>
                  <a:pt x="340889" y="918210"/>
                </a:lnTo>
                <a:lnTo>
                  <a:pt x="337079" y="913130"/>
                </a:lnTo>
                <a:lnTo>
                  <a:pt x="333396" y="904240"/>
                </a:lnTo>
                <a:lnTo>
                  <a:pt x="329934" y="896619"/>
                </a:lnTo>
                <a:lnTo>
                  <a:pt x="331031" y="885190"/>
                </a:lnTo>
                <a:lnTo>
                  <a:pt x="337058" y="872490"/>
                </a:lnTo>
                <a:lnTo>
                  <a:pt x="348382" y="859790"/>
                </a:lnTo>
                <a:lnTo>
                  <a:pt x="422232" y="859790"/>
                </a:lnTo>
                <a:lnTo>
                  <a:pt x="418449" y="849630"/>
                </a:lnTo>
                <a:lnTo>
                  <a:pt x="393340" y="819150"/>
                </a:lnTo>
                <a:lnTo>
                  <a:pt x="403814" y="807719"/>
                </a:lnTo>
                <a:lnTo>
                  <a:pt x="412930" y="796290"/>
                </a:lnTo>
                <a:lnTo>
                  <a:pt x="420665" y="784860"/>
                </a:lnTo>
                <a:lnTo>
                  <a:pt x="424182" y="778510"/>
                </a:lnTo>
                <a:lnTo>
                  <a:pt x="344572" y="778510"/>
                </a:lnTo>
                <a:lnTo>
                  <a:pt x="322093" y="751839"/>
                </a:lnTo>
                <a:lnTo>
                  <a:pt x="317299" y="741680"/>
                </a:lnTo>
                <a:lnTo>
                  <a:pt x="314219" y="731520"/>
                </a:lnTo>
                <a:lnTo>
                  <a:pt x="313235" y="722630"/>
                </a:lnTo>
                <a:lnTo>
                  <a:pt x="314727" y="715010"/>
                </a:lnTo>
                <a:lnTo>
                  <a:pt x="315420" y="708660"/>
                </a:lnTo>
                <a:lnTo>
                  <a:pt x="317505" y="702310"/>
                </a:lnTo>
                <a:lnTo>
                  <a:pt x="320996" y="694689"/>
                </a:lnTo>
                <a:lnTo>
                  <a:pt x="325903" y="688339"/>
                </a:lnTo>
                <a:lnTo>
                  <a:pt x="330928" y="684530"/>
                </a:lnTo>
                <a:lnTo>
                  <a:pt x="339548" y="674370"/>
                </a:lnTo>
                <a:lnTo>
                  <a:pt x="344572" y="670560"/>
                </a:lnTo>
                <a:lnTo>
                  <a:pt x="430880" y="670560"/>
                </a:lnTo>
                <a:lnTo>
                  <a:pt x="429394" y="668020"/>
                </a:lnTo>
                <a:lnTo>
                  <a:pt x="419502" y="656589"/>
                </a:lnTo>
                <a:lnTo>
                  <a:pt x="415692" y="652780"/>
                </a:lnTo>
                <a:lnTo>
                  <a:pt x="408199" y="643889"/>
                </a:lnTo>
                <a:lnTo>
                  <a:pt x="404516" y="638810"/>
                </a:lnTo>
                <a:lnTo>
                  <a:pt x="433776" y="621030"/>
                </a:lnTo>
                <a:lnTo>
                  <a:pt x="450791" y="607060"/>
                </a:lnTo>
                <a:lnTo>
                  <a:pt x="344572" y="607060"/>
                </a:lnTo>
                <a:lnTo>
                  <a:pt x="318091" y="593089"/>
                </a:lnTo>
                <a:lnTo>
                  <a:pt x="292645" y="575310"/>
                </a:lnTo>
                <a:lnTo>
                  <a:pt x="273510" y="556260"/>
                </a:lnTo>
                <a:lnTo>
                  <a:pt x="265959" y="535939"/>
                </a:lnTo>
                <a:lnTo>
                  <a:pt x="267247" y="528320"/>
                </a:lnTo>
                <a:lnTo>
                  <a:pt x="293473" y="495300"/>
                </a:lnTo>
                <a:lnTo>
                  <a:pt x="340889" y="481330"/>
                </a:lnTo>
                <a:lnTo>
                  <a:pt x="472587" y="481330"/>
                </a:lnTo>
                <a:lnTo>
                  <a:pt x="460650" y="468630"/>
                </a:lnTo>
                <a:close/>
              </a:path>
              <a:path w="723264" h="1173479">
                <a:moveTo>
                  <a:pt x="378354" y="1137920"/>
                </a:moveTo>
                <a:lnTo>
                  <a:pt x="374544" y="1137920"/>
                </a:lnTo>
                <a:lnTo>
                  <a:pt x="378354" y="1143000"/>
                </a:lnTo>
                <a:lnTo>
                  <a:pt x="378354" y="1137920"/>
                </a:lnTo>
                <a:close/>
              </a:path>
              <a:path w="723264" h="1173479">
                <a:moveTo>
                  <a:pt x="374544" y="859790"/>
                </a:moveTo>
                <a:lnTo>
                  <a:pt x="348382" y="859790"/>
                </a:lnTo>
                <a:lnTo>
                  <a:pt x="348382" y="922019"/>
                </a:lnTo>
                <a:lnTo>
                  <a:pt x="374544" y="922019"/>
                </a:lnTo>
                <a:lnTo>
                  <a:pt x="374544" y="859790"/>
                </a:lnTo>
                <a:close/>
              </a:path>
              <a:path w="723264" h="1173479">
                <a:moveTo>
                  <a:pt x="422232" y="859790"/>
                </a:moveTo>
                <a:lnTo>
                  <a:pt x="374544" y="859790"/>
                </a:lnTo>
                <a:lnTo>
                  <a:pt x="385869" y="872490"/>
                </a:lnTo>
                <a:lnTo>
                  <a:pt x="391896" y="885190"/>
                </a:lnTo>
                <a:lnTo>
                  <a:pt x="392993" y="896619"/>
                </a:lnTo>
                <a:lnTo>
                  <a:pt x="389530" y="904240"/>
                </a:lnTo>
                <a:lnTo>
                  <a:pt x="385847" y="913130"/>
                </a:lnTo>
                <a:lnTo>
                  <a:pt x="382037" y="918210"/>
                </a:lnTo>
                <a:lnTo>
                  <a:pt x="374544" y="922019"/>
                </a:lnTo>
                <a:lnTo>
                  <a:pt x="421400" y="922019"/>
                </a:lnTo>
                <a:lnTo>
                  <a:pt x="428041" y="904240"/>
                </a:lnTo>
                <a:lnTo>
                  <a:pt x="428853" y="877569"/>
                </a:lnTo>
                <a:lnTo>
                  <a:pt x="422232" y="859790"/>
                </a:lnTo>
                <a:close/>
              </a:path>
              <a:path w="723264" h="1173479">
                <a:moveTo>
                  <a:pt x="378354" y="670560"/>
                </a:moveTo>
                <a:lnTo>
                  <a:pt x="344572" y="670560"/>
                </a:lnTo>
                <a:lnTo>
                  <a:pt x="344572" y="778510"/>
                </a:lnTo>
                <a:lnTo>
                  <a:pt x="378354" y="778510"/>
                </a:lnTo>
                <a:lnTo>
                  <a:pt x="378354" y="670560"/>
                </a:lnTo>
                <a:close/>
              </a:path>
              <a:path w="723264" h="1173479">
                <a:moveTo>
                  <a:pt x="430880" y="670560"/>
                </a:moveTo>
                <a:lnTo>
                  <a:pt x="378354" y="670560"/>
                </a:lnTo>
                <a:lnTo>
                  <a:pt x="383379" y="674370"/>
                </a:lnTo>
                <a:lnTo>
                  <a:pt x="391999" y="684530"/>
                </a:lnTo>
                <a:lnTo>
                  <a:pt x="408199" y="715010"/>
                </a:lnTo>
                <a:lnTo>
                  <a:pt x="409692" y="722630"/>
                </a:lnTo>
                <a:lnTo>
                  <a:pt x="408707" y="731520"/>
                </a:lnTo>
                <a:lnTo>
                  <a:pt x="405628" y="741680"/>
                </a:lnTo>
                <a:lnTo>
                  <a:pt x="400833" y="751839"/>
                </a:lnTo>
                <a:lnTo>
                  <a:pt x="378354" y="778510"/>
                </a:lnTo>
                <a:lnTo>
                  <a:pt x="424182" y="778510"/>
                </a:lnTo>
                <a:lnTo>
                  <a:pt x="426995" y="773430"/>
                </a:lnTo>
                <a:lnTo>
                  <a:pt x="436235" y="756920"/>
                </a:lnTo>
                <a:lnTo>
                  <a:pt x="441950" y="740410"/>
                </a:lnTo>
                <a:lnTo>
                  <a:pt x="444855" y="725170"/>
                </a:lnTo>
                <a:lnTo>
                  <a:pt x="445664" y="711200"/>
                </a:lnTo>
                <a:lnTo>
                  <a:pt x="442130" y="694689"/>
                </a:lnTo>
                <a:lnTo>
                  <a:pt x="436822" y="680720"/>
                </a:lnTo>
                <a:lnTo>
                  <a:pt x="430880" y="670560"/>
                </a:lnTo>
                <a:close/>
              </a:path>
              <a:path w="723264" h="1173479">
                <a:moveTo>
                  <a:pt x="382037" y="481330"/>
                </a:moveTo>
                <a:lnTo>
                  <a:pt x="340889" y="481330"/>
                </a:lnTo>
                <a:lnTo>
                  <a:pt x="344572" y="607060"/>
                </a:lnTo>
                <a:lnTo>
                  <a:pt x="378354" y="607060"/>
                </a:lnTo>
                <a:lnTo>
                  <a:pt x="382037" y="481330"/>
                </a:lnTo>
                <a:close/>
              </a:path>
              <a:path w="723264" h="1173479">
                <a:moveTo>
                  <a:pt x="472587" y="481330"/>
                </a:moveTo>
                <a:lnTo>
                  <a:pt x="382037" y="481330"/>
                </a:lnTo>
                <a:lnTo>
                  <a:pt x="397226" y="483870"/>
                </a:lnTo>
                <a:lnTo>
                  <a:pt x="413438" y="487680"/>
                </a:lnTo>
                <a:lnTo>
                  <a:pt x="447484" y="511810"/>
                </a:lnTo>
                <a:lnTo>
                  <a:pt x="456967" y="535939"/>
                </a:lnTo>
                <a:lnTo>
                  <a:pt x="449417" y="556260"/>
                </a:lnTo>
                <a:lnTo>
                  <a:pt x="430281" y="575310"/>
                </a:lnTo>
                <a:lnTo>
                  <a:pt x="404836" y="593089"/>
                </a:lnTo>
                <a:lnTo>
                  <a:pt x="378354" y="607060"/>
                </a:lnTo>
                <a:lnTo>
                  <a:pt x="450791" y="607060"/>
                </a:lnTo>
                <a:lnTo>
                  <a:pt x="461619" y="598170"/>
                </a:lnTo>
                <a:lnTo>
                  <a:pt x="482437" y="571500"/>
                </a:lnTo>
                <a:lnTo>
                  <a:pt x="490622" y="539750"/>
                </a:lnTo>
                <a:lnTo>
                  <a:pt x="490136" y="518160"/>
                </a:lnTo>
                <a:lnTo>
                  <a:pt x="484066" y="499110"/>
                </a:lnTo>
                <a:lnTo>
                  <a:pt x="473781" y="482600"/>
                </a:lnTo>
                <a:lnTo>
                  <a:pt x="472587" y="481330"/>
                </a:lnTo>
                <a:close/>
              </a:path>
              <a:path w="723264" h="1173479">
                <a:moveTo>
                  <a:pt x="453157" y="463550"/>
                </a:moveTo>
                <a:lnTo>
                  <a:pt x="269769" y="463550"/>
                </a:lnTo>
                <a:lnTo>
                  <a:pt x="265959" y="468630"/>
                </a:lnTo>
                <a:lnTo>
                  <a:pt x="456967" y="468630"/>
                </a:lnTo>
                <a:lnTo>
                  <a:pt x="453157" y="463550"/>
                </a:lnTo>
                <a:close/>
              </a:path>
              <a:path w="723264" h="1173479">
                <a:moveTo>
                  <a:pt x="206789" y="302260"/>
                </a:moveTo>
                <a:lnTo>
                  <a:pt x="194839" y="302260"/>
                </a:lnTo>
                <a:lnTo>
                  <a:pt x="174478" y="307339"/>
                </a:lnTo>
                <a:lnTo>
                  <a:pt x="158343" y="316230"/>
                </a:lnTo>
                <a:lnTo>
                  <a:pt x="146423" y="328930"/>
                </a:lnTo>
                <a:lnTo>
                  <a:pt x="138705" y="346710"/>
                </a:lnTo>
                <a:lnTo>
                  <a:pt x="136840" y="372110"/>
                </a:lnTo>
                <a:lnTo>
                  <a:pt x="143404" y="394970"/>
                </a:lnTo>
                <a:lnTo>
                  <a:pt x="187346" y="431800"/>
                </a:lnTo>
                <a:lnTo>
                  <a:pt x="223446" y="448310"/>
                </a:lnTo>
                <a:lnTo>
                  <a:pt x="273452" y="463550"/>
                </a:lnTo>
                <a:lnTo>
                  <a:pt x="449474" y="463550"/>
                </a:lnTo>
                <a:lnTo>
                  <a:pt x="476037" y="455930"/>
                </a:lnTo>
                <a:lnTo>
                  <a:pt x="499481" y="448310"/>
                </a:lnTo>
                <a:lnTo>
                  <a:pt x="519447" y="439420"/>
                </a:lnTo>
                <a:lnTo>
                  <a:pt x="535580" y="431800"/>
                </a:lnTo>
                <a:lnTo>
                  <a:pt x="340889" y="431800"/>
                </a:lnTo>
                <a:lnTo>
                  <a:pt x="292340" y="421639"/>
                </a:lnTo>
                <a:lnTo>
                  <a:pt x="252910" y="411480"/>
                </a:lnTo>
                <a:lnTo>
                  <a:pt x="198649" y="391160"/>
                </a:lnTo>
                <a:lnTo>
                  <a:pt x="174914" y="368300"/>
                </a:lnTo>
                <a:lnTo>
                  <a:pt x="176170" y="360680"/>
                </a:lnTo>
                <a:lnTo>
                  <a:pt x="177575" y="354330"/>
                </a:lnTo>
                <a:lnTo>
                  <a:pt x="181790" y="350520"/>
                </a:lnTo>
                <a:lnTo>
                  <a:pt x="188815" y="347980"/>
                </a:lnTo>
                <a:lnTo>
                  <a:pt x="198649" y="346710"/>
                </a:lnTo>
                <a:lnTo>
                  <a:pt x="314726" y="346710"/>
                </a:lnTo>
                <a:lnTo>
                  <a:pt x="314723" y="336550"/>
                </a:lnTo>
                <a:lnTo>
                  <a:pt x="306695" y="320039"/>
                </a:lnTo>
                <a:lnTo>
                  <a:pt x="297746" y="311150"/>
                </a:lnTo>
                <a:lnTo>
                  <a:pt x="250973" y="311150"/>
                </a:lnTo>
                <a:lnTo>
                  <a:pt x="234880" y="307339"/>
                </a:lnTo>
                <a:lnTo>
                  <a:pt x="220144" y="304800"/>
                </a:lnTo>
                <a:lnTo>
                  <a:pt x="206789" y="302260"/>
                </a:lnTo>
                <a:close/>
              </a:path>
              <a:path w="723264" h="1173479">
                <a:moveTo>
                  <a:pt x="382037" y="261620"/>
                </a:moveTo>
                <a:lnTo>
                  <a:pt x="340889" y="261620"/>
                </a:lnTo>
                <a:lnTo>
                  <a:pt x="340889" y="431800"/>
                </a:lnTo>
                <a:lnTo>
                  <a:pt x="382037" y="431800"/>
                </a:lnTo>
                <a:lnTo>
                  <a:pt x="382037" y="261620"/>
                </a:lnTo>
                <a:close/>
              </a:path>
              <a:path w="723264" h="1173479">
                <a:moveTo>
                  <a:pt x="584221" y="346710"/>
                </a:moveTo>
                <a:lnTo>
                  <a:pt x="524277" y="346710"/>
                </a:lnTo>
                <a:lnTo>
                  <a:pt x="534112" y="347980"/>
                </a:lnTo>
                <a:lnTo>
                  <a:pt x="541137" y="350520"/>
                </a:lnTo>
                <a:lnTo>
                  <a:pt x="545351" y="354330"/>
                </a:lnTo>
                <a:lnTo>
                  <a:pt x="546756" y="360680"/>
                </a:lnTo>
                <a:lnTo>
                  <a:pt x="548012" y="368300"/>
                </a:lnTo>
                <a:lnTo>
                  <a:pt x="545375" y="375920"/>
                </a:lnTo>
                <a:lnTo>
                  <a:pt x="499409" y="401320"/>
                </a:lnTo>
                <a:lnTo>
                  <a:pt x="430051" y="421639"/>
                </a:lnTo>
                <a:lnTo>
                  <a:pt x="382037" y="431800"/>
                </a:lnTo>
                <a:lnTo>
                  <a:pt x="535580" y="431800"/>
                </a:lnTo>
                <a:lnTo>
                  <a:pt x="562611" y="414020"/>
                </a:lnTo>
                <a:lnTo>
                  <a:pt x="578094" y="394970"/>
                </a:lnTo>
                <a:lnTo>
                  <a:pt x="584479" y="372110"/>
                </a:lnTo>
                <a:lnTo>
                  <a:pt x="584221" y="346710"/>
                </a:lnTo>
                <a:close/>
              </a:path>
              <a:path w="723264" h="1173479">
                <a:moveTo>
                  <a:pt x="314726" y="346710"/>
                </a:moveTo>
                <a:lnTo>
                  <a:pt x="207744" y="346710"/>
                </a:lnTo>
                <a:lnTo>
                  <a:pt x="218255" y="347980"/>
                </a:lnTo>
                <a:lnTo>
                  <a:pt x="230171" y="349250"/>
                </a:lnTo>
                <a:lnTo>
                  <a:pt x="243480" y="351789"/>
                </a:lnTo>
                <a:lnTo>
                  <a:pt x="249753" y="358139"/>
                </a:lnTo>
                <a:lnTo>
                  <a:pt x="257085" y="364489"/>
                </a:lnTo>
                <a:lnTo>
                  <a:pt x="265108" y="369570"/>
                </a:lnTo>
                <a:lnTo>
                  <a:pt x="273452" y="373380"/>
                </a:lnTo>
                <a:lnTo>
                  <a:pt x="284134" y="372110"/>
                </a:lnTo>
                <a:lnTo>
                  <a:pt x="296900" y="367030"/>
                </a:lnTo>
                <a:lnTo>
                  <a:pt x="308260" y="360680"/>
                </a:lnTo>
                <a:lnTo>
                  <a:pt x="314727" y="351789"/>
                </a:lnTo>
                <a:lnTo>
                  <a:pt x="314726" y="346710"/>
                </a:lnTo>
                <a:close/>
              </a:path>
              <a:path w="723264" h="1173479">
                <a:moveTo>
                  <a:pt x="446629" y="306070"/>
                </a:moveTo>
                <a:lnTo>
                  <a:pt x="438171" y="306070"/>
                </a:lnTo>
                <a:lnTo>
                  <a:pt x="427737" y="308610"/>
                </a:lnTo>
                <a:lnTo>
                  <a:pt x="416232" y="320039"/>
                </a:lnTo>
                <a:lnTo>
                  <a:pt x="408203" y="336550"/>
                </a:lnTo>
                <a:lnTo>
                  <a:pt x="408199" y="351789"/>
                </a:lnTo>
                <a:lnTo>
                  <a:pt x="414666" y="360680"/>
                </a:lnTo>
                <a:lnTo>
                  <a:pt x="426027" y="367030"/>
                </a:lnTo>
                <a:lnTo>
                  <a:pt x="438792" y="372110"/>
                </a:lnTo>
                <a:lnTo>
                  <a:pt x="449474" y="373380"/>
                </a:lnTo>
                <a:lnTo>
                  <a:pt x="457283" y="369570"/>
                </a:lnTo>
                <a:lnTo>
                  <a:pt x="464413" y="364489"/>
                </a:lnTo>
                <a:lnTo>
                  <a:pt x="471566" y="358139"/>
                </a:lnTo>
                <a:lnTo>
                  <a:pt x="479446" y="351789"/>
                </a:lnTo>
                <a:lnTo>
                  <a:pt x="492756" y="349250"/>
                </a:lnTo>
                <a:lnTo>
                  <a:pt x="504672" y="347980"/>
                </a:lnTo>
                <a:lnTo>
                  <a:pt x="515183" y="346710"/>
                </a:lnTo>
                <a:lnTo>
                  <a:pt x="584221" y="346710"/>
                </a:lnTo>
                <a:lnTo>
                  <a:pt x="576504" y="328930"/>
                </a:lnTo>
                <a:lnTo>
                  <a:pt x="564584" y="316230"/>
                </a:lnTo>
                <a:lnTo>
                  <a:pt x="555364" y="311150"/>
                </a:lnTo>
                <a:lnTo>
                  <a:pt x="471953" y="311150"/>
                </a:lnTo>
                <a:lnTo>
                  <a:pt x="463496" y="308610"/>
                </a:lnTo>
                <a:lnTo>
                  <a:pt x="446629" y="306070"/>
                </a:lnTo>
                <a:close/>
              </a:path>
              <a:path w="723264" h="1173479">
                <a:moveTo>
                  <a:pt x="284755" y="306070"/>
                </a:moveTo>
                <a:lnTo>
                  <a:pt x="276298" y="306070"/>
                </a:lnTo>
                <a:lnTo>
                  <a:pt x="259431" y="308610"/>
                </a:lnTo>
                <a:lnTo>
                  <a:pt x="250973" y="311150"/>
                </a:lnTo>
                <a:lnTo>
                  <a:pt x="297746" y="311150"/>
                </a:lnTo>
                <a:lnTo>
                  <a:pt x="295189" y="308610"/>
                </a:lnTo>
                <a:lnTo>
                  <a:pt x="284755" y="306070"/>
                </a:lnTo>
                <a:close/>
              </a:path>
              <a:path w="723264" h="1173479">
                <a:moveTo>
                  <a:pt x="528087" y="302260"/>
                </a:moveTo>
                <a:lnTo>
                  <a:pt x="516137" y="302260"/>
                </a:lnTo>
                <a:lnTo>
                  <a:pt x="502783" y="304800"/>
                </a:lnTo>
                <a:lnTo>
                  <a:pt x="488047" y="307339"/>
                </a:lnTo>
                <a:lnTo>
                  <a:pt x="471953" y="311150"/>
                </a:lnTo>
                <a:lnTo>
                  <a:pt x="555364" y="311150"/>
                </a:lnTo>
                <a:lnTo>
                  <a:pt x="548449" y="307339"/>
                </a:lnTo>
                <a:lnTo>
                  <a:pt x="528087" y="302260"/>
                </a:lnTo>
                <a:close/>
              </a:path>
              <a:path w="723264" h="1173479">
                <a:moveTo>
                  <a:pt x="337079" y="265430"/>
                </a:moveTo>
                <a:lnTo>
                  <a:pt x="284755" y="265430"/>
                </a:lnTo>
                <a:lnTo>
                  <a:pt x="288232" y="273050"/>
                </a:lnTo>
                <a:lnTo>
                  <a:pt x="293137" y="279400"/>
                </a:lnTo>
                <a:lnTo>
                  <a:pt x="299471" y="284480"/>
                </a:lnTo>
                <a:lnTo>
                  <a:pt x="307234" y="288289"/>
                </a:lnTo>
                <a:lnTo>
                  <a:pt x="316095" y="288289"/>
                </a:lnTo>
                <a:lnTo>
                  <a:pt x="324967" y="284480"/>
                </a:lnTo>
                <a:lnTo>
                  <a:pt x="332434" y="275589"/>
                </a:lnTo>
                <a:lnTo>
                  <a:pt x="337079" y="265430"/>
                </a:lnTo>
                <a:close/>
              </a:path>
              <a:path w="723264" h="1173479">
                <a:moveTo>
                  <a:pt x="485852" y="261620"/>
                </a:moveTo>
                <a:lnTo>
                  <a:pt x="385847" y="261620"/>
                </a:lnTo>
                <a:lnTo>
                  <a:pt x="385847" y="265430"/>
                </a:lnTo>
                <a:lnTo>
                  <a:pt x="389975" y="275589"/>
                </a:lnTo>
                <a:lnTo>
                  <a:pt x="396579" y="284480"/>
                </a:lnTo>
                <a:lnTo>
                  <a:pt x="405278" y="288289"/>
                </a:lnTo>
                <a:lnTo>
                  <a:pt x="415692" y="288289"/>
                </a:lnTo>
                <a:lnTo>
                  <a:pt x="423455" y="284480"/>
                </a:lnTo>
                <a:lnTo>
                  <a:pt x="429789" y="279400"/>
                </a:lnTo>
                <a:lnTo>
                  <a:pt x="434695" y="273050"/>
                </a:lnTo>
                <a:lnTo>
                  <a:pt x="438171" y="265430"/>
                </a:lnTo>
                <a:lnTo>
                  <a:pt x="485132" y="265430"/>
                </a:lnTo>
                <a:lnTo>
                  <a:pt x="485852" y="261620"/>
                </a:lnTo>
                <a:close/>
              </a:path>
              <a:path w="723264" h="1173479">
                <a:moveTo>
                  <a:pt x="486812" y="256539"/>
                </a:moveTo>
                <a:lnTo>
                  <a:pt x="236114" y="256539"/>
                </a:lnTo>
                <a:lnTo>
                  <a:pt x="237978" y="266700"/>
                </a:lnTo>
                <a:lnTo>
                  <a:pt x="242639" y="274320"/>
                </a:lnTo>
                <a:lnTo>
                  <a:pt x="248705" y="279400"/>
                </a:lnTo>
                <a:lnTo>
                  <a:pt x="254783" y="283210"/>
                </a:lnTo>
                <a:lnTo>
                  <a:pt x="265253" y="284480"/>
                </a:lnTo>
                <a:lnTo>
                  <a:pt x="273960" y="281939"/>
                </a:lnTo>
                <a:lnTo>
                  <a:pt x="280572" y="275589"/>
                </a:lnTo>
                <a:lnTo>
                  <a:pt x="284755" y="265430"/>
                </a:lnTo>
                <a:lnTo>
                  <a:pt x="337079" y="265430"/>
                </a:lnTo>
                <a:lnTo>
                  <a:pt x="337079" y="261620"/>
                </a:lnTo>
                <a:lnTo>
                  <a:pt x="485852" y="261620"/>
                </a:lnTo>
                <a:lnTo>
                  <a:pt x="486812" y="256539"/>
                </a:lnTo>
                <a:close/>
              </a:path>
              <a:path w="723264" h="1173479">
                <a:moveTo>
                  <a:pt x="485132" y="265430"/>
                </a:moveTo>
                <a:lnTo>
                  <a:pt x="438171" y="265430"/>
                </a:lnTo>
                <a:lnTo>
                  <a:pt x="442297" y="275589"/>
                </a:lnTo>
                <a:lnTo>
                  <a:pt x="448506" y="281939"/>
                </a:lnTo>
                <a:lnTo>
                  <a:pt x="456120" y="284480"/>
                </a:lnTo>
                <a:lnTo>
                  <a:pt x="464460" y="283210"/>
                </a:lnTo>
                <a:lnTo>
                  <a:pt x="472668" y="279400"/>
                </a:lnTo>
                <a:lnTo>
                  <a:pt x="479827" y="274320"/>
                </a:lnTo>
                <a:lnTo>
                  <a:pt x="484891" y="266700"/>
                </a:lnTo>
                <a:lnTo>
                  <a:pt x="485132" y="265430"/>
                </a:lnTo>
                <a:close/>
              </a:path>
              <a:path w="723264" h="1173479">
                <a:moveTo>
                  <a:pt x="535580" y="247650"/>
                </a:moveTo>
                <a:lnTo>
                  <a:pt x="187346" y="247650"/>
                </a:lnTo>
                <a:lnTo>
                  <a:pt x="188694" y="256539"/>
                </a:lnTo>
                <a:lnTo>
                  <a:pt x="192506" y="264160"/>
                </a:lnTo>
                <a:lnTo>
                  <a:pt x="198437" y="270510"/>
                </a:lnTo>
                <a:lnTo>
                  <a:pt x="206142" y="274320"/>
                </a:lnTo>
                <a:lnTo>
                  <a:pt x="214487" y="275589"/>
                </a:lnTo>
                <a:lnTo>
                  <a:pt x="222509" y="273050"/>
                </a:lnTo>
                <a:lnTo>
                  <a:pt x="229842" y="265430"/>
                </a:lnTo>
                <a:lnTo>
                  <a:pt x="236114" y="256539"/>
                </a:lnTo>
                <a:lnTo>
                  <a:pt x="534233" y="256539"/>
                </a:lnTo>
                <a:lnTo>
                  <a:pt x="535580" y="247650"/>
                </a:lnTo>
                <a:close/>
              </a:path>
              <a:path w="723264" h="1173479">
                <a:moveTo>
                  <a:pt x="534233" y="256539"/>
                </a:moveTo>
                <a:lnTo>
                  <a:pt x="486812" y="256539"/>
                </a:lnTo>
                <a:lnTo>
                  <a:pt x="490995" y="265430"/>
                </a:lnTo>
                <a:lnTo>
                  <a:pt x="497607" y="273050"/>
                </a:lnTo>
                <a:lnTo>
                  <a:pt x="506315" y="275589"/>
                </a:lnTo>
                <a:lnTo>
                  <a:pt x="516784" y="274320"/>
                </a:lnTo>
                <a:lnTo>
                  <a:pt x="524490" y="270510"/>
                </a:lnTo>
                <a:lnTo>
                  <a:pt x="530421" y="264160"/>
                </a:lnTo>
                <a:lnTo>
                  <a:pt x="534233" y="256539"/>
                </a:lnTo>
                <a:close/>
              </a:path>
              <a:path w="723264" h="1173479">
                <a:moveTo>
                  <a:pt x="584221" y="229870"/>
                </a:moveTo>
                <a:lnTo>
                  <a:pt x="138705" y="229870"/>
                </a:lnTo>
                <a:lnTo>
                  <a:pt x="140053" y="240030"/>
                </a:lnTo>
                <a:lnTo>
                  <a:pt x="143865" y="248920"/>
                </a:lnTo>
                <a:lnTo>
                  <a:pt x="149796" y="256539"/>
                </a:lnTo>
                <a:lnTo>
                  <a:pt x="157501" y="261620"/>
                </a:lnTo>
                <a:lnTo>
                  <a:pt x="165826" y="260350"/>
                </a:lnTo>
                <a:lnTo>
                  <a:pt x="173805" y="257810"/>
                </a:lnTo>
                <a:lnTo>
                  <a:pt x="181094" y="254000"/>
                </a:lnTo>
                <a:lnTo>
                  <a:pt x="187346" y="247650"/>
                </a:lnTo>
                <a:lnTo>
                  <a:pt x="579204" y="247650"/>
                </a:lnTo>
                <a:lnTo>
                  <a:pt x="582816" y="240030"/>
                </a:lnTo>
                <a:lnTo>
                  <a:pt x="584221" y="229870"/>
                </a:lnTo>
                <a:close/>
              </a:path>
              <a:path w="723264" h="1173479">
                <a:moveTo>
                  <a:pt x="579204" y="247650"/>
                </a:moveTo>
                <a:lnTo>
                  <a:pt x="535580" y="247650"/>
                </a:lnTo>
                <a:lnTo>
                  <a:pt x="541776" y="254000"/>
                </a:lnTo>
                <a:lnTo>
                  <a:pt x="548661" y="257810"/>
                </a:lnTo>
                <a:lnTo>
                  <a:pt x="555547" y="260350"/>
                </a:lnTo>
                <a:lnTo>
                  <a:pt x="561742" y="261620"/>
                </a:lnTo>
                <a:lnTo>
                  <a:pt x="571577" y="256539"/>
                </a:lnTo>
                <a:lnTo>
                  <a:pt x="578602" y="248920"/>
                </a:lnTo>
                <a:lnTo>
                  <a:pt x="579204" y="247650"/>
                </a:lnTo>
                <a:close/>
              </a:path>
              <a:path w="723264" h="1173479">
                <a:moveTo>
                  <a:pt x="632862" y="207010"/>
                </a:moveTo>
                <a:lnTo>
                  <a:pt x="90064" y="207010"/>
                </a:lnTo>
                <a:lnTo>
                  <a:pt x="89802" y="219710"/>
                </a:lnTo>
                <a:lnTo>
                  <a:pt x="93779" y="229870"/>
                </a:lnTo>
                <a:lnTo>
                  <a:pt x="100566" y="238760"/>
                </a:lnTo>
                <a:lnTo>
                  <a:pt x="108733" y="243839"/>
                </a:lnTo>
                <a:lnTo>
                  <a:pt x="117131" y="242570"/>
                </a:lnTo>
                <a:lnTo>
                  <a:pt x="125148" y="240030"/>
                </a:lnTo>
                <a:lnTo>
                  <a:pt x="132451" y="236220"/>
                </a:lnTo>
                <a:lnTo>
                  <a:pt x="138705" y="229870"/>
                </a:lnTo>
                <a:lnTo>
                  <a:pt x="628671" y="229870"/>
                </a:lnTo>
                <a:lnTo>
                  <a:pt x="633065" y="219710"/>
                </a:lnTo>
                <a:lnTo>
                  <a:pt x="632862" y="207010"/>
                </a:lnTo>
                <a:close/>
              </a:path>
              <a:path w="723264" h="1173479">
                <a:moveTo>
                  <a:pt x="628671" y="229870"/>
                </a:moveTo>
                <a:lnTo>
                  <a:pt x="584221" y="229870"/>
                </a:lnTo>
                <a:lnTo>
                  <a:pt x="590417" y="236220"/>
                </a:lnTo>
                <a:lnTo>
                  <a:pt x="597302" y="240030"/>
                </a:lnTo>
                <a:lnTo>
                  <a:pt x="604188" y="242570"/>
                </a:lnTo>
                <a:lnTo>
                  <a:pt x="610383" y="243839"/>
                </a:lnTo>
                <a:lnTo>
                  <a:pt x="620754" y="238760"/>
                </a:lnTo>
                <a:lnTo>
                  <a:pt x="628671" y="229870"/>
                </a:lnTo>
                <a:close/>
              </a:path>
              <a:path w="723264" h="1173479">
                <a:moveTo>
                  <a:pt x="677820" y="180339"/>
                </a:moveTo>
                <a:lnTo>
                  <a:pt x="45106" y="180339"/>
                </a:lnTo>
                <a:lnTo>
                  <a:pt x="41658" y="182677"/>
                </a:lnTo>
                <a:lnTo>
                  <a:pt x="42828" y="194310"/>
                </a:lnTo>
                <a:lnTo>
                  <a:pt x="47043" y="205739"/>
                </a:lnTo>
                <a:lnTo>
                  <a:pt x="54068" y="213360"/>
                </a:lnTo>
                <a:lnTo>
                  <a:pt x="63902" y="215900"/>
                </a:lnTo>
                <a:lnTo>
                  <a:pt x="71651" y="218439"/>
                </a:lnTo>
                <a:lnTo>
                  <a:pt x="78364" y="217170"/>
                </a:lnTo>
                <a:lnTo>
                  <a:pt x="84387" y="213360"/>
                </a:lnTo>
                <a:lnTo>
                  <a:pt x="90064" y="207010"/>
                </a:lnTo>
                <a:lnTo>
                  <a:pt x="674320" y="207010"/>
                </a:lnTo>
                <a:lnTo>
                  <a:pt x="675423" y="205739"/>
                </a:lnTo>
                <a:lnTo>
                  <a:pt x="678545" y="194310"/>
                </a:lnTo>
                <a:lnTo>
                  <a:pt x="677820" y="180339"/>
                </a:lnTo>
                <a:close/>
              </a:path>
              <a:path w="723264" h="1173479">
                <a:moveTo>
                  <a:pt x="674320" y="207010"/>
                </a:moveTo>
                <a:lnTo>
                  <a:pt x="632862" y="207010"/>
                </a:lnTo>
                <a:lnTo>
                  <a:pt x="638540" y="213360"/>
                </a:lnTo>
                <a:lnTo>
                  <a:pt x="644562" y="217170"/>
                </a:lnTo>
                <a:lnTo>
                  <a:pt x="651275" y="218439"/>
                </a:lnTo>
                <a:lnTo>
                  <a:pt x="659024" y="215900"/>
                </a:lnTo>
                <a:lnTo>
                  <a:pt x="668801" y="213360"/>
                </a:lnTo>
                <a:lnTo>
                  <a:pt x="674320" y="207010"/>
                </a:lnTo>
                <a:close/>
              </a:path>
              <a:path w="723264" h="1173479">
                <a:moveTo>
                  <a:pt x="270319" y="76200"/>
                </a:moveTo>
                <a:lnTo>
                  <a:pt x="239797" y="81280"/>
                </a:lnTo>
                <a:lnTo>
                  <a:pt x="192625" y="99060"/>
                </a:lnTo>
                <a:lnTo>
                  <a:pt x="151786" y="115570"/>
                </a:lnTo>
                <a:lnTo>
                  <a:pt x="116568" y="128270"/>
                </a:lnTo>
                <a:lnTo>
                  <a:pt x="86254" y="135889"/>
                </a:lnTo>
                <a:lnTo>
                  <a:pt x="49655" y="140970"/>
                </a:lnTo>
                <a:lnTo>
                  <a:pt x="23580" y="142239"/>
                </a:lnTo>
                <a:lnTo>
                  <a:pt x="7316" y="143510"/>
                </a:lnTo>
                <a:lnTo>
                  <a:pt x="148" y="148589"/>
                </a:lnTo>
                <a:lnTo>
                  <a:pt x="0" y="162560"/>
                </a:lnTo>
                <a:lnTo>
                  <a:pt x="4387" y="173989"/>
                </a:lnTo>
                <a:lnTo>
                  <a:pt x="12275" y="181610"/>
                </a:lnTo>
                <a:lnTo>
                  <a:pt x="22627" y="185420"/>
                </a:lnTo>
                <a:lnTo>
                  <a:pt x="28247" y="186689"/>
                </a:lnTo>
                <a:lnTo>
                  <a:pt x="33867" y="186689"/>
                </a:lnTo>
                <a:lnTo>
                  <a:pt x="39487" y="184150"/>
                </a:lnTo>
                <a:lnTo>
                  <a:pt x="41658" y="182677"/>
                </a:lnTo>
                <a:lnTo>
                  <a:pt x="41423" y="180339"/>
                </a:lnTo>
                <a:lnTo>
                  <a:pt x="337079" y="180339"/>
                </a:lnTo>
                <a:lnTo>
                  <a:pt x="311915" y="139700"/>
                </a:lnTo>
                <a:lnTo>
                  <a:pt x="301930" y="101600"/>
                </a:lnTo>
                <a:lnTo>
                  <a:pt x="290327" y="85089"/>
                </a:lnTo>
                <a:lnTo>
                  <a:pt x="270319" y="76200"/>
                </a:lnTo>
                <a:close/>
              </a:path>
              <a:path w="723264" h="1173479">
                <a:moveTo>
                  <a:pt x="452550" y="76200"/>
                </a:moveTo>
                <a:lnTo>
                  <a:pt x="432139" y="85089"/>
                </a:lnTo>
                <a:lnTo>
                  <a:pt x="419443" y="101600"/>
                </a:lnTo>
                <a:lnTo>
                  <a:pt x="412009" y="121920"/>
                </a:lnTo>
                <a:lnTo>
                  <a:pt x="409457" y="139700"/>
                </a:lnTo>
                <a:lnTo>
                  <a:pt x="405882" y="156210"/>
                </a:lnTo>
                <a:lnTo>
                  <a:pt x="398829" y="170180"/>
                </a:lnTo>
                <a:lnTo>
                  <a:pt x="385847" y="180339"/>
                </a:lnTo>
                <a:lnTo>
                  <a:pt x="677820" y="180339"/>
                </a:lnTo>
                <a:lnTo>
                  <a:pt x="683440" y="184150"/>
                </a:lnTo>
                <a:lnTo>
                  <a:pt x="689060" y="186689"/>
                </a:lnTo>
                <a:lnTo>
                  <a:pt x="694680" y="186689"/>
                </a:lnTo>
                <a:lnTo>
                  <a:pt x="700299" y="185420"/>
                </a:lnTo>
                <a:lnTo>
                  <a:pt x="710652" y="181610"/>
                </a:lnTo>
                <a:lnTo>
                  <a:pt x="718540" y="173989"/>
                </a:lnTo>
                <a:lnTo>
                  <a:pt x="722927" y="162560"/>
                </a:lnTo>
                <a:lnTo>
                  <a:pt x="722778" y="148589"/>
                </a:lnTo>
                <a:lnTo>
                  <a:pt x="715611" y="143510"/>
                </a:lnTo>
                <a:lnTo>
                  <a:pt x="699347" y="142239"/>
                </a:lnTo>
                <a:lnTo>
                  <a:pt x="673272" y="140970"/>
                </a:lnTo>
                <a:lnTo>
                  <a:pt x="636672" y="135889"/>
                </a:lnTo>
                <a:lnTo>
                  <a:pt x="606359" y="128270"/>
                </a:lnTo>
                <a:lnTo>
                  <a:pt x="571140" y="115570"/>
                </a:lnTo>
                <a:lnTo>
                  <a:pt x="530302" y="99060"/>
                </a:lnTo>
                <a:lnTo>
                  <a:pt x="483129" y="81280"/>
                </a:lnTo>
                <a:lnTo>
                  <a:pt x="452550" y="76200"/>
                </a:lnTo>
                <a:close/>
              </a:path>
              <a:path w="723264" h="1173479">
                <a:moveTo>
                  <a:pt x="359558" y="0"/>
                </a:moveTo>
                <a:lnTo>
                  <a:pt x="341516" y="5080"/>
                </a:lnTo>
                <a:lnTo>
                  <a:pt x="327332" y="17780"/>
                </a:lnTo>
                <a:lnTo>
                  <a:pt x="318053" y="36830"/>
                </a:lnTo>
                <a:lnTo>
                  <a:pt x="314727" y="58420"/>
                </a:lnTo>
                <a:lnTo>
                  <a:pt x="316112" y="74930"/>
                </a:lnTo>
                <a:lnTo>
                  <a:pt x="320284" y="88900"/>
                </a:lnTo>
                <a:lnTo>
                  <a:pt x="327265" y="100330"/>
                </a:lnTo>
                <a:lnTo>
                  <a:pt x="337079" y="107950"/>
                </a:lnTo>
                <a:lnTo>
                  <a:pt x="337079" y="180339"/>
                </a:lnTo>
                <a:lnTo>
                  <a:pt x="385847" y="180339"/>
                </a:lnTo>
                <a:lnTo>
                  <a:pt x="385847" y="107950"/>
                </a:lnTo>
                <a:lnTo>
                  <a:pt x="395662" y="100330"/>
                </a:lnTo>
                <a:lnTo>
                  <a:pt x="402643" y="88900"/>
                </a:lnTo>
                <a:lnTo>
                  <a:pt x="406814" y="74930"/>
                </a:lnTo>
                <a:lnTo>
                  <a:pt x="408199" y="58420"/>
                </a:lnTo>
                <a:lnTo>
                  <a:pt x="404814" y="36830"/>
                </a:lnTo>
                <a:lnTo>
                  <a:pt x="395118" y="17780"/>
                </a:lnTo>
                <a:lnTo>
                  <a:pt x="379803" y="5080"/>
                </a:lnTo>
                <a:lnTo>
                  <a:pt x="359558" y="0"/>
                </a:lnTo>
                <a:close/>
              </a:path>
            </a:pathLst>
          </a:custGeom>
          <a:solidFill>
            <a:srgbClr val="F1602C"/>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 name="object 6">
            <a:extLst>
              <a:ext uri="{FF2B5EF4-FFF2-40B4-BE49-F238E27FC236}">
                <a16:creationId xmlns:a16="http://schemas.microsoft.com/office/drawing/2014/main" id="{BBD55E7D-AF69-6411-C52F-C50530D8BEAF}"/>
              </a:ext>
            </a:extLst>
          </p:cNvPr>
          <p:cNvSpPr txBox="1">
            <a:spLocks/>
          </p:cNvSpPr>
          <p:nvPr/>
        </p:nvSpPr>
        <p:spPr>
          <a:xfrm>
            <a:off x="365126" y="1299824"/>
            <a:ext cx="3652838" cy="2129175"/>
          </a:xfrm>
          <a:prstGeom prst="rect">
            <a:avLst/>
          </a:prstGeom>
          <a:solidFill>
            <a:schemeClr val="accent1">
              <a:lumMod val="20000"/>
              <a:lumOff val="80000"/>
            </a:schemeClr>
          </a:solidFill>
          <a:ln w="12700">
            <a:noFill/>
          </a:ln>
        </p:spPr>
        <p:txBody>
          <a:bodyPr vert="horz" wrap="square" lIns="91440" tIns="914400" rIns="91440" bIns="45720" rtlCol="0" anchor="t"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10" normalizeH="0" baseline="0" noProof="0" dirty="0">
                <a:ln>
                  <a:noFill/>
                </a:ln>
                <a:solidFill>
                  <a:srgbClr val="000000"/>
                </a:solidFill>
                <a:effectLst/>
                <a:uLnTx/>
                <a:uFillTx/>
                <a:latin typeface="Arial"/>
                <a:ea typeface="+mn-ea"/>
                <a:cs typeface="Arial"/>
              </a:rPr>
              <a:t>~ 5.4 million annual deaths from COPD and related conditions by 2060</a:t>
            </a:r>
            <a:r>
              <a:rPr kumimoji="0" lang="en-US" sz="1600" b="0" i="0" u="none" strike="noStrike" kern="1200" cap="none" spc="-10" normalizeH="0" baseline="30000" noProof="0" dirty="0">
                <a:ln>
                  <a:noFill/>
                </a:ln>
                <a:solidFill>
                  <a:srgbClr val="000000"/>
                </a:solidFill>
                <a:effectLst/>
                <a:uLnTx/>
                <a:uFillTx/>
                <a:latin typeface="Arial"/>
                <a:ea typeface="+mn-ea"/>
                <a:cs typeface="Arial"/>
              </a:rPr>
              <a:t>1</a:t>
            </a:r>
            <a:endParaRPr kumimoji="0" lang="en-US" sz="16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13" name="object 6">
            <a:extLst>
              <a:ext uri="{FF2B5EF4-FFF2-40B4-BE49-F238E27FC236}">
                <a16:creationId xmlns:a16="http://schemas.microsoft.com/office/drawing/2014/main" id="{7857D063-74B8-2EA9-CD1E-8373D1E2FC94}"/>
              </a:ext>
            </a:extLst>
          </p:cNvPr>
          <p:cNvSpPr txBox="1">
            <a:spLocks/>
          </p:cNvSpPr>
          <p:nvPr/>
        </p:nvSpPr>
        <p:spPr>
          <a:xfrm>
            <a:off x="4270375" y="1299825"/>
            <a:ext cx="3649663" cy="2129174"/>
          </a:xfrm>
          <a:prstGeom prst="rect">
            <a:avLst/>
          </a:prstGeom>
          <a:solidFill>
            <a:schemeClr val="accent2">
              <a:lumMod val="20000"/>
              <a:lumOff val="80000"/>
            </a:schemeClr>
          </a:solidFill>
          <a:ln w="12700">
            <a:noFill/>
          </a:ln>
        </p:spPr>
        <p:txBody>
          <a:bodyPr vert="horz" wrap="square" lIns="91440" tIns="914400" rIns="91440" bIns="45720" rtlCol="0" anchor="t"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5" normalizeH="0" baseline="0" noProof="0" dirty="0">
                <a:ln>
                  <a:noFill/>
                </a:ln>
                <a:solidFill>
                  <a:srgbClr val="000000"/>
                </a:solidFill>
                <a:effectLst/>
                <a:uLnTx/>
                <a:uFillTx/>
                <a:latin typeface="Arial"/>
                <a:ea typeface="+mn-ea"/>
                <a:cs typeface="Arial"/>
              </a:rPr>
              <a:t>In</a:t>
            </a:r>
            <a:r>
              <a:rPr kumimoji="0" lang="en-US" sz="1600" b="0" i="0" u="none" strike="noStrike" kern="1200" cap="none" spc="10" normalizeH="0" baseline="0" noProof="0" dirty="0">
                <a:ln>
                  <a:noFill/>
                </a:ln>
                <a:solidFill>
                  <a:srgbClr val="000000"/>
                </a:solidFill>
                <a:effectLst/>
                <a:uLnTx/>
                <a:uFillTx/>
                <a:latin typeface="Arial"/>
                <a:ea typeface="+mn-ea"/>
                <a:cs typeface="Arial"/>
              </a:rPr>
              <a:t> </a:t>
            </a:r>
            <a:r>
              <a:rPr kumimoji="0" lang="en-US" sz="1600" b="0" i="0" u="none" strike="noStrike" kern="1200" cap="none" spc="-30" normalizeH="0" baseline="0" noProof="0" dirty="0">
                <a:ln>
                  <a:noFill/>
                </a:ln>
                <a:solidFill>
                  <a:srgbClr val="000000"/>
                </a:solidFill>
                <a:effectLst/>
                <a:uLnTx/>
                <a:uFillTx/>
                <a:latin typeface="Arial"/>
                <a:ea typeface="+mn-ea"/>
                <a:cs typeface="Arial"/>
              </a:rPr>
              <a:t>2018,</a:t>
            </a:r>
            <a:r>
              <a:rPr kumimoji="0" lang="en-US" sz="1600" b="0" i="0" u="none" strike="noStrike" kern="1200" cap="none" spc="15" normalizeH="0" baseline="0" noProof="0" dirty="0">
                <a:ln>
                  <a:noFill/>
                </a:ln>
                <a:solidFill>
                  <a:srgbClr val="000000"/>
                </a:solidFill>
                <a:effectLst/>
                <a:uLnTx/>
                <a:uFillTx/>
                <a:latin typeface="Arial"/>
                <a:ea typeface="+mn-ea"/>
                <a:cs typeface="Arial"/>
              </a:rPr>
              <a:t> </a:t>
            </a:r>
            <a:r>
              <a:rPr kumimoji="0" lang="en-US" sz="1600" b="0" i="0" u="none" strike="noStrike" kern="1200" cap="none" spc="-10" normalizeH="0" baseline="0" noProof="0" dirty="0">
                <a:ln>
                  <a:noFill/>
                </a:ln>
                <a:solidFill>
                  <a:srgbClr val="000000"/>
                </a:solidFill>
                <a:effectLst/>
                <a:uLnTx/>
                <a:uFillTx/>
                <a:latin typeface="Arial"/>
                <a:ea typeface="+mn-ea"/>
                <a:cs typeface="Arial"/>
              </a:rPr>
              <a:t>COPD</a:t>
            </a:r>
            <a:r>
              <a:rPr kumimoji="0" lang="en-US" sz="1600" b="0" i="0" u="none" strike="noStrike" kern="1200" cap="none" spc="15" normalizeH="0" baseline="0" noProof="0" dirty="0">
                <a:ln>
                  <a:noFill/>
                </a:ln>
                <a:solidFill>
                  <a:srgbClr val="000000"/>
                </a:solidFill>
                <a:effectLst/>
                <a:uLnTx/>
                <a:uFillTx/>
                <a:latin typeface="Arial"/>
                <a:ea typeface="+mn-ea"/>
                <a:cs typeface="Arial"/>
              </a:rPr>
              <a:t> </a:t>
            </a:r>
            <a:r>
              <a:rPr kumimoji="0" lang="en-US" sz="1600" b="0" i="0" u="none" strike="noStrike" kern="1200" cap="none" spc="-10" normalizeH="0" baseline="0" noProof="0" dirty="0">
                <a:ln>
                  <a:noFill/>
                </a:ln>
                <a:solidFill>
                  <a:srgbClr val="000000"/>
                </a:solidFill>
                <a:effectLst/>
                <a:uLnTx/>
                <a:uFillTx/>
                <a:latin typeface="Arial"/>
                <a:ea typeface="+mn-ea"/>
                <a:cs typeface="Arial"/>
              </a:rPr>
              <a:t>was</a:t>
            </a:r>
            <a:r>
              <a:rPr kumimoji="0" lang="en-US" sz="1600" b="0" i="0" u="none" strike="noStrike" kern="1200" cap="none" spc="20"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the</a:t>
            </a:r>
            <a:r>
              <a:rPr kumimoji="0" lang="en-US" sz="1600" b="0" i="0" u="none" strike="noStrike" kern="1200" cap="none" spc="25"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fourth</a:t>
            </a:r>
            <a:r>
              <a:rPr kumimoji="0" lang="en-US" sz="1600" b="1" i="0" u="none" strike="noStrike" kern="1200" cap="none" spc="25"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leading</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cause</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of</a:t>
            </a:r>
            <a:r>
              <a:rPr kumimoji="0" lang="en-US" sz="1600" b="1" i="0" u="none" strike="noStrike" kern="1200" cap="none" spc="5"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death</a:t>
            </a:r>
            <a:r>
              <a:rPr kumimoji="0" lang="en-US" sz="1600" b="1" i="0" u="none" strike="noStrike" kern="1200" cap="none" spc="30"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in</a:t>
            </a:r>
            <a:r>
              <a:rPr kumimoji="0" lang="en-US" sz="1600" b="0" i="0" u="none" strike="noStrike" kern="1200" cap="none" spc="0"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the</a:t>
            </a:r>
            <a:r>
              <a:rPr kumimoji="0" lang="en-US" sz="1600" b="0" i="0" u="none" strike="noStrike" kern="1200" cap="none" spc="15" normalizeH="0" baseline="0" noProof="0" dirty="0">
                <a:ln>
                  <a:noFill/>
                </a:ln>
                <a:solidFill>
                  <a:srgbClr val="000000"/>
                </a:solidFill>
                <a:effectLst/>
                <a:uLnTx/>
                <a:uFillTx/>
                <a:latin typeface="Arial"/>
                <a:ea typeface="+mn-ea"/>
                <a:cs typeface="Arial"/>
              </a:rPr>
              <a:t> US</a:t>
            </a:r>
            <a:r>
              <a:rPr kumimoji="0" lang="en-US" sz="1600" b="0" i="0" u="none" strike="noStrike" kern="1200" cap="none" spc="-5" normalizeH="0" baseline="30000" noProof="0" dirty="0">
                <a:ln>
                  <a:noFill/>
                </a:ln>
                <a:solidFill>
                  <a:srgbClr val="000000"/>
                </a:solidFill>
                <a:effectLst/>
                <a:uLnTx/>
                <a:uFillTx/>
                <a:latin typeface="Arial"/>
                <a:ea typeface="+mn-ea"/>
                <a:cs typeface="Arial"/>
              </a:rPr>
              <a:t>2</a:t>
            </a:r>
            <a:endParaRPr kumimoji="0" lang="en-US" sz="16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15" name="object 6">
            <a:extLst>
              <a:ext uri="{FF2B5EF4-FFF2-40B4-BE49-F238E27FC236}">
                <a16:creationId xmlns:a16="http://schemas.microsoft.com/office/drawing/2014/main" id="{07BCDA13-A391-5853-6F80-6EEF01000779}"/>
              </a:ext>
            </a:extLst>
          </p:cNvPr>
          <p:cNvSpPr txBox="1">
            <a:spLocks/>
          </p:cNvSpPr>
          <p:nvPr/>
        </p:nvSpPr>
        <p:spPr>
          <a:xfrm>
            <a:off x="8175626" y="1299825"/>
            <a:ext cx="3649663" cy="2129174"/>
          </a:xfrm>
          <a:prstGeom prst="rect">
            <a:avLst/>
          </a:prstGeom>
          <a:solidFill>
            <a:schemeClr val="accent3">
              <a:lumMod val="20000"/>
              <a:lumOff val="80000"/>
            </a:schemeClr>
          </a:solidFill>
          <a:ln w="12700">
            <a:noFill/>
          </a:ln>
        </p:spPr>
        <p:txBody>
          <a:bodyPr vert="horz" wrap="square" lIns="91440" tIns="914400" rIns="91440" bIns="45720" rtlCol="0" anchor="t" anchorCtr="0">
            <a:noAutofit/>
          </a:bodyPr>
          <a:lstStyle/>
          <a:p>
            <a:pPr marL="71755" marR="0" lvl="0" indent="0" algn="ctr" defTabSz="121917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5" normalizeH="0" baseline="0" noProof="0" dirty="0">
                <a:ln>
                  <a:noFill/>
                </a:ln>
                <a:solidFill>
                  <a:srgbClr val="000000"/>
                </a:solidFill>
                <a:effectLst/>
                <a:uLnTx/>
                <a:uFillTx/>
                <a:latin typeface="Arial"/>
                <a:ea typeface="+mn-ea"/>
                <a:cs typeface="Arial"/>
              </a:rPr>
              <a:t>Under-recognition and underdiagnosis of COPD reduces the accuracy of COPD mortality data</a:t>
            </a:r>
            <a:r>
              <a:rPr kumimoji="0" lang="en-US" sz="1600" b="0" i="0" u="none" strike="noStrike" kern="1200" cap="none" spc="-5" normalizeH="0" baseline="30000" noProof="0" dirty="0">
                <a:ln>
                  <a:noFill/>
                </a:ln>
                <a:solidFill>
                  <a:srgbClr val="000000"/>
                </a:solidFill>
                <a:effectLst/>
                <a:uLnTx/>
                <a:uFillTx/>
                <a:latin typeface="Arial"/>
                <a:ea typeface="+mn-ea"/>
                <a:cs typeface="Arial"/>
              </a:rPr>
              <a:t>1</a:t>
            </a:r>
          </a:p>
        </p:txBody>
      </p:sp>
      <p:sp>
        <p:nvSpPr>
          <p:cNvPr id="238" name="Oval 237">
            <a:extLst>
              <a:ext uri="{FF2B5EF4-FFF2-40B4-BE49-F238E27FC236}">
                <a16:creationId xmlns:a16="http://schemas.microsoft.com/office/drawing/2014/main" id="{6584D483-831D-70A4-5BD9-09CAED021B31}"/>
              </a:ext>
            </a:extLst>
          </p:cNvPr>
          <p:cNvSpPr/>
          <p:nvPr/>
        </p:nvSpPr>
        <p:spPr bwMode="auto">
          <a:xfrm>
            <a:off x="5749079" y="1392138"/>
            <a:ext cx="692255" cy="692255"/>
          </a:xfrm>
          <a:prstGeom prst="ellipse">
            <a:avLst/>
          </a:prstGeom>
          <a:noFill/>
          <a:ln w="38100">
            <a:solidFill>
              <a:schemeClr val="accent2">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pic>
        <p:nvPicPr>
          <p:cNvPr id="16" name="object 12">
            <a:extLst>
              <a:ext uri="{FF2B5EF4-FFF2-40B4-BE49-F238E27FC236}">
                <a16:creationId xmlns:a16="http://schemas.microsoft.com/office/drawing/2014/main" id="{49CA43BD-EE6E-41FD-9AC3-77842F591AEE}"/>
              </a:ext>
            </a:extLst>
          </p:cNvPr>
          <p:cNvPicPr>
            <a:picLocks noChangeAspect="1"/>
          </p:cNvPicPr>
          <p:nvPr/>
        </p:nvPicPr>
        <p:blipFill>
          <a:blip r:embed="rId5" cstate="print"/>
          <a:stretch>
            <a:fillRect/>
          </a:stretch>
        </p:blipFill>
        <p:spPr>
          <a:xfrm>
            <a:off x="5840569" y="1474228"/>
            <a:ext cx="509274" cy="509274"/>
          </a:xfrm>
          <a:prstGeom prst="rect">
            <a:avLst/>
          </a:prstGeom>
        </p:spPr>
      </p:pic>
      <p:sp>
        <p:nvSpPr>
          <p:cNvPr id="239" name="Oval 238">
            <a:extLst>
              <a:ext uri="{FF2B5EF4-FFF2-40B4-BE49-F238E27FC236}">
                <a16:creationId xmlns:a16="http://schemas.microsoft.com/office/drawing/2014/main" id="{BA10AFB3-58A2-239A-A32D-886B3A69E3C5}"/>
              </a:ext>
            </a:extLst>
          </p:cNvPr>
          <p:cNvSpPr/>
          <p:nvPr/>
        </p:nvSpPr>
        <p:spPr bwMode="auto">
          <a:xfrm>
            <a:off x="9654330" y="1392138"/>
            <a:ext cx="692255" cy="692255"/>
          </a:xfrm>
          <a:prstGeom prst="ellipse">
            <a:avLst/>
          </a:prstGeom>
          <a:noFill/>
          <a:ln w="38100">
            <a:solidFill>
              <a:schemeClr val="accent3">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7" name="object 16">
            <a:extLst>
              <a:ext uri="{FF2B5EF4-FFF2-40B4-BE49-F238E27FC236}">
                <a16:creationId xmlns:a16="http://schemas.microsoft.com/office/drawing/2014/main" id="{7281565A-A6CC-E528-DCC1-229AC8FB9C8D}"/>
              </a:ext>
            </a:extLst>
          </p:cNvPr>
          <p:cNvSpPr>
            <a:spLocks noChangeAspect="1"/>
          </p:cNvSpPr>
          <p:nvPr/>
        </p:nvSpPr>
        <p:spPr>
          <a:xfrm>
            <a:off x="9766099" y="1536528"/>
            <a:ext cx="468716" cy="392440"/>
          </a:xfrm>
          <a:custGeom>
            <a:avLst/>
            <a:gdLst/>
            <a:ahLst/>
            <a:cxnLst/>
            <a:rect l="l" t="t" r="r" b="b"/>
            <a:pathLst>
              <a:path w="525780" h="439420">
                <a:moveTo>
                  <a:pt x="271272" y="26797"/>
                </a:moveTo>
                <a:lnTo>
                  <a:pt x="110121" y="26797"/>
                </a:lnTo>
                <a:lnTo>
                  <a:pt x="110121" y="18796"/>
                </a:lnTo>
                <a:lnTo>
                  <a:pt x="108648" y="11315"/>
                </a:lnTo>
                <a:lnTo>
                  <a:pt x="104406" y="5359"/>
                </a:lnTo>
                <a:lnTo>
                  <a:pt x="97650" y="1422"/>
                </a:lnTo>
                <a:lnTo>
                  <a:pt x="88633" y="0"/>
                </a:lnTo>
                <a:lnTo>
                  <a:pt x="21488" y="0"/>
                </a:lnTo>
                <a:lnTo>
                  <a:pt x="12458" y="1422"/>
                </a:lnTo>
                <a:lnTo>
                  <a:pt x="5702" y="5359"/>
                </a:lnTo>
                <a:lnTo>
                  <a:pt x="1460" y="11315"/>
                </a:lnTo>
                <a:lnTo>
                  <a:pt x="0" y="18796"/>
                </a:lnTo>
                <a:lnTo>
                  <a:pt x="0" y="249682"/>
                </a:lnTo>
                <a:lnTo>
                  <a:pt x="2387" y="262661"/>
                </a:lnTo>
                <a:lnTo>
                  <a:pt x="9055" y="272859"/>
                </a:lnTo>
                <a:lnTo>
                  <a:pt x="19253" y="279552"/>
                </a:lnTo>
                <a:lnTo>
                  <a:pt x="32232" y="281940"/>
                </a:lnTo>
                <a:lnTo>
                  <a:pt x="174586" y="281940"/>
                </a:lnTo>
                <a:lnTo>
                  <a:pt x="174586" y="273939"/>
                </a:lnTo>
                <a:lnTo>
                  <a:pt x="177266" y="268478"/>
                </a:lnTo>
                <a:lnTo>
                  <a:pt x="191236" y="241744"/>
                </a:lnTo>
                <a:lnTo>
                  <a:pt x="198412" y="221538"/>
                </a:lnTo>
                <a:lnTo>
                  <a:pt x="199644" y="212090"/>
                </a:lnTo>
                <a:lnTo>
                  <a:pt x="201053" y="201320"/>
                </a:lnTo>
                <a:lnTo>
                  <a:pt x="201282" y="185293"/>
                </a:lnTo>
                <a:lnTo>
                  <a:pt x="201434" y="174498"/>
                </a:lnTo>
                <a:lnTo>
                  <a:pt x="201434" y="158369"/>
                </a:lnTo>
                <a:lnTo>
                  <a:pt x="177266" y="158369"/>
                </a:lnTo>
                <a:lnTo>
                  <a:pt x="177266" y="190627"/>
                </a:lnTo>
                <a:lnTo>
                  <a:pt x="177266" y="206756"/>
                </a:lnTo>
                <a:lnTo>
                  <a:pt x="171894" y="212090"/>
                </a:lnTo>
                <a:lnTo>
                  <a:pt x="40284" y="212090"/>
                </a:lnTo>
                <a:lnTo>
                  <a:pt x="34912" y="206756"/>
                </a:lnTo>
                <a:lnTo>
                  <a:pt x="34912" y="190627"/>
                </a:lnTo>
                <a:lnTo>
                  <a:pt x="40284" y="185293"/>
                </a:lnTo>
                <a:lnTo>
                  <a:pt x="171894" y="185293"/>
                </a:lnTo>
                <a:lnTo>
                  <a:pt x="177266" y="190627"/>
                </a:lnTo>
                <a:lnTo>
                  <a:pt x="177266" y="158369"/>
                </a:lnTo>
                <a:lnTo>
                  <a:pt x="40284" y="158369"/>
                </a:lnTo>
                <a:lnTo>
                  <a:pt x="34912" y="153035"/>
                </a:lnTo>
                <a:lnTo>
                  <a:pt x="34912" y="136906"/>
                </a:lnTo>
                <a:lnTo>
                  <a:pt x="40284" y="131572"/>
                </a:lnTo>
                <a:lnTo>
                  <a:pt x="201434" y="131572"/>
                </a:lnTo>
                <a:lnTo>
                  <a:pt x="201853" y="125145"/>
                </a:lnTo>
                <a:lnTo>
                  <a:pt x="203695" y="111213"/>
                </a:lnTo>
                <a:lnTo>
                  <a:pt x="204127" y="104775"/>
                </a:lnTo>
                <a:lnTo>
                  <a:pt x="40284" y="104775"/>
                </a:lnTo>
                <a:lnTo>
                  <a:pt x="34912" y="99314"/>
                </a:lnTo>
                <a:lnTo>
                  <a:pt x="34912" y="85979"/>
                </a:lnTo>
                <a:lnTo>
                  <a:pt x="40284" y="77851"/>
                </a:lnTo>
                <a:lnTo>
                  <a:pt x="217551" y="77851"/>
                </a:lnTo>
                <a:lnTo>
                  <a:pt x="227076" y="62344"/>
                </a:lnTo>
                <a:lnTo>
                  <a:pt x="239369" y="48323"/>
                </a:lnTo>
                <a:lnTo>
                  <a:pt x="254190" y="36322"/>
                </a:lnTo>
                <a:lnTo>
                  <a:pt x="271272" y="26797"/>
                </a:lnTo>
                <a:close/>
              </a:path>
              <a:path w="525780" h="439420">
                <a:moveTo>
                  <a:pt x="525780" y="414782"/>
                </a:moveTo>
                <a:lnTo>
                  <a:pt x="525551" y="412115"/>
                </a:lnTo>
                <a:lnTo>
                  <a:pt x="523100" y="382651"/>
                </a:lnTo>
                <a:lnTo>
                  <a:pt x="518541" y="367296"/>
                </a:lnTo>
                <a:lnTo>
                  <a:pt x="512724" y="356768"/>
                </a:lnTo>
                <a:lnTo>
                  <a:pt x="505421" y="349783"/>
                </a:lnTo>
                <a:lnTo>
                  <a:pt x="499033" y="346456"/>
                </a:lnTo>
                <a:lnTo>
                  <a:pt x="499033" y="412115"/>
                </a:lnTo>
                <a:lnTo>
                  <a:pt x="432155" y="412115"/>
                </a:lnTo>
                <a:lnTo>
                  <a:pt x="432155" y="401320"/>
                </a:lnTo>
                <a:lnTo>
                  <a:pt x="429768" y="387515"/>
                </a:lnTo>
                <a:lnTo>
                  <a:pt x="427202" y="382651"/>
                </a:lnTo>
                <a:lnTo>
                  <a:pt x="423125" y="374916"/>
                </a:lnTo>
                <a:lnTo>
                  <a:pt x="412965" y="364782"/>
                </a:lnTo>
                <a:lnTo>
                  <a:pt x="405409" y="361048"/>
                </a:lnTo>
                <a:lnTo>
                  <a:pt x="405409" y="401320"/>
                </a:lnTo>
                <a:lnTo>
                  <a:pt x="405409" y="412115"/>
                </a:lnTo>
                <a:lnTo>
                  <a:pt x="367957" y="412115"/>
                </a:lnTo>
                <a:lnTo>
                  <a:pt x="367957" y="401320"/>
                </a:lnTo>
                <a:lnTo>
                  <a:pt x="369366" y="393903"/>
                </a:lnTo>
                <a:lnTo>
                  <a:pt x="373303" y="387985"/>
                </a:lnTo>
                <a:lnTo>
                  <a:pt x="379234" y="384073"/>
                </a:lnTo>
                <a:lnTo>
                  <a:pt x="386676" y="382651"/>
                </a:lnTo>
                <a:lnTo>
                  <a:pt x="394119" y="384073"/>
                </a:lnTo>
                <a:lnTo>
                  <a:pt x="400050" y="387985"/>
                </a:lnTo>
                <a:lnTo>
                  <a:pt x="403987" y="393903"/>
                </a:lnTo>
                <a:lnTo>
                  <a:pt x="405409" y="401320"/>
                </a:lnTo>
                <a:lnTo>
                  <a:pt x="405409" y="361048"/>
                </a:lnTo>
                <a:lnTo>
                  <a:pt x="400050" y="358394"/>
                </a:lnTo>
                <a:lnTo>
                  <a:pt x="400050" y="328930"/>
                </a:lnTo>
                <a:lnTo>
                  <a:pt x="482981" y="369189"/>
                </a:lnTo>
                <a:lnTo>
                  <a:pt x="488327" y="369189"/>
                </a:lnTo>
                <a:lnTo>
                  <a:pt x="493674" y="374523"/>
                </a:lnTo>
                <a:lnTo>
                  <a:pt x="496354" y="385318"/>
                </a:lnTo>
                <a:lnTo>
                  <a:pt x="499033" y="412115"/>
                </a:lnTo>
                <a:lnTo>
                  <a:pt x="499033" y="346456"/>
                </a:lnTo>
                <a:lnTo>
                  <a:pt x="496354" y="345059"/>
                </a:lnTo>
                <a:lnTo>
                  <a:pt x="462178" y="328930"/>
                </a:lnTo>
                <a:lnTo>
                  <a:pt x="445223" y="320929"/>
                </a:lnTo>
                <a:lnTo>
                  <a:pt x="405409" y="302133"/>
                </a:lnTo>
                <a:lnTo>
                  <a:pt x="408076" y="299466"/>
                </a:lnTo>
                <a:lnTo>
                  <a:pt x="413435" y="294132"/>
                </a:lnTo>
                <a:lnTo>
                  <a:pt x="466928" y="294132"/>
                </a:lnTo>
                <a:lnTo>
                  <a:pt x="472274" y="291465"/>
                </a:lnTo>
                <a:lnTo>
                  <a:pt x="474954" y="288671"/>
                </a:lnTo>
                <a:lnTo>
                  <a:pt x="477634" y="286004"/>
                </a:lnTo>
                <a:lnTo>
                  <a:pt x="477634" y="280670"/>
                </a:lnTo>
                <a:lnTo>
                  <a:pt x="453885" y="225742"/>
                </a:lnTo>
                <a:lnTo>
                  <a:pt x="450875" y="176149"/>
                </a:lnTo>
                <a:lnTo>
                  <a:pt x="450875" y="143891"/>
                </a:lnTo>
                <a:lnTo>
                  <a:pt x="441921" y="98298"/>
                </a:lnTo>
                <a:lnTo>
                  <a:pt x="426186" y="74168"/>
                </a:lnTo>
                <a:lnTo>
                  <a:pt x="424129" y="71018"/>
                </a:lnTo>
                <a:lnTo>
                  <a:pt x="424129" y="143891"/>
                </a:lnTo>
                <a:lnTo>
                  <a:pt x="424129" y="210947"/>
                </a:lnTo>
                <a:lnTo>
                  <a:pt x="417106" y="245148"/>
                </a:lnTo>
                <a:lnTo>
                  <a:pt x="398043" y="273304"/>
                </a:lnTo>
                <a:lnTo>
                  <a:pt x="373303" y="290156"/>
                </a:lnTo>
                <a:lnTo>
                  <a:pt x="373303" y="320929"/>
                </a:lnTo>
                <a:lnTo>
                  <a:pt x="373303" y="358394"/>
                </a:lnTo>
                <a:lnTo>
                  <a:pt x="360387" y="364782"/>
                </a:lnTo>
                <a:lnTo>
                  <a:pt x="350227" y="374916"/>
                </a:lnTo>
                <a:lnTo>
                  <a:pt x="343585" y="387515"/>
                </a:lnTo>
                <a:lnTo>
                  <a:pt x="341210" y="401320"/>
                </a:lnTo>
                <a:lnTo>
                  <a:pt x="341210" y="412115"/>
                </a:lnTo>
                <a:lnTo>
                  <a:pt x="295732" y="412115"/>
                </a:lnTo>
                <a:lnTo>
                  <a:pt x="295732" y="328930"/>
                </a:lnTo>
                <a:lnTo>
                  <a:pt x="295732" y="320929"/>
                </a:lnTo>
                <a:lnTo>
                  <a:pt x="305384" y="322897"/>
                </a:lnTo>
                <a:lnTo>
                  <a:pt x="314782" y="324599"/>
                </a:lnTo>
                <a:lnTo>
                  <a:pt x="324688" y="325805"/>
                </a:lnTo>
                <a:lnTo>
                  <a:pt x="335851" y="326263"/>
                </a:lnTo>
                <a:lnTo>
                  <a:pt x="345452" y="325805"/>
                </a:lnTo>
                <a:lnTo>
                  <a:pt x="354571" y="324599"/>
                </a:lnTo>
                <a:lnTo>
                  <a:pt x="363689" y="322897"/>
                </a:lnTo>
                <a:lnTo>
                  <a:pt x="373303" y="320929"/>
                </a:lnTo>
                <a:lnTo>
                  <a:pt x="373303" y="290156"/>
                </a:lnTo>
                <a:lnTo>
                  <a:pt x="369951" y="292430"/>
                </a:lnTo>
                <a:lnTo>
                  <a:pt x="335851" y="299466"/>
                </a:lnTo>
                <a:lnTo>
                  <a:pt x="300189" y="292430"/>
                </a:lnTo>
                <a:lnTo>
                  <a:pt x="271310" y="273304"/>
                </a:lnTo>
                <a:lnTo>
                  <a:pt x="268986" y="269925"/>
                </a:lnTo>
                <a:lnTo>
                  <a:pt x="268986" y="328930"/>
                </a:lnTo>
                <a:lnTo>
                  <a:pt x="268986" y="412115"/>
                </a:lnTo>
                <a:lnTo>
                  <a:pt x="170002" y="412115"/>
                </a:lnTo>
                <a:lnTo>
                  <a:pt x="172681" y="385318"/>
                </a:lnTo>
                <a:lnTo>
                  <a:pt x="175361" y="374523"/>
                </a:lnTo>
                <a:lnTo>
                  <a:pt x="180708" y="369189"/>
                </a:lnTo>
                <a:lnTo>
                  <a:pt x="186055" y="369189"/>
                </a:lnTo>
                <a:lnTo>
                  <a:pt x="268986" y="328930"/>
                </a:lnTo>
                <a:lnTo>
                  <a:pt x="268986" y="269925"/>
                </a:lnTo>
                <a:lnTo>
                  <a:pt x="251968" y="245148"/>
                </a:lnTo>
                <a:lnTo>
                  <a:pt x="244906" y="210947"/>
                </a:lnTo>
                <a:lnTo>
                  <a:pt x="244906" y="186817"/>
                </a:lnTo>
                <a:lnTo>
                  <a:pt x="248196" y="171056"/>
                </a:lnTo>
                <a:lnTo>
                  <a:pt x="257276" y="157314"/>
                </a:lnTo>
                <a:lnTo>
                  <a:pt x="270852" y="147586"/>
                </a:lnTo>
                <a:lnTo>
                  <a:pt x="287705" y="143891"/>
                </a:lnTo>
                <a:lnTo>
                  <a:pt x="349224" y="143891"/>
                </a:lnTo>
                <a:lnTo>
                  <a:pt x="366064" y="140589"/>
                </a:lnTo>
                <a:lnTo>
                  <a:pt x="379653" y="131483"/>
                </a:lnTo>
                <a:lnTo>
                  <a:pt x="388721" y="117856"/>
                </a:lnTo>
                <a:lnTo>
                  <a:pt x="392036" y="100965"/>
                </a:lnTo>
                <a:lnTo>
                  <a:pt x="392036" y="74168"/>
                </a:lnTo>
                <a:lnTo>
                  <a:pt x="404939" y="87731"/>
                </a:lnTo>
                <a:lnTo>
                  <a:pt x="415099" y="104038"/>
                </a:lnTo>
                <a:lnTo>
                  <a:pt x="421741" y="122847"/>
                </a:lnTo>
                <a:lnTo>
                  <a:pt x="424129" y="143891"/>
                </a:lnTo>
                <a:lnTo>
                  <a:pt x="424129" y="71018"/>
                </a:lnTo>
                <a:lnTo>
                  <a:pt x="417436" y="60756"/>
                </a:lnTo>
                <a:lnTo>
                  <a:pt x="380898" y="35293"/>
                </a:lnTo>
                <a:lnTo>
                  <a:pt x="335851" y="25908"/>
                </a:lnTo>
                <a:lnTo>
                  <a:pt x="290372" y="35293"/>
                </a:lnTo>
                <a:lnTo>
                  <a:pt x="252920" y="60756"/>
                </a:lnTo>
                <a:lnTo>
                  <a:pt x="227520" y="98298"/>
                </a:lnTo>
                <a:lnTo>
                  <a:pt x="218160" y="143891"/>
                </a:lnTo>
                <a:lnTo>
                  <a:pt x="218160" y="176149"/>
                </a:lnTo>
                <a:lnTo>
                  <a:pt x="217779" y="204470"/>
                </a:lnTo>
                <a:lnTo>
                  <a:pt x="215150" y="225742"/>
                </a:lnTo>
                <a:lnTo>
                  <a:pt x="208000" y="247027"/>
                </a:lnTo>
                <a:lnTo>
                  <a:pt x="194081" y="275336"/>
                </a:lnTo>
                <a:lnTo>
                  <a:pt x="191401" y="280670"/>
                </a:lnTo>
                <a:lnTo>
                  <a:pt x="194081" y="286004"/>
                </a:lnTo>
                <a:lnTo>
                  <a:pt x="194081" y="288671"/>
                </a:lnTo>
                <a:lnTo>
                  <a:pt x="196761" y="291465"/>
                </a:lnTo>
                <a:lnTo>
                  <a:pt x="202107" y="294132"/>
                </a:lnTo>
                <a:lnTo>
                  <a:pt x="255600" y="294132"/>
                </a:lnTo>
                <a:lnTo>
                  <a:pt x="263626" y="302133"/>
                </a:lnTo>
                <a:lnTo>
                  <a:pt x="172681" y="345059"/>
                </a:lnTo>
                <a:lnTo>
                  <a:pt x="148602" y="382651"/>
                </a:lnTo>
                <a:lnTo>
                  <a:pt x="143256" y="414782"/>
                </a:lnTo>
                <a:lnTo>
                  <a:pt x="143256" y="420116"/>
                </a:lnTo>
                <a:lnTo>
                  <a:pt x="145935" y="422783"/>
                </a:lnTo>
                <a:lnTo>
                  <a:pt x="148894" y="429869"/>
                </a:lnTo>
                <a:lnTo>
                  <a:pt x="153619" y="434898"/>
                </a:lnTo>
                <a:lnTo>
                  <a:pt x="159842" y="437921"/>
                </a:lnTo>
                <a:lnTo>
                  <a:pt x="167335" y="438912"/>
                </a:lnTo>
                <a:lnTo>
                  <a:pt x="501700" y="438912"/>
                </a:lnTo>
                <a:lnTo>
                  <a:pt x="509219" y="437921"/>
                </a:lnTo>
                <a:lnTo>
                  <a:pt x="515747" y="434898"/>
                </a:lnTo>
                <a:lnTo>
                  <a:pt x="521258" y="429869"/>
                </a:lnTo>
                <a:lnTo>
                  <a:pt x="525780" y="422783"/>
                </a:lnTo>
                <a:lnTo>
                  <a:pt x="525780" y="414782"/>
                </a:lnTo>
                <a:close/>
              </a:path>
            </a:pathLst>
          </a:custGeom>
          <a:solidFill>
            <a:schemeClr val="accent3"/>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7" name="Oval 236">
            <a:extLst>
              <a:ext uri="{FF2B5EF4-FFF2-40B4-BE49-F238E27FC236}">
                <a16:creationId xmlns:a16="http://schemas.microsoft.com/office/drawing/2014/main" id="{7ED4789A-6D63-D624-6B8C-138F926DDCC3}"/>
              </a:ext>
            </a:extLst>
          </p:cNvPr>
          <p:cNvSpPr/>
          <p:nvPr/>
        </p:nvSpPr>
        <p:spPr bwMode="auto">
          <a:xfrm>
            <a:off x="1845418" y="1392138"/>
            <a:ext cx="692255" cy="692255"/>
          </a:xfrm>
          <a:prstGeom prst="ellipse">
            <a:avLst/>
          </a:prstGeom>
          <a:noFill/>
          <a:ln w="38100">
            <a:solidFill>
              <a:schemeClr val="accent1">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nvGrpSpPr>
          <p:cNvPr id="18" name="Group 17">
            <a:extLst>
              <a:ext uri="{FF2B5EF4-FFF2-40B4-BE49-F238E27FC236}">
                <a16:creationId xmlns:a16="http://schemas.microsoft.com/office/drawing/2014/main" id="{31EBC2AC-FF45-A148-1624-0765A0B10E00}"/>
              </a:ext>
            </a:extLst>
          </p:cNvPr>
          <p:cNvGrpSpPr>
            <a:grpSpLocks noChangeAspect="1"/>
          </p:cNvGrpSpPr>
          <p:nvPr/>
        </p:nvGrpSpPr>
        <p:grpSpPr>
          <a:xfrm>
            <a:off x="1946515" y="1488678"/>
            <a:ext cx="490060" cy="490061"/>
            <a:chOff x="13182070" y="88327"/>
            <a:chExt cx="5309659" cy="5309663"/>
          </a:xfrm>
          <a:solidFill>
            <a:schemeClr val="accent1"/>
          </a:solidFill>
        </p:grpSpPr>
        <p:sp>
          <p:nvSpPr>
            <p:cNvPr id="19" name="Freeform: Shape 18">
              <a:extLst>
                <a:ext uri="{FF2B5EF4-FFF2-40B4-BE49-F238E27FC236}">
                  <a16:creationId xmlns:a16="http://schemas.microsoft.com/office/drawing/2014/main" id="{4348C285-E23E-B7D3-789B-46546F5BE5E9}"/>
                </a:ext>
              </a:extLst>
            </p:cNvPr>
            <p:cNvSpPr/>
            <p:nvPr/>
          </p:nvSpPr>
          <p:spPr>
            <a:xfrm>
              <a:off x="13182070" y="88327"/>
              <a:ext cx="5309659" cy="5309663"/>
            </a:xfrm>
            <a:custGeom>
              <a:avLst/>
              <a:gdLst>
                <a:gd name="connsiteX0" fmla="*/ 2654830 w 5309659"/>
                <a:gd name="connsiteY0" fmla="*/ 0 h 5309663"/>
                <a:gd name="connsiteX1" fmla="*/ 0 w 5309659"/>
                <a:gd name="connsiteY1" fmla="*/ 2654834 h 5309663"/>
                <a:gd name="connsiteX2" fmla="*/ 2654830 w 5309659"/>
                <a:gd name="connsiteY2" fmla="*/ 5309664 h 5309663"/>
                <a:gd name="connsiteX3" fmla="*/ 5309660 w 5309659"/>
                <a:gd name="connsiteY3" fmla="*/ 2654834 h 5309663"/>
                <a:gd name="connsiteX4" fmla="*/ 2654830 w 5309659"/>
                <a:gd name="connsiteY4" fmla="*/ 0 h 5309663"/>
                <a:gd name="connsiteX5" fmla="*/ 478297 w 5309659"/>
                <a:gd name="connsiteY5" fmla="*/ 1732629 h 5309663"/>
                <a:gd name="connsiteX6" fmla="*/ 536119 w 5309659"/>
                <a:gd name="connsiteY6" fmla="*/ 1665156 h 5309663"/>
                <a:gd name="connsiteX7" fmla="*/ 632523 w 5309659"/>
                <a:gd name="connsiteY7" fmla="*/ 1578363 h 5309663"/>
                <a:gd name="connsiteX8" fmla="*/ 661454 w 5309659"/>
                <a:gd name="connsiteY8" fmla="*/ 1636186 h 5309663"/>
                <a:gd name="connsiteX9" fmla="*/ 593981 w 5309659"/>
                <a:gd name="connsiteY9" fmla="*/ 1708479 h 5309663"/>
                <a:gd name="connsiteX10" fmla="*/ 613233 w 5309659"/>
                <a:gd name="connsiteY10" fmla="*/ 1804873 h 5309663"/>
                <a:gd name="connsiteX11" fmla="*/ 637304 w 5309659"/>
                <a:gd name="connsiteY11" fmla="*/ 1954328 h 5309663"/>
                <a:gd name="connsiteX12" fmla="*/ 671065 w 5309659"/>
                <a:gd name="connsiteY12" fmla="*/ 2147165 h 5309663"/>
                <a:gd name="connsiteX13" fmla="*/ 511979 w 5309659"/>
                <a:gd name="connsiteY13" fmla="*/ 2142345 h 5309663"/>
                <a:gd name="connsiteX14" fmla="*/ 458937 w 5309659"/>
                <a:gd name="connsiteY14" fmla="*/ 2036301 h 5309663"/>
                <a:gd name="connsiteX15" fmla="*/ 497509 w 5309659"/>
                <a:gd name="connsiteY15" fmla="*/ 1935077 h 5309663"/>
                <a:gd name="connsiteX16" fmla="*/ 361152 w 5309659"/>
                <a:gd name="connsiteY16" fmla="*/ 1664539 h 5309663"/>
                <a:gd name="connsiteX17" fmla="*/ 352540 w 5309659"/>
                <a:gd name="connsiteY17" fmla="*/ 1778930 h 5309663"/>
                <a:gd name="connsiteX18" fmla="*/ 281325 w 5309659"/>
                <a:gd name="connsiteY18" fmla="*/ 1813494 h 5309663"/>
                <a:gd name="connsiteX19" fmla="*/ 354725 w 5309659"/>
                <a:gd name="connsiteY19" fmla="*/ 1850194 h 5309663"/>
                <a:gd name="connsiteX20" fmla="*/ 354725 w 5309659"/>
                <a:gd name="connsiteY20" fmla="*/ 1949508 h 5309663"/>
                <a:gd name="connsiteX21" fmla="*/ 300723 w 5309659"/>
                <a:gd name="connsiteY21" fmla="*/ 1994820 h 5309663"/>
                <a:gd name="connsiteX22" fmla="*/ 233789 w 5309659"/>
                <a:gd name="connsiteY22" fmla="*/ 1996965 h 5309663"/>
                <a:gd name="connsiteX23" fmla="*/ 182010 w 5309659"/>
                <a:gd name="connsiteY23" fmla="*/ 2029335 h 5309663"/>
                <a:gd name="connsiteX24" fmla="*/ 168999 w 5309659"/>
                <a:gd name="connsiteY24" fmla="*/ 2028111 h 5309663"/>
                <a:gd name="connsiteX25" fmla="*/ 263641 w 5309659"/>
                <a:gd name="connsiteY25" fmla="*/ 1732129 h 5309663"/>
                <a:gd name="connsiteX26" fmla="*/ 93641 w 5309659"/>
                <a:gd name="connsiteY26" fmla="*/ 2556960 h 5309663"/>
                <a:gd name="connsiteX27" fmla="*/ 120047 w 5309659"/>
                <a:gd name="connsiteY27" fmla="*/ 2270737 h 5309663"/>
                <a:gd name="connsiteX28" fmla="*/ 189125 w 5309659"/>
                <a:gd name="connsiteY28" fmla="*/ 2267719 h 5309663"/>
                <a:gd name="connsiteX29" fmla="*/ 179404 w 5309659"/>
                <a:gd name="connsiteY29" fmla="*/ 2436416 h 5309663"/>
                <a:gd name="connsiteX30" fmla="*/ 102252 w 5309659"/>
                <a:gd name="connsiteY30" fmla="*/ 2556970 h 5309663"/>
                <a:gd name="connsiteX31" fmla="*/ 4316994 w 5309659"/>
                <a:gd name="connsiteY31" fmla="*/ 4604465 h 5309663"/>
                <a:gd name="connsiteX32" fmla="*/ 4375816 w 5309659"/>
                <a:gd name="connsiteY32" fmla="*/ 4503663 h 5309663"/>
                <a:gd name="connsiteX33" fmla="*/ 4375816 w 5309659"/>
                <a:gd name="connsiteY33" fmla="*/ 4426588 h 5309663"/>
                <a:gd name="connsiteX34" fmla="*/ 4228633 w 5309659"/>
                <a:gd name="connsiteY34" fmla="*/ 4611206 h 5309663"/>
                <a:gd name="connsiteX35" fmla="*/ 4179569 w 5309659"/>
                <a:gd name="connsiteY35" fmla="*/ 4633867 h 5309663"/>
                <a:gd name="connsiteX36" fmla="*/ 4179569 w 5309659"/>
                <a:gd name="connsiteY36" fmla="*/ 4559810 h 5309663"/>
                <a:gd name="connsiteX37" fmla="*/ 4191247 w 5309659"/>
                <a:gd name="connsiteY37" fmla="*/ 4515419 h 5309663"/>
                <a:gd name="connsiteX38" fmla="*/ 4247306 w 5309659"/>
                <a:gd name="connsiteY38" fmla="*/ 4466355 h 5309663"/>
                <a:gd name="connsiteX39" fmla="*/ 4158525 w 5309659"/>
                <a:gd name="connsiteY39" fmla="*/ 4414959 h 5309663"/>
                <a:gd name="connsiteX40" fmla="*/ 4072075 w 5309659"/>
                <a:gd name="connsiteY40" fmla="*/ 4480404 h 5309663"/>
                <a:gd name="connsiteX41" fmla="*/ 4046357 w 5309659"/>
                <a:gd name="connsiteY41" fmla="*/ 4513087 h 5309663"/>
                <a:gd name="connsiteX42" fmla="*/ 3980912 w 5309659"/>
                <a:gd name="connsiteY42" fmla="*/ 4559810 h 5309663"/>
                <a:gd name="connsiteX43" fmla="*/ 3941185 w 5309659"/>
                <a:gd name="connsiteY43" fmla="*/ 4520083 h 5309663"/>
                <a:gd name="connsiteX44" fmla="*/ 3899087 w 5309659"/>
                <a:gd name="connsiteY44" fmla="*/ 4517712 h 5309663"/>
                <a:gd name="connsiteX45" fmla="*/ 3803300 w 5309659"/>
                <a:gd name="connsiteY45" fmla="*/ 4633788 h 5309663"/>
                <a:gd name="connsiteX46" fmla="*/ 3754236 w 5309659"/>
                <a:gd name="connsiteY46" fmla="*/ 4633788 h 5309663"/>
                <a:gd name="connsiteX47" fmla="*/ 3679454 w 5309659"/>
                <a:gd name="connsiteY47" fmla="*/ 4667196 h 5309663"/>
                <a:gd name="connsiteX48" fmla="*/ 3611717 w 5309659"/>
                <a:gd name="connsiteY48" fmla="*/ 4741978 h 5309663"/>
                <a:gd name="connsiteX49" fmla="*/ 3485539 w 5309659"/>
                <a:gd name="connsiteY49" fmla="*/ 4779335 h 5309663"/>
                <a:gd name="connsiteX50" fmla="*/ 3305635 w 5309659"/>
                <a:gd name="connsiteY50" fmla="*/ 4842438 h 5309663"/>
                <a:gd name="connsiteX51" fmla="*/ 3247195 w 5309659"/>
                <a:gd name="connsiteY51" fmla="*/ 4947601 h 5309663"/>
                <a:gd name="connsiteX52" fmla="*/ 3080143 w 5309659"/>
                <a:gd name="connsiteY52" fmla="*/ 5132218 h 5309663"/>
                <a:gd name="connsiteX53" fmla="*/ 3156071 w 5309659"/>
                <a:gd name="connsiteY53" fmla="*/ 5111212 h 5309663"/>
                <a:gd name="connsiteX54" fmla="*/ 3324347 w 5309659"/>
                <a:gd name="connsiteY54" fmla="*/ 5073856 h 5309663"/>
                <a:gd name="connsiteX55" fmla="*/ 3457569 w 5309659"/>
                <a:gd name="connsiteY55" fmla="*/ 5064519 h 5309663"/>
                <a:gd name="connsiteX56" fmla="*/ 3474645 w 5309659"/>
                <a:gd name="connsiteY56" fmla="*/ 5083497 h 5309663"/>
                <a:gd name="connsiteX57" fmla="*/ 2654938 w 5309659"/>
                <a:gd name="connsiteY57" fmla="*/ 5218668 h 5309663"/>
                <a:gd name="connsiteX58" fmla="*/ 983349 w 5309659"/>
                <a:gd name="connsiteY58" fmla="*/ 4596285 h 5309663"/>
                <a:gd name="connsiteX59" fmla="*/ 983349 w 5309659"/>
                <a:gd name="connsiteY59" fmla="*/ 4579336 h 5309663"/>
                <a:gd name="connsiteX60" fmla="*/ 958817 w 5309659"/>
                <a:gd name="connsiteY60" fmla="*/ 4483931 h 5309663"/>
                <a:gd name="connsiteX61" fmla="*/ 860728 w 5309659"/>
                <a:gd name="connsiteY61" fmla="*/ 4383089 h 5309663"/>
                <a:gd name="connsiteX62" fmla="*/ 680902 w 5309659"/>
                <a:gd name="connsiteY62" fmla="*/ 4184158 h 5309663"/>
                <a:gd name="connsiteX63" fmla="*/ 664560 w 5309659"/>
                <a:gd name="connsiteY63" fmla="*/ 4058784 h 5309663"/>
                <a:gd name="connsiteX64" fmla="*/ 661797 w 5309659"/>
                <a:gd name="connsiteY64" fmla="*/ 3982474 h 5309663"/>
                <a:gd name="connsiteX65" fmla="*/ 683576 w 5309659"/>
                <a:gd name="connsiteY65" fmla="*/ 3881632 h 5309663"/>
                <a:gd name="connsiteX66" fmla="*/ 721697 w 5309659"/>
                <a:gd name="connsiteY66" fmla="*/ 3799885 h 5309663"/>
                <a:gd name="connsiteX67" fmla="*/ 721697 w 5309659"/>
                <a:gd name="connsiteY67" fmla="*/ 3647265 h 5309663"/>
                <a:gd name="connsiteX68" fmla="*/ 718934 w 5309659"/>
                <a:gd name="connsiteY68" fmla="*/ 3510987 h 5309663"/>
                <a:gd name="connsiteX69" fmla="*/ 691688 w 5309659"/>
                <a:gd name="connsiteY69" fmla="*/ 3451018 h 5309663"/>
                <a:gd name="connsiteX70" fmla="*/ 585409 w 5309659"/>
                <a:gd name="connsiteY70" fmla="*/ 3480978 h 5309663"/>
                <a:gd name="connsiteX71" fmla="*/ 489965 w 5309659"/>
                <a:gd name="connsiteY71" fmla="*/ 3481056 h 5309663"/>
                <a:gd name="connsiteX72" fmla="*/ 372781 w 5309659"/>
                <a:gd name="connsiteY72" fmla="*/ 3306657 h 5309663"/>
                <a:gd name="connsiteX73" fmla="*/ 310138 w 5309659"/>
                <a:gd name="connsiteY73" fmla="*/ 3260356 h 5309663"/>
                <a:gd name="connsiteX74" fmla="*/ 291034 w 5309659"/>
                <a:gd name="connsiteY74" fmla="*/ 3167704 h 5309663"/>
                <a:gd name="connsiteX75" fmla="*/ 231066 w 5309659"/>
                <a:gd name="connsiteY75" fmla="*/ 3107726 h 5309663"/>
                <a:gd name="connsiteX76" fmla="*/ 231066 w 5309659"/>
                <a:gd name="connsiteY76" fmla="*/ 2990543 h 5309663"/>
                <a:gd name="connsiteX77" fmla="*/ 195630 w 5309659"/>
                <a:gd name="connsiteY77" fmla="*/ 2949522 h 5309663"/>
                <a:gd name="connsiteX78" fmla="*/ 187441 w 5309659"/>
                <a:gd name="connsiteY78" fmla="*/ 2892307 h 5309663"/>
                <a:gd name="connsiteX79" fmla="*/ 152003 w 5309659"/>
                <a:gd name="connsiteY79" fmla="*/ 2750591 h 5309663"/>
                <a:gd name="connsiteX80" fmla="*/ 152003 w 5309659"/>
                <a:gd name="connsiteY80" fmla="*/ 2685185 h 5309663"/>
                <a:gd name="connsiteX81" fmla="*/ 214646 w 5309659"/>
                <a:gd name="connsiteY81" fmla="*/ 2832339 h 5309663"/>
                <a:gd name="connsiteX82" fmla="*/ 282804 w 5309659"/>
                <a:gd name="connsiteY82" fmla="*/ 2927753 h 5309663"/>
                <a:gd name="connsiteX83" fmla="*/ 282804 w 5309659"/>
                <a:gd name="connsiteY83" fmla="*/ 3031348 h 5309663"/>
                <a:gd name="connsiteX84" fmla="*/ 323678 w 5309659"/>
                <a:gd name="connsiteY84" fmla="*/ 3091316 h 5309663"/>
                <a:gd name="connsiteX85" fmla="*/ 389084 w 5309659"/>
                <a:gd name="connsiteY85" fmla="*/ 3227594 h 5309663"/>
                <a:gd name="connsiteX86" fmla="*/ 479022 w 5309659"/>
                <a:gd name="connsiteY86" fmla="*/ 3374747 h 5309663"/>
                <a:gd name="connsiteX87" fmla="*/ 667078 w 5309659"/>
                <a:gd name="connsiteY87" fmla="*/ 3257564 h 5309663"/>
                <a:gd name="connsiteX88" fmla="*/ 702514 w 5309659"/>
                <a:gd name="connsiteY88" fmla="*/ 3189405 h 5309663"/>
                <a:gd name="connsiteX89" fmla="*/ 860571 w 5309659"/>
                <a:gd name="connsiteY89" fmla="*/ 3088563 h 5309663"/>
                <a:gd name="connsiteX90" fmla="*/ 863324 w 5309659"/>
                <a:gd name="connsiteY90" fmla="*/ 3023157 h 5309663"/>
                <a:gd name="connsiteX91" fmla="*/ 920540 w 5309659"/>
                <a:gd name="connsiteY91" fmla="*/ 2911411 h 5309663"/>
                <a:gd name="connsiteX92" fmla="*/ 896008 w 5309659"/>
                <a:gd name="connsiteY92" fmla="*/ 2843252 h 5309663"/>
                <a:gd name="connsiteX93" fmla="*/ 795166 w 5309659"/>
                <a:gd name="connsiteY93" fmla="*/ 2813283 h 5309663"/>
                <a:gd name="connsiteX94" fmla="*/ 727007 w 5309659"/>
                <a:gd name="connsiteY94" fmla="*/ 2742410 h 5309663"/>
                <a:gd name="connsiteX95" fmla="*/ 680706 w 5309659"/>
                <a:gd name="connsiteY95" fmla="*/ 2821473 h 5309663"/>
                <a:gd name="connsiteX96" fmla="*/ 590768 w 5309659"/>
                <a:gd name="connsiteY96" fmla="*/ 2821473 h 5309663"/>
                <a:gd name="connsiteX97" fmla="*/ 577140 w 5309659"/>
                <a:gd name="connsiteY97" fmla="*/ 2758752 h 5309663"/>
                <a:gd name="connsiteX98" fmla="*/ 536266 w 5309659"/>
                <a:gd name="connsiteY98" fmla="*/ 2775094 h 5309663"/>
                <a:gd name="connsiteX99" fmla="*/ 522648 w 5309659"/>
                <a:gd name="connsiteY99" fmla="*/ 2712441 h 5309663"/>
                <a:gd name="connsiteX100" fmla="*/ 438148 w 5309659"/>
                <a:gd name="connsiteY100" fmla="*/ 2603409 h 5309663"/>
                <a:gd name="connsiteX101" fmla="*/ 457243 w 5309659"/>
                <a:gd name="connsiteY101" fmla="*/ 2540687 h 5309663"/>
                <a:gd name="connsiteX102" fmla="*/ 519964 w 5309659"/>
                <a:gd name="connsiteY102" fmla="*/ 2540687 h 5309663"/>
                <a:gd name="connsiteX103" fmla="*/ 585370 w 5309659"/>
                <a:gd name="connsiteY103" fmla="*/ 2630625 h 5309663"/>
                <a:gd name="connsiteX104" fmla="*/ 658926 w 5309659"/>
                <a:gd name="connsiteY104" fmla="*/ 2671499 h 5309663"/>
                <a:gd name="connsiteX105" fmla="*/ 729838 w 5309659"/>
                <a:gd name="connsiteY105" fmla="*/ 2654922 h 5309663"/>
                <a:gd name="connsiteX106" fmla="*/ 811586 w 5309659"/>
                <a:gd name="connsiteY106" fmla="*/ 2728783 h 5309663"/>
                <a:gd name="connsiteX107" fmla="*/ 934207 w 5309659"/>
                <a:gd name="connsiteY107" fmla="*/ 2739697 h 5309663"/>
                <a:gd name="connsiteX108" fmla="*/ 1171327 w 5309659"/>
                <a:gd name="connsiteY108" fmla="*/ 2750601 h 5309663"/>
                <a:gd name="connsiteX109" fmla="*/ 1242199 w 5309659"/>
                <a:gd name="connsiteY109" fmla="*/ 2807816 h 5309663"/>
                <a:gd name="connsiteX110" fmla="*/ 1315756 w 5309659"/>
                <a:gd name="connsiteY110" fmla="*/ 2840499 h 5309663"/>
                <a:gd name="connsiteX111" fmla="*/ 1394829 w 5309659"/>
                <a:gd name="connsiteY111" fmla="*/ 2843252 h 5309663"/>
                <a:gd name="connsiteX112" fmla="*/ 1332176 w 5309659"/>
                <a:gd name="connsiteY112" fmla="*/ 2875936 h 5309663"/>
                <a:gd name="connsiteX113" fmla="*/ 1394829 w 5309659"/>
                <a:gd name="connsiteY113" fmla="*/ 2952246 h 5309663"/>
                <a:gd name="connsiteX114" fmla="*/ 1476567 w 5309659"/>
                <a:gd name="connsiteY114" fmla="*/ 2979492 h 5309663"/>
                <a:gd name="connsiteX115" fmla="*/ 1517440 w 5309659"/>
                <a:gd name="connsiteY115" fmla="*/ 2889554 h 5309663"/>
                <a:gd name="connsiteX116" fmla="*/ 1517440 w 5309659"/>
                <a:gd name="connsiteY116" fmla="*/ 3053048 h 5309663"/>
                <a:gd name="connsiteX117" fmla="*/ 1732713 w 5309659"/>
                <a:gd name="connsiteY117" fmla="*/ 3420980 h 5309663"/>
                <a:gd name="connsiteX118" fmla="*/ 1901675 w 5309659"/>
                <a:gd name="connsiteY118" fmla="*/ 3617227 h 5309663"/>
                <a:gd name="connsiteX119" fmla="*/ 1980738 w 5309659"/>
                <a:gd name="connsiteY119" fmla="*/ 3524575 h 5309663"/>
                <a:gd name="connsiteX120" fmla="*/ 1980738 w 5309659"/>
                <a:gd name="connsiteY120" fmla="*/ 3431924 h 5309663"/>
                <a:gd name="connsiteX121" fmla="*/ 1980738 w 5309659"/>
                <a:gd name="connsiteY121" fmla="*/ 3292961 h 5309663"/>
                <a:gd name="connsiteX122" fmla="*/ 2027049 w 5309659"/>
                <a:gd name="connsiteY122" fmla="*/ 3197556 h 5309663"/>
                <a:gd name="connsiteX123" fmla="*/ 2220542 w 5309659"/>
                <a:gd name="connsiteY123" fmla="*/ 3012214 h 5309663"/>
                <a:gd name="connsiteX124" fmla="*/ 2302289 w 5309659"/>
                <a:gd name="connsiteY124" fmla="*/ 2916809 h 5309663"/>
                <a:gd name="connsiteX125" fmla="*/ 2476688 w 5309659"/>
                <a:gd name="connsiteY125" fmla="*/ 2851404 h 5309663"/>
                <a:gd name="connsiteX126" fmla="*/ 2550246 w 5309659"/>
                <a:gd name="connsiteY126" fmla="*/ 2840499 h 5309663"/>
                <a:gd name="connsiteX127" fmla="*/ 2654918 w 5309659"/>
                <a:gd name="connsiteY127" fmla="*/ 2944134 h 5309663"/>
                <a:gd name="connsiteX128" fmla="*/ 2746610 w 5309659"/>
                <a:gd name="connsiteY128" fmla="*/ 3091287 h 5309663"/>
                <a:gd name="connsiteX129" fmla="*/ 2782046 w 5309659"/>
                <a:gd name="connsiteY129" fmla="*/ 3189376 h 5309663"/>
                <a:gd name="connsiteX130" fmla="*/ 2899230 w 5309659"/>
                <a:gd name="connsiteY130" fmla="*/ 3140312 h 5309663"/>
                <a:gd name="connsiteX131" fmla="*/ 2942856 w 5309659"/>
                <a:gd name="connsiteY131" fmla="*/ 3219374 h 5309663"/>
                <a:gd name="connsiteX132" fmla="*/ 3008262 w 5309659"/>
                <a:gd name="connsiteY132" fmla="*/ 3404717 h 5309663"/>
                <a:gd name="connsiteX133" fmla="*/ 2983730 w 5309659"/>
                <a:gd name="connsiteY133" fmla="*/ 3568212 h 5309663"/>
                <a:gd name="connsiteX134" fmla="*/ 3010985 w 5309659"/>
                <a:gd name="connsiteY134" fmla="*/ 3587306 h 5309663"/>
                <a:gd name="connsiteX135" fmla="*/ 3049096 w 5309659"/>
                <a:gd name="connsiteY135" fmla="*/ 3619990 h 5309663"/>
                <a:gd name="connsiteX136" fmla="*/ 3100874 w 5309659"/>
                <a:gd name="connsiteY136" fmla="*/ 3696300 h 5309663"/>
                <a:gd name="connsiteX137" fmla="*/ 3133558 w 5309659"/>
                <a:gd name="connsiteY137" fmla="*/ 3824387 h 5309663"/>
                <a:gd name="connsiteX138" fmla="*/ 3286177 w 5309659"/>
                <a:gd name="connsiteY138" fmla="*/ 3917039 h 5309663"/>
                <a:gd name="connsiteX139" fmla="*/ 3264408 w 5309659"/>
                <a:gd name="connsiteY139" fmla="*/ 3772570 h 5309663"/>
                <a:gd name="connsiteX140" fmla="*/ 3237152 w 5309659"/>
                <a:gd name="connsiteY140" fmla="*/ 3693507 h 5309663"/>
                <a:gd name="connsiteX141" fmla="*/ 3125406 w 5309659"/>
                <a:gd name="connsiteY141" fmla="*/ 3633539 h 5309663"/>
                <a:gd name="connsiteX142" fmla="*/ 3111788 w 5309659"/>
                <a:gd name="connsiteY142" fmla="*/ 3569515 h 5309663"/>
                <a:gd name="connsiteX143" fmla="*/ 3062724 w 5309659"/>
                <a:gd name="connsiteY143" fmla="*/ 3527260 h 5309663"/>
                <a:gd name="connsiteX144" fmla="*/ 3049096 w 5309659"/>
                <a:gd name="connsiteY144" fmla="*/ 3491823 h 5309663"/>
                <a:gd name="connsiteX145" fmla="*/ 3093840 w 5309659"/>
                <a:gd name="connsiteY145" fmla="*/ 3347316 h 5309663"/>
                <a:gd name="connsiteX146" fmla="*/ 3169876 w 5309659"/>
                <a:gd name="connsiteY146" fmla="*/ 3388228 h 5309663"/>
                <a:gd name="connsiteX147" fmla="*/ 3357021 w 5309659"/>
                <a:gd name="connsiteY147" fmla="*/ 3569515 h 5309663"/>
                <a:gd name="connsiteX148" fmla="*/ 3392153 w 5309659"/>
                <a:gd name="connsiteY148" fmla="*/ 3511036 h 5309663"/>
                <a:gd name="connsiteX149" fmla="*/ 3526668 w 5309659"/>
                <a:gd name="connsiteY149" fmla="*/ 3481801 h 5309663"/>
                <a:gd name="connsiteX150" fmla="*/ 3614382 w 5309659"/>
                <a:gd name="connsiteY150" fmla="*/ 3399936 h 5309663"/>
                <a:gd name="connsiteX151" fmla="*/ 3544195 w 5309659"/>
                <a:gd name="connsiteY151" fmla="*/ 3201123 h 5309663"/>
                <a:gd name="connsiteX152" fmla="*/ 3392143 w 5309659"/>
                <a:gd name="connsiteY152" fmla="*/ 3095842 h 5309663"/>
                <a:gd name="connsiteX153" fmla="*/ 3392143 w 5309659"/>
                <a:gd name="connsiteY153" fmla="*/ 2967177 h 5309663"/>
                <a:gd name="connsiteX154" fmla="*/ 3514911 w 5309659"/>
                <a:gd name="connsiteY154" fmla="*/ 2902888 h 5309663"/>
                <a:gd name="connsiteX155" fmla="*/ 3637679 w 5309659"/>
                <a:gd name="connsiteY155" fmla="*/ 2967177 h 5309663"/>
                <a:gd name="connsiteX156" fmla="*/ 3666924 w 5309659"/>
                <a:gd name="connsiteY156" fmla="*/ 2879463 h 5309663"/>
                <a:gd name="connsiteX157" fmla="*/ 3883303 w 5309659"/>
                <a:gd name="connsiteY157" fmla="*/ 2838550 h 5309663"/>
                <a:gd name="connsiteX158" fmla="*/ 4093824 w 5309659"/>
                <a:gd name="connsiteY158" fmla="*/ 2654932 h 5309663"/>
                <a:gd name="connsiteX159" fmla="*/ 4158192 w 5309659"/>
                <a:gd name="connsiteY159" fmla="*/ 2394122 h 5309663"/>
                <a:gd name="connsiteX160" fmla="*/ 4023677 w 5309659"/>
                <a:gd name="connsiteY160" fmla="*/ 2125122 h 5309663"/>
                <a:gd name="connsiteX161" fmla="*/ 3924256 w 5309659"/>
                <a:gd name="connsiteY161" fmla="*/ 2025700 h 5309663"/>
                <a:gd name="connsiteX162" fmla="*/ 4093834 w 5309659"/>
                <a:gd name="connsiteY162" fmla="*/ 1955514 h 5309663"/>
                <a:gd name="connsiteX163" fmla="*/ 4023648 w 5309659"/>
                <a:gd name="connsiteY163" fmla="*/ 1920381 h 5309663"/>
                <a:gd name="connsiteX164" fmla="*/ 3877415 w 5309659"/>
                <a:gd name="connsiteY164" fmla="*/ 1973002 h 5309663"/>
                <a:gd name="connsiteX165" fmla="*/ 3772135 w 5309659"/>
                <a:gd name="connsiteY165" fmla="*/ 1867721 h 5309663"/>
                <a:gd name="connsiteX166" fmla="*/ 3889094 w 5309659"/>
                <a:gd name="connsiteY166" fmla="*/ 1698143 h 5309663"/>
                <a:gd name="connsiteX167" fmla="*/ 3965139 w 5309659"/>
                <a:gd name="connsiteY167" fmla="*/ 1785866 h 5309663"/>
                <a:gd name="connsiteX168" fmla="*/ 4070419 w 5309659"/>
                <a:gd name="connsiteY168" fmla="*/ 1780008 h 5309663"/>
                <a:gd name="connsiteX169" fmla="*/ 4111322 w 5309659"/>
                <a:gd name="connsiteY169" fmla="*/ 1908674 h 5309663"/>
                <a:gd name="connsiteX170" fmla="*/ 4228281 w 5309659"/>
                <a:gd name="connsiteY170" fmla="*/ 1961294 h 5309663"/>
                <a:gd name="connsiteX171" fmla="*/ 4298477 w 5309659"/>
                <a:gd name="connsiteY171" fmla="*/ 2125014 h 5309663"/>
                <a:gd name="connsiteX172" fmla="*/ 4356947 w 5309659"/>
                <a:gd name="connsiteY172" fmla="*/ 2072394 h 5309663"/>
                <a:gd name="connsiteX173" fmla="*/ 4356947 w 5309659"/>
                <a:gd name="connsiteY173" fmla="*/ 1949626 h 5309663"/>
                <a:gd name="connsiteX174" fmla="*/ 4222432 w 5309659"/>
                <a:gd name="connsiteY174" fmla="*/ 1809291 h 5309663"/>
                <a:gd name="connsiteX175" fmla="*/ 4239998 w 5309659"/>
                <a:gd name="connsiteY175" fmla="*/ 1698192 h 5309663"/>
                <a:gd name="connsiteX176" fmla="*/ 4251676 w 5309659"/>
                <a:gd name="connsiteY176" fmla="*/ 1616327 h 5309663"/>
                <a:gd name="connsiteX177" fmla="*/ 4380342 w 5309659"/>
                <a:gd name="connsiteY177" fmla="*/ 1616327 h 5309663"/>
                <a:gd name="connsiteX178" fmla="*/ 4415475 w 5309659"/>
                <a:gd name="connsiteY178" fmla="*/ 1464275 h 5309663"/>
                <a:gd name="connsiteX179" fmla="*/ 4333610 w 5309659"/>
                <a:gd name="connsiteY179" fmla="*/ 1119230 h 5309663"/>
                <a:gd name="connsiteX180" fmla="*/ 4123089 w 5309659"/>
                <a:gd name="connsiteY180" fmla="*/ 885288 h 5309663"/>
                <a:gd name="connsiteX181" fmla="*/ 3868667 w 5309659"/>
                <a:gd name="connsiteY181" fmla="*/ 815100 h 5309663"/>
                <a:gd name="connsiteX182" fmla="*/ 3807287 w 5309659"/>
                <a:gd name="connsiteY182" fmla="*/ 563666 h 5309663"/>
                <a:gd name="connsiteX183" fmla="*/ 3930055 w 5309659"/>
                <a:gd name="connsiteY183" fmla="*/ 475951 h 5309663"/>
                <a:gd name="connsiteX184" fmla="*/ 3895266 w 5309659"/>
                <a:gd name="connsiteY184" fmla="*/ 412193 h 5309663"/>
                <a:gd name="connsiteX185" fmla="*/ 5218566 w 5309659"/>
                <a:gd name="connsiteY185" fmla="*/ 2654853 h 5309663"/>
                <a:gd name="connsiteX186" fmla="*/ 4317072 w 5309659"/>
                <a:gd name="connsiteY186" fmla="*/ 4604485 h 530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5309659" h="5309663">
                  <a:moveTo>
                    <a:pt x="2654830" y="0"/>
                  </a:moveTo>
                  <a:cubicBezTo>
                    <a:pt x="1190843" y="0"/>
                    <a:pt x="0" y="1190945"/>
                    <a:pt x="0" y="2654834"/>
                  </a:cubicBezTo>
                  <a:cubicBezTo>
                    <a:pt x="0" y="4118723"/>
                    <a:pt x="1190941" y="5309664"/>
                    <a:pt x="2654830" y="5309664"/>
                  </a:cubicBezTo>
                  <a:cubicBezTo>
                    <a:pt x="4118719" y="5309664"/>
                    <a:pt x="5309660" y="4118723"/>
                    <a:pt x="5309660" y="2654834"/>
                  </a:cubicBezTo>
                  <a:cubicBezTo>
                    <a:pt x="5309660" y="1190945"/>
                    <a:pt x="4118719" y="0"/>
                    <a:pt x="2654830" y="0"/>
                  </a:cubicBezTo>
                  <a:close/>
                  <a:moveTo>
                    <a:pt x="478297" y="1732629"/>
                  </a:moveTo>
                  <a:lnTo>
                    <a:pt x="536119" y="1665156"/>
                  </a:lnTo>
                  <a:lnTo>
                    <a:pt x="632523" y="1578363"/>
                  </a:lnTo>
                  <a:lnTo>
                    <a:pt x="661454" y="1636186"/>
                  </a:lnTo>
                  <a:lnTo>
                    <a:pt x="593981" y="1708479"/>
                  </a:lnTo>
                  <a:lnTo>
                    <a:pt x="613233" y="1804873"/>
                  </a:lnTo>
                  <a:lnTo>
                    <a:pt x="637304" y="1954328"/>
                  </a:lnTo>
                  <a:lnTo>
                    <a:pt x="671065" y="2147165"/>
                  </a:lnTo>
                  <a:lnTo>
                    <a:pt x="511979" y="2142345"/>
                  </a:lnTo>
                  <a:lnTo>
                    <a:pt x="458937" y="2036301"/>
                  </a:lnTo>
                  <a:lnTo>
                    <a:pt x="497509" y="1935077"/>
                  </a:lnTo>
                  <a:close/>
                  <a:moveTo>
                    <a:pt x="361152" y="1664539"/>
                  </a:moveTo>
                  <a:lnTo>
                    <a:pt x="352540" y="1778930"/>
                  </a:lnTo>
                  <a:lnTo>
                    <a:pt x="281325" y="1813494"/>
                  </a:lnTo>
                  <a:lnTo>
                    <a:pt x="354725" y="1850194"/>
                  </a:lnTo>
                  <a:lnTo>
                    <a:pt x="354725" y="1949508"/>
                  </a:lnTo>
                  <a:lnTo>
                    <a:pt x="300723" y="1994820"/>
                  </a:lnTo>
                  <a:lnTo>
                    <a:pt x="233789" y="1996965"/>
                  </a:lnTo>
                  <a:lnTo>
                    <a:pt x="182010" y="2029335"/>
                  </a:lnTo>
                  <a:lnTo>
                    <a:pt x="168999" y="2028111"/>
                  </a:lnTo>
                  <a:cubicBezTo>
                    <a:pt x="194525" y="1926886"/>
                    <a:pt x="226441" y="1828229"/>
                    <a:pt x="263641" y="1732129"/>
                  </a:cubicBezTo>
                  <a:close/>
                  <a:moveTo>
                    <a:pt x="93641" y="2556960"/>
                  </a:moveTo>
                  <a:cubicBezTo>
                    <a:pt x="97315" y="2460145"/>
                    <a:pt x="105888" y="2364535"/>
                    <a:pt x="120047" y="2270737"/>
                  </a:cubicBezTo>
                  <a:lnTo>
                    <a:pt x="189125" y="2267719"/>
                  </a:lnTo>
                  <a:lnTo>
                    <a:pt x="179404" y="2436416"/>
                  </a:lnTo>
                  <a:lnTo>
                    <a:pt x="102252" y="2556970"/>
                  </a:lnTo>
                  <a:close/>
                  <a:moveTo>
                    <a:pt x="4316994" y="4604465"/>
                  </a:moveTo>
                  <a:lnTo>
                    <a:pt x="4375816" y="4503663"/>
                  </a:lnTo>
                  <a:lnTo>
                    <a:pt x="4375816" y="4426588"/>
                  </a:lnTo>
                  <a:lnTo>
                    <a:pt x="4228633" y="4611206"/>
                  </a:lnTo>
                  <a:lnTo>
                    <a:pt x="4179569" y="4633867"/>
                  </a:lnTo>
                  <a:lnTo>
                    <a:pt x="4179569" y="4559810"/>
                  </a:lnTo>
                  <a:lnTo>
                    <a:pt x="4191247" y="4515419"/>
                  </a:lnTo>
                  <a:lnTo>
                    <a:pt x="4247306" y="4466355"/>
                  </a:lnTo>
                  <a:lnTo>
                    <a:pt x="4158525" y="4414959"/>
                  </a:lnTo>
                  <a:lnTo>
                    <a:pt x="4072075" y="4480404"/>
                  </a:lnTo>
                  <a:lnTo>
                    <a:pt x="4046357" y="4513087"/>
                  </a:lnTo>
                  <a:lnTo>
                    <a:pt x="3980912" y="4559810"/>
                  </a:lnTo>
                  <a:lnTo>
                    <a:pt x="3941185" y="4520083"/>
                  </a:lnTo>
                  <a:lnTo>
                    <a:pt x="3899087" y="4517712"/>
                  </a:lnTo>
                  <a:cubicBezTo>
                    <a:pt x="3899087" y="4517712"/>
                    <a:pt x="3812637" y="4618171"/>
                    <a:pt x="3803300" y="4633788"/>
                  </a:cubicBezTo>
                  <a:cubicBezTo>
                    <a:pt x="3793963" y="4649444"/>
                    <a:pt x="3754236" y="4633788"/>
                    <a:pt x="3754236" y="4633788"/>
                  </a:cubicBezTo>
                  <a:lnTo>
                    <a:pt x="3679454" y="4667196"/>
                  </a:lnTo>
                  <a:lnTo>
                    <a:pt x="3611717" y="4741978"/>
                  </a:lnTo>
                  <a:lnTo>
                    <a:pt x="3485539" y="4779335"/>
                  </a:lnTo>
                  <a:lnTo>
                    <a:pt x="3305635" y="4842438"/>
                  </a:lnTo>
                  <a:lnTo>
                    <a:pt x="3247195" y="4947601"/>
                  </a:lnTo>
                  <a:lnTo>
                    <a:pt x="3080143" y="5132218"/>
                  </a:lnTo>
                  <a:lnTo>
                    <a:pt x="3156071" y="5111212"/>
                  </a:lnTo>
                  <a:lnTo>
                    <a:pt x="3324347" y="5073856"/>
                  </a:lnTo>
                  <a:lnTo>
                    <a:pt x="3457569" y="5064519"/>
                  </a:lnTo>
                  <a:lnTo>
                    <a:pt x="3474645" y="5083497"/>
                  </a:lnTo>
                  <a:cubicBezTo>
                    <a:pt x="3217049" y="5170681"/>
                    <a:pt x="2941583" y="5218668"/>
                    <a:pt x="2654938" y="5218668"/>
                  </a:cubicBezTo>
                  <a:cubicBezTo>
                    <a:pt x="2016634" y="5218668"/>
                    <a:pt x="1432548" y="4983615"/>
                    <a:pt x="983349" y="4596285"/>
                  </a:cubicBezTo>
                  <a:lnTo>
                    <a:pt x="983349" y="4579336"/>
                  </a:lnTo>
                  <a:lnTo>
                    <a:pt x="958817" y="4483931"/>
                  </a:lnTo>
                  <a:lnTo>
                    <a:pt x="860728" y="4383089"/>
                  </a:lnTo>
                  <a:lnTo>
                    <a:pt x="680902" y="4184158"/>
                  </a:lnTo>
                  <a:lnTo>
                    <a:pt x="664560" y="4058784"/>
                  </a:lnTo>
                  <a:lnTo>
                    <a:pt x="661797" y="3982474"/>
                  </a:lnTo>
                  <a:lnTo>
                    <a:pt x="683576" y="3881632"/>
                  </a:lnTo>
                  <a:lnTo>
                    <a:pt x="721697" y="3799885"/>
                  </a:lnTo>
                  <a:lnTo>
                    <a:pt x="721697" y="3647265"/>
                  </a:lnTo>
                  <a:lnTo>
                    <a:pt x="718934" y="3510987"/>
                  </a:lnTo>
                  <a:lnTo>
                    <a:pt x="691688" y="3451018"/>
                  </a:lnTo>
                  <a:lnTo>
                    <a:pt x="585409" y="3480978"/>
                  </a:lnTo>
                  <a:lnTo>
                    <a:pt x="489965" y="3481056"/>
                  </a:lnTo>
                  <a:lnTo>
                    <a:pt x="372781" y="3306657"/>
                  </a:lnTo>
                  <a:lnTo>
                    <a:pt x="310138" y="3260356"/>
                  </a:lnTo>
                  <a:lnTo>
                    <a:pt x="291034" y="3167704"/>
                  </a:lnTo>
                  <a:lnTo>
                    <a:pt x="231066" y="3107726"/>
                  </a:lnTo>
                  <a:lnTo>
                    <a:pt x="231066" y="2990543"/>
                  </a:lnTo>
                  <a:lnTo>
                    <a:pt x="195630" y="2949522"/>
                  </a:lnTo>
                  <a:lnTo>
                    <a:pt x="187441" y="2892307"/>
                  </a:lnTo>
                  <a:lnTo>
                    <a:pt x="152003" y="2750591"/>
                  </a:lnTo>
                  <a:lnTo>
                    <a:pt x="152003" y="2685185"/>
                  </a:lnTo>
                  <a:lnTo>
                    <a:pt x="214646" y="2832339"/>
                  </a:lnTo>
                  <a:lnTo>
                    <a:pt x="282804" y="2927753"/>
                  </a:lnTo>
                  <a:lnTo>
                    <a:pt x="282804" y="3031348"/>
                  </a:lnTo>
                  <a:lnTo>
                    <a:pt x="323678" y="3091316"/>
                  </a:lnTo>
                  <a:lnTo>
                    <a:pt x="389084" y="3227594"/>
                  </a:lnTo>
                  <a:lnTo>
                    <a:pt x="479022" y="3374747"/>
                  </a:lnTo>
                  <a:lnTo>
                    <a:pt x="667078" y="3257564"/>
                  </a:lnTo>
                  <a:lnTo>
                    <a:pt x="702514" y="3189405"/>
                  </a:lnTo>
                  <a:lnTo>
                    <a:pt x="860571" y="3088563"/>
                  </a:lnTo>
                  <a:lnTo>
                    <a:pt x="863324" y="3023157"/>
                  </a:lnTo>
                  <a:lnTo>
                    <a:pt x="920540" y="2911411"/>
                  </a:lnTo>
                  <a:lnTo>
                    <a:pt x="896008" y="2843252"/>
                  </a:lnTo>
                  <a:lnTo>
                    <a:pt x="795166" y="2813283"/>
                  </a:lnTo>
                  <a:lnTo>
                    <a:pt x="727007" y="2742410"/>
                  </a:lnTo>
                  <a:lnTo>
                    <a:pt x="680706" y="2821473"/>
                  </a:lnTo>
                  <a:lnTo>
                    <a:pt x="590768" y="2821473"/>
                  </a:lnTo>
                  <a:lnTo>
                    <a:pt x="577140" y="2758752"/>
                  </a:lnTo>
                  <a:lnTo>
                    <a:pt x="536266" y="2775094"/>
                  </a:lnTo>
                  <a:lnTo>
                    <a:pt x="522648" y="2712441"/>
                  </a:lnTo>
                  <a:lnTo>
                    <a:pt x="438148" y="2603409"/>
                  </a:lnTo>
                  <a:lnTo>
                    <a:pt x="457243" y="2540687"/>
                  </a:lnTo>
                  <a:lnTo>
                    <a:pt x="519964" y="2540687"/>
                  </a:lnTo>
                  <a:lnTo>
                    <a:pt x="585370" y="2630625"/>
                  </a:lnTo>
                  <a:lnTo>
                    <a:pt x="658926" y="2671499"/>
                  </a:lnTo>
                  <a:lnTo>
                    <a:pt x="729838" y="2654922"/>
                  </a:lnTo>
                  <a:lnTo>
                    <a:pt x="811586" y="2728783"/>
                  </a:lnTo>
                  <a:lnTo>
                    <a:pt x="934207" y="2739697"/>
                  </a:lnTo>
                  <a:lnTo>
                    <a:pt x="1171327" y="2750601"/>
                  </a:lnTo>
                  <a:lnTo>
                    <a:pt x="1242199" y="2807816"/>
                  </a:lnTo>
                  <a:lnTo>
                    <a:pt x="1315756" y="2840499"/>
                  </a:lnTo>
                  <a:lnTo>
                    <a:pt x="1394829" y="2843252"/>
                  </a:lnTo>
                  <a:lnTo>
                    <a:pt x="1332176" y="2875936"/>
                  </a:lnTo>
                  <a:lnTo>
                    <a:pt x="1394829" y="2952246"/>
                  </a:lnTo>
                  <a:lnTo>
                    <a:pt x="1476567" y="2979492"/>
                  </a:lnTo>
                  <a:lnTo>
                    <a:pt x="1517440" y="2889554"/>
                  </a:lnTo>
                  <a:lnTo>
                    <a:pt x="1517440" y="3053048"/>
                  </a:lnTo>
                  <a:lnTo>
                    <a:pt x="1732713" y="3420980"/>
                  </a:lnTo>
                  <a:lnTo>
                    <a:pt x="1901675" y="3617227"/>
                  </a:lnTo>
                  <a:cubicBezTo>
                    <a:pt x="1901675" y="3617227"/>
                    <a:pt x="1969833" y="3538164"/>
                    <a:pt x="1980738" y="3524575"/>
                  </a:cubicBezTo>
                  <a:cubicBezTo>
                    <a:pt x="1991651" y="3510957"/>
                    <a:pt x="1980738" y="3431924"/>
                    <a:pt x="1980738" y="3431924"/>
                  </a:cubicBezTo>
                  <a:lnTo>
                    <a:pt x="1980738" y="3292961"/>
                  </a:lnTo>
                  <a:lnTo>
                    <a:pt x="2027049" y="3197556"/>
                  </a:lnTo>
                  <a:lnTo>
                    <a:pt x="2220542" y="3012214"/>
                  </a:lnTo>
                  <a:lnTo>
                    <a:pt x="2302289" y="2916809"/>
                  </a:lnTo>
                  <a:lnTo>
                    <a:pt x="2476688" y="2851404"/>
                  </a:lnTo>
                  <a:lnTo>
                    <a:pt x="2550246" y="2840499"/>
                  </a:lnTo>
                  <a:lnTo>
                    <a:pt x="2654918" y="2944134"/>
                  </a:lnTo>
                  <a:lnTo>
                    <a:pt x="2746610" y="3091287"/>
                  </a:lnTo>
                  <a:lnTo>
                    <a:pt x="2782046" y="3189376"/>
                  </a:lnTo>
                  <a:lnTo>
                    <a:pt x="2899230" y="3140312"/>
                  </a:lnTo>
                  <a:lnTo>
                    <a:pt x="2942856" y="3219374"/>
                  </a:lnTo>
                  <a:lnTo>
                    <a:pt x="3008262" y="3404717"/>
                  </a:lnTo>
                  <a:lnTo>
                    <a:pt x="2983730" y="3568212"/>
                  </a:lnTo>
                  <a:lnTo>
                    <a:pt x="3010985" y="3587306"/>
                  </a:lnTo>
                  <a:lnTo>
                    <a:pt x="3049096" y="3619990"/>
                  </a:lnTo>
                  <a:lnTo>
                    <a:pt x="3100874" y="3696300"/>
                  </a:lnTo>
                  <a:lnTo>
                    <a:pt x="3133558" y="3824387"/>
                  </a:lnTo>
                  <a:lnTo>
                    <a:pt x="3286177" y="3917039"/>
                  </a:lnTo>
                  <a:lnTo>
                    <a:pt x="3264408" y="3772570"/>
                  </a:lnTo>
                  <a:lnTo>
                    <a:pt x="3237152" y="3693507"/>
                  </a:lnTo>
                  <a:lnTo>
                    <a:pt x="3125406" y="3633539"/>
                  </a:lnTo>
                  <a:lnTo>
                    <a:pt x="3111788" y="3569515"/>
                  </a:lnTo>
                  <a:lnTo>
                    <a:pt x="3062724" y="3527260"/>
                  </a:lnTo>
                  <a:lnTo>
                    <a:pt x="3049096" y="3491823"/>
                  </a:lnTo>
                  <a:lnTo>
                    <a:pt x="3093840" y="3347316"/>
                  </a:lnTo>
                  <a:lnTo>
                    <a:pt x="3169876" y="3388228"/>
                  </a:lnTo>
                  <a:lnTo>
                    <a:pt x="3357021" y="3569515"/>
                  </a:lnTo>
                  <a:lnTo>
                    <a:pt x="3392153" y="3511036"/>
                  </a:lnTo>
                  <a:lnTo>
                    <a:pt x="3526668" y="3481801"/>
                  </a:lnTo>
                  <a:lnTo>
                    <a:pt x="3614382" y="3399936"/>
                  </a:lnTo>
                  <a:lnTo>
                    <a:pt x="3544195" y="3201123"/>
                  </a:lnTo>
                  <a:lnTo>
                    <a:pt x="3392143" y="3095842"/>
                  </a:lnTo>
                  <a:lnTo>
                    <a:pt x="3392143" y="2967177"/>
                  </a:lnTo>
                  <a:lnTo>
                    <a:pt x="3514911" y="2902888"/>
                  </a:lnTo>
                  <a:lnTo>
                    <a:pt x="3637679" y="2967177"/>
                  </a:lnTo>
                  <a:lnTo>
                    <a:pt x="3666924" y="2879463"/>
                  </a:lnTo>
                  <a:lnTo>
                    <a:pt x="3883303" y="2838550"/>
                  </a:lnTo>
                  <a:lnTo>
                    <a:pt x="4093824" y="2654932"/>
                  </a:lnTo>
                  <a:lnTo>
                    <a:pt x="4158192" y="2394122"/>
                  </a:lnTo>
                  <a:lnTo>
                    <a:pt x="4023677" y="2125122"/>
                  </a:lnTo>
                  <a:lnTo>
                    <a:pt x="3924256" y="2025700"/>
                  </a:lnTo>
                  <a:lnTo>
                    <a:pt x="4093834" y="1955514"/>
                  </a:lnTo>
                  <a:lnTo>
                    <a:pt x="4023648" y="1920381"/>
                  </a:lnTo>
                  <a:lnTo>
                    <a:pt x="3877415" y="1973002"/>
                  </a:lnTo>
                  <a:lnTo>
                    <a:pt x="3772135" y="1867721"/>
                  </a:lnTo>
                  <a:lnTo>
                    <a:pt x="3889094" y="1698143"/>
                  </a:lnTo>
                  <a:lnTo>
                    <a:pt x="3965139" y="1785866"/>
                  </a:lnTo>
                  <a:lnTo>
                    <a:pt x="4070419" y="1780008"/>
                  </a:lnTo>
                  <a:lnTo>
                    <a:pt x="4111322" y="1908674"/>
                  </a:lnTo>
                  <a:lnTo>
                    <a:pt x="4228281" y="1961294"/>
                  </a:lnTo>
                  <a:lnTo>
                    <a:pt x="4298477" y="2125014"/>
                  </a:lnTo>
                  <a:lnTo>
                    <a:pt x="4356947" y="2072394"/>
                  </a:lnTo>
                  <a:lnTo>
                    <a:pt x="4356947" y="1949626"/>
                  </a:lnTo>
                  <a:lnTo>
                    <a:pt x="4222432" y="1809291"/>
                  </a:lnTo>
                  <a:lnTo>
                    <a:pt x="4239998" y="1698192"/>
                  </a:lnTo>
                  <a:lnTo>
                    <a:pt x="4251676" y="1616327"/>
                  </a:lnTo>
                  <a:lnTo>
                    <a:pt x="4380342" y="1616327"/>
                  </a:lnTo>
                  <a:lnTo>
                    <a:pt x="4415475" y="1464275"/>
                  </a:lnTo>
                  <a:lnTo>
                    <a:pt x="4333610" y="1119230"/>
                  </a:lnTo>
                  <a:lnTo>
                    <a:pt x="4123089" y="885288"/>
                  </a:lnTo>
                  <a:lnTo>
                    <a:pt x="3868667" y="815100"/>
                  </a:lnTo>
                  <a:lnTo>
                    <a:pt x="3807287" y="563666"/>
                  </a:lnTo>
                  <a:lnTo>
                    <a:pt x="3930055" y="475951"/>
                  </a:lnTo>
                  <a:lnTo>
                    <a:pt x="3895266" y="412193"/>
                  </a:lnTo>
                  <a:cubicBezTo>
                    <a:pt x="4683672" y="849969"/>
                    <a:pt x="5218566" y="1690912"/>
                    <a:pt x="5218566" y="2654853"/>
                  </a:cubicBezTo>
                  <a:cubicBezTo>
                    <a:pt x="5218674" y="3434755"/>
                    <a:pt x="4868240" y="4133830"/>
                    <a:pt x="4317072" y="4604485"/>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 name="Freeform: Shape 19">
              <a:extLst>
                <a:ext uri="{FF2B5EF4-FFF2-40B4-BE49-F238E27FC236}">
                  <a16:creationId xmlns:a16="http://schemas.microsoft.com/office/drawing/2014/main" id="{0053B59B-8F53-E3F0-471B-EEF862A2B699}"/>
                </a:ext>
              </a:extLst>
            </p:cNvPr>
            <p:cNvSpPr/>
            <p:nvPr/>
          </p:nvSpPr>
          <p:spPr>
            <a:xfrm>
              <a:off x="15195520" y="3626902"/>
              <a:ext cx="100459" cy="182246"/>
            </a:xfrm>
            <a:custGeom>
              <a:avLst/>
              <a:gdLst>
                <a:gd name="connsiteX0" fmla="*/ 13971 w 100459"/>
                <a:gd name="connsiteY0" fmla="*/ 0 h 182246"/>
                <a:gd name="connsiteX1" fmla="*/ 0 w 100459"/>
                <a:gd name="connsiteY1" fmla="*/ 32683 h 182246"/>
                <a:gd name="connsiteX2" fmla="*/ 6966 w 100459"/>
                <a:gd name="connsiteY2" fmla="*/ 140187 h 182246"/>
                <a:gd name="connsiteX3" fmla="*/ 51396 w 100459"/>
                <a:gd name="connsiteY3" fmla="*/ 182246 h 182246"/>
                <a:gd name="connsiteX4" fmla="*/ 100460 w 100459"/>
                <a:gd name="connsiteY4" fmla="*/ 123846 h 182246"/>
                <a:gd name="connsiteX5" fmla="*/ 88752 w 100459"/>
                <a:gd name="connsiteY5" fmla="*/ 74782 h 18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459" h="182246">
                  <a:moveTo>
                    <a:pt x="13971" y="0"/>
                  </a:moveTo>
                  <a:lnTo>
                    <a:pt x="0" y="32683"/>
                  </a:lnTo>
                  <a:lnTo>
                    <a:pt x="6966" y="140187"/>
                  </a:lnTo>
                  <a:lnTo>
                    <a:pt x="51396" y="182246"/>
                  </a:lnTo>
                  <a:lnTo>
                    <a:pt x="100460" y="123846"/>
                  </a:lnTo>
                  <a:lnTo>
                    <a:pt x="88752" y="74782"/>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 name="Freeform: Shape 20">
              <a:extLst>
                <a:ext uri="{FF2B5EF4-FFF2-40B4-BE49-F238E27FC236}">
                  <a16:creationId xmlns:a16="http://schemas.microsoft.com/office/drawing/2014/main" id="{77A49D6B-4E01-E409-AADB-FBAC9F07BC2B}"/>
                </a:ext>
              </a:extLst>
            </p:cNvPr>
            <p:cNvSpPr/>
            <p:nvPr/>
          </p:nvSpPr>
          <p:spPr>
            <a:xfrm>
              <a:off x="16017931" y="3809148"/>
              <a:ext cx="488407" cy="490738"/>
            </a:xfrm>
            <a:custGeom>
              <a:avLst/>
              <a:gdLst>
                <a:gd name="connsiteX0" fmla="*/ 488407 w 488407"/>
                <a:gd name="connsiteY0" fmla="*/ 355225 h 490738"/>
                <a:gd name="connsiteX1" fmla="*/ 401918 w 488407"/>
                <a:gd name="connsiteY1" fmla="*/ 268736 h 490738"/>
                <a:gd name="connsiteX2" fmla="*/ 334181 w 488407"/>
                <a:gd name="connsiteY2" fmla="*/ 189281 h 490738"/>
                <a:gd name="connsiteX3" fmla="*/ 208003 w 488407"/>
                <a:gd name="connsiteY3" fmla="*/ 86489 h 490738"/>
                <a:gd name="connsiteX4" fmla="*/ 93494 w 488407"/>
                <a:gd name="connsiteY4" fmla="*/ 0 h 490738"/>
                <a:gd name="connsiteX5" fmla="*/ 0 w 488407"/>
                <a:gd name="connsiteY5" fmla="*/ 0 h 490738"/>
                <a:gd name="connsiteX6" fmla="*/ 60772 w 488407"/>
                <a:gd name="connsiteY6" fmla="*/ 65406 h 490738"/>
                <a:gd name="connsiteX7" fmla="*/ 93494 w 488407"/>
                <a:gd name="connsiteY7" fmla="*/ 88791 h 490738"/>
                <a:gd name="connsiteX8" fmla="*/ 177573 w 488407"/>
                <a:gd name="connsiteY8" fmla="*/ 172949 h 490738"/>
                <a:gd name="connsiteX9" fmla="*/ 212667 w 488407"/>
                <a:gd name="connsiteY9" fmla="*/ 250023 h 490738"/>
                <a:gd name="connsiteX10" fmla="*/ 299117 w 488407"/>
                <a:gd name="connsiteY10" fmla="*/ 404250 h 490738"/>
                <a:gd name="connsiteX11" fmla="*/ 408952 w 488407"/>
                <a:gd name="connsiteY11" fmla="*/ 490739 h 490738"/>
                <a:gd name="connsiteX12" fmla="*/ 488398 w 488407"/>
                <a:gd name="connsiteY12" fmla="*/ 439304 h 490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8407" h="490738">
                  <a:moveTo>
                    <a:pt x="488407" y="355225"/>
                  </a:moveTo>
                  <a:lnTo>
                    <a:pt x="401918" y="268736"/>
                  </a:lnTo>
                  <a:lnTo>
                    <a:pt x="334181" y="189281"/>
                  </a:lnTo>
                  <a:lnTo>
                    <a:pt x="208003" y="86489"/>
                  </a:lnTo>
                  <a:lnTo>
                    <a:pt x="93494" y="0"/>
                  </a:lnTo>
                  <a:lnTo>
                    <a:pt x="0" y="0"/>
                  </a:lnTo>
                  <a:lnTo>
                    <a:pt x="60772" y="65406"/>
                  </a:lnTo>
                  <a:lnTo>
                    <a:pt x="93494" y="88791"/>
                  </a:lnTo>
                  <a:lnTo>
                    <a:pt x="177573" y="172949"/>
                  </a:lnTo>
                  <a:lnTo>
                    <a:pt x="212667" y="250023"/>
                  </a:lnTo>
                  <a:lnTo>
                    <a:pt x="299117" y="404250"/>
                  </a:lnTo>
                  <a:lnTo>
                    <a:pt x="408952" y="490739"/>
                  </a:lnTo>
                  <a:lnTo>
                    <a:pt x="488398" y="43930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 name="Freeform: Shape 21">
              <a:extLst>
                <a:ext uri="{FF2B5EF4-FFF2-40B4-BE49-F238E27FC236}">
                  <a16:creationId xmlns:a16="http://schemas.microsoft.com/office/drawing/2014/main" id="{ABA644FF-CD28-1D06-BB45-02E6FF9575F6}"/>
                </a:ext>
              </a:extLst>
            </p:cNvPr>
            <p:cNvSpPr/>
            <p:nvPr/>
          </p:nvSpPr>
          <p:spPr>
            <a:xfrm>
              <a:off x="16487694" y="4316180"/>
              <a:ext cx="518748" cy="123806"/>
            </a:xfrm>
            <a:custGeom>
              <a:avLst/>
              <a:gdLst>
                <a:gd name="connsiteX0" fmla="*/ 282775 w 518748"/>
                <a:gd name="connsiteY0" fmla="*/ 39727 h 123806"/>
                <a:gd name="connsiteX1" fmla="*/ 172939 w 518748"/>
                <a:gd name="connsiteY1" fmla="*/ 18722 h 123806"/>
                <a:gd name="connsiteX2" fmla="*/ 114499 w 518748"/>
                <a:gd name="connsiteY2" fmla="*/ 18722 h 123806"/>
                <a:gd name="connsiteX3" fmla="*/ 51396 w 518748"/>
                <a:gd name="connsiteY3" fmla="*/ 0 h 123806"/>
                <a:gd name="connsiteX4" fmla="*/ 0 w 518748"/>
                <a:gd name="connsiteY4" fmla="*/ 11678 h 123806"/>
                <a:gd name="connsiteX5" fmla="*/ 0 w 518748"/>
                <a:gd name="connsiteY5" fmla="*/ 37396 h 123806"/>
                <a:gd name="connsiteX6" fmla="*/ 102792 w 518748"/>
                <a:gd name="connsiteY6" fmla="*/ 81787 h 123806"/>
                <a:gd name="connsiteX7" fmla="*/ 186910 w 518748"/>
                <a:gd name="connsiteY7" fmla="*/ 60733 h 123806"/>
                <a:gd name="connsiteX8" fmla="*/ 303790 w 518748"/>
                <a:gd name="connsiteY8" fmla="*/ 81787 h 123806"/>
                <a:gd name="connsiteX9" fmla="*/ 387869 w 518748"/>
                <a:gd name="connsiteY9" fmla="*/ 109836 h 123806"/>
                <a:gd name="connsiteX10" fmla="*/ 518749 w 518748"/>
                <a:gd name="connsiteY10" fmla="*/ 123806 h 123806"/>
                <a:gd name="connsiteX11" fmla="*/ 450972 w 518748"/>
                <a:gd name="connsiteY11" fmla="*/ 61928 h 12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748" h="123806">
                  <a:moveTo>
                    <a:pt x="282775" y="39727"/>
                  </a:moveTo>
                  <a:lnTo>
                    <a:pt x="172939" y="18722"/>
                  </a:lnTo>
                  <a:lnTo>
                    <a:pt x="114499" y="18722"/>
                  </a:lnTo>
                  <a:lnTo>
                    <a:pt x="51396" y="0"/>
                  </a:lnTo>
                  <a:lnTo>
                    <a:pt x="0" y="11678"/>
                  </a:lnTo>
                  <a:lnTo>
                    <a:pt x="0" y="37396"/>
                  </a:lnTo>
                  <a:lnTo>
                    <a:pt x="102792" y="81787"/>
                  </a:lnTo>
                  <a:lnTo>
                    <a:pt x="186910" y="60733"/>
                  </a:lnTo>
                  <a:lnTo>
                    <a:pt x="303790" y="81787"/>
                  </a:lnTo>
                  <a:lnTo>
                    <a:pt x="387869" y="109836"/>
                  </a:lnTo>
                  <a:lnTo>
                    <a:pt x="518749" y="123806"/>
                  </a:lnTo>
                  <a:lnTo>
                    <a:pt x="450972" y="61928"/>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Freeform: Shape 22">
              <a:extLst>
                <a:ext uri="{FF2B5EF4-FFF2-40B4-BE49-F238E27FC236}">
                  <a16:creationId xmlns:a16="http://schemas.microsoft.com/office/drawing/2014/main" id="{AA52F58E-E8CC-49F8-C2E9-CA30D4789483}"/>
                </a:ext>
              </a:extLst>
            </p:cNvPr>
            <p:cNvSpPr/>
            <p:nvPr/>
          </p:nvSpPr>
          <p:spPr>
            <a:xfrm>
              <a:off x="17104552" y="4412015"/>
              <a:ext cx="161270" cy="70165"/>
            </a:xfrm>
            <a:custGeom>
              <a:avLst/>
              <a:gdLst>
                <a:gd name="connsiteX0" fmla="*/ 0 w 161270"/>
                <a:gd name="connsiteY0" fmla="*/ 42059 h 70165"/>
                <a:gd name="connsiteX1" fmla="*/ 23386 w 161270"/>
                <a:gd name="connsiteY1" fmla="*/ 70108 h 70165"/>
                <a:gd name="connsiteX2" fmla="*/ 161271 w 161270"/>
                <a:gd name="connsiteY2" fmla="*/ 0 h 70165"/>
                <a:gd name="connsiteX3" fmla="*/ 98157 w 161270"/>
                <a:gd name="connsiteY3" fmla="*/ 0 h 70165"/>
              </a:gdLst>
              <a:ahLst/>
              <a:cxnLst>
                <a:cxn ang="0">
                  <a:pos x="connsiteX0" y="connsiteY0"/>
                </a:cxn>
                <a:cxn ang="0">
                  <a:pos x="connsiteX1" y="connsiteY1"/>
                </a:cxn>
                <a:cxn ang="0">
                  <a:pos x="connsiteX2" y="connsiteY2"/>
                </a:cxn>
                <a:cxn ang="0">
                  <a:pos x="connsiteX3" y="connsiteY3"/>
                </a:cxn>
              </a:cxnLst>
              <a:rect l="l" t="t" r="r" b="b"/>
              <a:pathLst>
                <a:path w="161270" h="70165">
                  <a:moveTo>
                    <a:pt x="0" y="42059"/>
                  </a:moveTo>
                  <a:cubicBezTo>
                    <a:pt x="0" y="42059"/>
                    <a:pt x="16342" y="67777"/>
                    <a:pt x="23386" y="70108"/>
                  </a:cubicBezTo>
                  <a:cubicBezTo>
                    <a:pt x="30420" y="72489"/>
                    <a:pt x="161271" y="0"/>
                    <a:pt x="161271" y="0"/>
                  </a:cubicBezTo>
                  <a:lnTo>
                    <a:pt x="98157"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Freeform: Shape 23">
              <a:extLst>
                <a:ext uri="{FF2B5EF4-FFF2-40B4-BE49-F238E27FC236}">
                  <a16:creationId xmlns:a16="http://schemas.microsoft.com/office/drawing/2014/main" id="{69E0424E-EEF6-CF1D-7EDB-9F13407DEFC9}"/>
                </a:ext>
              </a:extLst>
            </p:cNvPr>
            <p:cNvSpPr/>
            <p:nvPr/>
          </p:nvSpPr>
          <p:spPr>
            <a:xfrm>
              <a:off x="16681619" y="3743674"/>
              <a:ext cx="481353" cy="488397"/>
            </a:xfrm>
            <a:custGeom>
              <a:avLst/>
              <a:gdLst>
                <a:gd name="connsiteX0" fmla="*/ 65435 w 481353"/>
                <a:gd name="connsiteY0" fmla="*/ 469685 h 488397"/>
                <a:gd name="connsiteX1" fmla="*/ 266394 w 481353"/>
                <a:gd name="connsiteY1" fmla="*/ 488398 h 488397"/>
                <a:gd name="connsiteX2" fmla="*/ 308414 w 481353"/>
                <a:gd name="connsiteY2" fmla="*/ 399577 h 488397"/>
                <a:gd name="connsiteX3" fmla="*/ 364522 w 481353"/>
                <a:gd name="connsiteY3" fmla="*/ 296746 h 488397"/>
                <a:gd name="connsiteX4" fmla="*/ 422923 w 481353"/>
                <a:gd name="connsiteY4" fmla="*/ 278102 h 488397"/>
                <a:gd name="connsiteX5" fmla="*/ 422923 w 481353"/>
                <a:gd name="connsiteY5" fmla="*/ 135583 h 488397"/>
                <a:gd name="connsiteX6" fmla="*/ 481353 w 481353"/>
                <a:gd name="connsiteY6" fmla="*/ 86450 h 488397"/>
                <a:gd name="connsiteX7" fmla="*/ 481353 w 481353"/>
                <a:gd name="connsiteY7" fmla="*/ 39718 h 488397"/>
                <a:gd name="connsiteX8" fmla="*/ 422923 w 481353"/>
                <a:gd name="connsiteY8" fmla="*/ 0 h 488397"/>
                <a:gd name="connsiteX9" fmla="*/ 352805 w 481353"/>
                <a:gd name="connsiteY9" fmla="*/ 65435 h 488397"/>
                <a:gd name="connsiteX10" fmla="*/ 261691 w 481353"/>
                <a:gd name="connsiteY10" fmla="*/ 112207 h 488397"/>
                <a:gd name="connsiteX11" fmla="*/ 133182 w 481353"/>
                <a:gd name="connsiteY11" fmla="*/ 229008 h 488397"/>
                <a:gd name="connsiteX12" fmla="*/ 49103 w 481353"/>
                <a:gd name="connsiteY12" fmla="*/ 229008 h 488397"/>
                <a:gd name="connsiteX13" fmla="*/ 0 w 481353"/>
                <a:gd name="connsiteY13" fmla="*/ 310785 h 488397"/>
                <a:gd name="connsiteX14" fmla="*/ 18713 w 481353"/>
                <a:gd name="connsiteY14" fmla="*/ 373898 h 48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1353" h="488397">
                  <a:moveTo>
                    <a:pt x="65435" y="469685"/>
                  </a:moveTo>
                  <a:lnTo>
                    <a:pt x="266394" y="488398"/>
                  </a:lnTo>
                  <a:lnTo>
                    <a:pt x="308414" y="399577"/>
                  </a:lnTo>
                  <a:lnTo>
                    <a:pt x="364522" y="296746"/>
                  </a:lnTo>
                  <a:lnTo>
                    <a:pt x="422923" y="278102"/>
                  </a:lnTo>
                  <a:lnTo>
                    <a:pt x="422923" y="135583"/>
                  </a:lnTo>
                  <a:lnTo>
                    <a:pt x="481353" y="86450"/>
                  </a:lnTo>
                  <a:lnTo>
                    <a:pt x="481353" y="39718"/>
                  </a:lnTo>
                  <a:lnTo>
                    <a:pt x="422923" y="0"/>
                  </a:lnTo>
                  <a:lnTo>
                    <a:pt x="352805" y="65435"/>
                  </a:lnTo>
                  <a:lnTo>
                    <a:pt x="261691" y="112207"/>
                  </a:lnTo>
                  <a:lnTo>
                    <a:pt x="133182" y="229008"/>
                  </a:lnTo>
                  <a:lnTo>
                    <a:pt x="49103" y="229008"/>
                  </a:lnTo>
                  <a:lnTo>
                    <a:pt x="0" y="310785"/>
                  </a:lnTo>
                  <a:lnTo>
                    <a:pt x="18713" y="373898"/>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 name="Freeform: Shape 24">
              <a:extLst>
                <a:ext uri="{FF2B5EF4-FFF2-40B4-BE49-F238E27FC236}">
                  <a16:creationId xmlns:a16="http://schemas.microsoft.com/office/drawing/2014/main" id="{F02682D4-632B-4CC0-56DA-A411758E699B}"/>
                </a:ext>
              </a:extLst>
            </p:cNvPr>
            <p:cNvSpPr/>
            <p:nvPr/>
          </p:nvSpPr>
          <p:spPr>
            <a:xfrm>
              <a:off x="17025029" y="3987858"/>
              <a:ext cx="348190" cy="328311"/>
            </a:xfrm>
            <a:custGeom>
              <a:avLst/>
              <a:gdLst>
                <a:gd name="connsiteX0" fmla="*/ 201008 w 348190"/>
                <a:gd name="connsiteY0" fmla="*/ 38571 h 328311"/>
                <a:gd name="connsiteX1" fmla="*/ 348190 w 348190"/>
                <a:gd name="connsiteY1" fmla="*/ 38571 h 328311"/>
                <a:gd name="connsiteX2" fmla="*/ 174095 w 348190"/>
                <a:gd name="connsiteY2" fmla="*/ 0 h 328311"/>
                <a:gd name="connsiteX3" fmla="*/ 126217 w 348190"/>
                <a:gd name="connsiteY3" fmla="*/ 89967 h 328311"/>
                <a:gd name="connsiteX4" fmla="*/ 0 w 348190"/>
                <a:gd name="connsiteY4" fmla="*/ 220808 h 328311"/>
                <a:gd name="connsiteX5" fmla="*/ 25757 w 348190"/>
                <a:gd name="connsiteY5" fmla="*/ 328312 h 328311"/>
                <a:gd name="connsiteX6" fmla="*/ 93494 w 348190"/>
                <a:gd name="connsiteY6" fmla="*/ 232525 h 328311"/>
                <a:gd name="connsiteX7" fmla="*/ 137895 w 348190"/>
                <a:gd name="connsiteY7" fmla="*/ 311970 h 328311"/>
                <a:gd name="connsiteX8" fmla="*/ 177612 w 348190"/>
                <a:gd name="connsiteY8" fmla="*/ 267580 h 328311"/>
                <a:gd name="connsiteX9" fmla="*/ 177612 w 348190"/>
                <a:gd name="connsiteY9" fmla="*/ 153070 h 328311"/>
                <a:gd name="connsiteX10" fmla="*/ 261731 w 348190"/>
                <a:gd name="connsiteY10" fmla="*/ 89967 h 328311"/>
                <a:gd name="connsiteX11" fmla="*/ 160124 w 348190"/>
                <a:gd name="connsiteY11" fmla="*/ 89967 h 328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190" h="328311">
                  <a:moveTo>
                    <a:pt x="201008" y="38571"/>
                  </a:moveTo>
                  <a:lnTo>
                    <a:pt x="348190" y="38571"/>
                  </a:lnTo>
                  <a:lnTo>
                    <a:pt x="174095" y="0"/>
                  </a:lnTo>
                  <a:lnTo>
                    <a:pt x="126217" y="89967"/>
                  </a:lnTo>
                  <a:lnTo>
                    <a:pt x="0" y="220808"/>
                  </a:lnTo>
                  <a:lnTo>
                    <a:pt x="25757" y="328312"/>
                  </a:lnTo>
                  <a:lnTo>
                    <a:pt x="93494" y="232525"/>
                  </a:lnTo>
                  <a:lnTo>
                    <a:pt x="137895" y="311970"/>
                  </a:lnTo>
                  <a:lnTo>
                    <a:pt x="177612" y="267580"/>
                  </a:lnTo>
                  <a:lnTo>
                    <a:pt x="177612" y="153070"/>
                  </a:lnTo>
                  <a:lnTo>
                    <a:pt x="261731" y="89967"/>
                  </a:lnTo>
                  <a:lnTo>
                    <a:pt x="160124" y="89967"/>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6" name="Freeform: Shape 25">
              <a:extLst>
                <a:ext uri="{FF2B5EF4-FFF2-40B4-BE49-F238E27FC236}">
                  <a16:creationId xmlns:a16="http://schemas.microsoft.com/office/drawing/2014/main" id="{0C55C86C-C8C4-447A-AD64-BC4CC866A845}"/>
                </a:ext>
              </a:extLst>
            </p:cNvPr>
            <p:cNvSpPr/>
            <p:nvPr/>
          </p:nvSpPr>
          <p:spPr>
            <a:xfrm>
              <a:off x="17557905" y="4054527"/>
              <a:ext cx="102830" cy="119172"/>
            </a:xfrm>
            <a:custGeom>
              <a:avLst/>
              <a:gdLst>
                <a:gd name="connsiteX0" fmla="*/ 102831 w 102830"/>
                <a:gd name="connsiteY0" fmla="*/ 59586 h 119172"/>
                <a:gd name="connsiteX1" fmla="*/ 67776 w 102830"/>
                <a:gd name="connsiteY1" fmla="*/ 18713 h 119172"/>
                <a:gd name="connsiteX2" fmla="*/ 0 w 102830"/>
                <a:gd name="connsiteY2" fmla="*/ 0 h 119172"/>
                <a:gd name="connsiteX3" fmla="*/ 0 w 102830"/>
                <a:gd name="connsiteY3" fmla="*/ 67777 h 119172"/>
                <a:gd name="connsiteX4" fmla="*/ 58401 w 102830"/>
                <a:gd name="connsiteY4" fmla="*/ 119172 h 119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30" h="119172">
                  <a:moveTo>
                    <a:pt x="102831" y="59586"/>
                  </a:moveTo>
                  <a:lnTo>
                    <a:pt x="67776" y="18713"/>
                  </a:lnTo>
                  <a:lnTo>
                    <a:pt x="0" y="0"/>
                  </a:lnTo>
                  <a:lnTo>
                    <a:pt x="0" y="67777"/>
                  </a:lnTo>
                  <a:lnTo>
                    <a:pt x="58401" y="119172"/>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7" name="Freeform: Shape 26">
              <a:extLst>
                <a:ext uri="{FF2B5EF4-FFF2-40B4-BE49-F238E27FC236}">
                  <a16:creationId xmlns:a16="http://schemas.microsoft.com/office/drawing/2014/main" id="{6F59EFD7-4BD3-7C83-2C32-079A6106D829}"/>
                </a:ext>
              </a:extLst>
            </p:cNvPr>
            <p:cNvSpPr/>
            <p:nvPr/>
          </p:nvSpPr>
          <p:spPr>
            <a:xfrm>
              <a:off x="17557856" y="4152029"/>
              <a:ext cx="277993" cy="288016"/>
            </a:xfrm>
            <a:custGeom>
              <a:avLst/>
              <a:gdLst>
                <a:gd name="connsiteX0" fmla="*/ 139031 w 277993"/>
                <a:gd name="connsiteY0" fmla="*/ 0 h 288016"/>
                <a:gd name="connsiteX1" fmla="*/ 102831 w 277993"/>
                <a:gd name="connsiteY1" fmla="*/ 21622 h 288016"/>
                <a:gd name="connsiteX2" fmla="*/ 0 w 277993"/>
                <a:gd name="connsiteY2" fmla="*/ 33291 h 288016"/>
                <a:gd name="connsiteX3" fmla="*/ 0 w 277993"/>
                <a:gd name="connsiteY3" fmla="*/ 56677 h 288016"/>
                <a:gd name="connsiteX4" fmla="*/ 72401 w 277993"/>
                <a:gd name="connsiteY4" fmla="*/ 80062 h 288016"/>
                <a:gd name="connsiteX5" fmla="*/ 84079 w 277993"/>
                <a:gd name="connsiteY5" fmla="*/ 136122 h 288016"/>
                <a:gd name="connsiteX6" fmla="*/ 51396 w 277993"/>
                <a:gd name="connsiteY6" fmla="*/ 206240 h 288016"/>
                <a:gd name="connsiteX7" fmla="*/ 84079 w 277993"/>
                <a:gd name="connsiteY7" fmla="*/ 288017 h 288016"/>
                <a:gd name="connsiteX8" fmla="*/ 151817 w 277993"/>
                <a:gd name="connsiteY8" fmla="*/ 259967 h 288016"/>
                <a:gd name="connsiteX9" fmla="*/ 196207 w 277993"/>
                <a:gd name="connsiteY9" fmla="*/ 226059 h 288016"/>
                <a:gd name="connsiteX10" fmla="*/ 277994 w 277993"/>
                <a:gd name="connsiteY10" fmla="*/ 180483 h 288016"/>
                <a:gd name="connsiteX11" fmla="*/ 277994 w 277993"/>
                <a:gd name="connsiteY11" fmla="*/ 49642 h 288016"/>
                <a:gd name="connsiteX12" fmla="*/ 226598 w 277993"/>
                <a:gd name="connsiteY12" fmla="*/ 10 h 288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993" h="288016">
                  <a:moveTo>
                    <a:pt x="139031" y="0"/>
                  </a:moveTo>
                  <a:lnTo>
                    <a:pt x="102831" y="21622"/>
                  </a:lnTo>
                  <a:lnTo>
                    <a:pt x="0" y="33291"/>
                  </a:lnTo>
                  <a:lnTo>
                    <a:pt x="0" y="56677"/>
                  </a:lnTo>
                  <a:lnTo>
                    <a:pt x="72401" y="80062"/>
                  </a:lnTo>
                  <a:cubicBezTo>
                    <a:pt x="72401" y="80062"/>
                    <a:pt x="84079" y="122161"/>
                    <a:pt x="84079" y="136122"/>
                  </a:cubicBezTo>
                  <a:cubicBezTo>
                    <a:pt x="84079" y="150171"/>
                    <a:pt x="51396" y="206240"/>
                    <a:pt x="51396" y="206240"/>
                  </a:cubicBezTo>
                  <a:lnTo>
                    <a:pt x="84079" y="288017"/>
                  </a:lnTo>
                  <a:lnTo>
                    <a:pt x="151817" y="259967"/>
                  </a:lnTo>
                  <a:lnTo>
                    <a:pt x="196207" y="226059"/>
                  </a:lnTo>
                  <a:lnTo>
                    <a:pt x="277994" y="180483"/>
                  </a:lnTo>
                  <a:lnTo>
                    <a:pt x="277994" y="49642"/>
                  </a:lnTo>
                  <a:lnTo>
                    <a:pt x="226598" y="1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 name="Freeform: Shape 27">
              <a:extLst>
                <a:ext uri="{FF2B5EF4-FFF2-40B4-BE49-F238E27FC236}">
                  <a16:creationId xmlns:a16="http://schemas.microsoft.com/office/drawing/2014/main" id="{430973C3-6BE7-A719-3322-2BFFB3E8A422}"/>
                </a:ext>
              </a:extLst>
            </p:cNvPr>
            <p:cNvSpPr/>
            <p:nvPr/>
          </p:nvSpPr>
          <p:spPr>
            <a:xfrm>
              <a:off x="17312545" y="4173631"/>
              <a:ext cx="72410" cy="58439"/>
            </a:xfrm>
            <a:custGeom>
              <a:avLst/>
              <a:gdLst>
                <a:gd name="connsiteX0" fmla="*/ 0 w 72410"/>
                <a:gd name="connsiteY0" fmla="*/ 58440 h 58439"/>
                <a:gd name="connsiteX1" fmla="*/ 60733 w 72410"/>
                <a:gd name="connsiteY1" fmla="*/ 51435 h 58439"/>
                <a:gd name="connsiteX2" fmla="*/ 72411 w 72410"/>
                <a:gd name="connsiteY2" fmla="*/ 0 h 58439"/>
                <a:gd name="connsiteX3" fmla="*/ 35054 w 72410"/>
                <a:gd name="connsiteY3" fmla="*/ 0 h 58439"/>
              </a:gdLst>
              <a:ahLst/>
              <a:cxnLst>
                <a:cxn ang="0">
                  <a:pos x="connsiteX0" y="connsiteY0"/>
                </a:cxn>
                <a:cxn ang="0">
                  <a:pos x="connsiteX1" y="connsiteY1"/>
                </a:cxn>
                <a:cxn ang="0">
                  <a:pos x="connsiteX2" y="connsiteY2"/>
                </a:cxn>
                <a:cxn ang="0">
                  <a:pos x="connsiteX3" y="connsiteY3"/>
                </a:cxn>
              </a:cxnLst>
              <a:rect l="l" t="t" r="r" b="b"/>
              <a:pathLst>
                <a:path w="72410" h="58439">
                  <a:moveTo>
                    <a:pt x="0" y="58440"/>
                  </a:moveTo>
                  <a:lnTo>
                    <a:pt x="60733" y="51435"/>
                  </a:lnTo>
                  <a:lnTo>
                    <a:pt x="72411" y="0"/>
                  </a:lnTo>
                  <a:lnTo>
                    <a:pt x="35054"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9" name="Freeform: Shape 28">
              <a:extLst>
                <a:ext uri="{FF2B5EF4-FFF2-40B4-BE49-F238E27FC236}">
                  <a16:creationId xmlns:a16="http://schemas.microsoft.com/office/drawing/2014/main" id="{1AC1B885-1727-3997-40B6-A61989C9817C}"/>
                </a:ext>
              </a:extLst>
            </p:cNvPr>
            <p:cNvSpPr/>
            <p:nvPr/>
          </p:nvSpPr>
          <p:spPr>
            <a:xfrm>
              <a:off x="17420020" y="4173680"/>
              <a:ext cx="88752" cy="58430"/>
            </a:xfrm>
            <a:custGeom>
              <a:avLst/>
              <a:gdLst>
                <a:gd name="connsiteX0" fmla="*/ 0 w 88752"/>
                <a:gd name="connsiteY0" fmla="*/ 29195 h 58430"/>
                <a:gd name="connsiteX1" fmla="*/ 11668 w 88752"/>
                <a:gd name="connsiteY1" fmla="*/ 58430 h 58430"/>
                <a:gd name="connsiteX2" fmla="*/ 58401 w 88752"/>
                <a:gd name="connsiteY2" fmla="*/ 49054 h 58430"/>
                <a:gd name="connsiteX3" fmla="*/ 88752 w 88752"/>
                <a:gd name="connsiteY3" fmla="*/ 0 h 58430"/>
                <a:gd name="connsiteX4" fmla="*/ 46723 w 88752"/>
                <a:gd name="connsiteY4" fmla="*/ 0 h 58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52" h="58430">
                  <a:moveTo>
                    <a:pt x="0" y="29195"/>
                  </a:moveTo>
                  <a:lnTo>
                    <a:pt x="11668" y="58430"/>
                  </a:lnTo>
                  <a:lnTo>
                    <a:pt x="58401" y="49054"/>
                  </a:lnTo>
                  <a:lnTo>
                    <a:pt x="88752" y="0"/>
                  </a:lnTo>
                  <a:lnTo>
                    <a:pt x="46723"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0" name="Freeform: Shape 29">
              <a:extLst>
                <a:ext uri="{FF2B5EF4-FFF2-40B4-BE49-F238E27FC236}">
                  <a16:creationId xmlns:a16="http://schemas.microsoft.com/office/drawing/2014/main" id="{0F586AA4-3B40-CF2F-B646-ED346D01EB99}"/>
                </a:ext>
              </a:extLst>
            </p:cNvPr>
            <p:cNvSpPr/>
            <p:nvPr/>
          </p:nvSpPr>
          <p:spPr>
            <a:xfrm>
              <a:off x="17348746" y="3622307"/>
              <a:ext cx="176466" cy="186949"/>
            </a:xfrm>
            <a:custGeom>
              <a:avLst/>
              <a:gdLst>
                <a:gd name="connsiteX0" fmla="*/ 115655 w 176466"/>
                <a:gd name="connsiteY0" fmla="*/ 23307 h 186949"/>
                <a:gd name="connsiteX1" fmla="*/ 36210 w 176466"/>
                <a:gd name="connsiteY1" fmla="*/ 53698 h 186949"/>
                <a:gd name="connsiteX2" fmla="*/ 0 w 176466"/>
                <a:gd name="connsiteY2" fmla="*/ 95797 h 186949"/>
                <a:gd name="connsiteX3" fmla="*/ 0 w 176466"/>
                <a:gd name="connsiteY3" fmla="*/ 137885 h 186949"/>
                <a:gd name="connsiteX4" fmla="*/ 71264 w 176466"/>
                <a:gd name="connsiteY4" fmla="*/ 121543 h 186949"/>
                <a:gd name="connsiteX5" fmla="*/ 71264 w 176466"/>
                <a:gd name="connsiteY5" fmla="*/ 165944 h 186949"/>
                <a:gd name="connsiteX6" fmla="*/ 150709 w 176466"/>
                <a:gd name="connsiteY6" fmla="*/ 186949 h 186949"/>
                <a:gd name="connsiteX7" fmla="*/ 160046 w 176466"/>
                <a:gd name="connsiteY7" fmla="*/ 163563 h 186949"/>
                <a:gd name="connsiteX8" fmla="*/ 160389 w 176466"/>
                <a:gd name="connsiteY8" fmla="*/ 60733 h 186949"/>
                <a:gd name="connsiteX9" fmla="*/ 176466 w 176466"/>
                <a:gd name="connsiteY9" fmla="*/ 23386 h 186949"/>
                <a:gd name="connsiteX10" fmla="*/ 160124 w 176466"/>
                <a:gd name="connsiteY10" fmla="*/ 0 h 18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66" h="186949">
                  <a:moveTo>
                    <a:pt x="115655" y="23307"/>
                  </a:moveTo>
                  <a:lnTo>
                    <a:pt x="36210" y="53698"/>
                  </a:lnTo>
                  <a:lnTo>
                    <a:pt x="0" y="95797"/>
                  </a:lnTo>
                  <a:lnTo>
                    <a:pt x="0" y="137885"/>
                  </a:lnTo>
                  <a:lnTo>
                    <a:pt x="71264" y="121543"/>
                  </a:lnTo>
                  <a:lnTo>
                    <a:pt x="71264" y="165944"/>
                  </a:lnTo>
                  <a:lnTo>
                    <a:pt x="150709" y="186949"/>
                  </a:lnTo>
                  <a:cubicBezTo>
                    <a:pt x="150709" y="186949"/>
                    <a:pt x="162388" y="170607"/>
                    <a:pt x="160046" y="163563"/>
                  </a:cubicBezTo>
                  <a:cubicBezTo>
                    <a:pt x="157675" y="156529"/>
                    <a:pt x="160389" y="60733"/>
                    <a:pt x="160389" y="60733"/>
                  </a:cubicBezTo>
                  <a:lnTo>
                    <a:pt x="176466" y="23386"/>
                  </a:lnTo>
                  <a:lnTo>
                    <a:pt x="160124"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1" name="Freeform: Shape 30">
              <a:extLst>
                <a:ext uri="{FF2B5EF4-FFF2-40B4-BE49-F238E27FC236}">
                  <a16:creationId xmlns:a16="http://schemas.microsoft.com/office/drawing/2014/main" id="{9EB2BCCB-96FA-6883-2A84-B9277BA88A0D}"/>
                </a:ext>
              </a:extLst>
            </p:cNvPr>
            <p:cNvSpPr/>
            <p:nvPr/>
          </p:nvSpPr>
          <p:spPr>
            <a:xfrm>
              <a:off x="17282105" y="3164183"/>
              <a:ext cx="198627" cy="289750"/>
            </a:xfrm>
            <a:custGeom>
              <a:avLst/>
              <a:gdLst>
                <a:gd name="connsiteX0" fmla="*/ 66591 w 198627"/>
                <a:gd name="connsiteY0" fmla="*/ 250023 h 289750"/>
                <a:gd name="connsiteX1" fmla="*/ 130851 w 198627"/>
                <a:gd name="connsiteY1" fmla="*/ 250023 h 289750"/>
                <a:gd name="connsiteX2" fmla="*/ 154844 w 198627"/>
                <a:gd name="connsiteY2" fmla="*/ 289751 h 289750"/>
                <a:gd name="connsiteX3" fmla="*/ 198627 w 198627"/>
                <a:gd name="connsiteY3" fmla="*/ 289751 h 289750"/>
                <a:gd name="connsiteX4" fmla="*/ 184617 w 198627"/>
                <a:gd name="connsiteY4" fmla="*/ 226676 h 289750"/>
                <a:gd name="connsiteX5" fmla="*/ 128470 w 198627"/>
                <a:gd name="connsiteY5" fmla="*/ 198970 h 289750"/>
                <a:gd name="connsiteX6" fmla="*/ 91123 w 198627"/>
                <a:gd name="connsiteY6" fmla="*/ 184656 h 289750"/>
                <a:gd name="connsiteX7" fmla="*/ 91123 w 198627"/>
                <a:gd name="connsiteY7" fmla="*/ 144929 h 289750"/>
                <a:gd name="connsiteX8" fmla="*/ 116841 w 198627"/>
                <a:gd name="connsiteY8" fmla="*/ 107504 h 289750"/>
                <a:gd name="connsiteX9" fmla="*/ 121504 w 198627"/>
                <a:gd name="connsiteY9" fmla="*/ 93494 h 289750"/>
                <a:gd name="connsiteX10" fmla="*/ 123846 w 198627"/>
                <a:gd name="connsiteY10" fmla="*/ 58440 h 289750"/>
                <a:gd name="connsiteX11" fmla="*/ 130851 w 198627"/>
                <a:gd name="connsiteY11" fmla="*/ 14010 h 289750"/>
                <a:gd name="connsiteX12" fmla="*/ 109836 w 198627"/>
                <a:gd name="connsiteY12" fmla="*/ 0 h 289750"/>
                <a:gd name="connsiteX13" fmla="*/ 66591 w 198627"/>
                <a:gd name="connsiteY13" fmla="*/ 0 h 289750"/>
                <a:gd name="connsiteX14" fmla="*/ 28010 w 198627"/>
                <a:gd name="connsiteY14" fmla="*/ 58440 h 289750"/>
                <a:gd name="connsiteX15" fmla="*/ 0 w 198627"/>
                <a:gd name="connsiteY15" fmla="*/ 112177 h 289750"/>
                <a:gd name="connsiteX16" fmla="*/ 0 w 198627"/>
                <a:gd name="connsiteY16" fmla="*/ 179915 h 289750"/>
                <a:gd name="connsiteX17" fmla="*/ 54923 w 198627"/>
                <a:gd name="connsiteY17" fmla="*/ 210296 h 28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8627" h="289750">
                  <a:moveTo>
                    <a:pt x="66591" y="250023"/>
                  </a:moveTo>
                  <a:lnTo>
                    <a:pt x="130851" y="250023"/>
                  </a:lnTo>
                  <a:lnTo>
                    <a:pt x="154844" y="289751"/>
                  </a:lnTo>
                  <a:lnTo>
                    <a:pt x="198627" y="289751"/>
                  </a:lnTo>
                  <a:lnTo>
                    <a:pt x="184617" y="226676"/>
                  </a:lnTo>
                  <a:lnTo>
                    <a:pt x="128470" y="198970"/>
                  </a:lnTo>
                  <a:lnTo>
                    <a:pt x="91123" y="184656"/>
                  </a:lnTo>
                  <a:lnTo>
                    <a:pt x="91123" y="144929"/>
                  </a:lnTo>
                  <a:lnTo>
                    <a:pt x="116841" y="107504"/>
                  </a:lnTo>
                  <a:lnTo>
                    <a:pt x="121504" y="93494"/>
                  </a:lnTo>
                  <a:lnTo>
                    <a:pt x="123846" y="58440"/>
                  </a:lnTo>
                  <a:lnTo>
                    <a:pt x="130851" y="14010"/>
                  </a:lnTo>
                  <a:lnTo>
                    <a:pt x="109836" y="0"/>
                  </a:lnTo>
                  <a:lnTo>
                    <a:pt x="66591" y="0"/>
                  </a:lnTo>
                  <a:lnTo>
                    <a:pt x="28010" y="58440"/>
                  </a:lnTo>
                  <a:lnTo>
                    <a:pt x="0" y="112177"/>
                  </a:lnTo>
                  <a:lnTo>
                    <a:pt x="0" y="179915"/>
                  </a:lnTo>
                  <a:lnTo>
                    <a:pt x="54923" y="210296"/>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4" name="Freeform: Shape 223">
              <a:extLst>
                <a:ext uri="{FF2B5EF4-FFF2-40B4-BE49-F238E27FC236}">
                  <a16:creationId xmlns:a16="http://schemas.microsoft.com/office/drawing/2014/main" id="{326D087C-1BAD-E0D1-7EB9-8181BE620165}"/>
                </a:ext>
              </a:extLst>
            </p:cNvPr>
            <p:cNvSpPr/>
            <p:nvPr/>
          </p:nvSpPr>
          <p:spPr>
            <a:xfrm>
              <a:off x="17436969" y="3496041"/>
              <a:ext cx="60124" cy="86459"/>
            </a:xfrm>
            <a:custGeom>
              <a:avLst/>
              <a:gdLst>
                <a:gd name="connsiteX0" fmla="*/ 0 w 60124"/>
                <a:gd name="connsiteY0" fmla="*/ 23386 h 86459"/>
                <a:gd name="connsiteX1" fmla="*/ 0 w 60124"/>
                <a:gd name="connsiteY1" fmla="*/ 86460 h 86459"/>
                <a:gd name="connsiteX2" fmla="*/ 43783 w 60124"/>
                <a:gd name="connsiteY2" fmla="*/ 86460 h 86459"/>
                <a:gd name="connsiteX3" fmla="*/ 60125 w 60124"/>
                <a:gd name="connsiteY3" fmla="*/ 43245 h 86459"/>
                <a:gd name="connsiteX4" fmla="*/ 60125 w 60124"/>
                <a:gd name="connsiteY4" fmla="*/ 0 h 86459"/>
                <a:gd name="connsiteX5" fmla="*/ 0 w 60124"/>
                <a:gd name="connsiteY5" fmla="*/ 0 h 8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24" h="86459">
                  <a:moveTo>
                    <a:pt x="0" y="23386"/>
                  </a:moveTo>
                  <a:lnTo>
                    <a:pt x="0" y="86460"/>
                  </a:lnTo>
                  <a:lnTo>
                    <a:pt x="43783" y="86460"/>
                  </a:lnTo>
                  <a:lnTo>
                    <a:pt x="60125" y="43245"/>
                  </a:lnTo>
                  <a:lnTo>
                    <a:pt x="60125" y="0"/>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5" name="Freeform: Shape 224">
              <a:extLst>
                <a:ext uri="{FF2B5EF4-FFF2-40B4-BE49-F238E27FC236}">
                  <a16:creationId xmlns:a16="http://schemas.microsoft.com/office/drawing/2014/main" id="{F21EB7A0-F819-395D-E48E-D7E4C9F52C2F}"/>
                </a:ext>
              </a:extLst>
            </p:cNvPr>
            <p:cNvSpPr/>
            <p:nvPr/>
          </p:nvSpPr>
          <p:spPr>
            <a:xfrm>
              <a:off x="17312545" y="3439982"/>
              <a:ext cx="60732" cy="109767"/>
            </a:xfrm>
            <a:custGeom>
              <a:avLst/>
              <a:gdLst>
                <a:gd name="connsiteX0" fmla="*/ 0 w 60732"/>
                <a:gd name="connsiteY0" fmla="*/ 70040 h 109767"/>
                <a:gd name="connsiteX1" fmla="*/ 36201 w 60732"/>
                <a:gd name="connsiteY1" fmla="*/ 109767 h 109767"/>
                <a:gd name="connsiteX2" fmla="*/ 60733 w 60732"/>
                <a:gd name="connsiteY2" fmla="*/ 86420 h 109767"/>
                <a:gd name="connsiteX3" fmla="*/ 60733 w 60732"/>
                <a:gd name="connsiteY3" fmla="*/ 56069 h 109767"/>
                <a:gd name="connsiteX4" fmla="*/ 51396 w 60732"/>
                <a:gd name="connsiteY4" fmla="*/ 25688 h 109767"/>
                <a:gd name="connsiteX5" fmla="*/ 0 w 60732"/>
                <a:gd name="connsiteY5" fmla="*/ 0 h 109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32" h="109767">
                  <a:moveTo>
                    <a:pt x="0" y="70040"/>
                  </a:moveTo>
                  <a:lnTo>
                    <a:pt x="36201" y="109767"/>
                  </a:lnTo>
                  <a:lnTo>
                    <a:pt x="60733" y="86420"/>
                  </a:lnTo>
                  <a:lnTo>
                    <a:pt x="60733" y="56069"/>
                  </a:lnTo>
                  <a:lnTo>
                    <a:pt x="51396" y="25688"/>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6" name="Freeform: Shape 225">
              <a:extLst>
                <a:ext uri="{FF2B5EF4-FFF2-40B4-BE49-F238E27FC236}">
                  <a16:creationId xmlns:a16="http://schemas.microsoft.com/office/drawing/2014/main" id="{EA47E649-BA16-9357-F720-4BB276FEEA79}"/>
                </a:ext>
              </a:extLst>
            </p:cNvPr>
            <p:cNvSpPr/>
            <p:nvPr/>
          </p:nvSpPr>
          <p:spPr>
            <a:xfrm>
              <a:off x="17118513" y="3549740"/>
              <a:ext cx="126216" cy="140255"/>
            </a:xfrm>
            <a:custGeom>
              <a:avLst/>
              <a:gdLst>
                <a:gd name="connsiteX0" fmla="*/ 91162 w 126216"/>
                <a:gd name="connsiteY0" fmla="*/ 88821 h 140255"/>
                <a:gd name="connsiteX1" fmla="*/ 126217 w 126216"/>
                <a:gd name="connsiteY1" fmla="*/ 53767 h 140255"/>
                <a:gd name="connsiteX2" fmla="*/ 126217 w 126216"/>
                <a:gd name="connsiteY2" fmla="*/ 21084 h 140255"/>
                <a:gd name="connsiteX3" fmla="*/ 112168 w 126216"/>
                <a:gd name="connsiteY3" fmla="*/ 0 h 140255"/>
                <a:gd name="connsiteX4" fmla="*/ 100460 w 126216"/>
                <a:gd name="connsiteY4" fmla="*/ 11708 h 140255"/>
                <a:gd name="connsiteX5" fmla="*/ 28059 w 126216"/>
                <a:gd name="connsiteY5" fmla="*/ 72479 h 140255"/>
                <a:gd name="connsiteX6" fmla="*/ 0 w 126216"/>
                <a:gd name="connsiteY6" fmla="*/ 91152 h 140255"/>
                <a:gd name="connsiteX7" fmla="*/ 44391 w 126216"/>
                <a:gd name="connsiteY7" fmla="*/ 140256 h 14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216" h="140255">
                  <a:moveTo>
                    <a:pt x="91162" y="88821"/>
                  </a:moveTo>
                  <a:lnTo>
                    <a:pt x="126217" y="53767"/>
                  </a:lnTo>
                  <a:lnTo>
                    <a:pt x="126217" y="21084"/>
                  </a:lnTo>
                  <a:lnTo>
                    <a:pt x="112168" y="0"/>
                  </a:lnTo>
                  <a:lnTo>
                    <a:pt x="100460" y="11708"/>
                  </a:lnTo>
                  <a:lnTo>
                    <a:pt x="28059" y="72479"/>
                  </a:lnTo>
                  <a:lnTo>
                    <a:pt x="0" y="91152"/>
                  </a:lnTo>
                  <a:lnTo>
                    <a:pt x="44391" y="140256"/>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7" name="Freeform: Shape 226">
              <a:extLst>
                <a:ext uri="{FF2B5EF4-FFF2-40B4-BE49-F238E27FC236}">
                  <a16:creationId xmlns:a16="http://schemas.microsoft.com/office/drawing/2014/main" id="{8E8C51A2-5E85-2B4B-0FC2-E534F8754959}"/>
                </a:ext>
              </a:extLst>
            </p:cNvPr>
            <p:cNvSpPr/>
            <p:nvPr/>
          </p:nvSpPr>
          <p:spPr>
            <a:xfrm>
              <a:off x="16740010" y="3073109"/>
              <a:ext cx="130880" cy="114508"/>
            </a:xfrm>
            <a:custGeom>
              <a:avLst/>
              <a:gdLst>
                <a:gd name="connsiteX0" fmla="*/ 130880 w 130880"/>
                <a:gd name="connsiteY0" fmla="*/ 102831 h 114508"/>
                <a:gd name="connsiteX1" fmla="*/ 130880 w 130880"/>
                <a:gd name="connsiteY1" fmla="*/ 57215 h 114508"/>
                <a:gd name="connsiteX2" fmla="*/ 112168 w 130880"/>
                <a:gd name="connsiteY2" fmla="*/ 37386 h 114508"/>
                <a:gd name="connsiteX3" fmla="*/ 23376 w 130880"/>
                <a:gd name="connsiteY3" fmla="*/ 0 h 114508"/>
                <a:gd name="connsiteX4" fmla="*/ 0 w 130880"/>
                <a:gd name="connsiteY4" fmla="*/ 53727 h 114508"/>
                <a:gd name="connsiteX5" fmla="*/ 35093 w 130880"/>
                <a:gd name="connsiteY5" fmla="*/ 114509 h 114508"/>
                <a:gd name="connsiteX6" fmla="*/ 81816 w 130880"/>
                <a:gd name="connsiteY6" fmla="*/ 114509 h 114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880" h="114508">
                  <a:moveTo>
                    <a:pt x="130880" y="102831"/>
                  </a:moveTo>
                  <a:lnTo>
                    <a:pt x="130880" y="57215"/>
                  </a:lnTo>
                  <a:lnTo>
                    <a:pt x="112168" y="37386"/>
                  </a:lnTo>
                  <a:lnTo>
                    <a:pt x="23376" y="0"/>
                  </a:lnTo>
                  <a:lnTo>
                    <a:pt x="0" y="53727"/>
                  </a:lnTo>
                  <a:lnTo>
                    <a:pt x="35093" y="114509"/>
                  </a:lnTo>
                  <a:lnTo>
                    <a:pt x="81816" y="114509"/>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8" name="Freeform: Shape 227">
              <a:extLst>
                <a:ext uri="{FF2B5EF4-FFF2-40B4-BE49-F238E27FC236}">
                  <a16:creationId xmlns:a16="http://schemas.microsoft.com/office/drawing/2014/main" id="{1683B13B-B77D-DB3F-6267-3F57A6E5CFBB}"/>
                </a:ext>
              </a:extLst>
            </p:cNvPr>
            <p:cNvSpPr/>
            <p:nvPr/>
          </p:nvSpPr>
          <p:spPr>
            <a:xfrm>
              <a:off x="17300837" y="2755279"/>
              <a:ext cx="73493" cy="212666"/>
            </a:xfrm>
            <a:custGeom>
              <a:avLst/>
              <a:gdLst>
                <a:gd name="connsiteX0" fmla="*/ 11708 w 73493"/>
                <a:gd name="connsiteY0" fmla="*/ 212667 h 212666"/>
                <a:gd name="connsiteX1" fmla="*/ 42098 w 73493"/>
                <a:gd name="connsiteY1" fmla="*/ 184617 h 212666"/>
                <a:gd name="connsiteX2" fmla="*/ 47908 w 73493"/>
                <a:gd name="connsiteY2" fmla="*/ 98167 h 212666"/>
                <a:gd name="connsiteX3" fmla="*/ 72440 w 73493"/>
                <a:gd name="connsiteY3" fmla="*/ 70108 h 212666"/>
                <a:gd name="connsiteX4" fmla="*/ 72440 w 73493"/>
                <a:gd name="connsiteY4" fmla="*/ 0 h 212666"/>
                <a:gd name="connsiteX5" fmla="*/ 42059 w 73493"/>
                <a:gd name="connsiteY5" fmla="*/ 18713 h 212666"/>
                <a:gd name="connsiteX6" fmla="*/ 11668 w 73493"/>
                <a:gd name="connsiteY6" fmla="*/ 70108 h 212666"/>
                <a:gd name="connsiteX7" fmla="*/ 0 w 73493"/>
                <a:gd name="connsiteY7" fmla="*/ 151895 h 212666"/>
                <a:gd name="connsiteX8" fmla="*/ 11708 w 73493"/>
                <a:gd name="connsiteY8" fmla="*/ 212667 h 21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493" h="212666">
                  <a:moveTo>
                    <a:pt x="11708" y="212667"/>
                  </a:moveTo>
                  <a:cubicBezTo>
                    <a:pt x="23376" y="212667"/>
                    <a:pt x="42098" y="184617"/>
                    <a:pt x="42098" y="184617"/>
                  </a:cubicBezTo>
                  <a:lnTo>
                    <a:pt x="47908" y="98167"/>
                  </a:lnTo>
                  <a:cubicBezTo>
                    <a:pt x="47908" y="98167"/>
                    <a:pt x="70148" y="77153"/>
                    <a:pt x="72440" y="70108"/>
                  </a:cubicBezTo>
                  <a:cubicBezTo>
                    <a:pt x="74811" y="63064"/>
                    <a:pt x="72440" y="0"/>
                    <a:pt x="72440" y="0"/>
                  </a:cubicBezTo>
                  <a:lnTo>
                    <a:pt x="42059" y="18713"/>
                  </a:lnTo>
                  <a:lnTo>
                    <a:pt x="11668" y="70108"/>
                  </a:lnTo>
                  <a:lnTo>
                    <a:pt x="0" y="151895"/>
                  </a:lnTo>
                  <a:cubicBezTo>
                    <a:pt x="39" y="151934"/>
                    <a:pt x="39" y="212667"/>
                    <a:pt x="11708" y="212667"/>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9" name="Freeform: Shape 228">
              <a:extLst>
                <a:ext uri="{FF2B5EF4-FFF2-40B4-BE49-F238E27FC236}">
                  <a16:creationId xmlns:a16="http://schemas.microsoft.com/office/drawing/2014/main" id="{A1ABB446-756E-4ABD-288B-93621021637F}"/>
                </a:ext>
              </a:extLst>
            </p:cNvPr>
            <p:cNvSpPr/>
            <p:nvPr/>
          </p:nvSpPr>
          <p:spPr>
            <a:xfrm>
              <a:off x="14261646" y="4520029"/>
              <a:ext cx="300987" cy="378718"/>
            </a:xfrm>
            <a:custGeom>
              <a:avLst/>
              <a:gdLst>
                <a:gd name="connsiteX0" fmla="*/ 87753 w 300987"/>
                <a:gd name="connsiteY0" fmla="*/ 103634 h 378718"/>
                <a:gd name="connsiteX1" fmla="*/ 75771 w 300987"/>
                <a:gd name="connsiteY1" fmla="*/ 55795 h 378718"/>
                <a:gd name="connsiteX2" fmla="*/ 0 w 300987"/>
                <a:gd name="connsiteY2" fmla="*/ 0 h 378718"/>
                <a:gd name="connsiteX3" fmla="*/ 11982 w 300987"/>
                <a:gd name="connsiteY3" fmla="*/ 53806 h 378718"/>
                <a:gd name="connsiteX4" fmla="*/ 0 w 300987"/>
                <a:gd name="connsiteY4" fmla="*/ 133525 h 378718"/>
                <a:gd name="connsiteX5" fmla="*/ 65788 w 300987"/>
                <a:gd name="connsiteY5" fmla="*/ 229194 h 378718"/>
                <a:gd name="connsiteX6" fmla="*/ 155490 w 300987"/>
                <a:gd name="connsiteY6" fmla="*/ 322924 h 378718"/>
                <a:gd name="connsiteX7" fmla="*/ 245193 w 300987"/>
                <a:gd name="connsiteY7" fmla="*/ 378718 h 378718"/>
                <a:gd name="connsiteX8" fmla="*/ 300988 w 300987"/>
                <a:gd name="connsiteY8" fmla="*/ 378718 h 378718"/>
                <a:gd name="connsiteX9" fmla="*/ 169412 w 300987"/>
                <a:gd name="connsiteY9" fmla="*/ 215224 h 378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987" h="378718">
                  <a:moveTo>
                    <a:pt x="87753" y="103634"/>
                  </a:moveTo>
                  <a:lnTo>
                    <a:pt x="75771" y="55795"/>
                  </a:lnTo>
                  <a:lnTo>
                    <a:pt x="0" y="0"/>
                  </a:lnTo>
                  <a:lnTo>
                    <a:pt x="11982" y="53806"/>
                  </a:lnTo>
                  <a:lnTo>
                    <a:pt x="0" y="133525"/>
                  </a:lnTo>
                  <a:lnTo>
                    <a:pt x="65788" y="229194"/>
                  </a:lnTo>
                  <a:cubicBezTo>
                    <a:pt x="65788" y="229194"/>
                    <a:pt x="145497" y="316918"/>
                    <a:pt x="155490" y="322924"/>
                  </a:cubicBezTo>
                  <a:cubicBezTo>
                    <a:pt x="165474" y="328890"/>
                    <a:pt x="245193" y="378718"/>
                    <a:pt x="245193" y="378718"/>
                  </a:cubicBezTo>
                  <a:lnTo>
                    <a:pt x="300988" y="378718"/>
                  </a:lnTo>
                  <a:lnTo>
                    <a:pt x="169412" y="21522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0" name="Freeform: Shape 229">
              <a:extLst>
                <a:ext uri="{FF2B5EF4-FFF2-40B4-BE49-F238E27FC236}">
                  <a16:creationId xmlns:a16="http://schemas.microsoft.com/office/drawing/2014/main" id="{33A15D5D-056B-B0D3-3F10-CE01591C467B}"/>
                </a:ext>
              </a:extLst>
            </p:cNvPr>
            <p:cNvSpPr/>
            <p:nvPr/>
          </p:nvSpPr>
          <p:spPr>
            <a:xfrm>
              <a:off x="17519901" y="1099562"/>
              <a:ext cx="195100" cy="340421"/>
            </a:xfrm>
            <a:custGeom>
              <a:avLst/>
              <a:gdLst>
                <a:gd name="connsiteX0" fmla="*/ 177378 w 195100"/>
                <a:gd name="connsiteY0" fmla="*/ 340421 h 340421"/>
                <a:gd name="connsiteX1" fmla="*/ 195100 w 195100"/>
                <a:gd name="connsiteY1" fmla="*/ 301419 h 340421"/>
                <a:gd name="connsiteX2" fmla="*/ 117066 w 195100"/>
                <a:gd name="connsiteY2" fmla="*/ 156039 h 340421"/>
                <a:gd name="connsiteX3" fmla="*/ 97550 w 195100"/>
                <a:gd name="connsiteY3" fmla="*/ 35446 h 340421"/>
                <a:gd name="connsiteX4" fmla="*/ 0 w 195100"/>
                <a:gd name="connsiteY4" fmla="*/ 0 h 340421"/>
                <a:gd name="connsiteX5" fmla="*/ 42549 w 195100"/>
                <a:gd name="connsiteY5" fmla="*/ 102870 h 340421"/>
                <a:gd name="connsiteX6" fmla="*/ 92191 w 195100"/>
                <a:gd name="connsiteY6" fmla="*/ 283774 h 34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0" h="340421">
                  <a:moveTo>
                    <a:pt x="177378" y="340421"/>
                  </a:moveTo>
                  <a:cubicBezTo>
                    <a:pt x="177378" y="340421"/>
                    <a:pt x="195100" y="312059"/>
                    <a:pt x="195100" y="301419"/>
                  </a:cubicBezTo>
                  <a:cubicBezTo>
                    <a:pt x="195100" y="290789"/>
                    <a:pt x="117066" y="156039"/>
                    <a:pt x="117066" y="156039"/>
                  </a:cubicBezTo>
                  <a:lnTo>
                    <a:pt x="97550" y="35446"/>
                  </a:lnTo>
                  <a:lnTo>
                    <a:pt x="0" y="0"/>
                  </a:lnTo>
                  <a:lnTo>
                    <a:pt x="42549" y="102870"/>
                  </a:lnTo>
                  <a:lnTo>
                    <a:pt x="92191" y="28377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1" name="Freeform: Shape 230">
              <a:extLst>
                <a:ext uri="{FF2B5EF4-FFF2-40B4-BE49-F238E27FC236}">
                  <a16:creationId xmlns:a16="http://schemas.microsoft.com/office/drawing/2014/main" id="{19662E40-14D4-D244-FCE3-EEEC5C251352}"/>
                </a:ext>
              </a:extLst>
            </p:cNvPr>
            <p:cNvSpPr/>
            <p:nvPr/>
          </p:nvSpPr>
          <p:spPr>
            <a:xfrm>
              <a:off x="17732754" y="1404557"/>
              <a:ext cx="180826" cy="322348"/>
            </a:xfrm>
            <a:custGeom>
              <a:avLst/>
              <a:gdLst>
                <a:gd name="connsiteX0" fmla="*/ 7044 w 180826"/>
                <a:gd name="connsiteY0" fmla="*/ 244693 h 322348"/>
                <a:gd name="connsiteX1" fmla="*/ 14128 w 180826"/>
                <a:gd name="connsiteY1" fmla="*/ 319201 h 322348"/>
                <a:gd name="connsiteX2" fmla="*/ 74439 w 180826"/>
                <a:gd name="connsiteY2" fmla="*/ 319201 h 322348"/>
                <a:gd name="connsiteX3" fmla="*/ 92152 w 180826"/>
                <a:gd name="connsiteY3" fmla="*/ 319201 h 322348"/>
                <a:gd name="connsiteX4" fmla="*/ 180826 w 180826"/>
                <a:gd name="connsiteY4" fmla="*/ 237610 h 322348"/>
                <a:gd name="connsiteX5" fmla="*/ 163152 w 180826"/>
                <a:gd name="connsiteY5" fmla="*/ 198617 h 322348"/>
                <a:gd name="connsiteX6" fmla="*/ 163152 w 180826"/>
                <a:gd name="connsiteY6" fmla="*/ 0 h 322348"/>
                <a:gd name="connsiteX7" fmla="*/ 106427 w 180826"/>
                <a:gd name="connsiteY7" fmla="*/ 99314 h 322348"/>
                <a:gd name="connsiteX8" fmla="*/ 90476 w 180826"/>
                <a:gd name="connsiteY8" fmla="*/ 131233 h 322348"/>
                <a:gd name="connsiteX9" fmla="*/ 21279 w 180826"/>
                <a:gd name="connsiteY9" fmla="*/ 99314 h 322348"/>
                <a:gd name="connsiteX10" fmla="*/ 0 w 180826"/>
                <a:gd name="connsiteY10" fmla="*/ 109953 h 322348"/>
                <a:gd name="connsiteX11" fmla="*/ 14196 w 180826"/>
                <a:gd name="connsiteY11" fmla="*/ 170265 h 322348"/>
                <a:gd name="connsiteX12" fmla="*/ 7044 w 180826"/>
                <a:gd name="connsiteY12" fmla="*/ 244703 h 322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826" h="322348">
                  <a:moveTo>
                    <a:pt x="7044" y="244693"/>
                  </a:moveTo>
                  <a:cubicBezTo>
                    <a:pt x="7044" y="269529"/>
                    <a:pt x="14128" y="319201"/>
                    <a:pt x="14128" y="319201"/>
                  </a:cubicBezTo>
                  <a:lnTo>
                    <a:pt x="74439" y="319201"/>
                  </a:lnTo>
                  <a:cubicBezTo>
                    <a:pt x="74439" y="319201"/>
                    <a:pt x="81522" y="326284"/>
                    <a:pt x="92152" y="319201"/>
                  </a:cubicBezTo>
                  <a:cubicBezTo>
                    <a:pt x="102792" y="312127"/>
                    <a:pt x="180826" y="237610"/>
                    <a:pt x="180826" y="237610"/>
                  </a:cubicBezTo>
                  <a:lnTo>
                    <a:pt x="163152" y="198617"/>
                  </a:lnTo>
                  <a:lnTo>
                    <a:pt x="163152" y="0"/>
                  </a:lnTo>
                  <a:lnTo>
                    <a:pt x="106427" y="99314"/>
                  </a:lnTo>
                  <a:cubicBezTo>
                    <a:pt x="106427" y="99314"/>
                    <a:pt x="99353" y="131233"/>
                    <a:pt x="90476" y="131233"/>
                  </a:cubicBezTo>
                  <a:cubicBezTo>
                    <a:pt x="81591" y="131233"/>
                    <a:pt x="21279" y="99314"/>
                    <a:pt x="21279" y="99314"/>
                  </a:cubicBezTo>
                  <a:lnTo>
                    <a:pt x="0" y="109953"/>
                  </a:lnTo>
                  <a:lnTo>
                    <a:pt x="14196" y="170265"/>
                  </a:lnTo>
                  <a:cubicBezTo>
                    <a:pt x="14128" y="170186"/>
                    <a:pt x="7044" y="219858"/>
                    <a:pt x="7044" y="244703"/>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2" name="Freeform: Shape 231">
              <a:extLst>
                <a:ext uri="{FF2B5EF4-FFF2-40B4-BE49-F238E27FC236}">
                  <a16:creationId xmlns:a16="http://schemas.microsoft.com/office/drawing/2014/main" id="{6FE6358B-FEF5-5DFD-218A-623F7DE57DE6}"/>
                </a:ext>
              </a:extLst>
            </p:cNvPr>
            <p:cNvSpPr/>
            <p:nvPr/>
          </p:nvSpPr>
          <p:spPr>
            <a:xfrm>
              <a:off x="17657052" y="1775986"/>
              <a:ext cx="315722" cy="501300"/>
            </a:xfrm>
            <a:custGeom>
              <a:avLst/>
              <a:gdLst>
                <a:gd name="connsiteX0" fmla="*/ 292993 w 315722"/>
                <a:gd name="connsiteY0" fmla="*/ 243204 h 501300"/>
                <a:gd name="connsiteX1" fmla="*/ 291612 w 315722"/>
                <a:gd name="connsiteY1" fmla="*/ 155873 h 501300"/>
                <a:gd name="connsiteX2" fmla="*/ 227098 w 315722"/>
                <a:gd name="connsiteY2" fmla="*/ 0 h 501300"/>
                <a:gd name="connsiteX3" fmla="*/ 166130 w 315722"/>
                <a:gd name="connsiteY3" fmla="*/ 18830 h 501300"/>
                <a:gd name="connsiteX4" fmla="*/ 181394 w 315722"/>
                <a:gd name="connsiteY4" fmla="*/ 63143 h 501300"/>
                <a:gd name="connsiteX5" fmla="*/ 221739 w 315722"/>
                <a:gd name="connsiteY5" fmla="*/ 177377 h 501300"/>
                <a:gd name="connsiteX6" fmla="*/ 193915 w 315722"/>
                <a:gd name="connsiteY6" fmla="*/ 271489 h 501300"/>
                <a:gd name="connsiteX7" fmla="*/ 141059 w 315722"/>
                <a:gd name="connsiteY7" fmla="*/ 279562 h 501300"/>
                <a:gd name="connsiteX8" fmla="*/ 141059 w 315722"/>
                <a:gd name="connsiteY8" fmla="*/ 368275 h 501300"/>
                <a:gd name="connsiteX9" fmla="*/ 57940 w 315722"/>
                <a:gd name="connsiteY9" fmla="*/ 368275 h 501300"/>
                <a:gd name="connsiteX10" fmla="*/ 0 w 315722"/>
                <a:gd name="connsiteY10" fmla="*/ 431417 h 501300"/>
                <a:gd name="connsiteX11" fmla="*/ 18830 w 315722"/>
                <a:gd name="connsiteY11" fmla="*/ 501300 h 501300"/>
                <a:gd name="connsiteX12" fmla="*/ 95404 w 315722"/>
                <a:gd name="connsiteY12" fmla="*/ 444849 h 501300"/>
                <a:gd name="connsiteX13" fmla="*/ 149171 w 315722"/>
                <a:gd name="connsiteY13" fmla="*/ 428743 h 501300"/>
                <a:gd name="connsiteX14" fmla="*/ 188135 w 315722"/>
                <a:gd name="connsiteY14" fmla="*/ 491885 h 501300"/>
                <a:gd name="connsiteX15" fmla="*/ 221700 w 315722"/>
                <a:gd name="connsiteY15" fmla="*/ 455606 h 501300"/>
                <a:gd name="connsiteX16" fmla="*/ 263338 w 315722"/>
                <a:gd name="connsiteY16" fmla="*/ 396481 h 501300"/>
                <a:gd name="connsiteX17" fmla="*/ 315723 w 315722"/>
                <a:gd name="connsiteY17" fmla="*/ 352158 h 50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5722" h="501300">
                  <a:moveTo>
                    <a:pt x="292993" y="243204"/>
                  </a:moveTo>
                  <a:lnTo>
                    <a:pt x="291612" y="155873"/>
                  </a:lnTo>
                  <a:cubicBezTo>
                    <a:pt x="291612" y="155873"/>
                    <a:pt x="233828" y="0"/>
                    <a:pt x="227098" y="0"/>
                  </a:cubicBezTo>
                  <a:cubicBezTo>
                    <a:pt x="220357" y="0"/>
                    <a:pt x="166130" y="18830"/>
                    <a:pt x="166130" y="18830"/>
                  </a:cubicBezTo>
                  <a:lnTo>
                    <a:pt x="181394" y="63143"/>
                  </a:lnTo>
                  <a:lnTo>
                    <a:pt x="221739" y="177377"/>
                  </a:lnTo>
                  <a:lnTo>
                    <a:pt x="193915" y="271489"/>
                  </a:lnTo>
                  <a:lnTo>
                    <a:pt x="141059" y="279562"/>
                  </a:lnTo>
                  <a:lnTo>
                    <a:pt x="141059" y="368275"/>
                  </a:lnTo>
                  <a:lnTo>
                    <a:pt x="57940" y="368275"/>
                  </a:lnTo>
                  <a:lnTo>
                    <a:pt x="0" y="431417"/>
                  </a:lnTo>
                  <a:lnTo>
                    <a:pt x="18830" y="501300"/>
                  </a:lnTo>
                  <a:lnTo>
                    <a:pt x="95404" y="444849"/>
                  </a:lnTo>
                  <a:lnTo>
                    <a:pt x="149171" y="428743"/>
                  </a:lnTo>
                  <a:lnTo>
                    <a:pt x="188135" y="491885"/>
                  </a:lnTo>
                  <a:cubicBezTo>
                    <a:pt x="188135" y="491885"/>
                    <a:pt x="217712" y="473055"/>
                    <a:pt x="221700" y="455606"/>
                  </a:cubicBezTo>
                  <a:cubicBezTo>
                    <a:pt x="225716" y="438158"/>
                    <a:pt x="259321" y="396481"/>
                    <a:pt x="263338" y="396481"/>
                  </a:cubicBezTo>
                  <a:cubicBezTo>
                    <a:pt x="267394" y="396481"/>
                    <a:pt x="315723" y="352158"/>
                    <a:pt x="315723" y="352158"/>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3" name="Freeform: Shape 232">
              <a:extLst>
                <a:ext uri="{FF2B5EF4-FFF2-40B4-BE49-F238E27FC236}">
                  <a16:creationId xmlns:a16="http://schemas.microsoft.com/office/drawing/2014/main" id="{514D9B86-6F07-2123-8267-19F1A4116CB0}"/>
                </a:ext>
              </a:extLst>
            </p:cNvPr>
            <p:cNvSpPr/>
            <p:nvPr/>
          </p:nvSpPr>
          <p:spPr>
            <a:xfrm>
              <a:off x="17619480" y="2304141"/>
              <a:ext cx="96786" cy="123884"/>
            </a:xfrm>
            <a:custGeom>
              <a:avLst/>
              <a:gdLst>
                <a:gd name="connsiteX0" fmla="*/ 43020 w 96786"/>
                <a:gd name="connsiteY0" fmla="*/ 123885 h 123884"/>
                <a:gd name="connsiteX1" fmla="*/ 96786 w 96786"/>
                <a:gd name="connsiteY1" fmla="*/ 118222 h 123884"/>
                <a:gd name="connsiteX2" fmla="*/ 96786 w 96786"/>
                <a:gd name="connsiteY2" fmla="*/ 53777 h 123884"/>
                <a:gd name="connsiteX3" fmla="*/ 80640 w 96786"/>
                <a:gd name="connsiteY3" fmla="*/ 0 h 123884"/>
                <a:gd name="connsiteX4" fmla="*/ 0 w 96786"/>
                <a:gd name="connsiteY4" fmla="*/ 8083 h 123884"/>
                <a:gd name="connsiteX5" fmla="*/ 37621 w 96786"/>
                <a:gd name="connsiteY5" fmla="*/ 52395 h 12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786" h="123884">
                  <a:moveTo>
                    <a:pt x="43020" y="123885"/>
                  </a:moveTo>
                  <a:lnTo>
                    <a:pt x="96786" y="118222"/>
                  </a:lnTo>
                  <a:lnTo>
                    <a:pt x="96786" y="53777"/>
                  </a:lnTo>
                  <a:lnTo>
                    <a:pt x="80640" y="0"/>
                  </a:lnTo>
                  <a:lnTo>
                    <a:pt x="0" y="8083"/>
                  </a:lnTo>
                  <a:lnTo>
                    <a:pt x="37621" y="5239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4" name="Freeform: Shape 233">
              <a:extLst>
                <a:ext uri="{FF2B5EF4-FFF2-40B4-BE49-F238E27FC236}">
                  <a16:creationId xmlns:a16="http://schemas.microsoft.com/office/drawing/2014/main" id="{DB6FFF71-6BC8-9113-0269-C3CC4F88DC7D}"/>
                </a:ext>
              </a:extLst>
            </p:cNvPr>
            <p:cNvSpPr/>
            <p:nvPr/>
          </p:nvSpPr>
          <p:spPr>
            <a:xfrm>
              <a:off x="17740435" y="2254440"/>
              <a:ext cx="63142" cy="71215"/>
            </a:xfrm>
            <a:custGeom>
              <a:avLst/>
              <a:gdLst>
                <a:gd name="connsiteX0" fmla="*/ 63143 w 63142"/>
                <a:gd name="connsiteY0" fmla="*/ 22808 h 71215"/>
                <a:gd name="connsiteX1" fmla="*/ 36240 w 63142"/>
                <a:gd name="connsiteY1" fmla="*/ 0 h 71215"/>
                <a:gd name="connsiteX2" fmla="*/ 0 w 63142"/>
                <a:gd name="connsiteY2" fmla="*/ 29509 h 71215"/>
                <a:gd name="connsiteX3" fmla="*/ 18096 w 63142"/>
                <a:gd name="connsiteY3" fmla="*/ 71215 h 71215"/>
                <a:gd name="connsiteX4" fmla="*/ 63143 w 63142"/>
                <a:gd name="connsiteY4" fmla="*/ 71215 h 71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42" h="71215">
                  <a:moveTo>
                    <a:pt x="63143" y="22808"/>
                  </a:moveTo>
                  <a:lnTo>
                    <a:pt x="36240" y="0"/>
                  </a:lnTo>
                  <a:lnTo>
                    <a:pt x="0" y="29509"/>
                  </a:lnTo>
                  <a:lnTo>
                    <a:pt x="18096" y="71215"/>
                  </a:lnTo>
                  <a:lnTo>
                    <a:pt x="63143" y="7121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5" name="Freeform: Shape 234">
              <a:extLst>
                <a:ext uri="{FF2B5EF4-FFF2-40B4-BE49-F238E27FC236}">
                  <a16:creationId xmlns:a16="http://schemas.microsoft.com/office/drawing/2014/main" id="{ADB4E022-0DDE-9156-F5D1-55D7FDF30822}"/>
                </a:ext>
              </a:extLst>
            </p:cNvPr>
            <p:cNvSpPr/>
            <p:nvPr/>
          </p:nvSpPr>
          <p:spPr>
            <a:xfrm>
              <a:off x="15836900" y="3378417"/>
              <a:ext cx="67198" cy="204094"/>
            </a:xfrm>
            <a:custGeom>
              <a:avLst/>
              <a:gdLst>
                <a:gd name="connsiteX0" fmla="*/ 53688 w 67198"/>
                <a:gd name="connsiteY0" fmla="*/ 116419 h 204094"/>
                <a:gd name="connsiteX1" fmla="*/ 33555 w 67198"/>
                <a:gd name="connsiteY1" fmla="*/ 43823 h 204094"/>
                <a:gd name="connsiteX2" fmla="*/ 0 w 67198"/>
                <a:gd name="connsiteY2" fmla="*/ 0 h 204094"/>
                <a:gd name="connsiteX3" fmla="*/ 0 w 67198"/>
                <a:gd name="connsiteY3" fmla="*/ 134975 h 204094"/>
                <a:gd name="connsiteX4" fmla="*/ 19976 w 67198"/>
                <a:gd name="connsiteY4" fmla="*/ 204094 h 204094"/>
                <a:gd name="connsiteX5" fmla="*/ 67199 w 67198"/>
                <a:gd name="connsiteY5" fmla="*/ 204094 h 204094"/>
                <a:gd name="connsiteX6" fmla="*/ 53688 w 67198"/>
                <a:gd name="connsiteY6" fmla="*/ 116419 h 20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98" h="204094">
                  <a:moveTo>
                    <a:pt x="53688" y="116419"/>
                  </a:moveTo>
                  <a:cubicBezTo>
                    <a:pt x="53688" y="101146"/>
                    <a:pt x="33555" y="43823"/>
                    <a:pt x="33555" y="43823"/>
                  </a:cubicBezTo>
                  <a:lnTo>
                    <a:pt x="0" y="0"/>
                  </a:lnTo>
                  <a:lnTo>
                    <a:pt x="0" y="134975"/>
                  </a:lnTo>
                  <a:lnTo>
                    <a:pt x="19976" y="204094"/>
                  </a:lnTo>
                  <a:lnTo>
                    <a:pt x="67199" y="204094"/>
                  </a:lnTo>
                  <a:cubicBezTo>
                    <a:pt x="67199" y="204094"/>
                    <a:pt x="53688" y="131683"/>
                    <a:pt x="53688" y="116419"/>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6" name="Freeform: Shape 235">
              <a:extLst>
                <a:ext uri="{FF2B5EF4-FFF2-40B4-BE49-F238E27FC236}">
                  <a16:creationId xmlns:a16="http://schemas.microsoft.com/office/drawing/2014/main" id="{85D95194-7E91-3DBB-49EC-FD170A3AAEFC}"/>
                </a:ext>
              </a:extLst>
            </p:cNvPr>
            <p:cNvSpPr/>
            <p:nvPr/>
          </p:nvSpPr>
          <p:spPr>
            <a:xfrm>
              <a:off x="15904147" y="3648377"/>
              <a:ext cx="67462" cy="128127"/>
            </a:xfrm>
            <a:custGeom>
              <a:avLst/>
              <a:gdLst>
                <a:gd name="connsiteX0" fmla="*/ 20241 w 67462"/>
                <a:gd name="connsiteY0" fmla="*/ 128127 h 128127"/>
                <a:gd name="connsiteX1" fmla="*/ 67463 w 67462"/>
                <a:gd name="connsiteY1" fmla="*/ 95326 h 128127"/>
                <a:gd name="connsiteX2" fmla="*/ 0 w 67462"/>
                <a:gd name="connsiteY2" fmla="*/ 0 h 128127"/>
              </a:gdLst>
              <a:ahLst/>
              <a:cxnLst>
                <a:cxn ang="0">
                  <a:pos x="connsiteX0" y="connsiteY0"/>
                </a:cxn>
                <a:cxn ang="0">
                  <a:pos x="connsiteX1" y="connsiteY1"/>
                </a:cxn>
                <a:cxn ang="0">
                  <a:pos x="connsiteX2" y="connsiteY2"/>
                </a:cxn>
              </a:cxnLst>
              <a:rect l="l" t="t" r="r" b="b"/>
              <a:pathLst>
                <a:path w="67462" h="128127">
                  <a:moveTo>
                    <a:pt x="20241" y="128127"/>
                  </a:moveTo>
                  <a:lnTo>
                    <a:pt x="67463" y="95326"/>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285" name="Group 284">
            <a:extLst>
              <a:ext uri="{FF2B5EF4-FFF2-40B4-BE49-F238E27FC236}">
                <a16:creationId xmlns:a16="http://schemas.microsoft.com/office/drawing/2014/main" id="{6E9C196A-9F98-E06D-BAD5-C02B1D23FF28}"/>
              </a:ext>
            </a:extLst>
          </p:cNvPr>
          <p:cNvGrpSpPr>
            <a:grpSpLocks noChangeAspect="1"/>
          </p:cNvGrpSpPr>
          <p:nvPr/>
        </p:nvGrpSpPr>
        <p:grpSpPr>
          <a:xfrm>
            <a:off x="566217" y="3819673"/>
            <a:ext cx="572996" cy="1177413"/>
            <a:chOff x="-5121559" y="38120"/>
            <a:chExt cx="2632890" cy="5410168"/>
          </a:xfrm>
          <a:solidFill>
            <a:schemeClr val="tx2"/>
          </a:solidFill>
        </p:grpSpPr>
        <p:sp>
          <p:nvSpPr>
            <p:cNvPr id="286" name="Freeform: Shape 285">
              <a:extLst>
                <a:ext uri="{FF2B5EF4-FFF2-40B4-BE49-F238E27FC236}">
                  <a16:creationId xmlns:a16="http://schemas.microsoft.com/office/drawing/2014/main" id="{B7AC7AF8-9E32-B751-8ACF-061D00A1DB4B}"/>
                </a:ext>
              </a:extLst>
            </p:cNvPr>
            <p:cNvSpPr/>
            <p:nvPr/>
          </p:nvSpPr>
          <p:spPr>
            <a:xfrm>
              <a:off x="-4465715" y="38120"/>
              <a:ext cx="1066811" cy="1066771"/>
            </a:xfrm>
            <a:custGeom>
              <a:avLst/>
              <a:gdLst>
                <a:gd name="connsiteX0" fmla="*/ 1066811 w 1066811"/>
                <a:gd name="connsiteY0" fmla="*/ 533366 h 1066771"/>
                <a:gd name="connsiteX1" fmla="*/ 533406 w 1066811"/>
                <a:gd name="connsiteY1" fmla="*/ 1066772 h 1066771"/>
                <a:gd name="connsiteX2" fmla="*/ 0 w 1066811"/>
                <a:gd name="connsiteY2" fmla="*/ 533366 h 1066771"/>
                <a:gd name="connsiteX3" fmla="*/ 533406 w 1066811"/>
                <a:gd name="connsiteY3" fmla="*/ 0 h 1066771"/>
                <a:gd name="connsiteX4" fmla="*/ 1066811 w 1066811"/>
                <a:gd name="connsiteY4" fmla="*/ 533366 h 10667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11" h="1066771">
                  <a:moveTo>
                    <a:pt x="1066811" y="533366"/>
                  </a:moveTo>
                  <a:cubicBezTo>
                    <a:pt x="1066811" y="827966"/>
                    <a:pt x="828006" y="1066772"/>
                    <a:pt x="533406" y="1066772"/>
                  </a:cubicBezTo>
                  <a:cubicBezTo>
                    <a:pt x="238805" y="1066772"/>
                    <a:pt x="0" y="827966"/>
                    <a:pt x="0" y="533366"/>
                  </a:cubicBezTo>
                  <a:cubicBezTo>
                    <a:pt x="0" y="238805"/>
                    <a:pt x="238805" y="0"/>
                    <a:pt x="533406" y="0"/>
                  </a:cubicBezTo>
                  <a:cubicBezTo>
                    <a:pt x="828006" y="0"/>
                    <a:pt x="1066811" y="238805"/>
                    <a:pt x="1066811" y="533366"/>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7" name="Freeform: Shape 286">
              <a:extLst>
                <a:ext uri="{FF2B5EF4-FFF2-40B4-BE49-F238E27FC236}">
                  <a16:creationId xmlns:a16="http://schemas.microsoft.com/office/drawing/2014/main" id="{826131B3-6444-6C6D-DC8F-7C83FAB17ACF}"/>
                </a:ext>
              </a:extLst>
            </p:cNvPr>
            <p:cNvSpPr/>
            <p:nvPr/>
          </p:nvSpPr>
          <p:spPr>
            <a:xfrm>
              <a:off x="-5121559" y="1094425"/>
              <a:ext cx="2409062" cy="4353765"/>
            </a:xfrm>
            <a:custGeom>
              <a:avLst/>
              <a:gdLst>
                <a:gd name="connsiteX0" fmla="*/ 1524557 w 2409062"/>
                <a:gd name="connsiteY0" fmla="*/ 2854 h 4353765"/>
                <a:gd name="connsiteX1" fmla="*/ 1448364 w 2409062"/>
                <a:gd name="connsiteY1" fmla="*/ 25701 h 4353765"/>
                <a:gd name="connsiteX2" fmla="*/ 1235012 w 2409062"/>
                <a:gd name="connsiteY2" fmla="*/ 239054 h 4353765"/>
                <a:gd name="connsiteX3" fmla="*/ 1143585 w 2409062"/>
                <a:gd name="connsiteY3" fmla="*/ 239054 h 4353765"/>
                <a:gd name="connsiteX4" fmla="*/ 937806 w 2409062"/>
                <a:gd name="connsiteY4" fmla="*/ 25701 h 4353765"/>
                <a:gd name="connsiteX5" fmla="*/ 861604 w 2409062"/>
                <a:gd name="connsiteY5" fmla="*/ 2854 h 4353765"/>
                <a:gd name="connsiteX6" fmla="*/ 523 w 2409062"/>
                <a:gd name="connsiteY6" fmla="*/ 1526800 h 4353765"/>
                <a:gd name="connsiteX7" fmla="*/ 183416 w 2409062"/>
                <a:gd name="connsiteY7" fmla="*/ 1740152 h 4353765"/>
                <a:gd name="connsiteX8" fmla="*/ 198651 w 2409062"/>
                <a:gd name="connsiteY8" fmla="*/ 1740152 h 4353765"/>
                <a:gd name="connsiteX9" fmla="*/ 396778 w 2409062"/>
                <a:gd name="connsiteY9" fmla="*/ 1557259 h 4353765"/>
                <a:gd name="connsiteX10" fmla="*/ 526326 w 2409062"/>
                <a:gd name="connsiteY10" fmla="*/ 940039 h 4353765"/>
                <a:gd name="connsiteX11" fmla="*/ 556795 w 2409062"/>
                <a:gd name="connsiteY11" fmla="*/ 947652 h 4353765"/>
                <a:gd name="connsiteX12" fmla="*/ 556795 w 2409062"/>
                <a:gd name="connsiteY12" fmla="*/ 1077199 h 4353765"/>
                <a:gd name="connsiteX13" fmla="*/ 503440 w 2409062"/>
                <a:gd name="connsiteY13" fmla="*/ 1702032 h 4353765"/>
                <a:gd name="connsiteX14" fmla="*/ 556795 w 2409062"/>
                <a:gd name="connsiteY14" fmla="*/ 2029697 h 4353765"/>
                <a:gd name="connsiteX15" fmla="*/ 610141 w 2409062"/>
                <a:gd name="connsiteY15" fmla="*/ 4117567 h 4353765"/>
                <a:gd name="connsiteX16" fmla="*/ 854001 w 2409062"/>
                <a:gd name="connsiteY16" fmla="*/ 4353766 h 4353765"/>
                <a:gd name="connsiteX17" fmla="*/ 1097862 w 2409062"/>
                <a:gd name="connsiteY17" fmla="*/ 4117567 h 4353765"/>
                <a:gd name="connsiteX18" fmla="*/ 1135973 w 2409062"/>
                <a:gd name="connsiteY18" fmla="*/ 2448819 h 4353765"/>
                <a:gd name="connsiteX19" fmla="*/ 1204553 w 2409062"/>
                <a:gd name="connsiteY19" fmla="*/ 2448819 h 4353765"/>
                <a:gd name="connsiteX20" fmla="*/ 1273133 w 2409062"/>
                <a:gd name="connsiteY20" fmla="*/ 2448819 h 4353765"/>
                <a:gd name="connsiteX21" fmla="*/ 1311253 w 2409062"/>
                <a:gd name="connsiteY21" fmla="*/ 4117567 h 4353765"/>
                <a:gd name="connsiteX22" fmla="*/ 1555114 w 2409062"/>
                <a:gd name="connsiteY22" fmla="*/ 4353766 h 4353765"/>
                <a:gd name="connsiteX23" fmla="*/ 1798975 w 2409062"/>
                <a:gd name="connsiteY23" fmla="*/ 4117567 h 4353765"/>
                <a:gd name="connsiteX24" fmla="*/ 1852320 w 2409062"/>
                <a:gd name="connsiteY24" fmla="*/ 2029697 h 4353765"/>
                <a:gd name="connsiteX25" fmla="*/ 1905675 w 2409062"/>
                <a:gd name="connsiteY25" fmla="*/ 1717256 h 4353765"/>
                <a:gd name="connsiteX26" fmla="*/ 1852320 w 2409062"/>
                <a:gd name="connsiteY26" fmla="*/ 1130496 h 4353765"/>
                <a:gd name="connsiteX27" fmla="*/ 1852320 w 2409062"/>
                <a:gd name="connsiteY27" fmla="*/ 947603 h 4353765"/>
                <a:gd name="connsiteX28" fmla="*/ 1882789 w 2409062"/>
                <a:gd name="connsiteY28" fmla="*/ 939990 h 4353765"/>
                <a:gd name="connsiteX29" fmla="*/ 2012337 w 2409062"/>
                <a:gd name="connsiteY29" fmla="*/ 1557210 h 4353765"/>
                <a:gd name="connsiteX30" fmla="*/ 2210465 w 2409062"/>
                <a:gd name="connsiteY30" fmla="*/ 1740103 h 4353765"/>
                <a:gd name="connsiteX31" fmla="*/ 2225689 w 2409062"/>
                <a:gd name="connsiteY31" fmla="*/ 1740103 h 4353765"/>
                <a:gd name="connsiteX32" fmla="*/ 2408582 w 2409062"/>
                <a:gd name="connsiteY32" fmla="*/ 1526751 h 4353765"/>
                <a:gd name="connsiteX33" fmla="*/ 1524586 w 2409062"/>
                <a:gd name="connsiteY33" fmla="*/ 2806 h 43537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409062" h="4353765">
                  <a:moveTo>
                    <a:pt x="1524557" y="2854"/>
                  </a:moveTo>
                  <a:cubicBezTo>
                    <a:pt x="1494097" y="-4758"/>
                    <a:pt x="1463589" y="2854"/>
                    <a:pt x="1448364" y="25701"/>
                  </a:cubicBezTo>
                  <a:lnTo>
                    <a:pt x="1235012" y="239054"/>
                  </a:lnTo>
                  <a:cubicBezTo>
                    <a:pt x="1212165" y="261901"/>
                    <a:pt x="1174044" y="261901"/>
                    <a:pt x="1143585" y="239054"/>
                  </a:cubicBezTo>
                  <a:lnTo>
                    <a:pt x="937806" y="25701"/>
                  </a:lnTo>
                  <a:cubicBezTo>
                    <a:pt x="914959" y="2854"/>
                    <a:pt x="884451" y="-4758"/>
                    <a:pt x="861604" y="2854"/>
                  </a:cubicBezTo>
                  <a:cubicBezTo>
                    <a:pt x="130071" y="185748"/>
                    <a:pt x="8184" y="1389640"/>
                    <a:pt x="523" y="1526800"/>
                  </a:cubicBezTo>
                  <a:cubicBezTo>
                    <a:pt x="-7089" y="1633501"/>
                    <a:pt x="69103" y="1732540"/>
                    <a:pt x="183416" y="1740152"/>
                  </a:cubicBezTo>
                  <a:lnTo>
                    <a:pt x="198651" y="1740152"/>
                  </a:lnTo>
                  <a:cubicBezTo>
                    <a:pt x="297690" y="1740152"/>
                    <a:pt x="389156" y="1663960"/>
                    <a:pt x="396778" y="1557259"/>
                  </a:cubicBezTo>
                  <a:cubicBezTo>
                    <a:pt x="404391" y="1427712"/>
                    <a:pt x="450124" y="1176239"/>
                    <a:pt x="526326" y="940039"/>
                  </a:cubicBezTo>
                  <a:cubicBezTo>
                    <a:pt x="533938" y="924805"/>
                    <a:pt x="556795" y="924805"/>
                    <a:pt x="556795" y="947652"/>
                  </a:cubicBezTo>
                  <a:lnTo>
                    <a:pt x="556795" y="1077199"/>
                  </a:lnTo>
                  <a:lnTo>
                    <a:pt x="503440" y="1702032"/>
                  </a:lnTo>
                  <a:cubicBezTo>
                    <a:pt x="495827" y="1816345"/>
                    <a:pt x="511062" y="1930619"/>
                    <a:pt x="556795" y="2029697"/>
                  </a:cubicBezTo>
                  <a:lnTo>
                    <a:pt x="610141" y="4117567"/>
                  </a:lnTo>
                  <a:cubicBezTo>
                    <a:pt x="610141" y="4247114"/>
                    <a:pt x="724454" y="4353766"/>
                    <a:pt x="854001" y="4353766"/>
                  </a:cubicBezTo>
                  <a:cubicBezTo>
                    <a:pt x="983549" y="4353766"/>
                    <a:pt x="1090201" y="4247065"/>
                    <a:pt x="1097862" y="4117567"/>
                  </a:cubicBezTo>
                  <a:lnTo>
                    <a:pt x="1135973" y="2448819"/>
                  </a:lnTo>
                  <a:lnTo>
                    <a:pt x="1204553" y="2448819"/>
                  </a:lnTo>
                  <a:lnTo>
                    <a:pt x="1273133" y="2448819"/>
                  </a:lnTo>
                  <a:lnTo>
                    <a:pt x="1311253" y="4117567"/>
                  </a:lnTo>
                  <a:cubicBezTo>
                    <a:pt x="1311253" y="4247114"/>
                    <a:pt x="1425566" y="4353766"/>
                    <a:pt x="1555114" y="4353766"/>
                  </a:cubicBezTo>
                  <a:cubicBezTo>
                    <a:pt x="1684662" y="4353766"/>
                    <a:pt x="1791313" y="4247065"/>
                    <a:pt x="1798975" y="4117567"/>
                  </a:cubicBezTo>
                  <a:lnTo>
                    <a:pt x="1852320" y="2029697"/>
                  </a:lnTo>
                  <a:cubicBezTo>
                    <a:pt x="1890441" y="1938270"/>
                    <a:pt x="1913288" y="1831570"/>
                    <a:pt x="1905675" y="1717256"/>
                  </a:cubicBezTo>
                  <a:lnTo>
                    <a:pt x="1852320" y="1130496"/>
                  </a:lnTo>
                  <a:lnTo>
                    <a:pt x="1852320" y="947603"/>
                  </a:lnTo>
                  <a:cubicBezTo>
                    <a:pt x="1852320" y="932378"/>
                    <a:pt x="1875167" y="924756"/>
                    <a:pt x="1882789" y="939990"/>
                  </a:cubicBezTo>
                  <a:cubicBezTo>
                    <a:pt x="1966594" y="1176190"/>
                    <a:pt x="2004715" y="1420050"/>
                    <a:pt x="2012337" y="1557210"/>
                  </a:cubicBezTo>
                  <a:cubicBezTo>
                    <a:pt x="2019949" y="1656250"/>
                    <a:pt x="2103764" y="1740103"/>
                    <a:pt x="2210465" y="1740103"/>
                  </a:cubicBezTo>
                  <a:lnTo>
                    <a:pt x="2225689" y="1740103"/>
                  </a:lnTo>
                  <a:cubicBezTo>
                    <a:pt x="2332390" y="1732491"/>
                    <a:pt x="2416195" y="1641064"/>
                    <a:pt x="2408582" y="1526751"/>
                  </a:cubicBezTo>
                  <a:cubicBezTo>
                    <a:pt x="2378006" y="1382018"/>
                    <a:pt x="2263732" y="185718"/>
                    <a:pt x="1524586" y="2806"/>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8" name="Freeform: Shape 287">
              <a:extLst>
                <a:ext uri="{FF2B5EF4-FFF2-40B4-BE49-F238E27FC236}">
                  <a16:creationId xmlns:a16="http://schemas.microsoft.com/office/drawing/2014/main" id="{8324ABF6-DBC7-C987-6999-64A48ECCAF24}"/>
                </a:ext>
              </a:extLst>
            </p:cNvPr>
            <p:cNvSpPr/>
            <p:nvPr/>
          </p:nvSpPr>
          <p:spPr>
            <a:xfrm>
              <a:off x="-3162656" y="2606059"/>
              <a:ext cx="673987" cy="2842229"/>
            </a:xfrm>
            <a:custGeom>
              <a:avLst/>
              <a:gdLst>
                <a:gd name="connsiteX0" fmla="*/ 601995 w 673987"/>
                <a:gd name="connsiteY0" fmla="*/ 2842229 h 2842229"/>
                <a:gd name="connsiteX1" fmla="*/ 518181 w 673987"/>
                <a:gd name="connsiteY1" fmla="*/ 2758415 h 2842229"/>
                <a:gd name="connsiteX2" fmla="*/ 518181 w 673987"/>
                <a:gd name="connsiteY2" fmla="*/ 335288 h 2842229"/>
                <a:gd name="connsiteX3" fmla="*/ 342900 w 673987"/>
                <a:gd name="connsiteY3" fmla="*/ 160007 h 2842229"/>
                <a:gd name="connsiteX4" fmla="*/ 167619 w 673987"/>
                <a:gd name="connsiteY4" fmla="*/ 335288 h 2842229"/>
                <a:gd name="connsiteX5" fmla="*/ 83814 w 673987"/>
                <a:gd name="connsiteY5" fmla="*/ 419102 h 2842229"/>
                <a:gd name="connsiteX6" fmla="*/ 0 w 673987"/>
                <a:gd name="connsiteY6" fmla="*/ 335288 h 2842229"/>
                <a:gd name="connsiteX7" fmla="*/ 335288 w 673987"/>
                <a:gd name="connsiteY7" fmla="*/ 0 h 2842229"/>
                <a:gd name="connsiteX8" fmla="*/ 670575 w 673987"/>
                <a:gd name="connsiteY8" fmla="*/ 335288 h 2842229"/>
                <a:gd name="connsiteX9" fmla="*/ 670575 w 673987"/>
                <a:gd name="connsiteY9" fmla="*/ 2758415 h 2842229"/>
                <a:gd name="connsiteX10" fmla="*/ 601995 w 673987"/>
                <a:gd name="connsiteY10" fmla="*/ 2842229 h 2842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73987" h="2842229">
                  <a:moveTo>
                    <a:pt x="601995" y="2842229"/>
                  </a:moveTo>
                  <a:cubicBezTo>
                    <a:pt x="556262" y="2842229"/>
                    <a:pt x="518181" y="2804109"/>
                    <a:pt x="518181" y="2758415"/>
                  </a:cubicBezTo>
                  <a:lnTo>
                    <a:pt x="518181" y="335288"/>
                  </a:lnTo>
                  <a:cubicBezTo>
                    <a:pt x="518181" y="236248"/>
                    <a:pt x="441988" y="160007"/>
                    <a:pt x="342900" y="160007"/>
                  </a:cubicBezTo>
                  <a:cubicBezTo>
                    <a:pt x="243861" y="160007"/>
                    <a:pt x="167619" y="236209"/>
                    <a:pt x="167619" y="335288"/>
                  </a:cubicBezTo>
                  <a:cubicBezTo>
                    <a:pt x="167619" y="381021"/>
                    <a:pt x="129508" y="419102"/>
                    <a:pt x="83814" y="419102"/>
                  </a:cubicBezTo>
                  <a:cubicBezTo>
                    <a:pt x="38081" y="419102"/>
                    <a:pt x="0" y="380981"/>
                    <a:pt x="0" y="335288"/>
                  </a:cubicBezTo>
                  <a:cubicBezTo>
                    <a:pt x="0" y="152394"/>
                    <a:pt x="152394" y="0"/>
                    <a:pt x="335288" y="0"/>
                  </a:cubicBezTo>
                  <a:cubicBezTo>
                    <a:pt x="518181" y="0"/>
                    <a:pt x="670575" y="152394"/>
                    <a:pt x="670575" y="335288"/>
                  </a:cubicBezTo>
                  <a:lnTo>
                    <a:pt x="670575" y="2758415"/>
                  </a:lnTo>
                  <a:cubicBezTo>
                    <a:pt x="685810" y="2804148"/>
                    <a:pt x="647728" y="2842229"/>
                    <a:pt x="601995" y="2842229"/>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Tree>
    <p:custDataLst>
      <p:tags r:id="rId1"/>
    </p:custDataLst>
    <p:extLst>
      <p:ext uri="{BB962C8B-B14F-4D97-AF65-F5344CB8AC3E}">
        <p14:creationId xmlns:p14="http://schemas.microsoft.com/office/powerpoint/2010/main" val="198577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31</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*An exacerbation is an event </a:t>
            </a:r>
            <a:r>
              <a:rPr lang="en-GB" dirty="0"/>
              <a:t>characterised</a:t>
            </a:r>
            <a:r>
              <a:rPr lang="en-US" dirty="0"/>
              <a:t> by increased dyspnoea and/or cough and sputum that worsens in &lt; 14 days, which may be accompanied by tachypnoea and/or tachycardia and is often associated with increased local and systemic inflammation caused by infection, pollution or other affliction to the airways.</a:t>
            </a:r>
            <a:r>
              <a:rPr lang="en-US" baseline="30000" dirty="0"/>
              <a:t>1</a:t>
            </a:r>
          </a:p>
          <a:p>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4">
                  <a:extLst>
                    <a:ext uri="{A12FA001-AC4F-418D-AE19-62706E023703}">
                      <ahyp:hlinkClr xmlns:ahyp="http://schemas.microsoft.com/office/drawing/2018/hyperlinkcolor" val="tx"/>
                    </a:ext>
                  </a:extLst>
                </a:hlinkClick>
              </a:rPr>
              <a:t>https://goldcopd.org/2023-gold-report-2/</a:t>
            </a:r>
            <a:r>
              <a:rPr lang="en-US" dirty="0"/>
              <a:t>. Accessed February 2023; 2. Hurst JR, et al. </a:t>
            </a:r>
            <a:r>
              <a:rPr lang="en-US" i="1" dirty="0"/>
              <a:t>Eur J Int Med. </a:t>
            </a:r>
            <a:r>
              <a:rPr lang="en-US" dirty="0"/>
              <a:t>2020;73:1-6; 3. Hurst JR, et al. </a:t>
            </a:r>
            <a:r>
              <a:rPr lang="en-US" i="1" dirty="0"/>
              <a:t>N Engl J Med</a:t>
            </a:r>
            <a:r>
              <a:rPr lang="en-US" dirty="0"/>
              <a:t>. 2010;363(12):1128-1138.</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US" dirty="0"/>
              <a:t>One major cause of COPD morbidity is exacerbations</a:t>
            </a:r>
            <a:endParaRPr lang="en-GB" baseline="30000" dirty="0"/>
          </a:p>
        </p:txBody>
      </p:sp>
      <p:sp>
        <p:nvSpPr>
          <p:cNvPr id="5" name="Subtitle 4">
            <a:extLst>
              <a:ext uri="{FF2B5EF4-FFF2-40B4-BE49-F238E27FC236}">
                <a16:creationId xmlns:a16="http://schemas.microsoft.com/office/drawing/2014/main" id="{F956255C-1A2C-A4B6-9283-6AE0EB734377}"/>
              </a:ext>
            </a:extLst>
          </p:cNvPr>
          <p:cNvSpPr>
            <a:spLocks noGrp="1"/>
          </p:cNvSpPr>
          <p:nvPr>
            <p:ph type="subTitle" idx="1"/>
          </p:nvPr>
        </p:nvSpPr>
        <p:spPr>
          <a:xfrm>
            <a:off x="365125" y="694950"/>
            <a:ext cx="11460164" cy="352800"/>
          </a:xfrm>
        </p:spPr>
        <p:txBody>
          <a:bodyPr/>
          <a:lstStyle/>
          <a:p>
            <a:endParaRPr lang="en-GB" dirty="0"/>
          </a:p>
        </p:txBody>
      </p:sp>
      <p:sp>
        <p:nvSpPr>
          <p:cNvPr id="14" name="Rectangle 13">
            <a:extLst>
              <a:ext uri="{FF2B5EF4-FFF2-40B4-BE49-F238E27FC236}">
                <a16:creationId xmlns:a16="http://schemas.microsoft.com/office/drawing/2014/main" id="{8F9B720E-B9CD-3BAF-8C61-EB51FBF9E6B5}"/>
              </a:ext>
            </a:extLst>
          </p:cNvPr>
          <p:cNvSpPr/>
          <p:nvPr/>
        </p:nvSpPr>
        <p:spPr>
          <a:xfrm>
            <a:off x="4264026" y="1988773"/>
            <a:ext cx="3657600" cy="3236976"/>
          </a:xfrm>
          <a:prstGeom prst="rect">
            <a:avLst/>
          </a:prstGeom>
          <a:solidFill>
            <a:schemeClr val="bg2">
              <a:lumMod val="20000"/>
              <a:lumOff val="80000"/>
            </a:schemeClr>
          </a:solidFill>
          <a:ln>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1280160" rIns="45720" rtlCol="0" anchor="t"/>
          <a:lstStyle/>
          <a:p>
            <a:pPr marL="0" marR="0" lvl="0" indent="0" algn="ctr" defTabSz="1219170" rtl="0" eaLnBrk="1" fontAlgn="auto" latinLnBrk="0" hangingPunct="1">
              <a:lnSpc>
                <a:spcPct val="100000"/>
              </a:lnSpc>
              <a:spcBef>
                <a:spcPts val="2540"/>
              </a:spcBef>
              <a:spcAft>
                <a:spcPts val="0"/>
              </a:spcAft>
              <a:buClrTx/>
              <a:buSzTx/>
              <a:buFontTx/>
              <a:buNone/>
              <a:tabLst/>
              <a:defRPr/>
            </a:pPr>
            <a:r>
              <a:rPr kumimoji="0" lang="en-US" sz="2800" b="1" i="0" u="none" strike="noStrike" kern="1200" cap="none" spc="0" normalizeH="0" baseline="0" noProof="0" dirty="0">
                <a:ln>
                  <a:noFill/>
                </a:ln>
                <a:solidFill>
                  <a:srgbClr val="E21860"/>
                </a:solidFill>
                <a:effectLst/>
                <a:uLnTx/>
                <a:uFillTx/>
                <a:latin typeface="Arial"/>
                <a:ea typeface="+mn-ea"/>
                <a:cs typeface="Arial"/>
              </a:rPr>
              <a:t>7%–33%</a:t>
            </a:r>
            <a:endParaRPr kumimoji="0" lang="en-US" sz="2800" b="0" i="0" u="none" strike="noStrike" kern="1200" cap="none" spc="0" normalizeH="0" baseline="0" noProof="0" dirty="0">
              <a:ln>
                <a:noFill/>
              </a:ln>
              <a:solidFill>
                <a:srgbClr val="E21860"/>
              </a:solidFill>
              <a:effectLst/>
              <a:uLnTx/>
              <a:uFillTx/>
              <a:latin typeface="Arial"/>
              <a:ea typeface="+mn-ea"/>
              <a:cs typeface="Arial"/>
            </a:endParaRPr>
          </a:p>
          <a:p>
            <a:pPr marL="0" marR="128270" lvl="0" indent="0" algn="ctr" defTabSz="1219170" rtl="0" eaLnBrk="1" fontAlgn="auto" latinLnBrk="0" hangingPunct="1">
              <a:lnSpc>
                <a:spcPct val="100000"/>
              </a:lnSpc>
              <a:spcBef>
                <a:spcPts val="63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Arial"/>
              </a:rPr>
              <a:t>of</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patients</a:t>
            </a:r>
            <a:r>
              <a:rPr kumimoji="0" lang="en-US" sz="1800" b="0" i="0" u="none" strike="noStrike" kern="1200" cap="none" spc="-15" normalizeH="0" baseline="0" noProof="0" dirty="0">
                <a:ln>
                  <a:noFill/>
                </a:ln>
                <a:solidFill>
                  <a:srgbClr val="000000"/>
                </a:solidFill>
                <a:effectLst/>
                <a:uLnTx/>
                <a:uFillTx/>
                <a:latin typeface="Arial"/>
                <a:ea typeface="+mn-ea"/>
                <a:cs typeface="Arial"/>
              </a:rPr>
              <a:t> with</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0" normalizeH="0" baseline="0" noProof="0" dirty="0">
                <a:ln>
                  <a:noFill/>
                </a:ln>
                <a:solidFill>
                  <a:srgbClr val="000000"/>
                </a:solidFill>
                <a:effectLst/>
                <a:uLnTx/>
                <a:uFillTx/>
                <a:latin typeface="Arial"/>
                <a:ea typeface="+mn-ea"/>
                <a:cs typeface="Arial"/>
              </a:rPr>
              <a:t>COPD </a:t>
            </a:r>
            <a:r>
              <a:rPr kumimoji="0" lang="en-US" sz="1800" b="0" i="0" u="none" strike="noStrike" kern="1200" cap="none" spc="-5" normalizeH="0" baseline="0" noProof="0" dirty="0">
                <a:ln>
                  <a:noFill/>
                </a:ln>
                <a:solidFill>
                  <a:srgbClr val="000000"/>
                </a:solidFill>
                <a:effectLst/>
                <a:uLnTx/>
                <a:uFillTx/>
                <a:latin typeface="Arial"/>
                <a:ea typeface="+mn-ea"/>
                <a:cs typeface="Arial"/>
              </a:rPr>
              <a:t>are</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hospitalised</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per </a:t>
            </a:r>
            <a:r>
              <a:rPr kumimoji="0" lang="en-US" sz="1800" b="0" i="0" u="none" strike="noStrike" kern="1200" cap="none" spc="-10" normalizeH="0" baseline="0" noProof="0" dirty="0">
                <a:ln>
                  <a:noFill/>
                </a:ln>
                <a:solidFill>
                  <a:srgbClr val="000000"/>
                </a:solidFill>
                <a:effectLst/>
                <a:uLnTx/>
                <a:uFillTx/>
                <a:latin typeface="Arial"/>
                <a:ea typeface="+mn-ea"/>
                <a:cs typeface="Arial"/>
              </a:rPr>
              <a:t>year</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as</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result</a:t>
            </a:r>
            <a:r>
              <a:rPr kumimoji="0" lang="en-US" sz="1800" b="0" i="0" u="none" strike="noStrike" kern="1200" cap="none" spc="0" normalizeH="0" baseline="0" noProof="0" dirty="0">
                <a:ln>
                  <a:noFill/>
                </a:ln>
                <a:solidFill>
                  <a:srgbClr val="000000"/>
                </a:solidFill>
                <a:effectLst/>
                <a:uLnTx/>
                <a:uFillTx/>
                <a:latin typeface="Arial"/>
                <a:ea typeface="+mn-ea"/>
                <a:cs typeface="Arial"/>
              </a:rPr>
              <a:t> of</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 </a:t>
            </a:r>
            <a:r>
              <a:rPr kumimoji="0" lang="en-US" sz="1800" b="0" i="0" u="none" strike="noStrike" kern="1200" cap="none" spc="-10" normalizeH="0" baseline="0" noProof="0" dirty="0">
                <a:ln>
                  <a:noFill/>
                </a:ln>
                <a:solidFill>
                  <a:srgbClr val="000000"/>
                </a:solidFill>
                <a:effectLst/>
                <a:uLnTx/>
                <a:uFillTx/>
                <a:latin typeface="Arial"/>
                <a:ea typeface="+mn-ea"/>
                <a:cs typeface="Arial"/>
              </a:rPr>
              <a:t>exacerbation</a:t>
            </a:r>
            <a:r>
              <a:rPr kumimoji="0" lang="en-US" sz="1800" b="0" i="0" u="none" strike="noStrike" kern="1200" cap="none" spc="-15" normalizeH="0" baseline="25462" noProof="0" dirty="0">
                <a:ln>
                  <a:noFill/>
                </a:ln>
                <a:solidFill>
                  <a:srgbClr val="000000"/>
                </a:solidFill>
                <a:effectLst/>
                <a:uLnTx/>
                <a:uFillTx/>
                <a:latin typeface="Arial"/>
                <a:ea typeface="+mn-ea"/>
                <a:cs typeface="Arial"/>
              </a:rPr>
              <a:t>3</a:t>
            </a:r>
            <a:endParaRPr kumimoji="0" lang="en-US" sz="1800" b="0" i="0" u="none" strike="noStrike" kern="1200" cap="none" spc="0" normalizeH="0" baseline="25462" noProof="0" dirty="0">
              <a:ln>
                <a:noFill/>
              </a:ln>
              <a:solidFill>
                <a:srgbClr val="000000"/>
              </a:solidFill>
              <a:effectLst/>
              <a:uLnTx/>
              <a:uFillTx/>
              <a:latin typeface="Arial"/>
              <a:ea typeface="+mn-ea"/>
              <a:cs typeface="Arial"/>
            </a:endParaRPr>
          </a:p>
        </p:txBody>
      </p:sp>
      <p:sp>
        <p:nvSpPr>
          <p:cNvPr id="240" name="Rectangle 239">
            <a:extLst>
              <a:ext uri="{FF2B5EF4-FFF2-40B4-BE49-F238E27FC236}">
                <a16:creationId xmlns:a16="http://schemas.microsoft.com/office/drawing/2014/main" id="{55E0D07F-4E6F-5EC9-44A1-03FC5FFF1B0F}"/>
              </a:ext>
            </a:extLst>
          </p:cNvPr>
          <p:cNvSpPr/>
          <p:nvPr/>
        </p:nvSpPr>
        <p:spPr>
          <a:xfrm>
            <a:off x="8167689" y="1988773"/>
            <a:ext cx="3657600" cy="3236976"/>
          </a:xfrm>
          <a:prstGeom prst="rect">
            <a:avLst/>
          </a:prstGeom>
          <a:solidFill>
            <a:schemeClr val="bg2">
              <a:lumMod val="20000"/>
              <a:lumOff val="80000"/>
            </a:schemeClr>
          </a:solidFill>
          <a:ln>
            <a:solidFill>
              <a:schemeClr val="accent3">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1280160" rIns="45720" rtlCol="0" anchor="t"/>
          <a:lstStyle/>
          <a:p>
            <a:pPr marL="0" marR="0" lvl="0" indent="0" algn="ctr" defTabSz="1219170" rtl="0" eaLnBrk="1" fontAlgn="auto" latinLnBrk="0" hangingPunct="1">
              <a:lnSpc>
                <a:spcPct val="100000"/>
              </a:lnSpc>
              <a:spcBef>
                <a:spcPts val="2540"/>
              </a:spcBef>
              <a:spcAft>
                <a:spcPts val="0"/>
              </a:spcAft>
              <a:buClrTx/>
              <a:buSzTx/>
              <a:buFontTx/>
              <a:buNone/>
              <a:tabLst/>
              <a:defRPr/>
            </a:pPr>
            <a:r>
              <a:rPr kumimoji="0" lang="en-US" sz="2800" b="1" i="0" u="none" strike="noStrike" kern="1200" cap="none" spc="0" normalizeH="0" baseline="0" noProof="0" dirty="0">
                <a:ln>
                  <a:noFill/>
                </a:ln>
                <a:solidFill>
                  <a:srgbClr val="69B445"/>
                </a:solidFill>
                <a:effectLst/>
                <a:uLnTx/>
                <a:uFillTx/>
                <a:latin typeface="Arial"/>
                <a:ea typeface="+mn-ea"/>
                <a:cs typeface="Arial"/>
              </a:rPr>
              <a:t>50%</a:t>
            </a:r>
            <a:endParaRPr kumimoji="0" lang="en-US" sz="2800" b="0" i="0" u="none" strike="noStrike" kern="1200" cap="none" spc="0" normalizeH="0" baseline="0" noProof="0" dirty="0">
              <a:ln>
                <a:noFill/>
              </a:ln>
              <a:solidFill>
                <a:srgbClr val="69B445"/>
              </a:solidFill>
              <a:effectLst/>
              <a:uLnTx/>
              <a:uFillTx/>
              <a:latin typeface="Arial"/>
              <a:ea typeface="+mn-ea"/>
              <a:cs typeface="Arial"/>
            </a:endParaRPr>
          </a:p>
          <a:p>
            <a:pPr marL="0" marR="0" lvl="0" indent="0" algn="ctr" defTabSz="1219170" rtl="0" eaLnBrk="1" fontAlgn="auto" latinLnBrk="0" hangingPunct="1">
              <a:lnSpc>
                <a:spcPct val="100000"/>
              </a:lnSpc>
              <a:spcBef>
                <a:spcPts val="63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Arial"/>
              </a:rPr>
              <a:t>of</a:t>
            </a:r>
            <a:r>
              <a:rPr kumimoji="0" lang="en-US" sz="1800" b="0" i="0" u="none" strike="noStrike" kern="1200" cap="none" spc="-2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patients</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die</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10" normalizeH="0" baseline="0" noProof="0" dirty="0">
                <a:ln>
                  <a:noFill/>
                </a:ln>
                <a:solidFill>
                  <a:srgbClr val="000000"/>
                </a:solidFill>
                <a:effectLst/>
                <a:uLnTx/>
                <a:uFillTx/>
                <a:latin typeface="Arial"/>
                <a:ea typeface="+mn-ea"/>
                <a:cs typeface="Arial"/>
              </a:rPr>
              <a:t>within</a:t>
            </a:r>
            <a:br>
              <a:rPr kumimoji="0" lang="en-US" sz="1800" b="0" i="0" u="none" strike="noStrike" kern="1200" cap="none" spc="-10" normalizeH="0" baseline="0" noProof="0" dirty="0">
                <a:ln>
                  <a:noFill/>
                </a:ln>
                <a:solidFill>
                  <a:srgbClr val="000000"/>
                </a:solidFill>
                <a:effectLst/>
                <a:uLnTx/>
                <a:uFillTx/>
                <a:latin typeface="Arial"/>
                <a:ea typeface="+mn-ea"/>
                <a:cs typeface="Arial"/>
              </a:rPr>
            </a:br>
            <a:r>
              <a:rPr kumimoji="0" lang="en-US" sz="1800" b="0" i="0" u="none" strike="noStrike" kern="1200" cap="none" spc="-5" normalizeH="0" baseline="0" noProof="0" dirty="0">
                <a:ln>
                  <a:noFill/>
                </a:ln>
                <a:solidFill>
                  <a:srgbClr val="000000"/>
                </a:solidFill>
                <a:effectLst/>
                <a:uLnTx/>
                <a:uFillTx/>
                <a:latin typeface="Arial"/>
                <a:ea typeface="+mn-ea"/>
                <a:cs typeface="Arial"/>
              </a:rPr>
              <a:t>3.6 </a:t>
            </a:r>
            <a:r>
              <a:rPr kumimoji="0" lang="en-US" sz="1800" b="0" i="0" u="none" strike="noStrike" kern="1200" cap="none" spc="-10" normalizeH="0" baseline="0" noProof="0" dirty="0">
                <a:ln>
                  <a:noFill/>
                </a:ln>
                <a:solidFill>
                  <a:srgbClr val="000000"/>
                </a:solidFill>
                <a:effectLst/>
                <a:uLnTx/>
                <a:uFillTx/>
                <a:latin typeface="Arial"/>
                <a:ea typeface="+mn-ea"/>
                <a:cs typeface="Arial"/>
              </a:rPr>
              <a:t>years </a:t>
            </a:r>
            <a:r>
              <a:rPr kumimoji="0" lang="en-US" sz="1800" b="0" i="0" u="none" strike="noStrike" kern="1200" cap="none" spc="0" normalizeH="0" baseline="0" noProof="0" dirty="0">
                <a:ln>
                  <a:noFill/>
                </a:ln>
                <a:solidFill>
                  <a:srgbClr val="000000"/>
                </a:solidFill>
                <a:effectLst/>
                <a:uLnTx/>
                <a:uFillTx/>
                <a:latin typeface="Arial"/>
                <a:ea typeface="+mn-ea"/>
                <a:cs typeface="Arial"/>
              </a:rPr>
              <a:t>of </a:t>
            </a:r>
            <a:r>
              <a:rPr kumimoji="0" lang="en-US" sz="1800" b="0" i="0" u="none" strike="noStrike" kern="1200" cap="none" spc="-5" normalizeH="0" baseline="0" noProof="0" dirty="0">
                <a:ln>
                  <a:noFill/>
                </a:ln>
                <a:solidFill>
                  <a:srgbClr val="000000"/>
                </a:solidFill>
                <a:effectLst/>
                <a:uLnTx/>
                <a:uFillTx/>
                <a:latin typeface="Arial"/>
                <a:ea typeface="+mn-ea"/>
                <a:cs typeface="Arial"/>
              </a:rPr>
              <a:t>their </a:t>
            </a:r>
            <a:r>
              <a:rPr kumimoji="0" lang="en-US" sz="1800" b="0" i="0" u="none" strike="noStrike" kern="1200" cap="none" spc="0" normalizeH="0" baseline="0" noProof="0" dirty="0">
                <a:ln>
                  <a:noFill/>
                </a:ln>
                <a:solidFill>
                  <a:srgbClr val="000000"/>
                </a:solidFill>
                <a:effectLst/>
                <a:uLnTx/>
                <a:uFillTx/>
                <a:latin typeface="Arial"/>
                <a:ea typeface="+mn-ea"/>
                <a:cs typeface="Arial"/>
              </a:rPr>
              <a:t>first </a:t>
            </a:r>
            <a:r>
              <a:rPr kumimoji="0" lang="en-US" sz="1800" b="0" i="0" u="none" strike="noStrike" kern="1200" cap="none" spc="-5" normalizeH="0" baseline="0" noProof="0" dirty="0">
                <a:ln>
                  <a:noFill/>
                </a:ln>
                <a:solidFill>
                  <a:srgbClr val="000000"/>
                </a:solidFill>
                <a:effectLst/>
                <a:uLnTx/>
                <a:uFillTx/>
                <a:latin typeface="Arial"/>
                <a:ea typeface="+mn-ea"/>
                <a:cs typeface="Arial"/>
              </a:rPr>
              <a:t>hospitalisation </a:t>
            </a:r>
            <a:r>
              <a:rPr kumimoji="0" lang="en-US" sz="1800" b="0" i="0" u="none" strike="noStrike" kern="1200" cap="none" spc="0" normalizeH="0" baseline="0" noProof="0" dirty="0">
                <a:ln>
                  <a:noFill/>
                </a:ln>
                <a:solidFill>
                  <a:srgbClr val="000000"/>
                </a:solidFill>
                <a:effectLst/>
                <a:uLnTx/>
                <a:uFillTx/>
                <a:latin typeface="Arial"/>
                <a:ea typeface="+mn-ea"/>
                <a:cs typeface="Arial"/>
              </a:rPr>
              <a:t>for </a:t>
            </a:r>
            <a:r>
              <a:rPr kumimoji="0" lang="en-US" sz="1800" b="0" i="0" u="none" strike="noStrike" kern="1200" cap="none" spc="-5" normalizeH="0" baseline="0" noProof="0" dirty="0">
                <a:ln>
                  <a:noFill/>
                </a:ln>
                <a:solidFill>
                  <a:srgbClr val="000000"/>
                </a:solidFill>
                <a:effectLst/>
                <a:uLnTx/>
                <a:uFillTx/>
                <a:latin typeface="Arial"/>
                <a:ea typeface="+mn-ea"/>
                <a:cs typeface="Arial"/>
              </a:rPr>
              <a:t>a </a:t>
            </a:r>
            <a:br>
              <a:rPr kumimoji="0" lang="en-US" sz="1800" b="0" i="0" u="none" strike="noStrike" kern="1200" cap="none" spc="0" normalizeH="0" baseline="0" noProof="0" dirty="0">
                <a:ln>
                  <a:noFill/>
                </a:ln>
                <a:solidFill>
                  <a:srgbClr val="000000"/>
                </a:solidFill>
                <a:effectLst/>
                <a:uLnTx/>
                <a:uFillTx/>
                <a:latin typeface="Arial"/>
                <a:ea typeface="+mn-ea"/>
                <a:cs typeface="Arial"/>
              </a:rPr>
            </a:br>
            <a:r>
              <a:rPr kumimoji="0" lang="en-US" sz="1800" b="0" i="0" u="none" strike="noStrike" kern="1200" cap="none" spc="-5" normalizeH="0" baseline="0" noProof="0" dirty="0">
                <a:ln>
                  <a:noFill/>
                </a:ln>
                <a:solidFill>
                  <a:srgbClr val="000000"/>
                </a:solidFill>
                <a:effectLst/>
                <a:uLnTx/>
                <a:uFillTx/>
                <a:latin typeface="Arial"/>
                <a:ea typeface="+mn-ea"/>
                <a:cs typeface="Arial"/>
              </a:rPr>
              <a:t>COPD</a:t>
            </a:r>
            <a:r>
              <a:rPr kumimoji="0" lang="en-US" sz="1800" b="0" i="0" u="none" strike="noStrike" kern="1200" cap="none" spc="-25" normalizeH="0" baseline="0" noProof="0" dirty="0">
                <a:ln>
                  <a:noFill/>
                </a:ln>
                <a:solidFill>
                  <a:srgbClr val="000000"/>
                </a:solidFill>
                <a:effectLst/>
                <a:uLnTx/>
                <a:uFillTx/>
                <a:latin typeface="Arial"/>
                <a:ea typeface="+mn-ea"/>
                <a:cs typeface="Arial"/>
              </a:rPr>
              <a:t> </a:t>
            </a:r>
            <a:r>
              <a:rPr kumimoji="0" lang="en-US" sz="1800" b="0" i="0" u="none" strike="noStrike" kern="1200" cap="none" spc="-10" normalizeH="0" baseline="0" noProof="0" dirty="0">
                <a:ln>
                  <a:noFill/>
                </a:ln>
                <a:solidFill>
                  <a:srgbClr val="000000"/>
                </a:solidFill>
                <a:effectLst/>
                <a:uLnTx/>
                <a:uFillTx/>
                <a:latin typeface="Arial"/>
                <a:ea typeface="+mn-ea"/>
                <a:cs typeface="Arial"/>
              </a:rPr>
              <a:t>exacerbation</a:t>
            </a:r>
            <a:r>
              <a:rPr kumimoji="0" lang="en-US" sz="1800" b="0" i="0" u="none" strike="noStrike" kern="1200" cap="none" spc="-15" normalizeH="0" baseline="25462" noProof="0" dirty="0">
                <a:ln>
                  <a:noFill/>
                </a:ln>
                <a:solidFill>
                  <a:srgbClr val="000000"/>
                </a:solidFill>
                <a:effectLst/>
                <a:uLnTx/>
                <a:uFillTx/>
                <a:latin typeface="Arial"/>
                <a:ea typeface="+mn-ea"/>
                <a:cs typeface="Arial"/>
              </a:rPr>
              <a:t>2</a:t>
            </a:r>
            <a:endParaRPr kumimoji="0" lang="en-US" sz="1800" b="0" i="0" u="none" strike="noStrike" kern="1200" cap="none" spc="0" normalizeH="0" baseline="25462" noProof="0" dirty="0">
              <a:ln>
                <a:noFill/>
              </a:ln>
              <a:solidFill>
                <a:srgbClr val="000000"/>
              </a:solidFill>
              <a:effectLst/>
              <a:uLnTx/>
              <a:uFillTx/>
              <a:latin typeface="Arial"/>
              <a:ea typeface="+mn-ea"/>
              <a:cs typeface="Arial"/>
            </a:endParaRPr>
          </a:p>
        </p:txBody>
      </p:sp>
      <p:sp>
        <p:nvSpPr>
          <p:cNvPr id="241" name="Rectangle 240">
            <a:extLst>
              <a:ext uri="{FF2B5EF4-FFF2-40B4-BE49-F238E27FC236}">
                <a16:creationId xmlns:a16="http://schemas.microsoft.com/office/drawing/2014/main" id="{49D89F4E-595B-DE59-BAA2-494F3ACEA821}"/>
              </a:ext>
            </a:extLst>
          </p:cNvPr>
          <p:cNvSpPr/>
          <p:nvPr/>
        </p:nvSpPr>
        <p:spPr>
          <a:xfrm>
            <a:off x="365125" y="1988773"/>
            <a:ext cx="3657600" cy="3236976"/>
          </a:xfrm>
          <a:prstGeom prst="rect">
            <a:avLst/>
          </a:prstGeom>
          <a:solidFill>
            <a:schemeClr val="bg2">
              <a:lumMod val="20000"/>
              <a:lumOff val="80000"/>
            </a:schemeClr>
          </a:solidFill>
          <a:ln>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tIns="1280160" rIns="45720" rtlCol="0" anchor="t"/>
          <a:lstStyle/>
          <a:p>
            <a:pPr marL="0" marR="0" lvl="0" indent="0" algn="ctr" defTabSz="1219170" rtl="0" eaLnBrk="1" fontAlgn="auto" latinLnBrk="0" hangingPunct="1">
              <a:lnSpc>
                <a:spcPct val="100000"/>
              </a:lnSpc>
              <a:spcBef>
                <a:spcPts val="2540"/>
              </a:spcBef>
              <a:spcAft>
                <a:spcPts val="0"/>
              </a:spcAft>
              <a:buClrTx/>
              <a:buSzTx/>
              <a:buFontTx/>
              <a:buNone/>
              <a:tabLst/>
              <a:defRPr/>
            </a:pPr>
            <a:r>
              <a:rPr kumimoji="0" lang="en-US" sz="2800" b="1" i="0" u="none" strike="noStrike" kern="1200" cap="none" spc="0" normalizeH="0" baseline="0" noProof="0" dirty="0">
                <a:ln>
                  <a:noFill/>
                </a:ln>
                <a:solidFill>
                  <a:srgbClr val="6658A6"/>
                </a:solidFill>
                <a:effectLst/>
                <a:uLnTx/>
                <a:uFillTx/>
                <a:latin typeface="Arial"/>
                <a:ea typeface="+mn-ea"/>
                <a:cs typeface="Arial"/>
              </a:rPr>
              <a:t>&gt; 50%</a:t>
            </a:r>
            <a:endParaRPr kumimoji="0" lang="en-US" sz="2800" b="0" i="0" u="none" strike="noStrike" kern="1200" cap="none" spc="0" normalizeH="0" baseline="0" noProof="0" dirty="0">
              <a:ln>
                <a:noFill/>
              </a:ln>
              <a:solidFill>
                <a:srgbClr val="6658A6"/>
              </a:solidFill>
              <a:effectLst/>
              <a:uLnTx/>
              <a:uFillTx/>
              <a:latin typeface="Arial"/>
              <a:ea typeface="+mn-ea"/>
              <a:cs typeface="Arial"/>
            </a:endParaRPr>
          </a:p>
          <a:p>
            <a:pPr marL="0" marR="128270" lvl="0" indent="0" algn="ctr" defTabSz="1219170" rtl="0" eaLnBrk="1" fontAlgn="auto" latinLnBrk="0" hangingPunct="1">
              <a:lnSpc>
                <a:spcPct val="100000"/>
              </a:lnSpc>
              <a:spcBef>
                <a:spcPts val="63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Arial"/>
                <a:ea typeface="+mn-ea"/>
                <a:cs typeface="Arial"/>
              </a:rPr>
              <a:t>of patients with COPD experience exacerbations</a:t>
            </a:r>
            <a:r>
              <a:rPr kumimoji="0" lang="en-US" sz="1800" b="0" i="0" u="none" strike="noStrike" kern="1200" cap="none" spc="0" normalizeH="0" baseline="30000" noProof="0" dirty="0">
                <a:ln>
                  <a:noFill/>
                </a:ln>
                <a:solidFill>
                  <a:srgbClr val="000000"/>
                </a:solidFill>
                <a:effectLst/>
                <a:uLnTx/>
                <a:uFillTx/>
                <a:latin typeface="Arial"/>
                <a:ea typeface="+mn-ea"/>
                <a:cs typeface="Arial"/>
              </a:rPr>
              <a:t>2</a:t>
            </a:r>
          </a:p>
        </p:txBody>
      </p:sp>
      <p:grpSp>
        <p:nvGrpSpPr>
          <p:cNvPr id="293" name="Group 292">
            <a:extLst>
              <a:ext uri="{FF2B5EF4-FFF2-40B4-BE49-F238E27FC236}">
                <a16:creationId xmlns:a16="http://schemas.microsoft.com/office/drawing/2014/main" id="{BAF36360-9653-F469-FDBE-ED3FB2251D3A}"/>
              </a:ext>
            </a:extLst>
          </p:cNvPr>
          <p:cNvGrpSpPr>
            <a:grpSpLocks noChangeAspect="1"/>
          </p:cNvGrpSpPr>
          <p:nvPr/>
        </p:nvGrpSpPr>
        <p:grpSpPr>
          <a:xfrm>
            <a:off x="1716012" y="2193131"/>
            <a:ext cx="955827" cy="859536"/>
            <a:chOff x="-7554901" y="505581"/>
            <a:chExt cx="4924279" cy="4428200"/>
          </a:xfrm>
          <a:solidFill>
            <a:schemeClr val="accent1"/>
          </a:solidFill>
        </p:grpSpPr>
        <p:sp>
          <p:nvSpPr>
            <p:cNvPr id="251" name="Freeform: Shape 250">
              <a:extLst>
                <a:ext uri="{FF2B5EF4-FFF2-40B4-BE49-F238E27FC236}">
                  <a16:creationId xmlns:a16="http://schemas.microsoft.com/office/drawing/2014/main" id="{42BBCD7A-5C40-6435-CEFA-1222A0D76F0C}"/>
                </a:ext>
              </a:extLst>
            </p:cNvPr>
            <p:cNvSpPr/>
            <p:nvPr/>
          </p:nvSpPr>
          <p:spPr>
            <a:xfrm>
              <a:off x="-6330954" y="505581"/>
              <a:ext cx="2476423" cy="829582"/>
            </a:xfrm>
            <a:custGeom>
              <a:avLst/>
              <a:gdLst>
                <a:gd name="connsiteX0" fmla="*/ 1238192 w 2476423"/>
                <a:gd name="connsiteY0" fmla="*/ 254118 h 829582"/>
                <a:gd name="connsiteX1" fmla="*/ 2088898 w 2476423"/>
                <a:gd name="connsiteY1" fmla="*/ 829544 h 829582"/>
                <a:gd name="connsiteX2" fmla="*/ 2476424 w 2476423"/>
                <a:gd name="connsiteY2" fmla="*/ 829544 h 829582"/>
                <a:gd name="connsiteX3" fmla="*/ 1238163 w 2476423"/>
                <a:gd name="connsiteY3" fmla="*/ 0 h 829582"/>
                <a:gd name="connsiteX4" fmla="*/ 0 w 2476423"/>
                <a:gd name="connsiteY4" fmla="*/ 829583 h 829582"/>
                <a:gd name="connsiteX5" fmla="*/ 387526 w 2476423"/>
                <a:gd name="connsiteY5" fmla="*/ 829583 h 829582"/>
                <a:gd name="connsiteX6" fmla="*/ 1238153 w 2476423"/>
                <a:gd name="connsiteY6" fmla="*/ 254118 h 82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6423" h="829582">
                  <a:moveTo>
                    <a:pt x="1238192" y="254118"/>
                  </a:moveTo>
                  <a:cubicBezTo>
                    <a:pt x="1623955" y="254118"/>
                    <a:pt x="1953306" y="492385"/>
                    <a:pt x="2088898" y="829544"/>
                  </a:cubicBezTo>
                  <a:lnTo>
                    <a:pt x="2476424" y="829544"/>
                  </a:lnTo>
                  <a:cubicBezTo>
                    <a:pt x="2276121" y="342714"/>
                    <a:pt x="1797325" y="0"/>
                    <a:pt x="1238163" y="0"/>
                  </a:cubicBezTo>
                  <a:cubicBezTo>
                    <a:pt x="679148" y="0"/>
                    <a:pt x="200352" y="342782"/>
                    <a:pt x="0" y="829583"/>
                  </a:cubicBezTo>
                  <a:lnTo>
                    <a:pt x="387526" y="829583"/>
                  </a:lnTo>
                  <a:cubicBezTo>
                    <a:pt x="523040" y="492385"/>
                    <a:pt x="852469" y="254118"/>
                    <a:pt x="1238153" y="254118"/>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2" name="Freeform: Shape 251">
              <a:extLst>
                <a:ext uri="{FF2B5EF4-FFF2-40B4-BE49-F238E27FC236}">
                  <a16:creationId xmlns:a16="http://schemas.microsoft.com/office/drawing/2014/main" id="{28171F2A-7A6D-FFD7-1D6C-CDF5D7706A2F}"/>
                </a:ext>
              </a:extLst>
            </p:cNvPr>
            <p:cNvSpPr/>
            <p:nvPr/>
          </p:nvSpPr>
          <p:spPr>
            <a:xfrm>
              <a:off x="-7554901" y="1335154"/>
              <a:ext cx="4924279" cy="3598627"/>
            </a:xfrm>
            <a:custGeom>
              <a:avLst/>
              <a:gdLst>
                <a:gd name="connsiteX0" fmla="*/ 4595076 w 4924279"/>
                <a:gd name="connsiteY0" fmla="*/ 0 h 3598627"/>
                <a:gd name="connsiteX1" fmla="*/ 329204 w 4924279"/>
                <a:gd name="connsiteY1" fmla="*/ 0 h 3598627"/>
                <a:gd name="connsiteX2" fmla="*/ 0 w 4924279"/>
                <a:gd name="connsiteY2" fmla="*/ 329204 h 3598627"/>
                <a:gd name="connsiteX3" fmla="*/ 0 w 4924279"/>
                <a:gd name="connsiteY3" fmla="*/ 3269424 h 3598627"/>
                <a:gd name="connsiteX4" fmla="*/ 329204 w 4924279"/>
                <a:gd name="connsiteY4" fmla="*/ 3598628 h 3598627"/>
                <a:gd name="connsiteX5" fmla="*/ 4595076 w 4924279"/>
                <a:gd name="connsiteY5" fmla="*/ 3598628 h 3598627"/>
                <a:gd name="connsiteX6" fmla="*/ 4924279 w 4924279"/>
                <a:gd name="connsiteY6" fmla="*/ 3269424 h 3598627"/>
                <a:gd name="connsiteX7" fmla="*/ 4924279 w 4924279"/>
                <a:gd name="connsiteY7" fmla="*/ 329204 h 3598627"/>
                <a:gd name="connsiteX8" fmla="*/ 4595076 w 4924279"/>
                <a:gd name="connsiteY8" fmla="*/ 0 h 3598627"/>
                <a:gd name="connsiteX9" fmla="*/ 2456555 w 4924279"/>
                <a:gd name="connsiteY9" fmla="*/ 2889374 h 3598627"/>
                <a:gd name="connsiteX10" fmla="*/ 1304411 w 4924279"/>
                <a:gd name="connsiteY10" fmla="*/ 1737230 h 3598627"/>
                <a:gd name="connsiteX11" fmla="*/ 2456555 w 4924279"/>
                <a:gd name="connsiteY11" fmla="*/ 585085 h 3598627"/>
                <a:gd name="connsiteX12" fmla="*/ 3608699 w 4924279"/>
                <a:gd name="connsiteY12" fmla="*/ 1737230 h 3598627"/>
                <a:gd name="connsiteX13" fmla="*/ 2456555 w 4924279"/>
                <a:gd name="connsiteY13" fmla="*/ 2889374 h 359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24279" h="3598627">
                  <a:moveTo>
                    <a:pt x="4595076" y="0"/>
                  </a:moveTo>
                  <a:lnTo>
                    <a:pt x="329204" y="0"/>
                  </a:lnTo>
                  <a:cubicBezTo>
                    <a:pt x="147378" y="0"/>
                    <a:pt x="0" y="147418"/>
                    <a:pt x="0" y="329204"/>
                  </a:cubicBezTo>
                  <a:lnTo>
                    <a:pt x="0" y="3269424"/>
                  </a:lnTo>
                  <a:cubicBezTo>
                    <a:pt x="0" y="3451210"/>
                    <a:pt x="147378" y="3598628"/>
                    <a:pt x="329204" y="3598628"/>
                  </a:cubicBezTo>
                  <a:lnTo>
                    <a:pt x="4595076" y="3598628"/>
                  </a:lnTo>
                  <a:cubicBezTo>
                    <a:pt x="4776862" y="3598628"/>
                    <a:pt x="4924279" y="3451210"/>
                    <a:pt x="4924279" y="3269424"/>
                  </a:cubicBezTo>
                  <a:lnTo>
                    <a:pt x="4924279" y="329204"/>
                  </a:lnTo>
                  <a:cubicBezTo>
                    <a:pt x="4924240" y="147378"/>
                    <a:pt x="4776823" y="0"/>
                    <a:pt x="4595076" y="0"/>
                  </a:cubicBezTo>
                  <a:close/>
                  <a:moveTo>
                    <a:pt x="2456555" y="2889374"/>
                  </a:moveTo>
                  <a:cubicBezTo>
                    <a:pt x="1820201" y="2889374"/>
                    <a:pt x="1304411" y="2373603"/>
                    <a:pt x="1304411" y="1737230"/>
                  </a:cubicBezTo>
                  <a:cubicBezTo>
                    <a:pt x="1304411" y="1100876"/>
                    <a:pt x="1820182" y="585085"/>
                    <a:pt x="2456555" y="585085"/>
                  </a:cubicBezTo>
                  <a:cubicBezTo>
                    <a:pt x="3092909" y="585085"/>
                    <a:pt x="3608699" y="1100856"/>
                    <a:pt x="3608699" y="1737230"/>
                  </a:cubicBezTo>
                  <a:cubicBezTo>
                    <a:pt x="3608660" y="2373623"/>
                    <a:pt x="3092899" y="2889374"/>
                    <a:pt x="2456555" y="2889374"/>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3" name="Freeform: Shape 252">
              <a:extLst>
                <a:ext uri="{FF2B5EF4-FFF2-40B4-BE49-F238E27FC236}">
                  <a16:creationId xmlns:a16="http://schemas.microsoft.com/office/drawing/2014/main" id="{F431B79A-F6E7-125E-952F-504F48D87345}"/>
                </a:ext>
              </a:extLst>
            </p:cNvPr>
            <p:cNvSpPr/>
            <p:nvPr/>
          </p:nvSpPr>
          <p:spPr>
            <a:xfrm>
              <a:off x="-5758555" y="2412154"/>
              <a:ext cx="1320429" cy="1320390"/>
            </a:xfrm>
            <a:custGeom>
              <a:avLst/>
              <a:gdLst>
                <a:gd name="connsiteX0" fmla="*/ 864284 w 1320429"/>
                <a:gd name="connsiteY0" fmla="*/ 0 h 1320390"/>
                <a:gd name="connsiteX1" fmla="*/ 456214 w 1320429"/>
                <a:gd name="connsiteY1" fmla="*/ 0 h 1320390"/>
                <a:gd name="connsiteX2" fmla="*/ 456214 w 1320429"/>
                <a:gd name="connsiteY2" fmla="*/ 456145 h 1320390"/>
                <a:gd name="connsiteX3" fmla="*/ 0 w 1320429"/>
                <a:gd name="connsiteY3" fmla="*/ 456145 h 1320390"/>
                <a:gd name="connsiteX4" fmla="*/ 0 w 1320429"/>
                <a:gd name="connsiteY4" fmla="*/ 864216 h 1320390"/>
                <a:gd name="connsiteX5" fmla="*/ 456214 w 1320429"/>
                <a:gd name="connsiteY5" fmla="*/ 864216 h 1320390"/>
                <a:gd name="connsiteX6" fmla="*/ 456214 w 1320429"/>
                <a:gd name="connsiteY6" fmla="*/ 1320390 h 1320390"/>
                <a:gd name="connsiteX7" fmla="*/ 864284 w 1320429"/>
                <a:gd name="connsiteY7" fmla="*/ 1320390 h 1320390"/>
                <a:gd name="connsiteX8" fmla="*/ 864284 w 1320429"/>
                <a:gd name="connsiteY8" fmla="*/ 864216 h 1320390"/>
                <a:gd name="connsiteX9" fmla="*/ 1320430 w 1320429"/>
                <a:gd name="connsiteY9" fmla="*/ 864216 h 1320390"/>
                <a:gd name="connsiteX10" fmla="*/ 1320430 w 1320429"/>
                <a:gd name="connsiteY10" fmla="*/ 456145 h 1320390"/>
                <a:gd name="connsiteX11" fmla="*/ 864284 w 1320429"/>
                <a:gd name="connsiteY11" fmla="*/ 456145 h 132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0429" h="1320390">
                  <a:moveTo>
                    <a:pt x="864284" y="0"/>
                  </a:moveTo>
                  <a:lnTo>
                    <a:pt x="456214" y="0"/>
                  </a:lnTo>
                  <a:lnTo>
                    <a:pt x="456214" y="456145"/>
                  </a:lnTo>
                  <a:lnTo>
                    <a:pt x="0" y="456145"/>
                  </a:lnTo>
                  <a:lnTo>
                    <a:pt x="0" y="864216"/>
                  </a:lnTo>
                  <a:lnTo>
                    <a:pt x="456214" y="864216"/>
                  </a:lnTo>
                  <a:lnTo>
                    <a:pt x="456214" y="1320390"/>
                  </a:lnTo>
                  <a:lnTo>
                    <a:pt x="864284" y="1320390"/>
                  </a:lnTo>
                  <a:lnTo>
                    <a:pt x="864284" y="864216"/>
                  </a:lnTo>
                  <a:lnTo>
                    <a:pt x="1320430" y="864216"/>
                  </a:lnTo>
                  <a:lnTo>
                    <a:pt x="1320430" y="456145"/>
                  </a:lnTo>
                  <a:lnTo>
                    <a:pt x="864284" y="45614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339" name="Group 338">
            <a:extLst>
              <a:ext uri="{FF2B5EF4-FFF2-40B4-BE49-F238E27FC236}">
                <a16:creationId xmlns:a16="http://schemas.microsoft.com/office/drawing/2014/main" id="{A90FDCA8-45FE-C795-0B30-9C1DBB6B5295}"/>
              </a:ext>
            </a:extLst>
          </p:cNvPr>
          <p:cNvGrpSpPr>
            <a:grpSpLocks noChangeAspect="1"/>
          </p:cNvGrpSpPr>
          <p:nvPr/>
        </p:nvGrpSpPr>
        <p:grpSpPr>
          <a:xfrm>
            <a:off x="5115934" y="2193131"/>
            <a:ext cx="1953784" cy="859536"/>
            <a:chOff x="14397627" y="1702155"/>
            <a:chExt cx="4732774" cy="2082108"/>
          </a:xfrm>
          <a:solidFill>
            <a:schemeClr val="accent2"/>
          </a:solidFill>
        </p:grpSpPr>
        <p:sp>
          <p:nvSpPr>
            <p:cNvPr id="297" name="Freeform: Shape 296">
              <a:extLst>
                <a:ext uri="{FF2B5EF4-FFF2-40B4-BE49-F238E27FC236}">
                  <a16:creationId xmlns:a16="http://schemas.microsoft.com/office/drawing/2014/main" id="{ED4FEB40-54E5-3FB7-5537-8A96D99F0DA5}"/>
                </a:ext>
              </a:extLst>
            </p:cNvPr>
            <p:cNvSpPr/>
            <p:nvPr/>
          </p:nvSpPr>
          <p:spPr>
            <a:xfrm>
              <a:off x="18049541" y="3194554"/>
              <a:ext cx="589631" cy="589631"/>
            </a:xfrm>
            <a:custGeom>
              <a:avLst/>
              <a:gdLst>
                <a:gd name="connsiteX0" fmla="*/ 589631 w 589631"/>
                <a:gd name="connsiteY0" fmla="*/ 294796 h 589631"/>
                <a:gd name="connsiteX1" fmla="*/ 294796 w 589631"/>
                <a:gd name="connsiteY1" fmla="*/ 589631 h 589631"/>
                <a:gd name="connsiteX2" fmla="*/ 0 w 589631"/>
                <a:gd name="connsiteY2" fmla="*/ 294796 h 589631"/>
                <a:gd name="connsiteX3" fmla="*/ 294796 w 589631"/>
                <a:gd name="connsiteY3" fmla="*/ 0 h 589631"/>
                <a:gd name="connsiteX4" fmla="*/ 589631 w 589631"/>
                <a:gd name="connsiteY4" fmla="*/ 294796 h 589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1" h="589631">
                  <a:moveTo>
                    <a:pt x="589631" y="294796"/>
                  </a:moveTo>
                  <a:cubicBezTo>
                    <a:pt x="589631" y="457634"/>
                    <a:pt x="457634" y="589631"/>
                    <a:pt x="294796" y="589631"/>
                  </a:cubicBezTo>
                  <a:cubicBezTo>
                    <a:pt x="131997" y="589631"/>
                    <a:pt x="0" y="457634"/>
                    <a:pt x="0" y="294796"/>
                  </a:cubicBezTo>
                  <a:cubicBezTo>
                    <a:pt x="0" y="131997"/>
                    <a:pt x="131997" y="0"/>
                    <a:pt x="294796" y="0"/>
                  </a:cubicBezTo>
                  <a:cubicBezTo>
                    <a:pt x="457634" y="0"/>
                    <a:pt x="589631" y="131997"/>
                    <a:pt x="589631" y="294796"/>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98" name="Freeform: Shape 297">
              <a:extLst>
                <a:ext uri="{FF2B5EF4-FFF2-40B4-BE49-F238E27FC236}">
                  <a16:creationId xmlns:a16="http://schemas.microsoft.com/office/drawing/2014/main" id="{ABA0B9A1-7A22-ED6A-65EE-8888CE272B71}"/>
                </a:ext>
              </a:extLst>
            </p:cNvPr>
            <p:cNvSpPr/>
            <p:nvPr/>
          </p:nvSpPr>
          <p:spPr>
            <a:xfrm>
              <a:off x="14753175" y="3194515"/>
              <a:ext cx="589670" cy="589748"/>
            </a:xfrm>
            <a:custGeom>
              <a:avLst/>
              <a:gdLst>
                <a:gd name="connsiteX0" fmla="*/ 589553 w 589670"/>
                <a:gd name="connsiteY0" fmla="*/ 291700 h 589748"/>
                <a:gd name="connsiteX1" fmla="*/ 521816 w 589670"/>
                <a:gd name="connsiteY1" fmla="*/ 106701 h 589748"/>
                <a:gd name="connsiteX2" fmla="*/ 521512 w 589670"/>
                <a:gd name="connsiteY2" fmla="*/ 106318 h 589748"/>
                <a:gd name="connsiteX3" fmla="*/ 502789 w 589670"/>
                <a:gd name="connsiteY3" fmla="*/ 85882 h 589748"/>
                <a:gd name="connsiteX4" fmla="*/ 501036 w 589670"/>
                <a:gd name="connsiteY4" fmla="*/ 84353 h 589748"/>
                <a:gd name="connsiteX5" fmla="*/ 481941 w 589670"/>
                <a:gd name="connsiteY5" fmla="*/ 66973 h 589748"/>
                <a:gd name="connsiteX6" fmla="*/ 477807 w 589670"/>
                <a:gd name="connsiteY6" fmla="*/ 63877 h 589748"/>
                <a:gd name="connsiteX7" fmla="*/ 459280 w 589670"/>
                <a:gd name="connsiteY7" fmla="*/ 50102 h 589748"/>
                <a:gd name="connsiteX8" fmla="*/ 452657 w 589670"/>
                <a:gd name="connsiteY8" fmla="*/ 46125 h 589748"/>
                <a:gd name="connsiteX9" fmla="*/ 435052 w 589670"/>
                <a:gd name="connsiteY9" fmla="*/ 35407 h 589748"/>
                <a:gd name="connsiteX10" fmla="*/ 426058 w 589670"/>
                <a:gd name="connsiteY10" fmla="*/ 31116 h 589748"/>
                <a:gd name="connsiteX11" fmla="*/ 409413 w 589670"/>
                <a:gd name="connsiteY11" fmla="*/ 23121 h 589748"/>
                <a:gd name="connsiteX12" fmla="*/ 396941 w 589670"/>
                <a:gd name="connsiteY12" fmla="*/ 18487 h 589748"/>
                <a:gd name="connsiteX13" fmla="*/ 382363 w 589670"/>
                <a:gd name="connsiteY13" fmla="*/ 13206 h 589748"/>
                <a:gd name="connsiteX14" fmla="*/ 366443 w 589670"/>
                <a:gd name="connsiteY14" fmla="*/ 9111 h 589748"/>
                <a:gd name="connsiteX15" fmla="*/ 354157 w 589670"/>
                <a:gd name="connsiteY15" fmla="*/ 5976 h 589748"/>
                <a:gd name="connsiteX16" fmla="*/ 335288 w 589670"/>
                <a:gd name="connsiteY16" fmla="*/ 3027 h 589748"/>
                <a:gd name="connsiteX17" fmla="*/ 324912 w 589670"/>
                <a:gd name="connsiteY17" fmla="*/ 1499 h 589748"/>
                <a:gd name="connsiteX18" fmla="*/ 294796 w 589670"/>
                <a:gd name="connsiteY18" fmla="*/ 0 h 589748"/>
                <a:gd name="connsiteX19" fmla="*/ 248377 w 589670"/>
                <a:gd name="connsiteY19" fmla="*/ 3987 h 589748"/>
                <a:gd name="connsiteX20" fmla="*/ 241029 w 589670"/>
                <a:gd name="connsiteY20" fmla="*/ 5094 h 589748"/>
                <a:gd name="connsiteX21" fmla="*/ 198931 w 589670"/>
                <a:gd name="connsiteY21" fmla="*/ 16273 h 589748"/>
                <a:gd name="connsiteX22" fmla="*/ 191730 w 589670"/>
                <a:gd name="connsiteY22" fmla="*/ 18869 h 589748"/>
                <a:gd name="connsiteX23" fmla="*/ 151670 w 589670"/>
                <a:gd name="connsiteY23" fmla="*/ 37121 h 589748"/>
                <a:gd name="connsiteX24" fmla="*/ 149485 w 589670"/>
                <a:gd name="connsiteY24" fmla="*/ 38424 h 589748"/>
                <a:gd name="connsiteX25" fmla="*/ 111785 w 589670"/>
                <a:gd name="connsiteY25" fmla="*/ 63956 h 589748"/>
                <a:gd name="connsiteX26" fmla="*/ 110482 w 589670"/>
                <a:gd name="connsiteY26" fmla="*/ 64945 h 589748"/>
                <a:gd name="connsiteX27" fmla="*/ 77113 w 589670"/>
                <a:gd name="connsiteY27" fmla="*/ 96521 h 589748"/>
                <a:gd name="connsiteX28" fmla="*/ 74782 w 589670"/>
                <a:gd name="connsiteY28" fmla="*/ 99196 h 589748"/>
                <a:gd name="connsiteX29" fmla="*/ 46536 w 589670"/>
                <a:gd name="connsiteY29" fmla="*/ 136357 h 589748"/>
                <a:gd name="connsiteX30" fmla="*/ 46389 w 589670"/>
                <a:gd name="connsiteY30" fmla="*/ 136670 h 589748"/>
                <a:gd name="connsiteX31" fmla="*/ 8269 w 589670"/>
                <a:gd name="connsiteY31" fmla="*/ 226637 h 589748"/>
                <a:gd name="connsiteX32" fmla="*/ 8269 w 589670"/>
                <a:gd name="connsiteY32" fmla="*/ 226676 h 589748"/>
                <a:gd name="connsiteX33" fmla="*/ 0 w 589670"/>
                <a:gd name="connsiteY33" fmla="*/ 294914 h 589748"/>
                <a:gd name="connsiteX34" fmla="*/ 294835 w 589670"/>
                <a:gd name="connsiteY34" fmla="*/ 589749 h 589748"/>
                <a:gd name="connsiteX35" fmla="*/ 589671 w 589670"/>
                <a:gd name="connsiteY35" fmla="*/ 294914 h 589748"/>
                <a:gd name="connsiteX36" fmla="*/ 589524 w 589670"/>
                <a:gd name="connsiteY36" fmla="*/ 293307 h 589748"/>
                <a:gd name="connsiteX37" fmla="*/ 589563 w 589670"/>
                <a:gd name="connsiteY37" fmla="*/ 291700 h 589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89670" h="589748">
                  <a:moveTo>
                    <a:pt x="589553" y="291700"/>
                  </a:moveTo>
                  <a:cubicBezTo>
                    <a:pt x="588789" y="221435"/>
                    <a:pt x="563571" y="156989"/>
                    <a:pt x="521816" y="106701"/>
                  </a:cubicBezTo>
                  <a:cubicBezTo>
                    <a:pt x="521698" y="106505"/>
                    <a:pt x="521620" y="106397"/>
                    <a:pt x="521512" y="106318"/>
                  </a:cubicBezTo>
                  <a:cubicBezTo>
                    <a:pt x="515575" y="99196"/>
                    <a:pt x="509373" y="92387"/>
                    <a:pt x="502789" y="85882"/>
                  </a:cubicBezTo>
                  <a:cubicBezTo>
                    <a:pt x="502260" y="85274"/>
                    <a:pt x="501604" y="84853"/>
                    <a:pt x="501036" y="84353"/>
                  </a:cubicBezTo>
                  <a:cubicBezTo>
                    <a:pt x="494913" y="78377"/>
                    <a:pt x="488554" y="72528"/>
                    <a:pt x="481941" y="66973"/>
                  </a:cubicBezTo>
                  <a:cubicBezTo>
                    <a:pt x="480638" y="65944"/>
                    <a:pt x="479139" y="65024"/>
                    <a:pt x="477807" y="63877"/>
                  </a:cubicBezTo>
                  <a:cubicBezTo>
                    <a:pt x="471752" y="59057"/>
                    <a:pt x="465668" y="54384"/>
                    <a:pt x="459280" y="50102"/>
                  </a:cubicBezTo>
                  <a:cubicBezTo>
                    <a:pt x="457135" y="48643"/>
                    <a:pt x="454842" y="47457"/>
                    <a:pt x="452657" y="46125"/>
                  </a:cubicBezTo>
                  <a:cubicBezTo>
                    <a:pt x="446877" y="42451"/>
                    <a:pt x="441136" y="38777"/>
                    <a:pt x="435052" y="35407"/>
                  </a:cubicBezTo>
                  <a:cubicBezTo>
                    <a:pt x="432152" y="33869"/>
                    <a:pt x="429007" y="32575"/>
                    <a:pt x="426058" y="31116"/>
                  </a:cubicBezTo>
                  <a:cubicBezTo>
                    <a:pt x="420591" y="28323"/>
                    <a:pt x="415076" y="25492"/>
                    <a:pt x="409413" y="23121"/>
                  </a:cubicBezTo>
                  <a:cubicBezTo>
                    <a:pt x="405318" y="21358"/>
                    <a:pt x="401075" y="20016"/>
                    <a:pt x="396941" y="18487"/>
                  </a:cubicBezTo>
                  <a:cubicBezTo>
                    <a:pt x="392121" y="16724"/>
                    <a:pt x="387369" y="14735"/>
                    <a:pt x="382363" y="13206"/>
                  </a:cubicBezTo>
                  <a:cubicBezTo>
                    <a:pt x="377151" y="11678"/>
                    <a:pt x="371792" y="10453"/>
                    <a:pt x="366443" y="9111"/>
                  </a:cubicBezTo>
                  <a:cubicBezTo>
                    <a:pt x="362347" y="8082"/>
                    <a:pt x="358360" y="6858"/>
                    <a:pt x="354157" y="5976"/>
                  </a:cubicBezTo>
                  <a:cubicBezTo>
                    <a:pt x="347955" y="4712"/>
                    <a:pt x="341636" y="3987"/>
                    <a:pt x="335288" y="3027"/>
                  </a:cubicBezTo>
                  <a:cubicBezTo>
                    <a:pt x="331839" y="2528"/>
                    <a:pt x="328400" y="1881"/>
                    <a:pt x="324912" y="1499"/>
                  </a:cubicBezTo>
                  <a:cubicBezTo>
                    <a:pt x="315008" y="500"/>
                    <a:pt x="304975" y="0"/>
                    <a:pt x="294796" y="0"/>
                  </a:cubicBezTo>
                  <a:cubicBezTo>
                    <a:pt x="278954" y="0"/>
                    <a:pt x="263533" y="1607"/>
                    <a:pt x="248377" y="3987"/>
                  </a:cubicBezTo>
                  <a:cubicBezTo>
                    <a:pt x="245928" y="4448"/>
                    <a:pt x="243439" y="4751"/>
                    <a:pt x="241029" y="5094"/>
                  </a:cubicBezTo>
                  <a:cubicBezTo>
                    <a:pt x="226559" y="7769"/>
                    <a:pt x="212559" y="11521"/>
                    <a:pt x="198931" y="16273"/>
                  </a:cubicBezTo>
                  <a:cubicBezTo>
                    <a:pt x="196521" y="17106"/>
                    <a:pt x="194150" y="17948"/>
                    <a:pt x="191730" y="18869"/>
                  </a:cubicBezTo>
                  <a:cubicBezTo>
                    <a:pt x="177916" y="24072"/>
                    <a:pt x="164445" y="30087"/>
                    <a:pt x="151670" y="37121"/>
                  </a:cubicBezTo>
                  <a:cubicBezTo>
                    <a:pt x="150905" y="37582"/>
                    <a:pt x="150210" y="38081"/>
                    <a:pt x="149485" y="38424"/>
                  </a:cubicBezTo>
                  <a:cubicBezTo>
                    <a:pt x="136200" y="45890"/>
                    <a:pt x="123650" y="54501"/>
                    <a:pt x="111785" y="63956"/>
                  </a:cubicBezTo>
                  <a:cubicBezTo>
                    <a:pt x="111325" y="64259"/>
                    <a:pt x="110904" y="64641"/>
                    <a:pt x="110482" y="64945"/>
                  </a:cubicBezTo>
                  <a:cubicBezTo>
                    <a:pt x="98510" y="74517"/>
                    <a:pt x="87449" y="85157"/>
                    <a:pt x="77113" y="96521"/>
                  </a:cubicBezTo>
                  <a:cubicBezTo>
                    <a:pt x="76310" y="97481"/>
                    <a:pt x="75507" y="98285"/>
                    <a:pt x="74782" y="99196"/>
                  </a:cubicBezTo>
                  <a:cubicBezTo>
                    <a:pt x="64406" y="110835"/>
                    <a:pt x="54991" y="123199"/>
                    <a:pt x="46536" y="136357"/>
                  </a:cubicBezTo>
                  <a:cubicBezTo>
                    <a:pt x="46497" y="136474"/>
                    <a:pt x="46419" y="136552"/>
                    <a:pt x="46389" y="136670"/>
                  </a:cubicBezTo>
                  <a:cubicBezTo>
                    <a:pt x="28931" y="163955"/>
                    <a:pt x="15999" y="194228"/>
                    <a:pt x="8269" y="226637"/>
                  </a:cubicBezTo>
                  <a:lnTo>
                    <a:pt x="8269" y="226676"/>
                  </a:lnTo>
                  <a:cubicBezTo>
                    <a:pt x="3067" y="248573"/>
                    <a:pt x="0" y="271381"/>
                    <a:pt x="0" y="294914"/>
                  </a:cubicBezTo>
                  <a:cubicBezTo>
                    <a:pt x="0" y="457752"/>
                    <a:pt x="131958" y="589749"/>
                    <a:pt x="294835" y="589749"/>
                  </a:cubicBezTo>
                  <a:cubicBezTo>
                    <a:pt x="457674" y="589749"/>
                    <a:pt x="589671" y="457791"/>
                    <a:pt x="589671" y="294914"/>
                  </a:cubicBezTo>
                  <a:cubicBezTo>
                    <a:pt x="589631" y="294306"/>
                    <a:pt x="589524" y="293806"/>
                    <a:pt x="589524" y="293307"/>
                  </a:cubicBezTo>
                  <a:cubicBezTo>
                    <a:pt x="589631" y="292690"/>
                    <a:pt x="589563" y="292200"/>
                    <a:pt x="589563" y="291700"/>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99" name="Freeform: Shape 298">
              <a:extLst>
                <a:ext uri="{FF2B5EF4-FFF2-40B4-BE49-F238E27FC236}">
                  <a16:creationId xmlns:a16="http://schemas.microsoft.com/office/drawing/2014/main" id="{984F16C0-7413-A898-CEF9-6917196B5CB6}"/>
                </a:ext>
              </a:extLst>
            </p:cNvPr>
            <p:cNvSpPr/>
            <p:nvPr/>
          </p:nvSpPr>
          <p:spPr>
            <a:xfrm>
              <a:off x="14397627" y="1702155"/>
              <a:ext cx="4732774" cy="1787332"/>
            </a:xfrm>
            <a:custGeom>
              <a:avLst/>
              <a:gdLst>
                <a:gd name="connsiteX0" fmla="*/ 1770119 w 4732774"/>
                <a:gd name="connsiteY0" fmla="*/ 0 h 1787332"/>
                <a:gd name="connsiteX1" fmla="*/ 1765680 w 4732774"/>
                <a:gd name="connsiteY1" fmla="*/ 393571 h 1787332"/>
                <a:gd name="connsiteX2" fmla="*/ 1693044 w 4732774"/>
                <a:gd name="connsiteY2" fmla="*/ 393914 h 1787332"/>
                <a:gd name="connsiteX3" fmla="*/ 1693084 w 4732774"/>
                <a:gd name="connsiteY3" fmla="*/ 292885 h 1787332"/>
                <a:gd name="connsiteX4" fmla="*/ 1568395 w 4732774"/>
                <a:gd name="connsiteY4" fmla="*/ 168197 h 1787332"/>
                <a:gd name="connsiteX5" fmla="*/ 1443707 w 4732774"/>
                <a:gd name="connsiteY5" fmla="*/ 292885 h 1787332"/>
                <a:gd name="connsiteX6" fmla="*/ 1443707 w 4732774"/>
                <a:gd name="connsiteY6" fmla="*/ 403525 h 1787332"/>
                <a:gd name="connsiteX7" fmla="*/ 1235782 w 4732774"/>
                <a:gd name="connsiteY7" fmla="*/ 420630 h 1787332"/>
                <a:gd name="connsiteX8" fmla="*/ 1193184 w 4732774"/>
                <a:gd name="connsiteY8" fmla="*/ 454960 h 1787332"/>
                <a:gd name="connsiteX9" fmla="*/ 987444 w 4732774"/>
                <a:gd name="connsiteY9" fmla="*/ 649296 h 1787332"/>
                <a:gd name="connsiteX10" fmla="*/ 796282 w 4732774"/>
                <a:gd name="connsiteY10" fmla="*/ 840458 h 1787332"/>
                <a:gd name="connsiteX11" fmla="*/ 761953 w 4732774"/>
                <a:gd name="connsiteY11" fmla="*/ 873719 h 1787332"/>
                <a:gd name="connsiteX12" fmla="*/ 671526 w 4732774"/>
                <a:gd name="connsiteY12" fmla="*/ 905942 h 1787332"/>
                <a:gd name="connsiteX13" fmla="*/ 403446 w 4732774"/>
                <a:gd name="connsiteY13" fmla="*/ 964147 h 1787332"/>
                <a:gd name="connsiteX14" fmla="*/ 152777 w 4732774"/>
                <a:gd name="connsiteY14" fmla="*/ 1037664 h 1787332"/>
                <a:gd name="connsiteX15" fmla="*/ 95101 w 4732774"/>
                <a:gd name="connsiteY15" fmla="*/ 1115620 h 1787332"/>
                <a:gd name="connsiteX16" fmla="*/ 81816 w 4732774"/>
                <a:gd name="connsiteY16" fmla="*/ 1278498 h 1787332"/>
                <a:gd name="connsiteX17" fmla="*/ 81816 w 4732774"/>
                <a:gd name="connsiteY17" fmla="*/ 1358060 h 1787332"/>
                <a:gd name="connsiteX18" fmla="*/ 96629 w 4732774"/>
                <a:gd name="connsiteY18" fmla="*/ 1423544 h 1787332"/>
                <a:gd name="connsiteX19" fmla="*/ 66239 w 4732774"/>
                <a:gd name="connsiteY19" fmla="*/ 1461734 h 1787332"/>
                <a:gd name="connsiteX20" fmla="*/ 14803 w 4732774"/>
                <a:gd name="connsiteY20" fmla="*/ 1488215 h 1787332"/>
                <a:gd name="connsiteX21" fmla="*/ 14803 w 4732774"/>
                <a:gd name="connsiteY21" fmla="*/ 1504557 h 1787332"/>
                <a:gd name="connsiteX22" fmla="*/ 9376 w 4732774"/>
                <a:gd name="connsiteY22" fmla="*/ 1519331 h 1787332"/>
                <a:gd name="connsiteX23" fmla="*/ 0 w 4732774"/>
                <a:gd name="connsiteY23" fmla="*/ 1515432 h 1787332"/>
                <a:gd name="connsiteX24" fmla="*/ 3899 w 4732774"/>
                <a:gd name="connsiteY24" fmla="*/ 1598012 h 1787332"/>
                <a:gd name="connsiteX25" fmla="*/ 41295 w 4732774"/>
                <a:gd name="connsiteY25" fmla="*/ 1696209 h 1787332"/>
                <a:gd name="connsiteX26" fmla="*/ 197971 w 4732774"/>
                <a:gd name="connsiteY26" fmla="*/ 1700118 h 1787332"/>
                <a:gd name="connsiteX27" fmla="*/ 264062 w 4732774"/>
                <a:gd name="connsiteY27" fmla="*/ 1707691 h 1787332"/>
                <a:gd name="connsiteX28" fmla="*/ 650550 w 4732774"/>
                <a:gd name="connsiteY28" fmla="*/ 1392801 h 1787332"/>
                <a:gd name="connsiteX29" fmla="*/ 1045110 w 4732774"/>
                <a:gd name="connsiteY29" fmla="*/ 1787332 h 1787332"/>
                <a:gd name="connsiteX30" fmla="*/ 3552101 w 4732774"/>
                <a:gd name="connsiteY30" fmla="*/ 1787332 h 1787332"/>
                <a:gd name="connsiteX31" fmla="*/ 3946701 w 4732774"/>
                <a:gd name="connsiteY31" fmla="*/ 1392801 h 1787332"/>
                <a:gd name="connsiteX32" fmla="*/ 4341232 w 4732774"/>
                <a:gd name="connsiteY32" fmla="*/ 1787332 h 1787332"/>
                <a:gd name="connsiteX33" fmla="*/ 4732774 w 4732774"/>
                <a:gd name="connsiteY33" fmla="*/ 1787332 h 1787332"/>
                <a:gd name="connsiteX34" fmla="*/ 4732774 w 4732774"/>
                <a:gd name="connsiteY34" fmla="*/ 39 h 1787332"/>
                <a:gd name="connsiteX35" fmla="*/ 1647497 w 4732774"/>
                <a:gd name="connsiteY35" fmla="*/ 957249 h 1787332"/>
                <a:gd name="connsiteX36" fmla="*/ 945356 w 4732774"/>
                <a:gd name="connsiteY36" fmla="*/ 961149 h 1787332"/>
                <a:gd name="connsiteX37" fmla="*/ 954193 w 4732774"/>
                <a:gd name="connsiteY37" fmla="*/ 816523 h 1787332"/>
                <a:gd name="connsiteX38" fmla="*/ 1275813 w 4732774"/>
                <a:gd name="connsiteY38" fmla="*/ 474123 h 1787332"/>
                <a:gd name="connsiteX39" fmla="*/ 1670148 w 4732774"/>
                <a:gd name="connsiteY39" fmla="*/ 474123 h 1787332"/>
                <a:gd name="connsiteX40" fmla="*/ 3715968 w 4732774"/>
                <a:gd name="connsiteY40" fmla="*/ 843622 h 1787332"/>
                <a:gd name="connsiteX41" fmla="*/ 3401078 w 4732774"/>
                <a:gd name="connsiteY41" fmla="*/ 843622 h 1787332"/>
                <a:gd name="connsiteX42" fmla="*/ 3401078 w 4732774"/>
                <a:gd name="connsiteY42" fmla="*/ 1158512 h 1787332"/>
                <a:gd name="connsiteX43" fmla="*/ 3101805 w 4732774"/>
                <a:gd name="connsiteY43" fmla="*/ 1158512 h 1787332"/>
                <a:gd name="connsiteX44" fmla="*/ 3101805 w 4732774"/>
                <a:gd name="connsiteY44" fmla="*/ 843622 h 1787332"/>
                <a:gd name="connsiteX45" fmla="*/ 2786915 w 4732774"/>
                <a:gd name="connsiteY45" fmla="*/ 843622 h 1787332"/>
                <a:gd name="connsiteX46" fmla="*/ 2786915 w 4732774"/>
                <a:gd name="connsiteY46" fmla="*/ 544349 h 1787332"/>
                <a:gd name="connsiteX47" fmla="*/ 3101805 w 4732774"/>
                <a:gd name="connsiteY47" fmla="*/ 544349 h 1787332"/>
                <a:gd name="connsiteX48" fmla="*/ 3101805 w 4732774"/>
                <a:gd name="connsiteY48" fmla="*/ 229459 h 1787332"/>
                <a:gd name="connsiteX49" fmla="*/ 3401078 w 4732774"/>
                <a:gd name="connsiteY49" fmla="*/ 229459 h 1787332"/>
                <a:gd name="connsiteX50" fmla="*/ 3401078 w 4732774"/>
                <a:gd name="connsiteY50" fmla="*/ 544349 h 1787332"/>
                <a:gd name="connsiteX51" fmla="*/ 3715968 w 4732774"/>
                <a:gd name="connsiteY51" fmla="*/ 544349 h 1787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732774" h="1787332">
                  <a:moveTo>
                    <a:pt x="1770119" y="0"/>
                  </a:moveTo>
                  <a:lnTo>
                    <a:pt x="1765680" y="393571"/>
                  </a:lnTo>
                  <a:cubicBezTo>
                    <a:pt x="1765680" y="393571"/>
                    <a:pt x="1736896" y="393414"/>
                    <a:pt x="1693044" y="393914"/>
                  </a:cubicBezTo>
                  <a:lnTo>
                    <a:pt x="1693084" y="292885"/>
                  </a:lnTo>
                  <a:cubicBezTo>
                    <a:pt x="1693084" y="224002"/>
                    <a:pt x="1637279" y="168197"/>
                    <a:pt x="1568395" y="168197"/>
                  </a:cubicBezTo>
                  <a:cubicBezTo>
                    <a:pt x="1499502" y="168197"/>
                    <a:pt x="1443707" y="223992"/>
                    <a:pt x="1443707" y="292885"/>
                  </a:cubicBezTo>
                  <a:lnTo>
                    <a:pt x="1443707" y="403525"/>
                  </a:lnTo>
                  <a:cubicBezTo>
                    <a:pt x="1302452" y="413361"/>
                    <a:pt x="1242405" y="414008"/>
                    <a:pt x="1235782" y="420630"/>
                  </a:cubicBezTo>
                  <a:cubicBezTo>
                    <a:pt x="1229003" y="427371"/>
                    <a:pt x="1193184" y="454960"/>
                    <a:pt x="1193184" y="454960"/>
                  </a:cubicBezTo>
                  <a:lnTo>
                    <a:pt x="987444" y="649296"/>
                  </a:lnTo>
                  <a:lnTo>
                    <a:pt x="796282" y="840458"/>
                  </a:lnTo>
                  <a:cubicBezTo>
                    <a:pt x="796282" y="840458"/>
                    <a:pt x="790042" y="856074"/>
                    <a:pt x="761953" y="873719"/>
                  </a:cubicBezTo>
                  <a:cubicBezTo>
                    <a:pt x="733865" y="891354"/>
                    <a:pt x="671526" y="905942"/>
                    <a:pt x="671526" y="905942"/>
                  </a:cubicBezTo>
                  <a:lnTo>
                    <a:pt x="403446" y="964147"/>
                  </a:lnTo>
                  <a:lnTo>
                    <a:pt x="152777" y="1037664"/>
                  </a:lnTo>
                  <a:cubicBezTo>
                    <a:pt x="152777" y="1037664"/>
                    <a:pt x="95101" y="1055574"/>
                    <a:pt x="95101" y="1115620"/>
                  </a:cubicBezTo>
                  <a:cubicBezTo>
                    <a:pt x="95101" y="1175667"/>
                    <a:pt x="81816" y="1278498"/>
                    <a:pt x="81816" y="1278498"/>
                  </a:cubicBezTo>
                  <a:lnTo>
                    <a:pt x="81816" y="1358060"/>
                  </a:lnTo>
                  <a:lnTo>
                    <a:pt x="96629" y="1423544"/>
                  </a:lnTo>
                  <a:cubicBezTo>
                    <a:pt x="96629" y="1423544"/>
                    <a:pt x="88860" y="1450026"/>
                    <a:pt x="66239" y="1461734"/>
                  </a:cubicBezTo>
                  <a:cubicBezTo>
                    <a:pt x="43666" y="1473441"/>
                    <a:pt x="14803" y="1483591"/>
                    <a:pt x="14803" y="1488215"/>
                  </a:cubicBezTo>
                  <a:lnTo>
                    <a:pt x="14803" y="1504557"/>
                  </a:lnTo>
                  <a:lnTo>
                    <a:pt x="9376" y="1519331"/>
                  </a:lnTo>
                  <a:lnTo>
                    <a:pt x="0" y="1515432"/>
                  </a:lnTo>
                  <a:cubicBezTo>
                    <a:pt x="0" y="1515432"/>
                    <a:pt x="3899" y="1569199"/>
                    <a:pt x="3899" y="1598012"/>
                  </a:cubicBezTo>
                  <a:cubicBezTo>
                    <a:pt x="3899" y="1626835"/>
                    <a:pt x="41295" y="1696209"/>
                    <a:pt x="41295" y="1696209"/>
                  </a:cubicBezTo>
                  <a:lnTo>
                    <a:pt x="197971" y="1700118"/>
                  </a:lnTo>
                  <a:lnTo>
                    <a:pt x="264062" y="1707691"/>
                  </a:lnTo>
                  <a:cubicBezTo>
                    <a:pt x="301027" y="1528129"/>
                    <a:pt x="460270" y="1392801"/>
                    <a:pt x="650550" y="1392801"/>
                  </a:cubicBezTo>
                  <a:cubicBezTo>
                    <a:pt x="868115" y="1392801"/>
                    <a:pt x="1045110" y="1569796"/>
                    <a:pt x="1045110" y="1787332"/>
                  </a:cubicBezTo>
                  <a:lnTo>
                    <a:pt x="3552101" y="1787332"/>
                  </a:lnTo>
                  <a:cubicBezTo>
                    <a:pt x="3552101" y="1569806"/>
                    <a:pt x="3729214" y="1392801"/>
                    <a:pt x="3946701" y="1392801"/>
                  </a:cubicBezTo>
                  <a:cubicBezTo>
                    <a:pt x="4164227" y="1392801"/>
                    <a:pt x="4341232" y="1569796"/>
                    <a:pt x="4341232" y="1787332"/>
                  </a:cubicBezTo>
                  <a:lnTo>
                    <a:pt x="4732774" y="1787332"/>
                  </a:lnTo>
                  <a:lnTo>
                    <a:pt x="4732774" y="39"/>
                  </a:lnTo>
                  <a:close/>
                  <a:moveTo>
                    <a:pt x="1647497" y="957249"/>
                  </a:moveTo>
                  <a:lnTo>
                    <a:pt x="945356" y="961149"/>
                  </a:lnTo>
                  <a:lnTo>
                    <a:pt x="954193" y="816523"/>
                  </a:lnTo>
                  <a:lnTo>
                    <a:pt x="1275813" y="474123"/>
                  </a:lnTo>
                  <a:lnTo>
                    <a:pt x="1670148" y="474123"/>
                  </a:lnTo>
                  <a:close/>
                  <a:moveTo>
                    <a:pt x="3715968" y="843622"/>
                  </a:moveTo>
                  <a:lnTo>
                    <a:pt x="3401078" y="843622"/>
                  </a:lnTo>
                  <a:lnTo>
                    <a:pt x="3401078" y="1158512"/>
                  </a:lnTo>
                  <a:lnTo>
                    <a:pt x="3101805" y="1158512"/>
                  </a:lnTo>
                  <a:lnTo>
                    <a:pt x="3101805" y="843622"/>
                  </a:lnTo>
                  <a:lnTo>
                    <a:pt x="2786915" y="843622"/>
                  </a:lnTo>
                  <a:lnTo>
                    <a:pt x="2786915" y="544349"/>
                  </a:lnTo>
                  <a:lnTo>
                    <a:pt x="3101805" y="544349"/>
                  </a:lnTo>
                  <a:lnTo>
                    <a:pt x="3101805" y="229459"/>
                  </a:lnTo>
                  <a:lnTo>
                    <a:pt x="3401078" y="229459"/>
                  </a:lnTo>
                  <a:lnTo>
                    <a:pt x="3401078" y="544349"/>
                  </a:lnTo>
                  <a:lnTo>
                    <a:pt x="3715968" y="544349"/>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340" name="Graphic 114">
            <a:extLst>
              <a:ext uri="{FF2B5EF4-FFF2-40B4-BE49-F238E27FC236}">
                <a16:creationId xmlns:a16="http://schemas.microsoft.com/office/drawing/2014/main" id="{542CDE03-34F5-0078-A1EA-56FC071855BF}"/>
              </a:ext>
            </a:extLst>
          </p:cNvPr>
          <p:cNvSpPr>
            <a:spLocks noChangeAspect="1"/>
          </p:cNvSpPr>
          <p:nvPr/>
        </p:nvSpPr>
        <p:spPr>
          <a:xfrm>
            <a:off x="9493398" y="2191677"/>
            <a:ext cx="1006182" cy="862444"/>
          </a:xfrm>
          <a:custGeom>
            <a:avLst/>
            <a:gdLst>
              <a:gd name="connsiteX0" fmla="*/ 2228850 w 4800600"/>
              <a:gd name="connsiteY0" fmla="*/ 0 h 4114800"/>
              <a:gd name="connsiteX1" fmla="*/ 2228850 w 4800600"/>
              <a:gd name="connsiteY1" fmla="*/ 342900 h 4114800"/>
              <a:gd name="connsiteX2" fmla="*/ 1885950 w 4800600"/>
              <a:gd name="connsiteY2" fmla="*/ 342900 h 4114800"/>
              <a:gd name="connsiteX3" fmla="*/ 1885950 w 4800600"/>
              <a:gd name="connsiteY3" fmla="*/ 685800 h 4114800"/>
              <a:gd name="connsiteX4" fmla="*/ 2228850 w 4800600"/>
              <a:gd name="connsiteY4" fmla="*/ 685800 h 4114800"/>
              <a:gd name="connsiteX5" fmla="*/ 2228850 w 4800600"/>
              <a:gd name="connsiteY5" fmla="*/ 1028700 h 4114800"/>
              <a:gd name="connsiteX6" fmla="*/ 2571750 w 4800600"/>
              <a:gd name="connsiteY6" fmla="*/ 1028700 h 4114800"/>
              <a:gd name="connsiteX7" fmla="*/ 2571750 w 4800600"/>
              <a:gd name="connsiteY7" fmla="*/ 685800 h 4114800"/>
              <a:gd name="connsiteX8" fmla="*/ 2914650 w 4800600"/>
              <a:gd name="connsiteY8" fmla="*/ 685800 h 4114800"/>
              <a:gd name="connsiteX9" fmla="*/ 2914650 w 4800600"/>
              <a:gd name="connsiteY9" fmla="*/ 342900 h 4114800"/>
              <a:gd name="connsiteX10" fmla="*/ 2571750 w 4800600"/>
              <a:gd name="connsiteY10" fmla="*/ 342900 h 4114800"/>
              <a:gd name="connsiteX11" fmla="*/ 2571750 w 4800600"/>
              <a:gd name="connsiteY11" fmla="*/ 0 h 4114800"/>
              <a:gd name="connsiteX12" fmla="*/ 0 w 4800600"/>
              <a:gd name="connsiteY12" fmla="*/ 1200150 h 4114800"/>
              <a:gd name="connsiteX13" fmla="*/ 0 w 4800600"/>
              <a:gd name="connsiteY13" fmla="*/ 4114800 h 4114800"/>
              <a:gd name="connsiteX14" fmla="*/ 342900 w 4800600"/>
              <a:gd name="connsiteY14" fmla="*/ 4114800 h 4114800"/>
              <a:gd name="connsiteX15" fmla="*/ 342900 w 4800600"/>
              <a:gd name="connsiteY15" fmla="*/ 3514725 h 4114800"/>
              <a:gd name="connsiteX16" fmla="*/ 4457700 w 4800600"/>
              <a:gd name="connsiteY16" fmla="*/ 3514725 h 4114800"/>
              <a:gd name="connsiteX17" fmla="*/ 4457700 w 4800600"/>
              <a:gd name="connsiteY17" fmla="*/ 4114800 h 4114800"/>
              <a:gd name="connsiteX18" fmla="*/ 4800600 w 4800600"/>
              <a:gd name="connsiteY18" fmla="*/ 4114800 h 4114800"/>
              <a:gd name="connsiteX19" fmla="*/ 4800600 w 4800600"/>
              <a:gd name="connsiteY19" fmla="*/ 2400300 h 4114800"/>
              <a:gd name="connsiteX20" fmla="*/ 1371600 w 4800600"/>
              <a:gd name="connsiteY20" fmla="*/ 2400300 h 4114800"/>
              <a:gd name="connsiteX21" fmla="*/ 1371600 w 4800600"/>
              <a:gd name="connsiteY21" fmla="*/ 2228850 h 4114800"/>
              <a:gd name="connsiteX22" fmla="*/ 857250 w 4800600"/>
              <a:gd name="connsiteY22" fmla="*/ 1714500 h 4114800"/>
              <a:gd name="connsiteX23" fmla="*/ 342900 w 4800600"/>
              <a:gd name="connsiteY23" fmla="*/ 1714500 h 4114800"/>
              <a:gd name="connsiteX24" fmla="*/ 342900 w 4800600"/>
              <a:gd name="connsiteY24" fmla="*/ 120015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0600" h="4114800">
                <a:moveTo>
                  <a:pt x="2228850" y="0"/>
                </a:moveTo>
                <a:lnTo>
                  <a:pt x="2228850" y="342900"/>
                </a:lnTo>
                <a:lnTo>
                  <a:pt x="1885950" y="342900"/>
                </a:lnTo>
                <a:lnTo>
                  <a:pt x="1885950" y="685800"/>
                </a:lnTo>
                <a:lnTo>
                  <a:pt x="2228850" y="685800"/>
                </a:lnTo>
                <a:lnTo>
                  <a:pt x="2228850" y="1028700"/>
                </a:lnTo>
                <a:lnTo>
                  <a:pt x="2571750" y="1028700"/>
                </a:lnTo>
                <a:lnTo>
                  <a:pt x="2571750" y="685800"/>
                </a:lnTo>
                <a:lnTo>
                  <a:pt x="2914650" y="685800"/>
                </a:lnTo>
                <a:lnTo>
                  <a:pt x="2914650" y="342900"/>
                </a:lnTo>
                <a:lnTo>
                  <a:pt x="2571750" y="342900"/>
                </a:lnTo>
                <a:lnTo>
                  <a:pt x="2571750" y="0"/>
                </a:lnTo>
                <a:close/>
                <a:moveTo>
                  <a:pt x="0" y="1200150"/>
                </a:moveTo>
                <a:lnTo>
                  <a:pt x="0" y="4114800"/>
                </a:lnTo>
                <a:lnTo>
                  <a:pt x="342900" y="4114800"/>
                </a:lnTo>
                <a:lnTo>
                  <a:pt x="342900" y="3514725"/>
                </a:lnTo>
                <a:lnTo>
                  <a:pt x="4457700" y="3514725"/>
                </a:lnTo>
                <a:lnTo>
                  <a:pt x="4457700" y="4114800"/>
                </a:lnTo>
                <a:lnTo>
                  <a:pt x="4800600" y="4114800"/>
                </a:lnTo>
                <a:lnTo>
                  <a:pt x="4800600" y="2400300"/>
                </a:lnTo>
                <a:lnTo>
                  <a:pt x="1371600" y="2400300"/>
                </a:lnTo>
                <a:lnTo>
                  <a:pt x="1371600" y="2228850"/>
                </a:lnTo>
                <a:cubicBezTo>
                  <a:pt x="1371600" y="1946878"/>
                  <a:pt x="1139222" y="1714500"/>
                  <a:pt x="857250" y="1714500"/>
                </a:cubicBezTo>
                <a:lnTo>
                  <a:pt x="342900" y="1714500"/>
                </a:lnTo>
                <a:lnTo>
                  <a:pt x="342900" y="1200150"/>
                </a:lnTo>
                <a:close/>
              </a:path>
            </a:pathLst>
          </a:custGeom>
          <a:solidFill>
            <a:schemeClr val="accent3"/>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41" name="object 6">
            <a:extLst>
              <a:ext uri="{FF2B5EF4-FFF2-40B4-BE49-F238E27FC236}">
                <a16:creationId xmlns:a16="http://schemas.microsoft.com/office/drawing/2014/main" id="{3DA6F71E-8A44-C3EB-2A01-5C93AABD21A4}"/>
              </a:ext>
            </a:extLst>
          </p:cNvPr>
          <p:cNvSpPr txBox="1">
            <a:spLocks/>
          </p:cNvSpPr>
          <p:nvPr/>
        </p:nvSpPr>
        <p:spPr>
          <a:xfrm>
            <a:off x="365125" y="1308559"/>
            <a:ext cx="11460163" cy="596265"/>
          </a:xfrm>
          <a:prstGeom prst="rect">
            <a:avLst/>
          </a:prstGeom>
          <a:solidFill>
            <a:schemeClr val="tx2">
              <a:lumMod val="20000"/>
              <a:lumOff val="80000"/>
            </a:schemeClr>
          </a:solidFill>
          <a:ln w="12700">
            <a:noFill/>
          </a:ln>
        </p:spPr>
        <p:txBody>
          <a:bodyPr vert="horz" wrap="square" lIns="64008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000000"/>
                </a:solidFill>
                <a:effectLst/>
                <a:uLnTx/>
                <a:uFillTx/>
                <a:latin typeface="Arial"/>
                <a:ea typeface="+mn-ea"/>
                <a:cs typeface="Arial"/>
              </a:rPr>
              <a:t>Exacerbations of COPD* represent a major burden for patients, society and caregivers</a:t>
            </a:r>
            <a:r>
              <a:rPr kumimoji="0" lang="en-US" sz="1400" b="1" i="0" u="none" strike="noStrike" kern="1200" cap="none" spc="-10" normalizeH="0" baseline="30000" noProof="0" dirty="0">
                <a:ln>
                  <a:noFill/>
                </a:ln>
                <a:solidFill>
                  <a:srgbClr val="000000"/>
                </a:solidFill>
                <a:effectLst/>
                <a:uLnTx/>
                <a:uFillTx/>
                <a:latin typeface="Arial"/>
                <a:ea typeface="+mn-ea"/>
                <a:cs typeface="Arial"/>
              </a:rPr>
              <a:t>1,2</a:t>
            </a:r>
          </a:p>
        </p:txBody>
      </p:sp>
      <p:sp>
        <p:nvSpPr>
          <p:cNvPr id="342" name="object 17">
            <a:extLst>
              <a:ext uri="{FF2B5EF4-FFF2-40B4-BE49-F238E27FC236}">
                <a16:creationId xmlns:a16="http://schemas.microsoft.com/office/drawing/2014/main" id="{51C3C2EA-67CF-A12A-8CC5-9855102D010D}"/>
              </a:ext>
            </a:extLst>
          </p:cNvPr>
          <p:cNvSpPr/>
          <p:nvPr/>
        </p:nvSpPr>
        <p:spPr>
          <a:xfrm>
            <a:off x="443812" y="1384889"/>
            <a:ext cx="500273" cy="443605"/>
          </a:xfrm>
          <a:custGeom>
            <a:avLst/>
            <a:gdLst/>
            <a:ahLst/>
            <a:cxnLst/>
            <a:rect l="l" t="t" r="r" b="b"/>
            <a:pathLst>
              <a:path w="521334" h="462280">
                <a:moveTo>
                  <a:pt x="521182" y="394982"/>
                </a:moveTo>
                <a:lnTo>
                  <a:pt x="517601" y="339090"/>
                </a:lnTo>
                <a:lnTo>
                  <a:pt x="503885" y="283235"/>
                </a:lnTo>
                <a:lnTo>
                  <a:pt x="484441" y="226339"/>
                </a:lnTo>
                <a:lnTo>
                  <a:pt x="460781" y="171983"/>
                </a:lnTo>
                <a:lnTo>
                  <a:pt x="434390" y="123748"/>
                </a:lnTo>
                <a:lnTo>
                  <a:pt x="406781" y="85204"/>
                </a:lnTo>
                <a:lnTo>
                  <a:pt x="353910" y="51435"/>
                </a:lnTo>
                <a:lnTo>
                  <a:pt x="320941" y="65100"/>
                </a:lnTo>
                <a:lnTo>
                  <a:pt x="303580" y="102196"/>
                </a:lnTo>
                <a:lnTo>
                  <a:pt x="297294" y="156933"/>
                </a:lnTo>
                <a:lnTo>
                  <a:pt x="297332" y="167335"/>
                </a:lnTo>
                <a:lnTo>
                  <a:pt x="279628" y="149872"/>
                </a:lnTo>
                <a:lnTo>
                  <a:pt x="279628" y="18923"/>
                </a:lnTo>
                <a:lnTo>
                  <a:pt x="278180" y="11417"/>
                </a:lnTo>
                <a:lnTo>
                  <a:pt x="274180" y="5422"/>
                </a:lnTo>
                <a:lnTo>
                  <a:pt x="268135" y="1447"/>
                </a:lnTo>
                <a:lnTo>
                  <a:pt x="260578" y="0"/>
                </a:lnTo>
                <a:lnTo>
                  <a:pt x="253009" y="1447"/>
                </a:lnTo>
                <a:lnTo>
                  <a:pt x="246964" y="5422"/>
                </a:lnTo>
                <a:lnTo>
                  <a:pt x="242963" y="11417"/>
                </a:lnTo>
                <a:lnTo>
                  <a:pt x="241528" y="18923"/>
                </a:lnTo>
                <a:lnTo>
                  <a:pt x="241528" y="149872"/>
                </a:lnTo>
                <a:lnTo>
                  <a:pt x="225653" y="165531"/>
                </a:lnTo>
                <a:lnTo>
                  <a:pt x="223608" y="122301"/>
                </a:lnTo>
                <a:lnTo>
                  <a:pt x="215049" y="84912"/>
                </a:lnTo>
                <a:lnTo>
                  <a:pt x="197980" y="60299"/>
                </a:lnTo>
                <a:lnTo>
                  <a:pt x="170218" y="51435"/>
                </a:lnTo>
                <a:lnTo>
                  <a:pt x="144627" y="59905"/>
                </a:lnTo>
                <a:lnTo>
                  <a:pt x="89395" y="123748"/>
                </a:lnTo>
                <a:lnTo>
                  <a:pt x="62674" y="171983"/>
                </a:lnTo>
                <a:lnTo>
                  <a:pt x="38506" y="226339"/>
                </a:lnTo>
                <a:lnTo>
                  <a:pt x="18313" y="283235"/>
                </a:lnTo>
                <a:lnTo>
                  <a:pt x="3594" y="339090"/>
                </a:lnTo>
                <a:lnTo>
                  <a:pt x="0" y="394982"/>
                </a:lnTo>
                <a:lnTo>
                  <a:pt x="15494" y="433832"/>
                </a:lnTo>
                <a:lnTo>
                  <a:pt x="45961" y="456018"/>
                </a:lnTo>
                <a:lnTo>
                  <a:pt x="87261" y="461949"/>
                </a:lnTo>
                <a:lnTo>
                  <a:pt x="135280" y="451993"/>
                </a:lnTo>
                <a:lnTo>
                  <a:pt x="169646" y="432257"/>
                </a:lnTo>
                <a:lnTo>
                  <a:pt x="193497" y="401713"/>
                </a:lnTo>
                <a:lnTo>
                  <a:pt x="208838" y="362953"/>
                </a:lnTo>
                <a:lnTo>
                  <a:pt x="217690" y="318604"/>
                </a:lnTo>
                <a:lnTo>
                  <a:pt x="222046" y="271259"/>
                </a:lnTo>
                <a:lnTo>
                  <a:pt x="223964" y="223520"/>
                </a:lnTo>
                <a:lnTo>
                  <a:pt x="224091" y="219811"/>
                </a:lnTo>
                <a:lnTo>
                  <a:pt x="260578" y="183388"/>
                </a:lnTo>
                <a:lnTo>
                  <a:pt x="297522" y="219735"/>
                </a:lnTo>
                <a:lnTo>
                  <a:pt x="297548" y="223520"/>
                </a:lnTo>
                <a:lnTo>
                  <a:pt x="299440" y="271259"/>
                </a:lnTo>
                <a:lnTo>
                  <a:pt x="303809" y="318604"/>
                </a:lnTo>
                <a:lnTo>
                  <a:pt x="312635" y="362953"/>
                </a:lnTo>
                <a:lnTo>
                  <a:pt x="327952" y="401713"/>
                </a:lnTo>
                <a:lnTo>
                  <a:pt x="351777" y="432257"/>
                </a:lnTo>
                <a:lnTo>
                  <a:pt x="386105" y="451993"/>
                </a:lnTo>
                <a:lnTo>
                  <a:pt x="434035" y="461949"/>
                </a:lnTo>
                <a:lnTo>
                  <a:pt x="475284" y="456018"/>
                </a:lnTo>
                <a:lnTo>
                  <a:pt x="505701" y="433832"/>
                </a:lnTo>
                <a:lnTo>
                  <a:pt x="521182" y="394982"/>
                </a:lnTo>
                <a:close/>
              </a:path>
            </a:pathLst>
          </a:custGeom>
          <a:solidFill>
            <a:srgbClr val="F36600"/>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Tree>
    <p:custDataLst>
      <p:tags r:id="rId1"/>
    </p:custDataLst>
    <p:extLst>
      <p:ext uri="{BB962C8B-B14F-4D97-AF65-F5344CB8AC3E}">
        <p14:creationId xmlns:p14="http://schemas.microsoft.com/office/powerpoint/2010/main" val="29095946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GSK created figure, Kahnert et al, 2018.</a:t>
            </a:r>
            <a:br>
              <a:rPr lang="en-US" dirty="0"/>
            </a:br>
            <a:r>
              <a:rPr lang="en-US" sz="800" dirty="0">
                <a:latin typeface="Arial"/>
                <a:cs typeface="Arial"/>
              </a:rPr>
              <a:t>1. GOLD. Global Strategy for the Diagnosis, Management, and Prevention of Chronic Obstructive Pulmonary Disease (2023 Report). </a:t>
            </a:r>
            <a:r>
              <a:rPr lang="en-US" dirty="0">
                <a:solidFill>
                  <a:schemeClr val="tx2"/>
                </a:solidFill>
                <a:hlinkClick r:id="rId3">
                  <a:extLst>
                    <a:ext uri="{A12FA001-AC4F-418D-AE19-62706E023703}">
                      <ahyp:hlinkClr xmlns:ahyp="http://schemas.microsoft.com/office/drawing/2018/hyperlinkcolor" val="tx"/>
                    </a:ext>
                  </a:extLst>
                </a:hlinkClick>
              </a:rPr>
              <a:t>https://goldcopd.org/2023-gold-report-2/</a:t>
            </a:r>
            <a:r>
              <a:rPr lang="en-US" dirty="0"/>
              <a:t>. Accessed February 2023; 2. Kahnert K;</a:t>
            </a:r>
            <a:r>
              <a:rPr lang="en-US" i="1" dirty="0"/>
              <a:t>Respiratory Medicine</a:t>
            </a:r>
            <a:r>
              <a:rPr lang="en-US" dirty="0"/>
              <a:t>;2018;134;79-85.</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nchor="t"/>
          <a:lstStyle/>
          <a:p>
            <a:r>
              <a:rPr lang="en-US" dirty="0"/>
              <a:t>Comorbidities are common in COPD and have a major impact on clinical outcomes</a:t>
            </a:r>
            <a:r>
              <a:rPr lang="en-US" baseline="30000" dirty="0"/>
              <a:t>1</a:t>
            </a:r>
            <a:endParaRPr lang="en-GB" baseline="30000" dirty="0"/>
          </a:p>
        </p:txBody>
      </p:sp>
      <p:sp>
        <p:nvSpPr>
          <p:cNvPr id="341" name="object 6">
            <a:extLst>
              <a:ext uri="{FF2B5EF4-FFF2-40B4-BE49-F238E27FC236}">
                <a16:creationId xmlns:a16="http://schemas.microsoft.com/office/drawing/2014/main" id="{3DA6F71E-8A44-C3EB-2A01-5C93AABD21A4}"/>
              </a:ext>
            </a:extLst>
          </p:cNvPr>
          <p:cNvSpPr txBox="1">
            <a:spLocks/>
          </p:cNvSpPr>
          <p:nvPr/>
        </p:nvSpPr>
        <p:spPr>
          <a:xfrm>
            <a:off x="365125" y="1308559"/>
            <a:ext cx="11460163" cy="596265"/>
          </a:xfrm>
          <a:prstGeom prst="rect">
            <a:avLst/>
          </a:prstGeom>
          <a:solidFill>
            <a:schemeClr val="tx2">
              <a:lumMod val="20000"/>
              <a:lumOff val="80000"/>
            </a:schemeClr>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000000"/>
                </a:solidFill>
                <a:effectLst/>
                <a:uLnTx/>
                <a:uFillTx/>
                <a:latin typeface="Arial"/>
                <a:ea typeface="+mn-ea"/>
                <a:cs typeface="Arial"/>
              </a:rPr>
              <a:t>Many patients with COPD present with significant comorbidities such as cardiovascular disease, musculoskeletal impairment and diabetes mellitus</a:t>
            </a:r>
            <a:r>
              <a:rPr kumimoji="0" lang="en-US" sz="1400" b="1" i="0" u="none" strike="noStrike" kern="1200" cap="none" spc="-10" normalizeH="0" baseline="30000" noProof="0" dirty="0">
                <a:ln>
                  <a:noFill/>
                </a:ln>
                <a:solidFill>
                  <a:srgbClr val="000000"/>
                </a:solidFill>
                <a:effectLst/>
                <a:uLnTx/>
                <a:uFillTx/>
                <a:latin typeface="Arial"/>
                <a:ea typeface="+mn-ea"/>
                <a:cs typeface="Arial"/>
              </a:rPr>
              <a:t>1,2</a:t>
            </a:r>
          </a:p>
        </p:txBody>
      </p:sp>
      <p:sp>
        <p:nvSpPr>
          <p:cNvPr id="7" name="object 6">
            <a:extLst>
              <a:ext uri="{FF2B5EF4-FFF2-40B4-BE49-F238E27FC236}">
                <a16:creationId xmlns:a16="http://schemas.microsoft.com/office/drawing/2014/main" id="{0355EEFF-0DCB-F60D-C9B0-E0A170A5B59D}"/>
              </a:ext>
            </a:extLst>
          </p:cNvPr>
          <p:cNvSpPr txBox="1">
            <a:spLocks/>
          </p:cNvSpPr>
          <p:nvPr/>
        </p:nvSpPr>
        <p:spPr>
          <a:xfrm>
            <a:off x="365125" y="2026880"/>
            <a:ext cx="11460163" cy="336576"/>
          </a:xfrm>
          <a:prstGeom prst="rect">
            <a:avLst/>
          </a:prstGeom>
          <a:solidFill>
            <a:schemeClr val="tx2"/>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10" normalizeH="0" baseline="0" noProof="0" dirty="0">
                <a:ln>
                  <a:noFill/>
                </a:ln>
                <a:solidFill>
                  <a:prstClr val="white"/>
                </a:solidFill>
                <a:effectLst/>
                <a:uLnTx/>
                <a:uFillTx/>
                <a:latin typeface="Arial"/>
                <a:ea typeface="+mn-ea"/>
                <a:cs typeface="Arial"/>
              </a:rPr>
              <a:t>Some comorbidities occur more frequently than others:</a:t>
            </a:r>
            <a:r>
              <a:rPr kumimoji="0" lang="en-US" sz="1200" b="1" i="0" u="none" strike="noStrike" kern="1200" cap="none" spc="-10" normalizeH="0" baseline="30000" noProof="0" dirty="0">
                <a:ln>
                  <a:noFill/>
                </a:ln>
                <a:solidFill>
                  <a:prstClr val="white"/>
                </a:solidFill>
                <a:effectLst/>
                <a:uLnTx/>
                <a:uFillTx/>
                <a:latin typeface="Arial"/>
                <a:ea typeface="+mn-ea"/>
                <a:cs typeface="Arial"/>
              </a:rPr>
              <a:t>2</a:t>
            </a:r>
          </a:p>
        </p:txBody>
      </p:sp>
      <p:graphicFrame>
        <p:nvGraphicFramePr>
          <p:cNvPr id="8" name="Chart 7">
            <a:extLst>
              <a:ext uri="{FF2B5EF4-FFF2-40B4-BE49-F238E27FC236}">
                <a16:creationId xmlns:a16="http://schemas.microsoft.com/office/drawing/2014/main" id="{598A2CE1-C43E-260D-2F0C-C7712B5B2F47}"/>
              </a:ext>
            </a:extLst>
          </p:cNvPr>
          <p:cNvGraphicFramePr/>
          <p:nvPr/>
        </p:nvGraphicFramePr>
        <p:xfrm>
          <a:off x="365124" y="2363456"/>
          <a:ext cx="11460163" cy="3176494"/>
        </p:xfrm>
        <a:graphic>
          <a:graphicData uri="http://schemas.openxmlformats.org/drawingml/2006/chart">
            <c:chart xmlns:c="http://schemas.openxmlformats.org/drawingml/2006/chart" xmlns:r="http://schemas.openxmlformats.org/officeDocument/2006/relationships" r:id="rId4"/>
          </a:graphicData>
        </a:graphic>
      </p:graphicFrame>
    </p:spTree>
    <p:custDataLst>
      <p:tags r:id="rId1"/>
    </p:custDataLst>
    <p:extLst>
      <p:ext uri="{BB962C8B-B14F-4D97-AF65-F5344CB8AC3E}">
        <p14:creationId xmlns:p14="http://schemas.microsoft.com/office/powerpoint/2010/main" val="996598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GSK created figure, Kahnert et al, 2018.</a:t>
            </a:r>
            <a:br>
              <a:rPr lang="en-US" dirty="0"/>
            </a:br>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3">
                  <a:extLst>
                    <a:ext uri="{A12FA001-AC4F-418D-AE19-62706E023703}">
                      <ahyp:hlinkClr xmlns:ahyp="http://schemas.microsoft.com/office/drawing/2018/hyperlinkcolor" val="tx"/>
                    </a:ext>
                  </a:extLst>
                </a:hlinkClick>
              </a:rPr>
              <a:t>https://goldcopd.org/2023-gold-report-2/</a:t>
            </a:r>
            <a:r>
              <a:rPr lang="en-US" dirty="0"/>
              <a:t>. Accessed February 2023; 2. Chatila WM;</a:t>
            </a:r>
            <a:r>
              <a:rPr lang="en-US" i="1" dirty="0"/>
              <a:t>Proceedings of The American Thoracic Society</a:t>
            </a:r>
            <a:r>
              <a:rPr lang="en-US" dirty="0"/>
              <a:t>;2008;5;549–555; 3. Rogliani P;</a:t>
            </a:r>
            <a:r>
              <a:rPr lang="en-US" i="1" dirty="0"/>
              <a:t>COPD Research and Practice</a:t>
            </a:r>
            <a:r>
              <a:rPr lang="en-US" dirty="0"/>
              <a:t>;2015;1;1-9; 4. van Manen JG;</a:t>
            </a:r>
            <a:r>
              <a:rPr lang="en-US" i="1" dirty="0"/>
              <a:t>Thorax</a:t>
            </a:r>
            <a:r>
              <a:rPr lang="en-US" dirty="0"/>
              <a:t>;2002; 57;412–416; 5. Prinz P;</a:t>
            </a:r>
            <a:r>
              <a:rPr lang="en-US" i="1" dirty="0"/>
              <a:t>The New England Journal of Medicine</a:t>
            </a:r>
            <a:r>
              <a:rPr lang="en-US" dirty="0"/>
              <a:t>;1990;323;520-526.</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nchor="t"/>
          <a:lstStyle/>
          <a:p>
            <a:r>
              <a:rPr lang="en-US" dirty="0"/>
              <a:t>The frequency of comorbidities depends on the severity of COPD and age</a:t>
            </a:r>
            <a:endParaRPr lang="en-GB" baseline="30000" dirty="0"/>
          </a:p>
        </p:txBody>
      </p:sp>
      <p:sp>
        <p:nvSpPr>
          <p:cNvPr id="5" name="object 6">
            <a:extLst>
              <a:ext uri="{FF2B5EF4-FFF2-40B4-BE49-F238E27FC236}">
                <a16:creationId xmlns:a16="http://schemas.microsoft.com/office/drawing/2014/main" id="{1BA28961-0BCA-5B0E-A1B5-B1F866F08E3B}"/>
              </a:ext>
            </a:extLst>
          </p:cNvPr>
          <p:cNvSpPr txBox="1">
            <a:spLocks/>
          </p:cNvSpPr>
          <p:nvPr/>
        </p:nvSpPr>
        <p:spPr>
          <a:xfrm>
            <a:off x="365125" y="1308559"/>
            <a:ext cx="11460163" cy="596265"/>
          </a:xfrm>
          <a:prstGeom prst="rect">
            <a:avLst/>
          </a:prstGeom>
          <a:solidFill>
            <a:schemeClr val="tx2">
              <a:lumMod val="20000"/>
              <a:lumOff val="80000"/>
            </a:schemeClr>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000000"/>
                </a:solidFill>
                <a:effectLst/>
                <a:uLnTx/>
                <a:uFillTx/>
                <a:latin typeface="Arial"/>
                <a:ea typeface="+mn-ea"/>
                <a:cs typeface="Arial"/>
              </a:rPr>
              <a:t>Although comorbidities are common at any severity of COPD</a:t>
            </a:r>
            <a:r>
              <a:rPr kumimoji="0" lang="en-US" sz="1400" b="1" i="0" u="none" strike="noStrike" kern="1200" cap="none" spc="-10" normalizeH="0" baseline="30000" noProof="0" dirty="0">
                <a:ln>
                  <a:noFill/>
                </a:ln>
                <a:solidFill>
                  <a:srgbClr val="000000"/>
                </a:solidFill>
                <a:effectLst/>
                <a:uLnTx/>
                <a:uFillTx/>
                <a:latin typeface="Arial"/>
                <a:ea typeface="+mn-ea"/>
                <a:cs typeface="Arial"/>
              </a:rPr>
              <a:t>1</a:t>
            </a:r>
            <a:r>
              <a:rPr kumimoji="0" lang="en-US" sz="1400" b="1" i="0" u="none" strike="noStrike" kern="1200" cap="none" spc="-10" normalizeH="0" baseline="0" noProof="0" dirty="0">
                <a:ln>
                  <a:noFill/>
                </a:ln>
                <a:solidFill>
                  <a:srgbClr val="000000"/>
                </a:solidFill>
                <a:effectLst/>
                <a:uLnTx/>
                <a:uFillTx/>
                <a:latin typeface="Arial"/>
                <a:ea typeface="+mn-ea"/>
                <a:cs typeface="Arial"/>
              </a:rPr>
              <a:t>, the frequency of comorbidities typically increases with severity and patient age</a:t>
            </a:r>
            <a:r>
              <a:rPr kumimoji="0" lang="en-US" sz="1400" b="1" i="0" u="none" strike="noStrike" kern="1200" cap="none" spc="-10" normalizeH="0" baseline="30000" noProof="0" dirty="0">
                <a:ln>
                  <a:noFill/>
                </a:ln>
                <a:solidFill>
                  <a:srgbClr val="000000"/>
                </a:solidFill>
                <a:effectLst/>
                <a:uLnTx/>
                <a:uFillTx/>
                <a:latin typeface="Arial"/>
                <a:ea typeface="+mn-ea"/>
                <a:cs typeface="Arial"/>
              </a:rPr>
              <a:t>2</a:t>
            </a:r>
          </a:p>
        </p:txBody>
      </p:sp>
      <p:sp>
        <p:nvSpPr>
          <p:cNvPr id="26" name="object 6">
            <a:extLst>
              <a:ext uri="{FF2B5EF4-FFF2-40B4-BE49-F238E27FC236}">
                <a16:creationId xmlns:a16="http://schemas.microsoft.com/office/drawing/2014/main" id="{580540AB-6EA9-F887-C6BE-5E3B936D3D94}"/>
              </a:ext>
            </a:extLst>
          </p:cNvPr>
          <p:cNvSpPr txBox="1">
            <a:spLocks/>
          </p:cNvSpPr>
          <p:nvPr/>
        </p:nvSpPr>
        <p:spPr>
          <a:xfrm>
            <a:off x="374301" y="1972537"/>
            <a:ext cx="11457432" cy="536480"/>
          </a:xfrm>
          <a:prstGeom prst="rect">
            <a:avLst/>
          </a:prstGeom>
          <a:noFill/>
          <a:ln w="12700">
            <a:noFill/>
          </a:ln>
        </p:spPr>
        <p:txBody>
          <a:bodyPr vert="horz" wrap="square" lIns="731520" tIns="45720" rIns="45720" bIns="45720" rtlCol="0" anchor="ctr" anchorCtr="0">
            <a:noAutofit/>
          </a:bodyPr>
          <a:lstStyle/>
          <a:p>
            <a:pPr marL="0" marR="283845"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6658A6"/>
                </a:solidFill>
                <a:effectLst/>
                <a:uLnTx/>
                <a:uFillTx/>
                <a:latin typeface="Arial"/>
                <a:ea typeface="+mn-ea"/>
                <a:cs typeface="Arial"/>
              </a:rPr>
              <a:t>Cardiovascular disease</a:t>
            </a:r>
          </a:p>
          <a:p>
            <a:pPr marL="0" marR="283845"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Cardiovascular disease is a major cause of death upon hospitalisation for a COPD exacerbation.</a:t>
            </a:r>
            <a:r>
              <a:rPr kumimoji="0" lang="en-US" sz="1100" b="0" i="0" u="none" strike="noStrike" kern="1200" cap="none" spc="0" normalizeH="0" baseline="30000" noProof="0" dirty="0">
                <a:ln>
                  <a:noFill/>
                </a:ln>
                <a:solidFill>
                  <a:srgbClr val="000000"/>
                </a:solidFill>
                <a:effectLst/>
                <a:uLnTx/>
                <a:uFillTx/>
                <a:latin typeface="Arial"/>
                <a:ea typeface="+mn-ea"/>
                <a:cs typeface="Arial"/>
              </a:rPr>
              <a:t>1</a:t>
            </a:r>
          </a:p>
        </p:txBody>
      </p:sp>
      <p:sp>
        <p:nvSpPr>
          <p:cNvPr id="12" name="object 7">
            <a:extLst>
              <a:ext uri="{FF2B5EF4-FFF2-40B4-BE49-F238E27FC236}">
                <a16:creationId xmlns:a16="http://schemas.microsoft.com/office/drawing/2014/main" id="{604B2A58-80BE-8781-926B-C93296CDB7B2}"/>
              </a:ext>
            </a:extLst>
          </p:cNvPr>
          <p:cNvSpPr>
            <a:spLocks noChangeAspect="1"/>
          </p:cNvSpPr>
          <p:nvPr/>
        </p:nvSpPr>
        <p:spPr>
          <a:xfrm rot="16200000" flipH="1">
            <a:off x="374302" y="1972538"/>
            <a:ext cx="540090" cy="536480"/>
          </a:xfrm>
          <a:prstGeom prst="teardrop">
            <a:avLst/>
          </a:prstGeom>
          <a:solidFill>
            <a:schemeClr val="accent1"/>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7" name="object 6">
            <a:extLst>
              <a:ext uri="{FF2B5EF4-FFF2-40B4-BE49-F238E27FC236}">
                <a16:creationId xmlns:a16="http://schemas.microsoft.com/office/drawing/2014/main" id="{9090CFBF-3F50-2070-5058-371DBE9B6473}"/>
              </a:ext>
            </a:extLst>
          </p:cNvPr>
          <p:cNvSpPr txBox="1">
            <a:spLocks/>
          </p:cNvSpPr>
          <p:nvPr/>
        </p:nvSpPr>
        <p:spPr>
          <a:xfrm>
            <a:off x="374301" y="2559851"/>
            <a:ext cx="11457432" cy="536480"/>
          </a:xfrm>
          <a:prstGeom prst="rect">
            <a:avLst/>
          </a:prstGeom>
          <a:noFill/>
          <a:ln w="12700">
            <a:noFill/>
          </a:ln>
        </p:spPr>
        <p:txBody>
          <a:bodyPr vert="horz" wrap="square" lIns="731520" tIns="45720" rIns="45720" bIns="45720" rtlCol="0" anchor="ctr" anchorCtr="0">
            <a:noAutofit/>
          </a:bodyPr>
          <a:lstStyle/>
          <a:p>
            <a:pPr marL="0" marR="419734"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E21860"/>
                </a:solidFill>
                <a:effectLst/>
                <a:uLnTx/>
                <a:uFillTx/>
                <a:latin typeface="Arial"/>
                <a:ea typeface="+mn-ea"/>
                <a:cs typeface="Arial"/>
              </a:rPr>
              <a:t>Lung cancer</a:t>
            </a:r>
          </a:p>
          <a:p>
            <a:pPr marL="0" marR="419734"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risk of developing lung cancer increases with age and with increased airflow limitation, which is associated with COPD severity.</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p:txBody>
      </p:sp>
      <p:sp>
        <p:nvSpPr>
          <p:cNvPr id="13" name="object 7">
            <a:extLst>
              <a:ext uri="{FF2B5EF4-FFF2-40B4-BE49-F238E27FC236}">
                <a16:creationId xmlns:a16="http://schemas.microsoft.com/office/drawing/2014/main" id="{AC22DFDF-E20D-7F46-E831-746EB56A4374}"/>
              </a:ext>
            </a:extLst>
          </p:cNvPr>
          <p:cNvSpPr>
            <a:spLocks noChangeAspect="1"/>
          </p:cNvSpPr>
          <p:nvPr/>
        </p:nvSpPr>
        <p:spPr>
          <a:xfrm rot="16200000" flipH="1">
            <a:off x="374302" y="2559852"/>
            <a:ext cx="540090" cy="536480"/>
          </a:xfrm>
          <a:prstGeom prst="teardrop">
            <a:avLst/>
          </a:prstGeom>
          <a:solidFill>
            <a:schemeClr val="accent2"/>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 name="object 6">
            <a:extLst>
              <a:ext uri="{FF2B5EF4-FFF2-40B4-BE49-F238E27FC236}">
                <a16:creationId xmlns:a16="http://schemas.microsoft.com/office/drawing/2014/main" id="{47F4B8C9-1473-466B-4A79-D4DB2E55B3C1}"/>
              </a:ext>
            </a:extLst>
          </p:cNvPr>
          <p:cNvSpPr txBox="1">
            <a:spLocks/>
          </p:cNvSpPr>
          <p:nvPr/>
        </p:nvSpPr>
        <p:spPr>
          <a:xfrm>
            <a:off x="374301" y="3147164"/>
            <a:ext cx="11457432" cy="536480"/>
          </a:xfrm>
          <a:prstGeom prst="rect">
            <a:avLst/>
          </a:prstGeom>
          <a:noFill/>
          <a:ln w="12700">
            <a:noFill/>
          </a:ln>
        </p:spPr>
        <p:txBody>
          <a:bodyPr vert="horz" wrap="square" lIns="731520" tIns="45720" rIns="45720" bIns="45720" rtlCol="0" anchor="ctr" anchorCtr="0">
            <a:noAutofit/>
          </a:bodyPr>
          <a:lstStyle/>
          <a:p>
            <a:pPr marL="0" marR="133731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69B445"/>
                </a:solidFill>
                <a:effectLst/>
                <a:uLnTx/>
                <a:uFillTx/>
                <a:latin typeface="Arial"/>
                <a:ea typeface="+mn-ea"/>
                <a:cs typeface="Arial"/>
              </a:rPr>
              <a:t>Diabetes mellitus</a:t>
            </a:r>
          </a:p>
          <a:p>
            <a:pPr marL="0" marR="133731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The risk of developing type 2 diabetes mellitus increases with age and can increase with COPD progression.</a:t>
            </a:r>
            <a:r>
              <a:rPr kumimoji="0" lang="en-US" sz="1100" b="0" i="0" u="none" strike="noStrike" kern="1200" cap="none" spc="-5" normalizeH="0" baseline="30000" noProof="0" dirty="0">
                <a:ln>
                  <a:noFill/>
                </a:ln>
                <a:solidFill>
                  <a:srgbClr val="000000"/>
                </a:solidFill>
                <a:effectLst/>
                <a:uLnTx/>
                <a:uFillTx/>
                <a:latin typeface="Arial"/>
                <a:ea typeface="+mn-ea"/>
                <a:cs typeface="Arial"/>
              </a:rPr>
              <a:t>3</a:t>
            </a:r>
          </a:p>
        </p:txBody>
      </p:sp>
      <p:sp>
        <p:nvSpPr>
          <p:cNvPr id="14" name="object 7">
            <a:extLst>
              <a:ext uri="{FF2B5EF4-FFF2-40B4-BE49-F238E27FC236}">
                <a16:creationId xmlns:a16="http://schemas.microsoft.com/office/drawing/2014/main" id="{B7C0DCA8-F89A-457B-AC79-3C885F2605E0}"/>
              </a:ext>
            </a:extLst>
          </p:cNvPr>
          <p:cNvSpPr>
            <a:spLocks noChangeAspect="1"/>
          </p:cNvSpPr>
          <p:nvPr/>
        </p:nvSpPr>
        <p:spPr>
          <a:xfrm rot="16200000" flipH="1">
            <a:off x="374302" y="3147166"/>
            <a:ext cx="540090" cy="536480"/>
          </a:xfrm>
          <a:prstGeom prst="teardrop">
            <a:avLst/>
          </a:prstGeom>
          <a:solidFill>
            <a:schemeClr val="accent3"/>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9" name="object 6">
            <a:extLst>
              <a:ext uri="{FF2B5EF4-FFF2-40B4-BE49-F238E27FC236}">
                <a16:creationId xmlns:a16="http://schemas.microsoft.com/office/drawing/2014/main" id="{593B22EE-2E3C-D82B-D986-DCB93D535D89}"/>
              </a:ext>
            </a:extLst>
          </p:cNvPr>
          <p:cNvSpPr txBox="1">
            <a:spLocks/>
          </p:cNvSpPr>
          <p:nvPr/>
        </p:nvSpPr>
        <p:spPr>
          <a:xfrm>
            <a:off x="374301" y="3734477"/>
            <a:ext cx="11457432" cy="536480"/>
          </a:xfrm>
          <a:prstGeom prst="rect">
            <a:avLst/>
          </a:prstGeom>
          <a:noFill/>
          <a:ln w="12700">
            <a:noFill/>
          </a:ln>
        </p:spPr>
        <p:txBody>
          <a:bodyPr vert="horz" wrap="square" lIns="731520" tIns="45720" rIns="45720" bIns="45720" rtlCol="0" anchor="ctr" anchorCtr="0">
            <a:noAutofit/>
          </a:bodyPr>
          <a:lstStyle/>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0" normalizeH="0" baseline="0" noProof="0" dirty="0">
                <a:ln>
                  <a:noFill/>
                </a:ln>
                <a:solidFill>
                  <a:srgbClr val="244EA2"/>
                </a:solidFill>
                <a:effectLst/>
                <a:uLnTx/>
                <a:uFillTx/>
                <a:latin typeface="Arial"/>
                <a:ea typeface="+mn-ea"/>
                <a:cs typeface="Arial"/>
              </a:rPr>
              <a:t>Osteoporosis</a:t>
            </a:r>
          </a:p>
          <a:p>
            <a:pPr marL="0" marR="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Prevalence of osteoporosis increases with age; risk of vitamin D deficiency and vertebral fractures increases with COPD severity.</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p:txBody>
      </p:sp>
      <p:sp>
        <p:nvSpPr>
          <p:cNvPr id="15" name="object 7">
            <a:extLst>
              <a:ext uri="{FF2B5EF4-FFF2-40B4-BE49-F238E27FC236}">
                <a16:creationId xmlns:a16="http://schemas.microsoft.com/office/drawing/2014/main" id="{044B2450-5692-93AC-F7F3-65DA24E61780}"/>
              </a:ext>
            </a:extLst>
          </p:cNvPr>
          <p:cNvSpPr>
            <a:spLocks noChangeAspect="1"/>
          </p:cNvSpPr>
          <p:nvPr/>
        </p:nvSpPr>
        <p:spPr>
          <a:xfrm rot="16200000" flipH="1">
            <a:off x="374302" y="3734480"/>
            <a:ext cx="540090" cy="536480"/>
          </a:xfrm>
          <a:prstGeom prst="teardrop">
            <a:avLst/>
          </a:prstGeom>
          <a:solidFill>
            <a:schemeClr val="accent4"/>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0" name="object 6">
            <a:extLst>
              <a:ext uri="{FF2B5EF4-FFF2-40B4-BE49-F238E27FC236}">
                <a16:creationId xmlns:a16="http://schemas.microsoft.com/office/drawing/2014/main" id="{69E7AD11-010A-3AD8-8A89-4B9F587E65E1}"/>
              </a:ext>
            </a:extLst>
          </p:cNvPr>
          <p:cNvSpPr txBox="1">
            <a:spLocks/>
          </p:cNvSpPr>
          <p:nvPr/>
        </p:nvSpPr>
        <p:spPr>
          <a:xfrm>
            <a:off x="374301" y="4321790"/>
            <a:ext cx="11457432" cy="536480"/>
          </a:xfrm>
          <a:prstGeom prst="rect">
            <a:avLst/>
          </a:prstGeom>
          <a:noFill/>
          <a:ln w="12700">
            <a:noFill/>
          </a:ln>
        </p:spPr>
        <p:txBody>
          <a:bodyPr vert="horz" wrap="square" lIns="731520" tIns="45720" rIns="45720" bIns="45720" rtlCol="0" anchor="ctr" anchorCtr="0">
            <a:noAutofit/>
          </a:bodyPr>
          <a:lstStyle/>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FFC709"/>
                </a:solidFill>
                <a:effectLst/>
                <a:uLnTx/>
                <a:uFillTx/>
                <a:latin typeface="Arial"/>
                <a:ea typeface="+mn-ea"/>
                <a:cs typeface="Arial"/>
              </a:rPr>
              <a:t>Mood disorders</a:t>
            </a:r>
          </a:p>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Many patients with COPD experience anxiety and/or depression, with the likelihood of mood disorders increasing as COPD progresses.</a:t>
            </a:r>
            <a:r>
              <a:rPr kumimoji="0" lang="en-US" sz="1100" b="0" i="0" u="none" strike="noStrike" kern="1200" cap="none" spc="-5" normalizeH="0" baseline="30000" noProof="0" dirty="0">
                <a:ln>
                  <a:noFill/>
                </a:ln>
                <a:solidFill>
                  <a:srgbClr val="000000"/>
                </a:solidFill>
                <a:effectLst/>
                <a:uLnTx/>
                <a:uFillTx/>
                <a:latin typeface="Arial"/>
                <a:ea typeface="+mn-ea"/>
                <a:cs typeface="Arial"/>
              </a:rPr>
              <a:t>1,4</a:t>
            </a:r>
          </a:p>
        </p:txBody>
      </p:sp>
      <p:sp>
        <p:nvSpPr>
          <p:cNvPr id="16" name="object 7">
            <a:extLst>
              <a:ext uri="{FF2B5EF4-FFF2-40B4-BE49-F238E27FC236}">
                <a16:creationId xmlns:a16="http://schemas.microsoft.com/office/drawing/2014/main" id="{60B9E650-6FE7-C6CB-5706-6FC95D720865}"/>
              </a:ext>
            </a:extLst>
          </p:cNvPr>
          <p:cNvSpPr>
            <a:spLocks noChangeAspect="1"/>
          </p:cNvSpPr>
          <p:nvPr/>
        </p:nvSpPr>
        <p:spPr>
          <a:xfrm rot="16200000" flipH="1">
            <a:off x="374302" y="4321794"/>
            <a:ext cx="540090" cy="536480"/>
          </a:xfrm>
          <a:prstGeom prst="teardrop">
            <a:avLst/>
          </a:prstGeom>
          <a:solidFill>
            <a:schemeClr val="accent5"/>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39" name="object 6">
            <a:extLst>
              <a:ext uri="{FF2B5EF4-FFF2-40B4-BE49-F238E27FC236}">
                <a16:creationId xmlns:a16="http://schemas.microsoft.com/office/drawing/2014/main" id="{FA46F181-5E6B-C0E7-A4F2-84BD4C083A75}"/>
              </a:ext>
            </a:extLst>
          </p:cNvPr>
          <p:cNvSpPr txBox="1">
            <a:spLocks/>
          </p:cNvSpPr>
          <p:nvPr/>
        </p:nvSpPr>
        <p:spPr>
          <a:xfrm>
            <a:off x="374301" y="4909104"/>
            <a:ext cx="11457432" cy="536480"/>
          </a:xfrm>
          <a:prstGeom prst="rect">
            <a:avLst/>
          </a:prstGeom>
          <a:noFill/>
          <a:ln w="12700">
            <a:noFill/>
          </a:ln>
        </p:spPr>
        <p:txBody>
          <a:bodyPr vert="horz" wrap="square" lIns="731520" tIns="45720" rIns="45720" bIns="45720" rtlCol="0" anchor="ctr" anchorCtr="0">
            <a:noAutofit/>
          </a:bodyPr>
          <a:lstStyle/>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1" i="0" u="none" strike="noStrike" kern="1200" cap="none" spc="-5" normalizeH="0" baseline="0" noProof="0" dirty="0">
                <a:ln>
                  <a:noFill/>
                </a:ln>
                <a:solidFill>
                  <a:srgbClr val="DC4133"/>
                </a:solidFill>
                <a:effectLst/>
                <a:uLnTx/>
                <a:uFillTx/>
                <a:latin typeface="Arial"/>
                <a:ea typeface="+mn-ea"/>
                <a:cs typeface="Arial"/>
              </a:rPr>
              <a:t>Sleep disorders</a:t>
            </a:r>
          </a:p>
          <a:p>
            <a:pPr marL="0" marR="30480" lvl="0" indent="0" algn="l" defTabSz="1219170" rtl="0" eaLnBrk="1" fontAlgn="auto" latinLnBrk="0" hangingPunct="1">
              <a:lnSpc>
                <a:spcPct val="100000"/>
              </a:lnSpc>
              <a:spcBef>
                <a:spcPts val="30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The prevalence of sleep disorders increases with age and COPD severity.</a:t>
            </a:r>
            <a:r>
              <a:rPr kumimoji="0" lang="en-US" sz="1100" b="0" i="0" u="none" strike="noStrike" kern="1200" cap="none" spc="-5" normalizeH="0" baseline="30000" noProof="0" dirty="0">
                <a:ln>
                  <a:noFill/>
                </a:ln>
                <a:solidFill>
                  <a:srgbClr val="000000"/>
                </a:solidFill>
                <a:effectLst/>
                <a:uLnTx/>
                <a:uFillTx/>
                <a:latin typeface="Arial"/>
                <a:ea typeface="+mn-ea"/>
                <a:cs typeface="Arial"/>
              </a:rPr>
              <a:t>5</a:t>
            </a:r>
          </a:p>
        </p:txBody>
      </p:sp>
      <p:sp>
        <p:nvSpPr>
          <p:cNvPr id="340" name="object 7">
            <a:extLst>
              <a:ext uri="{FF2B5EF4-FFF2-40B4-BE49-F238E27FC236}">
                <a16:creationId xmlns:a16="http://schemas.microsoft.com/office/drawing/2014/main" id="{C0D63E87-7875-8F31-9047-65B721F5A287}"/>
              </a:ext>
            </a:extLst>
          </p:cNvPr>
          <p:cNvSpPr>
            <a:spLocks noChangeAspect="1"/>
          </p:cNvSpPr>
          <p:nvPr/>
        </p:nvSpPr>
        <p:spPr>
          <a:xfrm rot="16200000" flipH="1">
            <a:off x="374302" y="4909108"/>
            <a:ext cx="540090" cy="536480"/>
          </a:xfrm>
          <a:prstGeom prst="teardrop">
            <a:avLst/>
          </a:prstGeom>
          <a:solidFill>
            <a:schemeClr val="accent6"/>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387" name="Group 386">
            <a:extLst>
              <a:ext uri="{FF2B5EF4-FFF2-40B4-BE49-F238E27FC236}">
                <a16:creationId xmlns:a16="http://schemas.microsoft.com/office/drawing/2014/main" id="{D5D0EBF9-BB71-3CF9-669C-6EDF4D62339A}"/>
              </a:ext>
            </a:extLst>
          </p:cNvPr>
          <p:cNvGrpSpPr>
            <a:grpSpLocks noChangeAspect="1"/>
          </p:cNvGrpSpPr>
          <p:nvPr/>
        </p:nvGrpSpPr>
        <p:grpSpPr>
          <a:xfrm>
            <a:off x="471242" y="2083566"/>
            <a:ext cx="336384" cy="314425"/>
            <a:chOff x="-9930821" y="-113"/>
            <a:chExt cx="5869689" cy="5486561"/>
          </a:xfrm>
          <a:solidFill>
            <a:schemeClr val="bg1"/>
          </a:solidFill>
        </p:grpSpPr>
        <p:sp>
          <p:nvSpPr>
            <p:cNvPr id="349" name="Freeform: Shape 348">
              <a:extLst>
                <a:ext uri="{FF2B5EF4-FFF2-40B4-BE49-F238E27FC236}">
                  <a16:creationId xmlns:a16="http://schemas.microsoft.com/office/drawing/2014/main" id="{B5FD89F2-09CB-0F8F-3C5F-2B9F5AFC412F}"/>
                </a:ext>
              </a:extLst>
            </p:cNvPr>
            <p:cNvSpPr/>
            <p:nvPr/>
          </p:nvSpPr>
          <p:spPr>
            <a:xfrm>
              <a:off x="-9930821" y="-113"/>
              <a:ext cx="5869689" cy="4070336"/>
            </a:xfrm>
            <a:custGeom>
              <a:avLst/>
              <a:gdLst>
                <a:gd name="connsiteX0" fmla="*/ 4434193 w 5869689"/>
                <a:gd name="connsiteY0" fmla="*/ 114 h 4070336"/>
                <a:gd name="connsiteX1" fmla="*/ 2990682 w 5869689"/>
                <a:gd name="connsiteY1" fmla="*/ 1023425 h 4070336"/>
                <a:gd name="connsiteX2" fmla="*/ 2934887 w 5869689"/>
                <a:gd name="connsiteY2" fmla="*/ 1056951 h 4070336"/>
                <a:gd name="connsiteX3" fmla="*/ 2879083 w 5869689"/>
                <a:gd name="connsiteY3" fmla="*/ 1023425 h 4070336"/>
                <a:gd name="connsiteX4" fmla="*/ 1436061 w 5869689"/>
                <a:gd name="connsiteY4" fmla="*/ 114 h 4070336"/>
                <a:gd name="connsiteX5" fmla="*/ 0 w 5869689"/>
                <a:gd name="connsiteY5" fmla="*/ 1345947 h 4070336"/>
                <a:gd name="connsiteX6" fmla="*/ 427978 w 5869689"/>
                <a:gd name="connsiteY6" fmla="*/ 2708338 h 4070336"/>
                <a:gd name="connsiteX7" fmla="*/ 775930 w 5869689"/>
                <a:gd name="connsiteY7" fmla="*/ 2708338 h 4070336"/>
                <a:gd name="connsiteX8" fmla="*/ 1129391 w 5869689"/>
                <a:gd name="connsiteY8" fmla="*/ 1387879 h 4070336"/>
                <a:gd name="connsiteX9" fmla="*/ 1190437 w 5869689"/>
                <a:gd name="connsiteY9" fmla="*/ 1341039 h 4070336"/>
                <a:gd name="connsiteX10" fmla="*/ 1251473 w 5869689"/>
                <a:gd name="connsiteY10" fmla="*/ 1387879 h 4070336"/>
                <a:gd name="connsiteX11" fmla="*/ 1739224 w 5869689"/>
                <a:gd name="connsiteY11" fmla="*/ 3207894 h 4070336"/>
                <a:gd name="connsiteX12" fmla="*/ 2061001 w 5869689"/>
                <a:gd name="connsiteY12" fmla="*/ 2007058 h 4070336"/>
                <a:gd name="connsiteX13" fmla="*/ 2122048 w 5869689"/>
                <a:gd name="connsiteY13" fmla="*/ 1960218 h 4070336"/>
                <a:gd name="connsiteX14" fmla="*/ 2183084 w 5869689"/>
                <a:gd name="connsiteY14" fmla="*/ 2007058 h 4070336"/>
                <a:gd name="connsiteX15" fmla="*/ 2735858 w 5869689"/>
                <a:gd name="connsiteY15" fmla="*/ 4070337 h 4070336"/>
                <a:gd name="connsiteX16" fmla="*/ 3510900 w 5869689"/>
                <a:gd name="connsiteY16" fmla="*/ 1179102 h 4070336"/>
                <a:gd name="connsiteX17" fmla="*/ 3571946 w 5869689"/>
                <a:gd name="connsiteY17" fmla="*/ 1132262 h 4070336"/>
                <a:gd name="connsiteX18" fmla="*/ 3632983 w 5869689"/>
                <a:gd name="connsiteY18" fmla="*/ 1179102 h 4070336"/>
                <a:gd name="connsiteX19" fmla="*/ 4285414 w 5869689"/>
                <a:gd name="connsiteY19" fmla="*/ 3615455 h 4070336"/>
                <a:gd name="connsiteX20" fmla="*/ 4790966 w 5869689"/>
                <a:gd name="connsiteY20" fmla="*/ 2739836 h 4070336"/>
                <a:gd name="connsiteX21" fmla="*/ 4845692 w 5869689"/>
                <a:gd name="connsiteY21" fmla="*/ 2708220 h 4070336"/>
                <a:gd name="connsiteX22" fmla="*/ 5441868 w 5869689"/>
                <a:gd name="connsiteY22" fmla="*/ 2708220 h 4070336"/>
                <a:gd name="connsiteX23" fmla="*/ 5869690 w 5869689"/>
                <a:gd name="connsiteY23" fmla="*/ 1345830 h 4070336"/>
                <a:gd name="connsiteX24" fmla="*/ 4434115 w 5869689"/>
                <a:gd name="connsiteY24" fmla="*/ 0 h 40703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69689" h="4070336">
                  <a:moveTo>
                    <a:pt x="4434193" y="114"/>
                  </a:moveTo>
                  <a:cubicBezTo>
                    <a:pt x="3682037" y="114"/>
                    <a:pt x="3335345" y="375354"/>
                    <a:pt x="2990682" y="1023425"/>
                  </a:cubicBezTo>
                  <a:cubicBezTo>
                    <a:pt x="2979699" y="1044048"/>
                    <a:pt x="2958263" y="1056951"/>
                    <a:pt x="2934887" y="1056951"/>
                  </a:cubicBezTo>
                  <a:cubicBezTo>
                    <a:pt x="2911540" y="1056951"/>
                    <a:pt x="2890075" y="1044048"/>
                    <a:pt x="2879083" y="1023425"/>
                  </a:cubicBezTo>
                  <a:cubicBezTo>
                    <a:pt x="2534498" y="375325"/>
                    <a:pt x="2187924" y="114"/>
                    <a:pt x="1436061" y="114"/>
                  </a:cubicBezTo>
                  <a:cubicBezTo>
                    <a:pt x="644217" y="114"/>
                    <a:pt x="0" y="603823"/>
                    <a:pt x="0" y="1345947"/>
                  </a:cubicBezTo>
                  <a:cubicBezTo>
                    <a:pt x="0" y="1767381"/>
                    <a:pt x="140912" y="2217393"/>
                    <a:pt x="427978" y="2708338"/>
                  </a:cubicBezTo>
                  <a:lnTo>
                    <a:pt x="775930" y="2708338"/>
                  </a:lnTo>
                  <a:lnTo>
                    <a:pt x="1129391" y="1387879"/>
                  </a:lnTo>
                  <a:cubicBezTo>
                    <a:pt x="1136778" y="1360251"/>
                    <a:pt x="1161810" y="1341039"/>
                    <a:pt x="1190437" y="1341039"/>
                  </a:cubicBezTo>
                  <a:cubicBezTo>
                    <a:pt x="1219025" y="1341039"/>
                    <a:pt x="1244057" y="1360251"/>
                    <a:pt x="1251473" y="1387879"/>
                  </a:cubicBezTo>
                  <a:lnTo>
                    <a:pt x="1739224" y="3207894"/>
                  </a:lnTo>
                  <a:lnTo>
                    <a:pt x="2061001" y="2007058"/>
                  </a:lnTo>
                  <a:cubicBezTo>
                    <a:pt x="2068388" y="1979430"/>
                    <a:pt x="2093420" y="1960218"/>
                    <a:pt x="2122048" y="1960218"/>
                  </a:cubicBezTo>
                  <a:cubicBezTo>
                    <a:pt x="2150636" y="1960218"/>
                    <a:pt x="2175667" y="1979430"/>
                    <a:pt x="2183084" y="2007058"/>
                  </a:cubicBezTo>
                  <a:lnTo>
                    <a:pt x="2735858" y="4070337"/>
                  </a:lnTo>
                  <a:lnTo>
                    <a:pt x="3510900" y="1179102"/>
                  </a:lnTo>
                  <a:cubicBezTo>
                    <a:pt x="3518287" y="1151474"/>
                    <a:pt x="3543319" y="1132262"/>
                    <a:pt x="3571946" y="1132262"/>
                  </a:cubicBezTo>
                  <a:cubicBezTo>
                    <a:pt x="3600534" y="1132262"/>
                    <a:pt x="3625566" y="1151474"/>
                    <a:pt x="3632983" y="1179102"/>
                  </a:cubicBezTo>
                  <a:lnTo>
                    <a:pt x="4285414" y="3615455"/>
                  </a:lnTo>
                  <a:lnTo>
                    <a:pt x="4790966" y="2739836"/>
                  </a:lnTo>
                  <a:cubicBezTo>
                    <a:pt x="4802262" y="2720281"/>
                    <a:pt x="4823120" y="2708220"/>
                    <a:pt x="4845692" y="2708220"/>
                  </a:cubicBezTo>
                  <a:lnTo>
                    <a:pt x="5441868" y="2708220"/>
                  </a:lnTo>
                  <a:cubicBezTo>
                    <a:pt x="5728856" y="2217335"/>
                    <a:pt x="5869690" y="1767273"/>
                    <a:pt x="5869690" y="1345830"/>
                  </a:cubicBezTo>
                  <a:cubicBezTo>
                    <a:pt x="5869650" y="603778"/>
                    <a:pt x="5225684" y="0"/>
                    <a:pt x="4434115" y="0"/>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50" name="Freeform: Shape 349">
              <a:extLst>
                <a:ext uri="{FF2B5EF4-FFF2-40B4-BE49-F238E27FC236}">
                  <a16:creationId xmlns:a16="http://schemas.microsoft.com/office/drawing/2014/main" id="{73821824-5CF2-2915-BD19-9CA7AB479DD5}"/>
                </a:ext>
              </a:extLst>
            </p:cNvPr>
            <p:cNvSpPr/>
            <p:nvPr/>
          </p:nvSpPr>
          <p:spPr>
            <a:xfrm>
              <a:off x="-9426184" y="1439445"/>
              <a:ext cx="4860519" cy="4047003"/>
            </a:xfrm>
            <a:custGeom>
              <a:avLst/>
              <a:gdLst>
                <a:gd name="connsiteX0" fmla="*/ 3813950 w 4860519"/>
                <a:gd name="connsiteY0" fmla="*/ 2371251 h 4047003"/>
                <a:gd name="connsiteX1" fmla="*/ 3750993 w 4860519"/>
                <a:gd name="connsiteY1" fmla="*/ 2402289 h 4047003"/>
                <a:gd name="connsiteX2" fmla="*/ 3698226 w 4860519"/>
                <a:gd name="connsiteY2" fmla="*/ 2356017 h 4047003"/>
                <a:gd name="connsiteX3" fmla="*/ 3067309 w 4860519"/>
                <a:gd name="connsiteY3" fmla="*/ 0 h 4047003"/>
                <a:gd name="connsiteX4" fmla="*/ 2292257 w 4860519"/>
                <a:gd name="connsiteY4" fmla="*/ 2891235 h 4047003"/>
                <a:gd name="connsiteX5" fmla="*/ 2231221 w 4860519"/>
                <a:gd name="connsiteY5" fmla="*/ 2938046 h 4047003"/>
                <a:gd name="connsiteX6" fmla="*/ 2170175 w 4860519"/>
                <a:gd name="connsiteY6" fmla="*/ 2891196 h 4047003"/>
                <a:gd name="connsiteX7" fmla="*/ 1617401 w 4860519"/>
                <a:gd name="connsiteY7" fmla="*/ 828015 h 4047003"/>
                <a:gd name="connsiteX8" fmla="*/ 1295672 w 4860519"/>
                <a:gd name="connsiteY8" fmla="*/ 2028753 h 4047003"/>
                <a:gd name="connsiteX9" fmla="*/ 1234626 w 4860519"/>
                <a:gd name="connsiteY9" fmla="*/ 2075603 h 4047003"/>
                <a:gd name="connsiteX10" fmla="*/ 1173590 w 4860519"/>
                <a:gd name="connsiteY10" fmla="*/ 2028753 h 4047003"/>
                <a:gd name="connsiteX11" fmla="*/ 685908 w 4860519"/>
                <a:gd name="connsiteY11" fmla="*/ 208836 h 4047003"/>
                <a:gd name="connsiteX12" fmla="*/ 380893 w 4860519"/>
                <a:gd name="connsiteY12" fmla="*/ 1348243 h 4047003"/>
                <a:gd name="connsiteX13" fmla="*/ 319857 w 4860519"/>
                <a:gd name="connsiteY13" fmla="*/ 1395094 h 4047003"/>
                <a:gd name="connsiteX14" fmla="*/ 0 w 4860519"/>
                <a:gd name="connsiteY14" fmla="*/ 1395094 h 4047003"/>
                <a:gd name="connsiteX15" fmla="*/ 418407 w 4860519"/>
                <a:gd name="connsiteY15" fmla="*/ 1980395 h 4047003"/>
                <a:gd name="connsiteX16" fmla="*/ 2430250 w 4860519"/>
                <a:gd name="connsiteY16" fmla="*/ 4047004 h 4047003"/>
                <a:gd name="connsiteX17" fmla="*/ 4441996 w 4860519"/>
                <a:gd name="connsiteY17" fmla="*/ 1980688 h 4047003"/>
                <a:gd name="connsiteX18" fmla="*/ 4860520 w 4860519"/>
                <a:gd name="connsiteY18" fmla="*/ 1395152 h 4047003"/>
                <a:gd name="connsiteX19" fmla="*/ 4377472 w 4860519"/>
                <a:gd name="connsiteY19" fmla="*/ 1395113 h 404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4860519" h="4047003">
                  <a:moveTo>
                    <a:pt x="3813950" y="2371251"/>
                  </a:moveTo>
                  <a:cubicBezTo>
                    <a:pt x="3801164" y="2393413"/>
                    <a:pt x="3776329" y="2405767"/>
                    <a:pt x="3750993" y="2402289"/>
                  </a:cubicBezTo>
                  <a:cubicBezTo>
                    <a:pt x="3725657" y="2398958"/>
                    <a:pt x="3704799" y="2380706"/>
                    <a:pt x="3698226" y="2356017"/>
                  </a:cubicBezTo>
                  <a:lnTo>
                    <a:pt x="3067309" y="0"/>
                  </a:lnTo>
                  <a:lnTo>
                    <a:pt x="2292257" y="2891235"/>
                  </a:lnTo>
                  <a:cubicBezTo>
                    <a:pt x="2284880" y="2918873"/>
                    <a:pt x="2259848" y="2938046"/>
                    <a:pt x="2231221" y="2938046"/>
                  </a:cubicBezTo>
                  <a:cubicBezTo>
                    <a:pt x="2202633" y="2938046"/>
                    <a:pt x="2177601" y="2918833"/>
                    <a:pt x="2170175" y="2891196"/>
                  </a:cubicBezTo>
                  <a:lnTo>
                    <a:pt x="1617401" y="828015"/>
                  </a:lnTo>
                  <a:lnTo>
                    <a:pt x="1295672" y="2028753"/>
                  </a:lnTo>
                  <a:cubicBezTo>
                    <a:pt x="1288285" y="2056391"/>
                    <a:pt x="1263253" y="2075603"/>
                    <a:pt x="1234626" y="2075603"/>
                  </a:cubicBezTo>
                  <a:cubicBezTo>
                    <a:pt x="1206038" y="2075603"/>
                    <a:pt x="1181006" y="2056391"/>
                    <a:pt x="1173590" y="2028753"/>
                  </a:cubicBezTo>
                  <a:lnTo>
                    <a:pt x="685908" y="208836"/>
                  </a:lnTo>
                  <a:lnTo>
                    <a:pt x="380893" y="1348243"/>
                  </a:lnTo>
                  <a:cubicBezTo>
                    <a:pt x="373516" y="1375881"/>
                    <a:pt x="348484" y="1395094"/>
                    <a:pt x="319857" y="1395094"/>
                  </a:cubicBezTo>
                  <a:lnTo>
                    <a:pt x="0" y="1395094"/>
                  </a:lnTo>
                  <a:cubicBezTo>
                    <a:pt x="118330" y="1583953"/>
                    <a:pt x="257557" y="1778789"/>
                    <a:pt x="418407" y="1980395"/>
                  </a:cubicBezTo>
                  <a:cubicBezTo>
                    <a:pt x="966821" y="2667801"/>
                    <a:pt x="1708494" y="3368356"/>
                    <a:pt x="2430250" y="4047004"/>
                  </a:cubicBezTo>
                  <a:cubicBezTo>
                    <a:pt x="3151790" y="3368816"/>
                    <a:pt x="3893159" y="2668742"/>
                    <a:pt x="4441996" y="1980688"/>
                  </a:cubicBezTo>
                  <a:cubicBezTo>
                    <a:pt x="4602884" y="1779004"/>
                    <a:pt x="4742190" y="1584100"/>
                    <a:pt x="4860520" y="1395152"/>
                  </a:cubicBezTo>
                  <a:lnTo>
                    <a:pt x="4377472" y="1395113"/>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388" name="object 17">
            <a:extLst>
              <a:ext uri="{FF2B5EF4-FFF2-40B4-BE49-F238E27FC236}">
                <a16:creationId xmlns:a16="http://schemas.microsoft.com/office/drawing/2014/main" id="{D9F74349-08F8-0D1C-1B95-D4442C99FB8F}"/>
              </a:ext>
            </a:extLst>
          </p:cNvPr>
          <p:cNvSpPr/>
          <p:nvPr/>
        </p:nvSpPr>
        <p:spPr>
          <a:xfrm>
            <a:off x="468587" y="2676599"/>
            <a:ext cx="341694" cy="302987"/>
          </a:xfrm>
          <a:custGeom>
            <a:avLst/>
            <a:gdLst/>
            <a:ahLst/>
            <a:cxnLst/>
            <a:rect l="l" t="t" r="r" b="b"/>
            <a:pathLst>
              <a:path w="521334" h="462280">
                <a:moveTo>
                  <a:pt x="521182" y="394982"/>
                </a:moveTo>
                <a:lnTo>
                  <a:pt x="517601" y="339090"/>
                </a:lnTo>
                <a:lnTo>
                  <a:pt x="503885" y="283235"/>
                </a:lnTo>
                <a:lnTo>
                  <a:pt x="484441" y="226339"/>
                </a:lnTo>
                <a:lnTo>
                  <a:pt x="460781" y="171983"/>
                </a:lnTo>
                <a:lnTo>
                  <a:pt x="434390" y="123748"/>
                </a:lnTo>
                <a:lnTo>
                  <a:pt x="406781" y="85204"/>
                </a:lnTo>
                <a:lnTo>
                  <a:pt x="353910" y="51435"/>
                </a:lnTo>
                <a:lnTo>
                  <a:pt x="320941" y="65100"/>
                </a:lnTo>
                <a:lnTo>
                  <a:pt x="303580" y="102196"/>
                </a:lnTo>
                <a:lnTo>
                  <a:pt x="297294" y="156933"/>
                </a:lnTo>
                <a:lnTo>
                  <a:pt x="297332" y="167335"/>
                </a:lnTo>
                <a:lnTo>
                  <a:pt x="279628" y="149872"/>
                </a:lnTo>
                <a:lnTo>
                  <a:pt x="279628" y="18923"/>
                </a:lnTo>
                <a:lnTo>
                  <a:pt x="278180" y="11417"/>
                </a:lnTo>
                <a:lnTo>
                  <a:pt x="274180" y="5422"/>
                </a:lnTo>
                <a:lnTo>
                  <a:pt x="268135" y="1447"/>
                </a:lnTo>
                <a:lnTo>
                  <a:pt x="260578" y="0"/>
                </a:lnTo>
                <a:lnTo>
                  <a:pt x="253009" y="1447"/>
                </a:lnTo>
                <a:lnTo>
                  <a:pt x="246964" y="5422"/>
                </a:lnTo>
                <a:lnTo>
                  <a:pt x="242963" y="11417"/>
                </a:lnTo>
                <a:lnTo>
                  <a:pt x="241528" y="18923"/>
                </a:lnTo>
                <a:lnTo>
                  <a:pt x="241528" y="149872"/>
                </a:lnTo>
                <a:lnTo>
                  <a:pt x="225653" y="165531"/>
                </a:lnTo>
                <a:lnTo>
                  <a:pt x="223608" y="122301"/>
                </a:lnTo>
                <a:lnTo>
                  <a:pt x="215049" y="84912"/>
                </a:lnTo>
                <a:lnTo>
                  <a:pt x="197980" y="60299"/>
                </a:lnTo>
                <a:lnTo>
                  <a:pt x="170218" y="51435"/>
                </a:lnTo>
                <a:lnTo>
                  <a:pt x="144627" y="59905"/>
                </a:lnTo>
                <a:lnTo>
                  <a:pt x="89395" y="123748"/>
                </a:lnTo>
                <a:lnTo>
                  <a:pt x="62674" y="171983"/>
                </a:lnTo>
                <a:lnTo>
                  <a:pt x="38506" y="226339"/>
                </a:lnTo>
                <a:lnTo>
                  <a:pt x="18313" y="283235"/>
                </a:lnTo>
                <a:lnTo>
                  <a:pt x="3594" y="339090"/>
                </a:lnTo>
                <a:lnTo>
                  <a:pt x="0" y="394982"/>
                </a:lnTo>
                <a:lnTo>
                  <a:pt x="15494" y="433832"/>
                </a:lnTo>
                <a:lnTo>
                  <a:pt x="45961" y="456018"/>
                </a:lnTo>
                <a:lnTo>
                  <a:pt x="87261" y="461949"/>
                </a:lnTo>
                <a:lnTo>
                  <a:pt x="135280" y="451993"/>
                </a:lnTo>
                <a:lnTo>
                  <a:pt x="169646" y="432257"/>
                </a:lnTo>
                <a:lnTo>
                  <a:pt x="193497" y="401713"/>
                </a:lnTo>
                <a:lnTo>
                  <a:pt x="208838" y="362953"/>
                </a:lnTo>
                <a:lnTo>
                  <a:pt x="217690" y="318604"/>
                </a:lnTo>
                <a:lnTo>
                  <a:pt x="222046" y="271259"/>
                </a:lnTo>
                <a:lnTo>
                  <a:pt x="223964" y="223520"/>
                </a:lnTo>
                <a:lnTo>
                  <a:pt x="224091" y="219811"/>
                </a:lnTo>
                <a:lnTo>
                  <a:pt x="260578" y="183388"/>
                </a:lnTo>
                <a:lnTo>
                  <a:pt x="297522" y="219735"/>
                </a:lnTo>
                <a:lnTo>
                  <a:pt x="297548" y="223520"/>
                </a:lnTo>
                <a:lnTo>
                  <a:pt x="299440" y="271259"/>
                </a:lnTo>
                <a:lnTo>
                  <a:pt x="303809" y="318604"/>
                </a:lnTo>
                <a:lnTo>
                  <a:pt x="312635" y="362953"/>
                </a:lnTo>
                <a:lnTo>
                  <a:pt x="327952" y="401713"/>
                </a:lnTo>
                <a:lnTo>
                  <a:pt x="351777" y="432257"/>
                </a:lnTo>
                <a:lnTo>
                  <a:pt x="386105" y="451993"/>
                </a:lnTo>
                <a:lnTo>
                  <a:pt x="434035" y="461949"/>
                </a:lnTo>
                <a:lnTo>
                  <a:pt x="475284" y="456018"/>
                </a:lnTo>
                <a:lnTo>
                  <a:pt x="505701" y="433832"/>
                </a:lnTo>
                <a:lnTo>
                  <a:pt x="521182" y="394982"/>
                </a:lnTo>
                <a:close/>
              </a:path>
            </a:pathLst>
          </a:custGeom>
          <a:solidFill>
            <a:schemeClr val="bg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420" name="Group 419">
            <a:extLst>
              <a:ext uri="{FF2B5EF4-FFF2-40B4-BE49-F238E27FC236}">
                <a16:creationId xmlns:a16="http://schemas.microsoft.com/office/drawing/2014/main" id="{C511556A-C7D6-C5D8-9BA0-2823577F6E6B}"/>
              </a:ext>
            </a:extLst>
          </p:cNvPr>
          <p:cNvGrpSpPr>
            <a:grpSpLocks noChangeAspect="1"/>
          </p:cNvGrpSpPr>
          <p:nvPr/>
        </p:nvGrpSpPr>
        <p:grpSpPr>
          <a:xfrm>
            <a:off x="496964" y="3860250"/>
            <a:ext cx="284941" cy="284941"/>
            <a:chOff x="-7246711" y="257175"/>
            <a:chExt cx="4972050" cy="4972050"/>
          </a:xfrm>
          <a:solidFill>
            <a:schemeClr val="bg1"/>
          </a:solidFill>
        </p:grpSpPr>
        <p:sp>
          <p:nvSpPr>
            <p:cNvPr id="392" name="Freeform: Shape 391">
              <a:extLst>
                <a:ext uri="{FF2B5EF4-FFF2-40B4-BE49-F238E27FC236}">
                  <a16:creationId xmlns:a16="http://schemas.microsoft.com/office/drawing/2014/main" id="{9B46D8C1-B6A2-77DC-F1F8-72330FB51516}"/>
                </a:ext>
              </a:extLst>
            </p:cNvPr>
            <p:cNvSpPr/>
            <p:nvPr/>
          </p:nvSpPr>
          <p:spPr>
            <a:xfrm>
              <a:off x="-5189311" y="1457325"/>
              <a:ext cx="857250" cy="171450"/>
            </a:xfrm>
            <a:custGeom>
              <a:avLst/>
              <a:gdLst>
                <a:gd name="connsiteX0" fmla="*/ 857250 w 857250"/>
                <a:gd name="connsiteY0" fmla="*/ 0 h 171450"/>
                <a:gd name="connsiteX1" fmla="*/ 85725 w 857250"/>
                <a:gd name="connsiteY1" fmla="*/ 0 h 171450"/>
                <a:gd name="connsiteX2" fmla="*/ 0 w 857250"/>
                <a:gd name="connsiteY2" fmla="*/ 85725 h 171450"/>
                <a:gd name="connsiteX3" fmla="*/ 85725 w 857250"/>
                <a:gd name="connsiteY3" fmla="*/ 171450 h 171450"/>
                <a:gd name="connsiteX4" fmla="*/ 857250 w 857250"/>
                <a:gd name="connsiteY4" fmla="*/ 17145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0" h="171450">
                  <a:moveTo>
                    <a:pt x="857250" y="0"/>
                  </a:moveTo>
                  <a:lnTo>
                    <a:pt x="85725" y="0"/>
                  </a:lnTo>
                  <a:cubicBezTo>
                    <a:pt x="38503" y="0"/>
                    <a:pt x="0" y="38503"/>
                    <a:pt x="0" y="85725"/>
                  </a:cubicBezTo>
                  <a:cubicBezTo>
                    <a:pt x="0" y="132947"/>
                    <a:pt x="38503" y="171450"/>
                    <a:pt x="85725" y="171450"/>
                  </a:cubicBezTo>
                  <a:lnTo>
                    <a:pt x="857250" y="17145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3" name="Freeform: Shape 392">
              <a:extLst>
                <a:ext uri="{FF2B5EF4-FFF2-40B4-BE49-F238E27FC236}">
                  <a16:creationId xmlns:a16="http://schemas.microsoft.com/office/drawing/2014/main" id="{5C5C5594-B19E-9BD5-4165-8E4D8087C0B1}"/>
                </a:ext>
              </a:extLst>
            </p:cNvPr>
            <p:cNvSpPr/>
            <p:nvPr/>
          </p:nvSpPr>
          <p:spPr>
            <a:xfrm>
              <a:off x="-5017861" y="2143125"/>
              <a:ext cx="685800" cy="171450"/>
            </a:xfrm>
            <a:custGeom>
              <a:avLst/>
              <a:gdLst>
                <a:gd name="connsiteX0" fmla="*/ 685800 w 685800"/>
                <a:gd name="connsiteY0" fmla="*/ 0 h 171450"/>
                <a:gd name="connsiteX1" fmla="*/ 85725 w 685800"/>
                <a:gd name="connsiteY1" fmla="*/ 0 h 171450"/>
                <a:gd name="connsiteX2" fmla="*/ 0 w 685800"/>
                <a:gd name="connsiteY2" fmla="*/ 85725 h 171450"/>
                <a:gd name="connsiteX3" fmla="*/ 85725 w 685800"/>
                <a:gd name="connsiteY3" fmla="*/ 171450 h 171450"/>
                <a:gd name="connsiteX4" fmla="*/ 685800 w 685800"/>
                <a:gd name="connsiteY4" fmla="*/ 17145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 h="171450">
                  <a:moveTo>
                    <a:pt x="685800" y="0"/>
                  </a:moveTo>
                  <a:lnTo>
                    <a:pt x="85725" y="0"/>
                  </a:lnTo>
                  <a:cubicBezTo>
                    <a:pt x="38503" y="0"/>
                    <a:pt x="0" y="38503"/>
                    <a:pt x="0" y="85725"/>
                  </a:cubicBezTo>
                  <a:cubicBezTo>
                    <a:pt x="0" y="132947"/>
                    <a:pt x="38503" y="171450"/>
                    <a:pt x="85725" y="171450"/>
                  </a:cubicBezTo>
                  <a:lnTo>
                    <a:pt x="685800" y="17145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4" name="Freeform: Shape 393">
              <a:extLst>
                <a:ext uri="{FF2B5EF4-FFF2-40B4-BE49-F238E27FC236}">
                  <a16:creationId xmlns:a16="http://schemas.microsoft.com/office/drawing/2014/main" id="{937130BC-3FA8-E6D1-717A-77C1995901D3}"/>
                </a:ext>
              </a:extLst>
            </p:cNvPr>
            <p:cNvSpPr/>
            <p:nvPr/>
          </p:nvSpPr>
          <p:spPr>
            <a:xfrm>
              <a:off x="-5360761" y="771525"/>
              <a:ext cx="1028700" cy="171450"/>
            </a:xfrm>
            <a:custGeom>
              <a:avLst/>
              <a:gdLst>
                <a:gd name="connsiteX0" fmla="*/ 1028700 w 1028700"/>
                <a:gd name="connsiteY0" fmla="*/ 0 h 171450"/>
                <a:gd name="connsiteX1" fmla="*/ 85725 w 1028700"/>
                <a:gd name="connsiteY1" fmla="*/ 0 h 171450"/>
                <a:gd name="connsiteX2" fmla="*/ 0 w 1028700"/>
                <a:gd name="connsiteY2" fmla="*/ 85725 h 171450"/>
                <a:gd name="connsiteX3" fmla="*/ 85725 w 1028700"/>
                <a:gd name="connsiteY3" fmla="*/ 171450 h 171450"/>
                <a:gd name="connsiteX4" fmla="*/ 1028700 w 1028700"/>
                <a:gd name="connsiteY4" fmla="*/ 17145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700" h="171450">
                  <a:moveTo>
                    <a:pt x="1028700" y="0"/>
                  </a:moveTo>
                  <a:lnTo>
                    <a:pt x="85725" y="0"/>
                  </a:lnTo>
                  <a:cubicBezTo>
                    <a:pt x="38503" y="0"/>
                    <a:pt x="0" y="38500"/>
                    <a:pt x="0" y="85725"/>
                  </a:cubicBezTo>
                  <a:cubicBezTo>
                    <a:pt x="0" y="132950"/>
                    <a:pt x="38503" y="171450"/>
                    <a:pt x="85725" y="171450"/>
                  </a:cubicBezTo>
                  <a:lnTo>
                    <a:pt x="1028700" y="17145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5" name="Freeform: Shape 394">
              <a:extLst>
                <a:ext uri="{FF2B5EF4-FFF2-40B4-BE49-F238E27FC236}">
                  <a16:creationId xmlns:a16="http://schemas.microsoft.com/office/drawing/2014/main" id="{BE5F25CB-64F4-FF0D-7220-13C94452A3D3}"/>
                </a:ext>
              </a:extLst>
            </p:cNvPr>
            <p:cNvSpPr/>
            <p:nvPr/>
          </p:nvSpPr>
          <p:spPr>
            <a:xfrm>
              <a:off x="-6818086" y="600075"/>
              <a:ext cx="857250" cy="857250"/>
            </a:xfrm>
            <a:custGeom>
              <a:avLst/>
              <a:gdLst>
                <a:gd name="connsiteX0" fmla="*/ 857250 w 857250"/>
                <a:gd name="connsiteY0" fmla="*/ 428625 h 857250"/>
                <a:gd name="connsiteX1" fmla="*/ 428625 w 857250"/>
                <a:gd name="connsiteY1" fmla="*/ 857250 h 857250"/>
                <a:gd name="connsiteX2" fmla="*/ 0 w 857250"/>
                <a:gd name="connsiteY2" fmla="*/ 428625 h 857250"/>
                <a:gd name="connsiteX3" fmla="*/ 428625 w 857250"/>
                <a:gd name="connsiteY3" fmla="*/ 0 h 857250"/>
                <a:gd name="connsiteX4" fmla="*/ 857250 w 857250"/>
                <a:gd name="connsiteY4" fmla="*/ 428625 h 857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0" h="857250">
                  <a:moveTo>
                    <a:pt x="857250" y="428625"/>
                  </a:moveTo>
                  <a:cubicBezTo>
                    <a:pt x="857250" y="665363"/>
                    <a:pt x="665363" y="857250"/>
                    <a:pt x="428625" y="857250"/>
                  </a:cubicBezTo>
                  <a:cubicBezTo>
                    <a:pt x="191887" y="857250"/>
                    <a:pt x="0" y="665363"/>
                    <a:pt x="0" y="428625"/>
                  </a:cubicBezTo>
                  <a:cubicBezTo>
                    <a:pt x="0" y="191887"/>
                    <a:pt x="191887" y="0"/>
                    <a:pt x="428625" y="0"/>
                  </a:cubicBezTo>
                  <a:cubicBezTo>
                    <a:pt x="665363" y="0"/>
                    <a:pt x="857250" y="191887"/>
                    <a:pt x="857250" y="428625"/>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6" name="Freeform: Shape 395">
              <a:extLst>
                <a:ext uri="{FF2B5EF4-FFF2-40B4-BE49-F238E27FC236}">
                  <a16:creationId xmlns:a16="http://schemas.microsoft.com/office/drawing/2014/main" id="{C56FEF4C-F979-3B88-550A-8EF659CE37B5}"/>
                </a:ext>
              </a:extLst>
            </p:cNvPr>
            <p:cNvSpPr/>
            <p:nvPr/>
          </p:nvSpPr>
          <p:spPr>
            <a:xfrm>
              <a:off x="-4846411" y="2828925"/>
              <a:ext cx="514350" cy="171450"/>
            </a:xfrm>
            <a:custGeom>
              <a:avLst/>
              <a:gdLst>
                <a:gd name="connsiteX0" fmla="*/ 514350 w 514350"/>
                <a:gd name="connsiteY0" fmla="*/ 0 h 171450"/>
                <a:gd name="connsiteX1" fmla="*/ 85725 w 514350"/>
                <a:gd name="connsiteY1" fmla="*/ 0 h 171450"/>
                <a:gd name="connsiteX2" fmla="*/ 0 w 514350"/>
                <a:gd name="connsiteY2" fmla="*/ 85725 h 171450"/>
                <a:gd name="connsiteX3" fmla="*/ 85725 w 514350"/>
                <a:gd name="connsiteY3" fmla="*/ 171450 h 171450"/>
                <a:gd name="connsiteX4" fmla="*/ 514350 w 514350"/>
                <a:gd name="connsiteY4" fmla="*/ 17145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0" h="171450">
                  <a:moveTo>
                    <a:pt x="514350" y="0"/>
                  </a:moveTo>
                  <a:lnTo>
                    <a:pt x="85725" y="0"/>
                  </a:lnTo>
                  <a:cubicBezTo>
                    <a:pt x="38503" y="0"/>
                    <a:pt x="0" y="38503"/>
                    <a:pt x="0" y="85725"/>
                  </a:cubicBezTo>
                  <a:cubicBezTo>
                    <a:pt x="0" y="132947"/>
                    <a:pt x="38503" y="171450"/>
                    <a:pt x="85725" y="171450"/>
                  </a:cubicBezTo>
                  <a:lnTo>
                    <a:pt x="514350" y="17145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7" name="Freeform: Shape 396">
              <a:extLst>
                <a:ext uri="{FF2B5EF4-FFF2-40B4-BE49-F238E27FC236}">
                  <a16:creationId xmlns:a16="http://schemas.microsoft.com/office/drawing/2014/main" id="{A52D9E50-67AB-13FC-D3F1-1532A982A83E}"/>
                </a:ext>
              </a:extLst>
            </p:cNvPr>
            <p:cNvSpPr/>
            <p:nvPr/>
          </p:nvSpPr>
          <p:spPr>
            <a:xfrm>
              <a:off x="-3817711" y="771525"/>
              <a:ext cx="1028700" cy="171450"/>
            </a:xfrm>
            <a:custGeom>
              <a:avLst/>
              <a:gdLst>
                <a:gd name="connsiteX0" fmla="*/ 1028700 w 1028700"/>
                <a:gd name="connsiteY0" fmla="*/ 85725 h 171450"/>
                <a:gd name="connsiteX1" fmla="*/ 942975 w 1028700"/>
                <a:gd name="connsiteY1" fmla="*/ 0 h 171450"/>
                <a:gd name="connsiteX2" fmla="*/ 0 w 1028700"/>
                <a:gd name="connsiteY2" fmla="*/ 0 h 171450"/>
                <a:gd name="connsiteX3" fmla="*/ 0 w 1028700"/>
                <a:gd name="connsiteY3" fmla="*/ 171450 h 171450"/>
                <a:gd name="connsiteX4" fmla="*/ 942975 w 1028700"/>
                <a:gd name="connsiteY4" fmla="*/ 171450 h 171450"/>
                <a:gd name="connsiteX5" fmla="*/ 1028700 w 1028700"/>
                <a:gd name="connsiteY5" fmla="*/ 8572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28700" h="171450">
                  <a:moveTo>
                    <a:pt x="1028700" y="85725"/>
                  </a:moveTo>
                  <a:cubicBezTo>
                    <a:pt x="1028700" y="38500"/>
                    <a:pt x="990197" y="0"/>
                    <a:pt x="942975" y="0"/>
                  </a:cubicBezTo>
                  <a:lnTo>
                    <a:pt x="0" y="0"/>
                  </a:lnTo>
                  <a:lnTo>
                    <a:pt x="0" y="171450"/>
                  </a:lnTo>
                  <a:lnTo>
                    <a:pt x="942975" y="171450"/>
                  </a:lnTo>
                  <a:cubicBezTo>
                    <a:pt x="990197" y="171450"/>
                    <a:pt x="1028700" y="132950"/>
                    <a:pt x="1028700" y="85725"/>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8" name="Freeform: Shape 397">
              <a:extLst>
                <a:ext uri="{FF2B5EF4-FFF2-40B4-BE49-F238E27FC236}">
                  <a16:creationId xmlns:a16="http://schemas.microsoft.com/office/drawing/2014/main" id="{FB51D494-1201-E0BD-5E47-D87D278A9261}"/>
                </a:ext>
              </a:extLst>
            </p:cNvPr>
            <p:cNvSpPr/>
            <p:nvPr/>
          </p:nvSpPr>
          <p:spPr>
            <a:xfrm>
              <a:off x="-7246711" y="1628775"/>
              <a:ext cx="1714500" cy="3600450"/>
            </a:xfrm>
            <a:custGeom>
              <a:avLst/>
              <a:gdLst>
                <a:gd name="connsiteX0" fmla="*/ 1457325 w 1714500"/>
                <a:gd name="connsiteY0" fmla="*/ 1714500 h 3600450"/>
                <a:gd name="connsiteX1" fmla="*/ 1714500 w 1714500"/>
                <a:gd name="connsiteY1" fmla="*/ 1457325 h 3600450"/>
                <a:gd name="connsiteX2" fmla="*/ 1714500 w 1714500"/>
                <a:gd name="connsiteY2" fmla="*/ 857250 h 3600450"/>
                <a:gd name="connsiteX3" fmla="*/ 857250 w 1714500"/>
                <a:gd name="connsiteY3" fmla="*/ 0 h 3600450"/>
                <a:gd name="connsiteX4" fmla="*/ 0 w 1714500"/>
                <a:gd name="connsiteY4" fmla="*/ 857250 h 3600450"/>
                <a:gd name="connsiteX5" fmla="*/ 0 w 1714500"/>
                <a:gd name="connsiteY5" fmla="*/ 1457325 h 3600450"/>
                <a:gd name="connsiteX6" fmla="*/ 257175 w 1714500"/>
                <a:gd name="connsiteY6" fmla="*/ 1714500 h 3600450"/>
                <a:gd name="connsiteX7" fmla="*/ 257175 w 1714500"/>
                <a:gd name="connsiteY7" fmla="*/ 600075 h 3600450"/>
                <a:gd name="connsiteX8" fmla="*/ 428625 w 1714500"/>
                <a:gd name="connsiteY8" fmla="*/ 600075 h 3600450"/>
                <a:gd name="connsiteX9" fmla="*/ 428625 w 1714500"/>
                <a:gd name="connsiteY9" fmla="*/ 3429000 h 3600450"/>
                <a:gd name="connsiteX10" fmla="*/ 600075 w 1714500"/>
                <a:gd name="connsiteY10" fmla="*/ 3600450 h 3600450"/>
                <a:gd name="connsiteX11" fmla="*/ 771525 w 1714500"/>
                <a:gd name="connsiteY11" fmla="*/ 3429000 h 3600450"/>
                <a:gd name="connsiteX12" fmla="*/ 771525 w 1714500"/>
                <a:gd name="connsiteY12" fmla="*/ 1285875 h 3600450"/>
                <a:gd name="connsiteX13" fmla="*/ 942975 w 1714500"/>
                <a:gd name="connsiteY13" fmla="*/ 1285875 h 3600450"/>
                <a:gd name="connsiteX14" fmla="*/ 942975 w 1714500"/>
                <a:gd name="connsiteY14" fmla="*/ 3429000 h 3600450"/>
                <a:gd name="connsiteX15" fmla="*/ 1114425 w 1714500"/>
                <a:gd name="connsiteY15" fmla="*/ 3600450 h 3600450"/>
                <a:gd name="connsiteX16" fmla="*/ 1285875 w 1714500"/>
                <a:gd name="connsiteY16" fmla="*/ 3429000 h 3600450"/>
                <a:gd name="connsiteX17" fmla="*/ 1285875 w 1714500"/>
                <a:gd name="connsiteY17" fmla="*/ 600075 h 3600450"/>
                <a:gd name="connsiteX18" fmla="*/ 1457325 w 1714500"/>
                <a:gd name="connsiteY18" fmla="*/ 600075 h 3600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714500" h="3600450">
                  <a:moveTo>
                    <a:pt x="1457325" y="1714500"/>
                  </a:moveTo>
                  <a:cubicBezTo>
                    <a:pt x="1599119" y="1714500"/>
                    <a:pt x="1714500" y="1599119"/>
                    <a:pt x="1714500" y="1457325"/>
                  </a:cubicBezTo>
                  <a:lnTo>
                    <a:pt x="1714500" y="857250"/>
                  </a:lnTo>
                  <a:cubicBezTo>
                    <a:pt x="1714500" y="384577"/>
                    <a:pt x="1329923" y="0"/>
                    <a:pt x="857250" y="0"/>
                  </a:cubicBezTo>
                  <a:cubicBezTo>
                    <a:pt x="384577" y="0"/>
                    <a:pt x="0" y="384577"/>
                    <a:pt x="0" y="857250"/>
                  </a:cubicBezTo>
                  <a:lnTo>
                    <a:pt x="0" y="1457325"/>
                  </a:lnTo>
                  <a:cubicBezTo>
                    <a:pt x="0" y="1599119"/>
                    <a:pt x="115381" y="1714500"/>
                    <a:pt x="257175" y="1714500"/>
                  </a:cubicBezTo>
                  <a:lnTo>
                    <a:pt x="257175" y="600075"/>
                  </a:lnTo>
                  <a:lnTo>
                    <a:pt x="428625" y="600075"/>
                  </a:lnTo>
                  <a:lnTo>
                    <a:pt x="428625" y="3429000"/>
                  </a:lnTo>
                  <a:cubicBezTo>
                    <a:pt x="428625" y="3523562"/>
                    <a:pt x="505513" y="3600450"/>
                    <a:pt x="600075" y="3600450"/>
                  </a:cubicBezTo>
                  <a:cubicBezTo>
                    <a:pt x="694637" y="3600450"/>
                    <a:pt x="771525" y="3523562"/>
                    <a:pt x="771525" y="3429000"/>
                  </a:cubicBezTo>
                  <a:lnTo>
                    <a:pt x="771525" y="1285875"/>
                  </a:lnTo>
                  <a:lnTo>
                    <a:pt x="942975" y="1285875"/>
                  </a:lnTo>
                  <a:lnTo>
                    <a:pt x="942975" y="3429000"/>
                  </a:lnTo>
                  <a:cubicBezTo>
                    <a:pt x="942975" y="3523562"/>
                    <a:pt x="1019863" y="3600450"/>
                    <a:pt x="1114425" y="3600450"/>
                  </a:cubicBezTo>
                  <a:cubicBezTo>
                    <a:pt x="1208987" y="3600450"/>
                    <a:pt x="1285875" y="3523562"/>
                    <a:pt x="1285875" y="3429000"/>
                  </a:cubicBezTo>
                  <a:lnTo>
                    <a:pt x="1285875" y="600075"/>
                  </a:lnTo>
                  <a:lnTo>
                    <a:pt x="1457325" y="60007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9" name="Freeform: Shape 398">
              <a:extLst>
                <a:ext uri="{FF2B5EF4-FFF2-40B4-BE49-F238E27FC236}">
                  <a16:creationId xmlns:a16="http://schemas.microsoft.com/office/drawing/2014/main" id="{45C8C0B6-E3A4-1E0D-64F0-8F6470AD28DA}"/>
                </a:ext>
              </a:extLst>
            </p:cNvPr>
            <p:cNvSpPr/>
            <p:nvPr/>
          </p:nvSpPr>
          <p:spPr>
            <a:xfrm>
              <a:off x="-6043729" y="257175"/>
              <a:ext cx="3769068" cy="4457700"/>
            </a:xfrm>
            <a:custGeom>
              <a:avLst/>
              <a:gdLst>
                <a:gd name="connsiteX0" fmla="*/ 168619 w 3769068"/>
                <a:gd name="connsiteY0" fmla="*/ 0 h 4457700"/>
                <a:gd name="connsiteX1" fmla="*/ 168619 w 3769068"/>
                <a:gd name="connsiteY1" fmla="*/ 464022 h 4457700"/>
                <a:gd name="connsiteX2" fmla="*/ 254344 w 3769068"/>
                <a:gd name="connsiteY2" fmla="*/ 771525 h 4457700"/>
                <a:gd name="connsiteX3" fmla="*/ 0 w 3769068"/>
                <a:gd name="connsiteY3" fmla="*/ 1261186 h 4457700"/>
                <a:gd name="connsiteX4" fmla="*/ 682969 w 3769068"/>
                <a:gd name="connsiteY4" fmla="*/ 2228850 h 4457700"/>
                <a:gd name="connsiteX5" fmla="*/ 682969 w 3769068"/>
                <a:gd name="connsiteY5" fmla="*/ 2828925 h 4457700"/>
                <a:gd name="connsiteX6" fmla="*/ 254344 w 3769068"/>
                <a:gd name="connsiteY6" fmla="*/ 3257550 h 4457700"/>
                <a:gd name="connsiteX7" fmla="*/ 254344 w 3769068"/>
                <a:gd name="connsiteY7" fmla="*/ 4457700 h 4457700"/>
                <a:gd name="connsiteX8" fmla="*/ 3769069 w 3769068"/>
                <a:gd name="connsiteY8" fmla="*/ 4457700 h 4457700"/>
                <a:gd name="connsiteX9" fmla="*/ 3769069 w 3769068"/>
                <a:gd name="connsiteY9" fmla="*/ 0 h 4457700"/>
                <a:gd name="connsiteX10" fmla="*/ 2997544 w 3769068"/>
                <a:gd name="connsiteY10" fmla="*/ 1028700 h 4457700"/>
                <a:gd name="connsiteX11" fmla="*/ 3254719 w 3769068"/>
                <a:gd name="connsiteY11" fmla="*/ 1285875 h 4457700"/>
                <a:gd name="connsiteX12" fmla="*/ 2997544 w 3769068"/>
                <a:gd name="connsiteY12" fmla="*/ 1543050 h 4457700"/>
                <a:gd name="connsiteX13" fmla="*/ 2226019 w 3769068"/>
                <a:gd name="connsiteY13" fmla="*/ 1543050 h 4457700"/>
                <a:gd name="connsiteX14" fmla="*/ 2226019 w 3769068"/>
                <a:gd name="connsiteY14" fmla="*/ 1714500 h 4457700"/>
                <a:gd name="connsiteX15" fmla="*/ 2826094 w 3769068"/>
                <a:gd name="connsiteY15" fmla="*/ 1714500 h 4457700"/>
                <a:gd name="connsiteX16" fmla="*/ 3083269 w 3769068"/>
                <a:gd name="connsiteY16" fmla="*/ 1971675 h 4457700"/>
                <a:gd name="connsiteX17" fmla="*/ 2826094 w 3769068"/>
                <a:gd name="connsiteY17" fmla="*/ 2228850 h 4457700"/>
                <a:gd name="connsiteX18" fmla="*/ 2226019 w 3769068"/>
                <a:gd name="connsiteY18" fmla="*/ 2228850 h 4457700"/>
                <a:gd name="connsiteX19" fmla="*/ 2226019 w 3769068"/>
                <a:gd name="connsiteY19" fmla="*/ 2400300 h 4457700"/>
                <a:gd name="connsiteX20" fmla="*/ 2654644 w 3769068"/>
                <a:gd name="connsiteY20" fmla="*/ 2400300 h 4457700"/>
                <a:gd name="connsiteX21" fmla="*/ 2911819 w 3769068"/>
                <a:gd name="connsiteY21" fmla="*/ 2657475 h 4457700"/>
                <a:gd name="connsiteX22" fmla="*/ 2654644 w 3769068"/>
                <a:gd name="connsiteY22" fmla="*/ 2914650 h 4457700"/>
                <a:gd name="connsiteX23" fmla="*/ 2226019 w 3769068"/>
                <a:gd name="connsiteY23" fmla="*/ 2914650 h 4457700"/>
                <a:gd name="connsiteX24" fmla="*/ 2226019 w 3769068"/>
                <a:gd name="connsiteY24" fmla="*/ 3343275 h 4457700"/>
                <a:gd name="connsiteX25" fmla="*/ 2740369 w 3769068"/>
                <a:gd name="connsiteY25" fmla="*/ 3171825 h 4457700"/>
                <a:gd name="connsiteX26" fmla="*/ 2826094 w 3769068"/>
                <a:gd name="connsiteY26" fmla="*/ 3171825 h 4457700"/>
                <a:gd name="connsiteX27" fmla="*/ 3426169 w 3769068"/>
                <a:gd name="connsiteY27" fmla="*/ 3771900 h 4457700"/>
                <a:gd name="connsiteX28" fmla="*/ 2826094 w 3769068"/>
                <a:gd name="connsiteY28" fmla="*/ 4371975 h 4457700"/>
                <a:gd name="connsiteX29" fmla="*/ 2740369 w 3769068"/>
                <a:gd name="connsiteY29" fmla="*/ 4371975 h 4457700"/>
                <a:gd name="connsiteX30" fmla="*/ 2226019 w 3769068"/>
                <a:gd name="connsiteY30" fmla="*/ 4200525 h 4457700"/>
                <a:gd name="connsiteX31" fmla="*/ 1711669 w 3769068"/>
                <a:gd name="connsiteY31" fmla="*/ 4200525 h 4457700"/>
                <a:gd name="connsiteX32" fmla="*/ 1197319 w 3769068"/>
                <a:gd name="connsiteY32" fmla="*/ 4371975 h 4457700"/>
                <a:gd name="connsiteX33" fmla="*/ 1111594 w 3769068"/>
                <a:gd name="connsiteY33" fmla="*/ 4371975 h 4457700"/>
                <a:gd name="connsiteX34" fmla="*/ 511519 w 3769068"/>
                <a:gd name="connsiteY34" fmla="*/ 3771900 h 4457700"/>
                <a:gd name="connsiteX35" fmla="*/ 1111594 w 3769068"/>
                <a:gd name="connsiteY35" fmla="*/ 3171825 h 4457700"/>
                <a:gd name="connsiteX36" fmla="*/ 1197319 w 3769068"/>
                <a:gd name="connsiteY36" fmla="*/ 3171825 h 4457700"/>
                <a:gd name="connsiteX37" fmla="*/ 1711669 w 3769068"/>
                <a:gd name="connsiteY37" fmla="*/ 3343275 h 4457700"/>
                <a:gd name="connsiteX38" fmla="*/ 1711669 w 3769068"/>
                <a:gd name="connsiteY38" fmla="*/ 2914650 h 4457700"/>
                <a:gd name="connsiteX39" fmla="*/ 1283044 w 3769068"/>
                <a:gd name="connsiteY39" fmla="*/ 2914650 h 4457700"/>
                <a:gd name="connsiteX40" fmla="*/ 1025869 w 3769068"/>
                <a:gd name="connsiteY40" fmla="*/ 2657475 h 4457700"/>
                <a:gd name="connsiteX41" fmla="*/ 1283044 w 3769068"/>
                <a:gd name="connsiteY41" fmla="*/ 2400300 h 4457700"/>
                <a:gd name="connsiteX42" fmla="*/ 1711669 w 3769068"/>
                <a:gd name="connsiteY42" fmla="*/ 2400300 h 4457700"/>
                <a:gd name="connsiteX43" fmla="*/ 1711669 w 3769068"/>
                <a:gd name="connsiteY43" fmla="*/ 2228850 h 4457700"/>
                <a:gd name="connsiteX44" fmla="*/ 1111594 w 3769068"/>
                <a:gd name="connsiteY44" fmla="*/ 2228850 h 4457700"/>
                <a:gd name="connsiteX45" fmla="*/ 854419 w 3769068"/>
                <a:gd name="connsiteY45" fmla="*/ 1971675 h 4457700"/>
                <a:gd name="connsiteX46" fmla="*/ 1111594 w 3769068"/>
                <a:gd name="connsiteY46" fmla="*/ 1714500 h 4457700"/>
                <a:gd name="connsiteX47" fmla="*/ 1711669 w 3769068"/>
                <a:gd name="connsiteY47" fmla="*/ 1714500 h 4457700"/>
                <a:gd name="connsiteX48" fmla="*/ 1711669 w 3769068"/>
                <a:gd name="connsiteY48" fmla="*/ 1543050 h 4457700"/>
                <a:gd name="connsiteX49" fmla="*/ 940144 w 3769068"/>
                <a:gd name="connsiteY49" fmla="*/ 1543050 h 4457700"/>
                <a:gd name="connsiteX50" fmla="*/ 682969 w 3769068"/>
                <a:gd name="connsiteY50" fmla="*/ 1285875 h 4457700"/>
                <a:gd name="connsiteX51" fmla="*/ 940144 w 3769068"/>
                <a:gd name="connsiteY51" fmla="*/ 1028700 h 4457700"/>
                <a:gd name="connsiteX52" fmla="*/ 1711669 w 3769068"/>
                <a:gd name="connsiteY52" fmla="*/ 1028700 h 4457700"/>
                <a:gd name="connsiteX53" fmla="*/ 1711669 w 3769068"/>
                <a:gd name="connsiteY53" fmla="*/ 857250 h 4457700"/>
                <a:gd name="connsiteX54" fmla="*/ 768694 w 3769068"/>
                <a:gd name="connsiteY54" fmla="*/ 857250 h 4457700"/>
                <a:gd name="connsiteX55" fmla="*/ 511519 w 3769068"/>
                <a:gd name="connsiteY55" fmla="*/ 600075 h 4457700"/>
                <a:gd name="connsiteX56" fmla="*/ 768694 w 3769068"/>
                <a:gd name="connsiteY56" fmla="*/ 342900 h 4457700"/>
                <a:gd name="connsiteX57" fmla="*/ 1711669 w 3769068"/>
                <a:gd name="connsiteY57" fmla="*/ 342900 h 4457700"/>
                <a:gd name="connsiteX58" fmla="*/ 1711669 w 3769068"/>
                <a:gd name="connsiteY58" fmla="*/ 171450 h 4457700"/>
                <a:gd name="connsiteX59" fmla="*/ 1883119 w 3769068"/>
                <a:gd name="connsiteY59" fmla="*/ 171450 h 4457700"/>
                <a:gd name="connsiteX60" fmla="*/ 1883119 w 3769068"/>
                <a:gd name="connsiteY60" fmla="*/ 3416950 h 4457700"/>
                <a:gd name="connsiteX61" fmla="*/ 2054569 w 3769068"/>
                <a:gd name="connsiteY61" fmla="*/ 3416950 h 4457700"/>
                <a:gd name="connsiteX62" fmla="*/ 2054569 w 3769068"/>
                <a:gd name="connsiteY62" fmla="*/ 171450 h 4457700"/>
                <a:gd name="connsiteX63" fmla="*/ 2226019 w 3769068"/>
                <a:gd name="connsiteY63" fmla="*/ 171450 h 4457700"/>
                <a:gd name="connsiteX64" fmla="*/ 2226019 w 3769068"/>
                <a:gd name="connsiteY64" fmla="*/ 342900 h 4457700"/>
                <a:gd name="connsiteX65" fmla="*/ 3168994 w 3769068"/>
                <a:gd name="connsiteY65" fmla="*/ 342900 h 4457700"/>
                <a:gd name="connsiteX66" fmla="*/ 3426169 w 3769068"/>
                <a:gd name="connsiteY66" fmla="*/ 600075 h 4457700"/>
                <a:gd name="connsiteX67" fmla="*/ 3168994 w 3769068"/>
                <a:gd name="connsiteY67" fmla="*/ 857250 h 4457700"/>
                <a:gd name="connsiteX68" fmla="*/ 2226019 w 3769068"/>
                <a:gd name="connsiteY68" fmla="*/ 857250 h 4457700"/>
                <a:gd name="connsiteX69" fmla="*/ 2226019 w 3769068"/>
                <a:gd name="connsiteY69" fmla="*/ 1028700 h 4457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769068" h="4457700">
                  <a:moveTo>
                    <a:pt x="168619" y="0"/>
                  </a:moveTo>
                  <a:lnTo>
                    <a:pt x="168619" y="464022"/>
                  </a:lnTo>
                  <a:cubicBezTo>
                    <a:pt x="222699" y="554110"/>
                    <a:pt x="254344" y="659044"/>
                    <a:pt x="254344" y="771525"/>
                  </a:cubicBezTo>
                  <a:cubicBezTo>
                    <a:pt x="254344" y="973670"/>
                    <a:pt x="153619" y="1152389"/>
                    <a:pt x="0" y="1261186"/>
                  </a:cubicBezTo>
                  <a:cubicBezTo>
                    <a:pt x="397431" y="1403666"/>
                    <a:pt x="682969" y="1783080"/>
                    <a:pt x="682969" y="2228850"/>
                  </a:cubicBezTo>
                  <a:lnTo>
                    <a:pt x="682969" y="2828925"/>
                  </a:lnTo>
                  <a:cubicBezTo>
                    <a:pt x="682969" y="3065281"/>
                    <a:pt x="490700" y="3257550"/>
                    <a:pt x="254344" y="3257550"/>
                  </a:cubicBezTo>
                  <a:lnTo>
                    <a:pt x="254344" y="4457700"/>
                  </a:lnTo>
                  <a:lnTo>
                    <a:pt x="3769069" y="4457700"/>
                  </a:lnTo>
                  <a:lnTo>
                    <a:pt x="3769069" y="0"/>
                  </a:lnTo>
                  <a:close/>
                  <a:moveTo>
                    <a:pt x="2997544" y="1028700"/>
                  </a:moveTo>
                  <a:cubicBezTo>
                    <a:pt x="3139338" y="1028700"/>
                    <a:pt x="3254719" y="1144081"/>
                    <a:pt x="3254719" y="1285875"/>
                  </a:cubicBezTo>
                  <a:cubicBezTo>
                    <a:pt x="3254719" y="1427669"/>
                    <a:pt x="3139338" y="1543050"/>
                    <a:pt x="2997544" y="1543050"/>
                  </a:cubicBezTo>
                  <a:lnTo>
                    <a:pt x="2226019" y="1543050"/>
                  </a:lnTo>
                  <a:lnTo>
                    <a:pt x="2226019" y="1714500"/>
                  </a:lnTo>
                  <a:lnTo>
                    <a:pt x="2826094" y="1714500"/>
                  </a:lnTo>
                  <a:cubicBezTo>
                    <a:pt x="2967888" y="1714500"/>
                    <a:pt x="3083269" y="1829881"/>
                    <a:pt x="3083269" y="1971675"/>
                  </a:cubicBezTo>
                  <a:cubicBezTo>
                    <a:pt x="3083269" y="2113469"/>
                    <a:pt x="2967888" y="2228850"/>
                    <a:pt x="2826094" y="2228850"/>
                  </a:cubicBezTo>
                  <a:lnTo>
                    <a:pt x="2226019" y="2228850"/>
                  </a:lnTo>
                  <a:lnTo>
                    <a:pt x="2226019" y="2400300"/>
                  </a:lnTo>
                  <a:lnTo>
                    <a:pt x="2654644" y="2400300"/>
                  </a:lnTo>
                  <a:cubicBezTo>
                    <a:pt x="2796438" y="2400300"/>
                    <a:pt x="2911819" y="2515681"/>
                    <a:pt x="2911819" y="2657475"/>
                  </a:cubicBezTo>
                  <a:cubicBezTo>
                    <a:pt x="2911819" y="2799269"/>
                    <a:pt x="2796438" y="2914650"/>
                    <a:pt x="2654644" y="2914650"/>
                  </a:cubicBezTo>
                  <a:lnTo>
                    <a:pt x="2226019" y="2914650"/>
                  </a:lnTo>
                  <a:lnTo>
                    <a:pt x="2226019" y="3343275"/>
                  </a:lnTo>
                  <a:cubicBezTo>
                    <a:pt x="2373475" y="3232675"/>
                    <a:pt x="2556134" y="3171825"/>
                    <a:pt x="2740369" y="3171825"/>
                  </a:cubicBezTo>
                  <a:lnTo>
                    <a:pt x="2826094" y="3171825"/>
                  </a:lnTo>
                  <a:cubicBezTo>
                    <a:pt x="3156973" y="3171825"/>
                    <a:pt x="3426169" y="3441021"/>
                    <a:pt x="3426169" y="3771900"/>
                  </a:cubicBezTo>
                  <a:cubicBezTo>
                    <a:pt x="3426169" y="4102779"/>
                    <a:pt x="3156973" y="4371975"/>
                    <a:pt x="2826094" y="4371975"/>
                  </a:cubicBezTo>
                  <a:lnTo>
                    <a:pt x="2740369" y="4371975"/>
                  </a:lnTo>
                  <a:cubicBezTo>
                    <a:pt x="2556134" y="4371975"/>
                    <a:pt x="2373475" y="4311125"/>
                    <a:pt x="2226019" y="4200525"/>
                  </a:cubicBezTo>
                  <a:cubicBezTo>
                    <a:pt x="2078640" y="4089847"/>
                    <a:pt x="1859047" y="4089847"/>
                    <a:pt x="1711669" y="4200525"/>
                  </a:cubicBezTo>
                  <a:cubicBezTo>
                    <a:pt x="1564212" y="4311125"/>
                    <a:pt x="1381554" y="4371975"/>
                    <a:pt x="1197319" y="4371975"/>
                  </a:cubicBezTo>
                  <a:lnTo>
                    <a:pt x="1111594" y="4371975"/>
                  </a:lnTo>
                  <a:cubicBezTo>
                    <a:pt x="780715" y="4371975"/>
                    <a:pt x="511519" y="4102779"/>
                    <a:pt x="511519" y="3771900"/>
                  </a:cubicBezTo>
                  <a:cubicBezTo>
                    <a:pt x="511519" y="3441021"/>
                    <a:pt x="780715" y="3171825"/>
                    <a:pt x="1111594" y="3171825"/>
                  </a:cubicBezTo>
                  <a:lnTo>
                    <a:pt x="1197319" y="3171825"/>
                  </a:lnTo>
                  <a:cubicBezTo>
                    <a:pt x="1381554" y="3171825"/>
                    <a:pt x="1564212" y="3232675"/>
                    <a:pt x="1711669" y="3343275"/>
                  </a:cubicBezTo>
                  <a:lnTo>
                    <a:pt x="1711669" y="2914650"/>
                  </a:lnTo>
                  <a:lnTo>
                    <a:pt x="1283044" y="2914650"/>
                  </a:lnTo>
                  <a:cubicBezTo>
                    <a:pt x="1141250" y="2914650"/>
                    <a:pt x="1025869" y="2799269"/>
                    <a:pt x="1025869" y="2657475"/>
                  </a:cubicBezTo>
                  <a:cubicBezTo>
                    <a:pt x="1025869" y="2515681"/>
                    <a:pt x="1141250" y="2400300"/>
                    <a:pt x="1283044" y="2400300"/>
                  </a:cubicBezTo>
                  <a:lnTo>
                    <a:pt x="1711669" y="2400300"/>
                  </a:lnTo>
                  <a:lnTo>
                    <a:pt x="1711669" y="2228850"/>
                  </a:lnTo>
                  <a:lnTo>
                    <a:pt x="1111594" y="2228850"/>
                  </a:lnTo>
                  <a:cubicBezTo>
                    <a:pt x="969800" y="2228850"/>
                    <a:pt x="854419" y="2113469"/>
                    <a:pt x="854419" y="1971675"/>
                  </a:cubicBezTo>
                  <a:cubicBezTo>
                    <a:pt x="854419" y="1829881"/>
                    <a:pt x="969800" y="1714500"/>
                    <a:pt x="1111594" y="1714500"/>
                  </a:cubicBezTo>
                  <a:lnTo>
                    <a:pt x="1711669" y="1714500"/>
                  </a:lnTo>
                  <a:lnTo>
                    <a:pt x="1711669" y="1543050"/>
                  </a:lnTo>
                  <a:lnTo>
                    <a:pt x="940144" y="1543050"/>
                  </a:lnTo>
                  <a:cubicBezTo>
                    <a:pt x="798350" y="1543050"/>
                    <a:pt x="682969" y="1427669"/>
                    <a:pt x="682969" y="1285875"/>
                  </a:cubicBezTo>
                  <a:cubicBezTo>
                    <a:pt x="682969" y="1144081"/>
                    <a:pt x="798350" y="1028700"/>
                    <a:pt x="940144" y="1028700"/>
                  </a:cubicBezTo>
                  <a:lnTo>
                    <a:pt x="1711669" y="1028700"/>
                  </a:lnTo>
                  <a:lnTo>
                    <a:pt x="1711669" y="857250"/>
                  </a:lnTo>
                  <a:lnTo>
                    <a:pt x="768694" y="857250"/>
                  </a:lnTo>
                  <a:cubicBezTo>
                    <a:pt x="626900" y="857250"/>
                    <a:pt x="511519" y="741869"/>
                    <a:pt x="511519" y="600075"/>
                  </a:cubicBezTo>
                  <a:cubicBezTo>
                    <a:pt x="511519" y="458281"/>
                    <a:pt x="626900" y="342900"/>
                    <a:pt x="768694" y="342900"/>
                  </a:cubicBezTo>
                  <a:lnTo>
                    <a:pt x="1711669" y="342900"/>
                  </a:lnTo>
                  <a:lnTo>
                    <a:pt x="1711669" y="171450"/>
                  </a:lnTo>
                  <a:lnTo>
                    <a:pt x="1883119" y="171450"/>
                  </a:lnTo>
                  <a:lnTo>
                    <a:pt x="1883119" y="3416950"/>
                  </a:lnTo>
                  <a:cubicBezTo>
                    <a:pt x="1939678" y="3427815"/>
                    <a:pt x="1998010" y="3427932"/>
                    <a:pt x="2054569" y="3416950"/>
                  </a:cubicBezTo>
                  <a:lnTo>
                    <a:pt x="2054569" y="171450"/>
                  </a:lnTo>
                  <a:lnTo>
                    <a:pt x="2226019" y="171450"/>
                  </a:lnTo>
                  <a:lnTo>
                    <a:pt x="2226019" y="342900"/>
                  </a:lnTo>
                  <a:lnTo>
                    <a:pt x="3168994" y="342900"/>
                  </a:lnTo>
                  <a:cubicBezTo>
                    <a:pt x="3310788" y="342900"/>
                    <a:pt x="3426169" y="458281"/>
                    <a:pt x="3426169" y="600075"/>
                  </a:cubicBezTo>
                  <a:cubicBezTo>
                    <a:pt x="3426169" y="741869"/>
                    <a:pt x="3310788" y="857250"/>
                    <a:pt x="3168994" y="857250"/>
                  </a:cubicBezTo>
                  <a:lnTo>
                    <a:pt x="2226019" y="857250"/>
                  </a:lnTo>
                  <a:lnTo>
                    <a:pt x="2226019" y="102870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0" name="Freeform: Shape 399">
              <a:extLst>
                <a:ext uri="{FF2B5EF4-FFF2-40B4-BE49-F238E27FC236}">
                  <a16:creationId xmlns:a16="http://schemas.microsoft.com/office/drawing/2014/main" id="{482FE835-12A4-C886-9504-B3EA1E80E649}"/>
                </a:ext>
              </a:extLst>
            </p:cNvPr>
            <p:cNvSpPr/>
            <p:nvPr/>
          </p:nvSpPr>
          <p:spPr>
            <a:xfrm>
              <a:off x="-3817711" y="1457325"/>
              <a:ext cx="857250" cy="171450"/>
            </a:xfrm>
            <a:custGeom>
              <a:avLst/>
              <a:gdLst>
                <a:gd name="connsiteX0" fmla="*/ 0 w 857250"/>
                <a:gd name="connsiteY0" fmla="*/ 171450 h 171450"/>
                <a:gd name="connsiteX1" fmla="*/ 771525 w 857250"/>
                <a:gd name="connsiteY1" fmla="*/ 171450 h 171450"/>
                <a:gd name="connsiteX2" fmla="*/ 857250 w 857250"/>
                <a:gd name="connsiteY2" fmla="*/ 85725 h 171450"/>
                <a:gd name="connsiteX3" fmla="*/ 771525 w 857250"/>
                <a:gd name="connsiteY3" fmla="*/ 0 h 171450"/>
                <a:gd name="connsiteX4" fmla="*/ 0 w 857250"/>
                <a:gd name="connsiteY4" fmla="*/ 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57250" h="171450">
                  <a:moveTo>
                    <a:pt x="0" y="171450"/>
                  </a:moveTo>
                  <a:lnTo>
                    <a:pt x="771525" y="171450"/>
                  </a:lnTo>
                  <a:cubicBezTo>
                    <a:pt x="818747" y="171450"/>
                    <a:pt x="857250" y="132947"/>
                    <a:pt x="857250" y="85725"/>
                  </a:cubicBezTo>
                  <a:cubicBezTo>
                    <a:pt x="857250" y="38503"/>
                    <a:pt x="818747" y="0"/>
                    <a:pt x="771525" y="0"/>
                  </a:cubicBez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1" name="Freeform: Shape 400">
              <a:extLst>
                <a:ext uri="{FF2B5EF4-FFF2-40B4-BE49-F238E27FC236}">
                  <a16:creationId xmlns:a16="http://schemas.microsoft.com/office/drawing/2014/main" id="{F31871D9-DCCD-C333-869F-94CCEBE43968}"/>
                </a:ext>
              </a:extLst>
            </p:cNvPr>
            <p:cNvSpPr/>
            <p:nvPr/>
          </p:nvSpPr>
          <p:spPr>
            <a:xfrm>
              <a:off x="-3817711" y="2828925"/>
              <a:ext cx="514350" cy="171450"/>
            </a:xfrm>
            <a:custGeom>
              <a:avLst/>
              <a:gdLst>
                <a:gd name="connsiteX0" fmla="*/ 0 w 514350"/>
                <a:gd name="connsiteY0" fmla="*/ 171450 h 171450"/>
                <a:gd name="connsiteX1" fmla="*/ 428625 w 514350"/>
                <a:gd name="connsiteY1" fmla="*/ 171450 h 171450"/>
                <a:gd name="connsiteX2" fmla="*/ 514350 w 514350"/>
                <a:gd name="connsiteY2" fmla="*/ 85725 h 171450"/>
                <a:gd name="connsiteX3" fmla="*/ 428625 w 514350"/>
                <a:gd name="connsiteY3" fmla="*/ 0 h 171450"/>
                <a:gd name="connsiteX4" fmla="*/ 0 w 514350"/>
                <a:gd name="connsiteY4" fmla="*/ 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4350" h="171450">
                  <a:moveTo>
                    <a:pt x="0" y="171450"/>
                  </a:moveTo>
                  <a:lnTo>
                    <a:pt x="428625" y="171450"/>
                  </a:lnTo>
                  <a:cubicBezTo>
                    <a:pt x="475847" y="171450"/>
                    <a:pt x="514350" y="132947"/>
                    <a:pt x="514350" y="85725"/>
                  </a:cubicBezTo>
                  <a:cubicBezTo>
                    <a:pt x="514350" y="38503"/>
                    <a:pt x="475847" y="0"/>
                    <a:pt x="428625" y="0"/>
                  </a:cubicBez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2" name="Freeform: Shape 401">
              <a:extLst>
                <a:ext uri="{FF2B5EF4-FFF2-40B4-BE49-F238E27FC236}">
                  <a16:creationId xmlns:a16="http://schemas.microsoft.com/office/drawing/2014/main" id="{838C0BF1-8FA8-F20F-9303-C048D8080C91}"/>
                </a:ext>
              </a:extLst>
            </p:cNvPr>
            <p:cNvSpPr/>
            <p:nvPr/>
          </p:nvSpPr>
          <p:spPr>
            <a:xfrm>
              <a:off x="-3817711" y="2143125"/>
              <a:ext cx="685800" cy="171450"/>
            </a:xfrm>
            <a:custGeom>
              <a:avLst/>
              <a:gdLst>
                <a:gd name="connsiteX0" fmla="*/ 0 w 685800"/>
                <a:gd name="connsiteY0" fmla="*/ 171450 h 171450"/>
                <a:gd name="connsiteX1" fmla="*/ 600075 w 685800"/>
                <a:gd name="connsiteY1" fmla="*/ 171450 h 171450"/>
                <a:gd name="connsiteX2" fmla="*/ 685800 w 685800"/>
                <a:gd name="connsiteY2" fmla="*/ 85725 h 171450"/>
                <a:gd name="connsiteX3" fmla="*/ 600075 w 685800"/>
                <a:gd name="connsiteY3" fmla="*/ 0 h 171450"/>
                <a:gd name="connsiteX4" fmla="*/ 0 w 685800"/>
                <a:gd name="connsiteY4" fmla="*/ 0 h 1714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5800" h="171450">
                  <a:moveTo>
                    <a:pt x="0" y="171450"/>
                  </a:moveTo>
                  <a:lnTo>
                    <a:pt x="600075" y="171450"/>
                  </a:lnTo>
                  <a:cubicBezTo>
                    <a:pt x="647297" y="171450"/>
                    <a:pt x="685800" y="132947"/>
                    <a:pt x="685800" y="85725"/>
                  </a:cubicBezTo>
                  <a:cubicBezTo>
                    <a:pt x="685800" y="38503"/>
                    <a:pt x="647297" y="0"/>
                    <a:pt x="600075" y="0"/>
                  </a:cubicBez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3" name="Freeform: Shape 402">
              <a:extLst>
                <a:ext uri="{FF2B5EF4-FFF2-40B4-BE49-F238E27FC236}">
                  <a16:creationId xmlns:a16="http://schemas.microsoft.com/office/drawing/2014/main" id="{70DA361D-6657-B7E1-EEAA-45AA91C4476F}"/>
                </a:ext>
              </a:extLst>
            </p:cNvPr>
            <p:cNvSpPr/>
            <p:nvPr/>
          </p:nvSpPr>
          <p:spPr>
            <a:xfrm>
              <a:off x="-5360761" y="3600450"/>
              <a:ext cx="2571750" cy="857250"/>
            </a:xfrm>
            <a:custGeom>
              <a:avLst/>
              <a:gdLst>
                <a:gd name="connsiteX0" fmla="*/ 925830 w 2571750"/>
                <a:gd name="connsiteY0" fmla="*/ 137160 h 857250"/>
                <a:gd name="connsiteX1" fmla="*/ 514350 w 2571750"/>
                <a:gd name="connsiteY1" fmla="*/ 0 h 857250"/>
                <a:gd name="connsiteX2" fmla="*/ 428625 w 2571750"/>
                <a:gd name="connsiteY2" fmla="*/ 0 h 857250"/>
                <a:gd name="connsiteX3" fmla="*/ 0 w 2571750"/>
                <a:gd name="connsiteY3" fmla="*/ 428625 h 857250"/>
                <a:gd name="connsiteX4" fmla="*/ 428625 w 2571750"/>
                <a:gd name="connsiteY4" fmla="*/ 857250 h 857250"/>
                <a:gd name="connsiteX5" fmla="*/ 514350 w 2571750"/>
                <a:gd name="connsiteY5" fmla="*/ 857250 h 857250"/>
                <a:gd name="connsiteX6" fmla="*/ 925830 w 2571750"/>
                <a:gd name="connsiteY6" fmla="*/ 720090 h 857250"/>
                <a:gd name="connsiteX7" fmla="*/ 1285875 w 2571750"/>
                <a:gd name="connsiteY7" fmla="*/ 600075 h 857250"/>
                <a:gd name="connsiteX8" fmla="*/ 1645920 w 2571750"/>
                <a:gd name="connsiteY8" fmla="*/ 720090 h 857250"/>
                <a:gd name="connsiteX9" fmla="*/ 2057400 w 2571750"/>
                <a:gd name="connsiteY9" fmla="*/ 857250 h 857250"/>
                <a:gd name="connsiteX10" fmla="*/ 2143125 w 2571750"/>
                <a:gd name="connsiteY10" fmla="*/ 857250 h 857250"/>
                <a:gd name="connsiteX11" fmla="*/ 2571750 w 2571750"/>
                <a:gd name="connsiteY11" fmla="*/ 428625 h 857250"/>
                <a:gd name="connsiteX12" fmla="*/ 2143125 w 2571750"/>
                <a:gd name="connsiteY12" fmla="*/ 0 h 857250"/>
                <a:gd name="connsiteX13" fmla="*/ 2057400 w 2571750"/>
                <a:gd name="connsiteY13" fmla="*/ 0 h 857250"/>
                <a:gd name="connsiteX14" fmla="*/ 1645920 w 2571750"/>
                <a:gd name="connsiteY14" fmla="*/ 137160 h 857250"/>
                <a:gd name="connsiteX15" fmla="*/ 925830 w 2571750"/>
                <a:gd name="connsiteY15" fmla="*/ 137160 h 857250"/>
                <a:gd name="connsiteX16" fmla="*/ 822960 w 2571750"/>
                <a:gd name="connsiteY16" fmla="*/ 583008 h 857250"/>
                <a:gd name="connsiteX17" fmla="*/ 514350 w 2571750"/>
                <a:gd name="connsiteY17" fmla="*/ 685800 h 857250"/>
                <a:gd name="connsiteX18" fmla="*/ 428625 w 2571750"/>
                <a:gd name="connsiteY18" fmla="*/ 685800 h 857250"/>
                <a:gd name="connsiteX19" fmla="*/ 171450 w 2571750"/>
                <a:gd name="connsiteY19" fmla="*/ 428625 h 857250"/>
                <a:gd name="connsiteX20" fmla="*/ 428625 w 2571750"/>
                <a:gd name="connsiteY20" fmla="*/ 171450 h 857250"/>
                <a:gd name="connsiteX21" fmla="*/ 514350 w 2571750"/>
                <a:gd name="connsiteY21" fmla="*/ 171450 h 857250"/>
                <a:gd name="connsiteX22" fmla="*/ 514350 w 2571750"/>
                <a:gd name="connsiteY22" fmla="*/ 342900 h 857250"/>
                <a:gd name="connsiteX23" fmla="*/ 428625 w 2571750"/>
                <a:gd name="connsiteY23" fmla="*/ 342900 h 857250"/>
                <a:gd name="connsiteX24" fmla="*/ 342900 w 2571750"/>
                <a:gd name="connsiteY24" fmla="*/ 428625 h 857250"/>
                <a:gd name="connsiteX25" fmla="*/ 428625 w 2571750"/>
                <a:gd name="connsiteY25" fmla="*/ 514350 h 857250"/>
                <a:gd name="connsiteX26" fmla="*/ 514350 w 2571750"/>
                <a:gd name="connsiteY26" fmla="*/ 514350 h 857250"/>
                <a:gd name="connsiteX27" fmla="*/ 720012 w 2571750"/>
                <a:gd name="connsiteY27" fmla="*/ 445848 h 857250"/>
                <a:gd name="connsiteX28" fmla="*/ 875424 w 2571750"/>
                <a:gd name="connsiteY28" fmla="*/ 351394 h 857250"/>
                <a:gd name="connsiteX29" fmla="*/ 949941 w 2571750"/>
                <a:gd name="connsiteY29" fmla="*/ 505856 h 857250"/>
                <a:gd name="connsiteX30" fmla="*/ 822960 w 2571750"/>
                <a:gd name="connsiteY30" fmla="*/ 583008 h 857250"/>
                <a:gd name="connsiteX31" fmla="*/ 2057400 w 2571750"/>
                <a:gd name="connsiteY31" fmla="*/ 171450 h 857250"/>
                <a:gd name="connsiteX32" fmla="*/ 2143125 w 2571750"/>
                <a:gd name="connsiteY32" fmla="*/ 171450 h 857250"/>
                <a:gd name="connsiteX33" fmla="*/ 2400300 w 2571750"/>
                <a:gd name="connsiteY33" fmla="*/ 428625 h 857250"/>
                <a:gd name="connsiteX34" fmla="*/ 2143125 w 2571750"/>
                <a:gd name="connsiteY34" fmla="*/ 685800 h 857250"/>
                <a:gd name="connsiteX35" fmla="*/ 2057400 w 2571750"/>
                <a:gd name="connsiteY35" fmla="*/ 685800 h 857250"/>
                <a:gd name="connsiteX36" fmla="*/ 2057400 w 2571750"/>
                <a:gd name="connsiteY36" fmla="*/ 514350 h 857250"/>
                <a:gd name="connsiteX37" fmla="*/ 2143125 w 2571750"/>
                <a:gd name="connsiteY37" fmla="*/ 514350 h 857250"/>
                <a:gd name="connsiteX38" fmla="*/ 2228850 w 2571750"/>
                <a:gd name="connsiteY38" fmla="*/ 428625 h 857250"/>
                <a:gd name="connsiteX39" fmla="*/ 2143125 w 2571750"/>
                <a:gd name="connsiteY39" fmla="*/ 342900 h 857250"/>
                <a:gd name="connsiteX40" fmla="*/ 2057400 w 2571750"/>
                <a:gd name="connsiteY40" fmla="*/ 342900 h 857250"/>
                <a:gd name="connsiteX41" fmla="*/ 1851738 w 2571750"/>
                <a:gd name="connsiteY41" fmla="*/ 411402 h 857250"/>
                <a:gd name="connsiteX42" fmla="*/ 1748868 w 2571750"/>
                <a:gd name="connsiteY42" fmla="*/ 274163 h 857250"/>
                <a:gd name="connsiteX43" fmla="*/ 2057400 w 2571750"/>
                <a:gd name="connsiteY43" fmla="*/ 17145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571750" h="857250">
                  <a:moveTo>
                    <a:pt x="925830" y="137160"/>
                  </a:moveTo>
                  <a:cubicBezTo>
                    <a:pt x="807882" y="48682"/>
                    <a:pt x="661728" y="0"/>
                    <a:pt x="514350" y="0"/>
                  </a:cubicBezTo>
                  <a:lnTo>
                    <a:pt x="428625" y="0"/>
                  </a:lnTo>
                  <a:cubicBezTo>
                    <a:pt x="192269" y="0"/>
                    <a:pt x="0" y="192269"/>
                    <a:pt x="0" y="428625"/>
                  </a:cubicBezTo>
                  <a:cubicBezTo>
                    <a:pt x="0" y="664981"/>
                    <a:pt x="192269" y="857250"/>
                    <a:pt x="428625" y="857250"/>
                  </a:cubicBezTo>
                  <a:lnTo>
                    <a:pt x="514350" y="857250"/>
                  </a:lnTo>
                  <a:cubicBezTo>
                    <a:pt x="661728" y="857250"/>
                    <a:pt x="807882" y="808568"/>
                    <a:pt x="925830" y="720090"/>
                  </a:cubicBezTo>
                  <a:cubicBezTo>
                    <a:pt x="1029043" y="642673"/>
                    <a:pt x="1156866" y="600075"/>
                    <a:pt x="1285875" y="600075"/>
                  </a:cubicBezTo>
                  <a:cubicBezTo>
                    <a:pt x="1414884" y="600075"/>
                    <a:pt x="1542785" y="642673"/>
                    <a:pt x="1645920" y="720090"/>
                  </a:cubicBezTo>
                  <a:cubicBezTo>
                    <a:pt x="1763790" y="808460"/>
                    <a:pt x="1910022" y="857250"/>
                    <a:pt x="2057400" y="857250"/>
                  </a:cubicBezTo>
                  <a:lnTo>
                    <a:pt x="2143125" y="857250"/>
                  </a:lnTo>
                  <a:cubicBezTo>
                    <a:pt x="2379481" y="857250"/>
                    <a:pt x="2571750" y="664981"/>
                    <a:pt x="2571750" y="428625"/>
                  </a:cubicBezTo>
                  <a:cubicBezTo>
                    <a:pt x="2571750" y="192269"/>
                    <a:pt x="2379481" y="0"/>
                    <a:pt x="2143125" y="0"/>
                  </a:cubicBezTo>
                  <a:lnTo>
                    <a:pt x="2057400" y="0"/>
                  </a:lnTo>
                  <a:cubicBezTo>
                    <a:pt x="1910022" y="0"/>
                    <a:pt x="1763868" y="48682"/>
                    <a:pt x="1645920" y="137160"/>
                  </a:cubicBezTo>
                  <a:cubicBezTo>
                    <a:pt x="1439573" y="291965"/>
                    <a:pt x="1132178" y="291965"/>
                    <a:pt x="925830" y="137160"/>
                  </a:cubicBezTo>
                  <a:close/>
                  <a:moveTo>
                    <a:pt x="822960" y="583008"/>
                  </a:moveTo>
                  <a:cubicBezTo>
                    <a:pt x="734482" y="649296"/>
                    <a:pt x="624950" y="685800"/>
                    <a:pt x="514350" y="685800"/>
                  </a:cubicBezTo>
                  <a:lnTo>
                    <a:pt x="428625" y="685800"/>
                  </a:lnTo>
                  <a:cubicBezTo>
                    <a:pt x="286831" y="685800"/>
                    <a:pt x="171450" y="570419"/>
                    <a:pt x="171450" y="428625"/>
                  </a:cubicBezTo>
                  <a:cubicBezTo>
                    <a:pt x="171450" y="286831"/>
                    <a:pt x="286831" y="171450"/>
                    <a:pt x="428625" y="171450"/>
                  </a:cubicBezTo>
                  <a:lnTo>
                    <a:pt x="514350" y="171450"/>
                  </a:lnTo>
                  <a:lnTo>
                    <a:pt x="514350" y="342900"/>
                  </a:lnTo>
                  <a:lnTo>
                    <a:pt x="428625" y="342900"/>
                  </a:lnTo>
                  <a:cubicBezTo>
                    <a:pt x="381403" y="342900"/>
                    <a:pt x="342900" y="381403"/>
                    <a:pt x="342900" y="428625"/>
                  </a:cubicBezTo>
                  <a:cubicBezTo>
                    <a:pt x="342900" y="475847"/>
                    <a:pt x="381403" y="514350"/>
                    <a:pt x="428625" y="514350"/>
                  </a:cubicBezTo>
                  <a:lnTo>
                    <a:pt x="514350" y="514350"/>
                  </a:lnTo>
                  <a:cubicBezTo>
                    <a:pt x="588054" y="514350"/>
                    <a:pt x="661111" y="490014"/>
                    <a:pt x="720012" y="445848"/>
                  </a:cubicBezTo>
                  <a:cubicBezTo>
                    <a:pt x="768116" y="409756"/>
                    <a:pt x="820393" y="377954"/>
                    <a:pt x="875424" y="351394"/>
                  </a:cubicBezTo>
                  <a:lnTo>
                    <a:pt x="949941" y="505856"/>
                  </a:lnTo>
                  <a:cubicBezTo>
                    <a:pt x="904894" y="527557"/>
                    <a:pt x="862217" y="553539"/>
                    <a:pt x="822960" y="583008"/>
                  </a:cubicBezTo>
                  <a:close/>
                  <a:moveTo>
                    <a:pt x="2057400" y="171450"/>
                  </a:moveTo>
                  <a:lnTo>
                    <a:pt x="2143125" y="171450"/>
                  </a:lnTo>
                  <a:cubicBezTo>
                    <a:pt x="2284919" y="171450"/>
                    <a:pt x="2400300" y="286831"/>
                    <a:pt x="2400300" y="428625"/>
                  </a:cubicBezTo>
                  <a:cubicBezTo>
                    <a:pt x="2400300" y="570419"/>
                    <a:pt x="2284919" y="685800"/>
                    <a:pt x="2143125" y="685800"/>
                  </a:cubicBezTo>
                  <a:lnTo>
                    <a:pt x="2057400" y="685800"/>
                  </a:lnTo>
                  <a:lnTo>
                    <a:pt x="2057400" y="514350"/>
                  </a:lnTo>
                  <a:lnTo>
                    <a:pt x="2143125" y="514350"/>
                  </a:lnTo>
                  <a:cubicBezTo>
                    <a:pt x="2190347" y="514350"/>
                    <a:pt x="2228850" y="475847"/>
                    <a:pt x="2228850" y="428625"/>
                  </a:cubicBezTo>
                  <a:cubicBezTo>
                    <a:pt x="2228850" y="381403"/>
                    <a:pt x="2190347" y="342900"/>
                    <a:pt x="2143125" y="342900"/>
                  </a:cubicBezTo>
                  <a:lnTo>
                    <a:pt x="2057400" y="342900"/>
                  </a:lnTo>
                  <a:cubicBezTo>
                    <a:pt x="1983696" y="342900"/>
                    <a:pt x="1910639" y="367236"/>
                    <a:pt x="1851738" y="411402"/>
                  </a:cubicBezTo>
                  <a:lnTo>
                    <a:pt x="1748868" y="274163"/>
                  </a:lnTo>
                  <a:cubicBezTo>
                    <a:pt x="1837268" y="207954"/>
                    <a:pt x="1946800" y="171450"/>
                    <a:pt x="2057400" y="171450"/>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424" name="Freeform: Shape 423">
            <a:extLst>
              <a:ext uri="{FF2B5EF4-FFF2-40B4-BE49-F238E27FC236}">
                <a16:creationId xmlns:a16="http://schemas.microsoft.com/office/drawing/2014/main" id="{E15DED3A-8113-D1A1-FAEB-5C1C3D5851A6}"/>
              </a:ext>
            </a:extLst>
          </p:cNvPr>
          <p:cNvSpPr>
            <a:spLocks noChangeAspect="1"/>
          </p:cNvSpPr>
          <p:nvPr/>
        </p:nvSpPr>
        <p:spPr>
          <a:xfrm>
            <a:off x="468736" y="4461877"/>
            <a:ext cx="341396" cy="256315"/>
          </a:xfrm>
          <a:custGeom>
            <a:avLst/>
            <a:gdLst>
              <a:gd name="connsiteX0" fmla="*/ 1018184 w 4937745"/>
              <a:gd name="connsiteY0" fmla="*/ 2507225 h 3707208"/>
              <a:gd name="connsiteX1" fmla="*/ 892810 w 4937745"/>
              <a:gd name="connsiteY1" fmla="*/ 2492029 h 3707208"/>
              <a:gd name="connsiteX2" fmla="*/ 706821 w 4937745"/>
              <a:gd name="connsiteY2" fmla="*/ 2360650 h 3707208"/>
              <a:gd name="connsiteX3" fmla="*/ 638584 w 4937745"/>
              <a:gd name="connsiteY3" fmla="*/ 2370986 h 3707208"/>
              <a:gd name="connsiteX4" fmla="*/ 549420 w 4937745"/>
              <a:gd name="connsiteY4" fmla="*/ 2355790 h 3707208"/>
              <a:gd name="connsiteX5" fmla="*/ 399475 w 4937745"/>
              <a:gd name="connsiteY5" fmla="*/ 2259661 h 3707208"/>
              <a:gd name="connsiteX6" fmla="*/ 320745 w 4937745"/>
              <a:gd name="connsiteY6" fmla="*/ 2099771 h 3707208"/>
              <a:gd name="connsiteX7" fmla="*/ 318110 w 4937745"/>
              <a:gd name="connsiteY7" fmla="*/ 1963033 h 3707208"/>
              <a:gd name="connsiteX8" fmla="*/ 237783 w 4937745"/>
              <a:gd name="connsiteY8" fmla="*/ 1936198 h 3707208"/>
              <a:gd name="connsiteX9" fmla="*/ 204218 w 4937745"/>
              <a:gd name="connsiteY9" fmla="*/ 1903329 h 3707208"/>
              <a:gd name="connsiteX10" fmla="*/ 201191 w 4937745"/>
              <a:gd name="connsiteY10" fmla="*/ 2049708 h 3707208"/>
              <a:gd name="connsiteX11" fmla="*/ 217532 w 4937745"/>
              <a:gd name="connsiteY11" fmla="*/ 2224989 h 3707208"/>
              <a:gd name="connsiteX12" fmla="*/ 257867 w 4937745"/>
              <a:gd name="connsiteY12" fmla="*/ 2293148 h 3707208"/>
              <a:gd name="connsiteX13" fmla="*/ 326682 w 4937745"/>
              <a:gd name="connsiteY13" fmla="*/ 2344622 h 3707208"/>
              <a:gd name="connsiteX14" fmla="*/ 469505 w 4937745"/>
              <a:gd name="connsiteY14" fmla="*/ 2469496 h 3707208"/>
              <a:gd name="connsiteX15" fmla="*/ 762773 w 4937745"/>
              <a:gd name="connsiteY15" fmla="*/ 2655221 h 3707208"/>
              <a:gd name="connsiteX16" fmla="*/ 941649 w 4937745"/>
              <a:gd name="connsiteY16" fmla="*/ 2658659 h 3707208"/>
              <a:gd name="connsiteX17" fmla="*/ 1105104 w 4937745"/>
              <a:gd name="connsiteY17" fmla="*/ 2604971 h 3707208"/>
              <a:gd name="connsiteX18" fmla="*/ 1118154 w 4937745"/>
              <a:gd name="connsiteY18" fmla="*/ 2478833 h 3707208"/>
              <a:gd name="connsiteX19" fmla="*/ 1080612 w 4937745"/>
              <a:gd name="connsiteY19" fmla="*/ 2498231 h 3707208"/>
              <a:gd name="connsiteX20" fmla="*/ 1018194 w 4937745"/>
              <a:gd name="connsiteY20" fmla="*/ 2507225 h 3707208"/>
              <a:gd name="connsiteX21" fmla="*/ 2876898 w 4937745"/>
              <a:gd name="connsiteY21" fmla="*/ 1495768 h 3707208"/>
              <a:gd name="connsiteX22" fmla="*/ 2681416 w 4937745"/>
              <a:gd name="connsiteY22" fmla="*/ 1422103 h 3707208"/>
              <a:gd name="connsiteX23" fmla="*/ 2587618 w 4937745"/>
              <a:gd name="connsiteY23" fmla="*/ 1304792 h 3707208"/>
              <a:gd name="connsiteX24" fmla="*/ 2554739 w 4937745"/>
              <a:gd name="connsiteY24" fmla="*/ 1462624 h 3707208"/>
              <a:gd name="connsiteX25" fmla="*/ 2416158 w 4937745"/>
              <a:gd name="connsiteY25" fmla="*/ 1597109 h 3707208"/>
              <a:gd name="connsiteX26" fmla="*/ 2284201 w 4937745"/>
              <a:gd name="connsiteY26" fmla="*/ 1628333 h 3707208"/>
              <a:gd name="connsiteX27" fmla="*/ 2247775 w 4937745"/>
              <a:gd name="connsiteY27" fmla="*/ 1692239 h 3707208"/>
              <a:gd name="connsiteX28" fmla="*/ 2492399 w 4937745"/>
              <a:gd name="connsiteY28" fmla="*/ 1637934 h 3707208"/>
              <a:gd name="connsiteX29" fmla="*/ 2876898 w 4937745"/>
              <a:gd name="connsiteY29" fmla="*/ 1495758 h 3707208"/>
              <a:gd name="connsiteX30" fmla="*/ 2450527 w 4937745"/>
              <a:gd name="connsiteY30" fmla="*/ 216457 h 3707208"/>
              <a:gd name="connsiteX31" fmla="*/ 2310114 w 4937745"/>
              <a:gd name="connsiteY31" fmla="*/ 207120 h 3707208"/>
              <a:gd name="connsiteX32" fmla="*/ 2182104 w 4937745"/>
              <a:gd name="connsiteY32" fmla="*/ 242331 h 3707208"/>
              <a:gd name="connsiteX33" fmla="*/ 2127299 w 4937745"/>
              <a:gd name="connsiteY33" fmla="*/ 334600 h 3707208"/>
              <a:gd name="connsiteX34" fmla="*/ 2264038 w 4937745"/>
              <a:gd name="connsiteY34" fmla="*/ 552587 h 3707208"/>
              <a:gd name="connsiteX35" fmla="*/ 2376058 w 4937745"/>
              <a:gd name="connsiteY35" fmla="*/ 650784 h 3707208"/>
              <a:gd name="connsiteX36" fmla="*/ 2433117 w 4937745"/>
              <a:gd name="connsiteY36" fmla="*/ 710674 h 3707208"/>
              <a:gd name="connsiteX37" fmla="*/ 2457189 w 4937745"/>
              <a:gd name="connsiteY37" fmla="*/ 462189 h 3707208"/>
              <a:gd name="connsiteX38" fmla="*/ 2554700 w 4937745"/>
              <a:gd name="connsiteY38" fmla="*/ 263297 h 3707208"/>
              <a:gd name="connsiteX39" fmla="*/ 2450527 w 4937745"/>
              <a:gd name="connsiteY39" fmla="*/ 216457 h 3707208"/>
              <a:gd name="connsiteX40" fmla="*/ 4653218 w 4937745"/>
              <a:gd name="connsiteY40" fmla="*/ 1406320 h 3707208"/>
              <a:gd name="connsiteX41" fmla="*/ 4215943 w 4937745"/>
              <a:gd name="connsiteY41" fmla="*/ 809997 h 3707208"/>
              <a:gd name="connsiteX42" fmla="*/ 3944267 w 4937745"/>
              <a:gd name="connsiteY42" fmla="*/ 531739 h 3707208"/>
              <a:gd name="connsiteX43" fmla="*/ 3506952 w 4937745"/>
              <a:gd name="connsiteY43" fmla="*/ 306483 h 3707208"/>
              <a:gd name="connsiteX44" fmla="*/ 3096237 w 4937745"/>
              <a:gd name="connsiteY44" fmla="*/ 140852 h 3707208"/>
              <a:gd name="connsiteX45" fmla="*/ 2214954 w 4937745"/>
              <a:gd name="connsiteY45" fmla="*/ 134229 h 3707208"/>
              <a:gd name="connsiteX46" fmla="*/ 1346986 w 4937745"/>
              <a:gd name="connsiteY46" fmla="*/ 425773 h 3707208"/>
              <a:gd name="connsiteX47" fmla="*/ 664596 w 4937745"/>
              <a:gd name="connsiteY47" fmla="*/ 876324 h 3707208"/>
              <a:gd name="connsiteX48" fmla="*/ 301494 w 4937745"/>
              <a:gd name="connsiteY48" fmla="*/ 1459371 h 3707208"/>
              <a:gd name="connsiteX49" fmla="*/ 147796 w 4937745"/>
              <a:gd name="connsiteY49" fmla="*/ 1611805 h 3707208"/>
              <a:gd name="connsiteX50" fmla="*/ 94872 w 4937745"/>
              <a:gd name="connsiteY50" fmla="*/ 2029183 h 3707208"/>
              <a:gd name="connsiteX51" fmla="*/ 373130 w 4937745"/>
              <a:gd name="connsiteY51" fmla="*/ 2546061 h 3707208"/>
              <a:gd name="connsiteX52" fmla="*/ 1108759 w 4937745"/>
              <a:gd name="connsiteY52" fmla="*/ 2718392 h 3707208"/>
              <a:gd name="connsiteX53" fmla="*/ 1685223 w 4937745"/>
              <a:gd name="connsiteY53" fmla="*/ 3255011 h 3707208"/>
              <a:gd name="connsiteX54" fmla="*/ 2810131 w 4937745"/>
              <a:gd name="connsiteY54" fmla="*/ 2909466 h 3707208"/>
              <a:gd name="connsiteX55" fmla="*/ 2842236 w 4937745"/>
              <a:gd name="connsiteY55" fmla="*/ 2959412 h 3707208"/>
              <a:gd name="connsiteX56" fmla="*/ 3547787 w 4937745"/>
              <a:gd name="connsiteY56" fmla="*/ 3664963 h 3707208"/>
              <a:gd name="connsiteX57" fmla="*/ 3649736 w 4937745"/>
              <a:gd name="connsiteY57" fmla="*/ 3707208 h 3707208"/>
              <a:gd name="connsiteX58" fmla="*/ 3751607 w 4937745"/>
              <a:gd name="connsiteY58" fmla="*/ 3664963 h 3707208"/>
              <a:gd name="connsiteX59" fmla="*/ 3751607 w 4937745"/>
              <a:gd name="connsiteY59" fmla="*/ 3461133 h 3707208"/>
              <a:gd name="connsiteX60" fmla="*/ 3448924 w 4937745"/>
              <a:gd name="connsiteY60" fmla="*/ 3158490 h 3707208"/>
              <a:gd name="connsiteX61" fmla="*/ 4494377 w 4937745"/>
              <a:gd name="connsiteY61" fmla="*/ 2492931 h 3707208"/>
              <a:gd name="connsiteX62" fmla="*/ 4792465 w 4937745"/>
              <a:gd name="connsiteY62" fmla="*/ 2174827 h 3707208"/>
              <a:gd name="connsiteX63" fmla="*/ 4653199 w 4937745"/>
              <a:gd name="connsiteY63" fmla="*/ 1406330 h 3707208"/>
              <a:gd name="connsiteX64" fmla="*/ 3956014 w 4937745"/>
              <a:gd name="connsiteY64" fmla="*/ 1004029 h 3707208"/>
              <a:gd name="connsiteX65" fmla="*/ 4012808 w 4937745"/>
              <a:gd name="connsiteY65" fmla="*/ 977734 h 3707208"/>
              <a:gd name="connsiteX66" fmla="*/ 4162901 w 4937745"/>
              <a:gd name="connsiteY66" fmla="*/ 1032657 h 3707208"/>
              <a:gd name="connsiteX67" fmla="*/ 4025133 w 4937745"/>
              <a:gd name="connsiteY67" fmla="*/ 1048695 h 3707208"/>
              <a:gd name="connsiteX68" fmla="*/ 3956328 w 4937745"/>
              <a:gd name="connsiteY68" fmla="*/ 1072110 h 3707208"/>
              <a:gd name="connsiteX69" fmla="*/ 3854212 w 4937745"/>
              <a:gd name="connsiteY69" fmla="*/ 1496336 h 3707208"/>
              <a:gd name="connsiteX70" fmla="*/ 3593569 w 4937745"/>
              <a:gd name="connsiteY70" fmla="*/ 1848347 h 3707208"/>
              <a:gd name="connsiteX71" fmla="*/ 3681391 w 4937745"/>
              <a:gd name="connsiteY71" fmla="*/ 1894120 h 3707208"/>
              <a:gd name="connsiteX72" fmla="*/ 3732297 w 4937745"/>
              <a:gd name="connsiteY72" fmla="*/ 2085967 h 3707208"/>
              <a:gd name="connsiteX73" fmla="*/ 3631415 w 4937745"/>
              <a:gd name="connsiteY73" fmla="*/ 1946015 h 3707208"/>
              <a:gd name="connsiteX74" fmla="*/ 3568684 w 4937745"/>
              <a:gd name="connsiteY74" fmla="*/ 1899096 h 3707208"/>
              <a:gd name="connsiteX75" fmla="*/ 3544505 w 4937745"/>
              <a:gd name="connsiteY75" fmla="*/ 1887193 h 3707208"/>
              <a:gd name="connsiteX76" fmla="*/ 3079983 w 4937745"/>
              <a:gd name="connsiteY76" fmla="*/ 1966648 h 3707208"/>
              <a:gd name="connsiteX77" fmla="*/ 2936994 w 4937745"/>
              <a:gd name="connsiteY77" fmla="*/ 2100555 h 3707208"/>
              <a:gd name="connsiteX78" fmla="*/ 2718214 w 4937745"/>
              <a:gd name="connsiteY78" fmla="*/ 2133425 h 3707208"/>
              <a:gd name="connsiteX79" fmla="*/ 2574000 w 4937745"/>
              <a:gd name="connsiteY79" fmla="*/ 1973114 h 3707208"/>
              <a:gd name="connsiteX80" fmla="*/ 2632362 w 4937745"/>
              <a:gd name="connsiteY80" fmla="*/ 1777367 h 3707208"/>
              <a:gd name="connsiteX81" fmla="*/ 2595172 w 4937745"/>
              <a:gd name="connsiteY81" fmla="*/ 1966765 h 3707208"/>
              <a:gd name="connsiteX82" fmla="*/ 2730039 w 4937745"/>
              <a:gd name="connsiteY82" fmla="*/ 2095970 h 3707208"/>
              <a:gd name="connsiteX83" fmla="*/ 2909376 w 4937745"/>
              <a:gd name="connsiteY83" fmla="*/ 2057624 h 3707208"/>
              <a:gd name="connsiteX84" fmla="*/ 3044625 w 4937745"/>
              <a:gd name="connsiteY84" fmla="*/ 1913841 h 3707208"/>
              <a:gd name="connsiteX85" fmla="*/ 3057940 w 4937745"/>
              <a:gd name="connsiteY85" fmla="*/ 1894894 h 3707208"/>
              <a:gd name="connsiteX86" fmla="*/ 3080444 w 4937745"/>
              <a:gd name="connsiteY86" fmla="*/ 1902898 h 3707208"/>
              <a:gd name="connsiteX87" fmla="*/ 3508765 w 4937745"/>
              <a:gd name="connsiteY87" fmla="*/ 1827087 h 3707208"/>
              <a:gd name="connsiteX88" fmla="*/ 3795635 w 4937745"/>
              <a:gd name="connsiteY88" fmla="*/ 1468610 h 3707208"/>
              <a:gd name="connsiteX89" fmla="*/ 3912936 w 4937745"/>
              <a:gd name="connsiteY89" fmla="*/ 1017941 h 3707208"/>
              <a:gd name="connsiteX90" fmla="*/ 3863372 w 4937745"/>
              <a:gd name="connsiteY90" fmla="*/ 792225 h 3707208"/>
              <a:gd name="connsiteX91" fmla="*/ 3705736 w 4937745"/>
              <a:gd name="connsiteY91" fmla="*/ 617904 h 3707208"/>
              <a:gd name="connsiteX92" fmla="*/ 3886445 w 4937745"/>
              <a:gd name="connsiteY92" fmla="*/ 779361 h 3707208"/>
              <a:gd name="connsiteX93" fmla="*/ 3956024 w 4937745"/>
              <a:gd name="connsiteY93" fmla="*/ 1004049 h 3707208"/>
              <a:gd name="connsiteX94" fmla="*/ 2576381 w 4937745"/>
              <a:gd name="connsiteY94" fmla="*/ 2067607 h 3707208"/>
              <a:gd name="connsiteX95" fmla="*/ 2436928 w 4937745"/>
              <a:gd name="connsiteY95" fmla="*/ 2270173 h 3707208"/>
              <a:gd name="connsiteX96" fmla="*/ 2187679 w 4937745"/>
              <a:gd name="connsiteY96" fmla="*/ 2336461 h 3707208"/>
              <a:gd name="connsiteX97" fmla="*/ 1965901 w 4937745"/>
              <a:gd name="connsiteY97" fmla="*/ 2212967 h 3707208"/>
              <a:gd name="connsiteX98" fmla="*/ 1830652 w 4937745"/>
              <a:gd name="connsiteY98" fmla="*/ 2009255 h 3707208"/>
              <a:gd name="connsiteX99" fmla="*/ 2002366 w 4937745"/>
              <a:gd name="connsiteY99" fmla="*/ 2170448 h 3707208"/>
              <a:gd name="connsiteX100" fmla="*/ 2200533 w 4937745"/>
              <a:gd name="connsiteY100" fmla="*/ 2265588 h 3707208"/>
              <a:gd name="connsiteX101" fmla="*/ 2404127 w 4937745"/>
              <a:gd name="connsiteY101" fmla="*/ 2224371 h 3707208"/>
              <a:gd name="connsiteX102" fmla="*/ 2576381 w 4937745"/>
              <a:gd name="connsiteY102" fmla="*/ 2067617 h 3707208"/>
              <a:gd name="connsiteX103" fmla="*/ 2888929 w 4937745"/>
              <a:gd name="connsiteY103" fmla="*/ 428545 h 3707208"/>
              <a:gd name="connsiteX104" fmla="*/ 2824562 w 4937745"/>
              <a:gd name="connsiteY104" fmla="*/ 333102 h 3707208"/>
              <a:gd name="connsiteX105" fmla="*/ 2912383 w 4937745"/>
              <a:gd name="connsiteY105" fmla="*/ 423225 h 3707208"/>
              <a:gd name="connsiteX106" fmla="*/ 2923562 w 4937745"/>
              <a:gd name="connsiteY106" fmla="*/ 556369 h 3707208"/>
              <a:gd name="connsiteX107" fmla="*/ 2902900 w 4937745"/>
              <a:gd name="connsiteY107" fmla="*/ 668957 h 3707208"/>
              <a:gd name="connsiteX108" fmla="*/ 3010825 w 4937745"/>
              <a:gd name="connsiteY108" fmla="*/ 599731 h 3707208"/>
              <a:gd name="connsiteX109" fmla="*/ 3288858 w 4937745"/>
              <a:gd name="connsiteY109" fmla="*/ 567498 h 3707208"/>
              <a:gd name="connsiteX110" fmla="*/ 3508647 w 4937745"/>
              <a:gd name="connsiteY110" fmla="*/ 735441 h 3707208"/>
              <a:gd name="connsiteX111" fmla="*/ 3566509 w 4937745"/>
              <a:gd name="connsiteY111" fmla="*/ 995663 h 3707208"/>
              <a:gd name="connsiteX112" fmla="*/ 3472976 w 4937745"/>
              <a:gd name="connsiteY112" fmla="*/ 758542 h 3707208"/>
              <a:gd name="connsiteX113" fmla="*/ 3274701 w 4937745"/>
              <a:gd name="connsiteY113" fmla="*/ 631033 h 3707208"/>
              <a:gd name="connsiteX114" fmla="*/ 3041255 w 4937745"/>
              <a:gd name="connsiteY114" fmla="*/ 664931 h 3707208"/>
              <a:gd name="connsiteX115" fmla="*/ 2849986 w 4937745"/>
              <a:gd name="connsiteY115" fmla="*/ 816747 h 3707208"/>
              <a:gd name="connsiteX116" fmla="*/ 2683473 w 4937745"/>
              <a:gd name="connsiteY116" fmla="*/ 1014914 h 3707208"/>
              <a:gd name="connsiteX117" fmla="*/ 2795494 w 4937745"/>
              <a:gd name="connsiteY117" fmla="*/ 783378 h 3707208"/>
              <a:gd name="connsiteX118" fmla="*/ 2882404 w 4937745"/>
              <a:gd name="connsiteY118" fmla="*/ 550696 h 3707208"/>
              <a:gd name="connsiteX119" fmla="*/ 2888949 w 4937745"/>
              <a:gd name="connsiteY119" fmla="*/ 428536 h 3707208"/>
              <a:gd name="connsiteX120" fmla="*/ 452184 w 4937745"/>
              <a:gd name="connsiteY120" fmla="*/ 1408260 h 3707208"/>
              <a:gd name="connsiteX121" fmla="*/ 436910 w 4937745"/>
              <a:gd name="connsiteY121" fmla="*/ 1223985 h 3707208"/>
              <a:gd name="connsiteX122" fmla="*/ 515640 w 4937745"/>
              <a:gd name="connsiteY122" fmla="*/ 1042699 h 3707208"/>
              <a:gd name="connsiteX123" fmla="*/ 830030 w 4937745"/>
              <a:gd name="connsiteY123" fmla="*/ 887365 h 3707208"/>
              <a:gd name="connsiteX124" fmla="*/ 846058 w 4937745"/>
              <a:gd name="connsiteY124" fmla="*/ 723488 h 3707208"/>
              <a:gd name="connsiteX125" fmla="*/ 985364 w 4937745"/>
              <a:gd name="connsiteY125" fmla="*/ 573925 h 3707208"/>
              <a:gd name="connsiteX126" fmla="*/ 1165543 w 4937745"/>
              <a:gd name="connsiteY126" fmla="*/ 508294 h 3707208"/>
              <a:gd name="connsiteX127" fmla="*/ 1330644 w 4937745"/>
              <a:gd name="connsiteY127" fmla="*/ 452989 h 3707208"/>
              <a:gd name="connsiteX128" fmla="*/ 1353148 w 4937745"/>
              <a:gd name="connsiteY128" fmla="*/ 438293 h 3707208"/>
              <a:gd name="connsiteX129" fmla="*/ 1365816 w 4937745"/>
              <a:gd name="connsiteY129" fmla="*/ 458191 h 3707208"/>
              <a:gd name="connsiteX130" fmla="*/ 1445800 w 4937745"/>
              <a:gd name="connsiteY130" fmla="*/ 507638 h 3707208"/>
              <a:gd name="connsiteX131" fmla="*/ 1552187 w 4937745"/>
              <a:gd name="connsiteY131" fmla="*/ 500525 h 3707208"/>
              <a:gd name="connsiteX132" fmla="*/ 1744652 w 4937745"/>
              <a:gd name="connsiteY132" fmla="*/ 386016 h 3707208"/>
              <a:gd name="connsiteX133" fmla="*/ 1615986 w 4937745"/>
              <a:gd name="connsiteY133" fmla="*/ 661061 h 3707208"/>
              <a:gd name="connsiteX134" fmla="*/ 1588544 w 4937745"/>
              <a:gd name="connsiteY134" fmla="*/ 954515 h 3707208"/>
              <a:gd name="connsiteX135" fmla="*/ 1649326 w 4937745"/>
              <a:gd name="connsiteY135" fmla="*/ 1245901 h 3707208"/>
              <a:gd name="connsiteX136" fmla="*/ 1699076 w 4937745"/>
              <a:gd name="connsiteY136" fmla="*/ 1393280 h 3707208"/>
              <a:gd name="connsiteX137" fmla="*/ 1704778 w 4937745"/>
              <a:gd name="connsiteY137" fmla="*/ 1550073 h 3707208"/>
              <a:gd name="connsiteX138" fmla="*/ 1666197 w 4937745"/>
              <a:gd name="connsiteY138" fmla="*/ 1405683 h 3707208"/>
              <a:gd name="connsiteX139" fmla="*/ 1597391 w 4937745"/>
              <a:gd name="connsiteY139" fmla="*/ 1267102 h 3707208"/>
              <a:gd name="connsiteX140" fmla="*/ 1540979 w 4937745"/>
              <a:gd name="connsiteY140" fmla="*/ 1118196 h 3707208"/>
              <a:gd name="connsiteX141" fmla="*/ 1529076 w 4937745"/>
              <a:gd name="connsiteY141" fmla="*/ 1059452 h 3707208"/>
              <a:gd name="connsiteX142" fmla="*/ 1254599 w 4937745"/>
              <a:gd name="connsiteY142" fmla="*/ 1068064 h 3707208"/>
              <a:gd name="connsiteX143" fmla="*/ 1037573 w 4937745"/>
              <a:gd name="connsiteY143" fmla="*/ 1241120 h 3707208"/>
              <a:gd name="connsiteX144" fmla="*/ 906458 w 4937745"/>
              <a:gd name="connsiteY144" fmla="*/ 1528833 h 3707208"/>
              <a:gd name="connsiteX145" fmla="*/ 794133 w 4937745"/>
              <a:gd name="connsiteY145" fmla="*/ 1652718 h 3707208"/>
              <a:gd name="connsiteX146" fmla="*/ 638104 w 4937745"/>
              <a:gd name="connsiteY146" fmla="*/ 1697912 h 3707208"/>
              <a:gd name="connsiteX147" fmla="*/ 856855 w 4937745"/>
              <a:gd name="connsiteY147" fmla="*/ 1502694 h 3707208"/>
              <a:gd name="connsiteX148" fmla="*/ 974156 w 4937745"/>
              <a:gd name="connsiteY148" fmla="*/ 1206909 h 3707208"/>
              <a:gd name="connsiteX149" fmla="*/ 1084217 w 4937745"/>
              <a:gd name="connsiteY149" fmla="*/ 1074569 h 3707208"/>
              <a:gd name="connsiteX150" fmla="*/ 1244684 w 4937745"/>
              <a:gd name="connsiteY150" fmla="*/ 1012690 h 3707208"/>
              <a:gd name="connsiteX151" fmla="*/ 1527116 w 4937745"/>
              <a:gd name="connsiteY151" fmla="*/ 1049851 h 3707208"/>
              <a:gd name="connsiteX152" fmla="*/ 1516633 w 4937745"/>
              <a:gd name="connsiteY152" fmla="*/ 959374 h 3707208"/>
              <a:gd name="connsiteX153" fmla="*/ 1520954 w 4937745"/>
              <a:gd name="connsiteY153" fmla="*/ 808018 h 3707208"/>
              <a:gd name="connsiteX154" fmla="*/ 1391906 w 4937745"/>
              <a:gd name="connsiteY154" fmla="*/ 734079 h 3707208"/>
              <a:gd name="connsiteX155" fmla="*/ 1207906 w 4937745"/>
              <a:gd name="connsiteY155" fmla="*/ 730640 h 3707208"/>
              <a:gd name="connsiteX156" fmla="*/ 1297236 w 4937745"/>
              <a:gd name="connsiteY156" fmla="*/ 667106 h 3707208"/>
              <a:gd name="connsiteX157" fmla="*/ 1413803 w 4937745"/>
              <a:gd name="connsiteY157" fmla="*/ 665499 h 3707208"/>
              <a:gd name="connsiteX158" fmla="*/ 1528341 w 4937745"/>
              <a:gd name="connsiteY158" fmla="*/ 764352 h 3707208"/>
              <a:gd name="connsiteX159" fmla="*/ 1562660 w 4937745"/>
              <a:gd name="connsiteY159" fmla="*/ 642730 h 3707208"/>
              <a:gd name="connsiteX160" fmla="*/ 1670733 w 4937745"/>
              <a:gd name="connsiteY160" fmla="*/ 465196 h 3707208"/>
              <a:gd name="connsiteX161" fmla="*/ 1561318 w 4937745"/>
              <a:gd name="connsiteY161" fmla="*/ 529456 h 3707208"/>
              <a:gd name="connsiteX162" fmla="*/ 1440235 w 4937745"/>
              <a:gd name="connsiteY162" fmla="*/ 548325 h 3707208"/>
              <a:gd name="connsiteX163" fmla="*/ 1341539 w 4937745"/>
              <a:gd name="connsiteY163" fmla="*/ 503699 h 3707208"/>
              <a:gd name="connsiteX164" fmla="*/ 1182874 w 4937745"/>
              <a:gd name="connsiteY164" fmla="*/ 568066 h 3707208"/>
              <a:gd name="connsiteX165" fmla="*/ 1019115 w 4937745"/>
              <a:gd name="connsiteY165" fmla="*/ 634276 h 3707208"/>
              <a:gd name="connsiteX166" fmla="*/ 912610 w 4937745"/>
              <a:gd name="connsiteY166" fmla="*/ 749509 h 3707208"/>
              <a:gd name="connsiteX167" fmla="*/ 904498 w 4937745"/>
              <a:gd name="connsiteY167" fmla="*/ 911809 h 3707208"/>
              <a:gd name="connsiteX168" fmla="*/ 912003 w 4937745"/>
              <a:gd name="connsiteY168" fmla="*/ 953790 h 3707208"/>
              <a:gd name="connsiteX169" fmla="*/ 869601 w 4937745"/>
              <a:gd name="connsiteY169" fmla="*/ 953525 h 3707208"/>
              <a:gd name="connsiteX170" fmla="*/ 558120 w 4937745"/>
              <a:gd name="connsiteY170" fmla="*/ 1079781 h 3707208"/>
              <a:gd name="connsiteX171" fmla="*/ 478744 w 4937745"/>
              <a:gd name="connsiteY171" fmla="*/ 1231519 h 3707208"/>
              <a:gd name="connsiteX172" fmla="*/ 477441 w 4937745"/>
              <a:gd name="connsiteY172" fmla="*/ 1410395 h 3707208"/>
              <a:gd name="connsiteX173" fmla="*/ 478822 w 4937745"/>
              <a:gd name="connsiteY173" fmla="*/ 1418625 h 3707208"/>
              <a:gd name="connsiteX174" fmla="*/ 473277 w 4937745"/>
              <a:gd name="connsiteY174" fmla="*/ 1422446 h 3707208"/>
              <a:gd name="connsiteX175" fmla="*/ 324635 w 4937745"/>
              <a:gd name="connsiteY175" fmla="*/ 1459420 h 3707208"/>
              <a:gd name="connsiteX176" fmla="*/ 452193 w 4937745"/>
              <a:gd name="connsiteY176" fmla="*/ 1408250 h 3707208"/>
              <a:gd name="connsiteX177" fmla="*/ 1315253 w 4937745"/>
              <a:gd name="connsiteY177" fmla="*/ 2117445 h 3707208"/>
              <a:gd name="connsiteX178" fmla="*/ 1101137 w 4937745"/>
              <a:gd name="connsiteY178" fmla="*/ 2714072 h 3707208"/>
              <a:gd name="connsiteX179" fmla="*/ 1104967 w 4937745"/>
              <a:gd name="connsiteY179" fmla="*/ 2607185 h 3707208"/>
              <a:gd name="connsiteX180" fmla="*/ 947028 w 4937745"/>
              <a:gd name="connsiteY180" fmla="*/ 2692107 h 3707208"/>
              <a:gd name="connsiteX181" fmla="*/ 755484 w 4937745"/>
              <a:gd name="connsiteY181" fmla="*/ 2708635 h 3707208"/>
              <a:gd name="connsiteX182" fmla="*/ 420196 w 4937745"/>
              <a:gd name="connsiteY182" fmla="*/ 2521920 h 3707208"/>
              <a:gd name="connsiteX183" fmla="*/ 285828 w 4937745"/>
              <a:gd name="connsiteY183" fmla="*/ 2399564 h 3707208"/>
              <a:gd name="connsiteX184" fmla="*/ 210282 w 4937745"/>
              <a:gd name="connsiteY184" fmla="*/ 2334815 h 3707208"/>
              <a:gd name="connsiteX185" fmla="*/ 164128 w 4937745"/>
              <a:gd name="connsiteY185" fmla="*/ 2240292 h 3707208"/>
              <a:gd name="connsiteX186" fmla="*/ 197536 w 4937745"/>
              <a:gd name="connsiteY186" fmla="*/ 1897010 h 3707208"/>
              <a:gd name="connsiteX187" fmla="*/ 165539 w 4937745"/>
              <a:gd name="connsiteY187" fmla="*/ 1843772 h 3707208"/>
              <a:gd name="connsiteX188" fmla="*/ 147061 w 4937745"/>
              <a:gd name="connsiteY188" fmla="*/ 1627549 h 3707208"/>
              <a:gd name="connsiteX189" fmla="*/ 199447 w 4937745"/>
              <a:gd name="connsiteY189" fmla="*/ 1826862 h 3707208"/>
              <a:gd name="connsiteX190" fmla="*/ 263824 w 4937745"/>
              <a:gd name="connsiteY190" fmla="*/ 1894678 h 3707208"/>
              <a:gd name="connsiteX191" fmla="*/ 346404 w 4937745"/>
              <a:gd name="connsiteY191" fmla="*/ 1902486 h 3707208"/>
              <a:gd name="connsiteX192" fmla="*/ 350460 w 4937745"/>
              <a:gd name="connsiteY192" fmla="*/ 1901262 h 3707208"/>
              <a:gd name="connsiteX193" fmla="*/ 349314 w 4937745"/>
              <a:gd name="connsiteY193" fmla="*/ 1792954 h 3707208"/>
              <a:gd name="connsiteX194" fmla="*/ 331747 w 4937745"/>
              <a:gd name="connsiteY194" fmla="*/ 1750278 h 3707208"/>
              <a:gd name="connsiteX195" fmla="*/ 280273 w 4937745"/>
              <a:gd name="connsiteY195" fmla="*/ 1697814 h 3707208"/>
              <a:gd name="connsiteX196" fmla="*/ 363902 w 4937745"/>
              <a:gd name="connsiteY196" fmla="*/ 1704398 h 3707208"/>
              <a:gd name="connsiteX197" fmla="*/ 420803 w 4937745"/>
              <a:gd name="connsiteY197" fmla="*/ 1784078 h 3707208"/>
              <a:gd name="connsiteX198" fmla="*/ 388659 w 4937745"/>
              <a:gd name="connsiteY198" fmla="*/ 1893296 h 3707208"/>
              <a:gd name="connsiteX199" fmla="*/ 382839 w 4937745"/>
              <a:gd name="connsiteY199" fmla="*/ 1936541 h 3707208"/>
              <a:gd name="connsiteX200" fmla="*/ 452683 w 4937745"/>
              <a:gd name="connsiteY200" fmla="*/ 2211625 h 3707208"/>
              <a:gd name="connsiteX201" fmla="*/ 571474 w 4937745"/>
              <a:gd name="connsiteY201" fmla="*/ 2289581 h 3707208"/>
              <a:gd name="connsiteX202" fmla="*/ 699757 w 4937745"/>
              <a:gd name="connsiteY202" fmla="*/ 2294862 h 3707208"/>
              <a:gd name="connsiteX203" fmla="*/ 707566 w 4937745"/>
              <a:gd name="connsiteY203" fmla="*/ 2290463 h 3707208"/>
              <a:gd name="connsiteX204" fmla="*/ 614032 w 4937745"/>
              <a:gd name="connsiteY204" fmla="*/ 2077414 h 3707208"/>
              <a:gd name="connsiteX205" fmla="*/ 551693 w 4937745"/>
              <a:gd name="connsiteY205" fmla="*/ 1956478 h 3707208"/>
              <a:gd name="connsiteX206" fmla="*/ 532177 w 4937745"/>
              <a:gd name="connsiteY206" fmla="*/ 1814763 h 3707208"/>
              <a:gd name="connsiteX207" fmla="*/ 600336 w 4937745"/>
              <a:gd name="connsiteY207" fmla="*/ 1928527 h 3707208"/>
              <a:gd name="connsiteX208" fmla="*/ 677253 w 4937745"/>
              <a:gd name="connsiteY208" fmla="*/ 2042889 h 3707208"/>
              <a:gd name="connsiteX209" fmla="*/ 725739 w 4937745"/>
              <a:gd name="connsiteY209" fmla="*/ 2178021 h 3707208"/>
              <a:gd name="connsiteX210" fmla="*/ 724828 w 4937745"/>
              <a:gd name="connsiteY210" fmla="*/ 2280666 h 3707208"/>
              <a:gd name="connsiteX211" fmla="*/ 733440 w 4937745"/>
              <a:gd name="connsiteY211" fmla="*/ 2275767 h 3707208"/>
              <a:gd name="connsiteX212" fmla="*/ 746255 w 4937745"/>
              <a:gd name="connsiteY212" fmla="*/ 2307755 h 3707208"/>
              <a:gd name="connsiteX213" fmla="*/ 905919 w 4937745"/>
              <a:gd name="connsiteY213" fmla="*/ 2453870 h 3707208"/>
              <a:gd name="connsiteX214" fmla="*/ 1019164 w 4937745"/>
              <a:gd name="connsiteY214" fmla="*/ 2484368 h 3707208"/>
              <a:gd name="connsiteX215" fmla="*/ 1078211 w 4937745"/>
              <a:gd name="connsiteY215" fmla="*/ 2485593 h 3707208"/>
              <a:gd name="connsiteX216" fmla="*/ 1119046 w 4937745"/>
              <a:gd name="connsiteY216" fmla="*/ 2473464 h 3707208"/>
              <a:gd name="connsiteX217" fmla="*/ 1132674 w 4937745"/>
              <a:gd name="connsiteY217" fmla="*/ 2386436 h 3707208"/>
              <a:gd name="connsiteX218" fmla="*/ 1260957 w 4937745"/>
              <a:gd name="connsiteY218" fmla="*/ 2098684 h 3707208"/>
              <a:gd name="connsiteX219" fmla="*/ 1169570 w 4937745"/>
              <a:gd name="connsiteY219" fmla="*/ 2107952 h 3707208"/>
              <a:gd name="connsiteX220" fmla="*/ 1025601 w 4937745"/>
              <a:gd name="connsiteY220" fmla="*/ 2040979 h 3707208"/>
              <a:gd name="connsiteX221" fmla="*/ 947527 w 4937745"/>
              <a:gd name="connsiteY221" fmla="*/ 1909021 h 3707208"/>
              <a:gd name="connsiteX222" fmla="*/ 928589 w 4937745"/>
              <a:gd name="connsiteY222" fmla="*/ 1839138 h 3707208"/>
              <a:gd name="connsiteX223" fmla="*/ 903254 w 4937745"/>
              <a:gd name="connsiteY223" fmla="*/ 1777406 h 3707208"/>
              <a:gd name="connsiteX224" fmla="*/ 960694 w 4937745"/>
              <a:gd name="connsiteY224" fmla="*/ 1824981 h 3707208"/>
              <a:gd name="connsiteX225" fmla="*/ 998433 w 4937745"/>
              <a:gd name="connsiteY225" fmla="*/ 1885557 h 3707208"/>
              <a:gd name="connsiteX226" fmla="*/ 1076115 w 4937745"/>
              <a:gd name="connsiteY226" fmla="*/ 1989652 h 3707208"/>
              <a:gd name="connsiteX227" fmla="*/ 1279944 w 4937745"/>
              <a:gd name="connsiteY227" fmla="*/ 2072819 h 3707208"/>
              <a:gd name="connsiteX228" fmla="*/ 1493875 w 4937745"/>
              <a:gd name="connsiteY228" fmla="*/ 1894668 h 3707208"/>
              <a:gd name="connsiteX229" fmla="*/ 1460084 w 4937745"/>
              <a:gd name="connsiteY229" fmla="*/ 1880962 h 3707208"/>
              <a:gd name="connsiteX230" fmla="*/ 1400880 w 4937745"/>
              <a:gd name="connsiteY230" fmla="*/ 1799068 h 3707208"/>
              <a:gd name="connsiteX231" fmla="*/ 1371028 w 4937745"/>
              <a:gd name="connsiteY231" fmla="*/ 1617360 h 3707208"/>
              <a:gd name="connsiteX232" fmla="*/ 1338002 w 4937745"/>
              <a:gd name="connsiteY232" fmla="*/ 1459342 h 3707208"/>
              <a:gd name="connsiteX233" fmla="*/ 1208033 w 4937745"/>
              <a:gd name="connsiteY233" fmla="*/ 1365309 h 3707208"/>
              <a:gd name="connsiteX234" fmla="*/ 1384539 w 4937745"/>
              <a:gd name="connsiteY234" fmla="*/ 1428069 h 3707208"/>
              <a:gd name="connsiteX235" fmla="*/ 1442861 w 4937745"/>
              <a:gd name="connsiteY235" fmla="*/ 1611305 h 3707208"/>
              <a:gd name="connsiteX236" fmla="*/ 1455029 w 4937745"/>
              <a:gd name="connsiteY236" fmla="*/ 1783676 h 3707208"/>
              <a:gd name="connsiteX237" fmla="*/ 1515771 w 4937745"/>
              <a:gd name="connsiteY237" fmla="*/ 1882990 h 3707208"/>
              <a:gd name="connsiteX238" fmla="*/ 1536237 w 4937745"/>
              <a:gd name="connsiteY238" fmla="*/ 1872125 h 3707208"/>
              <a:gd name="connsiteX239" fmla="*/ 1853802 w 4937745"/>
              <a:gd name="connsiteY239" fmla="*/ 1771626 h 3707208"/>
              <a:gd name="connsiteX240" fmla="*/ 2201640 w 4937745"/>
              <a:gd name="connsiteY240" fmla="*/ 1701743 h 3707208"/>
              <a:gd name="connsiteX241" fmla="*/ 2229885 w 4937745"/>
              <a:gd name="connsiteY241" fmla="*/ 1617507 h 3707208"/>
              <a:gd name="connsiteX242" fmla="*/ 2177265 w 4937745"/>
              <a:gd name="connsiteY242" fmla="*/ 1516822 h 3707208"/>
              <a:gd name="connsiteX243" fmla="*/ 2069339 w 4937745"/>
              <a:gd name="connsiteY243" fmla="*/ 1434163 h 3707208"/>
              <a:gd name="connsiteX244" fmla="*/ 1943544 w 4937745"/>
              <a:gd name="connsiteY244" fmla="*/ 1359999 h 3707208"/>
              <a:gd name="connsiteX245" fmla="*/ 2228082 w 4937745"/>
              <a:gd name="connsiteY245" fmla="*/ 1465661 h 3707208"/>
              <a:gd name="connsiteX246" fmla="*/ 2286904 w 4937745"/>
              <a:gd name="connsiteY246" fmla="*/ 1604242 h 3707208"/>
              <a:gd name="connsiteX247" fmla="*/ 2490499 w 4937745"/>
              <a:gd name="connsiteY247" fmla="*/ 1430538 h 3707208"/>
              <a:gd name="connsiteX248" fmla="*/ 2532294 w 4937745"/>
              <a:gd name="connsiteY248" fmla="*/ 1190508 h 3707208"/>
              <a:gd name="connsiteX249" fmla="*/ 2435126 w 4937745"/>
              <a:gd name="connsiteY249" fmla="*/ 736891 h 3707208"/>
              <a:gd name="connsiteX250" fmla="*/ 2355631 w 4937745"/>
              <a:gd name="connsiteY250" fmla="*/ 677412 h 3707208"/>
              <a:gd name="connsiteX251" fmla="*/ 2230140 w 4937745"/>
              <a:gd name="connsiteY251" fmla="*/ 595214 h 3707208"/>
              <a:gd name="connsiteX252" fmla="*/ 2184946 w 4937745"/>
              <a:gd name="connsiteY252" fmla="*/ 559807 h 3707208"/>
              <a:gd name="connsiteX253" fmla="*/ 2103051 w 4937745"/>
              <a:gd name="connsiteY253" fmla="*/ 596860 h 3707208"/>
              <a:gd name="connsiteX254" fmla="*/ 2046865 w 4937745"/>
              <a:gd name="connsiteY254" fmla="*/ 707235 h 3707208"/>
              <a:gd name="connsiteX255" fmla="*/ 2065616 w 4937745"/>
              <a:gd name="connsiteY255" fmla="*/ 929512 h 3707208"/>
              <a:gd name="connsiteX256" fmla="*/ 2079391 w 4937745"/>
              <a:gd name="connsiteY256" fmla="*/ 995565 h 3707208"/>
              <a:gd name="connsiteX257" fmla="*/ 1927339 w 4937745"/>
              <a:gd name="connsiteY257" fmla="*/ 839536 h 3707208"/>
              <a:gd name="connsiteX258" fmla="*/ 1847013 w 4937745"/>
              <a:gd name="connsiteY258" fmla="*/ 783623 h 3707208"/>
              <a:gd name="connsiteX259" fmla="*/ 1744750 w 4937745"/>
              <a:gd name="connsiteY259" fmla="*/ 760463 h 3707208"/>
              <a:gd name="connsiteX260" fmla="*/ 1862698 w 4937745"/>
              <a:gd name="connsiteY260" fmla="*/ 729621 h 3707208"/>
              <a:gd name="connsiteX261" fmla="*/ 1975208 w 4937745"/>
              <a:gd name="connsiteY261" fmla="*/ 785690 h 3707208"/>
              <a:gd name="connsiteX262" fmla="*/ 1976511 w 4937745"/>
              <a:gd name="connsiteY262" fmla="*/ 787179 h 3707208"/>
              <a:gd name="connsiteX263" fmla="*/ 1975630 w 4937745"/>
              <a:gd name="connsiteY263" fmla="*/ 695713 h 3707208"/>
              <a:gd name="connsiteX264" fmla="*/ 2071916 w 4937745"/>
              <a:gd name="connsiteY264" fmla="*/ 550177 h 3707208"/>
              <a:gd name="connsiteX265" fmla="*/ 2152478 w 4937745"/>
              <a:gd name="connsiteY265" fmla="*/ 530200 h 3707208"/>
              <a:gd name="connsiteX266" fmla="*/ 2113789 w 4937745"/>
              <a:gd name="connsiteY266" fmla="*/ 490551 h 3707208"/>
              <a:gd name="connsiteX267" fmla="*/ 2056192 w 4937745"/>
              <a:gd name="connsiteY267" fmla="*/ 330887 h 3707208"/>
              <a:gd name="connsiteX268" fmla="*/ 2080763 w 4937745"/>
              <a:gd name="connsiteY268" fmla="*/ 243174 h 3707208"/>
              <a:gd name="connsiteX269" fmla="*/ 2149068 w 4937745"/>
              <a:gd name="connsiteY269" fmla="*/ 181520 h 3707208"/>
              <a:gd name="connsiteX270" fmla="*/ 2308772 w 4937745"/>
              <a:gd name="connsiteY270" fmla="*/ 149141 h 3707208"/>
              <a:gd name="connsiteX271" fmla="*/ 2462156 w 4937745"/>
              <a:gd name="connsiteY271" fmla="*/ 181559 h 3707208"/>
              <a:gd name="connsiteX272" fmla="*/ 2560705 w 4937745"/>
              <a:gd name="connsiteY272" fmla="*/ 256380 h 3707208"/>
              <a:gd name="connsiteX273" fmla="*/ 2582719 w 4937745"/>
              <a:gd name="connsiteY273" fmla="*/ 230545 h 3707208"/>
              <a:gd name="connsiteX274" fmla="*/ 2825003 w 4937745"/>
              <a:gd name="connsiteY274" fmla="*/ 120102 h 3707208"/>
              <a:gd name="connsiteX275" fmla="*/ 3080111 w 4937745"/>
              <a:gd name="connsiteY275" fmla="*/ 170430 h 3707208"/>
              <a:gd name="connsiteX276" fmla="*/ 3097285 w 4937745"/>
              <a:gd name="connsiteY276" fmla="*/ 177925 h 3707208"/>
              <a:gd name="connsiteX277" fmla="*/ 3097442 w 4937745"/>
              <a:gd name="connsiteY277" fmla="*/ 196108 h 3707208"/>
              <a:gd name="connsiteX278" fmla="*/ 3135523 w 4937745"/>
              <a:gd name="connsiteY278" fmla="*/ 311029 h 3707208"/>
              <a:gd name="connsiteX279" fmla="*/ 3376778 w 4937745"/>
              <a:gd name="connsiteY279" fmla="*/ 396940 h 3707208"/>
              <a:gd name="connsiteX280" fmla="*/ 3453352 w 4937745"/>
              <a:gd name="connsiteY280" fmla="*/ 507314 h 3707208"/>
              <a:gd name="connsiteX281" fmla="*/ 3457565 w 4937745"/>
              <a:gd name="connsiteY281" fmla="*/ 581253 h 3707208"/>
              <a:gd name="connsiteX282" fmla="*/ 3516005 w 4937745"/>
              <a:gd name="connsiteY282" fmla="*/ 513330 h 3707208"/>
              <a:gd name="connsiteX283" fmla="*/ 3657221 w 4937745"/>
              <a:gd name="connsiteY283" fmla="*/ 472985 h 3707208"/>
              <a:gd name="connsiteX284" fmla="*/ 3799965 w 4937745"/>
              <a:gd name="connsiteY284" fmla="*/ 491629 h 3707208"/>
              <a:gd name="connsiteX285" fmla="*/ 3925143 w 4937745"/>
              <a:gd name="connsiteY285" fmla="*/ 558328 h 3707208"/>
              <a:gd name="connsiteX286" fmla="*/ 3659396 w 4937745"/>
              <a:gd name="connsiteY286" fmla="*/ 520864 h 3707208"/>
              <a:gd name="connsiteX287" fmla="*/ 3533522 w 4937745"/>
              <a:gd name="connsiteY287" fmla="*/ 545778 h 3707208"/>
              <a:gd name="connsiteX288" fmla="*/ 3447376 w 4937745"/>
              <a:gd name="connsiteY288" fmla="*/ 637626 h 3707208"/>
              <a:gd name="connsiteX289" fmla="*/ 3437883 w 4937745"/>
              <a:gd name="connsiteY289" fmla="*/ 511831 h 3707208"/>
              <a:gd name="connsiteX290" fmla="*/ 3360426 w 4937745"/>
              <a:gd name="connsiteY290" fmla="*/ 421090 h 3707208"/>
              <a:gd name="connsiteX291" fmla="*/ 3119897 w 4937745"/>
              <a:gd name="connsiteY291" fmla="*/ 356644 h 3707208"/>
              <a:gd name="connsiteX292" fmla="*/ 3114077 w 4937745"/>
              <a:gd name="connsiteY292" fmla="*/ 355997 h 3707208"/>
              <a:gd name="connsiteX293" fmla="*/ 3108797 w 4937745"/>
              <a:gd name="connsiteY293" fmla="*/ 351981 h 3707208"/>
              <a:gd name="connsiteX294" fmla="*/ 3057940 w 4937745"/>
              <a:gd name="connsiteY294" fmla="*/ 278688 h 3707208"/>
              <a:gd name="connsiteX295" fmla="*/ 3044390 w 4937745"/>
              <a:gd name="connsiteY295" fmla="*/ 216956 h 3707208"/>
              <a:gd name="connsiteX296" fmla="*/ 2829813 w 4937745"/>
              <a:gd name="connsiteY296" fmla="*/ 183822 h 3707208"/>
              <a:gd name="connsiteX297" fmla="*/ 2631921 w 4937745"/>
              <a:gd name="connsiteY297" fmla="*/ 278688 h 3707208"/>
              <a:gd name="connsiteX298" fmla="*/ 2498317 w 4937745"/>
              <a:gd name="connsiteY298" fmla="*/ 716268 h 3707208"/>
              <a:gd name="connsiteX299" fmla="*/ 2581093 w 4937745"/>
              <a:gd name="connsiteY299" fmla="*/ 1194721 h 3707208"/>
              <a:gd name="connsiteX300" fmla="*/ 2699923 w 4937745"/>
              <a:gd name="connsiteY300" fmla="*/ 1402950 h 3707208"/>
              <a:gd name="connsiteX301" fmla="*/ 2889742 w 4937745"/>
              <a:gd name="connsiteY301" fmla="*/ 1487989 h 3707208"/>
              <a:gd name="connsiteX302" fmla="*/ 3069647 w 4937745"/>
              <a:gd name="connsiteY302" fmla="*/ 1359901 h 3707208"/>
              <a:gd name="connsiteX303" fmla="*/ 2813540 w 4937745"/>
              <a:gd name="connsiteY303" fmla="*/ 1565798 h 3707208"/>
              <a:gd name="connsiteX304" fmla="*/ 2507301 w 4937745"/>
              <a:gd name="connsiteY304" fmla="*/ 1690672 h 3707208"/>
              <a:gd name="connsiteX305" fmla="*/ 1869722 w 4937745"/>
              <a:gd name="connsiteY305" fmla="*/ 1841382 h 3707208"/>
              <a:gd name="connsiteX306" fmla="*/ 1562984 w 4937745"/>
              <a:gd name="connsiteY306" fmla="*/ 1932005 h 3707208"/>
              <a:gd name="connsiteX307" fmla="*/ 1315224 w 4937745"/>
              <a:gd name="connsiteY307" fmla="*/ 2117465 h 3707208"/>
              <a:gd name="connsiteX308" fmla="*/ 2002121 w 4937745"/>
              <a:gd name="connsiteY308" fmla="*/ 2479940 h 3707208"/>
              <a:gd name="connsiteX309" fmla="*/ 1814947 w 4937745"/>
              <a:gd name="connsiteY309" fmla="*/ 2572474 h 3707208"/>
              <a:gd name="connsiteX310" fmla="*/ 1738294 w 4937745"/>
              <a:gd name="connsiteY310" fmla="*/ 2570446 h 3707208"/>
              <a:gd name="connsiteX311" fmla="*/ 1757888 w 4937745"/>
              <a:gd name="connsiteY311" fmla="*/ 2629807 h 3707208"/>
              <a:gd name="connsiteX312" fmla="*/ 1750266 w 4937745"/>
              <a:gd name="connsiteY312" fmla="*/ 2739603 h 3707208"/>
              <a:gd name="connsiteX313" fmla="*/ 1625274 w 4937745"/>
              <a:gd name="connsiteY313" fmla="*/ 2910407 h 3707208"/>
              <a:gd name="connsiteX314" fmla="*/ 1680843 w 4937745"/>
              <a:gd name="connsiteY314" fmla="*/ 2720322 h 3707208"/>
              <a:gd name="connsiteX315" fmla="*/ 1701858 w 4937745"/>
              <a:gd name="connsiteY315" fmla="*/ 2630003 h 3707208"/>
              <a:gd name="connsiteX316" fmla="*/ 1708971 w 4937745"/>
              <a:gd name="connsiteY316" fmla="*/ 2565440 h 3707208"/>
              <a:gd name="connsiteX317" fmla="*/ 1609931 w 4937745"/>
              <a:gd name="connsiteY317" fmla="*/ 2519481 h 3707208"/>
              <a:gd name="connsiteX318" fmla="*/ 1479512 w 4937745"/>
              <a:gd name="connsiteY318" fmla="*/ 2367047 h 3707208"/>
              <a:gd name="connsiteX319" fmla="*/ 1805345 w 4937745"/>
              <a:gd name="connsiteY319" fmla="*/ 2501033 h 3707208"/>
              <a:gd name="connsiteX320" fmla="*/ 2122224 w 4937745"/>
              <a:gd name="connsiteY320" fmla="*/ 2320707 h 3707208"/>
              <a:gd name="connsiteX321" fmla="*/ 2002131 w 4937745"/>
              <a:gd name="connsiteY321" fmla="*/ 2479950 h 3707208"/>
              <a:gd name="connsiteX322" fmla="*/ 4470119 w 4937745"/>
              <a:gd name="connsiteY322" fmla="*/ 2494792 h 3707208"/>
              <a:gd name="connsiteX323" fmla="*/ 4424426 w 4937745"/>
              <a:gd name="connsiteY323" fmla="*/ 2598387 h 3707208"/>
              <a:gd name="connsiteX324" fmla="*/ 4238280 w 4937745"/>
              <a:gd name="connsiteY324" fmla="*/ 2719852 h 3707208"/>
              <a:gd name="connsiteX325" fmla="*/ 4022547 w 4937745"/>
              <a:gd name="connsiteY325" fmla="*/ 2703775 h 3707208"/>
              <a:gd name="connsiteX326" fmla="*/ 3863725 w 4937745"/>
              <a:gd name="connsiteY326" fmla="*/ 2611241 h 3707208"/>
              <a:gd name="connsiteX327" fmla="*/ 3778422 w 4937745"/>
              <a:gd name="connsiteY327" fmla="*/ 2673277 h 3707208"/>
              <a:gd name="connsiteX328" fmla="*/ 3658181 w 4937745"/>
              <a:gd name="connsiteY328" fmla="*/ 2719470 h 3707208"/>
              <a:gd name="connsiteX329" fmla="*/ 3412792 w 4937745"/>
              <a:gd name="connsiteY329" fmla="*/ 2779820 h 3707208"/>
              <a:gd name="connsiteX330" fmla="*/ 3166796 w 4937745"/>
              <a:gd name="connsiteY330" fmla="*/ 2830031 h 3707208"/>
              <a:gd name="connsiteX331" fmla="*/ 2931165 w 4937745"/>
              <a:gd name="connsiteY331" fmla="*/ 2909211 h 3707208"/>
              <a:gd name="connsiteX332" fmla="*/ 3162740 w 4937745"/>
              <a:gd name="connsiteY332" fmla="*/ 2813650 h 3707208"/>
              <a:gd name="connsiteX333" fmla="*/ 3405719 w 4937745"/>
              <a:gd name="connsiteY333" fmla="*/ 2749734 h 3707208"/>
              <a:gd name="connsiteX334" fmla="*/ 3645141 w 4937745"/>
              <a:gd name="connsiteY334" fmla="*/ 2680046 h 3707208"/>
              <a:gd name="connsiteX335" fmla="*/ 3757612 w 4937745"/>
              <a:gd name="connsiteY335" fmla="*/ 2632589 h 3707208"/>
              <a:gd name="connsiteX336" fmla="*/ 3836675 w 4937745"/>
              <a:gd name="connsiteY336" fmla="*/ 2562216 h 3707208"/>
              <a:gd name="connsiteX337" fmla="*/ 3850950 w 4937745"/>
              <a:gd name="connsiteY337" fmla="*/ 2524252 h 3707208"/>
              <a:gd name="connsiteX338" fmla="*/ 3880037 w 4937745"/>
              <a:gd name="connsiteY338" fmla="*/ 2556240 h 3707208"/>
              <a:gd name="connsiteX339" fmla="*/ 4225847 w 4937745"/>
              <a:gd name="connsiteY339" fmla="*/ 2659267 h 3707208"/>
              <a:gd name="connsiteX340" fmla="*/ 4412875 w 4937745"/>
              <a:gd name="connsiteY340" fmla="*/ 2390531 h 3707208"/>
              <a:gd name="connsiteX341" fmla="*/ 4169396 w 4937745"/>
              <a:gd name="connsiteY341" fmla="*/ 2159338 h 3707208"/>
              <a:gd name="connsiteX342" fmla="*/ 4006293 w 4937745"/>
              <a:gd name="connsiteY342" fmla="*/ 2204160 h 3707208"/>
              <a:gd name="connsiteX343" fmla="*/ 3920607 w 4937745"/>
              <a:gd name="connsiteY343" fmla="*/ 2360023 h 3707208"/>
              <a:gd name="connsiteX344" fmla="*/ 3900131 w 4937745"/>
              <a:gd name="connsiteY344" fmla="*/ 2448432 h 3707208"/>
              <a:gd name="connsiteX345" fmla="*/ 3856887 w 4937745"/>
              <a:gd name="connsiteY345" fmla="*/ 2368566 h 3707208"/>
              <a:gd name="connsiteX346" fmla="*/ 3673690 w 4937745"/>
              <a:gd name="connsiteY346" fmla="*/ 2266235 h 3707208"/>
              <a:gd name="connsiteX347" fmla="*/ 3443418 w 4937745"/>
              <a:gd name="connsiteY347" fmla="*/ 2277639 h 3707208"/>
              <a:gd name="connsiteX348" fmla="*/ 3241009 w 4937745"/>
              <a:gd name="connsiteY348" fmla="*/ 2391873 h 3707208"/>
              <a:gd name="connsiteX349" fmla="*/ 3108522 w 4937745"/>
              <a:gd name="connsiteY349" fmla="*/ 2435617 h 3707208"/>
              <a:gd name="connsiteX350" fmla="*/ 2989614 w 4937745"/>
              <a:gd name="connsiteY350" fmla="*/ 2439820 h 3707208"/>
              <a:gd name="connsiteX351" fmla="*/ 2768914 w 4937745"/>
              <a:gd name="connsiteY351" fmla="*/ 2527995 h 3707208"/>
              <a:gd name="connsiteX352" fmla="*/ 2665505 w 4937745"/>
              <a:gd name="connsiteY352" fmla="*/ 2592940 h 3707208"/>
              <a:gd name="connsiteX353" fmla="*/ 2614531 w 4937745"/>
              <a:gd name="connsiteY353" fmla="*/ 2627769 h 3707208"/>
              <a:gd name="connsiteX354" fmla="*/ 2541013 w 4937745"/>
              <a:gd name="connsiteY354" fmla="*/ 2638634 h 3707208"/>
              <a:gd name="connsiteX355" fmla="*/ 2488540 w 4937745"/>
              <a:gd name="connsiteY355" fmla="*/ 2618276 h 3707208"/>
              <a:gd name="connsiteX356" fmla="*/ 2434508 w 4937745"/>
              <a:gd name="connsiteY356" fmla="*/ 2630404 h 3707208"/>
              <a:gd name="connsiteX357" fmla="*/ 2332020 w 4937745"/>
              <a:gd name="connsiteY357" fmla="*/ 2694321 h 3707208"/>
              <a:gd name="connsiteX358" fmla="*/ 2146413 w 4937745"/>
              <a:gd name="connsiteY358" fmla="*/ 2856434 h 3707208"/>
              <a:gd name="connsiteX359" fmla="*/ 2321537 w 4937745"/>
              <a:gd name="connsiteY359" fmla="*/ 2681271 h 3707208"/>
              <a:gd name="connsiteX360" fmla="*/ 2424446 w 4937745"/>
              <a:gd name="connsiteY360" fmla="*/ 2608861 h 3707208"/>
              <a:gd name="connsiteX361" fmla="*/ 2489196 w 4937745"/>
              <a:gd name="connsiteY361" fmla="*/ 2591147 h 3707208"/>
              <a:gd name="connsiteX362" fmla="*/ 2552495 w 4937745"/>
              <a:gd name="connsiteY362" fmla="*/ 2610281 h 3707208"/>
              <a:gd name="connsiteX363" fmla="*/ 2644197 w 4937745"/>
              <a:gd name="connsiteY363" fmla="*/ 2562706 h 3707208"/>
              <a:gd name="connsiteX364" fmla="*/ 2747791 w 4937745"/>
              <a:gd name="connsiteY364" fmla="*/ 2492754 h 3707208"/>
              <a:gd name="connsiteX365" fmla="*/ 2980513 w 4937745"/>
              <a:gd name="connsiteY365" fmla="*/ 2390992 h 3707208"/>
              <a:gd name="connsiteX366" fmla="*/ 3107915 w 4937745"/>
              <a:gd name="connsiteY366" fmla="*/ 2381645 h 3707208"/>
              <a:gd name="connsiteX367" fmla="*/ 3203927 w 4937745"/>
              <a:gd name="connsiteY367" fmla="*/ 2346934 h 3707208"/>
              <a:gd name="connsiteX368" fmla="*/ 3426087 w 4937745"/>
              <a:gd name="connsiteY368" fmla="*/ 2217465 h 3707208"/>
              <a:gd name="connsiteX369" fmla="*/ 3684986 w 4937745"/>
              <a:gd name="connsiteY369" fmla="*/ 2201818 h 3707208"/>
              <a:gd name="connsiteX370" fmla="*/ 3872778 w 4937745"/>
              <a:gd name="connsiteY370" fmla="*/ 2282909 h 3707208"/>
              <a:gd name="connsiteX371" fmla="*/ 3960501 w 4937745"/>
              <a:gd name="connsiteY371" fmla="*/ 2150530 h 3707208"/>
              <a:gd name="connsiteX372" fmla="*/ 4169876 w 4937745"/>
              <a:gd name="connsiteY372" fmla="*/ 2088573 h 3707208"/>
              <a:gd name="connsiteX373" fmla="*/ 4199454 w 4937745"/>
              <a:gd name="connsiteY373" fmla="*/ 2033651 h 3707208"/>
              <a:gd name="connsiteX374" fmla="*/ 4254524 w 4937745"/>
              <a:gd name="connsiteY374" fmla="*/ 1961015 h 3707208"/>
              <a:gd name="connsiteX375" fmla="*/ 4288549 w 4937745"/>
              <a:gd name="connsiteY375" fmla="*/ 1884626 h 3707208"/>
              <a:gd name="connsiteX376" fmla="*/ 4301060 w 4937745"/>
              <a:gd name="connsiteY376" fmla="*/ 1792856 h 3707208"/>
              <a:gd name="connsiteX377" fmla="*/ 4325249 w 4937745"/>
              <a:gd name="connsiteY377" fmla="*/ 1888878 h 3707208"/>
              <a:gd name="connsiteX378" fmla="*/ 4294368 w 4937745"/>
              <a:gd name="connsiteY378" fmla="*/ 1987731 h 3707208"/>
              <a:gd name="connsiteX379" fmla="*/ 4190959 w 4937745"/>
              <a:gd name="connsiteY379" fmla="*/ 2091748 h 3707208"/>
              <a:gd name="connsiteX380" fmla="*/ 4479054 w 4937745"/>
              <a:gd name="connsiteY380" fmla="*/ 2383556 h 3707208"/>
              <a:gd name="connsiteX381" fmla="*/ 4470129 w 4937745"/>
              <a:gd name="connsiteY381" fmla="*/ 2494773 h 3707208"/>
              <a:gd name="connsiteX382" fmla="*/ 4483287 w 4937745"/>
              <a:gd name="connsiteY382" fmla="*/ 1749670 h 3707208"/>
              <a:gd name="connsiteX383" fmla="*/ 4505027 w 4937745"/>
              <a:gd name="connsiteY383" fmla="*/ 1931721 h 3707208"/>
              <a:gd name="connsiteX384" fmla="*/ 4368023 w 4937745"/>
              <a:gd name="connsiteY384" fmla="*/ 1597276 h 3707208"/>
              <a:gd name="connsiteX385" fmla="*/ 4360901 w 4937745"/>
              <a:gd name="connsiteY385" fmla="*/ 1575996 h 3707208"/>
              <a:gd name="connsiteX386" fmla="*/ 4248008 w 4937745"/>
              <a:gd name="connsiteY386" fmla="*/ 1513501 h 3707208"/>
              <a:gd name="connsiteX387" fmla="*/ 4172345 w 4937745"/>
              <a:gd name="connsiteY387" fmla="*/ 1411395 h 3707208"/>
              <a:gd name="connsiteX388" fmla="*/ 4146246 w 4937745"/>
              <a:gd name="connsiteY388" fmla="*/ 1459381 h 3707208"/>
              <a:gd name="connsiteX389" fmla="*/ 4078165 w 4937745"/>
              <a:gd name="connsiteY389" fmla="*/ 1777984 h 3707208"/>
              <a:gd name="connsiteX390" fmla="*/ 3991411 w 4937745"/>
              <a:gd name="connsiteY390" fmla="*/ 1932828 h 3707208"/>
              <a:gd name="connsiteX391" fmla="*/ 3831708 w 4937745"/>
              <a:gd name="connsiteY391" fmla="*/ 1994099 h 3707208"/>
              <a:gd name="connsiteX392" fmla="*/ 3967761 w 4937745"/>
              <a:gd name="connsiteY392" fmla="*/ 1908531 h 3707208"/>
              <a:gd name="connsiteX393" fmla="*/ 4024320 w 4937745"/>
              <a:gd name="connsiteY393" fmla="*/ 1767354 h 3707208"/>
              <a:gd name="connsiteX394" fmla="*/ 4080350 w 4937745"/>
              <a:gd name="connsiteY394" fmla="*/ 1431381 h 3707208"/>
              <a:gd name="connsiteX395" fmla="*/ 4182994 w 4937745"/>
              <a:gd name="connsiteY395" fmla="*/ 1284081 h 3707208"/>
              <a:gd name="connsiteX396" fmla="*/ 4280505 w 4937745"/>
              <a:gd name="connsiteY396" fmla="*/ 1165516 h 3707208"/>
              <a:gd name="connsiteX397" fmla="*/ 4222330 w 4937745"/>
              <a:gd name="connsiteY397" fmla="*/ 872327 h 3707208"/>
              <a:gd name="connsiteX398" fmla="*/ 4327571 w 4937745"/>
              <a:gd name="connsiteY398" fmla="*/ 1007302 h 3707208"/>
              <a:gd name="connsiteX399" fmla="*/ 4334497 w 4937745"/>
              <a:gd name="connsiteY399" fmla="*/ 1187628 h 3707208"/>
              <a:gd name="connsiteX400" fmla="*/ 4231784 w 4937745"/>
              <a:gd name="connsiteY400" fmla="*/ 1333282 h 3707208"/>
              <a:gd name="connsiteX401" fmla="*/ 4185101 w 4937745"/>
              <a:gd name="connsiteY401" fmla="*/ 1389194 h 3707208"/>
              <a:gd name="connsiteX402" fmla="*/ 4278860 w 4937745"/>
              <a:gd name="connsiteY402" fmla="*/ 1476605 h 3707208"/>
              <a:gd name="connsiteX403" fmla="*/ 4366309 w 4937745"/>
              <a:gd name="connsiteY403" fmla="*/ 1552679 h 3707208"/>
              <a:gd name="connsiteX404" fmla="*/ 4397464 w 4937745"/>
              <a:gd name="connsiteY404" fmla="*/ 1549770 h 3707208"/>
              <a:gd name="connsiteX405" fmla="*/ 4523220 w 4937745"/>
              <a:gd name="connsiteY405" fmla="*/ 1474381 h 3707208"/>
              <a:gd name="connsiteX406" fmla="*/ 4560449 w 4937745"/>
              <a:gd name="connsiteY406" fmla="*/ 1310053 h 3707208"/>
              <a:gd name="connsiteX407" fmla="*/ 4570707 w 4937745"/>
              <a:gd name="connsiteY407" fmla="*/ 1500137 h 3707208"/>
              <a:gd name="connsiteX408" fmla="*/ 4446558 w 4937745"/>
              <a:gd name="connsiteY408" fmla="*/ 1610198 h 3707208"/>
              <a:gd name="connsiteX409" fmla="*/ 4483297 w 4937745"/>
              <a:gd name="connsiteY409" fmla="*/ 1749651 h 3707208"/>
              <a:gd name="connsiteX410" fmla="*/ 4759978 w 4937745"/>
              <a:gd name="connsiteY410" fmla="*/ 2122648 h 3707208"/>
              <a:gd name="connsiteX411" fmla="*/ 4715048 w 4937745"/>
              <a:gd name="connsiteY411" fmla="*/ 1816026 h 3707208"/>
              <a:gd name="connsiteX412" fmla="*/ 4654159 w 4937745"/>
              <a:gd name="connsiteY412" fmla="*/ 1676113 h 3707208"/>
              <a:gd name="connsiteX413" fmla="*/ 4560625 w 4937745"/>
              <a:gd name="connsiteY413" fmla="*/ 1550093 h 3707208"/>
              <a:gd name="connsiteX414" fmla="*/ 4700352 w 4937745"/>
              <a:gd name="connsiteY414" fmla="*/ 1643999 h 3707208"/>
              <a:gd name="connsiteX415" fmla="*/ 4783324 w 4937745"/>
              <a:gd name="connsiteY415" fmla="*/ 1792905 h 3707208"/>
              <a:gd name="connsiteX416" fmla="*/ 4759978 w 4937745"/>
              <a:gd name="connsiteY416" fmla="*/ 2122648 h 37072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Lst>
            <a:rect l="l" t="t" r="r" b="b"/>
            <a:pathLst>
              <a:path w="4937745" h="3707208">
                <a:moveTo>
                  <a:pt x="1018184" y="2507225"/>
                </a:moveTo>
                <a:cubicBezTo>
                  <a:pt x="976203" y="2508714"/>
                  <a:pt x="933566" y="2504315"/>
                  <a:pt x="892810" y="2492029"/>
                </a:cubicBezTo>
                <a:cubicBezTo>
                  <a:pt x="821938" y="2471171"/>
                  <a:pt x="750830" y="2428426"/>
                  <a:pt x="706821" y="2360650"/>
                </a:cubicBezTo>
                <a:cubicBezTo>
                  <a:pt x="683328" y="2369261"/>
                  <a:pt x="660481" y="2370682"/>
                  <a:pt x="638584" y="2370986"/>
                </a:cubicBezTo>
                <a:cubicBezTo>
                  <a:pt x="607625" y="2370751"/>
                  <a:pt x="577891" y="2365166"/>
                  <a:pt x="549420" y="2355790"/>
                </a:cubicBezTo>
                <a:cubicBezTo>
                  <a:pt x="492734" y="2337195"/>
                  <a:pt x="439810" y="2304934"/>
                  <a:pt x="399475" y="2259661"/>
                </a:cubicBezTo>
                <a:cubicBezTo>
                  <a:pt x="359209" y="2214574"/>
                  <a:pt x="331728" y="2158055"/>
                  <a:pt x="320745" y="2099771"/>
                </a:cubicBezTo>
                <a:cubicBezTo>
                  <a:pt x="311908" y="2053803"/>
                  <a:pt x="312525" y="2007688"/>
                  <a:pt x="318110" y="1963033"/>
                </a:cubicBezTo>
                <a:cubicBezTo>
                  <a:pt x="289179" y="1961269"/>
                  <a:pt x="260512" y="1952697"/>
                  <a:pt x="237783" y="1936198"/>
                </a:cubicBezTo>
                <a:cubicBezTo>
                  <a:pt x="224459" y="1926822"/>
                  <a:pt x="214240" y="1915076"/>
                  <a:pt x="204218" y="1903329"/>
                </a:cubicBezTo>
                <a:cubicBezTo>
                  <a:pt x="204061" y="1952432"/>
                  <a:pt x="201308" y="2001300"/>
                  <a:pt x="201191" y="2049708"/>
                </a:cubicBezTo>
                <a:cubicBezTo>
                  <a:pt x="198898" y="2110597"/>
                  <a:pt x="199202" y="2172398"/>
                  <a:pt x="217532" y="2224989"/>
                </a:cubicBezTo>
                <a:cubicBezTo>
                  <a:pt x="226800" y="2251088"/>
                  <a:pt x="240340" y="2273935"/>
                  <a:pt x="257867" y="2293148"/>
                </a:cubicBezTo>
                <a:cubicBezTo>
                  <a:pt x="275708" y="2313124"/>
                  <a:pt x="297369" y="2324489"/>
                  <a:pt x="326682" y="2344622"/>
                </a:cubicBezTo>
                <a:cubicBezTo>
                  <a:pt x="379802" y="2383614"/>
                  <a:pt x="424350" y="2427858"/>
                  <a:pt x="469505" y="2469496"/>
                </a:cubicBezTo>
                <a:cubicBezTo>
                  <a:pt x="557336" y="2553918"/>
                  <a:pt x="649410" y="2633059"/>
                  <a:pt x="762773" y="2655221"/>
                </a:cubicBezTo>
                <a:cubicBezTo>
                  <a:pt x="817460" y="2664979"/>
                  <a:pt x="882984" y="2663215"/>
                  <a:pt x="941649" y="2658659"/>
                </a:cubicBezTo>
                <a:cubicBezTo>
                  <a:pt x="998825" y="2653378"/>
                  <a:pt x="1059714" y="2643738"/>
                  <a:pt x="1105104" y="2604971"/>
                </a:cubicBezTo>
                <a:cubicBezTo>
                  <a:pt x="1107358" y="2562794"/>
                  <a:pt x="1111953" y="2520931"/>
                  <a:pt x="1118154" y="2478833"/>
                </a:cubicBezTo>
                <a:cubicBezTo>
                  <a:pt x="1108122" y="2488473"/>
                  <a:pt x="1093358" y="2494479"/>
                  <a:pt x="1080612" y="2498231"/>
                </a:cubicBezTo>
                <a:cubicBezTo>
                  <a:pt x="1060214" y="2503894"/>
                  <a:pt x="1039199" y="2506382"/>
                  <a:pt x="1018194" y="2507225"/>
                </a:cubicBezTo>
                <a:close/>
                <a:moveTo>
                  <a:pt x="2876898" y="1495768"/>
                </a:moveTo>
                <a:cubicBezTo>
                  <a:pt x="2806711" y="1503654"/>
                  <a:pt x="2733419" y="1470697"/>
                  <a:pt x="2681416" y="1422103"/>
                </a:cubicBezTo>
                <a:cubicBezTo>
                  <a:pt x="2643491" y="1388420"/>
                  <a:pt x="2613375" y="1347968"/>
                  <a:pt x="2587618" y="1304792"/>
                </a:cubicBezTo>
                <a:cubicBezTo>
                  <a:pt x="2588647" y="1357912"/>
                  <a:pt x="2579045" y="1411806"/>
                  <a:pt x="2554739" y="1462624"/>
                </a:cubicBezTo>
                <a:cubicBezTo>
                  <a:pt x="2525240" y="1522053"/>
                  <a:pt x="2474412" y="1570647"/>
                  <a:pt x="2416158" y="1597109"/>
                </a:cubicBezTo>
                <a:cubicBezTo>
                  <a:pt x="2373913" y="1617468"/>
                  <a:pt x="2328866" y="1626570"/>
                  <a:pt x="2284201" y="1628333"/>
                </a:cubicBezTo>
                <a:cubicBezTo>
                  <a:pt x="2277470" y="1654550"/>
                  <a:pt x="2264116" y="1675251"/>
                  <a:pt x="2247775" y="1692239"/>
                </a:cubicBezTo>
                <a:cubicBezTo>
                  <a:pt x="2329894" y="1675516"/>
                  <a:pt x="2411612" y="1658302"/>
                  <a:pt x="2492399" y="1637934"/>
                </a:cubicBezTo>
                <a:cubicBezTo>
                  <a:pt x="2624847" y="1604340"/>
                  <a:pt x="2756687" y="1560938"/>
                  <a:pt x="2876898" y="1495758"/>
                </a:cubicBezTo>
                <a:close/>
                <a:moveTo>
                  <a:pt x="2450527" y="216457"/>
                </a:moveTo>
                <a:cubicBezTo>
                  <a:pt x="2404372" y="205974"/>
                  <a:pt x="2356494" y="203446"/>
                  <a:pt x="2310114" y="207120"/>
                </a:cubicBezTo>
                <a:cubicBezTo>
                  <a:pt x="2264155" y="211294"/>
                  <a:pt x="2217766" y="221052"/>
                  <a:pt x="2182104" y="242331"/>
                </a:cubicBezTo>
                <a:cubicBezTo>
                  <a:pt x="2144297" y="261965"/>
                  <a:pt x="2130474" y="292688"/>
                  <a:pt x="2127299" y="334600"/>
                </a:cubicBezTo>
                <a:cubicBezTo>
                  <a:pt x="2121098" y="414927"/>
                  <a:pt x="2192969" y="488945"/>
                  <a:pt x="2264038" y="552587"/>
                </a:cubicBezTo>
                <a:lnTo>
                  <a:pt x="2376058" y="650784"/>
                </a:lnTo>
                <a:cubicBezTo>
                  <a:pt x="2395085" y="669878"/>
                  <a:pt x="2415443" y="689355"/>
                  <a:pt x="2433117" y="710674"/>
                </a:cubicBezTo>
                <a:cubicBezTo>
                  <a:pt x="2429943" y="627937"/>
                  <a:pt x="2436565" y="544044"/>
                  <a:pt x="2457189" y="462189"/>
                </a:cubicBezTo>
                <a:cubicBezTo>
                  <a:pt x="2474755" y="391238"/>
                  <a:pt x="2507017" y="322080"/>
                  <a:pt x="2554700" y="263297"/>
                </a:cubicBezTo>
                <a:cubicBezTo>
                  <a:pt x="2524162" y="238726"/>
                  <a:pt x="2487961" y="224148"/>
                  <a:pt x="2450527" y="216457"/>
                </a:cubicBezTo>
                <a:close/>
                <a:moveTo>
                  <a:pt x="4653218" y="1406320"/>
                </a:moveTo>
                <a:cubicBezTo>
                  <a:pt x="4666425" y="1028708"/>
                  <a:pt x="4355092" y="763578"/>
                  <a:pt x="4215943" y="809997"/>
                </a:cubicBezTo>
                <a:cubicBezTo>
                  <a:pt x="4215943" y="809997"/>
                  <a:pt x="4103314" y="624459"/>
                  <a:pt x="3944267" y="531739"/>
                </a:cubicBezTo>
                <a:cubicBezTo>
                  <a:pt x="3858121" y="346200"/>
                  <a:pt x="3705727" y="326342"/>
                  <a:pt x="3506952" y="306483"/>
                </a:cubicBezTo>
                <a:cubicBezTo>
                  <a:pt x="3480471" y="306483"/>
                  <a:pt x="3374466" y="147475"/>
                  <a:pt x="3096237" y="140852"/>
                </a:cubicBezTo>
                <a:cubicBezTo>
                  <a:pt x="2884295" y="-18155"/>
                  <a:pt x="2645685" y="-71129"/>
                  <a:pt x="2214954" y="134229"/>
                </a:cubicBezTo>
                <a:cubicBezTo>
                  <a:pt x="1850432" y="48085"/>
                  <a:pt x="1578904" y="180658"/>
                  <a:pt x="1346986" y="425773"/>
                </a:cubicBezTo>
                <a:cubicBezTo>
                  <a:pt x="1035505" y="346288"/>
                  <a:pt x="558541" y="558259"/>
                  <a:pt x="664596" y="876324"/>
                </a:cubicBezTo>
                <a:cubicBezTo>
                  <a:pt x="313466" y="982329"/>
                  <a:pt x="207422" y="1326875"/>
                  <a:pt x="301494" y="1459371"/>
                </a:cubicBezTo>
                <a:cubicBezTo>
                  <a:pt x="301494" y="1459371"/>
                  <a:pt x="174248" y="1479269"/>
                  <a:pt x="147796" y="1611805"/>
                </a:cubicBezTo>
                <a:cubicBezTo>
                  <a:pt x="2181" y="1651493"/>
                  <a:pt x="-70768" y="1843684"/>
                  <a:pt x="94872" y="2029183"/>
                </a:cubicBezTo>
                <a:cubicBezTo>
                  <a:pt x="-30926" y="2479734"/>
                  <a:pt x="214162" y="2406912"/>
                  <a:pt x="373130" y="2546061"/>
                </a:cubicBezTo>
                <a:cubicBezTo>
                  <a:pt x="432717" y="2983376"/>
                  <a:pt x="969492" y="2956777"/>
                  <a:pt x="1108759" y="2718392"/>
                </a:cubicBezTo>
                <a:cubicBezTo>
                  <a:pt x="1088851" y="2943648"/>
                  <a:pt x="1274389" y="3255011"/>
                  <a:pt x="1685223" y="3255011"/>
                </a:cubicBezTo>
                <a:cubicBezTo>
                  <a:pt x="2054800" y="3255011"/>
                  <a:pt x="2413807" y="3067719"/>
                  <a:pt x="2810131" y="2909466"/>
                </a:cubicBezTo>
                <a:cubicBezTo>
                  <a:pt x="2817204" y="2927571"/>
                  <a:pt x="2827579" y="2944794"/>
                  <a:pt x="2842236" y="2959412"/>
                </a:cubicBezTo>
                <a:lnTo>
                  <a:pt x="3547787" y="3664963"/>
                </a:lnTo>
                <a:cubicBezTo>
                  <a:pt x="3575993" y="3693169"/>
                  <a:pt x="3612850" y="3707208"/>
                  <a:pt x="3649736" y="3707208"/>
                </a:cubicBezTo>
                <a:cubicBezTo>
                  <a:pt x="3686593" y="3707208"/>
                  <a:pt x="3723479" y="3693169"/>
                  <a:pt x="3751607" y="3664963"/>
                </a:cubicBezTo>
                <a:cubicBezTo>
                  <a:pt x="3807823" y="3608669"/>
                  <a:pt x="3807823" y="3517467"/>
                  <a:pt x="3751607" y="3461133"/>
                </a:cubicBezTo>
                <a:lnTo>
                  <a:pt x="3448924" y="3158490"/>
                </a:lnTo>
                <a:cubicBezTo>
                  <a:pt x="3948196" y="3248428"/>
                  <a:pt x="4523083" y="2932773"/>
                  <a:pt x="4494377" y="2492931"/>
                </a:cubicBezTo>
                <a:cubicBezTo>
                  <a:pt x="4627099" y="2466596"/>
                  <a:pt x="4719515" y="2386769"/>
                  <a:pt x="4792465" y="2174827"/>
                </a:cubicBezTo>
                <a:cubicBezTo>
                  <a:pt x="5090631" y="1949650"/>
                  <a:pt x="4871910" y="1538816"/>
                  <a:pt x="4653199" y="1406330"/>
                </a:cubicBezTo>
                <a:close/>
                <a:moveTo>
                  <a:pt x="3956014" y="1004029"/>
                </a:moveTo>
                <a:cubicBezTo>
                  <a:pt x="3973238" y="991401"/>
                  <a:pt x="3992597" y="981721"/>
                  <a:pt x="4012808" y="977734"/>
                </a:cubicBezTo>
                <a:cubicBezTo>
                  <a:pt x="4071131" y="969357"/>
                  <a:pt x="4127347" y="988374"/>
                  <a:pt x="4162901" y="1032657"/>
                </a:cubicBezTo>
                <a:cubicBezTo>
                  <a:pt x="4107714" y="1041494"/>
                  <a:pt x="4063969" y="1041386"/>
                  <a:pt x="4025133" y="1048695"/>
                </a:cubicBezTo>
                <a:cubicBezTo>
                  <a:pt x="4001101" y="1052633"/>
                  <a:pt x="3979939" y="1059599"/>
                  <a:pt x="3956328" y="1072110"/>
                </a:cubicBezTo>
                <a:cubicBezTo>
                  <a:pt x="3954829" y="1219606"/>
                  <a:pt x="3915483" y="1364182"/>
                  <a:pt x="3854212" y="1496336"/>
                </a:cubicBezTo>
                <a:cubicBezTo>
                  <a:pt x="3792980" y="1626687"/>
                  <a:pt x="3710733" y="1754853"/>
                  <a:pt x="3593569" y="1848347"/>
                </a:cubicBezTo>
                <a:cubicBezTo>
                  <a:pt x="3626056" y="1855088"/>
                  <a:pt x="3656790" y="1871351"/>
                  <a:pt x="3681391" y="1894120"/>
                </a:cubicBezTo>
                <a:cubicBezTo>
                  <a:pt x="3733786" y="1945133"/>
                  <a:pt x="3753037" y="2021443"/>
                  <a:pt x="3732297" y="2085967"/>
                </a:cubicBezTo>
                <a:cubicBezTo>
                  <a:pt x="3695743" y="2028292"/>
                  <a:pt x="3669487" y="1981490"/>
                  <a:pt x="3631415" y="1946015"/>
                </a:cubicBezTo>
                <a:cubicBezTo>
                  <a:pt x="3613310" y="1927645"/>
                  <a:pt x="3592227" y="1912871"/>
                  <a:pt x="3568684" y="1899096"/>
                </a:cubicBezTo>
                <a:cubicBezTo>
                  <a:pt x="3560954" y="1895040"/>
                  <a:pt x="3552617" y="1891102"/>
                  <a:pt x="3544505" y="1887193"/>
                </a:cubicBezTo>
                <a:cubicBezTo>
                  <a:pt x="3411518" y="1975671"/>
                  <a:pt x="3238462" y="2016545"/>
                  <a:pt x="3079983" y="1966648"/>
                </a:cubicBezTo>
                <a:cubicBezTo>
                  <a:pt x="3040217" y="2017848"/>
                  <a:pt x="2994180" y="2065383"/>
                  <a:pt x="2936994" y="2100555"/>
                </a:cubicBezTo>
                <a:cubicBezTo>
                  <a:pt x="2874390" y="2139665"/>
                  <a:pt x="2791888" y="2159524"/>
                  <a:pt x="2718214" y="2133425"/>
                </a:cubicBezTo>
                <a:cubicBezTo>
                  <a:pt x="2644579" y="2108745"/>
                  <a:pt x="2591948" y="2043604"/>
                  <a:pt x="2574000" y="1973114"/>
                </a:cubicBezTo>
                <a:cubicBezTo>
                  <a:pt x="2554102" y="1902163"/>
                  <a:pt x="2577027" y="1821562"/>
                  <a:pt x="2632362" y="1777367"/>
                </a:cubicBezTo>
                <a:cubicBezTo>
                  <a:pt x="2583915" y="1828880"/>
                  <a:pt x="2572011" y="1904612"/>
                  <a:pt x="2595172" y="1966765"/>
                </a:cubicBezTo>
                <a:cubicBezTo>
                  <a:pt x="2617097" y="2029565"/>
                  <a:pt x="2669796" y="2078747"/>
                  <a:pt x="2730039" y="2095970"/>
                </a:cubicBezTo>
                <a:cubicBezTo>
                  <a:pt x="2791115" y="2113576"/>
                  <a:pt x="2856677" y="2094481"/>
                  <a:pt x="2909376" y="2057624"/>
                </a:cubicBezTo>
                <a:cubicBezTo>
                  <a:pt x="2963142" y="2020924"/>
                  <a:pt x="3006162" y="1968646"/>
                  <a:pt x="3044625" y="1913841"/>
                </a:cubicBezTo>
                <a:lnTo>
                  <a:pt x="3057940" y="1894894"/>
                </a:lnTo>
                <a:lnTo>
                  <a:pt x="3080444" y="1902898"/>
                </a:lnTo>
                <a:cubicBezTo>
                  <a:pt x="3221542" y="1952844"/>
                  <a:pt x="3385536" y="1913998"/>
                  <a:pt x="3508765" y="1827087"/>
                </a:cubicBezTo>
                <a:cubicBezTo>
                  <a:pt x="3634139" y="1739785"/>
                  <a:pt x="3727290" y="1609983"/>
                  <a:pt x="3795635" y="1468610"/>
                </a:cubicBezTo>
                <a:cubicBezTo>
                  <a:pt x="3862069" y="1327276"/>
                  <a:pt x="3912280" y="1174049"/>
                  <a:pt x="3912936" y="1017941"/>
                </a:cubicBezTo>
                <a:cubicBezTo>
                  <a:pt x="3912554" y="940211"/>
                  <a:pt x="3897359" y="862569"/>
                  <a:pt x="3863372" y="792225"/>
                </a:cubicBezTo>
                <a:cubicBezTo>
                  <a:pt x="3829043" y="721764"/>
                  <a:pt x="3772484" y="663138"/>
                  <a:pt x="3705736" y="617904"/>
                </a:cubicBezTo>
                <a:cubicBezTo>
                  <a:pt x="3778265" y="653066"/>
                  <a:pt x="3842740" y="708411"/>
                  <a:pt x="3886445" y="779361"/>
                </a:cubicBezTo>
                <a:cubicBezTo>
                  <a:pt x="3928817" y="846403"/>
                  <a:pt x="3949822" y="925358"/>
                  <a:pt x="3956024" y="1004049"/>
                </a:cubicBezTo>
                <a:close/>
                <a:moveTo>
                  <a:pt x="2576381" y="2067607"/>
                </a:moveTo>
                <a:cubicBezTo>
                  <a:pt x="2547068" y="2142653"/>
                  <a:pt x="2504166" y="2215946"/>
                  <a:pt x="2436928" y="2270173"/>
                </a:cubicBezTo>
                <a:cubicBezTo>
                  <a:pt x="2371905" y="2326321"/>
                  <a:pt x="2275814" y="2353792"/>
                  <a:pt x="2187679" y="2336461"/>
                </a:cubicBezTo>
                <a:cubicBezTo>
                  <a:pt x="2099848" y="2319120"/>
                  <a:pt x="2025066" y="2271055"/>
                  <a:pt x="1965901" y="2212967"/>
                </a:cubicBezTo>
                <a:cubicBezTo>
                  <a:pt x="1906197" y="2155018"/>
                  <a:pt x="1859700" y="2085066"/>
                  <a:pt x="1830652" y="2009255"/>
                </a:cubicBezTo>
                <a:cubicBezTo>
                  <a:pt x="1883389" y="2070488"/>
                  <a:pt x="1941477" y="2123912"/>
                  <a:pt x="2002366" y="2170448"/>
                </a:cubicBezTo>
                <a:cubicBezTo>
                  <a:pt x="2063823" y="2215642"/>
                  <a:pt x="2130650" y="2253302"/>
                  <a:pt x="2200533" y="2265588"/>
                </a:cubicBezTo>
                <a:cubicBezTo>
                  <a:pt x="2270034" y="2279588"/>
                  <a:pt x="2341102" y="2263521"/>
                  <a:pt x="2404127" y="2224371"/>
                </a:cubicBezTo>
                <a:cubicBezTo>
                  <a:pt x="2467309" y="2185252"/>
                  <a:pt x="2523114" y="2128458"/>
                  <a:pt x="2576381" y="2067617"/>
                </a:cubicBezTo>
                <a:close/>
                <a:moveTo>
                  <a:pt x="2888929" y="428545"/>
                </a:moveTo>
                <a:cubicBezTo>
                  <a:pt x="2883070" y="390464"/>
                  <a:pt x="2868071" y="343281"/>
                  <a:pt x="2824562" y="333102"/>
                </a:cubicBezTo>
                <a:cubicBezTo>
                  <a:pt x="2871784" y="332337"/>
                  <a:pt x="2900108" y="382851"/>
                  <a:pt x="2912383" y="423225"/>
                </a:cubicBezTo>
                <a:cubicBezTo>
                  <a:pt x="2926090" y="466470"/>
                  <a:pt x="2927961" y="512282"/>
                  <a:pt x="2923562" y="556369"/>
                </a:cubicBezTo>
                <a:cubicBezTo>
                  <a:pt x="2919731" y="594489"/>
                  <a:pt x="2912276" y="632032"/>
                  <a:pt x="2902900" y="668957"/>
                </a:cubicBezTo>
                <a:cubicBezTo>
                  <a:pt x="2936034" y="642133"/>
                  <a:pt x="2971901" y="618365"/>
                  <a:pt x="3010825" y="599731"/>
                </a:cubicBezTo>
                <a:cubicBezTo>
                  <a:pt x="3095708" y="560728"/>
                  <a:pt x="3195207" y="543280"/>
                  <a:pt x="3288858" y="567498"/>
                </a:cubicBezTo>
                <a:cubicBezTo>
                  <a:pt x="3383038" y="589277"/>
                  <a:pt x="3463061" y="655447"/>
                  <a:pt x="3508647" y="735441"/>
                </a:cubicBezTo>
                <a:cubicBezTo>
                  <a:pt x="3556105" y="815650"/>
                  <a:pt x="3568841" y="908409"/>
                  <a:pt x="3566509" y="995663"/>
                </a:cubicBezTo>
                <a:cubicBezTo>
                  <a:pt x="3550393" y="909213"/>
                  <a:pt x="3521697" y="826084"/>
                  <a:pt x="3472976" y="758542"/>
                </a:cubicBezTo>
                <a:cubicBezTo>
                  <a:pt x="3424637" y="690462"/>
                  <a:pt x="3352040" y="646679"/>
                  <a:pt x="3274701" y="631033"/>
                </a:cubicBezTo>
                <a:cubicBezTo>
                  <a:pt x="3196745" y="616337"/>
                  <a:pt x="3114156" y="629877"/>
                  <a:pt x="3041255" y="664931"/>
                </a:cubicBezTo>
                <a:cubicBezTo>
                  <a:pt x="2967316" y="698574"/>
                  <a:pt x="2903370" y="753144"/>
                  <a:pt x="2849986" y="816747"/>
                </a:cubicBezTo>
                <a:lnTo>
                  <a:pt x="2683473" y="1014914"/>
                </a:lnTo>
                <a:lnTo>
                  <a:pt x="2795494" y="783378"/>
                </a:lnTo>
                <a:cubicBezTo>
                  <a:pt x="2831812" y="708371"/>
                  <a:pt x="2866944" y="631944"/>
                  <a:pt x="2882404" y="550696"/>
                </a:cubicBezTo>
                <a:cubicBezTo>
                  <a:pt x="2889566" y="510361"/>
                  <a:pt x="2894347" y="469037"/>
                  <a:pt x="2888949" y="428536"/>
                </a:cubicBezTo>
                <a:close/>
                <a:moveTo>
                  <a:pt x="452184" y="1408260"/>
                </a:moveTo>
                <a:cubicBezTo>
                  <a:pt x="435499" y="1349594"/>
                  <a:pt x="427113" y="1286755"/>
                  <a:pt x="436910" y="1223985"/>
                </a:cubicBezTo>
                <a:cubicBezTo>
                  <a:pt x="445757" y="1158815"/>
                  <a:pt x="473003" y="1094780"/>
                  <a:pt x="515640" y="1042699"/>
                </a:cubicBezTo>
                <a:cubicBezTo>
                  <a:pt x="593174" y="948666"/>
                  <a:pt x="710093" y="897544"/>
                  <a:pt x="830030" y="887365"/>
                </a:cubicBezTo>
                <a:cubicBezTo>
                  <a:pt x="823554" y="833981"/>
                  <a:pt x="824593" y="777529"/>
                  <a:pt x="846058" y="723488"/>
                </a:cubicBezTo>
                <a:cubicBezTo>
                  <a:pt x="871589" y="656133"/>
                  <a:pt x="927423" y="605080"/>
                  <a:pt x="985364" y="573925"/>
                </a:cubicBezTo>
                <a:cubicBezTo>
                  <a:pt x="1044068" y="542271"/>
                  <a:pt x="1105839" y="524743"/>
                  <a:pt x="1165543" y="508294"/>
                </a:cubicBezTo>
                <a:cubicBezTo>
                  <a:pt x="1223905" y="491453"/>
                  <a:pt x="1287625" y="481048"/>
                  <a:pt x="1330644" y="452989"/>
                </a:cubicBezTo>
                <a:lnTo>
                  <a:pt x="1353148" y="438293"/>
                </a:lnTo>
                <a:lnTo>
                  <a:pt x="1365816" y="458191"/>
                </a:lnTo>
                <a:cubicBezTo>
                  <a:pt x="1382736" y="484604"/>
                  <a:pt x="1411667" y="502210"/>
                  <a:pt x="1445800" y="507638"/>
                </a:cubicBezTo>
                <a:cubicBezTo>
                  <a:pt x="1479747" y="513339"/>
                  <a:pt x="1516565" y="509176"/>
                  <a:pt x="1552187" y="500525"/>
                </a:cubicBezTo>
                <a:cubicBezTo>
                  <a:pt x="1624020" y="482038"/>
                  <a:pt x="1690993" y="441203"/>
                  <a:pt x="1744652" y="386016"/>
                </a:cubicBezTo>
                <a:cubicBezTo>
                  <a:pt x="1690268" y="474798"/>
                  <a:pt x="1643389" y="565735"/>
                  <a:pt x="1615986" y="661061"/>
                </a:cubicBezTo>
                <a:cubicBezTo>
                  <a:pt x="1588515" y="756201"/>
                  <a:pt x="1581471" y="855162"/>
                  <a:pt x="1588544" y="954515"/>
                </a:cubicBezTo>
                <a:cubicBezTo>
                  <a:pt x="1591728" y="1056464"/>
                  <a:pt x="1614957" y="1148694"/>
                  <a:pt x="1649326" y="1245901"/>
                </a:cubicBezTo>
                <a:cubicBezTo>
                  <a:pt x="1666118" y="1294005"/>
                  <a:pt x="1684341" y="1342570"/>
                  <a:pt x="1699076" y="1393280"/>
                </a:cubicBezTo>
                <a:cubicBezTo>
                  <a:pt x="1711362" y="1443226"/>
                  <a:pt x="1726165" y="1500323"/>
                  <a:pt x="1704778" y="1550073"/>
                </a:cubicBezTo>
                <a:cubicBezTo>
                  <a:pt x="1709559" y="1497913"/>
                  <a:pt x="1688740" y="1450995"/>
                  <a:pt x="1666197" y="1405683"/>
                </a:cubicBezTo>
                <a:lnTo>
                  <a:pt x="1597391" y="1267102"/>
                </a:lnTo>
                <a:cubicBezTo>
                  <a:pt x="1574662" y="1219910"/>
                  <a:pt x="1555792" y="1170052"/>
                  <a:pt x="1540979" y="1118196"/>
                </a:cubicBezTo>
                <a:cubicBezTo>
                  <a:pt x="1535542" y="1098680"/>
                  <a:pt x="1532368" y="1079085"/>
                  <a:pt x="1529076" y="1059452"/>
                </a:cubicBezTo>
                <a:cubicBezTo>
                  <a:pt x="1434974" y="1051761"/>
                  <a:pt x="1341020" y="1049038"/>
                  <a:pt x="1254599" y="1068064"/>
                </a:cubicBezTo>
                <a:cubicBezTo>
                  <a:pt x="1156510" y="1089029"/>
                  <a:pt x="1081924" y="1151800"/>
                  <a:pt x="1037573" y="1241120"/>
                </a:cubicBezTo>
                <a:cubicBezTo>
                  <a:pt x="989625" y="1328413"/>
                  <a:pt x="962448" y="1432811"/>
                  <a:pt x="906458" y="1528833"/>
                </a:cubicBezTo>
                <a:cubicBezTo>
                  <a:pt x="878790" y="1576633"/>
                  <a:pt x="841708" y="1621945"/>
                  <a:pt x="794133" y="1652718"/>
                </a:cubicBezTo>
                <a:cubicBezTo>
                  <a:pt x="746186" y="1682599"/>
                  <a:pt x="691489" y="1698138"/>
                  <a:pt x="638104" y="1697912"/>
                </a:cubicBezTo>
                <a:cubicBezTo>
                  <a:pt x="743923" y="1670588"/>
                  <a:pt x="817627" y="1595160"/>
                  <a:pt x="856855" y="1502694"/>
                </a:cubicBezTo>
                <a:cubicBezTo>
                  <a:pt x="898610" y="1410621"/>
                  <a:pt x="921996" y="1306555"/>
                  <a:pt x="974156" y="1206909"/>
                </a:cubicBezTo>
                <a:cubicBezTo>
                  <a:pt x="1000873" y="1157923"/>
                  <a:pt x="1036534" y="1109858"/>
                  <a:pt x="1084217" y="1074569"/>
                </a:cubicBezTo>
                <a:cubicBezTo>
                  <a:pt x="1132174" y="1040054"/>
                  <a:pt x="1188733" y="1019117"/>
                  <a:pt x="1244684" y="1012690"/>
                </a:cubicBezTo>
                <a:cubicBezTo>
                  <a:pt x="1343616" y="1000287"/>
                  <a:pt x="1438060" y="1020038"/>
                  <a:pt x="1527116" y="1049851"/>
                </a:cubicBezTo>
                <a:cubicBezTo>
                  <a:pt x="1522453" y="1019617"/>
                  <a:pt x="1519043" y="989383"/>
                  <a:pt x="1516633" y="959374"/>
                </a:cubicBezTo>
                <a:cubicBezTo>
                  <a:pt x="1513606" y="909399"/>
                  <a:pt x="1514870" y="858493"/>
                  <a:pt x="1520954" y="808018"/>
                </a:cubicBezTo>
                <a:cubicBezTo>
                  <a:pt x="1475182" y="775531"/>
                  <a:pt x="1435190" y="746904"/>
                  <a:pt x="1391906" y="734079"/>
                </a:cubicBezTo>
                <a:cubicBezTo>
                  <a:pt x="1339628" y="716013"/>
                  <a:pt x="1281081" y="722528"/>
                  <a:pt x="1207906" y="730640"/>
                </a:cubicBezTo>
                <a:cubicBezTo>
                  <a:pt x="1230714" y="702160"/>
                  <a:pt x="1260840" y="678970"/>
                  <a:pt x="1297236" y="667106"/>
                </a:cubicBezTo>
                <a:cubicBezTo>
                  <a:pt x="1333172" y="654173"/>
                  <a:pt x="1375300" y="653713"/>
                  <a:pt x="1413803" y="665499"/>
                </a:cubicBezTo>
                <a:cubicBezTo>
                  <a:pt x="1466345" y="683261"/>
                  <a:pt x="1504534" y="720569"/>
                  <a:pt x="1528341" y="764352"/>
                </a:cubicBezTo>
                <a:cubicBezTo>
                  <a:pt x="1536032" y="722832"/>
                  <a:pt x="1546436" y="681841"/>
                  <a:pt x="1562660" y="642730"/>
                </a:cubicBezTo>
                <a:cubicBezTo>
                  <a:pt x="1588456" y="576796"/>
                  <a:pt x="1626694" y="518121"/>
                  <a:pt x="1670733" y="465196"/>
                </a:cubicBezTo>
                <a:cubicBezTo>
                  <a:pt x="1638089" y="491678"/>
                  <a:pt x="1601241" y="513653"/>
                  <a:pt x="1561318" y="529456"/>
                </a:cubicBezTo>
                <a:cubicBezTo>
                  <a:pt x="1523971" y="544112"/>
                  <a:pt x="1482872" y="552460"/>
                  <a:pt x="1440235" y="548325"/>
                </a:cubicBezTo>
                <a:cubicBezTo>
                  <a:pt x="1405220" y="545680"/>
                  <a:pt x="1368755" y="530063"/>
                  <a:pt x="1341539" y="503699"/>
                </a:cubicBezTo>
                <a:cubicBezTo>
                  <a:pt x="1288693" y="536765"/>
                  <a:pt x="1234652" y="550236"/>
                  <a:pt x="1182874" y="568066"/>
                </a:cubicBezTo>
                <a:cubicBezTo>
                  <a:pt x="1124669" y="586289"/>
                  <a:pt x="1067983" y="605766"/>
                  <a:pt x="1019115" y="634276"/>
                </a:cubicBezTo>
                <a:cubicBezTo>
                  <a:pt x="969943" y="661943"/>
                  <a:pt x="930637" y="700485"/>
                  <a:pt x="912610" y="749509"/>
                </a:cubicBezTo>
                <a:cubicBezTo>
                  <a:pt x="894358" y="798270"/>
                  <a:pt x="894241" y="855329"/>
                  <a:pt x="904498" y="911809"/>
                </a:cubicBezTo>
                <a:lnTo>
                  <a:pt x="912003" y="953790"/>
                </a:lnTo>
                <a:lnTo>
                  <a:pt x="869601" y="953525"/>
                </a:lnTo>
                <a:cubicBezTo>
                  <a:pt x="755709" y="952869"/>
                  <a:pt x="636801" y="995702"/>
                  <a:pt x="558120" y="1079781"/>
                </a:cubicBezTo>
                <a:cubicBezTo>
                  <a:pt x="518736" y="1121419"/>
                  <a:pt x="491029" y="1174078"/>
                  <a:pt x="478744" y="1231519"/>
                </a:cubicBezTo>
                <a:cubicBezTo>
                  <a:pt x="466350" y="1288999"/>
                  <a:pt x="467957" y="1350045"/>
                  <a:pt x="477441" y="1410395"/>
                </a:cubicBezTo>
                <a:lnTo>
                  <a:pt x="478822" y="1418625"/>
                </a:lnTo>
                <a:lnTo>
                  <a:pt x="473277" y="1422446"/>
                </a:lnTo>
                <a:cubicBezTo>
                  <a:pt x="429151" y="1452954"/>
                  <a:pt x="375109" y="1466572"/>
                  <a:pt x="324635" y="1459420"/>
                </a:cubicBezTo>
                <a:cubicBezTo>
                  <a:pt x="372582" y="1456207"/>
                  <a:pt x="417551" y="1437455"/>
                  <a:pt x="452193" y="1408250"/>
                </a:cubicBezTo>
                <a:close/>
                <a:moveTo>
                  <a:pt x="1315253" y="2117445"/>
                </a:moveTo>
                <a:cubicBezTo>
                  <a:pt x="1178701" y="2279363"/>
                  <a:pt x="1127197" y="2499309"/>
                  <a:pt x="1101137" y="2714072"/>
                </a:cubicBezTo>
                <a:cubicBezTo>
                  <a:pt x="1100372" y="2678518"/>
                  <a:pt x="1103125" y="2642847"/>
                  <a:pt x="1104967" y="2607185"/>
                </a:cubicBezTo>
                <a:cubicBezTo>
                  <a:pt x="1068532" y="2656749"/>
                  <a:pt x="1004086" y="2676373"/>
                  <a:pt x="947028" y="2692107"/>
                </a:cubicBezTo>
                <a:cubicBezTo>
                  <a:pt x="883346" y="2704931"/>
                  <a:pt x="823917" y="2712083"/>
                  <a:pt x="755484" y="2708635"/>
                </a:cubicBezTo>
                <a:cubicBezTo>
                  <a:pt x="617824" y="2697505"/>
                  <a:pt x="509409" y="2605167"/>
                  <a:pt x="420196" y="2521920"/>
                </a:cubicBezTo>
                <a:cubicBezTo>
                  <a:pt x="374992" y="2478940"/>
                  <a:pt x="331708" y="2435275"/>
                  <a:pt x="285828" y="2399564"/>
                </a:cubicBezTo>
                <a:cubicBezTo>
                  <a:pt x="265234" y="2383222"/>
                  <a:pt x="232512" y="2362981"/>
                  <a:pt x="210282" y="2334815"/>
                </a:cubicBezTo>
                <a:cubicBezTo>
                  <a:pt x="186897" y="2307373"/>
                  <a:pt x="171476" y="2273808"/>
                  <a:pt x="164128" y="2240292"/>
                </a:cubicBezTo>
                <a:cubicBezTo>
                  <a:pt x="140096" y="2116603"/>
                  <a:pt x="174229" y="2007267"/>
                  <a:pt x="197536" y="1897010"/>
                </a:cubicBezTo>
                <a:cubicBezTo>
                  <a:pt x="184486" y="1880325"/>
                  <a:pt x="173661" y="1862367"/>
                  <a:pt x="165539" y="1843772"/>
                </a:cubicBezTo>
                <a:cubicBezTo>
                  <a:pt x="137186" y="1773203"/>
                  <a:pt x="133737" y="1697736"/>
                  <a:pt x="147061" y="1627549"/>
                </a:cubicBezTo>
                <a:cubicBezTo>
                  <a:pt x="150735" y="1698617"/>
                  <a:pt x="165010" y="1769265"/>
                  <a:pt x="199447" y="1826862"/>
                </a:cubicBezTo>
                <a:cubicBezTo>
                  <a:pt x="215681" y="1855685"/>
                  <a:pt x="237803" y="1880521"/>
                  <a:pt x="263824" y="1894678"/>
                </a:cubicBezTo>
                <a:cubicBezTo>
                  <a:pt x="289727" y="1909148"/>
                  <a:pt x="318698" y="1910902"/>
                  <a:pt x="346404" y="1902486"/>
                </a:cubicBezTo>
                <a:lnTo>
                  <a:pt x="350460" y="1901262"/>
                </a:lnTo>
                <a:cubicBezTo>
                  <a:pt x="347942" y="1858360"/>
                  <a:pt x="353144" y="1820660"/>
                  <a:pt x="349314" y="1792954"/>
                </a:cubicBezTo>
                <a:cubicBezTo>
                  <a:pt x="348167" y="1776348"/>
                  <a:pt x="343504" y="1766659"/>
                  <a:pt x="331747" y="1750278"/>
                </a:cubicBezTo>
                <a:cubicBezTo>
                  <a:pt x="318551" y="1735475"/>
                  <a:pt x="300406" y="1718369"/>
                  <a:pt x="280273" y="1697814"/>
                </a:cubicBezTo>
                <a:cubicBezTo>
                  <a:pt x="307333" y="1691495"/>
                  <a:pt x="336225" y="1691348"/>
                  <a:pt x="363902" y="1704398"/>
                </a:cubicBezTo>
                <a:cubicBezTo>
                  <a:pt x="392372" y="1716145"/>
                  <a:pt x="418168" y="1750974"/>
                  <a:pt x="420803" y="1784078"/>
                </a:cubicBezTo>
                <a:cubicBezTo>
                  <a:pt x="423331" y="1828587"/>
                  <a:pt x="410320" y="1863748"/>
                  <a:pt x="388659" y="1893296"/>
                </a:cubicBezTo>
                <a:lnTo>
                  <a:pt x="382839" y="1936541"/>
                </a:lnTo>
                <a:cubicBezTo>
                  <a:pt x="369329" y="2037344"/>
                  <a:pt x="386974" y="2141556"/>
                  <a:pt x="452683" y="2211625"/>
                </a:cubicBezTo>
                <a:cubicBezTo>
                  <a:pt x="484602" y="2246640"/>
                  <a:pt x="525858" y="2274004"/>
                  <a:pt x="571474" y="2289581"/>
                </a:cubicBezTo>
                <a:cubicBezTo>
                  <a:pt x="614757" y="2304884"/>
                  <a:pt x="671434" y="2310929"/>
                  <a:pt x="699757" y="2294862"/>
                </a:cubicBezTo>
                <a:lnTo>
                  <a:pt x="707566" y="2290463"/>
                </a:lnTo>
                <a:cubicBezTo>
                  <a:pt x="681770" y="2212772"/>
                  <a:pt x="652418" y="2145220"/>
                  <a:pt x="614032" y="2077414"/>
                </a:cubicBezTo>
                <a:cubicBezTo>
                  <a:pt x="593831" y="2038569"/>
                  <a:pt x="570288" y="2000105"/>
                  <a:pt x="551693" y="1956478"/>
                </a:cubicBezTo>
                <a:cubicBezTo>
                  <a:pt x="532706" y="1914302"/>
                  <a:pt x="518246" y="1861681"/>
                  <a:pt x="532177" y="1814763"/>
                </a:cubicBezTo>
                <a:cubicBezTo>
                  <a:pt x="546834" y="1860182"/>
                  <a:pt x="574687" y="1892405"/>
                  <a:pt x="600336" y="1928527"/>
                </a:cubicBezTo>
                <a:cubicBezTo>
                  <a:pt x="627317" y="1963973"/>
                  <a:pt x="653985" y="2001555"/>
                  <a:pt x="677253" y="2042889"/>
                </a:cubicBezTo>
                <a:cubicBezTo>
                  <a:pt x="699415" y="2084635"/>
                  <a:pt x="718166" y="2129947"/>
                  <a:pt x="725739" y="2178021"/>
                </a:cubicBezTo>
                <a:cubicBezTo>
                  <a:pt x="732098" y="2212037"/>
                  <a:pt x="730334" y="2246827"/>
                  <a:pt x="724828" y="2280666"/>
                </a:cubicBezTo>
                <a:lnTo>
                  <a:pt x="733440" y="2275767"/>
                </a:lnTo>
                <a:lnTo>
                  <a:pt x="746255" y="2307755"/>
                </a:lnTo>
                <a:cubicBezTo>
                  <a:pt x="772697" y="2373425"/>
                  <a:pt x="833929" y="2425399"/>
                  <a:pt x="905919" y="2453870"/>
                </a:cubicBezTo>
                <a:cubicBezTo>
                  <a:pt x="942011" y="2467644"/>
                  <a:pt x="979936" y="2479401"/>
                  <a:pt x="1019164" y="2484368"/>
                </a:cubicBezTo>
                <a:cubicBezTo>
                  <a:pt x="1038758" y="2486749"/>
                  <a:pt x="1058548" y="2487699"/>
                  <a:pt x="1078211" y="2485593"/>
                </a:cubicBezTo>
                <a:cubicBezTo>
                  <a:pt x="1091839" y="2483721"/>
                  <a:pt x="1107916" y="2481958"/>
                  <a:pt x="1119046" y="2473464"/>
                </a:cubicBezTo>
                <a:cubicBezTo>
                  <a:pt x="1123455" y="2444494"/>
                  <a:pt x="1126247" y="2415259"/>
                  <a:pt x="1132674" y="2386436"/>
                </a:cubicBezTo>
                <a:cubicBezTo>
                  <a:pt x="1157813" y="2285094"/>
                  <a:pt x="1199265" y="2186133"/>
                  <a:pt x="1260957" y="2098684"/>
                </a:cubicBezTo>
                <a:cubicBezTo>
                  <a:pt x="1231870" y="2106796"/>
                  <a:pt x="1201214" y="2110970"/>
                  <a:pt x="1169570" y="2107952"/>
                </a:cubicBezTo>
                <a:cubicBezTo>
                  <a:pt x="1117028" y="2103739"/>
                  <a:pt x="1064133" y="2078864"/>
                  <a:pt x="1025601" y="2040979"/>
                </a:cubicBezTo>
                <a:cubicBezTo>
                  <a:pt x="987676" y="2002476"/>
                  <a:pt x="962801" y="1955822"/>
                  <a:pt x="947527" y="1909021"/>
                </a:cubicBezTo>
                <a:cubicBezTo>
                  <a:pt x="939415" y="1885753"/>
                  <a:pt x="933909" y="1861985"/>
                  <a:pt x="928589" y="1839138"/>
                </a:cubicBezTo>
                <a:cubicBezTo>
                  <a:pt x="923034" y="1816330"/>
                  <a:pt x="922231" y="1791563"/>
                  <a:pt x="903254" y="1777406"/>
                </a:cubicBezTo>
                <a:cubicBezTo>
                  <a:pt x="931950" y="1777671"/>
                  <a:pt x="945538" y="1807905"/>
                  <a:pt x="960694" y="1824981"/>
                </a:cubicBezTo>
                <a:cubicBezTo>
                  <a:pt x="974322" y="1845565"/>
                  <a:pt x="986598" y="1865816"/>
                  <a:pt x="998433" y="1885557"/>
                </a:cubicBezTo>
                <a:cubicBezTo>
                  <a:pt x="1022612" y="1924559"/>
                  <a:pt x="1046380" y="1961259"/>
                  <a:pt x="1076115" y="1989652"/>
                </a:cubicBezTo>
                <a:cubicBezTo>
                  <a:pt x="1125865" y="2041704"/>
                  <a:pt x="1197090" y="2062180"/>
                  <a:pt x="1279944" y="2072819"/>
                </a:cubicBezTo>
                <a:cubicBezTo>
                  <a:pt x="1336621" y="1998420"/>
                  <a:pt x="1411667" y="1939098"/>
                  <a:pt x="1493875" y="1894668"/>
                </a:cubicBezTo>
                <a:cubicBezTo>
                  <a:pt x="1482471" y="1891220"/>
                  <a:pt x="1470842" y="1887849"/>
                  <a:pt x="1460084" y="1880962"/>
                </a:cubicBezTo>
                <a:cubicBezTo>
                  <a:pt x="1431379" y="1861103"/>
                  <a:pt x="1411980" y="1829831"/>
                  <a:pt x="1400880" y="1799068"/>
                </a:cubicBezTo>
                <a:cubicBezTo>
                  <a:pt x="1378151" y="1736719"/>
                  <a:pt x="1377004" y="1675036"/>
                  <a:pt x="1371028" y="1617360"/>
                </a:cubicBezTo>
                <a:cubicBezTo>
                  <a:pt x="1366708" y="1559763"/>
                  <a:pt x="1360888" y="1504115"/>
                  <a:pt x="1338002" y="1459342"/>
                </a:cubicBezTo>
                <a:cubicBezTo>
                  <a:pt x="1315576" y="1414295"/>
                  <a:pt x="1267130" y="1384178"/>
                  <a:pt x="1208033" y="1365309"/>
                </a:cubicBezTo>
                <a:cubicBezTo>
                  <a:pt x="1265856" y="1355551"/>
                  <a:pt x="1341558" y="1369630"/>
                  <a:pt x="1384539" y="1428069"/>
                </a:cubicBezTo>
                <a:cubicBezTo>
                  <a:pt x="1427940" y="1484099"/>
                  <a:pt x="1436659" y="1551602"/>
                  <a:pt x="1442861" y="1611305"/>
                </a:cubicBezTo>
                <a:cubicBezTo>
                  <a:pt x="1447534" y="1671930"/>
                  <a:pt x="1446309" y="1730713"/>
                  <a:pt x="1455029" y="1783676"/>
                </a:cubicBezTo>
                <a:cubicBezTo>
                  <a:pt x="1460966" y="1823747"/>
                  <a:pt x="1479600" y="1859604"/>
                  <a:pt x="1515771" y="1882990"/>
                </a:cubicBezTo>
                <a:cubicBezTo>
                  <a:pt x="1522698" y="1879551"/>
                  <a:pt x="1529272" y="1875417"/>
                  <a:pt x="1536237" y="1872125"/>
                </a:cubicBezTo>
                <a:cubicBezTo>
                  <a:pt x="1640979" y="1825392"/>
                  <a:pt x="1746533" y="1797882"/>
                  <a:pt x="1853802" y="1771626"/>
                </a:cubicBezTo>
                <a:cubicBezTo>
                  <a:pt x="1970065" y="1746408"/>
                  <a:pt x="2086259" y="1724590"/>
                  <a:pt x="2201640" y="1701743"/>
                </a:cubicBezTo>
                <a:cubicBezTo>
                  <a:pt x="2218364" y="1672733"/>
                  <a:pt x="2230159" y="1643802"/>
                  <a:pt x="2229885" y="1617507"/>
                </a:cubicBezTo>
                <a:cubicBezTo>
                  <a:pt x="2229885" y="1580464"/>
                  <a:pt x="2208224" y="1546860"/>
                  <a:pt x="2177265" y="1516822"/>
                </a:cubicBezTo>
                <a:cubicBezTo>
                  <a:pt x="2147031" y="1485941"/>
                  <a:pt x="2108567" y="1459881"/>
                  <a:pt x="2069339" y="1434163"/>
                </a:cubicBezTo>
                <a:cubicBezTo>
                  <a:pt x="2029347" y="1409474"/>
                  <a:pt x="1988091" y="1384413"/>
                  <a:pt x="1943544" y="1359999"/>
                </a:cubicBezTo>
                <a:cubicBezTo>
                  <a:pt x="2045650" y="1355669"/>
                  <a:pt x="2148138" y="1391644"/>
                  <a:pt x="2228082" y="1465661"/>
                </a:cubicBezTo>
                <a:cubicBezTo>
                  <a:pt x="2261373" y="1498413"/>
                  <a:pt x="2290843" y="1549544"/>
                  <a:pt x="2286904" y="1604242"/>
                </a:cubicBezTo>
                <a:cubicBezTo>
                  <a:pt x="2376607" y="1562751"/>
                  <a:pt x="2452995" y="1510630"/>
                  <a:pt x="2490499" y="1430538"/>
                </a:cubicBezTo>
                <a:cubicBezTo>
                  <a:pt x="2525514" y="1360156"/>
                  <a:pt x="2534625" y="1277576"/>
                  <a:pt x="2532294" y="1190508"/>
                </a:cubicBezTo>
                <a:cubicBezTo>
                  <a:pt x="2473932" y="1045618"/>
                  <a:pt x="2445647" y="891735"/>
                  <a:pt x="2435126" y="736891"/>
                </a:cubicBezTo>
                <a:cubicBezTo>
                  <a:pt x="2410554" y="714769"/>
                  <a:pt x="2383877" y="695175"/>
                  <a:pt x="2355631" y="677412"/>
                </a:cubicBezTo>
                <a:cubicBezTo>
                  <a:pt x="2314150" y="650705"/>
                  <a:pt x="2271249" y="625027"/>
                  <a:pt x="2230140" y="595214"/>
                </a:cubicBezTo>
                <a:cubicBezTo>
                  <a:pt x="2214680" y="584300"/>
                  <a:pt x="2199867" y="572054"/>
                  <a:pt x="2184946" y="559807"/>
                </a:cubicBezTo>
                <a:cubicBezTo>
                  <a:pt x="2153409" y="567537"/>
                  <a:pt x="2124321" y="578677"/>
                  <a:pt x="2103051" y="596860"/>
                </a:cubicBezTo>
                <a:cubicBezTo>
                  <a:pt x="2071318" y="624988"/>
                  <a:pt x="2053027" y="663638"/>
                  <a:pt x="2046865" y="707235"/>
                </a:cubicBezTo>
                <a:cubicBezTo>
                  <a:pt x="2035765" y="776540"/>
                  <a:pt x="2049275" y="851018"/>
                  <a:pt x="2065616" y="929512"/>
                </a:cubicBezTo>
                <a:cubicBezTo>
                  <a:pt x="2072318" y="951056"/>
                  <a:pt x="2077363" y="972943"/>
                  <a:pt x="2079391" y="995565"/>
                </a:cubicBezTo>
                <a:cubicBezTo>
                  <a:pt x="2021029" y="940760"/>
                  <a:pt x="1978431" y="883740"/>
                  <a:pt x="1927339" y="839536"/>
                </a:cubicBezTo>
                <a:cubicBezTo>
                  <a:pt x="1902661" y="816649"/>
                  <a:pt x="1876100" y="798162"/>
                  <a:pt x="1847013" y="783623"/>
                </a:cubicBezTo>
                <a:cubicBezTo>
                  <a:pt x="1817621" y="770573"/>
                  <a:pt x="1784595" y="759209"/>
                  <a:pt x="1744750" y="760463"/>
                </a:cubicBezTo>
                <a:cubicBezTo>
                  <a:pt x="1774337" y="732414"/>
                  <a:pt x="1820453" y="722048"/>
                  <a:pt x="1862698" y="729621"/>
                </a:cubicBezTo>
                <a:cubicBezTo>
                  <a:pt x="1905756" y="736166"/>
                  <a:pt x="1944102" y="758709"/>
                  <a:pt x="1975208" y="785690"/>
                </a:cubicBezTo>
                <a:cubicBezTo>
                  <a:pt x="1975630" y="786180"/>
                  <a:pt x="1976051" y="786680"/>
                  <a:pt x="1976511" y="787179"/>
                </a:cubicBezTo>
                <a:cubicBezTo>
                  <a:pt x="1972298" y="757671"/>
                  <a:pt x="1971456" y="727094"/>
                  <a:pt x="1975630" y="695713"/>
                </a:cubicBezTo>
                <a:cubicBezTo>
                  <a:pt x="1984584" y="638772"/>
                  <a:pt x="2017346" y="578951"/>
                  <a:pt x="2071916" y="550177"/>
                </a:cubicBezTo>
                <a:cubicBezTo>
                  <a:pt x="2097526" y="535785"/>
                  <a:pt x="2125310" y="530044"/>
                  <a:pt x="2152478" y="530200"/>
                </a:cubicBezTo>
                <a:cubicBezTo>
                  <a:pt x="2139271" y="517454"/>
                  <a:pt x="2125800" y="505130"/>
                  <a:pt x="2113789" y="490551"/>
                </a:cubicBezTo>
                <a:cubicBezTo>
                  <a:pt x="2079264" y="449296"/>
                  <a:pt x="2053056" y="391620"/>
                  <a:pt x="2056192" y="330887"/>
                </a:cubicBezTo>
                <a:cubicBezTo>
                  <a:pt x="2058719" y="298204"/>
                  <a:pt x="2063118" y="274368"/>
                  <a:pt x="2080763" y="243174"/>
                </a:cubicBezTo>
                <a:cubicBezTo>
                  <a:pt x="2097947" y="214585"/>
                  <a:pt x="2123625" y="195452"/>
                  <a:pt x="2149068" y="181520"/>
                </a:cubicBezTo>
                <a:cubicBezTo>
                  <a:pt x="2201238" y="155195"/>
                  <a:pt x="2255955" y="148269"/>
                  <a:pt x="2308772" y="149141"/>
                </a:cubicBezTo>
                <a:cubicBezTo>
                  <a:pt x="2361784" y="150444"/>
                  <a:pt x="2413934" y="161005"/>
                  <a:pt x="2462156" y="181559"/>
                </a:cubicBezTo>
                <a:cubicBezTo>
                  <a:pt x="2499630" y="198930"/>
                  <a:pt x="2536712" y="223158"/>
                  <a:pt x="2560705" y="256380"/>
                </a:cubicBezTo>
                <a:cubicBezTo>
                  <a:pt x="2568053" y="247768"/>
                  <a:pt x="2574637" y="238657"/>
                  <a:pt x="2582719" y="230545"/>
                </a:cubicBezTo>
                <a:cubicBezTo>
                  <a:pt x="2645940" y="165521"/>
                  <a:pt x="2735339" y="125265"/>
                  <a:pt x="2825003" y="120102"/>
                </a:cubicBezTo>
                <a:cubicBezTo>
                  <a:pt x="2914931" y="114018"/>
                  <a:pt x="3001890" y="136179"/>
                  <a:pt x="3080111" y="170430"/>
                </a:cubicBezTo>
                <a:lnTo>
                  <a:pt x="3097285" y="177925"/>
                </a:lnTo>
                <a:lnTo>
                  <a:pt x="3097442" y="196108"/>
                </a:lnTo>
                <a:cubicBezTo>
                  <a:pt x="3097706" y="237707"/>
                  <a:pt x="3108620" y="286614"/>
                  <a:pt x="3135523" y="311029"/>
                </a:cubicBezTo>
                <a:cubicBezTo>
                  <a:pt x="3218035" y="327331"/>
                  <a:pt x="3304446" y="344476"/>
                  <a:pt x="3376778" y="396940"/>
                </a:cubicBezTo>
                <a:cubicBezTo>
                  <a:pt x="3413743" y="423421"/>
                  <a:pt x="3443055" y="463227"/>
                  <a:pt x="3453352" y="507314"/>
                </a:cubicBezTo>
                <a:cubicBezTo>
                  <a:pt x="3459436" y="532003"/>
                  <a:pt x="3459936" y="556878"/>
                  <a:pt x="3457565" y="581253"/>
                </a:cubicBezTo>
                <a:cubicBezTo>
                  <a:pt x="3469312" y="553665"/>
                  <a:pt x="3489788" y="528751"/>
                  <a:pt x="3516005" y="513330"/>
                </a:cubicBezTo>
                <a:cubicBezTo>
                  <a:pt x="3558907" y="485614"/>
                  <a:pt x="3609000" y="475895"/>
                  <a:pt x="3657221" y="472985"/>
                </a:cubicBezTo>
                <a:cubicBezTo>
                  <a:pt x="3705893" y="471339"/>
                  <a:pt x="3754272" y="476933"/>
                  <a:pt x="3799965" y="491629"/>
                </a:cubicBezTo>
                <a:cubicBezTo>
                  <a:pt x="3845620" y="505786"/>
                  <a:pt x="3889893" y="526448"/>
                  <a:pt x="3925143" y="558328"/>
                </a:cubicBezTo>
                <a:cubicBezTo>
                  <a:pt x="3835970" y="529897"/>
                  <a:pt x="3747453" y="517190"/>
                  <a:pt x="3659396" y="520864"/>
                </a:cubicBezTo>
                <a:cubicBezTo>
                  <a:pt x="3615730" y="522510"/>
                  <a:pt x="3572593" y="529858"/>
                  <a:pt x="3533522" y="545778"/>
                </a:cubicBezTo>
                <a:cubicBezTo>
                  <a:pt x="3494559" y="561512"/>
                  <a:pt x="3462454" y="592471"/>
                  <a:pt x="3447376" y="637626"/>
                </a:cubicBezTo>
                <a:cubicBezTo>
                  <a:pt x="3452539" y="594842"/>
                  <a:pt x="3451393" y="550941"/>
                  <a:pt x="3437883" y="511831"/>
                </a:cubicBezTo>
                <a:cubicBezTo>
                  <a:pt x="3424216" y="472603"/>
                  <a:pt x="3395627" y="441380"/>
                  <a:pt x="3360426" y="421090"/>
                </a:cubicBezTo>
                <a:cubicBezTo>
                  <a:pt x="3288976" y="381137"/>
                  <a:pt x="3203868" y="366676"/>
                  <a:pt x="3119897" y="356644"/>
                </a:cubicBezTo>
                <a:lnTo>
                  <a:pt x="3114077" y="355997"/>
                </a:lnTo>
                <a:lnTo>
                  <a:pt x="3108797" y="351981"/>
                </a:lnTo>
                <a:cubicBezTo>
                  <a:pt x="3082854" y="332494"/>
                  <a:pt x="3067463" y="305248"/>
                  <a:pt x="3057940" y="278688"/>
                </a:cubicBezTo>
                <a:cubicBezTo>
                  <a:pt x="3050739" y="258212"/>
                  <a:pt x="3046947" y="238050"/>
                  <a:pt x="3044390" y="216956"/>
                </a:cubicBezTo>
                <a:cubicBezTo>
                  <a:pt x="2973821" y="193541"/>
                  <a:pt x="2901029" y="177347"/>
                  <a:pt x="2829813" y="183822"/>
                </a:cubicBezTo>
                <a:cubicBezTo>
                  <a:pt x="2753885" y="190132"/>
                  <a:pt x="2683503" y="223922"/>
                  <a:pt x="2631921" y="278688"/>
                </a:cubicBezTo>
                <a:cubicBezTo>
                  <a:pt x="2528708" y="390552"/>
                  <a:pt x="2494604" y="557828"/>
                  <a:pt x="2498317" y="716268"/>
                </a:cubicBezTo>
                <a:cubicBezTo>
                  <a:pt x="2507037" y="877803"/>
                  <a:pt x="2527552" y="1041866"/>
                  <a:pt x="2581093" y="1194721"/>
                </a:cubicBezTo>
                <a:cubicBezTo>
                  <a:pt x="2609034" y="1270424"/>
                  <a:pt x="2646264" y="1343363"/>
                  <a:pt x="2699923" y="1402950"/>
                </a:cubicBezTo>
                <a:cubicBezTo>
                  <a:pt x="2747106" y="1455570"/>
                  <a:pt x="2816185" y="1492123"/>
                  <a:pt x="2889742" y="1487989"/>
                </a:cubicBezTo>
                <a:cubicBezTo>
                  <a:pt x="2953727" y="1452210"/>
                  <a:pt x="3014460" y="1410454"/>
                  <a:pt x="3069647" y="1359901"/>
                </a:cubicBezTo>
                <a:cubicBezTo>
                  <a:pt x="3000068" y="1444666"/>
                  <a:pt x="2909562" y="1511257"/>
                  <a:pt x="2813540" y="1565798"/>
                </a:cubicBezTo>
                <a:cubicBezTo>
                  <a:pt x="2716029" y="1618075"/>
                  <a:pt x="2612356" y="1657871"/>
                  <a:pt x="2507301" y="1690672"/>
                </a:cubicBezTo>
                <a:cubicBezTo>
                  <a:pt x="2296741" y="1756303"/>
                  <a:pt x="2079705" y="1789711"/>
                  <a:pt x="1869722" y="1841382"/>
                </a:cubicBezTo>
                <a:cubicBezTo>
                  <a:pt x="1765363" y="1865453"/>
                  <a:pt x="1658202" y="1891396"/>
                  <a:pt x="1562984" y="1932005"/>
                </a:cubicBezTo>
                <a:cubicBezTo>
                  <a:pt x="1466962" y="1973339"/>
                  <a:pt x="1383118" y="2038050"/>
                  <a:pt x="1315224" y="2117465"/>
                </a:cubicBezTo>
                <a:close/>
                <a:moveTo>
                  <a:pt x="2002121" y="2479940"/>
                </a:moveTo>
                <a:cubicBezTo>
                  <a:pt x="1952175" y="2525859"/>
                  <a:pt x="1887730" y="2561687"/>
                  <a:pt x="1814947" y="2572474"/>
                </a:cubicBezTo>
                <a:cubicBezTo>
                  <a:pt x="1789347" y="2575883"/>
                  <a:pt x="1763590" y="2574159"/>
                  <a:pt x="1738294" y="2570446"/>
                </a:cubicBezTo>
                <a:cubicBezTo>
                  <a:pt x="1748169" y="2589090"/>
                  <a:pt x="1755361" y="2609174"/>
                  <a:pt x="1757888" y="2629807"/>
                </a:cubicBezTo>
                <a:cubicBezTo>
                  <a:pt x="1763815" y="2666771"/>
                  <a:pt x="1759495" y="2704314"/>
                  <a:pt x="1750266" y="2739603"/>
                </a:cubicBezTo>
                <a:cubicBezTo>
                  <a:pt x="1729682" y="2809829"/>
                  <a:pt x="1687662" y="2872061"/>
                  <a:pt x="1625274" y="2910407"/>
                </a:cubicBezTo>
                <a:cubicBezTo>
                  <a:pt x="1641126" y="2838799"/>
                  <a:pt x="1665001" y="2780673"/>
                  <a:pt x="1680843" y="2720322"/>
                </a:cubicBezTo>
                <a:cubicBezTo>
                  <a:pt x="1689955" y="2690627"/>
                  <a:pt x="1696274" y="2660697"/>
                  <a:pt x="1701858" y="2630003"/>
                </a:cubicBezTo>
                <a:cubicBezTo>
                  <a:pt x="1704915" y="2609262"/>
                  <a:pt x="1707521" y="2587826"/>
                  <a:pt x="1708971" y="2565440"/>
                </a:cubicBezTo>
                <a:cubicBezTo>
                  <a:pt x="1672810" y="2556103"/>
                  <a:pt x="1638784" y="2540486"/>
                  <a:pt x="1609931" y="2519481"/>
                </a:cubicBezTo>
                <a:cubicBezTo>
                  <a:pt x="1552226" y="2479910"/>
                  <a:pt x="1510618" y="2425223"/>
                  <a:pt x="1479512" y="2367047"/>
                </a:cubicBezTo>
                <a:cubicBezTo>
                  <a:pt x="1582803" y="2447609"/>
                  <a:pt x="1691992" y="2519021"/>
                  <a:pt x="1805345" y="2501033"/>
                </a:cubicBezTo>
                <a:cubicBezTo>
                  <a:pt x="1918973" y="2485681"/>
                  <a:pt x="2019080" y="2401112"/>
                  <a:pt x="2122224" y="2320707"/>
                </a:cubicBezTo>
                <a:cubicBezTo>
                  <a:pt x="2092069" y="2379411"/>
                  <a:pt x="2053380" y="2434902"/>
                  <a:pt x="2002131" y="2479950"/>
                </a:cubicBezTo>
                <a:close/>
                <a:moveTo>
                  <a:pt x="4470119" y="2494792"/>
                </a:moveTo>
                <a:cubicBezTo>
                  <a:pt x="4459784" y="2532981"/>
                  <a:pt x="4445705" y="2566125"/>
                  <a:pt x="4424426" y="2598387"/>
                </a:cubicBezTo>
                <a:cubicBezTo>
                  <a:pt x="4382905" y="2663058"/>
                  <a:pt x="4311298" y="2706616"/>
                  <a:pt x="4238280" y="2719852"/>
                </a:cubicBezTo>
                <a:cubicBezTo>
                  <a:pt x="4164919" y="2734734"/>
                  <a:pt x="4090862" y="2725819"/>
                  <a:pt x="4022547" y="2703775"/>
                </a:cubicBezTo>
                <a:cubicBezTo>
                  <a:pt x="3965106" y="2684298"/>
                  <a:pt x="3909076" y="2656553"/>
                  <a:pt x="3863725" y="2611241"/>
                </a:cubicBezTo>
                <a:cubicBezTo>
                  <a:pt x="3839654" y="2641093"/>
                  <a:pt x="3807656" y="2657925"/>
                  <a:pt x="3778422" y="2673277"/>
                </a:cubicBezTo>
                <a:cubicBezTo>
                  <a:pt x="3739037" y="2692528"/>
                  <a:pt x="3698702" y="2706685"/>
                  <a:pt x="3658181" y="2719470"/>
                </a:cubicBezTo>
                <a:cubicBezTo>
                  <a:pt x="3577051" y="2744414"/>
                  <a:pt x="3494961" y="2763283"/>
                  <a:pt x="3412792" y="2779820"/>
                </a:cubicBezTo>
                <a:lnTo>
                  <a:pt x="3166796" y="2830031"/>
                </a:lnTo>
                <a:cubicBezTo>
                  <a:pt x="3086537" y="2850389"/>
                  <a:pt x="3001126" y="2862714"/>
                  <a:pt x="2931165" y="2909211"/>
                </a:cubicBezTo>
                <a:cubicBezTo>
                  <a:pt x="2997981" y="2857051"/>
                  <a:pt x="3083246" y="2837761"/>
                  <a:pt x="3162740" y="2813650"/>
                </a:cubicBezTo>
                <a:lnTo>
                  <a:pt x="3405719" y="2749734"/>
                </a:lnTo>
                <a:cubicBezTo>
                  <a:pt x="3486427" y="2727964"/>
                  <a:pt x="3567175" y="2707184"/>
                  <a:pt x="3645141" y="2680046"/>
                </a:cubicBezTo>
                <a:cubicBezTo>
                  <a:pt x="3684026" y="2666389"/>
                  <a:pt x="3722411" y="2651341"/>
                  <a:pt x="3757612" y="2632589"/>
                </a:cubicBezTo>
                <a:cubicBezTo>
                  <a:pt x="3792049" y="2614376"/>
                  <a:pt x="3826418" y="2589619"/>
                  <a:pt x="3836675" y="2562216"/>
                </a:cubicBezTo>
                <a:lnTo>
                  <a:pt x="3850950" y="2524252"/>
                </a:lnTo>
                <a:lnTo>
                  <a:pt x="3880037" y="2556240"/>
                </a:lnTo>
                <a:cubicBezTo>
                  <a:pt x="3960785" y="2644914"/>
                  <a:pt x="4107664" y="2681839"/>
                  <a:pt x="4225847" y="2659267"/>
                </a:cubicBezTo>
                <a:cubicBezTo>
                  <a:pt x="4350114" y="2639026"/>
                  <a:pt x="4425503" y="2512231"/>
                  <a:pt x="4412875" y="2390531"/>
                </a:cubicBezTo>
                <a:cubicBezTo>
                  <a:pt x="4401392" y="2270712"/>
                  <a:pt x="4287883" y="2173005"/>
                  <a:pt x="4169396" y="2159338"/>
                </a:cubicBezTo>
                <a:cubicBezTo>
                  <a:pt x="4110309" y="2152265"/>
                  <a:pt x="4050106" y="2166382"/>
                  <a:pt x="4006293" y="2204160"/>
                </a:cubicBezTo>
                <a:cubicBezTo>
                  <a:pt x="3961902" y="2241507"/>
                  <a:pt x="3934764" y="2298840"/>
                  <a:pt x="3920607" y="2360023"/>
                </a:cubicBezTo>
                <a:lnTo>
                  <a:pt x="3900131" y="2448432"/>
                </a:lnTo>
                <a:lnTo>
                  <a:pt x="3856887" y="2368566"/>
                </a:lnTo>
                <a:cubicBezTo>
                  <a:pt x="3826770" y="2312918"/>
                  <a:pt x="3747394" y="2279471"/>
                  <a:pt x="3673690" y="2266235"/>
                </a:cubicBezTo>
                <a:cubicBezTo>
                  <a:pt x="3597880" y="2252607"/>
                  <a:pt x="3517896" y="2256741"/>
                  <a:pt x="3443418" y="2277639"/>
                </a:cubicBezTo>
                <a:cubicBezTo>
                  <a:pt x="3366991" y="2298497"/>
                  <a:pt x="3303084" y="2337068"/>
                  <a:pt x="3241009" y="2391873"/>
                </a:cubicBezTo>
                <a:cubicBezTo>
                  <a:pt x="3205612" y="2421725"/>
                  <a:pt x="3152453" y="2438517"/>
                  <a:pt x="3108522" y="2435617"/>
                </a:cubicBezTo>
                <a:cubicBezTo>
                  <a:pt x="3065238" y="2434461"/>
                  <a:pt x="3028195" y="2432972"/>
                  <a:pt x="2989614" y="2439820"/>
                </a:cubicBezTo>
                <a:cubicBezTo>
                  <a:pt x="2913040" y="2452723"/>
                  <a:pt x="2839179" y="2488306"/>
                  <a:pt x="2768914" y="2527995"/>
                </a:cubicBezTo>
                <a:cubicBezTo>
                  <a:pt x="2733781" y="2548245"/>
                  <a:pt x="2699413" y="2570250"/>
                  <a:pt x="2665505" y="2592940"/>
                </a:cubicBezTo>
                <a:lnTo>
                  <a:pt x="2614531" y="2627769"/>
                </a:lnTo>
                <a:cubicBezTo>
                  <a:pt x="2597425" y="2640780"/>
                  <a:pt x="2565310" y="2651419"/>
                  <a:pt x="2541013" y="2638634"/>
                </a:cubicBezTo>
                <a:cubicBezTo>
                  <a:pt x="2519351" y="2628151"/>
                  <a:pt x="2506302" y="2618775"/>
                  <a:pt x="2488540" y="2618276"/>
                </a:cubicBezTo>
                <a:cubicBezTo>
                  <a:pt x="2471247" y="2617247"/>
                  <a:pt x="2452378" y="2622674"/>
                  <a:pt x="2434508" y="2630404"/>
                </a:cubicBezTo>
                <a:cubicBezTo>
                  <a:pt x="2398337" y="2646256"/>
                  <a:pt x="2364625" y="2669867"/>
                  <a:pt x="2332020" y="2694321"/>
                </a:cubicBezTo>
                <a:cubicBezTo>
                  <a:pt x="2267261" y="2744257"/>
                  <a:pt x="2206147" y="2799758"/>
                  <a:pt x="2146413" y="2856434"/>
                </a:cubicBezTo>
                <a:cubicBezTo>
                  <a:pt x="2201669" y="2795349"/>
                  <a:pt x="2258277" y="2735116"/>
                  <a:pt x="2321537" y="2681271"/>
                </a:cubicBezTo>
                <a:cubicBezTo>
                  <a:pt x="2353260" y="2654437"/>
                  <a:pt x="2386100" y="2628415"/>
                  <a:pt x="2424446" y="2608861"/>
                </a:cubicBezTo>
                <a:cubicBezTo>
                  <a:pt x="2443698" y="2599485"/>
                  <a:pt x="2465085" y="2591255"/>
                  <a:pt x="2489196" y="2591147"/>
                </a:cubicBezTo>
                <a:cubicBezTo>
                  <a:pt x="2513767" y="2590226"/>
                  <a:pt x="2537153" y="2603962"/>
                  <a:pt x="2552495" y="2610281"/>
                </a:cubicBezTo>
                <a:cubicBezTo>
                  <a:pt x="2578516" y="2623821"/>
                  <a:pt x="2609593" y="2584749"/>
                  <a:pt x="2644197" y="2562706"/>
                </a:cubicBezTo>
                <a:cubicBezTo>
                  <a:pt x="2677830" y="2538331"/>
                  <a:pt x="2712277" y="2514759"/>
                  <a:pt x="2747791" y="2492754"/>
                </a:cubicBezTo>
                <a:cubicBezTo>
                  <a:pt x="2819046" y="2449392"/>
                  <a:pt x="2894592" y="2408862"/>
                  <a:pt x="2980513" y="2390992"/>
                </a:cubicBezTo>
                <a:cubicBezTo>
                  <a:pt x="3023062" y="2381763"/>
                  <a:pt x="3068912" y="2382037"/>
                  <a:pt x="3107915" y="2381645"/>
                </a:cubicBezTo>
                <a:cubicBezTo>
                  <a:pt x="3146712" y="2381880"/>
                  <a:pt x="3175956" y="2370280"/>
                  <a:pt x="3203927" y="2346934"/>
                </a:cubicBezTo>
                <a:cubicBezTo>
                  <a:pt x="3262367" y="2289728"/>
                  <a:pt x="3342889" y="2240272"/>
                  <a:pt x="3426087" y="2217465"/>
                </a:cubicBezTo>
                <a:cubicBezTo>
                  <a:pt x="3509754" y="2193011"/>
                  <a:pt x="3598566" y="2187348"/>
                  <a:pt x="3684986" y="2201818"/>
                </a:cubicBezTo>
                <a:cubicBezTo>
                  <a:pt x="3749167" y="2214447"/>
                  <a:pt x="3818854" y="2233963"/>
                  <a:pt x="3872778" y="2282909"/>
                </a:cubicBezTo>
                <a:cubicBezTo>
                  <a:pt x="3891040" y="2233806"/>
                  <a:pt x="3918481" y="2186888"/>
                  <a:pt x="3960501" y="2150530"/>
                </a:cubicBezTo>
                <a:cubicBezTo>
                  <a:pt x="4017403" y="2099634"/>
                  <a:pt x="4097240" y="2080148"/>
                  <a:pt x="4169876" y="2088573"/>
                </a:cubicBezTo>
                <a:cubicBezTo>
                  <a:pt x="4176724" y="2068675"/>
                  <a:pt x="4187472" y="2049884"/>
                  <a:pt x="4199454" y="2033651"/>
                </a:cubicBezTo>
                <a:cubicBezTo>
                  <a:pt x="4218019" y="2006708"/>
                  <a:pt x="4239446" y="1984939"/>
                  <a:pt x="4254524" y="1961015"/>
                </a:cubicBezTo>
                <a:cubicBezTo>
                  <a:pt x="4270748" y="1937864"/>
                  <a:pt x="4280966" y="1912685"/>
                  <a:pt x="4288549" y="1884626"/>
                </a:cubicBezTo>
                <a:cubicBezTo>
                  <a:pt x="4295779" y="1856391"/>
                  <a:pt x="4297386" y="1825579"/>
                  <a:pt x="4301060" y="1792856"/>
                </a:cubicBezTo>
                <a:cubicBezTo>
                  <a:pt x="4317019" y="1821787"/>
                  <a:pt x="4325366" y="1854353"/>
                  <a:pt x="4325249" y="1888878"/>
                </a:cubicBezTo>
                <a:cubicBezTo>
                  <a:pt x="4325974" y="1923394"/>
                  <a:pt x="4313502" y="1958869"/>
                  <a:pt x="4294368" y="1987731"/>
                </a:cubicBezTo>
                <a:cubicBezTo>
                  <a:pt x="4263018" y="2032886"/>
                  <a:pt x="4223908" y="2058222"/>
                  <a:pt x="4190959" y="2091748"/>
                </a:cubicBezTo>
                <a:cubicBezTo>
                  <a:pt x="4334586" y="2116583"/>
                  <a:pt x="4463859" y="2231964"/>
                  <a:pt x="4479054" y="2383556"/>
                </a:cubicBezTo>
                <a:cubicBezTo>
                  <a:pt x="4483257" y="2418992"/>
                  <a:pt x="4478780" y="2464539"/>
                  <a:pt x="4470129" y="2494773"/>
                </a:cubicBezTo>
                <a:close/>
                <a:moveTo>
                  <a:pt x="4483287" y="1749670"/>
                </a:moveTo>
                <a:cubicBezTo>
                  <a:pt x="4495837" y="1808982"/>
                  <a:pt x="4502920" y="1869725"/>
                  <a:pt x="4505027" y="1931721"/>
                </a:cubicBezTo>
                <a:cubicBezTo>
                  <a:pt x="4443373" y="1824295"/>
                  <a:pt x="4405106" y="1708875"/>
                  <a:pt x="4368023" y="1597276"/>
                </a:cubicBezTo>
                <a:lnTo>
                  <a:pt x="4360901" y="1575996"/>
                </a:lnTo>
                <a:cubicBezTo>
                  <a:pt x="4319488" y="1563054"/>
                  <a:pt x="4281799" y="1540707"/>
                  <a:pt x="4248008" y="1513501"/>
                </a:cubicBezTo>
                <a:cubicBezTo>
                  <a:pt x="4216785" y="1486558"/>
                  <a:pt x="4187001" y="1451651"/>
                  <a:pt x="4172345" y="1411395"/>
                </a:cubicBezTo>
                <a:cubicBezTo>
                  <a:pt x="4163087" y="1426855"/>
                  <a:pt x="4153750" y="1442354"/>
                  <a:pt x="4146246" y="1459381"/>
                </a:cubicBezTo>
                <a:cubicBezTo>
                  <a:pt x="4103961" y="1553679"/>
                  <a:pt x="4104264" y="1664279"/>
                  <a:pt x="4078165" y="1777984"/>
                </a:cubicBezTo>
                <a:cubicBezTo>
                  <a:pt x="4065233" y="1834279"/>
                  <a:pt x="4038555" y="1893904"/>
                  <a:pt x="3991411" y="1932828"/>
                </a:cubicBezTo>
                <a:cubicBezTo>
                  <a:pt x="3944072" y="1970753"/>
                  <a:pt x="3887278" y="1988280"/>
                  <a:pt x="3831708" y="1994099"/>
                </a:cubicBezTo>
                <a:cubicBezTo>
                  <a:pt x="3883486" y="1973359"/>
                  <a:pt x="3934578" y="1948788"/>
                  <a:pt x="3967761" y="1908531"/>
                </a:cubicBezTo>
                <a:cubicBezTo>
                  <a:pt x="4001934" y="1869450"/>
                  <a:pt x="4016590" y="1819661"/>
                  <a:pt x="4024320" y="1767354"/>
                </a:cubicBezTo>
                <a:cubicBezTo>
                  <a:pt x="4038134" y="1662721"/>
                  <a:pt x="4032775" y="1544126"/>
                  <a:pt x="4080350" y="1431381"/>
                </a:cubicBezTo>
                <a:cubicBezTo>
                  <a:pt x="4102658" y="1376115"/>
                  <a:pt x="4140818" y="1323838"/>
                  <a:pt x="4182994" y="1284081"/>
                </a:cubicBezTo>
                <a:cubicBezTo>
                  <a:pt x="4225014" y="1246607"/>
                  <a:pt x="4258805" y="1210906"/>
                  <a:pt x="4280505" y="1165516"/>
                </a:cubicBezTo>
                <a:cubicBezTo>
                  <a:pt x="4327228" y="1076186"/>
                  <a:pt x="4284787" y="963989"/>
                  <a:pt x="4222330" y="872327"/>
                </a:cubicBezTo>
                <a:cubicBezTo>
                  <a:pt x="4264849" y="908752"/>
                  <a:pt x="4301628" y="953917"/>
                  <a:pt x="4327571" y="1007302"/>
                </a:cubicBezTo>
                <a:cubicBezTo>
                  <a:pt x="4352142" y="1061225"/>
                  <a:pt x="4357159" y="1128737"/>
                  <a:pt x="4334497" y="1187628"/>
                </a:cubicBezTo>
                <a:cubicBezTo>
                  <a:pt x="4313718" y="1246293"/>
                  <a:pt x="4271090" y="1295436"/>
                  <a:pt x="4231784" y="1333282"/>
                </a:cubicBezTo>
                <a:cubicBezTo>
                  <a:pt x="4213689" y="1350888"/>
                  <a:pt x="4198651" y="1369600"/>
                  <a:pt x="4185101" y="1389194"/>
                </a:cubicBezTo>
                <a:cubicBezTo>
                  <a:pt x="4215335" y="1421182"/>
                  <a:pt x="4245990" y="1449045"/>
                  <a:pt x="4278860" y="1476605"/>
                </a:cubicBezTo>
                <a:cubicBezTo>
                  <a:pt x="4307448" y="1501362"/>
                  <a:pt x="4337065" y="1526159"/>
                  <a:pt x="4366309" y="1552679"/>
                </a:cubicBezTo>
                <a:lnTo>
                  <a:pt x="4397464" y="1549770"/>
                </a:lnTo>
                <a:cubicBezTo>
                  <a:pt x="4447439" y="1545106"/>
                  <a:pt x="4493251" y="1517860"/>
                  <a:pt x="4523220" y="1474381"/>
                </a:cubicBezTo>
                <a:cubicBezTo>
                  <a:pt x="4553062" y="1430636"/>
                  <a:pt x="4565201" y="1372510"/>
                  <a:pt x="4560449" y="1310053"/>
                </a:cubicBezTo>
                <a:cubicBezTo>
                  <a:pt x="4590301" y="1363673"/>
                  <a:pt x="4600059" y="1436309"/>
                  <a:pt x="4570707" y="1500137"/>
                </a:cubicBezTo>
                <a:cubicBezTo>
                  <a:pt x="4548967" y="1551798"/>
                  <a:pt x="4501363" y="1592025"/>
                  <a:pt x="4446558" y="1610198"/>
                </a:cubicBezTo>
                <a:cubicBezTo>
                  <a:pt x="4461371" y="1656578"/>
                  <a:pt x="4473539" y="1702664"/>
                  <a:pt x="4483297" y="1749651"/>
                </a:cubicBezTo>
                <a:close/>
                <a:moveTo>
                  <a:pt x="4759978" y="2122648"/>
                </a:moveTo>
                <a:cubicBezTo>
                  <a:pt x="4764259" y="2011823"/>
                  <a:pt x="4748231" y="1912734"/>
                  <a:pt x="4715048" y="1816026"/>
                </a:cubicBezTo>
                <a:cubicBezTo>
                  <a:pt x="4699314" y="1767805"/>
                  <a:pt x="4678348" y="1721151"/>
                  <a:pt x="4654159" y="1676113"/>
                </a:cubicBezTo>
                <a:cubicBezTo>
                  <a:pt x="4628637" y="1631909"/>
                  <a:pt x="4601617" y="1587704"/>
                  <a:pt x="4560625" y="1550093"/>
                </a:cubicBezTo>
                <a:cubicBezTo>
                  <a:pt x="4615695" y="1562908"/>
                  <a:pt x="4664338" y="1600303"/>
                  <a:pt x="4700352" y="1643999"/>
                </a:cubicBezTo>
                <a:cubicBezTo>
                  <a:pt x="4737513" y="1687743"/>
                  <a:pt x="4764337" y="1739070"/>
                  <a:pt x="4783324" y="1792905"/>
                </a:cubicBezTo>
                <a:cubicBezTo>
                  <a:pt x="4819299" y="1899606"/>
                  <a:pt x="4820289" y="2026469"/>
                  <a:pt x="4759978" y="2122648"/>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463" name="Graphic 461">
            <a:extLst>
              <a:ext uri="{FF2B5EF4-FFF2-40B4-BE49-F238E27FC236}">
                <a16:creationId xmlns:a16="http://schemas.microsoft.com/office/drawing/2014/main" id="{3ACA1161-1081-5412-0EFB-F52A0C7DCBBF}"/>
              </a:ext>
            </a:extLst>
          </p:cNvPr>
          <p:cNvGrpSpPr>
            <a:grpSpLocks noChangeAspect="1"/>
          </p:cNvGrpSpPr>
          <p:nvPr/>
        </p:nvGrpSpPr>
        <p:grpSpPr>
          <a:xfrm>
            <a:off x="479641" y="3251078"/>
            <a:ext cx="319587" cy="319552"/>
            <a:chOff x="13387288" y="208650"/>
            <a:chExt cx="5069654" cy="5069094"/>
          </a:xfrm>
          <a:solidFill>
            <a:schemeClr val="bg1"/>
          </a:solidFill>
        </p:grpSpPr>
        <p:sp>
          <p:nvSpPr>
            <p:cNvPr id="464" name="Freeform: Shape 463">
              <a:extLst>
                <a:ext uri="{FF2B5EF4-FFF2-40B4-BE49-F238E27FC236}">
                  <a16:creationId xmlns:a16="http://schemas.microsoft.com/office/drawing/2014/main" id="{C87ED270-8366-8443-F23E-E037ECBA854B}"/>
                </a:ext>
              </a:extLst>
            </p:cNvPr>
            <p:cNvSpPr/>
            <p:nvPr/>
          </p:nvSpPr>
          <p:spPr>
            <a:xfrm>
              <a:off x="16246619" y="208650"/>
              <a:ext cx="2210323" cy="2212434"/>
            </a:xfrm>
            <a:custGeom>
              <a:avLst/>
              <a:gdLst>
                <a:gd name="connsiteX0" fmla="*/ 2148646 w 2210323"/>
                <a:gd name="connsiteY0" fmla="*/ 656790 h 2212434"/>
                <a:gd name="connsiteX1" fmla="*/ 1553587 w 2210323"/>
                <a:gd name="connsiteY1" fmla="*/ 61653 h 2212434"/>
                <a:gd name="connsiteX2" fmla="*/ 1253931 w 2210323"/>
                <a:gd name="connsiteY2" fmla="*/ 61653 h 2212434"/>
                <a:gd name="connsiteX3" fmla="*/ 1253931 w 2210323"/>
                <a:gd name="connsiteY3" fmla="*/ 359241 h 2212434"/>
                <a:gd name="connsiteX4" fmla="*/ 1403759 w 2210323"/>
                <a:gd name="connsiteY4" fmla="*/ 509069 h 2212434"/>
                <a:gd name="connsiteX5" fmla="*/ 956422 w 2210323"/>
                <a:gd name="connsiteY5" fmla="*/ 956446 h 2212434"/>
                <a:gd name="connsiteX6" fmla="*/ 359217 w 2210323"/>
                <a:gd name="connsiteY6" fmla="*/ 359241 h 2212434"/>
                <a:gd name="connsiteX7" fmla="*/ 61707 w 2210323"/>
                <a:gd name="connsiteY7" fmla="*/ 359241 h 2212434"/>
                <a:gd name="connsiteX8" fmla="*/ 61707 w 2210323"/>
                <a:gd name="connsiteY8" fmla="*/ 658857 h 2212434"/>
                <a:gd name="connsiteX9" fmla="*/ 1553518 w 2210323"/>
                <a:gd name="connsiteY9" fmla="*/ 2150668 h 2212434"/>
                <a:gd name="connsiteX10" fmla="*/ 1851068 w 2210323"/>
                <a:gd name="connsiteY10" fmla="*/ 2150668 h 2212434"/>
                <a:gd name="connsiteX11" fmla="*/ 1851068 w 2210323"/>
                <a:gd name="connsiteY11" fmla="*/ 1851052 h 2212434"/>
                <a:gd name="connsiteX12" fmla="*/ 1253902 w 2210323"/>
                <a:gd name="connsiteY12" fmla="*/ 1253848 h 2212434"/>
                <a:gd name="connsiteX13" fmla="*/ 1701240 w 2210323"/>
                <a:gd name="connsiteY13" fmla="*/ 806589 h 2212434"/>
                <a:gd name="connsiteX14" fmla="*/ 1851068 w 2210323"/>
                <a:gd name="connsiteY14" fmla="*/ 956416 h 2212434"/>
                <a:gd name="connsiteX15" fmla="*/ 2148616 w 2210323"/>
                <a:gd name="connsiteY15" fmla="*/ 956416 h 2212434"/>
                <a:gd name="connsiteX16" fmla="*/ 2148616 w 2210323"/>
                <a:gd name="connsiteY16" fmla="*/ 656761 h 221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10323" h="2212434">
                  <a:moveTo>
                    <a:pt x="2148646" y="656790"/>
                  </a:moveTo>
                  <a:lnTo>
                    <a:pt x="1553587" y="61653"/>
                  </a:lnTo>
                  <a:cubicBezTo>
                    <a:pt x="1471311" y="-20551"/>
                    <a:pt x="1336247" y="-20551"/>
                    <a:pt x="1253931" y="61653"/>
                  </a:cubicBezTo>
                  <a:cubicBezTo>
                    <a:pt x="1171655" y="144010"/>
                    <a:pt x="1171655" y="276926"/>
                    <a:pt x="1253931" y="359241"/>
                  </a:cubicBezTo>
                  <a:lnTo>
                    <a:pt x="1403759" y="509069"/>
                  </a:lnTo>
                  <a:lnTo>
                    <a:pt x="956422" y="956446"/>
                  </a:lnTo>
                  <a:lnTo>
                    <a:pt x="359217" y="359241"/>
                  </a:lnTo>
                  <a:cubicBezTo>
                    <a:pt x="276941" y="276923"/>
                    <a:pt x="143984" y="276923"/>
                    <a:pt x="61707" y="359241"/>
                  </a:cubicBezTo>
                  <a:cubicBezTo>
                    <a:pt x="-20569" y="441560"/>
                    <a:pt x="-20569" y="576542"/>
                    <a:pt x="61707" y="658857"/>
                  </a:cubicBezTo>
                  <a:lnTo>
                    <a:pt x="1553518" y="2150668"/>
                  </a:lnTo>
                  <a:cubicBezTo>
                    <a:pt x="1635795" y="2233023"/>
                    <a:pt x="1768752" y="2233023"/>
                    <a:pt x="1851068" y="2150668"/>
                  </a:cubicBezTo>
                  <a:cubicBezTo>
                    <a:pt x="1933383" y="2068460"/>
                    <a:pt x="1933383" y="1933368"/>
                    <a:pt x="1851068" y="1851052"/>
                  </a:cubicBezTo>
                  <a:lnTo>
                    <a:pt x="1253902" y="1253848"/>
                  </a:lnTo>
                  <a:lnTo>
                    <a:pt x="1701240" y="806589"/>
                  </a:lnTo>
                  <a:lnTo>
                    <a:pt x="1851068" y="956416"/>
                  </a:lnTo>
                  <a:cubicBezTo>
                    <a:pt x="1933383" y="1038624"/>
                    <a:pt x="2068407" y="1038624"/>
                    <a:pt x="2148616" y="956416"/>
                  </a:cubicBezTo>
                  <a:cubicBezTo>
                    <a:pt x="2230893" y="874061"/>
                    <a:pt x="2230893" y="738969"/>
                    <a:pt x="2148616" y="656761"/>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65" name="Freeform: Shape 464">
              <a:extLst>
                <a:ext uri="{FF2B5EF4-FFF2-40B4-BE49-F238E27FC236}">
                  <a16:creationId xmlns:a16="http://schemas.microsoft.com/office/drawing/2014/main" id="{33E5B048-A72C-F558-96DB-2ADFC066CF11}"/>
                </a:ext>
              </a:extLst>
            </p:cNvPr>
            <p:cNvSpPr/>
            <p:nvPr/>
          </p:nvSpPr>
          <p:spPr>
            <a:xfrm>
              <a:off x="13387288" y="1314776"/>
              <a:ext cx="3965540" cy="3962968"/>
            </a:xfrm>
            <a:custGeom>
              <a:avLst/>
              <a:gdLst>
                <a:gd name="connsiteX0" fmla="*/ 61791 w 3965540"/>
                <a:gd name="connsiteY0" fmla="*/ 3901712 h 3962968"/>
                <a:gd name="connsiteX1" fmla="*/ 359340 w 3965540"/>
                <a:gd name="connsiteY1" fmla="*/ 3901712 h 3962968"/>
                <a:gd name="connsiteX2" fmla="*/ 1093665 w 3965540"/>
                <a:gd name="connsiteY2" fmla="*/ 3169572 h 3962968"/>
                <a:gd name="connsiteX3" fmla="*/ 1391214 w 3965540"/>
                <a:gd name="connsiteY3" fmla="*/ 3169572 h 3962968"/>
                <a:gd name="connsiteX4" fmla="*/ 1623318 w 3965540"/>
                <a:gd name="connsiteY4" fmla="*/ 2937428 h 3962968"/>
                <a:gd name="connsiteX5" fmla="*/ 2435717 w 3965540"/>
                <a:gd name="connsiteY5" fmla="*/ 2722156 h 3962968"/>
                <a:gd name="connsiteX6" fmla="*/ 3965541 w 3965540"/>
                <a:gd name="connsiteY6" fmla="*/ 1194487 h 3962968"/>
                <a:gd name="connsiteX7" fmla="*/ 3665885 w 3965540"/>
                <a:gd name="connsiteY7" fmla="*/ 894754 h 3962968"/>
                <a:gd name="connsiteX8" fmla="*/ 2138119 w 3965540"/>
                <a:gd name="connsiteY8" fmla="*/ 2422520 h 3962968"/>
                <a:gd name="connsiteX9" fmla="*/ 1540953 w 3965540"/>
                <a:gd name="connsiteY9" fmla="*/ 2424587 h 3962968"/>
                <a:gd name="connsiteX10" fmla="*/ 1416461 w 3965540"/>
                <a:gd name="connsiteY10" fmla="*/ 2122904 h 3962968"/>
                <a:gd name="connsiteX11" fmla="*/ 1540953 w 3965540"/>
                <a:gd name="connsiteY11" fmla="*/ 1827500 h 3962968"/>
                <a:gd name="connsiteX12" fmla="*/ 1667591 w 3965540"/>
                <a:gd name="connsiteY12" fmla="*/ 1702930 h 3962968"/>
                <a:gd name="connsiteX13" fmla="*/ 1811070 w 3965540"/>
                <a:gd name="connsiteY13" fmla="*/ 1846438 h 3962968"/>
                <a:gd name="connsiteX14" fmla="*/ 2108580 w 3965540"/>
                <a:gd name="connsiteY14" fmla="*/ 1846438 h 3962968"/>
                <a:gd name="connsiteX15" fmla="*/ 2108580 w 3965540"/>
                <a:gd name="connsiteY15" fmla="*/ 1548889 h 3962968"/>
                <a:gd name="connsiteX16" fmla="*/ 1965101 w 3965540"/>
                <a:gd name="connsiteY16" fmla="*/ 1405449 h 3962968"/>
                <a:gd name="connsiteX17" fmla="*/ 2089633 w 3965540"/>
                <a:gd name="connsiteY17" fmla="*/ 1280879 h 3962968"/>
                <a:gd name="connsiteX18" fmla="*/ 2233112 w 3965540"/>
                <a:gd name="connsiteY18" fmla="*/ 1424387 h 3962968"/>
                <a:gd name="connsiteX19" fmla="*/ 2530622 w 3965540"/>
                <a:gd name="connsiteY19" fmla="*/ 1424387 h 3962968"/>
                <a:gd name="connsiteX20" fmla="*/ 2530622 w 3965540"/>
                <a:gd name="connsiteY20" fmla="*/ 1126838 h 3962968"/>
                <a:gd name="connsiteX21" fmla="*/ 2387143 w 3965540"/>
                <a:gd name="connsiteY21" fmla="*/ 983398 h 3962968"/>
                <a:gd name="connsiteX22" fmla="*/ 2511674 w 3965540"/>
                <a:gd name="connsiteY22" fmla="*/ 858827 h 3962968"/>
                <a:gd name="connsiteX23" fmla="*/ 2655153 w 3965540"/>
                <a:gd name="connsiteY23" fmla="*/ 1002336 h 3962968"/>
                <a:gd name="connsiteX24" fmla="*/ 2952663 w 3965540"/>
                <a:gd name="connsiteY24" fmla="*/ 1002336 h 3962968"/>
                <a:gd name="connsiteX25" fmla="*/ 2952663 w 3965540"/>
                <a:gd name="connsiteY25" fmla="*/ 704787 h 3962968"/>
                <a:gd name="connsiteX26" fmla="*/ 2809184 w 3965540"/>
                <a:gd name="connsiteY26" fmla="*/ 561347 h 3962968"/>
                <a:gd name="connsiteX27" fmla="*/ 3070836 w 3965540"/>
                <a:gd name="connsiteY27" fmla="*/ 299655 h 3962968"/>
                <a:gd name="connsiteX28" fmla="*/ 2771181 w 3965540"/>
                <a:gd name="connsiteY28" fmla="*/ 0 h 3962968"/>
                <a:gd name="connsiteX29" fmla="*/ 1243414 w 3965540"/>
                <a:gd name="connsiteY29" fmla="*/ 1527669 h 3962968"/>
                <a:gd name="connsiteX30" fmla="*/ 1026035 w 3965540"/>
                <a:gd name="connsiteY30" fmla="*/ 2340107 h 3962968"/>
                <a:gd name="connsiteX31" fmla="*/ 793931 w 3965540"/>
                <a:gd name="connsiteY31" fmla="*/ 2572250 h 3962968"/>
                <a:gd name="connsiteX32" fmla="*/ 793931 w 3965540"/>
                <a:gd name="connsiteY32" fmla="*/ 2869799 h 3962968"/>
                <a:gd name="connsiteX33" fmla="*/ 796077 w 3965540"/>
                <a:gd name="connsiteY33" fmla="*/ 2871866 h 3962968"/>
                <a:gd name="connsiteX34" fmla="*/ 61710 w 3965540"/>
                <a:gd name="connsiteY34" fmla="*/ 3604124 h 3962968"/>
                <a:gd name="connsiteX35" fmla="*/ 61710 w 3965540"/>
                <a:gd name="connsiteY35" fmla="*/ 3901673 h 3962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965540" h="3962968">
                  <a:moveTo>
                    <a:pt x="61791" y="3901712"/>
                  </a:moveTo>
                  <a:cubicBezTo>
                    <a:pt x="137523" y="3981500"/>
                    <a:pt x="280002" y="3985252"/>
                    <a:pt x="359340" y="3901712"/>
                  </a:cubicBezTo>
                  <a:lnTo>
                    <a:pt x="1093665" y="3169572"/>
                  </a:lnTo>
                  <a:cubicBezTo>
                    <a:pt x="1175941" y="3251887"/>
                    <a:pt x="1308938" y="3251887"/>
                    <a:pt x="1391214" y="3169572"/>
                  </a:cubicBezTo>
                  <a:lnTo>
                    <a:pt x="1623318" y="2937428"/>
                  </a:lnTo>
                  <a:cubicBezTo>
                    <a:pt x="1903987" y="3011289"/>
                    <a:pt x="2216271" y="2941641"/>
                    <a:pt x="2435717" y="2722156"/>
                  </a:cubicBezTo>
                  <a:lnTo>
                    <a:pt x="3965541" y="1194487"/>
                  </a:lnTo>
                  <a:lnTo>
                    <a:pt x="3665885" y="894754"/>
                  </a:lnTo>
                  <a:lnTo>
                    <a:pt x="2138119" y="2422520"/>
                  </a:lnTo>
                  <a:cubicBezTo>
                    <a:pt x="1973096" y="2587504"/>
                    <a:pt x="1709719" y="2588954"/>
                    <a:pt x="1540953" y="2424587"/>
                  </a:cubicBezTo>
                  <a:cubicBezTo>
                    <a:pt x="1460774" y="2342340"/>
                    <a:pt x="1416461" y="2236835"/>
                    <a:pt x="1416461" y="2122904"/>
                  </a:cubicBezTo>
                  <a:cubicBezTo>
                    <a:pt x="1416461" y="2011001"/>
                    <a:pt x="1460734" y="1905495"/>
                    <a:pt x="1540953" y="1827500"/>
                  </a:cubicBezTo>
                  <a:lnTo>
                    <a:pt x="1667591" y="1702930"/>
                  </a:lnTo>
                  <a:lnTo>
                    <a:pt x="1811070" y="1846438"/>
                  </a:lnTo>
                  <a:cubicBezTo>
                    <a:pt x="1896717" y="1931938"/>
                    <a:pt x="2034416" y="1924394"/>
                    <a:pt x="2108580" y="1846438"/>
                  </a:cubicBezTo>
                  <a:cubicBezTo>
                    <a:pt x="2190857" y="1764123"/>
                    <a:pt x="2190857" y="1631205"/>
                    <a:pt x="2108580" y="1548889"/>
                  </a:cubicBezTo>
                  <a:lnTo>
                    <a:pt x="1965101" y="1405449"/>
                  </a:lnTo>
                  <a:lnTo>
                    <a:pt x="2089633" y="1280879"/>
                  </a:lnTo>
                  <a:lnTo>
                    <a:pt x="2233112" y="1424387"/>
                  </a:lnTo>
                  <a:cubicBezTo>
                    <a:pt x="2318759" y="1509887"/>
                    <a:pt x="2456457" y="1502343"/>
                    <a:pt x="2530622" y="1424387"/>
                  </a:cubicBezTo>
                  <a:cubicBezTo>
                    <a:pt x="2612898" y="1342072"/>
                    <a:pt x="2612898" y="1209154"/>
                    <a:pt x="2530622" y="1126838"/>
                  </a:cubicBezTo>
                  <a:lnTo>
                    <a:pt x="2387143" y="983398"/>
                  </a:lnTo>
                  <a:lnTo>
                    <a:pt x="2511674" y="858827"/>
                  </a:lnTo>
                  <a:lnTo>
                    <a:pt x="2655153" y="1002336"/>
                  </a:lnTo>
                  <a:cubicBezTo>
                    <a:pt x="2740800" y="1087836"/>
                    <a:pt x="2878499" y="1080292"/>
                    <a:pt x="2952663" y="1002336"/>
                  </a:cubicBezTo>
                  <a:cubicBezTo>
                    <a:pt x="3034939" y="920020"/>
                    <a:pt x="3034939" y="787102"/>
                    <a:pt x="2952663" y="704787"/>
                  </a:cubicBezTo>
                  <a:lnTo>
                    <a:pt x="2809184" y="561347"/>
                  </a:lnTo>
                  <a:lnTo>
                    <a:pt x="3070836" y="299655"/>
                  </a:lnTo>
                  <a:lnTo>
                    <a:pt x="2771181" y="0"/>
                  </a:lnTo>
                  <a:lnTo>
                    <a:pt x="1243414" y="1527669"/>
                  </a:lnTo>
                  <a:cubicBezTo>
                    <a:pt x="1021832" y="1747105"/>
                    <a:pt x="952175" y="2059428"/>
                    <a:pt x="1026035" y="2340107"/>
                  </a:cubicBezTo>
                  <a:lnTo>
                    <a:pt x="793931" y="2572250"/>
                  </a:lnTo>
                  <a:cubicBezTo>
                    <a:pt x="711655" y="2654566"/>
                    <a:pt x="711655" y="2787483"/>
                    <a:pt x="793931" y="2869799"/>
                  </a:cubicBezTo>
                  <a:lnTo>
                    <a:pt x="796077" y="2871866"/>
                  </a:lnTo>
                  <a:lnTo>
                    <a:pt x="61710" y="3604124"/>
                  </a:lnTo>
                  <a:cubicBezTo>
                    <a:pt x="-20570" y="3686440"/>
                    <a:pt x="-20570" y="3819465"/>
                    <a:pt x="61710" y="3901673"/>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pic>
        <p:nvPicPr>
          <p:cNvPr id="467" name="Graphic 466" descr="Sleep with solid fill">
            <a:extLst>
              <a:ext uri="{FF2B5EF4-FFF2-40B4-BE49-F238E27FC236}">
                <a16:creationId xmlns:a16="http://schemas.microsoft.com/office/drawing/2014/main" id="{91AE0766-253B-5B1D-FA09-C75A9146051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164" y="5008958"/>
            <a:ext cx="352541" cy="352541"/>
          </a:xfrm>
          <a:prstGeom prst="rect">
            <a:avLst/>
          </a:prstGeom>
        </p:spPr>
      </p:pic>
    </p:spTree>
    <p:custDataLst>
      <p:tags r:id="rId1"/>
    </p:custDataLst>
    <p:extLst>
      <p:ext uri="{BB962C8B-B14F-4D97-AF65-F5344CB8AC3E}">
        <p14:creationId xmlns:p14="http://schemas.microsoft.com/office/powerpoint/2010/main" val="12523274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6C9D1C9E-04DE-5495-4A27-EDEDF148A20B}"/>
              </a:ext>
            </a:extLst>
          </p:cNvPr>
          <p:cNvSpPr>
            <a:spLocks noGrp="1"/>
          </p:cNvSpPr>
          <p:nvPr>
            <p:ph type="title"/>
          </p:nvPr>
        </p:nvSpPr>
        <p:spPr/>
        <p:txBody>
          <a:bodyPr/>
          <a:lstStyle/>
          <a:p>
            <a:r>
              <a:rPr lang="en-US" dirty="0"/>
              <a:t>The burden of COPD on patients and caregivers</a:t>
            </a:r>
            <a:endParaRPr lang="en-GB" dirty="0"/>
          </a:p>
        </p:txBody>
      </p:sp>
      <p:sp>
        <p:nvSpPr>
          <p:cNvPr id="10" name="Subtitle 9">
            <a:extLst>
              <a:ext uri="{FF2B5EF4-FFF2-40B4-BE49-F238E27FC236}">
                <a16:creationId xmlns:a16="http://schemas.microsoft.com/office/drawing/2014/main" id="{9F12FCDB-A133-76EB-7654-35FFF331B5F7}"/>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101387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a:t>
            </a:r>
            <a:r>
              <a:rPr lang="en-US" dirty="0" err="1"/>
              <a:t>Dyspnoea</a:t>
            </a:r>
            <a:r>
              <a:rPr lang="en-US" dirty="0"/>
              <a:t> is a cardinal symptom of COPD, otherwise known as breathlessness. </a:t>
            </a:r>
          </a:p>
          <a:p>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US" dirty="0"/>
              <a:t>. Accessed February 2023; 2. MacNee W;</a:t>
            </a:r>
            <a:r>
              <a:rPr lang="en-US" i="1" dirty="0"/>
              <a:t>Clinical Respiratory Medicine</a:t>
            </a:r>
            <a:r>
              <a:rPr lang="en-US" dirty="0"/>
              <a:t>;2012;4;531-552; 3. Diab N;</a:t>
            </a:r>
            <a:r>
              <a:rPr lang="en-US" i="1" dirty="0"/>
              <a:t>American Journal of Respiratory and Critical Care Medicine</a:t>
            </a:r>
            <a:r>
              <a:rPr lang="en-US" dirty="0"/>
              <a:t>;2018;198;1130-1139.</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p:txBody>
          <a:bodyPr/>
          <a:lstStyle/>
          <a:p>
            <a:r>
              <a:rPr lang="en-US" dirty="0"/>
              <a:t>COPD is underdiagnosed and undermanaged</a:t>
            </a:r>
            <a:endParaRPr lang="en-GB" dirty="0"/>
          </a:p>
        </p:txBody>
      </p:sp>
      <p:sp>
        <p:nvSpPr>
          <p:cNvPr id="5" name="Subtitle 4">
            <a:extLst>
              <a:ext uri="{FF2B5EF4-FFF2-40B4-BE49-F238E27FC236}">
                <a16:creationId xmlns:a16="http://schemas.microsoft.com/office/drawing/2014/main" id="{4A3BE547-8D35-3E08-7D73-4BA89093AED7}"/>
              </a:ext>
            </a:extLst>
          </p:cNvPr>
          <p:cNvSpPr>
            <a:spLocks noGrp="1"/>
          </p:cNvSpPr>
          <p:nvPr>
            <p:ph type="subTitle" idx="1"/>
          </p:nvPr>
        </p:nvSpPr>
        <p:spPr/>
        <p:txBody>
          <a:bodyPr/>
          <a:lstStyle/>
          <a:p>
            <a:endParaRPr lang="en-GB" dirty="0"/>
          </a:p>
        </p:txBody>
      </p:sp>
      <p:sp>
        <p:nvSpPr>
          <p:cNvPr id="7" name="object 6">
            <a:extLst>
              <a:ext uri="{FF2B5EF4-FFF2-40B4-BE49-F238E27FC236}">
                <a16:creationId xmlns:a16="http://schemas.microsoft.com/office/drawing/2014/main" id="{5F90B5B1-FC98-5A54-A407-16C9FAE4B421}"/>
              </a:ext>
            </a:extLst>
          </p:cNvPr>
          <p:cNvSpPr txBox="1">
            <a:spLocks/>
          </p:cNvSpPr>
          <p:nvPr/>
        </p:nvSpPr>
        <p:spPr>
          <a:xfrm>
            <a:off x="365125" y="4757870"/>
            <a:ext cx="11460163" cy="542059"/>
          </a:xfrm>
          <a:prstGeom prst="rect">
            <a:avLst/>
          </a:prstGeom>
          <a:solidFill>
            <a:schemeClr val="bg2">
              <a:lumMod val="20000"/>
              <a:lumOff val="80000"/>
            </a:schemeClr>
          </a:solidFill>
          <a:ln w="12700">
            <a:noFill/>
          </a:ln>
        </p:spPr>
        <p:txBody>
          <a:bodyPr vert="horz" wrap="square" lIns="91440" tIns="45720" rIns="45720" bIns="45720" rtlCol="0" anchor="ctr" anchorCtr="0">
            <a:noAutofit/>
          </a:bodyPr>
          <a:lstStyle/>
          <a:p>
            <a:pPr marL="71755"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F36633"/>
                </a:solidFill>
                <a:effectLst/>
                <a:uLnTx/>
                <a:uFillTx/>
                <a:latin typeface="Arial"/>
                <a:ea typeface="+mn-ea"/>
                <a:cs typeface="Arial"/>
              </a:rPr>
              <a:t>Once diagnosed, a significant proportion of patients with COPD are</a:t>
            </a:r>
          </a:p>
          <a:p>
            <a:pPr marL="71755"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sng" strike="noStrike" kern="1200" cap="none" spc="-10" normalizeH="0" baseline="0" noProof="0" dirty="0">
                <a:ln>
                  <a:noFill/>
                </a:ln>
                <a:solidFill>
                  <a:srgbClr val="F36633"/>
                </a:solidFill>
                <a:effectLst/>
                <a:uLnTx/>
                <a:uFillTx/>
                <a:latin typeface="Arial"/>
                <a:ea typeface="+mn-ea"/>
                <a:cs typeface="Arial"/>
              </a:rPr>
              <a:t>undermanaged</a:t>
            </a:r>
            <a:r>
              <a:rPr kumimoji="0" lang="en-US" sz="1400" b="1" i="0" u="none" strike="noStrike" kern="1200" cap="none" spc="-10" normalizeH="0" baseline="0" noProof="0" dirty="0">
                <a:ln>
                  <a:noFill/>
                </a:ln>
                <a:solidFill>
                  <a:srgbClr val="F36633"/>
                </a:solidFill>
                <a:effectLst/>
                <a:uLnTx/>
                <a:uFillTx/>
                <a:latin typeface="Arial"/>
                <a:ea typeface="+mn-ea"/>
                <a:cs typeface="Arial"/>
              </a:rPr>
              <a:t>.</a:t>
            </a:r>
            <a:r>
              <a:rPr kumimoji="0" lang="en-US" sz="1400" b="1" i="0" u="none" strike="noStrike" kern="1200" cap="none" spc="-10" normalizeH="0" baseline="30000" noProof="0" dirty="0">
                <a:ln>
                  <a:noFill/>
                </a:ln>
                <a:solidFill>
                  <a:srgbClr val="F36633"/>
                </a:solidFill>
                <a:effectLst/>
                <a:uLnTx/>
                <a:uFillTx/>
                <a:latin typeface="Arial"/>
                <a:ea typeface="+mn-ea"/>
                <a:cs typeface="Arial"/>
              </a:rPr>
              <a:t>1,2</a:t>
            </a:r>
            <a:r>
              <a:rPr kumimoji="0" lang="en-US" sz="1400" b="1" i="0" u="none" strike="noStrike" kern="1200" cap="none" spc="-10" normalizeH="0" baseline="0" noProof="0" dirty="0">
                <a:ln>
                  <a:noFill/>
                </a:ln>
                <a:solidFill>
                  <a:srgbClr val="F36633"/>
                </a:solidFill>
                <a:effectLst/>
                <a:uLnTx/>
                <a:uFillTx/>
                <a:latin typeface="Arial"/>
                <a:ea typeface="+mn-ea"/>
                <a:cs typeface="Arial"/>
              </a:rPr>
              <a:t> This results in substantial onward healthcare costs</a:t>
            </a:r>
            <a:r>
              <a:rPr kumimoji="0" lang="en-US" sz="1400" b="1" i="0" u="none" strike="noStrike" kern="1200" cap="none" spc="-10" normalizeH="0" baseline="30000" noProof="0" dirty="0">
                <a:ln>
                  <a:noFill/>
                </a:ln>
                <a:solidFill>
                  <a:srgbClr val="F36633"/>
                </a:solidFill>
                <a:effectLst/>
                <a:uLnTx/>
                <a:uFillTx/>
                <a:latin typeface="Arial"/>
                <a:ea typeface="+mn-ea"/>
                <a:cs typeface="Arial"/>
              </a:rPr>
              <a:t>1,2</a:t>
            </a:r>
          </a:p>
        </p:txBody>
      </p:sp>
      <p:sp>
        <p:nvSpPr>
          <p:cNvPr id="8" name="object 6">
            <a:extLst>
              <a:ext uri="{FF2B5EF4-FFF2-40B4-BE49-F238E27FC236}">
                <a16:creationId xmlns:a16="http://schemas.microsoft.com/office/drawing/2014/main" id="{38409C76-5433-6F77-CA3F-05EA2E75EF5E}"/>
              </a:ext>
            </a:extLst>
          </p:cNvPr>
          <p:cNvSpPr txBox="1">
            <a:spLocks/>
          </p:cNvSpPr>
          <p:nvPr/>
        </p:nvSpPr>
        <p:spPr>
          <a:xfrm>
            <a:off x="365125" y="1312118"/>
            <a:ext cx="11460163" cy="336576"/>
          </a:xfrm>
          <a:prstGeom prst="rect">
            <a:avLst/>
          </a:prstGeom>
          <a:solidFill>
            <a:schemeClr val="tx2"/>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prstClr val="white"/>
                </a:solidFill>
                <a:effectLst/>
                <a:uLnTx/>
                <a:uFillTx/>
                <a:latin typeface="Arial"/>
                <a:ea typeface="+mn-ea"/>
                <a:cs typeface="Arial"/>
              </a:rPr>
              <a:t>COPD is underdiagnosed because…</a:t>
            </a:r>
          </a:p>
        </p:txBody>
      </p:sp>
      <p:sp>
        <p:nvSpPr>
          <p:cNvPr id="10" name="TextBox 9">
            <a:extLst>
              <a:ext uri="{FF2B5EF4-FFF2-40B4-BE49-F238E27FC236}">
                <a16:creationId xmlns:a16="http://schemas.microsoft.com/office/drawing/2014/main" id="{5DF4ED2E-1D67-B8DC-FE57-08AB2679EC2D}"/>
              </a:ext>
            </a:extLst>
          </p:cNvPr>
          <p:cNvSpPr txBox="1"/>
          <p:nvPr/>
        </p:nvSpPr>
        <p:spPr>
          <a:xfrm>
            <a:off x="365124" y="1648963"/>
            <a:ext cx="11460163" cy="2502288"/>
          </a:xfrm>
          <a:prstGeom prst="rect">
            <a:avLst/>
          </a:prstGeom>
          <a:noFill/>
        </p:spPr>
        <p:txBody>
          <a:bodyPr wrap="square">
            <a:spAutoFit/>
          </a:bodyPr>
          <a:lstStyle/>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It is difficult to differentiate COPD from other respiratory diseases since it manifests with common respiratory symptoms such as </a:t>
            </a:r>
            <a:r>
              <a:rPr kumimoji="0" lang="en-GB" sz="1400" b="0" i="0" u="none" strike="noStrike" kern="1200" cap="none" spc="0" normalizeH="0" baseline="0" noProof="0" dirty="0">
                <a:ln>
                  <a:noFill/>
                </a:ln>
                <a:solidFill>
                  <a:srgbClr val="000000"/>
                </a:solidFill>
                <a:effectLst/>
                <a:uLnTx/>
                <a:uFillTx/>
                <a:latin typeface="Arial"/>
                <a:ea typeface="+mn-ea"/>
                <a:cs typeface="Noto Sans"/>
              </a:rPr>
              <a:t>dyspnoea</a:t>
            </a:r>
            <a:r>
              <a:rPr kumimoji="0" lang="en-US" sz="1400" b="0" i="0" u="none" strike="noStrike" kern="1200" cap="none" spc="0" normalizeH="0" baseline="0" noProof="0" dirty="0">
                <a:ln>
                  <a:noFill/>
                </a:ln>
                <a:solidFill>
                  <a:srgbClr val="000000"/>
                </a:solidFill>
                <a:effectLst/>
                <a:uLnTx/>
                <a:uFillTx/>
                <a:latin typeface="Arial"/>
                <a:ea typeface="+mn-ea"/>
                <a:cs typeface="Noto Sans"/>
              </a:rPr>
              <a:t>,* cough and/or increased production of sputum</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1</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Patients frequently neglect their COPD symptoms:</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1</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Patients may consider cough and the production of sputum as </a:t>
            </a:r>
            <a:r>
              <a:rPr kumimoji="0" lang="en-US" sz="1400" b="0" i="0" u="sng" strike="noStrike" kern="1200" cap="none" spc="0" normalizeH="0" baseline="0" noProof="0" dirty="0">
                <a:ln>
                  <a:noFill/>
                </a:ln>
                <a:solidFill>
                  <a:srgbClr val="000000"/>
                </a:solidFill>
                <a:effectLst/>
                <a:uLnTx/>
                <a:uFillTx/>
                <a:latin typeface="Arial"/>
                <a:ea typeface="+mn-ea"/>
                <a:cs typeface="Noto Sans"/>
              </a:rPr>
              <a:t>‘normal’</a:t>
            </a:r>
            <a:r>
              <a:rPr kumimoji="0" lang="en-US" sz="1400" b="0" i="0" strike="noStrike" kern="1200" cap="none" spc="0" normalizeH="0" baseline="0" noProof="0" dirty="0">
                <a:ln>
                  <a:noFill/>
                </a:ln>
                <a:solidFill>
                  <a:srgbClr val="000000"/>
                </a:solidFill>
                <a:effectLst/>
                <a:uLnTx/>
                <a:uFillTx/>
                <a:latin typeface="Arial"/>
                <a:ea typeface="+mn-ea"/>
                <a:cs typeface="Noto Sans"/>
              </a:rPr>
              <a:t> </a:t>
            </a:r>
            <a:r>
              <a:rPr kumimoji="0" lang="en-US" sz="1400" b="0" i="0" u="none" strike="noStrike" kern="1200" cap="none" spc="0" normalizeH="0" baseline="0" noProof="0" dirty="0">
                <a:ln>
                  <a:noFill/>
                </a:ln>
                <a:solidFill>
                  <a:srgbClr val="000000"/>
                </a:solidFill>
                <a:effectLst/>
                <a:uLnTx/>
                <a:uFillTx/>
                <a:latin typeface="Arial"/>
                <a:ea typeface="+mn-ea"/>
                <a:cs typeface="Noto Sans"/>
              </a:rPr>
              <a:t>when smoking</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They may also attribute dyspnoea solely to age and reduced physical fitness</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Therefore, many patients </a:t>
            </a:r>
            <a:r>
              <a:rPr kumimoji="0" lang="en-US" sz="1400" b="0" i="0" u="sng" strike="noStrike" kern="1200" cap="none" spc="0" normalizeH="0" baseline="0" noProof="0" dirty="0">
                <a:ln>
                  <a:noFill/>
                </a:ln>
                <a:solidFill>
                  <a:srgbClr val="000000"/>
                </a:solidFill>
                <a:effectLst/>
                <a:uLnTx/>
                <a:uFillTx/>
                <a:latin typeface="Arial"/>
                <a:ea typeface="+mn-ea"/>
                <a:cs typeface="Noto Sans"/>
              </a:rPr>
              <a:t>present to physicians </a:t>
            </a:r>
            <a:r>
              <a:rPr kumimoji="0" lang="en-US" sz="1400" b="0" i="0" u="none" strike="noStrike" kern="1200" cap="none" spc="0" normalizeH="0" baseline="0" noProof="0" dirty="0">
                <a:ln>
                  <a:noFill/>
                </a:ln>
                <a:solidFill>
                  <a:srgbClr val="000000"/>
                </a:solidFill>
                <a:effectLst/>
                <a:uLnTx/>
                <a:uFillTx/>
                <a:latin typeface="Arial"/>
                <a:ea typeface="+mn-ea"/>
                <a:cs typeface="Noto Sans"/>
              </a:rPr>
              <a:t>when their COPD has already led to a significant reduction in lung function</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sng" strike="noStrike" kern="1200" cap="none" spc="0" normalizeH="0" baseline="0" noProof="0" dirty="0">
                <a:ln>
                  <a:noFill/>
                </a:ln>
                <a:solidFill>
                  <a:srgbClr val="000000"/>
                </a:solidFill>
                <a:effectLst/>
                <a:uLnTx/>
                <a:uFillTx/>
                <a:latin typeface="Arial"/>
                <a:ea typeface="+mn-ea"/>
                <a:cs typeface="Noto Sans"/>
              </a:rPr>
              <a:t>Poor access to spirometry </a:t>
            </a:r>
            <a:r>
              <a:rPr kumimoji="0" lang="en-US" sz="1400" b="0" i="0" u="none" strike="noStrike" kern="1200" cap="none" spc="0" normalizeH="0" baseline="0" noProof="0" dirty="0">
                <a:ln>
                  <a:noFill/>
                </a:ln>
                <a:solidFill>
                  <a:srgbClr val="000000"/>
                </a:solidFill>
                <a:effectLst/>
                <a:uLnTx/>
                <a:uFillTx/>
                <a:latin typeface="Arial"/>
                <a:ea typeface="+mn-ea"/>
                <a:cs typeface="Noto Sans"/>
              </a:rPr>
              <a:t>and lack of expertise across regions are major contributors in COPD underdiagnosis</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3</a:t>
            </a:r>
            <a:r>
              <a:rPr kumimoji="0" lang="en-US" sz="1400" b="0" i="0" u="none" strike="noStrike" kern="1200" cap="none" spc="0" normalizeH="0" baseline="0" noProof="0" dirty="0">
                <a:ln>
                  <a:noFill/>
                </a:ln>
                <a:solidFill>
                  <a:srgbClr val="000000"/>
                </a:solidFill>
                <a:effectLst/>
                <a:uLnTx/>
                <a:uFillTx/>
                <a:latin typeface="Arial"/>
                <a:ea typeface="+mn-ea"/>
                <a:cs typeface="Noto Sans"/>
              </a:rPr>
              <a:t> </a:t>
            </a:r>
          </a:p>
        </p:txBody>
      </p:sp>
      <p:sp>
        <p:nvSpPr>
          <p:cNvPr id="12" name="Slide Number Placeholder 11">
            <a:extLst>
              <a:ext uri="{FF2B5EF4-FFF2-40B4-BE49-F238E27FC236}">
                <a16:creationId xmlns:a16="http://schemas.microsoft.com/office/drawing/2014/main" id="{4983B729-7FED-2C4E-C8F4-8CD97D16596B}"/>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4289640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err="1"/>
              <a:t>HRQoL</a:t>
            </a:r>
            <a:r>
              <a:rPr lang="en-US" dirty="0"/>
              <a:t>, health-related quality of life.</a:t>
            </a:r>
          </a:p>
          <a:p>
            <a:r>
              <a:rPr lang="en-US" dirty="0"/>
              <a:t>1. MacNee W;Clinical Respiratory Medicine;2012;4;531-552; 2.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US" dirty="0"/>
              <a:t>. Accessed February 2023; 3. Hill K;COPD: </a:t>
            </a:r>
            <a:r>
              <a:rPr lang="en-US" i="1" dirty="0"/>
              <a:t>Journal of Chronic Obstructive Pulmonary Disease</a:t>
            </a:r>
            <a:r>
              <a:rPr lang="en-US" dirty="0"/>
              <a:t>;2007;4;257-261; 4. Jones PW;</a:t>
            </a:r>
            <a:r>
              <a:rPr lang="en-US" i="1" dirty="0"/>
              <a:t>Respiratory Medicine</a:t>
            </a:r>
            <a:r>
              <a:rPr lang="en-US" dirty="0"/>
              <a:t>;2011;105;57-66; 5. Kessler R;</a:t>
            </a:r>
            <a:r>
              <a:rPr lang="en-US" i="1" dirty="0"/>
              <a:t>The European Respiratory Journal</a:t>
            </a:r>
            <a:r>
              <a:rPr lang="en-US" dirty="0"/>
              <a:t>;2011;37;264-272; 6. Barnes N;</a:t>
            </a:r>
            <a:r>
              <a:rPr lang="en-US" i="1" dirty="0"/>
              <a:t>BioMed Central Pulmonary Medicine</a:t>
            </a:r>
            <a:r>
              <a:rPr lang="en-US" dirty="0"/>
              <a:t>;2013;13;1-11.</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p:txBody>
          <a:bodyPr/>
          <a:lstStyle/>
          <a:p>
            <a:r>
              <a:rPr lang="en-US" dirty="0"/>
              <a:t>As COPD progresses, patient burden increases</a:t>
            </a:r>
            <a:endParaRPr lang="en-GB" dirty="0"/>
          </a:p>
        </p:txBody>
      </p:sp>
      <p:sp>
        <p:nvSpPr>
          <p:cNvPr id="5" name="Subtitle 4">
            <a:extLst>
              <a:ext uri="{FF2B5EF4-FFF2-40B4-BE49-F238E27FC236}">
                <a16:creationId xmlns:a16="http://schemas.microsoft.com/office/drawing/2014/main" id="{4A3BE547-8D35-3E08-7D73-4BA89093AED7}"/>
              </a:ext>
            </a:extLst>
          </p:cNvPr>
          <p:cNvSpPr>
            <a:spLocks noGrp="1"/>
          </p:cNvSpPr>
          <p:nvPr>
            <p:ph type="subTitle" idx="1"/>
          </p:nvPr>
        </p:nvSpPr>
        <p:spPr/>
        <p:txBody>
          <a:bodyPr/>
          <a:lstStyle/>
          <a:p>
            <a:r>
              <a:rPr lang="en-GB" dirty="0"/>
              <a:t>Physical symptoms</a:t>
            </a:r>
          </a:p>
        </p:txBody>
      </p:sp>
      <p:sp>
        <p:nvSpPr>
          <p:cNvPr id="8" name="object 6">
            <a:extLst>
              <a:ext uri="{FF2B5EF4-FFF2-40B4-BE49-F238E27FC236}">
                <a16:creationId xmlns:a16="http://schemas.microsoft.com/office/drawing/2014/main" id="{38409C76-5433-6F77-CA3F-05EA2E75EF5E}"/>
              </a:ext>
            </a:extLst>
          </p:cNvPr>
          <p:cNvSpPr txBox="1">
            <a:spLocks/>
          </p:cNvSpPr>
          <p:nvPr/>
        </p:nvSpPr>
        <p:spPr>
          <a:xfrm>
            <a:off x="365125" y="1312118"/>
            <a:ext cx="11460163" cy="336576"/>
          </a:xfrm>
          <a:prstGeom prst="rect">
            <a:avLst/>
          </a:prstGeom>
          <a:solidFill>
            <a:schemeClr val="tx2"/>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prstClr val="white"/>
                </a:solidFill>
                <a:effectLst/>
                <a:uLnTx/>
                <a:uFillTx/>
                <a:latin typeface="Arial"/>
                <a:ea typeface="+mn-ea"/>
                <a:cs typeface="Arial"/>
              </a:rPr>
              <a:t>Undermanagement and progression of COPD increases patient burden</a:t>
            </a:r>
          </a:p>
        </p:txBody>
      </p:sp>
      <p:sp>
        <p:nvSpPr>
          <p:cNvPr id="2" name="object 6">
            <a:extLst>
              <a:ext uri="{FF2B5EF4-FFF2-40B4-BE49-F238E27FC236}">
                <a16:creationId xmlns:a16="http://schemas.microsoft.com/office/drawing/2014/main" id="{3F8A83D1-C2A1-35D7-1D1B-4C51CA231C37}"/>
              </a:ext>
            </a:extLst>
          </p:cNvPr>
          <p:cNvSpPr txBox="1">
            <a:spLocks/>
          </p:cNvSpPr>
          <p:nvPr/>
        </p:nvSpPr>
        <p:spPr>
          <a:xfrm>
            <a:off x="365125" y="1737209"/>
            <a:ext cx="5602288" cy="353459"/>
          </a:xfrm>
          <a:prstGeom prst="rect">
            <a:avLst/>
          </a:prstGeom>
          <a:solidFill>
            <a:schemeClr val="bg2"/>
          </a:solidFill>
          <a:ln w="12700">
            <a:noFill/>
          </a:ln>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605"/>
              </a:spcBef>
              <a:spcAft>
                <a:spcPts val="0"/>
              </a:spcAft>
              <a:buClrTx/>
              <a:buSzTx/>
              <a:buFontTx/>
              <a:buNone/>
              <a:tabLst/>
              <a:defRPr/>
            </a:pPr>
            <a:r>
              <a:rPr kumimoji="0" lang="en-US" sz="1400" b="1" i="0" u="none" strike="noStrike" kern="1200" cap="none" spc="-10" normalizeH="0" baseline="0" noProof="0" dirty="0">
                <a:ln>
                  <a:noFill/>
                </a:ln>
                <a:solidFill>
                  <a:srgbClr val="FFFFFF"/>
                </a:solidFill>
                <a:effectLst/>
                <a:uLnTx/>
                <a:uFillTx/>
                <a:latin typeface="Arial"/>
                <a:ea typeface="+mn-ea"/>
                <a:cs typeface="Arial"/>
              </a:rPr>
              <a:t>Physical</a:t>
            </a:r>
            <a:endParaRPr kumimoji="0" lang="en-US" sz="1400" b="0" i="0" u="none" strike="noStrike" kern="1200" cap="none" spc="0" normalizeH="0" baseline="0" noProof="0" dirty="0">
              <a:ln>
                <a:noFill/>
              </a:ln>
              <a:solidFill>
                <a:srgbClr val="000000"/>
              </a:solidFill>
              <a:effectLst/>
              <a:uLnTx/>
              <a:uFillTx/>
              <a:latin typeface="Arial"/>
              <a:ea typeface="+mn-ea"/>
              <a:cs typeface="Arial"/>
            </a:endParaRPr>
          </a:p>
        </p:txBody>
      </p:sp>
      <p:sp>
        <p:nvSpPr>
          <p:cNvPr id="3" name="TextBox 2">
            <a:extLst>
              <a:ext uri="{FF2B5EF4-FFF2-40B4-BE49-F238E27FC236}">
                <a16:creationId xmlns:a16="http://schemas.microsoft.com/office/drawing/2014/main" id="{2DE33F6D-F2F3-E7F8-CDD2-E10858C52037}"/>
              </a:ext>
            </a:extLst>
          </p:cNvPr>
          <p:cNvSpPr txBox="1"/>
          <p:nvPr/>
        </p:nvSpPr>
        <p:spPr>
          <a:xfrm>
            <a:off x="365124" y="2108774"/>
            <a:ext cx="5602289" cy="2431499"/>
          </a:xfrm>
          <a:prstGeom prst="rect">
            <a:avLst/>
          </a:prstGeom>
          <a:noFill/>
        </p:spPr>
        <p:txBody>
          <a:bodyPr wrap="square">
            <a:spAutoFit/>
          </a:bodyPr>
          <a:lstStyle/>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As COPD progresses, there is a </a:t>
            </a:r>
            <a:r>
              <a:rPr kumimoji="0" lang="en-US" sz="1400" b="0" i="0" u="sng" strike="noStrike" kern="1200" cap="none" spc="0" normalizeH="0" baseline="0" noProof="0" dirty="0">
                <a:ln>
                  <a:noFill/>
                </a:ln>
                <a:solidFill>
                  <a:srgbClr val="000000"/>
                </a:solidFill>
                <a:effectLst/>
                <a:uLnTx/>
                <a:uFillTx/>
                <a:latin typeface="Arial"/>
                <a:ea typeface="+mn-ea"/>
                <a:cs typeface="Noto Sans"/>
              </a:rPr>
              <a:t>decrease in lung function</a:t>
            </a:r>
            <a:r>
              <a:rPr kumimoji="0" lang="en-US" sz="1400" b="0" i="0" u="none" strike="noStrike" kern="1200" cap="none" spc="0" normalizeH="0" baseline="0" noProof="0" dirty="0">
                <a:ln>
                  <a:noFill/>
                </a:ln>
                <a:solidFill>
                  <a:srgbClr val="000000"/>
                </a:solidFill>
                <a:effectLst/>
                <a:uLnTx/>
                <a:uFillTx/>
                <a:latin typeface="Arial"/>
                <a:ea typeface="+mn-ea"/>
                <a:cs typeface="Noto Sans"/>
              </a:rPr>
              <a:t>, resulting in </a:t>
            </a:r>
            <a:r>
              <a:rPr kumimoji="0" lang="en-US" sz="1400" b="0" i="0" u="sng" strike="noStrike" kern="1200" cap="none" spc="0" normalizeH="0" baseline="0" noProof="0" dirty="0">
                <a:ln>
                  <a:noFill/>
                </a:ln>
                <a:solidFill>
                  <a:srgbClr val="000000"/>
                </a:solidFill>
                <a:effectLst/>
                <a:uLnTx/>
                <a:uFillTx/>
                <a:latin typeface="Arial"/>
                <a:ea typeface="+mn-ea"/>
                <a:cs typeface="Noto Sans"/>
              </a:rPr>
              <a:t>interference</a:t>
            </a:r>
            <a:r>
              <a:rPr kumimoji="0" lang="en-US" sz="1400" b="0" i="0" u="none" strike="noStrike" kern="1200" cap="none" spc="0" normalizeH="0" baseline="0" noProof="0" dirty="0">
                <a:ln>
                  <a:noFill/>
                </a:ln>
                <a:solidFill>
                  <a:srgbClr val="000000"/>
                </a:solidFill>
                <a:effectLst/>
                <a:uLnTx/>
                <a:uFillTx/>
                <a:latin typeface="Arial"/>
                <a:ea typeface="+mn-ea"/>
                <a:cs typeface="Noto Sans"/>
              </a:rPr>
              <a:t> with activities of daily living.</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1,3</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COPD affects the airways and lung parenchyma.</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1,3</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Patients with COPD often find that physical activity becomes increasingly difficult as their COPD progresses: this can lead to sarcopenia (loss of skeletal muscle mass) and increases the risk of diabetes, osteoporosis and cardiovascular disease.</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1,2</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People with COPD can die prematurely.</a:t>
            </a:r>
            <a:r>
              <a:rPr kumimoji="0" lang="en-US" sz="1400" b="0" i="0" u="none" strike="noStrike" kern="1200" cap="none" spc="0" normalizeH="0" baseline="30000" noProof="0" dirty="0">
                <a:ln>
                  <a:noFill/>
                </a:ln>
                <a:solidFill>
                  <a:srgbClr val="000000"/>
                </a:solidFill>
                <a:effectLst/>
                <a:uLnTx/>
                <a:uFillTx/>
                <a:latin typeface="Arial"/>
                <a:ea typeface="+mn-ea"/>
                <a:cs typeface="Noto Sans"/>
              </a:rPr>
              <a:t>2</a:t>
            </a:r>
          </a:p>
        </p:txBody>
      </p:sp>
      <p:grpSp>
        <p:nvGrpSpPr>
          <p:cNvPr id="11" name="Group 10">
            <a:extLst>
              <a:ext uri="{FF2B5EF4-FFF2-40B4-BE49-F238E27FC236}">
                <a16:creationId xmlns:a16="http://schemas.microsoft.com/office/drawing/2014/main" id="{35F2673E-8F4A-AC73-D973-804ECB8E6DE6}"/>
              </a:ext>
            </a:extLst>
          </p:cNvPr>
          <p:cNvGrpSpPr/>
          <p:nvPr/>
        </p:nvGrpSpPr>
        <p:grpSpPr>
          <a:xfrm>
            <a:off x="8704356" y="2794133"/>
            <a:ext cx="639572" cy="748211"/>
            <a:chOff x="8566594" y="3158871"/>
            <a:chExt cx="655701" cy="767080"/>
          </a:xfrm>
          <a:solidFill>
            <a:schemeClr val="tx1"/>
          </a:solidFill>
        </p:grpSpPr>
        <p:sp>
          <p:nvSpPr>
            <p:cNvPr id="23" name="object 17">
              <a:extLst>
                <a:ext uri="{FF2B5EF4-FFF2-40B4-BE49-F238E27FC236}">
                  <a16:creationId xmlns:a16="http://schemas.microsoft.com/office/drawing/2014/main" id="{DCA6347C-9B9E-4FBF-1153-6D8EA25AD4D9}"/>
                </a:ext>
              </a:extLst>
            </p:cNvPr>
            <p:cNvSpPr/>
            <p:nvPr/>
          </p:nvSpPr>
          <p:spPr>
            <a:xfrm>
              <a:off x="8566594" y="3158871"/>
              <a:ext cx="297180" cy="767080"/>
            </a:xfrm>
            <a:custGeom>
              <a:avLst/>
              <a:gdLst/>
              <a:ahLst/>
              <a:cxnLst/>
              <a:rect l="l" t="t" r="r" b="b"/>
              <a:pathLst>
                <a:path w="297179" h="767079">
                  <a:moveTo>
                    <a:pt x="148589" y="0"/>
                  </a:moveTo>
                  <a:lnTo>
                    <a:pt x="119532" y="4835"/>
                  </a:lnTo>
                  <a:lnTo>
                    <a:pt x="95107" y="18113"/>
                  </a:lnTo>
                  <a:lnTo>
                    <a:pt x="78277" y="37986"/>
                  </a:lnTo>
                  <a:lnTo>
                    <a:pt x="72008" y="62611"/>
                  </a:lnTo>
                  <a:lnTo>
                    <a:pt x="72008" y="101726"/>
                  </a:lnTo>
                  <a:lnTo>
                    <a:pt x="74412" y="116272"/>
                  </a:lnTo>
                  <a:lnTo>
                    <a:pt x="81041" y="130079"/>
                  </a:lnTo>
                  <a:lnTo>
                    <a:pt x="91029" y="142410"/>
                  </a:lnTo>
                  <a:lnTo>
                    <a:pt x="103504" y="152526"/>
                  </a:lnTo>
                  <a:lnTo>
                    <a:pt x="45084" y="179958"/>
                  </a:lnTo>
                  <a:lnTo>
                    <a:pt x="15867" y="210677"/>
                  </a:lnTo>
                  <a:lnTo>
                    <a:pt x="4444" y="308990"/>
                  </a:lnTo>
                  <a:lnTo>
                    <a:pt x="4444" y="312927"/>
                  </a:lnTo>
                  <a:lnTo>
                    <a:pt x="0" y="383285"/>
                  </a:lnTo>
                  <a:lnTo>
                    <a:pt x="0" y="426338"/>
                  </a:lnTo>
                  <a:lnTo>
                    <a:pt x="3240" y="445303"/>
                  </a:lnTo>
                  <a:lnTo>
                    <a:pt x="12398" y="460994"/>
                  </a:lnTo>
                  <a:lnTo>
                    <a:pt x="26628" y="473041"/>
                  </a:lnTo>
                  <a:lnTo>
                    <a:pt x="45084" y="481075"/>
                  </a:lnTo>
                  <a:lnTo>
                    <a:pt x="45084" y="766571"/>
                  </a:lnTo>
                  <a:lnTo>
                    <a:pt x="72008" y="766571"/>
                  </a:lnTo>
                  <a:lnTo>
                    <a:pt x="84609" y="763887"/>
                  </a:lnTo>
                  <a:lnTo>
                    <a:pt x="95091" y="756808"/>
                  </a:lnTo>
                  <a:lnTo>
                    <a:pt x="103048" y="746801"/>
                  </a:lnTo>
                  <a:lnTo>
                    <a:pt x="108076" y="735329"/>
                  </a:lnTo>
                  <a:lnTo>
                    <a:pt x="139572" y="481075"/>
                  </a:lnTo>
                  <a:lnTo>
                    <a:pt x="252094" y="481075"/>
                  </a:lnTo>
                  <a:lnTo>
                    <a:pt x="270551" y="473041"/>
                  </a:lnTo>
                  <a:lnTo>
                    <a:pt x="284781" y="460994"/>
                  </a:lnTo>
                  <a:lnTo>
                    <a:pt x="293939" y="445303"/>
                  </a:lnTo>
                  <a:lnTo>
                    <a:pt x="297179" y="426338"/>
                  </a:lnTo>
                  <a:lnTo>
                    <a:pt x="288163" y="308990"/>
                  </a:lnTo>
                  <a:lnTo>
                    <a:pt x="283717" y="222884"/>
                  </a:lnTo>
                  <a:lnTo>
                    <a:pt x="264644" y="187737"/>
                  </a:lnTo>
                  <a:lnTo>
                    <a:pt x="193675" y="152526"/>
                  </a:lnTo>
                  <a:lnTo>
                    <a:pt x="206150" y="142410"/>
                  </a:lnTo>
                  <a:lnTo>
                    <a:pt x="210609" y="136905"/>
                  </a:lnTo>
                  <a:lnTo>
                    <a:pt x="148589" y="136905"/>
                  </a:lnTo>
                  <a:lnTo>
                    <a:pt x="132776" y="134159"/>
                  </a:lnTo>
                  <a:lnTo>
                    <a:pt x="119903" y="126650"/>
                  </a:lnTo>
                  <a:lnTo>
                    <a:pt x="111246" y="115474"/>
                  </a:lnTo>
                  <a:lnTo>
                    <a:pt x="108076" y="101726"/>
                  </a:lnTo>
                  <a:lnTo>
                    <a:pt x="108076" y="62611"/>
                  </a:lnTo>
                  <a:lnTo>
                    <a:pt x="111246" y="48863"/>
                  </a:lnTo>
                  <a:lnTo>
                    <a:pt x="119903" y="37687"/>
                  </a:lnTo>
                  <a:lnTo>
                    <a:pt x="132776" y="30178"/>
                  </a:lnTo>
                  <a:lnTo>
                    <a:pt x="148589" y="27431"/>
                  </a:lnTo>
                  <a:lnTo>
                    <a:pt x="209964" y="27431"/>
                  </a:lnTo>
                  <a:lnTo>
                    <a:pt x="202072" y="18113"/>
                  </a:lnTo>
                  <a:lnTo>
                    <a:pt x="177647" y="4835"/>
                  </a:lnTo>
                  <a:lnTo>
                    <a:pt x="148589" y="0"/>
                  </a:lnTo>
                  <a:close/>
                </a:path>
                <a:path w="297179" h="767079">
                  <a:moveTo>
                    <a:pt x="252094" y="481075"/>
                  </a:moveTo>
                  <a:lnTo>
                    <a:pt x="157606" y="481075"/>
                  </a:lnTo>
                  <a:lnTo>
                    <a:pt x="189102" y="735329"/>
                  </a:lnTo>
                  <a:lnTo>
                    <a:pt x="194131" y="746801"/>
                  </a:lnTo>
                  <a:lnTo>
                    <a:pt x="202088" y="756808"/>
                  </a:lnTo>
                  <a:lnTo>
                    <a:pt x="212570" y="763887"/>
                  </a:lnTo>
                  <a:lnTo>
                    <a:pt x="225170" y="766571"/>
                  </a:lnTo>
                  <a:lnTo>
                    <a:pt x="252094" y="766571"/>
                  </a:lnTo>
                  <a:lnTo>
                    <a:pt x="252094" y="481075"/>
                  </a:lnTo>
                  <a:close/>
                </a:path>
                <a:path w="297179" h="767079">
                  <a:moveTo>
                    <a:pt x="209964" y="27431"/>
                  </a:moveTo>
                  <a:lnTo>
                    <a:pt x="148589" y="27431"/>
                  </a:lnTo>
                  <a:lnTo>
                    <a:pt x="164403" y="30178"/>
                  </a:lnTo>
                  <a:lnTo>
                    <a:pt x="177276" y="37687"/>
                  </a:lnTo>
                  <a:lnTo>
                    <a:pt x="185933" y="48863"/>
                  </a:lnTo>
                  <a:lnTo>
                    <a:pt x="189102" y="62611"/>
                  </a:lnTo>
                  <a:lnTo>
                    <a:pt x="189102" y="101726"/>
                  </a:lnTo>
                  <a:lnTo>
                    <a:pt x="185933" y="115474"/>
                  </a:lnTo>
                  <a:lnTo>
                    <a:pt x="177276" y="126650"/>
                  </a:lnTo>
                  <a:lnTo>
                    <a:pt x="164403" y="134159"/>
                  </a:lnTo>
                  <a:lnTo>
                    <a:pt x="148589" y="136905"/>
                  </a:lnTo>
                  <a:lnTo>
                    <a:pt x="210609" y="136905"/>
                  </a:lnTo>
                  <a:lnTo>
                    <a:pt x="216138" y="130079"/>
                  </a:lnTo>
                  <a:lnTo>
                    <a:pt x="222767" y="116272"/>
                  </a:lnTo>
                  <a:lnTo>
                    <a:pt x="225170" y="101726"/>
                  </a:lnTo>
                  <a:lnTo>
                    <a:pt x="225170" y="62611"/>
                  </a:lnTo>
                  <a:lnTo>
                    <a:pt x="218902" y="37986"/>
                  </a:lnTo>
                  <a:lnTo>
                    <a:pt x="209964" y="27431"/>
                  </a:lnTo>
                  <a:close/>
                </a:path>
              </a:pathLst>
            </a:custGeom>
            <a:gr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object 18">
              <a:extLst>
                <a:ext uri="{FF2B5EF4-FFF2-40B4-BE49-F238E27FC236}">
                  <a16:creationId xmlns:a16="http://schemas.microsoft.com/office/drawing/2014/main" id="{1F24CA4D-BCA5-EDA6-D3C2-C44672E9BB2B}"/>
                </a:ext>
              </a:extLst>
            </p:cNvPr>
            <p:cNvSpPr/>
            <p:nvPr/>
          </p:nvSpPr>
          <p:spPr>
            <a:xfrm>
              <a:off x="8930830" y="3172841"/>
              <a:ext cx="291465" cy="739140"/>
            </a:xfrm>
            <a:custGeom>
              <a:avLst/>
              <a:gdLst/>
              <a:ahLst/>
              <a:cxnLst/>
              <a:rect l="l" t="t" r="r" b="b"/>
              <a:pathLst>
                <a:path w="291465" h="739139">
                  <a:moveTo>
                    <a:pt x="127380" y="559180"/>
                  </a:moveTo>
                  <a:lnTo>
                    <a:pt x="59181" y="559180"/>
                  </a:lnTo>
                  <a:lnTo>
                    <a:pt x="63626" y="586612"/>
                  </a:lnTo>
                  <a:lnTo>
                    <a:pt x="81914" y="707897"/>
                  </a:lnTo>
                  <a:lnTo>
                    <a:pt x="86125" y="719369"/>
                  </a:lnTo>
                  <a:lnTo>
                    <a:pt x="92075" y="729376"/>
                  </a:lnTo>
                  <a:lnTo>
                    <a:pt x="99738" y="736455"/>
                  </a:lnTo>
                  <a:lnTo>
                    <a:pt x="109092" y="739139"/>
                  </a:lnTo>
                  <a:lnTo>
                    <a:pt x="127380" y="739139"/>
                  </a:lnTo>
                  <a:lnTo>
                    <a:pt x="127380" y="559180"/>
                  </a:lnTo>
                  <a:close/>
                </a:path>
                <a:path w="291465" h="739139">
                  <a:moveTo>
                    <a:pt x="231901" y="559180"/>
                  </a:moveTo>
                  <a:lnTo>
                    <a:pt x="163702" y="559180"/>
                  </a:lnTo>
                  <a:lnTo>
                    <a:pt x="163702" y="739139"/>
                  </a:lnTo>
                  <a:lnTo>
                    <a:pt x="181863" y="739139"/>
                  </a:lnTo>
                  <a:lnTo>
                    <a:pt x="191291" y="736455"/>
                  </a:lnTo>
                  <a:lnTo>
                    <a:pt x="198993" y="729376"/>
                  </a:lnTo>
                  <a:lnTo>
                    <a:pt x="204956" y="719369"/>
                  </a:lnTo>
                  <a:lnTo>
                    <a:pt x="209168" y="707897"/>
                  </a:lnTo>
                  <a:lnTo>
                    <a:pt x="227456" y="586612"/>
                  </a:lnTo>
                  <a:lnTo>
                    <a:pt x="231901" y="559180"/>
                  </a:lnTo>
                  <a:close/>
                </a:path>
                <a:path w="291465" h="739139">
                  <a:moveTo>
                    <a:pt x="145541" y="0"/>
                  </a:moveTo>
                  <a:lnTo>
                    <a:pt x="116919" y="5431"/>
                  </a:lnTo>
                  <a:lnTo>
                    <a:pt x="93821" y="20018"/>
                  </a:lnTo>
                  <a:lnTo>
                    <a:pt x="78390" y="41201"/>
                  </a:lnTo>
                  <a:lnTo>
                    <a:pt x="72771" y="66420"/>
                  </a:lnTo>
                  <a:lnTo>
                    <a:pt x="72771" y="101726"/>
                  </a:lnTo>
                  <a:lnTo>
                    <a:pt x="74483" y="117941"/>
                  </a:lnTo>
                  <a:lnTo>
                    <a:pt x="79613" y="132000"/>
                  </a:lnTo>
                  <a:lnTo>
                    <a:pt x="88147" y="144607"/>
                  </a:lnTo>
                  <a:lnTo>
                    <a:pt x="100075" y="156463"/>
                  </a:lnTo>
                  <a:lnTo>
                    <a:pt x="81914" y="164211"/>
                  </a:lnTo>
                  <a:lnTo>
                    <a:pt x="43842" y="179322"/>
                  </a:lnTo>
                  <a:lnTo>
                    <a:pt x="22732" y="211200"/>
                  </a:lnTo>
                  <a:lnTo>
                    <a:pt x="4572" y="371474"/>
                  </a:lnTo>
                  <a:lnTo>
                    <a:pt x="0" y="398906"/>
                  </a:lnTo>
                  <a:lnTo>
                    <a:pt x="1712" y="412837"/>
                  </a:lnTo>
                  <a:lnTo>
                    <a:pt x="6842" y="425291"/>
                  </a:lnTo>
                  <a:lnTo>
                    <a:pt x="15376" y="436268"/>
                  </a:lnTo>
                  <a:lnTo>
                    <a:pt x="27304" y="445769"/>
                  </a:lnTo>
                  <a:lnTo>
                    <a:pt x="9143" y="524001"/>
                  </a:lnTo>
                  <a:lnTo>
                    <a:pt x="9143" y="531876"/>
                  </a:lnTo>
                  <a:lnTo>
                    <a:pt x="11551" y="542732"/>
                  </a:lnTo>
                  <a:lnTo>
                    <a:pt x="18208" y="551386"/>
                  </a:lnTo>
                  <a:lnTo>
                    <a:pt x="28271" y="557111"/>
                  </a:lnTo>
                  <a:lnTo>
                    <a:pt x="40893" y="559180"/>
                  </a:lnTo>
                  <a:lnTo>
                    <a:pt x="250189" y="559180"/>
                  </a:lnTo>
                  <a:lnTo>
                    <a:pt x="263526" y="557111"/>
                  </a:lnTo>
                  <a:lnTo>
                    <a:pt x="275161" y="551386"/>
                  </a:lnTo>
                  <a:lnTo>
                    <a:pt x="283390" y="542732"/>
                  </a:lnTo>
                  <a:lnTo>
                    <a:pt x="286511" y="531876"/>
                  </a:lnTo>
                  <a:lnTo>
                    <a:pt x="286511" y="524001"/>
                  </a:lnTo>
                  <a:lnTo>
                    <a:pt x="263778" y="445769"/>
                  </a:lnTo>
                  <a:lnTo>
                    <a:pt x="275707" y="436268"/>
                  </a:lnTo>
                  <a:lnTo>
                    <a:pt x="284241" y="425291"/>
                  </a:lnTo>
                  <a:lnTo>
                    <a:pt x="289371" y="412837"/>
                  </a:lnTo>
                  <a:lnTo>
                    <a:pt x="291083" y="398906"/>
                  </a:lnTo>
                  <a:lnTo>
                    <a:pt x="286511" y="355853"/>
                  </a:lnTo>
                  <a:lnTo>
                    <a:pt x="268350" y="211200"/>
                  </a:lnTo>
                  <a:lnTo>
                    <a:pt x="247241" y="179322"/>
                  </a:lnTo>
                  <a:lnTo>
                    <a:pt x="191007" y="156463"/>
                  </a:lnTo>
                  <a:lnTo>
                    <a:pt x="203650" y="144607"/>
                  </a:lnTo>
                  <a:lnTo>
                    <a:pt x="206668" y="140842"/>
                  </a:lnTo>
                  <a:lnTo>
                    <a:pt x="145541" y="140842"/>
                  </a:lnTo>
                  <a:lnTo>
                    <a:pt x="129561" y="138017"/>
                  </a:lnTo>
                  <a:lnTo>
                    <a:pt x="116570" y="130047"/>
                  </a:lnTo>
                  <a:lnTo>
                    <a:pt x="107840" y="117697"/>
                  </a:lnTo>
                  <a:lnTo>
                    <a:pt x="104648" y="101726"/>
                  </a:lnTo>
                  <a:lnTo>
                    <a:pt x="104648" y="66420"/>
                  </a:lnTo>
                  <a:lnTo>
                    <a:pt x="107840" y="52726"/>
                  </a:lnTo>
                  <a:lnTo>
                    <a:pt x="116570" y="41544"/>
                  </a:lnTo>
                  <a:lnTo>
                    <a:pt x="129561" y="34006"/>
                  </a:lnTo>
                  <a:lnTo>
                    <a:pt x="145541" y="31241"/>
                  </a:lnTo>
                  <a:lnTo>
                    <a:pt x="208557" y="31241"/>
                  </a:lnTo>
                  <a:lnTo>
                    <a:pt x="199548" y="20018"/>
                  </a:lnTo>
                  <a:lnTo>
                    <a:pt x="174878" y="5431"/>
                  </a:lnTo>
                  <a:lnTo>
                    <a:pt x="145541" y="0"/>
                  </a:lnTo>
                  <a:close/>
                </a:path>
                <a:path w="291465" h="739139">
                  <a:moveTo>
                    <a:pt x="208557" y="31241"/>
                  </a:moveTo>
                  <a:lnTo>
                    <a:pt x="145541" y="31241"/>
                  </a:lnTo>
                  <a:lnTo>
                    <a:pt x="161522" y="34006"/>
                  </a:lnTo>
                  <a:lnTo>
                    <a:pt x="174513" y="41544"/>
                  </a:lnTo>
                  <a:lnTo>
                    <a:pt x="183243" y="52726"/>
                  </a:lnTo>
                  <a:lnTo>
                    <a:pt x="186435" y="66420"/>
                  </a:lnTo>
                  <a:lnTo>
                    <a:pt x="186435" y="101726"/>
                  </a:lnTo>
                  <a:lnTo>
                    <a:pt x="183243" y="117697"/>
                  </a:lnTo>
                  <a:lnTo>
                    <a:pt x="174513" y="130047"/>
                  </a:lnTo>
                  <a:lnTo>
                    <a:pt x="161522" y="138017"/>
                  </a:lnTo>
                  <a:lnTo>
                    <a:pt x="145541" y="140842"/>
                  </a:lnTo>
                  <a:lnTo>
                    <a:pt x="206668" y="140842"/>
                  </a:lnTo>
                  <a:lnTo>
                    <a:pt x="213756" y="132000"/>
                  </a:lnTo>
                  <a:lnTo>
                    <a:pt x="220458" y="117941"/>
                  </a:lnTo>
                  <a:lnTo>
                    <a:pt x="222884" y="101726"/>
                  </a:lnTo>
                  <a:lnTo>
                    <a:pt x="222884" y="66420"/>
                  </a:lnTo>
                  <a:lnTo>
                    <a:pt x="216550" y="41201"/>
                  </a:lnTo>
                  <a:lnTo>
                    <a:pt x="208557" y="31241"/>
                  </a:lnTo>
                  <a:close/>
                </a:path>
              </a:pathLst>
            </a:custGeom>
            <a:grp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 name="Group 11">
            <a:extLst>
              <a:ext uri="{FF2B5EF4-FFF2-40B4-BE49-F238E27FC236}">
                <a16:creationId xmlns:a16="http://schemas.microsoft.com/office/drawing/2014/main" id="{FEB1A06A-670B-C830-F837-9FBEA3A3B1C1}"/>
              </a:ext>
            </a:extLst>
          </p:cNvPr>
          <p:cNvGrpSpPr/>
          <p:nvPr/>
        </p:nvGrpSpPr>
        <p:grpSpPr>
          <a:xfrm>
            <a:off x="6222998" y="1737209"/>
            <a:ext cx="5602289" cy="960578"/>
            <a:chOff x="6018214" y="1977471"/>
            <a:chExt cx="5743574" cy="984803"/>
          </a:xfrm>
          <a:solidFill>
            <a:schemeClr val="tx2">
              <a:lumMod val="40000"/>
              <a:lumOff val="60000"/>
            </a:schemeClr>
          </a:solidFill>
        </p:grpSpPr>
        <p:sp>
          <p:nvSpPr>
            <p:cNvPr id="21" name="object 6">
              <a:extLst>
                <a:ext uri="{FF2B5EF4-FFF2-40B4-BE49-F238E27FC236}">
                  <a16:creationId xmlns:a16="http://schemas.microsoft.com/office/drawing/2014/main" id="{59B06074-195E-4590-E611-70EE239F9027}"/>
                </a:ext>
              </a:extLst>
            </p:cNvPr>
            <p:cNvSpPr txBox="1">
              <a:spLocks/>
            </p:cNvSpPr>
            <p:nvPr/>
          </p:nvSpPr>
          <p:spPr>
            <a:xfrm>
              <a:off x="6018214" y="1977471"/>
              <a:ext cx="2794778" cy="984803"/>
            </a:xfrm>
            <a:prstGeom prst="rect">
              <a:avLst/>
            </a:prstGeom>
            <a:grpFill/>
            <a:ln w="12700">
              <a:noFill/>
            </a:ln>
          </p:spPr>
          <p:txBody>
            <a:bodyPr vert="horz" wrap="square" lIns="45720" tIns="45720" rIns="45720" bIns="45720" rtlCol="0" anchor="ctr" anchorCtr="0">
              <a:noAutofit/>
            </a:bodyPr>
            <a:lstStyle/>
            <a:p>
              <a:pPr marL="76200" marR="69850" lvl="0" indent="0" algn="ctr" defTabSz="1219170" rtl="0" eaLnBrk="1" fontAlgn="auto" latinLnBrk="0" hangingPunct="1">
                <a:lnSpc>
                  <a:spcPct val="100000"/>
                </a:lnSpc>
                <a:spcBef>
                  <a:spcPts val="1015"/>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Increased </a:t>
              </a:r>
              <a:r>
                <a:rPr kumimoji="0" lang="en-US" sz="1100" b="1" i="0" u="none" strike="noStrike" kern="1200" cap="none" spc="-5" normalizeH="0" baseline="0" noProof="0" dirty="0">
                  <a:ln>
                    <a:noFill/>
                  </a:ln>
                  <a:solidFill>
                    <a:srgbClr val="000000"/>
                  </a:solidFill>
                  <a:effectLst/>
                  <a:uLnTx/>
                  <a:uFillTx/>
                  <a:latin typeface="Arial"/>
                  <a:ea typeface="+mn-ea"/>
                  <a:cs typeface="Arial"/>
                </a:rPr>
                <a:t>COPD severity </a:t>
              </a:r>
              <a:r>
                <a:rPr kumimoji="0" lang="en-US" sz="1100" b="1" i="0" u="none" strike="noStrike" kern="1200" cap="none" spc="0" normalizeH="0" baseline="0" noProof="0" dirty="0">
                  <a:ln>
                    <a:noFill/>
                  </a:ln>
                  <a:solidFill>
                    <a:srgbClr val="000000"/>
                  </a:solidFill>
                  <a:effectLst/>
                  <a:uLnTx/>
                  <a:uFillTx/>
                  <a:latin typeface="Arial"/>
                  <a:ea typeface="+mn-ea"/>
                  <a:cs typeface="Arial"/>
                </a:rPr>
                <a:t>is associated with reduced </a:t>
              </a:r>
              <a:r>
                <a:rPr kumimoji="0" lang="en-US" sz="1100" b="1" i="0" u="none" strike="noStrike" kern="1200" cap="none" spc="-5" normalizeH="0" baseline="0" noProof="0" dirty="0">
                  <a:ln>
                    <a:noFill/>
                  </a:ln>
                  <a:solidFill>
                    <a:srgbClr val="000000"/>
                  </a:solidFill>
                  <a:effectLst/>
                  <a:uLnTx/>
                  <a:uFillTx/>
                  <a:latin typeface="Arial"/>
                  <a:ea typeface="+mn-ea"/>
                  <a:cs typeface="Arial"/>
                </a:rPr>
                <a:t>HRQoL</a:t>
              </a:r>
              <a:r>
                <a:rPr kumimoji="0" lang="en-US" sz="1100" b="1" i="0" u="none" strike="noStrike" kern="1200" cap="none" spc="-15"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and</a:t>
              </a:r>
              <a:r>
                <a:rPr kumimoji="0" lang="en-US" sz="1100" b="1" i="0" u="none" strike="noStrike" kern="1200" cap="none" spc="-25"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impaired</a:t>
              </a:r>
              <a:r>
                <a:rPr kumimoji="0" lang="en-US" sz="1100" b="1" i="0" u="none" strike="noStrike" kern="1200" cap="none" spc="-60"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ability</a:t>
              </a:r>
              <a:r>
                <a:rPr kumimoji="0" lang="en-US" sz="1100" b="1" i="0" u="none" strike="noStrike" kern="1200" cap="none" spc="-55"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to complete</a:t>
              </a:r>
              <a:r>
                <a:rPr kumimoji="0" lang="en-US" sz="1100" b="1" i="0" u="none" strike="noStrike" kern="1200" cap="none" spc="-50"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everyday</a:t>
              </a:r>
              <a:r>
                <a:rPr kumimoji="0" lang="en-US" sz="1100" b="1" i="0" u="none" strike="noStrike" kern="1200" cap="none" spc="0" normalizeH="0" baseline="0" noProof="0" dirty="0">
                  <a:ln>
                    <a:noFill/>
                  </a:ln>
                  <a:solidFill>
                    <a:srgbClr val="000000"/>
                  </a:solidFill>
                  <a:effectLst/>
                  <a:uLnTx/>
                  <a:uFillTx/>
                  <a:latin typeface="Arial"/>
                  <a:ea typeface="+mn-ea"/>
                  <a:cs typeface="Arial"/>
                </a:rPr>
                <a:t> activities</a:t>
              </a:r>
              <a:r>
                <a:rPr kumimoji="0" lang="en-US" sz="1100" b="1" i="0" u="none" strike="noStrike" kern="1200" cap="none" spc="0" normalizeH="0" baseline="27777" noProof="0" dirty="0">
                  <a:ln>
                    <a:noFill/>
                  </a:ln>
                  <a:solidFill>
                    <a:srgbClr val="000000"/>
                  </a:solidFill>
                  <a:effectLst/>
                  <a:uLnTx/>
                  <a:uFillTx/>
                  <a:latin typeface="Arial"/>
                  <a:ea typeface="+mn-ea"/>
                  <a:cs typeface="Arial"/>
                </a:rPr>
                <a:t>4</a:t>
              </a:r>
            </a:p>
          </p:txBody>
        </p:sp>
        <p:sp>
          <p:nvSpPr>
            <p:cNvPr id="22" name="object 6">
              <a:extLst>
                <a:ext uri="{FF2B5EF4-FFF2-40B4-BE49-F238E27FC236}">
                  <a16:creationId xmlns:a16="http://schemas.microsoft.com/office/drawing/2014/main" id="{B34E44E2-1BC5-BCF0-81C0-6F8CEE7F028A}"/>
                </a:ext>
              </a:extLst>
            </p:cNvPr>
            <p:cNvSpPr txBox="1">
              <a:spLocks/>
            </p:cNvSpPr>
            <p:nvPr/>
          </p:nvSpPr>
          <p:spPr>
            <a:xfrm>
              <a:off x="8967010" y="1977471"/>
              <a:ext cx="2794778" cy="984803"/>
            </a:xfrm>
            <a:prstGeom prst="rect">
              <a:avLst/>
            </a:prstGeom>
            <a:grpFill/>
            <a:ln w="12700">
              <a:noFill/>
            </a:ln>
          </p:spPr>
          <p:txBody>
            <a:bodyPr vert="horz" wrap="square" lIns="45720" tIns="45720" rIns="45720" bIns="45720" rtlCol="0" anchor="ctr" anchorCtr="0">
              <a:noAutofit/>
            </a:bodyPr>
            <a:lstStyle/>
            <a:p>
              <a:pPr marL="305435" marR="296545" lvl="0" indent="-127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5" normalizeH="0" baseline="0" noProof="0" dirty="0">
                  <a:ln>
                    <a:noFill/>
                  </a:ln>
                  <a:solidFill>
                    <a:srgbClr val="000000"/>
                  </a:solidFill>
                  <a:effectLst/>
                  <a:uLnTx/>
                  <a:uFillTx/>
                  <a:latin typeface="Arial"/>
                  <a:ea typeface="+mn-ea"/>
                  <a:cs typeface="Arial"/>
                </a:rPr>
                <a:t>Up </a:t>
              </a:r>
              <a:r>
                <a:rPr kumimoji="0" lang="en-US" sz="1100" b="1" i="0" u="none" strike="noStrike" kern="1200" cap="none" spc="0" normalizeH="0" baseline="0" noProof="0" dirty="0">
                  <a:ln>
                    <a:noFill/>
                  </a:ln>
                  <a:solidFill>
                    <a:srgbClr val="000000"/>
                  </a:solidFill>
                  <a:effectLst/>
                  <a:uLnTx/>
                  <a:uFillTx/>
                  <a:latin typeface="Arial"/>
                  <a:ea typeface="+mn-ea"/>
                  <a:cs typeface="Arial"/>
                </a:rPr>
                <a:t>to 74% of patients report</a:t>
              </a:r>
              <a:r>
                <a:rPr kumimoji="0" lang="en-US" sz="1100" b="1" i="0" u="none" strike="noStrike" kern="1200" cap="none" spc="-35"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that</a:t>
              </a:r>
              <a:r>
                <a:rPr kumimoji="0" lang="en-US" sz="1100" b="1" i="0" u="none" strike="noStrike" kern="1200" cap="none" spc="-4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COPD</a:t>
              </a:r>
              <a:r>
                <a:rPr kumimoji="0" lang="en-US" sz="1100" b="1" i="0" u="none" strike="noStrike" kern="1200" cap="none" spc="-1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limits </a:t>
              </a:r>
              <a:r>
                <a:rPr kumimoji="0" lang="en-US" sz="1100" b="1" i="0" u="none" strike="noStrike" kern="1200" cap="none" spc="0" normalizeH="0" baseline="0" noProof="0" dirty="0">
                  <a:ln>
                    <a:noFill/>
                  </a:ln>
                  <a:solidFill>
                    <a:srgbClr val="000000"/>
                  </a:solidFill>
                  <a:effectLst/>
                  <a:uLnTx/>
                  <a:uFillTx/>
                  <a:latin typeface="Arial"/>
                  <a:ea typeface="+mn-ea"/>
                  <a:cs typeface="Arial"/>
                </a:rPr>
                <a:t>their</a:t>
              </a:r>
              <a:r>
                <a:rPr kumimoji="0" lang="en-US" sz="1100" b="1" i="0" u="none" strike="noStrike" kern="1200" cap="none" spc="-3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ability</a:t>
              </a:r>
              <a:r>
                <a:rPr kumimoji="0" lang="en-US" sz="1100" b="1" i="0" u="none" strike="noStrike" kern="1200" cap="none" spc="-50"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to</a:t>
              </a:r>
              <a:r>
                <a:rPr kumimoji="0" lang="en-US" sz="1100" b="1" i="0" u="none" strike="noStrike" kern="1200" cap="none" spc="-1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walk</a:t>
              </a:r>
              <a:r>
                <a:rPr kumimoji="0" lang="en-US" sz="1100" b="1" i="0" u="none" strike="noStrike" kern="1200" cap="none" spc="7" normalizeH="0" baseline="27777" noProof="0" dirty="0">
                  <a:ln>
                    <a:noFill/>
                  </a:ln>
                  <a:solidFill>
                    <a:srgbClr val="000000"/>
                  </a:solidFill>
                  <a:effectLst/>
                  <a:uLnTx/>
                  <a:uFillTx/>
                  <a:latin typeface="Arial"/>
                  <a:ea typeface="+mn-ea"/>
                  <a:cs typeface="Arial"/>
                </a:rPr>
                <a:t>4</a:t>
              </a:r>
              <a:endParaRPr kumimoji="0" lang="en-US" sz="1100" b="0" i="0" u="none" strike="noStrike" kern="1200" cap="none" spc="0" normalizeH="0" baseline="27777" noProof="0" dirty="0">
                <a:ln>
                  <a:noFill/>
                </a:ln>
                <a:solidFill>
                  <a:srgbClr val="000000"/>
                </a:solidFill>
                <a:effectLst/>
                <a:uLnTx/>
                <a:uFillTx/>
                <a:latin typeface="Arial"/>
                <a:ea typeface="+mn-ea"/>
                <a:cs typeface="Arial"/>
              </a:endParaRPr>
            </a:p>
          </p:txBody>
        </p:sp>
      </p:grpSp>
      <p:sp>
        <p:nvSpPr>
          <p:cNvPr id="13" name="object 6">
            <a:extLst>
              <a:ext uri="{FF2B5EF4-FFF2-40B4-BE49-F238E27FC236}">
                <a16:creationId xmlns:a16="http://schemas.microsoft.com/office/drawing/2014/main" id="{3C23A87B-3F3C-9509-2748-B51285DBC8F1}"/>
              </a:ext>
            </a:extLst>
          </p:cNvPr>
          <p:cNvSpPr txBox="1">
            <a:spLocks/>
          </p:cNvSpPr>
          <p:nvPr/>
        </p:nvSpPr>
        <p:spPr>
          <a:xfrm>
            <a:off x="7821378" y="3035472"/>
            <a:ext cx="2405529" cy="960578"/>
          </a:xfrm>
          <a:prstGeom prst="rect">
            <a:avLst/>
          </a:prstGeom>
          <a:solidFill>
            <a:schemeClr val="tx2"/>
          </a:solidFill>
          <a:ln w="12700">
            <a:noFill/>
          </a:ln>
        </p:spPr>
        <p:txBody>
          <a:bodyPr vert="horz" wrap="square" lIns="45720" tIns="45720" rIns="45720" bIns="45720" rtlCol="0" anchor="ctr" anchorCtr="0">
            <a:noAutofit/>
          </a:bodyPr>
          <a:lstStyle/>
          <a:p>
            <a:pPr marL="247015" marR="240029" lvl="0" indent="0" algn="ctr" defTabSz="1219170" rtl="0" eaLnBrk="1" fontAlgn="auto" latinLnBrk="0" hangingPunct="1">
              <a:lnSpc>
                <a:spcPct val="100000"/>
              </a:lnSpc>
              <a:spcBef>
                <a:spcPts val="113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a:ea typeface="+mn-ea"/>
                <a:cs typeface="Arial"/>
              </a:rPr>
              <a:t>COPD</a:t>
            </a:r>
            <a:r>
              <a:rPr kumimoji="0" lang="en-US" sz="1100" b="1" i="0" u="none" strike="noStrike" kern="1200" cap="none" spc="-30" normalizeH="0" baseline="0" noProof="0" dirty="0">
                <a:ln>
                  <a:noFill/>
                </a:ln>
                <a:solidFill>
                  <a:srgbClr val="FFFFFF"/>
                </a:solidFill>
                <a:effectLst/>
                <a:uLnTx/>
                <a:uFillTx/>
                <a:latin typeface="Arial"/>
                <a:ea typeface="+mn-ea"/>
                <a:cs typeface="Arial"/>
              </a:rPr>
              <a:t> </a:t>
            </a:r>
            <a:r>
              <a:rPr kumimoji="0" lang="en-US" sz="1100" b="1" i="0" u="none" strike="noStrike" kern="1200" cap="none" spc="-5" normalizeH="0" baseline="0" noProof="0" dirty="0">
                <a:ln>
                  <a:noFill/>
                </a:ln>
                <a:solidFill>
                  <a:srgbClr val="FFFFFF"/>
                </a:solidFill>
                <a:effectLst/>
                <a:uLnTx/>
                <a:uFillTx/>
                <a:latin typeface="Arial"/>
                <a:ea typeface="+mn-ea"/>
                <a:cs typeface="Arial"/>
              </a:rPr>
              <a:t>has</a:t>
            </a:r>
            <a:r>
              <a:rPr kumimoji="0" lang="en-US" sz="1100" b="1" i="0" u="none" strike="noStrike" kern="1200" cap="none" spc="-35" normalizeH="0" baseline="0" noProof="0" dirty="0">
                <a:ln>
                  <a:noFill/>
                </a:ln>
                <a:solidFill>
                  <a:srgbClr val="FFFFFF"/>
                </a:solidFill>
                <a:effectLst/>
                <a:uLnTx/>
                <a:uFillTx/>
                <a:latin typeface="Arial"/>
                <a:ea typeface="+mn-ea"/>
                <a:cs typeface="Arial"/>
              </a:rPr>
              <a:t> </a:t>
            </a:r>
            <a:r>
              <a:rPr kumimoji="0" lang="en-US" sz="1100" b="1" i="0" u="none" strike="noStrike" kern="1200" cap="none" spc="-5" normalizeH="0" baseline="0" noProof="0" dirty="0">
                <a:ln>
                  <a:noFill/>
                </a:ln>
                <a:solidFill>
                  <a:srgbClr val="FFFFFF"/>
                </a:solidFill>
                <a:effectLst/>
                <a:uLnTx/>
                <a:uFillTx/>
                <a:latin typeface="Arial"/>
                <a:ea typeface="+mn-ea"/>
                <a:cs typeface="Arial"/>
              </a:rPr>
              <a:t>a</a:t>
            </a:r>
            <a:r>
              <a:rPr kumimoji="0" lang="en-US" sz="1100" b="1" i="0" u="none" strike="noStrike" kern="1200" cap="none" spc="-35" normalizeH="0" baseline="0" noProof="0" dirty="0">
                <a:ln>
                  <a:noFill/>
                </a:ln>
                <a:solidFill>
                  <a:srgbClr val="FFFFFF"/>
                </a:solidFill>
                <a:effectLst/>
                <a:uLnTx/>
                <a:uFillTx/>
                <a:latin typeface="Arial"/>
                <a:ea typeface="+mn-ea"/>
                <a:cs typeface="Arial"/>
              </a:rPr>
              <a:t> </a:t>
            </a:r>
            <a:r>
              <a:rPr kumimoji="0" lang="en-US" sz="1100" b="1" i="0" u="none" strike="noStrike" kern="1200" cap="none" spc="0" normalizeH="0" baseline="0" noProof="0" dirty="0">
                <a:ln>
                  <a:noFill/>
                </a:ln>
                <a:solidFill>
                  <a:srgbClr val="FFFFFF"/>
                </a:solidFill>
                <a:effectLst/>
                <a:uLnTx/>
                <a:uFillTx/>
                <a:latin typeface="Arial"/>
                <a:ea typeface="+mn-ea"/>
                <a:cs typeface="Arial"/>
              </a:rPr>
              <a:t>significant impact on </a:t>
            </a:r>
            <a:r>
              <a:rPr kumimoji="0" lang="en-US" sz="1100" b="1" i="0" u="none" strike="noStrike" kern="1200" cap="none" spc="-5" normalizeH="0" baseline="0" noProof="0" dirty="0">
                <a:ln>
                  <a:noFill/>
                </a:ln>
                <a:solidFill>
                  <a:srgbClr val="FFFFFF"/>
                </a:solidFill>
                <a:effectLst/>
                <a:uLnTx/>
                <a:uFillTx/>
                <a:latin typeface="Arial"/>
                <a:ea typeface="+mn-ea"/>
                <a:cs typeface="Arial"/>
              </a:rPr>
              <a:t>patients’ </a:t>
            </a:r>
            <a:r>
              <a:rPr kumimoji="0" lang="en-US" sz="1100" b="1" i="0" u="none" strike="noStrike" kern="1200" cap="none" spc="0" normalizeH="0" baseline="0" noProof="0" dirty="0">
                <a:ln>
                  <a:noFill/>
                </a:ln>
                <a:solidFill>
                  <a:srgbClr val="FFFFFF"/>
                </a:solidFill>
                <a:effectLst/>
                <a:uLnTx/>
                <a:uFillTx/>
                <a:latin typeface="Arial"/>
                <a:ea typeface="+mn-ea"/>
                <a:cs typeface="Arial"/>
              </a:rPr>
              <a:t>daily</a:t>
            </a:r>
            <a:r>
              <a:rPr kumimoji="0" lang="en-US" sz="1100" b="1" i="0" u="none" strike="noStrike" kern="1200" cap="none" spc="-15" normalizeH="0" baseline="0" noProof="0" dirty="0">
                <a:ln>
                  <a:noFill/>
                </a:ln>
                <a:solidFill>
                  <a:srgbClr val="FFFFFF"/>
                </a:solidFill>
                <a:effectLst/>
                <a:uLnTx/>
                <a:uFillTx/>
                <a:latin typeface="Arial"/>
                <a:ea typeface="+mn-ea"/>
                <a:cs typeface="Arial"/>
              </a:rPr>
              <a:t> </a:t>
            </a:r>
            <a:r>
              <a:rPr kumimoji="0" lang="en-US" sz="1100" b="1" i="0" u="none" strike="noStrike" kern="1200" cap="none" spc="-5" normalizeH="0" baseline="0" noProof="0" dirty="0">
                <a:ln>
                  <a:noFill/>
                </a:ln>
                <a:solidFill>
                  <a:srgbClr val="FFFFFF"/>
                </a:solidFill>
                <a:effectLst/>
                <a:uLnTx/>
                <a:uFillTx/>
                <a:latin typeface="Arial"/>
                <a:ea typeface="+mn-ea"/>
                <a:cs typeface="Arial"/>
              </a:rPr>
              <a:t>lives…</a:t>
            </a:r>
            <a:endParaRPr kumimoji="0" lang="en-US" sz="11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4" name="Group 13">
            <a:extLst>
              <a:ext uri="{FF2B5EF4-FFF2-40B4-BE49-F238E27FC236}">
                <a16:creationId xmlns:a16="http://schemas.microsoft.com/office/drawing/2014/main" id="{F2C1FDEC-B19B-C574-D566-D5036BF8E663}"/>
              </a:ext>
            </a:extLst>
          </p:cNvPr>
          <p:cNvGrpSpPr/>
          <p:nvPr/>
        </p:nvGrpSpPr>
        <p:grpSpPr>
          <a:xfrm>
            <a:off x="6222998" y="4333735"/>
            <a:ext cx="5602289" cy="960578"/>
            <a:chOff x="6018214" y="1977471"/>
            <a:chExt cx="5743574" cy="984803"/>
          </a:xfrm>
          <a:solidFill>
            <a:schemeClr val="tx2">
              <a:lumMod val="40000"/>
              <a:lumOff val="60000"/>
            </a:schemeClr>
          </a:solidFill>
        </p:grpSpPr>
        <p:sp>
          <p:nvSpPr>
            <p:cNvPr id="19" name="object 6">
              <a:extLst>
                <a:ext uri="{FF2B5EF4-FFF2-40B4-BE49-F238E27FC236}">
                  <a16:creationId xmlns:a16="http://schemas.microsoft.com/office/drawing/2014/main" id="{8F104EFF-B74D-2E30-72C3-C5B1DEB6C68A}"/>
                </a:ext>
              </a:extLst>
            </p:cNvPr>
            <p:cNvSpPr txBox="1">
              <a:spLocks/>
            </p:cNvSpPr>
            <p:nvPr/>
          </p:nvSpPr>
          <p:spPr>
            <a:xfrm>
              <a:off x="6018214" y="1977471"/>
              <a:ext cx="2794778" cy="984803"/>
            </a:xfrm>
            <a:prstGeom prst="rect">
              <a:avLst/>
            </a:prstGeom>
            <a:grpFill/>
            <a:ln w="12700">
              <a:noFill/>
            </a:ln>
          </p:spPr>
          <p:txBody>
            <a:bodyPr vert="horz" wrap="square" lIns="45720" tIns="45720" rIns="45720" bIns="45720" rtlCol="0" anchor="ctr" anchorCtr="0">
              <a:noAutofit/>
            </a:bodyPr>
            <a:lstStyle/>
            <a:p>
              <a:pPr marL="91440" marR="85090" lvl="0" indent="-635" algn="ctr" defTabSz="1219170" rtl="0" eaLnBrk="1" fontAlgn="auto" latinLnBrk="0" hangingPunct="1">
                <a:lnSpc>
                  <a:spcPct val="100000"/>
                </a:lnSpc>
                <a:spcBef>
                  <a:spcPts val="5"/>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Many patients with </a:t>
              </a:r>
              <a:r>
                <a:rPr kumimoji="0" lang="en-US" sz="1100" b="1" i="0" u="none" strike="noStrike" kern="1200" cap="none" spc="-5" normalizeH="0" baseline="0" noProof="0" dirty="0">
                  <a:ln>
                    <a:noFill/>
                  </a:ln>
                  <a:solidFill>
                    <a:srgbClr val="000000"/>
                  </a:solidFill>
                  <a:effectLst/>
                  <a:uLnTx/>
                  <a:uFillTx/>
                  <a:latin typeface="Arial"/>
                  <a:ea typeface="+mn-ea"/>
                  <a:cs typeface="Arial"/>
                </a:rPr>
                <a:t>COPD </a:t>
              </a:r>
              <a:r>
                <a:rPr kumimoji="0" lang="en-US" sz="1100" b="1" i="0" u="none" strike="noStrike" kern="1200" cap="none" spc="0" normalizeH="0" baseline="0" noProof="0" dirty="0">
                  <a:ln>
                    <a:noFill/>
                  </a:ln>
                  <a:solidFill>
                    <a:srgbClr val="000000"/>
                  </a:solidFill>
                  <a:effectLst/>
                  <a:uLnTx/>
                  <a:uFillTx/>
                  <a:latin typeface="Arial"/>
                  <a:ea typeface="+mn-ea"/>
                  <a:cs typeface="Arial"/>
                </a:rPr>
                <a:t>report</a:t>
              </a:r>
              <a:r>
                <a:rPr kumimoji="0" lang="en-US" sz="1100" b="1" i="0" u="none" strike="noStrike" kern="1200" cap="none" spc="-30"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that</a:t>
              </a:r>
              <a:r>
                <a:rPr kumimoji="0" lang="en-US" sz="1100" b="1" i="0" u="none" strike="noStrike" kern="1200" cap="none" spc="-4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COPD</a:t>
              </a:r>
              <a:r>
                <a:rPr kumimoji="0" lang="en-US" sz="1100" b="1" i="0" u="none" strike="noStrike" kern="1200" cap="none" spc="-15"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affects</a:t>
              </a:r>
              <a:r>
                <a:rPr kumimoji="0" lang="en-US" sz="1100" b="1" i="0" u="none" strike="noStrike" kern="1200" cap="none" spc="-50"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their quality</a:t>
              </a:r>
              <a:r>
                <a:rPr kumimoji="0" lang="en-US" sz="1100" b="1" i="0" u="none" strike="noStrike" kern="1200" cap="none" spc="-40" normalizeH="0" baseline="0" noProof="0" dirty="0">
                  <a:ln>
                    <a:noFill/>
                  </a:ln>
                  <a:solidFill>
                    <a:srgbClr val="000000"/>
                  </a:solidFill>
                  <a:effectLst/>
                  <a:uLnTx/>
                  <a:uFillTx/>
                  <a:latin typeface="Arial"/>
                  <a:ea typeface="+mn-ea"/>
                  <a:cs typeface="Arial"/>
                </a:rPr>
                <a:t> </a:t>
              </a:r>
              <a:r>
                <a:rPr kumimoji="0" lang="en-US" sz="1100" b="1" i="0" u="none" strike="noStrike" kern="1200" cap="none" spc="0" normalizeH="0" baseline="0" noProof="0" dirty="0">
                  <a:ln>
                    <a:noFill/>
                  </a:ln>
                  <a:solidFill>
                    <a:srgbClr val="000000"/>
                  </a:solidFill>
                  <a:effectLst/>
                  <a:uLnTx/>
                  <a:uFillTx/>
                  <a:latin typeface="Arial"/>
                  <a:ea typeface="+mn-ea"/>
                  <a:cs typeface="Arial"/>
                </a:rPr>
                <a:t>of</a:t>
              </a:r>
              <a:r>
                <a:rPr kumimoji="0" lang="en-US" sz="1100" b="1" i="0" u="none" strike="noStrike" kern="1200" cap="none" spc="-25" normalizeH="0" baseline="0" noProof="0" dirty="0">
                  <a:ln>
                    <a:noFill/>
                  </a:ln>
                  <a:solidFill>
                    <a:srgbClr val="000000"/>
                  </a:solidFill>
                  <a:effectLst/>
                  <a:uLnTx/>
                  <a:uFillTx/>
                  <a:latin typeface="Arial"/>
                  <a:ea typeface="+mn-ea"/>
                  <a:cs typeface="Arial"/>
                </a:rPr>
                <a:t> </a:t>
              </a:r>
              <a:r>
                <a:rPr kumimoji="0" lang="en-US" sz="1100" b="1" i="0" u="none" strike="noStrike" kern="1200" cap="none" spc="5" normalizeH="0" baseline="0" noProof="0" dirty="0">
                  <a:ln>
                    <a:noFill/>
                  </a:ln>
                  <a:solidFill>
                    <a:srgbClr val="000000"/>
                  </a:solidFill>
                  <a:effectLst/>
                  <a:uLnTx/>
                  <a:uFillTx/>
                  <a:latin typeface="Arial"/>
                  <a:ea typeface="+mn-ea"/>
                  <a:cs typeface="Arial"/>
                </a:rPr>
                <a:t>sleep</a:t>
              </a:r>
              <a:r>
                <a:rPr kumimoji="0" lang="en-US" sz="1100" b="1" i="0" u="none" strike="noStrike" kern="1200" cap="none" spc="7" normalizeH="0" baseline="27777" noProof="0" dirty="0">
                  <a:ln>
                    <a:noFill/>
                  </a:ln>
                  <a:solidFill>
                    <a:srgbClr val="000000"/>
                  </a:solidFill>
                  <a:effectLst/>
                  <a:uLnTx/>
                  <a:uFillTx/>
                  <a:latin typeface="Arial"/>
                  <a:ea typeface="+mn-ea"/>
                  <a:cs typeface="Arial"/>
                </a:rPr>
                <a:t>4–6</a:t>
              </a:r>
              <a:endParaRPr kumimoji="0" lang="en-US" sz="1100" b="0" i="0" u="none" strike="noStrike" kern="1200" cap="none" spc="0" normalizeH="0" baseline="27777" noProof="0" dirty="0">
                <a:ln>
                  <a:noFill/>
                </a:ln>
                <a:solidFill>
                  <a:srgbClr val="000000"/>
                </a:solidFill>
                <a:effectLst/>
                <a:uLnTx/>
                <a:uFillTx/>
                <a:latin typeface="Arial"/>
                <a:ea typeface="+mn-ea"/>
                <a:cs typeface="Arial"/>
              </a:endParaRPr>
            </a:p>
          </p:txBody>
        </p:sp>
        <p:sp>
          <p:nvSpPr>
            <p:cNvPr id="20" name="object 6">
              <a:extLst>
                <a:ext uri="{FF2B5EF4-FFF2-40B4-BE49-F238E27FC236}">
                  <a16:creationId xmlns:a16="http://schemas.microsoft.com/office/drawing/2014/main" id="{32B4ADA9-D205-86D2-33B5-976D4AA56718}"/>
                </a:ext>
              </a:extLst>
            </p:cNvPr>
            <p:cNvSpPr txBox="1">
              <a:spLocks/>
            </p:cNvSpPr>
            <p:nvPr/>
          </p:nvSpPr>
          <p:spPr>
            <a:xfrm>
              <a:off x="8967010" y="1977471"/>
              <a:ext cx="2794778" cy="984803"/>
            </a:xfrm>
            <a:prstGeom prst="rect">
              <a:avLst/>
            </a:prstGeom>
            <a:grpFill/>
            <a:ln w="12700">
              <a:noFill/>
            </a:ln>
          </p:spPr>
          <p:txBody>
            <a:bodyPr vert="horz" wrap="square" lIns="45720" tIns="45720" rIns="45720" bIns="45720" rtlCol="0" anchor="ctr" anchorCtr="0">
              <a:noAutofit/>
            </a:bodyPr>
            <a:lstStyle>
              <a:defPPr>
                <a:defRPr lang="en-US"/>
              </a:defPPr>
              <a:lvl1pPr marL="91440" marR="85090" indent="-635" algn="ctr">
                <a:lnSpc>
                  <a:spcPct val="100000"/>
                </a:lnSpc>
                <a:spcBef>
                  <a:spcPts val="5"/>
                </a:spcBef>
                <a:defRPr sz="1200" b="1">
                  <a:solidFill>
                    <a:srgbClr val="FFFFFF"/>
                  </a:solidFill>
                  <a:cs typeface="Arial"/>
                </a:defRPr>
              </a:lvl1pPr>
            </a:lstStyle>
            <a:p>
              <a:pPr marL="91440" marR="85090" lvl="0" indent="-635" algn="ctr" defTabSz="1219170" rtl="0" eaLnBrk="1" fontAlgn="auto" latinLnBrk="0" hangingPunct="1">
                <a:lnSpc>
                  <a:spcPct val="100000"/>
                </a:lnSpc>
                <a:spcBef>
                  <a:spcPts val="5"/>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~40% of patients with severe COPD say that their symptoms make activities such as washing and dressing difficult</a:t>
              </a:r>
              <a:r>
                <a:rPr kumimoji="0" lang="en-US" sz="1100" b="1" i="0" u="none" strike="noStrike" kern="1200" cap="none" spc="0" normalizeH="0" baseline="30000" noProof="0" dirty="0">
                  <a:ln>
                    <a:noFill/>
                  </a:ln>
                  <a:solidFill>
                    <a:srgbClr val="000000"/>
                  </a:solidFill>
                  <a:effectLst/>
                  <a:uLnTx/>
                  <a:uFillTx/>
                  <a:latin typeface="Arial"/>
                  <a:ea typeface="+mn-ea"/>
                  <a:cs typeface="Arial"/>
                </a:rPr>
                <a:t>5</a:t>
              </a:r>
            </a:p>
          </p:txBody>
        </p:sp>
      </p:grpSp>
      <p:cxnSp>
        <p:nvCxnSpPr>
          <p:cNvPr id="15" name="Elbow Connector 11">
            <a:extLst>
              <a:ext uri="{FF2B5EF4-FFF2-40B4-BE49-F238E27FC236}">
                <a16:creationId xmlns:a16="http://schemas.microsoft.com/office/drawing/2014/main" id="{C915FEBA-ACFC-F996-B2C1-3DB0D5D675F8}"/>
              </a:ext>
            </a:extLst>
          </p:cNvPr>
          <p:cNvCxnSpPr>
            <a:stCxn id="21" idx="2"/>
            <a:endCxn id="13" idx="1"/>
          </p:cNvCxnSpPr>
          <p:nvPr/>
        </p:nvCxnSpPr>
        <p:spPr>
          <a:xfrm rot="16200000" flipH="1">
            <a:off x="7294708" y="2989091"/>
            <a:ext cx="817974" cy="235365"/>
          </a:xfrm>
          <a:prstGeom prst="bentConnector2">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6" name="Elbow Connector 13">
            <a:extLst>
              <a:ext uri="{FF2B5EF4-FFF2-40B4-BE49-F238E27FC236}">
                <a16:creationId xmlns:a16="http://schemas.microsoft.com/office/drawing/2014/main" id="{523C3A92-AEFD-E3D9-58E3-5778CC82260B}"/>
              </a:ext>
            </a:extLst>
          </p:cNvPr>
          <p:cNvCxnSpPr>
            <a:cxnSpLocks/>
            <a:stCxn id="22" idx="2"/>
            <a:endCxn id="13" idx="3"/>
          </p:cNvCxnSpPr>
          <p:nvPr/>
        </p:nvCxnSpPr>
        <p:spPr>
          <a:xfrm rot="5400000">
            <a:off x="9935603" y="2989092"/>
            <a:ext cx="817974" cy="235365"/>
          </a:xfrm>
          <a:prstGeom prst="bentConnector2">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7" name="Elbow Connector 31">
            <a:extLst>
              <a:ext uri="{FF2B5EF4-FFF2-40B4-BE49-F238E27FC236}">
                <a16:creationId xmlns:a16="http://schemas.microsoft.com/office/drawing/2014/main" id="{6D2AC4A8-04E9-B435-450E-5BC55957F4ED}"/>
              </a:ext>
            </a:extLst>
          </p:cNvPr>
          <p:cNvCxnSpPr>
            <a:stCxn id="13" idx="1"/>
            <a:endCxn id="19" idx="0"/>
          </p:cNvCxnSpPr>
          <p:nvPr/>
        </p:nvCxnSpPr>
        <p:spPr>
          <a:xfrm rot="10800000" flipV="1">
            <a:off x="7586014" y="3515761"/>
            <a:ext cx="235365" cy="817974"/>
          </a:xfrm>
          <a:prstGeom prst="bentConnector2">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8" name="Elbow Connector 33">
            <a:extLst>
              <a:ext uri="{FF2B5EF4-FFF2-40B4-BE49-F238E27FC236}">
                <a16:creationId xmlns:a16="http://schemas.microsoft.com/office/drawing/2014/main" id="{6986C010-66F3-0C0D-E39F-3F4FE48AD8C7}"/>
              </a:ext>
            </a:extLst>
          </p:cNvPr>
          <p:cNvCxnSpPr>
            <a:stCxn id="13" idx="3"/>
            <a:endCxn id="20" idx="0"/>
          </p:cNvCxnSpPr>
          <p:nvPr/>
        </p:nvCxnSpPr>
        <p:spPr>
          <a:xfrm>
            <a:off x="10226907" y="3515761"/>
            <a:ext cx="235365" cy="817974"/>
          </a:xfrm>
          <a:prstGeom prst="bentConnector2">
            <a:avLst/>
          </a:prstGeom>
          <a:ln w="19050">
            <a:solidFill>
              <a:schemeClr val="bg2"/>
            </a:solidFill>
          </a:ln>
        </p:spPr>
        <p:style>
          <a:lnRef idx="1">
            <a:schemeClr val="accent1"/>
          </a:lnRef>
          <a:fillRef idx="0">
            <a:schemeClr val="accent1"/>
          </a:fillRef>
          <a:effectRef idx="0">
            <a:schemeClr val="accent1"/>
          </a:effectRef>
          <a:fontRef idx="minor">
            <a:schemeClr val="tx1"/>
          </a:fontRef>
        </p:style>
      </p:cxnSp>
      <p:sp>
        <p:nvSpPr>
          <p:cNvPr id="28" name="Slide Number Placeholder 27">
            <a:extLst>
              <a:ext uri="{FF2B5EF4-FFF2-40B4-BE49-F238E27FC236}">
                <a16:creationId xmlns:a16="http://schemas.microsoft.com/office/drawing/2014/main" id="{234FF742-2E53-F5E5-0773-27BF5DE44F0E}"/>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8770784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*Fictional patient for discussion purposes only. </a:t>
            </a:r>
            <a:br>
              <a:rPr lang="en-US" dirty="0"/>
            </a:br>
            <a:r>
              <a:rPr lang="en-US" dirty="0"/>
              <a:t>1. Reardon JZ;</a:t>
            </a:r>
            <a:r>
              <a:rPr lang="en-US" i="1" dirty="0"/>
              <a:t>The American Journal of Medicine</a:t>
            </a:r>
            <a:r>
              <a:rPr lang="en-US" dirty="0"/>
              <a:t>;2006;119;S32-S37; 2.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US" dirty="0"/>
              <a:t>. Accessed February 2023.</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p:txBody>
          <a:bodyPr/>
          <a:lstStyle/>
          <a:p>
            <a:r>
              <a:rPr lang="en-US" dirty="0"/>
              <a:t>As COPD progresses, patient burden increases</a:t>
            </a:r>
            <a:endParaRPr lang="en-GB" dirty="0"/>
          </a:p>
        </p:txBody>
      </p:sp>
      <p:sp>
        <p:nvSpPr>
          <p:cNvPr id="5" name="Subtitle 4">
            <a:extLst>
              <a:ext uri="{FF2B5EF4-FFF2-40B4-BE49-F238E27FC236}">
                <a16:creationId xmlns:a16="http://schemas.microsoft.com/office/drawing/2014/main" id="{4A3BE547-8D35-3E08-7D73-4BA89093AED7}"/>
              </a:ext>
            </a:extLst>
          </p:cNvPr>
          <p:cNvSpPr>
            <a:spLocks noGrp="1"/>
          </p:cNvSpPr>
          <p:nvPr>
            <p:ph type="subTitle" idx="1"/>
          </p:nvPr>
        </p:nvSpPr>
        <p:spPr>
          <a:xfrm>
            <a:off x="365125" y="694950"/>
            <a:ext cx="11460164" cy="352800"/>
          </a:xfrm>
        </p:spPr>
        <p:txBody>
          <a:bodyPr/>
          <a:lstStyle/>
          <a:p>
            <a:r>
              <a:rPr lang="en-GB" dirty="0"/>
              <a:t>Dyspnoea</a:t>
            </a:r>
          </a:p>
        </p:txBody>
      </p:sp>
      <p:sp>
        <p:nvSpPr>
          <p:cNvPr id="2" name="object 6">
            <a:extLst>
              <a:ext uri="{FF2B5EF4-FFF2-40B4-BE49-F238E27FC236}">
                <a16:creationId xmlns:a16="http://schemas.microsoft.com/office/drawing/2014/main" id="{28C1EEEE-FCF6-B480-EEA0-86476BED563A}"/>
              </a:ext>
            </a:extLst>
          </p:cNvPr>
          <p:cNvSpPr txBox="1">
            <a:spLocks/>
          </p:cNvSpPr>
          <p:nvPr/>
        </p:nvSpPr>
        <p:spPr>
          <a:xfrm>
            <a:off x="365125" y="4757870"/>
            <a:ext cx="11460163" cy="542059"/>
          </a:xfrm>
          <a:prstGeom prst="rect">
            <a:avLst/>
          </a:prstGeom>
          <a:solidFill>
            <a:schemeClr val="bg2">
              <a:lumMod val="20000"/>
              <a:lumOff val="80000"/>
            </a:schemeClr>
          </a:solidFill>
          <a:ln w="12700">
            <a:noFill/>
          </a:ln>
        </p:spPr>
        <p:txBody>
          <a:bodyPr vert="horz" wrap="square" lIns="91440" tIns="45720" rIns="45720" bIns="45720" rtlCol="0" anchor="ctr" anchorCtr="0">
            <a:noAutofit/>
          </a:bodyPr>
          <a:lstStyle/>
          <a:p>
            <a:pPr marL="71755"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F36633"/>
                </a:solidFill>
                <a:effectLst/>
                <a:uLnTx/>
                <a:uFillTx/>
                <a:latin typeface="Arial"/>
                <a:ea typeface="+mn-ea"/>
                <a:cs typeface="Arial"/>
              </a:rPr>
              <a:t>Dyspnoea leads to a declining functional status</a:t>
            </a:r>
            <a:r>
              <a:rPr kumimoji="0" lang="en-US" sz="1400" b="1" i="0" u="none" strike="noStrike" kern="1200" cap="none" spc="-10" normalizeH="0" baseline="30000" noProof="0" dirty="0">
                <a:ln>
                  <a:noFill/>
                </a:ln>
                <a:solidFill>
                  <a:srgbClr val="F36633"/>
                </a:solidFill>
                <a:effectLst/>
                <a:uLnTx/>
                <a:uFillTx/>
                <a:latin typeface="Arial"/>
                <a:ea typeface="+mn-ea"/>
                <a:cs typeface="Arial"/>
              </a:rPr>
              <a:t>1</a:t>
            </a:r>
          </a:p>
        </p:txBody>
      </p:sp>
      <p:sp>
        <p:nvSpPr>
          <p:cNvPr id="3" name="object 6">
            <a:extLst>
              <a:ext uri="{FF2B5EF4-FFF2-40B4-BE49-F238E27FC236}">
                <a16:creationId xmlns:a16="http://schemas.microsoft.com/office/drawing/2014/main" id="{5F878ACB-F9E8-BA21-4DF1-296F64D2DCEA}"/>
              </a:ext>
            </a:extLst>
          </p:cNvPr>
          <p:cNvSpPr txBox="1">
            <a:spLocks/>
          </p:cNvSpPr>
          <p:nvPr/>
        </p:nvSpPr>
        <p:spPr>
          <a:xfrm>
            <a:off x="365125" y="1312118"/>
            <a:ext cx="11460163" cy="336576"/>
          </a:xfrm>
          <a:prstGeom prst="rect">
            <a:avLst/>
          </a:prstGeom>
          <a:solidFill>
            <a:schemeClr val="tx2"/>
          </a:solidFill>
          <a:ln w="12700">
            <a:noFill/>
          </a:ln>
        </p:spPr>
        <p:txBody>
          <a:bodyPr vert="horz" wrap="square" lIns="91440" tIns="45720" rIns="45720" bIns="45720" rtlCol="0" anchor="ctr" anchorCtr="0">
            <a:noAutofit/>
          </a:bodyPr>
          <a:lstStyle/>
          <a:p>
            <a:pPr marL="71755" marR="0" lvl="0" indent="0" algn="l"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prstClr val="white"/>
                </a:solidFill>
                <a:effectLst/>
                <a:uLnTx/>
                <a:uFillTx/>
                <a:latin typeface="Arial"/>
                <a:ea typeface="+mn-ea"/>
                <a:cs typeface="Arial"/>
              </a:rPr>
              <a:t>Patients with COPD often experience dyspnoea, which worsens with physical activity</a:t>
            </a:r>
            <a:r>
              <a:rPr kumimoji="0" lang="en-US" sz="1400" b="1" i="0" u="none" strike="noStrike" kern="1200" cap="none" spc="-10" normalizeH="0" baseline="30000" noProof="0" dirty="0">
                <a:ln>
                  <a:noFill/>
                </a:ln>
                <a:solidFill>
                  <a:prstClr val="white"/>
                </a:solidFill>
                <a:effectLst/>
                <a:uLnTx/>
                <a:uFillTx/>
                <a:latin typeface="Arial"/>
                <a:ea typeface="+mn-ea"/>
                <a:cs typeface="Arial"/>
              </a:rPr>
              <a:t>1,2</a:t>
            </a:r>
          </a:p>
        </p:txBody>
      </p:sp>
      <p:sp>
        <p:nvSpPr>
          <p:cNvPr id="8" name="TextBox 7">
            <a:extLst>
              <a:ext uri="{FF2B5EF4-FFF2-40B4-BE49-F238E27FC236}">
                <a16:creationId xmlns:a16="http://schemas.microsoft.com/office/drawing/2014/main" id="{88AE101B-0BCE-329D-AD25-07E023E53251}"/>
              </a:ext>
            </a:extLst>
          </p:cNvPr>
          <p:cNvSpPr txBox="1"/>
          <p:nvPr/>
        </p:nvSpPr>
        <p:spPr>
          <a:xfrm>
            <a:off x="365124" y="1648963"/>
            <a:ext cx="11460163" cy="1874424"/>
          </a:xfrm>
          <a:prstGeom prst="rect">
            <a:avLst/>
          </a:prstGeom>
          <a:noFill/>
        </p:spPr>
        <p:txBody>
          <a:bodyPr wrap="square">
            <a:spAutoFit/>
          </a:bodyPr>
          <a:lstStyle/>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Joseph* has suffered from COPD for the past 10 years.</a:t>
            </a:r>
          </a:p>
          <a:p>
            <a:pPr marL="171450" marR="0" lvl="0" indent="-171450" algn="l" defTabSz="1219170" rtl="0" eaLnBrk="1" fontAlgn="auto" latinLnBrk="0" hangingPunct="1">
              <a:lnSpc>
                <a:spcPct val="11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Sometimes Joseph </a:t>
            </a:r>
            <a:r>
              <a:rPr kumimoji="0" lang="en-US" sz="1400" b="1" i="0" u="none" strike="noStrike" kern="1200" cap="none" spc="0" normalizeH="0" baseline="0" noProof="0" dirty="0">
                <a:ln>
                  <a:noFill/>
                </a:ln>
                <a:solidFill>
                  <a:srgbClr val="F36633"/>
                </a:solidFill>
                <a:effectLst/>
                <a:uLnTx/>
                <a:uFillTx/>
                <a:latin typeface="Arial"/>
                <a:ea typeface="+mn-ea"/>
                <a:cs typeface="Noto Sans"/>
              </a:rPr>
              <a:t>feels out of breath </a:t>
            </a:r>
            <a:r>
              <a:rPr kumimoji="0" lang="en-US" sz="1400" b="0" i="0" u="none" strike="noStrike" kern="1200" cap="none" spc="0" normalizeH="0" baseline="0" noProof="0" dirty="0">
                <a:ln>
                  <a:noFill/>
                </a:ln>
                <a:solidFill>
                  <a:srgbClr val="000000"/>
                </a:solidFill>
                <a:effectLst/>
                <a:uLnTx/>
                <a:uFillTx/>
                <a:latin typeface="Arial"/>
                <a:ea typeface="+mn-ea"/>
                <a:cs typeface="Noto Sans"/>
              </a:rPr>
              <a:t>during activities such as</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Getting dressed in the morning</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Walking up the stairs</a:t>
            </a:r>
          </a:p>
          <a:p>
            <a:pPr marL="344488" marR="0" lvl="0" indent="-173038" algn="l" defTabSz="1219170" rtl="0" eaLnBrk="1" fontAlgn="auto" latinLnBrk="0" hangingPunct="1">
              <a:lnSpc>
                <a:spcPct val="110000"/>
              </a:lnSpc>
              <a:spcBef>
                <a:spcPts val="600"/>
              </a:spcBef>
              <a:spcAft>
                <a:spcPts val="600"/>
              </a:spcAft>
              <a:buClrTx/>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Noto Sans"/>
              </a:rPr>
              <a:t>Crossing the road</a:t>
            </a:r>
          </a:p>
        </p:txBody>
      </p:sp>
      <p:pic>
        <p:nvPicPr>
          <p:cNvPr id="9" name="object 6">
            <a:extLst>
              <a:ext uri="{FF2B5EF4-FFF2-40B4-BE49-F238E27FC236}">
                <a16:creationId xmlns:a16="http://schemas.microsoft.com/office/drawing/2014/main" id="{05DC79DE-BFCF-D695-7E80-81F8FB16157A}"/>
              </a:ext>
            </a:extLst>
          </p:cNvPr>
          <p:cNvPicPr/>
          <p:nvPr/>
        </p:nvPicPr>
        <p:blipFill rotWithShape="1">
          <a:blip r:embed="rId3" cstate="print"/>
          <a:srcRect l="1" t="5039" r="1639"/>
          <a:stretch/>
        </p:blipFill>
        <p:spPr>
          <a:xfrm>
            <a:off x="9339156" y="1683913"/>
            <a:ext cx="2486132" cy="3038739"/>
          </a:xfrm>
          <a:prstGeom prst="rect">
            <a:avLst/>
          </a:prstGeom>
        </p:spPr>
      </p:pic>
      <p:sp>
        <p:nvSpPr>
          <p:cNvPr id="11" name="Slide Number Placeholder 10">
            <a:extLst>
              <a:ext uri="{FF2B5EF4-FFF2-40B4-BE49-F238E27FC236}">
                <a16:creationId xmlns:a16="http://schemas.microsoft.com/office/drawing/2014/main" id="{DE78FAE4-AD4E-5CA6-38C3-3B02760E24A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37</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167254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BDCD4CD-DE38-BE73-8C7D-B6AB131C0DC0}"/>
              </a:ext>
            </a:extLst>
          </p:cNvPr>
          <p:cNvSpPr/>
          <p:nvPr/>
        </p:nvSpPr>
        <p:spPr bwMode="auto">
          <a:xfrm>
            <a:off x="6290249" y="1303338"/>
            <a:ext cx="5535038" cy="3990974"/>
          </a:xfrm>
          <a:prstGeom prst="rect">
            <a:avLst/>
          </a:prstGeom>
          <a:solidFill>
            <a:schemeClr val="tx2">
              <a:lumMod val="20000"/>
              <a:lumOff val="80000"/>
            </a:schemeClr>
          </a:solidFill>
          <a:ln>
            <a:noFill/>
            <a:headEnd/>
            <a:tailEnd/>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548640" tIns="548640" rIns="548640" bIns="4572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1200"/>
              </a:spcBef>
              <a:spcAft>
                <a:spcPts val="1200"/>
              </a:spcAft>
              <a:buClr>
                <a:srgbClr val="F36633"/>
              </a:buClr>
              <a:buSzPct val="110000"/>
              <a:buFontTx/>
              <a:buNone/>
              <a:tabLst/>
              <a:defRPr/>
            </a:pPr>
            <a:r>
              <a:rPr kumimoji="0" lang="en-US" sz="1700" b="0" i="0" u="none" strike="noStrike" kern="0" cap="none" spc="0" normalizeH="0" baseline="0" noProof="0" dirty="0">
                <a:ln>
                  <a:noFill/>
                </a:ln>
                <a:solidFill>
                  <a:srgbClr val="000000"/>
                </a:solidFill>
                <a:effectLst/>
                <a:uLnTx/>
                <a:uFillTx/>
                <a:latin typeface="Arial"/>
                <a:ea typeface="+mn-ea"/>
                <a:cs typeface="Noto Sans"/>
              </a:rPr>
              <a:t>‘I feel suffocated,</a:t>
            </a:r>
            <a:br>
              <a:rPr kumimoji="0" lang="en-US" sz="1700" b="0" i="0" u="none" strike="noStrike" kern="0" cap="none" spc="0" normalizeH="0" baseline="0" noProof="0" dirty="0">
                <a:ln>
                  <a:noFill/>
                </a:ln>
                <a:solidFill>
                  <a:srgbClr val="000000"/>
                </a:solidFill>
                <a:effectLst/>
                <a:uLnTx/>
                <a:uFillTx/>
                <a:latin typeface="Arial"/>
                <a:ea typeface="+mn-ea"/>
                <a:cs typeface="Noto Sans"/>
              </a:rPr>
            </a:br>
            <a:r>
              <a:rPr kumimoji="0" lang="en-US" sz="1700" b="0" i="0" u="none" strike="noStrike" kern="0" cap="none" spc="0" normalizeH="0" baseline="0" noProof="0" dirty="0">
                <a:ln>
                  <a:noFill/>
                </a:ln>
                <a:solidFill>
                  <a:srgbClr val="000000"/>
                </a:solidFill>
                <a:effectLst/>
                <a:uLnTx/>
                <a:uFillTx/>
                <a:latin typeface="Arial"/>
                <a:ea typeface="+mn-ea"/>
                <a:cs typeface="Noto Sans"/>
              </a:rPr>
              <a:t>like [I’m] dying.’ </a:t>
            </a:r>
            <a:r>
              <a:rPr kumimoji="0" lang="en-US" sz="1700" b="0" i="0" u="none" strike="noStrike" kern="0" cap="none" spc="0" normalizeH="0" baseline="30000" noProof="0" dirty="0">
                <a:ln>
                  <a:noFill/>
                </a:ln>
                <a:solidFill>
                  <a:srgbClr val="000000"/>
                </a:solidFill>
                <a:effectLst/>
                <a:uLnTx/>
                <a:uFillTx/>
                <a:latin typeface="Arial"/>
                <a:ea typeface="+mn-ea"/>
                <a:cs typeface="Noto Sans"/>
              </a:rPr>
              <a:t>3</a:t>
            </a:r>
          </a:p>
          <a:p>
            <a:pPr marL="0" marR="0" lvl="0" indent="0" algn="ctr" defTabSz="1219170" rtl="0" eaLnBrk="0" fontAlgn="auto" latinLnBrk="0" hangingPunct="0">
              <a:lnSpc>
                <a:spcPct val="100000"/>
              </a:lnSpc>
              <a:spcBef>
                <a:spcPts val="1200"/>
              </a:spcBef>
              <a:spcAft>
                <a:spcPts val="1200"/>
              </a:spcAft>
              <a:buClr>
                <a:srgbClr val="F36633"/>
              </a:buClr>
              <a:buSzPct val="110000"/>
              <a:buFontTx/>
              <a:buNone/>
              <a:tabLst/>
              <a:defRPr/>
            </a:pPr>
            <a:r>
              <a:rPr kumimoji="0" lang="en-US" sz="1700" b="0" i="1" u="none" strike="noStrike" kern="0" cap="none" spc="0" normalizeH="0" baseline="0" noProof="0" dirty="0">
                <a:ln>
                  <a:noFill/>
                </a:ln>
                <a:solidFill>
                  <a:srgbClr val="000000"/>
                </a:solidFill>
                <a:effectLst/>
                <a:uLnTx/>
                <a:uFillTx/>
                <a:latin typeface="Arial"/>
                <a:ea typeface="+mn-ea"/>
                <a:cs typeface="Noto Sans"/>
              </a:rPr>
              <a:t>‘</a:t>
            </a:r>
            <a:r>
              <a:rPr kumimoji="0" lang="en-US" sz="1700" b="0" i="1" u="none" strike="noStrike" kern="0" cap="none" spc="0" normalizeH="0" baseline="0" noProof="0" dirty="0">
                <a:ln>
                  <a:noFill/>
                </a:ln>
                <a:solidFill>
                  <a:srgbClr val="F36633"/>
                </a:solidFill>
                <a:effectLst/>
                <a:uLnTx/>
                <a:uFillTx/>
                <a:latin typeface="Arial"/>
                <a:ea typeface="+mn-ea"/>
                <a:cs typeface="Noto Sans"/>
              </a:rPr>
              <a:t>I am afraid to stay at home alone. If anything happens, nobody can help me. I am afraid I will [die].</a:t>
            </a:r>
            <a:r>
              <a:rPr kumimoji="0" lang="en-US" sz="1700" b="0" i="1" u="none" strike="noStrike" kern="0" cap="none" spc="0" normalizeH="0" baseline="0" noProof="0" dirty="0">
                <a:ln>
                  <a:noFill/>
                </a:ln>
                <a:solidFill>
                  <a:srgbClr val="000000"/>
                </a:solidFill>
                <a:effectLst/>
                <a:uLnTx/>
                <a:uFillTx/>
                <a:latin typeface="Arial"/>
                <a:ea typeface="+mn-ea"/>
                <a:cs typeface="Noto Sans"/>
              </a:rPr>
              <a:t>’</a:t>
            </a:r>
            <a:r>
              <a:rPr kumimoji="0" lang="en-US" sz="1700" b="0" i="1" u="none" strike="noStrike" kern="0" cap="none" spc="0" normalizeH="0" baseline="0" noProof="0" dirty="0">
                <a:ln>
                  <a:noFill/>
                </a:ln>
                <a:solidFill>
                  <a:srgbClr val="F36633"/>
                </a:solidFill>
                <a:effectLst/>
                <a:uLnTx/>
                <a:uFillTx/>
                <a:latin typeface="Arial"/>
                <a:ea typeface="+mn-ea"/>
                <a:cs typeface="Noto Sans"/>
              </a:rPr>
              <a:t> </a:t>
            </a:r>
            <a:r>
              <a:rPr kumimoji="0" lang="en-US" sz="1700" b="0" i="1" u="none" strike="noStrike" kern="0" cap="none" spc="0" normalizeH="0" baseline="30000" noProof="0" dirty="0">
                <a:ln>
                  <a:noFill/>
                </a:ln>
                <a:solidFill>
                  <a:srgbClr val="F36633"/>
                </a:solidFill>
                <a:effectLst/>
                <a:uLnTx/>
                <a:uFillTx/>
                <a:latin typeface="Arial"/>
                <a:ea typeface="+mn-ea"/>
                <a:cs typeface="Noto Sans"/>
              </a:rPr>
              <a:t>3</a:t>
            </a:r>
          </a:p>
          <a:p>
            <a:pPr marL="0" marR="0" lvl="0" indent="0" algn="ctr" defTabSz="1219170" rtl="0" eaLnBrk="0" fontAlgn="auto" latinLnBrk="0" hangingPunct="0">
              <a:lnSpc>
                <a:spcPct val="100000"/>
              </a:lnSpc>
              <a:spcBef>
                <a:spcPts val="1200"/>
              </a:spcBef>
              <a:spcAft>
                <a:spcPts val="1200"/>
              </a:spcAft>
              <a:buClr>
                <a:srgbClr val="F36633"/>
              </a:buClr>
              <a:buSzPct val="110000"/>
              <a:buFontTx/>
              <a:buNone/>
              <a:tabLst/>
              <a:defRPr/>
            </a:pPr>
            <a:r>
              <a:rPr kumimoji="0" lang="en-US" sz="1700" b="0" i="0" u="none" strike="noStrike" kern="0" cap="none" spc="0" normalizeH="0" baseline="0" noProof="0" dirty="0">
                <a:ln>
                  <a:noFill/>
                </a:ln>
                <a:solidFill>
                  <a:srgbClr val="000000"/>
                </a:solidFill>
                <a:effectLst/>
                <a:uLnTx/>
                <a:uFillTx/>
                <a:latin typeface="Arial"/>
                <a:ea typeface="+mn-ea"/>
                <a:cs typeface="Noto Sans"/>
              </a:rPr>
              <a:t>‘I postpone everything to prevent gasping for breath. Housework, cooking, going out ...’ </a:t>
            </a:r>
            <a:r>
              <a:rPr kumimoji="0" lang="en-US" sz="1700" b="0" i="0" u="none" strike="noStrike" kern="0" cap="none" spc="0" normalizeH="0" baseline="30000" noProof="0" dirty="0">
                <a:ln>
                  <a:noFill/>
                </a:ln>
                <a:solidFill>
                  <a:srgbClr val="000000"/>
                </a:solidFill>
                <a:effectLst/>
                <a:uLnTx/>
                <a:uFillTx/>
                <a:latin typeface="Arial"/>
                <a:ea typeface="+mn-ea"/>
                <a:cs typeface="Noto Sans"/>
              </a:rPr>
              <a:t>4</a:t>
            </a:r>
          </a:p>
          <a:p>
            <a:pPr marL="0" marR="0" lvl="0" indent="0" algn="ctr" defTabSz="1219170" rtl="0" eaLnBrk="0" fontAlgn="auto" latinLnBrk="0" hangingPunct="0">
              <a:lnSpc>
                <a:spcPct val="100000"/>
              </a:lnSpc>
              <a:spcBef>
                <a:spcPts val="1200"/>
              </a:spcBef>
              <a:spcAft>
                <a:spcPts val="1200"/>
              </a:spcAft>
              <a:buClr>
                <a:srgbClr val="F36633"/>
              </a:buClr>
              <a:buSzPct val="110000"/>
              <a:buFontTx/>
              <a:buNone/>
              <a:tabLst/>
              <a:defRPr/>
            </a:pPr>
            <a:endParaRPr kumimoji="0" lang="en-US" sz="1700" b="0" i="0" u="none" strike="noStrike" kern="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1. Halpin D;</a:t>
            </a:r>
            <a:r>
              <a:rPr lang="en-US" i="1" dirty="0"/>
              <a:t>Journal of the Royal Society of Medicine Open</a:t>
            </a:r>
            <a:r>
              <a:rPr lang="en-US" dirty="0"/>
              <a:t>;2015;1-8; 2. Andenæs R;</a:t>
            </a:r>
            <a:r>
              <a:rPr lang="en-US" i="1" dirty="0"/>
              <a:t>Heart &amp; Lung;2006</a:t>
            </a:r>
            <a:r>
              <a:rPr lang="en-US" dirty="0"/>
              <a:t>;35;46–57; 3. Wong SSL</a:t>
            </a:r>
            <a:r>
              <a:rPr lang="en-US" i="1" dirty="0"/>
              <a:t>;BioMed Central Family Practice</a:t>
            </a:r>
            <a:r>
              <a:rPr lang="en-US" dirty="0"/>
              <a:t>; 2014;15;1-8; 4. Avsar G;</a:t>
            </a:r>
            <a:r>
              <a:rPr lang="en-US" i="1" dirty="0"/>
              <a:t>Australian Journal of Advanced Nursing</a:t>
            </a:r>
            <a:r>
              <a:rPr lang="en-US" dirty="0"/>
              <a:t>;2011;28;46–52.</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a:xfrm>
            <a:off x="365125" y="242888"/>
            <a:ext cx="11460163" cy="430887"/>
          </a:xfrm>
        </p:spPr>
        <p:txBody>
          <a:bodyPr/>
          <a:lstStyle/>
          <a:p>
            <a:r>
              <a:rPr lang="en-US" dirty="0"/>
              <a:t>As COPD progresses, patient burden increases</a:t>
            </a:r>
            <a:endParaRPr lang="en-GB" dirty="0"/>
          </a:p>
        </p:txBody>
      </p:sp>
      <p:sp>
        <p:nvSpPr>
          <p:cNvPr id="3" name="Subtitle 2">
            <a:extLst>
              <a:ext uri="{FF2B5EF4-FFF2-40B4-BE49-F238E27FC236}">
                <a16:creationId xmlns:a16="http://schemas.microsoft.com/office/drawing/2014/main" id="{D7B8C0F3-A01F-A93E-558A-4546AAA049A8}"/>
              </a:ext>
            </a:extLst>
          </p:cNvPr>
          <p:cNvSpPr>
            <a:spLocks noGrp="1"/>
          </p:cNvSpPr>
          <p:nvPr>
            <p:ph type="subTitle" idx="1"/>
          </p:nvPr>
        </p:nvSpPr>
        <p:spPr>
          <a:xfrm>
            <a:off x="365125" y="694950"/>
            <a:ext cx="11460164" cy="352800"/>
          </a:xfrm>
        </p:spPr>
        <p:txBody>
          <a:bodyPr/>
          <a:lstStyle/>
          <a:p>
            <a:r>
              <a:rPr lang="en-GB" dirty="0"/>
              <a:t>Exacerbations</a:t>
            </a:r>
          </a:p>
        </p:txBody>
      </p:sp>
      <p:sp>
        <p:nvSpPr>
          <p:cNvPr id="2" name="bg object 19">
            <a:extLst>
              <a:ext uri="{FF2B5EF4-FFF2-40B4-BE49-F238E27FC236}">
                <a16:creationId xmlns:a16="http://schemas.microsoft.com/office/drawing/2014/main" id="{B31E4952-E47B-5975-9690-A1E23875A7A0}"/>
              </a:ext>
            </a:extLst>
          </p:cNvPr>
          <p:cNvSpPr/>
          <p:nvPr/>
        </p:nvSpPr>
        <p:spPr>
          <a:xfrm>
            <a:off x="365125" y="1303338"/>
            <a:ext cx="5857875" cy="3990975"/>
          </a:xfrm>
          <a:custGeom>
            <a:avLst/>
            <a:gdLst/>
            <a:ahLst/>
            <a:cxnLst/>
            <a:rect l="l" t="t" r="r" b="b"/>
            <a:pathLst>
              <a:path w="8533130" h="4377055">
                <a:moveTo>
                  <a:pt x="8532876" y="0"/>
                </a:moveTo>
                <a:lnTo>
                  <a:pt x="0" y="0"/>
                </a:lnTo>
                <a:lnTo>
                  <a:pt x="0" y="4376928"/>
                </a:lnTo>
                <a:lnTo>
                  <a:pt x="8532876" y="4376928"/>
                </a:lnTo>
                <a:lnTo>
                  <a:pt x="8532876" y="0"/>
                </a:lnTo>
                <a:close/>
              </a:path>
            </a:pathLst>
          </a:custGeom>
          <a:solidFill>
            <a:schemeClr val="bg2">
              <a:lumMod val="20000"/>
              <a:lumOff val="80000"/>
            </a:schemeClr>
          </a:solidFill>
        </p:spPr>
        <p:txBody>
          <a:bodyPr wrap="square" lIns="91440" tIns="45720" rIns="45720" bIns="45720" rtlCol="0" anchor="ctr"/>
          <a:lstStyle/>
          <a:p>
            <a:pPr marL="342900" marR="0" lvl="0" indent="-342900" algn="l" defTabSz="1219170" rtl="0" eaLnBrk="1" fontAlgn="auto" latinLnBrk="0" hangingPunct="1">
              <a:lnSpc>
                <a:spcPct val="100000"/>
              </a:lnSpc>
              <a:spcBef>
                <a:spcPts val="900"/>
              </a:spcBef>
              <a:spcAft>
                <a:spcPts val="900"/>
              </a:spcAft>
              <a:buClr>
                <a:srgbClr val="F36633"/>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Noto Sans"/>
              </a:rPr>
              <a:t>Nearly </a:t>
            </a:r>
            <a:r>
              <a:rPr kumimoji="0" lang="en-US" sz="4000" b="1" i="0" u="none" strike="noStrike" kern="1200" cap="none" spc="0" normalizeH="0" baseline="0" noProof="0" dirty="0">
                <a:ln>
                  <a:noFill/>
                </a:ln>
                <a:solidFill>
                  <a:srgbClr val="F36633"/>
                </a:solidFill>
                <a:effectLst/>
                <a:uLnTx/>
                <a:uFillTx/>
                <a:latin typeface="Arial"/>
                <a:ea typeface="+mn-ea"/>
                <a:cs typeface="Noto Sans"/>
              </a:rPr>
              <a:t>62%</a:t>
            </a:r>
            <a:r>
              <a:rPr kumimoji="0" lang="en-US" sz="2400" b="0" i="0" u="none" strike="noStrike" kern="1200" cap="none" spc="0" normalizeH="0" baseline="0" noProof="0" dirty="0">
                <a:ln>
                  <a:noFill/>
                </a:ln>
                <a:solidFill>
                  <a:srgbClr val="000000"/>
                </a:solidFill>
                <a:effectLst/>
                <a:uLnTx/>
                <a:uFillTx/>
                <a:latin typeface="Arial"/>
                <a:ea typeface="+mn-ea"/>
                <a:cs typeface="Noto Sans"/>
              </a:rPr>
              <a:t> of patients with COPD are scared of dying prematurely due to an exacerbation</a:t>
            </a:r>
            <a:r>
              <a:rPr kumimoji="0" lang="en-US" sz="2400" b="0" i="0" u="none" strike="noStrike" kern="1200" cap="none" spc="0" normalizeH="0" baseline="30000" noProof="0" dirty="0">
                <a:ln>
                  <a:noFill/>
                </a:ln>
                <a:solidFill>
                  <a:srgbClr val="000000"/>
                </a:solidFill>
                <a:effectLst/>
                <a:uLnTx/>
                <a:uFillTx/>
                <a:latin typeface="Arial"/>
                <a:ea typeface="+mn-ea"/>
                <a:cs typeface="Noto Sans"/>
              </a:rPr>
              <a:t>1</a:t>
            </a:r>
          </a:p>
          <a:p>
            <a:pPr marL="342900" marR="0" lvl="0" indent="-342900" algn="l" defTabSz="1219170" rtl="0" eaLnBrk="1" fontAlgn="auto" latinLnBrk="0" hangingPunct="1">
              <a:lnSpc>
                <a:spcPct val="100000"/>
              </a:lnSpc>
              <a:spcBef>
                <a:spcPts val="900"/>
              </a:spcBef>
              <a:spcAft>
                <a:spcPts val="900"/>
              </a:spcAft>
              <a:buClr>
                <a:srgbClr val="F36633"/>
              </a:buClr>
              <a:buSzTx/>
              <a:buFont typeface="Arial" panose="020B0604020202020204" pitchFamily="34" charset="0"/>
              <a:buChar char="•"/>
              <a:tabLst/>
              <a:defRPr/>
            </a:pPr>
            <a:r>
              <a:rPr kumimoji="0" lang="en-US" sz="2400" b="0" i="0" u="none" strike="noStrike" kern="1200" cap="none" spc="0" normalizeH="0" baseline="0" noProof="0" dirty="0">
                <a:ln>
                  <a:noFill/>
                </a:ln>
                <a:solidFill>
                  <a:srgbClr val="000000"/>
                </a:solidFill>
                <a:effectLst/>
                <a:uLnTx/>
                <a:uFillTx/>
                <a:latin typeface="Arial"/>
                <a:ea typeface="+mn-ea"/>
                <a:cs typeface="Noto Sans"/>
              </a:rPr>
              <a:t>During an exacerbation, patients say they feel like they’re </a:t>
            </a:r>
            <a:r>
              <a:rPr kumimoji="0" lang="en-US" sz="2800" b="1" i="0" u="none" strike="noStrike" kern="1200" cap="none" spc="0" normalizeH="0" baseline="0" noProof="0" dirty="0">
                <a:ln>
                  <a:noFill/>
                </a:ln>
                <a:solidFill>
                  <a:srgbClr val="F36633"/>
                </a:solidFill>
                <a:effectLst/>
                <a:uLnTx/>
                <a:uFillTx/>
                <a:latin typeface="Arial"/>
                <a:ea typeface="+mn-ea"/>
                <a:cs typeface="Noto Sans"/>
              </a:rPr>
              <a:t>drowning</a:t>
            </a:r>
            <a:r>
              <a:rPr kumimoji="0" lang="en-US" sz="2400" b="0" i="0" u="none" strike="noStrike" kern="1200" cap="none" spc="0" normalizeH="0" baseline="0" noProof="0" dirty="0">
                <a:ln>
                  <a:noFill/>
                </a:ln>
                <a:solidFill>
                  <a:srgbClr val="000000"/>
                </a:solidFill>
                <a:effectLst/>
                <a:uLnTx/>
                <a:uFillTx/>
                <a:latin typeface="Arial"/>
                <a:ea typeface="+mn-ea"/>
                <a:cs typeface="Noto Sans"/>
              </a:rPr>
              <a:t> or </a:t>
            </a:r>
            <a:r>
              <a:rPr kumimoji="0" lang="en-US" sz="2800" b="1" i="0" u="none" strike="noStrike" kern="1200" cap="none" spc="0" normalizeH="0" baseline="0" noProof="0" dirty="0">
                <a:ln>
                  <a:noFill/>
                </a:ln>
                <a:solidFill>
                  <a:srgbClr val="F36633"/>
                </a:solidFill>
                <a:effectLst/>
                <a:uLnTx/>
                <a:uFillTx/>
                <a:latin typeface="Arial"/>
                <a:ea typeface="+mn-ea"/>
                <a:cs typeface="Noto Sans"/>
              </a:rPr>
              <a:t>suffocating</a:t>
            </a:r>
            <a:r>
              <a:rPr kumimoji="0" lang="en-US" sz="2400" b="0" i="0" u="none" strike="noStrike" kern="1200" cap="none" spc="0" normalizeH="0" baseline="30000" noProof="0" dirty="0">
                <a:ln>
                  <a:noFill/>
                </a:ln>
                <a:solidFill>
                  <a:srgbClr val="000000"/>
                </a:solidFill>
                <a:effectLst/>
                <a:uLnTx/>
                <a:uFillTx/>
                <a:latin typeface="Arial"/>
                <a:ea typeface="+mn-ea"/>
                <a:cs typeface="Noto Sans"/>
              </a:rPr>
              <a:t>2</a:t>
            </a:r>
          </a:p>
        </p:txBody>
      </p:sp>
      <p:grpSp>
        <p:nvGrpSpPr>
          <p:cNvPr id="9" name="Group 8">
            <a:extLst>
              <a:ext uri="{FF2B5EF4-FFF2-40B4-BE49-F238E27FC236}">
                <a16:creationId xmlns:a16="http://schemas.microsoft.com/office/drawing/2014/main" id="{63753B55-6E81-7595-6360-298DD2EBF82D}"/>
              </a:ext>
            </a:extLst>
          </p:cNvPr>
          <p:cNvGrpSpPr/>
          <p:nvPr/>
        </p:nvGrpSpPr>
        <p:grpSpPr>
          <a:xfrm>
            <a:off x="6290249" y="1303338"/>
            <a:ext cx="5535038" cy="3990975"/>
            <a:chOff x="6290249" y="1303338"/>
            <a:chExt cx="5535038" cy="3990975"/>
          </a:xfrm>
          <a:solidFill>
            <a:schemeClr val="tx2">
              <a:lumMod val="75000"/>
            </a:schemeClr>
          </a:solidFill>
          <a:effectLst>
            <a:outerShdw blurRad="50800" dist="38100" dir="8100000" algn="tr" rotWithShape="0">
              <a:prstClr val="black">
                <a:alpha val="40000"/>
              </a:prstClr>
            </a:outerShdw>
          </a:effectLst>
        </p:grpSpPr>
        <p:sp>
          <p:nvSpPr>
            <p:cNvPr id="5" name="Half Frame 4">
              <a:extLst>
                <a:ext uri="{FF2B5EF4-FFF2-40B4-BE49-F238E27FC236}">
                  <a16:creationId xmlns:a16="http://schemas.microsoft.com/office/drawing/2014/main" id="{06B3D008-8FB1-5E57-B9B3-0868CE78A1E8}"/>
                </a:ext>
              </a:extLst>
            </p:cNvPr>
            <p:cNvSpPr/>
            <p:nvPr/>
          </p:nvSpPr>
          <p:spPr bwMode="auto">
            <a:xfrm rot="5400000">
              <a:off x="8918764" y="1303338"/>
              <a:ext cx="2906523" cy="2906523"/>
            </a:xfrm>
            <a:prstGeom prst="halfFrame">
              <a:avLst>
                <a:gd name="adj1" fmla="val 12863"/>
                <a:gd name="adj2" fmla="val 13629"/>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8" name="Half Frame 7">
              <a:extLst>
                <a:ext uri="{FF2B5EF4-FFF2-40B4-BE49-F238E27FC236}">
                  <a16:creationId xmlns:a16="http://schemas.microsoft.com/office/drawing/2014/main" id="{22D18F3C-CB7D-D884-CA82-06B898CE6164}"/>
                </a:ext>
              </a:extLst>
            </p:cNvPr>
            <p:cNvSpPr/>
            <p:nvPr/>
          </p:nvSpPr>
          <p:spPr bwMode="auto">
            <a:xfrm flipV="1">
              <a:off x="6290249" y="2387790"/>
              <a:ext cx="2906523" cy="2906523"/>
            </a:xfrm>
            <a:prstGeom prst="halfFrame">
              <a:avLst>
                <a:gd name="adj1" fmla="val 12863"/>
                <a:gd name="adj2" fmla="val 13629"/>
              </a:avLst>
            </a:prstGeom>
            <a:grp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grpSp>
      <p:pic>
        <p:nvPicPr>
          <p:cNvPr id="12" name="object 10">
            <a:extLst>
              <a:ext uri="{FF2B5EF4-FFF2-40B4-BE49-F238E27FC236}">
                <a16:creationId xmlns:a16="http://schemas.microsoft.com/office/drawing/2014/main" id="{7745FDCE-5F34-5B85-7001-2719626AE98D}"/>
              </a:ext>
            </a:extLst>
          </p:cNvPr>
          <p:cNvPicPr/>
          <p:nvPr/>
        </p:nvPicPr>
        <p:blipFill>
          <a:blip r:embed="rId2" cstate="print">
            <a:duotone>
              <a:prstClr val="black"/>
              <a:schemeClr val="tx2">
                <a:tint val="45000"/>
                <a:satMod val="400000"/>
              </a:schemeClr>
            </a:duotone>
          </a:blip>
          <a:stretch>
            <a:fillRect/>
          </a:stretch>
        </p:blipFill>
        <p:spPr>
          <a:xfrm>
            <a:off x="6226505" y="1157117"/>
            <a:ext cx="826144" cy="527354"/>
          </a:xfrm>
          <a:prstGeom prst="rect">
            <a:avLst/>
          </a:prstGeom>
          <a:ln>
            <a:noFill/>
          </a:ln>
        </p:spPr>
      </p:pic>
      <p:pic>
        <p:nvPicPr>
          <p:cNvPr id="13" name="object 10">
            <a:extLst>
              <a:ext uri="{FF2B5EF4-FFF2-40B4-BE49-F238E27FC236}">
                <a16:creationId xmlns:a16="http://schemas.microsoft.com/office/drawing/2014/main" id="{25F43162-4F00-EA2E-7BD2-E030C9350FC3}"/>
              </a:ext>
            </a:extLst>
          </p:cNvPr>
          <p:cNvPicPr/>
          <p:nvPr/>
        </p:nvPicPr>
        <p:blipFill>
          <a:blip r:embed="rId2" cstate="print">
            <a:duotone>
              <a:prstClr val="black"/>
              <a:schemeClr val="tx2">
                <a:tint val="45000"/>
                <a:satMod val="400000"/>
              </a:schemeClr>
            </a:duotone>
          </a:blip>
          <a:stretch>
            <a:fillRect/>
          </a:stretch>
        </p:blipFill>
        <p:spPr>
          <a:xfrm flipH="1" flipV="1">
            <a:off x="11178750" y="4913179"/>
            <a:ext cx="826144" cy="527354"/>
          </a:xfrm>
          <a:prstGeom prst="rect">
            <a:avLst/>
          </a:prstGeom>
          <a:ln>
            <a:noFill/>
          </a:ln>
        </p:spPr>
      </p:pic>
      <p:sp>
        <p:nvSpPr>
          <p:cNvPr id="15" name="Slide Number Placeholder 14">
            <a:extLst>
              <a:ext uri="{FF2B5EF4-FFF2-40B4-BE49-F238E27FC236}">
                <a16:creationId xmlns:a16="http://schemas.microsoft.com/office/drawing/2014/main" id="{9D49D964-CC6E-A014-E54B-50D84BCB6CBE}"/>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2659388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1. Hill K;COPD: </a:t>
            </a:r>
            <a:r>
              <a:rPr lang="en-US" i="1" dirty="0"/>
              <a:t>Journal of Chronic Obstructive Pulmonary Disease</a:t>
            </a:r>
            <a:r>
              <a:rPr lang="en-US" dirty="0"/>
              <a:t>;2007;4;257-261; 2. Fletcher MJ;</a:t>
            </a:r>
            <a:r>
              <a:rPr lang="en-US" i="1" dirty="0"/>
              <a:t>BioMedCentral Public Health</a:t>
            </a:r>
            <a:r>
              <a:rPr lang="en-US" dirty="0"/>
              <a:t>;2011;11;1-13.</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a:xfrm>
            <a:off x="365125" y="242888"/>
            <a:ext cx="11460163" cy="430887"/>
          </a:xfrm>
        </p:spPr>
        <p:txBody>
          <a:bodyPr/>
          <a:lstStyle/>
          <a:p>
            <a:r>
              <a:rPr lang="en-US" dirty="0"/>
              <a:t>As COPD progresses, patient burden increases</a:t>
            </a:r>
            <a:endParaRPr lang="en-GB" dirty="0"/>
          </a:p>
        </p:txBody>
      </p:sp>
      <p:sp>
        <p:nvSpPr>
          <p:cNvPr id="3" name="Subtitle 2">
            <a:extLst>
              <a:ext uri="{FF2B5EF4-FFF2-40B4-BE49-F238E27FC236}">
                <a16:creationId xmlns:a16="http://schemas.microsoft.com/office/drawing/2014/main" id="{D7B8C0F3-A01F-A93E-558A-4546AAA049A8}"/>
              </a:ext>
            </a:extLst>
          </p:cNvPr>
          <p:cNvSpPr>
            <a:spLocks noGrp="1"/>
          </p:cNvSpPr>
          <p:nvPr>
            <p:ph type="subTitle" idx="1"/>
          </p:nvPr>
        </p:nvSpPr>
        <p:spPr>
          <a:xfrm>
            <a:off x="365125" y="694950"/>
            <a:ext cx="11460164" cy="352800"/>
          </a:xfrm>
        </p:spPr>
        <p:txBody>
          <a:bodyPr/>
          <a:lstStyle/>
          <a:p>
            <a:r>
              <a:rPr lang="en-GB" dirty="0"/>
              <a:t>Non-physical symptoms</a:t>
            </a:r>
          </a:p>
        </p:txBody>
      </p:sp>
      <p:sp>
        <p:nvSpPr>
          <p:cNvPr id="7" name="object 6">
            <a:extLst>
              <a:ext uri="{FF2B5EF4-FFF2-40B4-BE49-F238E27FC236}">
                <a16:creationId xmlns:a16="http://schemas.microsoft.com/office/drawing/2014/main" id="{C4E0C7D0-6529-9C26-5CC8-7315B6997422}"/>
              </a:ext>
            </a:extLst>
          </p:cNvPr>
          <p:cNvSpPr txBox="1"/>
          <p:nvPr/>
        </p:nvSpPr>
        <p:spPr>
          <a:xfrm>
            <a:off x="365125" y="3448922"/>
            <a:ext cx="11457432" cy="258404"/>
          </a:xfrm>
          <a:prstGeom prst="rect">
            <a:avLst/>
          </a:prstGeom>
        </p:spPr>
        <p:txBody>
          <a:bodyPr vert="horz" wrap="square" lIns="0" tIns="12065" rIns="0" bIns="0" rtlCol="0">
            <a:spAutoFit/>
          </a:bodyPr>
          <a:lstStyle/>
          <a:p>
            <a:pPr marL="38100" marR="0" lvl="0" indent="0" algn="l" defTabSz="1219170" rtl="0" eaLnBrk="1" fontAlgn="auto" latinLnBrk="0" hangingPunct="1">
              <a:lnSpc>
                <a:spcPct val="100000"/>
              </a:lnSpc>
              <a:spcBef>
                <a:spcPts val="95"/>
              </a:spcBef>
              <a:spcAft>
                <a:spcPts val="0"/>
              </a:spcAft>
              <a:buClrTx/>
              <a:buSzTx/>
              <a:buFontTx/>
              <a:buNone/>
              <a:tabLst/>
              <a:defRPr/>
            </a:pPr>
            <a:r>
              <a:rPr kumimoji="0" sz="1600" b="1" i="0" u="none" strike="noStrike" kern="1200" cap="none" spc="-10" normalizeH="0" baseline="0" noProof="0" dirty="0">
                <a:ln>
                  <a:noFill/>
                </a:ln>
                <a:solidFill>
                  <a:srgbClr val="F36633"/>
                </a:solidFill>
                <a:effectLst/>
                <a:uLnTx/>
                <a:uFillTx/>
                <a:latin typeface="Arial"/>
                <a:ea typeface="+mn-ea"/>
                <a:cs typeface="Arial"/>
              </a:rPr>
              <a:t>COPD</a:t>
            </a:r>
            <a:r>
              <a:rPr kumimoji="0" sz="1600" b="1" i="0" u="none" strike="noStrike" kern="1200" cap="none" spc="1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can</a:t>
            </a:r>
            <a:r>
              <a:rPr kumimoji="0" sz="1600" b="1" i="0" u="none" strike="noStrike" kern="1200" cap="none" spc="1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significantly</a:t>
            </a:r>
            <a:r>
              <a:rPr kumimoji="0" sz="1600" b="1" i="0" u="none" strike="noStrike" kern="1200" cap="none" spc="4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impact</a:t>
            </a:r>
            <a:r>
              <a:rPr kumimoji="0" sz="1600" b="1" i="0" u="none" strike="noStrike" kern="1200" cap="none" spc="40" normalizeH="0" baseline="0" noProof="0" dirty="0">
                <a:ln>
                  <a:noFill/>
                </a:ln>
                <a:solidFill>
                  <a:srgbClr val="F36633"/>
                </a:solidFill>
                <a:effectLst/>
                <a:uLnTx/>
                <a:uFillTx/>
                <a:latin typeface="Arial"/>
                <a:ea typeface="+mn-ea"/>
                <a:cs typeface="Arial"/>
              </a:rPr>
              <a:t> </a:t>
            </a:r>
            <a:r>
              <a:rPr kumimoji="0" sz="1600" b="1" i="0" u="none" strike="noStrike" kern="1200" cap="none" spc="-10" normalizeH="0" baseline="0" noProof="0" dirty="0">
                <a:ln>
                  <a:noFill/>
                </a:ln>
                <a:solidFill>
                  <a:srgbClr val="F36633"/>
                </a:solidFill>
                <a:effectLst/>
                <a:uLnTx/>
                <a:uFillTx/>
                <a:latin typeface="Arial"/>
                <a:ea typeface="+mn-ea"/>
                <a:cs typeface="Arial"/>
              </a:rPr>
              <a:t>the</a:t>
            </a:r>
            <a:r>
              <a:rPr kumimoji="0" sz="1600" b="1" i="0" u="none" strike="noStrike" kern="1200" cap="none" spc="1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ability</a:t>
            </a:r>
            <a:r>
              <a:rPr kumimoji="0" sz="1600" b="1" i="0" u="none" strike="noStrike" kern="1200" cap="none" spc="3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to</a:t>
            </a:r>
            <a:r>
              <a:rPr kumimoji="0" sz="1600" b="1" i="0" u="none" strike="noStrike" kern="1200" cap="none" spc="2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work</a:t>
            </a:r>
            <a:r>
              <a:rPr kumimoji="0" sz="1600" b="1" i="0" u="none" strike="noStrike" kern="1200" cap="none" spc="-2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(N</a:t>
            </a:r>
            <a:r>
              <a:rPr kumimoji="0" sz="1600" b="1" i="0" u="none" strike="noStrike" kern="1200" cap="none" spc="3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a:t>
            </a:r>
            <a:r>
              <a:rPr kumimoji="0" sz="1600" b="1" i="0" u="none" strike="noStrike" kern="1200" cap="none" spc="1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2426</a:t>
            </a:r>
            <a:r>
              <a:rPr kumimoji="0" sz="1600" b="1" i="0" u="none" strike="noStrike" kern="1200" cap="none" spc="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patients</a:t>
            </a:r>
            <a:r>
              <a:rPr kumimoji="0" sz="1600" b="1" i="0" u="none" strike="noStrike" kern="1200" cap="none" spc="35"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with</a:t>
            </a:r>
            <a:r>
              <a:rPr kumimoji="0" sz="1600" b="1" i="0" u="none" strike="noStrike" kern="1200" cap="none" spc="0" normalizeH="0" baseline="0" noProof="0" dirty="0">
                <a:ln>
                  <a:noFill/>
                </a:ln>
                <a:solidFill>
                  <a:srgbClr val="F36633"/>
                </a:solidFill>
                <a:effectLst/>
                <a:uLnTx/>
                <a:uFillTx/>
                <a:latin typeface="Arial"/>
                <a:ea typeface="+mn-ea"/>
                <a:cs typeface="Arial"/>
              </a:rPr>
              <a:t> </a:t>
            </a:r>
            <a:r>
              <a:rPr kumimoji="0" sz="1600" b="1" i="0" u="none" strike="noStrike" kern="1200" cap="none" spc="-5" normalizeH="0" baseline="0" noProof="0" dirty="0">
                <a:ln>
                  <a:noFill/>
                </a:ln>
                <a:solidFill>
                  <a:srgbClr val="F36633"/>
                </a:solidFill>
                <a:effectLst/>
                <a:uLnTx/>
                <a:uFillTx/>
                <a:latin typeface="Arial"/>
                <a:ea typeface="+mn-ea"/>
                <a:cs typeface="Arial"/>
              </a:rPr>
              <a:t>COPD)</a:t>
            </a:r>
            <a:r>
              <a:rPr kumimoji="0" lang="en-US" sz="1600" b="1" i="0" u="none" strike="noStrike" kern="1200" cap="none" spc="-7" normalizeH="0" baseline="26455" noProof="0" dirty="0">
                <a:ln>
                  <a:noFill/>
                </a:ln>
                <a:solidFill>
                  <a:srgbClr val="F36633"/>
                </a:solidFill>
                <a:effectLst/>
                <a:uLnTx/>
                <a:uFillTx/>
                <a:latin typeface="Arial"/>
                <a:ea typeface="+mn-ea"/>
                <a:cs typeface="Arial"/>
              </a:rPr>
              <a:t>2</a:t>
            </a:r>
            <a:endParaRPr kumimoji="0" sz="1600" b="0" i="0" u="none" strike="noStrike" kern="1200" cap="none" spc="0" normalizeH="0" baseline="26455" noProof="0" dirty="0">
              <a:ln>
                <a:noFill/>
              </a:ln>
              <a:solidFill>
                <a:srgbClr val="F36633"/>
              </a:solidFill>
              <a:effectLst/>
              <a:uLnTx/>
              <a:uFillTx/>
              <a:latin typeface="Arial"/>
              <a:ea typeface="+mn-ea"/>
              <a:cs typeface="Arial"/>
            </a:endParaRPr>
          </a:p>
        </p:txBody>
      </p:sp>
      <p:graphicFrame>
        <p:nvGraphicFramePr>
          <p:cNvPr id="11" name="object 4">
            <a:extLst>
              <a:ext uri="{FF2B5EF4-FFF2-40B4-BE49-F238E27FC236}">
                <a16:creationId xmlns:a16="http://schemas.microsoft.com/office/drawing/2014/main" id="{682386AA-D1B1-5922-11D3-035DE7AC6DA4}"/>
              </a:ext>
            </a:extLst>
          </p:cNvPr>
          <p:cNvGraphicFramePr>
            <a:graphicFrameLocks noGrp="1"/>
          </p:cNvGraphicFramePr>
          <p:nvPr/>
        </p:nvGraphicFramePr>
        <p:xfrm>
          <a:off x="331787" y="3743711"/>
          <a:ext cx="11490768" cy="1542288"/>
        </p:xfrm>
        <a:graphic>
          <a:graphicData uri="http://schemas.openxmlformats.org/drawingml/2006/table">
            <a:tbl>
              <a:tblPr firstRow="1" bandRow="1">
                <a:tableStyleId>{2D5ABB26-0587-4C30-8999-92F81FD0307C}</a:tableStyleId>
              </a:tblPr>
              <a:tblGrid>
                <a:gridCol w="5745384">
                  <a:extLst>
                    <a:ext uri="{9D8B030D-6E8A-4147-A177-3AD203B41FA5}">
                      <a16:colId xmlns:a16="http://schemas.microsoft.com/office/drawing/2014/main" val="20000"/>
                    </a:ext>
                  </a:extLst>
                </a:gridCol>
                <a:gridCol w="5745384">
                  <a:extLst>
                    <a:ext uri="{9D8B030D-6E8A-4147-A177-3AD203B41FA5}">
                      <a16:colId xmlns:a16="http://schemas.microsoft.com/office/drawing/2014/main" val="20001"/>
                    </a:ext>
                  </a:extLst>
                </a:gridCol>
              </a:tblGrid>
              <a:tr h="0">
                <a:tc>
                  <a:txBody>
                    <a:bodyPr/>
                    <a:lstStyle/>
                    <a:p>
                      <a:pPr marL="1270" algn="ctr">
                        <a:lnSpc>
                          <a:spcPct val="100000"/>
                        </a:lnSpc>
                        <a:spcBef>
                          <a:spcPts val="365"/>
                        </a:spcBef>
                      </a:pPr>
                      <a:r>
                        <a:rPr sz="1600" b="1" spc="-5" dirty="0">
                          <a:solidFill>
                            <a:srgbClr val="FFFFFF"/>
                          </a:solidFill>
                          <a:latin typeface="Arial"/>
                          <a:cs typeface="Arial"/>
                        </a:rPr>
                        <a:t>Subgroup</a:t>
                      </a:r>
                      <a:endParaRPr sz="1600" dirty="0">
                        <a:latin typeface="Arial"/>
                        <a:cs typeface="Arial"/>
                      </a:endParaRPr>
                    </a:p>
                  </a:txBody>
                  <a:tcPr marL="45720" marR="45720" anchor="ctr">
                    <a:lnL w="12700">
                      <a:noFill/>
                      <a:prstDash val="solid"/>
                    </a:lnL>
                    <a:lnR w="12700">
                      <a:noFill/>
                      <a:prstDash val="solid"/>
                    </a:lnR>
                    <a:lnT w="12700">
                      <a:noFill/>
                      <a:prstDash val="solid"/>
                    </a:lnT>
                    <a:lnB w="38100">
                      <a:noFill/>
                      <a:prstDash val="solid"/>
                    </a:lnB>
                    <a:lnTlToBr w="12700" cmpd="sng">
                      <a:noFill/>
                      <a:prstDash val="solid"/>
                    </a:lnTlToBr>
                    <a:lnBlToTr w="12700" cmpd="sng">
                      <a:noFill/>
                      <a:prstDash val="solid"/>
                    </a:lnBlToTr>
                    <a:solidFill>
                      <a:srgbClr val="F36600"/>
                    </a:solidFill>
                  </a:tcPr>
                </a:tc>
                <a:tc>
                  <a:txBody>
                    <a:bodyPr/>
                    <a:lstStyle/>
                    <a:p>
                      <a:pPr algn="ctr">
                        <a:lnSpc>
                          <a:spcPct val="100000"/>
                        </a:lnSpc>
                        <a:spcBef>
                          <a:spcPts val="365"/>
                        </a:spcBef>
                      </a:pPr>
                      <a:r>
                        <a:rPr sz="1600" b="1" spc="-5" dirty="0">
                          <a:solidFill>
                            <a:srgbClr val="FFFFFF"/>
                          </a:solidFill>
                          <a:latin typeface="Arial"/>
                          <a:cs typeface="Arial"/>
                        </a:rPr>
                        <a:t>Number</a:t>
                      </a:r>
                      <a:r>
                        <a:rPr sz="1600" b="1" dirty="0">
                          <a:solidFill>
                            <a:srgbClr val="FFFFFF"/>
                          </a:solidFill>
                          <a:latin typeface="Arial"/>
                          <a:cs typeface="Arial"/>
                        </a:rPr>
                        <a:t> </a:t>
                      </a:r>
                      <a:r>
                        <a:rPr sz="1600" b="1" spc="-20" dirty="0">
                          <a:solidFill>
                            <a:srgbClr val="FFFFFF"/>
                          </a:solidFill>
                          <a:latin typeface="Arial"/>
                          <a:cs typeface="Arial"/>
                        </a:rPr>
                        <a:t>(%)</a:t>
                      </a:r>
                      <a:endParaRPr sz="1600" dirty="0">
                        <a:latin typeface="Arial"/>
                        <a:cs typeface="Arial"/>
                      </a:endParaRPr>
                    </a:p>
                  </a:txBody>
                  <a:tcPr marL="45720" marR="45720" anchor="ctr">
                    <a:lnL w="12700">
                      <a:noFill/>
                      <a:prstDash val="solid"/>
                    </a:lnL>
                    <a:lnR w="12700">
                      <a:noFill/>
                      <a:prstDash val="solid"/>
                    </a:lnR>
                    <a:lnT w="12700">
                      <a:noFill/>
                      <a:prstDash val="solid"/>
                    </a:lnT>
                    <a:lnB w="38100">
                      <a:noFill/>
                      <a:prstDash val="solid"/>
                    </a:lnB>
                    <a:lnTlToBr w="12700" cmpd="sng">
                      <a:noFill/>
                      <a:prstDash val="solid"/>
                    </a:lnTlToBr>
                    <a:lnBlToTr w="12700" cmpd="sng">
                      <a:noFill/>
                      <a:prstDash val="solid"/>
                    </a:lnBlToTr>
                    <a:solidFill>
                      <a:srgbClr val="F36600"/>
                    </a:solidFill>
                  </a:tcPr>
                </a:tc>
                <a:extLst>
                  <a:ext uri="{0D108BD9-81ED-4DB2-BD59-A6C34878D82A}">
                    <a16:rowId xmlns:a16="http://schemas.microsoft.com/office/drawing/2014/main" val="10000"/>
                  </a:ext>
                </a:extLst>
              </a:tr>
              <a:tr h="402336">
                <a:tc>
                  <a:txBody>
                    <a:bodyPr/>
                    <a:lstStyle/>
                    <a:p>
                      <a:pPr algn="ctr">
                        <a:lnSpc>
                          <a:spcPct val="100000"/>
                        </a:lnSpc>
                        <a:spcBef>
                          <a:spcPts val="489"/>
                        </a:spcBef>
                      </a:pPr>
                      <a:r>
                        <a:rPr sz="1600" spc="-5" dirty="0">
                          <a:solidFill>
                            <a:schemeClr val="tx1"/>
                          </a:solidFill>
                          <a:latin typeface="Arial"/>
                          <a:cs typeface="Arial"/>
                        </a:rPr>
                        <a:t>Working</a:t>
                      </a:r>
                      <a:endParaRPr sz="1600" dirty="0">
                        <a:solidFill>
                          <a:schemeClr val="tx1"/>
                        </a:solidFill>
                        <a:latin typeface="Arial"/>
                        <a:cs typeface="Arial"/>
                      </a:endParaRPr>
                    </a:p>
                  </a:txBody>
                  <a:tcPr marL="45720" marR="45720" anchor="ctr">
                    <a:lnL w="12700">
                      <a:noFill/>
                      <a:prstDash val="solid"/>
                    </a:lnL>
                    <a:lnR w="12700">
                      <a:noFill/>
                      <a:prstDash val="solid"/>
                    </a:lnR>
                    <a:lnT w="38100">
                      <a:noFill/>
                      <a:prstDash val="solid"/>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marL="1270" algn="ctr">
                        <a:lnSpc>
                          <a:spcPct val="100000"/>
                        </a:lnSpc>
                        <a:spcBef>
                          <a:spcPts val="489"/>
                        </a:spcBef>
                      </a:pPr>
                      <a:r>
                        <a:rPr sz="1600" spc="-5" dirty="0">
                          <a:solidFill>
                            <a:schemeClr val="tx1"/>
                          </a:solidFill>
                          <a:latin typeface="Arial"/>
                          <a:cs typeface="Arial"/>
                        </a:rPr>
                        <a:t>710</a:t>
                      </a:r>
                      <a:r>
                        <a:rPr sz="1600" spc="-25" dirty="0">
                          <a:solidFill>
                            <a:schemeClr val="tx1"/>
                          </a:solidFill>
                          <a:latin typeface="Arial"/>
                          <a:cs typeface="Arial"/>
                        </a:rPr>
                        <a:t> </a:t>
                      </a:r>
                      <a:r>
                        <a:rPr sz="1600" spc="-5" dirty="0">
                          <a:solidFill>
                            <a:schemeClr val="tx1"/>
                          </a:solidFill>
                          <a:latin typeface="Arial"/>
                          <a:cs typeface="Arial"/>
                        </a:rPr>
                        <a:t>(29)</a:t>
                      </a:r>
                      <a:endParaRPr sz="1600" dirty="0">
                        <a:solidFill>
                          <a:schemeClr val="tx1"/>
                        </a:solidFill>
                        <a:latin typeface="Arial"/>
                        <a:cs typeface="Arial"/>
                      </a:endParaRPr>
                    </a:p>
                  </a:txBody>
                  <a:tcPr marL="45720" marR="45720" anchor="ctr">
                    <a:lnL w="12700">
                      <a:noFill/>
                      <a:prstDash val="solid"/>
                    </a:lnL>
                    <a:lnR w="12700">
                      <a:noFill/>
                      <a:prstDash val="solid"/>
                    </a:lnR>
                    <a:lnT w="38100">
                      <a:noFill/>
                      <a:prstDash val="solid"/>
                    </a:lnT>
                    <a:lnB w="12700">
                      <a:noFill/>
                      <a:prstDash val="soli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1"/>
                  </a:ext>
                </a:extLst>
              </a:tr>
              <a:tr h="402336">
                <a:tc>
                  <a:txBody>
                    <a:bodyPr/>
                    <a:lstStyle/>
                    <a:p>
                      <a:pPr algn="ctr">
                        <a:lnSpc>
                          <a:spcPct val="100000"/>
                        </a:lnSpc>
                        <a:spcBef>
                          <a:spcPts val="489"/>
                        </a:spcBef>
                      </a:pPr>
                      <a:r>
                        <a:rPr sz="1600" spc="-5" dirty="0">
                          <a:solidFill>
                            <a:schemeClr val="tx1"/>
                          </a:solidFill>
                          <a:latin typeface="Arial"/>
                          <a:cs typeface="Arial"/>
                        </a:rPr>
                        <a:t>Not</a:t>
                      </a:r>
                      <a:r>
                        <a:rPr sz="1600" spc="-10" dirty="0">
                          <a:solidFill>
                            <a:schemeClr val="tx1"/>
                          </a:solidFill>
                          <a:latin typeface="Arial"/>
                          <a:cs typeface="Arial"/>
                        </a:rPr>
                        <a:t> </a:t>
                      </a:r>
                      <a:r>
                        <a:rPr sz="1600" spc="-5" dirty="0">
                          <a:solidFill>
                            <a:schemeClr val="tx1"/>
                          </a:solidFill>
                          <a:latin typeface="Arial"/>
                          <a:cs typeface="Arial"/>
                        </a:rPr>
                        <a:t>working</a:t>
                      </a:r>
                      <a:endParaRPr sz="1600" dirty="0">
                        <a:solidFill>
                          <a:schemeClr val="tx1"/>
                        </a:solidFill>
                        <a:latin typeface="Arial"/>
                        <a:cs typeface="Arial"/>
                      </a:endParaRPr>
                    </a:p>
                  </a:txBody>
                  <a:tcPr marL="45720" marR="45720" anchor="ctr">
                    <a:lnL w="12700">
                      <a:noFill/>
                      <a:prstDash val="solid"/>
                    </a:lnL>
                    <a:lnR w="12700">
                      <a:noFill/>
                      <a:prstDash val="solid"/>
                    </a:lnR>
                    <a:lnT w="12700">
                      <a:noFill/>
                      <a:prstDash val="solid"/>
                    </a:lnT>
                    <a:lnB w="12700">
                      <a:noFill/>
                      <a:prstDash val="solid"/>
                    </a:lnB>
                    <a:lnTlToBr w="12700" cmpd="sng">
                      <a:noFill/>
                      <a:prstDash val="solid"/>
                    </a:lnTlToBr>
                    <a:lnBlToTr w="12700" cmpd="sng">
                      <a:noFill/>
                      <a:prstDash val="solid"/>
                    </a:lnBlToTr>
                    <a:solidFill>
                      <a:schemeClr val="tx2">
                        <a:lumMod val="40000"/>
                        <a:lumOff val="60000"/>
                      </a:schemeClr>
                    </a:solidFill>
                  </a:tcPr>
                </a:tc>
                <a:tc>
                  <a:txBody>
                    <a:bodyPr/>
                    <a:lstStyle/>
                    <a:p>
                      <a:pPr marL="1270" algn="ctr">
                        <a:lnSpc>
                          <a:spcPct val="100000"/>
                        </a:lnSpc>
                        <a:spcBef>
                          <a:spcPts val="489"/>
                        </a:spcBef>
                      </a:pPr>
                      <a:r>
                        <a:rPr sz="1600" spc="-5" dirty="0">
                          <a:solidFill>
                            <a:schemeClr val="tx1"/>
                          </a:solidFill>
                          <a:latin typeface="Arial"/>
                          <a:cs typeface="Arial"/>
                        </a:rPr>
                        <a:t>1243</a:t>
                      </a:r>
                      <a:r>
                        <a:rPr sz="1600" spc="-10" dirty="0">
                          <a:solidFill>
                            <a:schemeClr val="tx1"/>
                          </a:solidFill>
                          <a:latin typeface="Arial"/>
                          <a:cs typeface="Arial"/>
                        </a:rPr>
                        <a:t> </a:t>
                      </a:r>
                      <a:r>
                        <a:rPr sz="1600" spc="-5" dirty="0">
                          <a:solidFill>
                            <a:schemeClr val="tx1"/>
                          </a:solidFill>
                          <a:latin typeface="Arial"/>
                          <a:cs typeface="Arial"/>
                        </a:rPr>
                        <a:t>(51)</a:t>
                      </a:r>
                      <a:endParaRPr sz="1600" dirty="0">
                        <a:solidFill>
                          <a:schemeClr val="tx1"/>
                        </a:solidFill>
                        <a:latin typeface="Arial"/>
                        <a:cs typeface="Arial"/>
                      </a:endParaRPr>
                    </a:p>
                  </a:txBody>
                  <a:tcPr marL="45720" marR="45720" anchor="ctr">
                    <a:lnL w="12700">
                      <a:noFill/>
                      <a:prstDash val="solid"/>
                    </a:lnL>
                    <a:lnR w="12700">
                      <a:noFill/>
                      <a:prstDash val="solid"/>
                    </a:lnR>
                    <a:lnT w="12700">
                      <a:noFill/>
                      <a:prstDash val="solid"/>
                    </a:lnT>
                    <a:lnB w="12700">
                      <a:noFill/>
                      <a:prstDash val="solid"/>
                    </a:lnB>
                    <a:lnTlToBr w="12700" cmpd="sng">
                      <a:noFill/>
                      <a:prstDash val="solid"/>
                    </a:lnTlToBr>
                    <a:lnBlToTr w="12700" cmpd="sng">
                      <a:noFill/>
                      <a:prstDash val="solid"/>
                    </a:lnBlToTr>
                    <a:solidFill>
                      <a:schemeClr val="tx2">
                        <a:lumMod val="40000"/>
                        <a:lumOff val="60000"/>
                      </a:schemeClr>
                    </a:solidFill>
                  </a:tcPr>
                </a:tc>
                <a:extLst>
                  <a:ext uri="{0D108BD9-81ED-4DB2-BD59-A6C34878D82A}">
                    <a16:rowId xmlns:a16="http://schemas.microsoft.com/office/drawing/2014/main" val="10002"/>
                  </a:ext>
                </a:extLst>
              </a:tr>
              <a:tr h="402336">
                <a:tc>
                  <a:txBody>
                    <a:bodyPr/>
                    <a:lstStyle/>
                    <a:p>
                      <a:pPr algn="ctr">
                        <a:lnSpc>
                          <a:spcPct val="100000"/>
                        </a:lnSpc>
                        <a:spcBef>
                          <a:spcPts val="490"/>
                        </a:spcBef>
                      </a:pPr>
                      <a:r>
                        <a:rPr sz="1600" spc="-5" dirty="0">
                          <a:solidFill>
                            <a:schemeClr val="tx1"/>
                          </a:solidFill>
                          <a:latin typeface="Arial"/>
                          <a:cs typeface="Arial"/>
                        </a:rPr>
                        <a:t>Retired</a:t>
                      </a:r>
                      <a:r>
                        <a:rPr sz="1600" dirty="0">
                          <a:solidFill>
                            <a:schemeClr val="tx1"/>
                          </a:solidFill>
                          <a:latin typeface="Arial"/>
                          <a:cs typeface="Arial"/>
                        </a:rPr>
                        <a:t> </a:t>
                      </a:r>
                      <a:r>
                        <a:rPr sz="1600" spc="-5" dirty="0">
                          <a:solidFill>
                            <a:schemeClr val="tx1"/>
                          </a:solidFill>
                          <a:latin typeface="Arial"/>
                          <a:cs typeface="Arial"/>
                        </a:rPr>
                        <a:t>early due</a:t>
                      </a:r>
                      <a:r>
                        <a:rPr sz="1600" spc="-10" dirty="0">
                          <a:solidFill>
                            <a:schemeClr val="tx1"/>
                          </a:solidFill>
                          <a:latin typeface="Arial"/>
                          <a:cs typeface="Arial"/>
                        </a:rPr>
                        <a:t> </a:t>
                      </a:r>
                      <a:r>
                        <a:rPr sz="1600" spc="-5" dirty="0">
                          <a:solidFill>
                            <a:schemeClr val="tx1"/>
                          </a:solidFill>
                          <a:latin typeface="Arial"/>
                          <a:cs typeface="Arial"/>
                        </a:rPr>
                        <a:t>to</a:t>
                      </a:r>
                      <a:r>
                        <a:rPr sz="1600" dirty="0">
                          <a:solidFill>
                            <a:schemeClr val="tx1"/>
                          </a:solidFill>
                          <a:latin typeface="Arial"/>
                          <a:cs typeface="Arial"/>
                        </a:rPr>
                        <a:t> </a:t>
                      </a:r>
                      <a:r>
                        <a:rPr sz="1600" spc="-5" dirty="0">
                          <a:solidFill>
                            <a:schemeClr val="tx1"/>
                          </a:solidFill>
                          <a:latin typeface="Arial"/>
                          <a:cs typeface="Arial"/>
                        </a:rPr>
                        <a:t>COPD</a:t>
                      </a:r>
                      <a:endParaRPr sz="1600" dirty="0">
                        <a:solidFill>
                          <a:schemeClr val="tx1"/>
                        </a:solidFill>
                        <a:latin typeface="Arial"/>
                        <a:cs typeface="Arial"/>
                      </a:endParaRPr>
                    </a:p>
                  </a:txBody>
                  <a:tcPr marL="45720" marR="45720" anchor="ctr">
                    <a:lnL w="12700">
                      <a:noFill/>
                      <a:prstDash val="solid"/>
                    </a:lnL>
                    <a:lnR w="12700">
                      <a:noFill/>
                      <a:prstDash val="solid"/>
                    </a:lnR>
                    <a:lnT w="12700">
                      <a:noFill/>
                      <a:prstDash val="solid"/>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marL="1905" algn="ctr">
                        <a:lnSpc>
                          <a:spcPct val="100000"/>
                        </a:lnSpc>
                        <a:spcBef>
                          <a:spcPts val="490"/>
                        </a:spcBef>
                      </a:pPr>
                      <a:r>
                        <a:rPr sz="1600" spc="-5" dirty="0">
                          <a:solidFill>
                            <a:schemeClr val="tx1"/>
                          </a:solidFill>
                          <a:latin typeface="Arial"/>
                          <a:cs typeface="Arial"/>
                        </a:rPr>
                        <a:t>447</a:t>
                      </a:r>
                      <a:r>
                        <a:rPr sz="1600" spc="-25" dirty="0">
                          <a:solidFill>
                            <a:schemeClr val="tx1"/>
                          </a:solidFill>
                          <a:latin typeface="Arial"/>
                          <a:cs typeface="Arial"/>
                        </a:rPr>
                        <a:t> </a:t>
                      </a:r>
                      <a:r>
                        <a:rPr sz="1600" spc="-5" dirty="0">
                          <a:solidFill>
                            <a:schemeClr val="tx1"/>
                          </a:solidFill>
                          <a:latin typeface="Arial"/>
                          <a:cs typeface="Arial"/>
                        </a:rPr>
                        <a:t>(18)</a:t>
                      </a:r>
                      <a:endParaRPr sz="1600" dirty="0">
                        <a:solidFill>
                          <a:schemeClr val="tx1"/>
                        </a:solidFill>
                        <a:latin typeface="Arial"/>
                        <a:cs typeface="Arial"/>
                      </a:endParaRPr>
                    </a:p>
                  </a:txBody>
                  <a:tcPr marL="45720" marR="45720" anchor="ctr">
                    <a:lnL w="12700">
                      <a:noFill/>
                      <a:prstDash val="solid"/>
                    </a:lnL>
                    <a:lnR w="12700">
                      <a:noFill/>
                      <a:prstDash val="solid"/>
                    </a:lnR>
                    <a:lnT w="12700">
                      <a:noFill/>
                      <a:prstDash val="solid"/>
                    </a:lnT>
                    <a:lnB w="12700">
                      <a:noFill/>
                      <a:prstDash val="soli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3"/>
                  </a:ext>
                </a:extLst>
              </a:tr>
            </a:tbl>
          </a:graphicData>
        </a:graphic>
      </p:graphicFrame>
      <p:sp>
        <p:nvSpPr>
          <p:cNvPr id="14" name="Rectangle 13">
            <a:extLst>
              <a:ext uri="{FF2B5EF4-FFF2-40B4-BE49-F238E27FC236}">
                <a16:creationId xmlns:a16="http://schemas.microsoft.com/office/drawing/2014/main" id="{17E2387C-55A4-F070-97FD-8A8DEC7A9177}"/>
              </a:ext>
            </a:extLst>
          </p:cNvPr>
          <p:cNvSpPr/>
          <p:nvPr/>
        </p:nvSpPr>
        <p:spPr>
          <a:xfrm>
            <a:off x="365125" y="1319436"/>
            <a:ext cx="5602288" cy="3607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prstClr val="white"/>
                </a:solidFill>
                <a:effectLst/>
                <a:uLnTx/>
                <a:uFillTx/>
                <a:latin typeface="Arial"/>
                <a:ea typeface="+mn-ea"/>
                <a:cs typeface="Noto Sans"/>
              </a:rPr>
              <a:t>Non-physical</a:t>
            </a:r>
          </a:p>
        </p:txBody>
      </p:sp>
      <p:sp>
        <p:nvSpPr>
          <p:cNvPr id="15" name="Rectangle 14">
            <a:extLst>
              <a:ext uri="{FF2B5EF4-FFF2-40B4-BE49-F238E27FC236}">
                <a16:creationId xmlns:a16="http://schemas.microsoft.com/office/drawing/2014/main" id="{AB1C0F8F-C5AA-AE23-42C2-4EE57F547FEB}"/>
              </a:ext>
            </a:extLst>
          </p:cNvPr>
          <p:cNvSpPr/>
          <p:nvPr/>
        </p:nvSpPr>
        <p:spPr>
          <a:xfrm>
            <a:off x="365125" y="1690955"/>
            <a:ext cx="5602288" cy="151447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marR="0" lvl="0" indent="-2857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Noto Sans"/>
              </a:rPr>
              <a:t>COPD can also affect non-physical aspects of patients, such as their psychological state and ability to socially interact and work.</a:t>
            </a:r>
            <a:r>
              <a:rPr kumimoji="0" lang="en-US" sz="1600" b="0" i="0" u="none" strike="noStrike" kern="1200" cap="none" spc="0" normalizeH="0" baseline="30000" noProof="0" dirty="0">
                <a:ln>
                  <a:noFill/>
                </a:ln>
                <a:solidFill>
                  <a:srgbClr val="000000"/>
                </a:solidFill>
                <a:effectLst/>
                <a:uLnTx/>
                <a:uFillTx/>
                <a:latin typeface="Arial"/>
                <a:ea typeface="+mn-ea"/>
                <a:cs typeface="Noto Sans"/>
              </a:rPr>
              <a:t>1</a:t>
            </a:r>
          </a:p>
          <a:p>
            <a:pPr marL="285750" marR="0" lvl="0" indent="-2857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a:ea typeface="+mn-ea"/>
                <a:cs typeface="Noto Sans"/>
              </a:rPr>
              <a:t>Other factors limiting daily functioning include age, dyspnoea and use of long-term oxygen therapy.</a:t>
            </a:r>
            <a:r>
              <a:rPr kumimoji="0" lang="en-US" sz="1600" b="0" i="0" u="none" strike="noStrike" kern="1200" cap="none" spc="0" normalizeH="0" baseline="30000" noProof="0" dirty="0">
                <a:ln>
                  <a:noFill/>
                </a:ln>
                <a:solidFill>
                  <a:srgbClr val="000000"/>
                </a:solidFill>
                <a:effectLst/>
                <a:uLnTx/>
                <a:uFillTx/>
                <a:latin typeface="Arial"/>
                <a:ea typeface="+mn-ea"/>
                <a:cs typeface="Noto Sans"/>
              </a:rPr>
              <a:t>1</a:t>
            </a:r>
          </a:p>
        </p:txBody>
      </p:sp>
      <p:sp>
        <p:nvSpPr>
          <p:cNvPr id="17" name="Rectangle 16">
            <a:extLst>
              <a:ext uri="{FF2B5EF4-FFF2-40B4-BE49-F238E27FC236}">
                <a16:creationId xmlns:a16="http://schemas.microsoft.com/office/drawing/2014/main" id="{E0C38D89-FBA8-8B8E-1421-AA473A78ECA2}"/>
              </a:ext>
            </a:extLst>
          </p:cNvPr>
          <p:cNvSpPr>
            <a:spLocks/>
          </p:cNvSpPr>
          <p:nvPr/>
        </p:nvSpPr>
        <p:spPr>
          <a:xfrm>
            <a:off x="6220269" y="1319436"/>
            <a:ext cx="5602288" cy="1885995"/>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marR="0" lvl="0" indent="-171450" algn="l" defTabSz="1219170" rtl="0" eaLnBrk="1" fontAlgn="auto" latinLnBrk="0" hangingPunct="1">
              <a:lnSpc>
                <a:spcPct val="100000"/>
              </a:lnSpc>
              <a:spcBef>
                <a:spcPts val="0"/>
              </a:spcBef>
              <a:spcAft>
                <a:spcPts val="0"/>
              </a:spcAft>
              <a:buClr>
                <a:srgbClr val="F36633"/>
              </a:buClr>
              <a:buSzTx/>
              <a:buFont typeface="Arial" panose="020B0604020202020204" pitchFamily="34" charset="0"/>
              <a:buChar char="•"/>
              <a:tabLst>
                <a:tab pos="322263" algn="l"/>
              </a:tabLst>
              <a:defRPr/>
            </a:pPr>
            <a:r>
              <a:rPr kumimoji="0" lang="en-US" sz="1600" b="0" i="0" u="none" strike="noStrike" kern="1200" cap="none" spc="-5" normalizeH="0" baseline="0" noProof="0" dirty="0">
                <a:ln>
                  <a:noFill/>
                </a:ln>
                <a:solidFill>
                  <a:srgbClr val="000000"/>
                </a:solidFill>
                <a:effectLst/>
                <a:uLnTx/>
                <a:uFillTx/>
                <a:latin typeface="Arial"/>
                <a:ea typeface="+mn-ea"/>
                <a:cs typeface="Arial"/>
              </a:rPr>
              <a:t>It</a:t>
            </a:r>
            <a:r>
              <a:rPr kumimoji="0" lang="en-US" sz="1600" b="0" i="0" u="none" strike="noStrike" kern="1200" cap="none" spc="5"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is</a:t>
            </a:r>
            <a:r>
              <a:rPr kumimoji="0" lang="en-US" sz="1600" b="0" i="0" u="none" strike="noStrike" kern="1200" cap="none" spc="0"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estimated that</a:t>
            </a:r>
            <a:r>
              <a:rPr kumimoji="0" lang="en-US" sz="1600" b="0" i="0" u="none" strike="noStrike" kern="1200" cap="none" spc="35"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half</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of</a:t>
            </a:r>
            <a:r>
              <a:rPr kumimoji="0" lang="en-US" sz="1600" b="1" i="0" u="none" strike="noStrike" kern="1200" cap="none" spc="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those</a:t>
            </a:r>
            <a:r>
              <a:rPr kumimoji="0" lang="en-US" sz="1600" b="0" i="0" u="none" strike="noStrike" kern="1200" cap="none" spc="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affected</a:t>
            </a:r>
            <a:r>
              <a:rPr kumimoji="0" lang="en-US" sz="1600" b="1" i="0" u="none" strike="noStrike" kern="1200" cap="none" spc="2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by</a:t>
            </a:r>
            <a:r>
              <a:rPr kumimoji="0" lang="en-US" sz="1600" b="1" i="0" u="none" strike="noStrike" kern="1200" cap="none" spc="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COPD</a:t>
            </a:r>
            <a:r>
              <a:rPr kumimoji="0" lang="en-US" sz="1600" b="1" i="0" u="none" strike="noStrike" kern="1200" cap="none" spc="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are of</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0" normalizeH="0" baseline="0" noProof="0" dirty="0">
                <a:ln>
                  <a:noFill/>
                </a:ln>
                <a:solidFill>
                  <a:srgbClr val="000000"/>
                </a:solidFill>
                <a:effectLst/>
                <a:uLnTx/>
                <a:uFillTx/>
                <a:latin typeface="Arial"/>
                <a:ea typeface="+mn-ea"/>
                <a:cs typeface="Arial"/>
              </a:rPr>
              <a:t>working</a:t>
            </a:r>
            <a:r>
              <a:rPr kumimoji="0" lang="en-US" sz="1600" b="1" i="0" u="none" strike="noStrike" kern="1200" cap="none" spc="-20" normalizeH="0" baseline="0" noProof="0" dirty="0">
                <a:ln>
                  <a:noFill/>
                </a:ln>
                <a:solidFill>
                  <a:srgbClr val="000000"/>
                </a:solidFill>
                <a:effectLst/>
                <a:uLnTx/>
                <a:uFillTx/>
                <a:latin typeface="Arial"/>
                <a:ea typeface="+mn-ea"/>
                <a:cs typeface="Arial"/>
              </a:rPr>
              <a:t> </a:t>
            </a:r>
            <a:r>
              <a:rPr kumimoji="0" lang="en-US" sz="1600" b="1" i="0" u="none" strike="noStrike" kern="1200" cap="none" spc="0" normalizeH="0" baseline="0" noProof="0" dirty="0">
                <a:ln>
                  <a:noFill/>
                </a:ln>
                <a:solidFill>
                  <a:srgbClr val="000000"/>
                </a:solidFill>
                <a:effectLst/>
                <a:uLnTx/>
                <a:uFillTx/>
                <a:latin typeface="Arial"/>
                <a:ea typeface="+mn-ea"/>
                <a:cs typeface="Arial"/>
              </a:rPr>
              <a:t>age</a:t>
            </a:r>
            <a:r>
              <a:rPr kumimoji="0" lang="en-US" sz="1600" b="0" i="0" u="none" strike="noStrike" kern="1200" cap="none" spc="0" normalizeH="0" baseline="0" noProof="0" dirty="0">
                <a:ln>
                  <a:noFill/>
                </a:ln>
                <a:solidFill>
                  <a:srgbClr val="000000"/>
                </a:solidFill>
                <a:effectLst/>
                <a:uLnTx/>
                <a:uFillTx/>
                <a:latin typeface="Arial"/>
                <a:ea typeface="+mn-ea"/>
                <a:cs typeface="Arial"/>
              </a:rPr>
              <a:t>.</a:t>
            </a:r>
            <a:r>
              <a:rPr kumimoji="0" lang="en-US" sz="1600" b="0" i="0" u="none" strike="noStrike" kern="1200" cap="none" spc="0" normalizeH="0" baseline="26455" noProof="0" dirty="0">
                <a:ln>
                  <a:noFill/>
                </a:ln>
                <a:solidFill>
                  <a:srgbClr val="000000"/>
                </a:solidFill>
                <a:effectLst/>
                <a:uLnTx/>
                <a:uFillTx/>
                <a:latin typeface="Arial"/>
                <a:ea typeface="+mn-ea"/>
                <a:cs typeface="Arial"/>
              </a:rPr>
              <a:t>2</a:t>
            </a:r>
          </a:p>
          <a:p>
            <a:pPr marL="171450" marR="188595" lvl="0" indent="-171450" algn="l" defTabSz="1219170" rtl="0" eaLnBrk="1" fontAlgn="auto" latinLnBrk="0" hangingPunct="1">
              <a:lnSpc>
                <a:spcPct val="100000"/>
              </a:lnSpc>
              <a:spcBef>
                <a:spcPts val="1275"/>
              </a:spcBef>
              <a:spcAft>
                <a:spcPts val="0"/>
              </a:spcAft>
              <a:buClr>
                <a:srgbClr val="F36633"/>
              </a:buClr>
              <a:buSzTx/>
              <a:buFont typeface="Arial" panose="020B0604020202020204" pitchFamily="34" charset="0"/>
              <a:buChar char="•"/>
              <a:tabLst>
                <a:tab pos="322263" algn="l"/>
              </a:tabLst>
              <a:defRPr/>
            </a:pPr>
            <a:r>
              <a:rPr kumimoji="0" lang="en-US" sz="1600" b="1" i="0" u="none" strike="noStrike" kern="1200" cap="none" spc="-5" normalizeH="0" baseline="0" noProof="0" dirty="0">
                <a:ln>
                  <a:noFill/>
                </a:ln>
                <a:solidFill>
                  <a:srgbClr val="000000"/>
                </a:solidFill>
                <a:effectLst/>
                <a:uLnTx/>
                <a:uFillTx/>
                <a:latin typeface="Arial"/>
                <a:ea typeface="+mn-ea"/>
                <a:cs typeface="Arial"/>
              </a:rPr>
              <a:t>40%</a:t>
            </a:r>
            <a:r>
              <a:rPr kumimoji="0" lang="en-US" sz="1600" b="1" i="0" u="none" strike="noStrike" kern="1200" cap="none" spc="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are</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forced</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to</a:t>
            </a:r>
            <a:r>
              <a:rPr kumimoji="0" lang="en-US" sz="1600" b="1" i="0" u="none" strike="noStrike" kern="1200" cap="none" spc="10"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retire</a:t>
            </a:r>
            <a:r>
              <a:rPr kumimoji="0" lang="en-US" sz="1600" b="1" i="0" u="none" strike="noStrike" kern="1200" cap="none" spc="25" normalizeH="0" baseline="0" noProof="0" dirty="0">
                <a:ln>
                  <a:noFill/>
                </a:ln>
                <a:solidFill>
                  <a:srgbClr val="000000"/>
                </a:solidFill>
                <a:effectLst/>
                <a:uLnTx/>
                <a:uFillTx/>
                <a:latin typeface="Arial"/>
                <a:ea typeface="+mn-ea"/>
                <a:cs typeface="Arial"/>
              </a:rPr>
              <a:t> </a:t>
            </a:r>
            <a:r>
              <a:rPr kumimoji="0" lang="en-US" sz="1600" b="1" i="0" u="none" strike="noStrike" kern="1200" cap="none" spc="-5" normalizeH="0" baseline="0" noProof="0" dirty="0">
                <a:ln>
                  <a:noFill/>
                </a:ln>
                <a:solidFill>
                  <a:srgbClr val="000000"/>
                </a:solidFill>
                <a:effectLst/>
                <a:uLnTx/>
                <a:uFillTx/>
                <a:latin typeface="Arial"/>
                <a:ea typeface="+mn-ea"/>
                <a:cs typeface="Arial"/>
              </a:rPr>
              <a:t>early</a:t>
            </a:r>
            <a:r>
              <a:rPr kumimoji="0" lang="en-US" sz="1600" b="1" i="0" u="none" strike="noStrike" kern="1200" cap="none" spc="30"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because of</a:t>
            </a:r>
            <a:r>
              <a:rPr kumimoji="0" lang="en-US" sz="1600" b="0" i="0" u="none" strike="noStrike" kern="1200" cap="none" spc="5"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their</a:t>
            </a:r>
            <a:r>
              <a:rPr kumimoji="0" lang="en-US" sz="1600" b="0" i="0" u="none" strike="noStrike" kern="1200" cap="none" spc="5" normalizeH="0" baseline="0" noProof="0" dirty="0">
                <a:ln>
                  <a:noFill/>
                </a:ln>
                <a:solidFill>
                  <a:srgbClr val="000000"/>
                </a:solidFill>
                <a:effectLst/>
                <a:uLnTx/>
                <a:uFillTx/>
                <a:latin typeface="Arial"/>
                <a:ea typeface="+mn-ea"/>
                <a:cs typeface="Arial"/>
              </a:rPr>
              <a:t> </a:t>
            </a:r>
            <a:r>
              <a:rPr kumimoji="0" lang="en-US" sz="1600" b="0" i="0" u="none" strike="noStrike" kern="1200" cap="none" spc="-5" normalizeH="0" baseline="0" noProof="0" dirty="0">
                <a:ln>
                  <a:noFill/>
                </a:ln>
                <a:solidFill>
                  <a:srgbClr val="000000"/>
                </a:solidFill>
                <a:effectLst/>
                <a:uLnTx/>
                <a:uFillTx/>
                <a:latin typeface="Arial"/>
                <a:ea typeface="+mn-ea"/>
                <a:cs typeface="Arial"/>
              </a:rPr>
              <a:t>symptoms.</a:t>
            </a:r>
            <a:r>
              <a:rPr kumimoji="0" lang="en-US" sz="1600" b="0" i="0" u="none" strike="noStrike" kern="1200" cap="none" spc="-7" normalizeH="0" baseline="26455" noProof="0" dirty="0">
                <a:ln>
                  <a:noFill/>
                </a:ln>
                <a:solidFill>
                  <a:srgbClr val="000000"/>
                </a:solidFill>
                <a:effectLst/>
                <a:uLnTx/>
                <a:uFillTx/>
                <a:latin typeface="Arial"/>
                <a:ea typeface="+mn-ea"/>
                <a:cs typeface="Arial"/>
              </a:rPr>
              <a:t>2</a:t>
            </a:r>
            <a:endParaRPr kumimoji="0" lang="en-US" sz="16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18" name="Date Placeholder 17">
            <a:extLst>
              <a:ext uri="{FF2B5EF4-FFF2-40B4-BE49-F238E27FC236}">
                <a16:creationId xmlns:a16="http://schemas.microsoft.com/office/drawing/2014/main" id="{2DEE96FC-18D7-7675-9EEE-A7CCB48A4542}"/>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AFED81DF-61D5-4B29-9A3B-027167B51DF1}" type="datetime4">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July 20,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Slide Number Placeholder 18">
            <a:extLst>
              <a:ext uri="{FF2B5EF4-FFF2-40B4-BE49-F238E27FC236}">
                <a16:creationId xmlns:a16="http://schemas.microsoft.com/office/drawing/2014/main" id="{F7A3CD1B-10E5-F695-E033-69E52577F3F4}"/>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39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84210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GSK created figure, Fletcher et al, 2011.</a:t>
            </a:r>
            <a:br>
              <a:rPr lang="en-US" dirty="0"/>
            </a:br>
            <a:r>
              <a:rPr lang="en-US" dirty="0"/>
              <a:t>1. Hill K;COPD: </a:t>
            </a:r>
            <a:r>
              <a:rPr lang="en-US" i="1" dirty="0"/>
              <a:t>Journal of Chronic Obstructive Pulmonary Disease</a:t>
            </a:r>
            <a:r>
              <a:rPr lang="en-US" dirty="0"/>
              <a:t>;2007;4;257-261; 2. Fletcher MJ;</a:t>
            </a:r>
            <a:r>
              <a:rPr lang="en-US" i="1" dirty="0"/>
              <a:t>BioMed Central Public Health</a:t>
            </a:r>
            <a:r>
              <a:rPr lang="en-US" dirty="0"/>
              <a:t>;2011;11;1-13.</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a:xfrm>
            <a:off x="365125" y="242888"/>
            <a:ext cx="11460163" cy="430887"/>
          </a:xfrm>
        </p:spPr>
        <p:txBody>
          <a:bodyPr/>
          <a:lstStyle/>
          <a:p>
            <a:r>
              <a:rPr lang="en-US" dirty="0"/>
              <a:t>As COPD progresses, patient burden increases</a:t>
            </a:r>
            <a:r>
              <a:rPr lang="en-US" baseline="30000" dirty="0"/>
              <a:t>1</a:t>
            </a:r>
            <a:endParaRPr lang="en-GB" baseline="30000" dirty="0"/>
          </a:p>
        </p:txBody>
      </p:sp>
      <p:sp>
        <p:nvSpPr>
          <p:cNvPr id="3" name="Subtitle 2">
            <a:extLst>
              <a:ext uri="{FF2B5EF4-FFF2-40B4-BE49-F238E27FC236}">
                <a16:creationId xmlns:a16="http://schemas.microsoft.com/office/drawing/2014/main" id="{D7B8C0F3-A01F-A93E-558A-4546AAA049A8}"/>
              </a:ext>
            </a:extLst>
          </p:cNvPr>
          <p:cNvSpPr>
            <a:spLocks noGrp="1"/>
          </p:cNvSpPr>
          <p:nvPr>
            <p:ph type="subTitle" idx="1"/>
          </p:nvPr>
        </p:nvSpPr>
        <p:spPr>
          <a:xfrm>
            <a:off x="365125" y="694950"/>
            <a:ext cx="11460164" cy="352800"/>
          </a:xfrm>
        </p:spPr>
        <p:txBody>
          <a:bodyPr/>
          <a:lstStyle/>
          <a:p>
            <a:r>
              <a:rPr lang="en-US" dirty="0"/>
              <a:t>The negative effect of COPD on work productivity increases with patient age and symptom severity (N = 2426)</a:t>
            </a:r>
            <a:r>
              <a:rPr lang="en-US" baseline="30000" dirty="0"/>
              <a:t>2</a:t>
            </a:r>
          </a:p>
        </p:txBody>
      </p:sp>
      <p:sp>
        <p:nvSpPr>
          <p:cNvPr id="2" name="Rectangle 1">
            <a:extLst>
              <a:ext uri="{FF2B5EF4-FFF2-40B4-BE49-F238E27FC236}">
                <a16:creationId xmlns:a16="http://schemas.microsoft.com/office/drawing/2014/main" id="{24DFD380-4440-1ABD-7988-054D512095F6}"/>
              </a:ext>
            </a:extLst>
          </p:cNvPr>
          <p:cNvSpPr/>
          <p:nvPr/>
        </p:nvSpPr>
        <p:spPr>
          <a:xfrm>
            <a:off x="367284" y="4521844"/>
            <a:ext cx="11457432" cy="79057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10" normalizeH="0" baseline="0" noProof="0" dirty="0">
                <a:ln>
                  <a:noFill/>
                </a:ln>
                <a:solidFill>
                  <a:srgbClr val="FFFFFF"/>
                </a:solidFill>
                <a:effectLst/>
                <a:uLnTx/>
                <a:uFillTx/>
                <a:latin typeface="Arial"/>
                <a:ea typeface="+mn-ea"/>
                <a:cs typeface="Arial"/>
              </a:rPr>
              <a:t>Absenteeism:</a:t>
            </a:r>
            <a:r>
              <a:rPr kumimoji="0" lang="en-US" sz="1200" b="1" i="0" u="none" strike="noStrike" kern="1200" cap="none" spc="7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t>
            </a:r>
            <a:r>
              <a:rPr kumimoji="0" lang="en-US" sz="1200" b="0" i="0" u="none" strike="noStrike" kern="1200" cap="none" spc="0"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of</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patients</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missing</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work</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in</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the</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last</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week</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due</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to</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COPD</a:t>
            </a:r>
            <a:endParaRPr kumimoji="0" lang="en-US" sz="1200" b="0" i="0" u="none" strike="noStrike" kern="1200" cap="none" spc="0" normalizeH="0" baseline="0" noProof="0" dirty="0">
              <a:ln>
                <a:noFill/>
              </a:ln>
              <a:solidFill>
                <a:prstClr val="white"/>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10" normalizeH="0" baseline="0" noProof="0" dirty="0">
                <a:ln>
                  <a:noFill/>
                </a:ln>
                <a:solidFill>
                  <a:srgbClr val="FFFFFF"/>
                </a:solidFill>
                <a:effectLst/>
                <a:uLnTx/>
                <a:uFillTx/>
                <a:latin typeface="Arial"/>
                <a:ea typeface="+mn-ea"/>
                <a:cs typeface="Arial"/>
              </a:rPr>
              <a:t>Presentism:</a:t>
            </a:r>
            <a:r>
              <a:rPr kumimoji="0" lang="en-US" sz="1200" b="1" i="0" u="none" strike="noStrike" kern="1200" cap="none" spc="4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t>
            </a:r>
            <a:r>
              <a:rPr kumimoji="0" lang="en-US" sz="1200" b="0" i="0" u="none" strike="noStrike" kern="1200" cap="none" spc="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of</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patients</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who</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were</a:t>
            </a:r>
            <a:r>
              <a:rPr kumimoji="0" lang="en-US" sz="1200" b="0" i="0" u="none" strike="noStrike" kern="1200" cap="none" spc="2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able</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to</a:t>
            </a:r>
            <a:r>
              <a:rPr kumimoji="0" lang="en-US" sz="1200" b="0" i="0" u="none" strike="noStrike" kern="1200" cap="none" spc="0"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work</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but</a:t>
            </a:r>
            <a:r>
              <a:rPr kumimoji="0" lang="en-US" sz="1200" b="0" i="0" u="none" strike="noStrike" kern="1200" cap="none" spc="1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their</a:t>
            </a:r>
            <a:r>
              <a:rPr kumimoji="0" lang="en-US" sz="1200" b="0" i="0" u="none" strike="noStrike" kern="1200" cap="none" spc="2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productivity</a:t>
            </a:r>
            <a:r>
              <a:rPr kumimoji="0" lang="en-US" sz="1200" b="0" i="0" u="none" strike="noStrike" kern="1200" cap="none" spc="5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is</a:t>
            </a:r>
            <a:r>
              <a:rPr kumimoji="0" lang="en-US" sz="1200" b="0" i="0" u="none" strike="noStrike" kern="1200" cap="none" spc="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affected</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due</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to</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COPD</a:t>
            </a:r>
            <a:endParaRPr kumimoji="0" lang="en-US" sz="1200" b="0" i="0" u="none" strike="noStrike" kern="1200" cap="none" spc="0" normalizeH="0" baseline="0" noProof="0" dirty="0">
              <a:ln>
                <a:noFill/>
              </a:ln>
              <a:solidFill>
                <a:prstClr val="white"/>
              </a:solidFill>
              <a:effectLst/>
              <a:uLnTx/>
              <a:uFillTx/>
              <a:latin typeface="Arial"/>
              <a:ea typeface="+mn-ea"/>
              <a:cs typeface="Arial"/>
            </a:endParaRPr>
          </a:p>
          <a:p>
            <a:pPr marL="0" marR="0" lvl="0" indent="0" algn="l" defTabSz="1219170" rtl="0" eaLnBrk="1" fontAlgn="auto" latinLnBrk="0" hangingPunct="1">
              <a:lnSpc>
                <a:spcPct val="100000"/>
              </a:lnSpc>
              <a:spcBef>
                <a:spcPts val="0"/>
              </a:spcBef>
              <a:spcAft>
                <a:spcPts val="300"/>
              </a:spcAft>
              <a:buClrTx/>
              <a:buSzTx/>
              <a:buFontTx/>
              <a:buNone/>
              <a:tabLst/>
              <a:defRPr/>
            </a:pPr>
            <a:r>
              <a:rPr kumimoji="0" lang="en-US" sz="1200" b="1" i="0" u="none" strike="noStrike" kern="1200" cap="none" spc="-5" normalizeH="0" baseline="0" noProof="0" dirty="0">
                <a:ln>
                  <a:noFill/>
                </a:ln>
                <a:solidFill>
                  <a:srgbClr val="FFFFFF"/>
                </a:solidFill>
                <a:effectLst/>
                <a:uLnTx/>
                <a:uFillTx/>
                <a:latin typeface="Arial"/>
                <a:ea typeface="+mn-ea"/>
                <a:cs typeface="Arial"/>
              </a:rPr>
              <a:t>Activities:</a:t>
            </a:r>
            <a:r>
              <a:rPr kumimoji="0" lang="en-US" sz="1200" b="1" i="0" u="none" strike="noStrike" kern="1200" cap="none" spc="7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 of</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patients</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whose</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regular</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activities</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were</a:t>
            </a:r>
            <a:r>
              <a:rPr kumimoji="0" lang="en-US" sz="1200" b="0" i="0" u="none" strike="noStrike" kern="1200" cap="none" spc="2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affected</a:t>
            </a:r>
            <a:r>
              <a:rPr kumimoji="0" lang="en-US" sz="1200" b="0" i="0" u="none" strike="noStrike" kern="1200" cap="none" spc="3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in</a:t>
            </a:r>
            <a:r>
              <a:rPr kumimoji="0" lang="en-US" sz="1200" b="0" i="0" u="none" strike="noStrike" kern="1200" cap="none" spc="5"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the</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last</a:t>
            </a:r>
            <a:r>
              <a:rPr kumimoji="0" lang="en-US" sz="1200" b="0" i="0" u="none" strike="noStrike" kern="1200" cap="none" spc="10" normalizeH="0" baseline="0" noProof="0" dirty="0">
                <a:ln>
                  <a:noFill/>
                </a:ln>
                <a:solidFill>
                  <a:srgbClr val="FFFFFF"/>
                </a:solidFill>
                <a:effectLst/>
                <a:uLnTx/>
                <a:uFillTx/>
                <a:latin typeface="Arial"/>
                <a:ea typeface="+mn-ea"/>
                <a:cs typeface="Arial"/>
              </a:rPr>
              <a:t> </a:t>
            </a:r>
            <a:r>
              <a:rPr kumimoji="0" lang="en-US" sz="1200" b="0" i="0" u="none" strike="noStrike" kern="1200" cap="none" spc="-10" normalizeH="0" baseline="0" noProof="0" dirty="0">
                <a:ln>
                  <a:noFill/>
                </a:ln>
                <a:solidFill>
                  <a:srgbClr val="FFFFFF"/>
                </a:solidFill>
                <a:effectLst/>
                <a:uLnTx/>
                <a:uFillTx/>
                <a:latin typeface="Arial"/>
                <a:ea typeface="+mn-ea"/>
                <a:cs typeface="Arial"/>
              </a:rPr>
              <a:t>week</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due</a:t>
            </a:r>
            <a:r>
              <a:rPr kumimoji="0" lang="en-US" sz="1200" b="0" i="0" u="none" strike="noStrike" kern="1200" cap="none" spc="2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to</a:t>
            </a:r>
            <a:r>
              <a:rPr kumimoji="0" lang="en-US" sz="1200" b="0" i="0" u="none" strike="noStrike" kern="1200" cap="none" spc="0" normalizeH="0" baseline="0" noProof="0" dirty="0">
                <a:ln>
                  <a:noFill/>
                </a:ln>
                <a:solidFill>
                  <a:srgbClr val="FFFFFF"/>
                </a:solidFill>
                <a:effectLst/>
                <a:uLnTx/>
                <a:uFillTx/>
                <a:latin typeface="Arial"/>
                <a:ea typeface="+mn-ea"/>
                <a:cs typeface="Arial"/>
              </a:rPr>
              <a:t> </a:t>
            </a:r>
            <a:r>
              <a:rPr kumimoji="0" lang="en-US" sz="1200" b="0" i="0" u="none" strike="noStrike" kern="1200" cap="none" spc="-5" normalizeH="0" baseline="0" noProof="0" dirty="0">
                <a:ln>
                  <a:noFill/>
                </a:ln>
                <a:solidFill>
                  <a:srgbClr val="FFFFFF"/>
                </a:solidFill>
                <a:effectLst/>
                <a:uLnTx/>
                <a:uFillTx/>
                <a:latin typeface="Arial"/>
                <a:ea typeface="+mn-ea"/>
                <a:cs typeface="Arial"/>
              </a:rPr>
              <a:t>COPD</a:t>
            </a:r>
            <a:endParaRPr kumimoji="0" lang="en-US" sz="1200" b="0" i="0" u="none" strike="noStrike" kern="1200" cap="none" spc="0" normalizeH="0" baseline="0" noProof="0" dirty="0">
              <a:ln>
                <a:noFill/>
              </a:ln>
              <a:solidFill>
                <a:prstClr val="white"/>
              </a:solidFill>
              <a:effectLst/>
              <a:uLnTx/>
              <a:uFillTx/>
              <a:latin typeface="Arial"/>
              <a:ea typeface="+mn-ea"/>
              <a:cs typeface="Arial"/>
            </a:endParaRPr>
          </a:p>
        </p:txBody>
      </p:sp>
      <p:grpSp>
        <p:nvGrpSpPr>
          <p:cNvPr id="12" name="Group 11">
            <a:extLst>
              <a:ext uri="{FF2B5EF4-FFF2-40B4-BE49-F238E27FC236}">
                <a16:creationId xmlns:a16="http://schemas.microsoft.com/office/drawing/2014/main" id="{2D24B0B9-1E5B-0EA0-B725-E6A4FA61ADD3}"/>
              </a:ext>
            </a:extLst>
          </p:cNvPr>
          <p:cNvGrpSpPr/>
          <p:nvPr/>
        </p:nvGrpSpPr>
        <p:grpSpPr>
          <a:xfrm>
            <a:off x="7960462" y="1331306"/>
            <a:ext cx="3158656" cy="137160"/>
            <a:chOff x="7960462" y="1331306"/>
            <a:chExt cx="3158656" cy="137160"/>
          </a:xfrm>
        </p:grpSpPr>
        <p:sp>
          <p:nvSpPr>
            <p:cNvPr id="8" name="object 38">
              <a:extLst>
                <a:ext uri="{FF2B5EF4-FFF2-40B4-BE49-F238E27FC236}">
                  <a16:creationId xmlns:a16="http://schemas.microsoft.com/office/drawing/2014/main" id="{ECC59FD2-8AD5-19CB-3E12-4FDEA9908243}"/>
                </a:ext>
              </a:extLst>
            </p:cNvPr>
            <p:cNvSpPr/>
            <p:nvPr/>
          </p:nvSpPr>
          <p:spPr>
            <a:xfrm>
              <a:off x="7960462" y="1331306"/>
              <a:ext cx="137160" cy="137160"/>
            </a:xfrm>
            <a:custGeom>
              <a:avLst/>
              <a:gdLst/>
              <a:ahLst/>
              <a:cxnLst/>
              <a:rect l="l" t="t" r="r" b="b"/>
              <a:pathLst>
                <a:path w="76200" h="76200">
                  <a:moveTo>
                    <a:pt x="76200" y="0"/>
                  </a:moveTo>
                  <a:lnTo>
                    <a:pt x="0" y="0"/>
                  </a:lnTo>
                  <a:lnTo>
                    <a:pt x="0" y="76200"/>
                  </a:lnTo>
                  <a:lnTo>
                    <a:pt x="76200" y="76200"/>
                  </a:lnTo>
                  <a:lnTo>
                    <a:pt x="76200" y="0"/>
                  </a:lnTo>
                  <a:close/>
                </a:path>
              </a:pathLst>
            </a:custGeom>
            <a:solidFill>
              <a:schemeClr val="accent1"/>
            </a:solidFill>
            <a:ln>
              <a:solidFill>
                <a:schemeClr val="bg1"/>
              </a:solidFill>
            </a:ln>
          </p:spPr>
          <p:txBody>
            <a:bodyPr wrap="none" lIns="32004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Absenteeism</a:t>
              </a: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 name="object 38">
              <a:extLst>
                <a:ext uri="{FF2B5EF4-FFF2-40B4-BE49-F238E27FC236}">
                  <a16:creationId xmlns:a16="http://schemas.microsoft.com/office/drawing/2014/main" id="{E6020D29-04D4-4710-45F3-057814783B6D}"/>
                </a:ext>
              </a:extLst>
            </p:cNvPr>
            <p:cNvSpPr/>
            <p:nvPr/>
          </p:nvSpPr>
          <p:spPr>
            <a:xfrm>
              <a:off x="9540784" y="1331306"/>
              <a:ext cx="137160" cy="137160"/>
            </a:xfrm>
            <a:custGeom>
              <a:avLst/>
              <a:gdLst/>
              <a:ahLst/>
              <a:cxnLst/>
              <a:rect l="l" t="t" r="r" b="b"/>
              <a:pathLst>
                <a:path w="76200" h="76200">
                  <a:moveTo>
                    <a:pt x="76200" y="0"/>
                  </a:moveTo>
                  <a:lnTo>
                    <a:pt x="0" y="0"/>
                  </a:lnTo>
                  <a:lnTo>
                    <a:pt x="0" y="76200"/>
                  </a:lnTo>
                  <a:lnTo>
                    <a:pt x="76200" y="76200"/>
                  </a:lnTo>
                  <a:lnTo>
                    <a:pt x="76200" y="0"/>
                  </a:lnTo>
                  <a:close/>
                </a:path>
              </a:pathLst>
            </a:custGeom>
            <a:solidFill>
              <a:schemeClr val="accent2"/>
            </a:solidFill>
            <a:ln>
              <a:solidFill>
                <a:schemeClr val="bg1"/>
              </a:solidFill>
            </a:ln>
          </p:spPr>
          <p:txBody>
            <a:bodyPr wrap="none" lIns="32004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Presentism</a:t>
              </a: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 name="object 38">
              <a:extLst>
                <a:ext uri="{FF2B5EF4-FFF2-40B4-BE49-F238E27FC236}">
                  <a16:creationId xmlns:a16="http://schemas.microsoft.com/office/drawing/2014/main" id="{D7CD508B-0CFD-E358-2754-28453C3C8EE3}"/>
                </a:ext>
              </a:extLst>
            </p:cNvPr>
            <p:cNvSpPr/>
            <p:nvPr/>
          </p:nvSpPr>
          <p:spPr>
            <a:xfrm>
              <a:off x="10981958" y="1331306"/>
              <a:ext cx="137160" cy="137160"/>
            </a:xfrm>
            <a:custGeom>
              <a:avLst/>
              <a:gdLst/>
              <a:ahLst/>
              <a:cxnLst/>
              <a:rect l="l" t="t" r="r" b="b"/>
              <a:pathLst>
                <a:path w="76200" h="76200">
                  <a:moveTo>
                    <a:pt x="76200" y="0"/>
                  </a:moveTo>
                  <a:lnTo>
                    <a:pt x="0" y="0"/>
                  </a:lnTo>
                  <a:lnTo>
                    <a:pt x="0" y="76200"/>
                  </a:lnTo>
                  <a:lnTo>
                    <a:pt x="76200" y="76200"/>
                  </a:lnTo>
                  <a:lnTo>
                    <a:pt x="76200" y="0"/>
                  </a:lnTo>
                  <a:close/>
                </a:path>
              </a:pathLst>
            </a:custGeom>
            <a:solidFill>
              <a:schemeClr val="accent3"/>
            </a:solidFill>
            <a:ln>
              <a:solidFill>
                <a:schemeClr val="bg1"/>
              </a:solidFill>
            </a:ln>
          </p:spPr>
          <p:txBody>
            <a:bodyPr wrap="none" lIns="320040" tIns="0" rIns="0" bIns="0" rtlCol="0" anchor="ctr" anchorCtr="0"/>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5" normalizeH="0" baseline="0" noProof="0" dirty="0">
                  <a:ln>
                    <a:noFill/>
                  </a:ln>
                  <a:solidFill>
                    <a:srgbClr val="000000"/>
                  </a:solidFill>
                  <a:effectLst/>
                  <a:uLnTx/>
                  <a:uFillTx/>
                  <a:latin typeface="Arial"/>
                  <a:ea typeface="+mn-ea"/>
                  <a:cs typeface="Arial"/>
                </a:rPr>
                <a:t>Activities</a:t>
              </a: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54" name="Group 53">
            <a:extLst>
              <a:ext uri="{FF2B5EF4-FFF2-40B4-BE49-F238E27FC236}">
                <a16:creationId xmlns:a16="http://schemas.microsoft.com/office/drawing/2014/main" id="{B6F08563-EEE8-7843-726E-6F3CC74F0CCE}"/>
              </a:ext>
            </a:extLst>
          </p:cNvPr>
          <p:cNvGrpSpPr/>
          <p:nvPr/>
        </p:nvGrpSpPr>
        <p:grpSpPr>
          <a:xfrm>
            <a:off x="406997" y="1620303"/>
            <a:ext cx="5490228" cy="2782625"/>
            <a:chOff x="406997" y="1575038"/>
            <a:chExt cx="5490228" cy="2782625"/>
          </a:xfrm>
        </p:grpSpPr>
        <p:sp>
          <p:nvSpPr>
            <p:cNvPr id="31" name="object 6">
              <a:extLst>
                <a:ext uri="{FF2B5EF4-FFF2-40B4-BE49-F238E27FC236}">
                  <a16:creationId xmlns:a16="http://schemas.microsoft.com/office/drawing/2014/main" id="{426EC656-4903-33C9-D88C-90BEC2772D30}"/>
                </a:ext>
              </a:extLst>
            </p:cNvPr>
            <p:cNvSpPr/>
            <p:nvPr/>
          </p:nvSpPr>
          <p:spPr>
            <a:xfrm>
              <a:off x="1540873" y="3234689"/>
              <a:ext cx="3342407" cy="690360"/>
            </a:xfrm>
            <a:custGeom>
              <a:avLst/>
              <a:gdLst/>
              <a:ahLst/>
              <a:cxnLst/>
              <a:rect l="l" t="t" r="r" b="b"/>
              <a:pathLst>
                <a:path w="2382520" h="893445">
                  <a:moveTo>
                    <a:pt x="245364" y="626364"/>
                  </a:moveTo>
                  <a:lnTo>
                    <a:pt x="0" y="626364"/>
                  </a:lnTo>
                  <a:lnTo>
                    <a:pt x="0" y="893064"/>
                  </a:lnTo>
                  <a:lnTo>
                    <a:pt x="245364" y="893064"/>
                  </a:lnTo>
                  <a:lnTo>
                    <a:pt x="245364" y="626364"/>
                  </a:lnTo>
                  <a:close/>
                </a:path>
                <a:path w="2382520" h="893445">
                  <a:moveTo>
                    <a:pt x="1313688" y="350520"/>
                  </a:moveTo>
                  <a:lnTo>
                    <a:pt x="1068324" y="350520"/>
                  </a:lnTo>
                  <a:lnTo>
                    <a:pt x="1068324" y="893064"/>
                  </a:lnTo>
                  <a:lnTo>
                    <a:pt x="1313688" y="893064"/>
                  </a:lnTo>
                  <a:lnTo>
                    <a:pt x="1313688" y="350520"/>
                  </a:lnTo>
                  <a:close/>
                </a:path>
                <a:path w="2382520" h="893445">
                  <a:moveTo>
                    <a:pt x="2382012" y="0"/>
                  </a:moveTo>
                  <a:lnTo>
                    <a:pt x="2135124" y="0"/>
                  </a:lnTo>
                  <a:lnTo>
                    <a:pt x="2135124" y="893064"/>
                  </a:lnTo>
                  <a:lnTo>
                    <a:pt x="2382012" y="893064"/>
                  </a:lnTo>
                  <a:lnTo>
                    <a:pt x="2382012" y="0"/>
                  </a:lnTo>
                  <a:close/>
                </a:path>
              </a:pathLst>
            </a:custGeom>
            <a:solidFill>
              <a:schemeClr val="accent1"/>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2" name="object 7">
              <a:extLst>
                <a:ext uri="{FF2B5EF4-FFF2-40B4-BE49-F238E27FC236}">
                  <a16:creationId xmlns:a16="http://schemas.microsoft.com/office/drawing/2014/main" id="{DBDC2C80-A11B-F99D-CA43-CA3C4FD26860}"/>
                </a:ext>
              </a:extLst>
            </p:cNvPr>
            <p:cNvSpPr/>
            <p:nvPr/>
          </p:nvSpPr>
          <p:spPr>
            <a:xfrm>
              <a:off x="1979163" y="2963844"/>
              <a:ext cx="3342407" cy="961205"/>
            </a:xfrm>
            <a:custGeom>
              <a:avLst/>
              <a:gdLst/>
              <a:ahLst/>
              <a:cxnLst/>
              <a:rect l="l" t="t" r="r" b="b"/>
              <a:pathLst>
                <a:path w="2382520" h="1243964">
                  <a:moveTo>
                    <a:pt x="245364" y="509016"/>
                  </a:moveTo>
                  <a:lnTo>
                    <a:pt x="0" y="509016"/>
                  </a:lnTo>
                  <a:lnTo>
                    <a:pt x="0" y="1243584"/>
                  </a:lnTo>
                  <a:lnTo>
                    <a:pt x="245364" y="1243584"/>
                  </a:lnTo>
                  <a:lnTo>
                    <a:pt x="245364" y="509016"/>
                  </a:lnTo>
                  <a:close/>
                </a:path>
                <a:path w="2382520" h="1243964">
                  <a:moveTo>
                    <a:pt x="1313688" y="266700"/>
                  </a:moveTo>
                  <a:lnTo>
                    <a:pt x="1068324" y="266700"/>
                  </a:lnTo>
                  <a:lnTo>
                    <a:pt x="1068324" y="1243584"/>
                  </a:lnTo>
                  <a:lnTo>
                    <a:pt x="1313688" y="1243584"/>
                  </a:lnTo>
                  <a:lnTo>
                    <a:pt x="1313688" y="266700"/>
                  </a:lnTo>
                  <a:close/>
                </a:path>
                <a:path w="2382520" h="1243964">
                  <a:moveTo>
                    <a:pt x="2382012" y="0"/>
                  </a:moveTo>
                  <a:lnTo>
                    <a:pt x="2135124" y="0"/>
                  </a:lnTo>
                  <a:lnTo>
                    <a:pt x="2135124" y="1243584"/>
                  </a:lnTo>
                  <a:lnTo>
                    <a:pt x="2382012" y="1243584"/>
                  </a:lnTo>
                  <a:lnTo>
                    <a:pt x="2382012" y="0"/>
                  </a:lnTo>
                  <a:close/>
                </a:path>
              </a:pathLst>
            </a:custGeom>
            <a:solidFill>
              <a:schemeClr val="accent2"/>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3" name="object 8">
              <a:extLst>
                <a:ext uri="{FF2B5EF4-FFF2-40B4-BE49-F238E27FC236}">
                  <a16:creationId xmlns:a16="http://schemas.microsoft.com/office/drawing/2014/main" id="{6F791EF7-9CE3-0A00-B7CF-F6E13C5C0B6E}"/>
                </a:ext>
              </a:extLst>
            </p:cNvPr>
            <p:cNvSpPr/>
            <p:nvPr/>
          </p:nvSpPr>
          <p:spPr>
            <a:xfrm>
              <a:off x="2417453" y="2085364"/>
              <a:ext cx="3342407" cy="1839490"/>
            </a:xfrm>
            <a:custGeom>
              <a:avLst/>
              <a:gdLst/>
              <a:ahLst/>
              <a:cxnLst/>
              <a:rect l="l" t="t" r="r" b="b"/>
              <a:pathLst>
                <a:path w="2382520" h="2380615">
                  <a:moveTo>
                    <a:pt x="246888" y="1487424"/>
                  </a:moveTo>
                  <a:lnTo>
                    <a:pt x="0" y="1487424"/>
                  </a:lnTo>
                  <a:lnTo>
                    <a:pt x="0" y="2380488"/>
                  </a:lnTo>
                  <a:lnTo>
                    <a:pt x="246888" y="2380488"/>
                  </a:lnTo>
                  <a:lnTo>
                    <a:pt x="246888" y="1487424"/>
                  </a:lnTo>
                  <a:close/>
                </a:path>
                <a:path w="2382520" h="2380615">
                  <a:moveTo>
                    <a:pt x="1313688" y="1094232"/>
                  </a:moveTo>
                  <a:lnTo>
                    <a:pt x="1068324" y="1094232"/>
                  </a:lnTo>
                  <a:lnTo>
                    <a:pt x="1068324" y="2380488"/>
                  </a:lnTo>
                  <a:lnTo>
                    <a:pt x="1313688" y="2380488"/>
                  </a:lnTo>
                  <a:lnTo>
                    <a:pt x="1313688" y="1094232"/>
                  </a:lnTo>
                  <a:close/>
                </a:path>
                <a:path w="2382520" h="2380615">
                  <a:moveTo>
                    <a:pt x="2382012" y="0"/>
                  </a:moveTo>
                  <a:lnTo>
                    <a:pt x="2135124" y="0"/>
                  </a:lnTo>
                  <a:lnTo>
                    <a:pt x="2135124" y="2380488"/>
                  </a:lnTo>
                  <a:lnTo>
                    <a:pt x="2382012" y="2380488"/>
                  </a:lnTo>
                  <a:lnTo>
                    <a:pt x="2382012" y="0"/>
                  </a:lnTo>
                  <a:close/>
                </a:path>
              </a:pathLst>
            </a:custGeom>
            <a:solidFill>
              <a:schemeClr val="accent3"/>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4" name="object 9">
              <a:extLst>
                <a:ext uri="{FF2B5EF4-FFF2-40B4-BE49-F238E27FC236}">
                  <a16:creationId xmlns:a16="http://schemas.microsoft.com/office/drawing/2014/main" id="{696401C3-CB46-6837-4C56-D6CD70376780}"/>
                </a:ext>
              </a:extLst>
            </p:cNvPr>
            <p:cNvSpPr/>
            <p:nvPr/>
          </p:nvSpPr>
          <p:spPr>
            <a:xfrm>
              <a:off x="1338831" y="1665555"/>
              <a:ext cx="4558394" cy="2295313"/>
            </a:xfrm>
            <a:custGeom>
              <a:avLst/>
              <a:gdLst/>
              <a:ahLst/>
              <a:cxnLst/>
              <a:rect l="l" t="t" r="r" b="b"/>
              <a:pathLst>
                <a:path w="3249295" h="2970529">
                  <a:moveTo>
                    <a:pt x="45719" y="2924555"/>
                  </a:moveTo>
                  <a:lnTo>
                    <a:pt x="45719" y="0"/>
                  </a:lnTo>
                </a:path>
                <a:path w="3249295" h="2970529">
                  <a:moveTo>
                    <a:pt x="0" y="2924555"/>
                  </a:moveTo>
                  <a:lnTo>
                    <a:pt x="45719" y="2924555"/>
                  </a:lnTo>
                </a:path>
                <a:path w="3249295" h="2970529">
                  <a:moveTo>
                    <a:pt x="0" y="2506979"/>
                  </a:moveTo>
                  <a:lnTo>
                    <a:pt x="45719" y="2506979"/>
                  </a:lnTo>
                </a:path>
                <a:path w="3249295" h="2970529">
                  <a:moveTo>
                    <a:pt x="0" y="2089403"/>
                  </a:moveTo>
                  <a:lnTo>
                    <a:pt x="45719" y="2089403"/>
                  </a:lnTo>
                </a:path>
                <a:path w="3249295" h="2970529">
                  <a:moveTo>
                    <a:pt x="0" y="1671827"/>
                  </a:moveTo>
                  <a:lnTo>
                    <a:pt x="45719" y="1671827"/>
                  </a:lnTo>
                </a:path>
                <a:path w="3249295" h="2970529">
                  <a:moveTo>
                    <a:pt x="0" y="1252727"/>
                  </a:moveTo>
                  <a:lnTo>
                    <a:pt x="45719" y="1252727"/>
                  </a:lnTo>
                </a:path>
                <a:path w="3249295" h="2970529">
                  <a:moveTo>
                    <a:pt x="0" y="835151"/>
                  </a:moveTo>
                  <a:lnTo>
                    <a:pt x="45719" y="835151"/>
                  </a:lnTo>
                </a:path>
                <a:path w="3249295" h="2970529">
                  <a:moveTo>
                    <a:pt x="0" y="417575"/>
                  </a:moveTo>
                  <a:lnTo>
                    <a:pt x="45719" y="417575"/>
                  </a:lnTo>
                </a:path>
                <a:path w="3249295" h="2970529">
                  <a:moveTo>
                    <a:pt x="0" y="0"/>
                  </a:moveTo>
                  <a:lnTo>
                    <a:pt x="45719" y="0"/>
                  </a:lnTo>
                </a:path>
                <a:path w="3249295" h="2970529">
                  <a:moveTo>
                    <a:pt x="45719" y="2924555"/>
                  </a:moveTo>
                  <a:lnTo>
                    <a:pt x="3249168" y="2924555"/>
                  </a:lnTo>
                </a:path>
                <a:path w="3249295" h="2970529">
                  <a:moveTo>
                    <a:pt x="45719" y="2924555"/>
                  </a:moveTo>
                  <a:lnTo>
                    <a:pt x="45719" y="2970275"/>
                  </a:lnTo>
                </a:path>
                <a:path w="3249295" h="2970529">
                  <a:moveTo>
                    <a:pt x="1114044" y="2924555"/>
                  </a:moveTo>
                  <a:lnTo>
                    <a:pt x="1114044" y="2970275"/>
                  </a:lnTo>
                </a:path>
                <a:path w="3249295" h="2970529">
                  <a:moveTo>
                    <a:pt x="2180844" y="2924555"/>
                  </a:moveTo>
                  <a:lnTo>
                    <a:pt x="2180844" y="2970275"/>
                  </a:lnTo>
                </a:path>
                <a:path w="3249295" h="2970529">
                  <a:moveTo>
                    <a:pt x="3249168" y="2924555"/>
                  </a:moveTo>
                  <a:lnTo>
                    <a:pt x="3249168" y="2970275"/>
                  </a:lnTo>
                </a:path>
              </a:pathLst>
            </a:custGeom>
            <a:ln w="19812">
              <a:solidFill>
                <a:schemeClr val="bg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object 10">
              <a:extLst>
                <a:ext uri="{FF2B5EF4-FFF2-40B4-BE49-F238E27FC236}">
                  <a16:creationId xmlns:a16="http://schemas.microsoft.com/office/drawing/2014/main" id="{9265FAF9-F44F-1794-33D5-10D6034B67E4}"/>
                </a:ext>
              </a:extLst>
            </p:cNvPr>
            <p:cNvSpPr txBox="1"/>
            <p:nvPr/>
          </p:nvSpPr>
          <p:spPr>
            <a:xfrm>
              <a:off x="911735" y="3835356"/>
              <a:ext cx="342080"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 name="object 11">
              <a:extLst>
                <a:ext uri="{FF2B5EF4-FFF2-40B4-BE49-F238E27FC236}">
                  <a16:creationId xmlns:a16="http://schemas.microsoft.com/office/drawing/2014/main" id="{2139869A-57DB-2D85-FC80-32BE21D2AA76}"/>
                </a:ext>
              </a:extLst>
            </p:cNvPr>
            <p:cNvSpPr txBox="1"/>
            <p:nvPr/>
          </p:nvSpPr>
          <p:spPr>
            <a:xfrm>
              <a:off x="911735" y="3512403"/>
              <a:ext cx="342080"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0" name="object 12">
              <a:extLst>
                <a:ext uri="{FF2B5EF4-FFF2-40B4-BE49-F238E27FC236}">
                  <a16:creationId xmlns:a16="http://schemas.microsoft.com/office/drawing/2014/main" id="{D457ABAF-BD25-05E9-2DCC-91A6BFA33F25}"/>
                </a:ext>
              </a:extLst>
            </p:cNvPr>
            <p:cNvSpPr txBox="1"/>
            <p:nvPr/>
          </p:nvSpPr>
          <p:spPr>
            <a:xfrm>
              <a:off x="792861" y="3189744"/>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1</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1" name="object 13">
              <a:extLst>
                <a:ext uri="{FF2B5EF4-FFF2-40B4-BE49-F238E27FC236}">
                  <a16:creationId xmlns:a16="http://schemas.microsoft.com/office/drawing/2014/main" id="{511B3792-2A5A-3C93-A867-3520AAD71D80}"/>
                </a:ext>
              </a:extLst>
            </p:cNvPr>
            <p:cNvSpPr txBox="1"/>
            <p:nvPr/>
          </p:nvSpPr>
          <p:spPr>
            <a:xfrm>
              <a:off x="792861" y="2866889"/>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1</a:t>
              </a:r>
              <a:r>
                <a:rPr kumimoji="0" sz="1200" b="0" i="0" u="none" strike="noStrike" kern="1200" cap="none" spc="-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2" name="object 14">
              <a:extLst>
                <a:ext uri="{FF2B5EF4-FFF2-40B4-BE49-F238E27FC236}">
                  <a16:creationId xmlns:a16="http://schemas.microsoft.com/office/drawing/2014/main" id="{33714276-82E0-0BA8-7A51-918655320012}"/>
                </a:ext>
              </a:extLst>
            </p:cNvPr>
            <p:cNvSpPr txBox="1"/>
            <p:nvPr/>
          </p:nvSpPr>
          <p:spPr>
            <a:xfrm>
              <a:off x="792861" y="2544034"/>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2</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3" name="object 15">
              <a:extLst>
                <a:ext uri="{FF2B5EF4-FFF2-40B4-BE49-F238E27FC236}">
                  <a16:creationId xmlns:a16="http://schemas.microsoft.com/office/drawing/2014/main" id="{164D5DE8-A016-3D16-3D99-1FC8B2ADACA7}"/>
                </a:ext>
              </a:extLst>
            </p:cNvPr>
            <p:cNvSpPr txBox="1"/>
            <p:nvPr/>
          </p:nvSpPr>
          <p:spPr>
            <a:xfrm>
              <a:off x="792861" y="2221081"/>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2</a:t>
              </a:r>
              <a:r>
                <a:rPr kumimoji="0" sz="1200" b="0" i="0" u="none" strike="noStrike" kern="1200" cap="none" spc="-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4" name="object 16">
              <a:extLst>
                <a:ext uri="{FF2B5EF4-FFF2-40B4-BE49-F238E27FC236}">
                  <a16:creationId xmlns:a16="http://schemas.microsoft.com/office/drawing/2014/main" id="{4891E895-913F-AC1D-7693-6CB05750BB73}"/>
                </a:ext>
              </a:extLst>
            </p:cNvPr>
            <p:cNvSpPr txBox="1"/>
            <p:nvPr/>
          </p:nvSpPr>
          <p:spPr>
            <a:xfrm>
              <a:off x="792861" y="1898227"/>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3</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5" name="object 17">
              <a:extLst>
                <a:ext uri="{FF2B5EF4-FFF2-40B4-BE49-F238E27FC236}">
                  <a16:creationId xmlns:a16="http://schemas.microsoft.com/office/drawing/2014/main" id="{15614E27-05E5-7803-8B88-867E00BCC8BA}"/>
                </a:ext>
              </a:extLst>
            </p:cNvPr>
            <p:cNvSpPr txBox="1"/>
            <p:nvPr/>
          </p:nvSpPr>
          <p:spPr>
            <a:xfrm>
              <a:off x="792861" y="1575038"/>
              <a:ext cx="463233"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0" normalizeH="0" baseline="0" noProof="0" dirty="0">
                  <a:ln>
                    <a:noFill/>
                  </a:ln>
                  <a:solidFill>
                    <a:srgbClr val="000000"/>
                  </a:solidFill>
                  <a:effectLst/>
                  <a:uLnTx/>
                  <a:uFillTx/>
                  <a:latin typeface="Arial"/>
                  <a:ea typeface="+mn-ea"/>
                  <a:cs typeface="Arial"/>
                </a:rPr>
                <a:t>3</a:t>
              </a:r>
              <a:r>
                <a:rPr kumimoji="0" sz="1200" b="0" i="0" u="none" strike="noStrike" kern="1200" cap="none" spc="0" normalizeH="0" baseline="0" noProof="0" dirty="0">
                  <a:ln>
                    <a:noFill/>
                  </a:ln>
                  <a:solidFill>
                    <a:srgbClr val="000000"/>
                  </a:solidFill>
                  <a:effectLst/>
                  <a:uLnTx/>
                  <a:uFillTx/>
                  <a:latin typeface="Arial"/>
                  <a:ea typeface="+mn-ea"/>
                  <a:cs typeface="Arial"/>
                </a:rPr>
                <a:t>5%</a:t>
              </a:r>
            </a:p>
          </p:txBody>
        </p:sp>
        <p:sp>
          <p:nvSpPr>
            <p:cNvPr id="26" name="object 18">
              <a:extLst>
                <a:ext uri="{FF2B5EF4-FFF2-40B4-BE49-F238E27FC236}">
                  <a16:creationId xmlns:a16="http://schemas.microsoft.com/office/drawing/2014/main" id="{9D364CE2-A125-E197-DE0D-EDA0B910B527}"/>
                </a:ext>
              </a:extLst>
            </p:cNvPr>
            <p:cNvSpPr txBox="1"/>
            <p:nvPr/>
          </p:nvSpPr>
          <p:spPr>
            <a:xfrm>
              <a:off x="1883381" y="3979670"/>
              <a:ext cx="437619" cy="197490"/>
            </a:xfrm>
            <a:prstGeom prst="rect">
              <a:avLst/>
            </a:prstGeom>
          </p:spPr>
          <p:txBody>
            <a:bodyPr vert="horz" wrap="non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tab pos="1080135"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45–54</a:t>
              </a:r>
            </a:p>
          </p:txBody>
        </p:sp>
        <p:sp>
          <p:nvSpPr>
            <p:cNvPr id="27" name="object 19">
              <a:extLst>
                <a:ext uri="{FF2B5EF4-FFF2-40B4-BE49-F238E27FC236}">
                  <a16:creationId xmlns:a16="http://schemas.microsoft.com/office/drawing/2014/main" id="{2FB5E3AD-6A04-E4ED-FE26-E63CE3ABD9B5}"/>
                </a:ext>
              </a:extLst>
            </p:cNvPr>
            <p:cNvSpPr txBox="1"/>
            <p:nvPr/>
          </p:nvSpPr>
          <p:spPr>
            <a:xfrm>
              <a:off x="4918777" y="3979670"/>
              <a:ext cx="437620" cy="197490"/>
            </a:xfrm>
            <a:prstGeom prst="rect">
              <a:avLst/>
            </a:prstGeom>
          </p:spPr>
          <p:txBody>
            <a:bodyPr vert="horz" wrap="non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65–67</a:t>
              </a:r>
            </a:p>
          </p:txBody>
        </p:sp>
        <p:sp>
          <p:nvSpPr>
            <p:cNvPr id="28" name="object 20">
              <a:extLst>
                <a:ext uri="{FF2B5EF4-FFF2-40B4-BE49-F238E27FC236}">
                  <a16:creationId xmlns:a16="http://schemas.microsoft.com/office/drawing/2014/main" id="{908EE25B-0D4F-7A4E-D403-584C94927DA9}"/>
                </a:ext>
              </a:extLst>
            </p:cNvPr>
            <p:cNvSpPr txBox="1"/>
            <p:nvPr/>
          </p:nvSpPr>
          <p:spPr>
            <a:xfrm>
              <a:off x="406997" y="1918085"/>
              <a:ext cx="195631" cy="1638730"/>
            </a:xfrm>
            <a:prstGeom prst="rect">
              <a:avLst/>
            </a:prstGeom>
          </p:spPr>
          <p:txBody>
            <a:bodyPr vert="vert270" wrap="square" lIns="0" tIns="0" rIns="0" bIns="0" rtlCol="0">
              <a:spAutoFit/>
            </a:bodyPr>
            <a:lstStyle/>
            <a:p>
              <a:pPr marL="12700" marR="0" lvl="0" indent="0" algn="ctr" defTabSz="1219170" rtl="0" eaLnBrk="1" fontAlgn="auto" latinLnBrk="0" hangingPunct="1">
                <a:lnSpc>
                  <a:spcPts val="165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a:t>
              </a:r>
              <a:r>
                <a:rPr kumimoji="0" sz="1100" b="1" i="0" u="none" strike="noStrike" kern="1200" cap="none" spc="-25" normalizeH="0" baseline="0" noProof="0" dirty="0">
                  <a:ln>
                    <a:noFill/>
                  </a:ln>
                  <a:solidFill>
                    <a:srgbClr val="000000"/>
                  </a:solidFill>
                  <a:effectLst/>
                  <a:uLnTx/>
                  <a:uFillTx/>
                  <a:latin typeface="Arial"/>
                  <a:ea typeface="+mn-ea"/>
                  <a:cs typeface="Arial"/>
                </a:rPr>
                <a:t> </a:t>
              </a:r>
              <a:r>
                <a:rPr kumimoji="0" sz="1100" b="1" i="0" u="none" strike="noStrike" kern="1200" cap="none" spc="-5" normalizeH="0" baseline="0" noProof="0" dirty="0">
                  <a:ln>
                    <a:noFill/>
                  </a:ln>
                  <a:solidFill>
                    <a:srgbClr val="000000"/>
                  </a:solidFill>
                  <a:effectLst/>
                  <a:uLnTx/>
                  <a:uFillTx/>
                  <a:latin typeface="Arial"/>
                  <a:ea typeface="+mn-ea"/>
                  <a:cs typeface="Arial"/>
                </a:rPr>
                <a:t>of</a:t>
              </a:r>
              <a:r>
                <a:rPr kumimoji="0" sz="1100" b="1" i="0" u="none" strike="noStrike" kern="1200" cap="none" spc="-10" normalizeH="0" baseline="0" noProof="0" dirty="0">
                  <a:ln>
                    <a:noFill/>
                  </a:ln>
                  <a:solidFill>
                    <a:srgbClr val="000000"/>
                  </a:solidFill>
                  <a:effectLst/>
                  <a:uLnTx/>
                  <a:uFillTx/>
                  <a:latin typeface="Arial"/>
                  <a:ea typeface="+mn-ea"/>
                  <a:cs typeface="Arial"/>
                </a:rPr>
                <a:t> </a:t>
              </a:r>
              <a:r>
                <a:rPr kumimoji="0" sz="1100" b="1" i="0" u="none" strike="noStrike" kern="1200" cap="none" spc="-5" normalizeH="0" baseline="0" noProof="0" dirty="0">
                  <a:ln>
                    <a:noFill/>
                  </a:ln>
                  <a:solidFill>
                    <a:srgbClr val="000000"/>
                  </a:solidFill>
                  <a:effectLst/>
                  <a:uLnTx/>
                  <a:uFillTx/>
                  <a:latin typeface="Arial"/>
                  <a:ea typeface="+mn-ea"/>
                  <a:cs typeface="Arial"/>
                </a:rPr>
                <a:t>patients</a:t>
              </a:r>
              <a:r>
                <a:rPr kumimoji="0" sz="1100" b="1" i="0" u="none" strike="noStrike" kern="1200" cap="none" spc="-30" normalizeH="0" baseline="0" noProof="0" dirty="0">
                  <a:ln>
                    <a:noFill/>
                  </a:ln>
                  <a:solidFill>
                    <a:srgbClr val="000000"/>
                  </a:solidFill>
                  <a:effectLst/>
                  <a:uLnTx/>
                  <a:uFillTx/>
                  <a:latin typeface="Arial"/>
                  <a:ea typeface="+mn-ea"/>
                  <a:cs typeface="Arial"/>
                </a:rPr>
                <a:t> </a:t>
              </a:r>
              <a:r>
                <a:rPr kumimoji="0" sz="1100" b="1" i="0" u="none" strike="noStrike" kern="1200" cap="none" spc="0" normalizeH="0" baseline="0" noProof="0" dirty="0">
                  <a:ln>
                    <a:noFill/>
                  </a:ln>
                  <a:solidFill>
                    <a:srgbClr val="000000"/>
                  </a:solidFill>
                  <a:effectLst/>
                  <a:uLnTx/>
                  <a:uFillTx/>
                  <a:latin typeface="Arial"/>
                  <a:ea typeface="+mn-ea"/>
                  <a:cs typeface="Arial"/>
                </a:rPr>
                <a:t>affected</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9" name="object 18">
              <a:extLst>
                <a:ext uri="{FF2B5EF4-FFF2-40B4-BE49-F238E27FC236}">
                  <a16:creationId xmlns:a16="http://schemas.microsoft.com/office/drawing/2014/main" id="{177B2ACA-939C-C762-69F2-27664522DDD5}"/>
                </a:ext>
              </a:extLst>
            </p:cNvPr>
            <p:cNvSpPr txBox="1"/>
            <p:nvPr/>
          </p:nvSpPr>
          <p:spPr>
            <a:xfrm>
              <a:off x="2981276" y="4188386"/>
              <a:ext cx="1268617" cy="169277"/>
            </a:xfrm>
            <a:prstGeom prst="rect">
              <a:avLst/>
            </a:prstGeom>
          </p:spPr>
          <p:txBody>
            <a:bodyPr vert="horz" wrap="none" lIns="0" tIns="0" rIns="0" bIns="0" rtlCol="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15" normalizeH="0" baseline="0" noProof="0" dirty="0">
                  <a:ln>
                    <a:noFill/>
                  </a:ln>
                  <a:solidFill>
                    <a:srgbClr val="000000"/>
                  </a:solidFill>
                  <a:effectLst/>
                  <a:uLnTx/>
                  <a:uFillTx/>
                  <a:latin typeface="Arial"/>
                  <a:ea typeface="+mn-ea"/>
                  <a:cs typeface="Arial"/>
                </a:rPr>
                <a:t>Patient</a:t>
              </a:r>
              <a:r>
                <a:rPr kumimoji="0" sz="1100" b="1" i="0" u="none" strike="noStrike" kern="1200" cap="none" spc="-50" normalizeH="0" baseline="0" noProof="0" dirty="0">
                  <a:ln>
                    <a:noFill/>
                  </a:ln>
                  <a:solidFill>
                    <a:srgbClr val="000000"/>
                  </a:solidFill>
                  <a:effectLst/>
                  <a:uLnTx/>
                  <a:uFillTx/>
                  <a:latin typeface="Arial"/>
                  <a:ea typeface="+mn-ea"/>
                  <a:cs typeface="Arial"/>
                </a:rPr>
                <a:t> </a:t>
              </a:r>
              <a:r>
                <a:rPr kumimoji="0" sz="1100" b="1" i="0" u="none" strike="noStrike" kern="1200" cap="none" spc="15" normalizeH="0" baseline="0" noProof="0" dirty="0">
                  <a:ln>
                    <a:noFill/>
                  </a:ln>
                  <a:solidFill>
                    <a:srgbClr val="000000"/>
                  </a:solidFill>
                  <a:effectLst/>
                  <a:uLnTx/>
                  <a:uFillTx/>
                  <a:latin typeface="Arial"/>
                  <a:ea typeface="+mn-ea"/>
                  <a:cs typeface="Arial"/>
                </a:rPr>
                <a:t>age</a:t>
              </a:r>
              <a:r>
                <a:rPr kumimoji="0" sz="1100" b="1" i="0" u="none" strike="noStrike" kern="1200" cap="none" spc="-40" normalizeH="0" baseline="0" noProof="0" dirty="0">
                  <a:ln>
                    <a:noFill/>
                  </a:ln>
                  <a:solidFill>
                    <a:srgbClr val="000000"/>
                  </a:solidFill>
                  <a:effectLst/>
                  <a:uLnTx/>
                  <a:uFillTx/>
                  <a:latin typeface="Arial"/>
                  <a:ea typeface="+mn-ea"/>
                  <a:cs typeface="Arial"/>
                </a:rPr>
                <a:t> </a:t>
              </a:r>
              <a:r>
                <a:rPr kumimoji="0" sz="1100" b="1" i="0" u="none" strike="noStrike" kern="1200" cap="none" spc="10" normalizeH="0" baseline="0" noProof="0" dirty="0">
                  <a:ln>
                    <a:noFill/>
                  </a:ln>
                  <a:solidFill>
                    <a:srgbClr val="000000"/>
                  </a:solidFill>
                  <a:effectLst/>
                  <a:uLnTx/>
                  <a:uFillTx/>
                  <a:latin typeface="Arial"/>
                  <a:ea typeface="+mn-ea"/>
                  <a:cs typeface="Arial"/>
                </a:rPr>
                <a:t>(years)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30" name="object 18">
              <a:extLst>
                <a:ext uri="{FF2B5EF4-FFF2-40B4-BE49-F238E27FC236}">
                  <a16:creationId xmlns:a16="http://schemas.microsoft.com/office/drawing/2014/main" id="{BCEFA332-CC1E-7588-3D0E-F19B725FF447}"/>
                </a:ext>
              </a:extLst>
            </p:cNvPr>
            <p:cNvSpPr txBox="1"/>
            <p:nvPr/>
          </p:nvSpPr>
          <p:spPr>
            <a:xfrm>
              <a:off x="3429407" y="3979670"/>
              <a:ext cx="437619" cy="197490"/>
            </a:xfrm>
            <a:prstGeom prst="rect">
              <a:avLst/>
            </a:prstGeom>
          </p:spPr>
          <p:txBody>
            <a:bodyPr vert="horz" wrap="non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tab pos="108013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55–64</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55" name="Group 54">
            <a:extLst>
              <a:ext uri="{FF2B5EF4-FFF2-40B4-BE49-F238E27FC236}">
                <a16:creationId xmlns:a16="http://schemas.microsoft.com/office/drawing/2014/main" id="{E2D3621F-3B6A-1345-36B6-78DB6E680428}"/>
              </a:ext>
            </a:extLst>
          </p:cNvPr>
          <p:cNvGrpSpPr/>
          <p:nvPr/>
        </p:nvGrpSpPr>
        <p:grpSpPr>
          <a:xfrm>
            <a:off x="6239916" y="1623966"/>
            <a:ext cx="5472926" cy="2795102"/>
            <a:chOff x="6239916" y="1578701"/>
            <a:chExt cx="5472926" cy="2795102"/>
          </a:xfrm>
        </p:grpSpPr>
        <p:sp>
          <p:nvSpPr>
            <p:cNvPr id="50" name="object 22">
              <a:extLst>
                <a:ext uri="{FF2B5EF4-FFF2-40B4-BE49-F238E27FC236}">
                  <a16:creationId xmlns:a16="http://schemas.microsoft.com/office/drawing/2014/main" id="{CAA2D2E3-CA9B-A22E-2EEE-1E91BCE99555}"/>
                </a:ext>
              </a:extLst>
            </p:cNvPr>
            <p:cNvSpPr/>
            <p:nvPr/>
          </p:nvSpPr>
          <p:spPr>
            <a:xfrm>
              <a:off x="7333989" y="3374797"/>
              <a:ext cx="3359345" cy="531222"/>
            </a:xfrm>
            <a:custGeom>
              <a:avLst/>
              <a:gdLst/>
              <a:ahLst/>
              <a:cxnLst/>
              <a:rect l="l" t="t" r="r" b="b"/>
              <a:pathLst>
                <a:path w="2533015" h="690879">
                  <a:moveTo>
                    <a:pt x="262128" y="507492"/>
                  </a:moveTo>
                  <a:lnTo>
                    <a:pt x="0" y="507492"/>
                  </a:lnTo>
                  <a:lnTo>
                    <a:pt x="0" y="690372"/>
                  </a:lnTo>
                  <a:lnTo>
                    <a:pt x="262128" y="690372"/>
                  </a:lnTo>
                  <a:lnTo>
                    <a:pt x="262128" y="507492"/>
                  </a:lnTo>
                  <a:close/>
                </a:path>
                <a:path w="2533015" h="690879">
                  <a:moveTo>
                    <a:pt x="1397508" y="0"/>
                  </a:moveTo>
                  <a:lnTo>
                    <a:pt x="1135380" y="0"/>
                  </a:lnTo>
                  <a:lnTo>
                    <a:pt x="1135380" y="690372"/>
                  </a:lnTo>
                  <a:lnTo>
                    <a:pt x="1397508" y="690372"/>
                  </a:lnTo>
                  <a:lnTo>
                    <a:pt x="1397508" y="0"/>
                  </a:lnTo>
                  <a:close/>
                </a:path>
                <a:path w="2533015" h="690879">
                  <a:moveTo>
                    <a:pt x="2532888" y="57912"/>
                  </a:moveTo>
                  <a:lnTo>
                    <a:pt x="2270760" y="57912"/>
                  </a:lnTo>
                  <a:lnTo>
                    <a:pt x="2270760" y="690372"/>
                  </a:lnTo>
                  <a:lnTo>
                    <a:pt x="2532888" y="690372"/>
                  </a:lnTo>
                  <a:lnTo>
                    <a:pt x="2532888" y="57912"/>
                  </a:lnTo>
                  <a:close/>
                </a:path>
              </a:pathLst>
            </a:custGeom>
            <a:solidFill>
              <a:schemeClr val="accent1"/>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1" name="object 23">
              <a:extLst>
                <a:ext uri="{FF2B5EF4-FFF2-40B4-BE49-F238E27FC236}">
                  <a16:creationId xmlns:a16="http://schemas.microsoft.com/office/drawing/2014/main" id="{43F0DD20-38D5-E1F4-CEF8-09D96670AD80}"/>
                </a:ext>
              </a:extLst>
            </p:cNvPr>
            <p:cNvSpPr/>
            <p:nvPr/>
          </p:nvSpPr>
          <p:spPr>
            <a:xfrm>
              <a:off x="7774603" y="2697489"/>
              <a:ext cx="3359345" cy="1208433"/>
            </a:xfrm>
            <a:custGeom>
              <a:avLst/>
              <a:gdLst/>
              <a:ahLst/>
              <a:cxnLst/>
              <a:rect l="l" t="t" r="r" b="b"/>
              <a:pathLst>
                <a:path w="2533015" h="1571625">
                  <a:moveTo>
                    <a:pt x="262128" y="1138428"/>
                  </a:moveTo>
                  <a:lnTo>
                    <a:pt x="0" y="1138428"/>
                  </a:lnTo>
                  <a:lnTo>
                    <a:pt x="0" y="1571244"/>
                  </a:lnTo>
                  <a:lnTo>
                    <a:pt x="262128" y="1571244"/>
                  </a:lnTo>
                  <a:lnTo>
                    <a:pt x="262128" y="1138428"/>
                  </a:lnTo>
                  <a:close/>
                </a:path>
                <a:path w="2533015" h="1571625">
                  <a:moveTo>
                    <a:pt x="1397508" y="175260"/>
                  </a:moveTo>
                  <a:lnTo>
                    <a:pt x="1135380" y="175260"/>
                  </a:lnTo>
                  <a:lnTo>
                    <a:pt x="1135380" y="1571244"/>
                  </a:lnTo>
                  <a:lnTo>
                    <a:pt x="1397508" y="1571244"/>
                  </a:lnTo>
                  <a:lnTo>
                    <a:pt x="1397508" y="175260"/>
                  </a:lnTo>
                  <a:close/>
                </a:path>
                <a:path w="2533015" h="1571625">
                  <a:moveTo>
                    <a:pt x="2532888" y="0"/>
                  </a:moveTo>
                  <a:lnTo>
                    <a:pt x="2270760" y="0"/>
                  </a:lnTo>
                  <a:lnTo>
                    <a:pt x="2270760" y="1571244"/>
                  </a:lnTo>
                  <a:lnTo>
                    <a:pt x="2532888" y="1571244"/>
                  </a:lnTo>
                  <a:lnTo>
                    <a:pt x="2532888" y="0"/>
                  </a:lnTo>
                  <a:close/>
                </a:path>
              </a:pathLst>
            </a:custGeom>
            <a:solidFill>
              <a:schemeClr val="accent2"/>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2" name="object 24">
              <a:extLst>
                <a:ext uri="{FF2B5EF4-FFF2-40B4-BE49-F238E27FC236}">
                  <a16:creationId xmlns:a16="http://schemas.microsoft.com/office/drawing/2014/main" id="{A64D1485-A618-3B6C-84E5-039FBD074FA3}"/>
                </a:ext>
              </a:extLst>
            </p:cNvPr>
            <p:cNvSpPr/>
            <p:nvPr/>
          </p:nvSpPr>
          <p:spPr>
            <a:xfrm>
              <a:off x="8215217" y="1840893"/>
              <a:ext cx="3357660" cy="2064833"/>
            </a:xfrm>
            <a:custGeom>
              <a:avLst/>
              <a:gdLst/>
              <a:ahLst/>
              <a:cxnLst/>
              <a:rect l="l" t="t" r="r" b="b"/>
              <a:pathLst>
                <a:path w="2531745" h="2685415">
                  <a:moveTo>
                    <a:pt x="262128" y="2194560"/>
                  </a:moveTo>
                  <a:lnTo>
                    <a:pt x="0" y="2194560"/>
                  </a:lnTo>
                  <a:lnTo>
                    <a:pt x="0" y="2685288"/>
                  </a:lnTo>
                  <a:lnTo>
                    <a:pt x="262128" y="2685288"/>
                  </a:lnTo>
                  <a:lnTo>
                    <a:pt x="262128" y="2194560"/>
                  </a:lnTo>
                  <a:close/>
                </a:path>
                <a:path w="2531745" h="2685415">
                  <a:moveTo>
                    <a:pt x="1397508" y="964692"/>
                  </a:moveTo>
                  <a:lnTo>
                    <a:pt x="1135380" y="964692"/>
                  </a:lnTo>
                  <a:lnTo>
                    <a:pt x="1135380" y="2685288"/>
                  </a:lnTo>
                  <a:lnTo>
                    <a:pt x="1397508" y="2685288"/>
                  </a:lnTo>
                  <a:lnTo>
                    <a:pt x="1397508" y="964692"/>
                  </a:lnTo>
                  <a:close/>
                </a:path>
                <a:path w="2531745" h="2685415">
                  <a:moveTo>
                    <a:pt x="2531364" y="0"/>
                  </a:moveTo>
                  <a:lnTo>
                    <a:pt x="2270760" y="0"/>
                  </a:lnTo>
                  <a:lnTo>
                    <a:pt x="2270760" y="2685288"/>
                  </a:lnTo>
                  <a:lnTo>
                    <a:pt x="2531364" y="2685288"/>
                  </a:lnTo>
                  <a:lnTo>
                    <a:pt x="2531364" y="0"/>
                  </a:lnTo>
                  <a:close/>
                </a:path>
              </a:pathLst>
            </a:custGeom>
            <a:solidFill>
              <a:schemeClr val="accent3"/>
            </a:solidFill>
            <a:ln>
              <a:solidFill>
                <a:schemeClr val="bg1"/>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3" name="object 25">
              <a:extLst>
                <a:ext uri="{FF2B5EF4-FFF2-40B4-BE49-F238E27FC236}">
                  <a16:creationId xmlns:a16="http://schemas.microsoft.com/office/drawing/2014/main" id="{DF0CEFC9-7BBE-CE2D-1ED4-ECDBC1AB8321}"/>
                </a:ext>
              </a:extLst>
            </p:cNvPr>
            <p:cNvSpPr/>
            <p:nvPr/>
          </p:nvSpPr>
          <p:spPr>
            <a:xfrm>
              <a:off x="7134903" y="1668052"/>
              <a:ext cx="4577939" cy="2273318"/>
            </a:xfrm>
            <a:custGeom>
              <a:avLst/>
              <a:gdLst/>
              <a:ahLst/>
              <a:cxnLst/>
              <a:rect l="l" t="t" r="r" b="b"/>
              <a:pathLst>
                <a:path w="3451859" h="2956560">
                  <a:moveTo>
                    <a:pt x="45720" y="2910840"/>
                  </a:moveTo>
                  <a:lnTo>
                    <a:pt x="45720" y="0"/>
                  </a:lnTo>
                </a:path>
                <a:path w="3451859" h="2956560">
                  <a:moveTo>
                    <a:pt x="0" y="2910840"/>
                  </a:moveTo>
                  <a:lnTo>
                    <a:pt x="45720" y="2910840"/>
                  </a:lnTo>
                </a:path>
                <a:path w="3451859" h="2956560">
                  <a:moveTo>
                    <a:pt x="0" y="2494788"/>
                  </a:moveTo>
                  <a:lnTo>
                    <a:pt x="45720" y="2494788"/>
                  </a:lnTo>
                </a:path>
                <a:path w="3451859" h="2956560">
                  <a:moveTo>
                    <a:pt x="0" y="2078736"/>
                  </a:moveTo>
                  <a:lnTo>
                    <a:pt x="45720" y="2078736"/>
                  </a:lnTo>
                </a:path>
                <a:path w="3451859" h="2956560">
                  <a:moveTo>
                    <a:pt x="0" y="1662684"/>
                  </a:moveTo>
                  <a:lnTo>
                    <a:pt x="45720" y="1662684"/>
                  </a:lnTo>
                </a:path>
                <a:path w="3451859" h="2956560">
                  <a:moveTo>
                    <a:pt x="0" y="1248155"/>
                  </a:moveTo>
                  <a:lnTo>
                    <a:pt x="45720" y="1248155"/>
                  </a:lnTo>
                </a:path>
                <a:path w="3451859" h="2956560">
                  <a:moveTo>
                    <a:pt x="0" y="832103"/>
                  </a:moveTo>
                  <a:lnTo>
                    <a:pt x="45720" y="832103"/>
                  </a:lnTo>
                </a:path>
                <a:path w="3451859" h="2956560">
                  <a:moveTo>
                    <a:pt x="0" y="416051"/>
                  </a:moveTo>
                  <a:lnTo>
                    <a:pt x="45720" y="416051"/>
                  </a:lnTo>
                </a:path>
                <a:path w="3451859" h="2956560">
                  <a:moveTo>
                    <a:pt x="0" y="0"/>
                  </a:moveTo>
                  <a:lnTo>
                    <a:pt x="45720" y="0"/>
                  </a:lnTo>
                </a:path>
                <a:path w="3451859" h="2956560">
                  <a:moveTo>
                    <a:pt x="45720" y="2910840"/>
                  </a:moveTo>
                  <a:lnTo>
                    <a:pt x="3451860" y="2910840"/>
                  </a:lnTo>
                </a:path>
                <a:path w="3451859" h="2956560">
                  <a:moveTo>
                    <a:pt x="45720" y="2910840"/>
                  </a:moveTo>
                  <a:lnTo>
                    <a:pt x="45720" y="2956560"/>
                  </a:lnTo>
                </a:path>
                <a:path w="3451859" h="2956560">
                  <a:moveTo>
                    <a:pt x="1181100" y="2910840"/>
                  </a:moveTo>
                  <a:lnTo>
                    <a:pt x="1181100" y="2956560"/>
                  </a:lnTo>
                </a:path>
                <a:path w="3451859" h="2956560">
                  <a:moveTo>
                    <a:pt x="2316480" y="2910840"/>
                  </a:moveTo>
                  <a:lnTo>
                    <a:pt x="2316480" y="2956560"/>
                  </a:lnTo>
                </a:path>
                <a:path w="3451859" h="2956560">
                  <a:moveTo>
                    <a:pt x="3451860" y="2910840"/>
                  </a:moveTo>
                  <a:lnTo>
                    <a:pt x="3451860" y="2956560"/>
                  </a:lnTo>
                </a:path>
              </a:pathLst>
            </a:custGeom>
            <a:ln w="19812">
              <a:solidFill>
                <a:schemeClr val="bg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7" name="object 26">
              <a:extLst>
                <a:ext uri="{FF2B5EF4-FFF2-40B4-BE49-F238E27FC236}">
                  <a16:creationId xmlns:a16="http://schemas.microsoft.com/office/drawing/2014/main" id="{09C50CE6-8D8D-0A3D-026F-E986FA5EB0AC}"/>
                </a:ext>
              </a:extLst>
            </p:cNvPr>
            <p:cNvSpPr txBox="1"/>
            <p:nvPr/>
          </p:nvSpPr>
          <p:spPr>
            <a:xfrm>
              <a:off x="6732944" y="3816375"/>
              <a:ext cx="323386"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38" name="object 27">
              <a:extLst>
                <a:ext uri="{FF2B5EF4-FFF2-40B4-BE49-F238E27FC236}">
                  <a16:creationId xmlns:a16="http://schemas.microsoft.com/office/drawing/2014/main" id="{B97A4D1F-6751-1736-2EB7-2BB7A8005BFA}"/>
                </a:ext>
              </a:extLst>
            </p:cNvPr>
            <p:cNvSpPr txBox="1"/>
            <p:nvPr/>
          </p:nvSpPr>
          <p:spPr>
            <a:xfrm>
              <a:off x="6732944" y="3496763"/>
              <a:ext cx="323386"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39" name="object 28">
              <a:extLst>
                <a:ext uri="{FF2B5EF4-FFF2-40B4-BE49-F238E27FC236}">
                  <a16:creationId xmlns:a16="http://schemas.microsoft.com/office/drawing/2014/main" id="{53759C18-3761-B26A-8B4B-C4D81C197108}"/>
                </a:ext>
              </a:extLst>
            </p:cNvPr>
            <p:cNvSpPr txBox="1"/>
            <p:nvPr/>
          </p:nvSpPr>
          <p:spPr>
            <a:xfrm>
              <a:off x="6620937" y="3177054"/>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1</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0" name="object 29">
              <a:extLst>
                <a:ext uri="{FF2B5EF4-FFF2-40B4-BE49-F238E27FC236}">
                  <a16:creationId xmlns:a16="http://schemas.microsoft.com/office/drawing/2014/main" id="{DE012F19-DB76-F77F-9DFD-42790373D1BD}"/>
                </a:ext>
              </a:extLst>
            </p:cNvPr>
            <p:cNvSpPr txBox="1"/>
            <p:nvPr/>
          </p:nvSpPr>
          <p:spPr>
            <a:xfrm>
              <a:off x="6620937" y="2857441"/>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1</a:t>
              </a:r>
              <a:r>
                <a:rPr kumimoji="0" sz="1200" b="0" i="0" u="none" strike="noStrike" kern="1200" cap="none" spc="-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1" name="object 30">
              <a:extLst>
                <a:ext uri="{FF2B5EF4-FFF2-40B4-BE49-F238E27FC236}">
                  <a16:creationId xmlns:a16="http://schemas.microsoft.com/office/drawing/2014/main" id="{7A55A162-9947-6247-7B4E-AC157F2E697F}"/>
                </a:ext>
              </a:extLst>
            </p:cNvPr>
            <p:cNvSpPr txBox="1"/>
            <p:nvPr/>
          </p:nvSpPr>
          <p:spPr>
            <a:xfrm>
              <a:off x="6620937" y="2537731"/>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2</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2" name="object 31">
              <a:extLst>
                <a:ext uri="{FF2B5EF4-FFF2-40B4-BE49-F238E27FC236}">
                  <a16:creationId xmlns:a16="http://schemas.microsoft.com/office/drawing/2014/main" id="{4199DB7C-C15B-0FCE-1309-107C1A295C37}"/>
                </a:ext>
              </a:extLst>
            </p:cNvPr>
            <p:cNvSpPr txBox="1"/>
            <p:nvPr/>
          </p:nvSpPr>
          <p:spPr>
            <a:xfrm>
              <a:off x="6620937" y="2218022"/>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2</a:t>
              </a:r>
              <a:r>
                <a:rPr kumimoji="0" sz="1200" b="0" i="0" u="none" strike="noStrike" kern="1200" cap="none" spc="-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3" name="object 32">
              <a:extLst>
                <a:ext uri="{FF2B5EF4-FFF2-40B4-BE49-F238E27FC236}">
                  <a16:creationId xmlns:a16="http://schemas.microsoft.com/office/drawing/2014/main" id="{B412197F-FD6A-6BB9-8373-AABACDAF0530}"/>
                </a:ext>
              </a:extLst>
            </p:cNvPr>
            <p:cNvSpPr txBox="1"/>
            <p:nvPr/>
          </p:nvSpPr>
          <p:spPr>
            <a:xfrm>
              <a:off x="6620937" y="1898410"/>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3</a:t>
              </a:r>
              <a:r>
                <a:rPr kumimoji="0" sz="1200" b="0" i="0" u="none" strike="noStrike" kern="1200" cap="none" spc="-5" normalizeH="0" baseline="0" noProof="0" dirty="0">
                  <a:ln>
                    <a:noFill/>
                  </a:ln>
                  <a:solidFill>
                    <a:srgbClr val="000000"/>
                  </a:solidFill>
                  <a:effectLst/>
                  <a:uLnTx/>
                  <a:uFillTx/>
                  <a:latin typeface="Arial"/>
                  <a:ea typeface="+mn-ea"/>
                  <a:cs typeface="Arial"/>
                </a:rPr>
                <a:t>0%</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4" name="object 33">
              <a:extLst>
                <a:ext uri="{FF2B5EF4-FFF2-40B4-BE49-F238E27FC236}">
                  <a16:creationId xmlns:a16="http://schemas.microsoft.com/office/drawing/2014/main" id="{EB35C89F-7AD2-6EC4-9541-5BBE9935C6B1}"/>
                </a:ext>
              </a:extLst>
            </p:cNvPr>
            <p:cNvSpPr txBox="1"/>
            <p:nvPr/>
          </p:nvSpPr>
          <p:spPr>
            <a:xfrm>
              <a:off x="6620937" y="1578701"/>
              <a:ext cx="437919" cy="197490"/>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15" normalizeH="0" baseline="0" noProof="0" dirty="0">
                  <a:ln>
                    <a:noFill/>
                  </a:ln>
                  <a:solidFill>
                    <a:srgbClr val="000000"/>
                  </a:solidFill>
                  <a:effectLst/>
                  <a:uLnTx/>
                  <a:uFillTx/>
                  <a:latin typeface="Arial"/>
                  <a:ea typeface="+mn-ea"/>
                  <a:cs typeface="Arial"/>
                </a:rPr>
                <a:t>3</a:t>
              </a:r>
              <a:r>
                <a:rPr kumimoji="0" sz="1200" b="0" i="0" u="none" strike="noStrike" kern="1200" cap="none" spc="-5" normalizeH="0" baseline="0" noProof="0" dirty="0">
                  <a:ln>
                    <a:noFill/>
                  </a:ln>
                  <a:solidFill>
                    <a:srgbClr val="000000"/>
                  </a:solidFill>
                  <a:effectLst/>
                  <a:uLnTx/>
                  <a:uFillTx/>
                  <a:latin typeface="Arial"/>
                  <a:ea typeface="+mn-ea"/>
                  <a:cs typeface="Arial"/>
                </a:rPr>
                <a:t>5%</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5" name="object 34">
              <a:extLst>
                <a:ext uri="{FF2B5EF4-FFF2-40B4-BE49-F238E27FC236}">
                  <a16:creationId xmlns:a16="http://schemas.microsoft.com/office/drawing/2014/main" id="{A03D895E-4829-98AA-47F9-AC7973637396}"/>
                </a:ext>
              </a:extLst>
            </p:cNvPr>
            <p:cNvSpPr txBox="1"/>
            <p:nvPr/>
          </p:nvSpPr>
          <p:spPr>
            <a:xfrm>
              <a:off x="7747991" y="3955626"/>
              <a:ext cx="403391" cy="197490"/>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Mi</a:t>
              </a:r>
              <a:r>
                <a:rPr kumimoji="0" sz="1200" b="0" i="0" u="none" strike="noStrike" kern="1200" cap="none" spc="-10" normalizeH="0" baseline="0" noProof="0" dirty="0">
                  <a:ln>
                    <a:noFill/>
                  </a:ln>
                  <a:solidFill>
                    <a:srgbClr val="000000"/>
                  </a:solidFill>
                  <a:effectLst/>
                  <a:uLnTx/>
                  <a:uFillTx/>
                  <a:latin typeface="Arial"/>
                  <a:ea typeface="+mn-ea"/>
                  <a:cs typeface="Arial"/>
                </a:rPr>
                <a:t>l</a:t>
              </a:r>
              <a:r>
                <a:rPr kumimoji="0" sz="1200" b="0" i="0" u="none" strike="noStrike" kern="1200" cap="none" spc="-5" normalizeH="0" baseline="0" noProof="0" dirty="0">
                  <a:ln>
                    <a:noFill/>
                  </a:ln>
                  <a:solidFill>
                    <a:srgbClr val="000000"/>
                  </a:solidFill>
                  <a:effectLst/>
                  <a:uLnTx/>
                  <a:uFillTx/>
                  <a:latin typeface="Arial"/>
                  <a:ea typeface="+mn-ea"/>
                  <a:cs typeface="Arial"/>
                </a:rPr>
                <a:t>d</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6" name="object 35">
              <a:extLst>
                <a:ext uri="{FF2B5EF4-FFF2-40B4-BE49-F238E27FC236}">
                  <a16:creationId xmlns:a16="http://schemas.microsoft.com/office/drawing/2014/main" id="{D2029483-4164-0111-3966-876FA64F6268}"/>
                </a:ext>
              </a:extLst>
            </p:cNvPr>
            <p:cNvSpPr txBox="1"/>
            <p:nvPr/>
          </p:nvSpPr>
          <p:spPr>
            <a:xfrm>
              <a:off x="8663578" y="3935127"/>
              <a:ext cx="1589141" cy="224419"/>
            </a:xfrm>
            <a:prstGeom prst="rect">
              <a:avLst/>
            </a:prstGeom>
          </p:spPr>
          <p:txBody>
            <a:bodyPr vert="horz" wrap="square" lIns="0" tIns="39369" rIns="0" bIns="0" rtlCol="0">
              <a:spAutoFit/>
            </a:bodyPr>
            <a:lstStyle/>
            <a:p>
              <a:pPr marL="0" marR="0" lvl="0" indent="0" algn="ctr" defTabSz="1219170" rtl="0" eaLnBrk="1" fontAlgn="auto" latinLnBrk="0" hangingPunct="1">
                <a:lnSpc>
                  <a:spcPct val="100000"/>
                </a:lnSpc>
                <a:spcBef>
                  <a:spcPts val="309"/>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Moderate</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7" name="object 36">
              <a:extLst>
                <a:ext uri="{FF2B5EF4-FFF2-40B4-BE49-F238E27FC236}">
                  <a16:creationId xmlns:a16="http://schemas.microsoft.com/office/drawing/2014/main" id="{441919A7-0194-0ECE-B41E-A4671C2D4F41}"/>
                </a:ext>
              </a:extLst>
            </p:cNvPr>
            <p:cNvSpPr txBox="1"/>
            <p:nvPr/>
          </p:nvSpPr>
          <p:spPr>
            <a:xfrm>
              <a:off x="10624950" y="3955626"/>
              <a:ext cx="673722" cy="197490"/>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S</a:t>
              </a:r>
              <a:r>
                <a:rPr kumimoji="0" sz="1200" b="0" i="0" u="none" strike="noStrike" kern="1200" cap="none" spc="-15" normalizeH="0" baseline="0" noProof="0" dirty="0">
                  <a:ln>
                    <a:noFill/>
                  </a:ln>
                  <a:solidFill>
                    <a:srgbClr val="000000"/>
                  </a:solidFill>
                  <a:effectLst/>
                  <a:uLnTx/>
                  <a:uFillTx/>
                  <a:latin typeface="Arial"/>
                  <a:ea typeface="+mn-ea"/>
                  <a:cs typeface="Arial"/>
                </a:rPr>
                <a:t>e</a:t>
              </a:r>
              <a:r>
                <a:rPr kumimoji="0" sz="1200" b="0" i="0" u="none" strike="noStrike" kern="1200" cap="none" spc="-5" normalizeH="0" baseline="0" noProof="0" dirty="0">
                  <a:ln>
                    <a:noFill/>
                  </a:ln>
                  <a:solidFill>
                    <a:srgbClr val="000000"/>
                  </a:solidFill>
                  <a:effectLst/>
                  <a:uLnTx/>
                  <a:uFillTx/>
                  <a:latin typeface="Arial"/>
                  <a:ea typeface="+mn-ea"/>
                  <a:cs typeface="Arial"/>
                </a:rPr>
                <a:t>v</a:t>
              </a:r>
              <a:r>
                <a:rPr kumimoji="0" sz="1200" b="0" i="0" u="none" strike="noStrike" kern="1200" cap="none" spc="-15" normalizeH="0" baseline="0" noProof="0" dirty="0">
                  <a:ln>
                    <a:noFill/>
                  </a:ln>
                  <a:solidFill>
                    <a:srgbClr val="000000"/>
                  </a:solidFill>
                  <a:effectLst/>
                  <a:uLnTx/>
                  <a:uFillTx/>
                  <a:latin typeface="Arial"/>
                  <a:ea typeface="+mn-ea"/>
                  <a:cs typeface="Arial"/>
                </a:rPr>
                <a:t>e</a:t>
              </a:r>
              <a:r>
                <a:rPr kumimoji="0" sz="1200" b="0" i="0" u="none" strike="noStrike" kern="1200" cap="none" spc="5" normalizeH="0" baseline="0" noProof="0" dirty="0">
                  <a:ln>
                    <a:noFill/>
                  </a:ln>
                  <a:solidFill>
                    <a:srgbClr val="000000"/>
                  </a:solidFill>
                  <a:effectLst/>
                  <a:uLnTx/>
                  <a:uFillTx/>
                  <a:latin typeface="Arial"/>
                  <a:ea typeface="+mn-ea"/>
                  <a:cs typeface="Arial"/>
                </a:rPr>
                <a:t>r</a:t>
              </a:r>
              <a:r>
                <a:rPr kumimoji="0" sz="1200" b="0" i="0" u="none" strike="noStrike" kern="1200" cap="none" spc="-5" normalizeH="0" baseline="0" noProof="0" dirty="0">
                  <a:ln>
                    <a:noFill/>
                  </a:ln>
                  <a:solidFill>
                    <a:srgbClr val="000000"/>
                  </a:solidFill>
                  <a:effectLst/>
                  <a:uLnTx/>
                  <a:uFillTx/>
                  <a:latin typeface="Arial"/>
                  <a:ea typeface="+mn-ea"/>
                  <a:cs typeface="Arial"/>
                </a:rPr>
                <a:t>e</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48" name="object 37">
              <a:extLst>
                <a:ext uri="{FF2B5EF4-FFF2-40B4-BE49-F238E27FC236}">
                  <a16:creationId xmlns:a16="http://schemas.microsoft.com/office/drawing/2014/main" id="{E292D80C-BCDD-00DB-6197-ACAB77CA35F2}"/>
                </a:ext>
              </a:extLst>
            </p:cNvPr>
            <p:cNvSpPr txBox="1"/>
            <p:nvPr/>
          </p:nvSpPr>
          <p:spPr>
            <a:xfrm>
              <a:off x="6239916" y="2003969"/>
              <a:ext cx="195631" cy="1615674"/>
            </a:xfrm>
            <a:prstGeom prst="rect">
              <a:avLst/>
            </a:prstGeom>
          </p:spPr>
          <p:txBody>
            <a:bodyPr vert="vert270" wrap="square" lIns="0" tIns="0" rIns="0" bIns="0" rtlCol="0">
              <a:spAutoFit/>
            </a:bodyPr>
            <a:lstStyle/>
            <a:p>
              <a:pPr marL="12700" marR="0" lvl="0" indent="0" algn="ctr" defTabSz="1219170" rtl="0" eaLnBrk="1" fontAlgn="auto" latinLnBrk="0" hangingPunct="1">
                <a:lnSpc>
                  <a:spcPts val="165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 of patients affected</a:t>
              </a:r>
            </a:p>
          </p:txBody>
        </p:sp>
        <p:sp>
          <p:nvSpPr>
            <p:cNvPr id="49" name="object 35">
              <a:extLst>
                <a:ext uri="{FF2B5EF4-FFF2-40B4-BE49-F238E27FC236}">
                  <a16:creationId xmlns:a16="http://schemas.microsoft.com/office/drawing/2014/main" id="{6F5643B4-D9E3-55AD-F668-C0EB1BE680E2}"/>
                </a:ext>
              </a:extLst>
            </p:cNvPr>
            <p:cNvSpPr txBox="1"/>
            <p:nvPr/>
          </p:nvSpPr>
          <p:spPr>
            <a:xfrm>
              <a:off x="8961056" y="4164772"/>
              <a:ext cx="994182" cy="209031"/>
            </a:xfrm>
            <a:prstGeom prst="rect">
              <a:avLst/>
            </a:prstGeom>
          </p:spPr>
          <p:txBody>
            <a:bodyPr vert="horz" wrap="none" lIns="0" tIns="39369" rIns="0" bIns="0" rtlCol="0">
              <a:spAutoFit/>
            </a:bodyPr>
            <a:lstStyle/>
            <a:p>
              <a:pPr marL="0" marR="0" lvl="0" indent="0" algn="ctr" defTabSz="1219170" rtl="0" eaLnBrk="1" fontAlgn="auto" latinLnBrk="0" hangingPunct="1">
                <a:lnSpc>
                  <a:spcPct val="100000"/>
                </a:lnSpc>
                <a:spcBef>
                  <a:spcPts val="265"/>
                </a:spcBef>
                <a:spcAft>
                  <a:spcPts val="0"/>
                </a:spcAft>
                <a:buClrTx/>
                <a:buSzTx/>
                <a:buFontTx/>
                <a:buNone/>
                <a:tabLst/>
                <a:defRPr/>
              </a:pPr>
              <a:r>
                <a:rPr kumimoji="0" sz="1100" b="1" i="0" u="none" strike="noStrike" kern="1200" cap="none" spc="20" normalizeH="0" baseline="0" noProof="0" dirty="0">
                  <a:ln>
                    <a:noFill/>
                  </a:ln>
                  <a:solidFill>
                    <a:srgbClr val="000000"/>
                  </a:solidFill>
                  <a:effectLst/>
                  <a:uLnTx/>
                  <a:uFillTx/>
                  <a:latin typeface="Arial"/>
                  <a:ea typeface="+mn-ea"/>
                  <a:cs typeface="Arial"/>
                </a:rPr>
                <a:t>COPD</a:t>
              </a:r>
              <a:r>
                <a:rPr kumimoji="0" sz="1100" b="1" i="0" u="none" strike="noStrike" kern="1200" cap="none" spc="-45" normalizeH="0" baseline="0" noProof="0" dirty="0">
                  <a:ln>
                    <a:noFill/>
                  </a:ln>
                  <a:solidFill>
                    <a:srgbClr val="000000"/>
                  </a:solidFill>
                  <a:effectLst/>
                  <a:uLnTx/>
                  <a:uFillTx/>
                  <a:latin typeface="Arial"/>
                  <a:ea typeface="+mn-ea"/>
                  <a:cs typeface="Arial"/>
                </a:rPr>
                <a:t> </a:t>
              </a:r>
              <a:r>
                <a:rPr kumimoji="0" sz="1100" b="1" i="0" u="none" strike="noStrike" kern="1200" cap="none" spc="10" normalizeH="0" baseline="0" noProof="0" dirty="0">
                  <a:ln>
                    <a:noFill/>
                  </a:ln>
                  <a:solidFill>
                    <a:srgbClr val="000000"/>
                  </a:solidFill>
                  <a:effectLst/>
                  <a:uLnTx/>
                  <a:uFillTx/>
                  <a:latin typeface="Arial"/>
                  <a:ea typeface="+mn-ea"/>
                  <a:cs typeface="Arial"/>
                </a:rPr>
                <a:t>severity</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grpSp>
      <p:sp>
        <p:nvSpPr>
          <p:cNvPr id="57" name="Slide Number Placeholder 56">
            <a:extLst>
              <a:ext uri="{FF2B5EF4-FFF2-40B4-BE49-F238E27FC236}">
                <a16:creationId xmlns:a16="http://schemas.microsoft.com/office/drawing/2014/main" id="{DE6EADC7-CB14-1E7B-F9EB-971B1AE34DB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224941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a:xfrm>
            <a:off x="365125" y="5820275"/>
            <a:ext cx="11460164" cy="298800"/>
          </a:xfrm>
        </p:spPr>
        <p:txBody>
          <a:bodyPr/>
          <a:lstStyle/>
          <a:p>
            <a:pPr>
              <a:spcBef>
                <a:spcPts val="0"/>
              </a:spcBef>
              <a:spcAft>
                <a:spcPts val="0"/>
              </a:spcAft>
            </a:pPr>
            <a:r>
              <a:rPr lang="en-GB" dirty="0"/>
              <a:t>*A survey on disabilities, personal autonomy and dependency involving 461,884 patients with COPD (and 220,829 informal caregivers).</a:t>
            </a:r>
          </a:p>
          <a:p>
            <a:pPr>
              <a:spcBef>
                <a:spcPts val="0"/>
              </a:spcBef>
              <a:spcAft>
                <a:spcPts val="0"/>
              </a:spcAft>
            </a:pPr>
            <a:r>
              <a:rPr lang="en-GB" dirty="0"/>
              <a:t> EDAD, </a:t>
            </a:r>
            <a:r>
              <a:rPr lang="en-GB" dirty="0" err="1"/>
              <a:t>Encuesta</a:t>
            </a:r>
            <a:r>
              <a:rPr lang="en-GB" dirty="0"/>
              <a:t> </a:t>
            </a:r>
            <a:r>
              <a:rPr lang="en-GB" dirty="0" err="1"/>
              <a:t>sobre</a:t>
            </a:r>
            <a:r>
              <a:rPr lang="en-GB" dirty="0"/>
              <a:t> </a:t>
            </a:r>
            <a:r>
              <a:rPr lang="en-GB" dirty="0" err="1"/>
              <a:t>Discapacidad</a:t>
            </a:r>
            <a:r>
              <a:rPr lang="en-GB" dirty="0"/>
              <a:t>, </a:t>
            </a:r>
            <a:r>
              <a:rPr lang="en-GB" dirty="0" err="1"/>
              <a:t>Autonomía</a:t>
            </a:r>
            <a:r>
              <a:rPr lang="en-GB" dirty="0"/>
              <a:t> personal y </a:t>
            </a:r>
            <a:r>
              <a:rPr lang="en-GB" dirty="0" err="1"/>
              <a:t>situaciones</a:t>
            </a:r>
            <a:r>
              <a:rPr lang="en-GB" dirty="0"/>
              <a:t> de </a:t>
            </a:r>
            <a:r>
              <a:rPr lang="en-GB" dirty="0" err="1"/>
              <a:t>Dependencia</a:t>
            </a:r>
            <a:r>
              <a:rPr lang="en-GB" dirty="0"/>
              <a:t>; </a:t>
            </a:r>
            <a:r>
              <a:rPr lang="en-US" dirty="0"/>
              <a:t>HCP, healthcare professional.</a:t>
            </a:r>
          </a:p>
          <a:p>
            <a:pPr>
              <a:spcBef>
                <a:spcPts val="0"/>
              </a:spcBef>
              <a:spcAft>
                <a:spcPts val="0"/>
              </a:spcAft>
            </a:pPr>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US" dirty="0"/>
              <a:t>. Accessed February 2023;</a:t>
            </a:r>
            <a:r>
              <a:rPr lang="en-US" spc="-5" dirty="0">
                <a:solidFill>
                  <a:srgbClr val="534F40"/>
                </a:solidFill>
                <a:latin typeface="Arial"/>
                <a:cs typeface="Arial"/>
              </a:rPr>
              <a:t> 2. </a:t>
            </a:r>
            <a:r>
              <a:rPr lang="fr-FR" dirty="0"/>
              <a:t>Jacome C;</a:t>
            </a:r>
            <a:r>
              <a:rPr lang="fr-FR" i="1" dirty="0"/>
              <a:t>International Psychogeriatrics;</a:t>
            </a:r>
            <a:r>
              <a:rPr lang="fr-FR" dirty="0"/>
              <a:t>2014;26;1191-1199</a:t>
            </a:r>
            <a:r>
              <a:rPr lang="en-US" spc="-5" dirty="0">
                <a:solidFill>
                  <a:srgbClr val="534F40"/>
                </a:solidFill>
                <a:latin typeface="Arial"/>
                <a:cs typeface="Arial"/>
              </a:rPr>
              <a:t>;</a:t>
            </a:r>
            <a:r>
              <a:rPr lang="en-US" dirty="0">
                <a:solidFill>
                  <a:srgbClr val="534F40"/>
                </a:solidFill>
                <a:latin typeface="Arial"/>
                <a:cs typeface="Arial"/>
              </a:rPr>
              <a:t> </a:t>
            </a:r>
            <a:r>
              <a:rPr lang="en-US" spc="-5" dirty="0">
                <a:solidFill>
                  <a:srgbClr val="534F40"/>
                </a:solidFill>
                <a:latin typeface="Arial"/>
                <a:cs typeface="Arial"/>
              </a:rPr>
              <a:t>3. </a:t>
            </a:r>
            <a:r>
              <a:rPr lang="en-US" dirty="0"/>
              <a:t>Bernabeu-Mora R;</a:t>
            </a:r>
            <a:r>
              <a:rPr lang="en-US" i="1" dirty="0"/>
              <a:t>International Journal of COPD</a:t>
            </a:r>
            <a:r>
              <a:rPr lang="en-US" dirty="0"/>
              <a:t>;2016;11;3199–3205</a:t>
            </a:r>
            <a:r>
              <a:rPr lang="en-US" spc="-5" dirty="0">
                <a:solidFill>
                  <a:srgbClr val="534F40"/>
                </a:solidFill>
                <a:latin typeface="Arial"/>
                <a:cs typeface="Arial"/>
              </a:rPr>
              <a:t>;</a:t>
            </a:r>
            <a:r>
              <a:rPr lang="en-US" spc="210" dirty="0">
                <a:solidFill>
                  <a:srgbClr val="534F40"/>
                </a:solidFill>
                <a:latin typeface="Arial"/>
                <a:cs typeface="Arial"/>
              </a:rPr>
              <a:t> </a:t>
            </a:r>
            <a:r>
              <a:rPr lang="en-US" spc="-5" dirty="0">
                <a:solidFill>
                  <a:srgbClr val="534F40"/>
                </a:solidFill>
                <a:latin typeface="Arial"/>
                <a:cs typeface="Arial"/>
              </a:rPr>
              <a:t>4.</a:t>
            </a:r>
            <a:r>
              <a:rPr lang="en-US" spc="20" dirty="0">
                <a:solidFill>
                  <a:srgbClr val="534F40"/>
                </a:solidFill>
                <a:latin typeface="Arial"/>
                <a:cs typeface="Arial"/>
              </a:rPr>
              <a:t> </a:t>
            </a:r>
            <a:r>
              <a:rPr lang="en-US" dirty="0"/>
              <a:t>Miravitlles M;</a:t>
            </a:r>
            <a:r>
              <a:rPr lang="en-US" i="1" dirty="0"/>
              <a:t>International Journal of COPD</a:t>
            </a:r>
            <a:r>
              <a:rPr lang="en-US" dirty="0"/>
              <a:t>;2015;10;347-356.</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a:xfrm>
            <a:off x="365125" y="242888"/>
            <a:ext cx="11460163" cy="430887"/>
          </a:xfrm>
        </p:spPr>
        <p:txBody>
          <a:bodyPr/>
          <a:lstStyle/>
          <a:p>
            <a:r>
              <a:rPr lang="en-US" dirty="0"/>
              <a:t>COPD places a substantial burden on the healthcare system</a:t>
            </a:r>
            <a:r>
              <a:rPr lang="en-US" baseline="30000" dirty="0"/>
              <a:t>1</a:t>
            </a:r>
            <a:endParaRPr lang="en-GB" baseline="30000" dirty="0"/>
          </a:p>
        </p:txBody>
      </p:sp>
      <p:sp>
        <p:nvSpPr>
          <p:cNvPr id="7" name="Subtitle 6">
            <a:extLst>
              <a:ext uri="{FF2B5EF4-FFF2-40B4-BE49-F238E27FC236}">
                <a16:creationId xmlns:a16="http://schemas.microsoft.com/office/drawing/2014/main" id="{FF2AB2EA-2C3F-9F36-6E08-18E94F94C2DD}"/>
              </a:ext>
            </a:extLst>
          </p:cNvPr>
          <p:cNvSpPr>
            <a:spLocks noGrp="1"/>
          </p:cNvSpPr>
          <p:nvPr>
            <p:ph type="subTitle" idx="1"/>
          </p:nvPr>
        </p:nvSpPr>
        <p:spPr/>
        <p:txBody>
          <a:bodyPr/>
          <a:lstStyle/>
          <a:p>
            <a:endParaRPr lang="en-GB" dirty="0"/>
          </a:p>
        </p:txBody>
      </p:sp>
      <p:sp>
        <p:nvSpPr>
          <p:cNvPr id="2" name="Rectangle 1">
            <a:extLst>
              <a:ext uri="{FF2B5EF4-FFF2-40B4-BE49-F238E27FC236}">
                <a16:creationId xmlns:a16="http://schemas.microsoft.com/office/drawing/2014/main" id="{C8043DB6-3CCA-726E-07F4-4039C1D2BFF9}"/>
              </a:ext>
            </a:extLst>
          </p:cNvPr>
          <p:cNvSpPr>
            <a:spLocks/>
          </p:cNvSpPr>
          <p:nvPr/>
        </p:nvSpPr>
        <p:spPr>
          <a:xfrm>
            <a:off x="383343" y="4035424"/>
            <a:ext cx="2242215" cy="33812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60960" lvl="0" indent="0" algn="ctr" defTabSz="1219170" rtl="0" eaLnBrk="1" fontAlgn="auto" latinLnBrk="0" hangingPunct="1">
              <a:lnSpc>
                <a:spcPct val="100000"/>
              </a:lnSpc>
              <a:spcBef>
                <a:spcPts val="265"/>
              </a:spcBef>
              <a:spcAft>
                <a:spcPts val="0"/>
              </a:spcAft>
              <a:buClrTx/>
              <a:buSzTx/>
              <a:buFontTx/>
              <a:buNone/>
              <a:tabLst/>
              <a:defRPr/>
            </a:pPr>
            <a:r>
              <a:rPr kumimoji="0" lang="en-US" sz="900" b="1" i="0" u="none" strike="noStrike" kern="1200" cap="none" spc="-5" normalizeH="0" baseline="0" noProof="0" dirty="0">
                <a:ln>
                  <a:noFill/>
                </a:ln>
                <a:solidFill>
                  <a:srgbClr val="FFFFFF"/>
                </a:solidFill>
                <a:effectLst/>
                <a:uLnTx/>
                <a:uFillTx/>
                <a:latin typeface="Arial"/>
                <a:ea typeface="+mn-ea"/>
                <a:cs typeface="Arial"/>
              </a:rPr>
              <a:t>Mood</a:t>
            </a:r>
            <a:r>
              <a:rPr kumimoji="0" lang="en-US" sz="900" b="1" i="0" u="none" strike="noStrike" kern="1200" cap="none" spc="0" normalizeH="0" baseline="0" noProof="0" dirty="0">
                <a:ln>
                  <a:noFill/>
                </a:ln>
                <a:solidFill>
                  <a:srgbClr val="FFFFFF"/>
                </a:solidFill>
                <a:effectLst/>
                <a:uLnTx/>
                <a:uFillTx/>
                <a:latin typeface="Arial"/>
                <a:ea typeface="+mn-ea"/>
                <a:cs typeface="Arial"/>
              </a:rPr>
              <a:t> disorders (anxi</a:t>
            </a:r>
            <a:r>
              <a:rPr kumimoji="0" lang="en-US" sz="900" b="1" i="0" u="none" strike="noStrike" kern="1200" cap="none" spc="5" normalizeH="0" baseline="0" noProof="0" dirty="0">
                <a:ln>
                  <a:noFill/>
                </a:ln>
                <a:solidFill>
                  <a:srgbClr val="FFFFFF"/>
                </a:solidFill>
                <a:effectLst/>
                <a:uLnTx/>
                <a:uFillTx/>
                <a:latin typeface="Arial"/>
                <a:ea typeface="+mn-ea"/>
                <a:cs typeface="Arial"/>
              </a:rPr>
              <a:t>e</a:t>
            </a:r>
            <a:r>
              <a:rPr kumimoji="0" lang="en-US" sz="900" b="1" i="0" u="none" strike="noStrike" kern="1200" cap="none" spc="-5" normalizeH="0" baseline="0" noProof="0" dirty="0">
                <a:ln>
                  <a:noFill/>
                </a:ln>
                <a:solidFill>
                  <a:srgbClr val="FFFFFF"/>
                </a:solidFill>
                <a:effectLst/>
                <a:uLnTx/>
                <a:uFillTx/>
                <a:latin typeface="Arial"/>
                <a:ea typeface="+mn-ea"/>
                <a:cs typeface="Arial"/>
              </a:rPr>
              <a:t>t</a:t>
            </a:r>
            <a:r>
              <a:rPr kumimoji="0" lang="en-US" sz="900" b="1" i="0" u="none" strike="noStrike" kern="1200" cap="none" spc="-40" normalizeH="0" baseline="0" noProof="0" dirty="0">
                <a:ln>
                  <a:noFill/>
                </a:ln>
                <a:solidFill>
                  <a:srgbClr val="FFFFFF"/>
                </a:solidFill>
                <a:effectLst/>
                <a:uLnTx/>
                <a:uFillTx/>
                <a:latin typeface="Arial"/>
                <a:ea typeface="+mn-ea"/>
                <a:cs typeface="Arial"/>
              </a:rPr>
              <a:t>y</a:t>
            </a:r>
            <a:r>
              <a:rPr kumimoji="0" lang="en-US" sz="900" b="1" i="0" u="none" strike="noStrike" kern="1200" cap="none" spc="0" normalizeH="0" baseline="0" noProof="0" dirty="0">
                <a:ln>
                  <a:noFill/>
                </a:ln>
                <a:solidFill>
                  <a:srgbClr val="FFFFFF"/>
                </a:solidFill>
                <a:effectLst/>
                <a:uLnTx/>
                <a:uFillTx/>
                <a:latin typeface="Arial"/>
                <a:ea typeface="+mn-ea"/>
                <a:cs typeface="Arial"/>
              </a:rPr>
              <a:t>/de</a:t>
            </a:r>
            <a:r>
              <a:rPr kumimoji="0" lang="en-US" sz="900" b="1" i="0" u="none" strike="noStrike" kern="1200" cap="none" spc="-5" normalizeH="0" baseline="0" noProof="0" dirty="0">
                <a:ln>
                  <a:noFill/>
                </a:ln>
                <a:solidFill>
                  <a:srgbClr val="FFFFFF"/>
                </a:solidFill>
                <a:effectLst/>
                <a:uLnTx/>
                <a:uFillTx/>
                <a:latin typeface="Arial"/>
                <a:ea typeface="+mn-ea"/>
                <a:cs typeface="Arial"/>
              </a:rPr>
              <a:t>press</a:t>
            </a:r>
            <a:r>
              <a:rPr kumimoji="0" lang="en-US" sz="900" b="1" i="0" u="none" strike="noStrike" kern="1200" cap="none" spc="0" normalizeH="0" baseline="0" noProof="0" dirty="0">
                <a:ln>
                  <a:noFill/>
                </a:ln>
                <a:solidFill>
                  <a:srgbClr val="FFFFFF"/>
                </a:solidFill>
                <a:effectLst/>
                <a:uLnTx/>
                <a:uFillTx/>
                <a:latin typeface="Arial"/>
                <a:ea typeface="+mn-ea"/>
                <a:cs typeface="Arial"/>
              </a:rPr>
              <a:t>ion)</a:t>
            </a:r>
            <a:endParaRPr kumimoji="0" lang="en-US" sz="900" b="0" i="0" u="none" strike="noStrike" kern="1200" cap="none" spc="0" normalizeH="0" baseline="0" noProof="0" dirty="0">
              <a:ln>
                <a:noFill/>
              </a:ln>
              <a:solidFill>
                <a:prstClr val="white"/>
              </a:solidFill>
              <a:effectLst/>
              <a:uLnTx/>
              <a:uFillTx/>
              <a:latin typeface="Arial"/>
              <a:ea typeface="+mn-ea"/>
              <a:cs typeface="Arial"/>
            </a:endParaRPr>
          </a:p>
        </p:txBody>
      </p:sp>
      <p:sp>
        <p:nvSpPr>
          <p:cNvPr id="3" name="Rectangle 2">
            <a:extLst>
              <a:ext uri="{FF2B5EF4-FFF2-40B4-BE49-F238E27FC236}">
                <a16:creationId xmlns:a16="http://schemas.microsoft.com/office/drawing/2014/main" id="{4DD601D4-67ED-E5DE-51F8-EA5194BA8981}"/>
              </a:ext>
            </a:extLst>
          </p:cNvPr>
          <p:cNvSpPr>
            <a:spLocks/>
          </p:cNvSpPr>
          <p:nvPr/>
        </p:nvSpPr>
        <p:spPr>
          <a:xfrm>
            <a:off x="383343" y="4397937"/>
            <a:ext cx="2242215" cy="113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Many caregivers experience symptoms of anxiety and depression.</a:t>
            </a:r>
            <a:r>
              <a:rPr kumimoji="0" lang="en-US" sz="900" b="0" i="0" u="none" strike="noStrike" kern="1200" cap="none" spc="-7" normalizeH="0" baseline="25641" noProof="0" dirty="0">
                <a:ln>
                  <a:noFill/>
                </a:ln>
                <a:solidFill>
                  <a:srgbClr val="000000"/>
                </a:solidFill>
                <a:effectLst/>
                <a:uLnTx/>
                <a:uFillTx/>
                <a:latin typeface="Arial"/>
                <a:ea typeface="+mn-ea"/>
                <a:cs typeface="Arial"/>
              </a:rPr>
              <a:t>2 </a:t>
            </a:r>
            <a:r>
              <a:rPr kumimoji="0" lang="en-US" sz="900" b="0" i="0" u="none" strike="noStrike" kern="1200" cap="none" spc="-5" normalizeH="0" baseline="0" noProof="0" dirty="0">
                <a:ln>
                  <a:noFill/>
                </a:ln>
                <a:solidFill>
                  <a:srgbClr val="000000"/>
                </a:solidFill>
                <a:effectLst/>
                <a:uLnTx/>
                <a:uFillTx/>
                <a:latin typeface="Arial"/>
                <a:ea typeface="+mn-ea"/>
                <a:cs typeface="Arial"/>
              </a:rPr>
              <a:t>Symptoms commonly increase</a:t>
            </a:r>
            <a:endParaRPr kumimoji="0" lang="en-US" sz="900" b="0" i="0" u="none" strike="noStrike" kern="1200" cap="none" spc="0" normalizeH="0" baseline="0" noProof="0" dirty="0">
              <a:ln>
                <a:noFill/>
              </a:ln>
              <a:solidFill>
                <a:srgbClr val="000000"/>
              </a:solidFill>
              <a:effectLst/>
              <a:uLnTx/>
              <a:uFillTx/>
              <a:latin typeface="Arial"/>
              <a:ea typeface="+mn-ea"/>
              <a:cs typeface="Arial"/>
            </a:endParaRPr>
          </a:p>
          <a:p>
            <a:pPr marL="171450" marR="102235"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When </a:t>
            </a:r>
            <a:r>
              <a:rPr kumimoji="0" lang="en-US" sz="900" b="0" i="0" u="none" strike="noStrike" kern="1200" cap="none" spc="-5" normalizeH="0" baseline="0" noProof="0" dirty="0">
                <a:ln>
                  <a:noFill/>
                </a:ln>
                <a:solidFill>
                  <a:srgbClr val="000000"/>
                </a:solidFill>
                <a:effectLst/>
                <a:uLnTx/>
                <a:uFillTx/>
                <a:latin typeface="Arial"/>
                <a:ea typeface="+mn-ea"/>
                <a:cs typeface="Arial"/>
              </a:rPr>
              <a:t>COPD exacerbations</a:t>
            </a:r>
            <a:r>
              <a:rPr kumimoji="0" lang="en-US" sz="900" b="0" i="0" u="none" strike="noStrike" kern="1200" cap="none" spc="-50"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occur</a:t>
            </a:r>
            <a:r>
              <a:rPr kumimoji="0" lang="en-US" sz="900" b="0" i="0" u="none" strike="noStrike" kern="1200" cap="none" spc="-45" normalizeH="0" baseline="0" noProof="0" dirty="0">
                <a:ln>
                  <a:noFill/>
                </a:ln>
                <a:solidFill>
                  <a:srgbClr val="000000"/>
                </a:solidFill>
                <a:effectLst/>
                <a:uLnTx/>
                <a:uFillTx/>
                <a:latin typeface="Arial"/>
                <a:ea typeface="+mn-ea"/>
                <a:cs typeface="Arial"/>
              </a:rPr>
              <a:t> </a:t>
            </a:r>
            <a:r>
              <a:rPr kumimoji="0" lang="en-US" sz="900" b="0" i="0" u="none" strike="noStrike" kern="1200" cap="none" spc="-10" normalizeH="0" baseline="0" noProof="0" dirty="0">
                <a:ln>
                  <a:noFill/>
                </a:ln>
                <a:solidFill>
                  <a:srgbClr val="000000"/>
                </a:solidFill>
                <a:effectLst/>
                <a:uLnTx/>
                <a:uFillTx/>
                <a:latin typeface="Arial"/>
                <a:ea typeface="+mn-ea"/>
                <a:cs typeface="Arial"/>
              </a:rPr>
              <a:t>in </a:t>
            </a:r>
            <a:r>
              <a:rPr kumimoji="0" lang="en-US" sz="900" b="0" i="0" u="none" strike="noStrike" kern="1200" cap="none" spc="-5" normalizeH="0" baseline="0" noProof="0" dirty="0">
                <a:ln>
                  <a:noFill/>
                </a:ln>
                <a:solidFill>
                  <a:srgbClr val="000000"/>
                </a:solidFill>
                <a:effectLst/>
                <a:uLnTx/>
                <a:uFillTx/>
                <a:latin typeface="Arial"/>
                <a:ea typeface="+mn-ea"/>
                <a:cs typeface="Arial"/>
              </a:rPr>
              <a:t>the</a:t>
            </a:r>
            <a:r>
              <a:rPr kumimoji="0" lang="en-US" sz="900" b="0" i="0" u="none" strike="noStrike" kern="1200" cap="none" spc="-25"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patient</a:t>
            </a:r>
            <a:r>
              <a:rPr kumimoji="0" lang="en-US" sz="900" b="0" i="0" u="none" strike="noStrike" kern="1200" cap="none" spc="-7" normalizeH="0" baseline="25641" noProof="0" dirty="0">
                <a:ln>
                  <a:noFill/>
                </a:ln>
                <a:solidFill>
                  <a:srgbClr val="000000"/>
                </a:solidFill>
                <a:effectLst/>
                <a:uLnTx/>
                <a:uFillTx/>
                <a:latin typeface="Arial"/>
                <a:ea typeface="+mn-ea"/>
                <a:cs typeface="Arial"/>
              </a:rPr>
              <a:t>3</a:t>
            </a:r>
            <a:endParaRPr kumimoji="0" lang="en-US" sz="900" b="0" i="0" u="none" strike="noStrike" kern="1200" cap="none" spc="0" normalizeH="0" baseline="25641" noProof="0" dirty="0">
              <a:ln>
                <a:noFill/>
              </a:ln>
              <a:solidFill>
                <a:srgbClr val="000000"/>
              </a:solidFill>
              <a:effectLst/>
              <a:uLnTx/>
              <a:uFillTx/>
              <a:latin typeface="Arial"/>
              <a:ea typeface="+mn-ea"/>
              <a:cs typeface="Arial"/>
            </a:endParaRPr>
          </a:p>
          <a:p>
            <a:pPr marL="171450" marR="25781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As</a:t>
            </a:r>
            <a:r>
              <a:rPr kumimoji="0" lang="en-US" sz="900" b="0" i="0" u="none" strike="noStrike" kern="1200" cap="none" spc="-20"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the</a:t>
            </a:r>
            <a:r>
              <a:rPr kumimoji="0" lang="en-US" sz="900" b="0" i="0" u="none" strike="noStrike" kern="1200" cap="none" spc="-35"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COPD</a:t>
            </a:r>
            <a:r>
              <a:rPr kumimoji="0" lang="en-US" sz="900" b="0" i="0" u="none" strike="noStrike" kern="1200" cap="none" spc="-10"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of</a:t>
            </a:r>
            <a:r>
              <a:rPr kumimoji="0" lang="en-US" sz="900" b="0" i="0" u="none" strike="noStrike" kern="1200" cap="none" spc="-35"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the patient</a:t>
            </a:r>
            <a:r>
              <a:rPr kumimoji="0" lang="en-US" sz="900" b="0" i="0" u="none" strike="noStrike" kern="1200" cap="none" spc="-35" normalizeH="0" baseline="0" noProof="0" dirty="0">
                <a:ln>
                  <a:noFill/>
                </a:ln>
                <a:solidFill>
                  <a:srgbClr val="000000"/>
                </a:solidFill>
                <a:effectLst/>
                <a:uLnTx/>
                <a:uFillTx/>
                <a:latin typeface="Arial"/>
                <a:ea typeface="+mn-ea"/>
                <a:cs typeface="Arial"/>
              </a:rPr>
              <a:t> </a:t>
            </a:r>
            <a:r>
              <a:rPr kumimoji="0" lang="en-US" sz="900" b="0" i="0" u="none" strike="noStrike" kern="1200" cap="none" spc="-5" normalizeH="0" baseline="0" noProof="0" dirty="0">
                <a:ln>
                  <a:noFill/>
                </a:ln>
                <a:solidFill>
                  <a:srgbClr val="000000"/>
                </a:solidFill>
                <a:effectLst/>
                <a:uLnTx/>
                <a:uFillTx/>
                <a:latin typeface="Arial"/>
                <a:ea typeface="+mn-ea"/>
                <a:cs typeface="Arial"/>
              </a:rPr>
              <a:t>progresses</a:t>
            </a:r>
            <a:r>
              <a:rPr kumimoji="0" lang="en-US" sz="900" b="0" i="0" u="none" strike="noStrike" kern="1200" cap="none" spc="-7" normalizeH="0" baseline="25641" noProof="0" dirty="0">
                <a:ln>
                  <a:noFill/>
                </a:ln>
                <a:solidFill>
                  <a:srgbClr val="000000"/>
                </a:solidFill>
                <a:effectLst/>
                <a:uLnTx/>
                <a:uFillTx/>
                <a:latin typeface="Arial"/>
                <a:ea typeface="+mn-ea"/>
                <a:cs typeface="Arial"/>
              </a:rPr>
              <a:t>3</a:t>
            </a:r>
            <a:endParaRPr kumimoji="0" lang="en-US" sz="900" b="0" i="0" u="none" strike="noStrike" kern="1200" cap="none" spc="0" normalizeH="0" baseline="25641" noProof="0" dirty="0">
              <a:ln>
                <a:noFill/>
              </a:ln>
              <a:solidFill>
                <a:srgbClr val="000000"/>
              </a:solidFill>
              <a:effectLst/>
              <a:uLnTx/>
              <a:uFillTx/>
              <a:latin typeface="Arial"/>
              <a:ea typeface="+mn-ea"/>
              <a:cs typeface="Arial"/>
            </a:endParaRPr>
          </a:p>
        </p:txBody>
      </p:sp>
      <p:sp>
        <p:nvSpPr>
          <p:cNvPr id="16" name="object 8">
            <a:extLst>
              <a:ext uri="{FF2B5EF4-FFF2-40B4-BE49-F238E27FC236}">
                <a16:creationId xmlns:a16="http://schemas.microsoft.com/office/drawing/2014/main" id="{D49FC3DF-DA54-FB41-DDBA-1BE0D9696EAC}"/>
              </a:ext>
            </a:extLst>
          </p:cNvPr>
          <p:cNvSpPr txBox="1"/>
          <p:nvPr/>
        </p:nvSpPr>
        <p:spPr>
          <a:xfrm>
            <a:off x="365125" y="1323246"/>
            <a:ext cx="11456379" cy="443070"/>
          </a:xfrm>
          <a:prstGeom prst="rect">
            <a:avLst/>
          </a:prstGeom>
        </p:spPr>
        <p:txBody>
          <a:bodyPr vert="horz" wrap="square" lIns="0" tIns="12065" rIns="0" bIns="0" rtlCol="0" anchor="ctr">
            <a:spAutoFit/>
          </a:bodyPr>
          <a:lstStyle/>
          <a:p>
            <a:pPr marL="38100" marR="30480" lvl="0" indent="0" algn="l" defTabSz="1219170" rtl="0" eaLnBrk="1" fontAlgn="auto" latinLnBrk="0" hangingPunct="1">
              <a:lnSpc>
                <a:spcPct val="100000"/>
              </a:lnSpc>
              <a:spcBef>
                <a:spcPts val="95"/>
              </a:spcBef>
              <a:spcAft>
                <a:spcPts val="0"/>
              </a:spcAft>
              <a:buClrTx/>
              <a:buSzTx/>
              <a:buFontTx/>
              <a:buNone/>
              <a:tabLst/>
              <a:defRPr/>
            </a:pPr>
            <a:r>
              <a:rPr kumimoji="0" sz="1400" b="0" i="0" u="none" strike="noStrike" kern="1200" cap="none" spc="-5" normalizeH="0" baseline="0" noProof="0" dirty="0">
                <a:ln>
                  <a:noFill/>
                </a:ln>
                <a:solidFill>
                  <a:srgbClr val="000000"/>
                </a:solidFill>
                <a:effectLst/>
                <a:uLnTx/>
                <a:uFillTx/>
                <a:latin typeface="Arial"/>
                <a:ea typeface="+mn-ea"/>
                <a:cs typeface="Arial"/>
              </a:rPr>
              <a:t>Caregiver</a:t>
            </a:r>
            <a:r>
              <a:rPr kumimoji="0" sz="1400" b="0" i="0" u="none" strike="noStrike" kern="1200" cap="none" spc="1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burden</a:t>
            </a:r>
            <a:r>
              <a:rPr kumimoji="0" sz="1400" b="0" i="0" u="none" strike="noStrike" kern="1200" cap="none" spc="1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increases</a:t>
            </a:r>
            <a:r>
              <a:rPr kumimoji="0" sz="1400" b="0" i="0" u="none" strike="noStrike" kern="1200" cap="none" spc="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as</a:t>
            </a:r>
            <a:r>
              <a:rPr kumimoji="0" sz="1400" b="0" i="0" u="none" strike="noStrike" kern="1200" cap="none" spc="1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the</a:t>
            </a:r>
            <a:r>
              <a:rPr kumimoji="0" sz="1400" b="0" i="0" u="none" strike="noStrike" kern="1200" cap="none" spc="2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disease progresses</a:t>
            </a:r>
            <a:r>
              <a:rPr kumimoji="0" sz="1400" b="0" i="0" u="none" strike="noStrike" kern="1200" cap="none" spc="2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since the</a:t>
            </a:r>
            <a:r>
              <a:rPr kumimoji="0" sz="1400" b="0" i="0" u="none" strike="noStrike" kern="1200" cap="none" spc="2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patient</a:t>
            </a:r>
            <a:r>
              <a:rPr kumimoji="0" sz="1400" b="0" i="0" u="none" strike="noStrike" kern="1200" cap="none" spc="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may</a:t>
            </a:r>
            <a:r>
              <a:rPr kumimoji="0" sz="1400" b="0" i="0" u="none" strike="noStrike" kern="1200" cap="none" spc="3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require</a:t>
            </a:r>
            <a:r>
              <a:rPr kumimoji="0" sz="1400" b="0" i="0" u="none" strike="noStrike" kern="1200" cap="none" spc="2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more</a:t>
            </a:r>
            <a:r>
              <a:rPr kumimoji="0" lang="en-US" sz="1400" b="0" i="0" u="none" strike="noStrike" kern="1200" cap="none" spc="-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HCP</a:t>
            </a:r>
            <a:r>
              <a:rPr kumimoji="0" sz="1400" b="0" i="0" u="none" strike="noStrike" kern="1200" cap="none" spc="-3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visits,</a:t>
            </a:r>
            <a:r>
              <a:rPr kumimoji="0" sz="1400" b="0" i="0" u="none" strike="noStrike" kern="1200" cap="none" spc="-1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more</a:t>
            </a:r>
            <a:r>
              <a:rPr kumimoji="0" sz="1400" b="0" i="0" u="none" strike="noStrike" kern="1200" cap="none" spc="25" normalizeH="0" baseline="0" noProof="0" dirty="0">
                <a:ln>
                  <a:noFill/>
                </a:ln>
                <a:solidFill>
                  <a:srgbClr val="000000"/>
                </a:solidFill>
                <a:effectLst/>
                <a:uLnTx/>
                <a:uFillTx/>
                <a:latin typeface="Arial"/>
                <a:ea typeface="+mn-ea"/>
                <a:cs typeface="Arial"/>
              </a:rPr>
              <a:t> </a:t>
            </a:r>
            <a:r>
              <a:rPr kumimoji="0" lang="en-GB" sz="1400" b="0" i="0" u="none" strike="noStrike" kern="1200" cap="none" spc="-5" normalizeH="0" baseline="0" noProof="0" dirty="0">
                <a:ln>
                  <a:noFill/>
                </a:ln>
                <a:solidFill>
                  <a:srgbClr val="000000"/>
                </a:solidFill>
                <a:effectLst/>
                <a:uLnTx/>
                <a:uFillTx/>
                <a:latin typeface="Arial"/>
                <a:ea typeface="+mn-ea"/>
                <a:cs typeface="Arial"/>
              </a:rPr>
              <a:t>medications</a:t>
            </a:r>
            <a:r>
              <a:rPr kumimoji="0" lang="en-GB" sz="1400" b="0" i="0" u="none" strike="noStrike" kern="1200" cap="none" spc="-15" normalizeH="0" baseline="0" noProof="0" dirty="0">
                <a:ln>
                  <a:noFill/>
                </a:ln>
                <a:solidFill>
                  <a:srgbClr val="000000"/>
                </a:solidFill>
                <a:effectLst/>
                <a:uLnTx/>
                <a:uFillTx/>
                <a:latin typeface="Arial"/>
                <a:ea typeface="+mn-ea"/>
                <a:cs typeface="Arial"/>
              </a:rPr>
              <a:t> </a:t>
            </a:r>
            <a:r>
              <a:rPr kumimoji="0" lang="en-GB" sz="1400" b="0" i="0" u="none" strike="noStrike" kern="1200" cap="none" spc="-5" normalizeH="0" baseline="0" noProof="0" dirty="0">
                <a:ln>
                  <a:noFill/>
                </a:ln>
                <a:solidFill>
                  <a:srgbClr val="000000"/>
                </a:solidFill>
                <a:effectLst/>
                <a:uLnTx/>
                <a:uFillTx/>
                <a:latin typeface="Arial"/>
                <a:ea typeface="+mn-ea"/>
                <a:cs typeface="Arial"/>
              </a:rPr>
              <a:t>and</a:t>
            </a:r>
            <a:r>
              <a:rPr kumimoji="0" sz="1400" b="0" i="0" u="none" strike="noStrike" kern="1200" cap="none" spc="5" normalizeH="0" baseline="0" noProof="0" dirty="0">
                <a:ln>
                  <a:noFill/>
                </a:ln>
                <a:solidFill>
                  <a:srgbClr val="000000"/>
                </a:solidFill>
                <a:effectLst/>
                <a:uLnTx/>
                <a:uFillTx/>
                <a:latin typeface="Arial"/>
                <a:ea typeface="+mn-ea"/>
                <a:cs typeface="Arial"/>
              </a:rPr>
              <a:t> </a:t>
            </a:r>
            <a:r>
              <a:rPr kumimoji="0" lang="en-GB" sz="1400" b="0" i="0" u="none" strike="noStrike" kern="1200" cap="none" spc="-5" normalizeH="0" baseline="0" noProof="0" dirty="0">
                <a:ln>
                  <a:noFill/>
                </a:ln>
                <a:solidFill>
                  <a:srgbClr val="000000"/>
                </a:solidFill>
                <a:effectLst/>
                <a:uLnTx/>
                <a:uFillTx/>
                <a:latin typeface="Arial"/>
                <a:ea typeface="+mn-ea"/>
                <a:cs typeface="Arial"/>
              </a:rPr>
              <a:t>hospitalisation</a:t>
            </a:r>
            <a:r>
              <a:rPr kumimoji="0" sz="1400" b="0" i="0" u="none" strike="noStrike" kern="1200" cap="none" spc="-40"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due</a:t>
            </a:r>
            <a:r>
              <a:rPr kumimoji="0" sz="1400" b="0" i="0" u="none" strike="noStrike" kern="1200" cap="none" spc="15" normalizeH="0" baseline="0" noProof="0" dirty="0">
                <a:ln>
                  <a:noFill/>
                </a:ln>
                <a:solidFill>
                  <a:srgbClr val="000000"/>
                </a:solidFill>
                <a:effectLst/>
                <a:uLnTx/>
                <a:uFillTx/>
                <a:latin typeface="Arial"/>
                <a:ea typeface="+mn-ea"/>
                <a:cs typeface="Arial"/>
              </a:rPr>
              <a:t> </a:t>
            </a:r>
            <a:r>
              <a:rPr kumimoji="0" sz="1400" b="0" i="0" u="none" strike="noStrike" kern="1200" cap="none" spc="-5" normalizeH="0" baseline="0" noProof="0" dirty="0">
                <a:ln>
                  <a:noFill/>
                </a:ln>
                <a:solidFill>
                  <a:srgbClr val="000000"/>
                </a:solidFill>
                <a:effectLst/>
                <a:uLnTx/>
                <a:uFillTx/>
                <a:latin typeface="Arial"/>
                <a:ea typeface="+mn-ea"/>
                <a:cs typeface="Arial"/>
              </a:rPr>
              <a:t>to</a:t>
            </a:r>
            <a:r>
              <a:rPr kumimoji="0" sz="1400" b="0" i="0" u="none" strike="noStrike" kern="1200" cap="none" spc="15" normalizeH="0" baseline="0" noProof="0" dirty="0">
                <a:ln>
                  <a:noFill/>
                </a:ln>
                <a:solidFill>
                  <a:srgbClr val="000000"/>
                </a:solidFill>
                <a:effectLst/>
                <a:uLnTx/>
                <a:uFillTx/>
                <a:latin typeface="Arial"/>
                <a:ea typeface="+mn-ea"/>
                <a:cs typeface="Arial"/>
              </a:rPr>
              <a:t> </a:t>
            </a:r>
            <a:r>
              <a:rPr kumimoji="0" sz="1400" b="0" i="0" u="none" strike="noStrike" kern="1200" cap="none" spc="0" normalizeH="0" baseline="0" noProof="0" dirty="0">
                <a:ln>
                  <a:noFill/>
                </a:ln>
                <a:solidFill>
                  <a:srgbClr val="000000"/>
                </a:solidFill>
                <a:effectLst/>
                <a:uLnTx/>
                <a:uFillTx/>
                <a:latin typeface="Arial"/>
                <a:ea typeface="+mn-ea"/>
                <a:cs typeface="Arial"/>
              </a:rPr>
              <a:t>exacerbations</a:t>
            </a:r>
            <a:r>
              <a:rPr kumimoji="0" lang="en-US" sz="1400" b="0" i="0" u="none" strike="noStrike" kern="1200" cap="none" spc="0" normalizeH="0" baseline="0" noProof="0" dirty="0">
                <a:ln>
                  <a:noFill/>
                </a:ln>
                <a:solidFill>
                  <a:srgbClr val="000000"/>
                </a:solidFill>
                <a:effectLst/>
                <a:uLnTx/>
                <a:uFillTx/>
                <a:latin typeface="Arial"/>
                <a:ea typeface="+mn-ea"/>
                <a:cs typeface="Arial"/>
              </a:rPr>
              <a:t>.</a:t>
            </a:r>
            <a:r>
              <a:rPr kumimoji="0" sz="1400" b="0" i="0" u="none" strike="noStrike" kern="1200" cap="none" spc="0" normalizeH="0" baseline="26455" noProof="0" dirty="0">
                <a:ln>
                  <a:noFill/>
                </a:ln>
                <a:solidFill>
                  <a:srgbClr val="000000"/>
                </a:solidFill>
                <a:effectLst/>
                <a:uLnTx/>
                <a:uFillTx/>
                <a:latin typeface="Arial"/>
                <a:ea typeface="+mn-ea"/>
                <a:cs typeface="Arial"/>
              </a:rPr>
              <a:t>1</a:t>
            </a:r>
            <a:r>
              <a:rPr kumimoji="0" lang="en-US" sz="1400" b="0" i="0" u="none" strike="noStrike" kern="1200" cap="none" spc="0" normalizeH="0" baseline="26455" noProof="0" dirty="0">
                <a:ln>
                  <a:noFill/>
                </a:ln>
                <a:solidFill>
                  <a:srgbClr val="000000"/>
                </a:solidFill>
                <a:effectLst/>
                <a:uLnTx/>
                <a:uFillTx/>
                <a:latin typeface="Arial"/>
                <a:ea typeface="+mn-ea"/>
                <a:cs typeface="Arial"/>
              </a:rPr>
              <a:t>-4</a:t>
            </a:r>
            <a:endParaRPr kumimoji="0" sz="14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17" name="Rectangle 16">
            <a:extLst>
              <a:ext uri="{FF2B5EF4-FFF2-40B4-BE49-F238E27FC236}">
                <a16:creationId xmlns:a16="http://schemas.microsoft.com/office/drawing/2014/main" id="{206186CD-B4AF-CCF8-CCC0-ADEB75520A2D}"/>
              </a:ext>
            </a:extLst>
          </p:cNvPr>
          <p:cNvSpPr>
            <a:spLocks/>
          </p:cNvSpPr>
          <p:nvPr/>
        </p:nvSpPr>
        <p:spPr>
          <a:xfrm>
            <a:off x="367284" y="1877130"/>
            <a:ext cx="11457432" cy="3407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10" normalizeH="0" baseline="0" noProof="0" dirty="0">
                <a:ln>
                  <a:noFill/>
                </a:ln>
                <a:solidFill>
                  <a:srgbClr val="FFFFFF"/>
                </a:solidFill>
                <a:effectLst/>
                <a:uLnTx/>
                <a:uFillTx/>
                <a:latin typeface="Arial"/>
                <a:ea typeface="+mn-ea"/>
                <a:cs typeface="Arial"/>
              </a:rPr>
              <a:t>Caregivers’</a:t>
            </a:r>
            <a:r>
              <a:rPr kumimoji="0" lang="en-US" sz="1600" b="1" i="0" u="none" strike="noStrike" kern="1200" cap="none" spc="-40" normalizeH="0" baseline="0" noProof="0" dirty="0">
                <a:ln>
                  <a:noFill/>
                </a:ln>
                <a:solidFill>
                  <a:srgbClr val="FFFFFF"/>
                </a:solidFill>
                <a:effectLst/>
                <a:uLnTx/>
                <a:uFillTx/>
                <a:latin typeface="Arial"/>
                <a:ea typeface="+mn-ea"/>
                <a:cs typeface="Arial"/>
              </a:rPr>
              <a:t> </a:t>
            </a:r>
            <a:r>
              <a:rPr kumimoji="0" lang="en-US" sz="1600" b="1" i="0" u="none" strike="noStrike" kern="1200" cap="none" spc="-10" normalizeH="0" baseline="0" noProof="0" dirty="0">
                <a:ln>
                  <a:noFill/>
                </a:ln>
                <a:solidFill>
                  <a:srgbClr val="FFFFFF"/>
                </a:solidFill>
                <a:effectLst/>
                <a:uLnTx/>
                <a:uFillTx/>
                <a:latin typeface="Arial"/>
                <a:ea typeface="+mn-ea"/>
                <a:cs typeface="Arial"/>
              </a:rPr>
              <a:t>challenges</a:t>
            </a:r>
            <a:r>
              <a:rPr kumimoji="0" lang="en-US" sz="1600" b="1" i="0" u="none" strike="noStrike" kern="1200" cap="none" spc="20" normalizeH="0" baseline="0" noProof="0" dirty="0">
                <a:ln>
                  <a:noFill/>
                </a:ln>
                <a:solidFill>
                  <a:srgbClr val="FFFFFF"/>
                </a:solidFill>
                <a:effectLst/>
                <a:uLnTx/>
                <a:uFillTx/>
                <a:latin typeface="Arial"/>
                <a:ea typeface="+mn-ea"/>
                <a:cs typeface="Arial"/>
              </a:rPr>
              <a:t> </a:t>
            </a:r>
            <a:r>
              <a:rPr kumimoji="0" lang="en-US" sz="1600" b="1" i="0" u="none" strike="noStrike" kern="1200" cap="none" spc="-10" normalizeH="0" baseline="0" noProof="0" dirty="0">
                <a:ln>
                  <a:noFill/>
                </a:ln>
                <a:solidFill>
                  <a:srgbClr val="FFFFFF"/>
                </a:solidFill>
                <a:effectLst/>
                <a:uLnTx/>
                <a:uFillTx/>
                <a:latin typeface="Arial"/>
                <a:ea typeface="+mn-ea"/>
                <a:cs typeface="Arial"/>
              </a:rPr>
              <a:t>may</a:t>
            </a:r>
            <a:r>
              <a:rPr kumimoji="0" lang="en-US" sz="1600" b="1" i="0" u="none" strike="noStrike" kern="1200" cap="none" spc="5" normalizeH="0" baseline="0" noProof="0" dirty="0">
                <a:ln>
                  <a:noFill/>
                </a:ln>
                <a:solidFill>
                  <a:srgbClr val="FFFFFF"/>
                </a:solidFill>
                <a:effectLst/>
                <a:uLnTx/>
                <a:uFillTx/>
                <a:latin typeface="Arial"/>
                <a:ea typeface="+mn-ea"/>
                <a:cs typeface="Arial"/>
              </a:rPr>
              <a:t> </a:t>
            </a:r>
            <a:r>
              <a:rPr kumimoji="0" lang="en-US" sz="1600" b="1" i="0" u="none" strike="noStrike" kern="1200" cap="none" spc="-5" normalizeH="0" baseline="0" noProof="0" dirty="0">
                <a:ln>
                  <a:noFill/>
                </a:ln>
                <a:solidFill>
                  <a:srgbClr val="FFFFFF"/>
                </a:solidFill>
                <a:effectLst/>
                <a:uLnTx/>
                <a:uFillTx/>
                <a:latin typeface="Arial"/>
                <a:ea typeface="+mn-ea"/>
                <a:cs typeface="Arial"/>
              </a:rPr>
              <a:t>include:</a:t>
            </a:r>
            <a:endParaRPr kumimoji="0" lang="en-US" sz="1600" b="0" i="0" u="none" strike="noStrike" kern="1200" cap="none" spc="0" normalizeH="0" baseline="26455" noProof="0" dirty="0">
              <a:ln>
                <a:noFill/>
              </a:ln>
              <a:solidFill>
                <a:prstClr val="white"/>
              </a:solidFill>
              <a:effectLst/>
              <a:uLnTx/>
              <a:uFillTx/>
              <a:latin typeface="Arial"/>
              <a:ea typeface="+mn-ea"/>
              <a:cs typeface="Arial"/>
            </a:endParaRPr>
          </a:p>
        </p:txBody>
      </p:sp>
      <p:pic>
        <p:nvPicPr>
          <p:cNvPr id="18" name="Picture 17">
            <a:extLst>
              <a:ext uri="{FF2B5EF4-FFF2-40B4-BE49-F238E27FC236}">
                <a16:creationId xmlns:a16="http://schemas.microsoft.com/office/drawing/2014/main" id="{E946F7CF-8E24-D5CD-DF05-548023CFF8B0}"/>
              </a:ext>
            </a:extLst>
          </p:cNvPr>
          <p:cNvPicPr>
            <a:picLocks/>
          </p:cNvPicPr>
          <p:nvPr/>
        </p:nvPicPr>
        <p:blipFill rotWithShape="1">
          <a:blip r:embed="rId3" cstate="print">
            <a:extLst>
              <a:ext uri="{28A0092B-C50C-407E-A947-70E740481C1C}">
                <a14:useLocalDpi xmlns:a14="http://schemas.microsoft.com/office/drawing/2010/main" val="0"/>
              </a:ext>
            </a:extLst>
          </a:blip>
          <a:srcRect l="4880"/>
          <a:stretch/>
        </p:blipFill>
        <p:spPr>
          <a:xfrm>
            <a:off x="383343" y="2234666"/>
            <a:ext cx="2242215" cy="1771162"/>
          </a:xfrm>
          <a:prstGeom prst="rect">
            <a:avLst/>
          </a:prstGeom>
          <a:ln>
            <a:solidFill>
              <a:schemeClr val="tx2">
                <a:lumMod val="40000"/>
                <a:lumOff val="60000"/>
              </a:schemeClr>
            </a:solidFill>
          </a:ln>
        </p:spPr>
      </p:pic>
      <p:pic>
        <p:nvPicPr>
          <p:cNvPr id="19" name="Picture 18">
            <a:extLst>
              <a:ext uri="{FF2B5EF4-FFF2-40B4-BE49-F238E27FC236}">
                <a16:creationId xmlns:a16="http://schemas.microsoft.com/office/drawing/2014/main" id="{21784944-9AE8-5BC8-E8FD-BE2022A07D83}"/>
              </a:ext>
            </a:extLst>
          </p:cNvPr>
          <p:cNvPicPr>
            <a:picLocks/>
          </p:cNvPicPr>
          <p:nvPr/>
        </p:nvPicPr>
        <p:blipFill>
          <a:blip r:embed="rId4" cstate="print">
            <a:extLst>
              <a:ext uri="{28A0092B-C50C-407E-A947-70E740481C1C}">
                <a14:useLocalDpi xmlns:a14="http://schemas.microsoft.com/office/drawing/2010/main" val="0"/>
              </a:ext>
            </a:extLst>
          </a:blip>
          <a:stretch>
            <a:fillRect/>
          </a:stretch>
        </p:blipFill>
        <p:spPr>
          <a:xfrm>
            <a:off x="2683132" y="2234666"/>
            <a:ext cx="2242215" cy="1771162"/>
          </a:xfrm>
          <a:prstGeom prst="rect">
            <a:avLst/>
          </a:prstGeom>
          <a:ln>
            <a:solidFill>
              <a:schemeClr val="tx2">
                <a:lumMod val="40000"/>
                <a:lumOff val="60000"/>
              </a:schemeClr>
            </a:solidFill>
          </a:ln>
        </p:spPr>
      </p:pic>
      <p:pic>
        <p:nvPicPr>
          <p:cNvPr id="20" name="Picture 19">
            <a:extLst>
              <a:ext uri="{FF2B5EF4-FFF2-40B4-BE49-F238E27FC236}">
                <a16:creationId xmlns:a16="http://schemas.microsoft.com/office/drawing/2014/main" id="{BC04092A-F385-386C-BE72-2328407C9570}"/>
              </a:ext>
            </a:extLst>
          </p:cNvPr>
          <p:cNvPicPr>
            <a:picLocks/>
          </p:cNvPicPr>
          <p:nvPr/>
        </p:nvPicPr>
        <p:blipFill>
          <a:blip r:embed="rId5" cstate="print">
            <a:extLst>
              <a:ext uri="{28A0092B-C50C-407E-A947-70E740481C1C}">
                <a14:useLocalDpi xmlns:a14="http://schemas.microsoft.com/office/drawing/2010/main" val="0"/>
              </a:ext>
            </a:extLst>
          </a:blip>
          <a:stretch>
            <a:fillRect/>
          </a:stretch>
        </p:blipFill>
        <p:spPr>
          <a:xfrm>
            <a:off x="4982921" y="2234666"/>
            <a:ext cx="2242215" cy="1771162"/>
          </a:xfrm>
          <a:prstGeom prst="rect">
            <a:avLst/>
          </a:prstGeom>
          <a:ln>
            <a:solidFill>
              <a:schemeClr val="tx2">
                <a:lumMod val="40000"/>
                <a:lumOff val="60000"/>
              </a:schemeClr>
            </a:solidFill>
          </a:ln>
        </p:spPr>
      </p:pic>
      <p:pic>
        <p:nvPicPr>
          <p:cNvPr id="21" name="Picture 20">
            <a:extLst>
              <a:ext uri="{FF2B5EF4-FFF2-40B4-BE49-F238E27FC236}">
                <a16:creationId xmlns:a16="http://schemas.microsoft.com/office/drawing/2014/main" id="{E86059BF-EA1D-29C2-8CB8-4D22F3B3B005}"/>
              </a:ext>
            </a:extLst>
          </p:cNvPr>
          <p:cNvPicPr>
            <a:picLocks/>
          </p:cNvPicPr>
          <p:nvPr/>
        </p:nvPicPr>
        <p:blipFill>
          <a:blip r:embed="rId6" cstate="print">
            <a:extLst>
              <a:ext uri="{28A0092B-C50C-407E-A947-70E740481C1C}">
                <a14:useLocalDpi xmlns:a14="http://schemas.microsoft.com/office/drawing/2010/main" val="0"/>
              </a:ext>
            </a:extLst>
          </a:blip>
          <a:stretch>
            <a:fillRect/>
          </a:stretch>
        </p:blipFill>
        <p:spPr>
          <a:xfrm>
            <a:off x="7282710" y="2234666"/>
            <a:ext cx="2242215" cy="1771162"/>
          </a:xfrm>
          <a:prstGeom prst="rect">
            <a:avLst/>
          </a:prstGeom>
          <a:ln>
            <a:solidFill>
              <a:schemeClr val="tx2">
                <a:lumMod val="40000"/>
                <a:lumOff val="60000"/>
              </a:schemeClr>
            </a:solidFill>
          </a:ln>
        </p:spPr>
      </p:pic>
      <p:pic>
        <p:nvPicPr>
          <p:cNvPr id="22" name="Picture 21">
            <a:extLst>
              <a:ext uri="{FF2B5EF4-FFF2-40B4-BE49-F238E27FC236}">
                <a16:creationId xmlns:a16="http://schemas.microsoft.com/office/drawing/2014/main" id="{43305DD3-4AAE-938F-21C4-CFBD99BF446F}"/>
              </a:ext>
            </a:extLst>
          </p:cNvPr>
          <p:cNvPicPr>
            <a:picLocks/>
          </p:cNvPicPr>
          <p:nvPr/>
        </p:nvPicPr>
        <p:blipFill>
          <a:blip r:embed="rId7" cstate="print">
            <a:extLst>
              <a:ext uri="{28A0092B-C50C-407E-A947-70E740481C1C}">
                <a14:useLocalDpi xmlns:a14="http://schemas.microsoft.com/office/drawing/2010/main" val="0"/>
              </a:ext>
            </a:extLst>
          </a:blip>
          <a:stretch>
            <a:fillRect/>
          </a:stretch>
        </p:blipFill>
        <p:spPr>
          <a:xfrm>
            <a:off x="9582501" y="2234666"/>
            <a:ext cx="2242215" cy="1771162"/>
          </a:xfrm>
          <a:prstGeom prst="rect">
            <a:avLst/>
          </a:prstGeom>
          <a:ln>
            <a:solidFill>
              <a:schemeClr val="tx2">
                <a:lumMod val="40000"/>
                <a:lumOff val="60000"/>
              </a:schemeClr>
            </a:solidFill>
          </a:ln>
        </p:spPr>
      </p:pic>
      <p:sp>
        <p:nvSpPr>
          <p:cNvPr id="5" name="Rectangle 4">
            <a:extLst>
              <a:ext uri="{FF2B5EF4-FFF2-40B4-BE49-F238E27FC236}">
                <a16:creationId xmlns:a16="http://schemas.microsoft.com/office/drawing/2014/main" id="{E217A622-19CC-8121-A288-2C171E53044E}"/>
              </a:ext>
            </a:extLst>
          </p:cNvPr>
          <p:cNvSpPr>
            <a:spLocks/>
          </p:cNvSpPr>
          <p:nvPr/>
        </p:nvSpPr>
        <p:spPr>
          <a:xfrm>
            <a:off x="2683132" y="4035424"/>
            <a:ext cx="2242215" cy="33812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60960" lvl="0" indent="0" algn="ctr" defTabSz="1219170" rtl="0" eaLnBrk="1" fontAlgn="auto" latinLnBrk="0" hangingPunct="1">
              <a:lnSpc>
                <a:spcPct val="100000"/>
              </a:lnSpc>
              <a:spcBef>
                <a:spcPts val="265"/>
              </a:spcBef>
              <a:spcAft>
                <a:spcPts val="0"/>
              </a:spcAft>
              <a:buClrTx/>
              <a:buSzTx/>
              <a:buFontTx/>
              <a:buNone/>
              <a:tabLst/>
              <a:defRPr/>
            </a:pPr>
            <a:r>
              <a:rPr kumimoji="0" lang="en-US" sz="900" b="1" i="0" u="none" strike="noStrike" kern="1200" cap="none" spc="-5" normalizeH="0" baseline="0" noProof="0" dirty="0">
                <a:ln>
                  <a:noFill/>
                </a:ln>
                <a:solidFill>
                  <a:srgbClr val="FFFFFF"/>
                </a:solidFill>
                <a:effectLst/>
                <a:uLnTx/>
                <a:uFillTx/>
                <a:latin typeface="Arial"/>
                <a:ea typeface="+mn-ea"/>
                <a:cs typeface="Arial"/>
              </a:rPr>
              <a:t>Work-life balance</a:t>
            </a:r>
          </a:p>
        </p:txBody>
      </p:sp>
      <p:sp>
        <p:nvSpPr>
          <p:cNvPr id="8" name="Rectangle 7">
            <a:extLst>
              <a:ext uri="{FF2B5EF4-FFF2-40B4-BE49-F238E27FC236}">
                <a16:creationId xmlns:a16="http://schemas.microsoft.com/office/drawing/2014/main" id="{40AA891A-96FE-71B2-517F-76DAD12CDBAF}"/>
              </a:ext>
            </a:extLst>
          </p:cNvPr>
          <p:cNvSpPr>
            <a:spLocks/>
          </p:cNvSpPr>
          <p:nvPr/>
        </p:nvSpPr>
        <p:spPr>
          <a:xfrm>
            <a:off x="2683132" y="4397937"/>
            <a:ext cx="2242215" cy="113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Analysis of the EDAD study* of dependency in Spain showed that</a:t>
            </a:r>
            <a:r>
              <a:rPr kumimoji="0" lang="en-US" sz="900" b="0" i="0" u="none" strike="noStrike" kern="1200" cap="none" spc="-5" normalizeH="0" baseline="30000" noProof="0" dirty="0">
                <a:ln>
                  <a:noFill/>
                </a:ln>
                <a:solidFill>
                  <a:srgbClr val="000000"/>
                </a:solidFill>
                <a:effectLst/>
                <a:uLnTx/>
                <a:uFillTx/>
                <a:latin typeface="Arial"/>
                <a:ea typeface="+mn-ea"/>
                <a:cs typeface="Arial"/>
              </a:rPr>
              <a:t>4</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Among caregivers aged &gt; 65 years, 37.3% had occupation-related problems</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The probability of presenting with work-related problems increased as dependency increased</a:t>
            </a:r>
          </a:p>
        </p:txBody>
      </p:sp>
      <p:sp>
        <p:nvSpPr>
          <p:cNvPr id="9" name="Rectangle 8">
            <a:extLst>
              <a:ext uri="{FF2B5EF4-FFF2-40B4-BE49-F238E27FC236}">
                <a16:creationId xmlns:a16="http://schemas.microsoft.com/office/drawing/2014/main" id="{2F049D8B-5210-1E3F-2437-AE24ED1DA81C}"/>
              </a:ext>
            </a:extLst>
          </p:cNvPr>
          <p:cNvSpPr>
            <a:spLocks/>
          </p:cNvSpPr>
          <p:nvPr/>
        </p:nvSpPr>
        <p:spPr>
          <a:xfrm>
            <a:off x="4982921" y="4035424"/>
            <a:ext cx="2242215" cy="338123"/>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60960" lvl="0" indent="0" algn="ctr" defTabSz="1219170" rtl="0" eaLnBrk="1" fontAlgn="auto" latinLnBrk="0" hangingPunct="1">
              <a:lnSpc>
                <a:spcPct val="100000"/>
              </a:lnSpc>
              <a:spcBef>
                <a:spcPts val="265"/>
              </a:spcBef>
              <a:spcAft>
                <a:spcPts val="0"/>
              </a:spcAft>
              <a:buClrTx/>
              <a:buSzTx/>
              <a:buFontTx/>
              <a:buNone/>
              <a:tabLst/>
              <a:defRPr/>
            </a:pPr>
            <a:r>
              <a:rPr kumimoji="0" lang="en-US" sz="900" b="1" i="0" u="none" strike="noStrike" kern="1200" cap="none" spc="-5" normalizeH="0" baseline="0" noProof="0" dirty="0">
                <a:ln>
                  <a:noFill/>
                </a:ln>
                <a:solidFill>
                  <a:srgbClr val="FFFFFF"/>
                </a:solidFill>
                <a:effectLst/>
                <a:uLnTx/>
                <a:uFillTx/>
                <a:latin typeface="Arial"/>
                <a:ea typeface="+mn-ea"/>
                <a:cs typeface="Arial"/>
              </a:rPr>
              <a:t>Loss of mobility and freedom</a:t>
            </a:r>
          </a:p>
        </p:txBody>
      </p:sp>
      <p:sp>
        <p:nvSpPr>
          <p:cNvPr id="10" name="Rectangle 9">
            <a:extLst>
              <a:ext uri="{FF2B5EF4-FFF2-40B4-BE49-F238E27FC236}">
                <a16:creationId xmlns:a16="http://schemas.microsoft.com/office/drawing/2014/main" id="{A1B3A1E6-B07B-C719-BCF8-4A20B3F56DF0}"/>
              </a:ext>
            </a:extLst>
          </p:cNvPr>
          <p:cNvSpPr>
            <a:spLocks/>
          </p:cNvSpPr>
          <p:nvPr/>
        </p:nvSpPr>
        <p:spPr>
          <a:xfrm>
            <a:off x="4982921" y="4397937"/>
            <a:ext cx="2242215" cy="113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Analysis of the EDAD study also showed</a:t>
            </a:r>
            <a:r>
              <a:rPr kumimoji="0" lang="en-US" sz="900" b="0" i="0" u="none" strike="noStrike" kern="1200" cap="none" spc="-5" normalizeH="0" baseline="30000" noProof="0" dirty="0">
                <a:ln>
                  <a:noFill/>
                </a:ln>
                <a:solidFill>
                  <a:srgbClr val="000000"/>
                </a:solidFill>
                <a:effectLst/>
                <a:uLnTx/>
                <a:uFillTx/>
                <a:latin typeface="Arial"/>
                <a:ea typeface="+mn-ea"/>
                <a:cs typeface="Arial"/>
              </a:rPr>
              <a:t>4</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82.9% of caregivers experienced reduced social/leisure time</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Even for non-dependent patients, 40.5% of caregivers experienced a decrease in leisure time</a:t>
            </a:r>
          </a:p>
        </p:txBody>
      </p:sp>
      <p:sp>
        <p:nvSpPr>
          <p:cNvPr id="11" name="Rectangle 10">
            <a:extLst>
              <a:ext uri="{FF2B5EF4-FFF2-40B4-BE49-F238E27FC236}">
                <a16:creationId xmlns:a16="http://schemas.microsoft.com/office/drawing/2014/main" id="{61625FC8-5244-68F3-4C36-0C0071E59755}"/>
              </a:ext>
            </a:extLst>
          </p:cNvPr>
          <p:cNvSpPr>
            <a:spLocks/>
          </p:cNvSpPr>
          <p:nvPr/>
        </p:nvSpPr>
        <p:spPr>
          <a:xfrm>
            <a:off x="7282710" y="4035424"/>
            <a:ext cx="2242215" cy="33812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60960" lvl="0" indent="0" algn="ctr" defTabSz="1219170" rtl="0" eaLnBrk="1" fontAlgn="auto" latinLnBrk="0" hangingPunct="1">
              <a:lnSpc>
                <a:spcPct val="100000"/>
              </a:lnSpc>
              <a:spcBef>
                <a:spcPts val="265"/>
              </a:spcBef>
              <a:spcAft>
                <a:spcPts val="0"/>
              </a:spcAft>
              <a:buClrTx/>
              <a:buSzTx/>
              <a:buFontTx/>
              <a:buNone/>
              <a:tabLst/>
              <a:defRPr/>
            </a:pPr>
            <a:r>
              <a:rPr kumimoji="0" lang="en-US" sz="900" b="1" i="0" u="none" strike="noStrike" kern="1200" cap="none" spc="-5" normalizeH="0" baseline="0" noProof="0" dirty="0">
                <a:ln>
                  <a:noFill/>
                </a:ln>
                <a:solidFill>
                  <a:srgbClr val="FFFFFF"/>
                </a:solidFill>
                <a:effectLst/>
                <a:uLnTx/>
                <a:uFillTx/>
                <a:latin typeface="Arial"/>
                <a:ea typeface="+mn-ea"/>
                <a:cs typeface="Arial"/>
              </a:rPr>
              <a:t>Strained relationships</a:t>
            </a:r>
          </a:p>
        </p:txBody>
      </p:sp>
      <p:sp>
        <p:nvSpPr>
          <p:cNvPr id="12" name="Rectangle 11">
            <a:extLst>
              <a:ext uri="{FF2B5EF4-FFF2-40B4-BE49-F238E27FC236}">
                <a16:creationId xmlns:a16="http://schemas.microsoft.com/office/drawing/2014/main" id="{E29F458F-B3AB-138B-C6BD-1887E2F8CC4F}"/>
              </a:ext>
            </a:extLst>
          </p:cNvPr>
          <p:cNvSpPr>
            <a:spLocks/>
          </p:cNvSpPr>
          <p:nvPr/>
        </p:nvSpPr>
        <p:spPr>
          <a:xfrm>
            <a:off x="7282710" y="4397937"/>
            <a:ext cx="2242215" cy="113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Caregivers have previously reported the following as a result of caring for a partner with COPD:</a:t>
            </a:r>
            <a:r>
              <a:rPr kumimoji="0" lang="en-US" sz="900" b="0" i="0" u="none" strike="noStrike" kern="1200" cap="none" spc="-5" normalizeH="0" baseline="30000" noProof="0" dirty="0">
                <a:ln>
                  <a:noFill/>
                </a:ln>
                <a:solidFill>
                  <a:srgbClr val="000000"/>
                </a:solidFill>
                <a:effectLst/>
                <a:uLnTx/>
                <a:uFillTx/>
                <a:latin typeface="Arial"/>
                <a:ea typeface="+mn-ea"/>
                <a:cs typeface="Arial"/>
              </a:rPr>
              <a:t>4</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Conflicts with their partner</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Reduced attraction to their partner</a:t>
            </a:r>
          </a:p>
          <a:p>
            <a:pPr marL="171450" marR="85090" lvl="0" indent="-101600" algn="l" defTabSz="1219170" rtl="0" eaLnBrk="1" fontAlgn="auto" latinLnBrk="0" hangingPunct="1">
              <a:lnSpc>
                <a:spcPct val="100000"/>
              </a:lnSpc>
              <a:spcBef>
                <a:spcPts val="200"/>
              </a:spcBef>
              <a:spcAft>
                <a:spcPts val="0"/>
              </a:spcAft>
              <a:buClr>
                <a:srgbClr val="F36633"/>
              </a:buClr>
              <a:buSzTx/>
              <a:buFont typeface="Arial" panose="020B0604020202020204" pitchFamily="34" charset="0"/>
              <a:buChar char="•"/>
              <a:tabLst>
                <a:tab pos="243840" algn="l"/>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Negative impact on intimacy</a:t>
            </a:r>
          </a:p>
        </p:txBody>
      </p:sp>
      <p:sp>
        <p:nvSpPr>
          <p:cNvPr id="13" name="Rectangle 12">
            <a:extLst>
              <a:ext uri="{FF2B5EF4-FFF2-40B4-BE49-F238E27FC236}">
                <a16:creationId xmlns:a16="http://schemas.microsoft.com/office/drawing/2014/main" id="{AB4E1BE5-5E61-5221-D595-F590C2D451B3}"/>
              </a:ext>
            </a:extLst>
          </p:cNvPr>
          <p:cNvSpPr>
            <a:spLocks/>
          </p:cNvSpPr>
          <p:nvPr/>
        </p:nvSpPr>
        <p:spPr>
          <a:xfrm>
            <a:off x="9582501" y="4035424"/>
            <a:ext cx="2242215" cy="338123"/>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60960" lvl="0" indent="0" algn="ctr" defTabSz="1219170" rtl="0" eaLnBrk="1" fontAlgn="auto" latinLnBrk="0" hangingPunct="1">
              <a:lnSpc>
                <a:spcPct val="100000"/>
              </a:lnSpc>
              <a:spcBef>
                <a:spcPts val="265"/>
              </a:spcBef>
              <a:spcAft>
                <a:spcPts val="0"/>
              </a:spcAft>
              <a:buClrTx/>
              <a:buSzTx/>
              <a:buFontTx/>
              <a:buNone/>
              <a:tabLst/>
              <a:defRPr/>
            </a:pPr>
            <a:r>
              <a:rPr kumimoji="0" lang="en-US" sz="900" b="1" i="0" u="none" strike="noStrike" kern="1200" cap="none" spc="-5" normalizeH="0" baseline="0" noProof="0" dirty="0">
                <a:ln>
                  <a:noFill/>
                </a:ln>
                <a:solidFill>
                  <a:srgbClr val="FFFFFF"/>
                </a:solidFill>
                <a:effectLst/>
                <a:uLnTx/>
                <a:uFillTx/>
                <a:latin typeface="Arial"/>
                <a:ea typeface="+mn-ea"/>
                <a:cs typeface="Arial"/>
              </a:rPr>
              <a:t>Growing social isolation</a:t>
            </a:r>
          </a:p>
        </p:txBody>
      </p:sp>
      <p:sp>
        <p:nvSpPr>
          <p:cNvPr id="14" name="Rectangle 13">
            <a:extLst>
              <a:ext uri="{FF2B5EF4-FFF2-40B4-BE49-F238E27FC236}">
                <a16:creationId xmlns:a16="http://schemas.microsoft.com/office/drawing/2014/main" id="{B76D08C5-0502-4768-0A8F-DDF40CFA0AD8}"/>
              </a:ext>
            </a:extLst>
          </p:cNvPr>
          <p:cNvSpPr>
            <a:spLocks/>
          </p:cNvSpPr>
          <p:nvPr/>
        </p:nvSpPr>
        <p:spPr>
          <a:xfrm>
            <a:off x="9582501" y="4397937"/>
            <a:ext cx="2242215" cy="113132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t"/>
          <a:lstStyle/>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Social isolation is experienced by caregivers and increases with dependency</a:t>
            </a:r>
            <a:r>
              <a:rPr kumimoji="0" lang="en-US" sz="900" b="0" i="0" u="none" strike="noStrike" kern="1200" cap="none" spc="-5" normalizeH="0" baseline="30000" noProof="0" dirty="0">
                <a:ln>
                  <a:noFill/>
                </a:ln>
                <a:solidFill>
                  <a:srgbClr val="000000"/>
                </a:solidFill>
                <a:effectLst/>
                <a:uLnTx/>
                <a:uFillTx/>
                <a:latin typeface="Arial"/>
                <a:ea typeface="+mn-ea"/>
                <a:cs typeface="Arial"/>
              </a:rPr>
              <a:t>4</a:t>
            </a:r>
          </a:p>
          <a:p>
            <a:pPr marL="71120" marR="85090" lvl="0" indent="0" algn="l" defTabSz="1219170" rtl="0" eaLnBrk="1" fontAlgn="auto" latinLnBrk="0" hangingPunct="1">
              <a:lnSpc>
                <a:spcPct val="100000"/>
              </a:lnSpc>
              <a:spcBef>
                <a:spcPts val="200"/>
              </a:spcBef>
              <a:spcAft>
                <a:spcPts val="0"/>
              </a:spcAft>
              <a:buClrTx/>
              <a:buSzTx/>
              <a:buFontTx/>
              <a:buNone/>
              <a:tabLst/>
              <a:defRPr/>
            </a:pPr>
            <a:r>
              <a:rPr kumimoji="0" lang="en-US" sz="900" b="0" i="0" u="none" strike="noStrike" kern="1200" cap="none" spc="-5" normalizeH="0" baseline="0" noProof="0" dirty="0">
                <a:ln>
                  <a:noFill/>
                </a:ln>
                <a:solidFill>
                  <a:srgbClr val="000000"/>
                </a:solidFill>
                <a:effectLst/>
                <a:uLnTx/>
                <a:uFillTx/>
                <a:latin typeface="Arial"/>
                <a:ea typeface="+mn-ea"/>
                <a:cs typeface="Arial"/>
              </a:rPr>
              <a:t>The EDAD study showed that among caregivers who cared for patients with great dependence, 65.1% ‘had no time for friends’</a:t>
            </a:r>
            <a:r>
              <a:rPr kumimoji="0" lang="en-US" sz="900" b="0" i="0" u="none" strike="noStrike" kern="1200" cap="none" spc="-5" normalizeH="0" baseline="30000" noProof="0" dirty="0">
                <a:ln>
                  <a:noFill/>
                </a:ln>
                <a:solidFill>
                  <a:srgbClr val="000000"/>
                </a:solidFill>
                <a:effectLst/>
                <a:uLnTx/>
                <a:uFillTx/>
                <a:latin typeface="Arial"/>
                <a:ea typeface="+mn-ea"/>
                <a:cs typeface="Arial"/>
              </a:rPr>
              <a:t>4</a:t>
            </a:r>
          </a:p>
        </p:txBody>
      </p:sp>
      <p:sp>
        <p:nvSpPr>
          <p:cNvPr id="23" name="Slide Number Placeholder 22">
            <a:extLst>
              <a:ext uri="{FF2B5EF4-FFF2-40B4-BE49-F238E27FC236}">
                <a16:creationId xmlns:a16="http://schemas.microsoft.com/office/drawing/2014/main" id="{E82EB954-1D2B-6A59-A745-01F78A07C7C9}"/>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41</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2298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2AE81E5-9933-5358-D3CF-87FCFE37E443}"/>
              </a:ext>
            </a:extLst>
          </p:cNvPr>
          <p:cNvSpPr>
            <a:spLocks noGrp="1"/>
          </p:cNvSpPr>
          <p:nvPr>
            <p:ph type="title"/>
          </p:nvPr>
        </p:nvSpPr>
        <p:spPr/>
        <p:txBody>
          <a:bodyPr/>
          <a:lstStyle/>
          <a:p>
            <a:r>
              <a:rPr lang="en-US" dirty="0"/>
              <a:t>COPD is associated with major economic burden</a:t>
            </a:r>
            <a:endParaRPr lang="en-GB" dirty="0"/>
          </a:p>
        </p:txBody>
      </p:sp>
      <p:sp>
        <p:nvSpPr>
          <p:cNvPr id="8" name="Subtitle 7">
            <a:extLst>
              <a:ext uri="{FF2B5EF4-FFF2-40B4-BE49-F238E27FC236}">
                <a16:creationId xmlns:a16="http://schemas.microsoft.com/office/drawing/2014/main" id="{1E3BDA0B-714D-04E4-097F-54408E558B6E}"/>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199036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335C2AA5-A748-3A62-E9C3-9C7FCDA53106}"/>
              </a:ext>
            </a:extLst>
          </p:cNvPr>
          <p:cNvSpPr>
            <a:spLocks noGrp="1"/>
          </p:cNvSpPr>
          <p:nvPr>
            <p:ph type="body" sz="quarter" idx="13"/>
          </p:nvPr>
        </p:nvSpPr>
        <p:spPr/>
        <p:txBody>
          <a:bodyPr/>
          <a:lstStyle/>
          <a:p>
            <a:r>
              <a:rPr lang="en-US" dirty="0"/>
              <a:t>1. </a:t>
            </a:r>
            <a:r>
              <a:rPr lang="en-US" sz="800" dirty="0">
                <a:latin typeface="Arial"/>
                <a:cs typeface="Arial"/>
              </a:rPr>
              <a:t>GOLD. Global Strategy for the Diagnosis, Management, and Prevention of Chronic Obstructive Pulmonary Disease (2023 Report). </a:t>
            </a:r>
            <a:r>
              <a:rPr lang="en-US"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US" dirty="0"/>
              <a:t>. Accessed February 2023; 2. Ke X</a:t>
            </a:r>
            <a:r>
              <a:rPr lang="en-US" i="1" dirty="0"/>
              <a:t>;International Journal of COPD</a:t>
            </a:r>
            <a:r>
              <a:rPr lang="en-US" dirty="0"/>
              <a:t>;2016;11;1689–1703; 3. Ford ES;</a:t>
            </a:r>
            <a:r>
              <a:rPr lang="en-US" i="1" dirty="0"/>
              <a:t>Chest</a:t>
            </a:r>
            <a:r>
              <a:rPr lang="en-US" dirty="0"/>
              <a:t>;2013;144;284-305; 4. Mannino DM;</a:t>
            </a:r>
            <a:r>
              <a:rPr lang="en-US" i="1" dirty="0"/>
              <a:t>Lancet</a:t>
            </a:r>
            <a:r>
              <a:rPr lang="en-US" dirty="0"/>
              <a:t>;2007;370;765-773; 5. Menn P;</a:t>
            </a:r>
            <a:r>
              <a:rPr lang="en-US" i="1" dirty="0"/>
              <a:t>Respiratory Medicine </a:t>
            </a:r>
            <a:r>
              <a:rPr lang="en-US" dirty="0"/>
              <a:t>2012;106;540-548; 6. CDC;2020;1;COPD. Available at </a:t>
            </a:r>
            <a:r>
              <a:rPr lang="en-US" dirty="0">
                <a:solidFill>
                  <a:schemeClr val="tx2"/>
                </a:solidFill>
                <a:hlinkClick r:id="rId3">
                  <a:extLst>
                    <a:ext uri="{A12FA001-AC4F-418D-AE19-62706E023703}">
                      <ahyp:hlinkClr xmlns:ahyp="http://schemas.microsoft.com/office/drawing/2018/hyperlinkcolor" val="tx"/>
                    </a:ext>
                  </a:extLst>
                </a:hlinkClick>
              </a:rPr>
              <a:t>https://www.cdc.gov/copd/infographics/copd-costs.html</a:t>
            </a:r>
            <a:r>
              <a:rPr lang="en-US" dirty="0"/>
              <a:t> . Accessed March 2021; 7. Rehman AU;</a:t>
            </a:r>
            <a:r>
              <a:rPr lang="en-US" i="1" dirty="0"/>
              <a:t>The European Journal of Health Economics</a:t>
            </a:r>
            <a:r>
              <a:rPr lang="en-US" dirty="0"/>
              <a:t>;2020;21;181-194; 8. McLean S</a:t>
            </a:r>
            <a:r>
              <a:rPr lang="en-US" i="1" dirty="0"/>
              <a:t>;Scientific Reports</a:t>
            </a:r>
            <a:r>
              <a:rPr lang="en-US" dirty="0"/>
              <a:t>;2016;6;1-16; 9. Iheanacho I;</a:t>
            </a:r>
            <a:r>
              <a:rPr lang="en-US" i="1" dirty="0"/>
              <a:t>International Journal of Chronic Obstructive Pulmonary Dis</a:t>
            </a:r>
            <a:r>
              <a:rPr lang="en-US" dirty="0"/>
              <a:t>ease;2020;15;439-460.</a:t>
            </a:r>
          </a:p>
        </p:txBody>
      </p:sp>
      <p:sp>
        <p:nvSpPr>
          <p:cNvPr id="4" name="Title 3">
            <a:extLst>
              <a:ext uri="{FF2B5EF4-FFF2-40B4-BE49-F238E27FC236}">
                <a16:creationId xmlns:a16="http://schemas.microsoft.com/office/drawing/2014/main" id="{17452C7E-8ABB-47AD-3CC1-BC47A176BC8C}"/>
              </a:ext>
            </a:extLst>
          </p:cNvPr>
          <p:cNvSpPr>
            <a:spLocks noGrp="1"/>
          </p:cNvSpPr>
          <p:nvPr>
            <p:ph type="title"/>
          </p:nvPr>
        </p:nvSpPr>
        <p:spPr/>
        <p:txBody>
          <a:bodyPr anchor="t"/>
          <a:lstStyle/>
          <a:p>
            <a:r>
              <a:rPr lang="en-US" dirty="0"/>
              <a:t>COPD is associated with major economic burden, which increases as COPD progresses</a:t>
            </a:r>
            <a:endParaRPr lang="en-GB" dirty="0"/>
          </a:p>
        </p:txBody>
      </p:sp>
      <p:sp>
        <p:nvSpPr>
          <p:cNvPr id="7" name="object 6">
            <a:extLst>
              <a:ext uri="{FF2B5EF4-FFF2-40B4-BE49-F238E27FC236}">
                <a16:creationId xmlns:a16="http://schemas.microsoft.com/office/drawing/2014/main" id="{5F90B5B1-FC98-5A54-A407-16C9FAE4B421}"/>
              </a:ext>
            </a:extLst>
          </p:cNvPr>
          <p:cNvSpPr txBox="1">
            <a:spLocks/>
          </p:cNvSpPr>
          <p:nvPr/>
        </p:nvSpPr>
        <p:spPr>
          <a:xfrm>
            <a:off x="365125" y="4757870"/>
            <a:ext cx="11460163" cy="542059"/>
          </a:xfrm>
          <a:prstGeom prst="rect">
            <a:avLst/>
          </a:prstGeom>
          <a:solidFill>
            <a:schemeClr val="bg2">
              <a:lumMod val="20000"/>
              <a:lumOff val="80000"/>
            </a:schemeClr>
          </a:solidFill>
          <a:ln w="12700">
            <a:noFill/>
          </a:ln>
        </p:spPr>
        <p:txBody>
          <a:bodyPr vert="horz" wrap="square" lIns="91440" tIns="45720" rIns="45720" bIns="45720" rtlCol="0" anchor="ctr" anchorCtr="0">
            <a:noAutofit/>
          </a:bodyPr>
          <a:lstStyle/>
          <a:p>
            <a:pPr marL="71755"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10" normalizeH="0" baseline="0" noProof="0" dirty="0">
                <a:ln>
                  <a:noFill/>
                </a:ln>
                <a:solidFill>
                  <a:srgbClr val="F36633"/>
                </a:solidFill>
                <a:effectLst/>
                <a:uLnTx/>
                <a:uFillTx/>
                <a:latin typeface="Arial"/>
                <a:ea typeface="+mn-ea"/>
                <a:cs typeface="Arial"/>
              </a:rPr>
              <a:t>In the USA, direct cost of COPD was estimated to be $32 billion in 2010, with indirect cost accounting for an additional $20.4 biilion</a:t>
            </a:r>
            <a:r>
              <a:rPr kumimoji="0" lang="en-US" sz="1400" b="1" i="0" u="none" strike="noStrike" kern="1200" cap="none" spc="-10" normalizeH="0" baseline="30000" noProof="0" dirty="0">
                <a:ln>
                  <a:noFill/>
                </a:ln>
                <a:solidFill>
                  <a:srgbClr val="F36633"/>
                </a:solidFill>
                <a:effectLst/>
                <a:uLnTx/>
                <a:uFillTx/>
                <a:latin typeface="Arial"/>
                <a:ea typeface="+mn-ea"/>
                <a:cs typeface="Arial"/>
              </a:rPr>
              <a:t>9</a:t>
            </a:r>
          </a:p>
        </p:txBody>
      </p:sp>
      <p:sp>
        <p:nvSpPr>
          <p:cNvPr id="10" name="TextBox 9">
            <a:extLst>
              <a:ext uri="{FF2B5EF4-FFF2-40B4-BE49-F238E27FC236}">
                <a16:creationId xmlns:a16="http://schemas.microsoft.com/office/drawing/2014/main" id="{5DF4ED2E-1D67-B8DC-FE57-08AB2679EC2D}"/>
              </a:ext>
            </a:extLst>
          </p:cNvPr>
          <p:cNvSpPr txBox="1"/>
          <p:nvPr/>
        </p:nvSpPr>
        <p:spPr>
          <a:xfrm>
            <a:off x="365124" y="1313990"/>
            <a:ext cx="11460163" cy="1246175"/>
          </a:xfrm>
          <a:prstGeom prst="rect">
            <a:avLst/>
          </a:prstGeom>
          <a:noFill/>
        </p:spPr>
        <p:txBody>
          <a:bodyPr wrap="square">
            <a:spAutoFit/>
          </a:bodyPr>
          <a:lstStyle/>
          <a:p>
            <a:pPr marL="117475" marR="0" lvl="0" indent="-117475" algn="l" defTabSz="1219170" rtl="0" eaLnBrk="1" fontAlgn="auto" latinLnBrk="0" hangingPunct="1">
              <a:lnSpc>
                <a:spcPct val="11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COPD places significant financial burden on healthcare systems around the world</a:t>
            </a:r>
            <a:r>
              <a:rPr kumimoji="0" lang="en-US" sz="1200" b="0" i="0" u="none" strike="noStrike" kern="1200" cap="none" spc="0" normalizeH="0" baseline="30000" noProof="0" dirty="0">
                <a:ln>
                  <a:noFill/>
                </a:ln>
                <a:solidFill>
                  <a:srgbClr val="000000"/>
                </a:solidFill>
                <a:effectLst/>
                <a:uLnTx/>
                <a:uFillTx/>
                <a:latin typeface="Arial"/>
                <a:ea typeface="+mn-ea"/>
                <a:cs typeface="Noto Sans"/>
              </a:rPr>
              <a:t>1</a:t>
            </a:r>
          </a:p>
          <a:p>
            <a:pPr marL="117475" marR="0" lvl="0" indent="-117475" algn="l" defTabSz="1219170" rtl="0" eaLnBrk="1" fontAlgn="auto" latinLnBrk="0" hangingPunct="1">
              <a:lnSpc>
                <a:spcPct val="11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Costs include medication, non-drug treatments, </a:t>
            </a:r>
            <a:r>
              <a:rPr kumimoji="0" lang="en-GB" sz="1200" b="0" i="0" u="none" strike="noStrike" kern="1200" cap="none" spc="-5" normalizeH="0" baseline="0" noProof="0" dirty="0">
                <a:ln>
                  <a:noFill/>
                </a:ln>
                <a:solidFill>
                  <a:srgbClr val="000000"/>
                </a:solidFill>
                <a:effectLst/>
                <a:uLnTx/>
                <a:uFillTx/>
                <a:latin typeface="Arial"/>
                <a:ea typeface="+mn-ea"/>
                <a:cs typeface="Arial"/>
              </a:rPr>
              <a:t>hospitalisations</a:t>
            </a:r>
            <a:r>
              <a:rPr kumimoji="0" lang="en-US" sz="1200" b="0" i="0" u="none" strike="noStrike" kern="1200" cap="none" spc="0" normalizeH="0" baseline="0" noProof="0" dirty="0">
                <a:ln>
                  <a:noFill/>
                </a:ln>
                <a:solidFill>
                  <a:srgbClr val="000000"/>
                </a:solidFill>
                <a:effectLst/>
                <a:uLnTx/>
                <a:uFillTx/>
                <a:latin typeface="Arial"/>
                <a:ea typeface="+mn-ea"/>
                <a:cs typeface="Noto Sans"/>
              </a:rPr>
              <a:t>, emergency department visits, intensive care unit admissions, primary care visits and reduced work productivity</a:t>
            </a:r>
            <a:r>
              <a:rPr kumimoji="0" lang="en-US" sz="1200" b="0" i="0" u="none" strike="noStrike" kern="1200" cap="none" spc="0" normalizeH="0" baseline="30000" noProof="0" dirty="0">
                <a:ln>
                  <a:noFill/>
                </a:ln>
                <a:solidFill>
                  <a:srgbClr val="000000"/>
                </a:solidFill>
                <a:effectLst/>
                <a:uLnTx/>
                <a:uFillTx/>
                <a:latin typeface="Arial"/>
                <a:ea typeface="+mn-ea"/>
                <a:cs typeface="Noto Sans"/>
              </a:rPr>
              <a:t>1–4</a:t>
            </a:r>
          </a:p>
          <a:p>
            <a:pPr marL="117475" marR="0" lvl="0" indent="-117475" algn="l" defTabSz="1219170" rtl="0" eaLnBrk="1" fontAlgn="auto" latinLnBrk="0" hangingPunct="1">
              <a:lnSpc>
                <a:spcPct val="11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Exacerbations are responsible for the greatest proportion of costs as they often require emergency treatment or </a:t>
            </a:r>
            <a:r>
              <a:rPr kumimoji="0" lang="en-GB" sz="1200" b="0" i="0" u="none" strike="noStrike" kern="1200" cap="none" spc="-5" normalizeH="0" baseline="0" noProof="0" dirty="0">
                <a:ln>
                  <a:noFill/>
                </a:ln>
                <a:solidFill>
                  <a:srgbClr val="000000"/>
                </a:solidFill>
                <a:effectLst/>
                <a:uLnTx/>
                <a:uFillTx/>
                <a:latin typeface="Arial"/>
                <a:ea typeface="+mn-ea"/>
                <a:cs typeface="Arial"/>
              </a:rPr>
              <a:t>hospitalisation</a:t>
            </a:r>
            <a:r>
              <a:rPr kumimoji="0" lang="en-US" sz="1200" b="0" i="0" u="none" strike="noStrike" kern="1200" cap="none" spc="0" normalizeH="0" baseline="0" noProof="0" dirty="0">
                <a:ln>
                  <a:noFill/>
                </a:ln>
                <a:solidFill>
                  <a:srgbClr val="000000"/>
                </a:solidFill>
                <a:effectLst/>
                <a:uLnTx/>
                <a:uFillTx/>
                <a:latin typeface="Arial"/>
                <a:ea typeface="+mn-ea"/>
                <a:cs typeface="Noto Sans"/>
              </a:rPr>
              <a:t>s</a:t>
            </a:r>
            <a:r>
              <a:rPr kumimoji="0" lang="en-US" sz="1200" b="0" i="0" u="none" strike="noStrike" kern="1200" cap="none" spc="0" normalizeH="0" baseline="30000" noProof="0" dirty="0">
                <a:ln>
                  <a:noFill/>
                </a:ln>
                <a:solidFill>
                  <a:srgbClr val="000000"/>
                </a:solidFill>
                <a:effectLst/>
                <a:uLnTx/>
                <a:uFillTx/>
                <a:latin typeface="Arial"/>
                <a:ea typeface="+mn-ea"/>
                <a:cs typeface="Noto Sans"/>
              </a:rPr>
              <a:t>1</a:t>
            </a:r>
          </a:p>
          <a:p>
            <a:pPr marL="117475" marR="0" lvl="0" indent="-117475" algn="l" defTabSz="1219170" rtl="0" eaLnBrk="1" fontAlgn="auto" latinLnBrk="0" hangingPunct="1">
              <a:lnSpc>
                <a:spcPct val="11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Costs differ across countries due to different healthcare and social welfare programmes</a:t>
            </a:r>
            <a:r>
              <a:rPr kumimoji="0" lang="en-US" sz="1200" b="0" i="0" u="none" strike="noStrike" kern="1200" cap="none" spc="0" normalizeH="0" baseline="30000" noProof="0" dirty="0">
                <a:ln>
                  <a:noFill/>
                </a:ln>
                <a:solidFill>
                  <a:srgbClr val="000000"/>
                </a:solidFill>
                <a:effectLst/>
                <a:uLnTx/>
                <a:uFillTx/>
                <a:latin typeface="Arial"/>
                <a:ea typeface="+mn-ea"/>
                <a:cs typeface="Noto Sans"/>
              </a:rPr>
              <a:t>4,5</a:t>
            </a:r>
          </a:p>
        </p:txBody>
      </p:sp>
      <p:sp>
        <p:nvSpPr>
          <p:cNvPr id="2" name="object 6">
            <a:extLst>
              <a:ext uri="{FF2B5EF4-FFF2-40B4-BE49-F238E27FC236}">
                <a16:creationId xmlns:a16="http://schemas.microsoft.com/office/drawing/2014/main" id="{817E9C3E-EB56-2F21-9F14-9095AEE37A15}"/>
              </a:ext>
            </a:extLst>
          </p:cNvPr>
          <p:cNvSpPr/>
          <p:nvPr/>
        </p:nvSpPr>
        <p:spPr>
          <a:xfrm>
            <a:off x="378416" y="2622341"/>
            <a:ext cx="3715712" cy="2085416"/>
          </a:xfrm>
          <a:custGeom>
            <a:avLst/>
            <a:gdLst/>
            <a:ahLst/>
            <a:cxnLst/>
            <a:rect l="l" t="t" r="r" b="b"/>
            <a:pathLst>
              <a:path w="2700655" h="2056129">
                <a:moveTo>
                  <a:pt x="2700528" y="0"/>
                </a:moveTo>
                <a:lnTo>
                  <a:pt x="0" y="0"/>
                </a:lnTo>
                <a:lnTo>
                  <a:pt x="0" y="2055875"/>
                </a:lnTo>
                <a:lnTo>
                  <a:pt x="2700528" y="2055875"/>
                </a:lnTo>
                <a:lnTo>
                  <a:pt x="2700528" y="0"/>
                </a:lnTo>
                <a:close/>
              </a:path>
            </a:pathLst>
          </a:custGeom>
          <a:solidFill>
            <a:schemeClr val="bg1">
              <a:lumMod val="95000"/>
            </a:schemeClr>
          </a:solidFill>
          <a:ln>
            <a:solidFill>
              <a:schemeClr val="tx2">
                <a:lumMod val="40000"/>
                <a:lumOff val="60000"/>
              </a:schemeClr>
            </a:solidFill>
          </a:ln>
        </p:spPr>
        <p:txBody>
          <a:bodyPr wrap="square" lIns="45720" tIns="731520" rIns="45720" bIns="45720" rtlCol="0" anchor="t"/>
          <a:lstStyle/>
          <a:p>
            <a:pPr marL="283210" marR="276860" lvl="0" indent="-1270" algn="ctr" defTabSz="121917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Over the next 20 years, the costs attributable to COPD are expected to increase with projected costs of $40 billion per year</a:t>
            </a:r>
            <a:r>
              <a:rPr kumimoji="0" lang="en-US" sz="1200" b="0" i="0" u="none" strike="noStrike" kern="1200" cap="none" spc="0" normalizeH="0" baseline="30000" noProof="0" dirty="0">
                <a:ln>
                  <a:noFill/>
                </a:ln>
                <a:solidFill>
                  <a:srgbClr val="000000"/>
                </a:solidFill>
                <a:effectLst/>
                <a:uLnTx/>
                <a:uFillTx/>
                <a:latin typeface="Arial"/>
                <a:ea typeface="+mn-ea"/>
                <a:cs typeface="Arial"/>
              </a:rPr>
              <a:t>1</a:t>
            </a:r>
            <a:r>
              <a:rPr kumimoji="0" lang="en-US" sz="1200" b="0" i="0" u="none" strike="noStrike" kern="1200" cap="none" spc="0" normalizeH="0" baseline="0" noProof="0" dirty="0">
                <a:ln>
                  <a:noFill/>
                </a:ln>
                <a:solidFill>
                  <a:srgbClr val="000000"/>
                </a:solidFill>
                <a:effectLst/>
                <a:uLnTx/>
                <a:uFillTx/>
                <a:latin typeface="Arial"/>
                <a:ea typeface="+mn-ea"/>
                <a:cs typeface="Arial"/>
              </a:rPr>
              <a:t> </a:t>
            </a:r>
          </a:p>
          <a:p>
            <a:pPr marL="283210" marR="276860" lvl="0" indent="-1270" algn="ctr" defTabSz="121917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In the </a:t>
            </a:r>
            <a:r>
              <a:rPr kumimoji="0" lang="en-US" sz="1200" b="0" i="0" u="none" strike="noStrike" kern="1200" cap="none" spc="-5" normalizeH="0" baseline="0" noProof="0" dirty="0">
                <a:ln>
                  <a:noFill/>
                </a:ln>
                <a:solidFill>
                  <a:srgbClr val="000000"/>
                </a:solidFill>
                <a:effectLst/>
                <a:uLnTx/>
                <a:uFillTx/>
                <a:latin typeface="Arial"/>
                <a:ea typeface="+mn-ea"/>
                <a:cs typeface="Arial"/>
              </a:rPr>
              <a:t>US, </a:t>
            </a:r>
            <a:r>
              <a:rPr kumimoji="0" lang="en-US" sz="1200" b="0" i="0" u="none" strike="noStrike" kern="1200" cap="none" spc="0" normalizeH="0" baseline="0" noProof="0" dirty="0">
                <a:ln>
                  <a:noFill/>
                </a:ln>
                <a:solidFill>
                  <a:srgbClr val="000000"/>
                </a:solidFill>
                <a:effectLst/>
                <a:uLnTx/>
                <a:uFillTx/>
                <a:latin typeface="Arial"/>
                <a:ea typeface="+mn-ea"/>
                <a:cs typeface="Arial"/>
              </a:rPr>
              <a:t>direct costs attributed</a:t>
            </a:r>
            <a:r>
              <a:rPr kumimoji="0" lang="en-US" sz="1200" b="0" i="0" u="none" strike="noStrike" kern="1200" cap="none" spc="-65" normalizeH="0" baseline="0" noProof="0" dirty="0">
                <a:ln>
                  <a:noFill/>
                </a:ln>
                <a:solidFill>
                  <a:srgbClr val="000000"/>
                </a:solidFill>
                <a:effectLst/>
                <a:uLnTx/>
                <a:uFillTx/>
                <a:latin typeface="Arial"/>
                <a:ea typeface="+mn-ea"/>
                <a:cs typeface="Arial"/>
              </a:rPr>
              <a:t> </a:t>
            </a:r>
            <a:r>
              <a:rPr kumimoji="0" lang="en-US" sz="1200" b="0" i="0" u="none" strike="noStrike" kern="1200" cap="none" spc="0" normalizeH="0" baseline="0" noProof="0" dirty="0">
                <a:ln>
                  <a:noFill/>
                </a:ln>
                <a:solidFill>
                  <a:srgbClr val="000000"/>
                </a:solidFill>
                <a:effectLst/>
                <a:uLnTx/>
                <a:uFillTx/>
                <a:latin typeface="Arial"/>
                <a:ea typeface="+mn-ea"/>
                <a:cs typeface="Arial"/>
              </a:rPr>
              <a:t>to</a:t>
            </a:r>
            <a:r>
              <a:rPr kumimoji="0" lang="en-US" sz="1200" b="0" i="0" u="none" strike="noStrike" kern="1200" cap="none" spc="-35" normalizeH="0" baseline="0" noProof="0" dirty="0">
                <a:ln>
                  <a:noFill/>
                </a:ln>
                <a:solidFill>
                  <a:srgbClr val="000000"/>
                </a:solidFill>
                <a:effectLst/>
                <a:uLnTx/>
                <a:uFillTx/>
                <a:latin typeface="Arial"/>
                <a:ea typeface="+mn-ea"/>
                <a:cs typeface="Arial"/>
              </a:rPr>
              <a:t> </a:t>
            </a:r>
            <a:r>
              <a:rPr kumimoji="0" lang="en-US" sz="1200" b="0" i="0" u="none" strike="noStrike" kern="1200" cap="none" spc="0" normalizeH="0" baseline="0" noProof="0" dirty="0">
                <a:ln>
                  <a:noFill/>
                </a:ln>
                <a:solidFill>
                  <a:srgbClr val="000000"/>
                </a:solidFill>
                <a:effectLst/>
                <a:uLnTx/>
                <a:uFillTx/>
                <a:latin typeface="Arial"/>
                <a:ea typeface="+mn-ea"/>
                <a:cs typeface="Arial"/>
              </a:rPr>
              <a:t>COPD</a:t>
            </a:r>
            <a:r>
              <a:rPr kumimoji="0" lang="en-US" sz="1200" b="0" i="0" u="none" strike="noStrike" kern="1200" cap="none" spc="-20" normalizeH="0" baseline="0" noProof="0" dirty="0">
                <a:ln>
                  <a:noFill/>
                </a:ln>
                <a:solidFill>
                  <a:srgbClr val="000000"/>
                </a:solidFill>
                <a:effectLst/>
                <a:uLnTx/>
                <a:uFillTx/>
                <a:latin typeface="Arial"/>
                <a:ea typeface="+mn-ea"/>
                <a:cs typeface="Arial"/>
              </a:rPr>
              <a:t> </a:t>
            </a:r>
            <a:r>
              <a:rPr kumimoji="0" lang="en-US" sz="1200" b="0" i="0" u="none" strike="noStrike" kern="1200" cap="none" spc="0" normalizeH="0" baseline="0" noProof="0" dirty="0">
                <a:ln>
                  <a:noFill/>
                </a:ln>
                <a:solidFill>
                  <a:srgbClr val="000000"/>
                </a:solidFill>
                <a:effectLst/>
                <a:uLnTx/>
                <a:uFillTx/>
                <a:latin typeface="Arial"/>
                <a:ea typeface="+mn-ea"/>
                <a:cs typeface="Arial"/>
              </a:rPr>
              <a:t>in</a:t>
            </a:r>
            <a:r>
              <a:rPr kumimoji="0" lang="en-US" sz="1200" b="0" i="0" u="none" strike="noStrike" kern="1200" cap="none" spc="-30" normalizeH="0" baseline="0" noProof="0" dirty="0">
                <a:ln>
                  <a:noFill/>
                </a:ln>
                <a:solidFill>
                  <a:srgbClr val="000000"/>
                </a:solidFill>
                <a:effectLst/>
                <a:uLnTx/>
                <a:uFillTx/>
                <a:latin typeface="Arial"/>
                <a:ea typeface="+mn-ea"/>
                <a:cs typeface="Arial"/>
              </a:rPr>
              <a:t> </a:t>
            </a:r>
            <a:r>
              <a:rPr kumimoji="0" lang="en-US" sz="1200" b="0" i="0" u="none" strike="noStrike" kern="1200" cap="none" spc="0" normalizeH="0" baseline="0" noProof="0" dirty="0">
                <a:ln>
                  <a:noFill/>
                </a:ln>
                <a:solidFill>
                  <a:srgbClr val="000000"/>
                </a:solidFill>
                <a:effectLst/>
                <a:uLnTx/>
                <a:uFillTx/>
                <a:latin typeface="Arial"/>
                <a:ea typeface="+mn-ea"/>
                <a:cs typeface="Arial"/>
              </a:rPr>
              <a:t>2010 </a:t>
            </a:r>
            <a:r>
              <a:rPr kumimoji="0" lang="en-US" sz="1200" b="0" i="0" u="none" strike="noStrike" kern="1200" cap="none" spc="-5" normalizeH="0" baseline="0" noProof="0" dirty="0">
                <a:ln>
                  <a:noFill/>
                </a:ln>
                <a:solidFill>
                  <a:srgbClr val="000000"/>
                </a:solidFill>
                <a:effectLst/>
                <a:uLnTx/>
                <a:uFillTx/>
                <a:latin typeface="Arial"/>
                <a:ea typeface="+mn-ea"/>
                <a:cs typeface="Arial"/>
              </a:rPr>
              <a:t>were </a:t>
            </a:r>
            <a:r>
              <a:rPr kumimoji="0" lang="en-US" sz="1200" b="0" i="0" u="none" strike="noStrike" kern="1200" cap="none" spc="0" normalizeH="0" baseline="0" noProof="0" dirty="0">
                <a:ln>
                  <a:noFill/>
                </a:ln>
                <a:solidFill>
                  <a:srgbClr val="000000"/>
                </a:solidFill>
                <a:effectLst/>
                <a:uLnTx/>
                <a:uFillTx/>
                <a:latin typeface="Arial"/>
                <a:ea typeface="+mn-ea"/>
                <a:cs typeface="Arial"/>
              </a:rPr>
              <a:t>$32.1 </a:t>
            </a:r>
            <a:r>
              <a:rPr kumimoji="0" lang="en-US" sz="1200" b="0" i="0" u="none" strike="noStrike" kern="1200" cap="none" spc="-5" normalizeH="0" baseline="0" noProof="0" dirty="0">
                <a:ln>
                  <a:noFill/>
                </a:ln>
                <a:solidFill>
                  <a:srgbClr val="000000"/>
                </a:solidFill>
                <a:effectLst/>
                <a:uLnTx/>
                <a:uFillTx/>
                <a:latin typeface="Arial"/>
                <a:ea typeface="+mn-ea"/>
                <a:cs typeface="Arial"/>
              </a:rPr>
              <a:t>billion/year, </a:t>
            </a:r>
            <a:r>
              <a:rPr kumimoji="0" lang="en-US" sz="1200" b="0" i="0" u="none" strike="noStrike" kern="1200" cap="none" spc="0" normalizeH="0" baseline="0" noProof="0" dirty="0">
                <a:ln>
                  <a:noFill/>
                </a:ln>
                <a:solidFill>
                  <a:srgbClr val="000000"/>
                </a:solidFill>
                <a:effectLst/>
                <a:uLnTx/>
                <a:uFillTx/>
                <a:latin typeface="Arial"/>
                <a:ea typeface="+mn-ea"/>
                <a:cs typeface="Arial"/>
              </a:rPr>
              <a:t>up to 50% of </a:t>
            </a:r>
            <a:r>
              <a:rPr kumimoji="0" lang="en-US" sz="1200" b="0" i="0" u="none" strike="noStrike" kern="1200" cap="none" spc="-5" normalizeH="0" baseline="0" noProof="0" dirty="0">
                <a:ln>
                  <a:noFill/>
                </a:ln>
                <a:solidFill>
                  <a:srgbClr val="000000"/>
                </a:solidFill>
                <a:effectLst/>
                <a:uLnTx/>
                <a:uFillTx/>
                <a:latin typeface="Arial"/>
                <a:ea typeface="+mn-ea"/>
                <a:cs typeface="Arial"/>
              </a:rPr>
              <a:t>which was </a:t>
            </a:r>
            <a:r>
              <a:rPr kumimoji="0" lang="en-US" sz="1200" b="0" i="0" u="none" strike="noStrike" kern="1200" cap="none" spc="0" normalizeH="0" baseline="0" noProof="0" dirty="0">
                <a:ln>
                  <a:noFill/>
                </a:ln>
                <a:solidFill>
                  <a:srgbClr val="000000"/>
                </a:solidFill>
                <a:effectLst/>
                <a:uLnTx/>
                <a:uFillTx/>
                <a:latin typeface="Arial"/>
                <a:ea typeface="+mn-ea"/>
                <a:cs typeface="Arial"/>
              </a:rPr>
              <a:t>due to </a:t>
            </a:r>
            <a:r>
              <a:rPr kumimoji="0" lang="en-GB" sz="1200" b="0" i="0" u="none" strike="noStrike" kern="1200" cap="none" spc="-5" normalizeH="0" baseline="0" noProof="0" dirty="0">
                <a:ln>
                  <a:noFill/>
                </a:ln>
                <a:solidFill>
                  <a:srgbClr val="000000"/>
                </a:solidFill>
                <a:effectLst/>
                <a:uLnTx/>
                <a:uFillTx/>
                <a:latin typeface="Arial"/>
                <a:ea typeface="+mn-ea"/>
                <a:cs typeface="Arial"/>
              </a:rPr>
              <a:t>hospitalisation</a:t>
            </a:r>
            <a:r>
              <a:rPr kumimoji="0" lang="en-US" sz="1200" b="0" i="0" u="none" strike="noStrike" kern="1200" cap="none" spc="0" normalizeH="0" baseline="24691" noProof="0" dirty="0">
                <a:ln>
                  <a:noFill/>
                </a:ln>
                <a:solidFill>
                  <a:srgbClr val="000000"/>
                </a:solidFill>
                <a:effectLst/>
                <a:uLnTx/>
                <a:uFillTx/>
                <a:latin typeface="Arial"/>
                <a:ea typeface="+mn-ea"/>
                <a:cs typeface="Arial"/>
              </a:rPr>
              <a:t>6</a:t>
            </a:r>
          </a:p>
        </p:txBody>
      </p:sp>
      <p:sp>
        <p:nvSpPr>
          <p:cNvPr id="3" name="object 6">
            <a:extLst>
              <a:ext uri="{FF2B5EF4-FFF2-40B4-BE49-F238E27FC236}">
                <a16:creationId xmlns:a16="http://schemas.microsoft.com/office/drawing/2014/main" id="{F9D7BEE0-5A5A-3724-D608-781F8515178D}"/>
              </a:ext>
            </a:extLst>
          </p:cNvPr>
          <p:cNvSpPr/>
          <p:nvPr/>
        </p:nvSpPr>
        <p:spPr>
          <a:xfrm>
            <a:off x="4243996" y="2622341"/>
            <a:ext cx="3715712" cy="2085416"/>
          </a:xfrm>
          <a:custGeom>
            <a:avLst/>
            <a:gdLst/>
            <a:ahLst/>
            <a:cxnLst/>
            <a:rect l="l" t="t" r="r" b="b"/>
            <a:pathLst>
              <a:path w="2700655" h="2056129">
                <a:moveTo>
                  <a:pt x="2700528" y="0"/>
                </a:moveTo>
                <a:lnTo>
                  <a:pt x="0" y="0"/>
                </a:lnTo>
                <a:lnTo>
                  <a:pt x="0" y="2055875"/>
                </a:lnTo>
                <a:lnTo>
                  <a:pt x="2700528" y="2055875"/>
                </a:lnTo>
                <a:lnTo>
                  <a:pt x="2700528" y="0"/>
                </a:lnTo>
                <a:close/>
              </a:path>
            </a:pathLst>
          </a:custGeom>
          <a:solidFill>
            <a:schemeClr val="bg1">
              <a:lumMod val="95000"/>
            </a:schemeClr>
          </a:solidFill>
          <a:ln>
            <a:solidFill>
              <a:schemeClr val="tx2">
                <a:lumMod val="40000"/>
                <a:lumOff val="60000"/>
              </a:schemeClr>
            </a:solidFill>
          </a:ln>
        </p:spPr>
        <p:txBody>
          <a:bodyPr wrap="square" lIns="45720" tIns="731520" rIns="45720" bIns="45720" rtlCol="0" anchor="t"/>
          <a:lstStyle/>
          <a:p>
            <a:pPr marL="283210" marR="276860" lvl="0" indent="-1270" algn="ctr" defTabSz="121917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In the EU, the total direct costs of respiratory disease are ~6% of the total annual healthcare budget, with COPD accounting for €38.6 billion</a:t>
            </a:r>
            <a:r>
              <a:rPr kumimoji="0" lang="en-US" sz="1200" b="0" i="0" u="none" strike="noStrike" kern="1200" cap="none" spc="0" normalizeH="0" baseline="30000" noProof="0" dirty="0">
                <a:ln>
                  <a:noFill/>
                </a:ln>
                <a:solidFill>
                  <a:srgbClr val="000000"/>
                </a:solidFill>
                <a:effectLst/>
                <a:uLnTx/>
                <a:uFillTx/>
                <a:latin typeface="Arial"/>
                <a:ea typeface="+mn-ea"/>
                <a:cs typeface="Arial"/>
              </a:rPr>
              <a:t>1</a:t>
            </a:r>
          </a:p>
          <a:p>
            <a:pPr marL="283210" marR="276860" lvl="0" indent="-1270" algn="ctr" defTabSz="121917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The total economic burden due to COPD in 2011 was €48.4 billion</a:t>
            </a:r>
            <a:r>
              <a:rPr kumimoji="0" lang="en-US" sz="1200" b="0" i="0" u="none" strike="noStrike" kern="1200" cap="none" spc="0" normalizeH="0" baseline="30000" noProof="0" dirty="0">
                <a:ln>
                  <a:noFill/>
                </a:ln>
                <a:solidFill>
                  <a:srgbClr val="000000"/>
                </a:solidFill>
                <a:effectLst/>
                <a:uLnTx/>
                <a:uFillTx/>
                <a:latin typeface="Arial"/>
                <a:ea typeface="+mn-ea"/>
                <a:cs typeface="Arial"/>
              </a:rPr>
              <a:t>7</a:t>
            </a:r>
          </a:p>
        </p:txBody>
      </p:sp>
      <p:sp>
        <p:nvSpPr>
          <p:cNvPr id="9" name="object 6">
            <a:extLst>
              <a:ext uri="{FF2B5EF4-FFF2-40B4-BE49-F238E27FC236}">
                <a16:creationId xmlns:a16="http://schemas.microsoft.com/office/drawing/2014/main" id="{EF507A9A-6706-E9BE-B801-9FAE140422F8}"/>
              </a:ext>
            </a:extLst>
          </p:cNvPr>
          <p:cNvSpPr/>
          <p:nvPr/>
        </p:nvSpPr>
        <p:spPr>
          <a:xfrm>
            <a:off x="8109575" y="2622341"/>
            <a:ext cx="3715712" cy="2085416"/>
          </a:xfrm>
          <a:custGeom>
            <a:avLst/>
            <a:gdLst/>
            <a:ahLst/>
            <a:cxnLst/>
            <a:rect l="l" t="t" r="r" b="b"/>
            <a:pathLst>
              <a:path w="2700655" h="2056129">
                <a:moveTo>
                  <a:pt x="2700528" y="0"/>
                </a:moveTo>
                <a:lnTo>
                  <a:pt x="0" y="0"/>
                </a:lnTo>
                <a:lnTo>
                  <a:pt x="0" y="2055875"/>
                </a:lnTo>
                <a:lnTo>
                  <a:pt x="2700528" y="2055875"/>
                </a:lnTo>
                <a:lnTo>
                  <a:pt x="2700528" y="0"/>
                </a:lnTo>
                <a:close/>
              </a:path>
            </a:pathLst>
          </a:custGeom>
          <a:solidFill>
            <a:schemeClr val="bg1">
              <a:lumMod val="95000"/>
            </a:schemeClr>
          </a:solidFill>
          <a:ln>
            <a:solidFill>
              <a:schemeClr val="tx2">
                <a:lumMod val="40000"/>
                <a:lumOff val="60000"/>
              </a:schemeClr>
            </a:solidFill>
          </a:ln>
        </p:spPr>
        <p:txBody>
          <a:bodyPr wrap="square" lIns="45720" tIns="731520" rIns="45720" bIns="45720" rtlCol="0" anchor="t"/>
          <a:lstStyle/>
          <a:p>
            <a:pPr marL="283210" marR="276860" lvl="0" indent="-1270" algn="ctr" defTabSz="1219170" rtl="0" eaLnBrk="1" fontAlgn="auto" latinLnBrk="0" hangingPunct="1">
              <a:lnSpc>
                <a:spcPts val="168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In England, costs projected to COPD in 2030 were over £2.32 billion/year</a:t>
            </a:r>
            <a:r>
              <a:rPr kumimoji="0" lang="en-US" sz="1200" b="0" i="0" u="none" strike="noStrike" kern="1200" cap="none" spc="0" normalizeH="0" baseline="30000" noProof="0" dirty="0">
                <a:ln>
                  <a:noFill/>
                </a:ln>
                <a:solidFill>
                  <a:srgbClr val="000000"/>
                </a:solidFill>
                <a:effectLst/>
                <a:uLnTx/>
                <a:uFillTx/>
                <a:latin typeface="Arial"/>
                <a:ea typeface="+mn-ea"/>
                <a:cs typeface="Arial"/>
              </a:rPr>
              <a:t>8</a:t>
            </a:r>
          </a:p>
        </p:txBody>
      </p:sp>
      <p:pic>
        <p:nvPicPr>
          <p:cNvPr id="10242" name="Picture 2" descr="Clip Art United States Of America Flag 3d Round - Round Usa Flag Icon ...">
            <a:extLst>
              <a:ext uri="{FF2B5EF4-FFF2-40B4-BE49-F238E27FC236}">
                <a16:creationId xmlns:a16="http://schemas.microsoft.com/office/drawing/2014/main" id="{3276810D-4B9C-2504-A4E6-63EB2C3533F4}"/>
              </a:ext>
            </a:extLst>
          </p:cNvPr>
          <p:cNvPicPr>
            <a:picLocks noChangeAspect="1" noChangeArrowheads="1"/>
          </p:cNvPicPr>
          <p:nvPr/>
        </p:nvPicPr>
        <p:blipFill>
          <a:blip r:embed="rId4" cstate="print">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984167" y="2724933"/>
            <a:ext cx="504211" cy="504211"/>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5">
            <a:extLst>
              <a:ext uri="{FF2B5EF4-FFF2-40B4-BE49-F238E27FC236}">
                <a16:creationId xmlns:a16="http://schemas.microsoft.com/office/drawing/2014/main" id="{E4855E35-A9E9-691A-7241-C4DF3A6A1ED0}"/>
              </a:ext>
            </a:extLst>
          </p:cNvPr>
          <p:cNvPicPr>
            <a:picLocks noChangeAspect="1"/>
          </p:cNvPicPr>
          <p:nvPr/>
        </p:nvPicPr>
        <p:blipFill rotWithShape="1">
          <a:blip r:embed="rId5">
            <a:clrChange>
              <a:clrFrom>
                <a:srgbClr val="FFFFFF"/>
              </a:clrFrom>
              <a:clrTo>
                <a:srgbClr val="FFFFFF">
                  <a:alpha val="0"/>
                </a:srgbClr>
              </a:clrTo>
            </a:clrChange>
          </a:blip>
          <a:srcRect l="12879" t="12804" r="13299" b="14159"/>
          <a:stretch/>
        </p:blipFill>
        <p:spPr>
          <a:xfrm>
            <a:off x="5845586" y="2723500"/>
            <a:ext cx="512532" cy="507076"/>
          </a:xfrm>
          <a:prstGeom prst="ellipse">
            <a:avLst/>
          </a:prstGeom>
        </p:spPr>
      </p:pic>
      <p:pic>
        <p:nvPicPr>
          <p:cNvPr id="10246" name="Picture 6" descr="flag-3d-round-500 uk - Rotisol">
            <a:extLst>
              <a:ext uri="{FF2B5EF4-FFF2-40B4-BE49-F238E27FC236}">
                <a16:creationId xmlns:a16="http://schemas.microsoft.com/office/drawing/2014/main" id="{CDAB08D8-5070-AD43-77D0-38F9C731CC6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713893" y="2723500"/>
            <a:ext cx="507076" cy="507076"/>
          </a:xfrm>
          <a:prstGeom prst="rect">
            <a:avLst/>
          </a:prstGeom>
          <a:noFill/>
          <a:extLst>
            <a:ext uri="{909E8E84-426E-40DD-AFC4-6F175D3DCCD1}">
              <a14:hiddenFill xmlns:a14="http://schemas.microsoft.com/office/drawing/2010/main">
                <a:solidFill>
                  <a:srgbClr val="FFFFFF"/>
                </a:solidFill>
              </a14:hiddenFill>
            </a:ext>
          </a:extLst>
        </p:spPr>
      </p:pic>
      <p:sp>
        <p:nvSpPr>
          <p:cNvPr id="38" name="Slide Number Placeholder 37">
            <a:extLst>
              <a:ext uri="{FF2B5EF4-FFF2-40B4-BE49-F238E27FC236}">
                <a16:creationId xmlns:a16="http://schemas.microsoft.com/office/drawing/2014/main" id="{405BEA43-FF70-4FFF-50BC-DE657D73433B}"/>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388770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B3E8323B-92E1-679D-3B66-84D4AA3A5516}"/>
              </a:ext>
            </a:extLst>
          </p:cNvPr>
          <p:cNvSpPr>
            <a:spLocks noGrp="1"/>
          </p:cNvSpPr>
          <p:nvPr>
            <p:ph type="body" sz="quarter" idx="13"/>
          </p:nvPr>
        </p:nvSpPr>
        <p:spPr/>
        <p:txBody>
          <a:bodyPr/>
          <a:lstStyle/>
          <a:p>
            <a:r>
              <a:rPr lang="en-US" dirty="0"/>
              <a:t>LMICs, low-and middle-income countries.</a:t>
            </a:r>
          </a:p>
          <a:p>
            <a:r>
              <a:rPr lang="en-GB" dirty="0"/>
              <a:t>1. Adeloye D;</a:t>
            </a:r>
            <a:r>
              <a:rPr lang="en-GB" i="1" dirty="0"/>
              <a:t>Journal of Global Health</a:t>
            </a:r>
            <a:r>
              <a:rPr lang="en-GB" dirty="0"/>
              <a:t>;2015;5;1-17; 2. </a:t>
            </a:r>
            <a:r>
              <a:rPr lang="en-US" sz="800" dirty="0">
                <a:latin typeface="Arial"/>
                <a:cs typeface="Arial"/>
              </a:rPr>
              <a:t>GOLD. Global Strategy for the Diagnosis, Management, and Prevention of Chronic Obstructive Pulmonary Disease (2023 Report). </a:t>
            </a:r>
            <a:r>
              <a:rPr lang="en-GB" dirty="0">
                <a:solidFill>
                  <a:schemeClr val="tx2"/>
                </a:solidFill>
                <a:hlinkClick r:id="rId2">
                  <a:extLst>
                    <a:ext uri="{A12FA001-AC4F-418D-AE19-62706E023703}">
                      <ahyp:hlinkClr xmlns:ahyp="http://schemas.microsoft.com/office/drawing/2018/hyperlinkcolor" val="tx"/>
                    </a:ext>
                  </a:extLst>
                </a:hlinkClick>
              </a:rPr>
              <a:t>https://goldcopd.org/2023-gold-report-2/</a:t>
            </a:r>
            <a:r>
              <a:rPr lang="en-GB" dirty="0"/>
              <a:t>. Accessed February 2023; 3. Hurst JR;</a:t>
            </a:r>
            <a:r>
              <a:rPr lang="en-GB" i="1" dirty="0"/>
              <a:t>The New England Journal of Medicine</a:t>
            </a:r>
            <a:r>
              <a:rPr lang="en-GB" dirty="0"/>
              <a:t>;2010;363:1128-1138; 4. Suissa S;</a:t>
            </a:r>
            <a:r>
              <a:rPr lang="en-GB" i="1" dirty="0"/>
              <a:t>Thorax</a:t>
            </a:r>
            <a:r>
              <a:rPr lang="en-GB" dirty="0"/>
              <a:t>;2012;67;957-963; 5. MacNee W;</a:t>
            </a:r>
            <a:r>
              <a:rPr lang="en-GB" i="1" dirty="0"/>
              <a:t>Clinical Respiratory Medicine</a:t>
            </a:r>
            <a:r>
              <a:rPr lang="en-GB" dirty="0"/>
              <a:t>;2012;4;531-552 ; 6. Fletcher MJ;</a:t>
            </a:r>
            <a:r>
              <a:rPr lang="en-GB" i="1" dirty="0"/>
              <a:t>BioMed Central Public Health</a:t>
            </a:r>
            <a:r>
              <a:rPr lang="en-GB" dirty="0"/>
              <a:t>;2011;11;1-13.</a:t>
            </a:r>
          </a:p>
        </p:txBody>
      </p:sp>
      <p:sp>
        <p:nvSpPr>
          <p:cNvPr id="4" name="Title 3">
            <a:extLst>
              <a:ext uri="{FF2B5EF4-FFF2-40B4-BE49-F238E27FC236}">
                <a16:creationId xmlns:a16="http://schemas.microsoft.com/office/drawing/2014/main" id="{2138E5E3-B733-F3A9-9083-FB25B2E02FF7}"/>
              </a:ext>
            </a:extLst>
          </p:cNvPr>
          <p:cNvSpPr>
            <a:spLocks noGrp="1"/>
          </p:cNvSpPr>
          <p:nvPr>
            <p:ph type="title"/>
          </p:nvPr>
        </p:nvSpPr>
        <p:spPr/>
        <p:txBody>
          <a:bodyPr/>
          <a:lstStyle/>
          <a:p>
            <a:r>
              <a:rPr lang="en-GB" dirty="0"/>
              <a:t>Summary</a:t>
            </a:r>
          </a:p>
        </p:txBody>
      </p:sp>
      <p:sp>
        <p:nvSpPr>
          <p:cNvPr id="5" name="Subtitle 4">
            <a:extLst>
              <a:ext uri="{FF2B5EF4-FFF2-40B4-BE49-F238E27FC236}">
                <a16:creationId xmlns:a16="http://schemas.microsoft.com/office/drawing/2014/main" id="{A22F79F8-013E-C25D-4B8D-B381E928BFC0}"/>
              </a:ext>
            </a:extLst>
          </p:cNvPr>
          <p:cNvSpPr>
            <a:spLocks noGrp="1"/>
          </p:cNvSpPr>
          <p:nvPr>
            <p:ph type="subTitle" idx="1"/>
          </p:nvPr>
        </p:nvSpPr>
        <p:spPr>
          <a:xfrm>
            <a:off x="365125" y="694950"/>
            <a:ext cx="11460164" cy="352800"/>
          </a:xfrm>
        </p:spPr>
        <p:txBody>
          <a:bodyPr/>
          <a:lstStyle/>
          <a:p>
            <a:endParaRPr lang="en-GB" dirty="0"/>
          </a:p>
        </p:txBody>
      </p:sp>
      <p:sp>
        <p:nvSpPr>
          <p:cNvPr id="41" name="object 6">
            <a:extLst>
              <a:ext uri="{FF2B5EF4-FFF2-40B4-BE49-F238E27FC236}">
                <a16:creationId xmlns:a16="http://schemas.microsoft.com/office/drawing/2014/main" id="{4173EB1B-2D74-782F-DBB6-C669FDE18057}"/>
              </a:ext>
            </a:extLst>
          </p:cNvPr>
          <p:cNvSpPr txBox="1">
            <a:spLocks/>
          </p:cNvSpPr>
          <p:nvPr/>
        </p:nvSpPr>
        <p:spPr>
          <a:xfrm>
            <a:off x="365125" y="1304068"/>
            <a:ext cx="11460162" cy="919424"/>
          </a:xfrm>
          <a:prstGeom prst="rect">
            <a:avLst/>
          </a:prstGeom>
          <a:solidFill>
            <a:schemeClr val="tx2">
              <a:lumMod val="20000"/>
              <a:lumOff val="80000"/>
            </a:schemeClr>
          </a:solidFill>
          <a:ln w="12700">
            <a:noFill/>
          </a:ln>
        </p:spPr>
        <p:txBody>
          <a:bodyPr vert="horz" wrap="square" lIns="1005840" tIns="45720" rIns="45720" bIns="45720" rtlCol="0" anchor="ctr" anchorCtr="0">
            <a:noAutofit/>
          </a:bodyPr>
          <a:lstStyle/>
          <a:p>
            <a:pPr marL="71120" marR="1020444" lvl="0" indent="0" algn="l" defTabSz="1219170" rtl="0" eaLnBrk="1" fontAlgn="auto" latinLnBrk="0" hangingPunct="1">
              <a:lnSpc>
                <a:spcPct val="100000"/>
              </a:lnSpc>
              <a:spcBef>
                <a:spcPts val="1380"/>
              </a:spcBef>
              <a:spcAft>
                <a:spcPts val="0"/>
              </a:spcAft>
              <a:buClrTx/>
              <a:buSzTx/>
              <a:buFontTx/>
              <a:buNone/>
              <a:tabLst/>
              <a:defRPr/>
            </a:pPr>
            <a:r>
              <a:rPr kumimoji="0" lang="en-US" sz="1800" b="0" i="0" u="none" strike="noStrike" kern="1200" cap="none" spc="-5" normalizeH="0" baseline="0" noProof="0" dirty="0">
                <a:ln>
                  <a:noFill/>
                </a:ln>
                <a:solidFill>
                  <a:srgbClr val="000000"/>
                </a:solidFill>
                <a:effectLst/>
                <a:uLnTx/>
                <a:uFillTx/>
                <a:latin typeface="Arial"/>
                <a:ea typeface="+mn-ea"/>
                <a:cs typeface="Arial"/>
              </a:rPr>
              <a:t>In 2010, among people aged ≥ 30 years, the number of COPD cases was approximately 384 million worldwide, with a global prevalence of 11.7%.</a:t>
            </a:r>
            <a:r>
              <a:rPr kumimoji="0" lang="en-US" sz="1800" b="0" i="0" u="none" strike="noStrike" kern="1200" cap="none" spc="-5" normalizeH="0" baseline="30000" noProof="0" dirty="0">
                <a:ln>
                  <a:noFill/>
                </a:ln>
                <a:solidFill>
                  <a:srgbClr val="000000"/>
                </a:solidFill>
                <a:effectLst/>
                <a:uLnTx/>
                <a:uFillTx/>
                <a:latin typeface="Arial"/>
                <a:ea typeface="+mn-ea"/>
                <a:cs typeface="Arial"/>
              </a:rPr>
              <a:t>1 </a:t>
            </a:r>
            <a:r>
              <a:rPr kumimoji="0" lang="en-US" sz="1800" b="0" i="0" u="none" strike="noStrike" kern="1200" cap="none" spc="-5" normalizeH="0" baseline="0" noProof="0" dirty="0">
                <a:ln>
                  <a:noFill/>
                </a:ln>
                <a:solidFill>
                  <a:srgbClr val="000000"/>
                </a:solidFill>
                <a:effectLst/>
                <a:uLnTx/>
                <a:uFillTx/>
                <a:latin typeface="Arial"/>
                <a:ea typeface="+mn-ea"/>
                <a:cs typeface="Arial"/>
              </a:rPr>
              <a:t>Based on BOLD and epidemiological studies, estimation of the global prevalence of COPD is 10.3%.</a:t>
            </a:r>
            <a:r>
              <a:rPr kumimoji="0" lang="en-US" sz="1800" b="0" i="0" u="none" strike="noStrike" kern="1200" cap="none" spc="-15" normalizeH="0" baseline="26455" noProof="0" dirty="0">
                <a:ln>
                  <a:noFill/>
                </a:ln>
                <a:solidFill>
                  <a:srgbClr val="000000"/>
                </a:solidFill>
                <a:effectLst/>
                <a:uLnTx/>
                <a:uFillTx/>
                <a:latin typeface="Arial"/>
                <a:ea typeface="+mn-ea"/>
                <a:cs typeface="Arial"/>
              </a:rPr>
              <a:t>2</a:t>
            </a:r>
            <a:endParaRPr kumimoji="0" lang="en-US" sz="18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42" name="object 6">
            <a:extLst>
              <a:ext uri="{FF2B5EF4-FFF2-40B4-BE49-F238E27FC236}">
                <a16:creationId xmlns:a16="http://schemas.microsoft.com/office/drawing/2014/main" id="{AE6DF392-49B6-DBD4-556E-DEE2EDBC0ECF}"/>
              </a:ext>
            </a:extLst>
          </p:cNvPr>
          <p:cNvSpPr txBox="1">
            <a:spLocks/>
          </p:cNvSpPr>
          <p:nvPr/>
        </p:nvSpPr>
        <p:spPr>
          <a:xfrm>
            <a:off x="365125" y="2317786"/>
            <a:ext cx="11460162" cy="919424"/>
          </a:xfrm>
          <a:prstGeom prst="rect">
            <a:avLst/>
          </a:prstGeom>
          <a:solidFill>
            <a:schemeClr val="tx2">
              <a:lumMod val="20000"/>
              <a:lumOff val="80000"/>
            </a:schemeClr>
          </a:solidFill>
          <a:ln w="12700">
            <a:noFill/>
          </a:ln>
        </p:spPr>
        <p:txBody>
          <a:bodyPr vert="horz" wrap="square" lIns="1005840" tIns="45720" rIns="45720" bIns="45720" rtlCol="0" anchor="ctr" anchorCtr="0">
            <a:noAutofit/>
          </a:bodyPr>
          <a:lstStyle/>
          <a:p>
            <a:pPr marL="71120" marR="0" lvl="0" indent="0" algn="l" defTabSz="121917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10" normalizeH="0" baseline="0" noProof="0" dirty="0">
                <a:ln>
                  <a:noFill/>
                </a:ln>
                <a:solidFill>
                  <a:srgbClr val="000000"/>
                </a:solidFill>
                <a:effectLst/>
                <a:uLnTx/>
                <a:uFillTx/>
                <a:latin typeface="Arial"/>
                <a:ea typeface="+mn-ea"/>
                <a:cs typeface="Arial"/>
              </a:rPr>
              <a:t>COPD</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is</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leading</a:t>
            </a:r>
            <a:r>
              <a:rPr kumimoji="0" lang="en-US" sz="1800" b="0" i="0" u="none" strike="noStrike" kern="1200" cap="none" spc="-2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cause of</a:t>
            </a:r>
            <a:r>
              <a:rPr kumimoji="0" lang="en-US" sz="1800" b="0" i="0" u="none" strike="noStrike" kern="1200" cap="none" spc="30"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morbidity</a:t>
            </a:r>
            <a:r>
              <a:rPr kumimoji="0" lang="en-US" sz="1800" b="1" i="0" u="none" strike="noStrike" kern="1200" cap="none" spc="3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and</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mortality </a:t>
            </a:r>
            <a:r>
              <a:rPr kumimoji="0" lang="en-US" sz="1800" b="0" i="0" u="none" strike="noStrike" kern="1200" cap="none" spc="-5" normalizeH="0" baseline="0" noProof="0" dirty="0">
                <a:ln>
                  <a:noFill/>
                </a:ln>
                <a:solidFill>
                  <a:srgbClr val="000000"/>
                </a:solidFill>
                <a:effectLst/>
                <a:uLnTx/>
                <a:uFillTx/>
                <a:latin typeface="Arial"/>
                <a:ea typeface="+mn-ea"/>
                <a:cs typeface="Arial"/>
              </a:rPr>
              <a:t>(90% of deaths occur in LMICs).</a:t>
            </a:r>
            <a:r>
              <a:rPr kumimoji="0" lang="en-US" sz="1800" b="0" i="0" u="none" strike="noStrike" kern="1200" cap="none" spc="-7" normalizeH="0" baseline="26455" noProof="0" dirty="0">
                <a:ln>
                  <a:noFill/>
                </a:ln>
                <a:solidFill>
                  <a:srgbClr val="000000"/>
                </a:solidFill>
                <a:effectLst/>
                <a:uLnTx/>
                <a:uFillTx/>
                <a:latin typeface="Arial"/>
                <a:ea typeface="+mn-ea"/>
                <a:cs typeface="Arial"/>
              </a:rPr>
              <a:t>2</a:t>
            </a:r>
            <a:endParaRPr kumimoji="0" lang="en-US" sz="18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43" name="object 6">
            <a:extLst>
              <a:ext uri="{FF2B5EF4-FFF2-40B4-BE49-F238E27FC236}">
                <a16:creationId xmlns:a16="http://schemas.microsoft.com/office/drawing/2014/main" id="{01BE44A3-923B-10AB-B93B-391BBD031039}"/>
              </a:ext>
            </a:extLst>
          </p:cNvPr>
          <p:cNvSpPr txBox="1">
            <a:spLocks/>
          </p:cNvSpPr>
          <p:nvPr/>
        </p:nvSpPr>
        <p:spPr>
          <a:xfrm>
            <a:off x="365125" y="3332091"/>
            <a:ext cx="11460162" cy="919424"/>
          </a:xfrm>
          <a:prstGeom prst="rect">
            <a:avLst/>
          </a:prstGeom>
          <a:solidFill>
            <a:schemeClr val="tx2">
              <a:lumMod val="20000"/>
              <a:lumOff val="80000"/>
            </a:schemeClr>
          </a:solidFill>
          <a:ln w="12700">
            <a:noFill/>
          </a:ln>
        </p:spPr>
        <p:txBody>
          <a:bodyPr vert="horz" wrap="square" lIns="1005840" tIns="45720" rIns="45720" bIns="45720" rtlCol="0" anchor="ctr" anchorCtr="0">
            <a:noAutofit/>
          </a:bodyPr>
          <a:lstStyle/>
          <a:p>
            <a:pPr marL="71120" marR="0" lvl="0" indent="0" algn="l" defTabSz="1219170" rtl="0" eaLnBrk="1" fontAlgn="auto" latinLnBrk="0" hangingPunct="1">
              <a:lnSpc>
                <a:spcPct val="100000"/>
              </a:lnSpc>
              <a:spcBef>
                <a:spcPts val="425"/>
              </a:spcBef>
              <a:spcAft>
                <a:spcPts val="0"/>
              </a:spcAft>
              <a:buClrTx/>
              <a:buSzTx/>
              <a:buFontTx/>
              <a:buNone/>
              <a:tabLst/>
              <a:defRPr/>
            </a:pPr>
            <a:r>
              <a:rPr kumimoji="0" lang="en-US" sz="1800" b="0" i="0" u="none" strike="noStrike" kern="1200" cap="none" spc="-5" normalizeH="0" baseline="0" noProof="0" dirty="0">
                <a:ln>
                  <a:noFill/>
                </a:ln>
                <a:solidFill>
                  <a:srgbClr val="000000"/>
                </a:solidFill>
                <a:effectLst/>
                <a:uLnTx/>
                <a:uFillTx/>
                <a:latin typeface="Arial"/>
                <a:ea typeface="+mn-ea"/>
                <a:cs typeface="Arial"/>
              </a:rPr>
              <a:t>Morbidity</a:t>
            </a:r>
            <a:r>
              <a:rPr kumimoji="0" lang="en-US" sz="1800" b="0" i="0" u="none" strike="noStrike" kern="1200" cap="none" spc="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increases</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10" normalizeH="0" baseline="0" noProof="0" dirty="0">
                <a:ln>
                  <a:noFill/>
                </a:ln>
                <a:solidFill>
                  <a:srgbClr val="000000"/>
                </a:solidFill>
                <a:effectLst/>
                <a:uLnTx/>
                <a:uFillTx/>
                <a:latin typeface="Arial"/>
                <a:ea typeface="+mn-ea"/>
                <a:cs typeface="Arial"/>
              </a:rPr>
              <a:t>with</a:t>
            </a:r>
            <a:r>
              <a:rPr kumimoji="0" lang="en-US" sz="1800" b="0" i="0" u="none" strike="noStrike" kern="1200" cap="none" spc="25"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age</a:t>
            </a:r>
            <a:r>
              <a:rPr kumimoji="0" lang="en-US" sz="1800" b="1"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and</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1" i="0" u="none" strike="noStrike" kern="1200" cap="none" spc="-10" normalizeH="0" baseline="0" noProof="0" dirty="0">
                <a:ln>
                  <a:noFill/>
                </a:ln>
                <a:solidFill>
                  <a:srgbClr val="000000"/>
                </a:solidFill>
                <a:effectLst/>
                <a:uLnTx/>
                <a:uFillTx/>
                <a:latin typeface="Arial"/>
                <a:ea typeface="+mn-ea"/>
                <a:cs typeface="Arial"/>
              </a:rPr>
              <a:t>COPD</a:t>
            </a:r>
            <a:r>
              <a:rPr kumimoji="0" lang="en-US" sz="1800" b="1" i="0" u="none" strike="noStrike" kern="1200" cap="none" spc="15"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exacerbations</a:t>
            </a:r>
            <a:r>
              <a:rPr kumimoji="0" lang="en-US" sz="1800" b="1" i="0" u="none" strike="noStrike" kern="1200" cap="none" spc="4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and</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is influenced by</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comorbidities </a:t>
            </a:r>
            <a:r>
              <a:rPr kumimoji="0" lang="en-US" sz="1800" b="0" i="0" u="none" strike="noStrike" kern="1200" cap="none" spc="-5" normalizeH="0" baseline="0" noProof="0" dirty="0">
                <a:ln>
                  <a:noFill/>
                </a:ln>
                <a:solidFill>
                  <a:srgbClr val="000000"/>
                </a:solidFill>
                <a:effectLst/>
                <a:uLnTx/>
                <a:uFillTx/>
                <a:latin typeface="Arial"/>
                <a:ea typeface="+mn-ea"/>
                <a:cs typeface="Arial"/>
              </a:rPr>
              <a:t>such</a:t>
            </a:r>
            <a:r>
              <a:rPr kumimoji="0" lang="en-US" sz="1800" b="0" i="0" u="none" strike="noStrike" kern="1200" cap="none" spc="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as</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cardiovascular</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disease,</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musculoskeletal</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impairment</a:t>
            </a:r>
            <a:r>
              <a:rPr kumimoji="0" lang="en-US" sz="1800" b="0" i="0" u="none" strike="noStrike" kern="1200" cap="none" spc="2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and diabetes</a:t>
            </a:r>
            <a:r>
              <a:rPr kumimoji="0" lang="en-US" sz="1800" b="0" i="0" u="none" strike="noStrike" kern="1200" cap="none" spc="0" normalizeH="0" baseline="0" noProof="0" dirty="0">
                <a:ln>
                  <a:noFill/>
                </a:ln>
                <a:solidFill>
                  <a:srgbClr val="000000"/>
                </a:solidFill>
                <a:effectLst/>
                <a:uLnTx/>
                <a:uFillTx/>
                <a:latin typeface="Arial"/>
                <a:ea typeface="+mn-ea"/>
                <a:cs typeface="Arial"/>
              </a:rPr>
              <a:t> mellitus.</a:t>
            </a:r>
            <a:r>
              <a:rPr kumimoji="0" lang="en-US" sz="1800" b="0" i="0" u="none" strike="noStrike" kern="1200" cap="none" spc="0" normalizeH="0" baseline="26455" noProof="0" dirty="0">
                <a:ln>
                  <a:noFill/>
                </a:ln>
                <a:solidFill>
                  <a:srgbClr val="000000"/>
                </a:solidFill>
                <a:effectLst/>
                <a:uLnTx/>
                <a:uFillTx/>
                <a:latin typeface="Arial"/>
                <a:ea typeface="+mn-ea"/>
                <a:cs typeface="Arial"/>
              </a:rPr>
              <a:t>2,3</a:t>
            </a:r>
          </a:p>
        </p:txBody>
      </p:sp>
      <p:sp>
        <p:nvSpPr>
          <p:cNvPr id="44" name="object 6">
            <a:extLst>
              <a:ext uri="{FF2B5EF4-FFF2-40B4-BE49-F238E27FC236}">
                <a16:creationId xmlns:a16="http://schemas.microsoft.com/office/drawing/2014/main" id="{C7E3D97C-828C-4C12-33B8-2C15E0322C65}"/>
              </a:ext>
            </a:extLst>
          </p:cNvPr>
          <p:cNvSpPr txBox="1">
            <a:spLocks/>
          </p:cNvSpPr>
          <p:nvPr/>
        </p:nvSpPr>
        <p:spPr>
          <a:xfrm>
            <a:off x="365125" y="4374889"/>
            <a:ext cx="11460162" cy="919424"/>
          </a:xfrm>
          <a:prstGeom prst="rect">
            <a:avLst/>
          </a:prstGeom>
          <a:solidFill>
            <a:schemeClr val="tx2">
              <a:lumMod val="20000"/>
              <a:lumOff val="80000"/>
            </a:schemeClr>
          </a:solidFill>
          <a:ln w="12700">
            <a:noFill/>
          </a:ln>
        </p:spPr>
        <p:txBody>
          <a:bodyPr vert="horz" wrap="square" lIns="1005840" tIns="45720" rIns="45720" bIns="45720" rtlCol="0" anchor="ctr" anchorCtr="0">
            <a:noAutofit/>
          </a:bodyPr>
          <a:lstStyle/>
          <a:p>
            <a:pPr marL="71120" marR="539750" lvl="0" indent="0" algn="l" defTabSz="1219170" rtl="0" eaLnBrk="1" fontAlgn="auto" latinLnBrk="0" hangingPunct="1">
              <a:lnSpc>
                <a:spcPct val="100000"/>
              </a:lnSpc>
              <a:spcBef>
                <a:spcPts val="420"/>
              </a:spcBef>
              <a:spcAft>
                <a:spcPts val="0"/>
              </a:spcAft>
              <a:buClrTx/>
              <a:buSzTx/>
              <a:buFontTx/>
              <a:buNone/>
              <a:tabLst/>
              <a:defRPr/>
            </a:pPr>
            <a:r>
              <a:rPr kumimoji="0" lang="en-US" sz="1800" b="0" i="0" u="none" strike="noStrike" kern="1200" cap="none" spc="-10" normalizeH="0" baseline="0" noProof="0" dirty="0">
                <a:ln>
                  <a:noFill/>
                </a:ln>
                <a:solidFill>
                  <a:srgbClr val="000000"/>
                </a:solidFill>
                <a:effectLst/>
                <a:uLnTx/>
                <a:uFillTx/>
                <a:latin typeface="Arial"/>
                <a:ea typeface="+mn-ea"/>
                <a:cs typeface="Arial"/>
              </a:rPr>
              <a:t>COPD</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is</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often</a:t>
            </a:r>
            <a:r>
              <a:rPr kumimoji="0" lang="en-US" sz="1800" b="0" i="0" u="none" strike="noStrike" kern="1200" cap="none" spc="40" normalizeH="0" baseline="0" noProof="0" dirty="0">
                <a:ln>
                  <a:noFill/>
                </a:ln>
                <a:solidFill>
                  <a:srgbClr val="000000"/>
                </a:solidFill>
                <a:effectLst/>
                <a:uLnTx/>
                <a:uFillTx/>
                <a:latin typeface="Arial"/>
                <a:ea typeface="+mn-ea"/>
                <a:cs typeface="Arial"/>
              </a:rPr>
              <a:t> </a:t>
            </a:r>
            <a:r>
              <a:rPr kumimoji="0" lang="en-US" sz="1800" b="1" i="0" u="none" strike="noStrike" kern="1200" cap="none" spc="-5" normalizeH="0" baseline="0" noProof="0" dirty="0">
                <a:ln>
                  <a:noFill/>
                </a:ln>
                <a:solidFill>
                  <a:srgbClr val="000000"/>
                </a:solidFill>
                <a:effectLst/>
                <a:uLnTx/>
                <a:uFillTx/>
                <a:latin typeface="Arial"/>
                <a:ea typeface="+mn-ea"/>
                <a:cs typeface="Arial"/>
              </a:rPr>
              <a:t>underdiagnosed</a:t>
            </a:r>
            <a:r>
              <a:rPr kumimoji="0" lang="en-US" sz="1800" b="0" i="0" u="none" strike="noStrike" kern="1200" cap="none" spc="-5" normalizeH="0" baseline="0" noProof="0" dirty="0">
                <a:ln>
                  <a:noFill/>
                </a:ln>
                <a:solidFill>
                  <a:srgbClr val="000000"/>
                </a:solidFill>
                <a:effectLst/>
                <a:uLnTx/>
                <a:uFillTx/>
                <a:latin typeface="Arial"/>
                <a:ea typeface="+mn-ea"/>
                <a:cs typeface="Arial"/>
              </a:rPr>
              <a:t>,</a:t>
            </a:r>
            <a:r>
              <a:rPr kumimoji="0" lang="en-US" sz="1800" b="0" i="0" u="none" strike="noStrike" kern="1200" cap="none" spc="-7" normalizeH="0" baseline="26455" noProof="0" dirty="0">
                <a:ln>
                  <a:noFill/>
                </a:ln>
                <a:solidFill>
                  <a:srgbClr val="000000"/>
                </a:solidFill>
                <a:effectLst/>
                <a:uLnTx/>
                <a:uFillTx/>
                <a:latin typeface="Arial"/>
                <a:ea typeface="+mn-ea"/>
                <a:cs typeface="Arial"/>
              </a:rPr>
              <a:t>2,4</a:t>
            </a:r>
            <a:r>
              <a:rPr kumimoji="0" lang="en-US" sz="1800" b="0" i="0" u="none" strike="noStrike" kern="1200" cap="none" spc="307" normalizeH="0" baseline="26455"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causing</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significant burden</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on</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patients</a:t>
            </a:r>
            <a:r>
              <a:rPr kumimoji="0" lang="en-US" sz="1800" b="0" i="0" u="none" strike="noStrike" kern="1200" cap="none" spc="2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and</a:t>
            </a:r>
            <a:r>
              <a:rPr kumimoji="0" lang="en-US" sz="1800" b="0" i="0" u="none" strike="noStrike" kern="1200" cap="none" spc="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caregivers</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as</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10" normalizeH="0" baseline="0" noProof="0" dirty="0">
                <a:ln>
                  <a:noFill/>
                </a:ln>
                <a:solidFill>
                  <a:srgbClr val="000000"/>
                </a:solidFill>
                <a:effectLst/>
                <a:uLnTx/>
                <a:uFillTx/>
                <a:latin typeface="Arial"/>
                <a:ea typeface="+mn-ea"/>
                <a:cs typeface="Arial"/>
              </a:rPr>
              <a:t>well</a:t>
            </a:r>
            <a:r>
              <a:rPr kumimoji="0" lang="en-US" sz="1800" b="0" i="0" u="none" strike="noStrike" kern="1200" cap="none" spc="5"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as</a:t>
            </a:r>
            <a:r>
              <a:rPr kumimoji="0" lang="en-US" sz="1800" b="0" i="0" u="none" strike="noStrike" kern="1200" cap="none" spc="5" normalizeH="0" baseline="0" noProof="0" dirty="0">
                <a:ln>
                  <a:noFill/>
                </a:ln>
                <a:solidFill>
                  <a:srgbClr val="000000"/>
                </a:solidFill>
                <a:effectLst/>
                <a:uLnTx/>
                <a:uFillTx/>
                <a:latin typeface="Arial"/>
                <a:ea typeface="+mn-ea"/>
                <a:cs typeface="Arial"/>
              </a:rPr>
              <a:t> an </a:t>
            </a:r>
            <a:r>
              <a:rPr kumimoji="0" lang="en-US" sz="1800" b="0" i="0" u="none" strike="noStrike" kern="1200" cap="none" spc="-5" normalizeH="0" baseline="0" noProof="0" dirty="0">
                <a:ln>
                  <a:noFill/>
                </a:ln>
                <a:solidFill>
                  <a:srgbClr val="000000"/>
                </a:solidFill>
                <a:effectLst/>
                <a:uLnTx/>
                <a:uFillTx/>
                <a:latin typeface="Arial"/>
                <a:ea typeface="+mn-ea"/>
                <a:cs typeface="Arial"/>
              </a:rPr>
              <a:t>economic</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burden,</a:t>
            </a:r>
            <a:r>
              <a:rPr kumimoji="0" lang="en-US" sz="1800" b="0" i="0" u="none" strike="noStrike" kern="1200" cap="none" spc="-10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all of</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10" normalizeH="0" baseline="0" noProof="0" dirty="0">
                <a:ln>
                  <a:noFill/>
                </a:ln>
                <a:solidFill>
                  <a:srgbClr val="000000"/>
                </a:solidFill>
                <a:effectLst/>
                <a:uLnTx/>
                <a:uFillTx/>
                <a:latin typeface="Arial"/>
                <a:ea typeface="+mn-ea"/>
                <a:cs typeface="Arial"/>
              </a:rPr>
              <a:t>which </a:t>
            </a:r>
            <a:r>
              <a:rPr kumimoji="0" lang="en-US" sz="1800" b="0" i="0" u="none" strike="noStrike" kern="1200" cap="none" spc="-5" normalizeH="0" baseline="0" noProof="0" dirty="0">
                <a:ln>
                  <a:noFill/>
                </a:ln>
                <a:solidFill>
                  <a:srgbClr val="000000"/>
                </a:solidFill>
                <a:effectLst/>
                <a:uLnTx/>
                <a:uFillTx/>
                <a:latin typeface="Arial"/>
                <a:ea typeface="+mn-ea"/>
                <a:cs typeface="Arial"/>
              </a:rPr>
              <a:t>increases</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as</a:t>
            </a:r>
            <a:r>
              <a:rPr kumimoji="0" lang="en-US" sz="1800" b="0" i="0" u="none" strike="noStrike" kern="1200" cap="none" spc="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the</a:t>
            </a:r>
            <a:r>
              <a:rPr kumimoji="0" lang="en-US" sz="1800" b="0" i="0" u="none" strike="noStrike" kern="1200" cap="none" spc="10" normalizeH="0" baseline="0" noProof="0" dirty="0">
                <a:ln>
                  <a:noFill/>
                </a:ln>
                <a:solidFill>
                  <a:srgbClr val="000000"/>
                </a:solidFill>
                <a:effectLst/>
                <a:uLnTx/>
                <a:uFillTx/>
                <a:latin typeface="Arial"/>
                <a:ea typeface="+mn-ea"/>
                <a:cs typeface="Arial"/>
              </a:rPr>
              <a:t> </a:t>
            </a:r>
            <a:r>
              <a:rPr kumimoji="0" lang="en-US" sz="1800" b="0" i="0" u="none" strike="noStrike" kern="1200" cap="none" spc="-5" normalizeH="0" baseline="0" noProof="0" dirty="0">
                <a:ln>
                  <a:noFill/>
                </a:ln>
                <a:solidFill>
                  <a:srgbClr val="000000"/>
                </a:solidFill>
                <a:effectLst/>
                <a:uLnTx/>
                <a:uFillTx/>
                <a:latin typeface="Arial"/>
                <a:ea typeface="+mn-ea"/>
                <a:cs typeface="Arial"/>
              </a:rPr>
              <a:t>disease</a:t>
            </a:r>
            <a:r>
              <a:rPr kumimoji="0" lang="en-US" sz="1800" b="0" i="0" u="none" strike="noStrike" kern="1200" cap="none" spc="-15" normalizeH="0" baseline="0" noProof="0" dirty="0">
                <a:ln>
                  <a:noFill/>
                </a:ln>
                <a:solidFill>
                  <a:srgbClr val="000000"/>
                </a:solidFill>
                <a:effectLst/>
                <a:uLnTx/>
                <a:uFillTx/>
                <a:latin typeface="Arial"/>
                <a:ea typeface="+mn-ea"/>
                <a:cs typeface="Arial"/>
              </a:rPr>
              <a:t> </a:t>
            </a:r>
            <a:r>
              <a:rPr kumimoji="0" lang="en-US" sz="1800" b="0" i="0" u="none" strike="noStrike" kern="1200" cap="none" spc="0" normalizeH="0" baseline="0" noProof="0" dirty="0">
                <a:ln>
                  <a:noFill/>
                </a:ln>
                <a:solidFill>
                  <a:srgbClr val="000000"/>
                </a:solidFill>
                <a:effectLst/>
                <a:uLnTx/>
                <a:uFillTx/>
                <a:latin typeface="Arial"/>
                <a:ea typeface="+mn-ea"/>
                <a:cs typeface="Arial"/>
              </a:rPr>
              <a:t>progresses.</a:t>
            </a:r>
            <a:r>
              <a:rPr kumimoji="0" lang="en-US" sz="1800" b="0" i="0" u="none" strike="noStrike" kern="1200" cap="none" spc="0" normalizeH="0" baseline="26455" noProof="0" dirty="0">
                <a:ln>
                  <a:noFill/>
                </a:ln>
                <a:solidFill>
                  <a:srgbClr val="000000"/>
                </a:solidFill>
                <a:effectLst/>
                <a:uLnTx/>
                <a:uFillTx/>
                <a:latin typeface="Arial"/>
                <a:ea typeface="+mn-ea"/>
                <a:cs typeface="Arial"/>
              </a:rPr>
              <a:t>2,4–6</a:t>
            </a:r>
          </a:p>
        </p:txBody>
      </p:sp>
      <p:grpSp>
        <p:nvGrpSpPr>
          <p:cNvPr id="7" name="Group 6">
            <a:extLst>
              <a:ext uri="{FF2B5EF4-FFF2-40B4-BE49-F238E27FC236}">
                <a16:creationId xmlns:a16="http://schemas.microsoft.com/office/drawing/2014/main" id="{BB5BC935-22E6-67C8-8D5B-126C5D46D6B7}"/>
              </a:ext>
            </a:extLst>
          </p:cNvPr>
          <p:cNvGrpSpPr>
            <a:grpSpLocks noChangeAspect="1"/>
          </p:cNvGrpSpPr>
          <p:nvPr/>
        </p:nvGrpSpPr>
        <p:grpSpPr>
          <a:xfrm>
            <a:off x="540012" y="1494247"/>
            <a:ext cx="539066" cy="539067"/>
            <a:chOff x="13182070" y="88327"/>
            <a:chExt cx="5309659" cy="5309663"/>
          </a:xfrm>
          <a:solidFill>
            <a:schemeClr val="tx2"/>
          </a:solidFill>
        </p:grpSpPr>
        <p:sp>
          <p:nvSpPr>
            <p:cNvPr id="8" name="Freeform: Shape 7">
              <a:extLst>
                <a:ext uri="{FF2B5EF4-FFF2-40B4-BE49-F238E27FC236}">
                  <a16:creationId xmlns:a16="http://schemas.microsoft.com/office/drawing/2014/main" id="{F1867C60-3F09-07E2-93DD-DA72191391DF}"/>
                </a:ext>
              </a:extLst>
            </p:cNvPr>
            <p:cNvSpPr/>
            <p:nvPr/>
          </p:nvSpPr>
          <p:spPr>
            <a:xfrm>
              <a:off x="13182070" y="88327"/>
              <a:ext cx="5309659" cy="5309663"/>
            </a:xfrm>
            <a:custGeom>
              <a:avLst/>
              <a:gdLst>
                <a:gd name="connsiteX0" fmla="*/ 2654830 w 5309659"/>
                <a:gd name="connsiteY0" fmla="*/ 0 h 5309663"/>
                <a:gd name="connsiteX1" fmla="*/ 0 w 5309659"/>
                <a:gd name="connsiteY1" fmla="*/ 2654834 h 5309663"/>
                <a:gd name="connsiteX2" fmla="*/ 2654830 w 5309659"/>
                <a:gd name="connsiteY2" fmla="*/ 5309664 h 5309663"/>
                <a:gd name="connsiteX3" fmla="*/ 5309660 w 5309659"/>
                <a:gd name="connsiteY3" fmla="*/ 2654834 h 5309663"/>
                <a:gd name="connsiteX4" fmla="*/ 2654830 w 5309659"/>
                <a:gd name="connsiteY4" fmla="*/ 0 h 5309663"/>
                <a:gd name="connsiteX5" fmla="*/ 478297 w 5309659"/>
                <a:gd name="connsiteY5" fmla="*/ 1732629 h 5309663"/>
                <a:gd name="connsiteX6" fmla="*/ 536119 w 5309659"/>
                <a:gd name="connsiteY6" fmla="*/ 1665156 h 5309663"/>
                <a:gd name="connsiteX7" fmla="*/ 632523 w 5309659"/>
                <a:gd name="connsiteY7" fmla="*/ 1578363 h 5309663"/>
                <a:gd name="connsiteX8" fmla="*/ 661454 w 5309659"/>
                <a:gd name="connsiteY8" fmla="*/ 1636186 h 5309663"/>
                <a:gd name="connsiteX9" fmla="*/ 593981 w 5309659"/>
                <a:gd name="connsiteY9" fmla="*/ 1708479 h 5309663"/>
                <a:gd name="connsiteX10" fmla="*/ 613233 w 5309659"/>
                <a:gd name="connsiteY10" fmla="*/ 1804873 h 5309663"/>
                <a:gd name="connsiteX11" fmla="*/ 637304 w 5309659"/>
                <a:gd name="connsiteY11" fmla="*/ 1954328 h 5309663"/>
                <a:gd name="connsiteX12" fmla="*/ 671065 w 5309659"/>
                <a:gd name="connsiteY12" fmla="*/ 2147165 h 5309663"/>
                <a:gd name="connsiteX13" fmla="*/ 511979 w 5309659"/>
                <a:gd name="connsiteY13" fmla="*/ 2142345 h 5309663"/>
                <a:gd name="connsiteX14" fmla="*/ 458937 w 5309659"/>
                <a:gd name="connsiteY14" fmla="*/ 2036301 h 5309663"/>
                <a:gd name="connsiteX15" fmla="*/ 497509 w 5309659"/>
                <a:gd name="connsiteY15" fmla="*/ 1935077 h 5309663"/>
                <a:gd name="connsiteX16" fmla="*/ 361152 w 5309659"/>
                <a:gd name="connsiteY16" fmla="*/ 1664539 h 5309663"/>
                <a:gd name="connsiteX17" fmla="*/ 352540 w 5309659"/>
                <a:gd name="connsiteY17" fmla="*/ 1778930 h 5309663"/>
                <a:gd name="connsiteX18" fmla="*/ 281325 w 5309659"/>
                <a:gd name="connsiteY18" fmla="*/ 1813494 h 5309663"/>
                <a:gd name="connsiteX19" fmla="*/ 354725 w 5309659"/>
                <a:gd name="connsiteY19" fmla="*/ 1850194 h 5309663"/>
                <a:gd name="connsiteX20" fmla="*/ 354725 w 5309659"/>
                <a:gd name="connsiteY20" fmla="*/ 1949508 h 5309663"/>
                <a:gd name="connsiteX21" fmla="*/ 300723 w 5309659"/>
                <a:gd name="connsiteY21" fmla="*/ 1994820 h 5309663"/>
                <a:gd name="connsiteX22" fmla="*/ 233789 w 5309659"/>
                <a:gd name="connsiteY22" fmla="*/ 1996965 h 5309663"/>
                <a:gd name="connsiteX23" fmla="*/ 182010 w 5309659"/>
                <a:gd name="connsiteY23" fmla="*/ 2029335 h 5309663"/>
                <a:gd name="connsiteX24" fmla="*/ 168999 w 5309659"/>
                <a:gd name="connsiteY24" fmla="*/ 2028111 h 5309663"/>
                <a:gd name="connsiteX25" fmla="*/ 263641 w 5309659"/>
                <a:gd name="connsiteY25" fmla="*/ 1732129 h 5309663"/>
                <a:gd name="connsiteX26" fmla="*/ 93641 w 5309659"/>
                <a:gd name="connsiteY26" fmla="*/ 2556960 h 5309663"/>
                <a:gd name="connsiteX27" fmla="*/ 120047 w 5309659"/>
                <a:gd name="connsiteY27" fmla="*/ 2270737 h 5309663"/>
                <a:gd name="connsiteX28" fmla="*/ 189125 w 5309659"/>
                <a:gd name="connsiteY28" fmla="*/ 2267719 h 5309663"/>
                <a:gd name="connsiteX29" fmla="*/ 179404 w 5309659"/>
                <a:gd name="connsiteY29" fmla="*/ 2436416 h 5309663"/>
                <a:gd name="connsiteX30" fmla="*/ 102252 w 5309659"/>
                <a:gd name="connsiteY30" fmla="*/ 2556970 h 5309663"/>
                <a:gd name="connsiteX31" fmla="*/ 4316994 w 5309659"/>
                <a:gd name="connsiteY31" fmla="*/ 4604465 h 5309663"/>
                <a:gd name="connsiteX32" fmla="*/ 4375816 w 5309659"/>
                <a:gd name="connsiteY32" fmla="*/ 4503663 h 5309663"/>
                <a:gd name="connsiteX33" fmla="*/ 4375816 w 5309659"/>
                <a:gd name="connsiteY33" fmla="*/ 4426588 h 5309663"/>
                <a:gd name="connsiteX34" fmla="*/ 4228633 w 5309659"/>
                <a:gd name="connsiteY34" fmla="*/ 4611206 h 5309663"/>
                <a:gd name="connsiteX35" fmla="*/ 4179569 w 5309659"/>
                <a:gd name="connsiteY35" fmla="*/ 4633867 h 5309663"/>
                <a:gd name="connsiteX36" fmla="*/ 4179569 w 5309659"/>
                <a:gd name="connsiteY36" fmla="*/ 4559810 h 5309663"/>
                <a:gd name="connsiteX37" fmla="*/ 4191247 w 5309659"/>
                <a:gd name="connsiteY37" fmla="*/ 4515419 h 5309663"/>
                <a:gd name="connsiteX38" fmla="*/ 4247306 w 5309659"/>
                <a:gd name="connsiteY38" fmla="*/ 4466355 h 5309663"/>
                <a:gd name="connsiteX39" fmla="*/ 4158525 w 5309659"/>
                <a:gd name="connsiteY39" fmla="*/ 4414959 h 5309663"/>
                <a:gd name="connsiteX40" fmla="*/ 4072075 w 5309659"/>
                <a:gd name="connsiteY40" fmla="*/ 4480404 h 5309663"/>
                <a:gd name="connsiteX41" fmla="*/ 4046357 w 5309659"/>
                <a:gd name="connsiteY41" fmla="*/ 4513087 h 5309663"/>
                <a:gd name="connsiteX42" fmla="*/ 3980912 w 5309659"/>
                <a:gd name="connsiteY42" fmla="*/ 4559810 h 5309663"/>
                <a:gd name="connsiteX43" fmla="*/ 3941185 w 5309659"/>
                <a:gd name="connsiteY43" fmla="*/ 4520083 h 5309663"/>
                <a:gd name="connsiteX44" fmla="*/ 3899087 w 5309659"/>
                <a:gd name="connsiteY44" fmla="*/ 4517712 h 5309663"/>
                <a:gd name="connsiteX45" fmla="*/ 3803300 w 5309659"/>
                <a:gd name="connsiteY45" fmla="*/ 4633788 h 5309663"/>
                <a:gd name="connsiteX46" fmla="*/ 3754236 w 5309659"/>
                <a:gd name="connsiteY46" fmla="*/ 4633788 h 5309663"/>
                <a:gd name="connsiteX47" fmla="*/ 3679454 w 5309659"/>
                <a:gd name="connsiteY47" fmla="*/ 4667196 h 5309663"/>
                <a:gd name="connsiteX48" fmla="*/ 3611717 w 5309659"/>
                <a:gd name="connsiteY48" fmla="*/ 4741978 h 5309663"/>
                <a:gd name="connsiteX49" fmla="*/ 3485539 w 5309659"/>
                <a:gd name="connsiteY49" fmla="*/ 4779335 h 5309663"/>
                <a:gd name="connsiteX50" fmla="*/ 3305635 w 5309659"/>
                <a:gd name="connsiteY50" fmla="*/ 4842438 h 5309663"/>
                <a:gd name="connsiteX51" fmla="*/ 3247195 w 5309659"/>
                <a:gd name="connsiteY51" fmla="*/ 4947601 h 5309663"/>
                <a:gd name="connsiteX52" fmla="*/ 3080143 w 5309659"/>
                <a:gd name="connsiteY52" fmla="*/ 5132218 h 5309663"/>
                <a:gd name="connsiteX53" fmla="*/ 3156071 w 5309659"/>
                <a:gd name="connsiteY53" fmla="*/ 5111212 h 5309663"/>
                <a:gd name="connsiteX54" fmla="*/ 3324347 w 5309659"/>
                <a:gd name="connsiteY54" fmla="*/ 5073856 h 5309663"/>
                <a:gd name="connsiteX55" fmla="*/ 3457569 w 5309659"/>
                <a:gd name="connsiteY55" fmla="*/ 5064519 h 5309663"/>
                <a:gd name="connsiteX56" fmla="*/ 3474645 w 5309659"/>
                <a:gd name="connsiteY56" fmla="*/ 5083497 h 5309663"/>
                <a:gd name="connsiteX57" fmla="*/ 2654938 w 5309659"/>
                <a:gd name="connsiteY57" fmla="*/ 5218668 h 5309663"/>
                <a:gd name="connsiteX58" fmla="*/ 983349 w 5309659"/>
                <a:gd name="connsiteY58" fmla="*/ 4596285 h 5309663"/>
                <a:gd name="connsiteX59" fmla="*/ 983349 w 5309659"/>
                <a:gd name="connsiteY59" fmla="*/ 4579336 h 5309663"/>
                <a:gd name="connsiteX60" fmla="*/ 958817 w 5309659"/>
                <a:gd name="connsiteY60" fmla="*/ 4483931 h 5309663"/>
                <a:gd name="connsiteX61" fmla="*/ 860728 w 5309659"/>
                <a:gd name="connsiteY61" fmla="*/ 4383089 h 5309663"/>
                <a:gd name="connsiteX62" fmla="*/ 680902 w 5309659"/>
                <a:gd name="connsiteY62" fmla="*/ 4184158 h 5309663"/>
                <a:gd name="connsiteX63" fmla="*/ 664560 w 5309659"/>
                <a:gd name="connsiteY63" fmla="*/ 4058784 h 5309663"/>
                <a:gd name="connsiteX64" fmla="*/ 661797 w 5309659"/>
                <a:gd name="connsiteY64" fmla="*/ 3982474 h 5309663"/>
                <a:gd name="connsiteX65" fmla="*/ 683576 w 5309659"/>
                <a:gd name="connsiteY65" fmla="*/ 3881632 h 5309663"/>
                <a:gd name="connsiteX66" fmla="*/ 721697 w 5309659"/>
                <a:gd name="connsiteY66" fmla="*/ 3799885 h 5309663"/>
                <a:gd name="connsiteX67" fmla="*/ 721697 w 5309659"/>
                <a:gd name="connsiteY67" fmla="*/ 3647265 h 5309663"/>
                <a:gd name="connsiteX68" fmla="*/ 718934 w 5309659"/>
                <a:gd name="connsiteY68" fmla="*/ 3510987 h 5309663"/>
                <a:gd name="connsiteX69" fmla="*/ 691688 w 5309659"/>
                <a:gd name="connsiteY69" fmla="*/ 3451018 h 5309663"/>
                <a:gd name="connsiteX70" fmla="*/ 585409 w 5309659"/>
                <a:gd name="connsiteY70" fmla="*/ 3480978 h 5309663"/>
                <a:gd name="connsiteX71" fmla="*/ 489965 w 5309659"/>
                <a:gd name="connsiteY71" fmla="*/ 3481056 h 5309663"/>
                <a:gd name="connsiteX72" fmla="*/ 372781 w 5309659"/>
                <a:gd name="connsiteY72" fmla="*/ 3306657 h 5309663"/>
                <a:gd name="connsiteX73" fmla="*/ 310138 w 5309659"/>
                <a:gd name="connsiteY73" fmla="*/ 3260356 h 5309663"/>
                <a:gd name="connsiteX74" fmla="*/ 291034 w 5309659"/>
                <a:gd name="connsiteY74" fmla="*/ 3167704 h 5309663"/>
                <a:gd name="connsiteX75" fmla="*/ 231066 w 5309659"/>
                <a:gd name="connsiteY75" fmla="*/ 3107726 h 5309663"/>
                <a:gd name="connsiteX76" fmla="*/ 231066 w 5309659"/>
                <a:gd name="connsiteY76" fmla="*/ 2990543 h 5309663"/>
                <a:gd name="connsiteX77" fmla="*/ 195630 w 5309659"/>
                <a:gd name="connsiteY77" fmla="*/ 2949522 h 5309663"/>
                <a:gd name="connsiteX78" fmla="*/ 187441 w 5309659"/>
                <a:gd name="connsiteY78" fmla="*/ 2892307 h 5309663"/>
                <a:gd name="connsiteX79" fmla="*/ 152003 w 5309659"/>
                <a:gd name="connsiteY79" fmla="*/ 2750591 h 5309663"/>
                <a:gd name="connsiteX80" fmla="*/ 152003 w 5309659"/>
                <a:gd name="connsiteY80" fmla="*/ 2685185 h 5309663"/>
                <a:gd name="connsiteX81" fmla="*/ 214646 w 5309659"/>
                <a:gd name="connsiteY81" fmla="*/ 2832339 h 5309663"/>
                <a:gd name="connsiteX82" fmla="*/ 282804 w 5309659"/>
                <a:gd name="connsiteY82" fmla="*/ 2927753 h 5309663"/>
                <a:gd name="connsiteX83" fmla="*/ 282804 w 5309659"/>
                <a:gd name="connsiteY83" fmla="*/ 3031348 h 5309663"/>
                <a:gd name="connsiteX84" fmla="*/ 323678 w 5309659"/>
                <a:gd name="connsiteY84" fmla="*/ 3091316 h 5309663"/>
                <a:gd name="connsiteX85" fmla="*/ 389084 w 5309659"/>
                <a:gd name="connsiteY85" fmla="*/ 3227594 h 5309663"/>
                <a:gd name="connsiteX86" fmla="*/ 479022 w 5309659"/>
                <a:gd name="connsiteY86" fmla="*/ 3374747 h 5309663"/>
                <a:gd name="connsiteX87" fmla="*/ 667078 w 5309659"/>
                <a:gd name="connsiteY87" fmla="*/ 3257564 h 5309663"/>
                <a:gd name="connsiteX88" fmla="*/ 702514 w 5309659"/>
                <a:gd name="connsiteY88" fmla="*/ 3189405 h 5309663"/>
                <a:gd name="connsiteX89" fmla="*/ 860571 w 5309659"/>
                <a:gd name="connsiteY89" fmla="*/ 3088563 h 5309663"/>
                <a:gd name="connsiteX90" fmla="*/ 863324 w 5309659"/>
                <a:gd name="connsiteY90" fmla="*/ 3023157 h 5309663"/>
                <a:gd name="connsiteX91" fmla="*/ 920540 w 5309659"/>
                <a:gd name="connsiteY91" fmla="*/ 2911411 h 5309663"/>
                <a:gd name="connsiteX92" fmla="*/ 896008 w 5309659"/>
                <a:gd name="connsiteY92" fmla="*/ 2843252 h 5309663"/>
                <a:gd name="connsiteX93" fmla="*/ 795166 w 5309659"/>
                <a:gd name="connsiteY93" fmla="*/ 2813283 h 5309663"/>
                <a:gd name="connsiteX94" fmla="*/ 727007 w 5309659"/>
                <a:gd name="connsiteY94" fmla="*/ 2742410 h 5309663"/>
                <a:gd name="connsiteX95" fmla="*/ 680706 w 5309659"/>
                <a:gd name="connsiteY95" fmla="*/ 2821473 h 5309663"/>
                <a:gd name="connsiteX96" fmla="*/ 590768 w 5309659"/>
                <a:gd name="connsiteY96" fmla="*/ 2821473 h 5309663"/>
                <a:gd name="connsiteX97" fmla="*/ 577140 w 5309659"/>
                <a:gd name="connsiteY97" fmla="*/ 2758752 h 5309663"/>
                <a:gd name="connsiteX98" fmla="*/ 536266 w 5309659"/>
                <a:gd name="connsiteY98" fmla="*/ 2775094 h 5309663"/>
                <a:gd name="connsiteX99" fmla="*/ 522648 w 5309659"/>
                <a:gd name="connsiteY99" fmla="*/ 2712441 h 5309663"/>
                <a:gd name="connsiteX100" fmla="*/ 438148 w 5309659"/>
                <a:gd name="connsiteY100" fmla="*/ 2603409 h 5309663"/>
                <a:gd name="connsiteX101" fmla="*/ 457243 w 5309659"/>
                <a:gd name="connsiteY101" fmla="*/ 2540687 h 5309663"/>
                <a:gd name="connsiteX102" fmla="*/ 519964 w 5309659"/>
                <a:gd name="connsiteY102" fmla="*/ 2540687 h 5309663"/>
                <a:gd name="connsiteX103" fmla="*/ 585370 w 5309659"/>
                <a:gd name="connsiteY103" fmla="*/ 2630625 h 5309663"/>
                <a:gd name="connsiteX104" fmla="*/ 658926 w 5309659"/>
                <a:gd name="connsiteY104" fmla="*/ 2671499 h 5309663"/>
                <a:gd name="connsiteX105" fmla="*/ 729838 w 5309659"/>
                <a:gd name="connsiteY105" fmla="*/ 2654922 h 5309663"/>
                <a:gd name="connsiteX106" fmla="*/ 811586 w 5309659"/>
                <a:gd name="connsiteY106" fmla="*/ 2728783 h 5309663"/>
                <a:gd name="connsiteX107" fmla="*/ 934207 w 5309659"/>
                <a:gd name="connsiteY107" fmla="*/ 2739697 h 5309663"/>
                <a:gd name="connsiteX108" fmla="*/ 1171327 w 5309659"/>
                <a:gd name="connsiteY108" fmla="*/ 2750601 h 5309663"/>
                <a:gd name="connsiteX109" fmla="*/ 1242199 w 5309659"/>
                <a:gd name="connsiteY109" fmla="*/ 2807816 h 5309663"/>
                <a:gd name="connsiteX110" fmla="*/ 1315756 w 5309659"/>
                <a:gd name="connsiteY110" fmla="*/ 2840499 h 5309663"/>
                <a:gd name="connsiteX111" fmla="*/ 1394829 w 5309659"/>
                <a:gd name="connsiteY111" fmla="*/ 2843252 h 5309663"/>
                <a:gd name="connsiteX112" fmla="*/ 1332176 w 5309659"/>
                <a:gd name="connsiteY112" fmla="*/ 2875936 h 5309663"/>
                <a:gd name="connsiteX113" fmla="*/ 1394829 w 5309659"/>
                <a:gd name="connsiteY113" fmla="*/ 2952246 h 5309663"/>
                <a:gd name="connsiteX114" fmla="*/ 1476567 w 5309659"/>
                <a:gd name="connsiteY114" fmla="*/ 2979492 h 5309663"/>
                <a:gd name="connsiteX115" fmla="*/ 1517440 w 5309659"/>
                <a:gd name="connsiteY115" fmla="*/ 2889554 h 5309663"/>
                <a:gd name="connsiteX116" fmla="*/ 1517440 w 5309659"/>
                <a:gd name="connsiteY116" fmla="*/ 3053048 h 5309663"/>
                <a:gd name="connsiteX117" fmla="*/ 1732713 w 5309659"/>
                <a:gd name="connsiteY117" fmla="*/ 3420980 h 5309663"/>
                <a:gd name="connsiteX118" fmla="*/ 1901675 w 5309659"/>
                <a:gd name="connsiteY118" fmla="*/ 3617227 h 5309663"/>
                <a:gd name="connsiteX119" fmla="*/ 1980738 w 5309659"/>
                <a:gd name="connsiteY119" fmla="*/ 3524575 h 5309663"/>
                <a:gd name="connsiteX120" fmla="*/ 1980738 w 5309659"/>
                <a:gd name="connsiteY120" fmla="*/ 3431924 h 5309663"/>
                <a:gd name="connsiteX121" fmla="*/ 1980738 w 5309659"/>
                <a:gd name="connsiteY121" fmla="*/ 3292961 h 5309663"/>
                <a:gd name="connsiteX122" fmla="*/ 2027049 w 5309659"/>
                <a:gd name="connsiteY122" fmla="*/ 3197556 h 5309663"/>
                <a:gd name="connsiteX123" fmla="*/ 2220542 w 5309659"/>
                <a:gd name="connsiteY123" fmla="*/ 3012214 h 5309663"/>
                <a:gd name="connsiteX124" fmla="*/ 2302289 w 5309659"/>
                <a:gd name="connsiteY124" fmla="*/ 2916809 h 5309663"/>
                <a:gd name="connsiteX125" fmla="*/ 2476688 w 5309659"/>
                <a:gd name="connsiteY125" fmla="*/ 2851404 h 5309663"/>
                <a:gd name="connsiteX126" fmla="*/ 2550246 w 5309659"/>
                <a:gd name="connsiteY126" fmla="*/ 2840499 h 5309663"/>
                <a:gd name="connsiteX127" fmla="*/ 2654918 w 5309659"/>
                <a:gd name="connsiteY127" fmla="*/ 2944134 h 5309663"/>
                <a:gd name="connsiteX128" fmla="*/ 2746610 w 5309659"/>
                <a:gd name="connsiteY128" fmla="*/ 3091287 h 5309663"/>
                <a:gd name="connsiteX129" fmla="*/ 2782046 w 5309659"/>
                <a:gd name="connsiteY129" fmla="*/ 3189376 h 5309663"/>
                <a:gd name="connsiteX130" fmla="*/ 2899230 w 5309659"/>
                <a:gd name="connsiteY130" fmla="*/ 3140312 h 5309663"/>
                <a:gd name="connsiteX131" fmla="*/ 2942856 w 5309659"/>
                <a:gd name="connsiteY131" fmla="*/ 3219374 h 5309663"/>
                <a:gd name="connsiteX132" fmla="*/ 3008262 w 5309659"/>
                <a:gd name="connsiteY132" fmla="*/ 3404717 h 5309663"/>
                <a:gd name="connsiteX133" fmla="*/ 2983730 w 5309659"/>
                <a:gd name="connsiteY133" fmla="*/ 3568212 h 5309663"/>
                <a:gd name="connsiteX134" fmla="*/ 3010985 w 5309659"/>
                <a:gd name="connsiteY134" fmla="*/ 3587306 h 5309663"/>
                <a:gd name="connsiteX135" fmla="*/ 3049096 w 5309659"/>
                <a:gd name="connsiteY135" fmla="*/ 3619990 h 5309663"/>
                <a:gd name="connsiteX136" fmla="*/ 3100874 w 5309659"/>
                <a:gd name="connsiteY136" fmla="*/ 3696300 h 5309663"/>
                <a:gd name="connsiteX137" fmla="*/ 3133558 w 5309659"/>
                <a:gd name="connsiteY137" fmla="*/ 3824387 h 5309663"/>
                <a:gd name="connsiteX138" fmla="*/ 3286177 w 5309659"/>
                <a:gd name="connsiteY138" fmla="*/ 3917039 h 5309663"/>
                <a:gd name="connsiteX139" fmla="*/ 3264408 w 5309659"/>
                <a:gd name="connsiteY139" fmla="*/ 3772570 h 5309663"/>
                <a:gd name="connsiteX140" fmla="*/ 3237152 w 5309659"/>
                <a:gd name="connsiteY140" fmla="*/ 3693507 h 5309663"/>
                <a:gd name="connsiteX141" fmla="*/ 3125406 w 5309659"/>
                <a:gd name="connsiteY141" fmla="*/ 3633539 h 5309663"/>
                <a:gd name="connsiteX142" fmla="*/ 3111788 w 5309659"/>
                <a:gd name="connsiteY142" fmla="*/ 3569515 h 5309663"/>
                <a:gd name="connsiteX143" fmla="*/ 3062724 w 5309659"/>
                <a:gd name="connsiteY143" fmla="*/ 3527260 h 5309663"/>
                <a:gd name="connsiteX144" fmla="*/ 3049096 w 5309659"/>
                <a:gd name="connsiteY144" fmla="*/ 3491823 h 5309663"/>
                <a:gd name="connsiteX145" fmla="*/ 3093840 w 5309659"/>
                <a:gd name="connsiteY145" fmla="*/ 3347316 h 5309663"/>
                <a:gd name="connsiteX146" fmla="*/ 3169876 w 5309659"/>
                <a:gd name="connsiteY146" fmla="*/ 3388228 h 5309663"/>
                <a:gd name="connsiteX147" fmla="*/ 3357021 w 5309659"/>
                <a:gd name="connsiteY147" fmla="*/ 3569515 h 5309663"/>
                <a:gd name="connsiteX148" fmla="*/ 3392153 w 5309659"/>
                <a:gd name="connsiteY148" fmla="*/ 3511036 h 5309663"/>
                <a:gd name="connsiteX149" fmla="*/ 3526668 w 5309659"/>
                <a:gd name="connsiteY149" fmla="*/ 3481801 h 5309663"/>
                <a:gd name="connsiteX150" fmla="*/ 3614382 w 5309659"/>
                <a:gd name="connsiteY150" fmla="*/ 3399936 h 5309663"/>
                <a:gd name="connsiteX151" fmla="*/ 3544195 w 5309659"/>
                <a:gd name="connsiteY151" fmla="*/ 3201123 h 5309663"/>
                <a:gd name="connsiteX152" fmla="*/ 3392143 w 5309659"/>
                <a:gd name="connsiteY152" fmla="*/ 3095842 h 5309663"/>
                <a:gd name="connsiteX153" fmla="*/ 3392143 w 5309659"/>
                <a:gd name="connsiteY153" fmla="*/ 2967177 h 5309663"/>
                <a:gd name="connsiteX154" fmla="*/ 3514911 w 5309659"/>
                <a:gd name="connsiteY154" fmla="*/ 2902888 h 5309663"/>
                <a:gd name="connsiteX155" fmla="*/ 3637679 w 5309659"/>
                <a:gd name="connsiteY155" fmla="*/ 2967177 h 5309663"/>
                <a:gd name="connsiteX156" fmla="*/ 3666924 w 5309659"/>
                <a:gd name="connsiteY156" fmla="*/ 2879463 h 5309663"/>
                <a:gd name="connsiteX157" fmla="*/ 3883303 w 5309659"/>
                <a:gd name="connsiteY157" fmla="*/ 2838550 h 5309663"/>
                <a:gd name="connsiteX158" fmla="*/ 4093824 w 5309659"/>
                <a:gd name="connsiteY158" fmla="*/ 2654932 h 5309663"/>
                <a:gd name="connsiteX159" fmla="*/ 4158192 w 5309659"/>
                <a:gd name="connsiteY159" fmla="*/ 2394122 h 5309663"/>
                <a:gd name="connsiteX160" fmla="*/ 4023677 w 5309659"/>
                <a:gd name="connsiteY160" fmla="*/ 2125122 h 5309663"/>
                <a:gd name="connsiteX161" fmla="*/ 3924256 w 5309659"/>
                <a:gd name="connsiteY161" fmla="*/ 2025700 h 5309663"/>
                <a:gd name="connsiteX162" fmla="*/ 4093834 w 5309659"/>
                <a:gd name="connsiteY162" fmla="*/ 1955514 h 5309663"/>
                <a:gd name="connsiteX163" fmla="*/ 4023648 w 5309659"/>
                <a:gd name="connsiteY163" fmla="*/ 1920381 h 5309663"/>
                <a:gd name="connsiteX164" fmla="*/ 3877415 w 5309659"/>
                <a:gd name="connsiteY164" fmla="*/ 1973002 h 5309663"/>
                <a:gd name="connsiteX165" fmla="*/ 3772135 w 5309659"/>
                <a:gd name="connsiteY165" fmla="*/ 1867721 h 5309663"/>
                <a:gd name="connsiteX166" fmla="*/ 3889094 w 5309659"/>
                <a:gd name="connsiteY166" fmla="*/ 1698143 h 5309663"/>
                <a:gd name="connsiteX167" fmla="*/ 3965139 w 5309659"/>
                <a:gd name="connsiteY167" fmla="*/ 1785866 h 5309663"/>
                <a:gd name="connsiteX168" fmla="*/ 4070419 w 5309659"/>
                <a:gd name="connsiteY168" fmla="*/ 1780008 h 5309663"/>
                <a:gd name="connsiteX169" fmla="*/ 4111322 w 5309659"/>
                <a:gd name="connsiteY169" fmla="*/ 1908674 h 5309663"/>
                <a:gd name="connsiteX170" fmla="*/ 4228281 w 5309659"/>
                <a:gd name="connsiteY170" fmla="*/ 1961294 h 5309663"/>
                <a:gd name="connsiteX171" fmla="*/ 4298477 w 5309659"/>
                <a:gd name="connsiteY171" fmla="*/ 2125014 h 5309663"/>
                <a:gd name="connsiteX172" fmla="*/ 4356947 w 5309659"/>
                <a:gd name="connsiteY172" fmla="*/ 2072394 h 5309663"/>
                <a:gd name="connsiteX173" fmla="*/ 4356947 w 5309659"/>
                <a:gd name="connsiteY173" fmla="*/ 1949626 h 5309663"/>
                <a:gd name="connsiteX174" fmla="*/ 4222432 w 5309659"/>
                <a:gd name="connsiteY174" fmla="*/ 1809291 h 5309663"/>
                <a:gd name="connsiteX175" fmla="*/ 4239998 w 5309659"/>
                <a:gd name="connsiteY175" fmla="*/ 1698192 h 5309663"/>
                <a:gd name="connsiteX176" fmla="*/ 4251676 w 5309659"/>
                <a:gd name="connsiteY176" fmla="*/ 1616327 h 5309663"/>
                <a:gd name="connsiteX177" fmla="*/ 4380342 w 5309659"/>
                <a:gd name="connsiteY177" fmla="*/ 1616327 h 5309663"/>
                <a:gd name="connsiteX178" fmla="*/ 4415475 w 5309659"/>
                <a:gd name="connsiteY178" fmla="*/ 1464275 h 5309663"/>
                <a:gd name="connsiteX179" fmla="*/ 4333610 w 5309659"/>
                <a:gd name="connsiteY179" fmla="*/ 1119230 h 5309663"/>
                <a:gd name="connsiteX180" fmla="*/ 4123089 w 5309659"/>
                <a:gd name="connsiteY180" fmla="*/ 885288 h 5309663"/>
                <a:gd name="connsiteX181" fmla="*/ 3868667 w 5309659"/>
                <a:gd name="connsiteY181" fmla="*/ 815100 h 5309663"/>
                <a:gd name="connsiteX182" fmla="*/ 3807287 w 5309659"/>
                <a:gd name="connsiteY182" fmla="*/ 563666 h 5309663"/>
                <a:gd name="connsiteX183" fmla="*/ 3930055 w 5309659"/>
                <a:gd name="connsiteY183" fmla="*/ 475951 h 5309663"/>
                <a:gd name="connsiteX184" fmla="*/ 3895266 w 5309659"/>
                <a:gd name="connsiteY184" fmla="*/ 412193 h 5309663"/>
                <a:gd name="connsiteX185" fmla="*/ 5218566 w 5309659"/>
                <a:gd name="connsiteY185" fmla="*/ 2654853 h 5309663"/>
                <a:gd name="connsiteX186" fmla="*/ 4317072 w 5309659"/>
                <a:gd name="connsiteY186" fmla="*/ 4604485 h 5309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5309659" h="5309663">
                  <a:moveTo>
                    <a:pt x="2654830" y="0"/>
                  </a:moveTo>
                  <a:cubicBezTo>
                    <a:pt x="1190843" y="0"/>
                    <a:pt x="0" y="1190945"/>
                    <a:pt x="0" y="2654834"/>
                  </a:cubicBezTo>
                  <a:cubicBezTo>
                    <a:pt x="0" y="4118723"/>
                    <a:pt x="1190941" y="5309664"/>
                    <a:pt x="2654830" y="5309664"/>
                  </a:cubicBezTo>
                  <a:cubicBezTo>
                    <a:pt x="4118719" y="5309664"/>
                    <a:pt x="5309660" y="4118723"/>
                    <a:pt x="5309660" y="2654834"/>
                  </a:cubicBezTo>
                  <a:cubicBezTo>
                    <a:pt x="5309660" y="1190945"/>
                    <a:pt x="4118719" y="0"/>
                    <a:pt x="2654830" y="0"/>
                  </a:cubicBezTo>
                  <a:close/>
                  <a:moveTo>
                    <a:pt x="478297" y="1732629"/>
                  </a:moveTo>
                  <a:lnTo>
                    <a:pt x="536119" y="1665156"/>
                  </a:lnTo>
                  <a:lnTo>
                    <a:pt x="632523" y="1578363"/>
                  </a:lnTo>
                  <a:lnTo>
                    <a:pt x="661454" y="1636186"/>
                  </a:lnTo>
                  <a:lnTo>
                    <a:pt x="593981" y="1708479"/>
                  </a:lnTo>
                  <a:lnTo>
                    <a:pt x="613233" y="1804873"/>
                  </a:lnTo>
                  <a:lnTo>
                    <a:pt x="637304" y="1954328"/>
                  </a:lnTo>
                  <a:lnTo>
                    <a:pt x="671065" y="2147165"/>
                  </a:lnTo>
                  <a:lnTo>
                    <a:pt x="511979" y="2142345"/>
                  </a:lnTo>
                  <a:lnTo>
                    <a:pt x="458937" y="2036301"/>
                  </a:lnTo>
                  <a:lnTo>
                    <a:pt x="497509" y="1935077"/>
                  </a:lnTo>
                  <a:close/>
                  <a:moveTo>
                    <a:pt x="361152" y="1664539"/>
                  </a:moveTo>
                  <a:lnTo>
                    <a:pt x="352540" y="1778930"/>
                  </a:lnTo>
                  <a:lnTo>
                    <a:pt x="281325" y="1813494"/>
                  </a:lnTo>
                  <a:lnTo>
                    <a:pt x="354725" y="1850194"/>
                  </a:lnTo>
                  <a:lnTo>
                    <a:pt x="354725" y="1949508"/>
                  </a:lnTo>
                  <a:lnTo>
                    <a:pt x="300723" y="1994820"/>
                  </a:lnTo>
                  <a:lnTo>
                    <a:pt x="233789" y="1996965"/>
                  </a:lnTo>
                  <a:lnTo>
                    <a:pt x="182010" y="2029335"/>
                  </a:lnTo>
                  <a:lnTo>
                    <a:pt x="168999" y="2028111"/>
                  </a:lnTo>
                  <a:cubicBezTo>
                    <a:pt x="194525" y="1926886"/>
                    <a:pt x="226441" y="1828229"/>
                    <a:pt x="263641" y="1732129"/>
                  </a:cubicBezTo>
                  <a:close/>
                  <a:moveTo>
                    <a:pt x="93641" y="2556960"/>
                  </a:moveTo>
                  <a:cubicBezTo>
                    <a:pt x="97315" y="2460145"/>
                    <a:pt x="105888" y="2364535"/>
                    <a:pt x="120047" y="2270737"/>
                  </a:cubicBezTo>
                  <a:lnTo>
                    <a:pt x="189125" y="2267719"/>
                  </a:lnTo>
                  <a:lnTo>
                    <a:pt x="179404" y="2436416"/>
                  </a:lnTo>
                  <a:lnTo>
                    <a:pt x="102252" y="2556970"/>
                  </a:lnTo>
                  <a:close/>
                  <a:moveTo>
                    <a:pt x="4316994" y="4604465"/>
                  </a:moveTo>
                  <a:lnTo>
                    <a:pt x="4375816" y="4503663"/>
                  </a:lnTo>
                  <a:lnTo>
                    <a:pt x="4375816" y="4426588"/>
                  </a:lnTo>
                  <a:lnTo>
                    <a:pt x="4228633" y="4611206"/>
                  </a:lnTo>
                  <a:lnTo>
                    <a:pt x="4179569" y="4633867"/>
                  </a:lnTo>
                  <a:lnTo>
                    <a:pt x="4179569" y="4559810"/>
                  </a:lnTo>
                  <a:lnTo>
                    <a:pt x="4191247" y="4515419"/>
                  </a:lnTo>
                  <a:lnTo>
                    <a:pt x="4247306" y="4466355"/>
                  </a:lnTo>
                  <a:lnTo>
                    <a:pt x="4158525" y="4414959"/>
                  </a:lnTo>
                  <a:lnTo>
                    <a:pt x="4072075" y="4480404"/>
                  </a:lnTo>
                  <a:lnTo>
                    <a:pt x="4046357" y="4513087"/>
                  </a:lnTo>
                  <a:lnTo>
                    <a:pt x="3980912" y="4559810"/>
                  </a:lnTo>
                  <a:lnTo>
                    <a:pt x="3941185" y="4520083"/>
                  </a:lnTo>
                  <a:lnTo>
                    <a:pt x="3899087" y="4517712"/>
                  </a:lnTo>
                  <a:cubicBezTo>
                    <a:pt x="3899087" y="4517712"/>
                    <a:pt x="3812637" y="4618171"/>
                    <a:pt x="3803300" y="4633788"/>
                  </a:cubicBezTo>
                  <a:cubicBezTo>
                    <a:pt x="3793963" y="4649444"/>
                    <a:pt x="3754236" y="4633788"/>
                    <a:pt x="3754236" y="4633788"/>
                  </a:cubicBezTo>
                  <a:lnTo>
                    <a:pt x="3679454" y="4667196"/>
                  </a:lnTo>
                  <a:lnTo>
                    <a:pt x="3611717" y="4741978"/>
                  </a:lnTo>
                  <a:lnTo>
                    <a:pt x="3485539" y="4779335"/>
                  </a:lnTo>
                  <a:lnTo>
                    <a:pt x="3305635" y="4842438"/>
                  </a:lnTo>
                  <a:lnTo>
                    <a:pt x="3247195" y="4947601"/>
                  </a:lnTo>
                  <a:lnTo>
                    <a:pt x="3080143" y="5132218"/>
                  </a:lnTo>
                  <a:lnTo>
                    <a:pt x="3156071" y="5111212"/>
                  </a:lnTo>
                  <a:lnTo>
                    <a:pt x="3324347" y="5073856"/>
                  </a:lnTo>
                  <a:lnTo>
                    <a:pt x="3457569" y="5064519"/>
                  </a:lnTo>
                  <a:lnTo>
                    <a:pt x="3474645" y="5083497"/>
                  </a:lnTo>
                  <a:cubicBezTo>
                    <a:pt x="3217049" y="5170681"/>
                    <a:pt x="2941583" y="5218668"/>
                    <a:pt x="2654938" y="5218668"/>
                  </a:cubicBezTo>
                  <a:cubicBezTo>
                    <a:pt x="2016634" y="5218668"/>
                    <a:pt x="1432548" y="4983615"/>
                    <a:pt x="983349" y="4596285"/>
                  </a:cubicBezTo>
                  <a:lnTo>
                    <a:pt x="983349" y="4579336"/>
                  </a:lnTo>
                  <a:lnTo>
                    <a:pt x="958817" y="4483931"/>
                  </a:lnTo>
                  <a:lnTo>
                    <a:pt x="860728" y="4383089"/>
                  </a:lnTo>
                  <a:lnTo>
                    <a:pt x="680902" y="4184158"/>
                  </a:lnTo>
                  <a:lnTo>
                    <a:pt x="664560" y="4058784"/>
                  </a:lnTo>
                  <a:lnTo>
                    <a:pt x="661797" y="3982474"/>
                  </a:lnTo>
                  <a:lnTo>
                    <a:pt x="683576" y="3881632"/>
                  </a:lnTo>
                  <a:lnTo>
                    <a:pt x="721697" y="3799885"/>
                  </a:lnTo>
                  <a:lnTo>
                    <a:pt x="721697" y="3647265"/>
                  </a:lnTo>
                  <a:lnTo>
                    <a:pt x="718934" y="3510987"/>
                  </a:lnTo>
                  <a:lnTo>
                    <a:pt x="691688" y="3451018"/>
                  </a:lnTo>
                  <a:lnTo>
                    <a:pt x="585409" y="3480978"/>
                  </a:lnTo>
                  <a:lnTo>
                    <a:pt x="489965" y="3481056"/>
                  </a:lnTo>
                  <a:lnTo>
                    <a:pt x="372781" y="3306657"/>
                  </a:lnTo>
                  <a:lnTo>
                    <a:pt x="310138" y="3260356"/>
                  </a:lnTo>
                  <a:lnTo>
                    <a:pt x="291034" y="3167704"/>
                  </a:lnTo>
                  <a:lnTo>
                    <a:pt x="231066" y="3107726"/>
                  </a:lnTo>
                  <a:lnTo>
                    <a:pt x="231066" y="2990543"/>
                  </a:lnTo>
                  <a:lnTo>
                    <a:pt x="195630" y="2949522"/>
                  </a:lnTo>
                  <a:lnTo>
                    <a:pt x="187441" y="2892307"/>
                  </a:lnTo>
                  <a:lnTo>
                    <a:pt x="152003" y="2750591"/>
                  </a:lnTo>
                  <a:lnTo>
                    <a:pt x="152003" y="2685185"/>
                  </a:lnTo>
                  <a:lnTo>
                    <a:pt x="214646" y="2832339"/>
                  </a:lnTo>
                  <a:lnTo>
                    <a:pt x="282804" y="2927753"/>
                  </a:lnTo>
                  <a:lnTo>
                    <a:pt x="282804" y="3031348"/>
                  </a:lnTo>
                  <a:lnTo>
                    <a:pt x="323678" y="3091316"/>
                  </a:lnTo>
                  <a:lnTo>
                    <a:pt x="389084" y="3227594"/>
                  </a:lnTo>
                  <a:lnTo>
                    <a:pt x="479022" y="3374747"/>
                  </a:lnTo>
                  <a:lnTo>
                    <a:pt x="667078" y="3257564"/>
                  </a:lnTo>
                  <a:lnTo>
                    <a:pt x="702514" y="3189405"/>
                  </a:lnTo>
                  <a:lnTo>
                    <a:pt x="860571" y="3088563"/>
                  </a:lnTo>
                  <a:lnTo>
                    <a:pt x="863324" y="3023157"/>
                  </a:lnTo>
                  <a:lnTo>
                    <a:pt x="920540" y="2911411"/>
                  </a:lnTo>
                  <a:lnTo>
                    <a:pt x="896008" y="2843252"/>
                  </a:lnTo>
                  <a:lnTo>
                    <a:pt x="795166" y="2813283"/>
                  </a:lnTo>
                  <a:lnTo>
                    <a:pt x="727007" y="2742410"/>
                  </a:lnTo>
                  <a:lnTo>
                    <a:pt x="680706" y="2821473"/>
                  </a:lnTo>
                  <a:lnTo>
                    <a:pt x="590768" y="2821473"/>
                  </a:lnTo>
                  <a:lnTo>
                    <a:pt x="577140" y="2758752"/>
                  </a:lnTo>
                  <a:lnTo>
                    <a:pt x="536266" y="2775094"/>
                  </a:lnTo>
                  <a:lnTo>
                    <a:pt x="522648" y="2712441"/>
                  </a:lnTo>
                  <a:lnTo>
                    <a:pt x="438148" y="2603409"/>
                  </a:lnTo>
                  <a:lnTo>
                    <a:pt x="457243" y="2540687"/>
                  </a:lnTo>
                  <a:lnTo>
                    <a:pt x="519964" y="2540687"/>
                  </a:lnTo>
                  <a:lnTo>
                    <a:pt x="585370" y="2630625"/>
                  </a:lnTo>
                  <a:lnTo>
                    <a:pt x="658926" y="2671499"/>
                  </a:lnTo>
                  <a:lnTo>
                    <a:pt x="729838" y="2654922"/>
                  </a:lnTo>
                  <a:lnTo>
                    <a:pt x="811586" y="2728783"/>
                  </a:lnTo>
                  <a:lnTo>
                    <a:pt x="934207" y="2739697"/>
                  </a:lnTo>
                  <a:lnTo>
                    <a:pt x="1171327" y="2750601"/>
                  </a:lnTo>
                  <a:lnTo>
                    <a:pt x="1242199" y="2807816"/>
                  </a:lnTo>
                  <a:lnTo>
                    <a:pt x="1315756" y="2840499"/>
                  </a:lnTo>
                  <a:lnTo>
                    <a:pt x="1394829" y="2843252"/>
                  </a:lnTo>
                  <a:lnTo>
                    <a:pt x="1332176" y="2875936"/>
                  </a:lnTo>
                  <a:lnTo>
                    <a:pt x="1394829" y="2952246"/>
                  </a:lnTo>
                  <a:lnTo>
                    <a:pt x="1476567" y="2979492"/>
                  </a:lnTo>
                  <a:lnTo>
                    <a:pt x="1517440" y="2889554"/>
                  </a:lnTo>
                  <a:lnTo>
                    <a:pt x="1517440" y="3053048"/>
                  </a:lnTo>
                  <a:lnTo>
                    <a:pt x="1732713" y="3420980"/>
                  </a:lnTo>
                  <a:lnTo>
                    <a:pt x="1901675" y="3617227"/>
                  </a:lnTo>
                  <a:cubicBezTo>
                    <a:pt x="1901675" y="3617227"/>
                    <a:pt x="1969833" y="3538164"/>
                    <a:pt x="1980738" y="3524575"/>
                  </a:cubicBezTo>
                  <a:cubicBezTo>
                    <a:pt x="1991651" y="3510957"/>
                    <a:pt x="1980738" y="3431924"/>
                    <a:pt x="1980738" y="3431924"/>
                  </a:cubicBezTo>
                  <a:lnTo>
                    <a:pt x="1980738" y="3292961"/>
                  </a:lnTo>
                  <a:lnTo>
                    <a:pt x="2027049" y="3197556"/>
                  </a:lnTo>
                  <a:lnTo>
                    <a:pt x="2220542" y="3012214"/>
                  </a:lnTo>
                  <a:lnTo>
                    <a:pt x="2302289" y="2916809"/>
                  </a:lnTo>
                  <a:lnTo>
                    <a:pt x="2476688" y="2851404"/>
                  </a:lnTo>
                  <a:lnTo>
                    <a:pt x="2550246" y="2840499"/>
                  </a:lnTo>
                  <a:lnTo>
                    <a:pt x="2654918" y="2944134"/>
                  </a:lnTo>
                  <a:lnTo>
                    <a:pt x="2746610" y="3091287"/>
                  </a:lnTo>
                  <a:lnTo>
                    <a:pt x="2782046" y="3189376"/>
                  </a:lnTo>
                  <a:lnTo>
                    <a:pt x="2899230" y="3140312"/>
                  </a:lnTo>
                  <a:lnTo>
                    <a:pt x="2942856" y="3219374"/>
                  </a:lnTo>
                  <a:lnTo>
                    <a:pt x="3008262" y="3404717"/>
                  </a:lnTo>
                  <a:lnTo>
                    <a:pt x="2983730" y="3568212"/>
                  </a:lnTo>
                  <a:lnTo>
                    <a:pt x="3010985" y="3587306"/>
                  </a:lnTo>
                  <a:lnTo>
                    <a:pt x="3049096" y="3619990"/>
                  </a:lnTo>
                  <a:lnTo>
                    <a:pt x="3100874" y="3696300"/>
                  </a:lnTo>
                  <a:lnTo>
                    <a:pt x="3133558" y="3824387"/>
                  </a:lnTo>
                  <a:lnTo>
                    <a:pt x="3286177" y="3917039"/>
                  </a:lnTo>
                  <a:lnTo>
                    <a:pt x="3264408" y="3772570"/>
                  </a:lnTo>
                  <a:lnTo>
                    <a:pt x="3237152" y="3693507"/>
                  </a:lnTo>
                  <a:lnTo>
                    <a:pt x="3125406" y="3633539"/>
                  </a:lnTo>
                  <a:lnTo>
                    <a:pt x="3111788" y="3569515"/>
                  </a:lnTo>
                  <a:lnTo>
                    <a:pt x="3062724" y="3527260"/>
                  </a:lnTo>
                  <a:lnTo>
                    <a:pt x="3049096" y="3491823"/>
                  </a:lnTo>
                  <a:lnTo>
                    <a:pt x="3093840" y="3347316"/>
                  </a:lnTo>
                  <a:lnTo>
                    <a:pt x="3169876" y="3388228"/>
                  </a:lnTo>
                  <a:lnTo>
                    <a:pt x="3357021" y="3569515"/>
                  </a:lnTo>
                  <a:lnTo>
                    <a:pt x="3392153" y="3511036"/>
                  </a:lnTo>
                  <a:lnTo>
                    <a:pt x="3526668" y="3481801"/>
                  </a:lnTo>
                  <a:lnTo>
                    <a:pt x="3614382" y="3399936"/>
                  </a:lnTo>
                  <a:lnTo>
                    <a:pt x="3544195" y="3201123"/>
                  </a:lnTo>
                  <a:lnTo>
                    <a:pt x="3392143" y="3095842"/>
                  </a:lnTo>
                  <a:lnTo>
                    <a:pt x="3392143" y="2967177"/>
                  </a:lnTo>
                  <a:lnTo>
                    <a:pt x="3514911" y="2902888"/>
                  </a:lnTo>
                  <a:lnTo>
                    <a:pt x="3637679" y="2967177"/>
                  </a:lnTo>
                  <a:lnTo>
                    <a:pt x="3666924" y="2879463"/>
                  </a:lnTo>
                  <a:lnTo>
                    <a:pt x="3883303" y="2838550"/>
                  </a:lnTo>
                  <a:lnTo>
                    <a:pt x="4093824" y="2654932"/>
                  </a:lnTo>
                  <a:lnTo>
                    <a:pt x="4158192" y="2394122"/>
                  </a:lnTo>
                  <a:lnTo>
                    <a:pt x="4023677" y="2125122"/>
                  </a:lnTo>
                  <a:lnTo>
                    <a:pt x="3924256" y="2025700"/>
                  </a:lnTo>
                  <a:lnTo>
                    <a:pt x="4093834" y="1955514"/>
                  </a:lnTo>
                  <a:lnTo>
                    <a:pt x="4023648" y="1920381"/>
                  </a:lnTo>
                  <a:lnTo>
                    <a:pt x="3877415" y="1973002"/>
                  </a:lnTo>
                  <a:lnTo>
                    <a:pt x="3772135" y="1867721"/>
                  </a:lnTo>
                  <a:lnTo>
                    <a:pt x="3889094" y="1698143"/>
                  </a:lnTo>
                  <a:lnTo>
                    <a:pt x="3965139" y="1785866"/>
                  </a:lnTo>
                  <a:lnTo>
                    <a:pt x="4070419" y="1780008"/>
                  </a:lnTo>
                  <a:lnTo>
                    <a:pt x="4111322" y="1908674"/>
                  </a:lnTo>
                  <a:lnTo>
                    <a:pt x="4228281" y="1961294"/>
                  </a:lnTo>
                  <a:lnTo>
                    <a:pt x="4298477" y="2125014"/>
                  </a:lnTo>
                  <a:lnTo>
                    <a:pt x="4356947" y="2072394"/>
                  </a:lnTo>
                  <a:lnTo>
                    <a:pt x="4356947" y="1949626"/>
                  </a:lnTo>
                  <a:lnTo>
                    <a:pt x="4222432" y="1809291"/>
                  </a:lnTo>
                  <a:lnTo>
                    <a:pt x="4239998" y="1698192"/>
                  </a:lnTo>
                  <a:lnTo>
                    <a:pt x="4251676" y="1616327"/>
                  </a:lnTo>
                  <a:lnTo>
                    <a:pt x="4380342" y="1616327"/>
                  </a:lnTo>
                  <a:lnTo>
                    <a:pt x="4415475" y="1464275"/>
                  </a:lnTo>
                  <a:lnTo>
                    <a:pt x="4333610" y="1119230"/>
                  </a:lnTo>
                  <a:lnTo>
                    <a:pt x="4123089" y="885288"/>
                  </a:lnTo>
                  <a:lnTo>
                    <a:pt x="3868667" y="815100"/>
                  </a:lnTo>
                  <a:lnTo>
                    <a:pt x="3807287" y="563666"/>
                  </a:lnTo>
                  <a:lnTo>
                    <a:pt x="3930055" y="475951"/>
                  </a:lnTo>
                  <a:lnTo>
                    <a:pt x="3895266" y="412193"/>
                  </a:lnTo>
                  <a:cubicBezTo>
                    <a:pt x="4683672" y="849969"/>
                    <a:pt x="5218566" y="1690912"/>
                    <a:pt x="5218566" y="2654853"/>
                  </a:cubicBezTo>
                  <a:cubicBezTo>
                    <a:pt x="5218674" y="3434755"/>
                    <a:pt x="4868240" y="4133830"/>
                    <a:pt x="4317072" y="4604485"/>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 name="Freeform: Shape 8">
              <a:extLst>
                <a:ext uri="{FF2B5EF4-FFF2-40B4-BE49-F238E27FC236}">
                  <a16:creationId xmlns:a16="http://schemas.microsoft.com/office/drawing/2014/main" id="{882D1D31-34BB-8E70-7C9A-C3F0121EC113}"/>
                </a:ext>
              </a:extLst>
            </p:cNvPr>
            <p:cNvSpPr/>
            <p:nvPr/>
          </p:nvSpPr>
          <p:spPr>
            <a:xfrm>
              <a:off x="15195520" y="3626902"/>
              <a:ext cx="100459" cy="182246"/>
            </a:xfrm>
            <a:custGeom>
              <a:avLst/>
              <a:gdLst>
                <a:gd name="connsiteX0" fmla="*/ 13971 w 100459"/>
                <a:gd name="connsiteY0" fmla="*/ 0 h 182246"/>
                <a:gd name="connsiteX1" fmla="*/ 0 w 100459"/>
                <a:gd name="connsiteY1" fmla="*/ 32683 h 182246"/>
                <a:gd name="connsiteX2" fmla="*/ 6966 w 100459"/>
                <a:gd name="connsiteY2" fmla="*/ 140187 h 182246"/>
                <a:gd name="connsiteX3" fmla="*/ 51396 w 100459"/>
                <a:gd name="connsiteY3" fmla="*/ 182246 h 182246"/>
                <a:gd name="connsiteX4" fmla="*/ 100460 w 100459"/>
                <a:gd name="connsiteY4" fmla="*/ 123846 h 182246"/>
                <a:gd name="connsiteX5" fmla="*/ 88752 w 100459"/>
                <a:gd name="connsiteY5" fmla="*/ 74782 h 182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0459" h="182246">
                  <a:moveTo>
                    <a:pt x="13971" y="0"/>
                  </a:moveTo>
                  <a:lnTo>
                    <a:pt x="0" y="32683"/>
                  </a:lnTo>
                  <a:lnTo>
                    <a:pt x="6966" y="140187"/>
                  </a:lnTo>
                  <a:lnTo>
                    <a:pt x="51396" y="182246"/>
                  </a:lnTo>
                  <a:lnTo>
                    <a:pt x="100460" y="123846"/>
                  </a:lnTo>
                  <a:lnTo>
                    <a:pt x="88752" y="74782"/>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 name="Freeform: Shape 9">
              <a:extLst>
                <a:ext uri="{FF2B5EF4-FFF2-40B4-BE49-F238E27FC236}">
                  <a16:creationId xmlns:a16="http://schemas.microsoft.com/office/drawing/2014/main" id="{1A3A4A2F-576A-94DD-B966-B10D35CC803B}"/>
                </a:ext>
              </a:extLst>
            </p:cNvPr>
            <p:cNvSpPr/>
            <p:nvPr/>
          </p:nvSpPr>
          <p:spPr>
            <a:xfrm>
              <a:off x="16017931" y="3809148"/>
              <a:ext cx="488407" cy="490738"/>
            </a:xfrm>
            <a:custGeom>
              <a:avLst/>
              <a:gdLst>
                <a:gd name="connsiteX0" fmla="*/ 488407 w 488407"/>
                <a:gd name="connsiteY0" fmla="*/ 355225 h 490738"/>
                <a:gd name="connsiteX1" fmla="*/ 401918 w 488407"/>
                <a:gd name="connsiteY1" fmla="*/ 268736 h 490738"/>
                <a:gd name="connsiteX2" fmla="*/ 334181 w 488407"/>
                <a:gd name="connsiteY2" fmla="*/ 189281 h 490738"/>
                <a:gd name="connsiteX3" fmla="*/ 208003 w 488407"/>
                <a:gd name="connsiteY3" fmla="*/ 86489 h 490738"/>
                <a:gd name="connsiteX4" fmla="*/ 93494 w 488407"/>
                <a:gd name="connsiteY4" fmla="*/ 0 h 490738"/>
                <a:gd name="connsiteX5" fmla="*/ 0 w 488407"/>
                <a:gd name="connsiteY5" fmla="*/ 0 h 490738"/>
                <a:gd name="connsiteX6" fmla="*/ 60772 w 488407"/>
                <a:gd name="connsiteY6" fmla="*/ 65406 h 490738"/>
                <a:gd name="connsiteX7" fmla="*/ 93494 w 488407"/>
                <a:gd name="connsiteY7" fmla="*/ 88791 h 490738"/>
                <a:gd name="connsiteX8" fmla="*/ 177573 w 488407"/>
                <a:gd name="connsiteY8" fmla="*/ 172949 h 490738"/>
                <a:gd name="connsiteX9" fmla="*/ 212667 w 488407"/>
                <a:gd name="connsiteY9" fmla="*/ 250023 h 490738"/>
                <a:gd name="connsiteX10" fmla="*/ 299117 w 488407"/>
                <a:gd name="connsiteY10" fmla="*/ 404250 h 490738"/>
                <a:gd name="connsiteX11" fmla="*/ 408952 w 488407"/>
                <a:gd name="connsiteY11" fmla="*/ 490739 h 490738"/>
                <a:gd name="connsiteX12" fmla="*/ 488398 w 488407"/>
                <a:gd name="connsiteY12" fmla="*/ 439304 h 490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88407" h="490738">
                  <a:moveTo>
                    <a:pt x="488407" y="355225"/>
                  </a:moveTo>
                  <a:lnTo>
                    <a:pt x="401918" y="268736"/>
                  </a:lnTo>
                  <a:lnTo>
                    <a:pt x="334181" y="189281"/>
                  </a:lnTo>
                  <a:lnTo>
                    <a:pt x="208003" y="86489"/>
                  </a:lnTo>
                  <a:lnTo>
                    <a:pt x="93494" y="0"/>
                  </a:lnTo>
                  <a:lnTo>
                    <a:pt x="0" y="0"/>
                  </a:lnTo>
                  <a:lnTo>
                    <a:pt x="60772" y="65406"/>
                  </a:lnTo>
                  <a:lnTo>
                    <a:pt x="93494" y="88791"/>
                  </a:lnTo>
                  <a:lnTo>
                    <a:pt x="177573" y="172949"/>
                  </a:lnTo>
                  <a:lnTo>
                    <a:pt x="212667" y="250023"/>
                  </a:lnTo>
                  <a:lnTo>
                    <a:pt x="299117" y="404250"/>
                  </a:lnTo>
                  <a:lnTo>
                    <a:pt x="408952" y="490739"/>
                  </a:lnTo>
                  <a:lnTo>
                    <a:pt x="488398" y="43930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 name="Freeform: Shape 10">
              <a:extLst>
                <a:ext uri="{FF2B5EF4-FFF2-40B4-BE49-F238E27FC236}">
                  <a16:creationId xmlns:a16="http://schemas.microsoft.com/office/drawing/2014/main" id="{4C11536C-FB1C-4733-EF94-11678572F2CB}"/>
                </a:ext>
              </a:extLst>
            </p:cNvPr>
            <p:cNvSpPr/>
            <p:nvPr/>
          </p:nvSpPr>
          <p:spPr>
            <a:xfrm>
              <a:off x="16487694" y="4316180"/>
              <a:ext cx="518748" cy="123806"/>
            </a:xfrm>
            <a:custGeom>
              <a:avLst/>
              <a:gdLst>
                <a:gd name="connsiteX0" fmla="*/ 282775 w 518748"/>
                <a:gd name="connsiteY0" fmla="*/ 39727 h 123806"/>
                <a:gd name="connsiteX1" fmla="*/ 172939 w 518748"/>
                <a:gd name="connsiteY1" fmla="*/ 18722 h 123806"/>
                <a:gd name="connsiteX2" fmla="*/ 114499 w 518748"/>
                <a:gd name="connsiteY2" fmla="*/ 18722 h 123806"/>
                <a:gd name="connsiteX3" fmla="*/ 51396 w 518748"/>
                <a:gd name="connsiteY3" fmla="*/ 0 h 123806"/>
                <a:gd name="connsiteX4" fmla="*/ 0 w 518748"/>
                <a:gd name="connsiteY4" fmla="*/ 11678 h 123806"/>
                <a:gd name="connsiteX5" fmla="*/ 0 w 518748"/>
                <a:gd name="connsiteY5" fmla="*/ 37396 h 123806"/>
                <a:gd name="connsiteX6" fmla="*/ 102792 w 518748"/>
                <a:gd name="connsiteY6" fmla="*/ 81787 h 123806"/>
                <a:gd name="connsiteX7" fmla="*/ 186910 w 518748"/>
                <a:gd name="connsiteY7" fmla="*/ 60733 h 123806"/>
                <a:gd name="connsiteX8" fmla="*/ 303790 w 518748"/>
                <a:gd name="connsiteY8" fmla="*/ 81787 h 123806"/>
                <a:gd name="connsiteX9" fmla="*/ 387869 w 518748"/>
                <a:gd name="connsiteY9" fmla="*/ 109836 h 123806"/>
                <a:gd name="connsiteX10" fmla="*/ 518749 w 518748"/>
                <a:gd name="connsiteY10" fmla="*/ 123806 h 123806"/>
                <a:gd name="connsiteX11" fmla="*/ 450972 w 518748"/>
                <a:gd name="connsiteY11" fmla="*/ 61928 h 123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8748" h="123806">
                  <a:moveTo>
                    <a:pt x="282775" y="39727"/>
                  </a:moveTo>
                  <a:lnTo>
                    <a:pt x="172939" y="18722"/>
                  </a:lnTo>
                  <a:lnTo>
                    <a:pt x="114499" y="18722"/>
                  </a:lnTo>
                  <a:lnTo>
                    <a:pt x="51396" y="0"/>
                  </a:lnTo>
                  <a:lnTo>
                    <a:pt x="0" y="11678"/>
                  </a:lnTo>
                  <a:lnTo>
                    <a:pt x="0" y="37396"/>
                  </a:lnTo>
                  <a:lnTo>
                    <a:pt x="102792" y="81787"/>
                  </a:lnTo>
                  <a:lnTo>
                    <a:pt x="186910" y="60733"/>
                  </a:lnTo>
                  <a:lnTo>
                    <a:pt x="303790" y="81787"/>
                  </a:lnTo>
                  <a:lnTo>
                    <a:pt x="387869" y="109836"/>
                  </a:lnTo>
                  <a:lnTo>
                    <a:pt x="518749" y="123806"/>
                  </a:lnTo>
                  <a:lnTo>
                    <a:pt x="450972" y="61928"/>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 name="Freeform: Shape 11">
              <a:extLst>
                <a:ext uri="{FF2B5EF4-FFF2-40B4-BE49-F238E27FC236}">
                  <a16:creationId xmlns:a16="http://schemas.microsoft.com/office/drawing/2014/main" id="{501F741D-8648-E70B-E246-EB7AE2245EC9}"/>
                </a:ext>
              </a:extLst>
            </p:cNvPr>
            <p:cNvSpPr/>
            <p:nvPr/>
          </p:nvSpPr>
          <p:spPr>
            <a:xfrm>
              <a:off x="17104552" y="4412015"/>
              <a:ext cx="161270" cy="70165"/>
            </a:xfrm>
            <a:custGeom>
              <a:avLst/>
              <a:gdLst>
                <a:gd name="connsiteX0" fmla="*/ 0 w 161270"/>
                <a:gd name="connsiteY0" fmla="*/ 42059 h 70165"/>
                <a:gd name="connsiteX1" fmla="*/ 23386 w 161270"/>
                <a:gd name="connsiteY1" fmla="*/ 70108 h 70165"/>
                <a:gd name="connsiteX2" fmla="*/ 161271 w 161270"/>
                <a:gd name="connsiteY2" fmla="*/ 0 h 70165"/>
                <a:gd name="connsiteX3" fmla="*/ 98157 w 161270"/>
                <a:gd name="connsiteY3" fmla="*/ 0 h 70165"/>
              </a:gdLst>
              <a:ahLst/>
              <a:cxnLst>
                <a:cxn ang="0">
                  <a:pos x="connsiteX0" y="connsiteY0"/>
                </a:cxn>
                <a:cxn ang="0">
                  <a:pos x="connsiteX1" y="connsiteY1"/>
                </a:cxn>
                <a:cxn ang="0">
                  <a:pos x="connsiteX2" y="connsiteY2"/>
                </a:cxn>
                <a:cxn ang="0">
                  <a:pos x="connsiteX3" y="connsiteY3"/>
                </a:cxn>
              </a:cxnLst>
              <a:rect l="l" t="t" r="r" b="b"/>
              <a:pathLst>
                <a:path w="161270" h="70165">
                  <a:moveTo>
                    <a:pt x="0" y="42059"/>
                  </a:moveTo>
                  <a:cubicBezTo>
                    <a:pt x="0" y="42059"/>
                    <a:pt x="16342" y="67777"/>
                    <a:pt x="23386" y="70108"/>
                  </a:cubicBezTo>
                  <a:cubicBezTo>
                    <a:pt x="30420" y="72489"/>
                    <a:pt x="161271" y="0"/>
                    <a:pt x="161271" y="0"/>
                  </a:cubicBezTo>
                  <a:lnTo>
                    <a:pt x="98157"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3" name="Freeform: Shape 12">
              <a:extLst>
                <a:ext uri="{FF2B5EF4-FFF2-40B4-BE49-F238E27FC236}">
                  <a16:creationId xmlns:a16="http://schemas.microsoft.com/office/drawing/2014/main" id="{0C56BE0B-465A-38DA-F16E-53325A818C94}"/>
                </a:ext>
              </a:extLst>
            </p:cNvPr>
            <p:cNvSpPr/>
            <p:nvPr/>
          </p:nvSpPr>
          <p:spPr>
            <a:xfrm>
              <a:off x="16681619" y="3743674"/>
              <a:ext cx="481353" cy="488397"/>
            </a:xfrm>
            <a:custGeom>
              <a:avLst/>
              <a:gdLst>
                <a:gd name="connsiteX0" fmla="*/ 65435 w 481353"/>
                <a:gd name="connsiteY0" fmla="*/ 469685 h 488397"/>
                <a:gd name="connsiteX1" fmla="*/ 266394 w 481353"/>
                <a:gd name="connsiteY1" fmla="*/ 488398 h 488397"/>
                <a:gd name="connsiteX2" fmla="*/ 308414 w 481353"/>
                <a:gd name="connsiteY2" fmla="*/ 399577 h 488397"/>
                <a:gd name="connsiteX3" fmla="*/ 364522 w 481353"/>
                <a:gd name="connsiteY3" fmla="*/ 296746 h 488397"/>
                <a:gd name="connsiteX4" fmla="*/ 422923 w 481353"/>
                <a:gd name="connsiteY4" fmla="*/ 278102 h 488397"/>
                <a:gd name="connsiteX5" fmla="*/ 422923 w 481353"/>
                <a:gd name="connsiteY5" fmla="*/ 135583 h 488397"/>
                <a:gd name="connsiteX6" fmla="*/ 481353 w 481353"/>
                <a:gd name="connsiteY6" fmla="*/ 86450 h 488397"/>
                <a:gd name="connsiteX7" fmla="*/ 481353 w 481353"/>
                <a:gd name="connsiteY7" fmla="*/ 39718 h 488397"/>
                <a:gd name="connsiteX8" fmla="*/ 422923 w 481353"/>
                <a:gd name="connsiteY8" fmla="*/ 0 h 488397"/>
                <a:gd name="connsiteX9" fmla="*/ 352805 w 481353"/>
                <a:gd name="connsiteY9" fmla="*/ 65435 h 488397"/>
                <a:gd name="connsiteX10" fmla="*/ 261691 w 481353"/>
                <a:gd name="connsiteY10" fmla="*/ 112207 h 488397"/>
                <a:gd name="connsiteX11" fmla="*/ 133182 w 481353"/>
                <a:gd name="connsiteY11" fmla="*/ 229008 h 488397"/>
                <a:gd name="connsiteX12" fmla="*/ 49103 w 481353"/>
                <a:gd name="connsiteY12" fmla="*/ 229008 h 488397"/>
                <a:gd name="connsiteX13" fmla="*/ 0 w 481353"/>
                <a:gd name="connsiteY13" fmla="*/ 310785 h 488397"/>
                <a:gd name="connsiteX14" fmla="*/ 18713 w 481353"/>
                <a:gd name="connsiteY14" fmla="*/ 373898 h 488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81353" h="488397">
                  <a:moveTo>
                    <a:pt x="65435" y="469685"/>
                  </a:moveTo>
                  <a:lnTo>
                    <a:pt x="266394" y="488398"/>
                  </a:lnTo>
                  <a:lnTo>
                    <a:pt x="308414" y="399577"/>
                  </a:lnTo>
                  <a:lnTo>
                    <a:pt x="364522" y="296746"/>
                  </a:lnTo>
                  <a:lnTo>
                    <a:pt x="422923" y="278102"/>
                  </a:lnTo>
                  <a:lnTo>
                    <a:pt x="422923" y="135583"/>
                  </a:lnTo>
                  <a:lnTo>
                    <a:pt x="481353" y="86450"/>
                  </a:lnTo>
                  <a:lnTo>
                    <a:pt x="481353" y="39718"/>
                  </a:lnTo>
                  <a:lnTo>
                    <a:pt x="422923" y="0"/>
                  </a:lnTo>
                  <a:lnTo>
                    <a:pt x="352805" y="65435"/>
                  </a:lnTo>
                  <a:lnTo>
                    <a:pt x="261691" y="112207"/>
                  </a:lnTo>
                  <a:lnTo>
                    <a:pt x="133182" y="229008"/>
                  </a:lnTo>
                  <a:lnTo>
                    <a:pt x="49103" y="229008"/>
                  </a:lnTo>
                  <a:lnTo>
                    <a:pt x="0" y="310785"/>
                  </a:lnTo>
                  <a:lnTo>
                    <a:pt x="18713" y="373898"/>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4" name="Freeform: Shape 13">
              <a:extLst>
                <a:ext uri="{FF2B5EF4-FFF2-40B4-BE49-F238E27FC236}">
                  <a16:creationId xmlns:a16="http://schemas.microsoft.com/office/drawing/2014/main" id="{C538347C-599C-A2F1-CBEF-08CA2DA46F9A}"/>
                </a:ext>
              </a:extLst>
            </p:cNvPr>
            <p:cNvSpPr/>
            <p:nvPr/>
          </p:nvSpPr>
          <p:spPr>
            <a:xfrm>
              <a:off x="17025029" y="3987858"/>
              <a:ext cx="348190" cy="328311"/>
            </a:xfrm>
            <a:custGeom>
              <a:avLst/>
              <a:gdLst>
                <a:gd name="connsiteX0" fmla="*/ 201008 w 348190"/>
                <a:gd name="connsiteY0" fmla="*/ 38571 h 328311"/>
                <a:gd name="connsiteX1" fmla="*/ 348190 w 348190"/>
                <a:gd name="connsiteY1" fmla="*/ 38571 h 328311"/>
                <a:gd name="connsiteX2" fmla="*/ 174095 w 348190"/>
                <a:gd name="connsiteY2" fmla="*/ 0 h 328311"/>
                <a:gd name="connsiteX3" fmla="*/ 126217 w 348190"/>
                <a:gd name="connsiteY3" fmla="*/ 89967 h 328311"/>
                <a:gd name="connsiteX4" fmla="*/ 0 w 348190"/>
                <a:gd name="connsiteY4" fmla="*/ 220808 h 328311"/>
                <a:gd name="connsiteX5" fmla="*/ 25757 w 348190"/>
                <a:gd name="connsiteY5" fmla="*/ 328312 h 328311"/>
                <a:gd name="connsiteX6" fmla="*/ 93494 w 348190"/>
                <a:gd name="connsiteY6" fmla="*/ 232525 h 328311"/>
                <a:gd name="connsiteX7" fmla="*/ 137895 w 348190"/>
                <a:gd name="connsiteY7" fmla="*/ 311970 h 328311"/>
                <a:gd name="connsiteX8" fmla="*/ 177612 w 348190"/>
                <a:gd name="connsiteY8" fmla="*/ 267580 h 328311"/>
                <a:gd name="connsiteX9" fmla="*/ 177612 w 348190"/>
                <a:gd name="connsiteY9" fmla="*/ 153070 h 328311"/>
                <a:gd name="connsiteX10" fmla="*/ 261731 w 348190"/>
                <a:gd name="connsiteY10" fmla="*/ 89967 h 328311"/>
                <a:gd name="connsiteX11" fmla="*/ 160124 w 348190"/>
                <a:gd name="connsiteY11" fmla="*/ 89967 h 328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8190" h="328311">
                  <a:moveTo>
                    <a:pt x="201008" y="38571"/>
                  </a:moveTo>
                  <a:lnTo>
                    <a:pt x="348190" y="38571"/>
                  </a:lnTo>
                  <a:lnTo>
                    <a:pt x="174095" y="0"/>
                  </a:lnTo>
                  <a:lnTo>
                    <a:pt x="126217" y="89967"/>
                  </a:lnTo>
                  <a:lnTo>
                    <a:pt x="0" y="220808"/>
                  </a:lnTo>
                  <a:lnTo>
                    <a:pt x="25757" y="328312"/>
                  </a:lnTo>
                  <a:lnTo>
                    <a:pt x="93494" y="232525"/>
                  </a:lnTo>
                  <a:lnTo>
                    <a:pt x="137895" y="311970"/>
                  </a:lnTo>
                  <a:lnTo>
                    <a:pt x="177612" y="267580"/>
                  </a:lnTo>
                  <a:lnTo>
                    <a:pt x="177612" y="153070"/>
                  </a:lnTo>
                  <a:lnTo>
                    <a:pt x="261731" y="89967"/>
                  </a:lnTo>
                  <a:lnTo>
                    <a:pt x="160124" y="89967"/>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 name="Freeform: Shape 14">
              <a:extLst>
                <a:ext uri="{FF2B5EF4-FFF2-40B4-BE49-F238E27FC236}">
                  <a16:creationId xmlns:a16="http://schemas.microsoft.com/office/drawing/2014/main" id="{26FEFFD9-FF51-D9B7-9F57-882BD413ACC5}"/>
                </a:ext>
              </a:extLst>
            </p:cNvPr>
            <p:cNvSpPr/>
            <p:nvPr/>
          </p:nvSpPr>
          <p:spPr>
            <a:xfrm>
              <a:off x="17557905" y="4054527"/>
              <a:ext cx="102830" cy="119172"/>
            </a:xfrm>
            <a:custGeom>
              <a:avLst/>
              <a:gdLst>
                <a:gd name="connsiteX0" fmla="*/ 102831 w 102830"/>
                <a:gd name="connsiteY0" fmla="*/ 59586 h 119172"/>
                <a:gd name="connsiteX1" fmla="*/ 67776 w 102830"/>
                <a:gd name="connsiteY1" fmla="*/ 18713 h 119172"/>
                <a:gd name="connsiteX2" fmla="*/ 0 w 102830"/>
                <a:gd name="connsiteY2" fmla="*/ 0 h 119172"/>
                <a:gd name="connsiteX3" fmla="*/ 0 w 102830"/>
                <a:gd name="connsiteY3" fmla="*/ 67777 h 119172"/>
                <a:gd name="connsiteX4" fmla="*/ 58401 w 102830"/>
                <a:gd name="connsiteY4" fmla="*/ 119172 h 1191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830" h="119172">
                  <a:moveTo>
                    <a:pt x="102831" y="59586"/>
                  </a:moveTo>
                  <a:lnTo>
                    <a:pt x="67776" y="18713"/>
                  </a:lnTo>
                  <a:lnTo>
                    <a:pt x="0" y="0"/>
                  </a:lnTo>
                  <a:lnTo>
                    <a:pt x="0" y="67777"/>
                  </a:lnTo>
                  <a:lnTo>
                    <a:pt x="58401" y="119172"/>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6" name="Freeform: Shape 15">
              <a:extLst>
                <a:ext uri="{FF2B5EF4-FFF2-40B4-BE49-F238E27FC236}">
                  <a16:creationId xmlns:a16="http://schemas.microsoft.com/office/drawing/2014/main" id="{97876392-A5E7-1F49-8E37-10BD7E80218C}"/>
                </a:ext>
              </a:extLst>
            </p:cNvPr>
            <p:cNvSpPr/>
            <p:nvPr/>
          </p:nvSpPr>
          <p:spPr>
            <a:xfrm>
              <a:off x="17557856" y="4152029"/>
              <a:ext cx="277993" cy="288016"/>
            </a:xfrm>
            <a:custGeom>
              <a:avLst/>
              <a:gdLst>
                <a:gd name="connsiteX0" fmla="*/ 139031 w 277993"/>
                <a:gd name="connsiteY0" fmla="*/ 0 h 288016"/>
                <a:gd name="connsiteX1" fmla="*/ 102831 w 277993"/>
                <a:gd name="connsiteY1" fmla="*/ 21622 h 288016"/>
                <a:gd name="connsiteX2" fmla="*/ 0 w 277993"/>
                <a:gd name="connsiteY2" fmla="*/ 33291 h 288016"/>
                <a:gd name="connsiteX3" fmla="*/ 0 w 277993"/>
                <a:gd name="connsiteY3" fmla="*/ 56677 h 288016"/>
                <a:gd name="connsiteX4" fmla="*/ 72401 w 277993"/>
                <a:gd name="connsiteY4" fmla="*/ 80062 h 288016"/>
                <a:gd name="connsiteX5" fmla="*/ 84079 w 277993"/>
                <a:gd name="connsiteY5" fmla="*/ 136122 h 288016"/>
                <a:gd name="connsiteX6" fmla="*/ 51396 w 277993"/>
                <a:gd name="connsiteY6" fmla="*/ 206240 h 288016"/>
                <a:gd name="connsiteX7" fmla="*/ 84079 w 277993"/>
                <a:gd name="connsiteY7" fmla="*/ 288017 h 288016"/>
                <a:gd name="connsiteX8" fmla="*/ 151817 w 277993"/>
                <a:gd name="connsiteY8" fmla="*/ 259967 h 288016"/>
                <a:gd name="connsiteX9" fmla="*/ 196207 w 277993"/>
                <a:gd name="connsiteY9" fmla="*/ 226059 h 288016"/>
                <a:gd name="connsiteX10" fmla="*/ 277994 w 277993"/>
                <a:gd name="connsiteY10" fmla="*/ 180483 h 288016"/>
                <a:gd name="connsiteX11" fmla="*/ 277994 w 277993"/>
                <a:gd name="connsiteY11" fmla="*/ 49642 h 288016"/>
                <a:gd name="connsiteX12" fmla="*/ 226598 w 277993"/>
                <a:gd name="connsiteY12" fmla="*/ 10 h 288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77993" h="288016">
                  <a:moveTo>
                    <a:pt x="139031" y="0"/>
                  </a:moveTo>
                  <a:lnTo>
                    <a:pt x="102831" y="21622"/>
                  </a:lnTo>
                  <a:lnTo>
                    <a:pt x="0" y="33291"/>
                  </a:lnTo>
                  <a:lnTo>
                    <a:pt x="0" y="56677"/>
                  </a:lnTo>
                  <a:lnTo>
                    <a:pt x="72401" y="80062"/>
                  </a:lnTo>
                  <a:cubicBezTo>
                    <a:pt x="72401" y="80062"/>
                    <a:pt x="84079" y="122161"/>
                    <a:pt x="84079" y="136122"/>
                  </a:cubicBezTo>
                  <a:cubicBezTo>
                    <a:pt x="84079" y="150171"/>
                    <a:pt x="51396" y="206240"/>
                    <a:pt x="51396" y="206240"/>
                  </a:cubicBezTo>
                  <a:lnTo>
                    <a:pt x="84079" y="288017"/>
                  </a:lnTo>
                  <a:lnTo>
                    <a:pt x="151817" y="259967"/>
                  </a:lnTo>
                  <a:lnTo>
                    <a:pt x="196207" y="226059"/>
                  </a:lnTo>
                  <a:lnTo>
                    <a:pt x="277994" y="180483"/>
                  </a:lnTo>
                  <a:lnTo>
                    <a:pt x="277994" y="49642"/>
                  </a:lnTo>
                  <a:lnTo>
                    <a:pt x="226598" y="1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 name="Freeform: Shape 16">
              <a:extLst>
                <a:ext uri="{FF2B5EF4-FFF2-40B4-BE49-F238E27FC236}">
                  <a16:creationId xmlns:a16="http://schemas.microsoft.com/office/drawing/2014/main" id="{EBF48960-AC4C-7308-85ED-0169EAC8CE93}"/>
                </a:ext>
              </a:extLst>
            </p:cNvPr>
            <p:cNvSpPr/>
            <p:nvPr/>
          </p:nvSpPr>
          <p:spPr>
            <a:xfrm>
              <a:off x="17312545" y="4173631"/>
              <a:ext cx="72410" cy="58439"/>
            </a:xfrm>
            <a:custGeom>
              <a:avLst/>
              <a:gdLst>
                <a:gd name="connsiteX0" fmla="*/ 0 w 72410"/>
                <a:gd name="connsiteY0" fmla="*/ 58440 h 58439"/>
                <a:gd name="connsiteX1" fmla="*/ 60733 w 72410"/>
                <a:gd name="connsiteY1" fmla="*/ 51435 h 58439"/>
                <a:gd name="connsiteX2" fmla="*/ 72411 w 72410"/>
                <a:gd name="connsiteY2" fmla="*/ 0 h 58439"/>
                <a:gd name="connsiteX3" fmla="*/ 35054 w 72410"/>
                <a:gd name="connsiteY3" fmla="*/ 0 h 58439"/>
              </a:gdLst>
              <a:ahLst/>
              <a:cxnLst>
                <a:cxn ang="0">
                  <a:pos x="connsiteX0" y="connsiteY0"/>
                </a:cxn>
                <a:cxn ang="0">
                  <a:pos x="connsiteX1" y="connsiteY1"/>
                </a:cxn>
                <a:cxn ang="0">
                  <a:pos x="connsiteX2" y="connsiteY2"/>
                </a:cxn>
                <a:cxn ang="0">
                  <a:pos x="connsiteX3" y="connsiteY3"/>
                </a:cxn>
              </a:cxnLst>
              <a:rect l="l" t="t" r="r" b="b"/>
              <a:pathLst>
                <a:path w="72410" h="58439">
                  <a:moveTo>
                    <a:pt x="0" y="58440"/>
                  </a:moveTo>
                  <a:lnTo>
                    <a:pt x="60733" y="51435"/>
                  </a:lnTo>
                  <a:lnTo>
                    <a:pt x="72411" y="0"/>
                  </a:lnTo>
                  <a:lnTo>
                    <a:pt x="35054"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 name="Freeform: Shape 17">
              <a:extLst>
                <a:ext uri="{FF2B5EF4-FFF2-40B4-BE49-F238E27FC236}">
                  <a16:creationId xmlns:a16="http://schemas.microsoft.com/office/drawing/2014/main" id="{0E4FA229-A327-759C-FA26-3DC93EDEE329}"/>
                </a:ext>
              </a:extLst>
            </p:cNvPr>
            <p:cNvSpPr/>
            <p:nvPr/>
          </p:nvSpPr>
          <p:spPr>
            <a:xfrm>
              <a:off x="17420020" y="4173680"/>
              <a:ext cx="88752" cy="58430"/>
            </a:xfrm>
            <a:custGeom>
              <a:avLst/>
              <a:gdLst>
                <a:gd name="connsiteX0" fmla="*/ 0 w 88752"/>
                <a:gd name="connsiteY0" fmla="*/ 29195 h 58430"/>
                <a:gd name="connsiteX1" fmla="*/ 11668 w 88752"/>
                <a:gd name="connsiteY1" fmla="*/ 58430 h 58430"/>
                <a:gd name="connsiteX2" fmla="*/ 58401 w 88752"/>
                <a:gd name="connsiteY2" fmla="*/ 49054 h 58430"/>
                <a:gd name="connsiteX3" fmla="*/ 88752 w 88752"/>
                <a:gd name="connsiteY3" fmla="*/ 0 h 58430"/>
                <a:gd name="connsiteX4" fmla="*/ 46723 w 88752"/>
                <a:gd name="connsiteY4" fmla="*/ 0 h 584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52" h="58430">
                  <a:moveTo>
                    <a:pt x="0" y="29195"/>
                  </a:moveTo>
                  <a:lnTo>
                    <a:pt x="11668" y="58430"/>
                  </a:lnTo>
                  <a:lnTo>
                    <a:pt x="58401" y="49054"/>
                  </a:lnTo>
                  <a:lnTo>
                    <a:pt x="88752" y="0"/>
                  </a:lnTo>
                  <a:lnTo>
                    <a:pt x="46723"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Freeform: Shape 18">
              <a:extLst>
                <a:ext uri="{FF2B5EF4-FFF2-40B4-BE49-F238E27FC236}">
                  <a16:creationId xmlns:a16="http://schemas.microsoft.com/office/drawing/2014/main" id="{714EDB44-1506-7EBD-2482-BD5145CCB2FF}"/>
                </a:ext>
              </a:extLst>
            </p:cNvPr>
            <p:cNvSpPr/>
            <p:nvPr/>
          </p:nvSpPr>
          <p:spPr>
            <a:xfrm>
              <a:off x="17348746" y="3622307"/>
              <a:ext cx="176466" cy="186949"/>
            </a:xfrm>
            <a:custGeom>
              <a:avLst/>
              <a:gdLst>
                <a:gd name="connsiteX0" fmla="*/ 115655 w 176466"/>
                <a:gd name="connsiteY0" fmla="*/ 23307 h 186949"/>
                <a:gd name="connsiteX1" fmla="*/ 36210 w 176466"/>
                <a:gd name="connsiteY1" fmla="*/ 53698 h 186949"/>
                <a:gd name="connsiteX2" fmla="*/ 0 w 176466"/>
                <a:gd name="connsiteY2" fmla="*/ 95797 h 186949"/>
                <a:gd name="connsiteX3" fmla="*/ 0 w 176466"/>
                <a:gd name="connsiteY3" fmla="*/ 137885 h 186949"/>
                <a:gd name="connsiteX4" fmla="*/ 71264 w 176466"/>
                <a:gd name="connsiteY4" fmla="*/ 121543 h 186949"/>
                <a:gd name="connsiteX5" fmla="*/ 71264 w 176466"/>
                <a:gd name="connsiteY5" fmla="*/ 165944 h 186949"/>
                <a:gd name="connsiteX6" fmla="*/ 150709 w 176466"/>
                <a:gd name="connsiteY6" fmla="*/ 186949 h 186949"/>
                <a:gd name="connsiteX7" fmla="*/ 160046 w 176466"/>
                <a:gd name="connsiteY7" fmla="*/ 163563 h 186949"/>
                <a:gd name="connsiteX8" fmla="*/ 160389 w 176466"/>
                <a:gd name="connsiteY8" fmla="*/ 60733 h 186949"/>
                <a:gd name="connsiteX9" fmla="*/ 176466 w 176466"/>
                <a:gd name="connsiteY9" fmla="*/ 23386 h 186949"/>
                <a:gd name="connsiteX10" fmla="*/ 160124 w 176466"/>
                <a:gd name="connsiteY10" fmla="*/ 0 h 186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76466" h="186949">
                  <a:moveTo>
                    <a:pt x="115655" y="23307"/>
                  </a:moveTo>
                  <a:lnTo>
                    <a:pt x="36210" y="53698"/>
                  </a:lnTo>
                  <a:lnTo>
                    <a:pt x="0" y="95797"/>
                  </a:lnTo>
                  <a:lnTo>
                    <a:pt x="0" y="137885"/>
                  </a:lnTo>
                  <a:lnTo>
                    <a:pt x="71264" y="121543"/>
                  </a:lnTo>
                  <a:lnTo>
                    <a:pt x="71264" y="165944"/>
                  </a:lnTo>
                  <a:lnTo>
                    <a:pt x="150709" y="186949"/>
                  </a:lnTo>
                  <a:cubicBezTo>
                    <a:pt x="150709" y="186949"/>
                    <a:pt x="162388" y="170607"/>
                    <a:pt x="160046" y="163563"/>
                  </a:cubicBezTo>
                  <a:cubicBezTo>
                    <a:pt x="157675" y="156529"/>
                    <a:pt x="160389" y="60733"/>
                    <a:pt x="160389" y="60733"/>
                  </a:cubicBezTo>
                  <a:lnTo>
                    <a:pt x="176466" y="23386"/>
                  </a:lnTo>
                  <a:lnTo>
                    <a:pt x="160124"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 name="Freeform: Shape 19">
              <a:extLst>
                <a:ext uri="{FF2B5EF4-FFF2-40B4-BE49-F238E27FC236}">
                  <a16:creationId xmlns:a16="http://schemas.microsoft.com/office/drawing/2014/main" id="{238EB04A-F67B-68A3-5F61-85F2F62BFDC1}"/>
                </a:ext>
              </a:extLst>
            </p:cNvPr>
            <p:cNvSpPr/>
            <p:nvPr/>
          </p:nvSpPr>
          <p:spPr>
            <a:xfrm>
              <a:off x="17282105" y="3164183"/>
              <a:ext cx="198627" cy="289750"/>
            </a:xfrm>
            <a:custGeom>
              <a:avLst/>
              <a:gdLst>
                <a:gd name="connsiteX0" fmla="*/ 66591 w 198627"/>
                <a:gd name="connsiteY0" fmla="*/ 250023 h 289750"/>
                <a:gd name="connsiteX1" fmla="*/ 130851 w 198627"/>
                <a:gd name="connsiteY1" fmla="*/ 250023 h 289750"/>
                <a:gd name="connsiteX2" fmla="*/ 154844 w 198627"/>
                <a:gd name="connsiteY2" fmla="*/ 289751 h 289750"/>
                <a:gd name="connsiteX3" fmla="*/ 198627 w 198627"/>
                <a:gd name="connsiteY3" fmla="*/ 289751 h 289750"/>
                <a:gd name="connsiteX4" fmla="*/ 184617 w 198627"/>
                <a:gd name="connsiteY4" fmla="*/ 226676 h 289750"/>
                <a:gd name="connsiteX5" fmla="*/ 128470 w 198627"/>
                <a:gd name="connsiteY5" fmla="*/ 198970 h 289750"/>
                <a:gd name="connsiteX6" fmla="*/ 91123 w 198627"/>
                <a:gd name="connsiteY6" fmla="*/ 184656 h 289750"/>
                <a:gd name="connsiteX7" fmla="*/ 91123 w 198627"/>
                <a:gd name="connsiteY7" fmla="*/ 144929 h 289750"/>
                <a:gd name="connsiteX8" fmla="*/ 116841 w 198627"/>
                <a:gd name="connsiteY8" fmla="*/ 107504 h 289750"/>
                <a:gd name="connsiteX9" fmla="*/ 121504 w 198627"/>
                <a:gd name="connsiteY9" fmla="*/ 93494 h 289750"/>
                <a:gd name="connsiteX10" fmla="*/ 123846 w 198627"/>
                <a:gd name="connsiteY10" fmla="*/ 58440 h 289750"/>
                <a:gd name="connsiteX11" fmla="*/ 130851 w 198627"/>
                <a:gd name="connsiteY11" fmla="*/ 14010 h 289750"/>
                <a:gd name="connsiteX12" fmla="*/ 109836 w 198627"/>
                <a:gd name="connsiteY12" fmla="*/ 0 h 289750"/>
                <a:gd name="connsiteX13" fmla="*/ 66591 w 198627"/>
                <a:gd name="connsiteY13" fmla="*/ 0 h 289750"/>
                <a:gd name="connsiteX14" fmla="*/ 28010 w 198627"/>
                <a:gd name="connsiteY14" fmla="*/ 58440 h 289750"/>
                <a:gd name="connsiteX15" fmla="*/ 0 w 198627"/>
                <a:gd name="connsiteY15" fmla="*/ 112177 h 289750"/>
                <a:gd name="connsiteX16" fmla="*/ 0 w 198627"/>
                <a:gd name="connsiteY16" fmla="*/ 179915 h 289750"/>
                <a:gd name="connsiteX17" fmla="*/ 54923 w 198627"/>
                <a:gd name="connsiteY17" fmla="*/ 210296 h 289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98627" h="289750">
                  <a:moveTo>
                    <a:pt x="66591" y="250023"/>
                  </a:moveTo>
                  <a:lnTo>
                    <a:pt x="130851" y="250023"/>
                  </a:lnTo>
                  <a:lnTo>
                    <a:pt x="154844" y="289751"/>
                  </a:lnTo>
                  <a:lnTo>
                    <a:pt x="198627" y="289751"/>
                  </a:lnTo>
                  <a:lnTo>
                    <a:pt x="184617" y="226676"/>
                  </a:lnTo>
                  <a:lnTo>
                    <a:pt x="128470" y="198970"/>
                  </a:lnTo>
                  <a:lnTo>
                    <a:pt x="91123" y="184656"/>
                  </a:lnTo>
                  <a:lnTo>
                    <a:pt x="91123" y="144929"/>
                  </a:lnTo>
                  <a:lnTo>
                    <a:pt x="116841" y="107504"/>
                  </a:lnTo>
                  <a:lnTo>
                    <a:pt x="121504" y="93494"/>
                  </a:lnTo>
                  <a:lnTo>
                    <a:pt x="123846" y="58440"/>
                  </a:lnTo>
                  <a:lnTo>
                    <a:pt x="130851" y="14010"/>
                  </a:lnTo>
                  <a:lnTo>
                    <a:pt x="109836" y="0"/>
                  </a:lnTo>
                  <a:lnTo>
                    <a:pt x="66591" y="0"/>
                  </a:lnTo>
                  <a:lnTo>
                    <a:pt x="28010" y="58440"/>
                  </a:lnTo>
                  <a:lnTo>
                    <a:pt x="0" y="112177"/>
                  </a:lnTo>
                  <a:lnTo>
                    <a:pt x="0" y="179915"/>
                  </a:lnTo>
                  <a:lnTo>
                    <a:pt x="54923" y="210296"/>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 name="Freeform: Shape 20">
              <a:extLst>
                <a:ext uri="{FF2B5EF4-FFF2-40B4-BE49-F238E27FC236}">
                  <a16:creationId xmlns:a16="http://schemas.microsoft.com/office/drawing/2014/main" id="{C7553659-3652-5385-6333-84F0F7B21253}"/>
                </a:ext>
              </a:extLst>
            </p:cNvPr>
            <p:cNvSpPr/>
            <p:nvPr/>
          </p:nvSpPr>
          <p:spPr>
            <a:xfrm>
              <a:off x="17436969" y="3496041"/>
              <a:ext cx="60124" cy="86459"/>
            </a:xfrm>
            <a:custGeom>
              <a:avLst/>
              <a:gdLst>
                <a:gd name="connsiteX0" fmla="*/ 0 w 60124"/>
                <a:gd name="connsiteY0" fmla="*/ 23386 h 86459"/>
                <a:gd name="connsiteX1" fmla="*/ 0 w 60124"/>
                <a:gd name="connsiteY1" fmla="*/ 86460 h 86459"/>
                <a:gd name="connsiteX2" fmla="*/ 43783 w 60124"/>
                <a:gd name="connsiteY2" fmla="*/ 86460 h 86459"/>
                <a:gd name="connsiteX3" fmla="*/ 60125 w 60124"/>
                <a:gd name="connsiteY3" fmla="*/ 43245 h 86459"/>
                <a:gd name="connsiteX4" fmla="*/ 60125 w 60124"/>
                <a:gd name="connsiteY4" fmla="*/ 0 h 86459"/>
                <a:gd name="connsiteX5" fmla="*/ 0 w 60124"/>
                <a:gd name="connsiteY5" fmla="*/ 0 h 86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124" h="86459">
                  <a:moveTo>
                    <a:pt x="0" y="23386"/>
                  </a:moveTo>
                  <a:lnTo>
                    <a:pt x="0" y="86460"/>
                  </a:lnTo>
                  <a:lnTo>
                    <a:pt x="43783" y="86460"/>
                  </a:lnTo>
                  <a:lnTo>
                    <a:pt x="60125" y="43245"/>
                  </a:lnTo>
                  <a:lnTo>
                    <a:pt x="60125" y="0"/>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 name="Freeform: Shape 21">
              <a:extLst>
                <a:ext uri="{FF2B5EF4-FFF2-40B4-BE49-F238E27FC236}">
                  <a16:creationId xmlns:a16="http://schemas.microsoft.com/office/drawing/2014/main" id="{CEC34041-F96D-B481-4233-9F4FAD95DFD6}"/>
                </a:ext>
              </a:extLst>
            </p:cNvPr>
            <p:cNvSpPr/>
            <p:nvPr/>
          </p:nvSpPr>
          <p:spPr>
            <a:xfrm>
              <a:off x="17312545" y="3439982"/>
              <a:ext cx="60732" cy="109767"/>
            </a:xfrm>
            <a:custGeom>
              <a:avLst/>
              <a:gdLst>
                <a:gd name="connsiteX0" fmla="*/ 0 w 60732"/>
                <a:gd name="connsiteY0" fmla="*/ 70040 h 109767"/>
                <a:gd name="connsiteX1" fmla="*/ 36201 w 60732"/>
                <a:gd name="connsiteY1" fmla="*/ 109767 h 109767"/>
                <a:gd name="connsiteX2" fmla="*/ 60733 w 60732"/>
                <a:gd name="connsiteY2" fmla="*/ 86420 h 109767"/>
                <a:gd name="connsiteX3" fmla="*/ 60733 w 60732"/>
                <a:gd name="connsiteY3" fmla="*/ 56069 h 109767"/>
                <a:gd name="connsiteX4" fmla="*/ 51396 w 60732"/>
                <a:gd name="connsiteY4" fmla="*/ 25688 h 109767"/>
                <a:gd name="connsiteX5" fmla="*/ 0 w 60732"/>
                <a:gd name="connsiteY5" fmla="*/ 0 h 109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0732" h="109767">
                  <a:moveTo>
                    <a:pt x="0" y="70040"/>
                  </a:moveTo>
                  <a:lnTo>
                    <a:pt x="36201" y="109767"/>
                  </a:lnTo>
                  <a:lnTo>
                    <a:pt x="60733" y="86420"/>
                  </a:lnTo>
                  <a:lnTo>
                    <a:pt x="60733" y="56069"/>
                  </a:lnTo>
                  <a:lnTo>
                    <a:pt x="51396" y="25688"/>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Freeform: Shape 22">
              <a:extLst>
                <a:ext uri="{FF2B5EF4-FFF2-40B4-BE49-F238E27FC236}">
                  <a16:creationId xmlns:a16="http://schemas.microsoft.com/office/drawing/2014/main" id="{580B2EE0-9598-7E83-021B-FC5C4D786A20}"/>
                </a:ext>
              </a:extLst>
            </p:cNvPr>
            <p:cNvSpPr/>
            <p:nvPr/>
          </p:nvSpPr>
          <p:spPr>
            <a:xfrm>
              <a:off x="17118513" y="3549740"/>
              <a:ext cx="126216" cy="140255"/>
            </a:xfrm>
            <a:custGeom>
              <a:avLst/>
              <a:gdLst>
                <a:gd name="connsiteX0" fmla="*/ 91162 w 126216"/>
                <a:gd name="connsiteY0" fmla="*/ 88821 h 140255"/>
                <a:gd name="connsiteX1" fmla="*/ 126217 w 126216"/>
                <a:gd name="connsiteY1" fmla="*/ 53767 h 140255"/>
                <a:gd name="connsiteX2" fmla="*/ 126217 w 126216"/>
                <a:gd name="connsiteY2" fmla="*/ 21084 h 140255"/>
                <a:gd name="connsiteX3" fmla="*/ 112168 w 126216"/>
                <a:gd name="connsiteY3" fmla="*/ 0 h 140255"/>
                <a:gd name="connsiteX4" fmla="*/ 100460 w 126216"/>
                <a:gd name="connsiteY4" fmla="*/ 11708 h 140255"/>
                <a:gd name="connsiteX5" fmla="*/ 28059 w 126216"/>
                <a:gd name="connsiteY5" fmla="*/ 72479 h 140255"/>
                <a:gd name="connsiteX6" fmla="*/ 0 w 126216"/>
                <a:gd name="connsiteY6" fmla="*/ 91152 h 140255"/>
                <a:gd name="connsiteX7" fmla="*/ 44391 w 126216"/>
                <a:gd name="connsiteY7" fmla="*/ 140256 h 1402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6216" h="140255">
                  <a:moveTo>
                    <a:pt x="91162" y="88821"/>
                  </a:moveTo>
                  <a:lnTo>
                    <a:pt x="126217" y="53767"/>
                  </a:lnTo>
                  <a:lnTo>
                    <a:pt x="126217" y="21084"/>
                  </a:lnTo>
                  <a:lnTo>
                    <a:pt x="112168" y="0"/>
                  </a:lnTo>
                  <a:lnTo>
                    <a:pt x="100460" y="11708"/>
                  </a:lnTo>
                  <a:lnTo>
                    <a:pt x="28059" y="72479"/>
                  </a:lnTo>
                  <a:lnTo>
                    <a:pt x="0" y="91152"/>
                  </a:lnTo>
                  <a:lnTo>
                    <a:pt x="44391" y="140256"/>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Freeform: Shape 23">
              <a:extLst>
                <a:ext uri="{FF2B5EF4-FFF2-40B4-BE49-F238E27FC236}">
                  <a16:creationId xmlns:a16="http://schemas.microsoft.com/office/drawing/2014/main" id="{6120CC7B-C0AB-2936-F37A-1024CDB76193}"/>
                </a:ext>
              </a:extLst>
            </p:cNvPr>
            <p:cNvSpPr/>
            <p:nvPr/>
          </p:nvSpPr>
          <p:spPr>
            <a:xfrm>
              <a:off x="16740010" y="3073109"/>
              <a:ext cx="130880" cy="114508"/>
            </a:xfrm>
            <a:custGeom>
              <a:avLst/>
              <a:gdLst>
                <a:gd name="connsiteX0" fmla="*/ 130880 w 130880"/>
                <a:gd name="connsiteY0" fmla="*/ 102831 h 114508"/>
                <a:gd name="connsiteX1" fmla="*/ 130880 w 130880"/>
                <a:gd name="connsiteY1" fmla="*/ 57215 h 114508"/>
                <a:gd name="connsiteX2" fmla="*/ 112168 w 130880"/>
                <a:gd name="connsiteY2" fmla="*/ 37386 h 114508"/>
                <a:gd name="connsiteX3" fmla="*/ 23376 w 130880"/>
                <a:gd name="connsiteY3" fmla="*/ 0 h 114508"/>
                <a:gd name="connsiteX4" fmla="*/ 0 w 130880"/>
                <a:gd name="connsiteY4" fmla="*/ 53727 h 114508"/>
                <a:gd name="connsiteX5" fmla="*/ 35093 w 130880"/>
                <a:gd name="connsiteY5" fmla="*/ 114509 h 114508"/>
                <a:gd name="connsiteX6" fmla="*/ 81816 w 130880"/>
                <a:gd name="connsiteY6" fmla="*/ 114509 h 114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0880" h="114508">
                  <a:moveTo>
                    <a:pt x="130880" y="102831"/>
                  </a:moveTo>
                  <a:lnTo>
                    <a:pt x="130880" y="57215"/>
                  </a:lnTo>
                  <a:lnTo>
                    <a:pt x="112168" y="37386"/>
                  </a:lnTo>
                  <a:lnTo>
                    <a:pt x="23376" y="0"/>
                  </a:lnTo>
                  <a:lnTo>
                    <a:pt x="0" y="53727"/>
                  </a:lnTo>
                  <a:lnTo>
                    <a:pt x="35093" y="114509"/>
                  </a:lnTo>
                  <a:lnTo>
                    <a:pt x="81816" y="114509"/>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 name="Freeform: Shape 24">
              <a:extLst>
                <a:ext uri="{FF2B5EF4-FFF2-40B4-BE49-F238E27FC236}">
                  <a16:creationId xmlns:a16="http://schemas.microsoft.com/office/drawing/2014/main" id="{1A369FB2-F1E0-07B7-4F88-7965A56C915E}"/>
                </a:ext>
              </a:extLst>
            </p:cNvPr>
            <p:cNvSpPr/>
            <p:nvPr/>
          </p:nvSpPr>
          <p:spPr>
            <a:xfrm>
              <a:off x="17300837" y="2755279"/>
              <a:ext cx="73493" cy="212666"/>
            </a:xfrm>
            <a:custGeom>
              <a:avLst/>
              <a:gdLst>
                <a:gd name="connsiteX0" fmla="*/ 11708 w 73493"/>
                <a:gd name="connsiteY0" fmla="*/ 212667 h 212666"/>
                <a:gd name="connsiteX1" fmla="*/ 42098 w 73493"/>
                <a:gd name="connsiteY1" fmla="*/ 184617 h 212666"/>
                <a:gd name="connsiteX2" fmla="*/ 47908 w 73493"/>
                <a:gd name="connsiteY2" fmla="*/ 98167 h 212666"/>
                <a:gd name="connsiteX3" fmla="*/ 72440 w 73493"/>
                <a:gd name="connsiteY3" fmla="*/ 70108 h 212666"/>
                <a:gd name="connsiteX4" fmla="*/ 72440 w 73493"/>
                <a:gd name="connsiteY4" fmla="*/ 0 h 212666"/>
                <a:gd name="connsiteX5" fmla="*/ 42059 w 73493"/>
                <a:gd name="connsiteY5" fmla="*/ 18713 h 212666"/>
                <a:gd name="connsiteX6" fmla="*/ 11668 w 73493"/>
                <a:gd name="connsiteY6" fmla="*/ 70108 h 212666"/>
                <a:gd name="connsiteX7" fmla="*/ 0 w 73493"/>
                <a:gd name="connsiteY7" fmla="*/ 151895 h 212666"/>
                <a:gd name="connsiteX8" fmla="*/ 11708 w 73493"/>
                <a:gd name="connsiteY8" fmla="*/ 212667 h 21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3493" h="212666">
                  <a:moveTo>
                    <a:pt x="11708" y="212667"/>
                  </a:moveTo>
                  <a:cubicBezTo>
                    <a:pt x="23376" y="212667"/>
                    <a:pt x="42098" y="184617"/>
                    <a:pt x="42098" y="184617"/>
                  </a:cubicBezTo>
                  <a:lnTo>
                    <a:pt x="47908" y="98167"/>
                  </a:lnTo>
                  <a:cubicBezTo>
                    <a:pt x="47908" y="98167"/>
                    <a:pt x="70148" y="77153"/>
                    <a:pt x="72440" y="70108"/>
                  </a:cubicBezTo>
                  <a:cubicBezTo>
                    <a:pt x="74811" y="63064"/>
                    <a:pt x="72440" y="0"/>
                    <a:pt x="72440" y="0"/>
                  </a:cubicBezTo>
                  <a:lnTo>
                    <a:pt x="42059" y="18713"/>
                  </a:lnTo>
                  <a:lnTo>
                    <a:pt x="11668" y="70108"/>
                  </a:lnTo>
                  <a:lnTo>
                    <a:pt x="0" y="151895"/>
                  </a:lnTo>
                  <a:cubicBezTo>
                    <a:pt x="39" y="151934"/>
                    <a:pt x="39" y="212667"/>
                    <a:pt x="11708" y="212667"/>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6" name="Freeform: Shape 25">
              <a:extLst>
                <a:ext uri="{FF2B5EF4-FFF2-40B4-BE49-F238E27FC236}">
                  <a16:creationId xmlns:a16="http://schemas.microsoft.com/office/drawing/2014/main" id="{B8E7AED0-8320-F9E6-3281-E8EEE7E6FA17}"/>
                </a:ext>
              </a:extLst>
            </p:cNvPr>
            <p:cNvSpPr/>
            <p:nvPr/>
          </p:nvSpPr>
          <p:spPr>
            <a:xfrm>
              <a:off x="14261646" y="4520029"/>
              <a:ext cx="300987" cy="378718"/>
            </a:xfrm>
            <a:custGeom>
              <a:avLst/>
              <a:gdLst>
                <a:gd name="connsiteX0" fmla="*/ 87753 w 300987"/>
                <a:gd name="connsiteY0" fmla="*/ 103634 h 378718"/>
                <a:gd name="connsiteX1" fmla="*/ 75771 w 300987"/>
                <a:gd name="connsiteY1" fmla="*/ 55795 h 378718"/>
                <a:gd name="connsiteX2" fmla="*/ 0 w 300987"/>
                <a:gd name="connsiteY2" fmla="*/ 0 h 378718"/>
                <a:gd name="connsiteX3" fmla="*/ 11982 w 300987"/>
                <a:gd name="connsiteY3" fmla="*/ 53806 h 378718"/>
                <a:gd name="connsiteX4" fmla="*/ 0 w 300987"/>
                <a:gd name="connsiteY4" fmla="*/ 133525 h 378718"/>
                <a:gd name="connsiteX5" fmla="*/ 65788 w 300987"/>
                <a:gd name="connsiteY5" fmla="*/ 229194 h 378718"/>
                <a:gd name="connsiteX6" fmla="*/ 155490 w 300987"/>
                <a:gd name="connsiteY6" fmla="*/ 322924 h 378718"/>
                <a:gd name="connsiteX7" fmla="*/ 245193 w 300987"/>
                <a:gd name="connsiteY7" fmla="*/ 378718 h 378718"/>
                <a:gd name="connsiteX8" fmla="*/ 300988 w 300987"/>
                <a:gd name="connsiteY8" fmla="*/ 378718 h 378718"/>
                <a:gd name="connsiteX9" fmla="*/ 169412 w 300987"/>
                <a:gd name="connsiteY9" fmla="*/ 215224 h 3787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00987" h="378718">
                  <a:moveTo>
                    <a:pt x="87753" y="103634"/>
                  </a:moveTo>
                  <a:lnTo>
                    <a:pt x="75771" y="55795"/>
                  </a:lnTo>
                  <a:lnTo>
                    <a:pt x="0" y="0"/>
                  </a:lnTo>
                  <a:lnTo>
                    <a:pt x="11982" y="53806"/>
                  </a:lnTo>
                  <a:lnTo>
                    <a:pt x="0" y="133525"/>
                  </a:lnTo>
                  <a:lnTo>
                    <a:pt x="65788" y="229194"/>
                  </a:lnTo>
                  <a:cubicBezTo>
                    <a:pt x="65788" y="229194"/>
                    <a:pt x="145497" y="316918"/>
                    <a:pt x="155490" y="322924"/>
                  </a:cubicBezTo>
                  <a:cubicBezTo>
                    <a:pt x="165474" y="328890"/>
                    <a:pt x="245193" y="378718"/>
                    <a:pt x="245193" y="378718"/>
                  </a:cubicBezTo>
                  <a:lnTo>
                    <a:pt x="300988" y="378718"/>
                  </a:lnTo>
                  <a:lnTo>
                    <a:pt x="169412" y="21522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7" name="Freeform: Shape 26">
              <a:extLst>
                <a:ext uri="{FF2B5EF4-FFF2-40B4-BE49-F238E27FC236}">
                  <a16:creationId xmlns:a16="http://schemas.microsoft.com/office/drawing/2014/main" id="{0FB41043-A763-490C-D3A6-00422DB8D429}"/>
                </a:ext>
              </a:extLst>
            </p:cNvPr>
            <p:cNvSpPr/>
            <p:nvPr/>
          </p:nvSpPr>
          <p:spPr>
            <a:xfrm>
              <a:off x="17519901" y="1099562"/>
              <a:ext cx="195100" cy="340421"/>
            </a:xfrm>
            <a:custGeom>
              <a:avLst/>
              <a:gdLst>
                <a:gd name="connsiteX0" fmla="*/ 177378 w 195100"/>
                <a:gd name="connsiteY0" fmla="*/ 340421 h 340421"/>
                <a:gd name="connsiteX1" fmla="*/ 195100 w 195100"/>
                <a:gd name="connsiteY1" fmla="*/ 301419 h 340421"/>
                <a:gd name="connsiteX2" fmla="*/ 117066 w 195100"/>
                <a:gd name="connsiteY2" fmla="*/ 156039 h 340421"/>
                <a:gd name="connsiteX3" fmla="*/ 97550 w 195100"/>
                <a:gd name="connsiteY3" fmla="*/ 35446 h 340421"/>
                <a:gd name="connsiteX4" fmla="*/ 0 w 195100"/>
                <a:gd name="connsiteY4" fmla="*/ 0 h 340421"/>
                <a:gd name="connsiteX5" fmla="*/ 42549 w 195100"/>
                <a:gd name="connsiteY5" fmla="*/ 102870 h 340421"/>
                <a:gd name="connsiteX6" fmla="*/ 92191 w 195100"/>
                <a:gd name="connsiteY6" fmla="*/ 283774 h 3404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100" h="340421">
                  <a:moveTo>
                    <a:pt x="177378" y="340421"/>
                  </a:moveTo>
                  <a:cubicBezTo>
                    <a:pt x="177378" y="340421"/>
                    <a:pt x="195100" y="312059"/>
                    <a:pt x="195100" y="301419"/>
                  </a:cubicBezTo>
                  <a:cubicBezTo>
                    <a:pt x="195100" y="290789"/>
                    <a:pt x="117066" y="156039"/>
                    <a:pt x="117066" y="156039"/>
                  </a:cubicBezTo>
                  <a:lnTo>
                    <a:pt x="97550" y="35446"/>
                  </a:lnTo>
                  <a:lnTo>
                    <a:pt x="0" y="0"/>
                  </a:lnTo>
                  <a:lnTo>
                    <a:pt x="42549" y="102870"/>
                  </a:lnTo>
                  <a:lnTo>
                    <a:pt x="92191" y="283774"/>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 name="Freeform: Shape 27">
              <a:extLst>
                <a:ext uri="{FF2B5EF4-FFF2-40B4-BE49-F238E27FC236}">
                  <a16:creationId xmlns:a16="http://schemas.microsoft.com/office/drawing/2014/main" id="{2F855FB7-C072-C746-F05C-4A97E18CFBCD}"/>
                </a:ext>
              </a:extLst>
            </p:cNvPr>
            <p:cNvSpPr/>
            <p:nvPr/>
          </p:nvSpPr>
          <p:spPr>
            <a:xfrm>
              <a:off x="17732754" y="1404557"/>
              <a:ext cx="180826" cy="322348"/>
            </a:xfrm>
            <a:custGeom>
              <a:avLst/>
              <a:gdLst>
                <a:gd name="connsiteX0" fmla="*/ 7044 w 180826"/>
                <a:gd name="connsiteY0" fmla="*/ 244693 h 322348"/>
                <a:gd name="connsiteX1" fmla="*/ 14128 w 180826"/>
                <a:gd name="connsiteY1" fmla="*/ 319201 h 322348"/>
                <a:gd name="connsiteX2" fmla="*/ 74439 w 180826"/>
                <a:gd name="connsiteY2" fmla="*/ 319201 h 322348"/>
                <a:gd name="connsiteX3" fmla="*/ 92152 w 180826"/>
                <a:gd name="connsiteY3" fmla="*/ 319201 h 322348"/>
                <a:gd name="connsiteX4" fmla="*/ 180826 w 180826"/>
                <a:gd name="connsiteY4" fmla="*/ 237610 h 322348"/>
                <a:gd name="connsiteX5" fmla="*/ 163152 w 180826"/>
                <a:gd name="connsiteY5" fmla="*/ 198617 h 322348"/>
                <a:gd name="connsiteX6" fmla="*/ 163152 w 180826"/>
                <a:gd name="connsiteY6" fmla="*/ 0 h 322348"/>
                <a:gd name="connsiteX7" fmla="*/ 106427 w 180826"/>
                <a:gd name="connsiteY7" fmla="*/ 99314 h 322348"/>
                <a:gd name="connsiteX8" fmla="*/ 90476 w 180826"/>
                <a:gd name="connsiteY8" fmla="*/ 131233 h 322348"/>
                <a:gd name="connsiteX9" fmla="*/ 21279 w 180826"/>
                <a:gd name="connsiteY9" fmla="*/ 99314 h 322348"/>
                <a:gd name="connsiteX10" fmla="*/ 0 w 180826"/>
                <a:gd name="connsiteY10" fmla="*/ 109953 h 322348"/>
                <a:gd name="connsiteX11" fmla="*/ 14196 w 180826"/>
                <a:gd name="connsiteY11" fmla="*/ 170265 h 322348"/>
                <a:gd name="connsiteX12" fmla="*/ 7044 w 180826"/>
                <a:gd name="connsiteY12" fmla="*/ 244703 h 322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80826" h="322348">
                  <a:moveTo>
                    <a:pt x="7044" y="244693"/>
                  </a:moveTo>
                  <a:cubicBezTo>
                    <a:pt x="7044" y="269529"/>
                    <a:pt x="14128" y="319201"/>
                    <a:pt x="14128" y="319201"/>
                  </a:cubicBezTo>
                  <a:lnTo>
                    <a:pt x="74439" y="319201"/>
                  </a:lnTo>
                  <a:cubicBezTo>
                    <a:pt x="74439" y="319201"/>
                    <a:pt x="81522" y="326284"/>
                    <a:pt x="92152" y="319201"/>
                  </a:cubicBezTo>
                  <a:cubicBezTo>
                    <a:pt x="102792" y="312127"/>
                    <a:pt x="180826" y="237610"/>
                    <a:pt x="180826" y="237610"/>
                  </a:cubicBezTo>
                  <a:lnTo>
                    <a:pt x="163152" y="198617"/>
                  </a:lnTo>
                  <a:lnTo>
                    <a:pt x="163152" y="0"/>
                  </a:lnTo>
                  <a:lnTo>
                    <a:pt x="106427" y="99314"/>
                  </a:lnTo>
                  <a:cubicBezTo>
                    <a:pt x="106427" y="99314"/>
                    <a:pt x="99353" y="131233"/>
                    <a:pt x="90476" y="131233"/>
                  </a:cubicBezTo>
                  <a:cubicBezTo>
                    <a:pt x="81591" y="131233"/>
                    <a:pt x="21279" y="99314"/>
                    <a:pt x="21279" y="99314"/>
                  </a:cubicBezTo>
                  <a:lnTo>
                    <a:pt x="0" y="109953"/>
                  </a:lnTo>
                  <a:lnTo>
                    <a:pt x="14196" y="170265"/>
                  </a:lnTo>
                  <a:cubicBezTo>
                    <a:pt x="14128" y="170186"/>
                    <a:pt x="7044" y="219858"/>
                    <a:pt x="7044" y="244703"/>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9" name="Freeform: Shape 28">
              <a:extLst>
                <a:ext uri="{FF2B5EF4-FFF2-40B4-BE49-F238E27FC236}">
                  <a16:creationId xmlns:a16="http://schemas.microsoft.com/office/drawing/2014/main" id="{09777592-94F0-B1E7-8DE7-F8E6BCD8F875}"/>
                </a:ext>
              </a:extLst>
            </p:cNvPr>
            <p:cNvSpPr/>
            <p:nvPr/>
          </p:nvSpPr>
          <p:spPr>
            <a:xfrm>
              <a:off x="17657052" y="1775986"/>
              <a:ext cx="315722" cy="501300"/>
            </a:xfrm>
            <a:custGeom>
              <a:avLst/>
              <a:gdLst>
                <a:gd name="connsiteX0" fmla="*/ 292993 w 315722"/>
                <a:gd name="connsiteY0" fmla="*/ 243204 h 501300"/>
                <a:gd name="connsiteX1" fmla="*/ 291612 w 315722"/>
                <a:gd name="connsiteY1" fmla="*/ 155873 h 501300"/>
                <a:gd name="connsiteX2" fmla="*/ 227098 w 315722"/>
                <a:gd name="connsiteY2" fmla="*/ 0 h 501300"/>
                <a:gd name="connsiteX3" fmla="*/ 166130 w 315722"/>
                <a:gd name="connsiteY3" fmla="*/ 18830 h 501300"/>
                <a:gd name="connsiteX4" fmla="*/ 181394 w 315722"/>
                <a:gd name="connsiteY4" fmla="*/ 63143 h 501300"/>
                <a:gd name="connsiteX5" fmla="*/ 221739 w 315722"/>
                <a:gd name="connsiteY5" fmla="*/ 177377 h 501300"/>
                <a:gd name="connsiteX6" fmla="*/ 193915 w 315722"/>
                <a:gd name="connsiteY6" fmla="*/ 271489 h 501300"/>
                <a:gd name="connsiteX7" fmla="*/ 141059 w 315722"/>
                <a:gd name="connsiteY7" fmla="*/ 279562 h 501300"/>
                <a:gd name="connsiteX8" fmla="*/ 141059 w 315722"/>
                <a:gd name="connsiteY8" fmla="*/ 368275 h 501300"/>
                <a:gd name="connsiteX9" fmla="*/ 57940 w 315722"/>
                <a:gd name="connsiteY9" fmla="*/ 368275 h 501300"/>
                <a:gd name="connsiteX10" fmla="*/ 0 w 315722"/>
                <a:gd name="connsiteY10" fmla="*/ 431417 h 501300"/>
                <a:gd name="connsiteX11" fmla="*/ 18830 w 315722"/>
                <a:gd name="connsiteY11" fmla="*/ 501300 h 501300"/>
                <a:gd name="connsiteX12" fmla="*/ 95404 w 315722"/>
                <a:gd name="connsiteY12" fmla="*/ 444849 h 501300"/>
                <a:gd name="connsiteX13" fmla="*/ 149171 w 315722"/>
                <a:gd name="connsiteY13" fmla="*/ 428743 h 501300"/>
                <a:gd name="connsiteX14" fmla="*/ 188135 w 315722"/>
                <a:gd name="connsiteY14" fmla="*/ 491885 h 501300"/>
                <a:gd name="connsiteX15" fmla="*/ 221700 w 315722"/>
                <a:gd name="connsiteY15" fmla="*/ 455606 h 501300"/>
                <a:gd name="connsiteX16" fmla="*/ 263338 w 315722"/>
                <a:gd name="connsiteY16" fmla="*/ 396481 h 501300"/>
                <a:gd name="connsiteX17" fmla="*/ 315723 w 315722"/>
                <a:gd name="connsiteY17" fmla="*/ 352158 h 501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15722" h="501300">
                  <a:moveTo>
                    <a:pt x="292993" y="243204"/>
                  </a:moveTo>
                  <a:lnTo>
                    <a:pt x="291612" y="155873"/>
                  </a:lnTo>
                  <a:cubicBezTo>
                    <a:pt x="291612" y="155873"/>
                    <a:pt x="233828" y="0"/>
                    <a:pt x="227098" y="0"/>
                  </a:cubicBezTo>
                  <a:cubicBezTo>
                    <a:pt x="220357" y="0"/>
                    <a:pt x="166130" y="18830"/>
                    <a:pt x="166130" y="18830"/>
                  </a:cubicBezTo>
                  <a:lnTo>
                    <a:pt x="181394" y="63143"/>
                  </a:lnTo>
                  <a:lnTo>
                    <a:pt x="221739" y="177377"/>
                  </a:lnTo>
                  <a:lnTo>
                    <a:pt x="193915" y="271489"/>
                  </a:lnTo>
                  <a:lnTo>
                    <a:pt x="141059" y="279562"/>
                  </a:lnTo>
                  <a:lnTo>
                    <a:pt x="141059" y="368275"/>
                  </a:lnTo>
                  <a:lnTo>
                    <a:pt x="57940" y="368275"/>
                  </a:lnTo>
                  <a:lnTo>
                    <a:pt x="0" y="431417"/>
                  </a:lnTo>
                  <a:lnTo>
                    <a:pt x="18830" y="501300"/>
                  </a:lnTo>
                  <a:lnTo>
                    <a:pt x="95404" y="444849"/>
                  </a:lnTo>
                  <a:lnTo>
                    <a:pt x="149171" y="428743"/>
                  </a:lnTo>
                  <a:lnTo>
                    <a:pt x="188135" y="491885"/>
                  </a:lnTo>
                  <a:cubicBezTo>
                    <a:pt x="188135" y="491885"/>
                    <a:pt x="217712" y="473055"/>
                    <a:pt x="221700" y="455606"/>
                  </a:cubicBezTo>
                  <a:cubicBezTo>
                    <a:pt x="225716" y="438158"/>
                    <a:pt x="259321" y="396481"/>
                    <a:pt x="263338" y="396481"/>
                  </a:cubicBezTo>
                  <a:cubicBezTo>
                    <a:pt x="267394" y="396481"/>
                    <a:pt x="315723" y="352158"/>
                    <a:pt x="315723" y="352158"/>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0" name="Freeform: Shape 29">
              <a:extLst>
                <a:ext uri="{FF2B5EF4-FFF2-40B4-BE49-F238E27FC236}">
                  <a16:creationId xmlns:a16="http://schemas.microsoft.com/office/drawing/2014/main" id="{F5642041-194D-A1DA-ABA5-A8FAEED7932F}"/>
                </a:ext>
              </a:extLst>
            </p:cNvPr>
            <p:cNvSpPr/>
            <p:nvPr/>
          </p:nvSpPr>
          <p:spPr>
            <a:xfrm>
              <a:off x="17619480" y="2304141"/>
              <a:ext cx="96786" cy="123884"/>
            </a:xfrm>
            <a:custGeom>
              <a:avLst/>
              <a:gdLst>
                <a:gd name="connsiteX0" fmla="*/ 43020 w 96786"/>
                <a:gd name="connsiteY0" fmla="*/ 123885 h 123884"/>
                <a:gd name="connsiteX1" fmla="*/ 96786 w 96786"/>
                <a:gd name="connsiteY1" fmla="*/ 118222 h 123884"/>
                <a:gd name="connsiteX2" fmla="*/ 96786 w 96786"/>
                <a:gd name="connsiteY2" fmla="*/ 53777 h 123884"/>
                <a:gd name="connsiteX3" fmla="*/ 80640 w 96786"/>
                <a:gd name="connsiteY3" fmla="*/ 0 h 123884"/>
                <a:gd name="connsiteX4" fmla="*/ 0 w 96786"/>
                <a:gd name="connsiteY4" fmla="*/ 8083 h 123884"/>
                <a:gd name="connsiteX5" fmla="*/ 37621 w 96786"/>
                <a:gd name="connsiteY5" fmla="*/ 52395 h 1238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6786" h="123884">
                  <a:moveTo>
                    <a:pt x="43020" y="123885"/>
                  </a:moveTo>
                  <a:lnTo>
                    <a:pt x="96786" y="118222"/>
                  </a:lnTo>
                  <a:lnTo>
                    <a:pt x="96786" y="53777"/>
                  </a:lnTo>
                  <a:lnTo>
                    <a:pt x="80640" y="0"/>
                  </a:lnTo>
                  <a:lnTo>
                    <a:pt x="0" y="8083"/>
                  </a:lnTo>
                  <a:lnTo>
                    <a:pt x="37621" y="5239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1" name="Freeform: Shape 30">
              <a:extLst>
                <a:ext uri="{FF2B5EF4-FFF2-40B4-BE49-F238E27FC236}">
                  <a16:creationId xmlns:a16="http://schemas.microsoft.com/office/drawing/2014/main" id="{74D2130D-B481-3BAB-81DF-F2FCAAEFA002}"/>
                </a:ext>
              </a:extLst>
            </p:cNvPr>
            <p:cNvSpPr/>
            <p:nvPr/>
          </p:nvSpPr>
          <p:spPr>
            <a:xfrm>
              <a:off x="17740435" y="2254440"/>
              <a:ext cx="63142" cy="71215"/>
            </a:xfrm>
            <a:custGeom>
              <a:avLst/>
              <a:gdLst>
                <a:gd name="connsiteX0" fmla="*/ 63143 w 63142"/>
                <a:gd name="connsiteY0" fmla="*/ 22808 h 71215"/>
                <a:gd name="connsiteX1" fmla="*/ 36240 w 63142"/>
                <a:gd name="connsiteY1" fmla="*/ 0 h 71215"/>
                <a:gd name="connsiteX2" fmla="*/ 0 w 63142"/>
                <a:gd name="connsiteY2" fmla="*/ 29509 h 71215"/>
                <a:gd name="connsiteX3" fmla="*/ 18096 w 63142"/>
                <a:gd name="connsiteY3" fmla="*/ 71215 h 71215"/>
                <a:gd name="connsiteX4" fmla="*/ 63143 w 63142"/>
                <a:gd name="connsiteY4" fmla="*/ 71215 h 712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142" h="71215">
                  <a:moveTo>
                    <a:pt x="63143" y="22808"/>
                  </a:moveTo>
                  <a:lnTo>
                    <a:pt x="36240" y="0"/>
                  </a:lnTo>
                  <a:lnTo>
                    <a:pt x="0" y="29509"/>
                  </a:lnTo>
                  <a:lnTo>
                    <a:pt x="18096" y="71215"/>
                  </a:lnTo>
                  <a:lnTo>
                    <a:pt x="63143" y="7121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2" name="Freeform: Shape 31">
              <a:extLst>
                <a:ext uri="{FF2B5EF4-FFF2-40B4-BE49-F238E27FC236}">
                  <a16:creationId xmlns:a16="http://schemas.microsoft.com/office/drawing/2014/main" id="{98BB5D61-CBF0-E955-65C9-8F01481261F0}"/>
                </a:ext>
              </a:extLst>
            </p:cNvPr>
            <p:cNvSpPr/>
            <p:nvPr/>
          </p:nvSpPr>
          <p:spPr>
            <a:xfrm>
              <a:off x="15836900" y="3378417"/>
              <a:ext cx="67198" cy="204094"/>
            </a:xfrm>
            <a:custGeom>
              <a:avLst/>
              <a:gdLst>
                <a:gd name="connsiteX0" fmla="*/ 53688 w 67198"/>
                <a:gd name="connsiteY0" fmla="*/ 116419 h 204094"/>
                <a:gd name="connsiteX1" fmla="*/ 33555 w 67198"/>
                <a:gd name="connsiteY1" fmla="*/ 43823 h 204094"/>
                <a:gd name="connsiteX2" fmla="*/ 0 w 67198"/>
                <a:gd name="connsiteY2" fmla="*/ 0 h 204094"/>
                <a:gd name="connsiteX3" fmla="*/ 0 w 67198"/>
                <a:gd name="connsiteY3" fmla="*/ 134975 h 204094"/>
                <a:gd name="connsiteX4" fmla="*/ 19976 w 67198"/>
                <a:gd name="connsiteY4" fmla="*/ 204094 h 204094"/>
                <a:gd name="connsiteX5" fmla="*/ 67199 w 67198"/>
                <a:gd name="connsiteY5" fmla="*/ 204094 h 204094"/>
                <a:gd name="connsiteX6" fmla="*/ 53688 w 67198"/>
                <a:gd name="connsiteY6" fmla="*/ 116419 h 204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98" h="204094">
                  <a:moveTo>
                    <a:pt x="53688" y="116419"/>
                  </a:moveTo>
                  <a:cubicBezTo>
                    <a:pt x="53688" y="101146"/>
                    <a:pt x="33555" y="43823"/>
                    <a:pt x="33555" y="43823"/>
                  </a:cubicBezTo>
                  <a:lnTo>
                    <a:pt x="0" y="0"/>
                  </a:lnTo>
                  <a:lnTo>
                    <a:pt x="0" y="134975"/>
                  </a:lnTo>
                  <a:lnTo>
                    <a:pt x="19976" y="204094"/>
                  </a:lnTo>
                  <a:lnTo>
                    <a:pt x="67199" y="204094"/>
                  </a:lnTo>
                  <a:cubicBezTo>
                    <a:pt x="67199" y="204094"/>
                    <a:pt x="53688" y="131683"/>
                    <a:pt x="53688" y="116419"/>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3" name="Freeform: Shape 32">
              <a:extLst>
                <a:ext uri="{FF2B5EF4-FFF2-40B4-BE49-F238E27FC236}">
                  <a16:creationId xmlns:a16="http://schemas.microsoft.com/office/drawing/2014/main" id="{6EE07F98-A325-641A-DB75-0637E42543A4}"/>
                </a:ext>
              </a:extLst>
            </p:cNvPr>
            <p:cNvSpPr/>
            <p:nvPr/>
          </p:nvSpPr>
          <p:spPr>
            <a:xfrm>
              <a:off x="15904147" y="3648377"/>
              <a:ext cx="67462" cy="128127"/>
            </a:xfrm>
            <a:custGeom>
              <a:avLst/>
              <a:gdLst>
                <a:gd name="connsiteX0" fmla="*/ 20241 w 67462"/>
                <a:gd name="connsiteY0" fmla="*/ 128127 h 128127"/>
                <a:gd name="connsiteX1" fmla="*/ 67463 w 67462"/>
                <a:gd name="connsiteY1" fmla="*/ 95326 h 128127"/>
                <a:gd name="connsiteX2" fmla="*/ 0 w 67462"/>
                <a:gd name="connsiteY2" fmla="*/ 0 h 128127"/>
              </a:gdLst>
              <a:ahLst/>
              <a:cxnLst>
                <a:cxn ang="0">
                  <a:pos x="connsiteX0" y="connsiteY0"/>
                </a:cxn>
                <a:cxn ang="0">
                  <a:pos x="connsiteX1" y="connsiteY1"/>
                </a:cxn>
                <a:cxn ang="0">
                  <a:pos x="connsiteX2" y="connsiteY2"/>
                </a:cxn>
              </a:cxnLst>
              <a:rect l="l" t="t" r="r" b="b"/>
              <a:pathLst>
                <a:path w="67462" h="128127">
                  <a:moveTo>
                    <a:pt x="20241" y="128127"/>
                  </a:moveTo>
                  <a:lnTo>
                    <a:pt x="67463" y="95326"/>
                  </a:lnTo>
                  <a:lnTo>
                    <a:pt x="0" y="0"/>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34" name="Graphic 114">
            <a:extLst>
              <a:ext uri="{FF2B5EF4-FFF2-40B4-BE49-F238E27FC236}">
                <a16:creationId xmlns:a16="http://schemas.microsoft.com/office/drawing/2014/main" id="{9730C5D0-2B1E-E069-AFBF-0604AEDD519B}"/>
              </a:ext>
            </a:extLst>
          </p:cNvPr>
          <p:cNvSpPr>
            <a:spLocks noChangeAspect="1"/>
          </p:cNvSpPr>
          <p:nvPr/>
        </p:nvSpPr>
        <p:spPr>
          <a:xfrm>
            <a:off x="497166" y="2509743"/>
            <a:ext cx="624759" cy="535510"/>
          </a:xfrm>
          <a:custGeom>
            <a:avLst/>
            <a:gdLst>
              <a:gd name="connsiteX0" fmla="*/ 2228850 w 4800600"/>
              <a:gd name="connsiteY0" fmla="*/ 0 h 4114800"/>
              <a:gd name="connsiteX1" fmla="*/ 2228850 w 4800600"/>
              <a:gd name="connsiteY1" fmla="*/ 342900 h 4114800"/>
              <a:gd name="connsiteX2" fmla="*/ 1885950 w 4800600"/>
              <a:gd name="connsiteY2" fmla="*/ 342900 h 4114800"/>
              <a:gd name="connsiteX3" fmla="*/ 1885950 w 4800600"/>
              <a:gd name="connsiteY3" fmla="*/ 685800 h 4114800"/>
              <a:gd name="connsiteX4" fmla="*/ 2228850 w 4800600"/>
              <a:gd name="connsiteY4" fmla="*/ 685800 h 4114800"/>
              <a:gd name="connsiteX5" fmla="*/ 2228850 w 4800600"/>
              <a:gd name="connsiteY5" fmla="*/ 1028700 h 4114800"/>
              <a:gd name="connsiteX6" fmla="*/ 2571750 w 4800600"/>
              <a:gd name="connsiteY6" fmla="*/ 1028700 h 4114800"/>
              <a:gd name="connsiteX7" fmla="*/ 2571750 w 4800600"/>
              <a:gd name="connsiteY7" fmla="*/ 685800 h 4114800"/>
              <a:gd name="connsiteX8" fmla="*/ 2914650 w 4800600"/>
              <a:gd name="connsiteY8" fmla="*/ 685800 h 4114800"/>
              <a:gd name="connsiteX9" fmla="*/ 2914650 w 4800600"/>
              <a:gd name="connsiteY9" fmla="*/ 342900 h 4114800"/>
              <a:gd name="connsiteX10" fmla="*/ 2571750 w 4800600"/>
              <a:gd name="connsiteY10" fmla="*/ 342900 h 4114800"/>
              <a:gd name="connsiteX11" fmla="*/ 2571750 w 4800600"/>
              <a:gd name="connsiteY11" fmla="*/ 0 h 4114800"/>
              <a:gd name="connsiteX12" fmla="*/ 0 w 4800600"/>
              <a:gd name="connsiteY12" fmla="*/ 1200150 h 4114800"/>
              <a:gd name="connsiteX13" fmla="*/ 0 w 4800600"/>
              <a:gd name="connsiteY13" fmla="*/ 4114800 h 4114800"/>
              <a:gd name="connsiteX14" fmla="*/ 342900 w 4800600"/>
              <a:gd name="connsiteY14" fmla="*/ 4114800 h 4114800"/>
              <a:gd name="connsiteX15" fmla="*/ 342900 w 4800600"/>
              <a:gd name="connsiteY15" fmla="*/ 3514725 h 4114800"/>
              <a:gd name="connsiteX16" fmla="*/ 4457700 w 4800600"/>
              <a:gd name="connsiteY16" fmla="*/ 3514725 h 4114800"/>
              <a:gd name="connsiteX17" fmla="*/ 4457700 w 4800600"/>
              <a:gd name="connsiteY17" fmla="*/ 4114800 h 4114800"/>
              <a:gd name="connsiteX18" fmla="*/ 4800600 w 4800600"/>
              <a:gd name="connsiteY18" fmla="*/ 4114800 h 4114800"/>
              <a:gd name="connsiteX19" fmla="*/ 4800600 w 4800600"/>
              <a:gd name="connsiteY19" fmla="*/ 2400300 h 4114800"/>
              <a:gd name="connsiteX20" fmla="*/ 1371600 w 4800600"/>
              <a:gd name="connsiteY20" fmla="*/ 2400300 h 4114800"/>
              <a:gd name="connsiteX21" fmla="*/ 1371600 w 4800600"/>
              <a:gd name="connsiteY21" fmla="*/ 2228850 h 4114800"/>
              <a:gd name="connsiteX22" fmla="*/ 857250 w 4800600"/>
              <a:gd name="connsiteY22" fmla="*/ 1714500 h 4114800"/>
              <a:gd name="connsiteX23" fmla="*/ 342900 w 4800600"/>
              <a:gd name="connsiteY23" fmla="*/ 1714500 h 4114800"/>
              <a:gd name="connsiteX24" fmla="*/ 342900 w 4800600"/>
              <a:gd name="connsiteY24" fmla="*/ 120015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0600" h="4114800">
                <a:moveTo>
                  <a:pt x="2228850" y="0"/>
                </a:moveTo>
                <a:lnTo>
                  <a:pt x="2228850" y="342900"/>
                </a:lnTo>
                <a:lnTo>
                  <a:pt x="1885950" y="342900"/>
                </a:lnTo>
                <a:lnTo>
                  <a:pt x="1885950" y="685800"/>
                </a:lnTo>
                <a:lnTo>
                  <a:pt x="2228850" y="685800"/>
                </a:lnTo>
                <a:lnTo>
                  <a:pt x="2228850" y="1028700"/>
                </a:lnTo>
                <a:lnTo>
                  <a:pt x="2571750" y="1028700"/>
                </a:lnTo>
                <a:lnTo>
                  <a:pt x="2571750" y="685800"/>
                </a:lnTo>
                <a:lnTo>
                  <a:pt x="2914650" y="685800"/>
                </a:lnTo>
                <a:lnTo>
                  <a:pt x="2914650" y="342900"/>
                </a:lnTo>
                <a:lnTo>
                  <a:pt x="2571750" y="342900"/>
                </a:lnTo>
                <a:lnTo>
                  <a:pt x="2571750" y="0"/>
                </a:lnTo>
                <a:close/>
                <a:moveTo>
                  <a:pt x="0" y="1200150"/>
                </a:moveTo>
                <a:lnTo>
                  <a:pt x="0" y="4114800"/>
                </a:lnTo>
                <a:lnTo>
                  <a:pt x="342900" y="4114800"/>
                </a:lnTo>
                <a:lnTo>
                  <a:pt x="342900" y="3514725"/>
                </a:lnTo>
                <a:lnTo>
                  <a:pt x="4457700" y="3514725"/>
                </a:lnTo>
                <a:lnTo>
                  <a:pt x="4457700" y="4114800"/>
                </a:lnTo>
                <a:lnTo>
                  <a:pt x="4800600" y="4114800"/>
                </a:lnTo>
                <a:lnTo>
                  <a:pt x="4800600" y="2400300"/>
                </a:lnTo>
                <a:lnTo>
                  <a:pt x="1371600" y="2400300"/>
                </a:lnTo>
                <a:lnTo>
                  <a:pt x="1371600" y="2228850"/>
                </a:lnTo>
                <a:cubicBezTo>
                  <a:pt x="1371600" y="1946878"/>
                  <a:pt x="1139222" y="1714500"/>
                  <a:pt x="857250" y="1714500"/>
                </a:cubicBezTo>
                <a:lnTo>
                  <a:pt x="342900" y="1714500"/>
                </a:lnTo>
                <a:lnTo>
                  <a:pt x="342900" y="1200150"/>
                </a:ln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6" name="Freeform: Shape 35">
            <a:extLst>
              <a:ext uri="{FF2B5EF4-FFF2-40B4-BE49-F238E27FC236}">
                <a16:creationId xmlns:a16="http://schemas.microsoft.com/office/drawing/2014/main" id="{6F34B004-1A3D-D6D5-019D-11F4FBF99FCF}"/>
              </a:ext>
            </a:extLst>
          </p:cNvPr>
          <p:cNvSpPr>
            <a:spLocks noChangeAspect="1"/>
          </p:cNvSpPr>
          <p:nvPr/>
        </p:nvSpPr>
        <p:spPr>
          <a:xfrm>
            <a:off x="541796" y="4566846"/>
            <a:ext cx="535498" cy="535510"/>
          </a:xfrm>
          <a:custGeom>
            <a:avLst/>
            <a:gdLst>
              <a:gd name="connsiteX0" fmla="*/ 2408868 w 4828026"/>
              <a:gd name="connsiteY0" fmla="*/ 0 h 4828140"/>
              <a:gd name="connsiteX1" fmla="*/ 2245795 w 4828026"/>
              <a:gd name="connsiteY1" fmla="*/ 166248 h 4828140"/>
              <a:gd name="connsiteX2" fmla="*/ 2245795 w 4828026"/>
              <a:gd name="connsiteY2" fmla="*/ 1748192 h 4828140"/>
              <a:gd name="connsiteX3" fmla="*/ 2024399 w 4828026"/>
              <a:gd name="connsiteY3" fmla="*/ 1991553 h 4828140"/>
              <a:gd name="connsiteX4" fmla="*/ 2081036 w 4828026"/>
              <a:gd name="connsiteY4" fmla="*/ 889571 h 4828140"/>
              <a:gd name="connsiteX5" fmla="*/ 1876785 w 4828026"/>
              <a:gd name="connsiteY5" fmla="*/ 719884 h 4828140"/>
              <a:gd name="connsiteX6" fmla="*/ 301209 w 4828026"/>
              <a:gd name="connsiteY6" fmla="*/ 2298400 h 4828140"/>
              <a:gd name="connsiteX7" fmla="*/ 110703 w 4828026"/>
              <a:gd name="connsiteY7" fmla="*/ 4706440 h 4828140"/>
              <a:gd name="connsiteX8" fmla="*/ 268604 w 4828026"/>
              <a:gd name="connsiteY8" fmla="*/ 4828140 h 4828140"/>
              <a:gd name="connsiteX9" fmla="*/ 1214293 w 4828026"/>
              <a:gd name="connsiteY9" fmla="*/ 4526496 h 4828140"/>
              <a:gd name="connsiteX10" fmla="*/ 2026113 w 4828026"/>
              <a:gd name="connsiteY10" fmla="*/ 3832388 h 4828140"/>
              <a:gd name="connsiteX11" fmla="*/ 2010653 w 4828026"/>
              <a:gd name="connsiteY11" fmla="*/ 2497233 h 4828140"/>
              <a:gd name="connsiteX12" fmla="*/ 2410573 w 4828026"/>
              <a:gd name="connsiteY12" fmla="*/ 2056744 h 4828140"/>
              <a:gd name="connsiteX13" fmla="*/ 2819064 w 4828026"/>
              <a:gd name="connsiteY13" fmla="*/ 2504081 h 4828140"/>
              <a:gd name="connsiteX14" fmla="*/ 2801919 w 4828026"/>
              <a:gd name="connsiteY14" fmla="*/ 3832378 h 4828140"/>
              <a:gd name="connsiteX15" fmla="*/ 3613740 w 4828026"/>
              <a:gd name="connsiteY15" fmla="*/ 4526486 h 4828140"/>
              <a:gd name="connsiteX16" fmla="*/ 4559429 w 4828026"/>
              <a:gd name="connsiteY16" fmla="*/ 4828130 h 4828140"/>
              <a:gd name="connsiteX17" fmla="*/ 4717330 w 4828026"/>
              <a:gd name="connsiteY17" fmla="*/ 4706430 h 4828140"/>
              <a:gd name="connsiteX18" fmla="*/ 4526824 w 4828026"/>
              <a:gd name="connsiteY18" fmla="*/ 2298390 h 4828140"/>
              <a:gd name="connsiteX19" fmla="*/ 2951248 w 4828026"/>
              <a:gd name="connsiteY19" fmla="*/ 719875 h 4828140"/>
              <a:gd name="connsiteX20" fmla="*/ 2746997 w 4828026"/>
              <a:gd name="connsiteY20" fmla="*/ 889561 h 4828140"/>
              <a:gd name="connsiteX21" fmla="*/ 2803634 w 4828026"/>
              <a:gd name="connsiteY21" fmla="*/ 2000165 h 4828140"/>
              <a:gd name="connsiteX22" fmla="*/ 2575351 w 4828026"/>
              <a:gd name="connsiteY22" fmla="*/ 1748232 h 4828140"/>
              <a:gd name="connsiteX23" fmla="*/ 2575351 w 4828026"/>
              <a:gd name="connsiteY23" fmla="*/ 166287 h 4828140"/>
              <a:gd name="connsiteX24" fmla="*/ 2408878 w 4828026"/>
              <a:gd name="connsiteY24" fmla="*/ 39 h 482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8026" h="4828140">
                <a:moveTo>
                  <a:pt x="2408868" y="0"/>
                </a:moveTo>
                <a:cubicBezTo>
                  <a:pt x="2322604" y="919"/>
                  <a:pt x="2244923" y="80099"/>
                  <a:pt x="2245795" y="166248"/>
                </a:cubicBezTo>
                <a:lnTo>
                  <a:pt x="2245795" y="1748192"/>
                </a:lnTo>
                <a:lnTo>
                  <a:pt x="2024399" y="1991553"/>
                </a:lnTo>
                <a:cubicBezTo>
                  <a:pt x="2039094" y="1624886"/>
                  <a:pt x="2060521" y="1257992"/>
                  <a:pt x="2081036" y="889571"/>
                </a:cubicBezTo>
                <a:cubicBezTo>
                  <a:pt x="2074188" y="770624"/>
                  <a:pt x="1984328" y="706139"/>
                  <a:pt x="1876785" y="719884"/>
                </a:cubicBezTo>
                <a:cubicBezTo>
                  <a:pt x="1147202" y="902013"/>
                  <a:pt x="609427" y="1539474"/>
                  <a:pt x="301209" y="2298400"/>
                </a:cubicBezTo>
                <a:cubicBezTo>
                  <a:pt x="-7098" y="3057296"/>
                  <a:pt x="-93281" y="3949806"/>
                  <a:pt x="110703" y="4706440"/>
                </a:cubicBezTo>
                <a:cubicBezTo>
                  <a:pt x="129308" y="4775284"/>
                  <a:pt x="197192" y="4827601"/>
                  <a:pt x="268604" y="4828140"/>
                </a:cubicBezTo>
                <a:cubicBezTo>
                  <a:pt x="604881" y="4787913"/>
                  <a:pt x="922220" y="4655387"/>
                  <a:pt x="1214293" y="4526496"/>
                </a:cubicBezTo>
                <a:cubicBezTo>
                  <a:pt x="1515751" y="4379000"/>
                  <a:pt x="1997799" y="4175405"/>
                  <a:pt x="2026113" y="3832388"/>
                </a:cubicBezTo>
                <a:cubicBezTo>
                  <a:pt x="2001434" y="3388489"/>
                  <a:pt x="2000552" y="2943522"/>
                  <a:pt x="2010653" y="2497233"/>
                </a:cubicBezTo>
                <a:lnTo>
                  <a:pt x="2410573" y="2056744"/>
                </a:lnTo>
                <a:lnTo>
                  <a:pt x="2819064" y="2504081"/>
                </a:lnTo>
                <a:cubicBezTo>
                  <a:pt x="2828979" y="2948009"/>
                  <a:pt x="2826491" y="3390723"/>
                  <a:pt x="2801919" y="3832378"/>
                </a:cubicBezTo>
                <a:cubicBezTo>
                  <a:pt x="2872224" y="4218758"/>
                  <a:pt x="3322511" y="4396478"/>
                  <a:pt x="3613740" y="4526486"/>
                </a:cubicBezTo>
                <a:cubicBezTo>
                  <a:pt x="3925103" y="4633716"/>
                  <a:pt x="4247077" y="4824534"/>
                  <a:pt x="4559429" y="4828130"/>
                </a:cubicBezTo>
                <a:cubicBezTo>
                  <a:pt x="4630841" y="4827591"/>
                  <a:pt x="4698735" y="4775284"/>
                  <a:pt x="4717330" y="4706430"/>
                </a:cubicBezTo>
                <a:cubicBezTo>
                  <a:pt x="4921306" y="3949826"/>
                  <a:pt x="4835121" y="3057277"/>
                  <a:pt x="4526824" y="2298390"/>
                </a:cubicBezTo>
                <a:cubicBezTo>
                  <a:pt x="4218518" y="1539494"/>
                  <a:pt x="3680821" y="902003"/>
                  <a:pt x="2951248" y="719875"/>
                </a:cubicBezTo>
                <a:cubicBezTo>
                  <a:pt x="2845007" y="700055"/>
                  <a:pt x="2744548" y="808274"/>
                  <a:pt x="2746997" y="889561"/>
                </a:cubicBezTo>
                <a:cubicBezTo>
                  <a:pt x="2767659" y="1260892"/>
                  <a:pt x="2788899" y="1630666"/>
                  <a:pt x="2803634" y="2000165"/>
                </a:cubicBezTo>
                <a:lnTo>
                  <a:pt x="2575351" y="1748232"/>
                </a:lnTo>
                <a:lnTo>
                  <a:pt x="2575351" y="166287"/>
                </a:lnTo>
                <a:cubicBezTo>
                  <a:pt x="2576272" y="78992"/>
                  <a:pt x="2496288" y="-872"/>
                  <a:pt x="2408878" y="39"/>
                </a:cubicBez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37" name="Group 36">
            <a:extLst>
              <a:ext uri="{FF2B5EF4-FFF2-40B4-BE49-F238E27FC236}">
                <a16:creationId xmlns:a16="http://schemas.microsoft.com/office/drawing/2014/main" id="{902AA257-47B8-74E1-3547-359DF8348D93}"/>
              </a:ext>
            </a:extLst>
          </p:cNvPr>
          <p:cNvGrpSpPr>
            <a:grpSpLocks noChangeAspect="1"/>
          </p:cNvGrpSpPr>
          <p:nvPr/>
        </p:nvGrpSpPr>
        <p:grpSpPr>
          <a:xfrm>
            <a:off x="512798" y="3524951"/>
            <a:ext cx="593494" cy="533705"/>
            <a:chOff x="-7554901" y="505581"/>
            <a:chExt cx="4924279" cy="4428200"/>
          </a:xfrm>
          <a:solidFill>
            <a:schemeClr val="tx2"/>
          </a:solidFill>
        </p:grpSpPr>
        <p:sp>
          <p:nvSpPr>
            <p:cNvPr id="38" name="Freeform: Shape 37">
              <a:extLst>
                <a:ext uri="{FF2B5EF4-FFF2-40B4-BE49-F238E27FC236}">
                  <a16:creationId xmlns:a16="http://schemas.microsoft.com/office/drawing/2014/main" id="{41559EBA-4D78-814F-A232-08A2673014CF}"/>
                </a:ext>
              </a:extLst>
            </p:cNvPr>
            <p:cNvSpPr/>
            <p:nvPr/>
          </p:nvSpPr>
          <p:spPr>
            <a:xfrm>
              <a:off x="-6330954" y="505581"/>
              <a:ext cx="2476423" cy="829582"/>
            </a:xfrm>
            <a:custGeom>
              <a:avLst/>
              <a:gdLst>
                <a:gd name="connsiteX0" fmla="*/ 1238192 w 2476423"/>
                <a:gd name="connsiteY0" fmla="*/ 254118 h 829582"/>
                <a:gd name="connsiteX1" fmla="*/ 2088898 w 2476423"/>
                <a:gd name="connsiteY1" fmla="*/ 829544 h 829582"/>
                <a:gd name="connsiteX2" fmla="*/ 2476424 w 2476423"/>
                <a:gd name="connsiteY2" fmla="*/ 829544 h 829582"/>
                <a:gd name="connsiteX3" fmla="*/ 1238163 w 2476423"/>
                <a:gd name="connsiteY3" fmla="*/ 0 h 829582"/>
                <a:gd name="connsiteX4" fmla="*/ 0 w 2476423"/>
                <a:gd name="connsiteY4" fmla="*/ 829583 h 829582"/>
                <a:gd name="connsiteX5" fmla="*/ 387526 w 2476423"/>
                <a:gd name="connsiteY5" fmla="*/ 829583 h 829582"/>
                <a:gd name="connsiteX6" fmla="*/ 1238153 w 2476423"/>
                <a:gd name="connsiteY6" fmla="*/ 254118 h 829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6423" h="829582">
                  <a:moveTo>
                    <a:pt x="1238192" y="254118"/>
                  </a:moveTo>
                  <a:cubicBezTo>
                    <a:pt x="1623955" y="254118"/>
                    <a:pt x="1953306" y="492385"/>
                    <a:pt x="2088898" y="829544"/>
                  </a:cubicBezTo>
                  <a:lnTo>
                    <a:pt x="2476424" y="829544"/>
                  </a:lnTo>
                  <a:cubicBezTo>
                    <a:pt x="2276121" y="342714"/>
                    <a:pt x="1797325" y="0"/>
                    <a:pt x="1238163" y="0"/>
                  </a:cubicBezTo>
                  <a:cubicBezTo>
                    <a:pt x="679148" y="0"/>
                    <a:pt x="200352" y="342782"/>
                    <a:pt x="0" y="829583"/>
                  </a:cubicBezTo>
                  <a:lnTo>
                    <a:pt x="387526" y="829583"/>
                  </a:lnTo>
                  <a:cubicBezTo>
                    <a:pt x="523040" y="492385"/>
                    <a:pt x="852469" y="254118"/>
                    <a:pt x="1238153" y="254118"/>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9" name="Freeform: Shape 38">
              <a:extLst>
                <a:ext uri="{FF2B5EF4-FFF2-40B4-BE49-F238E27FC236}">
                  <a16:creationId xmlns:a16="http://schemas.microsoft.com/office/drawing/2014/main" id="{9F114A9A-5252-9851-C303-CE27D7238FFB}"/>
                </a:ext>
              </a:extLst>
            </p:cNvPr>
            <p:cNvSpPr/>
            <p:nvPr/>
          </p:nvSpPr>
          <p:spPr>
            <a:xfrm>
              <a:off x="-7554901" y="1335154"/>
              <a:ext cx="4924279" cy="3598627"/>
            </a:xfrm>
            <a:custGeom>
              <a:avLst/>
              <a:gdLst>
                <a:gd name="connsiteX0" fmla="*/ 4595076 w 4924279"/>
                <a:gd name="connsiteY0" fmla="*/ 0 h 3598627"/>
                <a:gd name="connsiteX1" fmla="*/ 329204 w 4924279"/>
                <a:gd name="connsiteY1" fmla="*/ 0 h 3598627"/>
                <a:gd name="connsiteX2" fmla="*/ 0 w 4924279"/>
                <a:gd name="connsiteY2" fmla="*/ 329204 h 3598627"/>
                <a:gd name="connsiteX3" fmla="*/ 0 w 4924279"/>
                <a:gd name="connsiteY3" fmla="*/ 3269424 h 3598627"/>
                <a:gd name="connsiteX4" fmla="*/ 329204 w 4924279"/>
                <a:gd name="connsiteY4" fmla="*/ 3598628 h 3598627"/>
                <a:gd name="connsiteX5" fmla="*/ 4595076 w 4924279"/>
                <a:gd name="connsiteY5" fmla="*/ 3598628 h 3598627"/>
                <a:gd name="connsiteX6" fmla="*/ 4924279 w 4924279"/>
                <a:gd name="connsiteY6" fmla="*/ 3269424 h 3598627"/>
                <a:gd name="connsiteX7" fmla="*/ 4924279 w 4924279"/>
                <a:gd name="connsiteY7" fmla="*/ 329204 h 3598627"/>
                <a:gd name="connsiteX8" fmla="*/ 4595076 w 4924279"/>
                <a:gd name="connsiteY8" fmla="*/ 0 h 3598627"/>
                <a:gd name="connsiteX9" fmla="*/ 2456555 w 4924279"/>
                <a:gd name="connsiteY9" fmla="*/ 2889374 h 3598627"/>
                <a:gd name="connsiteX10" fmla="*/ 1304411 w 4924279"/>
                <a:gd name="connsiteY10" fmla="*/ 1737230 h 3598627"/>
                <a:gd name="connsiteX11" fmla="*/ 2456555 w 4924279"/>
                <a:gd name="connsiteY11" fmla="*/ 585085 h 3598627"/>
                <a:gd name="connsiteX12" fmla="*/ 3608699 w 4924279"/>
                <a:gd name="connsiteY12" fmla="*/ 1737230 h 3598627"/>
                <a:gd name="connsiteX13" fmla="*/ 2456555 w 4924279"/>
                <a:gd name="connsiteY13" fmla="*/ 2889374 h 3598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924279" h="3598627">
                  <a:moveTo>
                    <a:pt x="4595076" y="0"/>
                  </a:moveTo>
                  <a:lnTo>
                    <a:pt x="329204" y="0"/>
                  </a:lnTo>
                  <a:cubicBezTo>
                    <a:pt x="147378" y="0"/>
                    <a:pt x="0" y="147418"/>
                    <a:pt x="0" y="329204"/>
                  </a:cubicBezTo>
                  <a:lnTo>
                    <a:pt x="0" y="3269424"/>
                  </a:lnTo>
                  <a:cubicBezTo>
                    <a:pt x="0" y="3451210"/>
                    <a:pt x="147378" y="3598628"/>
                    <a:pt x="329204" y="3598628"/>
                  </a:cubicBezTo>
                  <a:lnTo>
                    <a:pt x="4595076" y="3598628"/>
                  </a:lnTo>
                  <a:cubicBezTo>
                    <a:pt x="4776862" y="3598628"/>
                    <a:pt x="4924279" y="3451210"/>
                    <a:pt x="4924279" y="3269424"/>
                  </a:cubicBezTo>
                  <a:lnTo>
                    <a:pt x="4924279" y="329204"/>
                  </a:lnTo>
                  <a:cubicBezTo>
                    <a:pt x="4924240" y="147378"/>
                    <a:pt x="4776823" y="0"/>
                    <a:pt x="4595076" y="0"/>
                  </a:cubicBezTo>
                  <a:close/>
                  <a:moveTo>
                    <a:pt x="2456555" y="2889374"/>
                  </a:moveTo>
                  <a:cubicBezTo>
                    <a:pt x="1820201" y="2889374"/>
                    <a:pt x="1304411" y="2373603"/>
                    <a:pt x="1304411" y="1737230"/>
                  </a:cubicBezTo>
                  <a:cubicBezTo>
                    <a:pt x="1304411" y="1100876"/>
                    <a:pt x="1820182" y="585085"/>
                    <a:pt x="2456555" y="585085"/>
                  </a:cubicBezTo>
                  <a:cubicBezTo>
                    <a:pt x="3092909" y="585085"/>
                    <a:pt x="3608699" y="1100856"/>
                    <a:pt x="3608699" y="1737230"/>
                  </a:cubicBezTo>
                  <a:cubicBezTo>
                    <a:pt x="3608660" y="2373623"/>
                    <a:pt x="3092899" y="2889374"/>
                    <a:pt x="2456555" y="2889374"/>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 name="Freeform: Shape 39">
              <a:extLst>
                <a:ext uri="{FF2B5EF4-FFF2-40B4-BE49-F238E27FC236}">
                  <a16:creationId xmlns:a16="http://schemas.microsoft.com/office/drawing/2014/main" id="{C50FDB52-5BAD-7EA6-ADFF-7859AB8715A2}"/>
                </a:ext>
              </a:extLst>
            </p:cNvPr>
            <p:cNvSpPr/>
            <p:nvPr/>
          </p:nvSpPr>
          <p:spPr>
            <a:xfrm>
              <a:off x="-5758555" y="2412154"/>
              <a:ext cx="1320429" cy="1320390"/>
            </a:xfrm>
            <a:custGeom>
              <a:avLst/>
              <a:gdLst>
                <a:gd name="connsiteX0" fmla="*/ 864284 w 1320429"/>
                <a:gd name="connsiteY0" fmla="*/ 0 h 1320390"/>
                <a:gd name="connsiteX1" fmla="*/ 456214 w 1320429"/>
                <a:gd name="connsiteY1" fmla="*/ 0 h 1320390"/>
                <a:gd name="connsiteX2" fmla="*/ 456214 w 1320429"/>
                <a:gd name="connsiteY2" fmla="*/ 456145 h 1320390"/>
                <a:gd name="connsiteX3" fmla="*/ 0 w 1320429"/>
                <a:gd name="connsiteY3" fmla="*/ 456145 h 1320390"/>
                <a:gd name="connsiteX4" fmla="*/ 0 w 1320429"/>
                <a:gd name="connsiteY4" fmla="*/ 864216 h 1320390"/>
                <a:gd name="connsiteX5" fmla="*/ 456214 w 1320429"/>
                <a:gd name="connsiteY5" fmla="*/ 864216 h 1320390"/>
                <a:gd name="connsiteX6" fmla="*/ 456214 w 1320429"/>
                <a:gd name="connsiteY6" fmla="*/ 1320390 h 1320390"/>
                <a:gd name="connsiteX7" fmla="*/ 864284 w 1320429"/>
                <a:gd name="connsiteY7" fmla="*/ 1320390 h 1320390"/>
                <a:gd name="connsiteX8" fmla="*/ 864284 w 1320429"/>
                <a:gd name="connsiteY8" fmla="*/ 864216 h 1320390"/>
                <a:gd name="connsiteX9" fmla="*/ 1320430 w 1320429"/>
                <a:gd name="connsiteY9" fmla="*/ 864216 h 1320390"/>
                <a:gd name="connsiteX10" fmla="*/ 1320430 w 1320429"/>
                <a:gd name="connsiteY10" fmla="*/ 456145 h 1320390"/>
                <a:gd name="connsiteX11" fmla="*/ 864284 w 1320429"/>
                <a:gd name="connsiteY11" fmla="*/ 456145 h 1320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20429" h="1320390">
                  <a:moveTo>
                    <a:pt x="864284" y="0"/>
                  </a:moveTo>
                  <a:lnTo>
                    <a:pt x="456214" y="0"/>
                  </a:lnTo>
                  <a:lnTo>
                    <a:pt x="456214" y="456145"/>
                  </a:lnTo>
                  <a:lnTo>
                    <a:pt x="0" y="456145"/>
                  </a:lnTo>
                  <a:lnTo>
                    <a:pt x="0" y="864216"/>
                  </a:lnTo>
                  <a:lnTo>
                    <a:pt x="456214" y="864216"/>
                  </a:lnTo>
                  <a:lnTo>
                    <a:pt x="456214" y="1320390"/>
                  </a:lnTo>
                  <a:lnTo>
                    <a:pt x="864284" y="1320390"/>
                  </a:lnTo>
                  <a:lnTo>
                    <a:pt x="864284" y="864216"/>
                  </a:lnTo>
                  <a:lnTo>
                    <a:pt x="1320430" y="864216"/>
                  </a:lnTo>
                  <a:lnTo>
                    <a:pt x="1320430" y="456145"/>
                  </a:lnTo>
                  <a:lnTo>
                    <a:pt x="864284" y="456145"/>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47" name="Slide Number Placeholder 46">
            <a:extLst>
              <a:ext uri="{FF2B5EF4-FFF2-40B4-BE49-F238E27FC236}">
                <a16:creationId xmlns:a16="http://schemas.microsoft.com/office/drawing/2014/main" id="{64DE5804-A0E3-F9D3-B247-88B77FAAF38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44</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1977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F1E7-3F9E-8D4B-68DF-8497149914CC}"/>
              </a:ext>
            </a:extLst>
          </p:cNvPr>
          <p:cNvSpPr>
            <a:spLocks noGrp="1"/>
          </p:cNvSpPr>
          <p:nvPr>
            <p:ph type="ctrTitle"/>
          </p:nvPr>
        </p:nvSpPr>
        <p:spPr/>
        <p:txBody>
          <a:bodyPr/>
          <a:lstStyle/>
          <a:p>
            <a:r>
              <a:rPr lang="en-US" dirty="0"/>
              <a:t>COPD Pathophysiology</a:t>
            </a:r>
            <a:endParaRPr lang="en-GB" dirty="0"/>
          </a:p>
        </p:txBody>
      </p:sp>
      <p:sp>
        <p:nvSpPr>
          <p:cNvPr id="11" name="Text Placeholder 10">
            <a:extLst>
              <a:ext uri="{FF2B5EF4-FFF2-40B4-BE49-F238E27FC236}">
                <a16:creationId xmlns:a16="http://schemas.microsoft.com/office/drawing/2014/main" id="{6A388376-CBEE-4D0E-8B31-CB1FC81A9383}"/>
              </a:ext>
            </a:extLst>
          </p:cNvPr>
          <p:cNvSpPr>
            <a:spLocks noGrp="1"/>
          </p:cNvSpPr>
          <p:nvPr>
            <p:ph type="body" sz="quarter" idx="11"/>
          </p:nvPr>
        </p:nvSpPr>
        <p:spPr>
          <a:xfrm>
            <a:off x="501650" y="230188"/>
            <a:ext cx="2400300" cy="163512"/>
          </a:xfrm>
        </p:spPr>
        <p:txBody>
          <a:bodyPr/>
          <a:lstStyle/>
          <a:p>
            <a:endParaRPr lang="en-US" dirty="0"/>
          </a:p>
        </p:txBody>
      </p:sp>
      <p:sp>
        <p:nvSpPr>
          <p:cNvPr id="5" name="Rectangle 4">
            <a:extLst>
              <a:ext uri="{FF2B5EF4-FFF2-40B4-BE49-F238E27FC236}">
                <a16:creationId xmlns:a16="http://schemas.microsoft.com/office/drawing/2014/main" id="{DB26058B-2F68-43E3-B5BD-F14589D4D924}"/>
              </a:ext>
            </a:extLst>
          </p:cNvPr>
          <p:cNvSpPr/>
          <p:nvPr/>
        </p:nvSpPr>
        <p:spPr bwMode="auto">
          <a:xfrm>
            <a:off x="5273516" y="6540295"/>
            <a:ext cx="1644968" cy="196069"/>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1200" b="1" i="0" u="none" strike="noStrike" kern="0" cap="none" spc="0" normalizeH="0" baseline="0" noProof="0" dirty="0">
                <a:ln>
                  <a:noFill/>
                </a:ln>
                <a:solidFill>
                  <a:prstClr val="white"/>
                </a:solidFill>
                <a:effectLst/>
                <a:uLnTx/>
                <a:uFillTx/>
                <a:latin typeface="Arial"/>
                <a:ea typeface="+mn-ea"/>
                <a:cs typeface="Noto Sans"/>
              </a:rPr>
              <a:t>INTERNAL USE</a:t>
            </a:r>
            <a:endParaRPr kumimoji="0" lang="en-GB" sz="1200" b="1" i="0" u="none" strike="noStrike" kern="0" cap="none" spc="0" normalizeH="0" baseline="0" noProof="0" dirty="0">
              <a:ln>
                <a:noFill/>
              </a:ln>
              <a:solidFill>
                <a:prstClr val="white"/>
              </a:solidFill>
              <a:effectLst/>
              <a:uLnTx/>
              <a:uFillTx/>
              <a:latin typeface="Arial"/>
              <a:ea typeface="+mn-ea"/>
              <a:cs typeface="Noto Sans"/>
            </a:endParaRPr>
          </a:p>
        </p:txBody>
      </p:sp>
      <p:sp>
        <p:nvSpPr>
          <p:cNvPr id="3" name="Text Placeholder 10">
            <a:extLst>
              <a:ext uri="{FF2B5EF4-FFF2-40B4-BE49-F238E27FC236}">
                <a16:creationId xmlns:a16="http://schemas.microsoft.com/office/drawing/2014/main" id="{F595487B-80AD-A08B-BE15-4FB12DBA3A04}"/>
              </a:ext>
            </a:extLst>
          </p:cNvPr>
          <p:cNvSpPr txBox="1">
            <a:spLocks/>
          </p:cNvSpPr>
          <p:nvPr/>
        </p:nvSpPr>
        <p:spPr>
          <a:xfrm>
            <a:off x="365125" y="6156732"/>
            <a:ext cx="11460164" cy="123111"/>
          </a:xfrm>
          <a:prstGeom prst="rect">
            <a:avLst/>
          </a:prstGeom>
        </p:spPr>
        <p:txBody>
          <a:bodyPr tIns="0" bIns="0">
            <a:spAutoFit/>
          </a:bodyPr>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Noto Sans"/>
              </a:rPr>
              <a:t>COPD, chronic obstructive pulmonary disease.</a:t>
            </a:r>
            <a:endParaRPr kumimoji="0" lang="en-GB" sz="800" b="0" i="0" u="none" strike="noStrike" kern="120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16319261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F1E7-3F9E-8D4B-68DF-8497149914CC}"/>
              </a:ext>
            </a:extLst>
          </p:cNvPr>
          <p:cNvSpPr>
            <a:spLocks noGrp="1"/>
          </p:cNvSpPr>
          <p:nvPr>
            <p:ph type="title"/>
          </p:nvPr>
        </p:nvSpPr>
        <p:spPr/>
        <p:txBody>
          <a:bodyPr/>
          <a:lstStyle/>
          <a:p>
            <a:r>
              <a:rPr lang="en-US" dirty="0"/>
              <a:t>Pathogenesis of COPD</a:t>
            </a:r>
            <a:endParaRPr lang="en-GB" dirty="0"/>
          </a:p>
        </p:txBody>
      </p:sp>
      <p:sp>
        <p:nvSpPr>
          <p:cNvPr id="5" name="Text Placeholder 10">
            <a:extLst>
              <a:ext uri="{FF2B5EF4-FFF2-40B4-BE49-F238E27FC236}">
                <a16:creationId xmlns:a16="http://schemas.microsoft.com/office/drawing/2014/main" id="{5595D98E-F726-4844-B496-1030634FDD57}"/>
              </a:ext>
            </a:extLst>
          </p:cNvPr>
          <p:cNvSpPr txBox="1">
            <a:spLocks/>
          </p:cNvSpPr>
          <p:nvPr/>
        </p:nvSpPr>
        <p:spPr>
          <a:xfrm>
            <a:off x="272254" y="5508574"/>
            <a:ext cx="11460164" cy="298800"/>
          </a:xfrm>
          <a:prstGeom prst="rect">
            <a:avLst/>
          </a:prstGeom>
        </p:spPr>
        <p:txBody>
          <a:bodyPr tIns="0" bIns="0"/>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Noto Sans"/>
              </a:rPr>
              <a:t>COPD, chronic obstructive pulmonary disease.</a:t>
            </a:r>
            <a:endParaRPr kumimoji="0" lang="en-GB" sz="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4" name="Rectangle 3">
            <a:extLst>
              <a:ext uri="{FF2B5EF4-FFF2-40B4-BE49-F238E27FC236}">
                <a16:creationId xmlns:a16="http://schemas.microsoft.com/office/drawing/2014/main" id="{40735CC2-2C44-67DB-9960-B61691F59236}"/>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21664830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702709C-8D39-404D-838C-F06F64436420}"/>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47</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14BB32D5-19F9-46A2-9380-692466964207}"/>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318ABF5B-533A-4459-8776-4A5399ABB0CE}"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 name="Text Placeholder 10">
            <a:extLst>
              <a:ext uri="{FF2B5EF4-FFF2-40B4-BE49-F238E27FC236}">
                <a16:creationId xmlns:a16="http://schemas.microsoft.com/office/drawing/2014/main" id="{EB2726EF-51FB-4203-870B-E7195E444449}"/>
              </a:ext>
            </a:extLst>
          </p:cNvPr>
          <p:cNvSpPr>
            <a:spLocks noGrp="1"/>
          </p:cNvSpPr>
          <p:nvPr>
            <p:ph type="body" sz="quarter" idx="13"/>
          </p:nvPr>
        </p:nvSpPr>
        <p:spPr>
          <a:xfrm>
            <a:off x="365125" y="5791603"/>
            <a:ext cx="11460164" cy="298800"/>
          </a:xfrm>
        </p:spPr>
        <p:txBody>
          <a:bodyPr tIns="0" bIns="0"/>
          <a:lstStyle/>
          <a:p>
            <a:r>
              <a:rPr lang="en-US" sz="800" dirty="0"/>
              <a:t>COPD, chronic obstructive pulmonary disease; CT, computed tomography</a:t>
            </a:r>
            <a:r>
              <a:rPr lang="en-GB" sz="800" dirty="0"/>
              <a:t>.</a:t>
            </a:r>
          </a:p>
          <a:p>
            <a:r>
              <a:rPr lang="en-GB" sz="800" dirty="0"/>
              <a:t>1. Rennard.S;Lancet;2015;385;1778-1788.</a:t>
            </a:r>
          </a:p>
        </p:txBody>
      </p:sp>
      <p:sp>
        <p:nvSpPr>
          <p:cNvPr id="6" name="Title 5">
            <a:extLst>
              <a:ext uri="{FF2B5EF4-FFF2-40B4-BE49-F238E27FC236}">
                <a16:creationId xmlns:a16="http://schemas.microsoft.com/office/drawing/2014/main" id="{31757995-DEC6-4AEA-8EB4-197692DC5241}"/>
              </a:ext>
            </a:extLst>
          </p:cNvPr>
          <p:cNvSpPr>
            <a:spLocks noGrp="1"/>
          </p:cNvSpPr>
          <p:nvPr>
            <p:ph type="title"/>
          </p:nvPr>
        </p:nvSpPr>
        <p:spPr/>
        <p:txBody>
          <a:bodyPr/>
          <a:lstStyle/>
          <a:p>
            <a:r>
              <a:rPr lang="en-US" dirty="0"/>
              <a:t>COPD Overview of the Disease</a:t>
            </a:r>
            <a:r>
              <a:rPr lang="en-US" baseline="30000" dirty="0"/>
              <a:t>1</a:t>
            </a:r>
            <a:endParaRPr lang="en-GB" baseline="30000" dirty="0"/>
          </a:p>
        </p:txBody>
      </p:sp>
      <p:grpSp>
        <p:nvGrpSpPr>
          <p:cNvPr id="24" name="Group 23">
            <a:extLst>
              <a:ext uri="{FF2B5EF4-FFF2-40B4-BE49-F238E27FC236}">
                <a16:creationId xmlns:a16="http://schemas.microsoft.com/office/drawing/2014/main" id="{09F3A8DD-9934-7C65-4350-BC8A321801B2}"/>
              </a:ext>
            </a:extLst>
          </p:cNvPr>
          <p:cNvGrpSpPr/>
          <p:nvPr/>
        </p:nvGrpSpPr>
        <p:grpSpPr>
          <a:xfrm>
            <a:off x="366226" y="1234006"/>
            <a:ext cx="11466509" cy="4057840"/>
            <a:chOff x="366226" y="1443556"/>
            <a:chExt cx="11466509" cy="4057840"/>
          </a:xfrm>
        </p:grpSpPr>
        <p:grpSp>
          <p:nvGrpSpPr>
            <p:cNvPr id="21" name="Group 20">
              <a:extLst>
                <a:ext uri="{FF2B5EF4-FFF2-40B4-BE49-F238E27FC236}">
                  <a16:creationId xmlns:a16="http://schemas.microsoft.com/office/drawing/2014/main" id="{D0510D9B-C112-3890-F10E-B39B199F3882}"/>
                </a:ext>
              </a:extLst>
            </p:cNvPr>
            <p:cNvGrpSpPr/>
            <p:nvPr/>
          </p:nvGrpSpPr>
          <p:grpSpPr>
            <a:xfrm>
              <a:off x="366226" y="1443556"/>
              <a:ext cx="11466509" cy="1463040"/>
              <a:chOff x="372576" y="1443556"/>
              <a:chExt cx="11466509" cy="1463040"/>
            </a:xfrm>
          </p:grpSpPr>
          <p:grpSp>
            <p:nvGrpSpPr>
              <p:cNvPr id="50" name="Group 49">
                <a:extLst>
                  <a:ext uri="{FF2B5EF4-FFF2-40B4-BE49-F238E27FC236}">
                    <a16:creationId xmlns:a16="http://schemas.microsoft.com/office/drawing/2014/main" id="{ED04CD93-0975-0804-918F-4330DAA1706D}"/>
                  </a:ext>
                </a:extLst>
              </p:cNvPr>
              <p:cNvGrpSpPr/>
              <p:nvPr/>
            </p:nvGrpSpPr>
            <p:grpSpPr>
              <a:xfrm>
                <a:off x="372576" y="1444826"/>
                <a:ext cx="1283335" cy="1460500"/>
                <a:chOff x="342096" y="1443556"/>
                <a:chExt cx="1283335" cy="1460500"/>
              </a:xfrm>
            </p:grpSpPr>
            <p:sp>
              <p:nvSpPr>
                <p:cNvPr id="51" name="object 8">
                  <a:extLst>
                    <a:ext uri="{FF2B5EF4-FFF2-40B4-BE49-F238E27FC236}">
                      <a16:creationId xmlns:a16="http://schemas.microsoft.com/office/drawing/2014/main" id="{D81BAB0F-A1A1-7D1D-D1CE-DDCDDFD8B03B}"/>
                    </a:ext>
                  </a:extLst>
                </p:cNvPr>
                <p:cNvSpPr/>
                <p:nvPr/>
              </p:nvSpPr>
              <p:spPr>
                <a:xfrm>
                  <a:off x="342096" y="1443556"/>
                  <a:ext cx="1283335" cy="1460500"/>
                </a:xfrm>
                <a:custGeom>
                  <a:avLst/>
                  <a:gdLst/>
                  <a:ahLst/>
                  <a:cxnLst/>
                  <a:rect l="l" t="t" r="r" b="b"/>
                  <a:pathLst>
                    <a:path w="1283335" h="1460500">
                      <a:moveTo>
                        <a:pt x="0" y="1459991"/>
                      </a:moveTo>
                      <a:lnTo>
                        <a:pt x="1283208" y="1459991"/>
                      </a:lnTo>
                      <a:lnTo>
                        <a:pt x="1283208" y="0"/>
                      </a:lnTo>
                      <a:lnTo>
                        <a:pt x="0" y="0"/>
                      </a:lnTo>
                      <a:lnTo>
                        <a:pt x="0" y="1459991"/>
                      </a:lnTo>
                      <a:close/>
                    </a:path>
                  </a:pathLst>
                </a:custGeom>
                <a:ln w="6350">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52" name="Group 51">
                  <a:extLst>
                    <a:ext uri="{FF2B5EF4-FFF2-40B4-BE49-F238E27FC236}">
                      <a16:creationId xmlns:a16="http://schemas.microsoft.com/office/drawing/2014/main" id="{58F51A2C-B0EC-DE4A-CFF9-E47B6C53ADCC}"/>
                    </a:ext>
                  </a:extLst>
                </p:cNvPr>
                <p:cNvGrpSpPr/>
                <p:nvPr/>
              </p:nvGrpSpPr>
              <p:grpSpPr>
                <a:xfrm>
                  <a:off x="418296" y="1581732"/>
                  <a:ext cx="1131189" cy="1189482"/>
                  <a:chOff x="418296" y="1581732"/>
                  <a:chExt cx="1131189" cy="1189482"/>
                </a:xfrm>
              </p:grpSpPr>
              <p:sp>
                <p:nvSpPr>
                  <p:cNvPr id="69" name="object 9">
                    <a:extLst>
                      <a:ext uri="{FF2B5EF4-FFF2-40B4-BE49-F238E27FC236}">
                        <a16:creationId xmlns:a16="http://schemas.microsoft.com/office/drawing/2014/main" id="{926AE392-70AF-BED6-416C-E2F4A0E2AD0E}"/>
                      </a:ext>
                    </a:extLst>
                  </p:cNvPr>
                  <p:cNvSpPr/>
                  <p:nvPr/>
                </p:nvSpPr>
                <p:spPr>
                  <a:xfrm>
                    <a:off x="418296" y="1581732"/>
                    <a:ext cx="769620" cy="769620"/>
                  </a:xfrm>
                  <a:custGeom>
                    <a:avLst/>
                    <a:gdLst/>
                    <a:ahLst/>
                    <a:cxnLst/>
                    <a:rect l="l" t="t" r="r" b="b"/>
                    <a:pathLst>
                      <a:path w="769619" h="769619">
                        <a:moveTo>
                          <a:pt x="384810" y="0"/>
                        </a:moveTo>
                        <a:lnTo>
                          <a:pt x="336540" y="2999"/>
                        </a:lnTo>
                        <a:lnTo>
                          <a:pt x="290060" y="11755"/>
                        </a:lnTo>
                        <a:lnTo>
                          <a:pt x="245730" y="25908"/>
                        </a:lnTo>
                        <a:lnTo>
                          <a:pt x="203910" y="45097"/>
                        </a:lnTo>
                        <a:lnTo>
                          <a:pt x="164961" y="68959"/>
                        </a:lnTo>
                        <a:lnTo>
                          <a:pt x="129243" y="97135"/>
                        </a:lnTo>
                        <a:lnTo>
                          <a:pt x="97118" y="129263"/>
                        </a:lnTo>
                        <a:lnTo>
                          <a:pt x="68945" y="164983"/>
                        </a:lnTo>
                        <a:lnTo>
                          <a:pt x="45087" y="203932"/>
                        </a:lnTo>
                        <a:lnTo>
                          <a:pt x="25902" y="245751"/>
                        </a:lnTo>
                        <a:lnTo>
                          <a:pt x="11752" y="290077"/>
                        </a:lnTo>
                        <a:lnTo>
                          <a:pt x="2998" y="336550"/>
                        </a:lnTo>
                        <a:lnTo>
                          <a:pt x="0" y="384810"/>
                        </a:lnTo>
                        <a:lnTo>
                          <a:pt x="2998" y="433069"/>
                        </a:lnTo>
                        <a:lnTo>
                          <a:pt x="11752" y="479542"/>
                        </a:lnTo>
                        <a:lnTo>
                          <a:pt x="25902" y="523868"/>
                        </a:lnTo>
                        <a:lnTo>
                          <a:pt x="45087" y="565687"/>
                        </a:lnTo>
                        <a:lnTo>
                          <a:pt x="68945" y="604636"/>
                        </a:lnTo>
                        <a:lnTo>
                          <a:pt x="97118" y="640356"/>
                        </a:lnTo>
                        <a:lnTo>
                          <a:pt x="129243" y="672484"/>
                        </a:lnTo>
                        <a:lnTo>
                          <a:pt x="164961" y="700660"/>
                        </a:lnTo>
                        <a:lnTo>
                          <a:pt x="203910" y="724522"/>
                        </a:lnTo>
                        <a:lnTo>
                          <a:pt x="245730" y="743711"/>
                        </a:lnTo>
                        <a:lnTo>
                          <a:pt x="290060" y="757864"/>
                        </a:lnTo>
                        <a:lnTo>
                          <a:pt x="336540" y="766620"/>
                        </a:lnTo>
                        <a:lnTo>
                          <a:pt x="384810" y="769620"/>
                        </a:lnTo>
                        <a:lnTo>
                          <a:pt x="433079" y="766620"/>
                        </a:lnTo>
                        <a:lnTo>
                          <a:pt x="479559" y="757864"/>
                        </a:lnTo>
                        <a:lnTo>
                          <a:pt x="523889" y="743711"/>
                        </a:lnTo>
                        <a:lnTo>
                          <a:pt x="565709" y="724522"/>
                        </a:lnTo>
                        <a:lnTo>
                          <a:pt x="604658" y="700660"/>
                        </a:lnTo>
                        <a:lnTo>
                          <a:pt x="640376" y="672484"/>
                        </a:lnTo>
                        <a:lnTo>
                          <a:pt x="672501" y="640356"/>
                        </a:lnTo>
                        <a:lnTo>
                          <a:pt x="700674" y="604636"/>
                        </a:lnTo>
                        <a:lnTo>
                          <a:pt x="724532" y="565687"/>
                        </a:lnTo>
                        <a:lnTo>
                          <a:pt x="743717" y="523868"/>
                        </a:lnTo>
                        <a:lnTo>
                          <a:pt x="757867" y="479542"/>
                        </a:lnTo>
                        <a:lnTo>
                          <a:pt x="766621" y="433069"/>
                        </a:lnTo>
                        <a:lnTo>
                          <a:pt x="769619" y="384810"/>
                        </a:lnTo>
                        <a:lnTo>
                          <a:pt x="766621" y="336550"/>
                        </a:lnTo>
                        <a:lnTo>
                          <a:pt x="757867" y="290077"/>
                        </a:lnTo>
                        <a:lnTo>
                          <a:pt x="743717" y="245751"/>
                        </a:lnTo>
                        <a:lnTo>
                          <a:pt x="724532" y="203932"/>
                        </a:lnTo>
                        <a:lnTo>
                          <a:pt x="700674" y="164983"/>
                        </a:lnTo>
                        <a:lnTo>
                          <a:pt x="672501" y="129263"/>
                        </a:lnTo>
                        <a:lnTo>
                          <a:pt x="640376" y="97135"/>
                        </a:lnTo>
                        <a:lnTo>
                          <a:pt x="604658" y="68959"/>
                        </a:lnTo>
                        <a:lnTo>
                          <a:pt x="565709" y="45097"/>
                        </a:lnTo>
                        <a:lnTo>
                          <a:pt x="523889" y="25908"/>
                        </a:lnTo>
                        <a:lnTo>
                          <a:pt x="479559" y="11755"/>
                        </a:lnTo>
                        <a:lnTo>
                          <a:pt x="433079" y="2999"/>
                        </a:lnTo>
                        <a:lnTo>
                          <a:pt x="384810" y="0"/>
                        </a:lnTo>
                        <a:close/>
                      </a:path>
                    </a:pathLst>
                  </a:custGeom>
                  <a:solidFill>
                    <a:srgbClr val="F36633">
                      <a:lumMod val="40000"/>
                      <a:lumOff val="60000"/>
                      <a:alpha val="80000"/>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70" name="object 10">
                    <a:extLst>
                      <a:ext uri="{FF2B5EF4-FFF2-40B4-BE49-F238E27FC236}">
                        <a16:creationId xmlns:a16="http://schemas.microsoft.com/office/drawing/2014/main" id="{CAD25562-7E52-2888-436D-CDB962129A67}"/>
                      </a:ext>
                    </a:extLst>
                  </p:cNvPr>
                  <p:cNvSpPr/>
                  <p:nvPr/>
                </p:nvSpPr>
                <p:spPr>
                  <a:xfrm>
                    <a:off x="777960" y="1581732"/>
                    <a:ext cx="771525" cy="769620"/>
                  </a:xfrm>
                  <a:custGeom>
                    <a:avLst/>
                    <a:gdLst/>
                    <a:ahLst/>
                    <a:cxnLst/>
                    <a:rect l="l" t="t" r="r" b="b"/>
                    <a:pathLst>
                      <a:path w="771525" h="769619">
                        <a:moveTo>
                          <a:pt x="385572" y="0"/>
                        </a:moveTo>
                        <a:lnTo>
                          <a:pt x="337207" y="2999"/>
                        </a:lnTo>
                        <a:lnTo>
                          <a:pt x="290635" y="11755"/>
                        </a:lnTo>
                        <a:lnTo>
                          <a:pt x="246217" y="25908"/>
                        </a:lnTo>
                        <a:lnTo>
                          <a:pt x="204314" y="45097"/>
                        </a:lnTo>
                        <a:lnTo>
                          <a:pt x="165288" y="68959"/>
                        </a:lnTo>
                        <a:lnTo>
                          <a:pt x="129500" y="97135"/>
                        </a:lnTo>
                        <a:lnTo>
                          <a:pt x="97311" y="129263"/>
                        </a:lnTo>
                        <a:lnTo>
                          <a:pt x="69082" y="164983"/>
                        </a:lnTo>
                        <a:lnTo>
                          <a:pt x="45176" y="203932"/>
                        </a:lnTo>
                        <a:lnTo>
                          <a:pt x="25953" y="245751"/>
                        </a:lnTo>
                        <a:lnTo>
                          <a:pt x="11776" y="290077"/>
                        </a:lnTo>
                        <a:lnTo>
                          <a:pt x="3004" y="336550"/>
                        </a:lnTo>
                        <a:lnTo>
                          <a:pt x="0" y="384810"/>
                        </a:lnTo>
                        <a:lnTo>
                          <a:pt x="3004" y="433069"/>
                        </a:lnTo>
                        <a:lnTo>
                          <a:pt x="11776" y="479542"/>
                        </a:lnTo>
                        <a:lnTo>
                          <a:pt x="25953" y="523868"/>
                        </a:lnTo>
                        <a:lnTo>
                          <a:pt x="45176" y="565687"/>
                        </a:lnTo>
                        <a:lnTo>
                          <a:pt x="69082" y="604636"/>
                        </a:lnTo>
                        <a:lnTo>
                          <a:pt x="97311" y="640356"/>
                        </a:lnTo>
                        <a:lnTo>
                          <a:pt x="129500" y="672484"/>
                        </a:lnTo>
                        <a:lnTo>
                          <a:pt x="165288" y="700660"/>
                        </a:lnTo>
                        <a:lnTo>
                          <a:pt x="204314" y="724522"/>
                        </a:lnTo>
                        <a:lnTo>
                          <a:pt x="246217" y="743711"/>
                        </a:lnTo>
                        <a:lnTo>
                          <a:pt x="290635" y="757864"/>
                        </a:lnTo>
                        <a:lnTo>
                          <a:pt x="337207" y="766620"/>
                        </a:lnTo>
                        <a:lnTo>
                          <a:pt x="385572" y="769620"/>
                        </a:lnTo>
                        <a:lnTo>
                          <a:pt x="433943" y="766620"/>
                        </a:lnTo>
                        <a:lnTo>
                          <a:pt x="480520" y="757864"/>
                        </a:lnTo>
                        <a:lnTo>
                          <a:pt x="524942" y="743711"/>
                        </a:lnTo>
                        <a:lnTo>
                          <a:pt x="566846" y="724522"/>
                        </a:lnTo>
                        <a:lnTo>
                          <a:pt x="605872" y="700660"/>
                        </a:lnTo>
                        <a:lnTo>
                          <a:pt x="641659" y="672484"/>
                        </a:lnTo>
                        <a:lnTo>
                          <a:pt x="673845" y="640356"/>
                        </a:lnTo>
                        <a:lnTo>
                          <a:pt x="702071" y="604636"/>
                        </a:lnTo>
                        <a:lnTo>
                          <a:pt x="725974" y="565687"/>
                        </a:lnTo>
                        <a:lnTo>
                          <a:pt x="745194" y="523868"/>
                        </a:lnTo>
                        <a:lnTo>
                          <a:pt x="759370" y="479542"/>
                        </a:lnTo>
                        <a:lnTo>
                          <a:pt x="768140" y="433069"/>
                        </a:lnTo>
                        <a:lnTo>
                          <a:pt x="771144" y="384810"/>
                        </a:lnTo>
                        <a:lnTo>
                          <a:pt x="768140" y="336550"/>
                        </a:lnTo>
                        <a:lnTo>
                          <a:pt x="759370" y="290077"/>
                        </a:lnTo>
                        <a:lnTo>
                          <a:pt x="745194" y="245751"/>
                        </a:lnTo>
                        <a:lnTo>
                          <a:pt x="725974" y="203932"/>
                        </a:lnTo>
                        <a:lnTo>
                          <a:pt x="702071" y="164983"/>
                        </a:lnTo>
                        <a:lnTo>
                          <a:pt x="673845" y="129263"/>
                        </a:lnTo>
                        <a:lnTo>
                          <a:pt x="641659" y="97135"/>
                        </a:lnTo>
                        <a:lnTo>
                          <a:pt x="605872" y="68959"/>
                        </a:lnTo>
                        <a:lnTo>
                          <a:pt x="566846" y="45097"/>
                        </a:lnTo>
                        <a:lnTo>
                          <a:pt x="524942" y="25908"/>
                        </a:lnTo>
                        <a:lnTo>
                          <a:pt x="480520" y="11755"/>
                        </a:lnTo>
                        <a:lnTo>
                          <a:pt x="433943" y="2999"/>
                        </a:lnTo>
                        <a:lnTo>
                          <a:pt x="385572" y="0"/>
                        </a:lnTo>
                        <a:close/>
                      </a:path>
                    </a:pathLst>
                  </a:custGeom>
                  <a:solidFill>
                    <a:srgbClr val="F36633">
                      <a:lumMod val="60000"/>
                      <a:lumOff val="40000"/>
                      <a:alpha val="70000"/>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71" name="object 11">
                    <a:extLst>
                      <a:ext uri="{FF2B5EF4-FFF2-40B4-BE49-F238E27FC236}">
                        <a16:creationId xmlns:a16="http://schemas.microsoft.com/office/drawing/2014/main" id="{747DD9D7-EEB6-8509-36C5-BDEBCEEAEE44}"/>
                      </a:ext>
                    </a:extLst>
                  </p:cNvPr>
                  <p:cNvSpPr/>
                  <p:nvPr/>
                </p:nvSpPr>
                <p:spPr>
                  <a:xfrm>
                    <a:off x="598891" y="2001594"/>
                    <a:ext cx="771525" cy="769620"/>
                  </a:xfrm>
                  <a:custGeom>
                    <a:avLst/>
                    <a:gdLst/>
                    <a:ahLst/>
                    <a:cxnLst/>
                    <a:rect l="l" t="t" r="r" b="b"/>
                    <a:pathLst>
                      <a:path w="771525" h="769619">
                        <a:moveTo>
                          <a:pt x="385572" y="0"/>
                        </a:moveTo>
                        <a:lnTo>
                          <a:pt x="337207" y="2999"/>
                        </a:lnTo>
                        <a:lnTo>
                          <a:pt x="290635" y="11755"/>
                        </a:lnTo>
                        <a:lnTo>
                          <a:pt x="246217" y="25908"/>
                        </a:lnTo>
                        <a:lnTo>
                          <a:pt x="204314" y="45097"/>
                        </a:lnTo>
                        <a:lnTo>
                          <a:pt x="165288" y="68959"/>
                        </a:lnTo>
                        <a:lnTo>
                          <a:pt x="129500" y="97135"/>
                        </a:lnTo>
                        <a:lnTo>
                          <a:pt x="97311" y="129263"/>
                        </a:lnTo>
                        <a:lnTo>
                          <a:pt x="69082" y="164983"/>
                        </a:lnTo>
                        <a:lnTo>
                          <a:pt x="45176" y="203932"/>
                        </a:lnTo>
                        <a:lnTo>
                          <a:pt x="25953" y="245751"/>
                        </a:lnTo>
                        <a:lnTo>
                          <a:pt x="11776" y="290077"/>
                        </a:lnTo>
                        <a:lnTo>
                          <a:pt x="3004" y="336550"/>
                        </a:lnTo>
                        <a:lnTo>
                          <a:pt x="0" y="384810"/>
                        </a:lnTo>
                        <a:lnTo>
                          <a:pt x="3004" y="433069"/>
                        </a:lnTo>
                        <a:lnTo>
                          <a:pt x="11776" y="479542"/>
                        </a:lnTo>
                        <a:lnTo>
                          <a:pt x="25953" y="523868"/>
                        </a:lnTo>
                        <a:lnTo>
                          <a:pt x="45176" y="565687"/>
                        </a:lnTo>
                        <a:lnTo>
                          <a:pt x="69082" y="604636"/>
                        </a:lnTo>
                        <a:lnTo>
                          <a:pt x="97311" y="640356"/>
                        </a:lnTo>
                        <a:lnTo>
                          <a:pt x="129500" y="672484"/>
                        </a:lnTo>
                        <a:lnTo>
                          <a:pt x="165288" y="700660"/>
                        </a:lnTo>
                        <a:lnTo>
                          <a:pt x="204314" y="724522"/>
                        </a:lnTo>
                        <a:lnTo>
                          <a:pt x="246217" y="743711"/>
                        </a:lnTo>
                        <a:lnTo>
                          <a:pt x="290635" y="757864"/>
                        </a:lnTo>
                        <a:lnTo>
                          <a:pt x="337207" y="766620"/>
                        </a:lnTo>
                        <a:lnTo>
                          <a:pt x="385572" y="769620"/>
                        </a:lnTo>
                        <a:lnTo>
                          <a:pt x="433936" y="766620"/>
                        </a:lnTo>
                        <a:lnTo>
                          <a:pt x="480508" y="757864"/>
                        </a:lnTo>
                        <a:lnTo>
                          <a:pt x="524926" y="743711"/>
                        </a:lnTo>
                        <a:lnTo>
                          <a:pt x="566829" y="724522"/>
                        </a:lnTo>
                        <a:lnTo>
                          <a:pt x="605855" y="700660"/>
                        </a:lnTo>
                        <a:lnTo>
                          <a:pt x="641643" y="672484"/>
                        </a:lnTo>
                        <a:lnTo>
                          <a:pt x="673832" y="640356"/>
                        </a:lnTo>
                        <a:lnTo>
                          <a:pt x="702061" y="604636"/>
                        </a:lnTo>
                        <a:lnTo>
                          <a:pt x="725967" y="565687"/>
                        </a:lnTo>
                        <a:lnTo>
                          <a:pt x="745190" y="523868"/>
                        </a:lnTo>
                        <a:lnTo>
                          <a:pt x="759367" y="479542"/>
                        </a:lnTo>
                        <a:lnTo>
                          <a:pt x="768139" y="433069"/>
                        </a:lnTo>
                        <a:lnTo>
                          <a:pt x="771144" y="384810"/>
                        </a:lnTo>
                        <a:lnTo>
                          <a:pt x="768139" y="336550"/>
                        </a:lnTo>
                        <a:lnTo>
                          <a:pt x="759367" y="290077"/>
                        </a:lnTo>
                        <a:lnTo>
                          <a:pt x="745190" y="245751"/>
                        </a:lnTo>
                        <a:lnTo>
                          <a:pt x="725967" y="203932"/>
                        </a:lnTo>
                        <a:lnTo>
                          <a:pt x="702061" y="164983"/>
                        </a:lnTo>
                        <a:lnTo>
                          <a:pt x="673832" y="129263"/>
                        </a:lnTo>
                        <a:lnTo>
                          <a:pt x="641643" y="97135"/>
                        </a:lnTo>
                        <a:lnTo>
                          <a:pt x="605855" y="68959"/>
                        </a:lnTo>
                        <a:lnTo>
                          <a:pt x="566829" y="45097"/>
                        </a:lnTo>
                        <a:lnTo>
                          <a:pt x="524926" y="25908"/>
                        </a:lnTo>
                        <a:lnTo>
                          <a:pt x="480508" y="11755"/>
                        </a:lnTo>
                        <a:lnTo>
                          <a:pt x="433936" y="2999"/>
                        </a:lnTo>
                        <a:lnTo>
                          <a:pt x="385572" y="0"/>
                        </a:lnTo>
                        <a:close/>
                      </a:path>
                    </a:pathLst>
                  </a:custGeom>
                  <a:solidFill>
                    <a:srgbClr val="F36633">
                      <a:alpha val="69802"/>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grpSp>
          <p:sp>
            <p:nvSpPr>
              <p:cNvPr id="46" name="object 6">
                <a:extLst>
                  <a:ext uri="{FF2B5EF4-FFF2-40B4-BE49-F238E27FC236}">
                    <a16:creationId xmlns:a16="http://schemas.microsoft.com/office/drawing/2014/main" id="{2EB812F2-2D10-FC23-5298-A46D02724954}"/>
                  </a:ext>
                </a:extLst>
              </p:cNvPr>
              <p:cNvSpPr txBox="1">
                <a:spLocks/>
              </p:cNvSpPr>
              <p:nvPr/>
            </p:nvSpPr>
            <p:spPr>
              <a:xfrm>
                <a:off x="1655785" y="1443556"/>
                <a:ext cx="10183300" cy="1463040"/>
              </a:xfrm>
              <a:prstGeom prst="rect">
                <a:avLst/>
              </a:prstGeom>
              <a:solidFill>
                <a:srgbClr val="F36633"/>
              </a:solidFill>
              <a:ln w="6350">
                <a:solidFill>
                  <a:srgbClr val="F36633"/>
                </a:solidFill>
              </a:ln>
            </p:spPr>
            <p:txBody>
              <a:bodyPr vert="horz" wrap="square" lIns="182880" tIns="91440" rIns="91440" bIns="91440" rtlCol="0" anchor="ctr" anchorCtr="0">
                <a:noAutofit/>
              </a:bodyPr>
              <a:lstStyle/>
              <a:p>
                <a:pPr marL="0" marR="74295" lvl="0" indent="0" algn="l" defTabSz="914400" rtl="0" eaLnBrk="1" fontAlgn="auto" latinLnBrk="0" hangingPunct="1">
                  <a:lnSpc>
                    <a:spcPct val="100000"/>
                  </a:lnSpc>
                  <a:spcBef>
                    <a:spcPts val="0"/>
                  </a:spcBef>
                  <a:spcAft>
                    <a:spcPts val="600"/>
                  </a:spcAft>
                  <a:buClrTx/>
                  <a:buSzTx/>
                  <a:buFontTx/>
                  <a:buNone/>
                  <a:tabLst/>
                  <a:defRPr/>
                </a:pPr>
                <a:r>
                  <a:rPr kumimoji="0" sz="1600" b="0" i="0" u="none" strike="noStrike" kern="0" cap="none" spc="-10" normalizeH="0" baseline="0" noProof="0" dirty="0">
                    <a:ln>
                      <a:noFill/>
                    </a:ln>
                    <a:solidFill>
                      <a:srgbClr val="FFFFFF"/>
                    </a:solidFill>
                    <a:effectLst/>
                    <a:uLnTx/>
                    <a:uFillTx/>
                    <a:latin typeface="Arial"/>
                    <a:ea typeface="+mn-ea"/>
                    <a:cs typeface="Arial"/>
                  </a:rPr>
                  <a:t>COPD</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encompasses</a:t>
                </a:r>
                <a:r>
                  <a:rPr kumimoji="0" sz="1600" b="0" i="0" u="none" strike="noStrike" kern="0" cap="none" spc="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a</a:t>
                </a:r>
                <a:r>
                  <a:rPr kumimoji="0" sz="1600" b="0" i="0" u="none" strike="noStrike" kern="0" cap="none" spc="20" normalizeH="0" baseline="0" noProof="0" dirty="0">
                    <a:ln>
                      <a:noFill/>
                    </a:ln>
                    <a:solidFill>
                      <a:srgbClr val="FFFFFF"/>
                    </a:solidFill>
                    <a:effectLst/>
                    <a:uLnTx/>
                    <a:uFillTx/>
                    <a:latin typeface="Arial"/>
                    <a:ea typeface="+mn-ea"/>
                    <a:cs typeface="Arial"/>
                  </a:rPr>
                  <a:t> </a:t>
                </a:r>
                <a:r>
                  <a:rPr kumimoji="0" sz="1600" b="1" i="0" u="none" strike="noStrike" kern="0" cap="none" spc="-5" normalizeH="0" baseline="0" noProof="0" dirty="0">
                    <a:ln>
                      <a:noFill/>
                    </a:ln>
                    <a:solidFill>
                      <a:srgbClr val="FFFFFF"/>
                    </a:solidFill>
                    <a:effectLst/>
                    <a:uLnTx/>
                    <a:uFillTx/>
                    <a:latin typeface="Arial"/>
                    <a:ea typeface="+mn-ea"/>
                    <a:cs typeface="Arial"/>
                  </a:rPr>
                  <a:t>group</a:t>
                </a:r>
                <a:r>
                  <a:rPr kumimoji="0" sz="1600" b="1" i="0" u="none" strike="noStrike" kern="0" cap="none" spc="15" normalizeH="0" baseline="0" noProof="0" dirty="0">
                    <a:ln>
                      <a:noFill/>
                    </a:ln>
                    <a:solidFill>
                      <a:srgbClr val="FFFFFF"/>
                    </a:solidFill>
                    <a:effectLst/>
                    <a:uLnTx/>
                    <a:uFillTx/>
                    <a:latin typeface="Arial"/>
                    <a:ea typeface="+mn-ea"/>
                    <a:cs typeface="Arial"/>
                  </a:rPr>
                  <a:t> </a:t>
                </a:r>
                <a:r>
                  <a:rPr kumimoji="0" sz="1600" b="1" i="0" u="none" strike="noStrike" kern="0" cap="none" spc="-5" normalizeH="0" baseline="0" noProof="0" dirty="0">
                    <a:ln>
                      <a:noFill/>
                    </a:ln>
                    <a:solidFill>
                      <a:srgbClr val="FFFFFF"/>
                    </a:solidFill>
                    <a:effectLst/>
                    <a:uLnTx/>
                    <a:uFillTx/>
                    <a:latin typeface="Arial"/>
                    <a:ea typeface="+mn-ea"/>
                    <a:cs typeface="Arial"/>
                  </a:rPr>
                  <a:t>of</a:t>
                </a:r>
                <a:r>
                  <a:rPr kumimoji="0" sz="1600" b="1" i="0" u="none" strike="noStrike" kern="0" cap="none" spc="20" normalizeH="0" baseline="0" noProof="0" dirty="0">
                    <a:ln>
                      <a:noFill/>
                    </a:ln>
                    <a:solidFill>
                      <a:srgbClr val="FFFFFF"/>
                    </a:solidFill>
                    <a:effectLst/>
                    <a:uLnTx/>
                    <a:uFillTx/>
                    <a:latin typeface="Arial"/>
                    <a:ea typeface="+mn-ea"/>
                    <a:cs typeface="Arial"/>
                  </a:rPr>
                  <a:t> </a:t>
                </a:r>
                <a:r>
                  <a:rPr kumimoji="0" sz="1600" b="1" i="0" u="none" strike="noStrike" kern="0" cap="none" spc="-5" normalizeH="0" baseline="0" noProof="0" dirty="0">
                    <a:ln>
                      <a:noFill/>
                    </a:ln>
                    <a:solidFill>
                      <a:srgbClr val="FFFFFF"/>
                    </a:solidFill>
                    <a:effectLst/>
                    <a:uLnTx/>
                    <a:uFillTx/>
                    <a:latin typeface="Arial"/>
                    <a:ea typeface="+mn-ea"/>
                    <a:cs typeface="Arial"/>
                  </a:rPr>
                  <a:t>disorders</a:t>
                </a:r>
                <a:r>
                  <a:rPr kumimoji="0" sz="1600" b="1" i="0" u="none" strike="noStrike" kern="0" cap="none" spc="4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characterised</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by</a:t>
                </a:r>
                <a:r>
                  <a:rPr kumimoji="0" sz="1600" b="0" i="0" u="none"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the</a:t>
                </a:r>
                <a:r>
                  <a:rPr kumimoji="0" sz="1600" b="0" i="0" u="none" strike="noStrike" kern="0" cap="none" spc="2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presence</a:t>
                </a:r>
                <a:r>
                  <a:rPr kumimoji="0" lang="en-US" sz="1600" b="0" i="0" u="none"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of</a:t>
                </a:r>
                <a:r>
                  <a:rPr kumimoji="0" sz="1600" b="0" i="0" u="none" strike="noStrike" kern="0" cap="none" spc="20" normalizeH="0" baseline="0" noProof="0" dirty="0">
                    <a:ln>
                      <a:noFill/>
                    </a:ln>
                    <a:solidFill>
                      <a:srgbClr val="FFFFFF"/>
                    </a:solidFill>
                    <a:effectLst/>
                    <a:uLnTx/>
                    <a:uFillTx/>
                    <a:latin typeface="Arial"/>
                    <a:ea typeface="+mn-ea"/>
                    <a:cs typeface="Arial"/>
                  </a:rPr>
                  <a:t> </a:t>
                </a:r>
                <a:r>
                  <a:rPr kumimoji="0" sz="1600" b="0" i="0" u="sng" strike="noStrike" kern="0" cap="none" spc="-5" normalizeH="0" baseline="0" noProof="0" dirty="0">
                    <a:ln>
                      <a:noFill/>
                    </a:ln>
                    <a:solidFill>
                      <a:srgbClr val="FFFFFF"/>
                    </a:solidFill>
                    <a:effectLst/>
                    <a:uLnTx/>
                    <a:uFillTx/>
                    <a:latin typeface="Arial"/>
                    <a:ea typeface="+mn-ea"/>
                    <a:cs typeface="Arial"/>
                  </a:rPr>
                  <a:t>incompletely</a:t>
                </a:r>
                <a:r>
                  <a:rPr kumimoji="0" sz="1600" b="0" i="0" u="sng" strike="noStrike" kern="0" cap="none" spc="-15" normalizeH="0" baseline="0" noProof="0" dirty="0">
                    <a:ln>
                      <a:noFill/>
                    </a:ln>
                    <a:solidFill>
                      <a:srgbClr val="FFFFFF"/>
                    </a:solidFill>
                    <a:effectLst/>
                    <a:uLnTx/>
                    <a:uFillTx/>
                    <a:latin typeface="Arial"/>
                    <a:ea typeface="+mn-ea"/>
                    <a:cs typeface="Arial"/>
                  </a:rPr>
                  <a:t> </a:t>
                </a:r>
                <a:r>
                  <a:rPr kumimoji="0" sz="1600" b="0" i="0" u="sng" strike="noStrike" kern="0" cap="none" spc="-5" normalizeH="0" baseline="0" noProof="0" dirty="0">
                    <a:ln>
                      <a:noFill/>
                    </a:ln>
                    <a:solidFill>
                      <a:srgbClr val="FFFFFF"/>
                    </a:solidFill>
                    <a:effectLst/>
                    <a:uLnTx/>
                    <a:uFillTx/>
                    <a:latin typeface="Arial"/>
                    <a:ea typeface="+mn-ea"/>
                    <a:cs typeface="Arial"/>
                  </a:rPr>
                  <a:t>reversible</a:t>
                </a:r>
                <a:r>
                  <a:rPr kumimoji="0" sz="1600" b="0" i="0" u="sng"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airflow</a:t>
                </a:r>
                <a:r>
                  <a:rPr kumimoji="0" sz="1600" b="0" i="0" u="none" strike="noStrike" kern="0" cap="none" spc="1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obstruction</a:t>
                </a:r>
                <a:r>
                  <a:rPr kumimoji="0" sz="1600" b="0" i="0" u="none"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10" normalizeH="0" baseline="0" noProof="0" dirty="0">
                    <a:ln>
                      <a:noFill/>
                    </a:ln>
                    <a:solidFill>
                      <a:srgbClr val="FFFFFF"/>
                    </a:solidFill>
                    <a:effectLst/>
                    <a:uLnTx/>
                    <a:uFillTx/>
                    <a:latin typeface="Arial"/>
                    <a:ea typeface="+mn-ea"/>
                    <a:cs typeface="Arial"/>
                  </a:rPr>
                  <a:t>with</a:t>
                </a:r>
                <a:r>
                  <a:rPr kumimoji="0" sz="1600" b="0" i="0" u="none" strike="noStrike" kern="0" cap="none" spc="2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overlapping</a:t>
                </a:r>
                <a:r>
                  <a:rPr kumimoji="0" sz="1600" b="0" i="0" u="none" strike="noStrike" kern="0" cap="none" spc="-1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symptoms</a:t>
                </a:r>
                <a:r>
                  <a:rPr kumimoji="0" lang="en-US" sz="1600" b="0" i="0" u="none"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from</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different</a:t>
                </a:r>
                <a:r>
                  <a:rPr kumimoji="0" sz="1600" b="0" i="0" u="none" strike="noStrike" kern="0" cap="none" spc="2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disease</a:t>
                </a:r>
                <a:r>
                  <a:rPr kumimoji="0" sz="1600" b="0" i="0" u="none" strike="noStrike" kern="0" cap="none" spc="-2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entities, </a:t>
                </a:r>
                <a:r>
                  <a:rPr kumimoji="0" sz="1600" b="0" i="0" u="none" strike="noStrike" kern="0" cap="none" spc="0" normalizeH="0" baseline="0" noProof="0" dirty="0">
                    <a:ln>
                      <a:noFill/>
                    </a:ln>
                    <a:solidFill>
                      <a:srgbClr val="FFFFFF"/>
                    </a:solidFill>
                    <a:effectLst/>
                    <a:uLnTx/>
                    <a:uFillTx/>
                    <a:latin typeface="Arial"/>
                    <a:ea typeface="+mn-ea"/>
                    <a:cs typeface="Arial"/>
                  </a:rPr>
                  <a:t>including:</a:t>
                </a:r>
                <a:endParaRPr kumimoji="0" sz="1575" b="0" i="0" u="none" strike="noStrike" kern="0" cap="none" spc="0" normalizeH="0" baseline="26455" noProof="0" dirty="0">
                  <a:ln>
                    <a:noFill/>
                  </a:ln>
                  <a:solidFill>
                    <a:srgbClr val="F36633"/>
                  </a:solidFill>
                  <a:effectLst/>
                  <a:uLnTx/>
                  <a:uFillTx/>
                  <a:latin typeface="Arial"/>
                  <a:ea typeface="+mn-ea"/>
                  <a:cs typeface="Arial"/>
                </a:endParaRPr>
              </a:p>
              <a:p>
                <a:pPr marL="1143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868680" algn="l"/>
                  </a:tabLst>
                  <a:defRPr/>
                </a:pPr>
                <a:r>
                  <a:rPr kumimoji="0" sz="1600" b="0" i="0" u="none" strike="noStrike" kern="0" cap="none" spc="-5" normalizeH="0" baseline="0" noProof="0" dirty="0">
                    <a:ln>
                      <a:noFill/>
                    </a:ln>
                    <a:solidFill>
                      <a:srgbClr val="FFFFFF"/>
                    </a:solidFill>
                    <a:effectLst/>
                    <a:uLnTx/>
                    <a:uFillTx/>
                    <a:latin typeface="Arial"/>
                    <a:ea typeface="+mn-ea"/>
                    <a:cs typeface="Arial"/>
                  </a:rPr>
                  <a:t>chronic</a:t>
                </a:r>
                <a:r>
                  <a:rPr kumimoji="0" sz="1600" b="0" i="0" u="none" strike="noStrike" kern="0" cap="none" spc="-1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bronchitis</a:t>
                </a:r>
                <a:endParaRPr kumimoji="0" sz="1600" b="0" i="0" u="none" strike="noStrike" kern="0" cap="none" spc="0" normalizeH="0" baseline="0" noProof="0" dirty="0">
                  <a:ln>
                    <a:noFill/>
                  </a:ln>
                  <a:solidFill>
                    <a:srgbClr val="F36633"/>
                  </a:solidFill>
                  <a:effectLst/>
                  <a:uLnTx/>
                  <a:uFillTx/>
                  <a:latin typeface="Arial"/>
                  <a:ea typeface="+mn-ea"/>
                  <a:cs typeface="Arial"/>
                </a:endParaRPr>
              </a:p>
              <a:p>
                <a:pPr marL="1143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tab pos="868680" algn="l"/>
                  </a:tabLst>
                  <a:defRPr/>
                </a:pPr>
                <a:r>
                  <a:rPr kumimoji="0" sz="1600" b="0" i="0" u="none" strike="noStrike" kern="0" cap="none" spc="-5" normalizeH="0" baseline="0" noProof="0" dirty="0">
                    <a:ln>
                      <a:noFill/>
                    </a:ln>
                    <a:solidFill>
                      <a:srgbClr val="FFFFFF"/>
                    </a:solidFill>
                    <a:effectLst/>
                    <a:uLnTx/>
                    <a:uFillTx/>
                    <a:latin typeface="Arial"/>
                    <a:ea typeface="+mn-ea"/>
                    <a:cs typeface="Arial"/>
                  </a:rPr>
                  <a:t>emphysema</a:t>
                </a:r>
                <a:endParaRPr kumimoji="0" sz="1600" b="0" i="0" u="none" strike="noStrike" kern="0" cap="none" spc="0" normalizeH="0" baseline="0" noProof="0" dirty="0">
                  <a:ln>
                    <a:noFill/>
                  </a:ln>
                  <a:solidFill>
                    <a:srgbClr val="F36633"/>
                  </a:solidFill>
                  <a:effectLst/>
                  <a:uLnTx/>
                  <a:uFillTx/>
                  <a:latin typeface="Arial"/>
                  <a:ea typeface="+mn-ea"/>
                  <a:cs typeface="Arial"/>
                </a:endParaRPr>
              </a:p>
            </p:txBody>
          </p:sp>
        </p:grpSp>
        <p:grpSp>
          <p:nvGrpSpPr>
            <p:cNvPr id="23" name="Group 22">
              <a:extLst>
                <a:ext uri="{FF2B5EF4-FFF2-40B4-BE49-F238E27FC236}">
                  <a16:creationId xmlns:a16="http://schemas.microsoft.com/office/drawing/2014/main" id="{29312E03-E3E4-3451-86C1-84758C637AB6}"/>
                </a:ext>
              </a:extLst>
            </p:cNvPr>
            <p:cNvGrpSpPr/>
            <p:nvPr/>
          </p:nvGrpSpPr>
          <p:grpSpPr>
            <a:xfrm>
              <a:off x="366226" y="4312676"/>
              <a:ext cx="11466509" cy="1188720"/>
              <a:chOff x="366226" y="4312676"/>
              <a:chExt cx="11466509" cy="1188720"/>
            </a:xfrm>
          </p:grpSpPr>
          <p:grpSp>
            <p:nvGrpSpPr>
              <p:cNvPr id="43" name="Group 42">
                <a:extLst>
                  <a:ext uri="{FF2B5EF4-FFF2-40B4-BE49-F238E27FC236}">
                    <a16:creationId xmlns:a16="http://schemas.microsoft.com/office/drawing/2014/main" id="{E3A35F90-CE23-E417-9553-22148911B4FB}"/>
                  </a:ext>
                </a:extLst>
              </p:cNvPr>
              <p:cNvGrpSpPr/>
              <p:nvPr/>
            </p:nvGrpSpPr>
            <p:grpSpPr>
              <a:xfrm>
                <a:off x="366226" y="4312676"/>
                <a:ext cx="1283335" cy="1188720"/>
                <a:chOff x="342096" y="4312676"/>
                <a:chExt cx="1283335" cy="1188720"/>
              </a:xfrm>
            </p:grpSpPr>
            <p:sp>
              <p:nvSpPr>
                <p:cNvPr id="44" name="object 16">
                  <a:extLst>
                    <a:ext uri="{FF2B5EF4-FFF2-40B4-BE49-F238E27FC236}">
                      <a16:creationId xmlns:a16="http://schemas.microsoft.com/office/drawing/2014/main" id="{1932BE29-148C-9B37-1324-072A7A5869B9}"/>
                    </a:ext>
                  </a:extLst>
                </p:cNvPr>
                <p:cNvSpPr/>
                <p:nvPr/>
              </p:nvSpPr>
              <p:spPr>
                <a:xfrm>
                  <a:off x="342096" y="4312676"/>
                  <a:ext cx="1283335" cy="1188720"/>
                </a:xfrm>
                <a:custGeom>
                  <a:avLst/>
                  <a:gdLst/>
                  <a:ahLst/>
                  <a:cxnLst/>
                  <a:rect l="l" t="t" r="r" b="b"/>
                  <a:pathLst>
                    <a:path w="1283335" h="1188720">
                      <a:moveTo>
                        <a:pt x="0" y="1188720"/>
                      </a:moveTo>
                      <a:lnTo>
                        <a:pt x="1283208" y="1188720"/>
                      </a:lnTo>
                      <a:lnTo>
                        <a:pt x="1283208" y="0"/>
                      </a:lnTo>
                      <a:lnTo>
                        <a:pt x="0" y="0"/>
                      </a:lnTo>
                      <a:lnTo>
                        <a:pt x="0" y="1188720"/>
                      </a:lnTo>
                      <a:close/>
                    </a:path>
                  </a:pathLst>
                </a:custGeom>
                <a:ln w="6350">
                  <a:solidFill>
                    <a:schemeClr val="accent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45" name="object 17">
                  <a:extLst>
                    <a:ext uri="{FF2B5EF4-FFF2-40B4-BE49-F238E27FC236}">
                      <a16:creationId xmlns:a16="http://schemas.microsoft.com/office/drawing/2014/main" id="{23EE47AA-91E3-9AE2-CA69-6AA2D7F9394E}"/>
                    </a:ext>
                  </a:extLst>
                </p:cNvPr>
                <p:cNvSpPr/>
                <p:nvPr/>
              </p:nvSpPr>
              <p:spPr>
                <a:xfrm>
                  <a:off x="482748" y="4410784"/>
                  <a:ext cx="1002030" cy="992505"/>
                </a:xfrm>
                <a:custGeom>
                  <a:avLst/>
                  <a:gdLst/>
                  <a:ahLst/>
                  <a:cxnLst/>
                  <a:rect l="l" t="t" r="r" b="b"/>
                  <a:pathLst>
                    <a:path w="1002030" h="992504">
                      <a:moveTo>
                        <a:pt x="530239" y="0"/>
                      </a:moveTo>
                      <a:lnTo>
                        <a:pt x="457621" y="0"/>
                      </a:lnTo>
                      <a:lnTo>
                        <a:pt x="453087" y="4699"/>
                      </a:lnTo>
                      <a:lnTo>
                        <a:pt x="453087" y="365506"/>
                      </a:lnTo>
                      <a:lnTo>
                        <a:pt x="398629" y="413004"/>
                      </a:lnTo>
                      <a:lnTo>
                        <a:pt x="398629" y="403479"/>
                      </a:lnTo>
                      <a:lnTo>
                        <a:pt x="394095" y="393954"/>
                      </a:lnTo>
                      <a:lnTo>
                        <a:pt x="394095" y="389255"/>
                      </a:lnTo>
                      <a:lnTo>
                        <a:pt x="387357" y="346914"/>
                      </a:lnTo>
                      <a:lnTo>
                        <a:pt x="377643" y="303228"/>
                      </a:lnTo>
                      <a:lnTo>
                        <a:pt x="360270" y="265757"/>
                      </a:lnTo>
                      <a:lnTo>
                        <a:pt x="294248" y="237363"/>
                      </a:lnTo>
                      <a:lnTo>
                        <a:pt x="244161" y="244851"/>
                      </a:lnTo>
                      <a:lnTo>
                        <a:pt x="202141" y="265651"/>
                      </a:lnTo>
                      <a:lnTo>
                        <a:pt x="167181" y="297259"/>
                      </a:lnTo>
                      <a:lnTo>
                        <a:pt x="138273" y="337175"/>
                      </a:lnTo>
                      <a:lnTo>
                        <a:pt x="114408" y="382898"/>
                      </a:lnTo>
                      <a:lnTo>
                        <a:pt x="94579" y="431927"/>
                      </a:lnTo>
                      <a:lnTo>
                        <a:pt x="77167" y="478762"/>
                      </a:lnTo>
                      <a:lnTo>
                        <a:pt x="60311" y="525763"/>
                      </a:lnTo>
                      <a:lnTo>
                        <a:pt x="44566" y="573092"/>
                      </a:lnTo>
                      <a:lnTo>
                        <a:pt x="30488" y="620914"/>
                      </a:lnTo>
                      <a:lnTo>
                        <a:pt x="18633" y="669394"/>
                      </a:lnTo>
                      <a:lnTo>
                        <a:pt x="9555" y="718696"/>
                      </a:lnTo>
                      <a:lnTo>
                        <a:pt x="3812" y="768985"/>
                      </a:lnTo>
                      <a:lnTo>
                        <a:pt x="556" y="814255"/>
                      </a:lnTo>
                      <a:lnTo>
                        <a:pt x="0" y="858931"/>
                      </a:lnTo>
                      <a:lnTo>
                        <a:pt x="4286" y="900689"/>
                      </a:lnTo>
                      <a:lnTo>
                        <a:pt x="15559" y="937210"/>
                      </a:lnTo>
                      <a:lnTo>
                        <a:pt x="35962" y="966170"/>
                      </a:lnTo>
                      <a:lnTo>
                        <a:pt x="67637" y="985248"/>
                      </a:lnTo>
                      <a:lnTo>
                        <a:pt x="112727" y="992124"/>
                      </a:lnTo>
                      <a:lnTo>
                        <a:pt x="161484" y="983884"/>
                      </a:lnTo>
                      <a:lnTo>
                        <a:pt x="205450" y="962660"/>
                      </a:lnTo>
                      <a:lnTo>
                        <a:pt x="246367" y="933693"/>
                      </a:lnTo>
                      <a:lnTo>
                        <a:pt x="285978" y="902228"/>
                      </a:lnTo>
                      <a:lnTo>
                        <a:pt x="326023" y="873506"/>
                      </a:lnTo>
                      <a:lnTo>
                        <a:pt x="358781" y="850328"/>
                      </a:lnTo>
                      <a:lnTo>
                        <a:pt x="408984" y="798639"/>
                      </a:lnTo>
                      <a:lnTo>
                        <a:pt x="421324" y="759460"/>
                      </a:lnTo>
                      <a:lnTo>
                        <a:pt x="425079" y="711753"/>
                      </a:lnTo>
                      <a:lnTo>
                        <a:pt x="424156" y="662225"/>
                      </a:lnTo>
                      <a:lnTo>
                        <a:pt x="420681" y="612673"/>
                      </a:lnTo>
                      <a:lnTo>
                        <a:pt x="416778" y="564896"/>
                      </a:lnTo>
                      <a:lnTo>
                        <a:pt x="416707" y="547838"/>
                      </a:lnTo>
                      <a:lnTo>
                        <a:pt x="416211" y="531685"/>
                      </a:lnTo>
                      <a:lnTo>
                        <a:pt x="414865" y="515532"/>
                      </a:lnTo>
                      <a:lnTo>
                        <a:pt x="412244" y="498475"/>
                      </a:lnTo>
                      <a:lnTo>
                        <a:pt x="493930" y="436753"/>
                      </a:lnTo>
                      <a:lnTo>
                        <a:pt x="584697" y="507873"/>
                      </a:lnTo>
                      <a:lnTo>
                        <a:pt x="584697" y="564896"/>
                      </a:lnTo>
                      <a:lnTo>
                        <a:pt x="580793" y="612673"/>
                      </a:lnTo>
                      <a:lnTo>
                        <a:pt x="577318" y="662225"/>
                      </a:lnTo>
                      <a:lnTo>
                        <a:pt x="576396" y="711753"/>
                      </a:lnTo>
                      <a:lnTo>
                        <a:pt x="580150" y="759460"/>
                      </a:lnTo>
                      <a:lnTo>
                        <a:pt x="592491" y="798639"/>
                      </a:lnTo>
                      <a:lnTo>
                        <a:pt x="642694" y="850328"/>
                      </a:lnTo>
                      <a:lnTo>
                        <a:pt x="675451" y="873506"/>
                      </a:lnTo>
                      <a:lnTo>
                        <a:pt x="715496" y="902228"/>
                      </a:lnTo>
                      <a:lnTo>
                        <a:pt x="755106" y="933693"/>
                      </a:lnTo>
                      <a:lnTo>
                        <a:pt x="796020" y="962660"/>
                      </a:lnTo>
                      <a:lnTo>
                        <a:pt x="839978" y="983884"/>
                      </a:lnTo>
                      <a:lnTo>
                        <a:pt x="888722" y="992124"/>
                      </a:lnTo>
                      <a:lnTo>
                        <a:pt x="933820" y="985248"/>
                      </a:lnTo>
                      <a:lnTo>
                        <a:pt x="965498" y="966170"/>
                      </a:lnTo>
                      <a:lnTo>
                        <a:pt x="985901" y="937210"/>
                      </a:lnTo>
                      <a:lnTo>
                        <a:pt x="997175" y="900689"/>
                      </a:lnTo>
                      <a:lnTo>
                        <a:pt x="1001467" y="858931"/>
                      </a:lnTo>
                      <a:lnTo>
                        <a:pt x="1000923" y="814255"/>
                      </a:lnTo>
                      <a:lnTo>
                        <a:pt x="997688" y="768985"/>
                      </a:lnTo>
                      <a:lnTo>
                        <a:pt x="991925" y="718696"/>
                      </a:lnTo>
                      <a:lnTo>
                        <a:pt x="982841" y="669394"/>
                      </a:lnTo>
                      <a:lnTo>
                        <a:pt x="970986" y="620914"/>
                      </a:lnTo>
                      <a:lnTo>
                        <a:pt x="956912" y="573092"/>
                      </a:lnTo>
                      <a:lnTo>
                        <a:pt x="941170" y="525763"/>
                      </a:lnTo>
                      <a:lnTo>
                        <a:pt x="924310" y="478762"/>
                      </a:lnTo>
                      <a:lnTo>
                        <a:pt x="906883" y="431927"/>
                      </a:lnTo>
                      <a:lnTo>
                        <a:pt x="887041" y="382898"/>
                      </a:lnTo>
                      <a:lnTo>
                        <a:pt x="863167" y="337175"/>
                      </a:lnTo>
                      <a:lnTo>
                        <a:pt x="834254" y="297259"/>
                      </a:lnTo>
                      <a:lnTo>
                        <a:pt x="799297" y="265651"/>
                      </a:lnTo>
                      <a:lnTo>
                        <a:pt x="757289" y="244851"/>
                      </a:lnTo>
                      <a:lnTo>
                        <a:pt x="707227" y="237363"/>
                      </a:lnTo>
                      <a:lnTo>
                        <a:pt x="670917" y="242062"/>
                      </a:lnTo>
                      <a:lnTo>
                        <a:pt x="641205" y="265757"/>
                      </a:lnTo>
                      <a:lnTo>
                        <a:pt x="623832" y="303228"/>
                      </a:lnTo>
                      <a:lnTo>
                        <a:pt x="614117" y="346914"/>
                      </a:lnTo>
                      <a:lnTo>
                        <a:pt x="607379" y="389255"/>
                      </a:lnTo>
                      <a:lnTo>
                        <a:pt x="604758" y="396396"/>
                      </a:lnTo>
                      <a:lnTo>
                        <a:pt x="603412" y="403526"/>
                      </a:lnTo>
                      <a:lnTo>
                        <a:pt x="602916" y="410632"/>
                      </a:lnTo>
                      <a:lnTo>
                        <a:pt x="602845" y="417703"/>
                      </a:lnTo>
                      <a:lnTo>
                        <a:pt x="534773" y="365506"/>
                      </a:lnTo>
                      <a:lnTo>
                        <a:pt x="534773" y="4699"/>
                      </a:lnTo>
                      <a:lnTo>
                        <a:pt x="530239" y="0"/>
                      </a:lnTo>
                      <a:close/>
                    </a:path>
                  </a:pathLst>
                </a:custGeom>
                <a:solidFill>
                  <a:schemeClr val="accent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42" name="object 14">
                <a:extLst>
                  <a:ext uri="{FF2B5EF4-FFF2-40B4-BE49-F238E27FC236}">
                    <a16:creationId xmlns:a16="http://schemas.microsoft.com/office/drawing/2014/main" id="{6DE46EC5-C3DF-B020-0F40-EE4B276EC683}"/>
                  </a:ext>
                </a:extLst>
              </p:cNvPr>
              <p:cNvSpPr txBox="1">
                <a:spLocks/>
              </p:cNvSpPr>
              <p:nvPr/>
            </p:nvSpPr>
            <p:spPr>
              <a:xfrm>
                <a:off x="1649435" y="4312676"/>
                <a:ext cx="10183300" cy="1188720"/>
              </a:xfrm>
              <a:prstGeom prst="rect">
                <a:avLst/>
              </a:prstGeom>
              <a:solidFill>
                <a:schemeClr val="accent2"/>
              </a:solidFill>
              <a:ln w="6350">
                <a:noFill/>
              </a:ln>
            </p:spPr>
            <p:txBody>
              <a:bodyPr vert="horz" wrap="square" lIns="182880" tIns="91440" rIns="91440" bIns="91440" rtlCol="0" anchor="ctr" anchorCtr="0">
                <a:noAutofit/>
              </a:bodyPr>
              <a:lstStyle/>
              <a:p>
                <a:pPr marL="0" marR="687705" lvl="0" indent="0" algn="l" defTabSz="914400" rtl="0" eaLnBrk="1" fontAlgn="auto" latinLnBrk="0" hangingPunct="1">
                  <a:lnSpc>
                    <a:spcPct val="100000"/>
                  </a:lnSpc>
                  <a:spcBef>
                    <a:spcPts val="0"/>
                  </a:spcBef>
                  <a:spcAft>
                    <a:spcPts val="600"/>
                  </a:spcAft>
                  <a:buClrTx/>
                  <a:buSzTx/>
                  <a:buFontTx/>
                  <a:buNone/>
                  <a:tabLst/>
                  <a:defRPr/>
                </a:pPr>
                <a:r>
                  <a:rPr kumimoji="0" sz="1600" b="0" i="0" u="none" strike="noStrike" kern="0" cap="none" spc="-10" normalizeH="0" baseline="0" noProof="0" dirty="0">
                    <a:ln>
                      <a:noFill/>
                    </a:ln>
                    <a:solidFill>
                      <a:srgbClr val="FFFFFF"/>
                    </a:solidFill>
                    <a:effectLst/>
                    <a:uLnTx/>
                    <a:uFillTx/>
                    <a:latin typeface="Arial"/>
                    <a:ea typeface="+mn-ea"/>
                    <a:cs typeface="Arial"/>
                  </a:rPr>
                  <a:t>COPD</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is regarded</a:t>
                </a:r>
                <a:r>
                  <a:rPr kumimoji="0" sz="1600" b="0" i="0" u="none" strike="noStrike" kern="0" cap="none" spc="2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as</a:t>
                </a:r>
                <a:r>
                  <a:rPr kumimoji="0" sz="1600" b="0" i="0" u="none" strike="noStrike" kern="0" cap="none" spc="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a</a:t>
                </a:r>
                <a:r>
                  <a:rPr kumimoji="0" sz="1600" b="0" i="0" u="none" strike="noStrike" kern="0" cap="none" spc="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heterogeneous</a:t>
                </a:r>
                <a:r>
                  <a:rPr kumimoji="0" sz="1600" b="0" i="0" u="none" strike="noStrike" kern="0" cap="none" spc="30"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disease</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sz="1600" b="0" i="0" u="none" strike="noStrike" kern="0" cap="none" spc="-5" normalizeH="0" baseline="0" noProof="0" dirty="0">
                    <a:ln>
                      <a:noFill/>
                    </a:ln>
                    <a:solidFill>
                      <a:srgbClr val="FFFFFF"/>
                    </a:solidFill>
                    <a:effectLst/>
                    <a:uLnTx/>
                    <a:uFillTx/>
                    <a:latin typeface="Arial"/>
                    <a:ea typeface="+mn-ea"/>
                    <a:cs typeface="Arial"/>
                  </a:rPr>
                  <a:t>both</a:t>
                </a:r>
                <a:r>
                  <a:rPr kumimoji="0" sz="1600" b="0" i="0" u="none" strike="noStrike" kern="0" cap="none" spc="15" normalizeH="0" baseline="0" noProof="0" dirty="0">
                    <a:ln>
                      <a:noFill/>
                    </a:ln>
                    <a:solidFill>
                      <a:srgbClr val="FFFFFF"/>
                    </a:solidFill>
                    <a:effectLst/>
                    <a:uLnTx/>
                    <a:uFillTx/>
                    <a:latin typeface="Arial"/>
                    <a:ea typeface="+mn-ea"/>
                    <a:cs typeface="Arial"/>
                  </a:rPr>
                  <a:t> </a:t>
                </a:r>
                <a:r>
                  <a:rPr kumimoji="0" lang="en-US" sz="1600" b="0" i="0" u="none" strike="noStrike" kern="0" cap="none" spc="15" normalizeH="0" baseline="0" noProof="0" dirty="0">
                    <a:ln>
                      <a:noFill/>
                    </a:ln>
                    <a:solidFill>
                      <a:srgbClr val="FFFFFF"/>
                    </a:solidFill>
                    <a:effectLst/>
                    <a:uLnTx/>
                    <a:uFillTx/>
                    <a:latin typeface="Arial"/>
                    <a:ea typeface="+mn-ea"/>
                    <a:cs typeface="Arial"/>
                  </a:rPr>
                  <a:t>histologically </a:t>
                </a:r>
                <a:r>
                  <a:rPr kumimoji="0" sz="1600" b="0" i="0" u="none" strike="noStrike" kern="0" cap="none" spc="-5" normalizeH="0" baseline="0" noProof="0" dirty="0">
                    <a:ln>
                      <a:noFill/>
                    </a:ln>
                    <a:solidFill>
                      <a:srgbClr val="FFFFFF"/>
                    </a:solidFill>
                    <a:effectLst/>
                    <a:uLnTx/>
                    <a:uFillTx/>
                    <a:latin typeface="Arial"/>
                    <a:ea typeface="+mn-ea"/>
                    <a:cs typeface="Arial"/>
                  </a:rPr>
                  <a:t>and </a:t>
                </a:r>
                <a:r>
                  <a:rPr kumimoji="0" lang="en-US" sz="1600" b="0" i="0" u="none" strike="noStrike" kern="0" cap="none" spc="-5" normalizeH="0" baseline="0" noProof="0" dirty="0">
                    <a:ln>
                      <a:noFill/>
                    </a:ln>
                    <a:solidFill>
                      <a:srgbClr val="FFFFFF"/>
                    </a:solidFill>
                    <a:effectLst/>
                    <a:uLnTx/>
                    <a:uFillTx/>
                    <a:latin typeface="Arial"/>
                    <a:ea typeface="+mn-ea"/>
                    <a:cs typeface="Arial"/>
                  </a:rPr>
                  <a:t>pathogenically</a:t>
                </a:r>
                <a:endParaRPr kumimoji="0" sz="1575" b="0" i="0" u="none" strike="noStrike" kern="0" cap="none" spc="0" normalizeH="0" baseline="26455" noProof="0" dirty="0">
                  <a:ln>
                    <a:noFill/>
                  </a:ln>
                  <a:solidFill>
                    <a:srgbClr val="F36633"/>
                  </a:solidFill>
                  <a:effectLst/>
                  <a:uLnTx/>
                  <a:uFillTx/>
                  <a:latin typeface="Arial"/>
                  <a:ea typeface="+mn-ea"/>
                  <a:cs typeface="Arial"/>
                </a:endParaRPr>
              </a:p>
            </p:txBody>
          </p:sp>
        </p:grpSp>
        <p:grpSp>
          <p:nvGrpSpPr>
            <p:cNvPr id="22" name="Group 21">
              <a:extLst>
                <a:ext uri="{FF2B5EF4-FFF2-40B4-BE49-F238E27FC236}">
                  <a16:creationId xmlns:a16="http://schemas.microsoft.com/office/drawing/2014/main" id="{EBE94BA6-70C6-8E48-3576-CC9698FB315C}"/>
                </a:ext>
              </a:extLst>
            </p:cNvPr>
            <p:cNvGrpSpPr/>
            <p:nvPr/>
          </p:nvGrpSpPr>
          <p:grpSpPr>
            <a:xfrm>
              <a:off x="366226" y="3010236"/>
              <a:ext cx="11466509" cy="1198800"/>
              <a:chOff x="372576" y="3008926"/>
              <a:chExt cx="11466509" cy="1198800"/>
            </a:xfrm>
          </p:grpSpPr>
          <p:sp>
            <p:nvSpPr>
              <p:cNvPr id="38" name="object 19">
                <a:extLst>
                  <a:ext uri="{FF2B5EF4-FFF2-40B4-BE49-F238E27FC236}">
                    <a16:creationId xmlns:a16="http://schemas.microsoft.com/office/drawing/2014/main" id="{4A895716-81F6-65E7-701A-C380E034EEC1}"/>
                  </a:ext>
                </a:extLst>
              </p:cNvPr>
              <p:cNvSpPr txBox="1">
                <a:spLocks/>
              </p:cNvSpPr>
              <p:nvPr/>
            </p:nvSpPr>
            <p:spPr>
              <a:xfrm>
                <a:off x="1655785" y="3008926"/>
                <a:ext cx="10183300" cy="1198800"/>
              </a:xfrm>
              <a:prstGeom prst="rect">
                <a:avLst/>
              </a:prstGeom>
              <a:solidFill>
                <a:schemeClr val="accent1"/>
              </a:solidFill>
              <a:ln>
                <a:noFill/>
              </a:ln>
            </p:spPr>
            <p:txBody>
              <a:bodyPr vert="horz" wrap="square" lIns="182880" tIns="91440" rIns="91440" bIns="91440" rtlCol="0" anchor="ctr" anchorCtr="0">
                <a:noAutofit/>
              </a:bodyPr>
              <a:lstStyle/>
              <a:p>
                <a:pPr marL="0" marR="84455" lvl="0" indent="0" algn="l" defTabSz="914400" rtl="0" eaLnBrk="1" fontAlgn="auto" latinLnBrk="0" hangingPunct="1">
                  <a:lnSpc>
                    <a:spcPct val="100000"/>
                  </a:lnSpc>
                  <a:spcBef>
                    <a:spcPts val="0"/>
                  </a:spcBef>
                  <a:spcAft>
                    <a:spcPts val="600"/>
                  </a:spcAft>
                  <a:buClrTx/>
                  <a:buSzTx/>
                  <a:buFontTx/>
                  <a:buNone/>
                  <a:tabLst/>
                  <a:defRPr/>
                </a:pPr>
                <a:r>
                  <a:rPr kumimoji="0" lang="en-US" sz="1600" b="0" i="0" u="none" strike="noStrike" kern="0" cap="none" spc="-5" normalizeH="0" baseline="0" noProof="0" dirty="0">
                    <a:ln>
                      <a:noFill/>
                    </a:ln>
                    <a:solidFill>
                      <a:srgbClr val="FFFFFF"/>
                    </a:solidFill>
                    <a:effectLst/>
                    <a:uLnTx/>
                    <a:uFillTx/>
                    <a:latin typeface="Arial"/>
                    <a:ea typeface="+mn-ea"/>
                    <a:cs typeface="Arial"/>
                  </a:rPr>
                  <a:t>COPD is a </a:t>
                </a:r>
                <a:r>
                  <a:rPr kumimoji="0" lang="en-US" sz="1600" b="0" i="0" u="sng" strike="noStrike" kern="0" cap="none" spc="-5" normalizeH="0" baseline="0" noProof="0" dirty="0">
                    <a:ln>
                      <a:noFill/>
                    </a:ln>
                    <a:solidFill>
                      <a:srgbClr val="FFFFFF"/>
                    </a:solidFill>
                    <a:effectLst/>
                    <a:uLnTx/>
                    <a:uFillTx/>
                    <a:latin typeface="Arial"/>
                    <a:ea typeface="+mn-ea"/>
                    <a:cs typeface="Arial"/>
                  </a:rPr>
                  <a:t>complex disease </a:t>
                </a:r>
                <a:r>
                  <a:rPr kumimoji="0" lang="en-US" sz="1600" b="0" i="0" u="none" strike="noStrike" kern="0" cap="none" spc="-5" normalizeH="0" baseline="0" noProof="0" dirty="0">
                    <a:ln>
                      <a:noFill/>
                    </a:ln>
                    <a:solidFill>
                      <a:srgbClr val="FFFFFF"/>
                    </a:solidFill>
                    <a:effectLst/>
                    <a:uLnTx/>
                    <a:uFillTx/>
                    <a:latin typeface="Arial"/>
                    <a:ea typeface="+mn-ea"/>
                    <a:cs typeface="Arial"/>
                  </a:rPr>
                  <a:t>because: 1) Quantitative measures like dynamic hyperinflation, exercise performance, activity levels and other comorbidities also need to be taken into consideration 2) Disease progression can only be assessed through lung diagnostic tests like spirometry and CT scan</a:t>
                </a:r>
                <a:endParaRPr kumimoji="0" sz="1575" b="0" i="0" u="none" strike="noStrike" kern="0" cap="none" spc="0" normalizeH="0" baseline="26455" noProof="0" dirty="0">
                  <a:ln>
                    <a:noFill/>
                  </a:ln>
                  <a:solidFill>
                    <a:srgbClr val="F36633"/>
                  </a:solidFill>
                  <a:effectLst/>
                  <a:uLnTx/>
                  <a:uFillTx/>
                  <a:latin typeface="Arial"/>
                  <a:ea typeface="+mn-ea"/>
                  <a:cs typeface="Arial"/>
                </a:endParaRPr>
              </a:p>
            </p:txBody>
          </p:sp>
          <p:grpSp>
            <p:nvGrpSpPr>
              <p:cNvPr id="39" name="Group 38">
                <a:extLst>
                  <a:ext uri="{FF2B5EF4-FFF2-40B4-BE49-F238E27FC236}">
                    <a16:creationId xmlns:a16="http://schemas.microsoft.com/office/drawing/2014/main" id="{E33B3290-ED5E-2AD6-A70F-EBF548394335}"/>
                  </a:ext>
                </a:extLst>
              </p:cNvPr>
              <p:cNvGrpSpPr/>
              <p:nvPr/>
            </p:nvGrpSpPr>
            <p:grpSpPr>
              <a:xfrm>
                <a:off x="372576" y="3013966"/>
                <a:ext cx="1283335" cy="1188720"/>
                <a:chOff x="342096" y="3013649"/>
                <a:chExt cx="1283335" cy="1188720"/>
              </a:xfrm>
            </p:grpSpPr>
            <p:sp>
              <p:nvSpPr>
                <p:cNvPr id="40" name="object 21">
                  <a:extLst>
                    <a:ext uri="{FF2B5EF4-FFF2-40B4-BE49-F238E27FC236}">
                      <a16:creationId xmlns:a16="http://schemas.microsoft.com/office/drawing/2014/main" id="{52E3B897-562C-C48B-4CFB-C4951D09C544}"/>
                    </a:ext>
                  </a:extLst>
                </p:cNvPr>
                <p:cNvSpPr/>
                <p:nvPr/>
              </p:nvSpPr>
              <p:spPr>
                <a:xfrm>
                  <a:off x="342096" y="3013649"/>
                  <a:ext cx="1283335" cy="1188720"/>
                </a:xfrm>
                <a:custGeom>
                  <a:avLst/>
                  <a:gdLst/>
                  <a:ahLst/>
                  <a:cxnLst/>
                  <a:rect l="l" t="t" r="r" b="b"/>
                  <a:pathLst>
                    <a:path w="1283335" h="1188720">
                      <a:moveTo>
                        <a:pt x="0" y="1188720"/>
                      </a:moveTo>
                      <a:lnTo>
                        <a:pt x="1283208" y="1188720"/>
                      </a:lnTo>
                      <a:lnTo>
                        <a:pt x="1283208" y="0"/>
                      </a:lnTo>
                      <a:lnTo>
                        <a:pt x="0" y="0"/>
                      </a:lnTo>
                      <a:lnTo>
                        <a:pt x="0" y="1188720"/>
                      </a:lnTo>
                      <a:close/>
                    </a:path>
                  </a:pathLst>
                </a:custGeom>
                <a:ln w="6350">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41" name="Freeform 5">
                  <a:extLst>
                    <a:ext uri="{FF2B5EF4-FFF2-40B4-BE49-F238E27FC236}">
                      <a16:creationId xmlns:a16="http://schemas.microsoft.com/office/drawing/2014/main" id="{9B3951AA-0DD3-8C2C-5C42-DF1D3C05866A}"/>
                    </a:ext>
                  </a:extLst>
                </p:cNvPr>
                <p:cNvSpPr>
                  <a:spLocks noEditPoints="1"/>
                </p:cNvSpPr>
                <p:nvPr/>
              </p:nvSpPr>
              <p:spPr bwMode="auto">
                <a:xfrm>
                  <a:off x="433694" y="3056075"/>
                  <a:ext cx="1100138" cy="1106488"/>
                </a:xfrm>
                <a:custGeom>
                  <a:avLst/>
                  <a:gdLst>
                    <a:gd name="T0" fmla="*/ 733 w 1432"/>
                    <a:gd name="T1" fmla="*/ 1448 h 1448"/>
                    <a:gd name="T2" fmla="*/ 706 w 1432"/>
                    <a:gd name="T3" fmla="*/ 1221 h 1448"/>
                    <a:gd name="T4" fmla="*/ 549 w 1432"/>
                    <a:gd name="T5" fmla="*/ 1170 h 1448"/>
                    <a:gd name="T6" fmla="*/ 437 w 1432"/>
                    <a:gd name="T7" fmla="*/ 1084 h 1448"/>
                    <a:gd name="T8" fmla="*/ 440 w 1432"/>
                    <a:gd name="T9" fmla="*/ 989 h 1448"/>
                    <a:gd name="T10" fmla="*/ 437 w 1432"/>
                    <a:gd name="T11" fmla="*/ 908 h 1448"/>
                    <a:gd name="T12" fmla="*/ 376 w 1432"/>
                    <a:gd name="T13" fmla="*/ 806 h 1448"/>
                    <a:gd name="T14" fmla="*/ 372 w 1432"/>
                    <a:gd name="T15" fmla="*/ 692 h 1448"/>
                    <a:gd name="T16" fmla="*/ 481 w 1432"/>
                    <a:gd name="T17" fmla="*/ 338 h 1448"/>
                    <a:gd name="T18" fmla="*/ 699 w 1432"/>
                    <a:gd name="T19" fmla="*/ 68 h 1448"/>
                    <a:gd name="T20" fmla="*/ 1349 w 1432"/>
                    <a:gd name="T21" fmla="*/ 208 h 1448"/>
                    <a:gd name="T22" fmla="*/ 1432 w 1432"/>
                    <a:gd name="T23" fmla="*/ 425 h 1448"/>
                    <a:gd name="T24" fmla="*/ 1432 w 1432"/>
                    <a:gd name="T25" fmla="*/ 458 h 1448"/>
                    <a:gd name="T26" fmla="*/ 1432 w 1432"/>
                    <a:gd name="T27" fmla="*/ 516 h 1448"/>
                    <a:gd name="T28" fmla="*/ 1432 w 1432"/>
                    <a:gd name="T29" fmla="*/ 554 h 1448"/>
                    <a:gd name="T30" fmla="*/ 1430 w 1432"/>
                    <a:gd name="T31" fmla="*/ 572 h 1448"/>
                    <a:gd name="T32" fmla="*/ 1279 w 1432"/>
                    <a:gd name="T33" fmla="*/ 919 h 1448"/>
                    <a:gd name="T34" fmla="*/ 1191 w 1432"/>
                    <a:gd name="T35" fmla="*/ 1260 h 1448"/>
                    <a:gd name="T36" fmla="*/ 278 w 1432"/>
                    <a:gd name="T37" fmla="*/ 1069 h 1448"/>
                    <a:gd name="T38" fmla="*/ 124 w 1432"/>
                    <a:gd name="T39" fmla="*/ 1124 h 1448"/>
                    <a:gd name="T40" fmla="*/ 143 w 1432"/>
                    <a:gd name="T41" fmla="*/ 1178 h 1448"/>
                    <a:gd name="T42" fmla="*/ 297 w 1432"/>
                    <a:gd name="T43" fmla="*/ 1124 h 1448"/>
                    <a:gd name="T44" fmla="*/ 327 w 1432"/>
                    <a:gd name="T45" fmla="*/ 1085 h 1448"/>
                    <a:gd name="T46" fmla="*/ 278 w 1432"/>
                    <a:gd name="T47" fmla="*/ 1069 h 1448"/>
                    <a:gd name="T48" fmla="*/ 127 w 1432"/>
                    <a:gd name="T49" fmla="*/ 855 h 1448"/>
                    <a:gd name="T50" fmla="*/ 326 w 1432"/>
                    <a:gd name="T51" fmla="*/ 896 h 1448"/>
                    <a:gd name="T52" fmla="*/ 291 w 1432"/>
                    <a:gd name="T53" fmla="*/ 851 h 1448"/>
                    <a:gd name="T54" fmla="*/ 139 w 1432"/>
                    <a:gd name="T55" fmla="*/ 799 h 1448"/>
                    <a:gd name="T56" fmla="*/ 197 w 1432"/>
                    <a:gd name="T57" fmla="*/ 1018 h 1448"/>
                    <a:gd name="T58" fmla="*/ 196 w 1432"/>
                    <a:gd name="T59" fmla="*/ 961 h 1448"/>
                    <a:gd name="T60" fmla="*/ 3 w 1432"/>
                    <a:gd name="T61" fmla="*/ 989 h 1448"/>
                    <a:gd name="T62" fmla="*/ 54 w 1432"/>
                    <a:gd name="T63" fmla="*/ 1019 h 1448"/>
                    <a:gd name="T64" fmla="*/ 197 w 1432"/>
                    <a:gd name="T65" fmla="*/ 1018 h 1448"/>
                    <a:gd name="T66" fmla="*/ 90 w 1432"/>
                    <a:gd name="T67" fmla="*/ 782 h 1448"/>
                    <a:gd name="T68" fmla="*/ 4 w 1432"/>
                    <a:gd name="T69" fmla="*/ 784 h 1448"/>
                    <a:gd name="T70" fmla="*/ 69 w 1432"/>
                    <a:gd name="T71" fmla="*/ 835 h 1448"/>
                    <a:gd name="T72" fmla="*/ 278 w 1432"/>
                    <a:gd name="T73" fmla="*/ 962 h 1448"/>
                    <a:gd name="T74" fmla="*/ 228 w 1432"/>
                    <a:gd name="T75" fmla="*/ 990 h 1448"/>
                    <a:gd name="T76" fmla="*/ 306 w 1432"/>
                    <a:gd name="T77" fmla="*/ 1019 h 1448"/>
                    <a:gd name="T78" fmla="*/ 305 w 1432"/>
                    <a:gd name="T79" fmla="*/ 962 h 1448"/>
                    <a:gd name="T80" fmla="*/ 278 w 1432"/>
                    <a:gd name="T81" fmla="*/ 962 h 1448"/>
                    <a:gd name="T82" fmla="*/ 101 w 1432"/>
                    <a:gd name="T83" fmla="*/ 1167 h 1448"/>
                    <a:gd name="T84" fmla="*/ 18 w 1432"/>
                    <a:gd name="T85" fmla="*/ 1164 h 1448"/>
                    <a:gd name="T86" fmla="*/ 35 w 1432"/>
                    <a:gd name="T87" fmla="*/ 1218 h 1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432" h="1448">
                      <a:moveTo>
                        <a:pt x="1201" y="1448"/>
                      </a:moveTo>
                      <a:cubicBezTo>
                        <a:pt x="1045" y="1448"/>
                        <a:pt x="889" y="1448"/>
                        <a:pt x="733" y="1448"/>
                      </a:cubicBezTo>
                      <a:cubicBezTo>
                        <a:pt x="733" y="1420"/>
                        <a:pt x="734" y="1392"/>
                        <a:pt x="732" y="1364"/>
                      </a:cubicBezTo>
                      <a:cubicBezTo>
                        <a:pt x="730" y="1315"/>
                        <a:pt x="724" y="1267"/>
                        <a:pt x="706" y="1221"/>
                      </a:cubicBezTo>
                      <a:cubicBezTo>
                        <a:pt x="689" y="1175"/>
                        <a:pt x="659" y="1157"/>
                        <a:pt x="611" y="1161"/>
                      </a:cubicBezTo>
                      <a:cubicBezTo>
                        <a:pt x="590" y="1162"/>
                        <a:pt x="569" y="1167"/>
                        <a:pt x="549" y="1170"/>
                      </a:cubicBezTo>
                      <a:cubicBezTo>
                        <a:pt x="524" y="1174"/>
                        <a:pt x="501" y="1173"/>
                        <a:pt x="478" y="1163"/>
                      </a:cubicBezTo>
                      <a:cubicBezTo>
                        <a:pt x="442" y="1149"/>
                        <a:pt x="428" y="1122"/>
                        <a:pt x="437" y="1084"/>
                      </a:cubicBezTo>
                      <a:cubicBezTo>
                        <a:pt x="442" y="1067"/>
                        <a:pt x="447" y="1050"/>
                        <a:pt x="452" y="1033"/>
                      </a:cubicBezTo>
                      <a:cubicBezTo>
                        <a:pt x="456" y="1016"/>
                        <a:pt x="453" y="1001"/>
                        <a:pt x="440" y="989"/>
                      </a:cubicBezTo>
                      <a:cubicBezTo>
                        <a:pt x="409" y="960"/>
                        <a:pt x="409" y="958"/>
                        <a:pt x="430" y="921"/>
                      </a:cubicBezTo>
                      <a:cubicBezTo>
                        <a:pt x="432" y="917"/>
                        <a:pt x="435" y="912"/>
                        <a:pt x="437" y="908"/>
                      </a:cubicBezTo>
                      <a:cubicBezTo>
                        <a:pt x="451" y="880"/>
                        <a:pt x="448" y="862"/>
                        <a:pt x="425" y="841"/>
                      </a:cubicBezTo>
                      <a:cubicBezTo>
                        <a:pt x="411" y="827"/>
                        <a:pt x="393" y="818"/>
                        <a:pt x="376" y="806"/>
                      </a:cubicBezTo>
                      <a:cubicBezTo>
                        <a:pt x="320" y="767"/>
                        <a:pt x="318" y="737"/>
                        <a:pt x="370" y="694"/>
                      </a:cubicBezTo>
                      <a:cubicBezTo>
                        <a:pt x="371" y="693"/>
                        <a:pt x="371" y="693"/>
                        <a:pt x="372" y="692"/>
                      </a:cubicBezTo>
                      <a:cubicBezTo>
                        <a:pt x="437" y="644"/>
                        <a:pt x="467" y="579"/>
                        <a:pt x="471" y="499"/>
                      </a:cubicBezTo>
                      <a:cubicBezTo>
                        <a:pt x="474" y="445"/>
                        <a:pt x="476" y="391"/>
                        <a:pt x="481" y="338"/>
                      </a:cubicBezTo>
                      <a:cubicBezTo>
                        <a:pt x="488" y="260"/>
                        <a:pt x="516" y="192"/>
                        <a:pt x="575" y="140"/>
                      </a:cubicBezTo>
                      <a:cubicBezTo>
                        <a:pt x="612" y="108"/>
                        <a:pt x="654" y="85"/>
                        <a:pt x="699" y="68"/>
                      </a:cubicBezTo>
                      <a:cubicBezTo>
                        <a:pt x="777" y="38"/>
                        <a:pt x="858" y="23"/>
                        <a:pt x="941" y="16"/>
                      </a:cubicBezTo>
                      <a:cubicBezTo>
                        <a:pt x="1114" y="0"/>
                        <a:pt x="1252" y="61"/>
                        <a:pt x="1349" y="208"/>
                      </a:cubicBezTo>
                      <a:cubicBezTo>
                        <a:pt x="1392" y="273"/>
                        <a:pt x="1416" y="345"/>
                        <a:pt x="1430" y="422"/>
                      </a:cubicBezTo>
                      <a:cubicBezTo>
                        <a:pt x="1431" y="424"/>
                        <a:pt x="1431" y="425"/>
                        <a:pt x="1432" y="425"/>
                      </a:cubicBezTo>
                      <a:cubicBezTo>
                        <a:pt x="1432" y="430"/>
                        <a:pt x="1432" y="434"/>
                        <a:pt x="1432" y="439"/>
                      </a:cubicBezTo>
                      <a:cubicBezTo>
                        <a:pt x="1432" y="446"/>
                        <a:pt x="1432" y="452"/>
                        <a:pt x="1432" y="458"/>
                      </a:cubicBezTo>
                      <a:cubicBezTo>
                        <a:pt x="1432" y="465"/>
                        <a:pt x="1432" y="471"/>
                        <a:pt x="1432" y="477"/>
                      </a:cubicBezTo>
                      <a:cubicBezTo>
                        <a:pt x="1432" y="490"/>
                        <a:pt x="1432" y="503"/>
                        <a:pt x="1432" y="516"/>
                      </a:cubicBezTo>
                      <a:cubicBezTo>
                        <a:pt x="1432" y="522"/>
                        <a:pt x="1432" y="529"/>
                        <a:pt x="1432" y="535"/>
                      </a:cubicBezTo>
                      <a:cubicBezTo>
                        <a:pt x="1432" y="541"/>
                        <a:pt x="1432" y="548"/>
                        <a:pt x="1432" y="554"/>
                      </a:cubicBezTo>
                      <a:cubicBezTo>
                        <a:pt x="1432" y="559"/>
                        <a:pt x="1432" y="564"/>
                        <a:pt x="1432" y="569"/>
                      </a:cubicBezTo>
                      <a:cubicBezTo>
                        <a:pt x="1432" y="569"/>
                        <a:pt x="1431" y="570"/>
                        <a:pt x="1430" y="572"/>
                      </a:cubicBezTo>
                      <a:cubicBezTo>
                        <a:pt x="1427" y="590"/>
                        <a:pt x="1424" y="608"/>
                        <a:pt x="1420" y="625"/>
                      </a:cubicBezTo>
                      <a:cubicBezTo>
                        <a:pt x="1397" y="734"/>
                        <a:pt x="1351" y="833"/>
                        <a:pt x="1279" y="919"/>
                      </a:cubicBezTo>
                      <a:cubicBezTo>
                        <a:pt x="1246" y="958"/>
                        <a:pt x="1223" y="1001"/>
                        <a:pt x="1213" y="1051"/>
                      </a:cubicBezTo>
                      <a:cubicBezTo>
                        <a:pt x="1201" y="1120"/>
                        <a:pt x="1193" y="1190"/>
                        <a:pt x="1191" y="1260"/>
                      </a:cubicBezTo>
                      <a:cubicBezTo>
                        <a:pt x="1189" y="1323"/>
                        <a:pt x="1195" y="1386"/>
                        <a:pt x="1201" y="1448"/>
                      </a:cubicBezTo>
                      <a:close/>
                      <a:moveTo>
                        <a:pt x="278" y="1069"/>
                      </a:moveTo>
                      <a:cubicBezTo>
                        <a:pt x="249" y="1079"/>
                        <a:pt x="220" y="1089"/>
                        <a:pt x="191" y="1099"/>
                      </a:cubicBezTo>
                      <a:cubicBezTo>
                        <a:pt x="168" y="1107"/>
                        <a:pt x="146" y="1114"/>
                        <a:pt x="124" y="1124"/>
                      </a:cubicBezTo>
                      <a:cubicBezTo>
                        <a:pt x="108" y="1131"/>
                        <a:pt x="103" y="1145"/>
                        <a:pt x="109" y="1161"/>
                      </a:cubicBezTo>
                      <a:cubicBezTo>
                        <a:pt x="115" y="1177"/>
                        <a:pt x="127" y="1180"/>
                        <a:pt x="143" y="1178"/>
                      </a:cubicBezTo>
                      <a:cubicBezTo>
                        <a:pt x="148" y="1177"/>
                        <a:pt x="152" y="1175"/>
                        <a:pt x="157" y="1173"/>
                      </a:cubicBezTo>
                      <a:cubicBezTo>
                        <a:pt x="204" y="1158"/>
                        <a:pt x="249" y="1138"/>
                        <a:pt x="297" y="1124"/>
                      </a:cubicBezTo>
                      <a:cubicBezTo>
                        <a:pt x="304" y="1123"/>
                        <a:pt x="310" y="1120"/>
                        <a:pt x="316" y="1116"/>
                      </a:cubicBezTo>
                      <a:cubicBezTo>
                        <a:pt x="327" y="1109"/>
                        <a:pt x="331" y="1098"/>
                        <a:pt x="327" y="1085"/>
                      </a:cubicBezTo>
                      <a:cubicBezTo>
                        <a:pt x="322" y="1070"/>
                        <a:pt x="312" y="1064"/>
                        <a:pt x="295" y="1064"/>
                      </a:cubicBezTo>
                      <a:cubicBezTo>
                        <a:pt x="290" y="1063"/>
                        <a:pt x="284" y="1067"/>
                        <a:pt x="278" y="1069"/>
                      </a:cubicBezTo>
                      <a:close/>
                      <a:moveTo>
                        <a:pt x="108" y="820"/>
                      </a:moveTo>
                      <a:cubicBezTo>
                        <a:pt x="104" y="837"/>
                        <a:pt x="110" y="850"/>
                        <a:pt x="127" y="855"/>
                      </a:cubicBezTo>
                      <a:cubicBezTo>
                        <a:pt x="181" y="875"/>
                        <a:pt x="235" y="894"/>
                        <a:pt x="289" y="912"/>
                      </a:cubicBezTo>
                      <a:cubicBezTo>
                        <a:pt x="305" y="918"/>
                        <a:pt x="319" y="912"/>
                        <a:pt x="326" y="896"/>
                      </a:cubicBezTo>
                      <a:cubicBezTo>
                        <a:pt x="332" y="880"/>
                        <a:pt x="326" y="866"/>
                        <a:pt x="308" y="857"/>
                      </a:cubicBezTo>
                      <a:cubicBezTo>
                        <a:pt x="303" y="855"/>
                        <a:pt x="297" y="853"/>
                        <a:pt x="291" y="851"/>
                      </a:cubicBezTo>
                      <a:cubicBezTo>
                        <a:pt x="257" y="842"/>
                        <a:pt x="224" y="828"/>
                        <a:pt x="190" y="816"/>
                      </a:cubicBezTo>
                      <a:cubicBezTo>
                        <a:pt x="173" y="810"/>
                        <a:pt x="156" y="802"/>
                        <a:pt x="139" y="799"/>
                      </a:cubicBezTo>
                      <a:cubicBezTo>
                        <a:pt x="122" y="799"/>
                        <a:pt x="112" y="805"/>
                        <a:pt x="108" y="820"/>
                      </a:cubicBezTo>
                      <a:close/>
                      <a:moveTo>
                        <a:pt x="197" y="1018"/>
                      </a:moveTo>
                      <a:cubicBezTo>
                        <a:pt x="214" y="1016"/>
                        <a:pt x="225" y="1005"/>
                        <a:pt x="223" y="988"/>
                      </a:cubicBezTo>
                      <a:cubicBezTo>
                        <a:pt x="222" y="973"/>
                        <a:pt x="213" y="961"/>
                        <a:pt x="196" y="961"/>
                      </a:cubicBezTo>
                      <a:cubicBezTo>
                        <a:pt x="140" y="961"/>
                        <a:pt x="85" y="961"/>
                        <a:pt x="29" y="961"/>
                      </a:cubicBezTo>
                      <a:cubicBezTo>
                        <a:pt x="12" y="962"/>
                        <a:pt x="3" y="974"/>
                        <a:pt x="3" y="989"/>
                      </a:cubicBezTo>
                      <a:cubicBezTo>
                        <a:pt x="2" y="1004"/>
                        <a:pt x="11" y="1016"/>
                        <a:pt x="27" y="1018"/>
                      </a:cubicBezTo>
                      <a:cubicBezTo>
                        <a:pt x="36" y="1019"/>
                        <a:pt x="45" y="1020"/>
                        <a:pt x="54" y="1019"/>
                      </a:cubicBezTo>
                      <a:cubicBezTo>
                        <a:pt x="86" y="1016"/>
                        <a:pt x="117" y="1021"/>
                        <a:pt x="149" y="1019"/>
                      </a:cubicBezTo>
                      <a:cubicBezTo>
                        <a:pt x="165" y="1019"/>
                        <a:pt x="181" y="1020"/>
                        <a:pt x="197" y="1018"/>
                      </a:cubicBezTo>
                      <a:close/>
                      <a:moveTo>
                        <a:pt x="100" y="816"/>
                      </a:moveTo>
                      <a:cubicBezTo>
                        <a:pt x="106" y="802"/>
                        <a:pt x="102" y="789"/>
                        <a:pt x="90" y="782"/>
                      </a:cubicBezTo>
                      <a:cubicBezTo>
                        <a:pt x="72" y="772"/>
                        <a:pt x="53" y="765"/>
                        <a:pt x="33" y="763"/>
                      </a:cubicBezTo>
                      <a:cubicBezTo>
                        <a:pt x="18" y="762"/>
                        <a:pt x="9" y="769"/>
                        <a:pt x="4" y="784"/>
                      </a:cubicBezTo>
                      <a:cubicBezTo>
                        <a:pt x="1" y="797"/>
                        <a:pt x="5" y="808"/>
                        <a:pt x="16" y="815"/>
                      </a:cubicBezTo>
                      <a:cubicBezTo>
                        <a:pt x="33" y="825"/>
                        <a:pt x="51" y="829"/>
                        <a:pt x="69" y="835"/>
                      </a:cubicBezTo>
                      <a:cubicBezTo>
                        <a:pt x="84" y="836"/>
                        <a:pt x="95" y="829"/>
                        <a:pt x="100" y="816"/>
                      </a:cubicBezTo>
                      <a:close/>
                      <a:moveTo>
                        <a:pt x="278" y="962"/>
                      </a:moveTo>
                      <a:cubicBezTo>
                        <a:pt x="271" y="962"/>
                        <a:pt x="264" y="961"/>
                        <a:pt x="257" y="962"/>
                      </a:cubicBezTo>
                      <a:cubicBezTo>
                        <a:pt x="239" y="962"/>
                        <a:pt x="228" y="972"/>
                        <a:pt x="228" y="990"/>
                      </a:cubicBezTo>
                      <a:cubicBezTo>
                        <a:pt x="227" y="1005"/>
                        <a:pt x="236" y="1016"/>
                        <a:pt x="252" y="1019"/>
                      </a:cubicBezTo>
                      <a:cubicBezTo>
                        <a:pt x="270" y="1022"/>
                        <a:pt x="288" y="1022"/>
                        <a:pt x="306" y="1019"/>
                      </a:cubicBezTo>
                      <a:cubicBezTo>
                        <a:pt x="322" y="1016"/>
                        <a:pt x="330" y="1004"/>
                        <a:pt x="329" y="989"/>
                      </a:cubicBezTo>
                      <a:cubicBezTo>
                        <a:pt x="328" y="975"/>
                        <a:pt x="320" y="964"/>
                        <a:pt x="305" y="962"/>
                      </a:cubicBezTo>
                      <a:cubicBezTo>
                        <a:pt x="296" y="961"/>
                        <a:pt x="287" y="962"/>
                        <a:pt x="278" y="962"/>
                      </a:cubicBezTo>
                      <a:cubicBezTo>
                        <a:pt x="278" y="962"/>
                        <a:pt x="278" y="962"/>
                        <a:pt x="278" y="962"/>
                      </a:cubicBezTo>
                      <a:close/>
                      <a:moveTo>
                        <a:pt x="87" y="1200"/>
                      </a:moveTo>
                      <a:cubicBezTo>
                        <a:pt x="100" y="1193"/>
                        <a:pt x="105" y="1181"/>
                        <a:pt x="101" y="1167"/>
                      </a:cubicBezTo>
                      <a:cubicBezTo>
                        <a:pt x="96" y="1152"/>
                        <a:pt x="85" y="1143"/>
                        <a:pt x="69" y="1146"/>
                      </a:cubicBezTo>
                      <a:cubicBezTo>
                        <a:pt x="51" y="1149"/>
                        <a:pt x="34" y="1155"/>
                        <a:pt x="18" y="1164"/>
                      </a:cubicBezTo>
                      <a:cubicBezTo>
                        <a:pt x="6" y="1170"/>
                        <a:pt x="0" y="1182"/>
                        <a:pt x="4" y="1196"/>
                      </a:cubicBezTo>
                      <a:cubicBezTo>
                        <a:pt x="9" y="1211"/>
                        <a:pt x="19" y="1217"/>
                        <a:pt x="35" y="1218"/>
                      </a:cubicBezTo>
                      <a:cubicBezTo>
                        <a:pt x="52" y="1213"/>
                        <a:pt x="70" y="1209"/>
                        <a:pt x="87" y="1200"/>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F36633"/>
                    </a:solidFill>
                    <a:effectLst/>
                    <a:uLnTx/>
                    <a:uFillTx/>
                    <a:latin typeface="Arial"/>
                    <a:ea typeface="+mn-ea"/>
                    <a:cs typeface="Noto Sans"/>
                  </a:endParaRPr>
                </a:p>
              </p:txBody>
            </p:sp>
          </p:grpSp>
        </p:grpSp>
      </p:grpSp>
      <p:sp>
        <p:nvSpPr>
          <p:cNvPr id="5" name="Rectangle 4">
            <a:extLst>
              <a:ext uri="{FF2B5EF4-FFF2-40B4-BE49-F238E27FC236}">
                <a16:creationId xmlns:a16="http://schemas.microsoft.com/office/drawing/2014/main" id="{123ECBD2-F05C-EB96-5F54-00EC2C558393}"/>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579043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E10973-BACC-7780-6D19-1F6EE4B33408}"/>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7CE1B0C0-0F75-1D60-13F8-F62564004688}"/>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8B9AF040-8A15-1E7C-506E-5B5B0772919E}"/>
              </a:ext>
            </a:extLst>
          </p:cNvPr>
          <p:cNvSpPr>
            <a:spLocks noGrp="1"/>
          </p:cNvSpPr>
          <p:nvPr>
            <p:ph type="title"/>
          </p:nvPr>
        </p:nvSpPr>
        <p:spPr/>
        <p:txBody>
          <a:bodyPr/>
          <a:lstStyle/>
          <a:p>
            <a:r>
              <a:rPr lang="en-US" dirty="0"/>
              <a:t>Healthy Lungs and Airways</a:t>
            </a:r>
            <a:r>
              <a:rPr lang="en-US" baseline="30000" dirty="0"/>
              <a:t>1–4</a:t>
            </a:r>
            <a:endParaRPr lang="en-GB" dirty="0"/>
          </a:p>
        </p:txBody>
      </p:sp>
      <p:grpSp>
        <p:nvGrpSpPr>
          <p:cNvPr id="18" name="Group 17">
            <a:extLst>
              <a:ext uri="{FF2B5EF4-FFF2-40B4-BE49-F238E27FC236}">
                <a16:creationId xmlns:a16="http://schemas.microsoft.com/office/drawing/2014/main" id="{7819E574-645F-9389-FA31-8D6115F0BE0D}"/>
              </a:ext>
            </a:extLst>
          </p:cNvPr>
          <p:cNvGrpSpPr/>
          <p:nvPr/>
        </p:nvGrpSpPr>
        <p:grpSpPr>
          <a:xfrm>
            <a:off x="1957129" y="1257120"/>
            <a:ext cx="8277742" cy="4049982"/>
            <a:chOff x="1925724" y="1440000"/>
            <a:chExt cx="8277742" cy="4049982"/>
          </a:xfrm>
        </p:grpSpPr>
        <p:pic>
          <p:nvPicPr>
            <p:cNvPr id="57" name="object 4">
              <a:extLst>
                <a:ext uri="{FF2B5EF4-FFF2-40B4-BE49-F238E27FC236}">
                  <a16:creationId xmlns:a16="http://schemas.microsoft.com/office/drawing/2014/main" id="{BC572E15-CE39-963E-00D2-2765B5F1240E}"/>
                </a:ext>
              </a:extLst>
            </p:cNvPr>
            <p:cNvPicPr/>
            <p:nvPr/>
          </p:nvPicPr>
          <p:blipFill>
            <a:blip r:embed="rId2" cstate="print"/>
            <a:stretch>
              <a:fillRect/>
            </a:stretch>
          </p:blipFill>
          <p:spPr>
            <a:xfrm>
              <a:off x="3202830" y="1440000"/>
              <a:ext cx="5251068" cy="3976936"/>
            </a:xfrm>
            <a:prstGeom prst="rect">
              <a:avLst/>
            </a:prstGeom>
          </p:spPr>
        </p:pic>
        <p:sp>
          <p:nvSpPr>
            <p:cNvPr id="58" name="object 38">
              <a:extLst>
                <a:ext uri="{FF2B5EF4-FFF2-40B4-BE49-F238E27FC236}">
                  <a16:creationId xmlns:a16="http://schemas.microsoft.com/office/drawing/2014/main" id="{5BC07A03-667F-9ACA-10A9-75A74CE4F53D}"/>
                </a:ext>
              </a:extLst>
            </p:cNvPr>
            <p:cNvSpPr txBox="1"/>
            <p:nvPr/>
          </p:nvSpPr>
          <p:spPr>
            <a:xfrm>
              <a:off x="4459093" y="4984603"/>
              <a:ext cx="850868" cy="215508"/>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534F40"/>
                  </a:solidFill>
                  <a:effectLst/>
                  <a:uLnTx/>
                  <a:uFillTx/>
                  <a:latin typeface="Arial"/>
                  <a:ea typeface="+mn-ea"/>
                  <a:cs typeface="Arial"/>
                </a:rPr>
                <a:t>Diaphragm</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59" name="Group 58">
              <a:extLst>
                <a:ext uri="{FF2B5EF4-FFF2-40B4-BE49-F238E27FC236}">
                  <a16:creationId xmlns:a16="http://schemas.microsoft.com/office/drawing/2014/main" id="{7302C91D-ECC2-27A1-4F9D-DC53AB4ACAAF}"/>
                </a:ext>
              </a:extLst>
            </p:cNvPr>
            <p:cNvGrpSpPr/>
            <p:nvPr/>
          </p:nvGrpSpPr>
          <p:grpSpPr>
            <a:xfrm>
              <a:off x="2161686" y="3145963"/>
              <a:ext cx="2256932" cy="957414"/>
              <a:chOff x="2161686" y="3145963"/>
              <a:chExt cx="2256932" cy="957414"/>
            </a:xfrm>
          </p:grpSpPr>
          <p:sp>
            <p:nvSpPr>
              <p:cNvPr id="60" name="object 13">
                <a:extLst>
                  <a:ext uri="{FF2B5EF4-FFF2-40B4-BE49-F238E27FC236}">
                    <a16:creationId xmlns:a16="http://schemas.microsoft.com/office/drawing/2014/main" id="{272BEFA6-32B1-58D9-B313-68483D3AE2A5}"/>
                  </a:ext>
                </a:extLst>
              </p:cNvPr>
              <p:cNvSpPr/>
              <p:nvPr/>
            </p:nvSpPr>
            <p:spPr>
              <a:xfrm>
                <a:off x="2854336" y="3243969"/>
                <a:ext cx="1528276" cy="821957"/>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1" name="object 9">
                <a:extLst>
                  <a:ext uri="{FF2B5EF4-FFF2-40B4-BE49-F238E27FC236}">
                    <a16:creationId xmlns:a16="http://schemas.microsoft.com/office/drawing/2014/main" id="{1A61B8E8-5A28-3745-3B7B-D486FF4555A0}"/>
                  </a:ext>
                </a:extLst>
              </p:cNvPr>
              <p:cNvSpPr txBox="1"/>
              <p:nvPr/>
            </p:nvSpPr>
            <p:spPr>
              <a:xfrm>
                <a:off x="2161686" y="3145963"/>
                <a:ext cx="655308" cy="197490"/>
              </a:xfrm>
              <a:prstGeom prst="rect">
                <a:avLst/>
              </a:prstGeom>
            </p:spPr>
            <p:txBody>
              <a:bodyPr vert="horz" wrap="non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Bronchus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62" name="Oval 61">
                <a:extLst>
                  <a:ext uri="{FF2B5EF4-FFF2-40B4-BE49-F238E27FC236}">
                    <a16:creationId xmlns:a16="http://schemas.microsoft.com/office/drawing/2014/main" id="{16601AED-1E3B-DC1A-C115-DCD57494F8C6}"/>
                  </a:ext>
                </a:extLst>
              </p:cNvPr>
              <p:cNvSpPr>
                <a:spLocks/>
              </p:cNvSpPr>
              <p:nvPr/>
            </p:nvSpPr>
            <p:spPr>
              <a:xfrm>
                <a:off x="4344504" y="4027687"/>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63" name="Group 62">
              <a:extLst>
                <a:ext uri="{FF2B5EF4-FFF2-40B4-BE49-F238E27FC236}">
                  <a16:creationId xmlns:a16="http://schemas.microsoft.com/office/drawing/2014/main" id="{1C1C7C04-4E45-0652-8E80-22044AE5B77C}"/>
                </a:ext>
              </a:extLst>
            </p:cNvPr>
            <p:cNvGrpSpPr/>
            <p:nvPr/>
          </p:nvGrpSpPr>
          <p:grpSpPr>
            <a:xfrm>
              <a:off x="5191298" y="3031222"/>
              <a:ext cx="1398314" cy="558087"/>
              <a:chOff x="5191298" y="3031222"/>
              <a:chExt cx="1398314" cy="558087"/>
            </a:xfrm>
          </p:grpSpPr>
          <p:sp>
            <p:nvSpPr>
              <p:cNvPr id="64" name="object 19">
                <a:extLst>
                  <a:ext uri="{FF2B5EF4-FFF2-40B4-BE49-F238E27FC236}">
                    <a16:creationId xmlns:a16="http://schemas.microsoft.com/office/drawing/2014/main" id="{5DCAEE70-AFA7-B99A-E6F2-FD403FC91CA1}"/>
                  </a:ext>
                </a:extLst>
              </p:cNvPr>
              <p:cNvSpPr/>
              <p:nvPr/>
            </p:nvSpPr>
            <p:spPr>
              <a:xfrm>
                <a:off x="5229144" y="3138317"/>
                <a:ext cx="701062" cy="413935"/>
              </a:xfrm>
              <a:custGeom>
                <a:avLst/>
                <a:gdLst/>
                <a:ahLst/>
                <a:cxnLst/>
                <a:rect l="l" t="t" r="r" b="b"/>
                <a:pathLst>
                  <a:path w="677545" h="400050">
                    <a:moveTo>
                      <a:pt x="0" y="399542"/>
                    </a:moveTo>
                    <a:lnTo>
                      <a:pt x="3556" y="399542"/>
                    </a:lnTo>
                    <a:lnTo>
                      <a:pt x="3556" y="0"/>
                    </a:lnTo>
                    <a:lnTo>
                      <a:pt x="677545"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5" name="object 21">
                <a:extLst>
                  <a:ext uri="{FF2B5EF4-FFF2-40B4-BE49-F238E27FC236}">
                    <a16:creationId xmlns:a16="http://schemas.microsoft.com/office/drawing/2014/main" id="{1FA95182-3C3D-1E25-DAC6-18D6E7FD4971}"/>
                  </a:ext>
                </a:extLst>
              </p:cNvPr>
              <p:cNvSpPr txBox="1"/>
              <p:nvPr/>
            </p:nvSpPr>
            <p:spPr>
              <a:xfrm>
                <a:off x="5956882" y="3031222"/>
                <a:ext cx="632730" cy="197490"/>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Left</a:t>
                </a:r>
                <a:r>
                  <a:rPr kumimoji="0" sz="1200" b="0" i="0" u="none" strike="noStrike" kern="1200" cap="none" spc="-8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lung</a:t>
                </a:r>
              </a:p>
            </p:txBody>
          </p:sp>
          <p:sp>
            <p:nvSpPr>
              <p:cNvPr id="66" name="Oval 65">
                <a:extLst>
                  <a:ext uri="{FF2B5EF4-FFF2-40B4-BE49-F238E27FC236}">
                    <a16:creationId xmlns:a16="http://schemas.microsoft.com/office/drawing/2014/main" id="{11ACA71E-CA30-5F4F-6E67-7F093B8A9B9B}"/>
                  </a:ext>
                </a:extLst>
              </p:cNvPr>
              <p:cNvSpPr>
                <a:spLocks/>
              </p:cNvSpPr>
              <p:nvPr/>
            </p:nvSpPr>
            <p:spPr>
              <a:xfrm>
                <a:off x="5191298" y="3513619"/>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67" name="Group 66">
              <a:extLst>
                <a:ext uri="{FF2B5EF4-FFF2-40B4-BE49-F238E27FC236}">
                  <a16:creationId xmlns:a16="http://schemas.microsoft.com/office/drawing/2014/main" id="{AED80DF7-B3E0-44F2-F141-CDD33C3D57B7}"/>
                </a:ext>
              </a:extLst>
            </p:cNvPr>
            <p:cNvGrpSpPr/>
            <p:nvPr/>
          </p:nvGrpSpPr>
          <p:grpSpPr>
            <a:xfrm>
              <a:off x="2128985" y="4110161"/>
              <a:ext cx="1837065" cy="197490"/>
              <a:chOff x="2128985" y="4110161"/>
              <a:chExt cx="1837065" cy="197490"/>
            </a:xfrm>
          </p:grpSpPr>
          <p:sp>
            <p:nvSpPr>
              <p:cNvPr id="68" name="object 10">
                <a:extLst>
                  <a:ext uri="{FF2B5EF4-FFF2-40B4-BE49-F238E27FC236}">
                    <a16:creationId xmlns:a16="http://schemas.microsoft.com/office/drawing/2014/main" id="{ECA9F15B-96BD-C886-9570-155CE464CF24}"/>
                  </a:ext>
                </a:extLst>
              </p:cNvPr>
              <p:cNvSpPr txBox="1"/>
              <p:nvPr/>
            </p:nvSpPr>
            <p:spPr>
              <a:xfrm>
                <a:off x="2128985" y="4110161"/>
                <a:ext cx="688009" cy="197490"/>
              </a:xfrm>
              <a:prstGeom prst="rect">
                <a:avLst/>
              </a:prstGeom>
            </p:spPr>
            <p:txBody>
              <a:bodyPr vert="horz" wrap="none" lIns="0" tIns="12700" rIns="0" bIns="0" rtlCol="0">
                <a:spAutoFit/>
              </a:bodyPr>
              <a:lstStyle/>
              <a:p>
                <a:pPr marL="0" marR="508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Right lung</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69" name="object 15">
                <a:extLst>
                  <a:ext uri="{FF2B5EF4-FFF2-40B4-BE49-F238E27FC236}">
                    <a16:creationId xmlns:a16="http://schemas.microsoft.com/office/drawing/2014/main" id="{119E6799-0E6F-CF4A-2650-91C5B6CAC929}"/>
                  </a:ext>
                </a:extLst>
              </p:cNvPr>
              <p:cNvSpPr/>
              <p:nvPr/>
            </p:nvSpPr>
            <p:spPr>
              <a:xfrm>
                <a:off x="2843298" y="4242145"/>
                <a:ext cx="1085431" cy="0"/>
              </a:xfrm>
              <a:custGeom>
                <a:avLst/>
                <a:gdLst/>
                <a:ahLst/>
                <a:cxnLst/>
                <a:rect l="l" t="t" r="r" b="b"/>
                <a:pathLst>
                  <a:path w="1049020">
                    <a:moveTo>
                      <a:pt x="1049020" y="0"/>
                    </a:moveTo>
                    <a:lnTo>
                      <a:pt x="524510"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0" name="Oval 69">
                <a:extLst>
                  <a:ext uri="{FF2B5EF4-FFF2-40B4-BE49-F238E27FC236}">
                    <a16:creationId xmlns:a16="http://schemas.microsoft.com/office/drawing/2014/main" id="{3B0FBA53-C2AA-3593-AC42-BFFD5A7BD63F}"/>
                  </a:ext>
                </a:extLst>
              </p:cNvPr>
              <p:cNvSpPr>
                <a:spLocks/>
              </p:cNvSpPr>
              <p:nvPr/>
            </p:nvSpPr>
            <p:spPr>
              <a:xfrm>
                <a:off x="3891936" y="4210607"/>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1" name="Group 70">
              <a:extLst>
                <a:ext uri="{FF2B5EF4-FFF2-40B4-BE49-F238E27FC236}">
                  <a16:creationId xmlns:a16="http://schemas.microsoft.com/office/drawing/2014/main" id="{6932278D-8A56-0884-BD98-4012E8B69A18}"/>
                </a:ext>
              </a:extLst>
            </p:cNvPr>
            <p:cNvGrpSpPr/>
            <p:nvPr/>
          </p:nvGrpSpPr>
          <p:grpSpPr>
            <a:xfrm>
              <a:off x="6378833" y="2190078"/>
              <a:ext cx="952709" cy="1877032"/>
              <a:chOff x="6378833" y="2190078"/>
              <a:chExt cx="952709" cy="1877032"/>
            </a:xfrm>
          </p:grpSpPr>
          <p:sp>
            <p:nvSpPr>
              <p:cNvPr id="72" name="object 22">
                <a:extLst>
                  <a:ext uri="{FF2B5EF4-FFF2-40B4-BE49-F238E27FC236}">
                    <a16:creationId xmlns:a16="http://schemas.microsoft.com/office/drawing/2014/main" id="{8234BB14-8F1C-850C-9E85-2ED0B4F89005}"/>
                  </a:ext>
                </a:extLst>
              </p:cNvPr>
              <p:cNvSpPr txBox="1"/>
              <p:nvPr/>
            </p:nvSpPr>
            <p:spPr>
              <a:xfrm>
                <a:off x="6378833" y="2190078"/>
                <a:ext cx="952709" cy="382156"/>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Bronchioles</a:t>
                </a:r>
                <a:endParaRPr kumimoji="0" sz="1200" b="0" i="0" u="none" strike="noStrike" kern="1200" cap="none" spc="0" normalizeH="0" baseline="0" noProof="0" dirty="0">
                  <a:ln>
                    <a:noFill/>
                  </a:ln>
                  <a:solidFill>
                    <a:srgbClr val="000000"/>
                  </a:solidFill>
                  <a:effectLst/>
                  <a:uLnTx/>
                  <a:uFillTx/>
                  <a:latin typeface="Arial"/>
                  <a:ea typeface="+mn-ea"/>
                  <a:cs typeface="Arial"/>
                </a:endParaRPr>
              </a:p>
              <a:p>
                <a:pPr marL="12700" marR="0" lvl="0" indent="0" algn="l" defTabSz="1219170" rtl="0" eaLnBrk="1" fontAlgn="auto" latinLnBrk="0" hangingPunct="1">
                  <a:lnSpc>
                    <a:spcPct val="100000"/>
                  </a:lnSpc>
                  <a:spcBef>
                    <a:spcPts val="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(tiny</a:t>
                </a:r>
                <a:r>
                  <a:rPr kumimoji="0" sz="1200" b="0" i="0" u="none" strike="noStrike" kern="1200" cap="none" spc="-5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airways)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73" name="object 24">
                <a:extLst>
                  <a:ext uri="{FF2B5EF4-FFF2-40B4-BE49-F238E27FC236}">
                    <a16:creationId xmlns:a16="http://schemas.microsoft.com/office/drawing/2014/main" id="{7731EEE8-D6C5-24CA-7AF9-8225E423E121}"/>
                  </a:ext>
                </a:extLst>
              </p:cNvPr>
              <p:cNvSpPr/>
              <p:nvPr/>
            </p:nvSpPr>
            <p:spPr>
              <a:xfrm>
                <a:off x="6843888" y="2589558"/>
                <a:ext cx="1314" cy="1452717"/>
              </a:xfrm>
              <a:custGeom>
                <a:avLst/>
                <a:gdLst/>
                <a:ahLst/>
                <a:cxnLst/>
                <a:rect l="l" t="t" r="r" b="b"/>
                <a:pathLst>
                  <a:path w="1270" h="1403985">
                    <a:moveTo>
                      <a:pt x="571" y="-6096"/>
                    </a:moveTo>
                    <a:lnTo>
                      <a:pt x="571" y="141008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4" name="Oval 73">
                <a:extLst>
                  <a:ext uri="{FF2B5EF4-FFF2-40B4-BE49-F238E27FC236}">
                    <a16:creationId xmlns:a16="http://schemas.microsoft.com/office/drawing/2014/main" id="{85DBD424-C74B-00AE-83DD-FF6BC652E478}"/>
                  </a:ext>
                </a:extLst>
              </p:cNvPr>
              <p:cNvSpPr>
                <a:spLocks/>
              </p:cNvSpPr>
              <p:nvPr/>
            </p:nvSpPr>
            <p:spPr>
              <a:xfrm>
                <a:off x="6807618" y="3991420"/>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5" name="Group 74">
              <a:extLst>
                <a:ext uri="{FF2B5EF4-FFF2-40B4-BE49-F238E27FC236}">
                  <a16:creationId xmlns:a16="http://schemas.microsoft.com/office/drawing/2014/main" id="{C182B7ED-471B-FAA3-AF26-6731B72159C8}"/>
                </a:ext>
              </a:extLst>
            </p:cNvPr>
            <p:cNvGrpSpPr/>
            <p:nvPr/>
          </p:nvGrpSpPr>
          <p:grpSpPr>
            <a:xfrm>
              <a:off x="8062829" y="3398638"/>
              <a:ext cx="2140637" cy="566822"/>
              <a:chOff x="8062829" y="3398638"/>
              <a:chExt cx="2140637" cy="566822"/>
            </a:xfrm>
          </p:grpSpPr>
          <p:sp>
            <p:nvSpPr>
              <p:cNvPr id="76" name="object 36">
                <a:extLst>
                  <a:ext uri="{FF2B5EF4-FFF2-40B4-BE49-F238E27FC236}">
                    <a16:creationId xmlns:a16="http://schemas.microsoft.com/office/drawing/2014/main" id="{0170DA12-1AC3-BCA0-9BB5-9950C62B4D6C}"/>
                  </a:ext>
                </a:extLst>
              </p:cNvPr>
              <p:cNvSpPr/>
              <p:nvPr/>
            </p:nvSpPr>
            <p:spPr>
              <a:xfrm>
                <a:off x="8103828" y="3699693"/>
                <a:ext cx="555199" cy="0"/>
              </a:xfrm>
              <a:custGeom>
                <a:avLst/>
                <a:gdLst/>
                <a:ahLst/>
                <a:cxnLst/>
                <a:rect l="l" t="t" r="r" b="b"/>
                <a:pathLst>
                  <a:path w="536575">
                    <a:moveTo>
                      <a:pt x="0" y="0"/>
                    </a:moveTo>
                    <a:lnTo>
                      <a:pt x="268097" y="0"/>
                    </a:lnTo>
                    <a:lnTo>
                      <a:pt x="536321"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7" name="object 40">
                <a:extLst>
                  <a:ext uri="{FF2B5EF4-FFF2-40B4-BE49-F238E27FC236}">
                    <a16:creationId xmlns:a16="http://schemas.microsoft.com/office/drawing/2014/main" id="{F2DA44D8-E17F-35A6-6AC4-17E754F716B4}"/>
                  </a:ext>
                </a:extLst>
              </p:cNvPr>
              <p:cNvSpPr txBox="1"/>
              <p:nvPr/>
            </p:nvSpPr>
            <p:spPr>
              <a:xfrm>
                <a:off x="8679789" y="3398638"/>
                <a:ext cx="1523677" cy="566822"/>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Network</a:t>
                </a:r>
                <a:r>
                  <a:rPr kumimoji="0" sz="1200" b="0" i="0" u="none" strike="noStrike" kern="1200" cap="none" spc="-2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of</a:t>
                </a:r>
                <a:r>
                  <a:rPr kumimoji="0" sz="1200" b="0" i="0" u="none" strike="noStrike" kern="1200" cap="none" spc="-3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capillaries</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surrounding alveoli:</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Site</a:t>
                </a:r>
                <a:r>
                  <a:rPr kumimoji="0" sz="1200" b="0" i="0" u="none" strike="noStrike" kern="1200" cap="none" spc="-3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of</a:t>
                </a:r>
                <a:r>
                  <a:rPr kumimoji="0" sz="1200" b="0" i="0" u="none" strike="noStrike" kern="1200" cap="none" spc="-3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gas</a:t>
                </a:r>
                <a:r>
                  <a:rPr kumimoji="0" sz="1200" b="0" i="0" u="none" strike="noStrike" kern="1200" cap="none" spc="-2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exchange</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78" name="Oval 77">
                <a:extLst>
                  <a:ext uri="{FF2B5EF4-FFF2-40B4-BE49-F238E27FC236}">
                    <a16:creationId xmlns:a16="http://schemas.microsoft.com/office/drawing/2014/main" id="{BDE7A5BA-A66A-F9B9-484F-ED6C3F8CA0D2}"/>
                  </a:ext>
                </a:extLst>
              </p:cNvPr>
              <p:cNvSpPr>
                <a:spLocks/>
              </p:cNvSpPr>
              <p:nvPr/>
            </p:nvSpPr>
            <p:spPr>
              <a:xfrm>
                <a:off x="8062829" y="3663425"/>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9" name="Group 78">
              <a:extLst>
                <a:ext uri="{FF2B5EF4-FFF2-40B4-BE49-F238E27FC236}">
                  <a16:creationId xmlns:a16="http://schemas.microsoft.com/office/drawing/2014/main" id="{D6AF449B-4FF8-CB4A-3A06-1DF25250C97B}"/>
                </a:ext>
              </a:extLst>
            </p:cNvPr>
            <p:cNvGrpSpPr/>
            <p:nvPr/>
          </p:nvGrpSpPr>
          <p:grpSpPr>
            <a:xfrm>
              <a:off x="7891078" y="1941585"/>
              <a:ext cx="1498052" cy="1474266"/>
              <a:chOff x="7891078" y="1941585"/>
              <a:chExt cx="1498052" cy="1474266"/>
            </a:xfrm>
          </p:grpSpPr>
          <p:sp>
            <p:nvSpPr>
              <p:cNvPr id="80" name="object 33">
                <a:extLst>
                  <a:ext uri="{FF2B5EF4-FFF2-40B4-BE49-F238E27FC236}">
                    <a16:creationId xmlns:a16="http://schemas.microsoft.com/office/drawing/2014/main" id="{E14BB984-F78C-9ED9-63CC-7F7D6E4B1C1A}"/>
                  </a:ext>
                </a:extLst>
              </p:cNvPr>
              <p:cNvSpPr/>
              <p:nvPr/>
            </p:nvSpPr>
            <p:spPr>
              <a:xfrm>
                <a:off x="8302517" y="2778785"/>
                <a:ext cx="657" cy="580167"/>
              </a:xfrm>
              <a:custGeom>
                <a:avLst/>
                <a:gdLst/>
                <a:ahLst/>
                <a:cxnLst/>
                <a:rect l="l" t="t" r="r" b="b"/>
                <a:pathLst>
                  <a:path w="634" h="560705">
                    <a:moveTo>
                      <a:pt x="253" y="-6096"/>
                    </a:moveTo>
                    <a:lnTo>
                      <a:pt x="253" y="566547"/>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1" name="object 39">
                <a:extLst>
                  <a:ext uri="{FF2B5EF4-FFF2-40B4-BE49-F238E27FC236}">
                    <a16:creationId xmlns:a16="http://schemas.microsoft.com/office/drawing/2014/main" id="{A706EDC4-1B57-1732-4E20-EBE635E96DDF}"/>
                  </a:ext>
                </a:extLst>
              </p:cNvPr>
              <p:cNvSpPr txBox="1"/>
              <p:nvPr/>
            </p:nvSpPr>
            <p:spPr>
              <a:xfrm>
                <a:off x="7891078" y="1941585"/>
                <a:ext cx="1498052" cy="751488"/>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Pulmonary arteries:</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Carry</a:t>
                </a:r>
                <a:r>
                  <a:rPr kumimoji="0" sz="1200" b="0" i="0" u="none" strike="noStrike" kern="1200" cap="none" spc="-5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de-oxygenated</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blood from the </a:t>
                </a:r>
                <a:r>
                  <a:rPr kumimoji="0" sz="1200" b="0" i="0" u="none" strike="noStrike" kern="1200" cap="none" spc="-5" normalizeH="0" baseline="0" noProof="0" dirty="0">
                    <a:ln>
                      <a:noFill/>
                    </a:ln>
                    <a:solidFill>
                      <a:srgbClr val="000000"/>
                    </a:solidFill>
                    <a:effectLst/>
                    <a:uLnTx/>
                    <a:uFillTx/>
                    <a:latin typeface="Arial"/>
                    <a:ea typeface="+mn-ea"/>
                    <a:cs typeface="Arial"/>
                  </a:rPr>
                  <a:t>heart</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to</a:t>
                </a:r>
                <a:r>
                  <a:rPr kumimoji="0" sz="1200" b="0" i="0" u="none" strike="noStrike" kern="1200" cap="none" spc="-1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the</a:t>
                </a:r>
                <a:r>
                  <a:rPr kumimoji="0" sz="1200" b="0" i="0" u="none" strike="noStrike" kern="1200" cap="none" spc="-15"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lungs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82" name="Oval 81">
                <a:extLst>
                  <a:ext uri="{FF2B5EF4-FFF2-40B4-BE49-F238E27FC236}">
                    <a16:creationId xmlns:a16="http://schemas.microsoft.com/office/drawing/2014/main" id="{B3B954B1-3655-CD40-5B8E-E0C81602BBB1}"/>
                  </a:ext>
                </a:extLst>
              </p:cNvPr>
              <p:cNvSpPr>
                <a:spLocks/>
              </p:cNvSpPr>
              <p:nvPr/>
            </p:nvSpPr>
            <p:spPr>
              <a:xfrm>
                <a:off x="8269403" y="3340161"/>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83" name="Group 82">
              <a:extLst>
                <a:ext uri="{FF2B5EF4-FFF2-40B4-BE49-F238E27FC236}">
                  <a16:creationId xmlns:a16="http://schemas.microsoft.com/office/drawing/2014/main" id="{31AE1C2E-0C79-C1A1-6B3D-E60B8F4746C9}"/>
                </a:ext>
              </a:extLst>
            </p:cNvPr>
            <p:cNvGrpSpPr/>
            <p:nvPr/>
          </p:nvGrpSpPr>
          <p:grpSpPr>
            <a:xfrm>
              <a:off x="7908293" y="3892075"/>
              <a:ext cx="1446277" cy="623554"/>
              <a:chOff x="7908293" y="3892075"/>
              <a:chExt cx="1446277" cy="623554"/>
            </a:xfrm>
          </p:grpSpPr>
          <p:sp>
            <p:nvSpPr>
              <p:cNvPr id="84" name="object 29">
                <a:extLst>
                  <a:ext uri="{FF2B5EF4-FFF2-40B4-BE49-F238E27FC236}">
                    <a16:creationId xmlns:a16="http://schemas.microsoft.com/office/drawing/2014/main" id="{E8667437-6C63-0132-F47C-F78490C07261}"/>
                  </a:ext>
                </a:extLst>
              </p:cNvPr>
              <p:cNvSpPr/>
              <p:nvPr/>
            </p:nvSpPr>
            <p:spPr>
              <a:xfrm>
                <a:off x="8195288" y="4339913"/>
                <a:ext cx="494095" cy="0"/>
              </a:xfrm>
              <a:custGeom>
                <a:avLst/>
                <a:gdLst/>
                <a:ahLst/>
                <a:cxnLst/>
                <a:rect l="l" t="t" r="r" b="b"/>
                <a:pathLst>
                  <a:path w="477520">
                    <a:moveTo>
                      <a:pt x="0" y="0"/>
                    </a:moveTo>
                    <a:lnTo>
                      <a:pt x="238633" y="0"/>
                    </a:lnTo>
                    <a:lnTo>
                      <a:pt x="477139" y="0"/>
                    </a:lnTo>
                  </a:path>
                </a:pathLst>
              </a:custGeom>
              <a:ln w="12192">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85" name="Group 84">
                <a:extLst>
                  <a:ext uri="{FF2B5EF4-FFF2-40B4-BE49-F238E27FC236}">
                    <a16:creationId xmlns:a16="http://schemas.microsoft.com/office/drawing/2014/main" id="{B65247F6-2404-64E9-5208-C40F50BB066D}"/>
                  </a:ext>
                </a:extLst>
              </p:cNvPr>
              <p:cNvGrpSpPr/>
              <p:nvPr/>
            </p:nvGrpSpPr>
            <p:grpSpPr>
              <a:xfrm>
                <a:off x="7908293" y="3892075"/>
                <a:ext cx="1446277" cy="623554"/>
                <a:chOff x="7908293" y="3892075"/>
                <a:chExt cx="1446277" cy="623554"/>
              </a:xfrm>
            </p:grpSpPr>
            <p:sp>
              <p:nvSpPr>
                <p:cNvPr id="86" name="object 27">
                  <a:extLst>
                    <a:ext uri="{FF2B5EF4-FFF2-40B4-BE49-F238E27FC236}">
                      <a16:creationId xmlns:a16="http://schemas.microsoft.com/office/drawing/2014/main" id="{5A2BD199-B8C7-F5E5-66A6-A7A0EDB6FFDA}"/>
                    </a:ext>
                  </a:extLst>
                </p:cNvPr>
                <p:cNvSpPr txBox="1"/>
                <p:nvPr/>
              </p:nvSpPr>
              <p:spPr>
                <a:xfrm>
                  <a:off x="8679789" y="4133473"/>
                  <a:ext cx="674781" cy="382156"/>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Alveoli</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(air</a:t>
                  </a:r>
                  <a:r>
                    <a:rPr kumimoji="0" sz="1200" b="0" i="0" u="none" strike="noStrike" kern="1200" cap="none" spc="-8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sacs)</a:t>
                  </a:r>
                </a:p>
              </p:txBody>
            </p:sp>
            <p:sp>
              <p:nvSpPr>
                <p:cNvPr id="87" name="object 31">
                  <a:extLst>
                    <a:ext uri="{FF2B5EF4-FFF2-40B4-BE49-F238E27FC236}">
                      <a16:creationId xmlns:a16="http://schemas.microsoft.com/office/drawing/2014/main" id="{595C9B9A-A616-0505-CA4D-C0A8774B3E91}"/>
                    </a:ext>
                  </a:extLst>
                </p:cNvPr>
                <p:cNvSpPr/>
                <p:nvPr/>
              </p:nvSpPr>
              <p:spPr>
                <a:xfrm>
                  <a:off x="7982407" y="3929920"/>
                  <a:ext cx="708947" cy="409993"/>
                </a:xfrm>
                <a:custGeom>
                  <a:avLst/>
                  <a:gdLst/>
                  <a:ahLst/>
                  <a:cxnLst/>
                  <a:rect l="l" t="t" r="r" b="b"/>
                  <a:pathLst>
                    <a:path w="685165" h="396239">
                      <a:moveTo>
                        <a:pt x="0" y="0"/>
                      </a:moveTo>
                      <a:lnTo>
                        <a:pt x="456692" y="0"/>
                      </a:lnTo>
                      <a:lnTo>
                        <a:pt x="456692" y="395731"/>
                      </a:lnTo>
                      <a:lnTo>
                        <a:pt x="684656" y="395731"/>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8" name="Oval 87">
                  <a:extLst>
                    <a:ext uri="{FF2B5EF4-FFF2-40B4-BE49-F238E27FC236}">
                      <a16:creationId xmlns:a16="http://schemas.microsoft.com/office/drawing/2014/main" id="{6A542CAD-85F5-17E4-E6E5-17942FD809D3}"/>
                    </a:ext>
                  </a:extLst>
                </p:cNvPr>
                <p:cNvSpPr>
                  <a:spLocks/>
                </p:cNvSpPr>
                <p:nvPr/>
              </p:nvSpPr>
              <p:spPr>
                <a:xfrm>
                  <a:off x="7908293" y="3892075"/>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9" name="Oval 88">
                  <a:extLst>
                    <a:ext uri="{FF2B5EF4-FFF2-40B4-BE49-F238E27FC236}">
                      <a16:creationId xmlns:a16="http://schemas.microsoft.com/office/drawing/2014/main" id="{6C101B23-37BC-11F5-14AA-ED49CC8A37AC}"/>
                    </a:ext>
                  </a:extLst>
                </p:cNvPr>
                <p:cNvSpPr>
                  <a:spLocks/>
                </p:cNvSpPr>
                <p:nvPr/>
              </p:nvSpPr>
              <p:spPr>
                <a:xfrm>
                  <a:off x="8157443" y="4305222"/>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grpSp>
          <p:nvGrpSpPr>
            <p:cNvPr id="90" name="Group 89">
              <a:extLst>
                <a:ext uri="{FF2B5EF4-FFF2-40B4-BE49-F238E27FC236}">
                  <a16:creationId xmlns:a16="http://schemas.microsoft.com/office/drawing/2014/main" id="{F6017984-1A66-D777-A5D2-0C7A6A309647}"/>
                </a:ext>
              </a:extLst>
            </p:cNvPr>
            <p:cNvGrpSpPr/>
            <p:nvPr/>
          </p:nvGrpSpPr>
          <p:grpSpPr>
            <a:xfrm>
              <a:off x="7468338" y="4265801"/>
              <a:ext cx="2442088" cy="1190676"/>
              <a:chOff x="7468338" y="4265801"/>
              <a:chExt cx="2442088" cy="1190676"/>
            </a:xfrm>
          </p:grpSpPr>
          <p:sp>
            <p:nvSpPr>
              <p:cNvPr id="91" name="object 42">
                <a:extLst>
                  <a:ext uri="{FF2B5EF4-FFF2-40B4-BE49-F238E27FC236}">
                    <a16:creationId xmlns:a16="http://schemas.microsoft.com/office/drawing/2014/main" id="{4CA83228-AD20-ECCC-5116-5770A5D2E359}"/>
                  </a:ext>
                </a:extLst>
              </p:cNvPr>
              <p:cNvSpPr txBox="1"/>
              <p:nvPr/>
            </p:nvSpPr>
            <p:spPr>
              <a:xfrm>
                <a:off x="8160071" y="4679341"/>
                <a:ext cx="1750355" cy="777136"/>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Pulmonary veins: Return oxygenated blood to the</a:t>
                </a:r>
              </a:p>
              <a:p>
                <a:pPr marL="12700" marR="0" lvl="0" indent="0" algn="l"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heart where it is pumped</a:t>
                </a:r>
              </a:p>
              <a:p>
                <a:pPr marL="12700" marR="0" lvl="0" indent="0" algn="l"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to the rest of the body</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92" name="Oval 91">
                <a:extLst>
                  <a:ext uri="{FF2B5EF4-FFF2-40B4-BE49-F238E27FC236}">
                    <a16:creationId xmlns:a16="http://schemas.microsoft.com/office/drawing/2014/main" id="{E0752725-2231-F159-D3D4-018CCDD21D23}"/>
                  </a:ext>
                </a:extLst>
              </p:cNvPr>
              <p:cNvSpPr>
                <a:spLocks/>
              </p:cNvSpPr>
              <p:nvPr/>
            </p:nvSpPr>
            <p:spPr>
              <a:xfrm>
                <a:off x="7468338" y="4265801"/>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3" name="object 19">
                <a:extLst>
                  <a:ext uri="{FF2B5EF4-FFF2-40B4-BE49-F238E27FC236}">
                    <a16:creationId xmlns:a16="http://schemas.microsoft.com/office/drawing/2014/main" id="{A461583B-2123-715D-D40E-1F6795EDBC6B}"/>
                  </a:ext>
                </a:extLst>
              </p:cNvPr>
              <p:cNvSpPr/>
              <p:nvPr/>
            </p:nvSpPr>
            <p:spPr>
              <a:xfrm rot="16200000">
                <a:off x="7459764" y="4380304"/>
                <a:ext cx="723467" cy="630890"/>
              </a:xfrm>
              <a:custGeom>
                <a:avLst/>
                <a:gdLst/>
                <a:ahLst/>
                <a:cxnLst/>
                <a:rect l="l" t="t" r="r" b="b"/>
                <a:pathLst>
                  <a:path w="677545" h="400050">
                    <a:moveTo>
                      <a:pt x="0" y="399542"/>
                    </a:moveTo>
                    <a:lnTo>
                      <a:pt x="3556" y="399542"/>
                    </a:lnTo>
                    <a:lnTo>
                      <a:pt x="3556" y="0"/>
                    </a:lnTo>
                    <a:lnTo>
                      <a:pt x="677545"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94" name="Group 93">
              <a:extLst>
                <a:ext uri="{FF2B5EF4-FFF2-40B4-BE49-F238E27FC236}">
                  <a16:creationId xmlns:a16="http://schemas.microsoft.com/office/drawing/2014/main" id="{AEC2AA47-F2D3-E905-6DDE-8A5C3F2B8974}"/>
                </a:ext>
              </a:extLst>
            </p:cNvPr>
            <p:cNvGrpSpPr/>
            <p:nvPr/>
          </p:nvGrpSpPr>
          <p:grpSpPr>
            <a:xfrm>
              <a:off x="5345835" y="4420336"/>
              <a:ext cx="2257596" cy="1069646"/>
              <a:chOff x="5345835" y="4420336"/>
              <a:chExt cx="2257596" cy="1069646"/>
            </a:xfrm>
          </p:grpSpPr>
          <p:sp>
            <p:nvSpPr>
              <p:cNvPr id="95" name="object 37">
                <a:extLst>
                  <a:ext uri="{FF2B5EF4-FFF2-40B4-BE49-F238E27FC236}">
                    <a16:creationId xmlns:a16="http://schemas.microsoft.com/office/drawing/2014/main" id="{A35CCDC2-6E29-FDF0-EAFA-F1661BCE6F90}"/>
                  </a:ext>
                </a:extLst>
              </p:cNvPr>
              <p:cNvSpPr txBox="1"/>
              <p:nvPr/>
            </p:nvSpPr>
            <p:spPr>
              <a:xfrm>
                <a:off x="6660224" y="5292492"/>
                <a:ext cx="943207" cy="197490"/>
              </a:xfrm>
              <a:prstGeom prst="rect">
                <a:avLst/>
              </a:prstGeom>
            </p:spPr>
            <p:txBody>
              <a:bodyPr vert="horz" wrap="non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tab pos="481965"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Small</a:t>
                </a:r>
                <a:r>
                  <a:rPr kumimoji="0" sz="1200" b="0" i="0" u="none" strike="noStrike" kern="1200" cap="none" spc="-50" normalizeH="0" baseline="0" noProof="0" dirty="0">
                    <a:ln>
                      <a:noFill/>
                    </a:ln>
                    <a:solidFill>
                      <a:srgbClr val="000000"/>
                    </a:solidFill>
                    <a:effectLst/>
                    <a:uLnTx/>
                    <a:uFillTx/>
                    <a:latin typeface="Arial"/>
                    <a:ea typeface="+mn-ea"/>
                    <a:cs typeface="Arial"/>
                  </a:rPr>
                  <a:t> </a:t>
                </a:r>
                <a:r>
                  <a:rPr kumimoji="0" sz="1200" b="0" i="0" u="none" strike="noStrike" kern="1200" cap="none" spc="-10" normalizeH="0" baseline="0" noProof="0" dirty="0">
                    <a:ln>
                      <a:noFill/>
                    </a:ln>
                    <a:solidFill>
                      <a:srgbClr val="000000"/>
                    </a:solidFill>
                    <a:effectLst/>
                    <a:uLnTx/>
                    <a:uFillTx/>
                    <a:latin typeface="Arial"/>
                    <a:ea typeface="+mn-ea"/>
                    <a:cs typeface="Arial"/>
                  </a:rPr>
                  <a:t>airways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96" name="Oval 95">
                <a:extLst>
                  <a:ext uri="{FF2B5EF4-FFF2-40B4-BE49-F238E27FC236}">
                    <a16:creationId xmlns:a16="http://schemas.microsoft.com/office/drawing/2014/main" id="{F862E512-9177-4F8A-BF81-E48D77D38DB6}"/>
                  </a:ext>
                </a:extLst>
              </p:cNvPr>
              <p:cNvSpPr>
                <a:spLocks/>
              </p:cNvSpPr>
              <p:nvPr/>
            </p:nvSpPr>
            <p:spPr>
              <a:xfrm>
                <a:off x="5345835" y="442033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97" name="object 13">
                <a:extLst>
                  <a:ext uri="{FF2B5EF4-FFF2-40B4-BE49-F238E27FC236}">
                    <a16:creationId xmlns:a16="http://schemas.microsoft.com/office/drawing/2014/main" id="{E080EA33-21C7-31CE-9805-D0695E7E38C2}"/>
                  </a:ext>
                </a:extLst>
              </p:cNvPr>
              <p:cNvSpPr/>
              <p:nvPr/>
            </p:nvSpPr>
            <p:spPr>
              <a:xfrm>
                <a:off x="5397359" y="4458180"/>
                <a:ext cx="1235216" cy="952019"/>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98" name="Group 97">
              <a:extLst>
                <a:ext uri="{FF2B5EF4-FFF2-40B4-BE49-F238E27FC236}">
                  <a16:creationId xmlns:a16="http://schemas.microsoft.com/office/drawing/2014/main" id="{5C1B56A6-BFB5-7A52-2EA9-42BB2C9443F9}"/>
                </a:ext>
              </a:extLst>
            </p:cNvPr>
            <p:cNvGrpSpPr/>
            <p:nvPr/>
          </p:nvGrpSpPr>
          <p:grpSpPr>
            <a:xfrm>
              <a:off x="1925724" y="4420336"/>
              <a:ext cx="1961481" cy="197490"/>
              <a:chOff x="1925724" y="4420336"/>
              <a:chExt cx="1961481" cy="197490"/>
            </a:xfrm>
          </p:grpSpPr>
          <p:sp>
            <p:nvSpPr>
              <p:cNvPr id="99" name="object 17">
                <a:extLst>
                  <a:ext uri="{FF2B5EF4-FFF2-40B4-BE49-F238E27FC236}">
                    <a16:creationId xmlns:a16="http://schemas.microsoft.com/office/drawing/2014/main" id="{B984CE83-6D07-1646-0880-5F2FF6DB2E32}"/>
                  </a:ext>
                </a:extLst>
              </p:cNvPr>
              <p:cNvSpPr/>
              <p:nvPr/>
            </p:nvSpPr>
            <p:spPr>
              <a:xfrm>
                <a:off x="2843298" y="4538602"/>
                <a:ext cx="968478" cy="0"/>
              </a:xfrm>
              <a:custGeom>
                <a:avLst/>
                <a:gdLst/>
                <a:ahLst/>
                <a:cxnLst/>
                <a:rect l="l" t="t" r="r" b="b"/>
                <a:pathLst>
                  <a:path w="935989">
                    <a:moveTo>
                      <a:pt x="935736" y="0"/>
                    </a:moveTo>
                    <a:lnTo>
                      <a:pt x="467868"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0" name="Oval 99">
                <a:extLst>
                  <a:ext uri="{FF2B5EF4-FFF2-40B4-BE49-F238E27FC236}">
                    <a16:creationId xmlns:a16="http://schemas.microsoft.com/office/drawing/2014/main" id="{D81C0EDA-1BC1-9E69-5F20-901044B7D056}"/>
                  </a:ext>
                </a:extLst>
              </p:cNvPr>
              <p:cNvSpPr>
                <a:spLocks/>
              </p:cNvSpPr>
              <p:nvPr/>
            </p:nvSpPr>
            <p:spPr>
              <a:xfrm>
                <a:off x="3813091" y="450075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1" name="object 10">
                <a:extLst>
                  <a:ext uri="{FF2B5EF4-FFF2-40B4-BE49-F238E27FC236}">
                    <a16:creationId xmlns:a16="http://schemas.microsoft.com/office/drawing/2014/main" id="{1747B378-47D2-E08B-6808-FC47F6689089}"/>
                  </a:ext>
                </a:extLst>
              </p:cNvPr>
              <p:cNvSpPr txBox="1"/>
              <p:nvPr/>
            </p:nvSpPr>
            <p:spPr>
              <a:xfrm>
                <a:off x="1925724" y="4420336"/>
                <a:ext cx="891270" cy="197490"/>
              </a:xfrm>
              <a:prstGeom prst="rect">
                <a:avLst/>
              </a:prstGeom>
            </p:spPr>
            <p:txBody>
              <a:bodyPr vert="horz" wrap="none" lIns="0" tIns="12700" rIns="0" bIns="0" rtlCol="0">
                <a:spAutoFit/>
              </a:bodyPr>
              <a:lstStyle/>
              <a:p>
                <a:pPr marL="0" marR="508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Thoracic wall</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02" name="Group 101">
              <a:extLst>
                <a:ext uri="{FF2B5EF4-FFF2-40B4-BE49-F238E27FC236}">
                  <a16:creationId xmlns:a16="http://schemas.microsoft.com/office/drawing/2014/main" id="{9FB08406-45F4-2EE9-CC3D-6F3FDB2AD04B}"/>
                </a:ext>
              </a:extLst>
            </p:cNvPr>
            <p:cNvGrpSpPr/>
            <p:nvPr/>
          </p:nvGrpSpPr>
          <p:grpSpPr>
            <a:xfrm>
              <a:off x="2105261" y="2613916"/>
              <a:ext cx="2647660" cy="1164620"/>
              <a:chOff x="2105261" y="2613916"/>
              <a:chExt cx="2647660" cy="1164620"/>
            </a:xfrm>
          </p:grpSpPr>
          <p:sp>
            <p:nvSpPr>
              <p:cNvPr id="103" name="object 13">
                <a:extLst>
                  <a:ext uri="{FF2B5EF4-FFF2-40B4-BE49-F238E27FC236}">
                    <a16:creationId xmlns:a16="http://schemas.microsoft.com/office/drawing/2014/main" id="{2B474F97-4B80-FDAC-9040-7D2372D95745}"/>
                  </a:ext>
                </a:extLst>
              </p:cNvPr>
              <p:cNvSpPr/>
              <p:nvPr/>
            </p:nvSpPr>
            <p:spPr>
              <a:xfrm>
                <a:off x="2854335" y="2848364"/>
                <a:ext cx="1845537" cy="892580"/>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4" name="Oval 103">
                <a:extLst>
                  <a:ext uri="{FF2B5EF4-FFF2-40B4-BE49-F238E27FC236}">
                    <a16:creationId xmlns:a16="http://schemas.microsoft.com/office/drawing/2014/main" id="{3EEC0B0E-BDD7-7448-7652-A1E07102D865}"/>
                  </a:ext>
                </a:extLst>
              </p:cNvPr>
              <p:cNvSpPr>
                <a:spLocks/>
              </p:cNvSpPr>
              <p:nvPr/>
            </p:nvSpPr>
            <p:spPr>
              <a:xfrm>
                <a:off x="4678807" y="370284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5" name="object 9">
                <a:extLst>
                  <a:ext uri="{FF2B5EF4-FFF2-40B4-BE49-F238E27FC236}">
                    <a16:creationId xmlns:a16="http://schemas.microsoft.com/office/drawing/2014/main" id="{D74C6A28-E098-824E-A292-4F9AF84C0E5F}"/>
                  </a:ext>
                </a:extLst>
              </p:cNvPr>
              <p:cNvSpPr txBox="1"/>
              <p:nvPr/>
            </p:nvSpPr>
            <p:spPr>
              <a:xfrm>
                <a:off x="2105261" y="2613916"/>
                <a:ext cx="711733" cy="382156"/>
              </a:xfrm>
              <a:prstGeom prst="rect">
                <a:avLst/>
              </a:prstGeom>
            </p:spPr>
            <p:txBody>
              <a:bodyPr vert="horz" wrap="non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Trachea</a:t>
                </a:r>
                <a:br>
                  <a:rPr kumimoji="0" lang="en-US" sz="1200" b="0" i="0" u="none" strike="noStrike" kern="1200" cap="none" spc="-5" normalizeH="0" baseline="0" noProof="0" dirty="0">
                    <a:ln>
                      <a:noFill/>
                    </a:ln>
                    <a:solidFill>
                      <a:srgbClr val="000000"/>
                    </a:solidFill>
                    <a:effectLst/>
                    <a:uLnTx/>
                    <a:uFillTx/>
                    <a:latin typeface="Arial"/>
                    <a:ea typeface="+mn-ea"/>
                    <a:cs typeface="Arial"/>
                  </a:rPr>
                </a:br>
                <a:r>
                  <a:rPr kumimoji="0" lang="en-US" sz="1200" b="0" i="0" u="none" strike="noStrike" kern="1200" cap="none" spc="-5" normalizeH="0" baseline="0" noProof="0" dirty="0">
                    <a:ln>
                      <a:noFill/>
                    </a:ln>
                    <a:solidFill>
                      <a:srgbClr val="000000"/>
                    </a:solidFill>
                    <a:effectLst/>
                    <a:uLnTx/>
                    <a:uFillTx/>
                    <a:latin typeface="Arial"/>
                    <a:ea typeface="+mn-ea"/>
                    <a:cs typeface="Arial"/>
                  </a:rPr>
                  <a:t>(windpipe)</a:t>
                </a:r>
              </a:p>
            </p:txBody>
          </p:sp>
        </p:grpSp>
      </p:grpSp>
      <p:sp>
        <p:nvSpPr>
          <p:cNvPr id="106" name="Text Placeholder 10">
            <a:extLst>
              <a:ext uri="{FF2B5EF4-FFF2-40B4-BE49-F238E27FC236}">
                <a16:creationId xmlns:a16="http://schemas.microsoft.com/office/drawing/2014/main" id="{D588F6CD-B3B0-F055-1734-E32516F02B56}"/>
              </a:ext>
            </a:extLst>
          </p:cNvPr>
          <p:cNvSpPr txBox="1">
            <a:spLocks/>
          </p:cNvSpPr>
          <p:nvPr/>
        </p:nvSpPr>
        <p:spPr>
          <a:xfrm>
            <a:off x="360852" y="5790770"/>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GB"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 2. Global Initiative for Chronic Obstructive Lung Disease;GOLD;2023;1-205. Available at: https://goldcopd.org/2023-gold-report-2/. Accessed February 2023; 3. CDC;2003;1-257; Niosh Spirometry Training Guide. Available at: https://www.cdc.gov/niosh/docs/2004-154c/pdfs/2004-154c.pdf. Accessed March 2021; 4. Msdmanuals;2020;1-7;COPD - Lung and Airway Disorders - MSD Manual Consumer Version. Available at: http://www.msdmanuals.com/home/lung-and-airway-disorders/chronic-obstructive-pulmonary-disease-copd/chronic-obstructive-pulmonary-disease-chronic-bronchitis-emphysema. Accessed March 2021.</a:t>
            </a:r>
          </a:p>
        </p:txBody>
      </p:sp>
      <p:sp>
        <p:nvSpPr>
          <p:cNvPr id="4" name="Rectangle 3">
            <a:extLst>
              <a:ext uri="{FF2B5EF4-FFF2-40B4-BE49-F238E27FC236}">
                <a16:creationId xmlns:a16="http://schemas.microsoft.com/office/drawing/2014/main" id="{9AD081E2-6990-C6C2-E5A2-39BB52B1FCBC}"/>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798724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E10973-BACC-7780-6D19-1F6EE4B33408}"/>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49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7CE1B0C0-0F75-1D60-13F8-F62564004688}"/>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8B9AF040-8A15-1E7C-506E-5B5B0772919E}"/>
              </a:ext>
            </a:extLst>
          </p:cNvPr>
          <p:cNvSpPr>
            <a:spLocks noGrp="1"/>
          </p:cNvSpPr>
          <p:nvPr>
            <p:ph type="title"/>
          </p:nvPr>
        </p:nvSpPr>
        <p:spPr/>
        <p:txBody>
          <a:bodyPr/>
          <a:lstStyle/>
          <a:p>
            <a:r>
              <a:rPr lang="en-US" dirty="0"/>
              <a:t>Lungs and Airways in Patients With COPD</a:t>
            </a:r>
            <a:r>
              <a:rPr lang="en-US" baseline="30000" dirty="0"/>
              <a:t>1–4</a:t>
            </a:r>
            <a:endParaRPr lang="en-GB" dirty="0"/>
          </a:p>
        </p:txBody>
      </p:sp>
      <p:sp>
        <p:nvSpPr>
          <p:cNvPr id="106" name="Text Placeholder 10">
            <a:extLst>
              <a:ext uri="{FF2B5EF4-FFF2-40B4-BE49-F238E27FC236}">
                <a16:creationId xmlns:a16="http://schemas.microsoft.com/office/drawing/2014/main" id="{D588F6CD-B3B0-F055-1734-E32516F02B56}"/>
              </a:ext>
            </a:extLst>
          </p:cNvPr>
          <p:cNvSpPr txBox="1">
            <a:spLocks/>
          </p:cNvSpPr>
          <p:nvPr/>
        </p:nvSpPr>
        <p:spPr>
          <a:xfrm>
            <a:off x="362743" y="5790825"/>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GB" sz="800" b="0" i="0" u="none" strike="noStrike" kern="1200" cap="none" spc="0" normalizeH="0" baseline="0" noProof="0" dirty="0">
                <a:ln>
                  <a:noFill/>
                </a:ln>
                <a:solidFill>
                  <a:srgbClr val="000000"/>
                </a:solidFill>
                <a:effectLst/>
                <a:uLnTx/>
                <a:uFillTx/>
                <a:latin typeface="Arial"/>
                <a:ea typeface="+mn-ea"/>
                <a:cs typeface="Noto Sans"/>
              </a:rPr>
              <a:t>CO</a:t>
            </a:r>
            <a:r>
              <a:rPr kumimoji="0" lang="en-GB" sz="800" b="0" i="0" u="none" strike="noStrike" kern="1200" cap="none" spc="0" normalizeH="0" baseline="-25000" noProof="0" dirty="0">
                <a:ln>
                  <a:noFill/>
                </a:ln>
                <a:solidFill>
                  <a:srgbClr val="000000"/>
                </a:solidFill>
                <a:effectLst/>
                <a:uLnTx/>
                <a:uFillTx/>
                <a:latin typeface="Arial"/>
                <a:ea typeface="+mn-ea"/>
                <a:cs typeface="Noto Sans"/>
              </a:rPr>
              <a:t>2</a:t>
            </a:r>
            <a:r>
              <a:rPr kumimoji="0" lang="en-GB" sz="800" b="0" i="0" u="none" strike="noStrike" kern="1200" cap="none" spc="0" normalizeH="0" baseline="0" noProof="0" dirty="0">
                <a:ln>
                  <a:noFill/>
                </a:ln>
                <a:solidFill>
                  <a:srgbClr val="000000"/>
                </a:solidFill>
                <a:effectLst/>
                <a:uLnTx/>
                <a:uFillTx/>
                <a:latin typeface="Arial"/>
                <a:ea typeface="+mn-ea"/>
                <a:cs typeface="Noto Sans"/>
              </a:rPr>
              <a:t>, carbon dioxide; COPD, </a:t>
            </a:r>
            <a:r>
              <a:rPr kumimoji="0" lang="en-US" sz="800" b="0" i="0" u="none" strike="noStrike" kern="1200" cap="none" spc="0" normalizeH="0" baseline="0" noProof="0" dirty="0">
                <a:ln>
                  <a:noFill/>
                </a:ln>
                <a:solidFill>
                  <a:srgbClr val="000000"/>
                </a:solidFill>
                <a:effectLst/>
                <a:uLnTx/>
                <a:uFillTx/>
                <a:latin typeface="Arial"/>
                <a:ea typeface="+mn-ea"/>
                <a:cs typeface="Noto Sans"/>
              </a:rPr>
              <a:t>chronic obstructive pulmonary disease</a:t>
            </a:r>
            <a:r>
              <a:rPr kumimoji="0" lang="en-GB" sz="800" b="0" i="0" u="none" strike="noStrike" kern="1200" cap="none" spc="0" normalizeH="0" baseline="0" noProof="0" dirty="0">
                <a:ln>
                  <a:noFill/>
                </a:ln>
                <a:solidFill>
                  <a:srgbClr val="000000"/>
                </a:solidFill>
                <a:effectLst/>
                <a:uLnTx/>
                <a:uFillTx/>
                <a:latin typeface="Arial"/>
                <a:ea typeface="+mn-ea"/>
                <a:cs typeface="Noto Sans"/>
              </a:rPr>
              <a:t>.</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GB"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 2. Global Initiative for Chronic Obstructive Lung Disease;GOLD;2023;1-205. Available at: https://goldcopd.org/2023-gold-report-2/. Accessed February 2023;  3. CDC;2003;1-257; Niosh Spirometry Training Guide. Available at: https://www.cdc.gov/niosh/docs/2004-154c/pdfs/2004-154c.pdf. Accessed March 2021; 4. Msdmanuals;2020;1-7;COPD - Lung and Airway Disorders - MSD Manual Consumer Version. Available at: http://www.msdmanuals.com/home/lung-and-airway-disorders/chronic-obstructive-pulmonary-disease-copd/chronic-obstructive-pulmonary-disease-chronic-bronchitis-emphysema. Accessed March 2021.</a:t>
            </a:r>
          </a:p>
        </p:txBody>
      </p:sp>
      <p:grpSp>
        <p:nvGrpSpPr>
          <p:cNvPr id="153" name="Group 152">
            <a:extLst>
              <a:ext uri="{FF2B5EF4-FFF2-40B4-BE49-F238E27FC236}">
                <a16:creationId xmlns:a16="http://schemas.microsoft.com/office/drawing/2014/main" id="{55ADF833-3DCA-02F4-22A7-C341B89086CD}"/>
              </a:ext>
            </a:extLst>
          </p:cNvPr>
          <p:cNvGrpSpPr/>
          <p:nvPr/>
        </p:nvGrpSpPr>
        <p:grpSpPr>
          <a:xfrm>
            <a:off x="1691708" y="1257120"/>
            <a:ext cx="8987199" cy="4254214"/>
            <a:chOff x="1661228" y="1440000"/>
            <a:chExt cx="8987199" cy="4254214"/>
          </a:xfrm>
        </p:grpSpPr>
        <p:pic>
          <p:nvPicPr>
            <p:cNvPr id="154" name="object 4">
              <a:extLst>
                <a:ext uri="{FF2B5EF4-FFF2-40B4-BE49-F238E27FC236}">
                  <a16:creationId xmlns:a16="http://schemas.microsoft.com/office/drawing/2014/main" id="{1D70AADF-F55B-FF84-1A7E-5499148F1B10}"/>
                </a:ext>
              </a:extLst>
            </p:cNvPr>
            <p:cNvPicPr>
              <a:picLocks/>
            </p:cNvPicPr>
            <p:nvPr/>
          </p:nvPicPr>
          <p:blipFill>
            <a:blip r:embed="rId2" cstate="print"/>
            <a:stretch>
              <a:fillRect/>
            </a:stretch>
          </p:blipFill>
          <p:spPr>
            <a:xfrm>
              <a:off x="3202830" y="1440000"/>
              <a:ext cx="5251068" cy="3976936"/>
            </a:xfrm>
            <a:prstGeom prst="rect">
              <a:avLst/>
            </a:prstGeom>
          </p:spPr>
        </p:pic>
        <p:sp>
          <p:nvSpPr>
            <p:cNvPr id="155" name="object 38">
              <a:extLst>
                <a:ext uri="{FF2B5EF4-FFF2-40B4-BE49-F238E27FC236}">
                  <a16:creationId xmlns:a16="http://schemas.microsoft.com/office/drawing/2014/main" id="{DCFE8729-FA4B-C161-F18C-0A992A2AE46B}"/>
                </a:ext>
              </a:extLst>
            </p:cNvPr>
            <p:cNvSpPr txBox="1"/>
            <p:nvPr/>
          </p:nvSpPr>
          <p:spPr>
            <a:xfrm>
              <a:off x="4459093" y="4984603"/>
              <a:ext cx="850868" cy="215508"/>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1" i="0" u="none" strike="noStrike" kern="1200" cap="none" spc="-5" normalizeH="0" baseline="0" noProof="0" dirty="0">
                  <a:ln>
                    <a:noFill/>
                  </a:ln>
                  <a:solidFill>
                    <a:srgbClr val="534F40"/>
                  </a:solidFill>
                  <a:effectLst/>
                  <a:uLnTx/>
                  <a:uFillTx/>
                  <a:latin typeface="Arial"/>
                  <a:ea typeface="+mn-ea"/>
                  <a:cs typeface="Arial"/>
                </a:rPr>
                <a:t>Diaphragm</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56" name="Group 155">
              <a:extLst>
                <a:ext uri="{FF2B5EF4-FFF2-40B4-BE49-F238E27FC236}">
                  <a16:creationId xmlns:a16="http://schemas.microsoft.com/office/drawing/2014/main" id="{7ACE3ECA-C39A-42C3-5636-330DBD4B2840}"/>
                </a:ext>
              </a:extLst>
            </p:cNvPr>
            <p:cNvGrpSpPr/>
            <p:nvPr/>
          </p:nvGrpSpPr>
          <p:grpSpPr>
            <a:xfrm>
              <a:off x="1669244" y="3145963"/>
              <a:ext cx="2749374" cy="957414"/>
              <a:chOff x="1669244" y="3145963"/>
              <a:chExt cx="2749374" cy="957414"/>
            </a:xfrm>
          </p:grpSpPr>
          <p:sp>
            <p:nvSpPr>
              <p:cNvPr id="200" name="object 13">
                <a:extLst>
                  <a:ext uri="{FF2B5EF4-FFF2-40B4-BE49-F238E27FC236}">
                    <a16:creationId xmlns:a16="http://schemas.microsoft.com/office/drawing/2014/main" id="{C76B13EC-C393-43CF-1B77-A1E24B15A16C}"/>
                  </a:ext>
                </a:extLst>
              </p:cNvPr>
              <p:cNvSpPr/>
              <p:nvPr/>
            </p:nvSpPr>
            <p:spPr>
              <a:xfrm>
                <a:off x="2854336" y="3243969"/>
                <a:ext cx="1528276" cy="821957"/>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1" name="object 9">
                <a:extLst>
                  <a:ext uri="{FF2B5EF4-FFF2-40B4-BE49-F238E27FC236}">
                    <a16:creationId xmlns:a16="http://schemas.microsoft.com/office/drawing/2014/main" id="{B3F06AF8-7362-BD47-FE57-EB2186EDB15E}"/>
                  </a:ext>
                </a:extLst>
              </p:cNvPr>
              <p:cNvSpPr txBox="1"/>
              <p:nvPr/>
            </p:nvSpPr>
            <p:spPr>
              <a:xfrm>
                <a:off x="1669244" y="3145963"/>
                <a:ext cx="1147750" cy="382156"/>
              </a:xfrm>
              <a:prstGeom prst="rect">
                <a:avLst/>
              </a:prstGeom>
            </p:spPr>
            <p:txBody>
              <a:bodyPr vert="horz" wrap="non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a:t>
                </a:r>
                <a:r>
                  <a:rPr kumimoji="0" lang="en-US" sz="1200" b="0" i="0" u="none" strike="noStrike" kern="1200" cap="none" spc="-5" normalizeH="0" baseline="0" noProof="0" dirty="0">
                    <a:ln>
                      <a:noFill/>
                    </a:ln>
                    <a:solidFill>
                      <a:srgbClr val="F36633"/>
                    </a:solidFill>
                    <a:effectLst/>
                    <a:uLnTx/>
                    <a:uFillTx/>
                    <a:latin typeface="Arial"/>
                    <a:ea typeface="+mn-ea"/>
                    <a:cs typeface="Arial"/>
                  </a:rPr>
                  <a:t> Distorted</a:t>
                </a:r>
                <a:br>
                  <a:rPr kumimoji="0" lang="en-US" sz="1200" b="0" i="0" u="none" strike="noStrike" kern="1200" cap="none" spc="-5" normalizeH="0" baseline="0" noProof="0" dirty="0">
                    <a:ln>
                      <a:noFill/>
                    </a:ln>
                    <a:solidFill>
                      <a:srgbClr val="F36633"/>
                    </a:solidFill>
                    <a:effectLst/>
                    <a:uLnTx/>
                    <a:uFillTx/>
                    <a:latin typeface="Arial"/>
                    <a:ea typeface="+mn-ea"/>
                    <a:cs typeface="Arial"/>
                  </a:rPr>
                </a:br>
                <a:r>
                  <a:rPr kumimoji="0" lang="en-US" sz="1200" b="0" i="0" u="none" strike="noStrike" kern="1200" cap="none" spc="-5" normalizeH="0" baseline="0" noProof="0" dirty="0">
                    <a:ln>
                      <a:noFill/>
                    </a:ln>
                    <a:solidFill>
                      <a:srgbClr val="F36633"/>
                    </a:solidFill>
                    <a:effectLst/>
                    <a:uLnTx/>
                    <a:uFillTx/>
                    <a:latin typeface="Arial"/>
                    <a:ea typeface="+mn-ea"/>
                    <a:cs typeface="Arial"/>
                  </a:rPr>
                  <a:t>bronchus</a:t>
                </a:r>
              </a:p>
            </p:txBody>
          </p:sp>
          <p:sp>
            <p:nvSpPr>
              <p:cNvPr id="202" name="Oval 201">
                <a:extLst>
                  <a:ext uri="{FF2B5EF4-FFF2-40B4-BE49-F238E27FC236}">
                    <a16:creationId xmlns:a16="http://schemas.microsoft.com/office/drawing/2014/main" id="{34AC18B0-E342-E45B-29B6-E2C1D2845DDA}"/>
                  </a:ext>
                </a:extLst>
              </p:cNvPr>
              <p:cNvSpPr>
                <a:spLocks/>
              </p:cNvSpPr>
              <p:nvPr/>
            </p:nvSpPr>
            <p:spPr>
              <a:xfrm>
                <a:off x="4344504" y="4027687"/>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grpSp>
        <p:grpSp>
          <p:nvGrpSpPr>
            <p:cNvPr id="157" name="Group 156">
              <a:extLst>
                <a:ext uri="{FF2B5EF4-FFF2-40B4-BE49-F238E27FC236}">
                  <a16:creationId xmlns:a16="http://schemas.microsoft.com/office/drawing/2014/main" id="{AB04C87F-D916-6625-40CC-DCBEDA0A7CFE}"/>
                </a:ext>
              </a:extLst>
            </p:cNvPr>
            <p:cNvGrpSpPr/>
            <p:nvPr/>
          </p:nvGrpSpPr>
          <p:grpSpPr>
            <a:xfrm>
              <a:off x="5191298" y="3031222"/>
              <a:ext cx="1398314" cy="558087"/>
              <a:chOff x="5191298" y="3031222"/>
              <a:chExt cx="1398314" cy="558087"/>
            </a:xfrm>
          </p:grpSpPr>
          <p:sp>
            <p:nvSpPr>
              <p:cNvPr id="197" name="object 19">
                <a:extLst>
                  <a:ext uri="{FF2B5EF4-FFF2-40B4-BE49-F238E27FC236}">
                    <a16:creationId xmlns:a16="http://schemas.microsoft.com/office/drawing/2014/main" id="{4F64486F-6326-2090-EDA4-FD56860E6EBB}"/>
                  </a:ext>
                </a:extLst>
              </p:cNvPr>
              <p:cNvSpPr/>
              <p:nvPr/>
            </p:nvSpPr>
            <p:spPr>
              <a:xfrm>
                <a:off x="5229144" y="3138317"/>
                <a:ext cx="701062" cy="413935"/>
              </a:xfrm>
              <a:custGeom>
                <a:avLst/>
                <a:gdLst/>
                <a:ahLst/>
                <a:cxnLst/>
                <a:rect l="l" t="t" r="r" b="b"/>
                <a:pathLst>
                  <a:path w="677545" h="400050">
                    <a:moveTo>
                      <a:pt x="0" y="399542"/>
                    </a:moveTo>
                    <a:lnTo>
                      <a:pt x="3556" y="399542"/>
                    </a:lnTo>
                    <a:lnTo>
                      <a:pt x="3556" y="0"/>
                    </a:lnTo>
                    <a:lnTo>
                      <a:pt x="677545"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8" name="object 21">
                <a:extLst>
                  <a:ext uri="{FF2B5EF4-FFF2-40B4-BE49-F238E27FC236}">
                    <a16:creationId xmlns:a16="http://schemas.microsoft.com/office/drawing/2014/main" id="{FD5ECB68-661D-3686-4DA4-2F0084EEA165}"/>
                  </a:ext>
                </a:extLst>
              </p:cNvPr>
              <p:cNvSpPr txBox="1"/>
              <p:nvPr/>
            </p:nvSpPr>
            <p:spPr>
              <a:xfrm>
                <a:off x="5956882" y="3031222"/>
                <a:ext cx="632730" cy="197490"/>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Left</a:t>
                </a:r>
                <a:r>
                  <a:rPr kumimoji="0" sz="1200" b="0" i="0" u="none" strike="noStrike" kern="1200" cap="none" spc="-8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lung</a:t>
                </a:r>
              </a:p>
            </p:txBody>
          </p:sp>
          <p:sp>
            <p:nvSpPr>
              <p:cNvPr id="199" name="Oval 198">
                <a:extLst>
                  <a:ext uri="{FF2B5EF4-FFF2-40B4-BE49-F238E27FC236}">
                    <a16:creationId xmlns:a16="http://schemas.microsoft.com/office/drawing/2014/main" id="{4FF86079-10A0-CB2A-FE16-86CFE9572072}"/>
                  </a:ext>
                </a:extLst>
              </p:cNvPr>
              <p:cNvSpPr>
                <a:spLocks/>
              </p:cNvSpPr>
              <p:nvPr/>
            </p:nvSpPr>
            <p:spPr>
              <a:xfrm>
                <a:off x="5191298" y="3513619"/>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58" name="Group 157">
              <a:extLst>
                <a:ext uri="{FF2B5EF4-FFF2-40B4-BE49-F238E27FC236}">
                  <a16:creationId xmlns:a16="http://schemas.microsoft.com/office/drawing/2014/main" id="{E5EA325B-5AF6-DD5D-9ED8-739657C23744}"/>
                </a:ext>
              </a:extLst>
            </p:cNvPr>
            <p:cNvGrpSpPr/>
            <p:nvPr/>
          </p:nvGrpSpPr>
          <p:grpSpPr>
            <a:xfrm>
              <a:off x="2128985" y="4110161"/>
              <a:ext cx="1837065" cy="197490"/>
              <a:chOff x="2128985" y="4110161"/>
              <a:chExt cx="1837065" cy="197490"/>
            </a:xfrm>
          </p:grpSpPr>
          <p:sp>
            <p:nvSpPr>
              <p:cNvPr id="194" name="object 10">
                <a:extLst>
                  <a:ext uri="{FF2B5EF4-FFF2-40B4-BE49-F238E27FC236}">
                    <a16:creationId xmlns:a16="http://schemas.microsoft.com/office/drawing/2014/main" id="{D19ABAC3-0C47-12CA-40F5-8E7C9050AF67}"/>
                  </a:ext>
                </a:extLst>
              </p:cNvPr>
              <p:cNvSpPr txBox="1"/>
              <p:nvPr/>
            </p:nvSpPr>
            <p:spPr>
              <a:xfrm>
                <a:off x="2128985" y="4110161"/>
                <a:ext cx="688009" cy="197490"/>
              </a:xfrm>
              <a:prstGeom prst="rect">
                <a:avLst/>
              </a:prstGeom>
            </p:spPr>
            <p:txBody>
              <a:bodyPr vert="horz" wrap="none" lIns="0" tIns="12700" rIns="0" bIns="0" rtlCol="0">
                <a:spAutoFit/>
              </a:bodyPr>
              <a:lstStyle/>
              <a:p>
                <a:pPr marL="0" marR="508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Right lung</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5" name="object 15">
                <a:extLst>
                  <a:ext uri="{FF2B5EF4-FFF2-40B4-BE49-F238E27FC236}">
                    <a16:creationId xmlns:a16="http://schemas.microsoft.com/office/drawing/2014/main" id="{1F9CD418-C010-4257-E073-E47F82199F5A}"/>
                  </a:ext>
                </a:extLst>
              </p:cNvPr>
              <p:cNvSpPr/>
              <p:nvPr/>
            </p:nvSpPr>
            <p:spPr>
              <a:xfrm>
                <a:off x="2843298" y="4242145"/>
                <a:ext cx="1085431" cy="0"/>
              </a:xfrm>
              <a:custGeom>
                <a:avLst/>
                <a:gdLst/>
                <a:ahLst/>
                <a:cxnLst/>
                <a:rect l="l" t="t" r="r" b="b"/>
                <a:pathLst>
                  <a:path w="1049020">
                    <a:moveTo>
                      <a:pt x="1049020" y="0"/>
                    </a:moveTo>
                    <a:lnTo>
                      <a:pt x="524510"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6" name="Oval 195">
                <a:extLst>
                  <a:ext uri="{FF2B5EF4-FFF2-40B4-BE49-F238E27FC236}">
                    <a16:creationId xmlns:a16="http://schemas.microsoft.com/office/drawing/2014/main" id="{A806EF90-5C88-5B6F-D9FE-9263CFBB4D79}"/>
                  </a:ext>
                </a:extLst>
              </p:cNvPr>
              <p:cNvSpPr>
                <a:spLocks/>
              </p:cNvSpPr>
              <p:nvPr/>
            </p:nvSpPr>
            <p:spPr>
              <a:xfrm>
                <a:off x="3891936" y="4210607"/>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59" name="Group 158">
              <a:extLst>
                <a:ext uri="{FF2B5EF4-FFF2-40B4-BE49-F238E27FC236}">
                  <a16:creationId xmlns:a16="http://schemas.microsoft.com/office/drawing/2014/main" id="{05B8A7C6-2173-EDAA-DE37-7D2D58F53FD5}"/>
                </a:ext>
              </a:extLst>
            </p:cNvPr>
            <p:cNvGrpSpPr/>
            <p:nvPr/>
          </p:nvGrpSpPr>
          <p:grpSpPr>
            <a:xfrm>
              <a:off x="6066717" y="1970940"/>
              <a:ext cx="1852724" cy="2096170"/>
              <a:chOff x="6066717" y="1970940"/>
              <a:chExt cx="1852724" cy="2096170"/>
            </a:xfrm>
          </p:grpSpPr>
          <p:sp>
            <p:nvSpPr>
              <p:cNvPr id="191" name="object 22">
                <a:extLst>
                  <a:ext uri="{FF2B5EF4-FFF2-40B4-BE49-F238E27FC236}">
                    <a16:creationId xmlns:a16="http://schemas.microsoft.com/office/drawing/2014/main" id="{1D347618-F791-9A5D-E824-B5EDBF3FBACC}"/>
                  </a:ext>
                </a:extLst>
              </p:cNvPr>
              <p:cNvSpPr txBox="1"/>
              <p:nvPr/>
            </p:nvSpPr>
            <p:spPr>
              <a:xfrm>
                <a:off x="6066717" y="1970940"/>
                <a:ext cx="1852724" cy="566822"/>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 </a:t>
                </a:r>
                <a:r>
                  <a:rPr kumimoji="0" lang="en-US" sz="1200" b="0" i="0" u="none" strike="noStrike" kern="1200" cap="none" spc="-5" normalizeH="0" baseline="0" noProof="0" dirty="0">
                    <a:ln>
                      <a:noFill/>
                    </a:ln>
                    <a:solidFill>
                      <a:srgbClr val="F36633"/>
                    </a:solidFill>
                    <a:effectLst/>
                    <a:uLnTx/>
                    <a:uFillTx/>
                    <a:latin typeface="Arial"/>
                    <a:ea typeface="+mn-ea"/>
                    <a:cs typeface="Arial"/>
                  </a:rPr>
                  <a:t>Narrowed airway and mucus hypersecretion in the bronchioles</a:t>
                </a:r>
              </a:p>
            </p:txBody>
          </p:sp>
          <p:sp>
            <p:nvSpPr>
              <p:cNvPr id="192" name="object 24">
                <a:extLst>
                  <a:ext uri="{FF2B5EF4-FFF2-40B4-BE49-F238E27FC236}">
                    <a16:creationId xmlns:a16="http://schemas.microsoft.com/office/drawing/2014/main" id="{E613ABEE-03AF-B298-8F4F-01AA1829C1D3}"/>
                  </a:ext>
                </a:extLst>
              </p:cNvPr>
              <p:cNvSpPr/>
              <p:nvPr/>
            </p:nvSpPr>
            <p:spPr>
              <a:xfrm>
                <a:off x="6843888" y="2589558"/>
                <a:ext cx="1314" cy="1452717"/>
              </a:xfrm>
              <a:custGeom>
                <a:avLst/>
                <a:gdLst/>
                <a:ahLst/>
                <a:cxnLst/>
                <a:rect l="l" t="t" r="r" b="b"/>
                <a:pathLst>
                  <a:path w="1270" h="1403985">
                    <a:moveTo>
                      <a:pt x="571" y="-6096"/>
                    </a:moveTo>
                    <a:lnTo>
                      <a:pt x="571" y="141008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3" name="Oval 192">
                <a:extLst>
                  <a:ext uri="{FF2B5EF4-FFF2-40B4-BE49-F238E27FC236}">
                    <a16:creationId xmlns:a16="http://schemas.microsoft.com/office/drawing/2014/main" id="{76F59531-5748-6432-1A9F-3CE62A136D4C}"/>
                  </a:ext>
                </a:extLst>
              </p:cNvPr>
              <p:cNvSpPr>
                <a:spLocks/>
              </p:cNvSpPr>
              <p:nvPr/>
            </p:nvSpPr>
            <p:spPr>
              <a:xfrm>
                <a:off x="6807618" y="3991420"/>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grpSp>
        <p:grpSp>
          <p:nvGrpSpPr>
            <p:cNvPr id="160" name="Group 159">
              <a:extLst>
                <a:ext uri="{FF2B5EF4-FFF2-40B4-BE49-F238E27FC236}">
                  <a16:creationId xmlns:a16="http://schemas.microsoft.com/office/drawing/2014/main" id="{3C365230-B8FB-4475-9A63-D2BB5EE10A78}"/>
                </a:ext>
              </a:extLst>
            </p:cNvPr>
            <p:cNvGrpSpPr/>
            <p:nvPr/>
          </p:nvGrpSpPr>
          <p:grpSpPr>
            <a:xfrm>
              <a:off x="8062829" y="3398638"/>
              <a:ext cx="2140637" cy="566822"/>
              <a:chOff x="8062829" y="3398638"/>
              <a:chExt cx="2140637" cy="566822"/>
            </a:xfrm>
          </p:grpSpPr>
          <p:sp>
            <p:nvSpPr>
              <p:cNvPr id="188" name="object 36">
                <a:extLst>
                  <a:ext uri="{FF2B5EF4-FFF2-40B4-BE49-F238E27FC236}">
                    <a16:creationId xmlns:a16="http://schemas.microsoft.com/office/drawing/2014/main" id="{9E2A6D9F-4286-E6FC-C481-E26863DEC75D}"/>
                  </a:ext>
                </a:extLst>
              </p:cNvPr>
              <p:cNvSpPr/>
              <p:nvPr/>
            </p:nvSpPr>
            <p:spPr>
              <a:xfrm>
                <a:off x="8103828" y="3699693"/>
                <a:ext cx="555199" cy="0"/>
              </a:xfrm>
              <a:custGeom>
                <a:avLst/>
                <a:gdLst/>
                <a:ahLst/>
                <a:cxnLst/>
                <a:rect l="l" t="t" r="r" b="b"/>
                <a:pathLst>
                  <a:path w="536575">
                    <a:moveTo>
                      <a:pt x="0" y="0"/>
                    </a:moveTo>
                    <a:lnTo>
                      <a:pt x="268097" y="0"/>
                    </a:lnTo>
                    <a:lnTo>
                      <a:pt x="536321"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9" name="object 40">
                <a:extLst>
                  <a:ext uri="{FF2B5EF4-FFF2-40B4-BE49-F238E27FC236}">
                    <a16:creationId xmlns:a16="http://schemas.microsoft.com/office/drawing/2014/main" id="{F3492200-9699-B323-F504-411F141B0841}"/>
                  </a:ext>
                </a:extLst>
              </p:cNvPr>
              <p:cNvSpPr txBox="1"/>
              <p:nvPr/>
            </p:nvSpPr>
            <p:spPr>
              <a:xfrm>
                <a:off x="8679789" y="3398638"/>
                <a:ext cx="1523677" cy="566822"/>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sz="1200" b="0" i="0" u="none" strike="noStrike" kern="1200" cap="none" spc="-5" normalizeH="0" baseline="0" noProof="0" dirty="0">
                    <a:ln>
                      <a:noFill/>
                    </a:ln>
                    <a:solidFill>
                      <a:srgbClr val="000000"/>
                    </a:solidFill>
                    <a:effectLst/>
                    <a:uLnTx/>
                    <a:uFillTx/>
                    <a:latin typeface="Arial"/>
                    <a:ea typeface="+mn-ea"/>
                    <a:cs typeface="Arial"/>
                  </a:rPr>
                  <a:t>Network</a:t>
                </a:r>
                <a:r>
                  <a:rPr kumimoji="0" sz="1200" b="0" i="0" u="none" strike="noStrike" kern="1200" cap="none" spc="-20"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of</a:t>
                </a:r>
                <a:r>
                  <a:rPr kumimoji="0" sz="1200" b="0" i="0" u="none" strike="noStrike" kern="1200" cap="none" spc="-3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capillaries</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surrounding alveoli:</a:t>
                </a:r>
                <a:r>
                  <a:rPr kumimoji="0" lang="en-US" sz="1200" b="0" i="0" u="none" strike="noStrike" kern="1200" cap="none" spc="-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Site</a:t>
                </a:r>
                <a:r>
                  <a:rPr kumimoji="0" sz="1200" b="0" i="0" u="none" strike="noStrike" kern="1200" cap="none" spc="-35" normalizeH="0" baseline="0" noProof="0" dirty="0">
                    <a:ln>
                      <a:noFill/>
                    </a:ln>
                    <a:solidFill>
                      <a:srgbClr val="000000"/>
                    </a:solidFill>
                    <a:effectLst/>
                    <a:uLnTx/>
                    <a:uFillTx/>
                    <a:latin typeface="Arial"/>
                    <a:ea typeface="+mn-ea"/>
                    <a:cs typeface="Arial"/>
                  </a:rPr>
                  <a:t> </a:t>
                </a:r>
                <a:r>
                  <a:rPr kumimoji="0" sz="1200" b="0" i="0" u="none" strike="noStrike" kern="1200" cap="none" spc="0" normalizeH="0" baseline="0" noProof="0" dirty="0">
                    <a:ln>
                      <a:noFill/>
                    </a:ln>
                    <a:solidFill>
                      <a:srgbClr val="000000"/>
                    </a:solidFill>
                    <a:effectLst/>
                    <a:uLnTx/>
                    <a:uFillTx/>
                    <a:latin typeface="Arial"/>
                    <a:ea typeface="+mn-ea"/>
                    <a:cs typeface="Arial"/>
                  </a:rPr>
                  <a:t>of</a:t>
                </a:r>
                <a:r>
                  <a:rPr kumimoji="0" sz="1200" b="0" i="0" u="none" strike="noStrike" kern="1200" cap="none" spc="-3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gas</a:t>
                </a:r>
                <a:r>
                  <a:rPr kumimoji="0" sz="1200" b="0" i="0" u="none" strike="noStrike" kern="1200" cap="none" spc="-20" normalizeH="0" baseline="0" noProof="0" dirty="0">
                    <a:ln>
                      <a:noFill/>
                    </a:ln>
                    <a:solidFill>
                      <a:srgbClr val="000000"/>
                    </a:solidFill>
                    <a:effectLst/>
                    <a:uLnTx/>
                    <a:uFillTx/>
                    <a:latin typeface="Arial"/>
                    <a:ea typeface="+mn-ea"/>
                    <a:cs typeface="Arial"/>
                  </a:rPr>
                  <a:t> </a:t>
                </a:r>
                <a:r>
                  <a:rPr kumimoji="0" sz="1200" b="0" i="0" u="none" strike="noStrike" kern="1200" cap="none" spc="-5" normalizeH="0" baseline="0" noProof="0" dirty="0">
                    <a:ln>
                      <a:noFill/>
                    </a:ln>
                    <a:solidFill>
                      <a:srgbClr val="000000"/>
                    </a:solidFill>
                    <a:effectLst/>
                    <a:uLnTx/>
                    <a:uFillTx/>
                    <a:latin typeface="Arial"/>
                    <a:ea typeface="+mn-ea"/>
                    <a:cs typeface="Arial"/>
                  </a:rPr>
                  <a:t>exchange</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0" name="Oval 189">
                <a:extLst>
                  <a:ext uri="{FF2B5EF4-FFF2-40B4-BE49-F238E27FC236}">
                    <a16:creationId xmlns:a16="http://schemas.microsoft.com/office/drawing/2014/main" id="{A768E4B1-C40D-CB53-5672-1C6D18230E68}"/>
                  </a:ext>
                </a:extLst>
              </p:cNvPr>
              <p:cNvSpPr>
                <a:spLocks/>
              </p:cNvSpPr>
              <p:nvPr/>
            </p:nvSpPr>
            <p:spPr>
              <a:xfrm>
                <a:off x="8062829" y="3663425"/>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61" name="Group 160">
              <a:extLst>
                <a:ext uri="{FF2B5EF4-FFF2-40B4-BE49-F238E27FC236}">
                  <a16:creationId xmlns:a16="http://schemas.microsoft.com/office/drawing/2014/main" id="{C1CD2B26-0C00-429D-D27B-2AA4C9B14AF7}"/>
                </a:ext>
              </a:extLst>
            </p:cNvPr>
            <p:cNvGrpSpPr/>
            <p:nvPr/>
          </p:nvGrpSpPr>
          <p:grpSpPr>
            <a:xfrm>
              <a:off x="7908293" y="3892075"/>
              <a:ext cx="2740134" cy="623554"/>
              <a:chOff x="7908293" y="3892075"/>
              <a:chExt cx="2740134" cy="623554"/>
            </a:xfrm>
          </p:grpSpPr>
          <p:sp>
            <p:nvSpPr>
              <p:cNvPr id="182" name="object 29">
                <a:extLst>
                  <a:ext uri="{FF2B5EF4-FFF2-40B4-BE49-F238E27FC236}">
                    <a16:creationId xmlns:a16="http://schemas.microsoft.com/office/drawing/2014/main" id="{94C93F06-11C4-301E-DD24-EE22CA9CC88B}"/>
                  </a:ext>
                </a:extLst>
              </p:cNvPr>
              <p:cNvSpPr/>
              <p:nvPr/>
            </p:nvSpPr>
            <p:spPr>
              <a:xfrm>
                <a:off x="8195288" y="4339913"/>
                <a:ext cx="494095" cy="0"/>
              </a:xfrm>
              <a:custGeom>
                <a:avLst/>
                <a:gdLst/>
                <a:ahLst/>
                <a:cxnLst/>
                <a:rect l="l" t="t" r="r" b="b"/>
                <a:pathLst>
                  <a:path w="477520">
                    <a:moveTo>
                      <a:pt x="0" y="0"/>
                    </a:moveTo>
                    <a:lnTo>
                      <a:pt x="238633" y="0"/>
                    </a:lnTo>
                    <a:lnTo>
                      <a:pt x="477139" y="0"/>
                    </a:lnTo>
                  </a:path>
                </a:pathLst>
              </a:custGeom>
              <a:ln w="12192">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183" name="Group 182">
                <a:extLst>
                  <a:ext uri="{FF2B5EF4-FFF2-40B4-BE49-F238E27FC236}">
                    <a16:creationId xmlns:a16="http://schemas.microsoft.com/office/drawing/2014/main" id="{4F4633C0-928B-E469-613C-687F3FB2DB5E}"/>
                  </a:ext>
                </a:extLst>
              </p:cNvPr>
              <p:cNvGrpSpPr/>
              <p:nvPr/>
            </p:nvGrpSpPr>
            <p:grpSpPr>
              <a:xfrm>
                <a:off x="7908293" y="3892075"/>
                <a:ext cx="2740134" cy="623554"/>
                <a:chOff x="7908293" y="3892075"/>
                <a:chExt cx="2740134" cy="623554"/>
              </a:xfrm>
            </p:grpSpPr>
            <p:sp>
              <p:nvSpPr>
                <p:cNvPr id="184" name="object 27">
                  <a:extLst>
                    <a:ext uri="{FF2B5EF4-FFF2-40B4-BE49-F238E27FC236}">
                      <a16:creationId xmlns:a16="http://schemas.microsoft.com/office/drawing/2014/main" id="{E5386408-D585-9D5E-1E8E-D9FD04E48EC9}"/>
                    </a:ext>
                  </a:extLst>
                </p:cNvPr>
                <p:cNvSpPr txBox="1"/>
                <p:nvPr/>
              </p:nvSpPr>
              <p:spPr>
                <a:xfrm>
                  <a:off x="8679789" y="4133473"/>
                  <a:ext cx="1968638" cy="382156"/>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 </a:t>
                  </a:r>
                  <a:r>
                    <a:rPr kumimoji="0" lang="en-US" sz="1200" b="0" i="0" u="none" strike="noStrike" kern="1200" cap="none" spc="-5" normalizeH="0" baseline="0" noProof="0" dirty="0">
                      <a:ln>
                        <a:noFill/>
                      </a:ln>
                      <a:solidFill>
                        <a:srgbClr val="F36633"/>
                      </a:solidFill>
                      <a:effectLst/>
                      <a:uLnTx/>
                      <a:uFillTx/>
                      <a:latin typeface="Arial"/>
                      <a:ea typeface="+mn-ea"/>
                      <a:cs typeface="Arial"/>
                    </a:rPr>
                    <a:t>Enlarged alveoli with disrupted membranes</a:t>
                  </a:r>
                </a:p>
              </p:txBody>
            </p:sp>
            <p:sp>
              <p:nvSpPr>
                <p:cNvPr id="185" name="object 31">
                  <a:extLst>
                    <a:ext uri="{FF2B5EF4-FFF2-40B4-BE49-F238E27FC236}">
                      <a16:creationId xmlns:a16="http://schemas.microsoft.com/office/drawing/2014/main" id="{5E846D22-5CE9-9560-6828-23F46DB65726}"/>
                    </a:ext>
                  </a:extLst>
                </p:cNvPr>
                <p:cNvSpPr/>
                <p:nvPr/>
              </p:nvSpPr>
              <p:spPr>
                <a:xfrm>
                  <a:off x="7982407" y="3929920"/>
                  <a:ext cx="708947" cy="409993"/>
                </a:xfrm>
                <a:custGeom>
                  <a:avLst/>
                  <a:gdLst/>
                  <a:ahLst/>
                  <a:cxnLst/>
                  <a:rect l="l" t="t" r="r" b="b"/>
                  <a:pathLst>
                    <a:path w="685165" h="396239">
                      <a:moveTo>
                        <a:pt x="0" y="0"/>
                      </a:moveTo>
                      <a:lnTo>
                        <a:pt x="456692" y="0"/>
                      </a:lnTo>
                      <a:lnTo>
                        <a:pt x="456692" y="395731"/>
                      </a:lnTo>
                      <a:lnTo>
                        <a:pt x="684656" y="395731"/>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86" name="Oval 185">
                  <a:extLst>
                    <a:ext uri="{FF2B5EF4-FFF2-40B4-BE49-F238E27FC236}">
                      <a16:creationId xmlns:a16="http://schemas.microsoft.com/office/drawing/2014/main" id="{0712E728-45DA-2983-0770-9ED5308EAEA9}"/>
                    </a:ext>
                  </a:extLst>
                </p:cNvPr>
                <p:cNvSpPr>
                  <a:spLocks/>
                </p:cNvSpPr>
                <p:nvPr/>
              </p:nvSpPr>
              <p:spPr>
                <a:xfrm>
                  <a:off x="7908293" y="3892075"/>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87" name="Oval 186">
                  <a:extLst>
                    <a:ext uri="{FF2B5EF4-FFF2-40B4-BE49-F238E27FC236}">
                      <a16:creationId xmlns:a16="http://schemas.microsoft.com/office/drawing/2014/main" id="{0D730D80-5BD4-0483-76BB-7815AF2CAFEE}"/>
                    </a:ext>
                  </a:extLst>
                </p:cNvPr>
                <p:cNvSpPr>
                  <a:spLocks/>
                </p:cNvSpPr>
                <p:nvPr/>
              </p:nvSpPr>
              <p:spPr>
                <a:xfrm>
                  <a:off x="8157443" y="4305222"/>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grpSp>
        </p:grpSp>
        <p:grpSp>
          <p:nvGrpSpPr>
            <p:cNvPr id="162" name="Group 161">
              <a:extLst>
                <a:ext uri="{FF2B5EF4-FFF2-40B4-BE49-F238E27FC236}">
                  <a16:creationId xmlns:a16="http://schemas.microsoft.com/office/drawing/2014/main" id="{35C8BE35-BF59-A6F9-D830-909E242D7D69}"/>
                </a:ext>
              </a:extLst>
            </p:cNvPr>
            <p:cNvGrpSpPr/>
            <p:nvPr/>
          </p:nvGrpSpPr>
          <p:grpSpPr>
            <a:xfrm>
              <a:off x="7468338" y="4265801"/>
              <a:ext cx="2811350" cy="1165028"/>
              <a:chOff x="7468338" y="4265801"/>
              <a:chExt cx="2811350" cy="1165028"/>
            </a:xfrm>
          </p:grpSpPr>
          <p:sp>
            <p:nvSpPr>
              <p:cNvPr id="179" name="object 42">
                <a:extLst>
                  <a:ext uri="{FF2B5EF4-FFF2-40B4-BE49-F238E27FC236}">
                    <a16:creationId xmlns:a16="http://schemas.microsoft.com/office/drawing/2014/main" id="{A461C098-3DFF-CDBF-4937-21C39511ACF1}"/>
                  </a:ext>
                </a:extLst>
              </p:cNvPr>
              <p:cNvSpPr txBox="1"/>
              <p:nvPr/>
            </p:nvSpPr>
            <p:spPr>
              <a:xfrm>
                <a:off x="8160071" y="4679341"/>
                <a:ext cx="2119617" cy="751488"/>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a:t>
                </a:r>
                <a:r>
                  <a:rPr kumimoji="0" lang="en-US" sz="1200" b="0" i="0" u="none" strike="noStrike" kern="1200" cap="none" spc="-5" normalizeH="0" baseline="0" noProof="0" dirty="0">
                    <a:ln>
                      <a:noFill/>
                    </a:ln>
                    <a:solidFill>
                      <a:srgbClr val="F36633"/>
                    </a:solidFill>
                    <a:effectLst/>
                    <a:uLnTx/>
                    <a:uFillTx/>
                    <a:latin typeface="Arial"/>
                    <a:ea typeface="+mn-ea"/>
                    <a:cs typeface="Arial"/>
                  </a:rPr>
                  <a:t> Impaired gas exchange leading to oxygen-deprived blood going back to the heart in the pulmonary veins</a:t>
                </a:r>
              </a:p>
            </p:txBody>
          </p:sp>
          <p:sp>
            <p:nvSpPr>
              <p:cNvPr id="180" name="Oval 179">
                <a:extLst>
                  <a:ext uri="{FF2B5EF4-FFF2-40B4-BE49-F238E27FC236}">
                    <a16:creationId xmlns:a16="http://schemas.microsoft.com/office/drawing/2014/main" id="{AD2EBADD-C22E-6AC8-278F-61AD1A7541E7}"/>
                  </a:ext>
                </a:extLst>
              </p:cNvPr>
              <p:cNvSpPr>
                <a:spLocks/>
              </p:cNvSpPr>
              <p:nvPr/>
            </p:nvSpPr>
            <p:spPr>
              <a:xfrm>
                <a:off x="7468338" y="4265801"/>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81" name="object 19">
                <a:extLst>
                  <a:ext uri="{FF2B5EF4-FFF2-40B4-BE49-F238E27FC236}">
                    <a16:creationId xmlns:a16="http://schemas.microsoft.com/office/drawing/2014/main" id="{6DC34D8A-8CE6-4A2E-E4D6-253DA4237017}"/>
                  </a:ext>
                </a:extLst>
              </p:cNvPr>
              <p:cNvSpPr/>
              <p:nvPr/>
            </p:nvSpPr>
            <p:spPr>
              <a:xfrm rot="16200000">
                <a:off x="7459764" y="4380304"/>
                <a:ext cx="723467" cy="630890"/>
              </a:xfrm>
              <a:custGeom>
                <a:avLst/>
                <a:gdLst/>
                <a:ahLst/>
                <a:cxnLst/>
                <a:rect l="l" t="t" r="r" b="b"/>
                <a:pathLst>
                  <a:path w="677545" h="400050">
                    <a:moveTo>
                      <a:pt x="0" y="399542"/>
                    </a:moveTo>
                    <a:lnTo>
                      <a:pt x="3556" y="399542"/>
                    </a:lnTo>
                    <a:lnTo>
                      <a:pt x="3556" y="0"/>
                    </a:lnTo>
                    <a:lnTo>
                      <a:pt x="677545"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63" name="Group 162">
              <a:extLst>
                <a:ext uri="{FF2B5EF4-FFF2-40B4-BE49-F238E27FC236}">
                  <a16:creationId xmlns:a16="http://schemas.microsoft.com/office/drawing/2014/main" id="{806B79C9-A8B2-1B1F-A4E6-A92B8E2F6E89}"/>
                </a:ext>
              </a:extLst>
            </p:cNvPr>
            <p:cNvGrpSpPr/>
            <p:nvPr/>
          </p:nvGrpSpPr>
          <p:grpSpPr>
            <a:xfrm>
              <a:off x="5345835" y="4420336"/>
              <a:ext cx="2588345" cy="1273878"/>
              <a:chOff x="5345835" y="4420336"/>
              <a:chExt cx="2588345" cy="1273878"/>
            </a:xfrm>
          </p:grpSpPr>
          <p:sp>
            <p:nvSpPr>
              <p:cNvPr id="176" name="object 37">
                <a:extLst>
                  <a:ext uri="{FF2B5EF4-FFF2-40B4-BE49-F238E27FC236}">
                    <a16:creationId xmlns:a16="http://schemas.microsoft.com/office/drawing/2014/main" id="{BB91C64D-BA35-E43E-9C42-C4D590A5C7AB}"/>
                  </a:ext>
                </a:extLst>
              </p:cNvPr>
              <p:cNvSpPr txBox="1"/>
              <p:nvPr/>
            </p:nvSpPr>
            <p:spPr>
              <a:xfrm>
                <a:off x="6660224" y="5127392"/>
                <a:ext cx="1273956" cy="566822"/>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tab pos="481965" algn="l"/>
                  </a:tabLst>
                  <a:defRPr/>
                </a:pPr>
                <a:r>
                  <a:rPr kumimoji="0" lang="en-US" sz="1200" b="1" i="0" u="none" strike="noStrike" kern="1200" cap="none" spc="0" normalizeH="0" baseline="0" noProof="0" dirty="0">
                    <a:ln>
                      <a:noFill/>
                    </a:ln>
                    <a:solidFill>
                      <a:srgbClr val="F36633"/>
                    </a:solidFill>
                    <a:effectLst/>
                    <a:uLnTx/>
                    <a:uFillTx/>
                    <a:latin typeface="Arial"/>
                    <a:ea typeface="+mn-ea"/>
                    <a:cs typeface="Arial"/>
                  </a:rPr>
                  <a:t>COPD:</a:t>
                </a:r>
                <a:r>
                  <a:rPr kumimoji="0" lang="en-US" sz="1200" b="0" i="0" u="none" strike="noStrike" kern="1200" cap="none" spc="0" normalizeH="0" baseline="0" noProof="0" dirty="0">
                    <a:ln>
                      <a:noFill/>
                    </a:ln>
                    <a:solidFill>
                      <a:srgbClr val="F36633"/>
                    </a:solidFill>
                    <a:effectLst/>
                    <a:uLnTx/>
                    <a:uFillTx/>
                    <a:latin typeface="Arial"/>
                    <a:ea typeface="+mn-ea"/>
                    <a:cs typeface="Arial"/>
                  </a:rPr>
                  <a:t> Distorted small airways and damaged alveoli</a:t>
                </a:r>
              </a:p>
            </p:txBody>
          </p:sp>
          <p:sp>
            <p:nvSpPr>
              <p:cNvPr id="177" name="Oval 176">
                <a:extLst>
                  <a:ext uri="{FF2B5EF4-FFF2-40B4-BE49-F238E27FC236}">
                    <a16:creationId xmlns:a16="http://schemas.microsoft.com/office/drawing/2014/main" id="{F0B61152-CF9E-39A7-77EB-AEAD084C782A}"/>
                  </a:ext>
                </a:extLst>
              </p:cNvPr>
              <p:cNvSpPr>
                <a:spLocks/>
              </p:cNvSpPr>
              <p:nvPr/>
            </p:nvSpPr>
            <p:spPr>
              <a:xfrm>
                <a:off x="5345835" y="442033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78" name="object 13">
                <a:extLst>
                  <a:ext uri="{FF2B5EF4-FFF2-40B4-BE49-F238E27FC236}">
                    <a16:creationId xmlns:a16="http://schemas.microsoft.com/office/drawing/2014/main" id="{D5E4C351-8173-A5A1-82FF-968ECF991182}"/>
                  </a:ext>
                </a:extLst>
              </p:cNvPr>
              <p:cNvSpPr/>
              <p:nvPr/>
            </p:nvSpPr>
            <p:spPr>
              <a:xfrm>
                <a:off x="5397359" y="4458180"/>
                <a:ext cx="1235216" cy="952019"/>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64" name="Group 163">
              <a:extLst>
                <a:ext uri="{FF2B5EF4-FFF2-40B4-BE49-F238E27FC236}">
                  <a16:creationId xmlns:a16="http://schemas.microsoft.com/office/drawing/2014/main" id="{2105D61F-9C27-1C83-A608-5C815D42DA00}"/>
                </a:ext>
              </a:extLst>
            </p:cNvPr>
            <p:cNvGrpSpPr/>
            <p:nvPr/>
          </p:nvGrpSpPr>
          <p:grpSpPr>
            <a:xfrm>
              <a:off x="1925724" y="4420336"/>
              <a:ext cx="1961481" cy="197490"/>
              <a:chOff x="1925724" y="4420336"/>
              <a:chExt cx="1961481" cy="197490"/>
            </a:xfrm>
          </p:grpSpPr>
          <p:sp>
            <p:nvSpPr>
              <p:cNvPr id="173" name="object 17">
                <a:extLst>
                  <a:ext uri="{FF2B5EF4-FFF2-40B4-BE49-F238E27FC236}">
                    <a16:creationId xmlns:a16="http://schemas.microsoft.com/office/drawing/2014/main" id="{15713CBB-8961-4440-14F5-ABF44754FD50}"/>
                  </a:ext>
                </a:extLst>
              </p:cNvPr>
              <p:cNvSpPr/>
              <p:nvPr/>
            </p:nvSpPr>
            <p:spPr>
              <a:xfrm>
                <a:off x="2843298" y="4538602"/>
                <a:ext cx="968478" cy="0"/>
              </a:xfrm>
              <a:custGeom>
                <a:avLst/>
                <a:gdLst/>
                <a:ahLst/>
                <a:cxnLst/>
                <a:rect l="l" t="t" r="r" b="b"/>
                <a:pathLst>
                  <a:path w="935989">
                    <a:moveTo>
                      <a:pt x="935736" y="0"/>
                    </a:moveTo>
                    <a:lnTo>
                      <a:pt x="467868"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4" name="Oval 173">
                <a:extLst>
                  <a:ext uri="{FF2B5EF4-FFF2-40B4-BE49-F238E27FC236}">
                    <a16:creationId xmlns:a16="http://schemas.microsoft.com/office/drawing/2014/main" id="{43670127-0DBA-9FDF-2E5F-07C6E8082145}"/>
                  </a:ext>
                </a:extLst>
              </p:cNvPr>
              <p:cNvSpPr>
                <a:spLocks/>
              </p:cNvSpPr>
              <p:nvPr/>
            </p:nvSpPr>
            <p:spPr>
              <a:xfrm>
                <a:off x="3813091" y="450075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5" name="object 10">
                <a:extLst>
                  <a:ext uri="{FF2B5EF4-FFF2-40B4-BE49-F238E27FC236}">
                    <a16:creationId xmlns:a16="http://schemas.microsoft.com/office/drawing/2014/main" id="{6D63DA76-AB68-005B-7E3B-3884F1CC344D}"/>
                  </a:ext>
                </a:extLst>
              </p:cNvPr>
              <p:cNvSpPr txBox="1"/>
              <p:nvPr/>
            </p:nvSpPr>
            <p:spPr>
              <a:xfrm>
                <a:off x="1925724" y="4420336"/>
                <a:ext cx="891270" cy="197490"/>
              </a:xfrm>
              <a:prstGeom prst="rect">
                <a:avLst/>
              </a:prstGeom>
            </p:spPr>
            <p:txBody>
              <a:bodyPr vert="horz" wrap="none" lIns="0" tIns="12700" rIns="0" bIns="0" rtlCol="0">
                <a:spAutoFit/>
              </a:bodyPr>
              <a:lstStyle/>
              <a:p>
                <a:pPr marL="0" marR="5080" lvl="0" indent="0" algn="r" defTabSz="1219170" rtl="0" eaLnBrk="1" fontAlgn="auto" latinLnBrk="0" hangingPunct="1">
                  <a:lnSpc>
                    <a:spcPct val="100000"/>
                  </a:lnSpc>
                  <a:spcBef>
                    <a:spcPts val="100"/>
                  </a:spcBef>
                  <a:spcAft>
                    <a:spcPts val="0"/>
                  </a:spcAft>
                  <a:buClrTx/>
                  <a:buSzTx/>
                  <a:buFontTx/>
                  <a:buNone/>
                  <a:tabLst/>
                  <a:defRPr/>
                </a:pPr>
                <a:r>
                  <a:rPr kumimoji="0" lang="en-US" sz="1200" b="0" i="0" u="none" strike="noStrike" kern="1200" cap="none" spc="-5" normalizeH="0" baseline="0" noProof="0" dirty="0">
                    <a:ln>
                      <a:noFill/>
                    </a:ln>
                    <a:solidFill>
                      <a:srgbClr val="000000"/>
                    </a:solidFill>
                    <a:effectLst/>
                    <a:uLnTx/>
                    <a:uFillTx/>
                    <a:latin typeface="Arial"/>
                    <a:ea typeface="+mn-ea"/>
                    <a:cs typeface="Arial"/>
                  </a:rPr>
                  <a:t>Thoracic wall</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grpSp>
          <p:nvGrpSpPr>
            <p:cNvPr id="165" name="Group 164">
              <a:extLst>
                <a:ext uri="{FF2B5EF4-FFF2-40B4-BE49-F238E27FC236}">
                  <a16:creationId xmlns:a16="http://schemas.microsoft.com/office/drawing/2014/main" id="{A2417DDF-166F-1E4B-B7A4-70F41C8E5804}"/>
                </a:ext>
              </a:extLst>
            </p:cNvPr>
            <p:cNvGrpSpPr/>
            <p:nvPr/>
          </p:nvGrpSpPr>
          <p:grpSpPr>
            <a:xfrm>
              <a:off x="1661228" y="2613916"/>
              <a:ext cx="3091693" cy="1164620"/>
              <a:chOff x="1661228" y="2613916"/>
              <a:chExt cx="3091693" cy="1164620"/>
            </a:xfrm>
          </p:grpSpPr>
          <p:sp>
            <p:nvSpPr>
              <p:cNvPr id="170" name="object 13">
                <a:extLst>
                  <a:ext uri="{FF2B5EF4-FFF2-40B4-BE49-F238E27FC236}">
                    <a16:creationId xmlns:a16="http://schemas.microsoft.com/office/drawing/2014/main" id="{21DA7CC6-42C4-7C77-9E98-AF6151EF0F8C}"/>
                  </a:ext>
                </a:extLst>
              </p:cNvPr>
              <p:cNvSpPr/>
              <p:nvPr/>
            </p:nvSpPr>
            <p:spPr>
              <a:xfrm>
                <a:off x="2854335" y="2848364"/>
                <a:ext cx="1845537" cy="892580"/>
              </a:xfrm>
              <a:custGeom>
                <a:avLst/>
                <a:gdLst/>
                <a:ahLst/>
                <a:cxnLst/>
                <a:rect l="l" t="t" r="r" b="b"/>
                <a:pathLst>
                  <a:path w="1477010" h="794385">
                    <a:moveTo>
                      <a:pt x="1476756" y="794131"/>
                    </a:moveTo>
                    <a:lnTo>
                      <a:pt x="738377" y="794131"/>
                    </a:lnTo>
                    <a:lnTo>
                      <a:pt x="738377" y="0"/>
                    </a:lnTo>
                    <a:lnTo>
                      <a:pt x="0" y="0"/>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71" name="Oval 170">
                <a:extLst>
                  <a:ext uri="{FF2B5EF4-FFF2-40B4-BE49-F238E27FC236}">
                    <a16:creationId xmlns:a16="http://schemas.microsoft.com/office/drawing/2014/main" id="{E5025C52-A701-3BB7-B8AF-BB0940FE2F11}"/>
                  </a:ext>
                </a:extLst>
              </p:cNvPr>
              <p:cNvSpPr>
                <a:spLocks/>
              </p:cNvSpPr>
              <p:nvPr/>
            </p:nvSpPr>
            <p:spPr>
              <a:xfrm>
                <a:off x="4678807" y="3702846"/>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172" name="object 9">
                <a:extLst>
                  <a:ext uri="{FF2B5EF4-FFF2-40B4-BE49-F238E27FC236}">
                    <a16:creationId xmlns:a16="http://schemas.microsoft.com/office/drawing/2014/main" id="{062207B8-E2B1-FF66-C86C-AE118640F90D}"/>
                  </a:ext>
                </a:extLst>
              </p:cNvPr>
              <p:cNvSpPr txBox="1"/>
              <p:nvPr/>
            </p:nvSpPr>
            <p:spPr>
              <a:xfrm>
                <a:off x="1661228" y="2613916"/>
                <a:ext cx="1155766" cy="382156"/>
              </a:xfrm>
              <a:prstGeom prst="rect">
                <a:avLst/>
              </a:prstGeom>
            </p:spPr>
            <p:txBody>
              <a:bodyPr vert="horz" wrap="non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a:t>
                </a:r>
                <a:r>
                  <a:rPr kumimoji="0" lang="en-US" sz="1200" b="0" i="0" u="none" strike="noStrike" kern="1200" cap="none" spc="-5" normalizeH="0" baseline="0" noProof="0" dirty="0">
                    <a:ln>
                      <a:noFill/>
                    </a:ln>
                    <a:solidFill>
                      <a:srgbClr val="F36633"/>
                    </a:solidFill>
                    <a:effectLst/>
                    <a:uLnTx/>
                    <a:uFillTx/>
                    <a:latin typeface="Arial"/>
                    <a:ea typeface="+mn-ea"/>
                    <a:cs typeface="Arial"/>
                  </a:rPr>
                  <a:t> Distorted</a:t>
                </a:r>
                <a:br>
                  <a:rPr kumimoji="0" lang="en-US" sz="1200" b="0" i="0" u="none" strike="noStrike" kern="1200" cap="none" spc="-5" normalizeH="0" baseline="0" noProof="0" dirty="0">
                    <a:ln>
                      <a:noFill/>
                    </a:ln>
                    <a:solidFill>
                      <a:srgbClr val="F36633"/>
                    </a:solidFill>
                    <a:effectLst/>
                    <a:uLnTx/>
                    <a:uFillTx/>
                    <a:latin typeface="Arial"/>
                    <a:ea typeface="+mn-ea"/>
                    <a:cs typeface="Arial"/>
                  </a:rPr>
                </a:br>
                <a:r>
                  <a:rPr kumimoji="0" lang="en-US" sz="1200" b="0" i="0" u="none" strike="noStrike" kern="1200" cap="none" spc="-5" normalizeH="0" baseline="0" noProof="0" dirty="0">
                    <a:ln>
                      <a:noFill/>
                    </a:ln>
                    <a:solidFill>
                      <a:srgbClr val="F36633"/>
                    </a:solidFill>
                    <a:effectLst/>
                    <a:uLnTx/>
                    <a:uFillTx/>
                    <a:latin typeface="Arial"/>
                    <a:ea typeface="+mn-ea"/>
                    <a:cs typeface="Arial"/>
                  </a:rPr>
                  <a:t>trachea</a:t>
                </a:r>
              </a:p>
            </p:txBody>
          </p:sp>
        </p:grpSp>
        <p:grpSp>
          <p:nvGrpSpPr>
            <p:cNvPr id="166" name="Group 165">
              <a:extLst>
                <a:ext uri="{FF2B5EF4-FFF2-40B4-BE49-F238E27FC236}">
                  <a16:creationId xmlns:a16="http://schemas.microsoft.com/office/drawing/2014/main" id="{CBE1CBD6-6E6D-6374-011C-15853D782532}"/>
                </a:ext>
              </a:extLst>
            </p:cNvPr>
            <p:cNvGrpSpPr/>
            <p:nvPr/>
          </p:nvGrpSpPr>
          <p:grpSpPr>
            <a:xfrm>
              <a:off x="7945350" y="2321148"/>
              <a:ext cx="1859352" cy="1094703"/>
              <a:chOff x="7945350" y="2321148"/>
              <a:chExt cx="1859352" cy="1094703"/>
            </a:xfrm>
          </p:grpSpPr>
          <p:sp>
            <p:nvSpPr>
              <p:cNvPr id="167" name="object 33">
                <a:extLst>
                  <a:ext uri="{FF2B5EF4-FFF2-40B4-BE49-F238E27FC236}">
                    <a16:creationId xmlns:a16="http://schemas.microsoft.com/office/drawing/2014/main" id="{27C99C59-9573-D8E9-1151-CE2452F2334D}"/>
                  </a:ext>
                </a:extLst>
              </p:cNvPr>
              <p:cNvSpPr/>
              <p:nvPr/>
            </p:nvSpPr>
            <p:spPr>
              <a:xfrm>
                <a:off x="8302517" y="2778785"/>
                <a:ext cx="657" cy="580167"/>
              </a:xfrm>
              <a:custGeom>
                <a:avLst/>
                <a:gdLst/>
                <a:ahLst/>
                <a:cxnLst/>
                <a:rect l="l" t="t" r="r" b="b"/>
                <a:pathLst>
                  <a:path w="634" h="560705">
                    <a:moveTo>
                      <a:pt x="253" y="-6096"/>
                    </a:moveTo>
                    <a:lnTo>
                      <a:pt x="253" y="566547"/>
                    </a:lnTo>
                  </a:path>
                </a:pathLst>
              </a:custGeom>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68" name="object 39">
                <a:extLst>
                  <a:ext uri="{FF2B5EF4-FFF2-40B4-BE49-F238E27FC236}">
                    <a16:creationId xmlns:a16="http://schemas.microsoft.com/office/drawing/2014/main" id="{328D3A75-FB22-745C-1A66-3C4E41385C77}"/>
                  </a:ext>
                </a:extLst>
              </p:cNvPr>
              <p:cNvSpPr txBox="1"/>
              <p:nvPr/>
            </p:nvSpPr>
            <p:spPr>
              <a:xfrm>
                <a:off x="7945350" y="2321148"/>
                <a:ext cx="1859352" cy="382156"/>
              </a:xfrm>
              <a:prstGeom prst="rect">
                <a:avLst/>
              </a:prstGeom>
            </p:spPr>
            <p:txBody>
              <a:bodyPr vert="horz" wrap="square" lIns="0" tIns="12700" rIns="0" bIns="0" rtlCol="0">
                <a:spAutoFit/>
              </a:bodyPr>
              <a:lstStyle/>
              <a:p>
                <a:pPr marL="12700" marR="5080" lvl="0" indent="0" algn="l" defTabSz="1219170" rtl="0" eaLnBrk="1" fontAlgn="auto" latinLnBrk="0" hangingPunct="1">
                  <a:lnSpc>
                    <a:spcPct val="100000"/>
                  </a:lnSpc>
                  <a:spcBef>
                    <a:spcPts val="100"/>
                  </a:spcBef>
                  <a:spcAft>
                    <a:spcPts val="0"/>
                  </a:spcAft>
                  <a:buClrTx/>
                  <a:buSzTx/>
                  <a:buFontTx/>
                  <a:buNone/>
                  <a:tabLst/>
                  <a:defRPr/>
                </a:pPr>
                <a:r>
                  <a:rPr kumimoji="0" lang="en-US" sz="1200" b="1" i="0" u="none" strike="noStrike" kern="1200" cap="none" spc="-5" normalizeH="0" baseline="0" noProof="0" dirty="0">
                    <a:ln>
                      <a:noFill/>
                    </a:ln>
                    <a:solidFill>
                      <a:srgbClr val="F36633"/>
                    </a:solidFill>
                    <a:effectLst/>
                    <a:uLnTx/>
                    <a:uFillTx/>
                    <a:latin typeface="Arial"/>
                    <a:ea typeface="+mn-ea"/>
                    <a:cs typeface="Arial"/>
                  </a:rPr>
                  <a:t>COPD:</a:t>
                </a:r>
                <a:r>
                  <a:rPr kumimoji="0" lang="en-US" sz="1200" b="0" i="0" u="none" strike="noStrike" kern="1200" cap="none" spc="-5" normalizeH="0" baseline="0" noProof="0" dirty="0">
                    <a:ln>
                      <a:noFill/>
                    </a:ln>
                    <a:solidFill>
                      <a:srgbClr val="F36633"/>
                    </a:solidFill>
                    <a:effectLst/>
                    <a:uLnTx/>
                    <a:uFillTx/>
                    <a:latin typeface="Arial"/>
                    <a:ea typeface="+mn-ea"/>
                    <a:cs typeface="Arial"/>
                  </a:rPr>
                  <a:t> Pulmonary arteries carry blood with more CO</a:t>
                </a:r>
                <a:r>
                  <a:rPr kumimoji="0" lang="en-US" sz="1200" b="0" i="0" u="none" strike="noStrike" kern="1200" cap="none" spc="-5" normalizeH="0" baseline="-25000" noProof="0" dirty="0">
                    <a:ln>
                      <a:noFill/>
                    </a:ln>
                    <a:solidFill>
                      <a:srgbClr val="F36633"/>
                    </a:solidFill>
                    <a:effectLst/>
                    <a:uLnTx/>
                    <a:uFillTx/>
                    <a:latin typeface="Arial"/>
                    <a:ea typeface="+mn-ea"/>
                    <a:cs typeface="Arial"/>
                  </a:rPr>
                  <a:t>2</a:t>
                </a:r>
              </a:p>
            </p:txBody>
          </p:sp>
          <p:sp>
            <p:nvSpPr>
              <p:cNvPr id="169" name="Oval 168">
                <a:extLst>
                  <a:ext uri="{FF2B5EF4-FFF2-40B4-BE49-F238E27FC236}">
                    <a16:creationId xmlns:a16="http://schemas.microsoft.com/office/drawing/2014/main" id="{AA3DCF15-537C-D853-24C0-B8E943205581}"/>
                  </a:ext>
                </a:extLst>
              </p:cNvPr>
              <p:cNvSpPr>
                <a:spLocks/>
              </p:cNvSpPr>
              <p:nvPr/>
            </p:nvSpPr>
            <p:spPr>
              <a:xfrm>
                <a:off x="8269403" y="3340161"/>
                <a:ext cx="74114" cy="756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white"/>
                  </a:solidFill>
                  <a:effectLst/>
                  <a:uLnTx/>
                  <a:uFillTx/>
                  <a:latin typeface="Arial"/>
                  <a:ea typeface="+mn-ea"/>
                  <a:cs typeface="Noto Sans"/>
                </a:endParaRPr>
              </a:p>
            </p:txBody>
          </p:sp>
        </p:grpSp>
      </p:grpSp>
      <p:sp>
        <p:nvSpPr>
          <p:cNvPr id="4" name="Rectangle 3">
            <a:extLst>
              <a:ext uri="{FF2B5EF4-FFF2-40B4-BE49-F238E27FC236}">
                <a16:creationId xmlns:a16="http://schemas.microsoft.com/office/drawing/2014/main" id="{F5B7A353-4CB8-4968-2E3B-4EA1C839D1AC}"/>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959717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E10973-BACC-7780-6D19-1F6EE4B33408}"/>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7CE1B0C0-0F75-1D60-13F8-F62564004688}"/>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8B9AF040-8A15-1E7C-506E-5B5B0772919E}"/>
              </a:ext>
            </a:extLst>
          </p:cNvPr>
          <p:cNvSpPr>
            <a:spLocks noGrp="1"/>
          </p:cNvSpPr>
          <p:nvPr>
            <p:ph type="title"/>
          </p:nvPr>
        </p:nvSpPr>
        <p:spPr/>
        <p:txBody>
          <a:bodyPr/>
          <a:lstStyle/>
          <a:p>
            <a:r>
              <a:rPr lang="en-US" dirty="0"/>
              <a:t>Overview of the Pathogenesis of COPD</a:t>
            </a:r>
            <a:endParaRPr lang="en-GB" dirty="0"/>
          </a:p>
        </p:txBody>
      </p:sp>
      <p:sp>
        <p:nvSpPr>
          <p:cNvPr id="106" name="Text Placeholder 10">
            <a:extLst>
              <a:ext uri="{FF2B5EF4-FFF2-40B4-BE49-F238E27FC236}">
                <a16:creationId xmlns:a16="http://schemas.microsoft.com/office/drawing/2014/main" id="{D588F6CD-B3B0-F055-1734-E32516F02B56}"/>
              </a:ext>
            </a:extLst>
          </p:cNvPr>
          <p:cNvSpPr txBox="1">
            <a:spLocks/>
          </p:cNvSpPr>
          <p:nvPr/>
        </p:nvSpPr>
        <p:spPr>
          <a:xfrm>
            <a:off x="363233" y="5791854"/>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TGF-β, transforming growth factor beta.</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 2.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9" name="Content Placeholder 3">
            <a:extLst>
              <a:ext uri="{FF2B5EF4-FFF2-40B4-BE49-F238E27FC236}">
                <a16:creationId xmlns:a16="http://schemas.microsoft.com/office/drawing/2014/main" id="{B8E7171D-600A-2A4A-A9DC-ECA8ADD09851}"/>
              </a:ext>
            </a:extLst>
          </p:cNvPr>
          <p:cNvSpPr txBox="1">
            <a:spLocks/>
          </p:cNvSpPr>
          <p:nvPr/>
        </p:nvSpPr>
        <p:spPr>
          <a:xfrm>
            <a:off x="362254" y="814738"/>
            <a:ext cx="11424000" cy="569387"/>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COPD develops as a result of changes in </a:t>
            </a:r>
            <a:r>
              <a:rPr kumimoji="0" lang="en-US" sz="16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multiple mechanisms</a:t>
            </a:r>
            <a:r>
              <a:rPr kumimoji="0" lang="en-US" sz="1600" b="0"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 the lungs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1,2</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All these mechanisms </a:t>
            </a:r>
            <a:r>
              <a:rPr kumimoji="0" lang="en-US" sz="16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work together</a:t>
            </a:r>
            <a:r>
              <a:rPr kumimoji="0" lang="en-US" sz="1600" b="0"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resulting in physiological abnormalities associated with COPD</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endPar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130" name="Group 129">
            <a:extLst>
              <a:ext uri="{FF2B5EF4-FFF2-40B4-BE49-F238E27FC236}">
                <a16:creationId xmlns:a16="http://schemas.microsoft.com/office/drawing/2014/main" id="{0263280C-75C2-138F-BA58-2608C6AD68CA}"/>
              </a:ext>
            </a:extLst>
          </p:cNvPr>
          <p:cNvGrpSpPr>
            <a:grpSpLocks/>
          </p:cNvGrpSpPr>
          <p:nvPr/>
        </p:nvGrpSpPr>
        <p:grpSpPr>
          <a:xfrm>
            <a:off x="362988" y="1529897"/>
            <a:ext cx="11466024" cy="558165"/>
            <a:chOff x="314988" y="2054351"/>
            <a:chExt cx="11466024" cy="558165"/>
          </a:xfrm>
        </p:grpSpPr>
        <p:grpSp>
          <p:nvGrpSpPr>
            <p:cNvPr id="131" name="Group 130">
              <a:extLst>
                <a:ext uri="{FF2B5EF4-FFF2-40B4-BE49-F238E27FC236}">
                  <a16:creationId xmlns:a16="http://schemas.microsoft.com/office/drawing/2014/main" id="{646BA41E-4B87-CC0A-E662-CEF63E9295EE}"/>
                </a:ext>
              </a:extLst>
            </p:cNvPr>
            <p:cNvGrpSpPr/>
            <p:nvPr/>
          </p:nvGrpSpPr>
          <p:grpSpPr>
            <a:xfrm>
              <a:off x="314988" y="2054351"/>
              <a:ext cx="11466024" cy="558165"/>
              <a:chOff x="314988" y="2054351"/>
              <a:chExt cx="11466024" cy="558165"/>
            </a:xfrm>
          </p:grpSpPr>
          <p:sp>
            <p:nvSpPr>
              <p:cNvPr id="133" name="object 7">
                <a:extLst>
                  <a:ext uri="{FF2B5EF4-FFF2-40B4-BE49-F238E27FC236}">
                    <a16:creationId xmlns:a16="http://schemas.microsoft.com/office/drawing/2014/main" id="{582059E3-9D09-88E7-619B-C37C654E1EEB}"/>
                  </a:ext>
                </a:extLst>
              </p:cNvPr>
              <p:cNvSpPr/>
              <p:nvPr/>
            </p:nvSpPr>
            <p:spPr>
              <a:xfrm>
                <a:off x="314988" y="2054351"/>
                <a:ext cx="11466024" cy="558165"/>
              </a:xfrm>
              <a:prstGeom prst="rect">
                <a:avLst/>
              </a:pr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34" name="Group 133">
                <a:extLst>
                  <a:ext uri="{FF2B5EF4-FFF2-40B4-BE49-F238E27FC236}">
                    <a16:creationId xmlns:a16="http://schemas.microsoft.com/office/drawing/2014/main" id="{9D60DFE9-95A9-ABCA-F9EC-B694D8EB7B64}"/>
                  </a:ext>
                </a:extLst>
              </p:cNvPr>
              <p:cNvGrpSpPr/>
              <p:nvPr/>
            </p:nvGrpSpPr>
            <p:grpSpPr>
              <a:xfrm>
                <a:off x="10864640" y="2090927"/>
                <a:ext cx="858519" cy="485140"/>
                <a:chOff x="7909560" y="2090927"/>
                <a:chExt cx="858519" cy="485140"/>
              </a:xfrm>
            </p:grpSpPr>
            <p:sp>
              <p:nvSpPr>
                <p:cNvPr id="139" name="object 40">
                  <a:extLst>
                    <a:ext uri="{FF2B5EF4-FFF2-40B4-BE49-F238E27FC236}">
                      <a16:creationId xmlns:a16="http://schemas.microsoft.com/office/drawing/2014/main" id="{BE2CDB2D-8494-0529-6EE2-D208761A9DC2}"/>
                    </a:ext>
                  </a:extLst>
                </p:cNvPr>
                <p:cNvSpPr/>
                <p:nvPr/>
              </p:nvSpPr>
              <p:spPr>
                <a:xfrm>
                  <a:off x="7909560" y="2090927"/>
                  <a:ext cx="858519" cy="485140"/>
                </a:xfrm>
                <a:custGeom>
                  <a:avLst/>
                  <a:gdLst/>
                  <a:ahLst/>
                  <a:cxnLst/>
                  <a:rect l="l" t="t" r="r" b="b"/>
                  <a:pathLst>
                    <a:path w="858520" h="485139">
                      <a:moveTo>
                        <a:pt x="858011" y="0"/>
                      </a:moveTo>
                      <a:lnTo>
                        <a:pt x="0" y="0"/>
                      </a:lnTo>
                      <a:lnTo>
                        <a:pt x="0" y="484632"/>
                      </a:lnTo>
                      <a:lnTo>
                        <a:pt x="858011" y="484632"/>
                      </a:lnTo>
                      <a:lnTo>
                        <a:pt x="858011"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140" name="object 41">
                  <a:extLst>
                    <a:ext uri="{FF2B5EF4-FFF2-40B4-BE49-F238E27FC236}">
                      <a16:creationId xmlns:a16="http://schemas.microsoft.com/office/drawing/2014/main" id="{AF015A4F-1F14-D4D7-CBF4-651798D96C81}"/>
                    </a:ext>
                  </a:extLst>
                </p:cNvPr>
                <p:cNvPicPr/>
                <p:nvPr/>
              </p:nvPicPr>
              <p:blipFill>
                <a:blip r:embed="rId2" cstate="print"/>
                <a:stretch>
                  <a:fillRect/>
                </a:stretch>
              </p:blipFill>
              <p:spPr>
                <a:xfrm>
                  <a:off x="8171688" y="2104643"/>
                  <a:ext cx="358140" cy="440436"/>
                </a:xfrm>
                <a:prstGeom prst="rect">
                  <a:avLst/>
                </a:prstGeom>
              </p:spPr>
            </p:pic>
          </p:grpSp>
          <p:grpSp>
            <p:nvGrpSpPr>
              <p:cNvPr id="135" name="object 46">
                <a:extLst>
                  <a:ext uri="{FF2B5EF4-FFF2-40B4-BE49-F238E27FC236}">
                    <a16:creationId xmlns:a16="http://schemas.microsoft.com/office/drawing/2014/main" id="{598678AB-6C39-2228-68C2-11020E45BCFC}"/>
                  </a:ext>
                </a:extLst>
              </p:cNvPr>
              <p:cNvGrpSpPr/>
              <p:nvPr/>
            </p:nvGrpSpPr>
            <p:grpSpPr>
              <a:xfrm>
                <a:off x="366861" y="2090863"/>
                <a:ext cx="858519" cy="485140"/>
                <a:chOff x="333756" y="2090863"/>
                <a:chExt cx="858519" cy="485140"/>
              </a:xfrm>
            </p:grpSpPr>
            <p:sp>
              <p:nvSpPr>
                <p:cNvPr id="136" name="object 47">
                  <a:extLst>
                    <a:ext uri="{FF2B5EF4-FFF2-40B4-BE49-F238E27FC236}">
                      <a16:creationId xmlns:a16="http://schemas.microsoft.com/office/drawing/2014/main" id="{FD0779C4-02EF-452E-0E3A-4AD8A594313C}"/>
                    </a:ext>
                  </a:extLst>
                </p:cNvPr>
                <p:cNvSpPr/>
                <p:nvPr/>
              </p:nvSpPr>
              <p:spPr>
                <a:xfrm>
                  <a:off x="333756" y="2090863"/>
                  <a:ext cx="858519" cy="485140"/>
                </a:xfrm>
                <a:custGeom>
                  <a:avLst/>
                  <a:gdLst/>
                  <a:ahLst/>
                  <a:cxnLst/>
                  <a:rect l="l" t="t" r="r" b="b"/>
                  <a:pathLst>
                    <a:path w="858519" h="485139">
                      <a:moveTo>
                        <a:pt x="858012" y="0"/>
                      </a:moveTo>
                      <a:lnTo>
                        <a:pt x="0" y="0"/>
                      </a:lnTo>
                      <a:lnTo>
                        <a:pt x="0" y="484632"/>
                      </a:lnTo>
                      <a:lnTo>
                        <a:pt x="858012" y="484632"/>
                      </a:lnTo>
                      <a:lnTo>
                        <a:pt x="858012" y="0"/>
                      </a:lnTo>
                      <a:close/>
                    </a:path>
                  </a:pathLst>
                </a:custGeom>
                <a:solidFill>
                  <a:srgbClr val="FFFFFF"/>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137" name="object 48">
                  <a:extLst>
                    <a:ext uri="{FF2B5EF4-FFF2-40B4-BE49-F238E27FC236}">
                      <a16:creationId xmlns:a16="http://schemas.microsoft.com/office/drawing/2014/main" id="{12ECCBAA-3DBC-5175-3452-66EF22225267}"/>
                    </a:ext>
                  </a:extLst>
                </p:cNvPr>
                <p:cNvPicPr/>
                <p:nvPr/>
              </p:nvPicPr>
              <p:blipFill>
                <a:blip r:embed="rId3" cstate="print"/>
                <a:stretch>
                  <a:fillRect/>
                </a:stretch>
              </p:blipFill>
              <p:spPr>
                <a:xfrm>
                  <a:off x="370332" y="2183891"/>
                  <a:ext cx="426720" cy="193548"/>
                </a:xfrm>
                <a:prstGeom prst="rect">
                  <a:avLst/>
                </a:prstGeom>
              </p:spPr>
            </p:pic>
            <p:pic>
              <p:nvPicPr>
                <p:cNvPr id="138" name="object 49">
                  <a:extLst>
                    <a:ext uri="{FF2B5EF4-FFF2-40B4-BE49-F238E27FC236}">
                      <a16:creationId xmlns:a16="http://schemas.microsoft.com/office/drawing/2014/main" id="{D39B5802-FDD9-1D8F-5B9E-4558A74EAC76}"/>
                    </a:ext>
                  </a:extLst>
                </p:cNvPr>
                <p:cNvPicPr/>
                <p:nvPr/>
              </p:nvPicPr>
              <p:blipFill>
                <a:blip r:embed="rId4" cstate="print"/>
                <a:stretch>
                  <a:fillRect/>
                </a:stretch>
              </p:blipFill>
              <p:spPr>
                <a:xfrm>
                  <a:off x="848868" y="2142743"/>
                  <a:ext cx="303275" cy="374904"/>
                </a:xfrm>
                <a:prstGeom prst="rect">
                  <a:avLst/>
                </a:prstGeom>
              </p:spPr>
            </p:pic>
          </p:grpSp>
        </p:grpSp>
        <p:sp>
          <p:nvSpPr>
            <p:cNvPr id="132" name="object 8">
              <a:extLst>
                <a:ext uri="{FF2B5EF4-FFF2-40B4-BE49-F238E27FC236}">
                  <a16:creationId xmlns:a16="http://schemas.microsoft.com/office/drawing/2014/main" id="{A73EAE17-C299-97E4-6F47-C4675D1F9654}"/>
                </a:ext>
              </a:extLst>
            </p:cNvPr>
            <p:cNvSpPr txBox="1"/>
            <p:nvPr/>
          </p:nvSpPr>
          <p:spPr>
            <a:xfrm>
              <a:off x="3919916" y="2117990"/>
              <a:ext cx="4317849" cy="430887"/>
            </a:xfrm>
            <a:prstGeom prst="rect">
              <a:avLst/>
            </a:prstGeom>
            <a:ln w="6096">
              <a:noFill/>
            </a:ln>
          </p:spPr>
          <p:txBody>
            <a:bodyPr vert="horz" wrap="none" lIns="0" tIns="0" rIns="0" bIns="0" rtlCol="0">
              <a:spAutoFit/>
            </a:bodyPr>
            <a:lstStyle/>
            <a:p>
              <a:pPr marL="0" marR="0" lvl="0" indent="0" algn="ctr" defTabSz="914400" rtl="0" eaLnBrk="1" fontAlgn="auto" latinLnBrk="0" hangingPunct="1">
                <a:lnSpc>
                  <a:spcPct val="100000"/>
                </a:lnSpc>
                <a:spcBef>
                  <a:spcPts val="475"/>
                </a:spcBef>
                <a:spcAft>
                  <a:spcPts val="0"/>
                </a:spcAft>
                <a:buClrTx/>
                <a:buSzTx/>
                <a:buFontTx/>
                <a:buNone/>
                <a:tabLst/>
                <a:defRPr/>
              </a:pPr>
              <a:r>
                <a:rPr kumimoji="0" sz="1400" b="1" i="0" u="none" strike="noStrike" kern="0" cap="none" spc="-5" normalizeH="0" baseline="0" noProof="0" dirty="0">
                  <a:ln>
                    <a:noFill/>
                  </a:ln>
                  <a:solidFill>
                    <a:srgbClr val="FFFFFF"/>
                  </a:solidFill>
                  <a:effectLst/>
                  <a:uLnTx/>
                  <a:uFillTx/>
                  <a:latin typeface="Arial"/>
                  <a:ea typeface="+mn-ea"/>
                  <a:cs typeface="Arial"/>
                </a:rPr>
                <a:t>Possible</a:t>
              </a:r>
              <a:r>
                <a:rPr kumimoji="0" sz="1400" b="1" i="0" u="none" strike="noStrike" kern="0" cap="none" spc="-4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triggers</a:t>
              </a:r>
              <a:r>
                <a:rPr kumimoji="0" sz="1400" b="1" i="0" u="none" strike="noStrike" kern="0" cap="none" spc="-2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and</a:t>
              </a:r>
              <a:r>
                <a:rPr kumimoji="0" sz="1400" b="1" i="0" u="none" strike="noStrike" kern="0" cap="none" spc="-10" normalizeH="0" baseline="0" noProof="0" dirty="0">
                  <a:ln>
                    <a:noFill/>
                  </a:ln>
                  <a:solidFill>
                    <a:srgbClr val="FFFFFF"/>
                  </a:solidFill>
                  <a:effectLst/>
                  <a:uLnTx/>
                  <a:uFillTx/>
                  <a:latin typeface="Arial"/>
                  <a:ea typeface="+mn-ea"/>
                  <a:cs typeface="Arial"/>
                </a:rPr>
                <a:t> </a:t>
              </a:r>
              <a:r>
                <a:rPr kumimoji="0" sz="1400" b="1" i="0" u="none" strike="noStrike" kern="0" cap="none" spc="0" normalizeH="0" baseline="0" noProof="0" dirty="0">
                  <a:ln>
                    <a:noFill/>
                  </a:ln>
                  <a:solidFill>
                    <a:srgbClr val="FFFFFF"/>
                  </a:solidFill>
                  <a:effectLst/>
                  <a:uLnTx/>
                  <a:uFillTx/>
                  <a:latin typeface="Arial"/>
                  <a:ea typeface="+mn-ea"/>
                  <a:cs typeface="Arial"/>
                </a:rPr>
                <a:t>risk</a:t>
              </a:r>
              <a:r>
                <a:rPr kumimoji="0" sz="1400" b="1" i="0" u="none" strike="noStrike" kern="0" cap="none" spc="-25" normalizeH="0" baseline="0" noProof="0" dirty="0">
                  <a:ln>
                    <a:noFill/>
                  </a:ln>
                  <a:solidFill>
                    <a:srgbClr val="FFFFFF"/>
                  </a:solidFill>
                  <a:effectLst/>
                  <a:uLnTx/>
                  <a:uFillTx/>
                  <a:latin typeface="Arial"/>
                  <a:ea typeface="+mn-ea"/>
                  <a:cs typeface="Arial"/>
                </a:rPr>
                <a:t> </a:t>
              </a:r>
              <a:r>
                <a:rPr kumimoji="0" sz="1400" b="1" i="0" u="none" strike="noStrike" kern="0" cap="none" spc="0" normalizeH="0" baseline="0" noProof="0" dirty="0">
                  <a:ln>
                    <a:noFill/>
                  </a:ln>
                  <a:solidFill>
                    <a:srgbClr val="FFFFFF"/>
                  </a:solidFill>
                  <a:effectLst/>
                  <a:uLnTx/>
                  <a:uFillTx/>
                  <a:latin typeface="Arial"/>
                  <a:ea typeface="+mn-ea"/>
                  <a:cs typeface="Arial"/>
                </a:rPr>
                <a:t>factors</a:t>
              </a:r>
              <a:r>
                <a:rPr kumimoji="0" sz="1400" b="1" i="0" u="none" strike="noStrike" kern="0" cap="none" spc="-30"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for</a:t>
              </a:r>
              <a:r>
                <a:rPr kumimoji="0" sz="1400" b="1" i="0" u="none" strike="noStrike" kern="0" cap="none" spc="-10" normalizeH="0" baseline="0" noProof="0" dirty="0">
                  <a:ln>
                    <a:noFill/>
                  </a:ln>
                  <a:solidFill>
                    <a:srgbClr val="FFFFFF"/>
                  </a:solidFill>
                  <a:effectLst/>
                  <a:uLnTx/>
                  <a:uFillTx/>
                  <a:latin typeface="Arial"/>
                  <a:ea typeface="+mn-ea"/>
                  <a:cs typeface="Arial"/>
                </a:rPr>
                <a:t> </a:t>
              </a:r>
              <a:r>
                <a:rPr kumimoji="0" sz="1400" b="1" i="0" u="none" strike="noStrike" kern="0" cap="none" spc="0" normalizeH="0" baseline="0" noProof="0" dirty="0">
                  <a:ln>
                    <a:noFill/>
                  </a:ln>
                  <a:solidFill>
                    <a:srgbClr val="FFFFFF"/>
                  </a:solidFill>
                  <a:effectLst/>
                  <a:uLnTx/>
                  <a:uFillTx/>
                  <a:latin typeface="Arial"/>
                  <a:ea typeface="+mn-ea"/>
                  <a:cs typeface="Arial"/>
                </a:rPr>
                <a:t>inflammation</a:t>
              </a:r>
              <a:r>
                <a:rPr kumimoji="0" sz="1350" b="1" i="0" u="none" strike="noStrike" kern="0" cap="none" spc="0" normalizeH="0" baseline="24691" noProof="0" dirty="0">
                  <a:ln>
                    <a:noFill/>
                  </a:ln>
                  <a:solidFill>
                    <a:srgbClr val="FFFFFF"/>
                  </a:solidFill>
                  <a:effectLst/>
                  <a:uLnTx/>
                  <a:uFillTx/>
                  <a:latin typeface="Arial"/>
                  <a:ea typeface="+mn-ea"/>
                  <a:cs typeface="Arial"/>
                </a:rPr>
                <a:t>1</a:t>
              </a:r>
              <a:endParaRPr kumimoji="0" sz="1350" b="0" i="0" u="none" strike="noStrike" kern="0" cap="none" spc="0" normalizeH="0" baseline="24691" noProof="0" dirty="0">
                <a:ln>
                  <a:noFill/>
                </a:ln>
                <a:solidFill>
                  <a:srgbClr val="F36633"/>
                </a:solidFill>
                <a:effectLst/>
                <a:uLnTx/>
                <a:uFillTx/>
                <a:latin typeface="Arial"/>
                <a:ea typeface="+mn-ea"/>
                <a:cs typeface="Arial"/>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FFFFFF"/>
                  </a:solidFill>
                  <a:effectLst/>
                  <a:uLnTx/>
                  <a:uFillTx/>
                  <a:latin typeface="Arial"/>
                  <a:ea typeface="+mn-ea"/>
                  <a:cs typeface="Arial"/>
                </a:rPr>
                <a:t>E.g.</a:t>
              </a:r>
              <a:r>
                <a:rPr kumimoji="0" lang="en-IN" sz="1400" b="0" i="0" u="none" strike="noStrike" kern="0" cap="none" spc="0" normalizeH="0" baseline="0" noProof="0" dirty="0">
                  <a:ln>
                    <a:noFill/>
                  </a:ln>
                  <a:solidFill>
                    <a:srgbClr val="FFFFFF"/>
                  </a:solidFill>
                  <a:effectLst/>
                  <a:uLnTx/>
                  <a:uFillTx/>
                  <a:latin typeface="Arial"/>
                  <a:ea typeface="+mn-ea"/>
                  <a:cs typeface="Arial"/>
                </a:rPr>
                <a:t>,</a:t>
              </a:r>
              <a:r>
                <a:rPr kumimoji="0" sz="1400" b="0" i="0" u="none" strike="noStrike" kern="0" cap="none" spc="-25"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cigarette</a:t>
              </a:r>
              <a:r>
                <a:rPr kumimoji="0" sz="1400" b="0" i="0" u="none" strike="noStrike" kern="0" cap="none" spc="-50"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smoke,</a:t>
              </a:r>
              <a:r>
                <a:rPr kumimoji="0" sz="1400" b="0" i="0" u="none" strike="noStrike" kern="0" cap="none" spc="-45"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pollution</a:t>
              </a:r>
              <a:r>
                <a:rPr kumimoji="0" sz="1400" b="0" i="0" u="none" strike="noStrike" kern="0" cap="none" spc="-35"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and</a:t>
              </a:r>
              <a:r>
                <a:rPr kumimoji="0" sz="1400" b="0" i="0" u="none" strike="noStrike" kern="0" cap="none" spc="-25"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viral</a:t>
              </a:r>
              <a:r>
                <a:rPr kumimoji="0" sz="1400" b="0" i="0" u="none" strike="noStrike" kern="0" cap="none" spc="0" normalizeH="0" baseline="0" noProof="0" dirty="0">
                  <a:ln>
                    <a:noFill/>
                  </a:ln>
                  <a:solidFill>
                    <a:srgbClr val="FFFFFF"/>
                  </a:solidFill>
                  <a:effectLst/>
                  <a:uLnTx/>
                  <a:uFillTx/>
                  <a:latin typeface="Arial"/>
                  <a:ea typeface="+mn-ea"/>
                  <a:cs typeface="Arial"/>
                </a:rPr>
                <a:t> infections</a:t>
              </a:r>
              <a:endParaRPr kumimoji="0" sz="1400" b="0" i="0" u="none" strike="noStrike" kern="0" cap="none" spc="0" normalizeH="0" baseline="0" noProof="0" dirty="0">
                <a:ln>
                  <a:noFill/>
                </a:ln>
                <a:solidFill>
                  <a:srgbClr val="F36633"/>
                </a:solidFill>
                <a:effectLst/>
                <a:uLnTx/>
                <a:uFillTx/>
                <a:latin typeface="Arial"/>
                <a:ea typeface="+mn-ea"/>
                <a:cs typeface="Arial"/>
              </a:endParaRPr>
            </a:p>
          </p:txBody>
        </p:sp>
      </p:grpSp>
      <p:sp>
        <p:nvSpPr>
          <p:cNvPr id="141" name="object 6">
            <a:extLst>
              <a:ext uri="{FF2B5EF4-FFF2-40B4-BE49-F238E27FC236}">
                <a16:creationId xmlns:a16="http://schemas.microsoft.com/office/drawing/2014/main" id="{D2DF31FD-CF0E-62A1-8197-03F855FA287B}"/>
              </a:ext>
            </a:extLst>
          </p:cNvPr>
          <p:cNvSpPr txBox="1">
            <a:spLocks/>
          </p:cNvSpPr>
          <p:nvPr/>
        </p:nvSpPr>
        <p:spPr>
          <a:xfrm>
            <a:off x="360852" y="5266668"/>
            <a:ext cx="11470296" cy="307777"/>
          </a:xfrm>
          <a:prstGeom prst="rect">
            <a:avLst/>
          </a:prstGeom>
          <a:solidFill>
            <a:schemeClr val="accent1"/>
          </a:solidFill>
        </p:spPr>
        <p:txBody>
          <a:bodyPr vert="horz" wrap="square" lIns="0" tIns="45720" rIns="0" bIns="45720" rtlCol="0">
            <a:spAutoFit/>
          </a:bodyPr>
          <a:lstStyle/>
          <a:p>
            <a:pPr marL="0" marR="0" lvl="0" indent="0" algn="ctr" defTabSz="914400" rtl="0" eaLnBrk="1" fontAlgn="auto" latinLnBrk="0" hangingPunct="1">
              <a:lnSpc>
                <a:spcPct val="100000"/>
              </a:lnSpc>
              <a:spcBef>
                <a:spcPts val="305"/>
              </a:spcBef>
              <a:spcAft>
                <a:spcPts val="0"/>
              </a:spcAft>
              <a:buClrTx/>
              <a:buSzTx/>
              <a:buFontTx/>
              <a:buNone/>
              <a:tabLst/>
              <a:defRPr/>
            </a:pPr>
            <a:r>
              <a:rPr kumimoji="0" sz="1400" b="0" i="0" u="none" strike="noStrike" kern="0" cap="none" spc="-10" normalizeH="0" baseline="0" noProof="0" dirty="0">
                <a:ln>
                  <a:noFill/>
                </a:ln>
                <a:solidFill>
                  <a:srgbClr val="FFFFFF"/>
                </a:solidFill>
                <a:effectLst/>
                <a:uLnTx/>
                <a:uFillTx/>
                <a:latin typeface="Arial"/>
                <a:ea typeface="+mn-ea"/>
                <a:cs typeface="Arial"/>
              </a:rPr>
              <a:t>Let’s</a:t>
            </a:r>
            <a:r>
              <a:rPr kumimoji="0" sz="1400" b="0" i="0" u="none" strike="noStrike" kern="0" cap="none" spc="-30"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explore </a:t>
            </a:r>
            <a:r>
              <a:rPr kumimoji="0" sz="1400" b="0" i="0" u="none" strike="noStrike" kern="0" cap="none" spc="0" normalizeH="0" baseline="0" noProof="0" dirty="0">
                <a:ln>
                  <a:noFill/>
                </a:ln>
                <a:solidFill>
                  <a:srgbClr val="FFFFFF"/>
                </a:solidFill>
                <a:effectLst/>
                <a:uLnTx/>
                <a:uFillTx/>
                <a:latin typeface="Arial"/>
                <a:ea typeface="+mn-ea"/>
                <a:cs typeface="Arial"/>
              </a:rPr>
              <a:t>the</a:t>
            </a:r>
            <a:r>
              <a:rPr kumimoji="0" sz="1400" b="0" i="0" u="none" strike="noStrike" kern="0" cap="none" spc="-30"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roles</a:t>
            </a:r>
            <a:r>
              <a:rPr kumimoji="0" sz="1400" b="0" i="0" u="none" strike="noStrike" kern="0" cap="none" spc="-10"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of</a:t>
            </a:r>
            <a:r>
              <a:rPr kumimoji="0" sz="1400" b="0" i="0" u="none" strike="noStrike" kern="0" cap="none" spc="-10" normalizeH="0" baseline="0" noProof="0" dirty="0">
                <a:ln>
                  <a:noFill/>
                </a:ln>
                <a:solidFill>
                  <a:srgbClr val="FFFFFF"/>
                </a:solidFill>
                <a:effectLst/>
                <a:uLnTx/>
                <a:uFillTx/>
                <a:latin typeface="Arial"/>
                <a:ea typeface="+mn-ea"/>
                <a:cs typeface="Arial"/>
              </a:rPr>
              <a:t> different</a:t>
            </a:r>
            <a:r>
              <a:rPr kumimoji="0" sz="1400" b="0" i="0" u="none" strike="noStrike" kern="0" cap="none" spc="-40"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immune</a:t>
            </a:r>
            <a:r>
              <a:rPr kumimoji="0" sz="1400" b="0" i="0" u="none" strike="noStrike" kern="0" cap="none" spc="-15"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cells</a:t>
            </a:r>
            <a:r>
              <a:rPr kumimoji="0" sz="1400" b="0" i="0" u="none" strike="noStrike" kern="0" cap="none" spc="-30"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in </a:t>
            </a:r>
            <a:r>
              <a:rPr kumimoji="0" sz="1400" b="0" i="0" u="none" strike="noStrike" kern="0" cap="none" spc="0" normalizeH="0" baseline="0" noProof="0" dirty="0">
                <a:ln>
                  <a:noFill/>
                </a:ln>
                <a:solidFill>
                  <a:srgbClr val="FFFFFF"/>
                </a:solidFill>
                <a:effectLst/>
                <a:uLnTx/>
                <a:uFillTx/>
                <a:latin typeface="Arial"/>
                <a:ea typeface="+mn-ea"/>
                <a:cs typeface="Arial"/>
              </a:rPr>
              <a:t>the</a:t>
            </a:r>
            <a:r>
              <a:rPr kumimoji="0" sz="1400" b="0" i="0" u="none" strike="noStrike" kern="0" cap="none" spc="-15"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pathogenesis</a:t>
            </a:r>
            <a:r>
              <a:rPr kumimoji="0" sz="1400" b="0" i="0" u="none" strike="noStrike" kern="0" cap="none" spc="-40" normalizeH="0" baseline="0" noProof="0" dirty="0">
                <a:ln>
                  <a:noFill/>
                </a:ln>
                <a:solidFill>
                  <a:srgbClr val="FFFFFF"/>
                </a:solidFill>
                <a:effectLst/>
                <a:uLnTx/>
                <a:uFillTx/>
                <a:latin typeface="Arial"/>
                <a:ea typeface="+mn-ea"/>
                <a:cs typeface="Arial"/>
              </a:rPr>
              <a:t> </a:t>
            </a:r>
            <a:r>
              <a:rPr kumimoji="0" sz="1400" b="0" i="0" u="none" strike="noStrike" kern="0" cap="none" spc="-5" normalizeH="0" baseline="0" noProof="0" dirty="0">
                <a:ln>
                  <a:noFill/>
                </a:ln>
                <a:solidFill>
                  <a:srgbClr val="FFFFFF"/>
                </a:solidFill>
                <a:effectLst/>
                <a:uLnTx/>
                <a:uFillTx/>
                <a:latin typeface="Arial"/>
                <a:ea typeface="+mn-ea"/>
                <a:cs typeface="Arial"/>
              </a:rPr>
              <a:t>of</a:t>
            </a:r>
            <a:r>
              <a:rPr kumimoji="0" sz="1400" b="0" i="0" u="none" strike="noStrike" kern="0" cap="none" spc="-10" normalizeH="0" baseline="0" noProof="0" dirty="0">
                <a:ln>
                  <a:noFill/>
                </a:ln>
                <a:solidFill>
                  <a:srgbClr val="FFFFFF"/>
                </a:solidFill>
                <a:effectLst/>
                <a:uLnTx/>
                <a:uFillTx/>
                <a:latin typeface="Arial"/>
                <a:ea typeface="+mn-ea"/>
                <a:cs typeface="Arial"/>
              </a:rPr>
              <a:t> </a:t>
            </a:r>
            <a:r>
              <a:rPr kumimoji="0" sz="1400" b="0" i="0" u="none" strike="noStrike" kern="0" cap="none" spc="0" normalizeH="0" baseline="0" noProof="0" dirty="0">
                <a:ln>
                  <a:noFill/>
                </a:ln>
                <a:solidFill>
                  <a:srgbClr val="FFFFFF"/>
                </a:solidFill>
                <a:effectLst/>
                <a:uLnTx/>
                <a:uFillTx/>
                <a:latin typeface="Arial"/>
                <a:ea typeface="+mn-ea"/>
                <a:cs typeface="Arial"/>
              </a:rPr>
              <a:t>COPD…</a:t>
            </a:r>
            <a:endParaRPr kumimoji="0" sz="1400" b="0" i="0" u="none" strike="noStrike" kern="0" cap="none" spc="0" normalizeH="0" baseline="0" noProof="0" dirty="0">
              <a:ln>
                <a:noFill/>
              </a:ln>
              <a:solidFill>
                <a:srgbClr val="F36633"/>
              </a:solidFill>
              <a:effectLst/>
              <a:uLnTx/>
              <a:uFillTx/>
              <a:latin typeface="Arial"/>
              <a:ea typeface="+mn-ea"/>
              <a:cs typeface="Arial"/>
            </a:endParaRPr>
          </a:p>
        </p:txBody>
      </p:sp>
      <p:graphicFrame>
        <p:nvGraphicFramePr>
          <p:cNvPr id="142" name="object 35">
            <a:extLst>
              <a:ext uri="{FF2B5EF4-FFF2-40B4-BE49-F238E27FC236}">
                <a16:creationId xmlns:a16="http://schemas.microsoft.com/office/drawing/2014/main" id="{6D7515A5-E311-872B-D7B4-4963F6E91D64}"/>
              </a:ext>
            </a:extLst>
          </p:cNvPr>
          <p:cNvGraphicFramePr>
            <a:graphicFrameLocks noGrp="1"/>
          </p:cNvGraphicFramePr>
          <p:nvPr/>
        </p:nvGraphicFramePr>
        <p:xfrm>
          <a:off x="4757684" y="3670128"/>
          <a:ext cx="2286634" cy="493775"/>
        </p:xfrm>
        <a:graphic>
          <a:graphicData uri="http://schemas.openxmlformats.org/drawingml/2006/table">
            <a:tbl>
              <a:tblPr firstRow="1" bandRow="1"/>
              <a:tblGrid>
                <a:gridCol w="1106170">
                  <a:extLst>
                    <a:ext uri="{9D8B030D-6E8A-4147-A177-3AD203B41FA5}">
                      <a16:colId xmlns:a16="http://schemas.microsoft.com/office/drawing/2014/main" val="20000"/>
                    </a:ext>
                  </a:extLst>
                </a:gridCol>
                <a:gridCol w="74294">
                  <a:extLst>
                    <a:ext uri="{9D8B030D-6E8A-4147-A177-3AD203B41FA5}">
                      <a16:colId xmlns:a16="http://schemas.microsoft.com/office/drawing/2014/main" val="20001"/>
                    </a:ext>
                  </a:extLst>
                </a:gridCol>
                <a:gridCol w="1106170">
                  <a:extLst>
                    <a:ext uri="{9D8B030D-6E8A-4147-A177-3AD203B41FA5}">
                      <a16:colId xmlns:a16="http://schemas.microsoft.com/office/drawing/2014/main" val="20002"/>
                    </a:ext>
                  </a:extLst>
                </a:gridCol>
              </a:tblGrid>
              <a:tr h="246125">
                <a:tc row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a:lnSpc>
                          <a:spcPct val="100000"/>
                        </a:lnSpc>
                        <a:spcBef>
                          <a:spcPts val="50"/>
                        </a:spcBef>
                      </a:pPr>
                      <a:endParaRPr sz="1100" dirty="0">
                        <a:solidFill>
                          <a:schemeClr val="tx2"/>
                        </a:solidFill>
                        <a:latin typeface="Times New Roman"/>
                        <a:cs typeface="Times New Roman"/>
                      </a:endParaRPr>
                    </a:p>
                    <a:p>
                      <a:pPr marL="281305">
                        <a:lnSpc>
                          <a:spcPct val="100000"/>
                        </a:lnSpc>
                      </a:pPr>
                      <a:r>
                        <a:rPr sz="1000" b="1" spc="-5" dirty="0">
                          <a:solidFill>
                            <a:schemeClr val="tx2"/>
                          </a:solidFill>
                          <a:latin typeface="Arial"/>
                          <a:cs typeface="Arial"/>
                        </a:rPr>
                        <a:t>Oxidants</a:t>
                      </a:r>
                      <a:endParaRPr sz="1000" dirty="0">
                        <a:solidFill>
                          <a:schemeClr val="tx2"/>
                        </a:solidFill>
                        <a:latin typeface="Arial"/>
                        <a:cs typeface="Arial"/>
                      </a:endParaRPr>
                    </a:p>
                  </a:txBody>
                  <a:tcPr marL="0" marR="0" marT="6350" marB="0">
                    <a:lnL w="19050" cap="flat" cmpd="sng" algn="ctr">
                      <a:solidFill>
                        <a:srgbClr val="004B8D"/>
                      </a:solidFill>
                      <a:prstDash val="solid"/>
                      <a:round/>
                      <a:headEnd type="none" w="med" len="med"/>
                      <a:tailEnd type="none" w="med" len="med"/>
                    </a:lnL>
                    <a:lnR w="19050" cap="flat" cmpd="sng" algn="ctr">
                      <a:solidFill>
                        <a:srgbClr val="004B8D"/>
                      </a:solidFill>
                      <a:prstDash val="solid"/>
                      <a:round/>
                      <a:headEnd type="none" w="med" len="med"/>
                      <a:tailEnd type="none" w="med" len="med"/>
                    </a:lnR>
                    <a:lnT w="19050" cap="flat" cmpd="sng" algn="ctr">
                      <a:solidFill>
                        <a:srgbClr val="004B8D"/>
                      </a:solidFill>
                      <a:prstDash val="solid"/>
                      <a:round/>
                      <a:headEnd type="none" w="med" len="med"/>
                      <a:tailEnd type="none" w="med" len="med"/>
                    </a:lnT>
                    <a:lnB w="19050" cap="flat" cmpd="sng" algn="ctr">
                      <a:solidFill>
                        <a:srgbClr val="004B8D"/>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a:lnSpc>
                          <a:spcPct val="100000"/>
                        </a:lnSpc>
                      </a:pPr>
                      <a:endParaRPr sz="1000" dirty="0">
                        <a:solidFill>
                          <a:schemeClr val="tx2"/>
                        </a:solidFill>
                        <a:latin typeface="Times New Roman"/>
                        <a:cs typeface="Times New Roman"/>
                      </a:endParaRPr>
                    </a:p>
                  </a:txBody>
                  <a:tcPr marL="0" marR="0" marT="0" marB="0">
                    <a:lnL w="19050" cap="flat" cmpd="sng" algn="ctr">
                      <a:solidFill>
                        <a:srgbClr val="004B8D"/>
                      </a:solidFill>
                      <a:prstDash val="solid"/>
                      <a:round/>
                      <a:headEnd type="none" w="med" len="med"/>
                      <a:tailEnd type="none" w="med" len="med"/>
                    </a:lnL>
                    <a:lnR w="19050" cap="flat" cmpd="sng" algn="ctr">
                      <a:solidFill>
                        <a:srgbClr val="544F40"/>
                      </a:solidFill>
                      <a:prstDash val="solid"/>
                      <a:round/>
                      <a:headEnd type="none" w="med" len="med"/>
                      <a:tailEnd type="none" w="med" len="med"/>
                    </a:lnR>
                    <a:lnT>
                      <a:noFill/>
                    </a:lnT>
                    <a:lnB w="19050" cap="flat" cmpd="sng" algn="ctr">
                      <a:solidFill>
                        <a:srgbClr val="F36633"/>
                      </a:solidFill>
                      <a:prstDash val="solid"/>
                      <a:round/>
                      <a:headEnd type="none" w="med" len="med"/>
                      <a:tailEnd type="none" w="med" len="med"/>
                    </a:lnB>
                    <a:lnTlToBr w="12700" cmpd="sng">
                      <a:noFill/>
                      <a:prstDash val="solid"/>
                    </a:lnTlToBr>
                    <a:lnBlToTr w="12700" cmpd="sng">
                      <a:noFill/>
                      <a:prstDash val="solid"/>
                    </a:lnBlToTr>
                    <a:noFill/>
                  </a:tcPr>
                </a:tc>
                <a:tc row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a:lnSpc>
                          <a:spcPct val="100000"/>
                        </a:lnSpc>
                        <a:spcBef>
                          <a:spcPts val="50"/>
                        </a:spcBef>
                      </a:pPr>
                      <a:endParaRPr sz="1100" dirty="0">
                        <a:solidFill>
                          <a:schemeClr val="tx2"/>
                        </a:solidFill>
                        <a:latin typeface="Times New Roman"/>
                        <a:cs typeface="Times New Roman"/>
                      </a:endParaRPr>
                    </a:p>
                    <a:p>
                      <a:pPr marL="250825">
                        <a:lnSpc>
                          <a:spcPct val="100000"/>
                        </a:lnSpc>
                      </a:pPr>
                      <a:r>
                        <a:rPr sz="1000" b="1" spc="-5" dirty="0">
                          <a:solidFill>
                            <a:schemeClr val="tx2"/>
                          </a:solidFill>
                          <a:latin typeface="Arial"/>
                          <a:cs typeface="Arial"/>
                        </a:rPr>
                        <a:t>Proteases</a:t>
                      </a:r>
                      <a:endParaRPr sz="1000" dirty="0">
                        <a:solidFill>
                          <a:schemeClr val="tx2"/>
                        </a:solidFill>
                        <a:latin typeface="Arial"/>
                        <a:cs typeface="Arial"/>
                      </a:endParaRPr>
                    </a:p>
                  </a:txBody>
                  <a:tcPr marL="0" marR="0" marT="6350" marB="0">
                    <a:lnL w="19050" cap="flat" cmpd="sng" algn="ctr">
                      <a:solidFill>
                        <a:srgbClr val="544F40"/>
                      </a:solidFill>
                      <a:prstDash val="solid"/>
                      <a:round/>
                      <a:headEnd type="none" w="med" len="med"/>
                      <a:tailEnd type="none" w="med" len="med"/>
                    </a:lnL>
                    <a:lnR w="19050" cap="flat" cmpd="sng" algn="ctr">
                      <a:solidFill>
                        <a:srgbClr val="544F40"/>
                      </a:solidFill>
                      <a:prstDash val="solid"/>
                      <a:round/>
                      <a:headEnd type="none" w="med" len="med"/>
                      <a:tailEnd type="none" w="med" len="med"/>
                    </a:lnR>
                    <a:lnT w="19050" cap="flat" cmpd="sng" algn="ctr">
                      <a:solidFill>
                        <a:srgbClr val="544F40"/>
                      </a:solidFill>
                      <a:prstDash val="solid"/>
                      <a:round/>
                      <a:headEnd type="none" w="med" len="med"/>
                      <a:tailEnd type="none" w="med" len="med"/>
                    </a:lnT>
                    <a:lnB w="19050" cap="flat" cmpd="sng" algn="ctr">
                      <a:solidFill>
                        <a:srgbClr val="544F4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0"/>
                  </a:ext>
                </a:extLst>
              </a:tr>
              <a:tr h="247650">
                <a:tc vMerge="1">
                  <a:txBody>
                    <a:bodyPr/>
                    <a:lstStyle/>
                    <a:p>
                      <a:endParaRPr/>
                    </a:p>
                  </a:txBody>
                  <a:tcPr marL="0" marR="0" marT="6350" marB="0">
                    <a:lnL w="28575">
                      <a:solidFill>
                        <a:srgbClr val="004A8D"/>
                      </a:solidFill>
                      <a:prstDash val="solid"/>
                    </a:lnL>
                    <a:lnR w="28575">
                      <a:solidFill>
                        <a:srgbClr val="004A8D"/>
                      </a:solidFill>
                      <a:prstDash val="solid"/>
                    </a:lnR>
                    <a:lnT w="28575">
                      <a:solidFill>
                        <a:srgbClr val="004A8D"/>
                      </a:solidFill>
                      <a:prstDash val="solid"/>
                    </a:lnT>
                    <a:lnB w="28575">
                      <a:solidFill>
                        <a:srgbClr val="004A8D"/>
                      </a:solidFill>
                      <a:prstDash val="solid"/>
                    </a:lnB>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a:lnSpc>
                          <a:spcPct val="100000"/>
                        </a:lnSpc>
                      </a:pPr>
                      <a:endParaRPr sz="1000" dirty="0">
                        <a:latin typeface="Times New Roman"/>
                        <a:cs typeface="Times New Roman"/>
                      </a:endParaRPr>
                    </a:p>
                  </a:txBody>
                  <a:tcPr marL="0" marR="0" marT="0" marB="0">
                    <a:lnL w="19050" cap="flat" cmpd="sng" algn="ctr">
                      <a:solidFill>
                        <a:srgbClr val="004B8D"/>
                      </a:solidFill>
                      <a:prstDash val="solid"/>
                      <a:round/>
                      <a:headEnd type="none" w="med" len="med"/>
                      <a:tailEnd type="none" w="med" len="med"/>
                    </a:lnL>
                    <a:lnR w="19050" cap="flat" cmpd="sng" algn="ctr">
                      <a:solidFill>
                        <a:srgbClr val="544F40"/>
                      </a:solidFill>
                      <a:prstDash val="solid"/>
                      <a:round/>
                      <a:headEnd type="none" w="med" len="med"/>
                      <a:tailEnd type="none" w="med" len="med"/>
                    </a:lnR>
                    <a:lnT w="19050" cap="flat" cmpd="sng" algn="ctr">
                      <a:solidFill>
                        <a:srgbClr val="F36633"/>
                      </a:solidFill>
                      <a:prstDash val="solid"/>
                      <a:round/>
                      <a:headEnd type="none" w="med" len="med"/>
                      <a:tailEnd type="none" w="med" len="med"/>
                    </a:lnT>
                    <a:lnB>
                      <a:noFill/>
                    </a:lnB>
                    <a:lnTlToBr w="12700" cmpd="sng">
                      <a:noFill/>
                      <a:prstDash val="solid"/>
                    </a:lnTlToBr>
                    <a:lnBlToTr w="12700" cmpd="sng">
                      <a:noFill/>
                      <a:prstDash val="solid"/>
                    </a:lnBlToTr>
                    <a:noFill/>
                  </a:tcPr>
                </a:tc>
                <a:tc vMerge="1">
                  <a:txBody>
                    <a:bodyPr/>
                    <a:lstStyle/>
                    <a:p>
                      <a:endParaRPr/>
                    </a:p>
                  </a:txBody>
                  <a:tcPr marL="0" marR="0" marT="6350" marB="0">
                    <a:lnL w="28575">
                      <a:solidFill>
                        <a:srgbClr val="534F40"/>
                      </a:solidFill>
                      <a:prstDash val="solid"/>
                    </a:lnL>
                    <a:lnR w="28575">
                      <a:solidFill>
                        <a:srgbClr val="534F40"/>
                      </a:solidFill>
                      <a:prstDash val="solid"/>
                    </a:lnR>
                    <a:lnT w="28575">
                      <a:solidFill>
                        <a:srgbClr val="534F40"/>
                      </a:solidFill>
                      <a:prstDash val="solid"/>
                    </a:lnT>
                    <a:lnB w="28575">
                      <a:solidFill>
                        <a:srgbClr val="534F40"/>
                      </a:solidFill>
                      <a:prstDash val="solid"/>
                    </a:lnB>
                  </a:tcPr>
                </a:tc>
                <a:extLst>
                  <a:ext uri="{0D108BD9-81ED-4DB2-BD59-A6C34878D82A}">
                    <a16:rowId xmlns:a16="http://schemas.microsoft.com/office/drawing/2014/main" val="10001"/>
                  </a:ext>
                </a:extLst>
              </a:tr>
            </a:tbl>
          </a:graphicData>
        </a:graphic>
      </p:graphicFrame>
      <p:pic>
        <p:nvPicPr>
          <p:cNvPr id="144" name="object 9">
            <a:extLst>
              <a:ext uri="{FF2B5EF4-FFF2-40B4-BE49-F238E27FC236}">
                <a16:creationId xmlns:a16="http://schemas.microsoft.com/office/drawing/2014/main" id="{EECBC35A-FFB7-A0CB-550C-86D06FCBE2B6}"/>
              </a:ext>
            </a:extLst>
          </p:cNvPr>
          <p:cNvPicPr/>
          <p:nvPr/>
        </p:nvPicPr>
        <p:blipFill>
          <a:blip r:embed="rId5" cstate="print"/>
          <a:stretch>
            <a:fillRect/>
          </a:stretch>
        </p:blipFill>
        <p:spPr>
          <a:xfrm>
            <a:off x="2592260" y="3019190"/>
            <a:ext cx="873252" cy="187451"/>
          </a:xfrm>
          <a:prstGeom prst="rect">
            <a:avLst/>
          </a:prstGeom>
        </p:spPr>
      </p:pic>
      <p:sp>
        <p:nvSpPr>
          <p:cNvPr id="145" name="object 11">
            <a:extLst>
              <a:ext uri="{FF2B5EF4-FFF2-40B4-BE49-F238E27FC236}">
                <a16:creationId xmlns:a16="http://schemas.microsoft.com/office/drawing/2014/main" id="{9A546906-80DE-97FA-EE08-11C8FBCD737F}"/>
              </a:ext>
            </a:extLst>
          </p:cNvPr>
          <p:cNvSpPr txBox="1"/>
          <p:nvPr/>
        </p:nvSpPr>
        <p:spPr>
          <a:xfrm>
            <a:off x="3605212" y="3466484"/>
            <a:ext cx="401320" cy="177800"/>
          </a:xfrm>
          <a:prstGeom prst="rect">
            <a:avLst/>
          </a:prstGeom>
        </p:spPr>
        <p:txBody>
          <a:bodyPr vert="horz" wrap="square" lIns="0" tIns="12065" rIns="0" bIns="0" rtlCol="0">
            <a:noAutofit/>
          </a:bodyPr>
          <a:lstStyle/>
          <a:p>
            <a:pPr marL="12700" marR="0" lvl="0" indent="0" algn="l" defTabSz="914400" rtl="0" eaLnBrk="1" fontAlgn="auto" latinLnBrk="0" hangingPunct="1">
              <a:lnSpc>
                <a:spcPct val="100000"/>
              </a:lnSpc>
              <a:spcBef>
                <a:spcPts val="95"/>
              </a:spcBef>
              <a:spcAft>
                <a:spcPts val="0"/>
              </a:spcAft>
              <a:buClrTx/>
              <a:buSzTx/>
              <a:buFontTx/>
              <a:buNone/>
              <a:tabLst/>
              <a:defRPr/>
            </a:pPr>
            <a:r>
              <a:rPr kumimoji="0" sz="1000" b="1" i="0" u="none" strike="noStrike" kern="0" cap="none" spc="5" normalizeH="0" baseline="0" noProof="0" dirty="0">
                <a:ln>
                  <a:noFill/>
                </a:ln>
                <a:solidFill>
                  <a:srgbClr val="004B8D"/>
                </a:solidFill>
                <a:effectLst/>
                <a:uLnTx/>
                <a:uFillTx/>
                <a:latin typeface="Arial"/>
                <a:ea typeface="+mn-ea"/>
                <a:cs typeface="Arial"/>
              </a:rPr>
              <a:t>T</a:t>
            </a:r>
            <a:r>
              <a:rPr kumimoji="0" sz="1000" b="1" i="0" u="none" strike="noStrike" kern="0" cap="none" spc="-5" normalizeH="0" baseline="0" noProof="0" dirty="0">
                <a:ln>
                  <a:noFill/>
                </a:ln>
                <a:solidFill>
                  <a:srgbClr val="004B8D"/>
                </a:solidFill>
                <a:effectLst/>
                <a:uLnTx/>
                <a:uFillTx/>
                <a:latin typeface="Arial"/>
                <a:ea typeface="+mn-ea"/>
                <a:cs typeface="Arial"/>
              </a:rPr>
              <a:t>G</a:t>
            </a:r>
            <a:r>
              <a:rPr kumimoji="0" sz="1000" b="1" i="0" u="none" strike="noStrike" kern="0" cap="none" spc="0" normalizeH="0" baseline="0" noProof="0" dirty="0">
                <a:ln>
                  <a:noFill/>
                </a:ln>
                <a:solidFill>
                  <a:srgbClr val="004B8D"/>
                </a:solidFill>
                <a:effectLst/>
                <a:uLnTx/>
                <a:uFillTx/>
                <a:latin typeface="Arial"/>
                <a:ea typeface="+mn-ea"/>
                <a:cs typeface="Arial"/>
              </a:rPr>
              <a:t>F</a:t>
            </a:r>
            <a:r>
              <a:rPr kumimoji="0" sz="1000" b="1" i="0" u="none" strike="noStrike" kern="0" cap="none" spc="-5" normalizeH="0" baseline="0" noProof="0" dirty="0">
                <a:ln>
                  <a:noFill/>
                </a:ln>
                <a:solidFill>
                  <a:srgbClr val="004B8D"/>
                </a:solidFill>
                <a:effectLst/>
                <a:uLnTx/>
                <a:uFillTx/>
                <a:latin typeface="Arial"/>
                <a:ea typeface="+mn-ea"/>
                <a:cs typeface="Arial"/>
              </a:rPr>
              <a:t>-β</a:t>
            </a:r>
            <a:endParaRPr kumimoji="0" sz="1000" b="0" i="0" u="none" strike="noStrike" kern="0" cap="none" spc="0" normalizeH="0" baseline="0" noProof="0" dirty="0">
              <a:ln>
                <a:noFill/>
              </a:ln>
              <a:solidFill>
                <a:srgbClr val="004B8D"/>
              </a:solidFill>
              <a:effectLst/>
              <a:uLnTx/>
              <a:uFillTx/>
              <a:latin typeface="Arial"/>
              <a:ea typeface="+mn-ea"/>
              <a:cs typeface="Arial"/>
            </a:endParaRPr>
          </a:p>
        </p:txBody>
      </p:sp>
      <p:sp>
        <p:nvSpPr>
          <p:cNvPr id="7" name="Freeform: Shape 6">
            <a:extLst>
              <a:ext uri="{FF2B5EF4-FFF2-40B4-BE49-F238E27FC236}">
                <a16:creationId xmlns:a16="http://schemas.microsoft.com/office/drawing/2014/main" id="{B28FE1D7-95F5-3AD1-E1BD-41BC04380407}"/>
              </a:ext>
            </a:extLst>
          </p:cNvPr>
          <p:cNvSpPr/>
          <p:nvPr/>
        </p:nvSpPr>
        <p:spPr>
          <a:xfrm>
            <a:off x="2990796" y="2090314"/>
            <a:ext cx="7318112" cy="1827020"/>
          </a:xfrm>
          <a:custGeom>
            <a:avLst/>
            <a:gdLst>
              <a:gd name="connsiteX0" fmla="*/ 7217655 w 7318112"/>
              <a:gd name="connsiteY0" fmla="*/ 1807208 h 1827020"/>
              <a:gd name="connsiteX1" fmla="*/ 7277091 w 7318112"/>
              <a:gd name="connsiteY1" fmla="*/ 1807208 h 1827020"/>
              <a:gd name="connsiteX2" fmla="*/ 7277091 w 7318112"/>
              <a:gd name="connsiteY2" fmla="*/ 1827020 h 1827020"/>
              <a:gd name="connsiteX3" fmla="*/ 7217655 w 7318112"/>
              <a:gd name="connsiteY3" fmla="*/ 1827020 h 1827020"/>
              <a:gd name="connsiteX4" fmla="*/ 7138407 w 7318112"/>
              <a:gd name="connsiteY4" fmla="*/ 1807208 h 1827020"/>
              <a:gd name="connsiteX5" fmla="*/ 7197843 w 7318112"/>
              <a:gd name="connsiteY5" fmla="*/ 1807208 h 1827020"/>
              <a:gd name="connsiteX6" fmla="*/ 7197843 w 7318112"/>
              <a:gd name="connsiteY6" fmla="*/ 1827020 h 1827020"/>
              <a:gd name="connsiteX7" fmla="*/ 7138407 w 7318112"/>
              <a:gd name="connsiteY7" fmla="*/ 1827020 h 1827020"/>
              <a:gd name="connsiteX8" fmla="*/ 7059159 w 7318112"/>
              <a:gd name="connsiteY8" fmla="*/ 1807208 h 1827020"/>
              <a:gd name="connsiteX9" fmla="*/ 7118595 w 7318112"/>
              <a:gd name="connsiteY9" fmla="*/ 1807208 h 1827020"/>
              <a:gd name="connsiteX10" fmla="*/ 7118595 w 7318112"/>
              <a:gd name="connsiteY10" fmla="*/ 1827020 h 1827020"/>
              <a:gd name="connsiteX11" fmla="*/ 7059159 w 7318112"/>
              <a:gd name="connsiteY11" fmla="*/ 1827020 h 1827020"/>
              <a:gd name="connsiteX12" fmla="*/ 6979911 w 7318112"/>
              <a:gd name="connsiteY12" fmla="*/ 1807208 h 1827020"/>
              <a:gd name="connsiteX13" fmla="*/ 7039347 w 7318112"/>
              <a:gd name="connsiteY13" fmla="*/ 1807208 h 1827020"/>
              <a:gd name="connsiteX14" fmla="*/ 7039347 w 7318112"/>
              <a:gd name="connsiteY14" fmla="*/ 1827020 h 1827020"/>
              <a:gd name="connsiteX15" fmla="*/ 6979911 w 7318112"/>
              <a:gd name="connsiteY15" fmla="*/ 1827020 h 1827020"/>
              <a:gd name="connsiteX16" fmla="*/ 6900663 w 7318112"/>
              <a:gd name="connsiteY16" fmla="*/ 1807208 h 1827020"/>
              <a:gd name="connsiteX17" fmla="*/ 6960099 w 7318112"/>
              <a:gd name="connsiteY17" fmla="*/ 1807208 h 1827020"/>
              <a:gd name="connsiteX18" fmla="*/ 6960099 w 7318112"/>
              <a:gd name="connsiteY18" fmla="*/ 1827020 h 1827020"/>
              <a:gd name="connsiteX19" fmla="*/ 6900663 w 7318112"/>
              <a:gd name="connsiteY19" fmla="*/ 1827020 h 1827020"/>
              <a:gd name="connsiteX20" fmla="*/ 6821415 w 7318112"/>
              <a:gd name="connsiteY20" fmla="*/ 1807208 h 1827020"/>
              <a:gd name="connsiteX21" fmla="*/ 6880851 w 7318112"/>
              <a:gd name="connsiteY21" fmla="*/ 1807208 h 1827020"/>
              <a:gd name="connsiteX22" fmla="*/ 6880851 w 7318112"/>
              <a:gd name="connsiteY22" fmla="*/ 1827020 h 1827020"/>
              <a:gd name="connsiteX23" fmla="*/ 6821415 w 7318112"/>
              <a:gd name="connsiteY23" fmla="*/ 1827020 h 1827020"/>
              <a:gd name="connsiteX24" fmla="*/ 6742167 w 7318112"/>
              <a:gd name="connsiteY24" fmla="*/ 1807208 h 1827020"/>
              <a:gd name="connsiteX25" fmla="*/ 6801603 w 7318112"/>
              <a:gd name="connsiteY25" fmla="*/ 1807208 h 1827020"/>
              <a:gd name="connsiteX26" fmla="*/ 6801603 w 7318112"/>
              <a:gd name="connsiteY26" fmla="*/ 1827020 h 1827020"/>
              <a:gd name="connsiteX27" fmla="*/ 6742167 w 7318112"/>
              <a:gd name="connsiteY27" fmla="*/ 1827020 h 1827020"/>
              <a:gd name="connsiteX28" fmla="*/ 6662919 w 7318112"/>
              <a:gd name="connsiteY28" fmla="*/ 1807208 h 1827020"/>
              <a:gd name="connsiteX29" fmla="*/ 6722355 w 7318112"/>
              <a:gd name="connsiteY29" fmla="*/ 1807208 h 1827020"/>
              <a:gd name="connsiteX30" fmla="*/ 6722355 w 7318112"/>
              <a:gd name="connsiteY30" fmla="*/ 1827020 h 1827020"/>
              <a:gd name="connsiteX31" fmla="*/ 6662919 w 7318112"/>
              <a:gd name="connsiteY31" fmla="*/ 1827020 h 1827020"/>
              <a:gd name="connsiteX32" fmla="*/ 6583671 w 7318112"/>
              <a:gd name="connsiteY32" fmla="*/ 1807208 h 1827020"/>
              <a:gd name="connsiteX33" fmla="*/ 6643107 w 7318112"/>
              <a:gd name="connsiteY33" fmla="*/ 1807208 h 1827020"/>
              <a:gd name="connsiteX34" fmla="*/ 6643107 w 7318112"/>
              <a:gd name="connsiteY34" fmla="*/ 1827020 h 1827020"/>
              <a:gd name="connsiteX35" fmla="*/ 6583671 w 7318112"/>
              <a:gd name="connsiteY35" fmla="*/ 1827020 h 1827020"/>
              <a:gd name="connsiteX36" fmla="*/ 6504423 w 7318112"/>
              <a:gd name="connsiteY36" fmla="*/ 1807208 h 1827020"/>
              <a:gd name="connsiteX37" fmla="*/ 6563859 w 7318112"/>
              <a:gd name="connsiteY37" fmla="*/ 1807208 h 1827020"/>
              <a:gd name="connsiteX38" fmla="*/ 6563859 w 7318112"/>
              <a:gd name="connsiteY38" fmla="*/ 1827020 h 1827020"/>
              <a:gd name="connsiteX39" fmla="*/ 6504423 w 7318112"/>
              <a:gd name="connsiteY39" fmla="*/ 1827020 h 1827020"/>
              <a:gd name="connsiteX40" fmla="*/ 6425175 w 7318112"/>
              <a:gd name="connsiteY40" fmla="*/ 1807208 h 1827020"/>
              <a:gd name="connsiteX41" fmla="*/ 6484611 w 7318112"/>
              <a:gd name="connsiteY41" fmla="*/ 1807208 h 1827020"/>
              <a:gd name="connsiteX42" fmla="*/ 6484611 w 7318112"/>
              <a:gd name="connsiteY42" fmla="*/ 1827020 h 1827020"/>
              <a:gd name="connsiteX43" fmla="*/ 6425175 w 7318112"/>
              <a:gd name="connsiteY43" fmla="*/ 1827020 h 1827020"/>
              <a:gd name="connsiteX44" fmla="*/ 6345927 w 7318112"/>
              <a:gd name="connsiteY44" fmla="*/ 1807208 h 1827020"/>
              <a:gd name="connsiteX45" fmla="*/ 6405363 w 7318112"/>
              <a:gd name="connsiteY45" fmla="*/ 1807208 h 1827020"/>
              <a:gd name="connsiteX46" fmla="*/ 6405363 w 7318112"/>
              <a:gd name="connsiteY46" fmla="*/ 1827020 h 1827020"/>
              <a:gd name="connsiteX47" fmla="*/ 6345927 w 7318112"/>
              <a:gd name="connsiteY47" fmla="*/ 1827020 h 1827020"/>
              <a:gd name="connsiteX48" fmla="*/ 6266679 w 7318112"/>
              <a:gd name="connsiteY48" fmla="*/ 1807208 h 1827020"/>
              <a:gd name="connsiteX49" fmla="*/ 6326115 w 7318112"/>
              <a:gd name="connsiteY49" fmla="*/ 1807208 h 1827020"/>
              <a:gd name="connsiteX50" fmla="*/ 6326115 w 7318112"/>
              <a:gd name="connsiteY50" fmla="*/ 1827020 h 1827020"/>
              <a:gd name="connsiteX51" fmla="*/ 6266679 w 7318112"/>
              <a:gd name="connsiteY51" fmla="*/ 1827020 h 1827020"/>
              <a:gd name="connsiteX52" fmla="*/ 6187431 w 7318112"/>
              <a:gd name="connsiteY52" fmla="*/ 1807208 h 1827020"/>
              <a:gd name="connsiteX53" fmla="*/ 6246867 w 7318112"/>
              <a:gd name="connsiteY53" fmla="*/ 1807208 h 1827020"/>
              <a:gd name="connsiteX54" fmla="*/ 6246867 w 7318112"/>
              <a:gd name="connsiteY54" fmla="*/ 1827020 h 1827020"/>
              <a:gd name="connsiteX55" fmla="*/ 6187431 w 7318112"/>
              <a:gd name="connsiteY55" fmla="*/ 1827020 h 1827020"/>
              <a:gd name="connsiteX56" fmla="*/ 6108183 w 7318112"/>
              <a:gd name="connsiteY56" fmla="*/ 1807208 h 1827020"/>
              <a:gd name="connsiteX57" fmla="*/ 6167619 w 7318112"/>
              <a:gd name="connsiteY57" fmla="*/ 1807208 h 1827020"/>
              <a:gd name="connsiteX58" fmla="*/ 6167619 w 7318112"/>
              <a:gd name="connsiteY58" fmla="*/ 1827020 h 1827020"/>
              <a:gd name="connsiteX59" fmla="*/ 6108183 w 7318112"/>
              <a:gd name="connsiteY59" fmla="*/ 1827020 h 1827020"/>
              <a:gd name="connsiteX60" fmla="*/ 6028935 w 7318112"/>
              <a:gd name="connsiteY60" fmla="*/ 1807208 h 1827020"/>
              <a:gd name="connsiteX61" fmla="*/ 6088371 w 7318112"/>
              <a:gd name="connsiteY61" fmla="*/ 1807208 h 1827020"/>
              <a:gd name="connsiteX62" fmla="*/ 6088371 w 7318112"/>
              <a:gd name="connsiteY62" fmla="*/ 1827020 h 1827020"/>
              <a:gd name="connsiteX63" fmla="*/ 6028935 w 7318112"/>
              <a:gd name="connsiteY63" fmla="*/ 1827020 h 1827020"/>
              <a:gd name="connsiteX64" fmla="*/ 5949687 w 7318112"/>
              <a:gd name="connsiteY64" fmla="*/ 1807208 h 1827020"/>
              <a:gd name="connsiteX65" fmla="*/ 6009123 w 7318112"/>
              <a:gd name="connsiteY65" fmla="*/ 1807208 h 1827020"/>
              <a:gd name="connsiteX66" fmla="*/ 6009123 w 7318112"/>
              <a:gd name="connsiteY66" fmla="*/ 1827020 h 1827020"/>
              <a:gd name="connsiteX67" fmla="*/ 5949687 w 7318112"/>
              <a:gd name="connsiteY67" fmla="*/ 1827020 h 1827020"/>
              <a:gd name="connsiteX68" fmla="*/ 5870439 w 7318112"/>
              <a:gd name="connsiteY68" fmla="*/ 1807208 h 1827020"/>
              <a:gd name="connsiteX69" fmla="*/ 5929875 w 7318112"/>
              <a:gd name="connsiteY69" fmla="*/ 1807208 h 1827020"/>
              <a:gd name="connsiteX70" fmla="*/ 5929875 w 7318112"/>
              <a:gd name="connsiteY70" fmla="*/ 1827020 h 1827020"/>
              <a:gd name="connsiteX71" fmla="*/ 5870439 w 7318112"/>
              <a:gd name="connsiteY71" fmla="*/ 1827020 h 1827020"/>
              <a:gd name="connsiteX72" fmla="*/ 5791191 w 7318112"/>
              <a:gd name="connsiteY72" fmla="*/ 1807208 h 1827020"/>
              <a:gd name="connsiteX73" fmla="*/ 5850627 w 7318112"/>
              <a:gd name="connsiteY73" fmla="*/ 1807208 h 1827020"/>
              <a:gd name="connsiteX74" fmla="*/ 5850627 w 7318112"/>
              <a:gd name="connsiteY74" fmla="*/ 1827020 h 1827020"/>
              <a:gd name="connsiteX75" fmla="*/ 5791191 w 7318112"/>
              <a:gd name="connsiteY75" fmla="*/ 1827020 h 1827020"/>
              <a:gd name="connsiteX76" fmla="*/ 5711943 w 7318112"/>
              <a:gd name="connsiteY76" fmla="*/ 1807208 h 1827020"/>
              <a:gd name="connsiteX77" fmla="*/ 5771379 w 7318112"/>
              <a:gd name="connsiteY77" fmla="*/ 1807208 h 1827020"/>
              <a:gd name="connsiteX78" fmla="*/ 5771379 w 7318112"/>
              <a:gd name="connsiteY78" fmla="*/ 1827020 h 1827020"/>
              <a:gd name="connsiteX79" fmla="*/ 5711943 w 7318112"/>
              <a:gd name="connsiteY79" fmla="*/ 1827020 h 1827020"/>
              <a:gd name="connsiteX80" fmla="*/ 5632695 w 7318112"/>
              <a:gd name="connsiteY80" fmla="*/ 1807208 h 1827020"/>
              <a:gd name="connsiteX81" fmla="*/ 5692131 w 7318112"/>
              <a:gd name="connsiteY81" fmla="*/ 1807208 h 1827020"/>
              <a:gd name="connsiteX82" fmla="*/ 5692131 w 7318112"/>
              <a:gd name="connsiteY82" fmla="*/ 1827020 h 1827020"/>
              <a:gd name="connsiteX83" fmla="*/ 5632695 w 7318112"/>
              <a:gd name="connsiteY83" fmla="*/ 1827020 h 1827020"/>
              <a:gd name="connsiteX84" fmla="*/ 5553447 w 7318112"/>
              <a:gd name="connsiteY84" fmla="*/ 1807208 h 1827020"/>
              <a:gd name="connsiteX85" fmla="*/ 5612883 w 7318112"/>
              <a:gd name="connsiteY85" fmla="*/ 1807208 h 1827020"/>
              <a:gd name="connsiteX86" fmla="*/ 5612883 w 7318112"/>
              <a:gd name="connsiteY86" fmla="*/ 1827020 h 1827020"/>
              <a:gd name="connsiteX87" fmla="*/ 5553447 w 7318112"/>
              <a:gd name="connsiteY87" fmla="*/ 1827020 h 1827020"/>
              <a:gd name="connsiteX88" fmla="*/ 5474199 w 7318112"/>
              <a:gd name="connsiteY88" fmla="*/ 1807208 h 1827020"/>
              <a:gd name="connsiteX89" fmla="*/ 5533635 w 7318112"/>
              <a:gd name="connsiteY89" fmla="*/ 1807208 h 1827020"/>
              <a:gd name="connsiteX90" fmla="*/ 5533635 w 7318112"/>
              <a:gd name="connsiteY90" fmla="*/ 1827020 h 1827020"/>
              <a:gd name="connsiteX91" fmla="*/ 5474199 w 7318112"/>
              <a:gd name="connsiteY91" fmla="*/ 1827020 h 1827020"/>
              <a:gd name="connsiteX92" fmla="*/ 5394951 w 7318112"/>
              <a:gd name="connsiteY92" fmla="*/ 1807208 h 1827020"/>
              <a:gd name="connsiteX93" fmla="*/ 5454387 w 7318112"/>
              <a:gd name="connsiteY93" fmla="*/ 1807208 h 1827020"/>
              <a:gd name="connsiteX94" fmla="*/ 5454387 w 7318112"/>
              <a:gd name="connsiteY94" fmla="*/ 1827020 h 1827020"/>
              <a:gd name="connsiteX95" fmla="*/ 5394951 w 7318112"/>
              <a:gd name="connsiteY95" fmla="*/ 1827020 h 1827020"/>
              <a:gd name="connsiteX96" fmla="*/ 5315703 w 7318112"/>
              <a:gd name="connsiteY96" fmla="*/ 1807208 h 1827020"/>
              <a:gd name="connsiteX97" fmla="*/ 5375139 w 7318112"/>
              <a:gd name="connsiteY97" fmla="*/ 1807208 h 1827020"/>
              <a:gd name="connsiteX98" fmla="*/ 5375139 w 7318112"/>
              <a:gd name="connsiteY98" fmla="*/ 1827020 h 1827020"/>
              <a:gd name="connsiteX99" fmla="*/ 5315703 w 7318112"/>
              <a:gd name="connsiteY99" fmla="*/ 1827020 h 1827020"/>
              <a:gd name="connsiteX100" fmla="*/ 5236455 w 7318112"/>
              <a:gd name="connsiteY100" fmla="*/ 1807208 h 1827020"/>
              <a:gd name="connsiteX101" fmla="*/ 5295891 w 7318112"/>
              <a:gd name="connsiteY101" fmla="*/ 1807208 h 1827020"/>
              <a:gd name="connsiteX102" fmla="*/ 5295891 w 7318112"/>
              <a:gd name="connsiteY102" fmla="*/ 1827020 h 1827020"/>
              <a:gd name="connsiteX103" fmla="*/ 5236455 w 7318112"/>
              <a:gd name="connsiteY103" fmla="*/ 1827020 h 1827020"/>
              <a:gd name="connsiteX104" fmla="*/ 5157207 w 7318112"/>
              <a:gd name="connsiteY104" fmla="*/ 1807208 h 1827020"/>
              <a:gd name="connsiteX105" fmla="*/ 5216643 w 7318112"/>
              <a:gd name="connsiteY105" fmla="*/ 1807208 h 1827020"/>
              <a:gd name="connsiteX106" fmla="*/ 5216643 w 7318112"/>
              <a:gd name="connsiteY106" fmla="*/ 1827020 h 1827020"/>
              <a:gd name="connsiteX107" fmla="*/ 5157207 w 7318112"/>
              <a:gd name="connsiteY107" fmla="*/ 1827020 h 1827020"/>
              <a:gd name="connsiteX108" fmla="*/ 5077959 w 7318112"/>
              <a:gd name="connsiteY108" fmla="*/ 1807208 h 1827020"/>
              <a:gd name="connsiteX109" fmla="*/ 5137395 w 7318112"/>
              <a:gd name="connsiteY109" fmla="*/ 1807208 h 1827020"/>
              <a:gd name="connsiteX110" fmla="*/ 5137395 w 7318112"/>
              <a:gd name="connsiteY110" fmla="*/ 1827020 h 1827020"/>
              <a:gd name="connsiteX111" fmla="*/ 5077959 w 7318112"/>
              <a:gd name="connsiteY111" fmla="*/ 1827020 h 1827020"/>
              <a:gd name="connsiteX112" fmla="*/ 4998711 w 7318112"/>
              <a:gd name="connsiteY112" fmla="*/ 1807208 h 1827020"/>
              <a:gd name="connsiteX113" fmla="*/ 5058147 w 7318112"/>
              <a:gd name="connsiteY113" fmla="*/ 1807208 h 1827020"/>
              <a:gd name="connsiteX114" fmla="*/ 5058147 w 7318112"/>
              <a:gd name="connsiteY114" fmla="*/ 1827020 h 1827020"/>
              <a:gd name="connsiteX115" fmla="*/ 4998711 w 7318112"/>
              <a:gd name="connsiteY115" fmla="*/ 1827020 h 1827020"/>
              <a:gd name="connsiteX116" fmla="*/ 4919463 w 7318112"/>
              <a:gd name="connsiteY116" fmla="*/ 1807208 h 1827020"/>
              <a:gd name="connsiteX117" fmla="*/ 4978899 w 7318112"/>
              <a:gd name="connsiteY117" fmla="*/ 1807208 h 1827020"/>
              <a:gd name="connsiteX118" fmla="*/ 4978899 w 7318112"/>
              <a:gd name="connsiteY118" fmla="*/ 1827020 h 1827020"/>
              <a:gd name="connsiteX119" fmla="*/ 4919463 w 7318112"/>
              <a:gd name="connsiteY119" fmla="*/ 1827020 h 1827020"/>
              <a:gd name="connsiteX120" fmla="*/ 4840215 w 7318112"/>
              <a:gd name="connsiteY120" fmla="*/ 1807208 h 1827020"/>
              <a:gd name="connsiteX121" fmla="*/ 4899651 w 7318112"/>
              <a:gd name="connsiteY121" fmla="*/ 1807208 h 1827020"/>
              <a:gd name="connsiteX122" fmla="*/ 4899651 w 7318112"/>
              <a:gd name="connsiteY122" fmla="*/ 1827020 h 1827020"/>
              <a:gd name="connsiteX123" fmla="*/ 4840215 w 7318112"/>
              <a:gd name="connsiteY123" fmla="*/ 1827020 h 1827020"/>
              <a:gd name="connsiteX124" fmla="*/ 4760967 w 7318112"/>
              <a:gd name="connsiteY124" fmla="*/ 1807208 h 1827020"/>
              <a:gd name="connsiteX125" fmla="*/ 4820403 w 7318112"/>
              <a:gd name="connsiteY125" fmla="*/ 1807208 h 1827020"/>
              <a:gd name="connsiteX126" fmla="*/ 4820403 w 7318112"/>
              <a:gd name="connsiteY126" fmla="*/ 1827020 h 1827020"/>
              <a:gd name="connsiteX127" fmla="*/ 4760967 w 7318112"/>
              <a:gd name="connsiteY127" fmla="*/ 1827020 h 1827020"/>
              <a:gd name="connsiteX128" fmla="*/ 4681719 w 7318112"/>
              <a:gd name="connsiteY128" fmla="*/ 1807208 h 1827020"/>
              <a:gd name="connsiteX129" fmla="*/ 4741155 w 7318112"/>
              <a:gd name="connsiteY129" fmla="*/ 1807208 h 1827020"/>
              <a:gd name="connsiteX130" fmla="*/ 4741155 w 7318112"/>
              <a:gd name="connsiteY130" fmla="*/ 1827020 h 1827020"/>
              <a:gd name="connsiteX131" fmla="*/ 4681719 w 7318112"/>
              <a:gd name="connsiteY131" fmla="*/ 1827020 h 1827020"/>
              <a:gd name="connsiteX132" fmla="*/ 4602471 w 7318112"/>
              <a:gd name="connsiteY132" fmla="*/ 1807208 h 1827020"/>
              <a:gd name="connsiteX133" fmla="*/ 4661907 w 7318112"/>
              <a:gd name="connsiteY133" fmla="*/ 1807208 h 1827020"/>
              <a:gd name="connsiteX134" fmla="*/ 4661907 w 7318112"/>
              <a:gd name="connsiteY134" fmla="*/ 1827020 h 1827020"/>
              <a:gd name="connsiteX135" fmla="*/ 4602471 w 7318112"/>
              <a:gd name="connsiteY135" fmla="*/ 1827020 h 1827020"/>
              <a:gd name="connsiteX136" fmla="*/ 4523223 w 7318112"/>
              <a:gd name="connsiteY136" fmla="*/ 1807208 h 1827020"/>
              <a:gd name="connsiteX137" fmla="*/ 4582659 w 7318112"/>
              <a:gd name="connsiteY137" fmla="*/ 1807208 h 1827020"/>
              <a:gd name="connsiteX138" fmla="*/ 4582659 w 7318112"/>
              <a:gd name="connsiteY138" fmla="*/ 1827020 h 1827020"/>
              <a:gd name="connsiteX139" fmla="*/ 4523223 w 7318112"/>
              <a:gd name="connsiteY139" fmla="*/ 1827020 h 1827020"/>
              <a:gd name="connsiteX140" fmla="*/ 4443975 w 7318112"/>
              <a:gd name="connsiteY140" fmla="*/ 1807208 h 1827020"/>
              <a:gd name="connsiteX141" fmla="*/ 4503411 w 7318112"/>
              <a:gd name="connsiteY141" fmla="*/ 1807208 h 1827020"/>
              <a:gd name="connsiteX142" fmla="*/ 4503411 w 7318112"/>
              <a:gd name="connsiteY142" fmla="*/ 1827020 h 1827020"/>
              <a:gd name="connsiteX143" fmla="*/ 4443975 w 7318112"/>
              <a:gd name="connsiteY143" fmla="*/ 1827020 h 1827020"/>
              <a:gd name="connsiteX144" fmla="*/ 4364727 w 7318112"/>
              <a:gd name="connsiteY144" fmla="*/ 1807208 h 1827020"/>
              <a:gd name="connsiteX145" fmla="*/ 4424163 w 7318112"/>
              <a:gd name="connsiteY145" fmla="*/ 1807208 h 1827020"/>
              <a:gd name="connsiteX146" fmla="*/ 4424163 w 7318112"/>
              <a:gd name="connsiteY146" fmla="*/ 1827020 h 1827020"/>
              <a:gd name="connsiteX147" fmla="*/ 4364727 w 7318112"/>
              <a:gd name="connsiteY147" fmla="*/ 1827020 h 1827020"/>
              <a:gd name="connsiteX148" fmla="*/ 4285479 w 7318112"/>
              <a:gd name="connsiteY148" fmla="*/ 1807208 h 1827020"/>
              <a:gd name="connsiteX149" fmla="*/ 4344915 w 7318112"/>
              <a:gd name="connsiteY149" fmla="*/ 1807208 h 1827020"/>
              <a:gd name="connsiteX150" fmla="*/ 4344915 w 7318112"/>
              <a:gd name="connsiteY150" fmla="*/ 1827020 h 1827020"/>
              <a:gd name="connsiteX151" fmla="*/ 4285479 w 7318112"/>
              <a:gd name="connsiteY151" fmla="*/ 1827020 h 1827020"/>
              <a:gd name="connsiteX152" fmla="*/ 4206231 w 7318112"/>
              <a:gd name="connsiteY152" fmla="*/ 1807208 h 1827020"/>
              <a:gd name="connsiteX153" fmla="*/ 4265667 w 7318112"/>
              <a:gd name="connsiteY153" fmla="*/ 1807208 h 1827020"/>
              <a:gd name="connsiteX154" fmla="*/ 4265667 w 7318112"/>
              <a:gd name="connsiteY154" fmla="*/ 1827020 h 1827020"/>
              <a:gd name="connsiteX155" fmla="*/ 4206231 w 7318112"/>
              <a:gd name="connsiteY155" fmla="*/ 1827020 h 1827020"/>
              <a:gd name="connsiteX156" fmla="*/ 4126983 w 7318112"/>
              <a:gd name="connsiteY156" fmla="*/ 1807208 h 1827020"/>
              <a:gd name="connsiteX157" fmla="*/ 4186419 w 7318112"/>
              <a:gd name="connsiteY157" fmla="*/ 1807208 h 1827020"/>
              <a:gd name="connsiteX158" fmla="*/ 4186419 w 7318112"/>
              <a:gd name="connsiteY158" fmla="*/ 1827020 h 1827020"/>
              <a:gd name="connsiteX159" fmla="*/ 4126983 w 7318112"/>
              <a:gd name="connsiteY159" fmla="*/ 1827020 h 1827020"/>
              <a:gd name="connsiteX160" fmla="*/ 4053522 w 7318112"/>
              <a:gd name="connsiteY160" fmla="*/ 1807208 h 1827020"/>
              <a:gd name="connsiteX161" fmla="*/ 4107171 w 7318112"/>
              <a:gd name="connsiteY161" fmla="*/ 1807208 h 1827020"/>
              <a:gd name="connsiteX162" fmla="*/ 4107171 w 7318112"/>
              <a:gd name="connsiteY162" fmla="*/ 1827020 h 1827020"/>
              <a:gd name="connsiteX163" fmla="*/ 4053522 w 7318112"/>
              <a:gd name="connsiteY163" fmla="*/ 1827020 h 1827020"/>
              <a:gd name="connsiteX164" fmla="*/ 7298300 w 7318112"/>
              <a:gd name="connsiteY164" fmla="*/ 1768981 h 1827020"/>
              <a:gd name="connsiteX165" fmla="*/ 7318112 w 7318112"/>
              <a:gd name="connsiteY165" fmla="*/ 1768981 h 1827020"/>
              <a:gd name="connsiteX166" fmla="*/ 7318112 w 7318112"/>
              <a:gd name="connsiteY166" fmla="*/ 1807208 h 1827020"/>
              <a:gd name="connsiteX167" fmla="*/ 7318112 w 7318112"/>
              <a:gd name="connsiteY167" fmla="*/ 1817114 h 1827020"/>
              <a:gd name="connsiteX168" fmla="*/ 7318112 w 7318112"/>
              <a:gd name="connsiteY168" fmla="*/ 1827020 h 1827020"/>
              <a:gd name="connsiteX169" fmla="*/ 7296903 w 7318112"/>
              <a:gd name="connsiteY169" fmla="*/ 1827020 h 1827020"/>
              <a:gd name="connsiteX170" fmla="*/ 7296903 w 7318112"/>
              <a:gd name="connsiteY170" fmla="*/ 1807208 h 1827020"/>
              <a:gd name="connsiteX171" fmla="*/ 7298300 w 7318112"/>
              <a:gd name="connsiteY171" fmla="*/ 1807208 h 1827020"/>
              <a:gd name="connsiteX172" fmla="*/ 7298300 w 7318112"/>
              <a:gd name="connsiteY172" fmla="*/ 1689733 h 1827020"/>
              <a:gd name="connsiteX173" fmla="*/ 7318112 w 7318112"/>
              <a:gd name="connsiteY173" fmla="*/ 1689733 h 1827020"/>
              <a:gd name="connsiteX174" fmla="*/ 7318112 w 7318112"/>
              <a:gd name="connsiteY174" fmla="*/ 1749169 h 1827020"/>
              <a:gd name="connsiteX175" fmla="*/ 7298300 w 7318112"/>
              <a:gd name="connsiteY175" fmla="*/ 1749169 h 1827020"/>
              <a:gd name="connsiteX176" fmla="*/ 7298300 w 7318112"/>
              <a:gd name="connsiteY176" fmla="*/ 1610485 h 1827020"/>
              <a:gd name="connsiteX177" fmla="*/ 7318112 w 7318112"/>
              <a:gd name="connsiteY177" fmla="*/ 1610485 h 1827020"/>
              <a:gd name="connsiteX178" fmla="*/ 7318112 w 7318112"/>
              <a:gd name="connsiteY178" fmla="*/ 1669921 h 1827020"/>
              <a:gd name="connsiteX179" fmla="*/ 7298300 w 7318112"/>
              <a:gd name="connsiteY179" fmla="*/ 1669921 h 1827020"/>
              <a:gd name="connsiteX180" fmla="*/ 7298300 w 7318112"/>
              <a:gd name="connsiteY180" fmla="*/ 1531237 h 1827020"/>
              <a:gd name="connsiteX181" fmla="*/ 7318112 w 7318112"/>
              <a:gd name="connsiteY181" fmla="*/ 1531237 h 1827020"/>
              <a:gd name="connsiteX182" fmla="*/ 7318112 w 7318112"/>
              <a:gd name="connsiteY182" fmla="*/ 1590673 h 1827020"/>
              <a:gd name="connsiteX183" fmla="*/ 7298300 w 7318112"/>
              <a:gd name="connsiteY183" fmla="*/ 1590673 h 1827020"/>
              <a:gd name="connsiteX184" fmla="*/ 7298300 w 7318112"/>
              <a:gd name="connsiteY184" fmla="*/ 1451989 h 1827020"/>
              <a:gd name="connsiteX185" fmla="*/ 7318112 w 7318112"/>
              <a:gd name="connsiteY185" fmla="*/ 1451989 h 1827020"/>
              <a:gd name="connsiteX186" fmla="*/ 7318112 w 7318112"/>
              <a:gd name="connsiteY186" fmla="*/ 1511425 h 1827020"/>
              <a:gd name="connsiteX187" fmla="*/ 7298300 w 7318112"/>
              <a:gd name="connsiteY187" fmla="*/ 1511425 h 1827020"/>
              <a:gd name="connsiteX188" fmla="*/ 7298300 w 7318112"/>
              <a:gd name="connsiteY188" fmla="*/ 1372741 h 1827020"/>
              <a:gd name="connsiteX189" fmla="*/ 7318112 w 7318112"/>
              <a:gd name="connsiteY189" fmla="*/ 1372741 h 1827020"/>
              <a:gd name="connsiteX190" fmla="*/ 7318112 w 7318112"/>
              <a:gd name="connsiteY190" fmla="*/ 1432177 h 1827020"/>
              <a:gd name="connsiteX191" fmla="*/ 7298300 w 7318112"/>
              <a:gd name="connsiteY191" fmla="*/ 1432177 h 1827020"/>
              <a:gd name="connsiteX192" fmla="*/ 7298300 w 7318112"/>
              <a:gd name="connsiteY192" fmla="*/ 1293493 h 1827020"/>
              <a:gd name="connsiteX193" fmla="*/ 7318112 w 7318112"/>
              <a:gd name="connsiteY193" fmla="*/ 1293493 h 1827020"/>
              <a:gd name="connsiteX194" fmla="*/ 7318112 w 7318112"/>
              <a:gd name="connsiteY194" fmla="*/ 1352929 h 1827020"/>
              <a:gd name="connsiteX195" fmla="*/ 7298300 w 7318112"/>
              <a:gd name="connsiteY195" fmla="*/ 1352929 h 1827020"/>
              <a:gd name="connsiteX196" fmla="*/ 7298300 w 7318112"/>
              <a:gd name="connsiteY196" fmla="*/ 1214245 h 1827020"/>
              <a:gd name="connsiteX197" fmla="*/ 7318112 w 7318112"/>
              <a:gd name="connsiteY197" fmla="*/ 1214245 h 1827020"/>
              <a:gd name="connsiteX198" fmla="*/ 7318112 w 7318112"/>
              <a:gd name="connsiteY198" fmla="*/ 1273681 h 1827020"/>
              <a:gd name="connsiteX199" fmla="*/ 7298300 w 7318112"/>
              <a:gd name="connsiteY199" fmla="*/ 1273681 h 1827020"/>
              <a:gd name="connsiteX200" fmla="*/ 7298300 w 7318112"/>
              <a:gd name="connsiteY200" fmla="*/ 1134997 h 1827020"/>
              <a:gd name="connsiteX201" fmla="*/ 7318112 w 7318112"/>
              <a:gd name="connsiteY201" fmla="*/ 1134997 h 1827020"/>
              <a:gd name="connsiteX202" fmla="*/ 7318112 w 7318112"/>
              <a:gd name="connsiteY202" fmla="*/ 1194433 h 1827020"/>
              <a:gd name="connsiteX203" fmla="*/ 7298300 w 7318112"/>
              <a:gd name="connsiteY203" fmla="*/ 1194433 h 1827020"/>
              <a:gd name="connsiteX204" fmla="*/ 7298300 w 7318112"/>
              <a:gd name="connsiteY204" fmla="*/ 1055749 h 1827020"/>
              <a:gd name="connsiteX205" fmla="*/ 7318112 w 7318112"/>
              <a:gd name="connsiteY205" fmla="*/ 1055749 h 1827020"/>
              <a:gd name="connsiteX206" fmla="*/ 7318112 w 7318112"/>
              <a:gd name="connsiteY206" fmla="*/ 1115185 h 1827020"/>
              <a:gd name="connsiteX207" fmla="*/ 7298300 w 7318112"/>
              <a:gd name="connsiteY207" fmla="*/ 1115185 h 1827020"/>
              <a:gd name="connsiteX208" fmla="*/ 7298300 w 7318112"/>
              <a:gd name="connsiteY208" fmla="*/ 976501 h 1827020"/>
              <a:gd name="connsiteX209" fmla="*/ 7318112 w 7318112"/>
              <a:gd name="connsiteY209" fmla="*/ 976501 h 1827020"/>
              <a:gd name="connsiteX210" fmla="*/ 7318112 w 7318112"/>
              <a:gd name="connsiteY210" fmla="*/ 1035937 h 1827020"/>
              <a:gd name="connsiteX211" fmla="*/ 7298300 w 7318112"/>
              <a:gd name="connsiteY211" fmla="*/ 1035937 h 1827020"/>
              <a:gd name="connsiteX212" fmla="*/ 7298300 w 7318112"/>
              <a:gd name="connsiteY212" fmla="*/ 897253 h 1827020"/>
              <a:gd name="connsiteX213" fmla="*/ 7318112 w 7318112"/>
              <a:gd name="connsiteY213" fmla="*/ 897253 h 1827020"/>
              <a:gd name="connsiteX214" fmla="*/ 7318112 w 7318112"/>
              <a:gd name="connsiteY214" fmla="*/ 956689 h 1827020"/>
              <a:gd name="connsiteX215" fmla="*/ 7298300 w 7318112"/>
              <a:gd name="connsiteY215" fmla="*/ 956689 h 1827020"/>
              <a:gd name="connsiteX216" fmla="*/ 7298300 w 7318112"/>
              <a:gd name="connsiteY216" fmla="*/ 818005 h 1827020"/>
              <a:gd name="connsiteX217" fmla="*/ 7318112 w 7318112"/>
              <a:gd name="connsiteY217" fmla="*/ 818005 h 1827020"/>
              <a:gd name="connsiteX218" fmla="*/ 7318112 w 7318112"/>
              <a:gd name="connsiteY218" fmla="*/ 877441 h 1827020"/>
              <a:gd name="connsiteX219" fmla="*/ 7298300 w 7318112"/>
              <a:gd name="connsiteY219" fmla="*/ 877441 h 1827020"/>
              <a:gd name="connsiteX220" fmla="*/ 7298300 w 7318112"/>
              <a:gd name="connsiteY220" fmla="*/ 738757 h 1827020"/>
              <a:gd name="connsiteX221" fmla="*/ 7318112 w 7318112"/>
              <a:gd name="connsiteY221" fmla="*/ 738757 h 1827020"/>
              <a:gd name="connsiteX222" fmla="*/ 7318112 w 7318112"/>
              <a:gd name="connsiteY222" fmla="*/ 798193 h 1827020"/>
              <a:gd name="connsiteX223" fmla="*/ 7298300 w 7318112"/>
              <a:gd name="connsiteY223" fmla="*/ 798193 h 1827020"/>
              <a:gd name="connsiteX224" fmla="*/ 7298300 w 7318112"/>
              <a:gd name="connsiteY224" fmla="*/ 659509 h 1827020"/>
              <a:gd name="connsiteX225" fmla="*/ 7318112 w 7318112"/>
              <a:gd name="connsiteY225" fmla="*/ 659509 h 1827020"/>
              <a:gd name="connsiteX226" fmla="*/ 7318112 w 7318112"/>
              <a:gd name="connsiteY226" fmla="*/ 718945 h 1827020"/>
              <a:gd name="connsiteX227" fmla="*/ 7298300 w 7318112"/>
              <a:gd name="connsiteY227" fmla="*/ 718945 h 1827020"/>
              <a:gd name="connsiteX228" fmla="*/ 7298300 w 7318112"/>
              <a:gd name="connsiteY228" fmla="*/ 580261 h 1827020"/>
              <a:gd name="connsiteX229" fmla="*/ 7318112 w 7318112"/>
              <a:gd name="connsiteY229" fmla="*/ 580261 h 1827020"/>
              <a:gd name="connsiteX230" fmla="*/ 7318112 w 7318112"/>
              <a:gd name="connsiteY230" fmla="*/ 639697 h 1827020"/>
              <a:gd name="connsiteX231" fmla="*/ 7298300 w 7318112"/>
              <a:gd name="connsiteY231" fmla="*/ 639697 h 1827020"/>
              <a:gd name="connsiteX232" fmla="*/ 7298300 w 7318112"/>
              <a:gd name="connsiteY232" fmla="*/ 501013 h 1827020"/>
              <a:gd name="connsiteX233" fmla="*/ 7318112 w 7318112"/>
              <a:gd name="connsiteY233" fmla="*/ 501013 h 1827020"/>
              <a:gd name="connsiteX234" fmla="*/ 7318112 w 7318112"/>
              <a:gd name="connsiteY234" fmla="*/ 560449 h 1827020"/>
              <a:gd name="connsiteX235" fmla="*/ 7298300 w 7318112"/>
              <a:gd name="connsiteY235" fmla="*/ 560449 h 1827020"/>
              <a:gd name="connsiteX236" fmla="*/ 7298300 w 7318112"/>
              <a:gd name="connsiteY236" fmla="*/ 421764 h 1827020"/>
              <a:gd name="connsiteX237" fmla="*/ 7318112 w 7318112"/>
              <a:gd name="connsiteY237" fmla="*/ 421764 h 1827020"/>
              <a:gd name="connsiteX238" fmla="*/ 7318112 w 7318112"/>
              <a:gd name="connsiteY238" fmla="*/ 481200 h 1827020"/>
              <a:gd name="connsiteX239" fmla="*/ 7298300 w 7318112"/>
              <a:gd name="connsiteY239" fmla="*/ 481200 h 1827020"/>
              <a:gd name="connsiteX240" fmla="*/ 4124189 w 7318112"/>
              <a:gd name="connsiteY240" fmla="*/ 346710 h 1827020"/>
              <a:gd name="connsiteX241" fmla="*/ 4183625 w 7318112"/>
              <a:gd name="connsiteY241" fmla="*/ 346710 h 1827020"/>
              <a:gd name="connsiteX242" fmla="*/ 4183625 w 7318112"/>
              <a:gd name="connsiteY242" fmla="*/ 366522 h 1827020"/>
              <a:gd name="connsiteX243" fmla="*/ 4124189 w 7318112"/>
              <a:gd name="connsiteY243" fmla="*/ 366522 h 1827020"/>
              <a:gd name="connsiteX244" fmla="*/ 4520429 w 7318112"/>
              <a:gd name="connsiteY244" fmla="*/ 346710 h 1827020"/>
              <a:gd name="connsiteX245" fmla="*/ 4579865 w 7318112"/>
              <a:gd name="connsiteY245" fmla="*/ 346710 h 1827020"/>
              <a:gd name="connsiteX246" fmla="*/ 4579865 w 7318112"/>
              <a:gd name="connsiteY246" fmla="*/ 366522 h 1827020"/>
              <a:gd name="connsiteX247" fmla="*/ 4520429 w 7318112"/>
              <a:gd name="connsiteY247" fmla="*/ 366522 h 1827020"/>
              <a:gd name="connsiteX248" fmla="*/ 4441181 w 7318112"/>
              <a:gd name="connsiteY248" fmla="*/ 346710 h 1827020"/>
              <a:gd name="connsiteX249" fmla="*/ 4500617 w 7318112"/>
              <a:gd name="connsiteY249" fmla="*/ 346710 h 1827020"/>
              <a:gd name="connsiteX250" fmla="*/ 4500617 w 7318112"/>
              <a:gd name="connsiteY250" fmla="*/ 366522 h 1827020"/>
              <a:gd name="connsiteX251" fmla="*/ 4441181 w 7318112"/>
              <a:gd name="connsiteY251" fmla="*/ 366522 h 1827020"/>
              <a:gd name="connsiteX252" fmla="*/ 4361933 w 7318112"/>
              <a:gd name="connsiteY252" fmla="*/ 346710 h 1827020"/>
              <a:gd name="connsiteX253" fmla="*/ 4421369 w 7318112"/>
              <a:gd name="connsiteY253" fmla="*/ 346710 h 1827020"/>
              <a:gd name="connsiteX254" fmla="*/ 4421369 w 7318112"/>
              <a:gd name="connsiteY254" fmla="*/ 366522 h 1827020"/>
              <a:gd name="connsiteX255" fmla="*/ 4361933 w 7318112"/>
              <a:gd name="connsiteY255" fmla="*/ 366522 h 1827020"/>
              <a:gd name="connsiteX256" fmla="*/ 4282685 w 7318112"/>
              <a:gd name="connsiteY256" fmla="*/ 346710 h 1827020"/>
              <a:gd name="connsiteX257" fmla="*/ 4342121 w 7318112"/>
              <a:gd name="connsiteY257" fmla="*/ 346710 h 1827020"/>
              <a:gd name="connsiteX258" fmla="*/ 4342121 w 7318112"/>
              <a:gd name="connsiteY258" fmla="*/ 366522 h 1827020"/>
              <a:gd name="connsiteX259" fmla="*/ 4282685 w 7318112"/>
              <a:gd name="connsiteY259" fmla="*/ 366522 h 1827020"/>
              <a:gd name="connsiteX260" fmla="*/ 4203437 w 7318112"/>
              <a:gd name="connsiteY260" fmla="*/ 346710 h 1827020"/>
              <a:gd name="connsiteX261" fmla="*/ 4262873 w 7318112"/>
              <a:gd name="connsiteY261" fmla="*/ 346710 h 1827020"/>
              <a:gd name="connsiteX262" fmla="*/ 4262873 w 7318112"/>
              <a:gd name="connsiteY262" fmla="*/ 366522 h 1827020"/>
              <a:gd name="connsiteX263" fmla="*/ 4203437 w 7318112"/>
              <a:gd name="connsiteY263" fmla="*/ 366522 h 1827020"/>
              <a:gd name="connsiteX264" fmla="*/ 4837408 w 7318112"/>
              <a:gd name="connsiteY264" fmla="*/ 346710 h 1827020"/>
              <a:gd name="connsiteX265" fmla="*/ 4896857 w 7318112"/>
              <a:gd name="connsiteY265" fmla="*/ 346710 h 1827020"/>
              <a:gd name="connsiteX266" fmla="*/ 4896857 w 7318112"/>
              <a:gd name="connsiteY266" fmla="*/ 366522 h 1827020"/>
              <a:gd name="connsiteX267" fmla="*/ 4837408 w 7318112"/>
              <a:gd name="connsiteY267" fmla="*/ 366522 h 1827020"/>
              <a:gd name="connsiteX268" fmla="*/ 4758173 w 7318112"/>
              <a:gd name="connsiteY268" fmla="*/ 346710 h 1827020"/>
              <a:gd name="connsiteX269" fmla="*/ 4817609 w 7318112"/>
              <a:gd name="connsiteY269" fmla="*/ 346710 h 1827020"/>
              <a:gd name="connsiteX270" fmla="*/ 4817609 w 7318112"/>
              <a:gd name="connsiteY270" fmla="*/ 366522 h 1827020"/>
              <a:gd name="connsiteX271" fmla="*/ 4758173 w 7318112"/>
              <a:gd name="connsiteY271" fmla="*/ 366522 h 1827020"/>
              <a:gd name="connsiteX272" fmla="*/ 4678925 w 7318112"/>
              <a:gd name="connsiteY272" fmla="*/ 346710 h 1827020"/>
              <a:gd name="connsiteX273" fmla="*/ 4738361 w 7318112"/>
              <a:gd name="connsiteY273" fmla="*/ 346710 h 1827020"/>
              <a:gd name="connsiteX274" fmla="*/ 4738361 w 7318112"/>
              <a:gd name="connsiteY274" fmla="*/ 366522 h 1827020"/>
              <a:gd name="connsiteX275" fmla="*/ 4678925 w 7318112"/>
              <a:gd name="connsiteY275" fmla="*/ 366522 h 1827020"/>
              <a:gd name="connsiteX276" fmla="*/ 4599677 w 7318112"/>
              <a:gd name="connsiteY276" fmla="*/ 346710 h 1827020"/>
              <a:gd name="connsiteX277" fmla="*/ 4659113 w 7318112"/>
              <a:gd name="connsiteY277" fmla="*/ 346710 h 1827020"/>
              <a:gd name="connsiteX278" fmla="*/ 4659113 w 7318112"/>
              <a:gd name="connsiteY278" fmla="*/ 366522 h 1827020"/>
              <a:gd name="connsiteX279" fmla="*/ 4599677 w 7318112"/>
              <a:gd name="connsiteY279" fmla="*/ 366522 h 1827020"/>
              <a:gd name="connsiteX280" fmla="*/ 5154413 w 7318112"/>
              <a:gd name="connsiteY280" fmla="*/ 346710 h 1827020"/>
              <a:gd name="connsiteX281" fmla="*/ 5213849 w 7318112"/>
              <a:gd name="connsiteY281" fmla="*/ 346710 h 1827020"/>
              <a:gd name="connsiteX282" fmla="*/ 5213849 w 7318112"/>
              <a:gd name="connsiteY282" fmla="*/ 366521 h 1827020"/>
              <a:gd name="connsiteX283" fmla="*/ 5154413 w 7318112"/>
              <a:gd name="connsiteY283" fmla="*/ 366521 h 1827020"/>
              <a:gd name="connsiteX284" fmla="*/ 5075165 w 7318112"/>
              <a:gd name="connsiteY284" fmla="*/ 346710 h 1827020"/>
              <a:gd name="connsiteX285" fmla="*/ 5134601 w 7318112"/>
              <a:gd name="connsiteY285" fmla="*/ 346710 h 1827020"/>
              <a:gd name="connsiteX286" fmla="*/ 5134601 w 7318112"/>
              <a:gd name="connsiteY286" fmla="*/ 366521 h 1827020"/>
              <a:gd name="connsiteX287" fmla="*/ 5075165 w 7318112"/>
              <a:gd name="connsiteY287" fmla="*/ 366521 h 1827020"/>
              <a:gd name="connsiteX288" fmla="*/ 4995917 w 7318112"/>
              <a:gd name="connsiteY288" fmla="*/ 346710 h 1827020"/>
              <a:gd name="connsiteX289" fmla="*/ 5055353 w 7318112"/>
              <a:gd name="connsiteY289" fmla="*/ 346710 h 1827020"/>
              <a:gd name="connsiteX290" fmla="*/ 5055353 w 7318112"/>
              <a:gd name="connsiteY290" fmla="*/ 366522 h 1827020"/>
              <a:gd name="connsiteX291" fmla="*/ 4995917 w 7318112"/>
              <a:gd name="connsiteY291" fmla="*/ 366522 h 1827020"/>
              <a:gd name="connsiteX292" fmla="*/ 4916656 w 7318112"/>
              <a:gd name="connsiteY292" fmla="*/ 346710 h 1827020"/>
              <a:gd name="connsiteX293" fmla="*/ 4976105 w 7318112"/>
              <a:gd name="connsiteY293" fmla="*/ 346710 h 1827020"/>
              <a:gd name="connsiteX294" fmla="*/ 4976105 w 7318112"/>
              <a:gd name="connsiteY294" fmla="*/ 366522 h 1827020"/>
              <a:gd name="connsiteX295" fmla="*/ 4916656 w 7318112"/>
              <a:gd name="connsiteY295" fmla="*/ 366522 h 1827020"/>
              <a:gd name="connsiteX296" fmla="*/ 5471405 w 7318112"/>
              <a:gd name="connsiteY296" fmla="*/ 346709 h 1827020"/>
              <a:gd name="connsiteX297" fmla="*/ 5530841 w 7318112"/>
              <a:gd name="connsiteY297" fmla="*/ 346709 h 1827020"/>
              <a:gd name="connsiteX298" fmla="*/ 5530841 w 7318112"/>
              <a:gd name="connsiteY298" fmla="*/ 366521 h 1827020"/>
              <a:gd name="connsiteX299" fmla="*/ 5471405 w 7318112"/>
              <a:gd name="connsiteY299" fmla="*/ 366521 h 1827020"/>
              <a:gd name="connsiteX300" fmla="*/ 5392157 w 7318112"/>
              <a:gd name="connsiteY300" fmla="*/ 346709 h 1827020"/>
              <a:gd name="connsiteX301" fmla="*/ 5451593 w 7318112"/>
              <a:gd name="connsiteY301" fmla="*/ 346709 h 1827020"/>
              <a:gd name="connsiteX302" fmla="*/ 5451593 w 7318112"/>
              <a:gd name="connsiteY302" fmla="*/ 366521 h 1827020"/>
              <a:gd name="connsiteX303" fmla="*/ 5392157 w 7318112"/>
              <a:gd name="connsiteY303" fmla="*/ 366521 h 1827020"/>
              <a:gd name="connsiteX304" fmla="*/ 5312909 w 7318112"/>
              <a:gd name="connsiteY304" fmla="*/ 346709 h 1827020"/>
              <a:gd name="connsiteX305" fmla="*/ 5372345 w 7318112"/>
              <a:gd name="connsiteY305" fmla="*/ 346709 h 1827020"/>
              <a:gd name="connsiteX306" fmla="*/ 5372345 w 7318112"/>
              <a:gd name="connsiteY306" fmla="*/ 366521 h 1827020"/>
              <a:gd name="connsiteX307" fmla="*/ 5312909 w 7318112"/>
              <a:gd name="connsiteY307" fmla="*/ 366521 h 1827020"/>
              <a:gd name="connsiteX308" fmla="*/ 5233661 w 7318112"/>
              <a:gd name="connsiteY308" fmla="*/ 346709 h 1827020"/>
              <a:gd name="connsiteX309" fmla="*/ 5293097 w 7318112"/>
              <a:gd name="connsiteY309" fmla="*/ 346709 h 1827020"/>
              <a:gd name="connsiteX310" fmla="*/ 5293097 w 7318112"/>
              <a:gd name="connsiteY310" fmla="*/ 366521 h 1827020"/>
              <a:gd name="connsiteX311" fmla="*/ 5233661 w 7318112"/>
              <a:gd name="connsiteY311" fmla="*/ 366521 h 1827020"/>
              <a:gd name="connsiteX312" fmla="*/ 5867645 w 7318112"/>
              <a:gd name="connsiteY312" fmla="*/ 346709 h 1827020"/>
              <a:gd name="connsiteX313" fmla="*/ 5927081 w 7318112"/>
              <a:gd name="connsiteY313" fmla="*/ 346709 h 1827020"/>
              <a:gd name="connsiteX314" fmla="*/ 5927081 w 7318112"/>
              <a:gd name="connsiteY314" fmla="*/ 366521 h 1827020"/>
              <a:gd name="connsiteX315" fmla="*/ 5867645 w 7318112"/>
              <a:gd name="connsiteY315" fmla="*/ 366521 h 1827020"/>
              <a:gd name="connsiteX316" fmla="*/ 5788397 w 7318112"/>
              <a:gd name="connsiteY316" fmla="*/ 346709 h 1827020"/>
              <a:gd name="connsiteX317" fmla="*/ 5847833 w 7318112"/>
              <a:gd name="connsiteY317" fmla="*/ 346709 h 1827020"/>
              <a:gd name="connsiteX318" fmla="*/ 5847833 w 7318112"/>
              <a:gd name="connsiteY318" fmla="*/ 366521 h 1827020"/>
              <a:gd name="connsiteX319" fmla="*/ 5788397 w 7318112"/>
              <a:gd name="connsiteY319" fmla="*/ 366521 h 1827020"/>
              <a:gd name="connsiteX320" fmla="*/ 5709149 w 7318112"/>
              <a:gd name="connsiteY320" fmla="*/ 346709 h 1827020"/>
              <a:gd name="connsiteX321" fmla="*/ 5768585 w 7318112"/>
              <a:gd name="connsiteY321" fmla="*/ 346709 h 1827020"/>
              <a:gd name="connsiteX322" fmla="*/ 5768585 w 7318112"/>
              <a:gd name="connsiteY322" fmla="*/ 366521 h 1827020"/>
              <a:gd name="connsiteX323" fmla="*/ 5709149 w 7318112"/>
              <a:gd name="connsiteY323" fmla="*/ 366521 h 1827020"/>
              <a:gd name="connsiteX324" fmla="*/ 5629901 w 7318112"/>
              <a:gd name="connsiteY324" fmla="*/ 346709 h 1827020"/>
              <a:gd name="connsiteX325" fmla="*/ 5689337 w 7318112"/>
              <a:gd name="connsiteY325" fmla="*/ 346709 h 1827020"/>
              <a:gd name="connsiteX326" fmla="*/ 5689337 w 7318112"/>
              <a:gd name="connsiteY326" fmla="*/ 366521 h 1827020"/>
              <a:gd name="connsiteX327" fmla="*/ 5629901 w 7318112"/>
              <a:gd name="connsiteY327" fmla="*/ 366521 h 1827020"/>
              <a:gd name="connsiteX328" fmla="*/ 5550653 w 7318112"/>
              <a:gd name="connsiteY328" fmla="*/ 346709 h 1827020"/>
              <a:gd name="connsiteX329" fmla="*/ 5610089 w 7318112"/>
              <a:gd name="connsiteY329" fmla="*/ 346709 h 1827020"/>
              <a:gd name="connsiteX330" fmla="*/ 5610089 w 7318112"/>
              <a:gd name="connsiteY330" fmla="*/ 366521 h 1827020"/>
              <a:gd name="connsiteX331" fmla="*/ 5550653 w 7318112"/>
              <a:gd name="connsiteY331" fmla="*/ 366521 h 1827020"/>
              <a:gd name="connsiteX332" fmla="*/ 6184637 w 7318112"/>
              <a:gd name="connsiteY332" fmla="*/ 346709 h 1827020"/>
              <a:gd name="connsiteX333" fmla="*/ 6244073 w 7318112"/>
              <a:gd name="connsiteY333" fmla="*/ 346709 h 1827020"/>
              <a:gd name="connsiteX334" fmla="*/ 6244073 w 7318112"/>
              <a:gd name="connsiteY334" fmla="*/ 366521 h 1827020"/>
              <a:gd name="connsiteX335" fmla="*/ 6184637 w 7318112"/>
              <a:gd name="connsiteY335" fmla="*/ 366521 h 1827020"/>
              <a:gd name="connsiteX336" fmla="*/ 6105389 w 7318112"/>
              <a:gd name="connsiteY336" fmla="*/ 346709 h 1827020"/>
              <a:gd name="connsiteX337" fmla="*/ 6164825 w 7318112"/>
              <a:gd name="connsiteY337" fmla="*/ 346709 h 1827020"/>
              <a:gd name="connsiteX338" fmla="*/ 6164825 w 7318112"/>
              <a:gd name="connsiteY338" fmla="*/ 366521 h 1827020"/>
              <a:gd name="connsiteX339" fmla="*/ 6105389 w 7318112"/>
              <a:gd name="connsiteY339" fmla="*/ 366521 h 1827020"/>
              <a:gd name="connsiteX340" fmla="*/ 6026141 w 7318112"/>
              <a:gd name="connsiteY340" fmla="*/ 346709 h 1827020"/>
              <a:gd name="connsiteX341" fmla="*/ 6085577 w 7318112"/>
              <a:gd name="connsiteY341" fmla="*/ 346709 h 1827020"/>
              <a:gd name="connsiteX342" fmla="*/ 6085577 w 7318112"/>
              <a:gd name="connsiteY342" fmla="*/ 366521 h 1827020"/>
              <a:gd name="connsiteX343" fmla="*/ 6026141 w 7318112"/>
              <a:gd name="connsiteY343" fmla="*/ 366521 h 1827020"/>
              <a:gd name="connsiteX344" fmla="*/ 5946893 w 7318112"/>
              <a:gd name="connsiteY344" fmla="*/ 346709 h 1827020"/>
              <a:gd name="connsiteX345" fmla="*/ 6006329 w 7318112"/>
              <a:gd name="connsiteY345" fmla="*/ 346709 h 1827020"/>
              <a:gd name="connsiteX346" fmla="*/ 6006329 w 7318112"/>
              <a:gd name="connsiteY346" fmla="*/ 366521 h 1827020"/>
              <a:gd name="connsiteX347" fmla="*/ 5946893 w 7318112"/>
              <a:gd name="connsiteY347" fmla="*/ 366521 h 1827020"/>
              <a:gd name="connsiteX348" fmla="*/ 6501629 w 7318112"/>
              <a:gd name="connsiteY348" fmla="*/ 346709 h 1827020"/>
              <a:gd name="connsiteX349" fmla="*/ 6561065 w 7318112"/>
              <a:gd name="connsiteY349" fmla="*/ 346709 h 1827020"/>
              <a:gd name="connsiteX350" fmla="*/ 6561065 w 7318112"/>
              <a:gd name="connsiteY350" fmla="*/ 366520 h 1827020"/>
              <a:gd name="connsiteX351" fmla="*/ 6501629 w 7318112"/>
              <a:gd name="connsiteY351" fmla="*/ 366520 h 1827020"/>
              <a:gd name="connsiteX352" fmla="*/ 6422381 w 7318112"/>
              <a:gd name="connsiteY352" fmla="*/ 346709 h 1827020"/>
              <a:gd name="connsiteX353" fmla="*/ 6481817 w 7318112"/>
              <a:gd name="connsiteY353" fmla="*/ 346709 h 1827020"/>
              <a:gd name="connsiteX354" fmla="*/ 6481817 w 7318112"/>
              <a:gd name="connsiteY354" fmla="*/ 366520 h 1827020"/>
              <a:gd name="connsiteX355" fmla="*/ 6422381 w 7318112"/>
              <a:gd name="connsiteY355" fmla="*/ 366520 h 1827020"/>
              <a:gd name="connsiteX356" fmla="*/ 6343133 w 7318112"/>
              <a:gd name="connsiteY356" fmla="*/ 346709 h 1827020"/>
              <a:gd name="connsiteX357" fmla="*/ 6402569 w 7318112"/>
              <a:gd name="connsiteY357" fmla="*/ 346709 h 1827020"/>
              <a:gd name="connsiteX358" fmla="*/ 6402569 w 7318112"/>
              <a:gd name="connsiteY358" fmla="*/ 366521 h 1827020"/>
              <a:gd name="connsiteX359" fmla="*/ 6343133 w 7318112"/>
              <a:gd name="connsiteY359" fmla="*/ 366521 h 1827020"/>
              <a:gd name="connsiteX360" fmla="*/ 6263885 w 7318112"/>
              <a:gd name="connsiteY360" fmla="*/ 346709 h 1827020"/>
              <a:gd name="connsiteX361" fmla="*/ 6323321 w 7318112"/>
              <a:gd name="connsiteY361" fmla="*/ 346709 h 1827020"/>
              <a:gd name="connsiteX362" fmla="*/ 6323321 w 7318112"/>
              <a:gd name="connsiteY362" fmla="*/ 366521 h 1827020"/>
              <a:gd name="connsiteX363" fmla="*/ 6263885 w 7318112"/>
              <a:gd name="connsiteY363" fmla="*/ 366521 h 1827020"/>
              <a:gd name="connsiteX364" fmla="*/ 6818621 w 7318112"/>
              <a:gd name="connsiteY364" fmla="*/ 346708 h 1827020"/>
              <a:gd name="connsiteX365" fmla="*/ 6878057 w 7318112"/>
              <a:gd name="connsiteY365" fmla="*/ 346708 h 1827020"/>
              <a:gd name="connsiteX366" fmla="*/ 6878057 w 7318112"/>
              <a:gd name="connsiteY366" fmla="*/ 366520 h 1827020"/>
              <a:gd name="connsiteX367" fmla="*/ 6818621 w 7318112"/>
              <a:gd name="connsiteY367" fmla="*/ 366520 h 1827020"/>
              <a:gd name="connsiteX368" fmla="*/ 6739373 w 7318112"/>
              <a:gd name="connsiteY368" fmla="*/ 346708 h 1827020"/>
              <a:gd name="connsiteX369" fmla="*/ 6798809 w 7318112"/>
              <a:gd name="connsiteY369" fmla="*/ 346708 h 1827020"/>
              <a:gd name="connsiteX370" fmla="*/ 6798809 w 7318112"/>
              <a:gd name="connsiteY370" fmla="*/ 366520 h 1827020"/>
              <a:gd name="connsiteX371" fmla="*/ 6739373 w 7318112"/>
              <a:gd name="connsiteY371" fmla="*/ 366520 h 1827020"/>
              <a:gd name="connsiteX372" fmla="*/ 6660125 w 7318112"/>
              <a:gd name="connsiteY372" fmla="*/ 346708 h 1827020"/>
              <a:gd name="connsiteX373" fmla="*/ 6719561 w 7318112"/>
              <a:gd name="connsiteY373" fmla="*/ 346708 h 1827020"/>
              <a:gd name="connsiteX374" fmla="*/ 6719561 w 7318112"/>
              <a:gd name="connsiteY374" fmla="*/ 366520 h 1827020"/>
              <a:gd name="connsiteX375" fmla="*/ 6660125 w 7318112"/>
              <a:gd name="connsiteY375" fmla="*/ 366520 h 1827020"/>
              <a:gd name="connsiteX376" fmla="*/ 6580877 w 7318112"/>
              <a:gd name="connsiteY376" fmla="*/ 346708 h 1827020"/>
              <a:gd name="connsiteX377" fmla="*/ 6640313 w 7318112"/>
              <a:gd name="connsiteY377" fmla="*/ 346708 h 1827020"/>
              <a:gd name="connsiteX378" fmla="*/ 6640313 w 7318112"/>
              <a:gd name="connsiteY378" fmla="*/ 366520 h 1827020"/>
              <a:gd name="connsiteX379" fmla="*/ 6580877 w 7318112"/>
              <a:gd name="connsiteY379" fmla="*/ 366520 h 1827020"/>
              <a:gd name="connsiteX380" fmla="*/ 7135613 w 7318112"/>
              <a:gd name="connsiteY380" fmla="*/ 346708 h 1827020"/>
              <a:gd name="connsiteX381" fmla="*/ 7195049 w 7318112"/>
              <a:gd name="connsiteY381" fmla="*/ 346708 h 1827020"/>
              <a:gd name="connsiteX382" fmla="*/ 7195049 w 7318112"/>
              <a:gd name="connsiteY382" fmla="*/ 366520 h 1827020"/>
              <a:gd name="connsiteX383" fmla="*/ 7135613 w 7318112"/>
              <a:gd name="connsiteY383" fmla="*/ 366520 h 1827020"/>
              <a:gd name="connsiteX384" fmla="*/ 7056365 w 7318112"/>
              <a:gd name="connsiteY384" fmla="*/ 346708 h 1827020"/>
              <a:gd name="connsiteX385" fmla="*/ 7115801 w 7318112"/>
              <a:gd name="connsiteY385" fmla="*/ 346708 h 1827020"/>
              <a:gd name="connsiteX386" fmla="*/ 7115801 w 7318112"/>
              <a:gd name="connsiteY386" fmla="*/ 366520 h 1827020"/>
              <a:gd name="connsiteX387" fmla="*/ 7056365 w 7318112"/>
              <a:gd name="connsiteY387" fmla="*/ 366520 h 1827020"/>
              <a:gd name="connsiteX388" fmla="*/ 6977117 w 7318112"/>
              <a:gd name="connsiteY388" fmla="*/ 346708 h 1827020"/>
              <a:gd name="connsiteX389" fmla="*/ 7036553 w 7318112"/>
              <a:gd name="connsiteY389" fmla="*/ 346708 h 1827020"/>
              <a:gd name="connsiteX390" fmla="*/ 7036553 w 7318112"/>
              <a:gd name="connsiteY390" fmla="*/ 366520 h 1827020"/>
              <a:gd name="connsiteX391" fmla="*/ 6977117 w 7318112"/>
              <a:gd name="connsiteY391" fmla="*/ 366520 h 1827020"/>
              <a:gd name="connsiteX392" fmla="*/ 6897869 w 7318112"/>
              <a:gd name="connsiteY392" fmla="*/ 346708 h 1827020"/>
              <a:gd name="connsiteX393" fmla="*/ 6957305 w 7318112"/>
              <a:gd name="connsiteY393" fmla="*/ 346708 h 1827020"/>
              <a:gd name="connsiteX394" fmla="*/ 6957305 w 7318112"/>
              <a:gd name="connsiteY394" fmla="*/ 366520 h 1827020"/>
              <a:gd name="connsiteX395" fmla="*/ 6897869 w 7318112"/>
              <a:gd name="connsiteY395" fmla="*/ 366520 h 1827020"/>
              <a:gd name="connsiteX396" fmla="*/ 7214861 w 7318112"/>
              <a:gd name="connsiteY396" fmla="*/ 346708 h 1827020"/>
              <a:gd name="connsiteX397" fmla="*/ 7274297 w 7318112"/>
              <a:gd name="connsiteY397" fmla="*/ 346708 h 1827020"/>
              <a:gd name="connsiteX398" fmla="*/ 7274297 w 7318112"/>
              <a:gd name="connsiteY398" fmla="*/ 366520 h 1827020"/>
              <a:gd name="connsiteX399" fmla="*/ 7214861 w 7318112"/>
              <a:gd name="connsiteY399" fmla="*/ 366520 h 1827020"/>
              <a:gd name="connsiteX400" fmla="*/ 7294109 w 7318112"/>
              <a:gd name="connsiteY400" fmla="*/ 346707 h 1827020"/>
              <a:gd name="connsiteX401" fmla="*/ 7318112 w 7318112"/>
              <a:gd name="connsiteY401" fmla="*/ 346707 h 1827020"/>
              <a:gd name="connsiteX402" fmla="*/ 7318112 w 7318112"/>
              <a:gd name="connsiteY402" fmla="*/ 356613 h 1827020"/>
              <a:gd name="connsiteX403" fmla="*/ 7318112 w 7318112"/>
              <a:gd name="connsiteY403" fmla="*/ 366519 h 1827020"/>
              <a:gd name="connsiteX404" fmla="*/ 7318112 w 7318112"/>
              <a:gd name="connsiteY404" fmla="*/ 401952 h 1827020"/>
              <a:gd name="connsiteX405" fmla="*/ 7298300 w 7318112"/>
              <a:gd name="connsiteY405" fmla="*/ 401952 h 1827020"/>
              <a:gd name="connsiteX406" fmla="*/ 7298300 w 7318112"/>
              <a:gd name="connsiteY406" fmla="*/ 366519 h 1827020"/>
              <a:gd name="connsiteX407" fmla="*/ 7294109 w 7318112"/>
              <a:gd name="connsiteY407" fmla="*/ 366519 h 1827020"/>
              <a:gd name="connsiteX408" fmla="*/ 4045068 w 7318112"/>
              <a:gd name="connsiteY408" fmla="*/ 318516 h 1827020"/>
              <a:gd name="connsiteX409" fmla="*/ 4045068 w 7318112"/>
              <a:gd name="connsiteY409" fmla="*/ 346710 h 1827020"/>
              <a:gd name="connsiteX410" fmla="*/ 4104377 w 7318112"/>
              <a:gd name="connsiteY410" fmla="*/ 346710 h 1827020"/>
              <a:gd name="connsiteX411" fmla="*/ 4104377 w 7318112"/>
              <a:gd name="connsiteY411" fmla="*/ 366522 h 1827020"/>
              <a:gd name="connsiteX412" fmla="*/ 4045068 w 7318112"/>
              <a:gd name="connsiteY412" fmla="*/ 366522 h 1827020"/>
              <a:gd name="connsiteX413" fmla="*/ 4045068 w 7318112"/>
              <a:gd name="connsiteY413" fmla="*/ 394716 h 1827020"/>
              <a:gd name="connsiteX414" fmla="*/ 3968868 w 7318112"/>
              <a:gd name="connsiteY414" fmla="*/ 356616 h 1827020"/>
              <a:gd name="connsiteX415" fmla="*/ 2814062 w 7318112"/>
              <a:gd name="connsiteY415" fmla="*/ 0 h 1827020"/>
              <a:gd name="connsiteX416" fmla="*/ 2833875 w 7318112"/>
              <a:gd name="connsiteY416" fmla="*/ 0 h 1827020"/>
              <a:gd name="connsiteX417" fmla="*/ 2833875 w 7318112"/>
              <a:gd name="connsiteY417" fmla="*/ 33528 h 1827020"/>
              <a:gd name="connsiteX418" fmla="*/ 2834254 w 7318112"/>
              <a:gd name="connsiteY418" fmla="*/ 33528 h 1827020"/>
              <a:gd name="connsiteX419" fmla="*/ 2833875 w 7318112"/>
              <a:gd name="connsiteY419" fmla="*/ 789305 h 1827020"/>
              <a:gd name="connsiteX420" fmla="*/ 2862068 w 7318112"/>
              <a:gd name="connsiteY420" fmla="*/ 789305 h 1827020"/>
              <a:gd name="connsiteX421" fmla="*/ 2855717 w 7318112"/>
              <a:gd name="connsiteY421" fmla="*/ 802005 h 1827020"/>
              <a:gd name="connsiteX422" fmla="*/ 2823968 w 7318112"/>
              <a:gd name="connsiteY422" fmla="*/ 865506 h 1827020"/>
              <a:gd name="connsiteX423" fmla="*/ 2785867 w 7318112"/>
              <a:gd name="connsiteY423" fmla="*/ 789305 h 1827020"/>
              <a:gd name="connsiteX424" fmla="*/ 2814062 w 7318112"/>
              <a:gd name="connsiteY424" fmla="*/ 789305 h 1827020"/>
              <a:gd name="connsiteX425" fmla="*/ 2814417 w 7318112"/>
              <a:gd name="connsiteY425" fmla="*/ 61468 h 1827020"/>
              <a:gd name="connsiteX426" fmla="*/ 48006 w 7318112"/>
              <a:gd name="connsiteY426" fmla="*/ 61468 h 1827020"/>
              <a:gd name="connsiteX427" fmla="*/ 48006 w 7318112"/>
              <a:gd name="connsiteY427" fmla="*/ 788924 h 1827020"/>
              <a:gd name="connsiteX428" fmla="*/ 76200 w 7318112"/>
              <a:gd name="connsiteY428" fmla="*/ 788924 h 1827020"/>
              <a:gd name="connsiteX429" fmla="*/ 69850 w 7318112"/>
              <a:gd name="connsiteY429" fmla="*/ 801624 h 1827020"/>
              <a:gd name="connsiteX430" fmla="*/ 38100 w 7318112"/>
              <a:gd name="connsiteY430" fmla="*/ 865125 h 1827020"/>
              <a:gd name="connsiteX431" fmla="*/ 0 w 7318112"/>
              <a:gd name="connsiteY431" fmla="*/ 788924 h 1827020"/>
              <a:gd name="connsiteX432" fmla="*/ 28194 w 7318112"/>
              <a:gd name="connsiteY432" fmla="*/ 788924 h 1827020"/>
              <a:gd name="connsiteX433" fmla="*/ 28194 w 7318112"/>
              <a:gd name="connsiteY433" fmla="*/ 41656 h 1827020"/>
              <a:gd name="connsiteX434" fmla="*/ 2814062 w 7318112"/>
              <a:gd name="connsiteY434" fmla="*/ 41656 h 18270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7318112" h="1827020">
                <a:moveTo>
                  <a:pt x="7217655" y="1807208"/>
                </a:moveTo>
                <a:lnTo>
                  <a:pt x="7277091" y="1807208"/>
                </a:lnTo>
                <a:lnTo>
                  <a:pt x="7277091" y="1827020"/>
                </a:lnTo>
                <a:lnTo>
                  <a:pt x="7217655" y="1827020"/>
                </a:lnTo>
                <a:close/>
                <a:moveTo>
                  <a:pt x="7138407" y="1807208"/>
                </a:moveTo>
                <a:lnTo>
                  <a:pt x="7197843" y="1807208"/>
                </a:lnTo>
                <a:lnTo>
                  <a:pt x="7197843" y="1827020"/>
                </a:lnTo>
                <a:lnTo>
                  <a:pt x="7138407" y="1827020"/>
                </a:lnTo>
                <a:close/>
                <a:moveTo>
                  <a:pt x="7059159" y="1807208"/>
                </a:moveTo>
                <a:lnTo>
                  <a:pt x="7118595" y="1807208"/>
                </a:lnTo>
                <a:lnTo>
                  <a:pt x="7118595" y="1827020"/>
                </a:lnTo>
                <a:lnTo>
                  <a:pt x="7059159" y="1827020"/>
                </a:lnTo>
                <a:close/>
                <a:moveTo>
                  <a:pt x="6979911" y="1807208"/>
                </a:moveTo>
                <a:lnTo>
                  <a:pt x="7039347" y="1807208"/>
                </a:lnTo>
                <a:lnTo>
                  <a:pt x="7039347" y="1827020"/>
                </a:lnTo>
                <a:lnTo>
                  <a:pt x="6979911" y="1827020"/>
                </a:lnTo>
                <a:close/>
                <a:moveTo>
                  <a:pt x="6900663" y="1807208"/>
                </a:moveTo>
                <a:lnTo>
                  <a:pt x="6960099" y="1807208"/>
                </a:lnTo>
                <a:lnTo>
                  <a:pt x="6960099" y="1827020"/>
                </a:lnTo>
                <a:lnTo>
                  <a:pt x="6900663" y="1827020"/>
                </a:lnTo>
                <a:close/>
                <a:moveTo>
                  <a:pt x="6821415" y="1807208"/>
                </a:moveTo>
                <a:lnTo>
                  <a:pt x="6880851" y="1807208"/>
                </a:lnTo>
                <a:lnTo>
                  <a:pt x="6880851" y="1827020"/>
                </a:lnTo>
                <a:lnTo>
                  <a:pt x="6821415" y="1827020"/>
                </a:lnTo>
                <a:close/>
                <a:moveTo>
                  <a:pt x="6742167" y="1807208"/>
                </a:moveTo>
                <a:lnTo>
                  <a:pt x="6801603" y="1807208"/>
                </a:lnTo>
                <a:lnTo>
                  <a:pt x="6801603" y="1827020"/>
                </a:lnTo>
                <a:lnTo>
                  <a:pt x="6742167" y="1827020"/>
                </a:lnTo>
                <a:close/>
                <a:moveTo>
                  <a:pt x="6662919" y="1807208"/>
                </a:moveTo>
                <a:lnTo>
                  <a:pt x="6722355" y="1807208"/>
                </a:lnTo>
                <a:lnTo>
                  <a:pt x="6722355" y="1827020"/>
                </a:lnTo>
                <a:lnTo>
                  <a:pt x="6662919" y="1827020"/>
                </a:lnTo>
                <a:close/>
                <a:moveTo>
                  <a:pt x="6583671" y="1807208"/>
                </a:moveTo>
                <a:lnTo>
                  <a:pt x="6643107" y="1807208"/>
                </a:lnTo>
                <a:lnTo>
                  <a:pt x="6643107" y="1827020"/>
                </a:lnTo>
                <a:lnTo>
                  <a:pt x="6583671" y="1827020"/>
                </a:lnTo>
                <a:close/>
                <a:moveTo>
                  <a:pt x="6504423" y="1807208"/>
                </a:moveTo>
                <a:lnTo>
                  <a:pt x="6563859" y="1807208"/>
                </a:lnTo>
                <a:lnTo>
                  <a:pt x="6563859" y="1827020"/>
                </a:lnTo>
                <a:lnTo>
                  <a:pt x="6504423" y="1827020"/>
                </a:lnTo>
                <a:close/>
                <a:moveTo>
                  <a:pt x="6425175" y="1807208"/>
                </a:moveTo>
                <a:lnTo>
                  <a:pt x="6484611" y="1807208"/>
                </a:lnTo>
                <a:lnTo>
                  <a:pt x="6484611" y="1827020"/>
                </a:lnTo>
                <a:lnTo>
                  <a:pt x="6425175" y="1827020"/>
                </a:lnTo>
                <a:close/>
                <a:moveTo>
                  <a:pt x="6345927" y="1807208"/>
                </a:moveTo>
                <a:lnTo>
                  <a:pt x="6405363" y="1807208"/>
                </a:lnTo>
                <a:lnTo>
                  <a:pt x="6405363" y="1827020"/>
                </a:lnTo>
                <a:lnTo>
                  <a:pt x="6345927" y="1827020"/>
                </a:lnTo>
                <a:close/>
                <a:moveTo>
                  <a:pt x="6266679" y="1807208"/>
                </a:moveTo>
                <a:lnTo>
                  <a:pt x="6326115" y="1807208"/>
                </a:lnTo>
                <a:lnTo>
                  <a:pt x="6326115" y="1827020"/>
                </a:lnTo>
                <a:lnTo>
                  <a:pt x="6266679" y="1827020"/>
                </a:lnTo>
                <a:close/>
                <a:moveTo>
                  <a:pt x="6187431" y="1807208"/>
                </a:moveTo>
                <a:lnTo>
                  <a:pt x="6246867" y="1807208"/>
                </a:lnTo>
                <a:lnTo>
                  <a:pt x="6246867" y="1827020"/>
                </a:lnTo>
                <a:lnTo>
                  <a:pt x="6187431" y="1827020"/>
                </a:lnTo>
                <a:close/>
                <a:moveTo>
                  <a:pt x="6108183" y="1807208"/>
                </a:moveTo>
                <a:lnTo>
                  <a:pt x="6167619" y="1807208"/>
                </a:lnTo>
                <a:lnTo>
                  <a:pt x="6167619" y="1827020"/>
                </a:lnTo>
                <a:lnTo>
                  <a:pt x="6108183" y="1827020"/>
                </a:lnTo>
                <a:close/>
                <a:moveTo>
                  <a:pt x="6028935" y="1807208"/>
                </a:moveTo>
                <a:lnTo>
                  <a:pt x="6088371" y="1807208"/>
                </a:lnTo>
                <a:lnTo>
                  <a:pt x="6088371" y="1827020"/>
                </a:lnTo>
                <a:lnTo>
                  <a:pt x="6028935" y="1827020"/>
                </a:lnTo>
                <a:close/>
                <a:moveTo>
                  <a:pt x="5949687" y="1807208"/>
                </a:moveTo>
                <a:lnTo>
                  <a:pt x="6009123" y="1807208"/>
                </a:lnTo>
                <a:lnTo>
                  <a:pt x="6009123" y="1827020"/>
                </a:lnTo>
                <a:lnTo>
                  <a:pt x="5949687" y="1827020"/>
                </a:lnTo>
                <a:close/>
                <a:moveTo>
                  <a:pt x="5870439" y="1807208"/>
                </a:moveTo>
                <a:lnTo>
                  <a:pt x="5929875" y="1807208"/>
                </a:lnTo>
                <a:lnTo>
                  <a:pt x="5929875" y="1827020"/>
                </a:lnTo>
                <a:lnTo>
                  <a:pt x="5870439" y="1827020"/>
                </a:lnTo>
                <a:close/>
                <a:moveTo>
                  <a:pt x="5791191" y="1807208"/>
                </a:moveTo>
                <a:lnTo>
                  <a:pt x="5850627" y="1807208"/>
                </a:lnTo>
                <a:lnTo>
                  <a:pt x="5850627" y="1827020"/>
                </a:lnTo>
                <a:lnTo>
                  <a:pt x="5791191" y="1827020"/>
                </a:lnTo>
                <a:close/>
                <a:moveTo>
                  <a:pt x="5711943" y="1807208"/>
                </a:moveTo>
                <a:lnTo>
                  <a:pt x="5771379" y="1807208"/>
                </a:lnTo>
                <a:lnTo>
                  <a:pt x="5771379" y="1827020"/>
                </a:lnTo>
                <a:lnTo>
                  <a:pt x="5711943" y="1827020"/>
                </a:lnTo>
                <a:close/>
                <a:moveTo>
                  <a:pt x="5632695" y="1807208"/>
                </a:moveTo>
                <a:lnTo>
                  <a:pt x="5692131" y="1807208"/>
                </a:lnTo>
                <a:lnTo>
                  <a:pt x="5692131" y="1827020"/>
                </a:lnTo>
                <a:lnTo>
                  <a:pt x="5632695" y="1827020"/>
                </a:lnTo>
                <a:close/>
                <a:moveTo>
                  <a:pt x="5553447" y="1807208"/>
                </a:moveTo>
                <a:lnTo>
                  <a:pt x="5612883" y="1807208"/>
                </a:lnTo>
                <a:lnTo>
                  <a:pt x="5612883" y="1827020"/>
                </a:lnTo>
                <a:lnTo>
                  <a:pt x="5553447" y="1827020"/>
                </a:lnTo>
                <a:close/>
                <a:moveTo>
                  <a:pt x="5474199" y="1807208"/>
                </a:moveTo>
                <a:lnTo>
                  <a:pt x="5533635" y="1807208"/>
                </a:lnTo>
                <a:lnTo>
                  <a:pt x="5533635" y="1827020"/>
                </a:lnTo>
                <a:lnTo>
                  <a:pt x="5474199" y="1827020"/>
                </a:lnTo>
                <a:close/>
                <a:moveTo>
                  <a:pt x="5394951" y="1807208"/>
                </a:moveTo>
                <a:lnTo>
                  <a:pt x="5454387" y="1807208"/>
                </a:lnTo>
                <a:lnTo>
                  <a:pt x="5454387" y="1827020"/>
                </a:lnTo>
                <a:lnTo>
                  <a:pt x="5394951" y="1827020"/>
                </a:lnTo>
                <a:close/>
                <a:moveTo>
                  <a:pt x="5315703" y="1807208"/>
                </a:moveTo>
                <a:lnTo>
                  <a:pt x="5375139" y="1807208"/>
                </a:lnTo>
                <a:lnTo>
                  <a:pt x="5375139" y="1827020"/>
                </a:lnTo>
                <a:lnTo>
                  <a:pt x="5315703" y="1827020"/>
                </a:lnTo>
                <a:close/>
                <a:moveTo>
                  <a:pt x="5236455" y="1807208"/>
                </a:moveTo>
                <a:lnTo>
                  <a:pt x="5295891" y="1807208"/>
                </a:lnTo>
                <a:lnTo>
                  <a:pt x="5295891" y="1827020"/>
                </a:lnTo>
                <a:lnTo>
                  <a:pt x="5236455" y="1827020"/>
                </a:lnTo>
                <a:close/>
                <a:moveTo>
                  <a:pt x="5157207" y="1807208"/>
                </a:moveTo>
                <a:lnTo>
                  <a:pt x="5216643" y="1807208"/>
                </a:lnTo>
                <a:lnTo>
                  <a:pt x="5216643" y="1827020"/>
                </a:lnTo>
                <a:lnTo>
                  <a:pt x="5157207" y="1827020"/>
                </a:lnTo>
                <a:close/>
                <a:moveTo>
                  <a:pt x="5077959" y="1807208"/>
                </a:moveTo>
                <a:lnTo>
                  <a:pt x="5137395" y="1807208"/>
                </a:lnTo>
                <a:lnTo>
                  <a:pt x="5137395" y="1827020"/>
                </a:lnTo>
                <a:lnTo>
                  <a:pt x="5077959" y="1827020"/>
                </a:lnTo>
                <a:close/>
                <a:moveTo>
                  <a:pt x="4998711" y="1807208"/>
                </a:moveTo>
                <a:lnTo>
                  <a:pt x="5058147" y="1807208"/>
                </a:lnTo>
                <a:lnTo>
                  <a:pt x="5058147" y="1827020"/>
                </a:lnTo>
                <a:lnTo>
                  <a:pt x="4998711" y="1827020"/>
                </a:lnTo>
                <a:close/>
                <a:moveTo>
                  <a:pt x="4919463" y="1807208"/>
                </a:moveTo>
                <a:lnTo>
                  <a:pt x="4978899" y="1807208"/>
                </a:lnTo>
                <a:lnTo>
                  <a:pt x="4978899" y="1827020"/>
                </a:lnTo>
                <a:lnTo>
                  <a:pt x="4919463" y="1827020"/>
                </a:lnTo>
                <a:close/>
                <a:moveTo>
                  <a:pt x="4840215" y="1807208"/>
                </a:moveTo>
                <a:lnTo>
                  <a:pt x="4899651" y="1807208"/>
                </a:lnTo>
                <a:lnTo>
                  <a:pt x="4899651" y="1827020"/>
                </a:lnTo>
                <a:lnTo>
                  <a:pt x="4840215" y="1827020"/>
                </a:lnTo>
                <a:close/>
                <a:moveTo>
                  <a:pt x="4760967" y="1807208"/>
                </a:moveTo>
                <a:lnTo>
                  <a:pt x="4820403" y="1807208"/>
                </a:lnTo>
                <a:lnTo>
                  <a:pt x="4820403" y="1827020"/>
                </a:lnTo>
                <a:lnTo>
                  <a:pt x="4760967" y="1827020"/>
                </a:lnTo>
                <a:close/>
                <a:moveTo>
                  <a:pt x="4681719" y="1807208"/>
                </a:moveTo>
                <a:lnTo>
                  <a:pt x="4741155" y="1807208"/>
                </a:lnTo>
                <a:lnTo>
                  <a:pt x="4741155" y="1827020"/>
                </a:lnTo>
                <a:lnTo>
                  <a:pt x="4681719" y="1827020"/>
                </a:lnTo>
                <a:close/>
                <a:moveTo>
                  <a:pt x="4602471" y="1807208"/>
                </a:moveTo>
                <a:lnTo>
                  <a:pt x="4661907" y="1807208"/>
                </a:lnTo>
                <a:lnTo>
                  <a:pt x="4661907" y="1827020"/>
                </a:lnTo>
                <a:lnTo>
                  <a:pt x="4602471" y="1827020"/>
                </a:lnTo>
                <a:close/>
                <a:moveTo>
                  <a:pt x="4523223" y="1807208"/>
                </a:moveTo>
                <a:lnTo>
                  <a:pt x="4582659" y="1807208"/>
                </a:lnTo>
                <a:lnTo>
                  <a:pt x="4582659" y="1827020"/>
                </a:lnTo>
                <a:lnTo>
                  <a:pt x="4523223" y="1827020"/>
                </a:lnTo>
                <a:close/>
                <a:moveTo>
                  <a:pt x="4443975" y="1807208"/>
                </a:moveTo>
                <a:lnTo>
                  <a:pt x="4503411" y="1807208"/>
                </a:lnTo>
                <a:lnTo>
                  <a:pt x="4503411" y="1827020"/>
                </a:lnTo>
                <a:lnTo>
                  <a:pt x="4443975" y="1827020"/>
                </a:lnTo>
                <a:close/>
                <a:moveTo>
                  <a:pt x="4364727" y="1807208"/>
                </a:moveTo>
                <a:lnTo>
                  <a:pt x="4424163" y="1807208"/>
                </a:lnTo>
                <a:lnTo>
                  <a:pt x="4424163" y="1827020"/>
                </a:lnTo>
                <a:lnTo>
                  <a:pt x="4364727" y="1827020"/>
                </a:lnTo>
                <a:close/>
                <a:moveTo>
                  <a:pt x="4285479" y="1807208"/>
                </a:moveTo>
                <a:lnTo>
                  <a:pt x="4344915" y="1807208"/>
                </a:lnTo>
                <a:lnTo>
                  <a:pt x="4344915" y="1827020"/>
                </a:lnTo>
                <a:lnTo>
                  <a:pt x="4285479" y="1827020"/>
                </a:lnTo>
                <a:close/>
                <a:moveTo>
                  <a:pt x="4206231" y="1807208"/>
                </a:moveTo>
                <a:lnTo>
                  <a:pt x="4265667" y="1807208"/>
                </a:lnTo>
                <a:lnTo>
                  <a:pt x="4265667" y="1827020"/>
                </a:lnTo>
                <a:lnTo>
                  <a:pt x="4206231" y="1827020"/>
                </a:lnTo>
                <a:close/>
                <a:moveTo>
                  <a:pt x="4126983" y="1807208"/>
                </a:moveTo>
                <a:lnTo>
                  <a:pt x="4186419" y="1807208"/>
                </a:lnTo>
                <a:lnTo>
                  <a:pt x="4186419" y="1827020"/>
                </a:lnTo>
                <a:lnTo>
                  <a:pt x="4126983" y="1827020"/>
                </a:lnTo>
                <a:close/>
                <a:moveTo>
                  <a:pt x="4053522" y="1807208"/>
                </a:moveTo>
                <a:lnTo>
                  <a:pt x="4107171" y="1807208"/>
                </a:lnTo>
                <a:lnTo>
                  <a:pt x="4107171" y="1827020"/>
                </a:lnTo>
                <a:lnTo>
                  <a:pt x="4053522" y="1827020"/>
                </a:lnTo>
                <a:close/>
                <a:moveTo>
                  <a:pt x="7298300" y="1768981"/>
                </a:moveTo>
                <a:lnTo>
                  <a:pt x="7318112" y="1768981"/>
                </a:lnTo>
                <a:lnTo>
                  <a:pt x="7318112" y="1807208"/>
                </a:lnTo>
                <a:lnTo>
                  <a:pt x="7318112" y="1817114"/>
                </a:lnTo>
                <a:lnTo>
                  <a:pt x="7318112" y="1827020"/>
                </a:lnTo>
                <a:lnTo>
                  <a:pt x="7296903" y="1827020"/>
                </a:lnTo>
                <a:lnTo>
                  <a:pt x="7296903" y="1807208"/>
                </a:lnTo>
                <a:lnTo>
                  <a:pt x="7298300" y="1807208"/>
                </a:lnTo>
                <a:close/>
                <a:moveTo>
                  <a:pt x="7298300" y="1689733"/>
                </a:moveTo>
                <a:lnTo>
                  <a:pt x="7318112" y="1689733"/>
                </a:lnTo>
                <a:lnTo>
                  <a:pt x="7318112" y="1749169"/>
                </a:lnTo>
                <a:lnTo>
                  <a:pt x="7298300" y="1749169"/>
                </a:lnTo>
                <a:close/>
                <a:moveTo>
                  <a:pt x="7298300" y="1610485"/>
                </a:moveTo>
                <a:lnTo>
                  <a:pt x="7318112" y="1610485"/>
                </a:lnTo>
                <a:lnTo>
                  <a:pt x="7318112" y="1669921"/>
                </a:lnTo>
                <a:lnTo>
                  <a:pt x="7298300" y="1669921"/>
                </a:lnTo>
                <a:close/>
                <a:moveTo>
                  <a:pt x="7298300" y="1531237"/>
                </a:moveTo>
                <a:lnTo>
                  <a:pt x="7318112" y="1531237"/>
                </a:lnTo>
                <a:lnTo>
                  <a:pt x="7318112" y="1590673"/>
                </a:lnTo>
                <a:lnTo>
                  <a:pt x="7298300" y="1590673"/>
                </a:lnTo>
                <a:close/>
                <a:moveTo>
                  <a:pt x="7298300" y="1451989"/>
                </a:moveTo>
                <a:lnTo>
                  <a:pt x="7318112" y="1451989"/>
                </a:lnTo>
                <a:lnTo>
                  <a:pt x="7318112" y="1511425"/>
                </a:lnTo>
                <a:lnTo>
                  <a:pt x="7298300" y="1511425"/>
                </a:lnTo>
                <a:close/>
                <a:moveTo>
                  <a:pt x="7298300" y="1372741"/>
                </a:moveTo>
                <a:lnTo>
                  <a:pt x="7318112" y="1372741"/>
                </a:lnTo>
                <a:lnTo>
                  <a:pt x="7318112" y="1432177"/>
                </a:lnTo>
                <a:lnTo>
                  <a:pt x="7298300" y="1432177"/>
                </a:lnTo>
                <a:close/>
                <a:moveTo>
                  <a:pt x="7298300" y="1293493"/>
                </a:moveTo>
                <a:lnTo>
                  <a:pt x="7318112" y="1293493"/>
                </a:lnTo>
                <a:lnTo>
                  <a:pt x="7318112" y="1352929"/>
                </a:lnTo>
                <a:lnTo>
                  <a:pt x="7298300" y="1352929"/>
                </a:lnTo>
                <a:close/>
                <a:moveTo>
                  <a:pt x="7298300" y="1214245"/>
                </a:moveTo>
                <a:lnTo>
                  <a:pt x="7318112" y="1214245"/>
                </a:lnTo>
                <a:lnTo>
                  <a:pt x="7318112" y="1273681"/>
                </a:lnTo>
                <a:lnTo>
                  <a:pt x="7298300" y="1273681"/>
                </a:lnTo>
                <a:close/>
                <a:moveTo>
                  <a:pt x="7298300" y="1134997"/>
                </a:moveTo>
                <a:lnTo>
                  <a:pt x="7318112" y="1134997"/>
                </a:lnTo>
                <a:lnTo>
                  <a:pt x="7318112" y="1194433"/>
                </a:lnTo>
                <a:lnTo>
                  <a:pt x="7298300" y="1194433"/>
                </a:lnTo>
                <a:close/>
                <a:moveTo>
                  <a:pt x="7298300" y="1055749"/>
                </a:moveTo>
                <a:lnTo>
                  <a:pt x="7318112" y="1055749"/>
                </a:lnTo>
                <a:lnTo>
                  <a:pt x="7318112" y="1115185"/>
                </a:lnTo>
                <a:lnTo>
                  <a:pt x="7298300" y="1115185"/>
                </a:lnTo>
                <a:close/>
                <a:moveTo>
                  <a:pt x="7298300" y="976501"/>
                </a:moveTo>
                <a:lnTo>
                  <a:pt x="7318112" y="976501"/>
                </a:lnTo>
                <a:lnTo>
                  <a:pt x="7318112" y="1035937"/>
                </a:lnTo>
                <a:lnTo>
                  <a:pt x="7298300" y="1035937"/>
                </a:lnTo>
                <a:close/>
                <a:moveTo>
                  <a:pt x="7298300" y="897253"/>
                </a:moveTo>
                <a:lnTo>
                  <a:pt x="7318112" y="897253"/>
                </a:lnTo>
                <a:lnTo>
                  <a:pt x="7318112" y="956689"/>
                </a:lnTo>
                <a:lnTo>
                  <a:pt x="7298300" y="956689"/>
                </a:lnTo>
                <a:close/>
                <a:moveTo>
                  <a:pt x="7298300" y="818005"/>
                </a:moveTo>
                <a:lnTo>
                  <a:pt x="7318112" y="818005"/>
                </a:lnTo>
                <a:lnTo>
                  <a:pt x="7318112" y="877441"/>
                </a:lnTo>
                <a:lnTo>
                  <a:pt x="7298300" y="877441"/>
                </a:lnTo>
                <a:close/>
                <a:moveTo>
                  <a:pt x="7298300" y="738757"/>
                </a:moveTo>
                <a:lnTo>
                  <a:pt x="7318112" y="738757"/>
                </a:lnTo>
                <a:lnTo>
                  <a:pt x="7318112" y="798193"/>
                </a:lnTo>
                <a:lnTo>
                  <a:pt x="7298300" y="798193"/>
                </a:lnTo>
                <a:close/>
                <a:moveTo>
                  <a:pt x="7298300" y="659509"/>
                </a:moveTo>
                <a:lnTo>
                  <a:pt x="7318112" y="659509"/>
                </a:lnTo>
                <a:lnTo>
                  <a:pt x="7318112" y="718945"/>
                </a:lnTo>
                <a:lnTo>
                  <a:pt x="7298300" y="718945"/>
                </a:lnTo>
                <a:close/>
                <a:moveTo>
                  <a:pt x="7298300" y="580261"/>
                </a:moveTo>
                <a:lnTo>
                  <a:pt x="7318112" y="580261"/>
                </a:lnTo>
                <a:lnTo>
                  <a:pt x="7318112" y="639697"/>
                </a:lnTo>
                <a:lnTo>
                  <a:pt x="7298300" y="639697"/>
                </a:lnTo>
                <a:close/>
                <a:moveTo>
                  <a:pt x="7298300" y="501013"/>
                </a:moveTo>
                <a:lnTo>
                  <a:pt x="7318112" y="501013"/>
                </a:lnTo>
                <a:lnTo>
                  <a:pt x="7318112" y="560449"/>
                </a:lnTo>
                <a:lnTo>
                  <a:pt x="7298300" y="560449"/>
                </a:lnTo>
                <a:close/>
                <a:moveTo>
                  <a:pt x="7298300" y="421764"/>
                </a:moveTo>
                <a:lnTo>
                  <a:pt x="7318112" y="421764"/>
                </a:lnTo>
                <a:lnTo>
                  <a:pt x="7318112" y="481200"/>
                </a:lnTo>
                <a:lnTo>
                  <a:pt x="7298300" y="481200"/>
                </a:lnTo>
                <a:close/>
                <a:moveTo>
                  <a:pt x="4124189" y="346710"/>
                </a:moveTo>
                <a:lnTo>
                  <a:pt x="4183625" y="346710"/>
                </a:lnTo>
                <a:lnTo>
                  <a:pt x="4183625" y="366522"/>
                </a:lnTo>
                <a:lnTo>
                  <a:pt x="4124189" y="366522"/>
                </a:lnTo>
                <a:close/>
                <a:moveTo>
                  <a:pt x="4520429" y="346710"/>
                </a:moveTo>
                <a:lnTo>
                  <a:pt x="4579865" y="346710"/>
                </a:lnTo>
                <a:lnTo>
                  <a:pt x="4579865" y="366522"/>
                </a:lnTo>
                <a:lnTo>
                  <a:pt x="4520429" y="366522"/>
                </a:lnTo>
                <a:close/>
                <a:moveTo>
                  <a:pt x="4441181" y="346710"/>
                </a:moveTo>
                <a:lnTo>
                  <a:pt x="4500617" y="346710"/>
                </a:lnTo>
                <a:lnTo>
                  <a:pt x="4500617" y="366522"/>
                </a:lnTo>
                <a:lnTo>
                  <a:pt x="4441181" y="366522"/>
                </a:lnTo>
                <a:close/>
                <a:moveTo>
                  <a:pt x="4361933" y="346710"/>
                </a:moveTo>
                <a:lnTo>
                  <a:pt x="4421369" y="346710"/>
                </a:lnTo>
                <a:lnTo>
                  <a:pt x="4421369" y="366522"/>
                </a:lnTo>
                <a:lnTo>
                  <a:pt x="4361933" y="366522"/>
                </a:lnTo>
                <a:close/>
                <a:moveTo>
                  <a:pt x="4282685" y="346710"/>
                </a:moveTo>
                <a:lnTo>
                  <a:pt x="4342121" y="346710"/>
                </a:lnTo>
                <a:lnTo>
                  <a:pt x="4342121" y="366522"/>
                </a:lnTo>
                <a:lnTo>
                  <a:pt x="4282685" y="366522"/>
                </a:lnTo>
                <a:close/>
                <a:moveTo>
                  <a:pt x="4203437" y="346710"/>
                </a:moveTo>
                <a:lnTo>
                  <a:pt x="4262873" y="346710"/>
                </a:lnTo>
                <a:lnTo>
                  <a:pt x="4262873" y="366522"/>
                </a:lnTo>
                <a:lnTo>
                  <a:pt x="4203437" y="366522"/>
                </a:lnTo>
                <a:close/>
                <a:moveTo>
                  <a:pt x="4837408" y="346710"/>
                </a:moveTo>
                <a:lnTo>
                  <a:pt x="4896857" y="346710"/>
                </a:lnTo>
                <a:lnTo>
                  <a:pt x="4896857" y="366522"/>
                </a:lnTo>
                <a:lnTo>
                  <a:pt x="4837408" y="366522"/>
                </a:lnTo>
                <a:close/>
                <a:moveTo>
                  <a:pt x="4758173" y="346710"/>
                </a:moveTo>
                <a:lnTo>
                  <a:pt x="4817609" y="346710"/>
                </a:lnTo>
                <a:lnTo>
                  <a:pt x="4817609" y="366522"/>
                </a:lnTo>
                <a:lnTo>
                  <a:pt x="4758173" y="366522"/>
                </a:lnTo>
                <a:close/>
                <a:moveTo>
                  <a:pt x="4678925" y="346710"/>
                </a:moveTo>
                <a:lnTo>
                  <a:pt x="4738361" y="346710"/>
                </a:lnTo>
                <a:lnTo>
                  <a:pt x="4738361" y="366522"/>
                </a:lnTo>
                <a:lnTo>
                  <a:pt x="4678925" y="366522"/>
                </a:lnTo>
                <a:close/>
                <a:moveTo>
                  <a:pt x="4599677" y="346710"/>
                </a:moveTo>
                <a:lnTo>
                  <a:pt x="4659113" y="346710"/>
                </a:lnTo>
                <a:lnTo>
                  <a:pt x="4659113" y="366522"/>
                </a:lnTo>
                <a:lnTo>
                  <a:pt x="4599677" y="366522"/>
                </a:lnTo>
                <a:close/>
                <a:moveTo>
                  <a:pt x="5154413" y="346710"/>
                </a:moveTo>
                <a:lnTo>
                  <a:pt x="5213849" y="346710"/>
                </a:lnTo>
                <a:lnTo>
                  <a:pt x="5213849" y="366521"/>
                </a:lnTo>
                <a:lnTo>
                  <a:pt x="5154413" y="366521"/>
                </a:lnTo>
                <a:close/>
                <a:moveTo>
                  <a:pt x="5075165" y="346710"/>
                </a:moveTo>
                <a:lnTo>
                  <a:pt x="5134601" y="346710"/>
                </a:lnTo>
                <a:lnTo>
                  <a:pt x="5134601" y="366521"/>
                </a:lnTo>
                <a:lnTo>
                  <a:pt x="5075165" y="366521"/>
                </a:lnTo>
                <a:close/>
                <a:moveTo>
                  <a:pt x="4995917" y="346710"/>
                </a:moveTo>
                <a:lnTo>
                  <a:pt x="5055353" y="346710"/>
                </a:lnTo>
                <a:lnTo>
                  <a:pt x="5055353" y="366522"/>
                </a:lnTo>
                <a:lnTo>
                  <a:pt x="4995917" y="366522"/>
                </a:lnTo>
                <a:close/>
                <a:moveTo>
                  <a:pt x="4916656" y="346710"/>
                </a:moveTo>
                <a:lnTo>
                  <a:pt x="4976105" y="346710"/>
                </a:lnTo>
                <a:lnTo>
                  <a:pt x="4976105" y="366522"/>
                </a:lnTo>
                <a:lnTo>
                  <a:pt x="4916656" y="366522"/>
                </a:lnTo>
                <a:close/>
                <a:moveTo>
                  <a:pt x="5471405" y="346709"/>
                </a:moveTo>
                <a:lnTo>
                  <a:pt x="5530841" y="346709"/>
                </a:lnTo>
                <a:lnTo>
                  <a:pt x="5530841" y="366521"/>
                </a:lnTo>
                <a:lnTo>
                  <a:pt x="5471405" y="366521"/>
                </a:lnTo>
                <a:close/>
                <a:moveTo>
                  <a:pt x="5392157" y="346709"/>
                </a:moveTo>
                <a:lnTo>
                  <a:pt x="5451593" y="346709"/>
                </a:lnTo>
                <a:lnTo>
                  <a:pt x="5451593" y="366521"/>
                </a:lnTo>
                <a:lnTo>
                  <a:pt x="5392157" y="366521"/>
                </a:lnTo>
                <a:close/>
                <a:moveTo>
                  <a:pt x="5312909" y="346709"/>
                </a:moveTo>
                <a:lnTo>
                  <a:pt x="5372345" y="346709"/>
                </a:lnTo>
                <a:lnTo>
                  <a:pt x="5372345" y="366521"/>
                </a:lnTo>
                <a:lnTo>
                  <a:pt x="5312909" y="366521"/>
                </a:lnTo>
                <a:close/>
                <a:moveTo>
                  <a:pt x="5233661" y="346709"/>
                </a:moveTo>
                <a:lnTo>
                  <a:pt x="5293097" y="346709"/>
                </a:lnTo>
                <a:lnTo>
                  <a:pt x="5293097" y="366521"/>
                </a:lnTo>
                <a:lnTo>
                  <a:pt x="5233661" y="366521"/>
                </a:lnTo>
                <a:close/>
                <a:moveTo>
                  <a:pt x="5867645" y="346709"/>
                </a:moveTo>
                <a:lnTo>
                  <a:pt x="5927081" y="346709"/>
                </a:lnTo>
                <a:lnTo>
                  <a:pt x="5927081" y="366521"/>
                </a:lnTo>
                <a:lnTo>
                  <a:pt x="5867645" y="366521"/>
                </a:lnTo>
                <a:close/>
                <a:moveTo>
                  <a:pt x="5788397" y="346709"/>
                </a:moveTo>
                <a:lnTo>
                  <a:pt x="5847833" y="346709"/>
                </a:lnTo>
                <a:lnTo>
                  <a:pt x="5847833" y="366521"/>
                </a:lnTo>
                <a:lnTo>
                  <a:pt x="5788397" y="366521"/>
                </a:lnTo>
                <a:close/>
                <a:moveTo>
                  <a:pt x="5709149" y="346709"/>
                </a:moveTo>
                <a:lnTo>
                  <a:pt x="5768585" y="346709"/>
                </a:lnTo>
                <a:lnTo>
                  <a:pt x="5768585" y="366521"/>
                </a:lnTo>
                <a:lnTo>
                  <a:pt x="5709149" y="366521"/>
                </a:lnTo>
                <a:close/>
                <a:moveTo>
                  <a:pt x="5629901" y="346709"/>
                </a:moveTo>
                <a:lnTo>
                  <a:pt x="5689337" y="346709"/>
                </a:lnTo>
                <a:lnTo>
                  <a:pt x="5689337" y="366521"/>
                </a:lnTo>
                <a:lnTo>
                  <a:pt x="5629901" y="366521"/>
                </a:lnTo>
                <a:close/>
                <a:moveTo>
                  <a:pt x="5550653" y="346709"/>
                </a:moveTo>
                <a:lnTo>
                  <a:pt x="5610089" y="346709"/>
                </a:lnTo>
                <a:lnTo>
                  <a:pt x="5610089" y="366521"/>
                </a:lnTo>
                <a:lnTo>
                  <a:pt x="5550653" y="366521"/>
                </a:lnTo>
                <a:close/>
                <a:moveTo>
                  <a:pt x="6184637" y="346709"/>
                </a:moveTo>
                <a:lnTo>
                  <a:pt x="6244073" y="346709"/>
                </a:lnTo>
                <a:lnTo>
                  <a:pt x="6244073" y="366521"/>
                </a:lnTo>
                <a:lnTo>
                  <a:pt x="6184637" y="366521"/>
                </a:lnTo>
                <a:close/>
                <a:moveTo>
                  <a:pt x="6105389" y="346709"/>
                </a:moveTo>
                <a:lnTo>
                  <a:pt x="6164825" y="346709"/>
                </a:lnTo>
                <a:lnTo>
                  <a:pt x="6164825" y="366521"/>
                </a:lnTo>
                <a:lnTo>
                  <a:pt x="6105389" y="366521"/>
                </a:lnTo>
                <a:close/>
                <a:moveTo>
                  <a:pt x="6026141" y="346709"/>
                </a:moveTo>
                <a:lnTo>
                  <a:pt x="6085577" y="346709"/>
                </a:lnTo>
                <a:lnTo>
                  <a:pt x="6085577" y="366521"/>
                </a:lnTo>
                <a:lnTo>
                  <a:pt x="6026141" y="366521"/>
                </a:lnTo>
                <a:close/>
                <a:moveTo>
                  <a:pt x="5946893" y="346709"/>
                </a:moveTo>
                <a:lnTo>
                  <a:pt x="6006329" y="346709"/>
                </a:lnTo>
                <a:lnTo>
                  <a:pt x="6006329" y="366521"/>
                </a:lnTo>
                <a:lnTo>
                  <a:pt x="5946893" y="366521"/>
                </a:lnTo>
                <a:close/>
                <a:moveTo>
                  <a:pt x="6501629" y="346709"/>
                </a:moveTo>
                <a:lnTo>
                  <a:pt x="6561065" y="346709"/>
                </a:lnTo>
                <a:lnTo>
                  <a:pt x="6561065" y="366520"/>
                </a:lnTo>
                <a:lnTo>
                  <a:pt x="6501629" y="366520"/>
                </a:lnTo>
                <a:close/>
                <a:moveTo>
                  <a:pt x="6422381" y="346709"/>
                </a:moveTo>
                <a:lnTo>
                  <a:pt x="6481817" y="346709"/>
                </a:lnTo>
                <a:lnTo>
                  <a:pt x="6481817" y="366520"/>
                </a:lnTo>
                <a:lnTo>
                  <a:pt x="6422381" y="366520"/>
                </a:lnTo>
                <a:close/>
                <a:moveTo>
                  <a:pt x="6343133" y="346709"/>
                </a:moveTo>
                <a:lnTo>
                  <a:pt x="6402569" y="346709"/>
                </a:lnTo>
                <a:lnTo>
                  <a:pt x="6402569" y="366521"/>
                </a:lnTo>
                <a:lnTo>
                  <a:pt x="6343133" y="366521"/>
                </a:lnTo>
                <a:close/>
                <a:moveTo>
                  <a:pt x="6263885" y="346709"/>
                </a:moveTo>
                <a:lnTo>
                  <a:pt x="6323321" y="346709"/>
                </a:lnTo>
                <a:lnTo>
                  <a:pt x="6323321" y="366521"/>
                </a:lnTo>
                <a:lnTo>
                  <a:pt x="6263885" y="366521"/>
                </a:lnTo>
                <a:close/>
                <a:moveTo>
                  <a:pt x="6818621" y="346708"/>
                </a:moveTo>
                <a:lnTo>
                  <a:pt x="6878057" y="346708"/>
                </a:lnTo>
                <a:lnTo>
                  <a:pt x="6878057" y="366520"/>
                </a:lnTo>
                <a:lnTo>
                  <a:pt x="6818621" y="366520"/>
                </a:lnTo>
                <a:close/>
                <a:moveTo>
                  <a:pt x="6739373" y="346708"/>
                </a:moveTo>
                <a:lnTo>
                  <a:pt x="6798809" y="346708"/>
                </a:lnTo>
                <a:lnTo>
                  <a:pt x="6798809" y="366520"/>
                </a:lnTo>
                <a:lnTo>
                  <a:pt x="6739373" y="366520"/>
                </a:lnTo>
                <a:close/>
                <a:moveTo>
                  <a:pt x="6660125" y="346708"/>
                </a:moveTo>
                <a:lnTo>
                  <a:pt x="6719561" y="346708"/>
                </a:lnTo>
                <a:lnTo>
                  <a:pt x="6719561" y="366520"/>
                </a:lnTo>
                <a:lnTo>
                  <a:pt x="6660125" y="366520"/>
                </a:lnTo>
                <a:close/>
                <a:moveTo>
                  <a:pt x="6580877" y="346708"/>
                </a:moveTo>
                <a:lnTo>
                  <a:pt x="6640313" y="346708"/>
                </a:lnTo>
                <a:lnTo>
                  <a:pt x="6640313" y="366520"/>
                </a:lnTo>
                <a:lnTo>
                  <a:pt x="6580877" y="366520"/>
                </a:lnTo>
                <a:close/>
                <a:moveTo>
                  <a:pt x="7135613" y="346708"/>
                </a:moveTo>
                <a:lnTo>
                  <a:pt x="7195049" y="346708"/>
                </a:lnTo>
                <a:lnTo>
                  <a:pt x="7195049" y="366520"/>
                </a:lnTo>
                <a:lnTo>
                  <a:pt x="7135613" y="366520"/>
                </a:lnTo>
                <a:close/>
                <a:moveTo>
                  <a:pt x="7056365" y="346708"/>
                </a:moveTo>
                <a:lnTo>
                  <a:pt x="7115801" y="346708"/>
                </a:lnTo>
                <a:lnTo>
                  <a:pt x="7115801" y="366520"/>
                </a:lnTo>
                <a:lnTo>
                  <a:pt x="7056365" y="366520"/>
                </a:lnTo>
                <a:close/>
                <a:moveTo>
                  <a:pt x="6977117" y="346708"/>
                </a:moveTo>
                <a:lnTo>
                  <a:pt x="7036553" y="346708"/>
                </a:lnTo>
                <a:lnTo>
                  <a:pt x="7036553" y="366520"/>
                </a:lnTo>
                <a:lnTo>
                  <a:pt x="6977117" y="366520"/>
                </a:lnTo>
                <a:close/>
                <a:moveTo>
                  <a:pt x="6897869" y="346708"/>
                </a:moveTo>
                <a:lnTo>
                  <a:pt x="6957305" y="346708"/>
                </a:lnTo>
                <a:lnTo>
                  <a:pt x="6957305" y="366520"/>
                </a:lnTo>
                <a:lnTo>
                  <a:pt x="6897869" y="366520"/>
                </a:lnTo>
                <a:close/>
                <a:moveTo>
                  <a:pt x="7214861" y="346708"/>
                </a:moveTo>
                <a:lnTo>
                  <a:pt x="7274297" y="346708"/>
                </a:lnTo>
                <a:lnTo>
                  <a:pt x="7274297" y="366520"/>
                </a:lnTo>
                <a:lnTo>
                  <a:pt x="7214861" y="366520"/>
                </a:lnTo>
                <a:close/>
                <a:moveTo>
                  <a:pt x="7294109" y="346707"/>
                </a:moveTo>
                <a:lnTo>
                  <a:pt x="7318112" y="346707"/>
                </a:lnTo>
                <a:lnTo>
                  <a:pt x="7318112" y="356613"/>
                </a:lnTo>
                <a:lnTo>
                  <a:pt x="7318112" y="366519"/>
                </a:lnTo>
                <a:lnTo>
                  <a:pt x="7318112" y="401952"/>
                </a:lnTo>
                <a:lnTo>
                  <a:pt x="7298300" y="401952"/>
                </a:lnTo>
                <a:lnTo>
                  <a:pt x="7298300" y="366519"/>
                </a:lnTo>
                <a:lnTo>
                  <a:pt x="7294109" y="366519"/>
                </a:lnTo>
                <a:close/>
                <a:moveTo>
                  <a:pt x="4045068" y="318516"/>
                </a:moveTo>
                <a:lnTo>
                  <a:pt x="4045068" y="346710"/>
                </a:lnTo>
                <a:lnTo>
                  <a:pt x="4104377" y="346710"/>
                </a:lnTo>
                <a:lnTo>
                  <a:pt x="4104377" y="366522"/>
                </a:lnTo>
                <a:lnTo>
                  <a:pt x="4045068" y="366522"/>
                </a:lnTo>
                <a:lnTo>
                  <a:pt x="4045068" y="394716"/>
                </a:lnTo>
                <a:lnTo>
                  <a:pt x="3968868" y="356616"/>
                </a:lnTo>
                <a:close/>
                <a:moveTo>
                  <a:pt x="2814062" y="0"/>
                </a:moveTo>
                <a:lnTo>
                  <a:pt x="2833875" y="0"/>
                </a:lnTo>
                <a:lnTo>
                  <a:pt x="2833875" y="33528"/>
                </a:lnTo>
                <a:lnTo>
                  <a:pt x="2834254" y="33528"/>
                </a:lnTo>
                <a:lnTo>
                  <a:pt x="2833875" y="789305"/>
                </a:lnTo>
                <a:lnTo>
                  <a:pt x="2862068" y="789305"/>
                </a:lnTo>
                <a:lnTo>
                  <a:pt x="2855717" y="802005"/>
                </a:lnTo>
                <a:lnTo>
                  <a:pt x="2823968" y="865506"/>
                </a:lnTo>
                <a:lnTo>
                  <a:pt x="2785867" y="789305"/>
                </a:lnTo>
                <a:lnTo>
                  <a:pt x="2814062" y="789305"/>
                </a:lnTo>
                <a:lnTo>
                  <a:pt x="2814417" y="61468"/>
                </a:lnTo>
                <a:lnTo>
                  <a:pt x="48006" y="61468"/>
                </a:lnTo>
                <a:lnTo>
                  <a:pt x="48006" y="788924"/>
                </a:lnTo>
                <a:lnTo>
                  <a:pt x="76200" y="788924"/>
                </a:lnTo>
                <a:lnTo>
                  <a:pt x="69850" y="801624"/>
                </a:lnTo>
                <a:lnTo>
                  <a:pt x="38100" y="865125"/>
                </a:lnTo>
                <a:lnTo>
                  <a:pt x="0" y="788924"/>
                </a:lnTo>
                <a:lnTo>
                  <a:pt x="28194" y="788924"/>
                </a:lnTo>
                <a:lnTo>
                  <a:pt x="28194" y="41656"/>
                </a:lnTo>
                <a:lnTo>
                  <a:pt x="2814062" y="41656"/>
                </a:lnTo>
                <a:close/>
              </a:path>
            </a:pathLst>
          </a:custGeom>
          <a:solidFill>
            <a:srgbClr val="F36633"/>
          </a:solidFill>
          <a:ln w="0">
            <a:no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544F40"/>
              </a:solidFill>
              <a:effectLst/>
              <a:uLnTx/>
              <a:uFillTx/>
              <a:latin typeface="Arial"/>
              <a:ea typeface="+mn-ea"/>
              <a:cs typeface="Noto Sans"/>
            </a:endParaRPr>
          </a:p>
        </p:txBody>
      </p:sp>
      <p:grpSp>
        <p:nvGrpSpPr>
          <p:cNvPr id="147" name="object 21">
            <a:extLst>
              <a:ext uri="{FF2B5EF4-FFF2-40B4-BE49-F238E27FC236}">
                <a16:creationId xmlns:a16="http://schemas.microsoft.com/office/drawing/2014/main" id="{4C6FD185-2CC0-F12D-1189-C908F95644D3}"/>
              </a:ext>
            </a:extLst>
          </p:cNvPr>
          <p:cNvGrpSpPr/>
          <p:nvPr/>
        </p:nvGrpSpPr>
        <p:grpSpPr>
          <a:xfrm>
            <a:off x="5138865" y="2999487"/>
            <a:ext cx="1351915" cy="245110"/>
            <a:chOff x="3874008" y="3522073"/>
            <a:chExt cx="1351915" cy="245110"/>
          </a:xfrm>
        </p:grpSpPr>
        <p:pic>
          <p:nvPicPr>
            <p:cNvPr id="166" name="object 22">
              <a:extLst>
                <a:ext uri="{FF2B5EF4-FFF2-40B4-BE49-F238E27FC236}">
                  <a16:creationId xmlns:a16="http://schemas.microsoft.com/office/drawing/2014/main" id="{5DED4A17-6425-AAC3-69DB-2B85768DD77F}"/>
                </a:ext>
              </a:extLst>
            </p:cNvPr>
            <p:cNvPicPr/>
            <p:nvPr/>
          </p:nvPicPr>
          <p:blipFill>
            <a:blip r:embed="rId6" cstate="print"/>
            <a:stretch>
              <a:fillRect/>
            </a:stretch>
          </p:blipFill>
          <p:spPr>
            <a:xfrm>
              <a:off x="3874008" y="3531107"/>
              <a:ext cx="222503" cy="228600"/>
            </a:xfrm>
            <a:prstGeom prst="rect">
              <a:avLst/>
            </a:prstGeom>
          </p:spPr>
        </p:pic>
        <p:pic>
          <p:nvPicPr>
            <p:cNvPr id="167" name="object 23">
              <a:extLst>
                <a:ext uri="{FF2B5EF4-FFF2-40B4-BE49-F238E27FC236}">
                  <a16:creationId xmlns:a16="http://schemas.microsoft.com/office/drawing/2014/main" id="{0AB4F7AE-97CC-85C9-2290-389AA44C4DEC}"/>
                </a:ext>
              </a:extLst>
            </p:cNvPr>
            <p:cNvPicPr/>
            <p:nvPr/>
          </p:nvPicPr>
          <p:blipFill>
            <a:blip r:embed="rId7" cstate="print"/>
            <a:stretch>
              <a:fillRect/>
            </a:stretch>
          </p:blipFill>
          <p:spPr>
            <a:xfrm>
              <a:off x="4742688" y="3535679"/>
              <a:ext cx="224027" cy="217932"/>
            </a:xfrm>
            <a:prstGeom prst="rect">
              <a:avLst/>
            </a:prstGeom>
          </p:spPr>
        </p:pic>
        <p:pic>
          <p:nvPicPr>
            <p:cNvPr id="168" name="object 24">
              <a:extLst>
                <a:ext uri="{FF2B5EF4-FFF2-40B4-BE49-F238E27FC236}">
                  <a16:creationId xmlns:a16="http://schemas.microsoft.com/office/drawing/2014/main" id="{14BADEA0-567F-6365-BC9B-AF2638CBD1F9}"/>
                </a:ext>
              </a:extLst>
            </p:cNvPr>
            <p:cNvPicPr/>
            <p:nvPr/>
          </p:nvPicPr>
          <p:blipFill>
            <a:blip r:embed="rId8" cstate="print"/>
            <a:stretch>
              <a:fillRect/>
            </a:stretch>
          </p:blipFill>
          <p:spPr>
            <a:xfrm>
              <a:off x="4468173" y="3522073"/>
              <a:ext cx="253248" cy="245109"/>
            </a:xfrm>
            <a:prstGeom prst="rect">
              <a:avLst/>
            </a:prstGeom>
          </p:spPr>
        </p:pic>
        <p:pic>
          <p:nvPicPr>
            <p:cNvPr id="169" name="object 25">
              <a:extLst>
                <a:ext uri="{FF2B5EF4-FFF2-40B4-BE49-F238E27FC236}">
                  <a16:creationId xmlns:a16="http://schemas.microsoft.com/office/drawing/2014/main" id="{00D6DE02-9C65-FD42-FC27-F7632CCC23DB}"/>
                </a:ext>
              </a:extLst>
            </p:cNvPr>
            <p:cNvPicPr/>
            <p:nvPr/>
          </p:nvPicPr>
          <p:blipFill>
            <a:blip r:embed="rId9" cstate="print"/>
            <a:stretch>
              <a:fillRect/>
            </a:stretch>
          </p:blipFill>
          <p:spPr>
            <a:xfrm>
              <a:off x="4119372" y="3541775"/>
              <a:ext cx="326136" cy="205740"/>
            </a:xfrm>
            <a:prstGeom prst="rect">
              <a:avLst/>
            </a:prstGeom>
          </p:spPr>
        </p:pic>
        <p:pic>
          <p:nvPicPr>
            <p:cNvPr id="170" name="object 26">
              <a:extLst>
                <a:ext uri="{FF2B5EF4-FFF2-40B4-BE49-F238E27FC236}">
                  <a16:creationId xmlns:a16="http://schemas.microsoft.com/office/drawing/2014/main" id="{0486AD90-E23B-C5D2-E236-ABD48CD3BBE0}"/>
                </a:ext>
              </a:extLst>
            </p:cNvPr>
            <p:cNvPicPr/>
            <p:nvPr/>
          </p:nvPicPr>
          <p:blipFill>
            <a:blip r:embed="rId10" cstate="print"/>
            <a:stretch>
              <a:fillRect/>
            </a:stretch>
          </p:blipFill>
          <p:spPr>
            <a:xfrm>
              <a:off x="4988052" y="3525011"/>
              <a:ext cx="237744" cy="240792"/>
            </a:xfrm>
            <a:prstGeom prst="rect">
              <a:avLst/>
            </a:prstGeom>
          </p:spPr>
        </p:pic>
      </p:grpSp>
      <p:sp>
        <p:nvSpPr>
          <p:cNvPr id="148" name="object 27">
            <a:extLst>
              <a:ext uri="{FF2B5EF4-FFF2-40B4-BE49-F238E27FC236}">
                <a16:creationId xmlns:a16="http://schemas.microsoft.com/office/drawing/2014/main" id="{94CB871D-CC68-9EBC-D7D7-F8CE458A3C5F}"/>
              </a:ext>
            </a:extLst>
          </p:cNvPr>
          <p:cNvSpPr txBox="1"/>
          <p:nvPr/>
        </p:nvSpPr>
        <p:spPr>
          <a:xfrm>
            <a:off x="1980375" y="3660031"/>
            <a:ext cx="1016635" cy="494030"/>
          </a:xfrm>
          <a:prstGeom prst="rect">
            <a:avLst/>
          </a:prstGeom>
          <a:ln w="19812">
            <a:solidFill>
              <a:srgbClr val="F36633"/>
            </a:solidFill>
          </a:ln>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sz="1000" b="0" i="0" u="none" strike="noStrike" kern="0" cap="none" spc="0" normalizeH="0" baseline="0" noProof="0" dirty="0">
              <a:ln>
                <a:noFill/>
              </a:ln>
              <a:solidFill>
                <a:srgbClr val="000000"/>
              </a:solidFill>
              <a:effectLst/>
              <a:uLnTx/>
              <a:uFillTx/>
              <a:latin typeface="Times New Roman"/>
              <a:ea typeface="+mn-ea"/>
              <a:cs typeface="Times New Roman"/>
            </a:endParaRPr>
          </a:p>
          <a:p>
            <a:pPr marL="14859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Goblet</a:t>
            </a:r>
            <a:r>
              <a:rPr kumimoji="0" sz="1000" b="1" i="0" u="none" strike="noStrike" kern="0" cap="none" spc="-3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cells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grpSp>
        <p:nvGrpSpPr>
          <p:cNvPr id="149" name="object 28">
            <a:extLst>
              <a:ext uri="{FF2B5EF4-FFF2-40B4-BE49-F238E27FC236}">
                <a16:creationId xmlns:a16="http://schemas.microsoft.com/office/drawing/2014/main" id="{37839E6C-D7E9-B87B-5CA5-A50154CD8A62}"/>
              </a:ext>
            </a:extLst>
          </p:cNvPr>
          <p:cNvGrpSpPr/>
          <p:nvPr/>
        </p:nvGrpSpPr>
        <p:grpSpPr>
          <a:xfrm>
            <a:off x="2354517" y="3448196"/>
            <a:ext cx="4089400" cy="543560"/>
            <a:chOff x="1089660" y="3970782"/>
            <a:chExt cx="4089400" cy="543560"/>
          </a:xfrm>
        </p:grpSpPr>
        <p:pic>
          <p:nvPicPr>
            <p:cNvPr id="164" name="object 29">
              <a:extLst>
                <a:ext uri="{FF2B5EF4-FFF2-40B4-BE49-F238E27FC236}">
                  <a16:creationId xmlns:a16="http://schemas.microsoft.com/office/drawing/2014/main" id="{D094BCF7-201A-A998-EF58-89BF680AFE4B}"/>
                </a:ext>
              </a:extLst>
            </p:cNvPr>
            <p:cNvPicPr/>
            <p:nvPr/>
          </p:nvPicPr>
          <p:blipFill>
            <a:blip r:embed="rId11" cstate="print"/>
            <a:stretch>
              <a:fillRect/>
            </a:stretch>
          </p:blipFill>
          <p:spPr>
            <a:xfrm>
              <a:off x="1089660" y="4212336"/>
              <a:ext cx="266700" cy="301751"/>
            </a:xfrm>
            <a:prstGeom prst="rect">
              <a:avLst/>
            </a:prstGeom>
          </p:spPr>
        </p:pic>
        <p:sp>
          <p:nvSpPr>
            <p:cNvPr id="165" name="object 30">
              <a:extLst>
                <a:ext uri="{FF2B5EF4-FFF2-40B4-BE49-F238E27FC236}">
                  <a16:creationId xmlns:a16="http://schemas.microsoft.com/office/drawing/2014/main" id="{DB4B4CE9-975D-96E2-CE58-929C0402788C}"/>
                </a:ext>
              </a:extLst>
            </p:cNvPr>
            <p:cNvSpPr/>
            <p:nvPr/>
          </p:nvSpPr>
          <p:spPr>
            <a:xfrm>
              <a:off x="1186434" y="3970781"/>
              <a:ext cx="3992245" cy="212090"/>
            </a:xfrm>
            <a:custGeom>
              <a:avLst/>
              <a:gdLst/>
              <a:ahLst/>
              <a:cxnLst/>
              <a:rect l="l" t="t" r="r" b="b"/>
              <a:pathLst>
                <a:path w="3992245" h="212089">
                  <a:moveTo>
                    <a:pt x="1155319" y="135636"/>
                  </a:moveTo>
                  <a:lnTo>
                    <a:pt x="1127125" y="135636"/>
                  </a:lnTo>
                  <a:lnTo>
                    <a:pt x="1127125" y="115824"/>
                  </a:lnTo>
                  <a:lnTo>
                    <a:pt x="1127125" y="96012"/>
                  </a:lnTo>
                  <a:lnTo>
                    <a:pt x="588772" y="96012"/>
                  </a:lnTo>
                  <a:lnTo>
                    <a:pt x="588772" y="0"/>
                  </a:lnTo>
                  <a:lnTo>
                    <a:pt x="587502" y="0"/>
                  </a:lnTo>
                  <a:lnTo>
                    <a:pt x="568960" y="0"/>
                  </a:lnTo>
                  <a:lnTo>
                    <a:pt x="567690" y="0"/>
                  </a:lnTo>
                  <a:lnTo>
                    <a:pt x="567690" y="96012"/>
                  </a:lnTo>
                  <a:lnTo>
                    <a:pt x="28194" y="96012"/>
                  </a:lnTo>
                  <a:lnTo>
                    <a:pt x="28194" y="135636"/>
                  </a:lnTo>
                  <a:lnTo>
                    <a:pt x="0" y="135636"/>
                  </a:lnTo>
                  <a:lnTo>
                    <a:pt x="38100" y="211836"/>
                  </a:lnTo>
                  <a:lnTo>
                    <a:pt x="69850" y="148336"/>
                  </a:lnTo>
                  <a:lnTo>
                    <a:pt x="76200" y="135636"/>
                  </a:lnTo>
                  <a:lnTo>
                    <a:pt x="48006" y="135636"/>
                  </a:lnTo>
                  <a:lnTo>
                    <a:pt x="48006" y="115824"/>
                  </a:lnTo>
                  <a:lnTo>
                    <a:pt x="567690" y="115824"/>
                  </a:lnTo>
                  <a:lnTo>
                    <a:pt x="588772" y="115824"/>
                  </a:lnTo>
                  <a:lnTo>
                    <a:pt x="1107313" y="115824"/>
                  </a:lnTo>
                  <a:lnTo>
                    <a:pt x="1107313" y="135636"/>
                  </a:lnTo>
                  <a:lnTo>
                    <a:pt x="1079119" y="135636"/>
                  </a:lnTo>
                  <a:lnTo>
                    <a:pt x="1117219" y="211836"/>
                  </a:lnTo>
                  <a:lnTo>
                    <a:pt x="1148969" y="148336"/>
                  </a:lnTo>
                  <a:lnTo>
                    <a:pt x="1155319" y="135636"/>
                  </a:lnTo>
                  <a:close/>
                </a:path>
                <a:path w="3992245" h="212089">
                  <a:moveTo>
                    <a:pt x="3992118" y="135636"/>
                  </a:moveTo>
                  <a:lnTo>
                    <a:pt x="3963924" y="135636"/>
                  </a:lnTo>
                  <a:lnTo>
                    <a:pt x="3963924" y="115824"/>
                  </a:lnTo>
                  <a:lnTo>
                    <a:pt x="3963924" y="96012"/>
                  </a:lnTo>
                  <a:lnTo>
                    <a:pt x="3374136" y="96012"/>
                  </a:lnTo>
                  <a:lnTo>
                    <a:pt x="3374136" y="0"/>
                  </a:lnTo>
                  <a:lnTo>
                    <a:pt x="3373374" y="0"/>
                  </a:lnTo>
                  <a:lnTo>
                    <a:pt x="3354324" y="0"/>
                  </a:lnTo>
                  <a:lnTo>
                    <a:pt x="3353562" y="0"/>
                  </a:lnTo>
                  <a:lnTo>
                    <a:pt x="3353562" y="96012"/>
                  </a:lnTo>
                  <a:lnTo>
                    <a:pt x="2763774" y="96012"/>
                  </a:lnTo>
                  <a:lnTo>
                    <a:pt x="2763774" y="135636"/>
                  </a:lnTo>
                  <a:lnTo>
                    <a:pt x="2735580" y="135636"/>
                  </a:lnTo>
                  <a:lnTo>
                    <a:pt x="2773680" y="211836"/>
                  </a:lnTo>
                  <a:lnTo>
                    <a:pt x="2805430" y="148336"/>
                  </a:lnTo>
                  <a:lnTo>
                    <a:pt x="2811780" y="135636"/>
                  </a:lnTo>
                  <a:lnTo>
                    <a:pt x="2783586" y="135636"/>
                  </a:lnTo>
                  <a:lnTo>
                    <a:pt x="2783586" y="115824"/>
                  </a:lnTo>
                  <a:lnTo>
                    <a:pt x="3353562" y="115824"/>
                  </a:lnTo>
                  <a:lnTo>
                    <a:pt x="3374136" y="115824"/>
                  </a:lnTo>
                  <a:lnTo>
                    <a:pt x="3944112" y="115824"/>
                  </a:lnTo>
                  <a:lnTo>
                    <a:pt x="3944112" y="135636"/>
                  </a:lnTo>
                  <a:lnTo>
                    <a:pt x="3915918" y="135636"/>
                  </a:lnTo>
                  <a:lnTo>
                    <a:pt x="3954018" y="211836"/>
                  </a:lnTo>
                  <a:lnTo>
                    <a:pt x="3985768" y="148336"/>
                  </a:lnTo>
                  <a:lnTo>
                    <a:pt x="3992118" y="135636"/>
                  </a:lnTo>
                  <a:close/>
                </a:path>
              </a:pathLst>
            </a:custGeom>
            <a:solidFill>
              <a:srgbClr val="F36633"/>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544F40"/>
                </a:solidFill>
                <a:effectLst/>
                <a:uLnTx/>
                <a:uFillTx/>
                <a:latin typeface="Arial"/>
                <a:ea typeface="+mn-ea"/>
                <a:cs typeface="Noto Sans"/>
              </a:endParaRPr>
            </a:p>
          </p:txBody>
        </p:sp>
      </p:grpSp>
      <p:grpSp>
        <p:nvGrpSpPr>
          <p:cNvPr id="150" name="object 31">
            <a:extLst>
              <a:ext uri="{FF2B5EF4-FFF2-40B4-BE49-F238E27FC236}">
                <a16:creationId xmlns:a16="http://schemas.microsoft.com/office/drawing/2014/main" id="{E36132B2-5D94-4F69-3C9B-D419063E3D0B}"/>
              </a:ext>
            </a:extLst>
          </p:cNvPr>
          <p:cNvGrpSpPr/>
          <p:nvPr/>
        </p:nvGrpSpPr>
        <p:grpSpPr>
          <a:xfrm>
            <a:off x="2479484" y="4144664"/>
            <a:ext cx="4363085" cy="605790"/>
            <a:chOff x="1214627" y="4667250"/>
            <a:chExt cx="4363085" cy="605790"/>
          </a:xfrm>
        </p:grpSpPr>
        <p:sp>
          <p:nvSpPr>
            <p:cNvPr id="161" name="object 32">
              <a:extLst>
                <a:ext uri="{FF2B5EF4-FFF2-40B4-BE49-F238E27FC236}">
                  <a16:creationId xmlns:a16="http://schemas.microsoft.com/office/drawing/2014/main" id="{9421808C-5FE2-CA39-75C7-83F1676B9F92}"/>
                </a:ext>
              </a:extLst>
            </p:cNvPr>
            <p:cNvSpPr/>
            <p:nvPr/>
          </p:nvSpPr>
          <p:spPr>
            <a:xfrm>
              <a:off x="3310890" y="4676393"/>
              <a:ext cx="2266950" cy="313055"/>
            </a:xfrm>
            <a:custGeom>
              <a:avLst/>
              <a:gdLst/>
              <a:ahLst/>
              <a:cxnLst/>
              <a:rect l="l" t="t" r="r" b="b"/>
              <a:pathLst>
                <a:path w="2266950" h="313054">
                  <a:moveTo>
                    <a:pt x="2266569" y="236601"/>
                  </a:moveTo>
                  <a:lnTo>
                    <a:pt x="2238375" y="236601"/>
                  </a:lnTo>
                  <a:lnTo>
                    <a:pt x="2238375" y="166370"/>
                  </a:lnTo>
                  <a:lnTo>
                    <a:pt x="2238375" y="146558"/>
                  </a:lnTo>
                  <a:lnTo>
                    <a:pt x="1840357" y="146558"/>
                  </a:lnTo>
                  <a:lnTo>
                    <a:pt x="1840357" y="0"/>
                  </a:lnTo>
                  <a:lnTo>
                    <a:pt x="1820545" y="0"/>
                  </a:lnTo>
                  <a:lnTo>
                    <a:pt x="1820545" y="146558"/>
                  </a:lnTo>
                  <a:lnTo>
                    <a:pt x="659130" y="146558"/>
                  </a:lnTo>
                  <a:lnTo>
                    <a:pt x="659130" y="0"/>
                  </a:lnTo>
                  <a:lnTo>
                    <a:pt x="639318" y="0"/>
                  </a:lnTo>
                  <a:lnTo>
                    <a:pt x="639318" y="146558"/>
                  </a:lnTo>
                  <a:lnTo>
                    <a:pt x="28194" y="146558"/>
                  </a:lnTo>
                  <a:lnTo>
                    <a:pt x="28194" y="236601"/>
                  </a:lnTo>
                  <a:lnTo>
                    <a:pt x="0" y="236601"/>
                  </a:lnTo>
                  <a:lnTo>
                    <a:pt x="38100" y="312801"/>
                  </a:lnTo>
                  <a:lnTo>
                    <a:pt x="69850" y="249301"/>
                  </a:lnTo>
                  <a:lnTo>
                    <a:pt x="76200" y="236601"/>
                  </a:lnTo>
                  <a:lnTo>
                    <a:pt x="48006" y="236601"/>
                  </a:lnTo>
                  <a:lnTo>
                    <a:pt x="48006" y="166370"/>
                  </a:lnTo>
                  <a:lnTo>
                    <a:pt x="639318" y="166370"/>
                  </a:lnTo>
                  <a:lnTo>
                    <a:pt x="1840357" y="166370"/>
                  </a:lnTo>
                  <a:lnTo>
                    <a:pt x="2218563" y="166370"/>
                  </a:lnTo>
                  <a:lnTo>
                    <a:pt x="2218563" y="236601"/>
                  </a:lnTo>
                  <a:lnTo>
                    <a:pt x="2190369" y="236601"/>
                  </a:lnTo>
                  <a:lnTo>
                    <a:pt x="2228469" y="312801"/>
                  </a:lnTo>
                  <a:lnTo>
                    <a:pt x="2260219" y="249301"/>
                  </a:lnTo>
                  <a:lnTo>
                    <a:pt x="2266569" y="236601"/>
                  </a:lnTo>
                  <a:close/>
                </a:path>
              </a:pathLst>
            </a:custGeom>
            <a:solidFill>
              <a:srgbClr val="534F40"/>
            </a:solidFill>
            <a:ln>
              <a:noFill/>
            </a:ln>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544F40"/>
                </a:solidFill>
                <a:effectLst/>
                <a:uLnTx/>
                <a:uFillTx/>
                <a:latin typeface="Arial"/>
                <a:ea typeface="+mn-ea"/>
                <a:cs typeface="Noto Sans"/>
              </a:endParaRPr>
            </a:p>
          </p:txBody>
        </p:sp>
        <p:pic>
          <p:nvPicPr>
            <p:cNvPr id="162" name="object 33">
              <a:extLst>
                <a:ext uri="{FF2B5EF4-FFF2-40B4-BE49-F238E27FC236}">
                  <a16:creationId xmlns:a16="http://schemas.microsoft.com/office/drawing/2014/main" id="{5094B0A6-2430-D1DF-DD07-533D1741A61F}"/>
                </a:ext>
              </a:extLst>
            </p:cNvPr>
            <p:cNvPicPr/>
            <p:nvPr/>
          </p:nvPicPr>
          <p:blipFill>
            <a:blip r:embed="rId12" cstate="print"/>
            <a:stretch>
              <a:fillRect/>
            </a:stretch>
          </p:blipFill>
          <p:spPr>
            <a:xfrm>
              <a:off x="4408170" y="4840986"/>
              <a:ext cx="76200" cy="147955"/>
            </a:xfrm>
            <a:prstGeom prst="rect">
              <a:avLst/>
            </a:prstGeom>
          </p:spPr>
        </p:pic>
        <p:sp>
          <p:nvSpPr>
            <p:cNvPr id="163" name="object 34">
              <a:extLst>
                <a:ext uri="{FF2B5EF4-FFF2-40B4-BE49-F238E27FC236}">
                  <a16:creationId xmlns:a16="http://schemas.microsoft.com/office/drawing/2014/main" id="{A4079E7A-E54F-7A8D-BEF7-BDD4B01F7EA2}"/>
                </a:ext>
              </a:extLst>
            </p:cNvPr>
            <p:cNvSpPr/>
            <p:nvPr/>
          </p:nvSpPr>
          <p:spPr>
            <a:xfrm>
              <a:off x="1214628" y="4667249"/>
              <a:ext cx="3460750" cy="605790"/>
            </a:xfrm>
            <a:custGeom>
              <a:avLst/>
              <a:gdLst/>
              <a:ahLst/>
              <a:cxnLst/>
              <a:rect l="l" t="t" r="r" b="b"/>
              <a:pathLst>
                <a:path w="3460750" h="605789">
                  <a:moveTo>
                    <a:pt x="1626997" y="567563"/>
                  </a:moveTo>
                  <a:lnTo>
                    <a:pt x="1607185" y="557657"/>
                  </a:lnTo>
                  <a:lnTo>
                    <a:pt x="1550797" y="529463"/>
                  </a:lnTo>
                  <a:lnTo>
                    <a:pt x="1550797" y="557657"/>
                  </a:lnTo>
                  <a:lnTo>
                    <a:pt x="19812" y="557657"/>
                  </a:lnTo>
                  <a:lnTo>
                    <a:pt x="19812" y="0"/>
                  </a:lnTo>
                  <a:lnTo>
                    <a:pt x="0" y="0"/>
                  </a:lnTo>
                  <a:lnTo>
                    <a:pt x="0" y="577469"/>
                  </a:lnTo>
                  <a:lnTo>
                    <a:pt x="1550797" y="577469"/>
                  </a:lnTo>
                  <a:lnTo>
                    <a:pt x="1550797" y="605663"/>
                  </a:lnTo>
                  <a:lnTo>
                    <a:pt x="1607185" y="577469"/>
                  </a:lnTo>
                  <a:lnTo>
                    <a:pt x="1626997" y="567563"/>
                  </a:lnTo>
                  <a:close/>
                </a:path>
                <a:path w="3460750" h="605789">
                  <a:moveTo>
                    <a:pt x="3460369" y="245618"/>
                  </a:moveTo>
                  <a:lnTo>
                    <a:pt x="3432175" y="245618"/>
                  </a:lnTo>
                  <a:lnTo>
                    <a:pt x="3432175" y="102235"/>
                  </a:lnTo>
                  <a:lnTo>
                    <a:pt x="3432175" y="82423"/>
                  </a:lnTo>
                  <a:lnTo>
                    <a:pt x="1100328" y="82423"/>
                  </a:lnTo>
                  <a:lnTo>
                    <a:pt x="1100328" y="0"/>
                  </a:lnTo>
                  <a:lnTo>
                    <a:pt x="1080516" y="0"/>
                  </a:lnTo>
                  <a:lnTo>
                    <a:pt x="1080516" y="102235"/>
                  </a:lnTo>
                  <a:lnTo>
                    <a:pt x="3412363" y="102235"/>
                  </a:lnTo>
                  <a:lnTo>
                    <a:pt x="3412363" y="245618"/>
                  </a:lnTo>
                  <a:lnTo>
                    <a:pt x="3384169" y="245618"/>
                  </a:lnTo>
                  <a:lnTo>
                    <a:pt x="3422269" y="321818"/>
                  </a:lnTo>
                  <a:lnTo>
                    <a:pt x="3454019" y="258318"/>
                  </a:lnTo>
                  <a:lnTo>
                    <a:pt x="3460369" y="245618"/>
                  </a:lnTo>
                  <a:close/>
                </a:path>
              </a:pathLst>
            </a:custGeom>
            <a:solidFill>
              <a:srgbClr val="F36633"/>
            </a:solid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544F40"/>
                </a:solidFill>
                <a:effectLst/>
                <a:uLnTx/>
                <a:uFillTx/>
                <a:latin typeface="Arial"/>
                <a:ea typeface="+mn-ea"/>
                <a:cs typeface="Noto Sans"/>
              </a:endParaRPr>
            </a:p>
          </p:txBody>
        </p:sp>
      </p:grpSp>
      <p:sp>
        <p:nvSpPr>
          <p:cNvPr id="151" name="object 36">
            <a:extLst>
              <a:ext uri="{FF2B5EF4-FFF2-40B4-BE49-F238E27FC236}">
                <a16:creationId xmlns:a16="http://schemas.microsoft.com/office/drawing/2014/main" id="{792FD2EC-CDFD-17E8-C3C4-2B53F6C5B0C6}"/>
              </a:ext>
            </a:extLst>
          </p:cNvPr>
          <p:cNvSpPr txBox="1"/>
          <p:nvPr/>
        </p:nvSpPr>
        <p:spPr>
          <a:xfrm>
            <a:off x="4106355" y="4466228"/>
            <a:ext cx="1015365" cy="492759"/>
          </a:xfrm>
          <a:prstGeom prst="rect">
            <a:avLst/>
          </a:prstGeom>
          <a:ln w="19811">
            <a:solidFill>
              <a:srgbClr val="544F40"/>
            </a:solidFill>
          </a:ln>
        </p:spPr>
        <p:txBody>
          <a:bodyPr vert="horz" wrap="square" lIns="0" tIns="13970" rIns="0" bIns="0" rtlCol="0">
            <a:noAutofit/>
          </a:bodyPr>
          <a:lstStyle/>
          <a:p>
            <a:pPr marL="174625" marR="170815" lvl="0" indent="635" algn="ctr" defTabSz="914400" rtl="0" eaLnBrk="1" fontAlgn="auto" latinLnBrk="0" hangingPunct="1">
              <a:lnSpc>
                <a:spcPct val="100000"/>
              </a:lnSpc>
              <a:spcBef>
                <a:spcPts val="11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Increased</a:t>
            </a:r>
            <a:r>
              <a:rPr kumimoji="0" lang="en-US" sz="1000" b="1" i="0" u="none" strike="noStrike" kern="0" cap="none" spc="-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mucus</a:t>
            </a:r>
            <a:r>
              <a:rPr kumimoji="0" lang="en-US" sz="1000" b="1" i="0" u="none" strike="noStrike" kern="0" cap="none" spc="-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p</a:t>
            </a:r>
            <a:r>
              <a:rPr kumimoji="0" sz="1000" b="1" i="0" u="none" strike="noStrike" kern="0" cap="none" spc="-10" normalizeH="0" baseline="0" noProof="0" dirty="0">
                <a:ln>
                  <a:noFill/>
                </a:ln>
                <a:solidFill>
                  <a:srgbClr val="000000"/>
                </a:solidFill>
                <a:effectLst/>
                <a:uLnTx/>
                <a:uFillTx/>
                <a:latin typeface="Arial"/>
                <a:ea typeface="+mn-ea"/>
                <a:cs typeface="Arial"/>
              </a:rPr>
              <a:t>r</a:t>
            </a:r>
            <a:r>
              <a:rPr kumimoji="0" sz="1000" b="1" i="0" u="none" strike="noStrike" kern="0" cap="none" spc="-5" normalizeH="0" baseline="0" noProof="0" dirty="0">
                <a:ln>
                  <a:noFill/>
                </a:ln>
                <a:solidFill>
                  <a:srgbClr val="000000"/>
                </a:solidFill>
                <a:effectLst/>
                <a:uLnTx/>
                <a:uFillTx/>
                <a:latin typeface="Arial"/>
                <a:ea typeface="+mn-ea"/>
                <a:cs typeface="Arial"/>
              </a:rPr>
              <a:t>oduction</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52" name="object 37">
            <a:extLst>
              <a:ext uri="{FF2B5EF4-FFF2-40B4-BE49-F238E27FC236}">
                <a16:creationId xmlns:a16="http://schemas.microsoft.com/office/drawing/2014/main" id="{9253E8B3-7A52-3741-9B44-768A20860347}"/>
              </a:ext>
            </a:extLst>
          </p:cNvPr>
          <p:cNvSpPr txBox="1"/>
          <p:nvPr/>
        </p:nvSpPr>
        <p:spPr>
          <a:xfrm>
            <a:off x="6296342" y="4466228"/>
            <a:ext cx="1015365" cy="492759"/>
          </a:xfrm>
          <a:prstGeom prst="rect">
            <a:avLst/>
          </a:prstGeom>
          <a:ln w="19811">
            <a:solidFill>
              <a:srgbClr val="544F40"/>
            </a:solidFill>
          </a:ln>
        </p:spPr>
        <p:txBody>
          <a:bodyPr vert="horz" wrap="square" lIns="0" tIns="90170" rIns="0" bIns="0" rtlCol="0">
            <a:noAutofit/>
          </a:bodyPr>
          <a:lstStyle/>
          <a:p>
            <a:pPr marL="120650" marR="0" lvl="0" indent="0" algn="l" defTabSz="914400" rtl="0" eaLnBrk="1" fontAlgn="auto" latinLnBrk="0" hangingPunct="1">
              <a:lnSpc>
                <a:spcPct val="100000"/>
              </a:lnSpc>
              <a:spcBef>
                <a:spcPts val="710"/>
              </a:spcBef>
              <a:spcAft>
                <a:spcPts val="0"/>
              </a:spcAft>
              <a:buClrTx/>
              <a:buSzTx/>
              <a:buFontTx/>
              <a:buNone/>
              <a:tabLst/>
              <a:defRPr/>
            </a:pPr>
            <a:r>
              <a:rPr kumimoji="0" sz="1000" b="1" i="0" u="none" strike="noStrike" kern="0" cap="none" spc="-10" normalizeH="0" baseline="0" noProof="0" dirty="0">
                <a:ln>
                  <a:noFill/>
                </a:ln>
                <a:solidFill>
                  <a:srgbClr val="000000"/>
                </a:solidFill>
                <a:effectLst/>
                <a:uLnTx/>
                <a:uFillTx/>
                <a:latin typeface="Arial"/>
                <a:ea typeface="+mn-ea"/>
                <a:cs typeface="Arial"/>
              </a:rPr>
              <a:t>Alveolar</a:t>
            </a:r>
            <a:r>
              <a:rPr kumimoji="0" sz="1000" b="1" i="0" u="none" strike="noStrike" kern="0" cap="none" spc="-5" normalizeH="0" baseline="0" noProof="0" dirty="0">
                <a:ln>
                  <a:noFill/>
                </a:ln>
                <a:solidFill>
                  <a:srgbClr val="000000"/>
                </a:solidFill>
                <a:effectLst/>
                <a:uLnTx/>
                <a:uFillTx/>
                <a:latin typeface="Arial"/>
                <a:ea typeface="+mn-ea"/>
                <a:cs typeface="Arial"/>
              </a:rPr>
              <a:t> </a:t>
            </a:r>
            <a:r>
              <a:rPr kumimoji="0" sz="1000" b="1" i="0" u="none" strike="noStrike" kern="0" cap="none" spc="0" normalizeH="0" baseline="0" noProof="0" dirty="0">
                <a:ln>
                  <a:noFill/>
                </a:ln>
                <a:solidFill>
                  <a:srgbClr val="000000"/>
                </a:solidFill>
                <a:effectLst/>
                <a:uLnTx/>
                <a:uFillTx/>
                <a:latin typeface="Arial"/>
                <a:ea typeface="+mn-ea"/>
                <a:cs typeface="Arial"/>
              </a:rPr>
              <a:t>wall</a:t>
            </a:r>
            <a:endParaRPr kumimoji="0" sz="1000" b="0" i="0" u="none" strike="noStrike" kern="0" cap="none" spc="0" normalizeH="0" baseline="0" noProof="0" dirty="0">
              <a:ln>
                <a:noFill/>
              </a:ln>
              <a:solidFill>
                <a:srgbClr val="000000"/>
              </a:solidFill>
              <a:effectLst/>
              <a:uLnTx/>
              <a:uFillTx/>
              <a:latin typeface="Arial"/>
              <a:ea typeface="+mn-ea"/>
              <a:cs typeface="Arial"/>
            </a:endParaRPr>
          </a:p>
          <a:p>
            <a:pPr marL="161925"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destruction</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53" name="object 38">
            <a:extLst>
              <a:ext uri="{FF2B5EF4-FFF2-40B4-BE49-F238E27FC236}">
                <a16:creationId xmlns:a16="http://schemas.microsoft.com/office/drawing/2014/main" id="{BE9C1A23-8F70-45E0-5785-B1297D0DF133}"/>
              </a:ext>
            </a:extLst>
          </p:cNvPr>
          <p:cNvSpPr txBox="1"/>
          <p:nvPr/>
        </p:nvSpPr>
        <p:spPr>
          <a:xfrm>
            <a:off x="5200586" y="4466228"/>
            <a:ext cx="1016635" cy="492759"/>
          </a:xfrm>
          <a:prstGeom prst="rect">
            <a:avLst/>
          </a:prstGeom>
          <a:ln w="19811">
            <a:solidFill>
              <a:srgbClr val="544F40"/>
            </a:solidFill>
          </a:ln>
        </p:spPr>
        <p:txBody>
          <a:bodyPr vert="horz" wrap="square" lIns="0" tIns="5715" rIns="0" bIns="0" rtlCol="0">
            <a:noAutofit/>
          </a:bodyPr>
          <a:lstStyle/>
          <a:p>
            <a:pPr marL="0" marR="0" lvl="0" indent="0" algn="l" defTabSz="914400" rtl="0" eaLnBrk="1" fontAlgn="auto" latinLnBrk="0" hangingPunct="1">
              <a:lnSpc>
                <a:spcPct val="100000"/>
              </a:lnSpc>
              <a:spcBef>
                <a:spcPts val="45"/>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Times New Roman"/>
              <a:ea typeface="+mn-ea"/>
              <a:cs typeface="Times New Roman"/>
            </a:endParaRPr>
          </a:p>
          <a:p>
            <a:pPr marL="260985"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Fibrosis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54" name="object 10">
            <a:extLst>
              <a:ext uri="{FF2B5EF4-FFF2-40B4-BE49-F238E27FC236}">
                <a16:creationId xmlns:a16="http://schemas.microsoft.com/office/drawing/2014/main" id="{9A372226-E214-BD4D-CF6A-BD65E34E4EE7}"/>
              </a:ext>
            </a:extLst>
          </p:cNvPr>
          <p:cNvSpPr txBox="1"/>
          <p:nvPr/>
        </p:nvSpPr>
        <p:spPr>
          <a:xfrm>
            <a:off x="1882838" y="2954419"/>
            <a:ext cx="2292350" cy="494030"/>
          </a:xfrm>
          <a:prstGeom prst="rect">
            <a:avLst/>
          </a:prstGeom>
          <a:ln w="19050">
            <a:solidFill>
              <a:srgbClr val="F36633"/>
            </a:solidFill>
          </a:ln>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45"/>
              </a:spcBef>
              <a:spcAft>
                <a:spcPts val="0"/>
              </a:spcAft>
              <a:buClrTx/>
              <a:buSzTx/>
              <a:buFontTx/>
              <a:buNone/>
              <a:tabLst/>
              <a:defRPr/>
            </a:pPr>
            <a:endParaRPr kumimoji="0" sz="900" b="0" i="0" u="none" strike="noStrike" kern="0" cap="none" spc="0" normalizeH="0" baseline="0" noProof="0" dirty="0">
              <a:ln>
                <a:noFill/>
              </a:ln>
              <a:solidFill>
                <a:srgbClr val="000000"/>
              </a:solidFill>
              <a:effectLst/>
              <a:uLnTx/>
              <a:uFillTx/>
              <a:latin typeface="Times New Roman"/>
              <a:ea typeface="+mn-ea"/>
              <a:cs typeface="Times New Roman"/>
            </a:endParaRPr>
          </a:p>
          <a:p>
            <a:pPr marL="558165"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Lung</a:t>
            </a:r>
            <a:r>
              <a:rPr kumimoji="0" sz="1000" b="1" i="0" u="none" strike="noStrike" kern="0" cap="none" spc="-1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epithelial</a:t>
            </a:r>
            <a:r>
              <a:rPr kumimoji="0" sz="1000" b="1" i="0" u="none" strike="noStrike" kern="0" cap="none" spc="-3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cells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55" name="object 15">
            <a:extLst>
              <a:ext uri="{FF2B5EF4-FFF2-40B4-BE49-F238E27FC236}">
                <a16:creationId xmlns:a16="http://schemas.microsoft.com/office/drawing/2014/main" id="{D411F0A1-D248-E2EA-0D95-4A3B6AEFBFF6}"/>
              </a:ext>
            </a:extLst>
          </p:cNvPr>
          <p:cNvSpPr txBox="1"/>
          <p:nvPr/>
        </p:nvSpPr>
        <p:spPr>
          <a:xfrm>
            <a:off x="7101015" y="2200040"/>
            <a:ext cx="3057525" cy="490855"/>
          </a:xfrm>
          <a:prstGeom prst="rect">
            <a:avLst/>
          </a:prstGeom>
          <a:solidFill>
            <a:sysClr val="window" lastClr="FFFFFF"/>
          </a:solidFill>
          <a:ln w="19050">
            <a:solidFill>
              <a:srgbClr val="F36633"/>
            </a:solidFill>
          </a:ln>
        </p:spPr>
        <p:txBody>
          <a:bodyPr vert="horz" wrap="square" lIns="0" tIns="41275" rIns="0" bIns="0" rtlCol="0">
            <a:noAutofit/>
          </a:bodyPr>
          <a:lstStyle/>
          <a:p>
            <a:pPr marL="898525" marR="0" lvl="0" indent="0" algn="l" defTabSz="914400" rtl="0" eaLnBrk="1" fontAlgn="auto" latinLnBrk="0" hangingPunct="1">
              <a:lnSpc>
                <a:spcPts val="1185"/>
              </a:lnSpc>
              <a:spcBef>
                <a:spcPts val="325"/>
              </a:spcBef>
              <a:spcAft>
                <a:spcPts val="0"/>
              </a:spcAft>
              <a:buClrTx/>
              <a:buSzTx/>
              <a:buFontTx/>
              <a:buNone/>
              <a:tabLst/>
              <a:defRPr/>
            </a:pPr>
            <a:r>
              <a:rPr kumimoji="0" sz="1000" b="1" i="0" u="none" strike="noStrike" kern="0" cap="none" spc="-10" normalizeH="0" baseline="0" noProof="0" dirty="0">
                <a:ln>
                  <a:noFill/>
                </a:ln>
                <a:solidFill>
                  <a:srgbClr val="000000"/>
                </a:solidFill>
                <a:effectLst/>
                <a:uLnTx/>
                <a:uFillTx/>
                <a:latin typeface="Arial"/>
                <a:ea typeface="+mn-ea"/>
                <a:cs typeface="Arial"/>
              </a:rPr>
              <a:t>Amplifying</a:t>
            </a:r>
            <a:r>
              <a:rPr kumimoji="0" sz="1000" b="1" i="0" u="none" strike="noStrike" kern="0" cap="none" spc="4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processes</a:t>
            </a:r>
            <a:endParaRPr kumimoji="0" sz="1000" b="0" i="0" u="none" strike="noStrike" kern="0" cap="none" spc="0" normalizeH="0" baseline="0" noProof="0" dirty="0">
              <a:ln>
                <a:noFill/>
              </a:ln>
              <a:solidFill>
                <a:srgbClr val="000000"/>
              </a:solidFill>
              <a:effectLst/>
              <a:uLnTx/>
              <a:uFillTx/>
              <a:latin typeface="Arial"/>
              <a:ea typeface="+mn-ea"/>
              <a:cs typeface="Arial"/>
            </a:endParaRPr>
          </a:p>
          <a:p>
            <a:pPr marL="586105" marR="217170" lvl="0" indent="-364490" algn="l" defTabSz="914400" rtl="0" eaLnBrk="1" fontAlgn="auto" latinLnBrk="0" hangingPunct="1">
              <a:lnSpc>
                <a:spcPts val="919"/>
              </a:lnSpc>
              <a:spcBef>
                <a:spcPts val="150"/>
              </a:spcBef>
              <a:spcAft>
                <a:spcPts val="0"/>
              </a:spcAft>
              <a:buClrTx/>
              <a:buSzTx/>
              <a:buFontTx/>
              <a:buNone/>
              <a:tabLst/>
              <a:defRPr/>
            </a:pPr>
            <a:r>
              <a:rPr kumimoji="0" lang="en-GB" sz="900" b="0" i="0" u="none" strike="noStrike" kern="0" cap="none" spc="0" normalizeH="0" baseline="0" noProof="0" dirty="0">
                <a:ln>
                  <a:noFill/>
                </a:ln>
                <a:solidFill>
                  <a:srgbClr val="000000"/>
                </a:solidFill>
                <a:effectLst/>
                <a:uLnTx/>
                <a:uFillTx/>
                <a:latin typeface="Arial"/>
                <a:ea typeface="+mn-ea"/>
                <a:cs typeface="Arial"/>
              </a:rPr>
              <a:t>E.g.,</a:t>
            </a:r>
            <a:r>
              <a:rPr kumimoji="0" sz="900" b="0" i="0" u="none" strike="noStrike" kern="0" cap="none" spc="0" normalizeH="0" baseline="0" noProof="0" dirty="0">
                <a:ln>
                  <a:noFill/>
                </a:ln>
                <a:solidFill>
                  <a:srgbClr val="000000"/>
                </a:solidFill>
                <a:effectLst/>
                <a:uLnTx/>
                <a:uFillTx/>
                <a:latin typeface="Arial"/>
                <a:ea typeface="+mn-ea"/>
                <a:cs typeface="Arial"/>
              </a:rPr>
              <a:t> </a:t>
            </a:r>
            <a:r>
              <a:rPr kumimoji="0" sz="900" b="0" i="0" u="none" strike="noStrike" kern="0" cap="none" spc="-5" normalizeH="0" baseline="0" noProof="0" dirty="0">
                <a:ln>
                  <a:noFill/>
                </a:ln>
                <a:solidFill>
                  <a:srgbClr val="000000"/>
                </a:solidFill>
                <a:effectLst/>
                <a:uLnTx/>
                <a:uFillTx/>
                <a:latin typeface="Arial"/>
                <a:ea typeface="+mn-ea"/>
                <a:cs typeface="Arial"/>
              </a:rPr>
              <a:t>innate and </a:t>
            </a:r>
            <a:r>
              <a:rPr kumimoji="0" sz="900" b="0" i="0" u="none" strike="noStrike" kern="0" cap="none" spc="0" normalizeH="0" baseline="0" noProof="0" dirty="0">
                <a:ln>
                  <a:noFill/>
                </a:ln>
                <a:solidFill>
                  <a:srgbClr val="000000"/>
                </a:solidFill>
                <a:effectLst/>
                <a:uLnTx/>
                <a:uFillTx/>
                <a:latin typeface="Arial"/>
                <a:ea typeface="+mn-ea"/>
                <a:cs typeface="Arial"/>
              </a:rPr>
              <a:t>acquired immunity, </a:t>
            </a:r>
            <a:r>
              <a:rPr kumimoji="0" sz="900" b="0" i="0" u="none" strike="noStrike" kern="0" cap="none" spc="-5" normalizeH="0" baseline="0" noProof="0" dirty="0">
                <a:ln>
                  <a:noFill/>
                </a:ln>
                <a:solidFill>
                  <a:srgbClr val="000000"/>
                </a:solidFill>
                <a:effectLst/>
                <a:uLnTx/>
                <a:uFillTx/>
                <a:latin typeface="Arial"/>
                <a:ea typeface="+mn-ea"/>
                <a:cs typeface="Arial"/>
              </a:rPr>
              <a:t>oxidative </a:t>
            </a:r>
            <a:r>
              <a:rPr kumimoji="0" sz="900" b="0" i="0" u="none" strike="noStrike" kern="0" cap="none" spc="0" normalizeH="0" baseline="0" noProof="0" dirty="0">
                <a:ln>
                  <a:noFill/>
                </a:ln>
                <a:solidFill>
                  <a:srgbClr val="000000"/>
                </a:solidFill>
                <a:effectLst/>
                <a:uLnTx/>
                <a:uFillTx/>
                <a:latin typeface="Arial"/>
                <a:ea typeface="+mn-ea"/>
                <a:cs typeface="Arial"/>
              </a:rPr>
              <a:t>stress,</a:t>
            </a:r>
            <a:r>
              <a:rPr kumimoji="0" lang="en-US" sz="900" b="0" i="0" u="none" strike="noStrike" kern="0" cap="none" spc="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protease</a:t>
            </a:r>
            <a:r>
              <a:rPr kumimoji="0" sz="900" b="0" i="0" u="none" strike="noStrike" kern="0" cap="none" spc="-40" normalizeH="0" baseline="0" noProof="0" dirty="0">
                <a:ln>
                  <a:noFill/>
                </a:ln>
                <a:solidFill>
                  <a:srgbClr val="000000"/>
                </a:solidFill>
                <a:effectLst/>
                <a:uLnTx/>
                <a:uFillTx/>
                <a:latin typeface="Arial"/>
                <a:ea typeface="+mn-ea"/>
                <a:cs typeface="Arial"/>
              </a:rPr>
              <a:t> </a:t>
            </a:r>
            <a:r>
              <a:rPr kumimoji="0" sz="900" b="0" i="0" u="none" strike="noStrike" kern="0" cap="none" spc="-5" normalizeH="0" baseline="0" noProof="0" dirty="0">
                <a:ln>
                  <a:noFill/>
                </a:ln>
                <a:solidFill>
                  <a:srgbClr val="000000"/>
                </a:solidFill>
                <a:effectLst/>
                <a:uLnTx/>
                <a:uFillTx/>
                <a:latin typeface="Arial"/>
                <a:ea typeface="+mn-ea"/>
                <a:cs typeface="Arial"/>
              </a:rPr>
              <a:t>and </a:t>
            </a:r>
            <a:r>
              <a:rPr kumimoji="0" sz="900" b="0" i="0" u="none" strike="noStrike" kern="0" cap="none" spc="0" normalizeH="0" baseline="0" noProof="0" dirty="0">
                <a:ln>
                  <a:noFill/>
                </a:ln>
                <a:solidFill>
                  <a:srgbClr val="000000"/>
                </a:solidFill>
                <a:effectLst/>
                <a:uLnTx/>
                <a:uFillTx/>
                <a:latin typeface="Arial"/>
                <a:ea typeface="+mn-ea"/>
                <a:cs typeface="Arial"/>
              </a:rPr>
              <a:t>antiprotease</a:t>
            </a:r>
            <a:r>
              <a:rPr kumimoji="0" sz="900" b="0" i="0" u="none" strike="noStrike" kern="0" cap="none" spc="-3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imbalance</a:t>
            </a:r>
          </a:p>
        </p:txBody>
      </p:sp>
      <p:sp>
        <p:nvSpPr>
          <p:cNvPr id="156" name="object 19">
            <a:extLst>
              <a:ext uri="{FF2B5EF4-FFF2-40B4-BE49-F238E27FC236}">
                <a16:creationId xmlns:a16="http://schemas.microsoft.com/office/drawing/2014/main" id="{84A1EFE9-97A0-9602-1CE3-3F0B5A941312}"/>
              </a:ext>
            </a:extLst>
          </p:cNvPr>
          <p:cNvSpPr txBox="1">
            <a:spLocks/>
          </p:cNvSpPr>
          <p:nvPr/>
        </p:nvSpPr>
        <p:spPr>
          <a:xfrm>
            <a:off x="7101015" y="2954419"/>
            <a:ext cx="3057525" cy="494030"/>
          </a:xfrm>
          <a:prstGeom prst="rect">
            <a:avLst/>
          </a:prstGeom>
          <a:ln w="19050">
            <a:solidFill>
              <a:srgbClr val="F36633"/>
            </a:solidFill>
          </a:ln>
        </p:spPr>
        <p:txBody>
          <a:bodyPr vert="horz" wrap="square" lIns="0" tIns="43815" rIns="0" bIns="0" rtlCol="0">
            <a:noAutofit/>
          </a:bodyPr>
          <a:lstStyle/>
          <a:p>
            <a:pPr marL="0" marR="0" lvl="0" indent="0" algn="ctr" defTabSz="914400" rtl="0" eaLnBrk="1" fontAlgn="auto" latinLnBrk="0" hangingPunct="1">
              <a:lnSpc>
                <a:spcPts val="1185"/>
              </a:lnSpc>
              <a:spcBef>
                <a:spcPts val="345"/>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Cellular</a:t>
            </a:r>
            <a:r>
              <a:rPr kumimoji="0" sz="1000" b="1" i="0" u="none" strike="noStrike" kern="0" cap="none" spc="-1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processes</a:t>
            </a:r>
            <a:endParaRPr kumimoji="0" sz="1000" b="0" i="0" u="none" strike="noStrike" kern="0" cap="none" spc="0" normalizeH="0" baseline="0" noProof="0" dirty="0">
              <a:ln>
                <a:noFill/>
              </a:ln>
              <a:solidFill>
                <a:srgbClr val="000000"/>
              </a:solidFill>
              <a:effectLst/>
              <a:uLnTx/>
              <a:uFillTx/>
              <a:latin typeface="Arial"/>
              <a:ea typeface="+mn-ea"/>
              <a:cs typeface="Arial"/>
            </a:endParaRPr>
          </a:p>
          <a:p>
            <a:pPr marL="15875" marR="14604" lvl="0" indent="-15875" algn="ctr" defTabSz="914400" rtl="0" eaLnBrk="1" fontAlgn="auto" latinLnBrk="0" hangingPunct="1">
              <a:lnSpc>
                <a:spcPts val="919"/>
              </a:lnSpc>
              <a:spcBef>
                <a:spcPts val="145"/>
              </a:spcBef>
              <a:spcAft>
                <a:spcPts val="0"/>
              </a:spcAft>
              <a:buClrTx/>
              <a:buSzTx/>
              <a:buFontTx/>
              <a:buNone/>
              <a:tabLst/>
              <a:defRPr/>
            </a:pPr>
            <a:r>
              <a:rPr kumimoji="0" lang="en-GB" sz="900" b="0" i="0" u="none" strike="noStrike" kern="0" cap="none" spc="0" normalizeH="0" baseline="0" noProof="0" dirty="0">
                <a:ln>
                  <a:noFill/>
                </a:ln>
                <a:solidFill>
                  <a:srgbClr val="000000"/>
                </a:solidFill>
                <a:effectLst/>
                <a:uLnTx/>
                <a:uFillTx/>
                <a:latin typeface="Arial"/>
                <a:ea typeface="+mn-ea"/>
                <a:cs typeface="Arial"/>
              </a:rPr>
              <a:t>E.g.,</a:t>
            </a:r>
            <a:r>
              <a:rPr kumimoji="0" sz="900" b="0" i="0" u="none" strike="noStrike" kern="0" cap="none" spc="0" normalizeH="0" baseline="0" noProof="0" dirty="0">
                <a:ln>
                  <a:noFill/>
                </a:ln>
                <a:solidFill>
                  <a:srgbClr val="000000"/>
                </a:solidFill>
                <a:effectLst/>
                <a:uLnTx/>
                <a:uFillTx/>
                <a:latin typeface="Arial"/>
                <a:ea typeface="+mn-ea"/>
                <a:cs typeface="Arial"/>
              </a:rPr>
              <a:t> inflammatory cell </a:t>
            </a:r>
            <a:r>
              <a:rPr kumimoji="0" sz="900" b="0" i="0" u="none" strike="noStrike" kern="0" cap="none" spc="-5" normalizeH="0" baseline="0" noProof="0" dirty="0">
                <a:ln>
                  <a:noFill/>
                </a:ln>
                <a:solidFill>
                  <a:srgbClr val="000000"/>
                </a:solidFill>
                <a:effectLst/>
                <a:uLnTx/>
                <a:uFillTx/>
                <a:latin typeface="Arial"/>
                <a:ea typeface="+mn-ea"/>
                <a:cs typeface="Arial"/>
              </a:rPr>
              <a:t>recruitment/activation, </a:t>
            </a:r>
            <a:r>
              <a:rPr kumimoji="0" sz="900" b="0" i="0" u="none" strike="noStrike" kern="0" cap="none" spc="0" normalizeH="0" baseline="0" noProof="0" dirty="0">
                <a:ln>
                  <a:noFill/>
                </a:ln>
                <a:solidFill>
                  <a:srgbClr val="000000"/>
                </a:solidFill>
                <a:effectLst/>
                <a:uLnTx/>
                <a:uFillTx/>
                <a:latin typeface="Arial"/>
                <a:ea typeface="+mn-ea"/>
                <a:cs typeface="Arial"/>
              </a:rPr>
              <a:t>mediator</a:t>
            </a:r>
            <a:r>
              <a:rPr kumimoji="0" lang="en-US" sz="900" b="0" i="0" u="none" strike="noStrike" kern="0" cap="none" spc="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release,</a:t>
            </a:r>
            <a:r>
              <a:rPr kumimoji="0" sz="900" b="0" i="0" u="none" strike="noStrike" kern="0" cap="none" spc="-4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apoptosis,</a:t>
            </a:r>
            <a:r>
              <a:rPr kumimoji="0" sz="900" b="0" i="0" u="none" strike="noStrike" kern="0" cap="none" spc="-35"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impaired</a:t>
            </a:r>
            <a:r>
              <a:rPr kumimoji="0" sz="900" b="0" i="0" u="none" strike="noStrike" kern="0" cap="none" spc="-4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tissue</a:t>
            </a:r>
            <a:r>
              <a:rPr kumimoji="0" sz="900" b="0" i="0" u="none" strike="noStrike" kern="0" cap="none" spc="-20" normalizeH="0" baseline="0" noProof="0" dirty="0">
                <a:ln>
                  <a:noFill/>
                </a:ln>
                <a:solidFill>
                  <a:srgbClr val="000000"/>
                </a:solidFill>
                <a:effectLst/>
                <a:uLnTx/>
                <a:uFillTx/>
                <a:latin typeface="Arial"/>
                <a:ea typeface="+mn-ea"/>
                <a:cs typeface="Arial"/>
              </a:rPr>
              <a:t> </a:t>
            </a:r>
            <a:r>
              <a:rPr kumimoji="0" sz="900" b="0" i="0" u="none" strike="noStrike" kern="0" cap="none" spc="-5" normalizeH="0" baseline="0" noProof="0" dirty="0">
                <a:ln>
                  <a:noFill/>
                </a:ln>
                <a:solidFill>
                  <a:srgbClr val="000000"/>
                </a:solidFill>
                <a:effectLst/>
                <a:uLnTx/>
                <a:uFillTx/>
                <a:latin typeface="Arial"/>
                <a:ea typeface="+mn-ea"/>
                <a:cs typeface="Arial"/>
              </a:rPr>
              <a:t>repair</a:t>
            </a:r>
            <a:r>
              <a:rPr kumimoji="0" sz="900" b="0" i="0" u="none" strike="noStrike" kern="0" cap="none" spc="-15" normalizeH="0" baseline="0" noProof="0" dirty="0">
                <a:ln>
                  <a:noFill/>
                </a:ln>
                <a:solidFill>
                  <a:srgbClr val="000000"/>
                </a:solidFill>
                <a:effectLst/>
                <a:uLnTx/>
                <a:uFillTx/>
                <a:latin typeface="Arial"/>
                <a:ea typeface="+mn-ea"/>
                <a:cs typeface="Arial"/>
              </a:rPr>
              <a:t> </a:t>
            </a:r>
            <a:r>
              <a:rPr kumimoji="0" sz="900" b="0" i="0" u="none" strike="noStrike" kern="0" cap="none" spc="-5" normalizeH="0" baseline="0" noProof="0" dirty="0">
                <a:ln>
                  <a:noFill/>
                </a:ln>
                <a:solidFill>
                  <a:srgbClr val="000000"/>
                </a:solidFill>
                <a:effectLst/>
                <a:uLnTx/>
                <a:uFillTx/>
                <a:latin typeface="Arial"/>
                <a:ea typeface="+mn-ea"/>
                <a:cs typeface="Arial"/>
              </a:rPr>
              <a:t>and</a:t>
            </a:r>
            <a:r>
              <a:rPr kumimoji="0" sz="900" b="0" i="0" u="none" strike="noStrike" kern="0" cap="none" spc="-20" normalizeH="0" baseline="0" noProof="0" dirty="0">
                <a:ln>
                  <a:noFill/>
                </a:ln>
                <a:solidFill>
                  <a:srgbClr val="000000"/>
                </a:solidFill>
                <a:effectLst/>
                <a:uLnTx/>
                <a:uFillTx/>
                <a:latin typeface="Arial"/>
                <a:ea typeface="+mn-ea"/>
                <a:cs typeface="Arial"/>
              </a:rPr>
              <a:t> </a:t>
            </a:r>
            <a:r>
              <a:rPr kumimoji="0" sz="900" b="0" i="0" u="none" strike="noStrike" kern="0" cap="none" spc="0" normalizeH="0" baseline="0" noProof="0" dirty="0">
                <a:ln>
                  <a:noFill/>
                </a:ln>
                <a:solidFill>
                  <a:srgbClr val="000000"/>
                </a:solidFill>
                <a:effectLst/>
                <a:uLnTx/>
                <a:uFillTx/>
                <a:latin typeface="Arial"/>
                <a:ea typeface="+mn-ea"/>
                <a:cs typeface="Arial"/>
              </a:rPr>
              <a:t>autoimmunity</a:t>
            </a:r>
          </a:p>
        </p:txBody>
      </p:sp>
      <p:sp>
        <p:nvSpPr>
          <p:cNvPr id="157" name="object 20">
            <a:extLst>
              <a:ext uri="{FF2B5EF4-FFF2-40B4-BE49-F238E27FC236}">
                <a16:creationId xmlns:a16="http://schemas.microsoft.com/office/drawing/2014/main" id="{F9C3B79F-5E5D-2858-3785-49697CEC53E2}"/>
              </a:ext>
            </a:extLst>
          </p:cNvPr>
          <p:cNvSpPr txBox="1">
            <a:spLocks/>
          </p:cNvSpPr>
          <p:nvPr/>
        </p:nvSpPr>
        <p:spPr>
          <a:xfrm>
            <a:off x="4671759" y="2954419"/>
            <a:ext cx="2287905" cy="494030"/>
          </a:xfrm>
          <a:prstGeom prst="rect">
            <a:avLst/>
          </a:prstGeom>
          <a:ln w="19050">
            <a:solidFill>
              <a:srgbClr val="F36633"/>
            </a:solidFill>
          </a:ln>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35"/>
              </a:spcBef>
              <a:spcAft>
                <a:spcPts val="0"/>
              </a:spcAft>
              <a:buClrTx/>
              <a:buSzTx/>
              <a:buFontTx/>
              <a:buNone/>
              <a:tabLst/>
              <a:defRPr/>
            </a:pPr>
            <a:endParaRPr kumimoji="0" sz="900" b="0" i="0" u="none" strike="noStrike" kern="0" cap="none" spc="0" normalizeH="0" baseline="0" noProof="0" dirty="0">
              <a:ln>
                <a:noFill/>
              </a:ln>
              <a:solidFill>
                <a:srgbClr val="000000"/>
              </a:solidFill>
              <a:effectLst/>
              <a:uLnTx/>
              <a:uFillTx/>
              <a:latin typeface="Times New Roman"/>
              <a:ea typeface="+mn-ea"/>
              <a:cs typeface="Times New Roman"/>
            </a:endParaRPr>
          </a:p>
          <a:p>
            <a:pPr marL="306705"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Cells</a:t>
            </a:r>
            <a:r>
              <a:rPr kumimoji="0" sz="1000" b="1" i="0" u="none" strike="noStrike" kern="0" cap="none" spc="-1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of</a:t>
            </a:r>
            <a:r>
              <a:rPr kumimoji="0" sz="1000" b="1" i="0" u="none" strike="noStrike" kern="0" cap="none" spc="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the</a:t>
            </a:r>
            <a:r>
              <a:rPr kumimoji="0" sz="1000" b="1" i="0" u="none" strike="noStrike" kern="0" cap="none" spc="-1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immune</a:t>
            </a:r>
            <a:r>
              <a:rPr kumimoji="0" sz="1000" b="1" i="0" u="none" strike="noStrike" kern="0" cap="none" spc="-25" normalizeH="0" baseline="0" noProof="0" dirty="0">
                <a:ln>
                  <a:noFill/>
                </a:ln>
                <a:solidFill>
                  <a:srgbClr val="000000"/>
                </a:solidFill>
                <a:effectLst/>
                <a:uLnTx/>
                <a:uFillTx/>
                <a:latin typeface="Arial"/>
                <a:ea typeface="+mn-ea"/>
                <a:cs typeface="Arial"/>
              </a:rPr>
              <a:t> </a:t>
            </a:r>
            <a:r>
              <a:rPr kumimoji="0" sz="1000" b="1" i="0" u="none" strike="noStrike" kern="0" cap="none" spc="-10" normalizeH="0" baseline="0" noProof="0" dirty="0">
                <a:ln>
                  <a:noFill/>
                </a:ln>
                <a:solidFill>
                  <a:srgbClr val="000000"/>
                </a:solidFill>
                <a:effectLst/>
                <a:uLnTx/>
                <a:uFillTx/>
                <a:latin typeface="Arial"/>
                <a:ea typeface="+mn-ea"/>
                <a:cs typeface="Arial"/>
              </a:rPr>
              <a:t>system</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58" name="object 43">
            <a:extLst>
              <a:ext uri="{FF2B5EF4-FFF2-40B4-BE49-F238E27FC236}">
                <a16:creationId xmlns:a16="http://schemas.microsoft.com/office/drawing/2014/main" id="{1A475574-143A-11E0-8748-A5160DBA39E1}"/>
              </a:ext>
            </a:extLst>
          </p:cNvPr>
          <p:cNvSpPr txBox="1"/>
          <p:nvPr/>
        </p:nvSpPr>
        <p:spPr>
          <a:xfrm>
            <a:off x="4670235" y="2200040"/>
            <a:ext cx="2291080" cy="492759"/>
          </a:xfrm>
          <a:prstGeom prst="rect">
            <a:avLst/>
          </a:prstGeom>
          <a:solidFill>
            <a:sysClr val="window" lastClr="FFFFFF"/>
          </a:solidFill>
          <a:ln w="19050">
            <a:solidFill>
              <a:srgbClr val="F36633"/>
            </a:solidFill>
          </a:ln>
        </p:spPr>
        <p:txBody>
          <a:bodyPr vert="horz" wrap="square" lIns="0" tIns="90170" rIns="0" bIns="0" rtlCol="0">
            <a:noAutofit/>
          </a:bodyPr>
          <a:lstStyle/>
          <a:p>
            <a:pPr marL="602615" marR="262890" lvl="0" indent="-334010" algn="l" defTabSz="914400" rtl="0" eaLnBrk="1" fontAlgn="auto" latinLnBrk="0" hangingPunct="1">
              <a:lnSpc>
                <a:spcPct val="100000"/>
              </a:lnSpc>
              <a:spcBef>
                <a:spcPts val="71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Innate/adaptive</a:t>
            </a:r>
            <a:r>
              <a:rPr kumimoji="0" sz="1000" b="1" i="0" u="none" strike="noStrike" kern="0" cap="none" spc="-4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inflammatory</a:t>
            </a:r>
            <a:r>
              <a:rPr kumimoji="0" lang="en-US" sz="1000" b="1" i="0" u="none" strike="noStrike" kern="0" cap="none" spc="-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immune</a:t>
            </a:r>
            <a:r>
              <a:rPr kumimoji="0" sz="1000" b="1" i="0" u="none" strike="noStrike" kern="0" cap="none" spc="-15"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response</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pic>
        <p:nvPicPr>
          <p:cNvPr id="159" name="object 44">
            <a:extLst>
              <a:ext uri="{FF2B5EF4-FFF2-40B4-BE49-F238E27FC236}">
                <a16:creationId xmlns:a16="http://schemas.microsoft.com/office/drawing/2014/main" id="{BE870CE9-2AE1-4CD6-073E-E354EEB410D6}"/>
              </a:ext>
            </a:extLst>
          </p:cNvPr>
          <p:cNvPicPr/>
          <p:nvPr/>
        </p:nvPicPr>
        <p:blipFill>
          <a:blip r:embed="rId13" cstate="print"/>
          <a:stretch>
            <a:fillRect/>
          </a:stretch>
        </p:blipFill>
        <p:spPr>
          <a:xfrm>
            <a:off x="3139377" y="3758329"/>
            <a:ext cx="858012" cy="146304"/>
          </a:xfrm>
          <a:prstGeom prst="rect">
            <a:avLst/>
          </a:prstGeom>
        </p:spPr>
      </p:pic>
      <p:sp>
        <p:nvSpPr>
          <p:cNvPr id="160" name="object 45">
            <a:extLst>
              <a:ext uri="{FF2B5EF4-FFF2-40B4-BE49-F238E27FC236}">
                <a16:creationId xmlns:a16="http://schemas.microsoft.com/office/drawing/2014/main" id="{B739F177-0275-B7D7-CAB3-7BE2EBE67D2B}"/>
              </a:ext>
            </a:extLst>
          </p:cNvPr>
          <p:cNvSpPr txBox="1"/>
          <p:nvPr/>
        </p:nvSpPr>
        <p:spPr>
          <a:xfrm>
            <a:off x="3060890" y="3660031"/>
            <a:ext cx="1016635" cy="494030"/>
          </a:xfrm>
          <a:prstGeom prst="rect">
            <a:avLst/>
          </a:prstGeom>
          <a:ln w="19812">
            <a:solidFill>
              <a:srgbClr val="F36633"/>
            </a:solidFill>
          </a:ln>
        </p:spPr>
        <p:txBody>
          <a:bodyPr vert="horz"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100" b="0" i="0" u="none" strike="noStrike" kern="0" cap="none" spc="0" normalizeH="0" baseline="0" noProof="0" dirty="0">
              <a:ln>
                <a:noFill/>
              </a:ln>
              <a:solidFill>
                <a:srgbClr val="000000"/>
              </a:solidFill>
              <a:effectLst/>
              <a:uLnTx/>
              <a:uFillTx/>
              <a:latin typeface="Times New Roman"/>
              <a:ea typeface="+mn-ea"/>
              <a:cs typeface="Times New Roman"/>
            </a:endParaRPr>
          </a:p>
          <a:p>
            <a:pPr marL="0" marR="0" lvl="0" indent="0" algn="l" defTabSz="914400" rtl="0" eaLnBrk="1" fontAlgn="auto" latinLnBrk="0" hangingPunct="1">
              <a:lnSpc>
                <a:spcPct val="100000"/>
              </a:lnSpc>
              <a:spcBef>
                <a:spcPts val="20"/>
              </a:spcBef>
              <a:spcAft>
                <a:spcPts val="0"/>
              </a:spcAft>
              <a:buClrTx/>
              <a:buSzTx/>
              <a:buFontTx/>
              <a:buNone/>
              <a:tabLst/>
              <a:defRPr/>
            </a:pPr>
            <a:endParaRPr kumimoji="0" sz="1000" b="0" i="0" u="none" strike="noStrike" kern="0" cap="none" spc="0" normalizeH="0" baseline="0" noProof="0" dirty="0">
              <a:ln>
                <a:noFill/>
              </a:ln>
              <a:solidFill>
                <a:srgbClr val="000000"/>
              </a:solidFill>
              <a:effectLst/>
              <a:uLnTx/>
              <a:uFillTx/>
              <a:latin typeface="Times New Roman"/>
              <a:ea typeface="+mn-ea"/>
              <a:cs typeface="Times New Roman"/>
            </a:endParaRPr>
          </a:p>
          <a:p>
            <a:pPr marL="165100"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Fibroblasts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cxnSp>
        <p:nvCxnSpPr>
          <p:cNvPr id="189" name="Straight Arrow Connector 188">
            <a:extLst>
              <a:ext uri="{FF2B5EF4-FFF2-40B4-BE49-F238E27FC236}">
                <a16:creationId xmlns:a16="http://schemas.microsoft.com/office/drawing/2014/main" id="{BA4C8C03-1ABC-69A4-E6C2-B74A77E6FDA4}"/>
              </a:ext>
            </a:extLst>
          </p:cNvPr>
          <p:cNvCxnSpPr>
            <a:cxnSpLocks/>
          </p:cNvCxnSpPr>
          <p:nvPr/>
        </p:nvCxnSpPr>
        <p:spPr>
          <a:xfrm>
            <a:off x="6488289" y="4334400"/>
            <a:ext cx="0" cy="174500"/>
          </a:xfrm>
          <a:prstGeom prst="straightConnector1">
            <a:avLst/>
          </a:prstGeom>
          <a:ln w="19050" cap="rnd">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7FFC4072-8584-6D4F-B3D8-BD9F75A1F407}"/>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642188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E10973-BACC-7780-6D19-1F6EE4B33408}"/>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51</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7CE1B0C0-0F75-1D60-13F8-F62564004688}"/>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8B9AF040-8A15-1E7C-506E-5B5B0772919E}"/>
              </a:ext>
            </a:extLst>
          </p:cNvPr>
          <p:cNvSpPr>
            <a:spLocks noGrp="1"/>
          </p:cNvSpPr>
          <p:nvPr>
            <p:ph type="title"/>
          </p:nvPr>
        </p:nvSpPr>
        <p:spPr>
          <a:xfrm>
            <a:off x="366383" y="669965"/>
            <a:ext cx="11460163" cy="430887"/>
          </a:xfrm>
        </p:spPr>
        <p:txBody>
          <a:bodyPr/>
          <a:lstStyle/>
          <a:p>
            <a:r>
              <a:rPr lang="en-US" dirty="0"/>
              <a:t>Roles of Different Cells of the Immune System in COPD Pathogenesis (I)</a:t>
            </a:r>
            <a:endParaRPr lang="en-GB" dirty="0"/>
          </a:p>
        </p:txBody>
      </p:sp>
      <p:sp>
        <p:nvSpPr>
          <p:cNvPr id="106" name="Text Placeholder 10">
            <a:extLst>
              <a:ext uri="{FF2B5EF4-FFF2-40B4-BE49-F238E27FC236}">
                <a16:creationId xmlns:a16="http://schemas.microsoft.com/office/drawing/2014/main" id="{D588F6CD-B3B0-F055-1734-E32516F02B56}"/>
              </a:ext>
            </a:extLst>
          </p:cNvPr>
          <p:cNvSpPr txBox="1">
            <a:spLocks/>
          </p:cNvSpPr>
          <p:nvPr/>
        </p:nvSpPr>
        <p:spPr>
          <a:xfrm>
            <a:off x="364776" y="5792635"/>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TGF-β, transforming growth factor beta.</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ACCP Pulmonary Medicine Board Review;Chapter 4;Braman SS;2012;26th Edn;1-39; 2. Asthma and COPD;Chapter 34;Barnes PJ;2009;2;425-442; 3. MacNee W;Clinical Respiratory Medicine;2012;4;531-552; 4. Gosman MM;Respiratory Research;2008;9:64;1-9; 5. White ES;Annals of the American Thoracic Society;2015;12;S30–S33; 6. Hogg JC;Candian Respiratory Journal;2012;19;381-384.</a:t>
            </a:r>
          </a:p>
        </p:txBody>
      </p:sp>
      <p:graphicFrame>
        <p:nvGraphicFramePr>
          <p:cNvPr id="10" name="object 6">
            <a:extLst>
              <a:ext uri="{FF2B5EF4-FFF2-40B4-BE49-F238E27FC236}">
                <a16:creationId xmlns:a16="http://schemas.microsoft.com/office/drawing/2014/main" id="{6F690CE1-F9A4-66E2-15F3-D891DE4D2F6E}"/>
              </a:ext>
            </a:extLst>
          </p:cNvPr>
          <p:cNvGraphicFramePr>
            <a:graphicFrameLocks noGrp="1"/>
          </p:cNvGraphicFramePr>
          <p:nvPr/>
        </p:nvGraphicFramePr>
        <p:xfrm>
          <a:off x="366383" y="1236800"/>
          <a:ext cx="11459234" cy="4003440"/>
        </p:xfrm>
        <a:graphic>
          <a:graphicData uri="http://schemas.openxmlformats.org/drawingml/2006/table">
            <a:tbl>
              <a:tblPr firstRow="1" bandRow="1"/>
              <a:tblGrid>
                <a:gridCol w="1956553">
                  <a:extLst>
                    <a:ext uri="{9D8B030D-6E8A-4147-A177-3AD203B41FA5}">
                      <a16:colId xmlns:a16="http://schemas.microsoft.com/office/drawing/2014/main" val="20000"/>
                    </a:ext>
                  </a:extLst>
                </a:gridCol>
                <a:gridCol w="9502681">
                  <a:extLst>
                    <a:ext uri="{9D8B030D-6E8A-4147-A177-3AD203B41FA5}">
                      <a16:colId xmlns:a16="http://schemas.microsoft.com/office/drawing/2014/main" val="1731559422"/>
                    </a:ext>
                  </a:extLst>
                </a:gridCol>
              </a:tblGrid>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sz="1600" b="1" spc="-5" dirty="0">
                          <a:solidFill>
                            <a:srgbClr val="FFFFFF"/>
                          </a:solidFill>
                          <a:latin typeface="Arial"/>
                          <a:cs typeface="Arial"/>
                        </a:rPr>
                        <a:t>Epithelial</a:t>
                      </a:r>
                      <a:r>
                        <a:rPr sz="1600" b="1" spc="-55" dirty="0">
                          <a:solidFill>
                            <a:srgbClr val="FFFFFF"/>
                          </a:solidFill>
                          <a:latin typeface="Arial"/>
                          <a:cs typeface="Arial"/>
                        </a:rPr>
                        <a:t> </a:t>
                      </a:r>
                      <a:r>
                        <a:rPr sz="1600" b="1" dirty="0">
                          <a:solidFill>
                            <a:srgbClr val="FFFFFF"/>
                          </a:solidFill>
                          <a:latin typeface="Arial"/>
                          <a:cs typeface="Arial"/>
                        </a:rPr>
                        <a:t>cells</a:t>
                      </a:r>
                      <a:endParaRPr sz="1600" dirty="0">
                        <a:latin typeface="Arial"/>
                        <a:cs typeface="Arial"/>
                      </a:endParaRPr>
                    </a:p>
                  </a:txBody>
                  <a:tcPr marL="180000" marR="45720" marT="108000" marB="10800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solidFill>
                  </a:tcPr>
                </a:tc>
                <a:tc hMerge="1">
                  <a:txBody>
                    <a:bodyPr/>
                    <a:lstStyle/>
                    <a:p>
                      <a:endParaRPr lang="en-US"/>
                    </a:p>
                  </a:txBody>
                  <a:tcPr/>
                </a:tc>
                <a:extLst>
                  <a:ext uri="{0D108BD9-81ED-4DB2-BD59-A6C34878D82A}">
                    <a16:rowId xmlns:a16="http://schemas.microsoft.com/office/drawing/2014/main" val="10000"/>
                  </a:ext>
                </a:extLst>
              </a:tr>
              <a:tr h="731871">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40000"/>
                        <a:lumOff val="60000"/>
                      </a:srgb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dirty="0">
                          <a:solidFill>
                            <a:schemeClr val="tx1"/>
                          </a:solidFill>
                          <a:latin typeface="Arial"/>
                          <a:cs typeface="Arial"/>
                        </a:rPr>
                        <a:t>Epithelial</a:t>
                      </a:r>
                      <a:r>
                        <a:rPr sz="1400" spc="-30" dirty="0">
                          <a:solidFill>
                            <a:schemeClr val="tx1"/>
                          </a:solidFill>
                          <a:latin typeface="Arial"/>
                          <a:cs typeface="Arial"/>
                        </a:rPr>
                        <a:t> </a:t>
                      </a:r>
                      <a:r>
                        <a:rPr sz="1400" dirty="0">
                          <a:solidFill>
                            <a:schemeClr val="tx1"/>
                          </a:solidFill>
                          <a:latin typeface="Arial"/>
                          <a:cs typeface="Arial"/>
                        </a:rPr>
                        <a:t>cells</a:t>
                      </a:r>
                      <a:r>
                        <a:rPr sz="1400" spc="-10" dirty="0">
                          <a:solidFill>
                            <a:schemeClr val="tx1"/>
                          </a:solidFill>
                          <a:latin typeface="Arial"/>
                          <a:cs typeface="Arial"/>
                        </a:rPr>
                        <a:t> </a:t>
                      </a:r>
                      <a:r>
                        <a:rPr sz="1400" dirty="0">
                          <a:solidFill>
                            <a:schemeClr val="tx1"/>
                          </a:solidFill>
                          <a:latin typeface="Arial"/>
                          <a:cs typeface="Arial"/>
                        </a:rPr>
                        <a:t>present</a:t>
                      </a:r>
                      <a:r>
                        <a:rPr sz="1400" spc="-35" dirty="0">
                          <a:solidFill>
                            <a:schemeClr val="tx1"/>
                          </a:solidFill>
                          <a:latin typeface="Arial"/>
                          <a:cs typeface="Arial"/>
                        </a:rPr>
                        <a:t> </a:t>
                      </a:r>
                      <a:r>
                        <a:rPr sz="1400" dirty="0">
                          <a:solidFill>
                            <a:schemeClr val="tx1"/>
                          </a:solidFill>
                          <a:latin typeface="Arial"/>
                          <a:cs typeface="Arial"/>
                        </a:rPr>
                        <a:t>in</a:t>
                      </a:r>
                      <a:r>
                        <a:rPr sz="1400" spc="-5" dirty="0">
                          <a:solidFill>
                            <a:schemeClr val="tx1"/>
                          </a:solidFill>
                          <a:latin typeface="Arial"/>
                          <a:cs typeface="Arial"/>
                        </a:rPr>
                        <a:t> airways</a:t>
                      </a:r>
                      <a:r>
                        <a:rPr sz="1400" spc="10" dirty="0">
                          <a:solidFill>
                            <a:schemeClr val="tx1"/>
                          </a:solidFill>
                          <a:latin typeface="Arial"/>
                          <a:cs typeface="Arial"/>
                        </a:rPr>
                        <a:t> </a:t>
                      </a:r>
                      <a:r>
                        <a:rPr sz="1400" dirty="0">
                          <a:solidFill>
                            <a:schemeClr val="tx1"/>
                          </a:solidFill>
                          <a:latin typeface="Arial"/>
                          <a:cs typeface="Arial"/>
                        </a:rPr>
                        <a:t>act</a:t>
                      </a:r>
                      <a:r>
                        <a:rPr sz="1400" spc="-25" dirty="0">
                          <a:solidFill>
                            <a:schemeClr val="tx1"/>
                          </a:solidFill>
                          <a:latin typeface="Arial"/>
                          <a:cs typeface="Arial"/>
                        </a:rPr>
                        <a:t> </a:t>
                      </a:r>
                      <a:r>
                        <a:rPr sz="1400" dirty="0">
                          <a:solidFill>
                            <a:schemeClr val="tx1"/>
                          </a:solidFill>
                          <a:latin typeface="Arial"/>
                          <a:cs typeface="Arial"/>
                        </a:rPr>
                        <a:t>as</a:t>
                      </a:r>
                      <a:r>
                        <a:rPr sz="1400" spc="-15" dirty="0">
                          <a:solidFill>
                            <a:schemeClr val="tx1"/>
                          </a:solidFill>
                          <a:latin typeface="Arial"/>
                          <a:cs typeface="Arial"/>
                        </a:rPr>
                        <a:t> </a:t>
                      </a:r>
                      <a:r>
                        <a:rPr sz="1400" spc="-5" dirty="0">
                          <a:solidFill>
                            <a:schemeClr val="tx1"/>
                          </a:solidFill>
                          <a:latin typeface="Arial"/>
                          <a:cs typeface="Arial"/>
                        </a:rPr>
                        <a:t>protective</a:t>
                      </a:r>
                      <a:r>
                        <a:rPr sz="1400" spc="-25" dirty="0">
                          <a:solidFill>
                            <a:schemeClr val="tx1"/>
                          </a:solidFill>
                          <a:latin typeface="Arial"/>
                          <a:cs typeface="Arial"/>
                        </a:rPr>
                        <a:t> </a:t>
                      </a:r>
                      <a:r>
                        <a:rPr sz="1400" dirty="0">
                          <a:solidFill>
                            <a:schemeClr val="tx1"/>
                          </a:solidFill>
                          <a:latin typeface="Arial"/>
                          <a:cs typeface="Arial"/>
                        </a:rPr>
                        <a:t>barriers</a:t>
                      </a:r>
                      <a:r>
                        <a:rPr sz="1400" spc="-35" dirty="0">
                          <a:solidFill>
                            <a:schemeClr val="tx1"/>
                          </a:solidFill>
                          <a:latin typeface="Arial"/>
                          <a:cs typeface="Arial"/>
                        </a:rPr>
                        <a:t> </a:t>
                      </a:r>
                      <a:r>
                        <a:rPr sz="1400" dirty="0">
                          <a:solidFill>
                            <a:schemeClr val="tx1"/>
                          </a:solidFill>
                          <a:latin typeface="Arial"/>
                          <a:cs typeface="Arial"/>
                        </a:rPr>
                        <a:t>against</a:t>
                      </a:r>
                      <a:r>
                        <a:rPr sz="1400" spc="-30" dirty="0">
                          <a:solidFill>
                            <a:schemeClr val="tx1"/>
                          </a:solidFill>
                          <a:latin typeface="Arial"/>
                          <a:cs typeface="Arial"/>
                        </a:rPr>
                        <a:t> </a:t>
                      </a:r>
                      <a:r>
                        <a:rPr sz="1400" dirty="0">
                          <a:solidFill>
                            <a:schemeClr val="tx1"/>
                          </a:solidFill>
                          <a:latin typeface="Arial"/>
                          <a:cs typeface="Arial"/>
                        </a:rPr>
                        <a:t>foreign</a:t>
                      </a:r>
                      <a:r>
                        <a:rPr lang="en-US" sz="1400" dirty="0">
                          <a:solidFill>
                            <a:schemeClr val="tx1"/>
                          </a:solidFill>
                          <a:latin typeface="Arial"/>
                          <a:cs typeface="Arial"/>
                        </a:rPr>
                        <a:t> </a:t>
                      </a:r>
                      <a:r>
                        <a:rPr sz="1400" spc="-5" dirty="0">
                          <a:solidFill>
                            <a:schemeClr val="tx1"/>
                          </a:solidFill>
                          <a:latin typeface="Arial"/>
                          <a:cs typeface="Arial"/>
                        </a:rPr>
                        <a:t>substances</a:t>
                      </a:r>
                      <a:r>
                        <a:rPr sz="1400" spc="-40" dirty="0">
                          <a:solidFill>
                            <a:schemeClr val="tx1"/>
                          </a:solidFill>
                          <a:latin typeface="Arial"/>
                          <a:cs typeface="Arial"/>
                        </a:rPr>
                        <a:t> </a:t>
                      </a:r>
                      <a:r>
                        <a:rPr sz="1400" dirty="0">
                          <a:solidFill>
                            <a:schemeClr val="tx1"/>
                          </a:solidFill>
                          <a:latin typeface="Arial"/>
                          <a:cs typeface="Arial"/>
                        </a:rPr>
                        <a:t>such</a:t>
                      </a:r>
                      <a:r>
                        <a:rPr sz="1400" spc="-30" dirty="0">
                          <a:solidFill>
                            <a:schemeClr val="tx1"/>
                          </a:solidFill>
                          <a:latin typeface="Arial"/>
                          <a:cs typeface="Arial"/>
                        </a:rPr>
                        <a:t> </a:t>
                      </a:r>
                      <a:r>
                        <a:rPr sz="1400" dirty="0">
                          <a:solidFill>
                            <a:schemeClr val="tx1"/>
                          </a:solidFill>
                          <a:latin typeface="Arial"/>
                          <a:cs typeface="Arial"/>
                        </a:rPr>
                        <a:t>as</a:t>
                      </a:r>
                      <a:r>
                        <a:rPr sz="1400" spc="-15" dirty="0">
                          <a:solidFill>
                            <a:schemeClr val="tx1"/>
                          </a:solidFill>
                          <a:latin typeface="Arial"/>
                          <a:cs typeface="Arial"/>
                        </a:rPr>
                        <a:t> </a:t>
                      </a:r>
                      <a:r>
                        <a:rPr sz="1400" spc="-5" dirty="0">
                          <a:solidFill>
                            <a:schemeClr val="tx1"/>
                          </a:solidFill>
                          <a:latin typeface="Arial"/>
                          <a:cs typeface="Arial"/>
                        </a:rPr>
                        <a:t>noxious </a:t>
                      </a:r>
                      <a:r>
                        <a:rPr sz="1400" dirty="0">
                          <a:solidFill>
                            <a:schemeClr val="tx1"/>
                          </a:solidFill>
                          <a:latin typeface="Arial"/>
                          <a:cs typeface="Arial"/>
                        </a:rPr>
                        <a:t>agents</a:t>
                      </a:r>
                      <a:r>
                        <a:rPr sz="1400" spc="-10" dirty="0">
                          <a:solidFill>
                            <a:schemeClr val="tx1"/>
                          </a:solidFill>
                          <a:latin typeface="Arial"/>
                          <a:cs typeface="Arial"/>
                        </a:rPr>
                        <a:t> </a:t>
                      </a:r>
                      <a:r>
                        <a:rPr sz="1400" dirty="0">
                          <a:solidFill>
                            <a:schemeClr val="tx1"/>
                          </a:solidFill>
                          <a:latin typeface="Arial"/>
                          <a:cs typeface="Arial"/>
                        </a:rPr>
                        <a:t>and</a:t>
                      </a:r>
                      <a:r>
                        <a:rPr sz="1400" spc="-20" dirty="0">
                          <a:solidFill>
                            <a:schemeClr val="tx1"/>
                          </a:solidFill>
                          <a:latin typeface="Arial"/>
                          <a:cs typeface="Arial"/>
                        </a:rPr>
                        <a:t> </a:t>
                      </a:r>
                      <a:r>
                        <a:rPr sz="1400" dirty="0">
                          <a:solidFill>
                            <a:schemeClr val="tx1"/>
                          </a:solidFill>
                          <a:latin typeface="Arial"/>
                          <a:cs typeface="Arial"/>
                        </a:rPr>
                        <a:t>pathogens</a:t>
                      </a:r>
                      <a:r>
                        <a:rPr sz="1400" baseline="24691" dirty="0">
                          <a:solidFill>
                            <a:schemeClr val="tx1"/>
                          </a:solidFill>
                          <a:latin typeface="Arial"/>
                          <a:cs typeface="Arial"/>
                        </a:rPr>
                        <a:t>1,2</a:t>
                      </a:r>
                    </a:p>
                    <a:p>
                      <a:pPr marL="28575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spc="5" dirty="0">
                          <a:solidFill>
                            <a:schemeClr val="tx1"/>
                          </a:solidFill>
                          <a:latin typeface="Arial"/>
                          <a:cs typeface="Arial"/>
                        </a:rPr>
                        <a:t>When</a:t>
                      </a:r>
                      <a:r>
                        <a:rPr sz="1400" spc="-45" dirty="0">
                          <a:solidFill>
                            <a:schemeClr val="tx1"/>
                          </a:solidFill>
                          <a:latin typeface="Arial"/>
                          <a:cs typeface="Arial"/>
                        </a:rPr>
                        <a:t> </a:t>
                      </a:r>
                      <a:r>
                        <a:rPr sz="1400" spc="-5" dirty="0">
                          <a:solidFill>
                            <a:schemeClr val="tx1"/>
                          </a:solidFill>
                          <a:latin typeface="Arial"/>
                          <a:cs typeface="Arial"/>
                        </a:rPr>
                        <a:t>exposed</a:t>
                      </a:r>
                      <a:r>
                        <a:rPr sz="1400" spc="-15" dirty="0">
                          <a:solidFill>
                            <a:schemeClr val="tx1"/>
                          </a:solidFill>
                          <a:latin typeface="Arial"/>
                          <a:cs typeface="Arial"/>
                        </a:rPr>
                        <a:t> </a:t>
                      </a:r>
                      <a:r>
                        <a:rPr sz="1400" dirty="0">
                          <a:solidFill>
                            <a:schemeClr val="tx1"/>
                          </a:solidFill>
                          <a:latin typeface="Arial"/>
                          <a:cs typeface="Arial"/>
                        </a:rPr>
                        <a:t>to</a:t>
                      </a:r>
                      <a:r>
                        <a:rPr sz="1400" spc="-20" dirty="0">
                          <a:solidFill>
                            <a:schemeClr val="tx1"/>
                          </a:solidFill>
                          <a:latin typeface="Arial"/>
                          <a:cs typeface="Arial"/>
                        </a:rPr>
                        <a:t> </a:t>
                      </a:r>
                      <a:r>
                        <a:rPr sz="1400" dirty="0">
                          <a:solidFill>
                            <a:schemeClr val="tx1"/>
                          </a:solidFill>
                          <a:latin typeface="Arial"/>
                          <a:cs typeface="Arial"/>
                        </a:rPr>
                        <a:t>COPD</a:t>
                      </a:r>
                      <a:r>
                        <a:rPr sz="1400" spc="5" dirty="0">
                          <a:solidFill>
                            <a:schemeClr val="tx1"/>
                          </a:solidFill>
                          <a:latin typeface="Arial"/>
                          <a:cs typeface="Arial"/>
                        </a:rPr>
                        <a:t> </a:t>
                      </a:r>
                      <a:r>
                        <a:rPr sz="1400" dirty="0">
                          <a:solidFill>
                            <a:schemeClr val="tx1"/>
                          </a:solidFill>
                          <a:latin typeface="Arial"/>
                          <a:cs typeface="Arial"/>
                        </a:rPr>
                        <a:t>risk</a:t>
                      </a:r>
                      <a:r>
                        <a:rPr sz="1400" spc="-10" dirty="0">
                          <a:solidFill>
                            <a:schemeClr val="tx1"/>
                          </a:solidFill>
                          <a:latin typeface="Arial"/>
                          <a:cs typeface="Arial"/>
                        </a:rPr>
                        <a:t> </a:t>
                      </a:r>
                      <a:r>
                        <a:rPr sz="1400" spc="-5" dirty="0">
                          <a:solidFill>
                            <a:schemeClr val="tx1"/>
                          </a:solidFill>
                          <a:latin typeface="Arial"/>
                          <a:cs typeface="Arial"/>
                        </a:rPr>
                        <a:t>factors,</a:t>
                      </a:r>
                      <a:r>
                        <a:rPr sz="1400" spc="-50" dirty="0">
                          <a:solidFill>
                            <a:schemeClr val="tx1"/>
                          </a:solidFill>
                          <a:latin typeface="Arial"/>
                          <a:cs typeface="Arial"/>
                        </a:rPr>
                        <a:t> </a:t>
                      </a:r>
                      <a:r>
                        <a:rPr sz="1400" dirty="0">
                          <a:solidFill>
                            <a:schemeClr val="tx1"/>
                          </a:solidFill>
                          <a:latin typeface="Arial"/>
                          <a:cs typeface="Arial"/>
                        </a:rPr>
                        <a:t>these</a:t>
                      </a:r>
                      <a:r>
                        <a:rPr sz="1400" spc="-25" dirty="0">
                          <a:solidFill>
                            <a:schemeClr val="tx1"/>
                          </a:solidFill>
                          <a:latin typeface="Arial"/>
                          <a:cs typeface="Arial"/>
                        </a:rPr>
                        <a:t> </a:t>
                      </a:r>
                      <a:r>
                        <a:rPr sz="1400" dirty="0">
                          <a:solidFill>
                            <a:schemeClr val="tx1"/>
                          </a:solidFill>
                          <a:latin typeface="Arial"/>
                          <a:cs typeface="Arial"/>
                        </a:rPr>
                        <a:t>cells</a:t>
                      </a:r>
                      <a:r>
                        <a:rPr sz="1400" spc="-15" dirty="0">
                          <a:solidFill>
                            <a:schemeClr val="tx1"/>
                          </a:solidFill>
                          <a:latin typeface="Arial"/>
                          <a:cs typeface="Arial"/>
                        </a:rPr>
                        <a:t> </a:t>
                      </a:r>
                      <a:r>
                        <a:rPr sz="1400" dirty="0">
                          <a:solidFill>
                            <a:schemeClr val="tx1"/>
                          </a:solidFill>
                          <a:latin typeface="Arial"/>
                          <a:cs typeface="Arial"/>
                        </a:rPr>
                        <a:t>react</a:t>
                      </a:r>
                      <a:r>
                        <a:rPr sz="1400" spc="-35" dirty="0">
                          <a:solidFill>
                            <a:schemeClr val="tx1"/>
                          </a:solidFill>
                          <a:latin typeface="Arial"/>
                          <a:cs typeface="Arial"/>
                        </a:rPr>
                        <a:t> </a:t>
                      </a:r>
                      <a:r>
                        <a:rPr sz="1400" dirty="0">
                          <a:solidFill>
                            <a:schemeClr val="tx1"/>
                          </a:solidFill>
                          <a:latin typeface="Arial"/>
                          <a:cs typeface="Arial"/>
                        </a:rPr>
                        <a:t>by releasing</a:t>
                      </a:r>
                      <a:r>
                        <a:rPr lang="en-US" sz="1400" dirty="0">
                          <a:solidFill>
                            <a:schemeClr val="tx1"/>
                          </a:solidFill>
                          <a:latin typeface="Arial"/>
                          <a:cs typeface="Arial"/>
                        </a:rPr>
                        <a:t> </a:t>
                      </a:r>
                      <a:r>
                        <a:rPr sz="1400" dirty="0">
                          <a:solidFill>
                            <a:schemeClr val="tx1"/>
                          </a:solidFill>
                          <a:latin typeface="Arial"/>
                          <a:cs typeface="Arial"/>
                        </a:rPr>
                        <a:t>inflammatory</a:t>
                      </a:r>
                      <a:r>
                        <a:rPr sz="1400" spc="-55" dirty="0">
                          <a:solidFill>
                            <a:schemeClr val="tx1"/>
                          </a:solidFill>
                          <a:latin typeface="Arial"/>
                          <a:cs typeface="Arial"/>
                        </a:rPr>
                        <a:t> </a:t>
                      </a:r>
                      <a:r>
                        <a:rPr sz="1400" dirty="0">
                          <a:solidFill>
                            <a:schemeClr val="tx1"/>
                          </a:solidFill>
                          <a:latin typeface="Arial"/>
                          <a:cs typeface="Arial"/>
                        </a:rPr>
                        <a:t>mediators</a:t>
                      </a:r>
                      <a:r>
                        <a:rPr sz="1400" baseline="24691" dirty="0">
                          <a:solidFill>
                            <a:schemeClr val="tx1"/>
                          </a:solidFill>
                          <a:latin typeface="Arial"/>
                          <a:cs typeface="Arial"/>
                        </a:rPr>
                        <a:t>1</a:t>
                      </a:r>
                      <a:r>
                        <a:rPr lang="en-US" sz="1400" baseline="24691" dirty="0">
                          <a:solidFill>
                            <a:schemeClr val="tx1"/>
                          </a:solidFill>
                          <a:latin typeface="Arial"/>
                          <a:cs typeface="Arial"/>
                        </a:rPr>
                        <a:t>, 2</a:t>
                      </a:r>
                      <a:endParaRPr sz="1400" baseline="24691" dirty="0">
                        <a:solidFill>
                          <a:schemeClr val="tx1"/>
                        </a:solidFill>
                        <a:latin typeface="Arial"/>
                        <a:cs typeface="Arial"/>
                      </a:endParaRPr>
                    </a:p>
                    <a:p>
                      <a:pPr marL="285750" marR="27114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dirty="0">
                          <a:solidFill>
                            <a:schemeClr val="tx1"/>
                          </a:solidFill>
                          <a:latin typeface="Arial"/>
                          <a:cs typeface="Arial"/>
                        </a:rPr>
                        <a:t>These</a:t>
                      </a:r>
                      <a:r>
                        <a:rPr sz="1400" spc="-20" dirty="0">
                          <a:solidFill>
                            <a:schemeClr val="tx1"/>
                          </a:solidFill>
                          <a:latin typeface="Arial"/>
                          <a:cs typeface="Arial"/>
                        </a:rPr>
                        <a:t> </a:t>
                      </a:r>
                      <a:r>
                        <a:rPr sz="1400" dirty="0">
                          <a:solidFill>
                            <a:schemeClr val="tx1"/>
                          </a:solidFill>
                          <a:latin typeface="Arial"/>
                          <a:cs typeface="Arial"/>
                        </a:rPr>
                        <a:t>include</a:t>
                      </a:r>
                      <a:r>
                        <a:rPr sz="1400" spc="-30" dirty="0">
                          <a:solidFill>
                            <a:schemeClr val="tx1"/>
                          </a:solidFill>
                          <a:latin typeface="Arial"/>
                          <a:cs typeface="Arial"/>
                        </a:rPr>
                        <a:t> </a:t>
                      </a:r>
                      <a:r>
                        <a:rPr sz="1400" dirty="0">
                          <a:solidFill>
                            <a:schemeClr val="tx1"/>
                          </a:solidFill>
                          <a:latin typeface="Arial"/>
                          <a:cs typeface="Arial"/>
                        </a:rPr>
                        <a:t>the</a:t>
                      </a:r>
                      <a:r>
                        <a:rPr sz="1400" spc="-15" dirty="0">
                          <a:solidFill>
                            <a:schemeClr val="tx1"/>
                          </a:solidFill>
                          <a:latin typeface="Arial"/>
                          <a:cs typeface="Arial"/>
                        </a:rPr>
                        <a:t> </a:t>
                      </a:r>
                      <a:r>
                        <a:rPr sz="1400" spc="-5" dirty="0">
                          <a:solidFill>
                            <a:schemeClr val="tx1"/>
                          </a:solidFill>
                          <a:latin typeface="Arial"/>
                          <a:cs typeface="Arial"/>
                        </a:rPr>
                        <a:t>growth</a:t>
                      </a:r>
                      <a:r>
                        <a:rPr sz="1400" spc="-15" dirty="0">
                          <a:solidFill>
                            <a:schemeClr val="tx1"/>
                          </a:solidFill>
                          <a:latin typeface="Arial"/>
                          <a:cs typeface="Arial"/>
                        </a:rPr>
                        <a:t> </a:t>
                      </a:r>
                      <a:r>
                        <a:rPr sz="1400" dirty="0">
                          <a:solidFill>
                            <a:schemeClr val="tx1"/>
                          </a:solidFill>
                          <a:latin typeface="Arial"/>
                          <a:cs typeface="Arial"/>
                        </a:rPr>
                        <a:t>factor</a:t>
                      </a:r>
                      <a:r>
                        <a:rPr sz="1400" spc="-60" dirty="0">
                          <a:solidFill>
                            <a:schemeClr val="tx1"/>
                          </a:solidFill>
                          <a:latin typeface="Arial"/>
                          <a:cs typeface="Arial"/>
                        </a:rPr>
                        <a:t> </a:t>
                      </a:r>
                      <a:r>
                        <a:rPr sz="1400" spc="-5" dirty="0">
                          <a:solidFill>
                            <a:schemeClr val="tx1"/>
                          </a:solidFill>
                          <a:latin typeface="Arial"/>
                          <a:cs typeface="Arial"/>
                        </a:rPr>
                        <a:t>TGF-β,</a:t>
                      </a:r>
                      <a:r>
                        <a:rPr sz="1400" spc="-25" dirty="0">
                          <a:solidFill>
                            <a:schemeClr val="tx1"/>
                          </a:solidFill>
                          <a:latin typeface="Arial"/>
                          <a:cs typeface="Arial"/>
                        </a:rPr>
                        <a:t> </a:t>
                      </a:r>
                      <a:r>
                        <a:rPr sz="1400" spc="-5" dirty="0">
                          <a:solidFill>
                            <a:schemeClr val="tx1"/>
                          </a:solidFill>
                          <a:latin typeface="Arial"/>
                          <a:cs typeface="Arial"/>
                        </a:rPr>
                        <a:t>which</a:t>
                      </a:r>
                      <a:r>
                        <a:rPr sz="1400" dirty="0">
                          <a:solidFill>
                            <a:schemeClr val="tx1"/>
                          </a:solidFill>
                          <a:latin typeface="Arial"/>
                          <a:cs typeface="Arial"/>
                        </a:rPr>
                        <a:t> </a:t>
                      </a:r>
                      <a:r>
                        <a:rPr sz="1400" spc="-5" dirty="0">
                          <a:solidFill>
                            <a:schemeClr val="tx1"/>
                          </a:solidFill>
                          <a:latin typeface="Arial"/>
                          <a:cs typeface="Arial"/>
                        </a:rPr>
                        <a:t>stimulates</a:t>
                      </a:r>
                      <a:r>
                        <a:rPr sz="1400" spc="-35" dirty="0">
                          <a:solidFill>
                            <a:schemeClr val="tx1"/>
                          </a:solidFill>
                          <a:latin typeface="Arial"/>
                          <a:cs typeface="Arial"/>
                        </a:rPr>
                        <a:t> </a:t>
                      </a:r>
                      <a:r>
                        <a:rPr sz="1400" spc="-5" dirty="0">
                          <a:solidFill>
                            <a:schemeClr val="tx1"/>
                          </a:solidFill>
                          <a:latin typeface="Arial"/>
                          <a:cs typeface="Arial"/>
                        </a:rPr>
                        <a:t>fibroblast</a:t>
                      </a:r>
                      <a:r>
                        <a:rPr sz="1400" spc="-30" dirty="0">
                          <a:solidFill>
                            <a:schemeClr val="tx1"/>
                          </a:solidFill>
                          <a:latin typeface="Arial"/>
                          <a:cs typeface="Arial"/>
                        </a:rPr>
                        <a:t> </a:t>
                      </a:r>
                      <a:r>
                        <a:rPr sz="1400" spc="-5" dirty="0">
                          <a:solidFill>
                            <a:schemeClr val="tx1"/>
                          </a:solidFill>
                          <a:latin typeface="Arial"/>
                          <a:cs typeface="Arial"/>
                        </a:rPr>
                        <a:t>cells</a:t>
                      </a:r>
                      <a:r>
                        <a:rPr sz="1400" spc="-25" dirty="0">
                          <a:solidFill>
                            <a:schemeClr val="tx1"/>
                          </a:solidFill>
                          <a:latin typeface="Arial"/>
                          <a:cs typeface="Arial"/>
                        </a:rPr>
                        <a:t> </a:t>
                      </a:r>
                      <a:r>
                        <a:rPr sz="1400" spc="-5" dirty="0">
                          <a:solidFill>
                            <a:schemeClr val="tx1"/>
                          </a:solidFill>
                          <a:latin typeface="Arial"/>
                          <a:cs typeface="Arial"/>
                        </a:rPr>
                        <a:t>and</a:t>
                      </a:r>
                      <a:r>
                        <a:rPr lang="en-US" sz="1400" spc="-5" dirty="0">
                          <a:solidFill>
                            <a:schemeClr val="tx1"/>
                          </a:solidFill>
                          <a:latin typeface="Arial"/>
                          <a:cs typeface="Arial"/>
                        </a:rPr>
                        <a:t> </a:t>
                      </a:r>
                      <a:r>
                        <a:rPr sz="1400" dirty="0">
                          <a:solidFill>
                            <a:schemeClr val="tx1"/>
                          </a:solidFill>
                          <a:latin typeface="Arial"/>
                          <a:cs typeface="Arial"/>
                        </a:rPr>
                        <a:t>leads</a:t>
                      </a:r>
                      <a:r>
                        <a:rPr sz="1400" spc="-35" dirty="0">
                          <a:solidFill>
                            <a:schemeClr val="tx1"/>
                          </a:solidFill>
                          <a:latin typeface="Arial"/>
                          <a:cs typeface="Arial"/>
                        </a:rPr>
                        <a:t> </a:t>
                      </a:r>
                      <a:r>
                        <a:rPr sz="1400" dirty="0">
                          <a:solidFill>
                            <a:schemeClr val="tx1"/>
                          </a:solidFill>
                          <a:latin typeface="Arial"/>
                          <a:cs typeface="Arial"/>
                        </a:rPr>
                        <a:t>to</a:t>
                      </a:r>
                      <a:r>
                        <a:rPr sz="1400" spc="-10" dirty="0">
                          <a:solidFill>
                            <a:schemeClr val="tx1"/>
                          </a:solidFill>
                          <a:latin typeface="Arial"/>
                          <a:cs typeface="Arial"/>
                        </a:rPr>
                        <a:t> </a:t>
                      </a:r>
                      <a:r>
                        <a:rPr sz="1400" spc="-5" dirty="0">
                          <a:solidFill>
                            <a:schemeClr val="tx1"/>
                          </a:solidFill>
                          <a:latin typeface="Arial"/>
                          <a:cs typeface="Arial"/>
                        </a:rPr>
                        <a:t>airway</a:t>
                      </a:r>
                      <a:r>
                        <a:rPr sz="1400" spc="-15" dirty="0">
                          <a:solidFill>
                            <a:schemeClr val="tx1"/>
                          </a:solidFill>
                          <a:latin typeface="Arial"/>
                          <a:cs typeface="Arial"/>
                        </a:rPr>
                        <a:t> </a:t>
                      </a:r>
                      <a:r>
                        <a:rPr sz="1400" spc="5" dirty="0">
                          <a:solidFill>
                            <a:schemeClr val="tx1"/>
                          </a:solidFill>
                          <a:latin typeface="Arial"/>
                          <a:cs typeface="Arial"/>
                        </a:rPr>
                        <a:t>fibrosis</a:t>
                      </a:r>
                      <a:r>
                        <a:rPr sz="1400" spc="7" baseline="24691" dirty="0">
                          <a:solidFill>
                            <a:schemeClr val="tx1"/>
                          </a:solidFill>
                          <a:latin typeface="Arial"/>
                          <a:cs typeface="Arial"/>
                        </a:rPr>
                        <a:t>1–3</a:t>
                      </a:r>
                      <a:endParaRPr sz="1400" baseline="24691" dirty="0">
                        <a:solidFill>
                          <a:schemeClr val="tx1"/>
                        </a:solidFill>
                        <a:latin typeface="Arial"/>
                        <a:cs typeface="Arial"/>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20000"/>
                        <a:lumOff val="80000"/>
                      </a:srgbClr>
                    </a:solidFill>
                  </a:tcPr>
                </a:tc>
                <a:extLst>
                  <a:ext uri="{0D108BD9-81ED-4DB2-BD59-A6C34878D82A}">
                    <a16:rowId xmlns:a16="http://schemas.microsoft.com/office/drawing/2014/main" val="10001"/>
                  </a:ext>
                </a:extLst>
              </a:tr>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indent="0">
                        <a:lnSpc>
                          <a:spcPct val="100000"/>
                        </a:lnSpc>
                        <a:spcBef>
                          <a:spcPts val="0"/>
                        </a:spcBef>
                        <a:buClr>
                          <a:schemeClr val="tx2"/>
                        </a:buClr>
                        <a:buFont typeface="Arial" panose="020B0604020202020204" pitchFamily="34" charset="0"/>
                        <a:buNone/>
                      </a:pPr>
                      <a:r>
                        <a:rPr sz="1600" b="1" spc="5" dirty="0">
                          <a:solidFill>
                            <a:schemeClr val="bg1"/>
                          </a:solidFill>
                          <a:latin typeface="Arial"/>
                          <a:cs typeface="Arial"/>
                        </a:rPr>
                        <a:t>Mast</a:t>
                      </a:r>
                      <a:r>
                        <a:rPr sz="1600" b="1" spc="-65" dirty="0">
                          <a:solidFill>
                            <a:schemeClr val="bg1"/>
                          </a:solidFill>
                          <a:latin typeface="Arial"/>
                          <a:cs typeface="Arial"/>
                        </a:rPr>
                        <a:t> </a:t>
                      </a:r>
                      <a:r>
                        <a:rPr sz="1600" b="1" dirty="0">
                          <a:solidFill>
                            <a:schemeClr val="bg1"/>
                          </a:solidFill>
                          <a:latin typeface="Arial"/>
                          <a:cs typeface="Arial"/>
                        </a:rPr>
                        <a:t>cells</a:t>
                      </a:r>
                      <a:endParaRPr sz="1600" dirty="0">
                        <a:solidFill>
                          <a:schemeClr val="bg1"/>
                        </a:solidFill>
                        <a:latin typeface="Arial"/>
                        <a:cs typeface="Arial"/>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10002"/>
                  </a:ext>
                </a:extLst>
              </a:tr>
              <a:tr h="92729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dirty="0">
                          <a:solidFill>
                            <a:schemeClr val="tx1"/>
                          </a:solidFill>
                          <a:latin typeface="Arial"/>
                          <a:cs typeface="Arial"/>
                        </a:rPr>
                        <a:t>These</a:t>
                      </a:r>
                      <a:r>
                        <a:rPr sz="1400" spc="-35" dirty="0">
                          <a:solidFill>
                            <a:schemeClr val="tx1"/>
                          </a:solidFill>
                          <a:latin typeface="Arial"/>
                          <a:cs typeface="Arial"/>
                        </a:rPr>
                        <a:t> </a:t>
                      </a:r>
                      <a:r>
                        <a:rPr sz="1400" dirty="0">
                          <a:solidFill>
                            <a:schemeClr val="tx1"/>
                          </a:solidFill>
                          <a:latin typeface="Arial"/>
                          <a:cs typeface="Arial"/>
                        </a:rPr>
                        <a:t>cells</a:t>
                      </a:r>
                      <a:r>
                        <a:rPr sz="1400" spc="-15" dirty="0">
                          <a:solidFill>
                            <a:schemeClr val="tx1"/>
                          </a:solidFill>
                          <a:latin typeface="Arial"/>
                          <a:cs typeface="Arial"/>
                        </a:rPr>
                        <a:t> </a:t>
                      </a:r>
                      <a:r>
                        <a:rPr sz="1400" dirty="0">
                          <a:solidFill>
                            <a:schemeClr val="tx1"/>
                          </a:solidFill>
                          <a:latin typeface="Arial"/>
                          <a:cs typeface="Arial"/>
                        </a:rPr>
                        <a:t>are</a:t>
                      </a:r>
                      <a:r>
                        <a:rPr sz="1400" spc="-20" dirty="0">
                          <a:solidFill>
                            <a:schemeClr val="tx1"/>
                          </a:solidFill>
                          <a:latin typeface="Arial"/>
                          <a:cs typeface="Arial"/>
                        </a:rPr>
                        <a:t> </a:t>
                      </a:r>
                      <a:r>
                        <a:rPr sz="1400" dirty="0">
                          <a:solidFill>
                            <a:schemeClr val="tx1"/>
                          </a:solidFill>
                          <a:latin typeface="Arial"/>
                          <a:cs typeface="Arial"/>
                        </a:rPr>
                        <a:t>present</a:t>
                      </a:r>
                      <a:r>
                        <a:rPr sz="1400" spc="-40" dirty="0">
                          <a:solidFill>
                            <a:schemeClr val="tx1"/>
                          </a:solidFill>
                          <a:latin typeface="Arial"/>
                          <a:cs typeface="Arial"/>
                        </a:rPr>
                        <a:t> </a:t>
                      </a:r>
                      <a:r>
                        <a:rPr sz="1400" dirty="0">
                          <a:solidFill>
                            <a:schemeClr val="tx1"/>
                          </a:solidFill>
                          <a:latin typeface="Arial"/>
                          <a:cs typeface="Arial"/>
                        </a:rPr>
                        <a:t>in</a:t>
                      </a:r>
                      <a:r>
                        <a:rPr sz="1400" spc="-10" dirty="0">
                          <a:solidFill>
                            <a:schemeClr val="tx1"/>
                          </a:solidFill>
                          <a:latin typeface="Arial"/>
                          <a:cs typeface="Arial"/>
                        </a:rPr>
                        <a:t> </a:t>
                      </a:r>
                      <a:r>
                        <a:rPr sz="1400" dirty="0">
                          <a:solidFill>
                            <a:schemeClr val="tx1"/>
                          </a:solidFill>
                          <a:latin typeface="Arial"/>
                          <a:cs typeface="Arial"/>
                        </a:rPr>
                        <a:t>the</a:t>
                      </a:r>
                      <a:r>
                        <a:rPr sz="1400" spc="-30" dirty="0">
                          <a:solidFill>
                            <a:schemeClr val="tx1"/>
                          </a:solidFill>
                          <a:latin typeface="Arial"/>
                          <a:cs typeface="Arial"/>
                        </a:rPr>
                        <a:t> </a:t>
                      </a:r>
                      <a:r>
                        <a:rPr sz="1400" dirty="0">
                          <a:solidFill>
                            <a:schemeClr val="tx1"/>
                          </a:solidFill>
                          <a:latin typeface="Arial"/>
                          <a:cs typeface="Arial"/>
                        </a:rPr>
                        <a:t>bloodstream</a:t>
                      </a:r>
                      <a:r>
                        <a:rPr sz="1400" spc="-50" dirty="0">
                          <a:solidFill>
                            <a:schemeClr val="tx1"/>
                          </a:solidFill>
                          <a:latin typeface="Arial"/>
                          <a:cs typeface="Arial"/>
                        </a:rPr>
                        <a:t> </a:t>
                      </a:r>
                      <a:r>
                        <a:rPr sz="1400" dirty="0">
                          <a:solidFill>
                            <a:schemeClr val="tx1"/>
                          </a:solidFill>
                          <a:latin typeface="Arial"/>
                          <a:cs typeface="Arial"/>
                        </a:rPr>
                        <a:t>and</a:t>
                      </a:r>
                      <a:r>
                        <a:rPr sz="1400" spc="-20" dirty="0">
                          <a:solidFill>
                            <a:schemeClr val="tx1"/>
                          </a:solidFill>
                          <a:latin typeface="Arial"/>
                          <a:cs typeface="Arial"/>
                        </a:rPr>
                        <a:t> </a:t>
                      </a:r>
                      <a:r>
                        <a:rPr sz="1400" dirty="0">
                          <a:solidFill>
                            <a:schemeClr val="tx1"/>
                          </a:solidFill>
                          <a:latin typeface="Arial"/>
                          <a:cs typeface="Arial"/>
                        </a:rPr>
                        <a:t>play</a:t>
                      </a:r>
                      <a:r>
                        <a:rPr sz="1400" spc="-15" dirty="0">
                          <a:solidFill>
                            <a:schemeClr val="tx1"/>
                          </a:solidFill>
                          <a:latin typeface="Arial"/>
                          <a:cs typeface="Arial"/>
                        </a:rPr>
                        <a:t> </a:t>
                      </a:r>
                      <a:r>
                        <a:rPr sz="1400" dirty="0">
                          <a:solidFill>
                            <a:schemeClr val="tx1"/>
                          </a:solidFill>
                          <a:latin typeface="Arial"/>
                          <a:cs typeface="Arial"/>
                        </a:rPr>
                        <a:t>a</a:t>
                      </a:r>
                      <a:r>
                        <a:rPr sz="1400" spc="-10" dirty="0">
                          <a:solidFill>
                            <a:schemeClr val="tx1"/>
                          </a:solidFill>
                          <a:latin typeface="Arial"/>
                          <a:cs typeface="Arial"/>
                        </a:rPr>
                        <a:t> </a:t>
                      </a:r>
                      <a:r>
                        <a:rPr sz="1400" dirty="0">
                          <a:solidFill>
                            <a:schemeClr val="tx1"/>
                          </a:solidFill>
                          <a:latin typeface="Arial"/>
                          <a:cs typeface="Arial"/>
                        </a:rPr>
                        <a:t>key</a:t>
                      </a:r>
                      <a:r>
                        <a:rPr sz="1400" spc="-25" dirty="0">
                          <a:solidFill>
                            <a:schemeClr val="tx1"/>
                          </a:solidFill>
                          <a:latin typeface="Arial"/>
                          <a:cs typeface="Arial"/>
                        </a:rPr>
                        <a:t> </a:t>
                      </a:r>
                      <a:r>
                        <a:rPr sz="1400" dirty="0">
                          <a:solidFill>
                            <a:schemeClr val="tx1"/>
                          </a:solidFill>
                          <a:latin typeface="Arial"/>
                          <a:cs typeface="Arial"/>
                        </a:rPr>
                        <a:t>role</a:t>
                      </a:r>
                      <a:r>
                        <a:rPr sz="1400" spc="-10" dirty="0">
                          <a:solidFill>
                            <a:schemeClr val="tx1"/>
                          </a:solidFill>
                          <a:latin typeface="Arial"/>
                          <a:cs typeface="Arial"/>
                        </a:rPr>
                        <a:t> </a:t>
                      </a:r>
                      <a:r>
                        <a:rPr sz="1400" dirty="0">
                          <a:solidFill>
                            <a:schemeClr val="tx1"/>
                          </a:solidFill>
                          <a:latin typeface="Arial"/>
                          <a:cs typeface="Arial"/>
                        </a:rPr>
                        <a:t>in</a:t>
                      </a:r>
                      <a:r>
                        <a:rPr sz="1400" spc="-20" dirty="0">
                          <a:solidFill>
                            <a:schemeClr val="tx1"/>
                          </a:solidFill>
                          <a:latin typeface="Arial"/>
                          <a:cs typeface="Arial"/>
                        </a:rPr>
                        <a:t> </a:t>
                      </a:r>
                      <a:r>
                        <a:rPr sz="1400" dirty="0">
                          <a:solidFill>
                            <a:schemeClr val="tx1"/>
                          </a:solidFill>
                          <a:latin typeface="Arial"/>
                          <a:cs typeface="Arial"/>
                        </a:rPr>
                        <a:t>COPD</a:t>
                      </a:r>
                      <a:r>
                        <a:rPr sz="1400" spc="-5" dirty="0">
                          <a:solidFill>
                            <a:schemeClr val="tx1"/>
                          </a:solidFill>
                          <a:latin typeface="Arial"/>
                          <a:cs typeface="Arial"/>
                        </a:rPr>
                        <a:t> </a:t>
                      </a:r>
                      <a:r>
                        <a:rPr sz="1400" dirty="0">
                          <a:solidFill>
                            <a:schemeClr val="tx1"/>
                          </a:solidFill>
                          <a:latin typeface="Arial"/>
                          <a:cs typeface="Arial"/>
                        </a:rPr>
                        <a:t>by</a:t>
                      </a:r>
                      <a:r>
                        <a:rPr lang="en-US" sz="1400" dirty="0">
                          <a:solidFill>
                            <a:schemeClr val="tx1"/>
                          </a:solidFill>
                          <a:latin typeface="Arial"/>
                          <a:cs typeface="Arial"/>
                        </a:rPr>
                        <a:t> </a:t>
                      </a:r>
                      <a:r>
                        <a:rPr sz="1400" dirty="0">
                          <a:solidFill>
                            <a:schemeClr val="tx1"/>
                          </a:solidFill>
                          <a:latin typeface="Arial"/>
                          <a:cs typeface="Arial"/>
                        </a:rPr>
                        <a:t>releasing</a:t>
                      </a:r>
                      <a:r>
                        <a:rPr sz="1400" spc="-45" dirty="0">
                          <a:solidFill>
                            <a:schemeClr val="tx1"/>
                          </a:solidFill>
                          <a:latin typeface="Arial"/>
                          <a:cs typeface="Arial"/>
                        </a:rPr>
                        <a:t> </a:t>
                      </a:r>
                      <a:r>
                        <a:rPr sz="1400" dirty="0">
                          <a:solidFill>
                            <a:schemeClr val="tx1"/>
                          </a:solidFill>
                          <a:latin typeface="Arial"/>
                          <a:cs typeface="Arial"/>
                        </a:rPr>
                        <a:t>histamine</a:t>
                      </a:r>
                      <a:r>
                        <a:rPr sz="1400" spc="-35" dirty="0">
                          <a:solidFill>
                            <a:schemeClr val="tx1"/>
                          </a:solidFill>
                          <a:latin typeface="Arial"/>
                          <a:cs typeface="Arial"/>
                        </a:rPr>
                        <a:t> </a:t>
                      </a:r>
                      <a:r>
                        <a:rPr sz="1400" dirty="0">
                          <a:solidFill>
                            <a:schemeClr val="tx1"/>
                          </a:solidFill>
                          <a:latin typeface="Arial"/>
                          <a:cs typeface="Arial"/>
                        </a:rPr>
                        <a:t>that</a:t>
                      </a:r>
                      <a:r>
                        <a:rPr sz="1400" spc="-25" dirty="0">
                          <a:solidFill>
                            <a:schemeClr val="tx1"/>
                          </a:solidFill>
                          <a:latin typeface="Arial"/>
                          <a:cs typeface="Arial"/>
                        </a:rPr>
                        <a:t> </a:t>
                      </a:r>
                      <a:r>
                        <a:rPr sz="1400" dirty="0">
                          <a:solidFill>
                            <a:schemeClr val="tx1"/>
                          </a:solidFill>
                          <a:latin typeface="Arial"/>
                          <a:cs typeface="Arial"/>
                        </a:rPr>
                        <a:t>causes</a:t>
                      </a:r>
                      <a:r>
                        <a:rPr sz="1400" spc="-40" dirty="0">
                          <a:solidFill>
                            <a:schemeClr val="tx1"/>
                          </a:solidFill>
                          <a:latin typeface="Arial"/>
                          <a:cs typeface="Arial"/>
                        </a:rPr>
                        <a:t> </a:t>
                      </a:r>
                      <a:r>
                        <a:rPr sz="1400" spc="-5" dirty="0">
                          <a:solidFill>
                            <a:schemeClr val="tx1"/>
                          </a:solidFill>
                          <a:latin typeface="Arial"/>
                          <a:cs typeface="Arial"/>
                        </a:rPr>
                        <a:t>airway</a:t>
                      </a:r>
                      <a:r>
                        <a:rPr sz="1400" dirty="0">
                          <a:solidFill>
                            <a:schemeClr val="tx1"/>
                          </a:solidFill>
                          <a:latin typeface="Arial"/>
                          <a:cs typeface="Arial"/>
                        </a:rPr>
                        <a:t> inflammation</a:t>
                      </a:r>
                      <a:r>
                        <a:rPr sz="1400" baseline="24691" dirty="0">
                          <a:solidFill>
                            <a:schemeClr val="tx1"/>
                          </a:solidFill>
                          <a:latin typeface="Arial"/>
                          <a:cs typeface="Arial"/>
                        </a:rPr>
                        <a:t>4</a:t>
                      </a:r>
                    </a:p>
                    <a:p>
                      <a:pPr marL="285750" marR="21018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dirty="0">
                          <a:solidFill>
                            <a:schemeClr val="tx1"/>
                          </a:solidFill>
                          <a:latin typeface="Arial"/>
                          <a:cs typeface="Arial"/>
                        </a:rPr>
                        <a:t>Mast cells stimulate the production of fibroblasts,</a:t>
                      </a:r>
                      <a:r>
                        <a:rPr sz="1400" baseline="24691" dirty="0">
                          <a:solidFill>
                            <a:schemeClr val="tx1"/>
                          </a:solidFill>
                          <a:latin typeface="Arial"/>
                          <a:cs typeface="Arial"/>
                        </a:rPr>
                        <a:t>4 </a:t>
                      </a:r>
                      <a:r>
                        <a:rPr sz="1400" spc="-5" dirty="0">
                          <a:solidFill>
                            <a:schemeClr val="tx1"/>
                          </a:solidFill>
                          <a:latin typeface="Arial"/>
                          <a:cs typeface="Arial"/>
                        </a:rPr>
                        <a:t>which </a:t>
                      </a:r>
                      <a:r>
                        <a:rPr sz="1400" dirty="0">
                          <a:solidFill>
                            <a:schemeClr val="tx1"/>
                          </a:solidFill>
                          <a:latin typeface="Arial"/>
                          <a:cs typeface="Arial"/>
                        </a:rPr>
                        <a:t>are responsible for</a:t>
                      </a:r>
                      <a:r>
                        <a:rPr lang="en-US" sz="1400" dirty="0">
                          <a:solidFill>
                            <a:schemeClr val="tx1"/>
                          </a:solidFill>
                          <a:latin typeface="Arial"/>
                          <a:cs typeface="Arial"/>
                        </a:rPr>
                        <a:t> </a:t>
                      </a:r>
                      <a:r>
                        <a:rPr sz="1400" dirty="0">
                          <a:solidFill>
                            <a:schemeClr val="tx1"/>
                          </a:solidFill>
                          <a:latin typeface="Arial"/>
                          <a:cs typeface="Arial"/>
                        </a:rPr>
                        <a:t>the production and maintenance of the extracellular </a:t>
                      </a:r>
                      <a:r>
                        <a:rPr sz="1400" spc="-5" dirty="0">
                          <a:solidFill>
                            <a:schemeClr val="tx1"/>
                          </a:solidFill>
                          <a:latin typeface="Arial"/>
                          <a:cs typeface="Arial"/>
                        </a:rPr>
                        <a:t>matrix. The </a:t>
                      </a:r>
                      <a:r>
                        <a:rPr sz="1400" dirty="0">
                          <a:solidFill>
                            <a:schemeClr val="tx1"/>
                          </a:solidFill>
                          <a:latin typeface="Arial"/>
                          <a:cs typeface="Arial"/>
                        </a:rPr>
                        <a:t>matrix is</a:t>
                      </a:r>
                      <a:r>
                        <a:rPr lang="en-US" sz="1400" dirty="0">
                          <a:solidFill>
                            <a:schemeClr val="tx1"/>
                          </a:solidFill>
                          <a:latin typeface="Arial"/>
                          <a:cs typeface="Arial"/>
                        </a:rPr>
                        <a:t> </a:t>
                      </a:r>
                      <a:r>
                        <a:rPr sz="1400" dirty="0">
                          <a:solidFill>
                            <a:schemeClr val="tx1"/>
                          </a:solidFill>
                          <a:latin typeface="Arial"/>
                          <a:cs typeface="Arial"/>
                        </a:rPr>
                        <a:t>composed of a highly </a:t>
                      </a:r>
                      <a:r>
                        <a:rPr sz="1400" spc="-5" dirty="0">
                          <a:solidFill>
                            <a:schemeClr val="tx1"/>
                          </a:solidFill>
                          <a:latin typeface="Arial"/>
                          <a:cs typeface="Arial"/>
                        </a:rPr>
                        <a:t>dynamic </a:t>
                      </a:r>
                      <a:r>
                        <a:rPr sz="1400" dirty="0">
                          <a:solidFill>
                            <a:schemeClr val="tx1"/>
                          </a:solidFill>
                          <a:latin typeface="Arial"/>
                          <a:cs typeface="Arial"/>
                        </a:rPr>
                        <a:t>complex of fibrous proteins (collagen),</a:t>
                      </a:r>
                      <a:r>
                        <a:rPr lang="en-US" sz="1400" dirty="0">
                          <a:solidFill>
                            <a:schemeClr val="tx1"/>
                          </a:solidFill>
                          <a:latin typeface="Arial"/>
                          <a:cs typeface="Arial"/>
                        </a:rPr>
                        <a:t> </a:t>
                      </a:r>
                      <a:r>
                        <a:rPr sz="1400" dirty="0">
                          <a:solidFill>
                            <a:schemeClr val="tx1"/>
                          </a:solidFill>
                          <a:latin typeface="Arial"/>
                          <a:cs typeface="Arial"/>
                        </a:rPr>
                        <a:t>glycoproteins</a:t>
                      </a:r>
                      <a:r>
                        <a:rPr sz="1400" spc="-45" dirty="0">
                          <a:solidFill>
                            <a:schemeClr val="tx1"/>
                          </a:solidFill>
                          <a:latin typeface="Arial"/>
                          <a:cs typeface="Arial"/>
                        </a:rPr>
                        <a:t> </a:t>
                      </a:r>
                      <a:r>
                        <a:rPr sz="1400" dirty="0">
                          <a:solidFill>
                            <a:schemeClr val="tx1"/>
                          </a:solidFill>
                          <a:latin typeface="Arial"/>
                          <a:cs typeface="Arial"/>
                        </a:rPr>
                        <a:t>and</a:t>
                      </a:r>
                      <a:r>
                        <a:rPr sz="1400" spc="-25" dirty="0">
                          <a:solidFill>
                            <a:schemeClr val="tx1"/>
                          </a:solidFill>
                          <a:latin typeface="Arial"/>
                          <a:cs typeface="Arial"/>
                        </a:rPr>
                        <a:t> </a:t>
                      </a:r>
                      <a:r>
                        <a:rPr sz="1400" dirty="0">
                          <a:solidFill>
                            <a:schemeClr val="tx1"/>
                          </a:solidFill>
                          <a:latin typeface="Arial"/>
                          <a:cs typeface="Arial"/>
                        </a:rPr>
                        <a:t>proteoglycans</a:t>
                      </a:r>
                      <a:r>
                        <a:rPr lang="en-US" sz="1400" baseline="24691" dirty="0">
                          <a:solidFill>
                            <a:schemeClr val="tx1"/>
                          </a:solidFill>
                          <a:latin typeface="Arial"/>
                          <a:cs typeface="Arial"/>
                        </a:rPr>
                        <a:t>5</a:t>
                      </a:r>
                      <a:endParaRPr sz="1400" baseline="24691" dirty="0">
                        <a:solidFill>
                          <a:schemeClr val="tx1"/>
                        </a:solidFill>
                        <a:latin typeface="Arial"/>
                        <a:cs typeface="Arial"/>
                      </a:endParaRPr>
                    </a:p>
                    <a:p>
                      <a:pPr marL="285750" marR="18097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sz="1400" dirty="0">
                          <a:solidFill>
                            <a:schemeClr val="tx1"/>
                          </a:solidFill>
                          <a:latin typeface="Arial"/>
                          <a:cs typeface="Arial"/>
                        </a:rPr>
                        <a:t>Uncontrolled stimulation of fibroblasts produces a pathological fibrotic</a:t>
                      </a:r>
                      <a:r>
                        <a:rPr lang="en-US" sz="1400" dirty="0">
                          <a:solidFill>
                            <a:schemeClr val="tx1"/>
                          </a:solidFill>
                          <a:latin typeface="Arial"/>
                          <a:cs typeface="Arial"/>
                        </a:rPr>
                        <a:t> </a:t>
                      </a:r>
                      <a:r>
                        <a:rPr sz="1400" dirty="0">
                          <a:solidFill>
                            <a:schemeClr val="tx1"/>
                          </a:solidFill>
                          <a:latin typeface="Arial"/>
                          <a:cs typeface="Arial"/>
                        </a:rPr>
                        <a:t>(scarring)</a:t>
                      </a:r>
                      <a:r>
                        <a:rPr sz="1400" spc="-45" dirty="0">
                          <a:solidFill>
                            <a:schemeClr val="tx1"/>
                          </a:solidFill>
                          <a:latin typeface="Arial"/>
                          <a:cs typeface="Arial"/>
                        </a:rPr>
                        <a:t> </a:t>
                      </a:r>
                      <a:r>
                        <a:rPr sz="1400" dirty="0">
                          <a:solidFill>
                            <a:schemeClr val="tx1"/>
                          </a:solidFill>
                          <a:latin typeface="Arial"/>
                          <a:cs typeface="Arial"/>
                        </a:rPr>
                        <a:t>response</a:t>
                      </a:r>
                      <a:r>
                        <a:rPr sz="1400" spc="-45" dirty="0">
                          <a:solidFill>
                            <a:schemeClr val="tx1"/>
                          </a:solidFill>
                          <a:latin typeface="Arial"/>
                          <a:cs typeface="Arial"/>
                        </a:rPr>
                        <a:t> </a:t>
                      </a:r>
                      <a:r>
                        <a:rPr sz="1400" dirty="0">
                          <a:solidFill>
                            <a:schemeClr val="tx1"/>
                          </a:solidFill>
                          <a:latin typeface="Arial"/>
                          <a:cs typeface="Arial"/>
                        </a:rPr>
                        <a:t>that</a:t>
                      </a:r>
                      <a:r>
                        <a:rPr sz="1400" spc="-25" dirty="0">
                          <a:solidFill>
                            <a:schemeClr val="tx1"/>
                          </a:solidFill>
                          <a:latin typeface="Arial"/>
                          <a:cs typeface="Arial"/>
                        </a:rPr>
                        <a:t> </a:t>
                      </a:r>
                      <a:r>
                        <a:rPr sz="1400" spc="-5" dirty="0">
                          <a:solidFill>
                            <a:schemeClr val="tx1"/>
                          </a:solidFill>
                          <a:latin typeface="Arial"/>
                          <a:cs typeface="Arial"/>
                        </a:rPr>
                        <a:t>eventually</a:t>
                      </a:r>
                      <a:r>
                        <a:rPr sz="1400" spc="-10" dirty="0">
                          <a:solidFill>
                            <a:schemeClr val="tx1"/>
                          </a:solidFill>
                          <a:latin typeface="Arial"/>
                          <a:cs typeface="Arial"/>
                        </a:rPr>
                        <a:t> </a:t>
                      </a:r>
                      <a:r>
                        <a:rPr sz="1400" dirty="0">
                          <a:solidFill>
                            <a:schemeClr val="tx1"/>
                          </a:solidFill>
                          <a:latin typeface="Arial"/>
                          <a:cs typeface="Arial"/>
                        </a:rPr>
                        <a:t>leads</a:t>
                      </a:r>
                      <a:r>
                        <a:rPr sz="1400" spc="-30" dirty="0">
                          <a:solidFill>
                            <a:schemeClr val="tx1"/>
                          </a:solidFill>
                          <a:latin typeface="Arial"/>
                          <a:cs typeface="Arial"/>
                        </a:rPr>
                        <a:t> </a:t>
                      </a:r>
                      <a:r>
                        <a:rPr sz="1400" dirty="0">
                          <a:solidFill>
                            <a:schemeClr val="tx1"/>
                          </a:solidFill>
                          <a:latin typeface="Arial"/>
                          <a:cs typeface="Arial"/>
                        </a:rPr>
                        <a:t>to</a:t>
                      </a:r>
                      <a:r>
                        <a:rPr sz="1400" spc="-15" dirty="0">
                          <a:solidFill>
                            <a:schemeClr val="tx1"/>
                          </a:solidFill>
                          <a:latin typeface="Arial"/>
                          <a:cs typeface="Arial"/>
                        </a:rPr>
                        <a:t> </a:t>
                      </a:r>
                      <a:r>
                        <a:rPr sz="1400" dirty="0">
                          <a:solidFill>
                            <a:schemeClr val="tx1"/>
                          </a:solidFill>
                          <a:latin typeface="Arial"/>
                          <a:cs typeface="Arial"/>
                        </a:rPr>
                        <a:t>permanent</a:t>
                      </a:r>
                      <a:r>
                        <a:rPr sz="1400" spc="-40" dirty="0">
                          <a:solidFill>
                            <a:schemeClr val="tx1"/>
                          </a:solidFill>
                          <a:latin typeface="Arial"/>
                          <a:cs typeface="Arial"/>
                        </a:rPr>
                        <a:t> </a:t>
                      </a:r>
                      <a:r>
                        <a:rPr sz="1400" dirty="0">
                          <a:solidFill>
                            <a:schemeClr val="tx1"/>
                          </a:solidFill>
                          <a:latin typeface="Arial"/>
                          <a:cs typeface="Arial"/>
                        </a:rPr>
                        <a:t>scar</a:t>
                      </a:r>
                      <a:r>
                        <a:rPr sz="1400" spc="-25" dirty="0">
                          <a:solidFill>
                            <a:schemeClr val="tx1"/>
                          </a:solidFill>
                          <a:latin typeface="Arial"/>
                          <a:cs typeface="Arial"/>
                        </a:rPr>
                        <a:t> </a:t>
                      </a:r>
                      <a:r>
                        <a:rPr sz="1400" dirty="0">
                          <a:solidFill>
                            <a:schemeClr val="tx1"/>
                          </a:solidFill>
                          <a:latin typeface="Arial"/>
                          <a:cs typeface="Arial"/>
                        </a:rPr>
                        <a:t>tissue</a:t>
                      </a:r>
                      <a:r>
                        <a:rPr sz="1400" spc="-45" dirty="0">
                          <a:solidFill>
                            <a:schemeClr val="tx1"/>
                          </a:solidFill>
                          <a:latin typeface="Arial"/>
                          <a:cs typeface="Arial"/>
                        </a:rPr>
                        <a:t> </a:t>
                      </a:r>
                      <a:r>
                        <a:rPr sz="1400" spc="5" dirty="0">
                          <a:solidFill>
                            <a:schemeClr val="tx1"/>
                          </a:solidFill>
                          <a:latin typeface="Arial"/>
                          <a:cs typeface="Arial"/>
                        </a:rPr>
                        <a:t>formation</a:t>
                      </a:r>
                      <a:r>
                        <a:rPr lang="en-US" sz="1400" spc="7" baseline="24691" dirty="0">
                          <a:solidFill>
                            <a:schemeClr val="tx1"/>
                          </a:solidFill>
                          <a:latin typeface="Arial"/>
                          <a:cs typeface="Arial"/>
                        </a:rPr>
                        <a:t>6</a:t>
                      </a:r>
                      <a:endParaRPr sz="1400" baseline="24691" dirty="0">
                        <a:solidFill>
                          <a:schemeClr val="tx1"/>
                        </a:solidFill>
                        <a:latin typeface="Arial"/>
                        <a:cs typeface="Arial"/>
                      </a:endParaRPr>
                    </a:p>
                  </a:txBody>
                  <a:tcPr marL="180000" marR="45720" marT="108000" marB="108000">
                    <a:lnL w="12700">
                      <a:solidFill>
                        <a:srgbClr val="FFFFFF"/>
                      </a:solidFill>
                      <a:prstDash val="solid"/>
                    </a:lnL>
                    <a:lnR w="12700">
                      <a:solidFill>
                        <a:srgbClr val="FFFFFF"/>
                      </a:solidFill>
                      <a:prstDash val="soli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pic>
        <p:nvPicPr>
          <p:cNvPr id="11" name="object 7">
            <a:extLst>
              <a:ext uri="{FF2B5EF4-FFF2-40B4-BE49-F238E27FC236}">
                <a16:creationId xmlns:a16="http://schemas.microsoft.com/office/drawing/2014/main" id="{3C96CDEA-5D63-9C2F-D18A-DF1CB1C2094B}"/>
              </a:ext>
            </a:extLst>
          </p:cNvPr>
          <p:cNvPicPr/>
          <p:nvPr/>
        </p:nvPicPr>
        <p:blipFill>
          <a:blip r:embed="rId2" cstate="print">
            <a:duotone>
              <a:schemeClr val="accent1">
                <a:shade val="45000"/>
                <a:satMod val="135000"/>
              </a:schemeClr>
              <a:prstClr val="white"/>
            </a:duotone>
          </a:blip>
          <a:stretch>
            <a:fillRect/>
          </a:stretch>
        </p:blipFill>
        <p:spPr>
          <a:xfrm>
            <a:off x="856814" y="3842955"/>
            <a:ext cx="982980" cy="804672"/>
          </a:xfrm>
          <a:prstGeom prst="rect">
            <a:avLst/>
          </a:prstGeom>
        </p:spPr>
      </p:pic>
      <p:pic>
        <p:nvPicPr>
          <p:cNvPr id="12" name="object 8">
            <a:extLst>
              <a:ext uri="{FF2B5EF4-FFF2-40B4-BE49-F238E27FC236}">
                <a16:creationId xmlns:a16="http://schemas.microsoft.com/office/drawing/2014/main" id="{3A561E43-1F78-08D8-AE81-99007DB78E84}"/>
              </a:ext>
            </a:extLst>
          </p:cNvPr>
          <p:cNvPicPr/>
          <p:nvPr/>
        </p:nvPicPr>
        <p:blipFill>
          <a:blip r:embed="rId3" cstate="print"/>
          <a:stretch>
            <a:fillRect/>
          </a:stretch>
        </p:blipFill>
        <p:spPr>
          <a:xfrm>
            <a:off x="570302" y="1947230"/>
            <a:ext cx="1556004" cy="669036"/>
          </a:xfrm>
          <a:prstGeom prst="rect">
            <a:avLst/>
          </a:prstGeom>
        </p:spPr>
      </p:pic>
      <p:sp>
        <p:nvSpPr>
          <p:cNvPr id="6" name="Rectangle 5">
            <a:extLst>
              <a:ext uri="{FF2B5EF4-FFF2-40B4-BE49-F238E27FC236}">
                <a16:creationId xmlns:a16="http://schemas.microsoft.com/office/drawing/2014/main" id="{6B97FB0F-F910-78E6-03C2-A1EAFFB6B2A9}"/>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990481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5" name="object 6">
            <a:extLst>
              <a:ext uri="{FF2B5EF4-FFF2-40B4-BE49-F238E27FC236}">
                <a16:creationId xmlns:a16="http://schemas.microsoft.com/office/drawing/2014/main" id="{C31201E4-4D13-4AA9-407E-AD5A005ABDC1}"/>
              </a:ext>
            </a:extLst>
          </p:cNvPr>
          <p:cNvGraphicFramePr>
            <a:graphicFrameLocks noGrp="1"/>
          </p:cNvGraphicFramePr>
          <p:nvPr/>
        </p:nvGraphicFramePr>
        <p:xfrm>
          <a:off x="366383" y="1236800"/>
          <a:ext cx="11459234" cy="3576720"/>
        </p:xfrm>
        <a:graphic>
          <a:graphicData uri="http://schemas.openxmlformats.org/drawingml/2006/table">
            <a:tbl>
              <a:tblPr firstRow="1" bandRow="1"/>
              <a:tblGrid>
                <a:gridCol w="1956553">
                  <a:extLst>
                    <a:ext uri="{9D8B030D-6E8A-4147-A177-3AD203B41FA5}">
                      <a16:colId xmlns:a16="http://schemas.microsoft.com/office/drawing/2014/main" val="20000"/>
                    </a:ext>
                  </a:extLst>
                </a:gridCol>
                <a:gridCol w="9502681">
                  <a:extLst>
                    <a:ext uri="{9D8B030D-6E8A-4147-A177-3AD203B41FA5}">
                      <a16:colId xmlns:a16="http://schemas.microsoft.com/office/drawing/2014/main" val="1731559422"/>
                    </a:ext>
                  </a:extLst>
                </a:gridCol>
              </a:tblGrid>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GB" sz="1600" b="1" spc="-5" dirty="0">
                          <a:solidFill>
                            <a:srgbClr val="FFFFFF"/>
                          </a:solidFill>
                          <a:latin typeface="Arial"/>
                          <a:cs typeface="Arial"/>
                        </a:rPr>
                        <a:t>Eosinophils</a:t>
                      </a:r>
                    </a:p>
                  </a:txBody>
                  <a:tcPr marL="180000" marR="45720" marT="108000" marB="10800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solidFill>
                  </a:tcPr>
                </a:tc>
                <a:tc hMerge="1">
                  <a:txBody>
                    <a:bodyPr/>
                    <a:lstStyle/>
                    <a:p>
                      <a:endParaRPr lang="en-US"/>
                    </a:p>
                  </a:txBody>
                  <a:tcPr/>
                </a:tc>
                <a:extLst>
                  <a:ext uri="{0D108BD9-81ED-4DB2-BD59-A6C34878D82A}">
                    <a16:rowId xmlns:a16="http://schemas.microsoft.com/office/drawing/2014/main" val="10000"/>
                  </a:ext>
                </a:extLst>
              </a:tr>
              <a:tr h="731871">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40000"/>
                        <a:lumOff val="60000"/>
                      </a:srgb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A type of white blood cell involved in the body's self-defence</a:t>
                      </a:r>
                      <a:r>
                        <a:rPr lang="en-US" sz="1400" baseline="30000" dirty="0">
                          <a:solidFill>
                            <a:schemeClr val="tx1"/>
                          </a:solidFill>
                          <a:latin typeface="Arial"/>
                          <a:cs typeface="Arial"/>
                        </a:rPr>
                        <a:t>1</a:t>
                      </a:r>
                    </a:p>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Eosinophils help promote inflammation, which has a beneficial role in healthy individuals by isolating and controlling a disease site</a:t>
                      </a:r>
                      <a:r>
                        <a:rPr lang="en-US" sz="1400" baseline="30000" dirty="0">
                          <a:solidFill>
                            <a:schemeClr val="tx1"/>
                          </a:solidFill>
                          <a:latin typeface="Arial"/>
                          <a:cs typeface="Arial"/>
                        </a:rPr>
                        <a:t>2,3</a:t>
                      </a:r>
                    </a:p>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Increased numbers of eosinophils have been shown to be associated with increased severity of symptoms and exacerbations in COPD</a:t>
                      </a:r>
                      <a:r>
                        <a:rPr lang="en-US" sz="1400" baseline="30000" dirty="0">
                          <a:solidFill>
                            <a:schemeClr val="tx1"/>
                          </a:solidFill>
                          <a:latin typeface="Arial"/>
                          <a:cs typeface="Arial"/>
                        </a:rPr>
                        <a:t>2,3</a:t>
                      </a: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20000"/>
                        <a:lumOff val="80000"/>
                      </a:srgbClr>
                    </a:solidFill>
                  </a:tcPr>
                </a:tc>
                <a:extLst>
                  <a:ext uri="{0D108BD9-81ED-4DB2-BD59-A6C34878D82A}">
                    <a16:rowId xmlns:a16="http://schemas.microsoft.com/office/drawing/2014/main" val="10001"/>
                  </a:ext>
                </a:extLst>
              </a:tr>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indent="0">
                        <a:lnSpc>
                          <a:spcPct val="100000"/>
                        </a:lnSpc>
                        <a:spcBef>
                          <a:spcPts val="0"/>
                        </a:spcBef>
                        <a:buClr>
                          <a:schemeClr val="tx2"/>
                        </a:buClr>
                        <a:buFont typeface="Arial" panose="020B0604020202020204" pitchFamily="34" charset="0"/>
                        <a:buNone/>
                      </a:pPr>
                      <a:r>
                        <a:rPr lang="en-GB" sz="1600" b="1" spc="5" dirty="0">
                          <a:solidFill>
                            <a:schemeClr val="bg1"/>
                          </a:solidFill>
                          <a:latin typeface="Arial"/>
                          <a:cs typeface="Arial"/>
                        </a:rPr>
                        <a:t>T lymphocytes</a:t>
                      </a: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10002"/>
                  </a:ext>
                </a:extLst>
              </a:tr>
              <a:tr h="92729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108000" marB="10800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Cells involved in the body’s adaptive immune response and in mediating inflammatory responses</a:t>
                      </a:r>
                      <a:r>
                        <a:rPr lang="en-US" sz="1400" baseline="30000" dirty="0">
                          <a:solidFill>
                            <a:schemeClr val="tx1"/>
                          </a:solidFill>
                          <a:latin typeface="Arial"/>
                          <a:cs typeface="Arial"/>
                        </a:rPr>
                        <a:t>4</a:t>
                      </a:r>
                    </a:p>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The number of T lymphocytes is significantly increased in the airways of patients with COPD</a:t>
                      </a:r>
                      <a:r>
                        <a:rPr lang="en-US" sz="1400" baseline="30000" dirty="0">
                          <a:solidFill>
                            <a:schemeClr val="tx1"/>
                          </a:solidFill>
                          <a:latin typeface="Arial"/>
                          <a:cs typeface="Arial"/>
                        </a:rPr>
                        <a:t>5,6</a:t>
                      </a:r>
                    </a:p>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An increase in the number of these cells leads to greater alveolar destruction and increased severity of airflow obstruction</a:t>
                      </a:r>
                      <a:r>
                        <a:rPr lang="en-US" sz="1400" baseline="30000" dirty="0">
                          <a:solidFill>
                            <a:schemeClr val="tx1"/>
                          </a:solidFill>
                          <a:latin typeface="Arial"/>
                          <a:cs typeface="Arial"/>
                        </a:rPr>
                        <a:t>6</a:t>
                      </a:r>
                    </a:p>
                  </a:txBody>
                  <a:tcPr marL="180000" marR="45720" marT="108000" marB="108000">
                    <a:lnL w="12700">
                      <a:solidFill>
                        <a:srgbClr val="FFFFFF"/>
                      </a:solidFill>
                      <a:prstDash val="solid"/>
                    </a:lnL>
                    <a:lnR w="12700">
                      <a:solidFill>
                        <a:srgbClr val="FFFFFF"/>
                      </a:solidFill>
                      <a:prstDash val="soli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2" name="Slide Number Placeholder 1">
            <a:extLst>
              <a:ext uri="{FF2B5EF4-FFF2-40B4-BE49-F238E27FC236}">
                <a16:creationId xmlns:a16="http://schemas.microsoft.com/office/drawing/2014/main" id="{076F8533-7CEB-6922-5C56-92B4B8963A90}"/>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9033D706-A2D4-D9BC-7260-CEF786229BE7}"/>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pic>
        <p:nvPicPr>
          <p:cNvPr id="11" name="object 6">
            <a:extLst>
              <a:ext uri="{FF2B5EF4-FFF2-40B4-BE49-F238E27FC236}">
                <a16:creationId xmlns:a16="http://schemas.microsoft.com/office/drawing/2014/main" id="{727ED984-E65D-C54F-E74E-2E90C8396C7B}"/>
              </a:ext>
            </a:extLst>
          </p:cNvPr>
          <p:cNvPicPr/>
          <p:nvPr/>
        </p:nvPicPr>
        <p:blipFill>
          <a:blip r:embed="rId2" cstate="print"/>
          <a:stretch>
            <a:fillRect/>
          </a:stretch>
        </p:blipFill>
        <p:spPr>
          <a:xfrm>
            <a:off x="801623" y="1894381"/>
            <a:ext cx="1069847" cy="1039367"/>
          </a:xfrm>
          <a:prstGeom prst="rect">
            <a:avLst/>
          </a:prstGeom>
        </p:spPr>
      </p:pic>
      <p:pic>
        <p:nvPicPr>
          <p:cNvPr id="12" name="object 7">
            <a:extLst>
              <a:ext uri="{FF2B5EF4-FFF2-40B4-BE49-F238E27FC236}">
                <a16:creationId xmlns:a16="http://schemas.microsoft.com/office/drawing/2014/main" id="{400F280B-FEAE-CC39-09FA-6CCF4B357E58}"/>
              </a:ext>
            </a:extLst>
          </p:cNvPr>
          <p:cNvPicPr/>
          <p:nvPr/>
        </p:nvPicPr>
        <p:blipFill>
          <a:blip r:embed="rId3" cstate="print">
            <a:duotone>
              <a:schemeClr val="accent1">
                <a:shade val="45000"/>
                <a:satMod val="135000"/>
              </a:schemeClr>
              <a:prstClr val="white"/>
            </a:duotone>
          </a:blip>
          <a:stretch>
            <a:fillRect/>
          </a:stretch>
        </p:blipFill>
        <p:spPr>
          <a:xfrm>
            <a:off x="801623" y="3722128"/>
            <a:ext cx="1069847" cy="975360"/>
          </a:xfrm>
          <a:prstGeom prst="rect">
            <a:avLst/>
          </a:prstGeom>
        </p:spPr>
      </p:pic>
      <p:sp>
        <p:nvSpPr>
          <p:cNvPr id="13" name="Text Placeholder 10">
            <a:extLst>
              <a:ext uri="{FF2B5EF4-FFF2-40B4-BE49-F238E27FC236}">
                <a16:creationId xmlns:a16="http://schemas.microsoft.com/office/drawing/2014/main" id="{26ADA496-9CB2-E615-46D7-481C2E5A0FBC}"/>
              </a:ext>
            </a:extLst>
          </p:cNvPr>
          <p:cNvSpPr txBox="1">
            <a:spLocks/>
          </p:cNvSpPr>
          <p:nvPr/>
        </p:nvSpPr>
        <p:spPr>
          <a:xfrm>
            <a:off x="364509" y="5792410"/>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Jacobsen EA;Blood;2012;120;3882-3890; 2. Varricchi G;Current Opinion in Allergy and Clinical Immunology;2016;16;186--200; 3. Bafadhel M;American Journal of Respiratory and Critical Care Medicine;2011;184;662-671; 4. Warrington R;Allergy, Asthma, and Clinical Immunology;2011;7;1-8; 5. ACCP Pulmonary Medicine Board Review;Chapter 4;Braman SS;2012;26th Edn;1-39; 6. Asthma and COPD;Chapter 34;Barnes PJ;2009;2;425-442.</a:t>
            </a:r>
          </a:p>
        </p:txBody>
      </p:sp>
      <p:sp>
        <p:nvSpPr>
          <p:cNvPr id="23" name="Title 4">
            <a:extLst>
              <a:ext uri="{FF2B5EF4-FFF2-40B4-BE49-F238E27FC236}">
                <a16:creationId xmlns:a16="http://schemas.microsoft.com/office/drawing/2014/main" id="{367161DE-5096-94E6-8476-E2AB8F103B71}"/>
              </a:ext>
            </a:extLst>
          </p:cNvPr>
          <p:cNvSpPr txBox="1">
            <a:spLocks/>
          </p:cNvSpPr>
          <p:nvPr/>
        </p:nvSpPr>
        <p:spPr>
          <a:xfrm>
            <a:off x="366383" y="669965"/>
            <a:ext cx="11460163" cy="430887"/>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36633"/>
                </a:solidFill>
                <a:effectLst/>
                <a:uLnTx/>
                <a:uFillTx/>
                <a:latin typeface="Arial"/>
                <a:ea typeface="+mj-ea"/>
                <a:cs typeface="Noto Sans"/>
              </a:rPr>
              <a:t>Roles of Different Cells of the Immune System in COPD Pathogenesis (II)</a:t>
            </a:r>
            <a:endParaRPr kumimoji="0" lang="en-GB" sz="2800" b="1" i="0" u="none" strike="noStrike" kern="1200" cap="none" spc="0" normalizeH="0" baseline="0" noProof="0" dirty="0">
              <a:ln>
                <a:noFill/>
              </a:ln>
              <a:solidFill>
                <a:srgbClr val="F36633"/>
              </a:solidFill>
              <a:effectLst/>
              <a:uLnTx/>
              <a:uFillTx/>
              <a:latin typeface="Arial"/>
              <a:ea typeface="+mj-ea"/>
              <a:cs typeface="Noto Sans"/>
            </a:endParaRPr>
          </a:p>
        </p:txBody>
      </p:sp>
      <p:sp>
        <p:nvSpPr>
          <p:cNvPr id="4" name="Rectangle 3">
            <a:extLst>
              <a:ext uri="{FF2B5EF4-FFF2-40B4-BE49-F238E27FC236}">
                <a16:creationId xmlns:a16="http://schemas.microsoft.com/office/drawing/2014/main" id="{48030613-8386-18B3-0DCA-8593076DF6C0}"/>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813357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object 6">
            <a:extLst>
              <a:ext uri="{FF2B5EF4-FFF2-40B4-BE49-F238E27FC236}">
                <a16:creationId xmlns:a16="http://schemas.microsoft.com/office/drawing/2014/main" id="{80364259-AD3A-17BD-3B4E-C6A91F934094}"/>
              </a:ext>
            </a:extLst>
          </p:cNvPr>
          <p:cNvGraphicFramePr>
            <a:graphicFrameLocks noGrp="1"/>
          </p:cNvGraphicFramePr>
          <p:nvPr/>
        </p:nvGraphicFramePr>
        <p:xfrm>
          <a:off x="366383" y="1236800"/>
          <a:ext cx="11459234" cy="4150560"/>
        </p:xfrm>
        <a:graphic>
          <a:graphicData uri="http://schemas.openxmlformats.org/drawingml/2006/table">
            <a:tbl>
              <a:tblPr firstRow="1" bandRow="1"/>
              <a:tblGrid>
                <a:gridCol w="1956553">
                  <a:extLst>
                    <a:ext uri="{9D8B030D-6E8A-4147-A177-3AD203B41FA5}">
                      <a16:colId xmlns:a16="http://schemas.microsoft.com/office/drawing/2014/main" val="20000"/>
                    </a:ext>
                  </a:extLst>
                </a:gridCol>
                <a:gridCol w="9502681">
                  <a:extLst>
                    <a:ext uri="{9D8B030D-6E8A-4147-A177-3AD203B41FA5}">
                      <a16:colId xmlns:a16="http://schemas.microsoft.com/office/drawing/2014/main" val="1731559422"/>
                    </a:ext>
                  </a:extLst>
                </a:gridCol>
              </a:tblGrid>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GB" sz="1600" b="1" spc="-5" dirty="0">
                          <a:solidFill>
                            <a:srgbClr val="FFFFFF"/>
                          </a:solidFill>
                          <a:latin typeface="Arial"/>
                          <a:cs typeface="Arial"/>
                        </a:rPr>
                        <a:t>Macrophages</a:t>
                      </a:r>
                    </a:p>
                  </a:txBody>
                  <a:tcPr marL="180000" marR="45720" marT="108000" marB="10800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solidFill>
                  </a:tcPr>
                </a:tc>
                <a:tc hMerge="1">
                  <a:txBody>
                    <a:bodyPr/>
                    <a:lstStyle/>
                    <a:p>
                      <a:endParaRPr lang="en-US"/>
                    </a:p>
                  </a:txBody>
                  <a:tcPr/>
                </a:tc>
                <a:extLst>
                  <a:ext uri="{0D108BD9-81ED-4DB2-BD59-A6C34878D82A}">
                    <a16:rowId xmlns:a16="http://schemas.microsoft.com/office/drawing/2014/main" val="10000"/>
                  </a:ext>
                </a:extLst>
              </a:tr>
              <a:tr h="731871">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36000" marB="36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40000"/>
                        <a:lumOff val="60000"/>
                      </a:srgb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Large, </a:t>
                      </a:r>
                      <a:r>
                        <a:rPr lang="en-GB" sz="1400" noProof="0" dirty="0">
                          <a:solidFill>
                            <a:schemeClr val="tx1"/>
                          </a:solidFill>
                          <a:latin typeface="Arial"/>
                          <a:cs typeface="Arial"/>
                        </a:rPr>
                        <a:t>specialised</a:t>
                      </a:r>
                      <a:r>
                        <a:rPr lang="en-US" sz="1400" dirty="0">
                          <a:solidFill>
                            <a:schemeClr val="tx1"/>
                          </a:solidFill>
                          <a:latin typeface="Arial"/>
                          <a:cs typeface="Arial"/>
                        </a:rPr>
                        <a:t> white blood cells that recognise, engulf and destroy invading harmful foreign cells</a:t>
                      </a:r>
                      <a:r>
                        <a:rPr lang="en-US" sz="1400" baseline="30000" dirty="0">
                          <a:solidFill>
                            <a:schemeClr val="tx1"/>
                          </a:solidFill>
                          <a:latin typeface="Arial"/>
                          <a:cs typeface="Arial"/>
                        </a:rPr>
                        <a:t>1</a:t>
                      </a:r>
                    </a:p>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In COPD, alveolar macrophages play a critical role as orchestrators of inflammation: the number of macrophages increases significantly in the lungs of patients with COPD</a:t>
                      </a:r>
                      <a:r>
                        <a:rPr lang="en-US" sz="1400" baseline="30000" dirty="0">
                          <a:solidFill>
                            <a:schemeClr val="tx1"/>
                          </a:solidFill>
                          <a:latin typeface="Arial"/>
                          <a:cs typeface="Arial"/>
                        </a:rPr>
                        <a:t>2</a:t>
                      </a:r>
                    </a:p>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Alveolar macrophages secrete many different inflammatory mediators (e.g., TNF-α, LT B4 and IL-8), in response to cigarette smoke and other airborne irritants</a:t>
                      </a:r>
                      <a:r>
                        <a:rPr lang="en-US" sz="1400" baseline="30000" dirty="0">
                          <a:solidFill>
                            <a:schemeClr val="tx1"/>
                          </a:solidFill>
                          <a:latin typeface="Arial"/>
                          <a:cs typeface="Arial"/>
                        </a:rPr>
                        <a:t>2,3</a:t>
                      </a:r>
                    </a:p>
                    <a:p>
                      <a:pPr marL="285750" marR="415290"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Mediators released by these, and other inflammatory cells are believed to account for most of the alterations in lung structure, such as alveolar wall destruction, that </a:t>
                      </a:r>
                      <a:r>
                        <a:rPr lang="en-GB" sz="1400" noProof="0" dirty="0">
                          <a:solidFill>
                            <a:schemeClr val="tx1"/>
                          </a:solidFill>
                          <a:latin typeface="Arial"/>
                          <a:cs typeface="Arial"/>
                        </a:rPr>
                        <a:t>characterise</a:t>
                      </a:r>
                      <a:r>
                        <a:rPr lang="en-US" sz="1400" dirty="0">
                          <a:solidFill>
                            <a:schemeClr val="tx1"/>
                          </a:solidFill>
                          <a:latin typeface="Arial"/>
                          <a:cs typeface="Arial"/>
                        </a:rPr>
                        <a:t> COPD</a:t>
                      </a:r>
                      <a:r>
                        <a:rPr lang="en-US" sz="1400" baseline="30000" dirty="0">
                          <a:solidFill>
                            <a:schemeClr val="tx1"/>
                          </a:solidFill>
                          <a:latin typeface="Arial"/>
                          <a:cs typeface="Arial"/>
                        </a:rPr>
                        <a:t>2</a:t>
                      </a:r>
                    </a:p>
                  </a:txBody>
                  <a:tcPr marL="180000" marR="45720" marT="36000" marB="36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rgbClr val="F36633">
                        <a:lumMod val="20000"/>
                        <a:lumOff val="80000"/>
                      </a:srgbClr>
                    </a:solidFill>
                  </a:tcPr>
                </a:tc>
                <a:extLst>
                  <a:ext uri="{0D108BD9-81ED-4DB2-BD59-A6C34878D82A}">
                    <a16:rowId xmlns:a16="http://schemas.microsoft.com/office/drawing/2014/main" val="10001"/>
                  </a:ext>
                </a:extLst>
              </a:tr>
              <a:tr h="0">
                <a:tc gridSpan="2">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indent="0">
                        <a:lnSpc>
                          <a:spcPct val="100000"/>
                        </a:lnSpc>
                        <a:spcBef>
                          <a:spcPts val="0"/>
                        </a:spcBef>
                        <a:buClr>
                          <a:schemeClr val="tx2"/>
                        </a:buClr>
                        <a:buFont typeface="Arial" panose="020B0604020202020204" pitchFamily="34" charset="0"/>
                        <a:buNone/>
                      </a:pPr>
                      <a:r>
                        <a:rPr lang="en-GB" sz="1600" b="1" spc="5" dirty="0">
                          <a:solidFill>
                            <a:schemeClr val="bg1"/>
                          </a:solidFill>
                          <a:latin typeface="Arial"/>
                          <a:cs typeface="Arial"/>
                        </a:rPr>
                        <a:t>Neutrophils</a:t>
                      </a:r>
                    </a:p>
                  </a:txBody>
                  <a:tcPr marL="180000" marR="45720" marT="36000" marB="36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1"/>
                    </a:solidFill>
                  </a:tcPr>
                </a:tc>
                <a:tc hMerge="1">
                  <a:txBody>
                    <a:bodyPr/>
                    <a:lstStyle/>
                    <a:p>
                      <a:endParaRPr lang="en-US"/>
                    </a:p>
                  </a:txBody>
                  <a:tcPr/>
                </a:tc>
                <a:extLst>
                  <a:ext uri="{0D108BD9-81ED-4DB2-BD59-A6C34878D82A}">
                    <a16:rowId xmlns:a16="http://schemas.microsoft.com/office/drawing/2014/main" val="10002"/>
                  </a:ext>
                </a:extLst>
              </a:tr>
              <a:tr h="92729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171450" indent="-171450">
                        <a:lnSpc>
                          <a:spcPct val="100000"/>
                        </a:lnSpc>
                        <a:buClr>
                          <a:schemeClr val="tx2"/>
                        </a:buClr>
                        <a:buFont typeface="Arial" panose="020B0604020202020204" pitchFamily="34" charset="0"/>
                        <a:buChar char="•"/>
                      </a:pPr>
                      <a:endParaRPr sz="1100" dirty="0">
                        <a:solidFill>
                          <a:schemeClr val="tx1"/>
                        </a:solidFill>
                        <a:latin typeface="Times New Roman"/>
                        <a:cs typeface="Times New Roman"/>
                      </a:endParaRPr>
                    </a:p>
                  </a:txBody>
                  <a:tcPr marL="180000" marR="45720" marT="36000" marB="36000">
                    <a:lnL w="12700">
                      <a:solidFill>
                        <a:srgbClr val="FFFFFF"/>
                      </a:solidFill>
                      <a:prstDash val="solid"/>
                    </a:lnL>
                    <a:lnR w="12700">
                      <a:solidFill>
                        <a:srgbClr val="FFFFFF"/>
                      </a:solidFill>
                      <a:prstDash val="solid"/>
                    </a:lnR>
                    <a:lnT w="19050">
                      <a:solidFill>
                        <a:srgbClr val="FFFFFF"/>
                      </a:solidFill>
                      <a:prstDash val="solid"/>
                    </a:lnT>
                    <a:lnB w="12700">
                      <a:solidFill>
                        <a:srgbClr val="FFFFFF"/>
                      </a:solidFill>
                      <a:prstDash val="solid"/>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Also, a type of white blood cell that </a:t>
                      </a:r>
                      <a:r>
                        <a:rPr lang="en-US" sz="1400" dirty="0" err="1">
                          <a:solidFill>
                            <a:schemeClr val="tx1"/>
                          </a:solidFill>
                          <a:latin typeface="Arial"/>
                          <a:cs typeface="Arial"/>
                        </a:rPr>
                        <a:t>recognises</a:t>
                      </a:r>
                      <a:r>
                        <a:rPr lang="en-US" sz="1400" dirty="0">
                          <a:solidFill>
                            <a:schemeClr val="tx1"/>
                          </a:solidFill>
                          <a:latin typeface="Arial"/>
                          <a:cs typeface="Arial"/>
                        </a:rPr>
                        <a:t>, engulfs and destroys invading harmful foreign cells</a:t>
                      </a:r>
                      <a:r>
                        <a:rPr lang="en-US" sz="1400" baseline="30000" dirty="0">
                          <a:solidFill>
                            <a:schemeClr val="tx1"/>
                          </a:solidFill>
                          <a:latin typeface="Arial"/>
                          <a:cs typeface="Arial"/>
                        </a:rPr>
                        <a:t>4</a:t>
                      </a:r>
                    </a:p>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Present mainly in the bronchial epithelium and bronchial mucosa, and their number is increased in patients with COPD; these cells produce cytokines and proteases</a:t>
                      </a:r>
                      <a:r>
                        <a:rPr lang="en-US" sz="1400" baseline="30000" dirty="0">
                          <a:solidFill>
                            <a:schemeClr val="tx1"/>
                          </a:solidFill>
                          <a:latin typeface="Arial"/>
                          <a:cs typeface="Arial"/>
                        </a:rPr>
                        <a:t>4</a:t>
                      </a:r>
                    </a:p>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Cytokines and other similar mediators cause inflammation in the airways, which leads to airflow obstruction and decline in lung function</a:t>
                      </a:r>
                      <a:r>
                        <a:rPr lang="en-US" sz="1400" baseline="30000" dirty="0">
                          <a:solidFill>
                            <a:schemeClr val="tx1"/>
                          </a:solidFill>
                          <a:latin typeface="Arial"/>
                          <a:cs typeface="Arial"/>
                        </a:rPr>
                        <a:t>4</a:t>
                      </a:r>
                    </a:p>
                    <a:p>
                      <a:pPr marL="285750" marR="348615" indent="-285750">
                        <a:lnSpc>
                          <a:spcPct val="100000"/>
                        </a:lnSpc>
                        <a:spcBef>
                          <a:spcPts val="0"/>
                        </a:spcBef>
                        <a:spcAft>
                          <a:spcPts val="600"/>
                        </a:spcAft>
                        <a:buClr>
                          <a:schemeClr val="tx2"/>
                        </a:buClr>
                        <a:buFont typeface="Arial" panose="020B0604020202020204" pitchFamily="34" charset="0"/>
                        <a:buChar char="•"/>
                        <a:tabLst>
                          <a:tab pos="377825" algn="l"/>
                          <a:tab pos="378460" algn="l"/>
                        </a:tabLst>
                      </a:pPr>
                      <a:r>
                        <a:rPr lang="en-US" sz="1400" dirty="0">
                          <a:solidFill>
                            <a:schemeClr val="tx1"/>
                          </a:solidFill>
                          <a:latin typeface="Arial"/>
                          <a:cs typeface="Arial"/>
                        </a:rPr>
                        <a:t>Neutrophil-derived proteases are key mediators of tissue damage</a:t>
                      </a:r>
                      <a:r>
                        <a:rPr lang="en-US" sz="1400" baseline="30000" dirty="0">
                          <a:solidFill>
                            <a:schemeClr val="tx1"/>
                          </a:solidFill>
                          <a:latin typeface="Arial"/>
                          <a:cs typeface="Arial"/>
                        </a:rPr>
                        <a:t>4</a:t>
                      </a:r>
                    </a:p>
                  </a:txBody>
                  <a:tcPr marL="180000" marR="45720" marT="36000" marB="36000">
                    <a:lnL w="12700">
                      <a:solidFill>
                        <a:srgbClr val="FFFFFF"/>
                      </a:solidFill>
                      <a:prstDash val="solid"/>
                    </a:lnL>
                    <a:lnR w="12700">
                      <a:solidFill>
                        <a:srgbClr val="FFFFFF"/>
                      </a:solidFill>
                      <a:prstDash val="soli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2" name="Slide Number Placeholder 1">
            <a:extLst>
              <a:ext uri="{FF2B5EF4-FFF2-40B4-BE49-F238E27FC236}">
                <a16:creationId xmlns:a16="http://schemas.microsoft.com/office/drawing/2014/main" id="{1B634D6D-4ACC-6F04-EC14-712547F5BD7A}"/>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4A9CA3D3-397E-5104-D69F-FB81D8F6FDFB}"/>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pic>
        <p:nvPicPr>
          <p:cNvPr id="11" name="object 7">
            <a:extLst>
              <a:ext uri="{FF2B5EF4-FFF2-40B4-BE49-F238E27FC236}">
                <a16:creationId xmlns:a16="http://schemas.microsoft.com/office/drawing/2014/main" id="{9823F1B8-FDF1-3613-CCBE-544D063D74D9}"/>
              </a:ext>
            </a:extLst>
          </p:cNvPr>
          <p:cNvPicPr/>
          <p:nvPr/>
        </p:nvPicPr>
        <p:blipFill>
          <a:blip r:embed="rId2" cstate="print"/>
          <a:stretch>
            <a:fillRect/>
          </a:stretch>
        </p:blipFill>
        <p:spPr>
          <a:xfrm>
            <a:off x="768858" y="2129813"/>
            <a:ext cx="1150620" cy="882396"/>
          </a:xfrm>
          <a:prstGeom prst="rect">
            <a:avLst/>
          </a:prstGeom>
        </p:spPr>
      </p:pic>
      <p:pic>
        <p:nvPicPr>
          <p:cNvPr id="12" name="object 8">
            <a:extLst>
              <a:ext uri="{FF2B5EF4-FFF2-40B4-BE49-F238E27FC236}">
                <a16:creationId xmlns:a16="http://schemas.microsoft.com/office/drawing/2014/main" id="{5F9F777F-17D7-6E5E-4F71-B523522EF4F5}"/>
              </a:ext>
            </a:extLst>
          </p:cNvPr>
          <p:cNvPicPr/>
          <p:nvPr/>
        </p:nvPicPr>
        <p:blipFill>
          <a:blip r:embed="rId3" cstate="print">
            <a:biLevel thresh="25000"/>
          </a:blip>
          <a:stretch>
            <a:fillRect/>
          </a:stretch>
        </p:blipFill>
        <p:spPr>
          <a:xfrm>
            <a:off x="794581" y="4058723"/>
            <a:ext cx="1099174" cy="1081232"/>
          </a:xfrm>
          <a:prstGeom prst="rect">
            <a:avLst/>
          </a:prstGeom>
        </p:spPr>
      </p:pic>
      <p:sp>
        <p:nvSpPr>
          <p:cNvPr id="13" name="Text Placeholder 10">
            <a:extLst>
              <a:ext uri="{FF2B5EF4-FFF2-40B4-BE49-F238E27FC236}">
                <a16:creationId xmlns:a16="http://schemas.microsoft.com/office/drawing/2014/main" id="{C2667F63-920A-D4F2-84EB-DAF95DB8EB8F}"/>
              </a:ext>
            </a:extLst>
          </p:cNvPr>
          <p:cNvSpPr txBox="1">
            <a:spLocks/>
          </p:cNvSpPr>
          <p:nvPr/>
        </p:nvSpPr>
        <p:spPr>
          <a:xfrm>
            <a:off x="367750" y="5792414"/>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IL-8, interleukin-8; LT B4, leukotriene B4; TNF-</a:t>
            </a:r>
            <a:r>
              <a:rPr kumimoji="0" lang="el-GR" sz="800" b="0" i="0" u="none" strike="noStrike" kern="1200" cap="none" spc="0" normalizeH="0" baseline="0" noProof="0" dirty="0">
                <a:ln>
                  <a:noFill/>
                </a:ln>
                <a:solidFill>
                  <a:srgbClr val="000000"/>
                </a:solidFill>
                <a:effectLst/>
                <a:uLnTx/>
                <a:uFillTx/>
                <a:latin typeface="Arial"/>
                <a:ea typeface="+mn-ea"/>
                <a:cs typeface="Noto Sans"/>
              </a:rPr>
              <a:t>α, </a:t>
            </a:r>
            <a:r>
              <a:rPr kumimoji="0" lang="en-US" sz="800" b="0" i="0" u="none" strike="noStrike" kern="1200" cap="none" spc="0" normalizeH="0" baseline="0" noProof="0" dirty="0">
                <a:ln>
                  <a:noFill/>
                </a:ln>
                <a:solidFill>
                  <a:srgbClr val="000000"/>
                </a:solidFill>
                <a:effectLst/>
                <a:uLnTx/>
                <a:uFillTx/>
                <a:latin typeface="Arial"/>
                <a:ea typeface="+mn-ea"/>
                <a:cs typeface="Noto Sans"/>
              </a:rPr>
              <a:t>tumour necrosis factor alpha.</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Aderem A.The Journal of Infectious Disease 2003;187;S340–S345; 2. Asthma and COPD;Chapter 34;Barnes PJ;2009;2;425-442; 3. ACCP Pulmonary Medicine Board Review;Chapter 4;Braman SS;2012;26th Edn;1-39; 4. Hoenderdos K;American Journal of Respiratory Cell and Molecular Biology;2013;48;531-539.</a:t>
            </a:r>
          </a:p>
        </p:txBody>
      </p:sp>
      <p:sp>
        <p:nvSpPr>
          <p:cNvPr id="6" name="Rectangle 5">
            <a:extLst>
              <a:ext uri="{FF2B5EF4-FFF2-40B4-BE49-F238E27FC236}">
                <a16:creationId xmlns:a16="http://schemas.microsoft.com/office/drawing/2014/main" id="{B22AC4AA-B5E4-5464-C9DD-5116AF562E38}"/>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
        <p:nvSpPr>
          <p:cNvPr id="7" name="Title 4">
            <a:extLst>
              <a:ext uri="{FF2B5EF4-FFF2-40B4-BE49-F238E27FC236}">
                <a16:creationId xmlns:a16="http://schemas.microsoft.com/office/drawing/2014/main" id="{FC135B69-D4B9-4B7F-032A-D6967C6A7C0E}"/>
              </a:ext>
            </a:extLst>
          </p:cNvPr>
          <p:cNvSpPr txBox="1">
            <a:spLocks/>
          </p:cNvSpPr>
          <p:nvPr/>
        </p:nvSpPr>
        <p:spPr>
          <a:xfrm>
            <a:off x="366383" y="669965"/>
            <a:ext cx="11460163" cy="430887"/>
          </a:xfrm>
          <a:prstGeom prst="rect">
            <a:avLst/>
          </a:prstGeom>
        </p:spPr>
        <p:txBody>
          <a:bodyPr vert="horz" lIns="0" tIns="0" rIns="0" bIns="0" rtlCol="0" anchor="b" anchorCtr="0">
            <a:noAutofit/>
          </a:bodyPr>
          <a:lstStyle>
            <a:lvl1pPr algn="l" defTabSz="1219170" rtl="0" eaLnBrk="1" latinLnBrk="0" hangingPunct="1">
              <a:lnSpc>
                <a:spcPct val="100000"/>
              </a:lnSpc>
              <a:spcBef>
                <a:spcPct val="0"/>
              </a:spcBef>
              <a:buNone/>
              <a:defRPr sz="2800" b="1" kern="1200">
                <a:solidFill>
                  <a:schemeClr val="tx2"/>
                </a:solidFill>
                <a:latin typeface="+mj-lt"/>
                <a:ea typeface="+mj-ea"/>
                <a:cs typeface="+mj-cs"/>
              </a:defRPr>
            </a:lvl1pPr>
          </a:lstStyle>
          <a:p>
            <a:pPr marL="0" marR="0" lvl="0" indent="0" algn="l" defTabSz="1219170" rtl="0" eaLnBrk="1" fontAlgn="auto" latinLnBrk="0" hangingPunct="1">
              <a:lnSpc>
                <a:spcPct val="100000"/>
              </a:lnSpc>
              <a:spcBef>
                <a:spcPct val="0"/>
              </a:spcBef>
              <a:spcAft>
                <a:spcPts val="0"/>
              </a:spcAft>
              <a:buClrTx/>
              <a:buSzTx/>
              <a:buFontTx/>
              <a:buNone/>
              <a:tabLst/>
              <a:defRPr/>
            </a:pPr>
            <a:r>
              <a:rPr kumimoji="0" lang="en-US" sz="2800" b="1" i="0" u="none" strike="noStrike" kern="1200" cap="none" spc="0" normalizeH="0" baseline="0" noProof="0" dirty="0">
                <a:ln>
                  <a:noFill/>
                </a:ln>
                <a:solidFill>
                  <a:srgbClr val="F36633"/>
                </a:solidFill>
                <a:effectLst/>
                <a:uLnTx/>
                <a:uFillTx/>
                <a:latin typeface="Arial"/>
                <a:ea typeface="+mj-ea"/>
                <a:cs typeface="Noto Sans"/>
              </a:rPr>
              <a:t>Roles of Different Cells of the Immune System in COPD Pathogenesis (III)</a:t>
            </a:r>
            <a:endParaRPr kumimoji="0" lang="en-GB" sz="2800" b="1" i="0" u="none" strike="noStrike" kern="1200" cap="none" spc="0" normalizeH="0" baseline="0" noProof="0" dirty="0">
              <a:ln>
                <a:noFill/>
              </a:ln>
              <a:solidFill>
                <a:srgbClr val="F36633"/>
              </a:solidFill>
              <a:effectLst/>
              <a:uLnTx/>
              <a:uFillTx/>
              <a:latin typeface="Arial"/>
              <a:ea typeface="+mj-ea"/>
              <a:cs typeface="Noto Sans"/>
            </a:endParaRPr>
          </a:p>
        </p:txBody>
      </p:sp>
    </p:spTree>
    <p:extLst>
      <p:ext uri="{BB962C8B-B14F-4D97-AF65-F5344CB8AC3E}">
        <p14:creationId xmlns:p14="http://schemas.microsoft.com/office/powerpoint/2010/main" val="12936460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634D6D-4ACC-6F04-EC14-712547F5BD7A}"/>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54</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4A9CA3D3-397E-5104-D69F-FB81D8F6FDFB}"/>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712419B4-3A7E-3AD3-2D98-90351CEAA6A8}"/>
              </a:ext>
            </a:extLst>
          </p:cNvPr>
          <p:cNvSpPr>
            <a:spLocks noGrp="1"/>
          </p:cNvSpPr>
          <p:nvPr>
            <p:ph type="title"/>
          </p:nvPr>
        </p:nvSpPr>
        <p:spPr/>
        <p:txBody>
          <a:bodyPr/>
          <a:lstStyle/>
          <a:p>
            <a:r>
              <a:rPr lang="en-US" dirty="0"/>
              <a:t>Role of TNF-α in the Inflammatory Response of COPD</a:t>
            </a:r>
            <a:endParaRPr lang="en-GB" dirty="0"/>
          </a:p>
        </p:txBody>
      </p:sp>
      <p:sp>
        <p:nvSpPr>
          <p:cNvPr id="13" name="Text Placeholder 10">
            <a:extLst>
              <a:ext uri="{FF2B5EF4-FFF2-40B4-BE49-F238E27FC236}">
                <a16:creationId xmlns:a16="http://schemas.microsoft.com/office/drawing/2014/main" id="{C2667F63-920A-D4F2-84EB-DAF95DB8EB8F}"/>
              </a:ext>
            </a:extLst>
          </p:cNvPr>
          <p:cNvSpPr txBox="1">
            <a:spLocks/>
          </p:cNvSpPr>
          <p:nvPr/>
        </p:nvSpPr>
        <p:spPr>
          <a:xfrm>
            <a:off x="364316" y="5791059"/>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TNF-α, tumour necrosis factor alpha.</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Mukhopadhyay S;Respiratory Research;2006;7;1-9; 2. Mathanraj S;International Journal of Research in Medical Sciences;2017;5;3309–3316; 3. Churg A;American Journal of Respiratory And Critical Care Medicine;2003;167;1083–1089.</a:t>
            </a:r>
          </a:p>
        </p:txBody>
      </p:sp>
      <p:sp>
        <p:nvSpPr>
          <p:cNvPr id="47" name="Content Placeholder 12">
            <a:extLst>
              <a:ext uri="{FF2B5EF4-FFF2-40B4-BE49-F238E27FC236}">
                <a16:creationId xmlns:a16="http://schemas.microsoft.com/office/drawing/2014/main" id="{FE2103FC-F02A-5EC3-8632-3494AFC3326A}"/>
              </a:ext>
            </a:extLst>
          </p:cNvPr>
          <p:cNvSpPr txBox="1">
            <a:spLocks/>
          </p:cNvSpPr>
          <p:nvPr/>
        </p:nvSpPr>
        <p:spPr>
          <a:xfrm>
            <a:off x="368760" y="897794"/>
            <a:ext cx="11424000" cy="1384995"/>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TNF-α is an inflammatory mediator released by many different immune cells including alveolar macrophages and T lymphocytes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Levels of TNF-α are often found to be elevated in patients with COPD</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2</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TNF-α plays a significant role in the inflammatory response of COPD and leads to connective tissue breakdown and alveolar destruction through the following mechanism:</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p>
        </p:txBody>
      </p:sp>
      <p:grpSp>
        <p:nvGrpSpPr>
          <p:cNvPr id="28" name="Group 27">
            <a:extLst>
              <a:ext uri="{FF2B5EF4-FFF2-40B4-BE49-F238E27FC236}">
                <a16:creationId xmlns:a16="http://schemas.microsoft.com/office/drawing/2014/main" id="{6ADA6995-988B-836E-F25A-F105A4F763D2}"/>
              </a:ext>
            </a:extLst>
          </p:cNvPr>
          <p:cNvGrpSpPr/>
          <p:nvPr/>
        </p:nvGrpSpPr>
        <p:grpSpPr>
          <a:xfrm>
            <a:off x="369204" y="2393117"/>
            <a:ext cx="11458524" cy="3161833"/>
            <a:chOff x="369204" y="2335967"/>
            <a:chExt cx="11458524" cy="3161833"/>
          </a:xfrm>
        </p:grpSpPr>
        <p:sp>
          <p:nvSpPr>
            <p:cNvPr id="52" name="object 25">
              <a:extLst>
                <a:ext uri="{FF2B5EF4-FFF2-40B4-BE49-F238E27FC236}">
                  <a16:creationId xmlns:a16="http://schemas.microsoft.com/office/drawing/2014/main" id="{80D16FA2-0BFB-32AC-6076-E9DA1E039BA3}"/>
                </a:ext>
              </a:extLst>
            </p:cNvPr>
            <p:cNvSpPr/>
            <p:nvPr/>
          </p:nvSpPr>
          <p:spPr>
            <a:xfrm>
              <a:off x="10199559" y="3758244"/>
              <a:ext cx="405155" cy="317279"/>
            </a:xfrm>
            <a:custGeom>
              <a:avLst/>
              <a:gdLst/>
              <a:ahLst/>
              <a:cxnLst/>
              <a:rect l="l" t="t" r="r" b="b"/>
              <a:pathLst>
                <a:path w="330834" h="259079">
                  <a:moveTo>
                    <a:pt x="248030" y="0"/>
                  </a:moveTo>
                  <a:lnTo>
                    <a:pt x="82676" y="0"/>
                  </a:lnTo>
                  <a:lnTo>
                    <a:pt x="82676" y="129539"/>
                  </a:lnTo>
                  <a:lnTo>
                    <a:pt x="0" y="129539"/>
                  </a:lnTo>
                  <a:lnTo>
                    <a:pt x="165353" y="259079"/>
                  </a:lnTo>
                  <a:lnTo>
                    <a:pt x="330707" y="129539"/>
                  </a:lnTo>
                  <a:lnTo>
                    <a:pt x="248030" y="129539"/>
                  </a:lnTo>
                  <a:lnTo>
                    <a:pt x="248030"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27" name="Group 26">
              <a:extLst>
                <a:ext uri="{FF2B5EF4-FFF2-40B4-BE49-F238E27FC236}">
                  <a16:creationId xmlns:a16="http://schemas.microsoft.com/office/drawing/2014/main" id="{80B06BC7-ADF3-98D5-B198-38372256D78C}"/>
                </a:ext>
              </a:extLst>
            </p:cNvPr>
            <p:cNvGrpSpPr/>
            <p:nvPr/>
          </p:nvGrpSpPr>
          <p:grpSpPr>
            <a:xfrm>
              <a:off x="369204" y="2335967"/>
              <a:ext cx="11458524" cy="1306286"/>
              <a:chOff x="369204" y="2335967"/>
              <a:chExt cx="11458524" cy="1306286"/>
            </a:xfrm>
          </p:grpSpPr>
          <p:sp>
            <p:nvSpPr>
              <p:cNvPr id="49" name="object 22">
                <a:extLst>
                  <a:ext uri="{FF2B5EF4-FFF2-40B4-BE49-F238E27FC236}">
                    <a16:creationId xmlns:a16="http://schemas.microsoft.com/office/drawing/2014/main" id="{E350657C-B93D-E005-147C-BE98AF3C3367}"/>
                  </a:ext>
                </a:extLst>
              </p:cNvPr>
              <p:cNvSpPr/>
              <p:nvPr/>
            </p:nvSpPr>
            <p:spPr>
              <a:xfrm>
                <a:off x="2171162" y="2786533"/>
                <a:ext cx="317279" cy="405155"/>
              </a:xfrm>
              <a:custGeom>
                <a:avLst/>
                <a:gdLst/>
                <a:ahLst/>
                <a:cxnLst/>
                <a:rect l="l" t="t" r="r" b="b"/>
                <a:pathLst>
                  <a:path w="259080" h="330835">
                    <a:moveTo>
                      <a:pt x="129540" y="0"/>
                    </a:moveTo>
                    <a:lnTo>
                      <a:pt x="129540" y="82676"/>
                    </a:lnTo>
                    <a:lnTo>
                      <a:pt x="0" y="82676"/>
                    </a:lnTo>
                    <a:lnTo>
                      <a:pt x="0" y="248030"/>
                    </a:lnTo>
                    <a:lnTo>
                      <a:pt x="129540" y="248030"/>
                    </a:lnTo>
                    <a:lnTo>
                      <a:pt x="129540" y="330707"/>
                    </a:lnTo>
                    <a:lnTo>
                      <a:pt x="259080" y="165353"/>
                    </a:lnTo>
                    <a:lnTo>
                      <a:pt x="129540"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50" name="object 23">
                <a:extLst>
                  <a:ext uri="{FF2B5EF4-FFF2-40B4-BE49-F238E27FC236}">
                    <a16:creationId xmlns:a16="http://schemas.microsoft.com/office/drawing/2014/main" id="{509382D1-3712-2341-BF19-33374E2DE2FA}"/>
                  </a:ext>
                </a:extLst>
              </p:cNvPr>
              <p:cNvSpPr/>
              <p:nvPr/>
            </p:nvSpPr>
            <p:spPr>
              <a:xfrm>
                <a:off x="5348705" y="2786533"/>
                <a:ext cx="317279" cy="405155"/>
              </a:xfrm>
              <a:custGeom>
                <a:avLst/>
                <a:gdLst/>
                <a:ahLst/>
                <a:cxnLst/>
                <a:rect l="l" t="t" r="r" b="b"/>
                <a:pathLst>
                  <a:path w="259079" h="330835">
                    <a:moveTo>
                      <a:pt x="129539" y="0"/>
                    </a:moveTo>
                    <a:lnTo>
                      <a:pt x="129539" y="82676"/>
                    </a:lnTo>
                    <a:lnTo>
                      <a:pt x="0" y="82676"/>
                    </a:lnTo>
                    <a:lnTo>
                      <a:pt x="0" y="248030"/>
                    </a:lnTo>
                    <a:lnTo>
                      <a:pt x="129539" y="248030"/>
                    </a:lnTo>
                    <a:lnTo>
                      <a:pt x="129539" y="330707"/>
                    </a:lnTo>
                    <a:lnTo>
                      <a:pt x="259079" y="165353"/>
                    </a:lnTo>
                    <a:lnTo>
                      <a:pt x="129539"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51" name="object 24">
                <a:extLst>
                  <a:ext uri="{FF2B5EF4-FFF2-40B4-BE49-F238E27FC236}">
                    <a16:creationId xmlns:a16="http://schemas.microsoft.com/office/drawing/2014/main" id="{2DFED172-C238-E4E5-51C3-1C4399CC622A}"/>
                  </a:ext>
                </a:extLst>
              </p:cNvPr>
              <p:cNvSpPr/>
              <p:nvPr/>
            </p:nvSpPr>
            <p:spPr>
              <a:xfrm>
                <a:off x="8526248" y="2786533"/>
                <a:ext cx="317279" cy="405155"/>
              </a:xfrm>
              <a:custGeom>
                <a:avLst/>
                <a:gdLst/>
                <a:ahLst/>
                <a:cxnLst/>
                <a:rect l="l" t="t" r="r" b="b"/>
                <a:pathLst>
                  <a:path w="259079" h="330835">
                    <a:moveTo>
                      <a:pt x="129540" y="0"/>
                    </a:moveTo>
                    <a:lnTo>
                      <a:pt x="129540" y="82676"/>
                    </a:lnTo>
                    <a:lnTo>
                      <a:pt x="0" y="82676"/>
                    </a:lnTo>
                    <a:lnTo>
                      <a:pt x="0" y="248030"/>
                    </a:lnTo>
                    <a:lnTo>
                      <a:pt x="129540" y="248030"/>
                    </a:lnTo>
                    <a:lnTo>
                      <a:pt x="129540" y="330707"/>
                    </a:lnTo>
                    <a:lnTo>
                      <a:pt x="259079" y="165353"/>
                    </a:lnTo>
                    <a:lnTo>
                      <a:pt x="129540"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74" name="Group 73">
                <a:extLst>
                  <a:ext uri="{FF2B5EF4-FFF2-40B4-BE49-F238E27FC236}">
                    <a16:creationId xmlns:a16="http://schemas.microsoft.com/office/drawing/2014/main" id="{A5A1164C-B2EE-EEBB-FFFD-045EC5B4201E}"/>
                  </a:ext>
                </a:extLst>
              </p:cNvPr>
              <p:cNvGrpSpPr/>
              <p:nvPr/>
            </p:nvGrpSpPr>
            <p:grpSpPr>
              <a:xfrm>
                <a:off x="722662" y="2438237"/>
                <a:ext cx="962026" cy="826796"/>
                <a:chOff x="641943" y="3235451"/>
                <a:chExt cx="785556" cy="675132"/>
              </a:xfrm>
            </p:grpSpPr>
            <p:pic>
              <p:nvPicPr>
                <p:cNvPr id="76" name="object 6">
                  <a:extLst>
                    <a:ext uri="{FF2B5EF4-FFF2-40B4-BE49-F238E27FC236}">
                      <a16:creationId xmlns:a16="http://schemas.microsoft.com/office/drawing/2014/main" id="{1CFA3A3D-0FF6-A2D1-39EE-815B710BFA4A}"/>
                    </a:ext>
                  </a:extLst>
                </p:cNvPr>
                <p:cNvPicPr/>
                <p:nvPr/>
              </p:nvPicPr>
              <p:blipFill>
                <a:blip r:embed="rId2" cstate="print"/>
                <a:stretch>
                  <a:fillRect/>
                </a:stretch>
              </p:blipFill>
              <p:spPr>
                <a:xfrm>
                  <a:off x="641943" y="3532632"/>
                  <a:ext cx="328845" cy="291083"/>
                </a:xfrm>
                <a:prstGeom prst="rect">
                  <a:avLst/>
                </a:prstGeom>
              </p:spPr>
            </p:pic>
            <p:grpSp>
              <p:nvGrpSpPr>
                <p:cNvPr id="77" name="object 7">
                  <a:extLst>
                    <a:ext uri="{FF2B5EF4-FFF2-40B4-BE49-F238E27FC236}">
                      <a16:creationId xmlns:a16="http://schemas.microsoft.com/office/drawing/2014/main" id="{89383E72-CE89-3D47-03E5-F0D729B817A5}"/>
                    </a:ext>
                  </a:extLst>
                </p:cNvPr>
                <p:cNvGrpSpPr/>
                <p:nvPr/>
              </p:nvGrpSpPr>
              <p:grpSpPr>
                <a:xfrm>
                  <a:off x="858011" y="3235451"/>
                  <a:ext cx="569488" cy="675132"/>
                  <a:chOff x="858011" y="3235451"/>
                  <a:chExt cx="569488" cy="675132"/>
                </a:xfrm>
              </p:grpSpPr>
              <p:pic>
                <p:nvPicPr>
                  <p:cNvPr id="78" name="object 8">
                    <a:extLst>
                      <a:ext uri="{FF2B5EF4-FFF2-40B4-BE49-F238E27FC236}">
                        <a16:creationId xmlns:a16="http://schemas.microsoft.com/office/drawing/2014/main" id="{96C339FE-8A56-569B-4462-B62941A61D3D}"/>
                      </a:ext>
                    </a:extLst>
                  </p:cNvPr>
                  <p:cNvPicPr/>
                  <p:nvPr/>
                </p:nvPicPr>
                <p:blipFill>
                  <a:blip r:embed="rId3" cstate="print"/>
                  <a:stretch>
                    <a:fillRect/>
                  </a:stretch>
                </p:blipFill>
                <p:spPr>
                  <a:xfrm>
                    <a:off x="858011" y="3235451"/>
                    <a:ext cx="426719" cy="193548"/>
                  </a:xfrm>
                  <a:prstGeom prst="rect">
                    <a:avLst/>
                  </a:prstGeom>
                </p:spPr>
              </p:pic>
              <p:pic>
                <p:nvPicPr>
                  <p:cNvPr id="79" name="object 9">
                    <a:extLst>
                      <a:ext uri="{FF2B5EF4-FFF2-40B4-BE49-F238E27FC236}">
                        <a16:creationId xmlns:a16="http://schemas.microsoft.com/office/drawing/2014/main" id="{C46214B4-52C0-87B5-9CFB-07414921DF72}"/>
                      </a:ext>
                    </a:extLst>
                  </p:cNvPr>
                  <p:cNvPicPr/>
                  <p:nvPr/>
                </p:nvPicPr>
                <p:blipFill>
                  <a:blip r:embed="rId4" cstate="print"/>
                  <a:stretch>
                    <a:fillRect/>
                  </a:stretch>
                </p:blipFill>
                <p:spPr>
                  <a:xfrm>
                    <a:off x="1054607" y="3447287"/>
                    <a:ext cx="372892" cy="463296"/>
                  </a:xfrm>
                  <a:prstGeom prst="rect">
                    <a:avLst/>
                  </a:prstGeom>
                </p:spPr>
              </p:pic>
            </p:grpSp>
          </p:grpSp>
          <p:sp>
            <p:nvSpPr>
              <p:cNvPr id="75" name="Rectangle 74">
                <a:extLst>
                  <a:ext uri="{FF2B5EF4-FFF2-40B4-BE49-F238E27FC236}">
                    <a16:creationId xmlns:a16="http://schemas.microsoft.com/office/drawing/2014/main" id="{E7F6F86E-22B0-C63B-9D75-B0764953BB43}"/>
                  </a:ext>
                </a:extLst>
              </p:cNvPr>
              <p:cNvSpPr/>
              <p:nvPr/>
            </p:nvSpPr>
            <p:spPr>
              <a:xfrm>
                <a:off x="369204" y="2335967"/>
                <a:ext cx="1668942"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COPD risk factors</a:t>
                </a:r>
              </a:p>
            </p:txBody>
          </p:sp>
          <p:grpSp>
            <p:nvGrpSpPr>
              <p:cNvPr id="56" name="Group 55">
                <a:extLst>
                  <a:ext uri="{FF2B5EF4-FFF2-40B4-BE49-F238E27FC236}">
                    <a16:creationId xmlns:a16="http://schemas.microsoft.com/office/drawing/2014/main" id="{CD111779-568D-F1DA-1979-DE607E0B651B}"/>
                  </a:ext>
                </a:extLst>
              </p:cNvPr>
              <p:cNvGrpSpPr/>
              <p:nvPr/>
            </p:nvGrpSpPr>
            <p:grpSpPr>
              <a:xfrm>
                <a:off x="2621457" y="2335967"/>
                <a:ext cx="2594232" cy="1306286"/>
                <a:chOff x="2601882" y="2699657"/>
                <a:chExt cx="2594232" cy="1306286"/>
              </a:xfrm>
            </p:grpSpPr>
            <p:sp>
              <p:nvSpPr>
                <p:cNvPr id="72" name="object 10">
                  <a:extLst>
                    <a:ext uri="{FF2B5EF4-FFF2-40B4-BE49-F238E27FC236}">
                      <a16:creationId xmlns:a16="http://schemas.microsoft.com/office/drawing/2014/main" id="{4A37F261-6248-62B8-20B4-3F94F32027D8}"/>
                    </a:ext>
                  </a:extLst>
                </p:cNvPr>
                <p:cNvSpPr/>
                <p:nvPr/>
              </p:nvSpPr>
              <p:spPr>
                <a:xfrm>
                  <a:off x="3414523" y="2775798"/>
                  <a:ext cx="968950" cy="783870"/>
                </a:xfrm>
                <a:custGeom>
                  <a:avLst/>
                  <a:gdLst/>
                  <a:ahLst/>
                  <a:cxnLst/>
                  <a:rect l="l" t="t" r="r" b="b"/>
                  <a:pathLst>
                    <a:path w="791210" h="640079">
                      <a:moveTo>
                        <a:pt x="228600" y="523494"/>
                      </a:moveTo>
                      <a:lnTo>
                        <a:pt x="219608" y="478116"/>
                      </a:lnTo>
                      <a:lnTo>
                        <a:pt x="195110" y="441058"/>
                      </a:lnTo>
                      <a:lnTo>
                        <a:pt x="158775" y="416077"/>
                      </a:lnTo>
                      <a:lnTo>
                        <a:pt x="114300" y="406908"/>
                      </a:lnTo>
                      <a:lnTo>
                        <a:pt x="69811" y="416077"/>
                      </a:lnTo>
                      <a:lnTo>
                        <a:pt x="33477" y="441058"/>
                      </a:lnTo>
                      <a:lnTo>
                        <a:pt x="8978" y="478116"/>
                      </a:lnTo>
                      <a:lnTo>
                        <a:pt x="0" y="523494"/>
                      </a:lnTo>
                      <a:lnTo>
                        <a:pt x="8978" y="568883"/>
                      </a:lnTo>
                      <a:lnTo>
                        <a:pt x="33477" y="605942"/>
                      </a:lnTo>
                      <a:lnTo>
                        <a:pt x="69811" y="630923"/>
                      </a:lnTo>
                      <a:lnTo>
                        <a:pt x="114300" y="640080"/>
                      </a:lnTo>
                      <a:lnTo>
                        <a:pt x="158775" y="630923"/>
                      </a:lnTo>
                      <a:lnTo>
                        <a:pt x="195110" y="605942"/>
                      </a:lnTo>
                      <a:lnTo>
                        <a:pt x="219608" y="568883"/>
                      </a:lnTo>
                      <a:lnTo>
                        <a:pt x="228600" y="523494"/>
                      </a:lnTo>
                      <a:close/>
                    </a:path>
                    <a:path w="791210" h="640079">
                      <a:moveTo>
                        <a:pt x="359664" y="314706"/>
                      </a:moveTo>
                      <a:lnTo>
                        <a:pt x="350608" y="269328"/>
                      </a:lnTo>
                      <a:lnTo>
                        <a:pt x="325945" y="232270"/>
                      </a:lnTo>
                      <a:lnTo>
                        <a:pt x="289369" y="207289"/>
                      </a:lnTo>
                      <a:lnTo>
                        <a:pt x="244602" y="198120"/>
                      </a:lnTo>
                      <a:lnTo>
                        <a:pt x="199834" y="207289"/>
                      </a:lnTo>
                      <a:lnTo>
                        <a:pt x="163258" y="232270"/>
                      </a:lnTo>
                      <a:lnTo>
                        <a:pt x="138582" y="269328"/>
                      </a:lnTo>
                      <a:lnTo>
                        <a:pt x="129540" y="314706"/>
                      </a:lnTo>
                      <a:lnTo>
                        <a:pt x="138582" y="360095"/>
                      </a:lnTo>
                      <a:lnTo>
                        <a:pt x="163258" y="397154"/>
                      </a:lnTo>
                      <a:lnTo>
                        <a:pt x="199834" y="422135"/>
                      </a:lnTo>
                      <a:lnTo>
                        <a:pt x="244602" y="431292"/>
                      </a:lnTo>
                      <a:lnTo>
                        <a:pt x="289369" y="422135"/>
                      </a:lnTo>
                      <a:lnTo>
                        <a:pt x="325945" y="397154"/>
                      </a:lnTo>
                      <a:lnTo>
                        <a:pt x="350608" y="360095"/>
                      </a:lnTo>
                      <a:lnTo>
                        <a:pt x="359664" y="314706"/>
                      </a:lnTo>
                      <a:close/>
                    </a:path>
                    <a:path w="791210" h="640079">
                      <a:moveTo>
                        <a:pt x="509016" y="523494"/>
                      </a:moveTo>
                      <a:lnTo>
                        <a:pt x="500024" y="478116"/>
                      </a:lnTo>
                      <a:lnTo>
                        <a:pt x="475526" y="441058"/>
                      </a:lnTo>
                      <a:lnTo>
                        <a:pt x="439191" y="416077"/>
                      </a:lnTo>
                      <a:lnTo>
                        <a:pt x="394716" y="406908"/>
                      </a:lnTo>
                      <a:lnTo>
                        <a:pt x="350227" y="416077"/>
                      </a:lnTo>
                      <a:lnTo>
                        <a:pt x="313893" y="441058"/>
                      </a:lnTo>
                      <a:lnTo>
                        <a:pt x="289394" y="478116"/>
                      </a:lnTo>
                      <a:lnTo>
                        <a:pt x="280416" y="523494"/>
                      </a:lnTo>
                      <a:lnTo>
                        <a:pt x="289394" y="568883"/>
                      </a:lnTo>
                      <a:lnTo>
                        <a:pt x="313893" y="605942"/>
                      </a:lnTo>
                      <a:lnTo>
                        <a:pt x="350227" y="630923"/>
                      </a:lnTo>
                      <a:lnTo>
                        <a:pt x="394716" y="640080"/>
                      </a:lnTo>
                      <a:lnTo>
                        <a:pt x="439191" y="630923"/>
                      </a:lnTo>
                      <a:lnTo>
                        <a:pt x="475526" y="605942"/>
                      </a:lnTo>
                      <a:lnTo>
                        <a:pt x="500024" y="568883"/>
                      </a:lnTo>
                      <a:lnTo>
                        <a:pt x="509016" y="523494"/>
                      </a:lnTo>
                      <a:close/>
                    </a:path>
                    <a:path w="791210" h="640079">
                      <a:moveTo>
                        <a:pt x="509016" y="116586"/>
                      </a:moveTo>
                      <a:lnTo>
                        <a:pt x="500024" y="71208"/>
                      </a:lnTo>
                      <a:lnTo>
                        <a:pt x="475526" y="34150"/>
                      </a:lnTo>
                      <a:lnTo>
                        <a:pt x="439191" y="9169"/>
                      </a:lnTo>
                      <a:lnTo>
                        <a:pt x="394716" y="0"/>
                      </a:lnTo>
                      <a:lnTo>
                        <a:pt x="350227" y="9169"/>
                      </a:lnTo>
                      <a:lnTo>
                        <a:pt x="313893" y="34150"/>
                      </a:lnTo>
                      <a:lnTo>
                        <a:pt x="289394" y="71208"/>
                      </a:lnTo>
                      <a:lnTo>
                        <a:pt x="280416" y="116586"/>
                      </a:lnTo>
                      <a:lnTo>
                        <a:pt x="289394" y="161975"/>
                      </a:lnTo>
                      <a:lnTo>
                        <a:pt x="313893" y="199034"/>
                      </a:lnTo>
                      <a:lnTo>
                        <a:pt x="350227" y="224015"/>
                      </a:lnTo>
                      <a:lnTo>
                        <a:pt x="394716" y="233172"/>
                      </a:lnTo>
                      <a:lnTo>
                        <a:pt x="439191" y="224015"/>
                      </a:lnTo>
                      <a:lnTo>
                        <a:pt x="475526" y="199034"/>
                      </a:lnTo>
                      <a:lnTo>
                        <a:pt x="500024" y="161975"/>
                      </a:lnTo>
                      <a:lnTo>
                        <a:pt x="509016" y="116586"/>
                      </a:lnTo>
                      <a:close/>
                    </a:path>
                    <a:path w="791210" h="640079">
                      <a:moveTo>
                        <a:pt x="659892" y="314706"/>
                      </a:moveTo>
                      <a:lnTo>
                        <a:pt x="650836" y="269328"/>
                      </a:lnTo>
                      <a:lnTo>
                        <a:pt x="626160" y="232270"/>
                      </a:lnTo>
                      <a:lnTo>
                        <a:pt x="589584" y="207289"/>
                      </a:lnTo>
                      <a:lnTo>
                        <a:pt x="544830" y="198120"/>
                      </a:lnTo>
                      <a:lnTo>
                        <a:pt x="500049" y="207289"/>
                      </a:lnTo>
                      <a:lnTo>
                        <a:pt x="463473" y="232270"/>
                      </a:lnTo>
                      <a:lnTo>
                        <a:pt x="438810" y="269328"/>
                      </a:lnTo>
                      <a:lnTo>
                        <a:pt x="429755" y="314706"/>
                      </a:lnTo>
                      <a:lnTo>
                        <a:pt x="438810" y="360095"/>
                      </a:lnTo>
                      <a:lnTo>
                        <a:pt x="463486" y="397154"/>
                      </a:lnTo>
                      <a:lnTo>
                        <a:pt x="500062" y="422135"/>
                      </a:lnTo>
                      <a:lnTo>
                        <a:pt x="544830" y="431292"/>
                      </a:lnTo>
                      <a:lnTo>
                        <a:pt x="589597" y="422135"/>
                      </a:lnTo>
                      <a:lnTo>
                        <a:pt x="626173" y="397154"/>
                      </a:lnTo>
                      <a:lnTo>
                        <a:pt x="650836" y="360095"/>
                      </a:lnTo>
                      <a:lnTo>
                        <a:pt x="659892" y="314706"/>
                      </a:lnTo>
                      <a:close/>
                    </a:path>
                    <a:path w="791210" h="640079">
                      <a:moveTo>
                        <a:pt x="790956" y="523494"/>
                      </a:moveTo>
                      <a:lnTo>
                        <a:pt x="781900" y="478116"/>
                      </a:lnTo>
                      <a:lnTo>
                        <a:pt x="757224" y="441058"/>
                      </a:lnTo>
                      <a:lnTo>
                        <a:pt x="720648" y="416077"/>
                      </a:lnTo>
                      <a:lnTo>
                        <a:pt x="675894" y="406908"/>
                      </a:lnTo>
                      <a:lnTo>
                        <a:pt x="631113" y="416077"/>
                      </a:lnTo>
                      <a:lnTo>
                        <a:pt x="594537" y="441058"/>
                      </a:lnTo>
                      <a:lnTo>
                        <a:pt x="569874" y="478116"/>
                      </a:lnTo>
                      <a:lnTo>
                        <a:pt x="560832" y="523494"/>
                      </a:lnTo>
                      <a:lnTo>
                        <a:pt x="569874" y="568883"/>
                      </a:lnTo>
                      <a:lnTo>
                        <a:pt x="594550" y="605942"/>
                      </a:lnTo>
                      <a:lnTo>
                        <a:pt x="631126" y="630923"/>
                      </a:lnTo>
                      <a:lnTo>
                        <a:pt x="675894" y="640080"/>
                      </a:lnTo>
                      <a:lnTo>
                        <a:pt x="720661" y="630923"/>
                      </a:lnTo>
                      <a:lnTo>
                        <a:pt x="757237" y="605942"/>
                      </a:lnTo>
                      <a:lnTo>
                        <a:pt x="781900" y="568883"/>
                      </a:lnTo>
                      <a:lnTo>
                        <a:pt x="790956" y="523494"/>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73" name="Rectangle 72">
                  <a:extLst>
                    <a:ext uri="{FF2B5EF4-FFF2-40B4-BE49-F238E27FC236}">
                      <a16:creationId xmlns:a16="http://schemas.microsoft.com/office/drawing/2014/main" id="{B6DF437E-00E5-A40B-474C-328F0611D21B}"/>
                    </a:ext>
                  </a:extLst>
                </p:cNvPr>
                <p:cNvSpPr/>
                <p:nvPr/>
              </p:nvSpPr>
              <p:spPr>
                <a:xfrm>
                  <a:off x="2601882" y="2699657"/>
                  <a:ext cx="2594232"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TNF-α release from stimulated inflammatory cells</a:t>
                  </a:r>
                </a:p>
              </p:txBody>
            </p:sp>
          </p:grpSp>
          <p:grpSp>
            <p:nvGrpSpPr>
              <p:cNvPr id="57" name="Group 56">
                <a:extLst>
                  <a:ext uri="{FF2B5EF4-FFF2-40B4-BE49-F238E27FC236}">
                    <a16:creationId xmlns:a16="http://schemas.microsoft.com/office/drawing/2014/main" id="{5D988F48-7E2B-C4E0-9F65-FA0A94049317}"/>
                  </a:ext>
                </a:extLst>
              </p:cNvPr>
              <p:cNvGrpSpPr/>
              <p:nvPr/>
            </p:nvGrpSpPr>
            <p:grpSpPr>
              <a:xfrm>
                <a:off x="5799000" y="2335967"/>
                <a:ext cx="2594232" cy="1306286"/>
                <a:chOff x="5712042" y="2699657"/>
                <a:chExt cx="2594232" cy="1306286"/>
              </a:xfrm>
            </p:grpSpPr>
            <p:pic>
              <p:nvPicPr>
                <p:cNvPr id="70" name="object 12">
                  <a:extLst>
                    <a:ext uri="{FF2B5EF4-FFF2-40B4-BE49-F238E27FC236}">
                      <a16:creationId xmlns:a16="http://schemas.microsoft.com/office/drawing/2014/main" id="{E5B162E1-CB4B-DB46-C17F-54E6BB3FD1A9}"/>
                    </a:ext>
                  </a:extLst>
                </p:cNvPr>
                <p:cNvPicPr/>
                <p:nvPr/>
              </p:nvPicPr>
              <p:blipFill>
                <a:blip r:embed="rId5" cstate="print"/>
                <a:stretch>
                  <a:fillRect/>
                </a:stretch>
              </p:blipFill>
              <p:spPr>
                <a:xfrm>
                  <a:off x="6184229" y="2846721"/>
                  <a:ext cx="1649858" cy="722280"/>
                </a:xfrm>
                <a:prstGeom prst="rect">
                  <a:avLst/>
                </a:prstGeom>
              </p:spPr>
            </p:pic>
            <p:sp>
              <p:nvSpPr>
                <p:cNvPr id="71" name="Rectangle 70">
                  <a:extLst>
                    <a:ext uri="{FF2B5EF4-FFF2-40B4-BE49-F238E27FC236}">
                      <a16:creationId xmlns:a16="http://schemas.microsoft.com/office/drawing/2014/main" id="{EEE55301-0373-A790-0EDC-8A339829DE1B}"/>
                    </a:ext>
                  </a:extLst>
                </p:cNvPr>
                <p:cNvSpPr/>
                <p:nvPr/>
              </p:nvSpPr>
              <p:spPr>
                <a:xfrm>
                  <a:off x="5712042" y="2699657"/>
                  <a:ext cx="2594232"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Activation of vascular </a:t>
                  </a:r>
                  <a:b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b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endothelial cells</a:t>
                  </a:r>
                </a:p>
              </p:txBody>
            </p:sp>
          </p:grpSp>
          <p:grpSp>
            <p:nvGrpSpPr>
              <p:cNvPr id="58" name="Group 57">
                <a:extLst>
                  <a:ext uri="{FF2B5EF4-FFF2-40B4-BE49-F238E27FC236}">
                    <a16:creationId xmlns:a16="http://schemas.microsoft.com/office/drawing/2014/main" id="{3C535E70-907E-9FFA-13D4-38E963A76E19}"/>
                  </a:ext>
                </a:extLst>
              </p:cNvPr>
              <p:cNvGrpSpPr/>
              <p:nvPr/>
            </p:nvGrpSpPr>
            <p:grpSpPr>
              <a:xfrm>
                <a:off x="8976545" y="2335967"/>
                <a:ext cx="2851183" cy="1306286"/>
                <a:chOff x="8862450" y="2699657"/>
                <a:chExt cx="2851183" cy="1306286"/>
              </a:xfrm>
            </p:grpSpPr>
            <p:pic>
              <p:nvPicPr>
                <p:cNvPr id="68" name="object 14">
                  <a:extLst>
                    <a:ext uri="{FF2B5EF4-FFF2-40B4-BE49-F238E27FC236}">
                      <a16:creationId xmlns:a16="http://schemas.microsoft.com/office/drawing/2014/main" id="{68A60710-5C1D-9EA7-71E6-A356577458E2}"/>
                    </a:ext>
                  </a:extLst>
                </p:cNvPr>
                <p:cNvPicPr/>
                <p:nvPr/>
              </p:nvPicPr>
              <p:blipFill>
                <a:blip r:embed="rId6" cstate="print"/>
                <a:stretch>
                  <a:fillRect/>
                </a:stretch>
              </p:blipFill>
              <p:spPr>
                <a:xfrm>
                  <a:off x="9866741" y="2842995"/>
                  <a:ext cx="842601" cy="850747"/>
                </a:xfrm>
                <a:prstGeom prst="rect">
                  <a:avLst/>
                </a:prstGeom>
              </p:spPr>
            </p:pic>
            <p:sp>
              <p:nvSpPr>
                <p:cNvPr id="69" name="Rectangle 68">
                  <a:extLst>
                    <a:ext uri="{FF2B5EF4-FFF2-40B4-BE49-F238E27FC236}">
                      <a16:creationId xmlns:a16="http://schemas.microsoft.com/office/drawing/2014/main" id="{47783371-0C13-9D5E-76E5-DD4978E82B86}"/>
                    </a:ext>
                  </a:extLst>
                </p:cNvPr>
                <p:cNvSpPr/>
                <p:nvPr/>
              </p:nvSpPr>
              <p:spPr>
                <a:xfrm>
                  <a:off x="8862450" y="2699657"/>
                  <a:ext cx="2851183"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Entry of neutrophils into the lungs</a:t>
                  </a:r>
                </a:p>
              </p:txBody>
            </p:sp>
          </p:grpSp>
        </p:grpSp>
        <p:grpSp>
          <p:nvGrpSpPr>
            <p:cNvPr id="26" name="Group 25">
              <a:extLst>
                <a:ext uri="{FF2B5EF4-FFF2-40B4-BE49-F238E27FC236}">
                  <a16:creationId xmlns:a16="http://schemas.microsoft.com/office/drawing/2014/main" id="{316DD743-FE95-28CE-0908-C971CE58CF3D}"/>
                </a:ext>
              </a:extLst>
            </p:cNvPr>
            <p:cNvGrpSpPr/>
            <p:nvPr/>
          </p:nvGrpSpPr>
          <p:grpSpPr>
            <a:xfrm>
              <a:off x="2621457" y="4191514"/>
              <a:ext cx="9206271" cy="1306286"/>
              <a:chOff x="2621457" y="4191514"/>
              <a:chExt cx="9206271" cy="1306286"/>
            </a:xfrm>
          </p:grpSpPr>
          <p:sp>
            <p:nvSpPr>
              <p:cNvPr id="53" name="object 26">
                <a:extLst>
                  <a:ext uri="{FF2B5EF4-FFF2-40B4-BE49-F238E27FC236}">
                    <a16:creationId xmlns:a16="http://schemas.microsoft.com/office/drawing/2014/main" id="{36276278-A683-6212-FE25-A2DAB8DA1FA0}"/>
                  </a:ext>
                </a:extLst>
              </p:cNvPr>
              <p:cNvSpPr/>
              <p:nvPr/>
            </p:nvSpPr>
            <p:spPr>
              <a:xfrm>
                <a:off x="5349482" y="4642080"/>
                <a:ext cx="315725" cy="405155"/>
              </a:xfrm>
              <a:custGeom>
                <a:avLst/>
                <a:gdLst/>
                <a:ahLst/>
                <a:cxnLst/>
                <a:rect l="l" t="t" r="r" b="b"/>
                <a:pathLst>
                  <a:path w="257810" h="330835">
                    <a:moveTo>
                      <a:pt x="128777" y="0"/>
                    </a:moveTo>
                    <a:lnTo>
                      <a:pt x="0" y="165353"/>
                    </a:lnTo>
                    <a:lnTo>
                      <a:pt x="128777" y="330707"/>
                    </a:lnTo>
                    <a:lnTo>
                      <a:pt x="128777" y="248030"/>
                    </a:lnTo>
                    <a:lnTo>
                      <a:pt x="257555" y="248030"/>
                    </a:lnTo>
                    <a:lnTo>
                      <a:pt x="257555" y="82676"/>
                    </a:lnTo>
                    <a:lnTo>
                      <a:pt x="128777" y="82676"/>
                    </a:lnTo>
                    <a:lnTo>
                      <a:pt x="128777"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54" name="object 27">
                <a:extLst>
                  <a:ext uri="{FF2B5EF4-FFF2-40B4-BE49-F238E27FC236}">
                    <a16:creationId xmlns:a16="http://schemas.microsoft.com/office/drawing/2014/main" id="{45F35AEA-4F48-1999-9DF0-706C5710355B}"/>
                  </a:ext>
                </a:extLst>
              </p:cNvPr>
              <p:cNvSpPr/>
              <p:nvPr/>
            </p:nvSpPr>
            <p:spPr>
              <a:xfrm>
                <a:off x="8527025" y="4642080"/>
                <a:ext cx="315725" cy="405155"/>
              </a:xfrm>
              <a:custGeom>
                <a:avLst/>
                <a:gdLst/>
                <a:ahLst/>
                <a:cxnLst/>
                <a:rect l="l" t="t" r="r" b="b"/>
                <a:pathLst>
                  <a:path w="257809" h="330835">
                    <a:moveTo>
                      <a:pt x="128777" y="0"/>
                    </a:moveTo>
                    <a:lnTo>
                      <a:pt x="0" y="165353"/>
                    </a:lnTo>
                    <a:lnTo>
                      <a:pt x="128777" y="330707"/>
                    </a:lnTo>
                    <a:lnTo>
                      <a:pt x="128777" y="248030"/>
                    </a:lnTo>
                    <a:lnTo>
                      <a:pt x="257556" y="248030"/>
                    </a:lnTo>
                    <a:lnTo>
                      <a:pt x="257556" y="82676"/>
                    </a:lnTo>
                    <a:lnTo>
                      <a:pt x="128777" y="82676"/>
                    </a:lnTo>
                    <a:lnTo>
                      <a:pt x="128777" y="0"/>
                    </a:lnTo>
                    <a:close/>
                  </a:path>
                </a:pathLst>
              </a:custGeom>
              <a:solidFill>
                <a:srgbClr val="F36600"/>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59" name="Group 58">
                <a:extLst>
                  <a:ext uri="{FF2B5EF4-FFF2-40B4-BE49-F238E27FC236}">
                    <a16:creationId xmlns:a16="http://schemas.microsoft.com/office/drawing/2014/main" id="{D98B14AD-63A9-BE5A-9C66-1030DBABE3CD}"/>
                  </a:ext>
                </a:extLst>
              </p:cNvPr>
              <p:cNvGrpSpPr/>
              <p:nvPr/>
            </p:nvGrpSpPr>
            <p:grpSpPr>
              <a:xfrm>
                <a:off x="2621457" y="4191514"/>
                <a:ext cx="2594232" cy="1306286"/>
                <a:chOff x="2601882" y="4555204"/>
                <a:chExt cx="2594232" cy="1306286"/>
              </a:xfrm>
            </p:grpSpPr>
            <p:pic>
              <p:nvPicPr>
                <p:cNvPr id="66" name="object 20">
                  <a:extLst>
                    <a:ext uri="{FF2B5EF4-FFF2-40B4-BE49-F238E27FC236}">
                      <a16:creationId xmlns:a16="http://schemas.microsoft.com/office/drawing/2014/main" id="{A307F453-5A89-5E69-546F-E0F45D4876F3}"/>
                    </a:ext>
                  </a:extLst>
                </p:cNvPr>
                <p:cNvPicPr/>
                <p:nvPr/>
              </p:nvPicPr>
              <p:blipFill>
                <a:blip r:embed="rId7" cstate="print"/>
                <a:stretch>
                  <a:fillRect/>
                </a:stretch>
              </p:blipFill>
              <p:spPr>
                <a:xfrm>
                  <a:off x="3483896" y="4704040"/>
                  <a:ext cx="830205" cy="832009"/>
                </a:xfrm>
                <a:prstGeom prst="rect">
                  <a:avLst/>
                </a:prstGeom>
              </p:spPr>
            </p:pic>
            <p:sp>
              <p:nvSpPr>
                <p:cNvPr id="67" name="Rectangle 66">
                  <a:extLst>
                    <a:ext uri="{FF2B5EF4-FFF2-40B4-BE49-F238E27FC236}">
                      <a16:creationId xmlns:a16="http://schemas.microsoft.com/office/drawing/2014/main" id="{CE3870B6-4B10-289E-C497-EB710595B647}"/>
                    </a:ext>
                  </a:extLst>
                </p:cNvPr>
                <p:cNvSpPr/>
                <p:nvPr/>
              </p:nvSpPr>
              <p:spPr>
                <a:xfrm>
                  <a:off x="2601882" y="4555204"/>
                  <a:ext cx="2594232"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Destruction of the alveolar walls</a:t>
                  </a:r>
                </a:p>
              </p:txBody>
            </p:sp>
          </p:grpSp>
          <p:grpSp>
            <p:nvGrpSpPr>
              <p:cNvPr id="60" name="Group 59">
                <a:extLst>
                  <a:ext uri="{FF2B5EF4-FFF2-40B4-BE49-F238E27FC236}">
                    <a16:creationId xmlns:a16="http://schemas.microsoft.com/office/drawing/2014/main" id="{09AF634A-5530-33CF-6D79-8904A15AC561}"/>
                  </a:ext>
                </a:extLst>
              </p:cNvPr>
              <p:cNvGrpSpPr/>
              <p:nvPr/>
            </p:nvGrpSpPr>
            <p:grpSpPr>
              <a:xfrm>
                <a:off x="5799000" y="4191514"/>
                <a:ext cx="2594232" cy="1306286"/>
                <a:chOff x="5712042" y="4555204"/>
                <a:chExt cx="2594232" cy="1306286"/>
              </a:xfrm>
            </p:grpSpPr>
            <p:pic>
              <p:nvPicPr>
                <p:cNvPr id="64" name="object 16">
                  <a:extLst>
                    <a:ext uri="{FF2B5EF4-FFF2-40B4-BE49-F238E27FC236}">
                      <a16:creationId xmlns:a16="http://schemas.microsoft.com/office/drawing/2014/main" id="{7E9E5B0A-0793-CED4-A6C2-A51B57CCF7B8}"/>
                    </a:ext>
                  </a:extLst>
                </p:cNvPr>
                <p:cNvPicPr/>
                <p:nvPr/>
              </p:nvPicPr>
              <p:blipFill rotWithShape="1">
                <a:blip r:embed="rId8" cstate="print"/>
                <a:srcRect l="4463" t="12923" r="9154" b="14798"/>
                <a:stretch/>
              </p:blipFill>
              <p:spPr>
                <a:xfrm>
                  <a:off x="5973315" y="4748213"/>
                  <a:ext cx="2071687" cy="781050"/>
                </a:xfrm>
                <a:prstGeom prst="rect">
                  <a:avLst/>
                </a:prstGeom>
              </p:spPr>
            </p:pic>
            <p:sp>
              <p:nvSpPr>
                <p:cNvPr id="65" name="Rectangle 64">
                  <a:extLst>
                    <a:ext uri="{FF2B5EF4-FFF2-40B4-BE49-F238E27FC236}">
                      <a16:creationId xmlns:a16="http://schemas.microsoft.com/office/drawing/2014/main" id="{2513768E-3E6E-EE5A-538F-614C62353F48}"/>
                    </a:ext>
                  </a:extLst>
                </p:cNvPr>
                <p:cNvSpPr/>
                <p:nvPr/>
              </p:nvSpPr>
              <p:spPr>
                <a:xfrm>
                  <a:off x="5712042" y="4555204"/>
                  <a:ext cx="2594232"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Breakdown of connective tissue</a:t>
                  </a:r>
                </a:p>
              </p:txBody>
            </p:sp>
          </p:grpSp>
          <p:grpSp>
            <p:nvGrpSpPr>
              <p:cNvPr id="61" name="Group 60">
                <a:extLst>
                  <a:ext uri="{FF2B5EF4-FFF2-40B4-BE49-F238E27FC236}">
                    <a16:creationId xmlns:a16="http://schemas.microsoft.com/office/drawing/2014/main" id="{BE87AEFA-3D44-25FA-B156-81BFB861B535}"/>
                  </a:ext>
                </a:extLst>
              </p:cNvPr>
              <p:cNvGrpSpPr/>
              <p:nvPr/>
            </p:nvGrpSpPr>
            <p:grpSpPr>
              <a:xfrm>
                <a:off x="8976545" y="4191514"/>
                <a:ext cx="2851183" cy="1306286"/>
                <a:chOff x="8862450" y="4555204"/>
                <a:chExt cx="2851183" cy="1306286"/>
              </a:xfrm>
            </p:grpSpPr>
            <p:pic>
              <p:nvPicPr>
                <p:cNvPr id="62" name="object 18">
                  <a:extLst>
                    <a:ext uri="{FF2B5EF4-FFF2-40B4-BE49-F238E27FC236}">
                      <a16:creationId xmlns:a16="http://schemas.microsoft.com/office/drawing/2014/main" id="{2F9AA3E1-9D1D-3ACC-DF4E-60658DA5E17A}"/>
                    </a:ext>
                  </a:extLst>
                </p:cNvPr>
                <p:cNvPicPr/>
                <p:nvPr/>
              </p:nvPicPr>
              <p:blipFill>
                <a:blip r:embed="rId9" cstate="print"/>
                <a:stretch>
                  <a:fillRect/>
                </a:stretch>
              </p:blipFill>
              <p:spPr>
                <a:xfrm>
                  <a:off x="9641349" y="4561438"/>
                  <a:ext cx="1293384" cy="974237"/>
                </a:xfrm>
                <a:prstGeom prst="rect">
                  <a:avLst/>
                </a:prstGeom>
              </p:spPr>
            </p:pic>
            <p:sp>
              <p:nvSpPr>
                <p:cNvPr id="63" name="Rectangle 62">
                  <a:extLst>
                    <a:ext uri="{FF2B5EF4-FFF2-40B4-BE49-F238E27FC236}">
                      <a16:creationId xmlns:a16="http://schemas.microsoft.com/office/drawing/2014/main" id="{F890C4C2-1BD8-4BBE-732B-F15AB05A3555}"/>
                    </a:ext>
                  </a:extLst>
                </p:cNvPr>
                <p:cNvSpPr/>
                <p:nvPr/>
              </p:nvSpPr>
              <p:spPr>
                <a:xfrm>
                  <a:off x="8862450" y="4555204"/>
                  <a:ext cx="2851183" cy="1306286"/>
                </a:xfrm>
                <a:prstGeom prst="rect">
                  <a:avLst/>
                </a:prstGeom>
                <a:noFill/>
                <a:ln w="19050" cap="flat" cmpd="sng" algn="ctr">
                  <a:solidFill>
                    <a:srgbClr val="F36633"/>
                  </a:solidFill>
                  <a:prstDash val="solid"/>
                  <a:miter lim="800000"/>
                </a:ln>
                <a:effectLst/>
              </p:spPr>
              <p:txBody>
                <a:bodyPr bIns="45720" rtlCol="0" anchor="b"/>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0" normalizeH="0" baseline="0" noProof="0" dirty="0">
                      <a:ln>
                        <a:noFill/>
                      </a:ln>
                      <a:solidFill>
                        <a:srgbClr val="544F40"/>
                      </a:solidFill>
                      <a:effectLst/>
                      <a:uLnTx/>
                      <a:uFillTx/>
                      <a:latin typeface="Arial" panose="020B0604020202020204"/>
                      <a:ea typeface="+mn-ea"/>
                      <a:cs typeface="Noto Sans"/>
                    </a:rPr>
                    <a:t>Production of neutrophil-derived proteases</a:t>
                  </a:r>
                </a:p>
              </p:txBody>
            </p:sp>
          </p:grpSp>
        </p:grpSp>
      </p:grpSp>
      <p:sp>
        <p:nvSpPr>
          <p:cNvPr id="4" name="Rectangle 3">
            <a:extLst>
              <a:ext uri="{FF2B5EF4-FFF2-40B4-BE49-F238E27FC236}">
                <a16:creationId xmlns:a16="http://schemas.microsoft.com/office/drawing/2014/main" id="{985C40A3-03BA-1568-58A9-042D4484D38A}"/>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417137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634D6D-4ACC-6F04-EC14-712547F5BD7A}"/>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4A9CA3D3-397E-5104-D69F-FB81D8F6FDFB}"/>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712419B4-3A7E-3AD3-2D98-90351CEAA6A8}"/>
              </a:ext>
            </a:extLst>
          </p:cNvPr>
          <p:cNvSpPr>
            <a:spLocks noGrp="1"/>
          </p:cNvSpPr>
          <p:nvPr>
            <p:ph type="title"/>
          </p:nvPr>
        </p:nvSpPr>
        <p:spPr/>
        <p:txBody>
          <a:bodyPr/>
          <a:lstStyle/>
          <a:p>
            <a:r>
              <a:rPr lang="en-US" dirty="0"/>
              <a:t>COPD Pathogenic Mechanisms:</a:t>
            </a:r>
            <a:endParaRPr lang="en-GB" dirty="0"/>
          </a:p>
        </p:txBody>
      </p:sp>
      <p:sp>
        <p:nvSpPr>
          <p:cNvPr id="118" name="Subtitle 117">
            <a:extLst>
              <a:ext uri="{FF2B5EF4-FFF2-40B4-BE49-F238E27FC236}">
                <a16:creationId xmlns:a16="http://schemas.microsoft.com/office/drawing/2014/main" id="{569A88AC-97B1-59BB-D75E-6AB53C9845D2}"/>
              </a:ext>
            </a:extLst>
          </p:cNvPr>
          <p:cNvSpPr>
            <a:spLocks noGrp="1"/>
          </p:cNvSpPr>
          <p:nvPr>
            <p:ph type="subTitle" idx="1"/>
          </p:nvPr>
        </p:nvSpPr>
        <p:spPr/>
        <p:txBody>
          <a:bodyPr/>
          <a:lstStyle/>
          <a:p>
            <a:r>
              <a:rPr lang="en-US" i="1" dirty="0"/>
              <a:t>Increased airway inflammation</a:t>
            </a:r>
            <a:endParaRPr lang="en-GB" dirty="0"/>
          </a:p>
        </p:txBody>
      </p:sp>
      <p:sp>
        <p:nvSpPr>
          <p:cNvPr id="13" name="Text Placeholder 10">
            <a:extLst>
              <a:ext uri="{FF2B5EF4-FFF2-40B4-BE49-F238E27FC236}">
                <a16:creationId xmlns:a16="http://schemas.microsoft.com/office/drawing/2014/main" id="{C2667F63-920A-D4F2-84EB-DAF95DB8EB8F}"/>
              </a:ext>
            </a:extLst>
          </p:cNvPr>
          <p:cNvSpPr txBox="1">
            <a:spLocks/>
          </p:cNvSpPr>
          <p:nvPr/>
        </p:nvSpPr>
        <p:spPr>
          <a:xfrm>
            <a:off x="362118" y="5792589"/>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 2. MacNee W;Clinical Respiratory Medicine;2012;4;531-552; 3. Rovina N;Mediators of Inflammation;2013;2013:413735;1-9.</a:t>
            </a:r>
          </a:p>
        </p:txBody>
      </p:sp>
      <p:sp>
        <p:nvSpPr>
          <p:cNvPr id="44" name="Content Placeholder 12">
            <a:extLst>
              <a:ext uri="{FF2B5EF4-FFF2-40B4-BE49-F238E27FC236}">
                <a16:creationId xmlns:a16="http://schemas.microsoft.com/office/drawing/2014/main" id="{BD757A0B-B3B4-24B9-DFA1-A83DF569871C}"/>
              </a:ext>
            </a:extLst>
          </p:cNvPr>
          <p:cNvSpPr txBox="1">
            <a:spLocks/>
          </p:cNvSpPr>
          <p:nvPr/>
        </p:nvSpPr>
        <p:spPr>
          <a:xfrm>
            <a:off x="368283" y="1188124"/>
            <a:ext cx="11424000" cy="1461939"/>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Inhalation of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cigarette smoke</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or other noxious particles causes lung inflammation</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 inflammatory response is thought to be a normal, protective, innate immune response to inhaled toxins; this response is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amplified</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 patients who develop COPD</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1,2</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Inflammation in the airways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persists</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even after smoking cessation</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1–3</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Both the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innate and acquired </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inflammatory immune responses are affected in COPD:</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2,3</a:t>
            </a:r>
          </a:p>
        </p:txBody>
      </p:sp>
      <p:grpSp>
        <p:nvGrpSpPr>
          <p:cNvPr id="31" name="Group 30">
            <a:extLst>
              <a:ext uri="{FF2B5EF4-FFF2-40B4-BE49-F238E27FC236}">
                <a16:creationId xmlns:a16="http://schemas.microsoft.com/office/drawing/2014/main" id="{AF4F0D04-DACF-D46E-4385-06CBCDA0D1DD}"/>
              </a:ext>
            </a:extLst>
          </p:cNvPr>
          <p:cNvGrpSpPr/>
          <p:nvPr/>
        </p:nvGrpSpPr>
        <p:grpSpPr>
          <a:xfrm>
            <a:off x="359393" y="2821641"/>
            <a:ext cx="11473665" cy="2708542"/>
            <a:chOff x="359393" y="2923241"/>
            <a:chExt cx="11473665" cy="2708542"/>
          </a:xfrm>
        </p:grpSpPr>
        <p:grpSp>
          <p:nvGrpSpPr>
            <p:cNvPr id="19" name="Group 18">
              <a:extLst>
                <a:ext uri="{FF2B5EF4-FFF2-40B4-BE49-F238E27FC236}">
                  <a16:creationId xmlns:a16="http://schemas.microsoft.com/office/drawing/2014/main" id="{A7FF2630-82E0-222C-FE19-4397C68BD3D2}"/>
                </a:ext>
              </a:extLst>
            </p:cNvPr>
            <p:cNvGrpSpPr/>
            <p:nvPr/>
          </p:nvGrpSpPr>
          <p:grpSpPr>
            <a:xfrm>
              <a:off x="359393" y="2923241"/>
              <a:ext cx="11470859" cy="914400"/>
              <a:chOff x="359393" y="2797511"/>
              <a:chExt cx="11470859" cy="914400"/>
            </a:xfrm>
          </p:grpSpPr>
          <p:grpSp>
            <p:nvGrpSpPr>
              <p:cNvPr id="46" name="Group 45">
                <a:extLst>
                  <a:ext uri="{FF2B5EF4-FFF2-40B4-BE49-F238E27FC236}">
                    <a16:creationId xmlns:a16="http://schemas.microsoft.com/office/drawing/2014/main" id="{5E73217D-50E0-10BA-EE87-F43A20DF9756}"/>
                  </a:ext>
                </a:extLst>
              </p:cNvPr>
              <p:cNvGrpSpPr/>
              <p:nvPr/>
            </p:nvGrpSpPr>
            <p:grpSpPr>
              <a:xfrm>
                <a:off x="359393" y="2797511"/>
                <a:ext cx="3366614" cy="914400"/>
                <a:chOff x="336000" y="2846606"/>
                <a:chExt cx="3366614" cy="914400"/>
              </a:xfrm>
            </p:grpSpPr>
            <p:sp>
              <p:nvSpPr>
                <p:cNvPr id="90" name="object 6">
                  <a:extLst>
                    <a:ext uri="{FF2B5EF4-FFF2-40B4-BE49-F238E27FC236}">
                      <a16:creationId xmlns:a16="http://schemas.microsoft.com/office/drawing/2014/main" id="{C68C9D57-ED07-E8CE-9356-0EE9278133F2}"/>
                    </a:ext>
                  </a:extLst>
                </p:cNvPr>
                <p:cNvSpPr txBox="1"/>
                <p:nvPr/>
              </p:nvSpPr>
              <p:spPr>
                <a:xfrm>
                  <a:off x="336000" y="2846606"/>
                  <a:ext cx="3366614" cy="914400"/>
                </a:xfrm>
                <a:prstGeom prst="rect">
                  <a:avLst/>
                </a:prstGeom>
                <a:noFill/>
                <a:ln w="19050" cap="flat" cmpd="sng" algn="ctr">
                  <a:solidFill>
                    <a:srgbClr val="F36633"/>
                  </a:solidFill>
                  <a:prstDash val="solid"/>
                  <a:miter lim="800000"/>
                </a:ln>
                <a:effectLst/>
              </p:spPr>
              <p:txBody>
                <a:bodyPr lIns="0" rIns="0" bIns="45720" rtlCol="0" anchor="b"/>
                <a:lstStyle>
                  <a:defPPr>
                    <a:defRPr lang="en-US"/>
                  </a:defPPr>
                  <a:lvl1pPr algn="ctr">
                    <a:defRPr sz="10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000000"/>
                      </a:solidFill>
                      <a:effectLst/>
                      <a:uLnTx/>
                      <a:uFillTx/>
                      <a:latin typeface="Arial" panose="020B0604020202020204"/>
                      <a:ea typeface="+mn-ea"/>
                      <a:cs typeface="Noto Sans"/>
                    </a:rPr>
                    <a:t>COPD risk factors</a:t>
                  </a:r>
                </a:p>
              </p:txBody>
            </p:sp>
            <p:grpSp>
              <p:nvGrpSpPr>
                <p:cNvPr id="91" name="Group 90">
                  <a:extLst>
                    <a:ext uri="{FF2B5EF4-FFF2-40B4-BE49-F238E27FC236}">
                      <a16:creationId xmlns:a16="http://schemas.microsoft.com/office/drawing/2014/main" id="{676CB4AB-37D2-789A-F354-1DCAB1A4E23D}"/>
                    </a:ext>
                  </a:extLst>
                </p:cNvPr>
                <p:cNvGrpSpPr/>
                <p:nvPr/>
              </p:nvGrpSpPr>
              <p:grpSpPr>
                <a:xfrm>
                  <a:off x="552683" y="2901348"/>
                  <a:ext cx="2933248" cy="802996"/>
                  <a:chOff x="482305" y="2901348"/>
                  <a:chExt cx="2933248" cy="802996"/>
                </a:xfrm>
              </p:grpSpPr>
              <p:pic>
                <p:nvPicPr>
                  <p:cNvPr id="92" name="object 7">
                    <a:extLst>
                      <a:ext uri="{FF2B5EF4-FFF2-40B4-BE49-F238E27FC236}">
                        <a16:creationId xmlns:a16="http://schemas.microsoft.com/office/drawing/2014/main" id="{2375C624-1756-3C9F-AB70-6E5D55CFE478}"/>
                      </a:ext>
                    </a:extLst>
                  </p:cNvPr>
                  <p:cNvPicPr/>
                  <p:nvPr/>
                </p:nvPicPr>
                <p:blipFill>
                  <a:blip r:embed="rId2" cstate="print"/>
                  <a:stretch>
                    <a:fillRect/>
                  </a:stretch>
                </p:blipFill>
                <p:spPr>
                  <a:xfrm>
                    <a:off x="1437308" y="2901348"/>
                    <a:ext cx="914138" cy="412217"/>
                  </a:xfrm>
                  <a:prstGeom prst="rect">
                    <a:avLst/>
                  </a:prstGeom>
                </p:spPr>
              </p:pic>
              <p:pic>
                <p:nvPicPr>
                  <p:cNvPr id="93" name="object 8">
                    <a:extLst>
                      <a:ext uri="{FF2B5EF4-FFF2-40B4-BE49-F238E27FC236}">
                        <a16:creationId xmlns:a16="http://schemas.microsoft.com/office/drawing/2014/main" id="{8AC22549-4441-A22B-13C8-C3344ACC42B3}"/>
                      </a:ext>
                    </a:extLst>
                  </p:cNvPr>
                  <p:cNvPicPr/>
                  <p:nvPr/>
                </p:nvPicPr>
                <p:blipFill>
                  <a:blip r:embed="rId3" cstate="print"/>
                  <a:stretch>
                    <a:fillRect/>
                  </a:stretch>
                </p:blipFill>
                <p:spPr>
                  <a:xfrm>
                    <a:off x="482305" y="2940344"/>
                    <a:ext cx="566566" cy="621529"/>
                  </a:xfrm>
                  <a:prstGeom prst="rect">
                    <a:avLst/>
                  </a:prstGeom>
                </p:spPr>
              </p:pic>
              <p:pic>
                <p:nvPicPr>
                  <p:cNvPr id="94" name="object 9">
                    <a:extLst>
                      <a:ext uri="{FF2B5EF4-FFF2-40B4-BE49-F238E27FC236}">
                        <a16:creationId xmlns:a16="http://schemas.microsoft.com/office/drawing/2014/main" id="{8FE98F5B-2EFF-2FE9-F7C9-B37ED86E4323}"/>
                      </a:ext>
                    </a:extLst>
                  </p:cNvPr>
                  <p:cNvPicPr/>
                  <p:nvPr/>
                </p:nvPicPr>
                <p:blipFill>
                  <a:blip r:embed="rId4" cstate="print"/>
                  <a:stretch>
                    <a:fillRect/>
                  </a:stretch>
                </p:blipFill>
                <p:spPr>
                  <a:xfrm>
                    <a:off x="2739884" y="2907476"/>
                    <a:ext cx="675669" cy="796868"/>
                  </a:xfrm>
                  <a:prstGeom prst="rect">
                    <a:avLst/>
                  </a:prstGeom>
                </p:spPr>
              </p:pic>
            </p:grpSp>
          </p:grpSp>
          <p:grpSp>
            <p:nvGrpSpPr>
              <p:cNvPr id="80" name="Group 79">
                <a:extLst>
                  <a:ext uri="{FF2B5EF4-FFF2-40B4-BE49-F238E27FC236}">
                    <a16:creationId xmlns:a16="http://schemas.microsoft.com/office/drawing/2014/main" id="{692569F0-5B1C-80EC-6BF7-A9C1B9ED9A49}"/>
                  </a:ext>
                </a:extLst>
              </p:cNvPr>
              <p:cNvGrpSpPr/>
              <p:nvPr/>
            </p:nvGrpSpPr>
            <p:grpSpPr>
              <a:xfrm>
                <a:off x="4412850" y="2797511"/>
                <a:ext cx="3363944" cy="914400"/>
                <a:chOff x="4364188" y="2846606"/>
                <a:chExt cx="3363944" cy="914400"/>
              </a:xfrm>
            </p:grpSpPr>
            <p:sp>
              <p:nvSpPr>
                <p:cNvPr id="84" name="object 10">
                  <a:extLst>
                    <a:ext uri="{FF2B5EF4-FFF2-40B4-BE49-F238E27FC236}">
                      <a16:creationId xmlns:a16="http://schemas.microsoft.com/office/drawing/2014/main" id="{FACAADE2-8FE9-E562-6098-A5E71783BA75}"/>
                    </a:ext>
                  </a:extLst>
                </p:cNvPr>
                <p:cNvSpPr txBox="1"/>
                <p:nvPr/>
              </p:nvSpPr>
              <p:spPr>
                <a:xfrm>
                  <a:off x="4364188" y="2846606"/>
                  <a:ext cx="3363944" cy="914400"/>
                </a:xfrm>
                <a:prstGeom prst="rect">
                  <a:avLst/>
                </a:prstGeom>
                <a:noFill/>
                <a:ln w="19050" cap="flat" cmpd="sng" algn="ctr">
                  <a:solidFill>
                    <a:srgbClr val="F36633"/>
                  </a:solidFill>
                  <a:prstDash val="solid"/>
                  <a:miter lim="800000"/>
                </a:ln>
                <a:effectLst/>
              </p:spPr>
              <p:txBody>
                <a:bodyPr lIns="0" rIns="0" bIns="45720" rtlCol="0" anchor="b"/>
                <a:lstStyle>
                  <a:defPPr>
                    <a:defRPr lang="en-US"/>
                  </a:defPPr>
                  <a:lvl1pPr algn="ctr">
                    <a:defRPr sz="10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200" b="1" i="0" u="none" strike="noStrike" kern="0" cap="none" spc="0" normalizeH="0" baseline="0" noProof="0" dirty="0">
                    <a:ln>
                      <a:noFill/>
                    </a:ln>
                    <a:solidFill>
                      <a:srgbClr val="000000"/>
                    </a:solidFill>
                    <a:effectLst/>
                    <a:uLnTx/>
                    <a:uFillTx/>
                    <a:latin typeface="Arial" panose="020B0604020202020204"/>
                    <a:ea typeface="+mn-ea"/>
                    <a:cs typeface="Noto San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000000"/>
                      </a:solidFill>
                      <a:effectLst/>
                      <a:uLnTx/>
                      <a:uFillTx/>
                      <a:latin typeface="Arial" panose="020B0604020202020204"/>
                      <a:ea typeface="+mn-ea"/>
                      <a:cs typeface="Noto Sans"/>
                    </a:rPr>
                    <a:t>Increase in the number</a:t>
                  </a:r>
                  <a:r>
                    <a:rPr kumimoji="0" lang="en-US" sz="1200" b="1" i="0" u="none" strike="noStrike" kern="0" cap="none" spc="0" normalizeH="0" baseline="0" noProof="0" dirty="0">
                      <a:ln>
                        <a:noFill/>
                      </a:ln>
                      <a:solidFill>
                        <a:srgbClr val="000000"/>
                      </a:solidFill>
                      <a:effectLst/>
                      <a:uLnTx/>
                      <a:uFillTx/>
                      <a:latin typeface="Arial" panose="020B0604020202020204"/>
                      <a:ea typeface="+mn-ea"/>
                      <a:cs typeface="Noto Sans"/>
                    </a:rPr>
                    <a:t> </a:t>
                  </a:r>
                  <a:r>
                    <a:rPr kumimoji="0" sz="1200" b="1" i="0" u="none" strike="noStrike" kern="0" cap="none" spc="0" normalizeH="0" baseline="0" noProof="0" dirty="0">
                      <a:ln>
                        <a:noFill/>
                      </a:ln>
                      <a:solidFill>
                        <a:srgbClr val="000000"/>
                      </a:solidFill>
                      <a:effectLst/>
                      <a:uLnTx/>
                      <a:uFillTx/>
                      <a:latin typeface="Arial" panose="020B0604020202020204"/>
                      <a:ea typeface="+mn-ea"/>
                      <a:cs typeface="Noto Sans"/>
                    </a:rPr>
                    <a:t>of inflammatory cells</a:t>
                  </a:r>
                </a:p>
              </p:txBody>
            </p:sp>
            <p:pic>
              <p:nvPicPr>
                <p:cNvPr id="85" name="object 11">
                  <a:extLst>
                    <a:ext uri="{FF2B5EF4-FFF2-40B4-BE49-F238E27FC236}">
                      <a16:creationId xmlns:a16="http://schemas.microsoft.com/office/drawing/2014/main" id="{7C85DE7E-D6DE-CE4E-DF4B-91ACFD560FFC}"/>
                    </a:ext>
                  </a:extLst>
                </p:cNvPr>
                <p:cNvPicPr/>
                <p:nvPr/>
              </p:nvPicPr>
              <p:blipFill>
                <a:blip r:embed="rId5" cstate="print"/>
                <a:stretch>
                  <a:fillRect/>
                </a:stretch>
              </p:blipFill>
              <p:spPr>
                <a:xfrm>
                  <a:off x="4578725" y="3018541"/>
                  <a:ext cx="448524" cy="405809"/>
                </a:xfrm>
                <a:prstGeom prst="rect">
                  <a:avLst/>
                </a:prstGeom>
              </p:spPr>
            </p:pic>
            <p:pic>
              <p:nvPicPr>
                <p:cNvPr id="86" name="object 12">
                  <a:extLst>
                    <a:ext uri="{FF2B5EF4-FFF2-40B4-BE49-F238E27FC236}">
                      <a16:creationId xmlns:a16="http://schemas.microsoft.com/office/drawing/2014/main" id="{BC8E1DB7-39CB-00CA-D741-7B213F8EF90C}"/>
                    </a:ext>
                  </a:extLst>
                </p:cNvPr>
                <p:cNvPicPr/>
                <p:nvPr/>
              </p:nvPicPr>
              <p:blipFill>
                <a:blip r:embed="rId6" cstate="print"/>
                <a:stretch>
                  <a:fillRect/>
                </a:stretch>
              </p:blipFill>
              <p:spPr>
                <a:xfrm>
                  <a:off x="5163944" y="3027083"/>
                  <a:ext cx="407945" cy="388721"/>
                </a:xfrm>
                <a:prstGeom prst="rect">
                  <a:avLst/>
                </a:prstGeom>
              </p:spPr>
            </p:pic>
            <p:pic>
              <p:nvPicPr>
                <p:cNvPr id="87" name="object 13">
                  <a:extLst>
                    <a:ext uri="{FF2B5EF4-FFF2-40B4-BE49-F238E27FC236}">
                      <a16:creationId xmlns:a16="http://schemas.microsoft.com/office/drawing/2014/main" id="{C2C79AB9-D323-624F-A42E-1C2D7D1D4C60}"/>
                    </a:ext>
                  </a:extLst>
                </p:cNvPr>
                <p:cNvPicPr/>
                <p:nvPr/>
              </p:nvPicPr>
              <p:blipFill>
                <a:blip r:embed="rId7" cstate="print"/>
                <a:stretch>
                  <a:fillRect/>
                </a:stretch>
              </p:blipFill>
              <p:spPr>
                <a:xfrm>
                  <a:off x="5697571" y="3001550"/>
                  <a:ext cx="434019" cy="439625"/>
                </a:xfrm>
                <a:prstGeom prst="rect">
                  <a:avLst/>
                </a:prstGeom>
              </p:spPr>
            </p:pic>
            <p:pic>
              <p:nvPicPr>
                <p:cNvPr id="88" name="object 14">
                  <a:extLst>
                    <a:ext uri="{FF2B5EF4-FFF2-40B4-BE49-F238E27FC236}">
                      <a16:creationId xmlns:a16="http://schemas.microsoft.com/office/drawing/2014/main" id="{7044B6AE-54C3-E2EC-C704-3BB57B8AB91A}"/>
                    </a:ext>
                  </a:extLst>
                </p:cNvPr>
                <p:cNvPicPr/>
                <p:nvPr/>
              </p:nvPicPr>
              <p:blipFill>
                <a:blip r:embed="rId8" cstate="print"/>
                <a:stretch>
                  <a:fillRect/>
                </a:stretch>
              </p:blipFill>
              <p:spPr>
                <a:xfrm>
                  <a:off x="6251087" y="3037764"/>
                  <a:ext cx="657837" cy="365227"/>
                </a:xfrm>
                <a:prstGeom prst="rect">
                  <a:avLst/>
                </a:prstGeom>
              </p:spPr>
            </p:pic>
            <p:pic>
              <p:nvPicPr>
                <p:cNvPr id="89" name="object 15">
                  <a:extLst>
                    <a:ext uri="{FF2B5EF4-FFF2-40B4-BE49-F238E27FC236}">
                      <a16:creationId xmlns:a16="http://schemas.microsoft.com/office/drawing/2014/main" id="{11673E8E-9A0C-626D-CC51-7D5360F1FB7E}"/>
                    </a:ext>
                  </a:extLst>
                </p:cNvPr>
                <p:cNvPicPr/>
                <p:nvPr/>
              </p:nvPicPr>
              <p:blipFill>
                <a:blip r:embed="rId9" cstate="print"/>
                <a:stretch>
                  <a:fillRect/>
                </a:stretch>
              </p:blipFill>
              <p:spPr>
                <a:xfrm>
                  <a:off x="7034938" y="3007862"/>
                  <a:ext cx="476290" cy="427167"/>
                </a:xfrm>
                <a:prstGeom prst="rect">
                  <a:avLst/>
                </a:prstGeom>
              </p:spPr>
            </p:pic>
          </p:grpSp>
          <p:sp>
            <p:nvSpPr>
              <p:cNvPr id="81" name="object 16">
                <a:extLst>
                  <a:ext uri="{FF2B5EF4-FFF2-40B4-BE49-F238E27FC236}">
                    <a16:creationId xmlns:a16="http://schemas.microsoft.com/office/drawing/2014/main" id="{5496BD73-2E48-D41A-8B45-9DAB78F19950}"/>
                  </a:ext>
                </a:extLst>
              </p:cNvPr>
              <p:cNvSpPr txBox="1"/>
              <p:nvPr/>
            </p:nvSpPr>
            <p:spPr>
              <a:xfrm>
                <a:off x="8463638" y="2797511"/>
                <a:ext cx="3366614" cy="914400"/>
              </a:xfrm>
              <a:prstGeom prst="rect">
                <a:avLst/>
              </a:prstGeom>
              <a:noFill/>
              <a:ln w="19050" cap="flat" cmpd="sng" algn="ctr">
                <a:solidFill>
                  <a:srgbClr val="F36633"/>
                </a:solidFill>
                <a:prstDash val="solid"/>
                <a:miter lim="800000"/>
              </a:ln>
              <a:effectLst/>
            </p:spPr>
            <p:txBody>
              <a:bodyPr lIns="0" rIns="0" bIns="45720" rtlCol="0" anchor="ctr"/>
              <a:lstStyle>
                <a:defPPr>
                  <a:defRPr lang="en-US"/>
                </a:defPPr>
                <a:lvl1pPr algn="ctr">
                  <a:defRPr sz="1000" b="1">
                    <a:solidFill>
                      <a:schemeClr val="tx2"/>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000000"/>
                    </a:solidFill>
                    <a:effectLst/>
                    <a:uLnTx/>
                    <a:uFillTx/>
                    <a:latin typeface="Arial" panose="020B0604020202020204"/>
                    <a:ea typeface="+mn-ea"/>
                    <a:cs typeface="Noto Sans"/>
                  </a:rPr>
                  <a:t>Increase in</a:t>
                </a:r>
                <a:r>
                  <a:rPr kumimoji="0" lang="en-US" sz="1200" b="1" i="0" u="none" strike="noStrike" kern="0" cap="none" spc="0" normalizeH="0" baseline="0" noProof="0" dirty="0">
                    <a:ln>
                      <a:noFill/>
                    </a:ln>
                    <a:solidFill>
                      <a:srgbClr val="000000"/>
                    </a:solidFill>
                    <a:effectLst/>
                    <a:uLnTx/>
                    <a:uFillTx/>
                    <a:latin typeface="Arial" panose="020B0604020202020204"/>
                    <a:ea typeface="+mn-ea"/>
                    <a:cs typeface="Noto Sans"/>
                  </a:rPr>
                  <a:t> </a:t>
                </a:r>
                <a:r>
                  <a:rPr kumimoji="0" sz="1200" b="1" i="0" u="none" strike="noStrike" kern="0" cap="none" spc="0" normalizeH="0" baseline="0" noProof="0" dirty="0">
                    <a:ln>
                      <a:noFill/>
                    </a:ln>
                    <a:solidFill>
                      <a:srgbClr val="000000"/>
                    </a:solidFill>
                    <a:effectLst/>
                    <a:uLnTx/>
                    <a:uFillTx/>
                    <a:latin typeface="Arial" panose="020B0604020202020204"/>
                    <a:ea typeface="+mn-ea"/>
                    <a:cs typeface="Noto Sans"/>
                  </a:rPr>
                  <a:t>inflammatory mediators</a:t>
                </a:r>
              </a:p>
            </p:txBody>
          </p:sp>
          <p:sp>
            <p:nvSpPr>
              <p:cNvPr id="82" name="object 26">
                <a:extLst>
                  <a:ext uri="{FF2B5EF4-FFF2-40B4-BE49-F238E27FC236}">
                    <a16:creationId xmlns:a16="http://schemas.microsoft.com/office/drawing/2014/main" id="{C0E0AA89-2803-6347-D6FD-0461F3E914B6}"/>
                  </a:ext>
                </a:extLst>
              </p:cNvPr>
              <p:cNvSpPr/>
              <p:nvPr/>
            </p:nvSpPr>
            <p:spPr>
              <a:xfrm>
                <a:off x="3887883" y="3022884"/>
                <a:ext cx="363091" cy="463655"/>
              </a:xfrm>
              <a:custGeom>
                <a:avLst/>
                <a:gdLst/>
                <a:ahLst/>
                <a:cxnLst/>
                <a:rect l="l" t="t" r="r" b="b"/>
                <a:pathLst>
                  <a:path w="259079" h="330835">
                    <a:moveTo>
                      <a:pt x="129540" y="0"/>
                    </a:moveTo>
                    <a:lnTo>
                      <a:pt x="129540" y="82676"/>
                    </a:lnTo>
                    <a:lnTo>
                      <a:pt x="0" y="82676"/>
                    </a:lnTo>
                    <a:lnTo>
                      <a:pt x="0" y="248030"/>
                    </a:lnTo>
                    <a:lnTo>
                      <a:pt x="129540" y="248030"/>
                    </a:lnTo>
                    <a:lnTo>
                      <a:pt x="129540" y="330707"/>
                    </a:lnTo>
                    <a:lnTo>
                      <a:pt x="259080" y="165353"/>
                    </a:lnTo>
                    <a:lnTo>
                      <a:pt x="129540"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83" name="object 27">
                <a:extLst>
                  <a:ext uri="{FF2B5EF4-FFF2-40B4-BE49-F238E27FC236}">
                    <a16:creationId xmlns:a16="http://schemas.microsoft.com/office/drawing/2014/main" id="{B1D93B04-0B7C-94FC-031D-299B306F9A15}"/>
                  </a:ext>
                </a:extLst>
              </p:cNvPr>
              <p:cNvSpPr/>
              <p:nvPr/>
            </p:nvSpPr>
            <p:spPr>
              <a:xfrm>
                <a:off x="7938670" y="3022884"/>
                <a:ext cx="363091" cy="463655"/>
              </a:xfrm>
              <a:custGeom>
                <a:avLst/>
                <a:gdLst/>
                <a:ahLst/>
                <a:cxnLst/>
                <a:rect l="l" t="t" r="r" b="b"/>
                <a:pathLst>
                  <a:path w="259079" h="330835">
                    <a:moveTo>
                      <a:pt x="129540" y="0"/>
                    </a:moveTo>
                    <a:lnTo>
                      <a:pt x="129540" y="82676"/>
                    </a:lnTo>
                    <a:lnTo>
                      <a:pt x="0" y="82676"/>
                    </a:lnTo>
                    <a:lnTo>
                      <a:pt x="0" y="248030"/>
                    </a:lnTo>
                    <a:lnTo>
                      <a:pt x="129540" y="248030"/>
                    </a:lnTo>
                    <a:lnTo>
                      <a:pt x="129540" y="330707"/>
                    </a:lnTo>
                    <a:lnTo>
                      <a:pt x="259080" y="165353"/>
                    </a:lnTo>
                    <a:lnTo>
                      <a:pt x="129540"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95" name="object 28">
              <a:extLst>
                <a:ext uri="{FF2B5EF4-FFF2-40B4-BE49-F238E27FC236}">
                  <a16:creationId xmlns:a16="http://schemas.microsoft.com/office/drawing/2014/main" id="{4461D6D2-880F-5A5B-B8AD-8398DC8C2497}"/>
                </a:ext>
              </a:extLst>
            </p:cNvPr>
            <p:cNvSpPr/>
            <p:nvPr/>
          </p:nvSpPr>
          <p:spPr>
            <a:xfrm>
              <a:off x="9986340" y="3905946"/>
              <a:ext cx="466344" cy="365760"/>
            </a:xfrm>
            <a:custGeom>
              <a:avLst/>
              <a:gdLst/>
              <a:ahLst/>
              <a:cxnLst/>
              <a:rect l="l" t="t" r="r" b="b"/>
              <a:pathLst>
                <a:path w="330834" h="259079">
                  <a:moveTo>
                    <a:pt x="248030" y="0"/>
                  </a:moveTo>
                  <a:lnTo>
                    <a:pt x="82676" y="0"/>
                  </a:lnTo>
                  <a:lnTo>
                    <a:pt x="82676" y="129540"/>
                  </a:lnTo>
                  <a:lnTo>
                    <a:pt x="0" y="129540"/>
                  </a:lnTo>
                  <a:lnTo>
                    <a:pt x="165353" y="259080"/>
                  </a:lnTo>
                  <a:lnTo>
                    <a:pt x="330707" y="129540"/>
                  </a:lnTo>
                  <a:lnTo>
                    <a:pt x="248030" y="129540"/>
                  </a:lnTo>
                  <a:lnTo>
                    <a:pt x="248030"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23" name="Group 22">
              <a:extLst>
                <a:ext uri="{FF2B5EF4-FFF2-40B4-BE49-F238E27FC236}">
                  <a16:creationId xmlns:a16="http://schemas.microsoft.com/office/drawing/2014/main" id="{B7247DDC-4E70-B9FF-6D41-41A029040357}"/>
                </a:ext>
              </a:extLst>
            </p:cNvPr>
            <p:cNvGrpSpPr/>
            <p:nvPr/>
          </p:nvGrpSpPr>
          <p:grpSpPr>
            <a:xfrm>
              <a:off x="365125" y="4282242"/>
              <a:ext cx="3229562" cy="1324531"/>
              <a:chOff x="365125" y="4282242"/>
              <a:chExt cx="3229562" cy="1324531"/>
            </a:xfrm>
          </p:grpSpPr>
          <p:sp>
            <p:nvSpPr>
              <p:cNvPr id="113" name="object 24">
                <a:extLst>
                  <a:ext uri="{FF2B5EF4-FFF2-40B4-BE49-F238E27FC236}">
                    <a16:creationId xmlns:a16="http://schemas.microsoft.com/office/drawing/2014/main" id="{26C7730A-E5AC-BB86-FE5B-60C0AD038D08}"/>
                  </a:ext>
                </a:extLst>
              </p:cNvPr>
              <p:cNvSpPr txBox="1"/>
              <p:nvPr/>
            </p:nvSpPr>
            <p:spPr>
              <a:xfrm>
                <a:off x="365125" y="4737844"/>
                <a:ext cx="3229562"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10" normalizeH="0" baseline="0" noProof="0" dirty="0">
                    <a:ln>
                      <a:noFill/>
                    </a:ln>
                    <a:solidFill>
                      <a:srgbClr val="FFFFFF"/>
                    </a:solidFill>
                    <a:effectLst/>
                    <a:uLnTx/>
                    <a:uFillTx/>
                    <a:latin typeface="Arial"/>
                    <a:ea typeface="+mn-ea"/>
                    <a:cs typeface="Arial"/>
                  </a:rPr>
                  <a:t>Alveolar</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wall</a:t>
                </a:r>
                <a:r>
                  <a:rPr kumimoji="0" sz="1200" b="1" i="0" u="none" strike="noStrike" kern="0" cap="none" spc="-35"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destruction</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sp>
            <p:nvSpPr>
              <p:cNvPr id="112" name="object 23">
                <a:extLst>
                  <a:ext uri="{FF2B5EF4-FFF2-40B4-BE49-F238E27FC236}">
                    <a16:creationId xmlns:a16="http://schemas.microsoft.com/office/drawing/2014/main" id="{4EA7E7C1-3F0B-11E0-0C72-03EF3DF6A030}"/>
                  </a:ext>
                </a:extLst>
              </p:cNvPr>
              <p:cNvSpPr txBox="1"/>
              <p:nvPr/>
            </p:nvSpPr>
            <p:spPr>
              <a:xfrm>
                <a:off x="365125" y="4282242"/>
                <a:ext cx="3227831"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5" normalizeH="0" baseline="0" noProof="0" dirty="0">
                    <a:ln>
                      <a:noFill/>
                    </a:ln>
                    <a:solidFill>
                      <a:srgbClr val="FFFFFF"/>
                    </a:solidFill>
                    <a:effectLst/>
                    <a:uLnTx/>
                    <a:uFillTx/>
                    <a:latin typeface="Arial"/>
                    <a:ea typeface="+mn-ea"/>
                    <a:cs typeface="Arial"/>
                  </a:rPr>
                  <a:t>Fibrosis</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and abnormal</a:t>
                </a:r>
                <a:r>
                  <a:rPr kumimoji="0" sz="1200" b="1" i="0" u="none" strike="noStrike" kern="0" cap="none" spc="-10"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repair</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sp>
            <p:nvSpPr>
              <p:cNvPr id="114" name="object 25">
                <a:extLst>
                  <a:ext uri="{FF2B5EF4-FFF2-40B4-BE49-F238E27FC236}">
                    <a16:creationId xmlns:a16="http://schemas.microsoft.com/office/drawing/2014/main" id="{9FC80EE6-221A-3409-B338-1516BBF7D213}"/>
                  </a:ext>
                </a:extLst>
              </p:cNvPr>
              <p:cNvSpPr txBox="1"/>
              <p:nvPr/>
            </p:nvSpPr>
            <p:spPr>
              <a:xfrm>
                <a:off x="365125" y="5193446"/>
                <a:ext cx="3229562"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0" normalizeH="0" baseline="0" noProof="0" dirty="0">
                    <a:ln>
                      <a:noFill/>
                    </a:ln>
                    <a:solidFill>
                      <a:srgbClr val="FFFFFF"/>
                    </a:solidFill>
                    <a:effectLst/>
                    <a:uLnTx/>
                    <a:uFillTx/>
                    <a:latin typeface="Arial"/>
                    <a:ea typeface="+mn-ea"/>
                    <a:cs typeface="Arial"/>
                  </a:rPr>
                  <a:t>Mucus</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hypersecretion</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grpSp>
        <p:grpSp>
          <p:nvGrpSpPr>
            <p:cNvPr id="24" name="Group 23">
              <a:extLst>
                <a:ext uri="{FF2B5EF4-FFF2-40B4-BE49-F238E27FC236}">
                  <a16:creationId xmlns:a16="http://schemas.microsoft.com/office/drawing/2014/main" id="{F338E053-52A9-BDEF-59C4-B8DC407C88D5}"/>
                </a:ext>
              </a:extLst>
            </p:cNvPr>
            <p:cNvGrpSpPr/>
            <p:nvPr/>
          </p:nvGrpSpPr>
          <p:grpSpPr>
            <a:xfrm>
              <a:off x="4481219" y="4282242"/>
              <a:ext cx="3229562" cy="1324531"/>
              <a:chOff x="4512133" y="4282242"/>
              <a:chExt cx="3229562" cy="1324531"/>
            </a:xfrm>
          </p:grpSpPr>
          <p:sp>
            <p:nvSpPr>
              <p:cNvPr id="110" name="object 24">
                <a:extLst>
                  <a:ext uri="{FF2B5EF4-FFF2-40B4-BE49-F238E27FC236}">
                    <a16:creationId xmlns:a16="http://schemas.microsoft.com/office/drawing/2014/main" id="{4851ACE3-7939-20A0-FC7C-767BDB6122A0}"/>
                  </a:ext>
                </a:extLst>
              </p:cNvPr>
              <p:cNvSpPr txBox="1"/>
              <p:nvPr/>
            </p:nvSpPr>
            <p:spPr>
              <a:xfrm>
                <a:off x="4512133" y="4737844"/>
                <a:ext cx="3229562" cy="413327"/>
              </a:xfrm>
              <a:prstGeom prst="rect">
                <a:avLst/>
              </a:prstGeom>
              <a:solidFill>
                <a:sysClr val="window" lastClr="FFFFFF"/>
              </a:solidFill>
              <a:ln w="19050">
                <a:solidFill>
                  <a:srgbClr val="F36633"/>
                </a:solidFill>
              </a:ln>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rgbClr val="000000"/>
                    </a:solidFill>
                    <a:effectLst/>
                    <a:uLnTx/>
                    <a:uFillTx/>
                    <a:latin typeface="Arial"/>
                    <a:ea typeface="+mn-ea"/>
                    <a:cs typeface="Arial"/>
                  </a:rPr>
                  <a:t>Induce structural changes</a:t>
                </a:r>
              </a:p>
            </p:txBody>
          </p:sp>
          <p:sp>
            <p:nvSpPr>
              <p:cNvPr id="109" name="object 23">
                <a:extLst>
                  <a:ext uri="{FF2B5EF4-FFF2-40B4-BE49-F238E27FC236}">
                    <a16:creationId xmlns:a16="http://schemas.microsoft.com/office/drawing/2014/main" id="{C2820725-DA7F-0714-D4A5-2D2F1111E5D6}"/>
                  </a:ext>
                </a:extLst>
              </p:cNvPr>
              <p:cNvSpPr txBox="1"/>
              <p:nvPr/>
            </p:nvSpPr>
            <p:spPr>
              <a:xfrm>
                <a:off x="4512999" y="4282242"/>
                <a:ext cx="3227831" cy="413327"/>
              </a:xfrm>
              <a:prstGeom prst="rect">
                <a:avLst/>
              </a:prstGeom>
              <a:solidFill>
                <a:sysClr val="window" lastClr="FFFFFF"/>
              </a:solidFill>
              <a:ln w="19050">
                <a:solidFill>
                  <a:srgbClr val="F36633"/>
                </a:solidFill>
              </a:ln>
            </p:spPr>
            <p:txBody>
              <a:bodyPr vert="horz" wrap="square" lIns="0" tIns="91440" rIns="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dirty="0">
                    <a:ln>
                      <a:noFill/>
                    </a:ln>
                    <a:solidFill>
                      <a:srgbClr val="000000"/>
                    </a:solidFill>
                    <a:effectLst/>
                    <a:uLnTx/>
                    <a:uFillTx/>
                    <a:latin typeface="Arial"/>
                    <a:ea typeface="+mn-ea"/>
                    <a:cs typeface="Arial"/>
                  </a:rPr>
                  <a:t>Recruit inflammatory cells from circulation</a:t>
                </a:r>
              </a:p>
            </p:txBody>
          </p:sp>
          <p:sp>
            <p:nvSpPr>
              <p:cNvPr id="111" name="object 25">
                <a:extLst>
                  <a:ext uri="{FF2B5EF4-FFF2-40B4-BE49-F238E27FC236}">
                    <a16:creationId xmlns:a16="http://schemas.microsoft.com/office/drawing/2014/main" id="{3BE9051E-8BC6-4ED9-87D4-9B6A364E05E7}"/>
                  </a:ext>
                </a:extLst>
              </p:cNvPr>
              <p:cNvSpPr txBox="1"/>
              <p:nvPr/>
            </p:nvSpPr>
            <p:spPr>
              <a:xfrm>
                <a:off x="4512133" y="5193446"/>
                <a:ext cx="3229562" cy="413327"/>
              </a:xfrm>
              <a:prstGeom prst="rect">
                <a:avLst/>
              </a:prstGeom>
              <a:solidFill>
                <a:sysClr val="window" lastClr="FFFFFF"/>
              </a:solidFill>
              <a:ln w="19050">
                <a:solidFill>
                  <a:srgbClr val="F36633"/>
                </a:solidFill>
              </a:ln>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Arial"/>
                    <a:ea typeface="+mn-ea"/>
                    <a:cs typeface="Arial"/>
                  </a:rPr>
                  <a:t>Amplify the inflammatory process</a:t>
                </a:r>
              </a:p>
            </p:txBody>
          </p:sp>
        </p:grpSp>
        <p:grpSp>
          <p:nvGrpSpPr>
            <p:cNvPr id="22" name="Group 21">
              <a:extLst>
                <a:ext uri="{FF2B5EF4-FFF2-40B4-BE49-F238E27FC236}">
                  <a16:creationId xmlns:a16="http://schemas.microsoft.com/office/drawing/2014/main" id="{EC3CECB1-03F5-D50D-D2EC-BC59D47E59FE}"/>
                </a:ext>
              </a:extLst>
            </p:cNvPr>
            <p:cNvGrpSpPr/>
            <p:nvPr/>
          </p:nvGrpSpPr>
          <p:grpSpPr>
            <a:xfrm>
              <a:off x="8482867" y="4282242"/>
              <a:ext cx="3350191" cy="1324531"/>
              <a:chOff x="8419367" y="4282242"/>
              <a:chExt cx="3350191" cy="1324531"/>
            </a:xfrm>
          </p:grpSpPr>
          <p:sp>
            <p:nvSpPr>
              <p:cNvPr id="106" name="object 23">
                <a:extLst>
                  <a:ext uri="{FF2B5EF4-FFF2-40B4-BE49-F238E27FC236}">
                    <a16:creationId xmlns:a16="http://schemas.microsoft.com/office/drawing/2014/main" id="{5E20EA37-D8A4-262B-0F49-D7C06DB5F8FD}"/>
                  </a:ext>
                </a:extLst>
              </p:cNvPr>
              <p:cNvSpPr txBox="1"/>
              <p:nvPr/>
            </p:nvSpPr>
            <p:spPr>
              <a:xfrm>
                <a:off x="8419367" y="4282242"/>
                <a:ext cx="3350191"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Chemotactic factors</a:t>
                </a:r>
              </a:p>
            </p:txBody>
          </p:sp>
          <p:sp>
            <p:nvSpPr>
              <p:cNvPr id="107" name="object 24">
                <a:extLst>
                  <a:ext uri="{FF2B5EF4-FFF2-40B4-BE49-F238E27FC236}">
                    <a16:creationId xmlns:a16="http://schemas.microsoft.com/office/drawing/2014/main" id="{10E59935-45F4-7E29-9FDB-9CDE4BC0C84C}"/>
                  </a:ext>
                </a:extLst>
              </p:cNvPr>
              <p:cNvSpPr txBox="1"/>
              <p:nvPr/>
            </p:nvSpPr>
            <p:spPr>
              <a:xfrm>
                <a:off x="8419367" y="4737844"/>
                <a:ext cx="3350191"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10" normalizeH="0" baseline="0" noProof="0" dirty="0">
                    <a:ln>
                      <a:noFill/>
                    </a:ln>
                    <a:solidFill>
                      <a:srgbClr val="FFFFFF"/>
                    </a:solidFill>
                    <a:effectLst/>
                    <a:uLnTx/>
                    <a:uFillTx/>
                    <a:latin typeface="Arial"/>
                    <a:ea typeface="+mn-ea"/>
                    <a:cs typeface="Arial"/>
                  </a:rPr>
                  <a:t>Growth factors</a:t>
                </a:r>
              </a:p>
            </p:txBody>
          </p:sp>
          <p:sp>
            <p:nvSpPr>
              <p:cNvPr id="108" name="object 25">
                <a:extLst>
                  <a:ext uri="{FF2B5EF4-FFF2-40B4-BE49-F238E27FC236}">
                    <a16:creationId xmlns:a16="http://schemas.microsoft.com/office/drawing/2014/main" id="{6BB7D378-ADB5-324E-EF13-CCC67651F207}"/>
                  </a:ext>
                </a:extLst>
              </p:cNvPr>
              <p:cNvSpPr txBox="1"/>
              <p:nvPr/>
            </p:nvSpPr>
            <p:spPr>
              <a:xfrm>
                <a:off x="8419367" y="5193446"/>
                <a:ext cx="3350191" cy="413327"/>
              </a:xfrm>
              <a:prstGeom prst="rect">
                <a:avLst/>
              </a:prstGeom>
              <a:solidFill>
                <a:srgbClr val="F36633"/>
              </a:solidFill>
            </p:spPr>
            <p:txBody>
              <a:bodyPr vert="horz" wrap="square" lIns="91440" tIns="91440" rIns="91440" bIns="9144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FFFFFF"/>
                    </a:solidFill>
                    <a:effectLst/>
                    <a:uLnTx/>
                    <a:uFillTx/>
                    <a:latin typeface="Arial"/>
                    <a:ea typeface="+mn-ea"/>
                    <a:cs typeface="Arial"/>
                  </a:rPr>
                  <a:t>Proinflammatory cytokines</a:t>
                </a:r>
              </a:p>
            </p:txBody>
          </p:sp>
        </p:grpSp>
        <p:cxnSp>
          <p:nvCxnSpPr>
            <p:cNvPr id="101" name="Straight Connector 100">
              <a:extLst>
                <a:ext uri="{FF2B5EF4-FFF2-40B4-BE49-F238E27FC236}">
                  <a16:creationId xmlns:a16="http://schemas.microsoft.com/office/drawing/2014/main" id="{A5AA91C7-CFCD-8A1F-DB80-B967B0D33D85}"/>
                </a:ext>
              </a:extLst>
            </p:cNvPr>
            <p:cNvCxnSpPr>
              <a:stCxn id="106" idx="1"/>
              <a:endCxn id="109" idx="3"/>
            </p:cNvCxnSpPr>
            <p:nvPr/>
          </p:nvCxnSpPr>
          <p:spPr>
            <a:xfrm flipH="1">
              <a:off x="7709916" y="4488906"/>
              <a:ext cx="772951" cy="0"/>
            </a:xfrm>
            <a:prstGeom prst="line">
              <a:avLst/>
            </a:prstGeom>
            <a:noFill/>
            <a:ln w="19050" cap="flat" cmpd="sng" algn="ctr">
              <a:solidFill>
                <a:srgbClr val="F36633"/>
              </a:solidFill>
              <a:prstDash val="solid"/>
              <a:miter lim="800000"/>
            </a:ln>
            <a:effectLst/>
          </p:spPr>
        </p:cxnSp>
        <p:cxnSp>
          <p:nvCxnSpPr>
            <p:cNvPr id="102" name="Straight Connector 101">
              <a:extLst>
                <a:ext uri="{FF2B5EF4-FFF2-40B4-BE49-F238E27FC236}">
                  <a16:creationId xmlns:a16="http://schemas.microsoft.com/office/drawing/2014/main" id="{07B2C7D2-9B26-F736-C1D8-5C5B0AB4E660}"/>
                </a:ext>
              </a:extLst>
            </p:cNvPr>
            <p:cNvCxnSpPr>
              <a:stCxn id="107" idx="1"/>
              <a:endCxn id="110" idx="3"/>
            </p:cNvCxnSpPr>
            <p:nvPr/>
          </p:nvCxnSpPr>
          <p:spPr>
            <a:xfrm flipH="1">
              <a:off x="7710781" y="4944508"/>
              <a:ext cx="772086" cy="0"/>
            </a:xfrm>
            <a:prstGeom prst="line">
              <a:avLst/>
            </a:prstGeom>
            <a:noFill/>
            <a:ln w="19050" cap="flat" cmpd="sng" algn="ctr">
              <a:solidFill>
                <a:srgbClr val="F36633"/>
              </a:solidFill>
              <a:prstDash val="solid"/>
              <a:miter lim="800000"/>
            </a:ln>
            <a:effectLst/>
          </p:spPr>
        </p:cxnSp>
        <p:cxnSp>
          <p:nvCxnSpPr>
            <p:cNvPr id="103" name="Straight Connector 102">
              <a:extLst>
                <a:ext uri="{FF2B5EF4-FFF2-40B4-BE49-F238E27FC236}">
                  <a16:creationId xmlns:a16="http://schemas.microsoft.com/office/drawing/2014/main" id="{5B19B47E-B05A-4087-C023-4244B92184A5}"/>
                </a:ext>
              </a:extLst>
            </p:cNvPr>
            <p:cNvCxnSpPr>
              <a:stCxn id="108" idx="1"/>
              <a:endCxn id="111" idx="3"/>
            </p:cNvCxnSpPr>
            <p:nvPr/>
          </p:nvCxnSpPr>
          <p:spPr>
            <a:xfrm flipH="1">
              <a:off x="7710781" y="5400110"/>
              <a:ext cx="772086" cy="0"/>
            </a:xfrm>
            <a:prstGeom prst="line">
              <a:avLst/>
            </a:prstGeom>
            <a:noFill/>
            <a:ln w="19050" cap="flat" cmpd="sng" algn="ctr">
              <a:solidFill>
                <a:srgbClr val="F36633"/>
              </a:solidFill>
              <a:prstDash val="solid"/>
              <a:miter lim="800000"/>
            </a:ln>
            <a:effectLst/>
          </p:spPr>
        </p:cxnSp>
        <p:grpSp>
          <p:nvGrpSpPr>
            <p:cNvPr id="29" name="Group 28">
              <a:extLst>
                <a:ext uri="{FF2B5EF4-FFF2-40B4-BE49-F238E27FC236}">
                  <a16:creationId xmlns:a16="http://schemas.microsoft.com/office/drawing/2014/main" id="{A61E5D4A-48CF-3FEF-CC68-5858D65E3C9B}"/>
                </a:ext>
              </a:extLst>
            </p:cNvPr>
            <p:cNvGrpSpPr/>
            <p:nvPr/>
          </p:nvGrpSpPr>
          <p:grpSpPr>
            <a:xfrm>
              <a:off x="3631056" y="4278878"/>
              <a:ext cx="679045" cy="1352905"/>
              <a:chOff x="3592956" y="4278878"/>
              <a:chExt cx="679045" cy="1352905"/>
            </a:xfrm>
          </p:grpSpPr>
          <p:sp>
            <p:nvSpPr>
              <p:cNvPr id="25" name="Left Brace 24">
                <a:extLst>
                  <a:ext uri="{FF2B5EF4-FFF2-40B4-BE49-F238E27FC236}">
                    <a16:creationId xmlns:a16="http://schemas.microsoft.com/office/drawing/2014/main" id="{1172A28E-AE2A-F1A9-384E-499E5D466278}"/>
                  </a:ext>
                </a:extLst>
              </p:cNvPr>
              <p:cNvSpPr/>
              <p:nvPr/>
            </p:nvSpPr>
            <p:spPr>
              <a:xfrm>
                <a:off x="3989376" y="4278878"/>
                <a:ext cx="282625" cy="1352905"/>
              </a:xfrm>
              <a:prstGeom prst="leftBrace">
                <a:avLst>
                  <a:gd name="adj1" fmla="val 40687"/>
                  <a:gd name="adj2" fmla="val 50000"/>
                </a:avLst>
              </a:prstGeom>
              <a:ln w="57150" cap="rnd">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cxnSp>
            <p:nvCxnSpPr>
              <p:cNvPr id="27" name="Straight Arrow Connector 26">
                <a:extLst>
                  <a:ext uri="{FF2B5EF4-FFF2-40B4-BE49-F238E27FC236}">
                    <a16:creationId xmlns:a16="http://schemas.microsoft.com/office/drawing/2014/main" id="{13E00D7C-1A7A-75D3-B2DF-6A607AC8725C}"/>
                  </a:ext>
                </a:extLst>
              </p:cNvPr>
              <p:cNvCxnSpPr>
                <a:cxnSpLocks/>
              </p:cNvCxnSpPr>
              <p:nvPr/>
            </p:nvCxnSpPr>
            <p:spPr>
              <a:xfrm flipH="1">
                <a:off x="3592956" y="4956412"/>
                <a:ext cx="431032" cy="0"/>
              </a:xfrm>
              <a:prstGeom prst="straightConnector1">
                <a:avLst/>
              </a:prstGeom>
              <a:ln w="57150" cap="rnd">
                <a:solidFill>
                  <a:schemeClr val="tx2"/>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4" name="Rectangle 3">
            <a:extLst>
              <a:ext uri="{FF2B5EF4-FFF2-40B4-BE49-F238E27FC236}">
                <a16:creationId xmlns:a16="http://schemas.microsoft.com/office/drawing/2014/main" id="{AD19FDBA-CD5D-FF80-C9A1-9E825FAD338B}"/>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928855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COPD Pathogenic Mechanisms:</a:t>
            </a:r>
            <a:endParaRPr lang="en-GB" dirty="0"/>
          </a:p>
        </p:txBody>
      </p:sp>
      <p:sp>
        <p:nvSpPr>
          <p:cNvPr id="6" name="Subtitle 5">
            <a:extLst>
              <a:ext uri="{FF2B5EF4-FFF2-40B4-BE49-F238E27FC236}">
                <a16:creationId xmlns:a16="http://schemas.microsoft.com/office/drawing/2014/main" id="{91D35A28-FF03-368F-18FA-AA60FBA56DF1}"/>
              </a:ext>
            </a:extLst>
          </p:cNvPr>
          <p:cNvSpPr>
            <a:spLocks noGrp="1"/>
          </p:cNvSpPr>
          <p:nvPr>
            <p:ph type="subTitle" idx="1"/>
          </p:nvPr>
        </p:nvSpPr>
        <p:spPr/>
        <p:txBody>
          <a:bodyPr/>
          <a:lstStyle/>
          <a:p>
            <a:r>
              <a:rPr lang="en-US" i="1" dirty="0"/>
              <a:t>Oxidative stress – oxidant and antioxidant imbalance</a:t>
            </a:r>
            <a:endParaRPr lang="en-GB" dirty="0"/>
          </a:p>
        </p:txBody>
      </p:sp>
      <p:sp>
        <p:nvSpPr>
          <p:cNvPr id="36" name="Content Placeholder 3">
            <a:extLst>
              <a:ext uri="{FF2B5EF4-FFF2-40B4-BE49-F238E27FC236}">
                <a16:creationId xmlns:a16="http://schemas.microsoft.com/office/drawing/2014/main" id="{CFAA3AB1-48F4-00D6-A633-29DDFC4DD1A0}"/>
              </a:ext>
            </a:extLst>
          </p:cNvPr>
          <p:cNvSpPr txBox="1">
            <a:spLocks/>
          </p:cNvSpPr>
          <p:nvPr/>
        </p:nvSpPr>
        <p:spPr>
          <a:xfrm>
            <a:off x="365125" y="1187686"/>
            <a:ext cx="11424000" cy="4068000"/>
          </a:xfrm>
          <a:prstGeom prst="rect">
            <a:avLst/>
          </a:prstGeom>
        </p:spPr>
        <p:txBody>
          <a:bodyPr vert="horz" lIns="0" tIns="0" rIns="0" bIns="0" rtlCol="0">
            <a:no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Oxidative stress arises due to an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imbalance between oxidants and antioxidants</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wherein free radicals and other reactive oxygen species overwhelm the availability of antioxidants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Oxidative stress plays a key role in the pathophysiology of COPD and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amplifies the inflammatory process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2</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Oxidants can be generated from cigarette smoke or other inhaled particles, as well as from activated inflammatory cells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There may also be a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reduction in endogenous antioxidants</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in patients with COPD as a result of a reduction in the levels of the transcription factor Nrf2, which is known to regulate the expression of a number of genes involved in oxidative stress and inflammation</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4</a:t>
            </a:r>
          </a:p>
        </p:txBody>
      </p:sp>
      <p:grpSp>
        <p:nvGrpSpPr>
          <p:cNvPr id="27" name="Group 26">
            <a:extLst>
              <a:ext uri="{FF2B5EF4-FFF2-40B4-BE49-F238E27FC236}">
                <a16:creationId xmlns:a16="http://schemas.microsoft.com/office/drawing/2014/main" id="{49362B12-5235-A9D5-359A-DB38119655B8}"/>
              </a:ext>
            </a:extLst>
          </p:cNvPr>
          <p:cNvGrpSpPr/>
          <p:nvPr/>
        </p:nvGrpSpPr>
        <p:grpSpPr>
          <a:xfrm>
            <a:off x="360008" y="3183427"/>
            <a:ext cx="11456708" cy="2323719"/>
            <a:chOff x="360008" y="3069127"/>
            <a:chExt cx="11456708" cy="2323719"/>
          </a:xfrm>
        </p:grpSpPr>
        <p:sp>
          <p:nvSpPr>
            <p:cNvPr id="43" name="object 14">
              <a:extLst>
                <a:ext uri="{FF2B5EF4-FFF2-40B4-BE49-F238E27FC236}">
                  <a16:creationId xmlns:a16="http://schemas.microsoft.com/office/drawing/2014/main" id="{9EA4E74F-8A58-07D1-91F2-FDA7DFF16759}"/>
                </a:ext>
              </a:extLst>
            </p:cNvPr>
            <p:cNvSpPr/>
            <p:nvPr/>
          </p:nvSpPr>
          <p:spPr>
            <a:xfrm>
              <a:off x="2906044" y="4538327"/>
              <a:ext cx="257810" cy="330835"/>
            </a:xfrm>
            <a:custGeom>
              <a:avLst/>
              <a:gdLst/>
              <a:ahLst/>
              <a:cxnLst/>
              <a:rect l="l" t="t" r="r" b="b"/>
              <a:pathLst>
                <a:path w="257810" h="330835">
                  <a:moveTo>
                    <a:pt x="128778" y="0"/>
                  </a:moveTo>
                  <a:lnTo>
                    <a:pt x="128778" y="82676"/>
                  </a:lnTo>
                  <a:lnTo>
                    <a:pt x="0" y="82676"/>
                  </a:lnTo>
                  <a:lnTo>
                    <a:pt x="0" y="248030"/>
                  </a:lnTo>
                  <a:lnTo>
                    <a:pt x="128778" y="248030"/>
                  </a:lnTo>
                  <a:lnTo>
                    <a:pt x="128778" y="330707"/>
                  </a:lnTo>
                  <a:lnTo>
                    <a:pt x="257556" y="165353"/>
                  </a:lnTo>
                  <a:lnTo>
                    <a:pt x="128778"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44" name="object 15">
              <a:extLst>
                <a:ext uri="{FF2B5EF4-FFF2-40B4-BE49-F238E27FC236}">
                  <a16:creationId xmlns:a16="http://schemas.microsoft.com/office/drawing/2014/main" id="{3976CFED-AC5D-65CA-B74B-1AAFF77458DF}"/>
                </a:ext>
              </a:extLst>
            </p:cNvPr>
            <p:cNvSpPr txBox="1"/>
            <p:nvPr/>
          </p:nvSpPr>
          <p:spPr>
            <a:xfrm>
              <a:off x="3275869" y="3069254"/>
              <a:ext cx="1728118" cy="2323592"/>
            </a:xfrm>
            <a:prstGeom prst="rect">
              <a:avLst/>
            </a:prstGeom>
            <a:solidFill>
              <a:srgbClr val="F36633"/>
            </a:solidFill>
          </p:spPr>
          <p:txBody>
            <a:bodyPr vert="horz" wrap="square" lIns="91440" tIns="91440" rIns="91440" bIns="91440" rtlCol="0" anchor="ctr">
              <a:noAutofit/>
            </a:bodyPr>
            <a:lstStyle/>
            <a:p>
              <a:pPr marL="71755" marR="63500" lvl="0" indent="-3810" algn="ctr" defTabSz="914400" rtl="0" eaLnBrk="1" fontAlgn="auto" latinLnBrk="0" hangingPunct="1">
                <a:lnSpc>
                  <a:spcPct val="100000"/>
                </a:lnSpc>
                <a:spcBef>
                  <a:spcPts val="0"/>
                </a:spcBef>
                <a:spcAft>
                  <a:spcPts val="0"/>
                </a:spcAft>
                <a:buClrTx/>
                <a:buSzTx/>
                <a:buFontTx/>
                <a:buNone/>
                <a:tabLst/>
                <a:defRPr/>
              </a:pPr>
              <a:r>
                <a:rPr kumimoji="0" sz="1400" b="1" i="0" u="none" strike="noStrike" kern="0" cap="none" spc="-5" normalizeH="0" baseline="0" noProof="0" dirty="0">
                  <a:ln>
                    <a:noFill/>
                  </a:ln>
                  <a:solidFill>
                    <a:srgbClr val="FFFFFF"/>
                  </a:solidFill>
                  <a:effectLst/>
                  <a:uLnTx/>
                  <a:uFillTx/>
                  <a:latin typeface="Arial"/>
                  <a:ea typeface="+mn-ea"/>
                  <a:cs typeface="Arial"/>
                </a:rPr>
                <a:t>Reactive</a:t>
              </a:r>
              <a:r>
                <a:rPr kumimoji="0" lang="en-US" sz="1400" b="1" i="0" u="none" strike="noStrike" kern="0" cap="none" spc="-5" normalizeH="0" baseline="0" noProof="0" dirty="0">
                  <a:ln>
                    <a:noFill/>
                  </a:ln>
                  <a:solidFill>
                    <a:srgbClr val="FFFFFF"/>
                  </a:solidFill>
                  <a:effectLst/>
                  <a:uLnTx/>
                  <a:uFillTx/>
                  <a:latin typeface="Arial"/>
                  <a:ea typeface="+mn-ea"/>
                  <a:cs typeface="Arial"/>
                </a:rPr>
                <a:t> </a:t>
              </a:r>
              <a:r>
                <a:rPr kumimoji="0" sz="1400" b="1" i="0" u="none" strike="noStrike" kern="0" cap="none" spc="-10" normalizeH="0" baseline="0" noProof="0" dirty="0">
                  <a:ln>
                    <a:noFill/>
                  </a:ln>
                  <a:solidFill>
                    <a:srgbClr val="FFFFFF"/>
                  </a:solidFill>
                  <a:effectLst/>
                  <a:uLnTx/>
                  <a:uFillTx/>
                  <a:latin typeface="Arial"/>
                  <a:ea typeface="+mn-ea"/>
                  <a:cs typeface="Arial"/>
                </a:rPr>
                <a:t>oxygen</a:t>
              </a:r>
              <a:r>
                <a:rPr kumimoji="0" lang="en-US" sz="1400" b="1" i="0" u="none" strike="noStrike" kern="0" cap="none" spc="-10"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speci</a:t>
              </a:r>
              <a:r>
                <a:rPr kumimoji="0" sz="1400" b="1" i="0" u="none" strike="noStrike" kern="0" cap="none" spc="-10" normalizeH="0" baseline="0" noProof="0" dirty="0">
                  <a:ln>
                    <a:noFill/>
                  </a:ln>
                  <a:solidFill>
                    <a:srgbClr val="FFFFFF"/>
                  </a:solidFill>
                  <a:effectLst/>
                  <a:uLnTx/>
                  <a:uFillTx/>
                  <a:latin typeface="Arial"/>
                  <a:ea typeface="+mn-ea"/>
                  <a:cs typeface="Arial"/>
                </a:rPr>
                <a:t>e</a:t>
              </a:r>
              <a:r>
                <a:rPr kumimoji="0" sz="1400" b="1" i="0" u="none" strike="noStrike" kern="0" cap="none" spc="-5" normalizeH="0" baseline="0" noProof="0" dirty="0">
                  <a:ln>
                    <a:noFill/>
                  </a:ln>
                  <a:solidFill>
                    <a:srgbClr val="FFFFFF"/>
                  </a:solidFill>
                  <a:effectLst/>
                  <a:uLnTx/>
                  <a:uFillTx/>
                  <a:latin typeface="Arial"/>
                  <a:ea typeface="+mn-ea"/>
                  <a:cs typeface="Arial"/>
                </a:rPr>
                <a:t>s</a:t>
              </a:r>
              <a:r>
                <a:rPr kumimoji="0" sz="1400" b="1" i="0" u="none" strike="noStrike" kern="0" cap="none" spc="-20"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and</a:t>
              </a:r>
              <a:r>
                <a:rPr kumimoji="0" lang="en-US" sz="1400" b="1" i="0" u="none" strike="noStrike" kern="0" cap="none" spc="-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free</a:t>
              </a:r>
              <a:r>
                <a:rPr kumimoji="0" lang="en-US" sz="1400" b="1" i="0" u="none" strike="noStrike" kern="0" cap="none" spc="-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radicals</a:t>
              </a:r>
              <a:r>
                <a:rPr kumimoji="0" lang="en-US" sz="1400" b="1" i="0" u="none" strike="noStrike" kern="0" cap="none" spc="-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d</a:t>
              </a:r>
              <a:r>
                <a:rPr kumimoji="0" sz="1400" b="1" i="0" u="none" strike="noStrike" kern="0" cap="none" spc="-10" normalizeH="0" baseline="0" noProof="0" dirty="0">
                  <a:ln>
                    <a:noFill/>
                  </a:ln>
                  <a:solidFill>
                    <a:srgbClr val="FFFFFF"/>
                  </a:solidFill>
                  <a:effectLst/>
                  <a:uLnTx/>
                  <a:uFillTx/>
                  <a:latin typeface="Arial"/>
                  <a:ea typeface="+mn-ea"/>
                  <a:cs typeface="Arial"/>
                </a:rPr>
                <a:t>r</a:t>
              </a:r>
              <a:r>
                <a:rPr kumimoji="0" sz="1400" b="1" i="0" u="none" strike="noStrike" kern="0" cap="none" spc="-5" normalizeH="0" baseline="0" noProof="0" dirty="0">
                  <a:ln>
                    <a:noFill/>
                  </a:ln>
                  <a:solidFill>
                    <a:srgbClr val="FFFFFF"/>
                  </a:solidFill>
                  <a:effectLst/>
                  <a:uLnTx/>
                  <a:uFillTx/>
                  <a:latin typeface="Arial"/>
                  <a:ea typeface="+mn-ea"/>
                  <a:cs typeface="Arial"/>
                </a:rPr>
                <a:t>amatic</a:t>
              </a:r>
              <a:r>
                <a:rPr kumimoji="0" sz="1400" b="1" i="0" u="none" strike="noStrike" kern="0" cap="none" spc="-10" normalizeH="0" baseline="0" noProof="0" dirty="0">
                  <a:ln>
                    <a:noFill/>
                  </a:ln>
                  <a:solidFill>
                    <a:srgbClr val="FFFFFF"/>
                  </a:solidFill>
                  <a:effectLst/>
                  <a:uLnTx/>
                  <a:uFillTx/>
                  <a:latin typeface="Arial"/>
                  <a:ea typeface="+mn-ea"/>
                  <a:cs typeface="Arial"/>
                </a:rPr>
                <a:t>a</a:t>
              </a:r>
              <a:r>
                <a:rPr kumimoji="0" sz="1400" b="1" i="0" u="none" strike="noStrike" kern="0" cap="none" spc="-5" normalizeH="0" baseline="0" noProof="0" dirty="0">
                  <a:ln>
                    <a:noFill/>
                  </a:ln>
                  <a:solidFill>
                    <a:srgbClr val="FFFFFF"/>
                  </a:solidFill>
                  <a:effectLst/>
                  <a:uLnTx/>
                  <a:uFillTx/>
                  <a:latin typeface="Arial"/>
                  <a:ea typeface="+mn-ea"/>
                  <a:cs typeface="Arial"/>
                </a:rPr>
                <a:t>lly</a:t>
              </a:r>
              <a:r>
                <a:rPr kumimoji="0" lang="en-US" sz="1400" b="1" i="0" u="none" strike="noStrike" kern="0" cap="none" spc="-5" normalizeH="0" baseline="0" noProof="0" dirty="0">
                  <a:ln>
                    <a:noFill/>
                  </a:ln>
                  <a:solidFill>
                    <a:srgbClr val="FFFFFF"/>
                  </a:solidFill>
                  <a:effectLst/>
                  <a:uLnTx/>
                  <a:uFillTx/>
                  <a:latin typeface="Arial"/>
                  <a:ea typeface="+mn-ea"/>
                  <a:cs typeface="Arial"/>
                </a:rPr>
                <a:t> </a:t>
              </a:r>
              <a:r>
                <a:rPr kumimoji="0" sz="1400" b="1" i="0" u="none" strike="noStrike" kern="0" cap="none" spc="-5" normalizeH="0" baseline="0" noProof="0" dirty="0">
                  <a:ln>
                    <a:noFill/>
                  </a:ln>
                  <a:solidFill>
                    <a:srgbClr val="FFFFFF"/>
                  </a:solidFill>
                  <a:effectLst/>
                  <a:uLnTx/>
                  <a:uFillTx/>
                  <a:latin typeface="Arial"/>
                  <a:ea typeface="+mn-ea"/>
                  <a:cs typeface="Arial"/>
                </a:rPr>
                <a:t>increase</a:t>
              </a:r>
              <a:r>
                <a:rPr kumimoji="0" sz="1200" b="1" i="0" u="none" strike="noStrike" kern="0" cap="none" spc="-7" normalizeH="0" baseline="25641" noProof="0" dirty="0">
                  <a:ln>
                    <a:noFill/>
                  </a:ln>
                  <a:solidFill>
                    <a:srgbClr val="FFFFFF"/>
                  </a:solidFill>
                  <a:effectLst/>
                  <a:uLnTx/>
                  <a:uFillTx/>
                  <a:latin typeface="Arial"/>
                  <a:ea typeface="+mn-ea"/>
                  <a:cs typeface="Arial"/>
                </a:rPr>
                <a:t>1,2</a:t>
              </a:r>
              <a:endParaRPr kumimoji="0" sz="1200" b="0" i="0" u="none" strike="noStrike" kern="0" cap="none" spc="0" normalizeH="0" baseline="25641" noProof="0" dirty="0">
                <a:ln>
                  <a:noFill/>
                </a:ln>
                <a:solidFill>
                  <a:srgbClr val="F36633"/>
                </a:solidFill>
                <a:effectLst/>
                <a:uLnTx/>
                <a:uFillTx/>
                <a:latin typeface="Arial"/>
                <a:ea typeface="+mn-ea"/>
                <a:cs typeface="Arial"/>
              </a:endParaRPr>
            </a:p>
          </p:txBody>
        </p:sp>
        <p:grpSp>
          <p:nvGrpSpPr>
            <p:cNvPr id="26" name="Group 25">
              <a:extLst>
                <a:ext uri="{FF2B5EF4-FFF2-40B4-BE49-F238E27FC236}">
                  <a16:creationId xmlns:a16="http://schemas.microsoft.com/office/drawing/2014/main" id="{B481602F-27DA-EDC8-8A8D-F0F2B9810FAD}"/>
                </a:ext>
              </a:extLst>
            </p:cNvPr>
            <p:cNvGrpSpPr/>
            <p:nvPr/>
          </p:nvGrpSpPr>
          <p:grpSpPr>
            <a:xfrm>
              <a:off x="360008" y="3069127"/>
              <a:ext cx="2400301" cy="2323592"/>
              <a:chOff x="402875" y="3069127"/>
              <a:chExt cx="2400301" cy="2323592"/>
            </a:xfrm>
          </p:grpSpPr>
          <p:sp>
            <p:nvSpPr>
              <p:cNvPr id="38" name="object 4">
                <a:extLst>
                  <a:ext uri="{FF2B5EF4-FFF2-40B4-BE49-F238E27FC236}">
                    <a16:creationId xmlns:a16="http://schemas.microsoft.com/office/drawing/2014/main" id="{D22AA66A-2A19-E8BF-A1B0-6D84531EFB48}"/>
                  </a:ext>
                </a:extLst>
              </p:cNvPr>
              <p:cNvSpPr/>
              <p:nvPr/>
            </p:nvSpPr>
            <p:spPr>
              <a:xfrm>
                <a:off x="402876" y="4014769"/>
                <a:ext cx="2400300" cy="1377950"/>
              </a:xfrm>
              <a:custGeom>
                <a:avLst/>
                <a:gdLst/>
                <a:ahLst/>
                <a:cxnLst/>
                <a:rect l="l" t="t" r="r" b="b"/>
                <a:pathLst>
                  <a:path w="2400300" h="1377950">
                    <a:moveTo>
                      <a:pt x="0" y="1377696"/>
                    </a:moveTo>
                    <a:lnTo>
                      <a:pt x="2400300" y="1377696"/>
                    </a:lnTo>
                    <a:lnTo>
                      <a:pt x="2400300" y="0"/>
                    </a:lnTo>
                    <a:lnTo>
                      <a:pt x="0" y="0"/>
                    </a:lnTo>
                    <a:lnTo>
                      <a:pt x="0" y="1377696"/>
                    </a:lnTo>
                    <a:close/>
                  </a:path>
                </a:pathLst>
              </a:custGeom>
              <a:ln w="19050">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39" name="object 5">
                <a:extLst>
                  <a:ext uri="{FF2B5EF4-FFF2-40B4-BE49-F238E27FC236}">
                    <a16:creationId xmlns:a16="http://schemas.microsoft.com/office/drawing/2014/main" id="{9BBBFC22-50E1-F1D7-0A13-C99374BE786E}"/>
                  </a:ext>
                </a:extLst>
              </p:cNvPr>
              <p:cNvPicPr/>
              <p:nvPr/>
            </p:nvPicPr>
            <p:blipFill>
              <a:blip r:embed="rId2" cstate="print"/>
              <a:stretch>
                <a:fillRect/>
              </a:stretch>
            </p:blipFill>
            <p:spPr>
              <a:xfrm>
                <a:off x="1007281" y="4146099"/>
                <a:ext cx="1191490" cy="1115291"/>
              </a:xfrm>
              <a:prstGeom prst="rect">
                <a:avLst/>
              </a:prstGeom>
            </p:spPr>
          </p:pic>
          <p:grpSp>
            <p:nvGrpSpPr>
              <p:cNvPr id="20" name="Group 19">
                <a:extLst>
                  <a:ext uri="{FF2B5EF4-FFF2-40B4-BE49-F238E27FC236}">
                    <a16:creationId xmlns:a16="http://schemas.microsoft.com/office/drawing/2014/main" id="{65B300CD-6536-E8FC-AFF1-FED0E34ED236}"/>
                  </a:ext>
                </a:extLst>
              </p:cNvPr>
              <p:cNvGrpSpPr/>
              <p:nvPr/>
            </p:nvGrpSpPr>
            <p:grpSpPr>
              <a:xfrm>
                <a:off x="776891" y="4245782"/>
                <a:ext cx="1652270" cy="815148"/>
                <a:chOff x="775494" y="4270038"/>
                <a:chExt cx="1652270" cy="815148"/>
              </a:xfrm>
            </p:grpSpPr>
            <p:sp>
              <p:nvSpPr>
                <p:cNvPr id="40" name="object 10">
                  <a:extLst>
                    <a:ext uri="{FF2B5EF4-FFF2-40B4-BE49-F238E27FC236}">
                      <a16:creationId xmlns:a16="http://schemas.microsoft.com/office/drawing/2014/main" id="{5C5B6D99-2523-D72A-6466-6F6AA3EC46B2}"/>
                    </a:ext>
                  </a:extLst>
                </p:cNvPr>
                <p:cNvSpPr txBox="1"/>
                <p:nvPr/>
              </p:nvSpPr>
              <p:spPr>
                <a:xfrm>
                  <a:off x="775494" y="4270038"/>
                  <a:ext cx="1652270" cy="334065"/>
                </a:xfrm>
                <a:prstGeom prst="rect">
                  <a:avLst/>
                </a:prstGeom>
                <a:solidFill>
                  <a:schemeClr val="accent1"/>
                </a:solidFill>
                <a:ln>
                  <a:noFill/>
                </a:ln>
              </p:spPr>
              <p:txBody>
                <a:bodyPr vert="horz" wrap="square" lIns="0" tIns="26034" rIns="0" bIns="0" rtlCol="0">
                  <a:spAutoFit/>
                </a:bodyPr>
                <a:lstStyle/>
                <a:p>
                  <a:pPr marL="313055" marR="116205" lvl="0" indent="-186055" algn="l" defTabSz="914400" rtl="0" eaLnBrk="1" fontAlgn="auto" latinLnBrk="0" hangingPunct="1">
                    <a:lnSpc>
                      <a:spcPct val="100000"/>
                    </a:lnSpc>
                    <a:spcBef>
                      <a:spcPts val="204"/>
                    </a:spcBef>
                    <a:spcAft>
                      <a:spcPts val="0"/>
                    </a:spcAft>
                    <a:buClrTx/>
                    <a:buSzTx/>
                    <a:buFontTx/>
                    <a:buNone/>
                    <a:tabLst/>
                    <a:defRPr/>
                  </a:pPr>
                  <a:r>
                    <a:rPr kumimoji="0" sz="1000" b="1" i="0" u="none" strike="noStrike" kern="0" cap="none" spc="-5" normalizeH="0" baseline="0" noProof="0" dirty="0">
                      <a:ln>
                        <a:noFill/>
                      </a:ln>
                      <a:solidFill>
                        <a:srgbClr val="FFFFFF"/>
                      </a:solidFill>
                      <a:effectLst/>
                      <a:uLnTx/>
                      <a:uFillTx/>
                      <a:latin typeface="Arial"/>
                      <a:ea typeface="+mn-ea"/>
                      <a:cs typeface="Arial"/>
                    </a:rPr>
                    <a:t>Activated</a:t>
                  </a:r>
                  <a:r>
                    <a:rPr kumimoji="0" sz="1000" b="1" i="0" u="none" strike="noStrike" kern="0" cap="none" spc="-40"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inflammatory</a:t>
                  </a:r>
                  <a:r>
                    <a:rPr kumimoji="0" lang="en-US" sz="1000" b="1" i="0" u="none" strike="noStrike" kern="0" cap="none" spc="-5"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cells</a:t>
                  </a:r>
                  <a:r>
                    <a:rPr kumimoji="0" sz="1000" b="1" i="0" u="none" strike="noStrike" kern="0" cap="none" spc="-30"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in</a:t>
                  </a:r>
                  <a:r>
                    <a:rPr kumimoji="0" sz="1000" b="1" i="0" u="none" strike="noStrike" kern="0" cap="none" spc="-10"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the</a:t>
                  </a:r>
                  <a:r>
                    <a:rPr kumimoji="0" sz="1000" b="1" i="0" u="none" strike="noStrike" kern="0" cap="none" spc="-15"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lungs</a:t>
                  </a:r>
                  <a:endParaRPr kumimoji="0" sz="1000" b="0" i="0" u="none" strike="noStrike" kern="0" cap="none" spc="0" normalizeH="0" baseline="0" noProof="0" dirty="0">
                    <a:ln>
                      <a:noFill/>
                    </a:ln>
                    <a:solidFill>
                      <a:srgbClr val="F36633"/>
                    </a:solidFill>
                    <a:effectLst/>
                    <a:uLnTx/>
                    <a:uFillTx/>
                    <a:latin typeface="Arial"/>
                    <a:ea typeface="+mn-ea"/>
                    <a:cs typeface="Arial"/>
                  </a:endParaRPr>
                </a:p>
              </p:txBody>
            </p:sp>
            <p:sp>
              <p:nvSpPr>
                <p:cNvPr id="41" name="object 11">
                  <a:extLst>
                    <a:ext uri="{FF2B5EF4-FFF2-40B4-BE49-F238E27FC236}">
                      <a16:creationId xmlns:a16="http://schemas.microsoft.com/office/drawing/2014/main" id="{A070C83D-81A6-32D4-FC95-9B836F76A928}"/>
                    </a:ext>
                  </a:extLst>
                </p:cNvPr>
                <p:cNvSpPr txBox="1"/>
                <p:nvPr/>
              </p:nvSpPr>
              <p:spPr>
                <a:xfrm>
                  <a:off x="775494" y="4829347"/>
                  <a:ext cx="1652270" cy="255839"/>
                </a:xfrm>
                <a:prstGeom prst="rect">
                  <a:avLst/>
                </a:prstGeom>
                <a:solidFill>
                  <a:schemeClr val="accent1"/>
                </a:solidFill>
                <a:ln>
                  <a:noFill/>
                </a:ln>
              </p:spPr>
              <p:txBody>
                <a:bodyPr vert="horz" wrap="square" lIns="0" tIns="100965" rIns="0" bIns="0" rtlCol="0">
                  <a:spAutoFit/>
                </a:bodyPr>
                <a:lstStyle/>
                <a:p>
                  <a:pPr marL="299720" marR="0" lvl="0" indent="0" algn="l" defTabSz="914400" rtl="0" eaLnBrk="1" fontAlgn="auto" latinLnBrk="0" hangingPunct="1">
                    <a:lnSpc>
                      <a:spcPct val="100000"/>
                    </a:lnSpc>
                    <a:spcBef>
                      <a:spcPts val="795"/>
                    </a:spcBef>
                    <a:spcAft>
                      <a:spcPts val="0"/>
                    </a:spcAft>
                    <a:buClrTx/>
                    <a:buSzTx/>
                    <a:buFontTx/>
                    <a:buNone/>
                    <a:tabLst/>
                    <a:defRPr/>
                  </a:pPr>
                  <a:r>
                    <a:rPr kumimoji="0" sz="1000" b="1" i="0" u="none" strike="noStrike" kern="0" cap="none" spc="-5" normalizeH="0" baseline="0" noProof="0" dirty="0">
                      <a:ln>
                        <a:noFill/>
                      </a:ln>
                      <a:solidFill>
                        <a:srgbClr val="FFFFFF"/>
                      </a:solidFill>
                      <a:effectLst/>
                      <a:uLnTx/>
                      <a:uFillTx/>
                      <a:latin typeface="Arial"/>
                      <a:ea typeface="+mn-ea"/>
                      <a:cs typeface="Arial"/>
                    </a:rPr>
                    <a:t>Cellular</a:t>
                  </a:r>
                  <a:r>
                    <a:rPr kumimoji="0" sz="1000" b="1" i="0" u="none" strike="noStrike" kern="0" cap="none" spc="-20"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oxidants</a:t>
                  </a:r>
                  <a:endParaRPr kumimoji="0" sz="1000" b="0" i="0" u="none" strike="noStrike" kern="0" cap="none" spc="0" normalizeH="0" baseline="0" noProof="0" dirty="0">
                    <a:ln>
                      <a:noFill/>
                    </a:ln>
                    <a:solidFill>
                      <a:srgbClr val="F36633"/>
                    </a:solidFill>
                    <a:effectLst/>
                    <a:uLnTx/>
                    <a:uFillTx/>
                    <a:latin typeface="Arial"/>
                    <a:ea typeface="+mn-ea"/>
                    <a:cs typeface="Arial"/>
                  </a:endParaRPr>
                </a:p>
              </p:txBody>
            </p:sp>
          </p:grpSp>
          <p:sp>
            <p:nvSpPr>
              <p:cNvPr id="42" name="object 13">
                <a:extLst>
                  <a:ext uri="{FF2B5EF4-FFF2-40B4-BE49-F238E27FC236}">
                    <a16:creationId xmlns:a16="http://schemas.microsoft.com/office/drawing/2014/main" id="{45A973BD-A7DD-65B0-A6AC-3F1934D949A9}"/>
                  </a:ext>
                </a:extLst>
              </p:cNvPr>
              <p:cNvSpPr/>
              <p:nvPr/>
            </p:nvSpPr>
            <p:spPr>
              <a:xfrm>
                <a:off x="522256" y="4471969"/>
                <a:ext cx="2161540" cy="463550"/>
              </a:xfrm>
              <a:custGeom>
                <a:avLst/>
                <a:gdLst/>
                <a:ahLst/>
                <a:cxnLst/>
                <a:rect l="l" t="t" r="r" b="b"/>
                <a:pathLst>
                  <a:path w="2161540" h="463550">
                    <a:moveTo>
                      <a:pt x="190588" y="23876"/>
                    </a:moveTo>
                    <a:lnTo>
                      <a:pt x="63246" y="13081"/>
                    </a:lnTo>
                    <a:lnTo>
                      <a:pt x="78079" y="50368"/>
                    </a:lnTo>
                    <a:lnTo>
                      <a:pt x="67589" y="56007"/>
                    </a:lnTo>
                    <a:lnTo>
                      <a:pt x="65722" y="57404"/>
                    </a:lnTo>
                    <a:lnTo>
                      <a:pt x="64173" y="59309"/>
                    </a:lnTo>
                    <a:lnTo>
                      <a:pt x="51485" y="74295"/>
                    </a:lnTo>
                    <a:lnTo>
                      <a:pt x="29819" y="108204"/>
                    </a:lnTo>
                    <a:lnTo>
                      <a:pt x="13576" y="146939"/>
                    </a:lnTo>
                    <a:lnTo>
                      <a:pt x="3454" y="189357"/>
                    </a:lnTo>
                    <a:lnTo>
                      <a:pt x="0" y="234696"/>
                    </a:lnTo>
                    <a:lnTo>
                      <a:pt x="977" y="257683"/>
                    </a:lnTo>
                    <a:lnTo>
                      <a:pt x="8051" y="301752"/>
                    </a:lnTo>
                    <a:lnTo>
                      <a:pt x="21628" y="342392"/>
                    </a:lnTo>
                    <a:lnTo>
                      <a:pt x="40919" y="378714"/>
                    </a:lnTo>
                    <a:lnTo>
                      <a:pt x="65506" y="409956"/>
                    </a:lnTo>
                    <a:lnTo>
                      <a:pt x="94818" y="435102"/>
                    </a:lnTo>
                    <a:lnTo>
                      <a:pt x="146177" y="458597"/>
                    </a:lnTo>
                    <a:lnTo>
                      <a:pt x="181673" y="463296"/>
                    </a:lnTo>
                    <a:lnTo>
                      <a:pt x="184061" y="425196"/>
                    </a:lnTo>
                    <a:lnTo>
                      <a:pt x="167297" y="424180"/>
                    </a:lnTo>
                    <a:lnTo>
                      <a:pt x="153644" y="421259"/>
                    </a:lnTo>
                    <a:lnTo>
                      <a:pt x="114896" y="402717"/>
                    </a:lnTo>
                    <a:lnTo>
                      <a:pt x="81495" y="370332"/>
                    </a:lnTo>
                    <a:lnTo>
                      <a:pt x="56070" y="326136"/>
                    </a:lnTo>
                    <a:lnTo>
                      <a:pt x="41059" y="272669"/>
                    </a:lnTo>
                    <a:lnTo>
                      <a:pt x="38074" y="233172"/>
                    </a:lnTo>
                    <a:lnTo>
                      <a:pt x="38925" y="213106"/>
                    </a:lnTo>
                    <a:lnTo>
                      <a:pt x="45059" y="175133"/>
                    </a:lnTo>
                    <a:lnTo>
                      <a:pt x="64262" y="124587"/>
                    </a:lnTo>
                    <a:lnTo>
                      <a:pt x="89344" y="88392"/>
                    </a:lnTo>
                    <a:lnTo>
                      <a:pt x="92240" y="85940"/>
                    </a:lnTo>
                    <a:lnTo>
                      <a:pt x="105511" y="119253"/>
                    </a:lnTo>
                    <a:lnTo>
                      <a:pt x="174155" y="42291"/>
                    </a:lnTo>
                    <a:lnTo>
                      <a:pt x="190588" y="23876"/>
                    </a:lnTo>
                    <a:close/>
                  </a:path>
                  <a:path w="2161540" h="463550">
                    <a:moveTo>
                      <a:pt x="2161019" y="228600"/>
                    </a:moveTo>
                    <a:lnTo>
                      <a:pt x="2157336" y="183261"/>
                    </a:lnTo>
                    <a:lnTo>
                      <a:pt x="2146922" y="140843"/>
                    </a:lnTo>
                    <a:lnTo>
                      <a:pt x="2130412" y="102235"/>
                    </a:lnTo>
                    <a:lnTo>
                      <a:pt x="2108441" y="68326"/>
                    </a:lnTo>
                    <a:lnTo>
                      <a:pt x="2081390" y="39878"/>
                    </a:lnTo>
                    <a:lnTo>
                      <a:pt x="2032876" y="10414"/>
                    </a:lnTo>
                    <a:lnTo>
                      <a:pt x="1979282" y="0"/>
                    </a:lnTo>
                    <a:lnTo>
                      <a:pt x="1976996" y="38100"/>
                    </a:lnTo>
                    <a:lnTo>
                      <a:pt x="1993760" y="39116"/>
                    </a:lnTo>
                    <a:lnTo>
                      <a:pt x="2007476" y="42037"/>
                    </a:lnTo>
                    <a:lnTo>
                      <a:pt x="2046211" y="60706"/>
                    </a:lnTo>
                    <a:lnTo>
                      <a:pt x="2079485" y="93091"/>
                    </a:lnTo>
                    <a:lnTo>
                      <a:pt x="2104885" y="137287"/>
                    </a:lnTo>
                    <a:lnTo>
                      <a:pt x="2119998" y="190754"/>
                    </a:lnTo>
                    <a:lnTo>
                      <a:pt x="2122919" y="230124"/>
                    </a:lnTo>
                    <a:lnTo>
                      <a:pt x="2122030" y="250190"/>
                    </a:lnTo>
                    <a:lnTo>
                      <a:pt x="2115934" y="288290"/>
                    </a:lnTo>
                    <a:lnTo>
                      <a:pt x="2096757" y="338836"/>
                    </a:lnTo>
                    <a:lnTo>
                      <a:pt x="2070227" y="376593"/>
                    </a:lnTo>
                    <a:lnTo>
                      <a:pt x="2068779" y="377355"/>
                    </a:lnTo>
                    <a:lnTo>
                      <a:pt x="2055482" y="344043"/>
                    </a:lnTo>
                    <a:lnTo>
                      <a:pt x="1970519" y="439420"/>
                    </a:lnTo>
                    <a:lnTo>
                      <a:pt x="2097900" y="450215"/>
                    </a:lnTo>
                    <a:lnTo>
                      <a:pt x="2086229" y="421005"/>
                    </a:lnTo>
                    <a:lnTo>
                      <a:pt x="2082990" y="412902"/>
                    </a:lnTo>
                    <a:lnTo>
                      <a:pt x="2093455" y="407289"/>
                    </a:lnTo>
                    <a:lnTo>
                      <a:pt x="2095233" y="405892"/>
                    </a:lnTo>
                    <a:lnTo>
                      <a:pt x="2109457" y="389128"/>
                    </a:lnTo>
                    <a:lnTo>
                      <a:pt x="2119490" y="374904"/>
                    </a:lnTo>
                    <a:lnTo>
                      <a:pt x="2121014" y="372745"/>
                    </a:lnTo>
                    <a:lnTo>
                      <a:pt x="2139937" y="336423"/>
                    </a:lnTo>
                    <a:lnTo>
                      <a:pt x="2153272" y="295656"/>
                    </a:lnTo>
                    <a:lnTo>
                      <a:pt x="2160130" y="251587"/>
                    </a:lnTo>
                    <a:lnTo>
                      <a:pt x="2161019" y="22860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45" name="object 22">
                <a:extLst>
                  <a:ext uri="{FF2B5EF4-FFF2-40B4-BE49-F238E27FC236}">
                    <a16:creationId xmlns:a16="http://schemas.microsoft.com/office/drawing/2014/main" id="{502F78ED-984B-DDF8-926A-484CBC3FF3AC}"/>
                  </a:ext>
                </a:extLst>
              </p:cNvPr>
              <p:cNvSpPr txBox="1"/>
              <p:nvPr/>
            </p:nvSpPr>
            <p:spPr>
              <a:xfrm>
                <a:off x="402875" y="3074459"/>
                <a:ext cx="2400300" cy="850810"/>
              </a:xfrm>
              <a:prstGeom prst="rect">
                <a:avLst/>
              </a:prstGeom>
              <a:ln w="19050">
                <a:solidFill>
                  <a:srgbClr val="F36633"/>
                </a:solidFill>
              </a:ln>
            </p:spPr>
            <p:txBody>
              <a:bodyPr vert="horz" wrap="square" lIns="0" tIns="0" rIns="0" bIns="54864" rtlCol="0" anchor="b">
                <a:noAutofit/>
              </a:bodyPr>
              <a:lstStyle/>
              <a:p>
                <a:pPr marL="657860" marR="0" lvl="0" indent="0" algn="l" defTabSz="914400" rtl="0" eaLnBrk="1" fontAlgn="auto" latinLnBrk="0" hangingPunct="1">
                  <a:lnSpc>
                    <a:spcPct val="100000"/>
                  </a:lnSpc>
                  <a:spcBef>
                    <a:spcPts val="890"/>
                  </a:spcBef>
                  <a:spcAft>
                    <a:spcPts val="0"/>
                  </a:spcAft>
                  <a:buClrTx/>
                  <a:buSzTx/>
                  <a:buFontTx/>
                  <a:buNone/>
                  <a:tabLst/>
                  <a:defRPr/>
                </a:pPr>
                <a:r>
                  <a:rPr kumimoji="0" sz="1200" b="1" i="0" u="none" strike="noStrike" kern="0" cap="none" spc="-5" normalizeH="0" baseline="0" noProof="0" dirty="0">
                    <a:ln>
                      <a:noFill/>
                    </a:ln>
                    <a:solidFill>
                      <a:srgbClr val="000000"/>
                    </a:solidFill>
                    <a:effectLst/>
                    <a:uLnTx/>
                    <a:uFillTx/>
                    <a:latin typeface="Arial"/>
                    <a:ea typeface="+mn-ea"/>
                    <a:cs typeface="Arial"/>
                  </a:rPr>
                  <a:t>COPD risk</a:t>
                </a:r>
                <a:r>
                  <a:rPr kumimoji="0" sz="1200" b="1" i="0" u="none" strike="noStrike" kern="0" cap="none" spc="-35" normalizeH="0" baseline="0" noProof="0" dirty="0">
                    <a:ln>
                      <a:noFill/>
                    </a:ln>
                    <a:solidFill>
                      <a:srgbClr val="000000"/>
                    </a:solidFill>
                    <a:effectLst/>
                    <a:uLnTx/>
                    <a:uFillTx/>
                    <a:latin typeface="Arial"/>
                    <a:ea typeface="+mn-ea"/>
                    <a:cs typeface="Arial"/>
                  </a:rPr>
                  <a:t> </a:t>
                </a:r>
                <a:r>
                  <a:rPr kumimoji="0" sz="1200" b="1" i="0" u="none" strike="noStrike" kern="0" cap="none" spc="-5" normalizeH="0" baseline="0" noProof="0" dirty="0">
                    <a:ln>
                      <a:noFill/>
                    </a:ln>
                    <a:solidFill>
                      <a:srgbClr val="000000"/>
                    </a:solidFill>
                    <a:effectLst/>
                    <a:uLnTx/>
                    <a:uFillTx/>
                    <a:latin typeface="Arial"/>
                    <a:ea typeface="+mn-ea"/>
                    <a:cs typeface="Arial"/>
                  </a:rPr>
                  <a:t>factors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grpSp>
            <p:nvGrpSpPr>
              <p:cNvPr id="19" name="Group 18">
                <a:extLst>
                  <a:ext uri="{FF2B5EF4-FFF2-40B4-BE49-F238E27FC236}">
                    <a16:creationId xmlns:a16="http://schemas.microsoft.com/office/drawing/2014/main" id="{ABBA6CFE-D645-D84D-2716-ABE31C7AD972}"/>
                  </a:ext>
                </a:extLst>
              </p:cNvPr>
              <p:cNvGrpSpPr/>
              <p:nvPr/>
            </p:nvGrpSpPr>
            <p:grpSpPr>
              <a:xfrm>
                <a:off x="594137" y="3069127"/>
                <a:ext cx="1995124" cy="632114"/>
                <a:chOff x="676433" y="3069127"/>
                <a:chExt cx="1995124" cy="632114"/>
              </a:xfrm>
            </p:grpSpPr>
            <p:pic>
              <p:nvPicPr>
                <p:cNvPr id="46" name="object 23">
                  <a:extLst>
                    <a:ext uri="{FF2B5EF4-FFF2-40B4-BE49-F238E27FC236}">
                      <a16:creationId xmlns:a16="http://schemas.microsoft.com/office/drawing/2014/main" id="{FED90C4D-A636-74F7-761A-3D023DF460FF}"/>
                    </a:ext>
                  </a:extLst>
                </p:cNvPr>
                <p:cNvPicPr/>
                <p:nvPr/>
              </p:nvPicPr>
              <p:blipFill>
                <a:blip r:embed="rId3" cstate="print"/>
                <a:stretch>
                  <a:fillRect/>
                </a:stretch>
              </p:blipFill>
              <p:spPr>
                <a:xfrm>
                  <a:off x="1293653" y="3069127"/>
                  <a:ext cx="638556" cy="288035"/>
                </a:xfrm>
                <a:prstGeom prst="rect">
                  <a:avLst/>
                </a:prstGeom>
              </p:spPr>
            </p:pic>
            <p:pic>
              <p:nvPicPr>
                <p:cNvPr id="47" name="object 24">
                  <a:extLst>
                    <a:ext uri="{FF2B5EF4-FFF2-40B4-BE49-F238E27FC236}">
                      <a16:creationId xmlns:a16="http://schemas.microsoft.com/office/drawing/2014/main" id="{5E2165B1-794E-12B3-00B2-15B740A4C8E2}"/>
                    </a:ext>
                  </a:extLst>
                </p:cNvPr>
                <p:cNvPicPr/>
                <p:nvPr/>
              </p:nvPicPr>
              <p:blipFill>
                <a:blip r:embed="rId4" cstate="print"/>
                <a:stretch>
                  <a:fillRect/>
                </a:stretch>
              </p:blipFill>
              <p:spPr>
                <a:xfrm>
                  <a:off x="676433" y="3191047"/>
                  <a:ext cx="353567" cy="434340"/>
                </a:xfrm>
                <a:prstGeom prst="rect">
                  <a:avLst/>
                </a:prstGeom>
              </p:spPr>
            </p:pic>
            <p:pic>
              <p:nvPicPr>
                <p:cNvPr id="48" name="object 25">
                  <a:extLst>
                    <a:ext uri="{FF2B5EF4-FFF2-40B4-BE49-F238E27FC236}">
                      <a16:creationId xmlns:a16="http://schemas.microsoft.com/office/drawing/2014/main" id="{E3774954-B3D6-EB77-4C1E-652B269CA6D1}"/>
                    </a:ext>
                  </a:extLst>
                </p:cNvPr>
                <p:cNvPicPr/>
                <p:nvPr/>
              </p:nvPicPr>
              <p:blipFill>
                <a:blip r:embed="rId5" cstate="print"/>
                <a:stretch>
                  <a:fillRect/>
                </a:stretch>
              </p:blipFill>
              <p:spPr>
                <a:xfrm>
                  <a:off x="2218513" y="3115194"/>
                  <a:ext cx="453044" cy="586047"/>
                </a:xfrm>
                <a:prstGeom prst="rect">
                  <a:avLst/>
                </a:prstGeom>
              </p:spPr>
            </p:pic>
          </p:grpSp>
        </p:grpSp>
        <p:sp>
          <p:nvSpPr>
            <p:cNvPr id="49" name="object 33">
              <a:extLst>
                <a:ext uri="{FF2B5EF4-FFF2-40B4-BE49-F238E27FC236}">
                  <a16:creationId xmlns:a16="http://schemas.microsoft.com/office/drawing/2014/main" id="{A7D05945-3B49-8042-4BA1-5905ED3960B8}"/>
                </a:ext>
              </a:extLst>
            </p:cNvPr>
            <p:cNvSpPr/>
            <p:nvPr/>
          </p:nvSpPr>
          <p:spPr>
            <a:xfrm>
              <a:off x="2906045" y="3334447"/>
              <a:ext cx="257810" cy="330835"/>
            </a:xfrm>
            <a:custGeom>
              <a:avLst/>
              <a:gdLst/>
              <a:ahLst/>
              <a:cxnLst/>
              <a:rect l="l" t="t" r="r" b="b"/>
              <a:pathLst>
                <a:path w="257810" h="330835">
                  <a:moveTo>
                    <a:pt x="128778" y="0"/>
                  </a:moveTo>
                  <a:lnTo>
                    <a:pt x="128778" y="82676"/>
                  </a:lnTo>
                  <a:lnTo>
                    <a:pt x="0" y="82676"/>
                  </a:lnTo>
                  <a:lnTo>
                    <a:pt x="0" y="248031"/>
                  </a:lnTo>
                  <a:lnTo>
                    <a:pt x="128778" y="248031"/>
                  </a:lnTo>
                  <a:lnTo>
                    <a:pt x="128778" y="330707"/>
                  </a:lnTo>
                  <a:lnTo>
                    <a:pt x="257556" y="165354"/>
                  </a:lnTo>
                  <a:lnTo>
                    <a:pt x="128778"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25" name="Group 24">
              <a:extLst>
                <a:ext uri="{FF2B5EF4-FFF2-40B4-BE49-F238E27FC236}">
                  <a16:creationId xmlns:a16="http://schemas.microsoft.com/office/drawing/2014/main" id="{C881F098-9435-BAC5-14C2-A431EBC28E0C}"/>
                </a:ext>
              </a:extLst>
            </p:cNvPr>
            <p:cNvGrpSpPr/>
            <p:nvPr/>
          </p:nvGrpSpPr>
          <p:grpSpPr>
            <a:xfrm>
              <a:off x="5106856" y="3069254"/>
              <a:ext cx="6709860" cy="2323592"/>
              <a:chOff x="5106856" y="3069254"/>
              <a:chExt cx="6709860" cy="2323592"/>
            </a:xfrm>
          </p:grpSpPr>
          <p:grpSp>
            <p:nvGrpSpPr>
              <p:cNvPr id="21" name="Group 20">
                <a:extLst>
                  <a:ext uri="{FF2B5EF4-FFF2-40B4-BE49-F238E27FC236}">
                    <a16:creationId xmlns:a16="http://schemas.microsoft.com/office/drawing/2014/main" id="{9F3B6B0C-5DA7-35CF-F042-5D11A8B70EC5}"/>
                  </a:ext>
                </a:extLst>
              </p:cNvPr>
              <p:cNvGrpSpPr/>
              <p:nvPr/>
            </p:nvGrpSpPr>
            <p:grpSpPr>
              <a:xfrm>
                <a:off x="5106856" y="3069254"/>
                <a:ext cx="6709860" cy="504825"/>
                <a:chOff x="5106856" y="3074460"/>
                <a:chExt cx="6709860" cy="504825"/>
              </a:xfrm>
            </p:grpSpPr>
            <p:pic>
              <p:nvPicPr>
                <p:cNvPr id="50" name="object 16">
                  <a:extLst>
                    <a:ext uri="{FF2B5EF4-FFF2-40B4-BE49-F238E27FC236}">
                      <a16:creationId xmlns:a16="http://schemas.microsoft.com/office/drawing/2014/main" id="{970EDC3F-3EAD-574A-B856-6516308B00FB}"/>
                    </a:ext>
                  </a:extLst>
                </p:cNvPr>
                <p:cNvPicPr/>
                <p:nvPr/>
              </p:nvPicPr>
              <p:blipFill>
                <a:blip r:embed="rId6" cstate="print"/>
                <a:stretch>
                  <a:fillRect/>
                </a:stretch>
              </p:blipFill>
              <p:spPr>
                <a:xfrm>
                  <a:off x="6056589" y="3121894"/>
                  <a:ext cx="373379" cy="409956"/>
                </a:xfrm>
                <a:prstGeom prst="rect">
                  <a:avLst/>
                </a:prstGeom>
              </p:spPr>
            </p:pic>
            <p:sp>
              <p:nvSpPr>
                <p:cNvPr id="51" name="object 17">
                  <a:extLst>
                    <a:ext uri="{FF2B5EF4-FFF2-40B4-BE49-F238E27FC236}">
                      <a16:creationId xmlns:a16="http://schemas.microsoft.com/office/drawing/2014/main" id="{B566266A-CB18-DF6F-AAEA-D9DB1C315F6E}"/>
                    </a:ext>
                  </a:extLst>
                </p:cNvPr>
                <p:cNvSpPr txBox="1"/>
                <p:nvPr/>
              </p:nvSpPr>
              <p:spPr>
                <a:xfrm>
                  <a:off x="5577362" y="3074460"/>
                  <a:ext cx="6239354" cy="504825"/>
                </a:xfrm>
                <a:prstGeom prst="rect">
                  <a:avLst/>
                </a:prstGeom>
                <a:ln w="19811">
                  <a:solidFill>
                    <a:schemeClr val="accent1"/>
                  </a:solidFill>
                </a:ln>
              </p:spPr>
              <p:txBody>
                <a:bodyPr vert="horz" wrap="square" lIns="0" tIns="5715" rIns="0" bIns="0" rtlCol="0">
                  <a:noAutofit/>
                </a:bodyPr>
                <a:lstStyle/>
                <a:p>
                  <a:pPr marL="0" marR="0" lvl="0" indent="0" algn="l" defTabSz="914400" rtl="0" eaLnBrk="1" fontAlgn="auto" latinLnBrk="0" hangingPunct="1">
                    <a:lnSpc>
                      <a:spcPct val="100000"/>
                    </a:lnSpc>
                    <a:spcBef>
                      <a:spcPts val="45"/>
                    </a:spcBef>
                    <a:spcAft>
                      <a:spcPts val="0"/>
                    </a:spcAft>
                    <a:buClrTx/>
                    <a:buSzTx/>
                    <a:buFontTx/>
                    <a:buNone/>
                    <a:tabLst/>
                    <a:defRPr/>
                  </a:pPr>
                  <a:endParaRPr kumimoji="0" sz="1200" b="0" i="0" u="none" strike="noStrike" kern="0" cap="none" spc="0" normalizeH="0" baseline="0" noProof="0" dirty="0">
                    <a:ln>
                      <a:noFill/>
                    </a:ln>
                    <a:solidFill>
                      <a:srgbClr val="000000"/>
                    </a:solidFill>
                    <a:effectLst/>
                    <a:uLnTx/>
                    <a:uFillTx/>
                    <a:latin typeface="Times New Roman"/>
                    <a:ea typeface="+mn-ea"/>
                    <a:cs typeface="Times New Roman"/>
                  </a:endParaRPr>
                </a:p>
                <a:p>
                  <a:pPr marL="1269365" marR="0" lvl="0" indent="0" algn="l" defTabSz="914400" rtl="0" eaLnBrk="1" fontAlgn="auto" latinLnBrk="0" hangingPunct="1">
                    <a:lnSpc>
                      <a:spcPct val="100000"/>
                    </a:lnSpc>
                    <a:spcBef>
                      <a:spcPts val="5"/>
                    </a:spcBef>
                    <a:spcAft>
                      <a:spcPts val="0"/>
                    </a:spcAft>
                    <a:buClrTx/>
                    <a:buSzTx/>
                    <a:buFontTx/>
                    <a:buNone/>
                    <a:tabLst/>
                    <a:defRPr/>
                  </a:pPr>
                  <a:r>
                    <a:rPr kumimoji="0" sz="1200" b="1" i="0" u="none" strike="noStrike" kern="0" cap="none" spc="0" normalizeH="0" baseline="0" noProof="0" dirty="0">
                      <a:ln>
                        <a:noFill/>
                      </a:ln>
                      <a:solidFill>
                        <a:srgbClr val="000000"/>
                      </a:solidFill>
                      <a:effectLst/>
                      <a:uLnTx/>
                      <a:uFillTx/>
                      <a:latin typeface="Arial"/>
                      <a:ea typeface="+mn-ea"/>
                      <a:cs typeface="Arial"/>
                    </a:rPr>
                    <a:t>Mucus</a:t>
                  </a:r>
                  <a:r>
                    <a:rPr kumimoji="0" sz="1200" b="1" i="0" u="none" strike="noStrike" kern="0" cap="none" spc="-50" normalizeH="0" baseline="0" noProof="0" dirty="0">
                      <a:ln>
                        <a:noFill/>
                      </a:ln>
                      <a:solidFill>
                        <a:srgbClr val="000000"/>
                      </a:solidFill>
                      <a:effectLst/>
                      <a:uLnTx/>
                      <a:uFillTx/>
                      <a:latin typeface="Arial"/>
                      <a:ea typeface="+mn-ea"/>
                      <a:cs typeface="Arial"/>
                    </a:rPr>
                    <a:t> </a:t>
                  </a:r>
                  <a:r>
                    <a:rPr kumimoji="0" sz="1200" b="1" i="0" u="none" strike="noStrike" kern="0" cap="none" spc="-5" normalizeH="0" baseline="0" noProof="0" dirty="0">
                      <a:ln>
                        <a:noFill/>
                      </a:ln>
                      <a:solidFill>
                        <a:srgbClr val="000000"/>
                      </a:solidFill>
                      <a:effectLst/>
                      <a:uLnTx/>
                      <a:uFillTx/>
                      <a:latin typeface="Arial"/>
                      <a:ea typeface="+mn-ea"/>
                      <a:cs typeface="Arial"/>
                    </a:rPr>
                    <a:t>hypersecretion</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59" name="object 34">
                  <a:extLst>
                    <a:ext uri="{FF2B5EF4-FFF2-40B4-BE49-F238E27FC236}">
                      <a16:creationId xmlns:a16="http://schemas.microsoft.com/office/drawing/2014/main" id="{D14AD0F0-E907-8440-FAE0-F3DCDB92B5D5}"/>
                    </a:ext>
                  </a:extLst>
                </p:cNvPr>
                <p:cNvSpPr/>
                <p:nvPr/>
              </p:nvSpPr>
              <p:spPr>
                <a:xfrm>
                  <a:off x="5106856" y="3161455"/>
                  <a:ext cx="257810" cy="330835"/>
                </a:xfrm>
                <a:custGeom>
                  <a:avLst/>
                  <a:gdLst/>
                  <a:ahLst/>
                  <a:cxnLst/>
                  <a:rect l="l" t="t" r="r" b="b"/>
                  <a:pathLst>
                    <a:path w="257810" h="330835">
                      <a:moveTo>
                        <a:pt x="128778" y="0"/>
                      </a:moveTo>
                      <a:lnTo>
                        <a:pt x="128778" y="82676"/>
                      </a:lnTo>
                      <a:lnTo>
                        <a:pt x="0" y="82676"/>
                      </a:lnTo>
                      <a:lnTo>
                        <a:pt x="0" y="248031"/>
                      </a:lnTo>
                      <a:lnTo>
                        <a:pt x="128778" y="248031"/>
                      </a:lnTo>
                      <a:lnTo>
                        <a:pt x="128778" y="330707"/>
                      </a:lnTo>
                      <a:lnTo>
                        <a:pt x="257556" y="165353"/>
                      </a:lnTo>
                      <a:lnTo>
                        <a:pt x="128778"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grpSp>
            <p:nvGrpSpPr>
              <p:cNvPr id="22" name="Group 21">
                <a:extLst>
                  <a:ext uri="{FF2B5EF4-FFF2-40B4-BE49-F238E27FC236}">
                    <a16:creationId xmlns:a16="http://schemas.microsoft.com/office/drawing/2014/main" id="{347D9910-0BA0-5E3C-28DD-804498254E2F}"/>
                  </a:ext>
                </a:extLst>
              </p:cNvPr>
              <p:cNvGrpSpPr/>
              <p:nvPr/>
            </p:nvGrpSpPr>
            <p:grpSpPr>
              <a:xfrm>
                <a:off x="5106856" y="3675510"/>
                <a:ext cx="6709860" cy="504825"/>
                <a:chOff x="5106856" y="3679489"/>
                <a:chExt cx="6709860" cy="504825"/>
              </a:xfrm>
            </p:grpSpPr>
            <p:pic>
              <p:nvPicPr>
                <p:cNvPr id="52" name="object 18">
                  <a:extLst>
                    <a:ext uri="{FF2B5EF4-FFF2-40B4-BE49-F238E27FC236}">
                      <a16:creationId xmlns:a16="http://schemas.microsoft.com/office/drawing/2014/main" id="{5F2F1F67-AD8D-88E2-7292-E8D6C0C561A6}"/>
                    </a:ext>
                  </a:extLst>
                </p:cNvPr>
                <p:cNvPicPr/>
                <p:nvPr/>
              </p:nvPicPr>
              <p:blipFill>
                <a:blip r:embed="rId7" cstate="print"/>
                <a:stretch>
                  <a:fillRect/>
                </a:stretch>
              </p:blipFill>
              <p:spPr>
                <a:xfrm>
                  <a:off x="5721309" y="3778739"/>
                  <a:ext cx="1042415" cy="306324"/>
                </a:xfrm>
                <a:prstGeom prst="rect">
                  <a:avLst/>
                </a:prstGeom>
              </p:spPr>
            </p:pic>
            <p:sp>
              <p:nvSpPr>
                <p:cNvPr id="54" name="object 26">
                  <a:extLst>
                    <a:ext uri="{FF2B5EF4-FFF2-40B4-BE49-F238E27FC236}">
                      <a16:creationId xmlns:a16="http://schemas.microsoft.com/office/drawing/2014/main" id="{40DF6D92-2652-FE8A-49F4-35FC97ECA124}"/>
                    </a:ext>
                  </a:extLst>
                </p:cNvPr>
                <p:cNvSpPr txBox="1"/>
                <p:nvPr/>
              </p:nvSpPr>
              <p:spPr>
                <a:xfrm>
                  <a:off x="5577362" y="3679489"/>
                  <a:ext cx="6239354" cy="504825"/>
                </a:xfrm>
                <a:prstGeom prst="rect">
                  <a:avLst/>
                </a:prstGeom>
                <a:ln w="19811">
                  <a:solidFill>
                    <a:schemeClr val="accent1"/>
                  </a:solidFill>
                </a:ln>
              </p:spPr>
              <p:txBody>
                <a:bodyPr vert="horz" wrap="square" lIns="0" tIns="5715" rIns="0" bIns="0" rtlCol="0">
                  <a:noAutofit/>
                </a:bodyPr>
                <a:lstStyle/>
                <a:p>
                  <a:pPr marL="0" marR="0" lvl="0" indent="0" algn="l" defTabSz="914400" rtl="0" eaLnBrk="1" fontAlgn="auto" latinLnBrk="0" hangingPunct="1">
                    <a:lnSpc>
                      <a:spcPct val="100000"/>
                    </a:lnSpc>
                    <a:spcBef>
                      <a:spcPts val="45"/>
                    </a:spcBef>
                    <a:spcAft>
                      <a:spcPts val="0"/>
                    </a:spcAft>
                    <a:buClrTx/>
                    <a:buSzTx/>
                    <a:buFontTx/>
                    <a:buNone/>
                    <a:tabLst/>
                    <a:defRPr/>
                  </a:pPr>
                  <a:endParaRPr kumimoji="0" sz="1200" b="0" i="0" u="none" strike="noStrike" kern="0" cap="none" spc="0" normalizeH="0" baseline="0" noProof="0" dirty="0">
                    <a:ln>
                      <a:noFill/>
                    </a:ln>
                    <a:solidFill>
                      <a:srgbClr val="000000"/>
                    </a:solidFill>
                    <a:effectLst/>
                    <a:uLnTx/>
                    <a:uFillTx/>
                    <a:latin typeface="Times New Roman"/>
                    <a:ea typeface="+mn-ea"/>
                    <a:cs typeface="Times New Roman"/>
                  </a:endParaRPr>
                </a:p>
                <a:p>
                  <a:pPr marL="1269365" marR="0" lvl="0" indent="0" algn="l"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5" normalizeH="0" baseline="0" noProof="0" dirty="0">
                      <a:ln>
                        <a:noFill/>
                      </a:ln>
                      <a:solidFill>
                        <a:srgbClr val="000000"/>
                      </a:solidFill>
                      <a:effectLst/>
                      <a:uLnTx/>
                      <a:uFillTx/>
                      <a:latin typeface="Arial"/>
                      <a:ea typeface="+mn-ea"/>
                      <a:cs typeface="Arial"/>
                    </a:rPr>
                    <a:t>Direct</a:t>
                  </a:r>
                  <a:r>
                    <a:rPr kumimoji="0" sz="1200" b="1" i="0" u="none" strike="noStrike" kern="0" cap="none" spc="-10" normalizeH="0" baseline="0" noProof="0" dirty="0">
                      <a:ln>
                        <a:noFill/>
                      </a:ln>
                      <a:solidFill>
                        <a:srgbClr val="000000"/>
                      </a:solidFill>
                      <a:effectLst/>
                      <a:uLnTx/>
                      <a:uFillTx/>
                      <a:latin typeface="Arial"/>
                      <a:ea typeface="+mn-ea"/>
                      <a:cs typeface="Arial"/>
                    </a:rPr>
                    <a:t> </a:t>
                  </a:r>
                  <a:r>
                    <a:rPr kumimoji="0" sz="1200" b="1" i="0" u="none" strike="noStrike" kern="0" cap="none" spc="-5" normalizeH="0" baseline="0" noProof="0" dirty="0">
                      <a:ln>
                        <a:noFill/>
                      </a:ln>
                      <a:solidFill>
                        <a:srgbClr val="000000"/>
                      </a:solidFill>
                      <a:effectLst/>
                      <a:uLnTx/>
                      <a:uFillTx/>
                      <a:latin typeface="Arial"/>
                      <a:ea typeface="+mn-ea"/>
                      <a:cs typeface="Arial"/>
                    </a:rPr>
                    <a:t>damage</a:t>
                  </a:r>
                  <a:r>
                    <a:rPr kumimoji="0" sz="1200" b="1" i="0" u="none" strike="noStrike" kern="0" cap="none" spc="-15" normalizeH="0" baseline="0" noProof="0" dirty="0">
                      <a:ln>
                        <a:noFill/>
                      </a:ln>
                      <a:solidFill>
                        <a:srgbClr val="000000"/>
                      </a:solidFill>
                      <a:effectLst/>
                      <a:uLnTx/>
                      <a:uFillTx/>
                      <a:latin typeface="Arial"/>
                      <a:ea typeface="+mn-ea"/>
                      <a:cs typeface="Arial"/>
                    </a:rPr>
                    <a:t> </a:t>
                  </a:r>
                  <a:r>
                    <a:rPr kumimoji="0" sz="1200" b="1" i="0" u="none" strike="noStrike" kern="0" cap="none" spc="-5" normalizeH="0" baseline="0" noProof="0" dirty="0">
                      <a:ln>
                        <a:noFill/>
                      </a:ln>
                      <a:solidFill>
                        <a:srgbClr val="000000"/>
                      </a:solidFill>
                      <a:effectLst/>
                      <a:uLnTx/>
                      <a:uFillTx/>
                      <a:latin typeface="Arial"/>
                      <a:ea typeface="+mn-ea"/>
                      <a:cs typeface="Arial"/>
                    </a:rPr>
                    <a:t>of cells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60" name="object 35">
                  <a:extLst>
                    <a:ext uri="{FF2B5EF4-FFF2-40B4-BE49-F238E27FC236}">
                      <a16:creationId xmlns:a16="http://schemas.microsoft.com/office/drawing/2014/main" id="{EE1F4EC3-F732-921F-FE16-348959B0866F}"/>
                    </a:ext>
                  </a:extLst>
                </p:cNvPr>
                <p:cNvSpPr/>
                <p:nvPr/>
              </p:nvSpPr>
              <p:spPr>
                <a:xfrm>
                  <a:off x="5106856" y="3766484"/>
                  <a:ext cx="257810" cy="330835"/>
                </a:xfrm>
                <a:custGeom>
                  <a:avLst/>
                  <a:gdLst/>
                  <a:ahLst/>
                  <a:cxnLst/>
                  <a:rect l="l" t="t" r="r" b="b"/>
                  <a:pathLst>
                    <a:path w="257810" h="330835">
                      <a:moveTo>
                        <a:pt x="128778" y="0"/>
                      </a:moveTo>
                      <a:lnTo>
                        <a:pt x="128778" y="82676"/>
                      </a:lnTo>
                      <a:lnTo>
                        <a:pt x="0" y="82676"/>
                      </a:lnTo>
                      <a:lnTo>
                        <a:pt x="0" y="248031"/>
                      </a:lnTo>
                      <a:lnTo>
                        <a:pt x="128778" y="248031"/>
                      </a:lnTo>
                      <a:lnTo>
                        <a:pt x="128778" y="330707"/>
                      </a:lnTo>
                      <a:lnTo>
                        <a:pt x="257556" y="165354"/>
                      </a:lnTo>
                      <a:lnTo>
                        <a:pt x="128778"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grpSp>
            <p:nvGrpSpPr>
              <p:cNvPr id="24" name="Group 23">
                <a:extLst>
                  <a:ext uri="{FF2B5EF4-FFF2-40B4-BE49-F238E27FC236}">
                    <a16:creationId xmlns:a16="http://schemas.microsoft.com/office/drawing/2014/main" id="{2F372975-099F-54F4-EC45-B214880E77B0}"/>
                  </a:ext>
                </a:extLst>
              </p:cNvPr>
              <p:cNvGrpSpPr/>
              <p:nvPr/>
            </p:nvGrpSpPr>
            <p:grpSpPr>
              <a:xfrm>
                <a:off x="5106856" y="4888021"/>
                <a:ext cx="6709860" cy="504825"/>
                <a:chOff x="5106856" y="4888021"/>
                <a:chExt cx="6709860" cy="504825"/>
              </a:xfrm>
            </p:grpSpPr>
            <p:grpSp>
              <p:nvGrpSpPr>
                <p:cNvPr id="53" name="object 19">
                  <a:extLst>
                    <a:ext uri="{FF2B5EF4-FFF2-40B4-BE49-F238E27FC236}">
                      <a16:creationId xmlns:a16="http://schemas.microsoft.com/office/drawing/2014/main" id="{6691451D-EF3F-12E1-3455-4F958DDEB66C}"/>
                    </a:ext>
                  </a:extLst>
                </p:cNvPr>
                <p:cNvGrpSpPr/>
                <p:nvPr/>
              </p:nvGrpSpPr>
              <p:grpSpPr>
                <a:xfrm>
                  <a:off x="5783030" y="5000098"/>
                  <a:ext cx="956944" cy="280670"/>
                  <a:chOff x="4421123" y="5402579"/>
                  <a:chExt cx="956944" cy="280670"/>
                </a:xfrm>
              </p:grpSpPr>
              <p:sp>
                <p:nvSpPr>
                  <p:cNvPr id="63" name="object 20">
                    <a:extLst>
                      <a:ext uri="{FF2B5EF4-FFF2-40B4-BE49-F238E27FC236}">
                        <a16:creationId xmlns:a16="http://schemas.microsoft.com/office/drawing/2014/main" id="{4A2A92EE-39B5-FA9A-DE4F-8D11917EF141}"/>
                      </a:ext>
                    </a:extLst>
                  </p:cNvPr>
                  <p:cNvSpPr/>
                  <p:nvPr/>
                </p:nvSpPr>
                <p:spPr>
                  <a:xfrm>
                    <a:off x="4782311" y="5542787"/>
                    <a:ext cx="254635" cy="140335"/>
                  </a:xfrm>
                  <a:custGeom>
                    <a:avLst/>
                    <a:gdLst/>
                    <a:ahLst/>
                    <a:cxnLst/>
                    <a:rect l="l" t="t" r="r" b="b"/>
                    <a:pathLst>
                      <a:path w="254635" h="140335">
                        <a:moveTo>
                          <a:pt x="127253" y="0"/>
                        </a:moveTo>
                        <a:lnTo>
                          <a:pt x="0" y="140208"/>
                        </a:lnTo>
                        <a:lnTo>
                          <a:pt x="254508" y="140208"/>
                        </a:lnTo>
                        <a:lnTo>
                          <a:pt x="127253" y="0"/>
                        </a:lnTo>
                        <a:close/>
                      </a:path>
                    </a:pathLst>
                  </a:custGeom>
                  <a:solidFill>
                    <a:schemeClr val="tx2"/>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64" name="object 21">
                    <a:extLst>
                      <a:ext uri="{FF2B5EF4-FFF2-40B4-BE49-F238E27FC236}">
                        <a16:creationId xmlns:a16="http://schemas.microsoft.com/office/drawing/2014/main" id="{3D1F6F58-5596-7245-3166-5C08497EC544}"/>
                      </a:ext>
                    </a:extLst>
                  </p:cNvPr>
                  <p:cNvSpPr/>
                  <p:nvPr/>
                </p:nvSpPr>
                <p:spPr>
                  <a:xfrm>
                    <a:off x="4459223" y="5440679"/>
                    <a:ext cx="880744" cy="200025"/>
                  </a:xfrm>
                  <a:custGeom>
                    <a:avLst/>
                    <a:gdLst/>
                    <a:ahLst/>
                    <a:cxnLst/>
                    <a:rect l="l" t="t" r="r" b="b"/>
                    <a:pathLst>
                      <a:path w="880745" h="200025">
                        <a:moveTo>
                          <a:pt x="0" y="199809"/>
                        </a:moveTo>
                        <a:lnTo>
                          <a:pt x="880490" y="0"/>
                        </a:lnTo>
                      </a:path>
                    </a:pathLst>
                  </a:custGeom>
                  <a:ln w="76200">
                    <a:solidFill>
                      <a:schemeClr val="tx2"/>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58" name="object 32">
                  <a:extLst>
                    <a:ext uri="{FF2B5EF4-FFF2-40B4-BE49-F238E27FC236}">
                      <a16:creationId xmlns:a16="http://schemas.microsoft.com/office/drawing/2014/main" id="{C4D1AB6E-CDE7-4338-C584-39286308A1F3}"/>
                    </a:ext>
                  </a:extLst>
                </p:cNvPr>
                <p:cNvSpPr txBox="1"/>
                <p:nvPr/>
              </p:nvSpPr>
              <p:spPr>
                <a:xfrm>
                  <a:off x="5577362" y="4888021"/>
                  <a:ext cx="6239354" cy="504825"/>
                </a:xfrm>
                <a:prstGeom prst="rect">
                  <a:avLst/>
                </a:prstGeom>
                <a:ln w="19811">
                  <a:solidFill>
                    <a:schemeClr val="accent1"/>
                  </a:solidFill>
                </a:ln>
              </p:spPr>
              <p:txBody>
                <a:bodyPr vert="horz" wrap="square" lIns="0" tIns="5715" rIns="0" bIns="0" rtlCol="0">
                  <a:noAutofit/>
                </a:bodyPr>
                <a:lstStyle/>
                <a:p>
                  <a:pPr marL="0" marR="0" lvl="0" indent="0" algn="l" defTabSz="914400" rtl="0" eaLnBrk="1" fontAlgn="auto" latinLnBrk="0" hangingPunct="1">
                    <a:lnSpc>
                      <a:spcPct val="100000"/>
                    </a:lnSpc>
                    <a:spcBef>
                      <a:spcPts val="45"/>
                    </a:spcBef>
                    <a:spcAft>
                      <a:spcPts val="0"/>
                    </a:spcAft>
                    <a:buClrTx/>
                    <a:buSzTx/>
                    <a:buFontTx/>
                    <a:buNone/>
                    <a:tabLst/>
                    <a:defRPr/>
                  </a:pPr>
                  <a:endParaRPr kumimoji="0" sz="1150" b="0" i="0" u="none" strike="noStrike" kern="0" cap="none" spc="0" normalizeH="0" baseline="0" noProof="0" dirty="0">
                    <a:ln>
                      <a:noFill/>
                    </a:ln>
                    <a:solidFill>
                      <a:srgbClr val="000000"/>
                    </a:solidFill>
                    <a:effectLst/>
                    <a:uLnTx/>
                    <a:uFillTx/>
                    <a:latin typeface="Times New Roman"/>
                    <a:ea typeface="+mn-ea"/>
                    <a:cs typeface="Times New Roman"/>
                  </a:endParaRPr>
                </a:p>
                <a:p>
                  <a:pPr marL="1269365" marR="0" lvl="0" indent="0" algn="l" defTabSz="914400" rtl="0" eaLnBrk="1" fontAlgn="auto" latinLnBrk="0" hangingPunct="1">
                    <a:lnSpc>
                      <a:spcPct val="100000"/>
                    </a:lnSpc>
                    <a:spcBef>
                      <a:spcPts val="0"/>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Release</a:t>
                  </a:r>
                  <a:r>
                    <a:rPr kumimoji="0" sz="1000" b="1" i="0" u="none" strike="noStrike" kern="0" cap="none" spc="-2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of</a:t>
                  </a:r>
                  <a:r>
                    <a:rPr kumimoji="0" sz="1000" b="1" i="0" u="none" strike="noStrike" kern="0" cap="none" spc="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proteases/inactivation</a:t>
                  </a:r>
                  <a:r>
                    <a:rPr kumimoji="0" sz="1000" b="1" i="0" u="none" strike="noStrike" kern="0" cap="none" spc="-2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of</a:t>
                  </a:r>
                  <a:r>
                    <a:rPr kumimoji="0" sz="1000" b="1" i="0" u="none" strike="noStrike" kern="0" cap="none" spc="30" normalizeH="0" baseline="0" noProof="0" dirty="0">
                      <a:ln>
                        <a:noFill/>
                      </a:ln>
                      <a:solidFill>
                        <a:srgbClr val="000000"/>
                      </a:solidFill>
                      <a:effectLst/>
                      <a:uLnTx/>
                      <a:uFillTx/>
                      <a:latin typeface="Arial"/>
                      <a:ea typeface="+mn-ea"/>
                      <a:cs typeface="Arial"/>
                    </a:rPr>
                    <a:t> </a:t>
                  </a:r>
                  <a:r>
                    <a:rPr kumimoji="0" sz="1000" b="1" i="0" u="none" strike="noStrike" kern="0" cap="none" spc="-5" normalizeH="0" baseline="0" noProof="0" dirty="0">
                      <a:ln>
                        <a:noFill/>
                      </a:ln>
                      <a:solidFill>
                        <a:srgbClr val="000000"/>
                      </a:solidFill>
                      <a:effectLst/>
                      <a:uLnTx/>
                      <a:uFillTx/>
                      <a:latin typeface="Arial"/>
                      <a:ea typeface="+mn-ea"/>
                      <a:cs typeface="Arial"/>
                    </a:rPr>
                    <a:t>antiproteases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61" name="object 36">
                  <a:extLst>
                    <a:ext uri="{FF2B5EF4-FFF2-40B4-BE49-F238E27FC236}">
                      <a16:creationId xmlns:a16="http://schemas.microsoft.com/office/drawing/2014/main" id="{33316221-531D-9A5F-B0EC-321ABC11CF41}"/>
                    </a:ext>
                  </a:extLst>
                </p:cNvPr>
                <p:cNvSpPr/>
                <p:nvPr/>
              </p:nvSpPr>
              <p:spPr>
                <a:xfrm>
                  <a:off x="5106856" y="4975016"/>
                  <a:ext cx="257810" cy="330835"/>
                </a:xfrm>
                <a:custGeom>
                  <a:avLst/>
                  <a:gdLst/>
                  <a:ahLst/>
                  <a:cxnLst/>
                  <a:rect l="l" t="t" r="r" b="b"/>
                  <a:pathLst>
                    <a:path w="257810" h="330835">
                      <a:moveTo>
                        <a:pt x="128778" y="0"/>
                      </a:moveTo>
                      <a:lnTo>
                        <a:pt x="128778" y="82676"/>
                      </a:lnTo>
                      <a:lnTo>
                        <a:pt x="0" y="82676"/>
                      </a:lnTo>
                      <a:lnTo>
                        <a:pt x="0" y="248030"/>
                      </a:lnTo>
                      <a:lnTo>
                        <a:pt x="128778" y="248030"/>
                      </a:lnTo>
                      <a:lnTo>
                        <a:pt x="128778" y="330707"/>
                      </a:lnTo>
                      <a:lnTo>
                        <a:pt x="257556" y="165353"/>
                      </a:lnTo>
                      <a:lnTo>
                        <a:pt x="128778"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grpSp>
            <p:nvGrpSpPr>
              <p:cNvPr id="23" name="Group 22">
                <a:extLst>
                  <a:ext uri="{FF2B5EF4-FFF2-40B4-BE49-F238E27FC236}">
                    <a16:creationId xmlns:a16="http://schemas.microsoft.com/office/drawing/2014/main" id="{120495BF-5A4F-AB13-FE73-2B3AF7A354E3}"/>
                  </a:ext>
                </a:extLst>
              </p:cNvPr>
              <p:cNvGrpSpPr/>
              <p:nvPr/>
            </p:nvGrpSpPr>
            <p:grpSpPr>
              <a:xfrm>
                <a:off x="5106856" y="4281766"/>
                <a:ext cx="6709860" cy="504825"/>
                <a:chOff x="5106856" y="4282992"/>
                <a:chExt cx="6709860" cy="504825"/>
              </a:xfrm>
            </p:grpSpPr>
            <p:sp>
              <p:nvSpPr>
                <p:cNvPr id="55" name="object 29">
                  <a:extLst>
                    <a:ext uri="{FF2B5EF4-FFF2-40B4-BE49-F238E27FC236}">
                      <a16:creationId xmlns:a16="http://schemas.microsoft.com/office/drawing/2014/main" id="{6400F8C3-8A80-40F5-F5D6-B6434235CD97}"/>
                    </a:ext>
                  </a:extLst>
                </p:cNvPr>
                <p:cNvSpPr/>
                <p:nvPr/>
              </p:nvSpPr>
              <p:spPr>
                <a:xfrm>
                  <a:off x="5577362" y="4282992"/>
                  <a:ext cx="6239354" cy="504825"/>
                </a:xfrm>
                <a:custGeom>
                  <a:avLst/>
                  <a:gdLst/>
                  <a:ahLst/>
                  <a:cxnLst/>
                  <a:rect l="l" t="t" r="r" b="b"/>
                  <a:pathLst>
                    <a:path w="4628515" h="504825">
                      <a:moveTo>
                        <a:pt x="0" y="504444"/>
                      </a:moveTo>
                      <a:lnTo>
                        <a:pt x="4628388" y="504444"/>
                      </a:lnTo>
                      <a:lnTo>
                        <a:pt x="4628388" y="0"/>
                      </a:lnTo>
                      <a:lnTo>
                        <a:pt x="0" y="0"/>
                      </a:lnTo>
                      <a:lnTo>
                        <a:pt x="0" y="504444"/>
                      </a:lnTo>
                      <a:close/>
                    </a:path>
                  </a:pathLst>
                </a:custGeom>
                <a:solidFill>
                  <a:schemeClr val="accent1"/>
                </a:solidFill>
                <a:ln w="19812">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56" name="object 30">
                  <a:extLst>
                    <a:ext uri="{FF2B5EF4-FFF2-40B4-BE49-F238E27FC236}">
                      <a16:creationId xmlns:a16="http://schemas.microsoft.com/office/drawing/2014/main" id="{A94BA90C-2E56-BB37-CA1C-D3B8E8E0867F}"/>
                    </a:ext>
                  </a:extLst>
                </p:cNvPr>
                <p:cNvSpPr/>
                <p:nvPr/>
              </p:nvSpPr>
              <p:spPr>
                <a:xfrm>
                  <a:off x="5106856" y="4369987"/>
                  <a:ext cx="257810" cy="330835"/>
                </a:xfrm>
                <a:custGeom>
                  <a:avLst/>
                  <a:gdLst/>
                  <a:ahLst/>
                  <a:cxnLst/>
                  <a:rect l="l" t="t" r="r" b="b"/>
                  <a:pathLst>
                    <a:path w="257810" h="330835">
                      <a:moveTo>
                        <a:pt x="128778" y="0"/>
                      </a:moveTo>
                      <a:lnTo>
                        <a:pt x="128778" y="82677"/>
                      </a:lnTo>
                      <a:lnTo>
                        <a:pt x="0" y="82677"/>
                      </a:lnTo>
                      <a:lnTo>
                        <a:pt x="0" y="248031"/>
                      </a:lnTo>
                      <a:lnTo>
                        <a:pt x="128778" y="248031"/>
                      </a:lnTo>
                      <a:lnTo>
                        <a:pt x="128778" y="330708"/>
                      </a:lnTo>
                      <a:lnTo>
                        <a:pt x="257556" y="165354"/>
                      </a:lnTo>
                      <a:lnTo>
                        <a:pt x="128778" y="0"/>
                      </a:lnTo>
                      <a:close/>
                    </a:path>
                  </a:pathLst>
                </a:cu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57" name="object 31">
                  <a:extLst>
                    <a:ext uri="{FF2B5EF4-FFF2-40B4-BE49-F238E27FC236}">
                      <a16:creationId xmlns:a16="http://schemas.microsoft.com/office/drawing/2014/main" id="{826EC15D-0F60-E200-34B6-30339D2ADC1C}"/>
                    </a:ext>
                  </a:extLst>
                </p:cNvPr>
                <p:cNvPicPr/>
                <p:nvPr/>
              </p:nvPicPr>
              <p:blipFill>
                <a:blip r:embed="rId8" cstate="print"/>
                <a:stretch>
                  <a:fillRect/>
                </a:stretch>
              </p:blipFill>
              <p:spPr>
                <a:xfrm>
                  <a:off x="5701877" y="4312901"/>
                  <a:ext cx="1014984" cy="445007"/>
                </a:xfrm>
                <a:prstGeom prst="rect">
                  <a:avLst/>
                </a:prstGeom>
              </p:spPr>
            </p:pic>
            <p:sp>
              <p:nvSpPr>
                <p:cNvPr id="62" name="object 37">
                  <a:extLst>
                    <a:ext uri="{FF2B5EF4-FFF2-40B4-BE49-F238E27FC236}">
                      <a16:creationId xmlns:a16="http://schemas.microsoft.com/office/drawing/2014/main" id="{5C2C576D-FB2D-20AE-F1A5-48D062BFE1BD}"/>
                    </a:ext>
                  </a:extLst>
                </p:cNvPr>
                <p:cNvSpPr txBox="1"/>
                <p:nvPr/>
              </p:nvSpPr>
              <p:spPr>
                <a:xfrm>
                  <a:off x="6860808" y="4316578"/>
                  <a:ext cx="1803699" cy="446276"/>
                </a:xfrm>
                <a:prstGeom prst="rect">
                  <a:avLst/>
                </a:prstGeom>
                <a:ln>
                  <a:noFill/>
                </a:ln>
              </p:spPr>
              <p:txBody>
                <a:bodyPr vert="horz" wrap="none" lIns="0" tIns="0" rIns="0" bIns="0" rtlCol="0">
                  <a:spAutoFit/>
                </a:bodyPr>
                <a:lstStyle/>
                <a:p>
                  <a:pPr marL="182880" marR="0" lvl="0"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sz="1200" b="1" i="0" u="none" strike="noStrike" kern="0" cap="none" spc="-5" normalizeH="0" baseline="0" noProof="0" dirty="0">
                      <a:ln>
                        <a:noFill/>
                      </a:ln>
                      <a:solidFill>
                        <a:srgbClr val="FFFFFF"/>
                      </a:solidFill>
                      <a:effectLst/>
                      <a:uLnTx/>
                      <a:uFillTx/>
                      <a:latin typeface="Arial"/>
                      <a:ea typeface="+mn-ea"/>
                      <a:cs typeface="Arial"/>
                    </a:rPr>
                    <a:t>Increased</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air</a:t>
                  </a:r>
                  <a:r>
                    <a:rPr kumimoji="0" sz="1200" b="1" i="0" u="none" strike="noStrike" kern="0" cap="none" spc="-20"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space</a:t>
                  </a:r>
                  <a:endParaRPr kumimoji="0" sz="1200" b="0" i="0" u="none" strike="noStrike" kern="0" cap="none" spc="0" normalizeH="0" baseline="0" noProof="0" dirty="0">
                    <a:ln>
                      <a:noFill/>
                    </a:ln>
                    <a:solidFill>
                      <a:srgbClr val="F36633"/>
                    </a:solidFill>
                    <a:effectLst/>
                    <a:uLnTx/>
                    <a:uFillTx/>
                    <a:latin typeface="Arial"/>
                    <a:ea typeface="+mn-ea"/>
                    <a:cs typeface="Arial"/>
                  </a:endParaRPr>
                </a:p>
                <a:p>
                  <a:pPr marL="182880" marR="0" lvl="0" indent="-18288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sz="1200" b="1" i="0" u="none" strike="noStrike" kern="0" cap="none" spc="-5" normalizeH="0" baseline="0" noProof="0" dirty="0">
                      <a:ln>
                        <a:noFill/>
                      </a:ln>
                      <a:solidFill>
                        <a:srgbClr val="FFFFFF"/>
                      </a:solidFill>
                      <a:effectLst/>
                      <a:uLnTx/>
                      <a:uFillTx/>
                      <a:latin typeface="Arial"/>
                      <a:ea typeface="+mn-ea"/>
                      <a:cs typeface="Arial"/>
                    </a:rPr>
                    <a:t>Epithelial</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5" normalizeH="0" baseline="0" noProof="0" dirty="0">
                      <a:ln>
                        <a:noFill/>
                      </a:ln>
                      <a:solidFill>
                        <a:srgbClr val="FFFFFF"/>
                      </a:solidFill>
                      <a:effectLst/>
                      <a:uLnTx/>
                      <a:uFillTx/>
                      <a:latin typeface="Arial"/>
                      <a:ea typeface="+mn-ea"/>
                      <a:cs typeface="Arial"/>
                    </a:rPr>
                    <a:t>permeability</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grpSp>
        </p:grpSp>
      </p:gr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8730" y="5791321"/>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Nrf2, nuclear factor-E2-related factor.</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Domej W;International Journal of COPD;2014;9;1207-1224; 2. Asthma and COPD;Chapter 34;Barnes PJ;2009;2;425-442; 3.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 4. MacNee W;Clinical Respiratory Medicine;2012;4;531-552.</a:t>
            </a:r>
          </a:p>
        </p:txBody>
      </p:sp>
      <p:sp>
        <p:nvSpPr>
          <p:cNvPr id="4" name="Rectangle 3">
            <a:extLst>
              <a:ext uri="{FF2B5EF4-FFF2-40B4-BE49-F238E27FC236}">
                <a16:creationId xmlns:a16="http://schemas.microsoft.com/office/drawing/2014/main" id="{840DE3E8-B9D7-640E-76B3-4847355D64C1}"/>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0428478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57</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COPD Pathogenic Mechanisms:</a:t>
            </a:r>
            <a:endParaRPr lang="en-GB" dirty="0"/>
          </a:p>
        </p:txBody>
      </p:sp>
      <p:sp>
        <p:nvSpPr>
          <p:cNvPr id="6" name="Subtitle 5">
            <a:extLst>
              <a:ext uri="{FF2B5EF4-FFF2-40B4-BE49-F238E27FC236}">
                <a16:creationId xmlns:a16="http://schemas.microsoft.com/office/drawing/2014/main" id="{91D35A28-FF03-368F-18FA-AA60FBA56DF1}"/>
              </a:ext>
            </a:extLst>
          </p:cNvPr>
          <p:cNvSpPr>
            <a:spLocks noGrp="1"/>
          </p:cNvSpPr>
          <p:nvPr>
            <p:ph type="subTitle" idx="1"/>
          </p:nvPr>
        </p:nvSpPr>
        <p:spPr/>
        <p:txBody>
          <a:bodyPr/>
          <a:lstStyle/>
          <a:p>
            <a:r>
              <a:rPr lang="en-US" i="1" dirty="0"/>
              <a:t>Protease and antiprotease imbalance</a:t>
            </a:r>
            <a:r>
              <a:rPr lang="en-US" i="1" baseline="30000" dirty="0"/>
              <a:t>1,2</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7090" y="5791710"/>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*Dysnpoea is a cardinal symptom of COPD, otherwise known as breathlessness.</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 2. Asthma and COPD;Chapter 34;Barnes PJ;2009;2;425-442.</a:t>
            </a:r>
          </a:p>
        </p:txBody>
      </p:sp>
      <p:sp>
        <p:nvSpPr>
          <p:cNvPr id="91" name="Content Placeholder 3">
            <a:extLst>
              <a:ext uri="{FF2B5EF4-FFF2-40B4-BE49-F238E27FC236}">
                <a16:creationId xmlns:a16="http://schemas.microsoft.com/office/drawing/2014/main" id="{A6980929-7B2B-09A6-BAE4-D1F5024D4B46}"/>
              </a:ext>
            </a:extLst>
          </p:cNvPr>
          <p:cNvSpPr txBox="1">
            <a:spLocks/>
          </p:cNvSpPr>
          <p:nvPr/>
        </p:nvSpPr>
        <p:spPr>
          <a:xfrm>
            <a:off x="352801" y="1083163"/>
            <a:ext cx="11424000" cy="246221"/>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An imbalance in protease and antiprotease enzymes is thought to contribute to COPD pathology</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p:txBody>
      </p:sp>
      <p:grpSp>
        <p:nvGrpSpPr>
          <p:cNvPr id="26" name="Group 25">
            <a:extLst>
              <a:ext uri="{FF2B5EF4-FFF2-40B4-BE49-F238E27FC236}">
                <a16:creationId xmlns:a16="http://schemas.microsoft.com/office/drawing/2014/main" id="{B9D1BD57-888F-F882-BE69-964A05CCBD7E}"/>
              </a:ext>
            </a:extLst>
          </p:cNvPr>
          <p:cNvGrpSpPr/>
          <p:nvPr/>
        </p:nvGrpSpPr>
        <p:grpSpPr>
          <a:xfrm>
            <a:off x="365125" y="1408979"/>
            <a:ext cx="11454530" cy="4034062"/>
            <a:chOff x="365125" y="1408979"/>
            <a:chExt cx="11454530" cy="4034062"/>
          </a:xfrm>
        </p:grpSpPr>
        <p:sp>
          <p:nvSpPr>
            <p:cNvPr id="93" name="object 38">
              <a:extLst>
                <a:ext uri="{FF2B5EF4-FFF2-40B4-BE49-F238E27FC236}">
                  <a16:creationId xmlns:a16="http://schemas.microsoft.com/office/drawing/2014/main" id="{99900D31-AD9D-DE92-D904-283A8CA8AD7C}"/>
                </a:ext>
              </a:extLst>
            </p:cNvPr>
            <p:cNvSpPr/>
            <p:nvPr/>
          </p:nvSpPr>
          <p:spPr>
            <a:xfrm>
              <a:off x="4452916" y="2181696"/>
              <a:ext cx="555666" cy="582618"/>
            </a:xfrm>
            <a:prstGeom prst="rightArrow">
              <a:avLst/>
            </a:pr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94" name="Group 93">
              <a:extLst>
                <a:ext uri="{FF2B5EF4-FFF2-40B4-BE49-F238E27FC236}">
                  <a16:creationId xmlns:a16="http://schemas.microsoft.com/office/drawing/2014/main" id="{78F5AA6F-8410-F9DA-6A14-BDECE768F55C}"/>
                </a:ext>
              </a:extLst>
            </p:cNvPr>
            <p:cNvGrpSpPr/>
            <p:nvPr/>
          </p:nvGrpSpPr>
          <p:grpSpPr>
            <a:xfrm>
              <a:off x="365125" y="1408979"/>
              <a:ext cx="3927475" cy="2128052"/>
              <a:chOff x="366430" y="2044445"/>
              <a:chExt cx="3927475" cy="2128052"/>
            </a:xfrm>
          </p:grpSpPr>
          <p:sp>
            <p:nvSpPr>
              <p:cNvPr id="134" name="object 41">
                <a:extLst>
                  <a:ext uri="{FF2B5EF4-FFF2-40B4-BE49-F238E27FC236}">
                    <a16:creationId xmlns:a16="http://schemas.microsoft.com/office/drawing/2014/main" id="{6286A7E6-13C6-36FF-CE32-A3234F5EDA66}"/>
                  </a:ext>
                </a:extLst>
              </p:cNvPr>
              <p:cNvSpPr/>
              <p:nvPr/>
            </p:nvSpPr>
            <p:spPr>
              <a:xfrm>
                <a:off x="1853227" y="2539708"/>
                <a:ext cx="241163" cy="234000"/>
              </a:xfrm>
              <a:custGeom>
                <a:avLst/>
                <a:gdLst/>
                <a:ahLst/>
                <a:cxnLst/>
                <a:rect l="l" t="t" r="r" b="b"/>
                <a:pathLst>
                  <a:path w="256540" h="248919">
                    <a:moveTo>
                      <a:pt x="256514" y="85090"/>
                    </a:moveTo>
                    <a:lnTo>
                      <a:pt x="167995" y="85090"/>
                    </a:lnTo>
                    <a:lnTo>
                      <a:pt x="167995" y="0"/>
                    </a:lnTo>
                    <a:lnTo>
                      <a:pt x="88493" y="0"/>
                    </a:lnTo>
                    <a:lnTo>
                      <a:pt x="88493" y="85090"/>
                    </a:lnTo>
                    <a:lnTo>
                      <a:pt x="0" y="85090"/>
                    </a:lnTo>
                    <a:lnTo>
                      <a:pt x="0" y="163830"/>
                    </a:lnTo>
                    <a:lnTo>
                      <a:pt x="88493" y="163830"/>
                    </a:lnTo>
                    <a:lnTo>
                      <a:pt x="88493" y="248920"/>
                    </a:lnTo>
                    <a:lnTo>
                      <a:pt x="167995" y="248920"/>
                    </a:lnTo>
                    <a:lnTo>
                      <a:pt x="167995" y="163830"/>
                    </a:lnTo>
                    <a:lnTo>
                      <a:pt x="256514" y="163830"/>
                    </a:lnTo>
                    <a:lnTo>
                      <a:pt x="256514" y="8509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35" name="Group 134">
                <a:extLst>
                  <a:ext uri="{FF2B5EF4-FFF2-40B4-BE49-F238E27FC236}">
                    <a16:creationId xmlns:a16="http://schemas.microsoft.com/office/drawing/2014/main" id="{A3F8555F-9EC0-BBCB-6FAA-551271032C70}"/>
                  </a:ext>
                </a:extLst>
              </p:cNvPr>
              <p:cNvGrpSpPr/>
              <p:nvPr/>
            </p:nvGrpSpPr>
            <p:grpSpPr>
              <a:xfrm>
                <a:off x="2186926" y="2146175"/>
                <a:ext cx="1967775" cy="1021067"/>
                <a:chOff x="1653527" y="2174747"/>
                <a:chExt cx="1615440" cy="838242"/>
              </a:xfrm>
            </p:grpSpPr>
            <p:sp>
              <p:nvSpPr>
                <p:cNvPr id="143" name="object 42">
                  <a:extLst>
                    <a:ext uri="{FF2B5EF4-FFF2-40B4-BE49-F238E27FC236}">
                      <a16:creationId xmlns:a16="http://schemas.microsoft.com/office/drawing/2014/main" id="{35749A80-8608-446C-F173-174BBC7B877F}"/>
                    </a:ext>
                  </a:extLst>
                </p:cNvPr>
                <p:cNvSpPr txBox="1"/>
                <p:nvPr/>
              </p:nvSpPr>
              <p:spPr>
                <a:xfrm>
                  <a:off x="1836420" y="2174747"/>
                  <a:ext cx="1260260" cy="300270"/>
                </a:xfrm>
                <a:prstGeom prst="rect">
                  <a:avLst/>
                </a:prstGeom>
                <a:solidFill>
                  <a:schemeClr val="accent1"/>
                </a:solidFill>
                <a:ln w="9144">
                  <a:noFill/>
                </a:ln>
              </p:spPr>
              <p:txBody>
                <a:bodyPr vert="horz" wrap="square" lIns="0" tIns="0" rIns="0" bIns="0" rtlCol="0" anchor="ctr">
                  <a:noAutofit/>
                </a:bodyPr>
                <a:lstStyle/>
                <a:p>
                  <a:pPr marL="0" marR="66040" lvl="0" indent="0" algn="ctr" defTabSz="914400" rtl="0" eaLnBrk="1" fontAlgn="auto" latinLnBrk="0" hangingPunct="1">
                    <a:lnSpc>
                      <a:spcPct val="100000"/>
                    </a:lnSpc>
                    <a:spcBef>
                      <a:spcPts val="305"/>
                    </a:spcBef>
                    <a:spcAft>
                      <a:spcPts val="0"/>
                    </a:spcAft>
                    <a:buClrTx/>
                    <a:buSzTx/>
                    <a:buFontTx/>
                    <a:buNone/>
                    <a:tabLst/>
                    <a:defRPr/>
                  </a:pPr>
                  <a:r>
                    <a:rPr kumimoji="0" lang="en-US" sz="1000" b="1" i="0" u="none" strike="noStrike" kern="0" cap="none" spc="-5"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Activated inflammatory</a:t>
                  </a:r>
                  <a:r>
                    <a:rPr kumimoji="0" sz="1000" b="1" i="0" u="none" strike="noStrike" kern="0" cap="none" spc="-55"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cells</a:t>
                  </a:r>
                  <a:endParaRPr kumimoji="0" sz="1000" b="0" i="0" u="none" strike="noStrike" kern="0" cap="none" spc="0" normalizeH="0" baseline="0" noProof="0" dirty="0">
                    <a:ln>
                      <a:noFill/>
                    </a:ln>
                    <a:solidFill>
                      <a:srgbClr val="F36633"/>
                    </a:solidFill>
                    <a:effectLst/>
                    <a:uLnTx/>
                    <a:uFillTx/>
                    <a:latin typeface="Arial"/>
                    <a:ea typeface="+mn-ea"/>
                    <a:cs typeface="Arial"/>
                  </a:endParaRPr>
                </a:p>
              </p:txBody>
            </p:sp>
            <p:sp>
              <p:nvSpPr>
                <p:cNvPr id="144" name="object 43">
                  <a:extLst>
                    <a:ext uri="{FF2B5EF4-FFF2-40B4-BE49-F238E27FC236}">
                      <a16:creationId xmlns:a16="http://schemas.microsoft.com/office/drawing/2014/main" id="{6C9D6F39-C32E-FEDE-1CB4-E3B863F034FD}"/>
                    </a:ext>
                  </a:extLst>
                </p:cNvPr>
                <p:cNvSpPr txBox="1"/>
                <p:nvPr/>
              </p:nvSpPr>
              <p:spPr>
                <a:xfrm>
                  <a:off x="1836420" y="2712719"/>
                  <a:ext cx="1260260" cy="300270"/>
                </a:xfrm>
                <a:prstGeom prst="rect">
                  <a:avLst/>
                </a:prstGeom>
                <a:solidFill>
                  <a:schemeClr val="accent1"/>
                </a:solidFill>
                <a:ln>
                  <a:noFill/>
                </a:ln>
              </p:spPr>
              <p:txBody>
                <a:bodyPr vert="horz" wrap="square" lIns="0" tIns="0" rIns="0" bIns="0" rtlCol="0" anchor="ctr">
                  <a:noAutofit/>
                </a:bodyPr>
                <a:lstStyle/>
                <a:p>
                  <a:pPr marL="0" marR="0" lvl="0" indent="0" algn="ctr" defTabSz="914400" rtl="0" eaLnBrk="1" fontAlgn="auto" latinLnBrk="0" hangingPunct="1">
                    <a:lnSpc>
                      <a:spcPct val="100000"/>
                    </a:lnSpc>
                    <a:spcBef>
                      <a:spcPts val="905"/>
                    </a:spcBef>
                    <a:spcAft>
                      <a:spcPts val="0"/>
                    </a:spcAft>
                    <a:buClrTx/>
                    <a:buSzTx/>
                    <a:buFontTx/>
                    <a:buNone/>
                    <a:tabLst/>
                    <a:defRPr/>
                  </a:pPr>
                  <a:r>
                    <a:rPr kumimoji="0" sz="1000" b="1" i="0" u="none" strike="noStrike" kern="0" cap="none" spc="-5" normalizeH="0" baseline="0" noProof="0" dirty="0">
                      <a:ln>
                        <a:noFill/>
                      </a:ln>
                      <a:solidFill>
                        <a:srgbClr val="FFFFFF"/>
                      </a:solidFill>
                      <a:effectLst/>
                      <a:uLnTx/>
                      <a:uFillTx/>
                      <a:latin typeface="Arial"/>
                      <a:ea typeface="+mn-ea"/>
                      <a:cs typeface="Arial"/>
                    </a:rPr>
                    <a:t>Cellular</a:t>
                  </a:r>
                  <a:r>
                    <a:rPr kumimoji="0" sz="1000" b="1" i="0" u="none" strike="noStrike" kern="0" cap="none" spc="-20" normalizeH="0" baseline="0" noProof="0" dirty="0">
                      <a:ln>
                        <a:noFill/>
                      </a:ln>
                      <a:solidFill>
                        <a:srgbClr val="FFFFFF"/>
                      </a:solidFill>
                      <a:effectLst/>
                      <a:uLnTx/>
                      <a:uFillTx/>
                      <a:latin typeface="Arial"/>
                      <a:ea typeface="+mn-ea"/>
                      <a:cs typeface="Arial"/>
                    </a:rPr>
                    <a:t> </a:t>
                  </a:r>
                  <a:r>
                    <a:rPr kumimoji="0" sz="1000" b="1" i="0" u="none" strike="noStrike" kern="0" cap="none" spc="-5" normalizeH="0" baseline="0" noProof="0" dirty="0">
                      <a:ln>
                        <a:noFill/>
                      </a:ln>
                      <a:solidFill>
                        <a:srgbClr val="FFFFFF"/>
                      </a:solidFill>
                      <a:effectLst/>
                      <a:uLnTx/>
                      <a:uFillTx/>
                      <a:latin typeface="Arial"/>
                      <a:ea typeface="+mn-ea"/>
                      <a:cs typeface="Arial"/>
                    </a:rPr>
                    <a:t>oxidants</a:t>
                  </a:r>
                  <a:endParaRPr kumimoji="0" sz="1000" b="0" i="0" u="none" strike="noStrike" kern="0" cap="none" spc="0" normalizeH="0" baseline="0" noProof="0" dirty="0">
                    <a:ln>
                      <a:noFill/>
                    </a:ln>
                    <a:solidFill>
                      <a:srgbClr val="F36633"/>
                    </a:solidFill>
                    <a:effectLst/>
                    <a:uLnTx/>
                    <a:uFillTx/>
                    <a:latin typeface="Arial"/>
                    <a:ea typeface="+mn-ea"/>
                    <a:cs typeface="Arial"/>
                  </a:endParaRPr>
                </a:p>
              </p:txBody>
            </p:sp>
            <p:sp>
              <p:nvSpPr>
                <p:cNvPr id="145" name="object 44">
                  <a:extLst>
                    <a:ext uri="{FF2B5EF4-FFF2-40B4-BE49-F238E27FC236}">
                      <a16:creationId xmlns:a16="http://schemas.microsoft.com/office/drawing/2014/main" id="{3DADEBE6-543F-1C20-6CAE-F26C1850A720}"/>
                    </a:ext>
                  </a:extLst>
                </p:cNvPr>
                <p:cNvSpPr/>
                <p:nvPr/>
              </p:nvSpPr>
              <p:spPr>
                <a:xfrm>
                  <a:off x="1653527" y="2348483"/>
                  <a:ext cx="1615440" cy="546100"/>
                </a:xfrm>
                <a:custGeom>
                  <a:avLst/>
                  <a:gdLst/>
                  <a:ahLst/>
                  <a:cxnLst/>
                  <a:rect l="l" t="t" r="r" b="b"/>
                  <a:pathLst>
                    <a:path w="1615439" h="546100">
                      <a:moveTo>
                        <a:pt x="147967" y="19812"/>
                      </a:moveTo>
                      <a:lnTo>
                        <a:pt x="22237" y="42926"/>
                      </a:lnTo>
                      <a:lnTo>
                        <a:pt x="46215" y="74803"/>
                      </a:lnTo>
                      <a:lnTo>
                        <a:pt x="41287" y="79375"/>
                      </a:lnTo>
                      <a:lnTo>
                        <a:pt x="21221" y="125730"/>
                      </a:lnTo>
                      <a:lnTo>
                        <a:pt x="9664" y="170815"/>
                      </a:lnTo>
                      <a:lnTo>
                        <a:pt x="2552" y="220218"/>
                      </a:lnTo>
                      <a:lnTo>
                        <a:pt x="0" y="273177"/>
                      </a:lnTo>
                      <a:lnTo>
                        <a:pt x="647" y="300101"/>
                      </a:lnTo>
                      <a:lnTo>
                        <a:pt x="5588" y="351536"/>
                      </a:lnTo>
                      <a:lnTo>
                        <a:pt x="15252" y="399034"/>
                      </a:lnTo>
                      <a:lnTo>
                        <a:pt x="28841" y="441706"/>
                      </a:lnTo>
                      <a:lnTo>
                        <a:pt x="46494" y="478790"/>
                      </a:lnTo>
                      <a:lnTo>
                        <a:pt x="78498" y="519938"/>
                      </a:lnTo>
                      <a:lnTo>
                        <a:pt x="80530" y="521716"/>
                      </a:lnTo>
                      <a:lnTo>
                        <a:pt x="93230" y="531368"/>
                      </a:lnTo>
                      <a:lnTo>
                        <a:pt x="131584" y="545338"/>
                      </a:lnTo>
                      <a:lnTo>
                        <a:pt x="137807" y="545592"/>
                      </a:lnTo>
                      <a:lnTo>
                        <a:pt x="139585" y="507492"/>
                      </a:lnTo>
                      <a:lnTo>
                        <a:pt x="133362" y="507238"/>
                      </a:lnTo>
                      <a:lnTo>
                        <a:pt x="129806" y="506476"/>
                      </a:lnTo>
                      <a:lnTo>
                        <a:pt x="106159" y="493395"/>
                      </a:lnTo>
                      <a:lnTo>
                        <a:pt x="104533" y="492112"/>
                      </a:lnTo>
                      <a:lnTo>
                        <a:pt x="103936" y="491490"/>
                      </a:lnTo>
                      <a:lnTo>
                        <a:pt x="95389" y="482727"/>
                      </a:lnTo>
                      <a:lnTo>
                        <a:pt x="86880" y="471551"/>
                      </a:lnTo>
                      <a:lnTo>
                        <a:pt x="63893" y="426720"/>
                      </a:lnTo>
                      <a:lnTo>
                        <a:pt x="51828" y="388493"/>
                      </a:lnTo>
                      <a:lnTo>
                        <a:pt x="43192" y="344932"/>
                      </a:lnTo>
                      <a:lnTo>
                        <a:pt x="38620" y="297307"/>
                      </a:lnTo>
                      <a:lnTo>
                        <a:pt x="38112" y="272415"/>
                      </a:lnTo>
                      <a:lnTo>
                        <a:pt x="38620" y="247269"/>
                      </a:lnTo>
                      <a:lnTo>
                        <a:pt x="43446" y="199644"/>
                      </a:lnTo>
                      <a:lnTo>
                        <a:pt x="52082" y="156083"/>
                      </a:lnTo>
                      <a:lnTo>
                        <a:pt x="64401" y="117729"/>
                      </a:lnTo>
                      <a:lnTo>
                        <a:pt x="69519" y="105778"/>
                      </a:lnTo>
                      <a:lnTo>
                        <a:pt x="90944" y="134239"/>
                      </a:lnTo>
                      <a:lnTo>
                        <a:pt x="126441" y="62992"/>
                      </a:lnTo>
                      <a:lnTo>
                        <a:pt x="147967" y="19812"/>
                      </a:lnTo>
                      <a:close/>
                    </a:path>
                    <a:path w="1615439" h="546100">
                      <a:moveTo>
                        <a:pt x="1615440" y="272415"/>
                      </a:moveTo>
                      <a:lnTo>
                        <a:pt x="1612912" y="219329"/>
                      </a:lnTo>
                      <a:lnTo>
                        <a:pt x="1605673" y="169926"/>
                      </a:lnTo>
                      <a:lnTo>
                        <a:pt x="1594116" y="124714"/>
                      </a:lnTo>
                      <a:lnTo>
                        <a:pt x="1578495" y="84582"/>
                      </a:lnTo>
                      <a:lnTo>
                        <a:pt x="1561160" y="53975"/>
                      </a:lnTo>
                      <a:lnTo>
                        <a:pt x="1560029" y="52197"/>
                      </a:lnTo>
                      <a:lnTo>
                        <a:pt x="1559064" y="50673"/>
                      </a:lnTo>
                      <a:lnTo>
                        <a:pt x="1547888" y="36449"/>
                      </a:lnTo>
                      <a:lnTo>
                        <a:pt x="1537474" y="25781"/>
                      </a:lnTo>
                      <a:lnTo>
                        <a:pt x="1536839" y="25019"/>
                      </a:lnTo>
                      <a:lnTo>
                        <a:pt x="1500644" y="3683"/>
                      </a:lnTo>
                      <a:lnTo>
                        <a:pt x="1478419" y="0"/>
                      </a:lnTo>
                      <a:lnTo>
                        <a:pt x="1476641" y="38100"/>
                      </a:lnTo>
                      <a:lnTo>
                        <a:pt x="1482737" y="38354"/>
                      </a:lnTo>
                      <a:lnTo>
                        <a:pt x="1486547" y="39116"/>
                      </a:lnTo>
                      <a:lnTo>
                        <a:pt x="1520456" y="62992"/>
                      </a:lnTo>
                      <a:lnTo>
                        <a:pt x="1544713" y="102108"/>
                      </a:lnTo>
                      <a:lnTo>
                        <a:pt x="1563763" y="157099"/>
                      </a:lnTo>
                      <a:lnTo>
                        <a:pt x="1572272" y="200533"/>
                      </a:lnTo>
                      <a:lnTo>
                        <a:pt x="1576844" y="248158"/>
                      </a:lnTo>
                      <a:lnTo>
                        <a:pt x="1577352" y="273177"/>
                      </a:lnTo>
                      <a:lnTo>
                        <a:pt x="1576844" y="298323"/>
                      </a:lnTo>
                      <a:lnTo>
                        <a:pt x="1572145" y="345948"/>
                      </a:lnTo>
                      <a:lnTo>
                        <a:pt x="1563509" y="389636"/>
                      </a:lnTo>
                      <a:lnTo>
                        <a:pt x="1551317" y="427990"/>
                      </a:lnTo>
                      <a:lnTo>
                        <a:pt x="1546364" y="439521"/>
                      </a:lnTo>
                      <a:lnTo>
                        <a:pt x="1524774" y="411099"/>
                      </a:lnTo>
                      <a:lnTo>
                        <a:pt x="1468386" y="525780"/>
                      </a:lnTo>
                      <a:lnTo>
                        <a:pt x="1593989" y="502158"/>
                      </a:lnTo>
                      <a:lnTo>
                        <a:pt x="1578825" y="482219"/>
                      </a:lnTo>
                      <a:lnTo>
                        <a:pt x="1569897" y="470484"/>
                      </a:lnTo>
                      <a:lnTo>
                        <a:pt x="1574431" y="466344"/>
                      </a:lnTo>
                      <a:lnTo>
                        <a:pt x="1576463" y="464439"/>
                      </a:lnTo>
                      <a:lnTo>
                        <a:pt x="1578114" y="462153"/>
                      </a:lnTo>
                      <a:lnTo>
                        <a:pt x="1579130" y="459613"/>
                      </a:lnTo>
                      <a:lnTo>
                        <a:pt x="1587271" y="440512"/>
                      </a:lnTo>
                      <a:lnTo>
                        <a:pt x="1588084" y="438150"/>
                      </a:lnTo>
                      <a:lnTo>
                        <a:pt x="1594370" y="419989"/>
                      </a:lnTo>
                      <a:lnTo>
                        <a:pt x="1600720" y="397891"/>
                      </a:lnTo>
                      <a:lnTo>
                        <a:pt x="1605800" y="374777"/>
                      </a:lnTo>
                      <a:lnTo>
                        <a:pt x="1609991" y="350520"/>
                      </a:lnTo>
                      <a:lnTo>
                        <a:pt x="1613027" y="325247"/>
                      </a:lnTo>
                      <a:lnTo>
                        <a:pt x="1614817" y="299085"/>
                      </a:lnTo>
                      <a:lnTo>
                        <a:pt x="1615440" y="272415"/>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36" name="object 45">
                <a:extLst>
                  <a:ext uri="{FF2B5EF4-FFF2-40B4-BE49-F238E27FC236}">
                    <a16:creationId xmlns:a16="http://schemas.microsoft.com/office/drawing/2014/main" id="{814248F6-DFC7-BF50-235E-9DD793EABE50}"/>
                  </a:ext>
                </a:extLst>
              </p:cNvPr>
              <p:cNvSpPr txBox="1"/>
              <p:nvPr/>
            </p:nvSpPr>
            <p:spPr>
              <a:xfrm>
                <a:off x="366430" y="3249167"/>
                <a:ext cx="3927475" cy="923330"/>
              </a:xfrm>
              <a:prstGeom prst="rect">
                <a:avLst/>
              </a:prstGeom>
              <a:solidFill>
                <a:srgbClr val="F36633"/>
              </a:solidFill>
            </p:spPr>
            <p:txBody>
              <a:bodyPr vert="horz" wrap="square" lIns="91440" tIns="91440" rIns="0" bIns="91440" rtlCol="0">
                <a:spAutoFit/>
              </a:bodyPr>
              <a:lstStyle/>
              <a:p>
                <a:pPr marL="299085" marR="73660" lvl="0" indent="-228600" algn="l" defTabSz="914400" rtl="0" eaLnBrk="1" fontAlgn="auto" latinLnBrk="0" hangingPunct="1">
                  <a:lnSpc>
                    <a:spcPct val="100000"/>
                  </a:lnSpc>
                  <a:spcBef>
                    <a:spcPts val="900"/>
                  </a:spcBef>
                  <a:spcAft>
                    <a:spcPts val="0"/>
                  </a:spcAft>
                  <a:buClrTx/>
                  <a:buSzTx/>
                  <a:buFont typeface="+mj-lt"/>
                  <a:buAutoNum type="arabicPeriod"/>
                  <a:tabLst/>
                  <a:defRPr/>
                </a:pPr>
                <a:r>
                  <a:rPr kumimoji="0" sz="1200" b="1" i="0" u="none" strike="noStrike" kern="0" cap="none" spc="0" normalizeH="0" baseline="0" noProof="0" dirty="0">
                    <a:ln>
                      <a:noFill/>
                    </a:ln>
                    <a:solidFill>
                      <a:srgbClr val="FFFFFF"/>
                    </a:solidFill>
                    <a:effectLst/>
                    <a:uLnTx/>
                    <a:uFillTx/>
                    <a:latin typeface="Arial"/>
                    <a:ea typeface="+mn-ea"/>
                    <a:cs typeface="Arial"/>
                  </a:rPr>
                  <a:t>Cigarette</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smoke</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inflammation</a:t>
                </a:r>
                <a:r>
                  <a:rPr kumimoji="0" sz="1200" b="1" i="0" u="none" strike="noStrike" kern="0" cap="none" spc="-5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lead</a:t>
                </a:r>
                <a:r>
                  <a:rPr kumimoji="0" lang="en-US" sz="1200" b="1" i="0" u="none" strike="noStrike" kern="0" cap="none" spc="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to </a:t>
                </a:r>
                <a:r>
                  <a:rPr kumimoji="0" sz="1200" b="1" i="0" u="none" strike="noStrike" kern="0" cap="none" spc="-5" normalizeH="0" baseline="0" noProof="0" dirty="0">
                    <a:ln>
                      <a:noFill/>
                    </a:ln>
                    <a:solidFill>
                      <a:srgbClr val="FFFFFF"/>
                    </a:solidFill>
                    <a:effectLst/>
                    <a:uLnTx/>
                    <a:uFillTx/>
                    <a:latin typeface="Arial"/>
                    <a:ea typeface="+mn-ea"/>
                    <a:cs typeface="Arial"/>
                  </a:rPr>
                  <a:t>oxidative </a:t>
                </a:r>
                <a:r>
                  <a:rPr kumimoji="0" sz="1200" b="1" i="0" u="none" strike="noStrike" kern="0" cap="none" spc="0" normalizeH="0" baseline="0" noProof="0" dirty="0">
                    <a:ln>
                      <a:noFill/>
                    </a:ln>
                    <a:solidFill>
                      <a:srgbClr val="FFFFFF"/>
                    </a:solidFill>
                    <a:effectLst/>
                    <a:uLnTx/>
                    <a:uFillTx/>
                    <a:latin typeface="Arial"/>
                    <a:ea typeface="+mn-ea"/>
                    <a:cs typeface="Arial"/>
                  </a:rPr>
                  <a:t>stress, </a:t>
                </a:r>
                <a:r>
                  <a:rPr kumimoji="0" sz="1200" b="1" i="0" u="none" strike="noStrike" kern="0" cap="none" spc="5" normalizeH="0" baseline="0" noProof="0" dirty="0">
                    <a:ln>
                      <a:noFill/>
                    </a:ln>
                    <a:solidFill>
                      <a:srgbClr val="FFFFFF"/>
                    </a:solidFill>
                    <a:effectLst/>
                    <a:uLnTx/>
                    <a:uFillTx/>
                    <a:latin typeface="Arial"/>
                    <a:ea typeface="+mn-ea"/>
                    <a:cs typeface="Arial"/>
                  </a:rPr>
                  <a:t>which </a:t>
                </a:r>
                <a:r>
                  <a:rPr kumimoji="0" sz="1200" b="1" i="0" u="none" strike="noStrike" kern="0" cap="none" spc="0" normalizeH="0" baseline="0" noProof="0" dirty="0">
                    <a:ln>
                      <a:noFill/>
                    </a:ln>
                    <a:solidFill>
                      <a:srgbClr val="FFFFFF"/>
                    </a:solidFill>
                    <a:effectLst/>
                    <a:uLnTx/>
                    <a:uFillTx/>
                    <a:latin typeface="Arial"/>
                    <a:ea typeface="+mn-ea"/>
                    <a:cs typeface="Arial"/>
                  </a:rPr>
                  <a:t>causes</a:t>
                </a:r>
                <a:r>
                  <a:rPr kumimoji="0" lang="en-US" sz="1200" b="1" i="0" u="none" strike="noStrike" kern="0" cap="none" spc="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inflammatory</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cells</a:t>
                </a:r>
                <a:r>
                  <a:rPr kumimoji="0" sz="1200" b="1" i="0" u="none" strike="noStrike" kern="0" cap="none" spc="6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to</a:t>
                </a:r>
                <a:r>
                  <a:rPr kumimoji="0" sz="1200" b="1" i="0" u="none" strike="noStrike" kern="0" cap="none" spc="8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release</a:t>
                </a:r>
                <a:r>
                  <a:rPr kumimoji="0" lang="en-US" sz="1200" b="1" i="0" u="none" strike="noStrike" kern="0" cap="none" spc="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proteases</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inactivate</a:t>
                </a:r>
                <a:r>
                  <a:rPr kumimoji="0" sz="1200" b="1" i="0" u="none" strike="noStrike" kern="0" cap="none" spc="-4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antiproteases</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sp>
            <p:nvSpPr>
              <p:cNvPr id="137" name="object 46">
                <a:extLst>
                  <a:ext uri="{FF2B5EF4-FFF2-40B4-BE49-F238E27FC236}">
                    <a16:creationId xmlns:a16="http://schemas.microsoft.com/office/drawing/2014/main" id="{8D58F0D1-2156-D12D-F428-FE84E487B923}"/>
                  </a:ext>
                </a:extLst>
              </p:cNvPr>
              <p:cNvSpPr/>
              <p:nvPr/>
            </p:nvSpPr>
            <p:spPr>
              <a:xfrm>
                <a:off x="374141" y="2044445"/>
                <a:ext cx="3919764" cy="2128051"/>
              </a:xfrm>
              <a:custGeom>
                <a:avLst/>
                <a:gdLst/>
                <a:ahLst/>
                <a:cxnLst/>
                <a:rect l="l" t="t" r="r" b="b"/>
                <a:pathLst>
                  <a:path w="2929254" h="1214754">
                    <a:moveTo>
                      <a:pt x="0" y="1214627"/>
                    </a:moveTo>
                    <a:lnTo>
                      <a:pt x="2929127" y="1214627"/>
                    </a:lnTo>
                    <a:lnTo>
                      <a:pt x="2929127" y="0"/>
                    </a:lnTo>
                    <a:lnTo>
                      <a:pt x="0" y="0"/>
                    </a:lnTo>
                    <a:lnTo>
                      <a:pt x="0" y="1214627"/>
                    </a:lnTo>
                    <a:close/>
                  </a:path>
                </a:pathLst>
              </a:custGeom>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38" name="object 47">
                <a:extLst>
                  <a:ext uri="{FF2B5EF4-FFF2-40B4-BE49-F238E27FC236}">
                    <a16:creationId xmlns:a16="http://schemas.microsoft.com/office/drawing/2014/main" id="{598B772E-BB1B-231D-D500-30FBF221CA69}"/>
                  </a:ext>
                </a:extLst>
              </p:cNvPr>
              <p:cNvSpPr txBox="1"/>
              <p:nvPr/>
            </p:nvSpPr>
            <p:spPr>
              <a:xfrm>
                <a:off x="431164" y="3053694"/>
                <a:ext cx="1202252" cy="153888"/>
              </a:xfrm>
              <a:prstGeom prst="rect">
                <a:avLst/>
              </a:prstGeom>
            </p:spPr>
            <p:txBody>
              <a:bodyPr vert="horz" wrap="none" lIns="0" tIns="0" rIns="0" bIns="0" rtlCol="0" anchor="b">
                <a:spAutoFit/>
              </a:bodyPr>
              <a:lstStyle/>
              <a:p>
                <a:pPr marL="118110" marR="0" lvl="0" indent="0" algn="l" defTabSz="914400" rtl="0" eaLnBrk="1" fontAlgn="auto" latinLnBrk="0" hangingPunct="1">
                  <a:lnSpc>
                    <a:spcPct val="100000"/>
                  </a:lnSpc>
                  <a:spcBef>
                    <a:spcPts val="855"/>
                  </a:spcBef>
                  <a:spcAft>
                    <a:spcPts val="0"/>
                  </a:spcAft>
                  <a:buClrTx/>
                  <a:buSzTx/>
                  <a:buFontTx/>
                  <a:buNone/>
                  <a:tabLst/>
                  <a:defRPr/>
                </a:pPr>
                <a:r>
                  <a:rPr kumimoji="0" sz="1000" b="1" i="0" u="none" strike="noStrike" kern="0" cap="none" spc="-5" normalizeH="0" baseline="0" noProof="0" dirty="0">
                    <a:ln>
                      <a:noFill/>
                    </a:ln>
                    <a:solidFill>
                      <a:srgbClr val="000000"/>
                    </a:solidFill>
                    <a:effectLst/>
                    <a:uLnTx/>
                    <a:uFillTx/>
                    <a:latin typeface="Arial"/>
                    <a:ea typeface="+mn-ea"/>
                    <a:cs typeface="Arial"/>
                  </a:rPr>
                  <a:t>COPD</a:t>
                </a:r>
                <a:r>
                  <a:rPr kumimoji="0" sz="1000" b="1" i="0" u="none" strike="noStrike" kern="0" cap="none" spc="-15" normalizeH="0" baseline="0" noProof="0" dirty="0">
                    <a:ln>
                      <a:noFill/>
                    </a:ln>
                    <a:solidFill>
                      <a:srgbClr val="000000"/>
                    </a:solidFill>
                    <a:effectLst/>
                    <a:uLnTx/>
                    <a:uFillTx/>
                    <a:latin typeface="Arial"/>
                    <a:ea typeface="+mn-ea"/>
                    <a:cs typeface="Arial"/>
                  </a:rPr>
                  <a:t> </a:t>
                </a:r>
                <a:r>
                  <a:rPr kumimoji="0" sz="1000" b="1" i="0" u="none" strike="noStrike" kern="0" cap="none" spc="0" normalizeH="0" baseline="0" noProof="0" dirty="0">
                    <a:ln>
                      <a:noFill/>
                    </a:ln>
                    <a:solidFill>
                      <a:srgbClr val="000000"/>
                    </a:solidFill>
                    <a:effectLst/>
                    <a:uLnTx/>
                    <a:uFillTx/>
                    <a:latin typeface="Arial"/>
                    <a:ea typeface="+mn-ea"/>
                    <a:cs typeface="Arial"/>
                  </a:rPr>
                  <a:t>risk</a:t>
                </a:r>
                <a:r>
                  <a:rPr kumimoji="0" sz="1000" b="1" i="0" u="none" strike="noStrike" kern="0" cap="none" spc="-45" normalizeH="0" baseline="0" noProof="0" dirty="0">
                    <a:ln>
                      <a:noFill/>
                    </a:ln>
                    <a:solidFill>
                      <a:srgbClr val="000000"/>
                    </a:solidFill>
                    <a:effectLst/>
                    <a:uLnTx/>
                    <a:uFillTx/>
                    <a:latin typeface="Arial"/>
                    <a:ea typeface="+mn-ea"/>
                    <a:cs typeface="Arial"/>
                  </a:rPr>
                  <a:t> </a:t>
                </a:r>
                <a:r>
                  <a:rPr kumimoji="0" sz="1000" b="1" i="0" u="none" strike="noStrike" kern="0" cap="none" spc="0" normalizeH="0" baseline="0" noProof="0" dirty="0">
                    <a:ln>
                      <a:noFill/>
                    </a:ln>
                    <a:solidFill>
                      <a:srgbClr val="000000"/>
                    </a:solidFill>
                    <a:effectLst/>
                    <a:uLnTx/>
                    <a:uFillTx/>
                    <a:latin typeface="Arial"/>
                    <a:ea typeface="+mn-ea"/>
                    <a:cs typeface="Arial"/>
                  </a:rPr>
                  <a:t>factors</a:t>
                </a:r>
                <a:endParaRPr kumimoji="0" sz="1000" b="0" i="0" u="none" strike="noStrike" kern="0" cap="none" spc="0" normalizeH="0" baseline="0" noProof="0" dirty="0">
                  <a:ln>
                    <a:noFill/>
                  </a:ln>
                  <a:solidFill>
                    <a:srgbClr val="000000"/>
                  </a:solidFill>
                  <a:effectLst/>
                  <a:uLnTx/>
                  <a:uFillTx/>
                  <a:latin typeface="Arial"/>
                  <a:ea typeface="+mn-ea"/>
                  <a:cs typeface="Arial"/>
                </a:endParaRPr>
              </a:p>
            </p:txBody>
          </p:sp>
          <p:grpSp>
            <p:nvGrpSpPr>
              <p:cNvPr id="139" name="object 48">
                <a:extLst>
                  <a:ext uri="{FF2B5EF4-FFF2-40B4-BE49-F238E27FC236}">
                    <a16:creationId xmlns:a16="http://schemas.microsoft.com/office/drawing/2014/main" id="{FA7A7798-0EB3-D5DD-E21C-674BEA499429}"/>
                  </a:ext>
                </a:extLst>
              </p:cNvPr>
              <p:cNvGrpSpPr/>
              <p:nvPr/>
            </p:nvGrpSpPr>
            <p:grpSpPr>
              <a:xfrm>
                <a:off x="486812" y="2142744"/>
                <a:ext cx="1217788" cy="798575"/>
                <a:chOff x="486812" y="2142744"/>
                <a:chExt cx="1217788" cy="798575"/>
              </a:xfrm>
            </p:grpSpPr>
            <p:pic>
              <p:nvPicPr>
                <p:cNvPr id="140" name="object 49">
                  <a:extLst>
                    <a:ext uri="{FF2B5EF4-FFF2-40B4-BE49-F238E27FC236}">
                      <a16:creationId xmlns:a16="http://schemas.microsoft.com/office/drawing/2014/main" id="{44E27917-8742-6D39-68CD-2F0953D62332}"/>
                    </a:ext>
                  </a:extLst>
                </p:cNvPr>
                <p:cNvPicPr/>
                <p:nvPr/>
              </p:nvPicPr>
              <p:blipFill>
                <a:blip r:embed="rId2" cstate="print"/>
                <a:stretch>
                  <a:fillRect/>
                </a:stretch>
              </p:blipFill>
              <p:spPr>
                <a:xfrm>
                  <a:off x="486812" y="2665658"/>
                  <a:ext cx="608079" cy="275661"/>
                </a:xfrm>
                <a:prstGeom prst="rect">
                  <a:avLst/>
                </a:prstGeom>
              </p:spPr>
            </p:pic>
            <p:pic>
              <p:nvPicPr>
                <p:cNvPr id="141" name="object 50">
                  <a:extLst>
                    <a:ext uri="{FF2B5EF4-FFF2-40B4-BE49-F238E27FC236}">
                      <a16:creationId xmlns:a16="http://schemas.microsoft.com/office/drawing/2014/main" id="{B4059BFD-9ECA-0773-C93D-4B83C1F25E3A}"/>
                    </a:ext>
                  </a:extLst>
                </p:cNvPr>
                <p:cNvPicPr/>
                <p:nvPr/>
              </p:nvPicPr>
              <p:blipFill>
                <a:blip r:embed="rId3" cstate="print"/>
                <a:stretch>
                  <a:fillRect/>
                </a:stretch>
              </p:blipFill>
              <p:spPr>
                <a:xfrm>
                  <a:off x="495300" y="2167720"/>
                  <a:ext cx="340560" cy="416013"/>
                </a:xfrm>
                <a:prstGeom prst="rect">
                  <a:avLst/>
                </a:prstGeom>
              </p:spPr>
            </p:pic>
            <p:pic>
              <p:nvPicPr>
                <p:cNvPr id="142" name="object 51">
                  <a:extLst>
                    <a:ext uri="{FF2B5EF4-FFF2-40B4-BE49-F238E27FC236}">
                      <a16:creationId xmlns:a16="http://schemas.microsoft.com/office/drawing/2014/main" id="{9AA0E4A8-FC18-91AF-6A7D-66EAFF1329C6}"/>
                    </a:ext>
                  </a:extLst>
                </p:cNvPr>
                <p:cNvPicPr/>
                <p:nvPr/>
              </p:nvPicPr>
              <p:blipFill>
                <a:blip r:embed="rId4" cstate="print"/>
                <a:stretch>
                  <a:fillRect/>
                </a:stretch>
              </p:blipFill>
              <p:spPr>
                <a:xfrm>
                  <a:off x="1167736" y="2142744"/>
                  <a:ext cx="536864" cy="694516"/>
                </a:xfrm>
                <a:prstGeom prst="rect">
                  <a:avLst/>
                </a:prstGeom>
              </p:spPr>
            </p:pic>
          </p:grpSp>
        </p:grpSp>
        <p:grpSp>
          <p:nvGrpSpPr>
            <p:cNvPr id="21" name="Group 20">
              <a:extLst>
                <a:ext uri="{FF2B5EF4-FFF2-40B4-BE49-F238E27FC236}">
                  <a16:creationId xmlns:a16="http://schemas.microsoft.com/office/drawing/2014/main" id="{F4ABBAC7-D9BA-EF18-5B43-CCB1C58AFE00}"/>
                </a:ext>
              </a:extLst>
            </p:cNvPr>
            <p:cNvGrpSpPr/>
            <p:nvPr/>
          </p:nvGrpSpPr>
          <p:grpSpPr>
            <a:xfrm>
              <a:off x="5103135" y="1468442"/>
              <a:ext cx="3069316" cy="2009126"/>
              <a:chOff x="5103135" y="1382573"/>
              <a:chExt cx="3069316" cy="2009126"/>
            </a:xfrm>
          </p:grpSpPr>
          <p:grpSp>
            <p:nvGrpSpPr>
              <p:cNvPr id="118" name="Group 117">
                <a:extLst>
                  <a:ext uri="{FF2B5EF4-FFF2-40B4-BE49-F238E27FC236}">
                    <a16:creationId xmlns:a16="http://schemas.microsoft.com/office/drawing/2014/main" id="{1B95FA9A-BF97-AAE7-0D33-CDCE8E0B294B}"/>
                  </a:ext>
                </a:extLst>
              </p:cNvPr>
              <p:cNvGrpSpPr/>
              <p:nvPr/>
            </p:nvGrpSpPr>
            <p:grpSpPr>
              <a:xfrm>
                <a:off x="5103135" y="2427511"/>
                <a:ext cx="3069316" cy="964188"/>
                <a:chOff x="3911466" y="2670048"/>
                <a:chExt cx="3069316" cy="964188"/>
              </a:xfrm>
            </p:grpSpPr>
            <p:grpSp>
              <p:nvGrpSpPr>
                <p:cNvPr id="130" name="object 23">
                  <a:extLst>
                    <a:ext uri="{FF2B5EF4-FFF2-40B4-BE49-F238E27FC236}">
                      <a16:creationId xmlns:a16="http://schemas.microsoft.com/office/drawing/2014/main" id="{8268844D-8053-CACB-1FCB-7E855E3CAEDD}"/>
                    </a:ext>
                  </a:extLst>
                </p:cNvPr>
                <p:cNvGrpSpPr/>
                <p:nvPr/>
              </p:nvGrpSpPr>
              <p:grpSpPr>
                <a:xfrm>
                  <a:off x="3911466" y="2670048"/>
                  <a:ext cx="3069316" cy="748665"/>
                  <a:chOff x="3911466" y="2670048"/>
                  <a:chExt cx="3069316" cy="748665"/>
                </a:xfrm>
              </p:grpSpPr>
              <p:sp>
                <p:nvSpPr>
                  <p:cNvPr id="132" name="object 24">
                    <a:extLst>
                      <a:ext uri="{FF2B5EF4-FFF2-40B4-BE49-F238E27FC236}">
                        <a16:creationId xmlns:a16="http://schemas.microsoft.com/office/drawing/2014/main" id="{6DAFAD6B-3EDA-7510-0E5A-1ED10E4C6F22}"/>
                      </a:ext>
                    </a:extLst>
                  </p:cNvPr>
                  <p:cNvSpPr/>
                  <p:nvPr/>
                </p:nvSpPr>
                <p:spPr>
                  <a:xfrm>
                    <a:off x="5062728" y="2982468"/>
                    <a:ext cx="784860" cy="436245"/>
                  </a:xfrm>
                  <a:custGeom>
                    <a:avLst/>
                    <a:gdLst/>
                    <a:ahLst/>
                    <a:cxnLst/>
                    <a:rect l="l" t="t" r="r" b="b"/>
                    <a:pathLst>
                      <a:path w="784860" h="436245">
                        <a:moveTo>
                          <a:pt x="392430" y="0"/>
                        </a:moveTo>
                        <a:lnTo>
                          <a:pt x="0" y="435864"/>
                        </a:lnTo>
                        <a:lnTo>
                          <a:pt x="784860" y="435864"/>
                        </a:lnTo>
                        <a:lnTo>
                          <a:pt x="392430" y="0"/>
                        </a:lnTo>
                        <a:close/>
                      </a:path>
                    </a:pathLst>
                  </a:custGeom>
                  <a:solidFill>
                    <a:schemeClr val="accent1"/>
                  </a:solidFill>
                  <a:ln>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33" name="object 25">
                    <a:extLst>
                      <a:ext uri="{FF2B5EF4-FFF2-40B4-BE49-F238E27FC236}">
                        <a16:creationId xmlns:a16="http://schemas.microsoft.com/office/drawing/2014/main" id="{0622D057-0AE4-B089-A9D0-B59928696711}"/>
                      </a:ext>
                    </a:extLst>
                  </p:cNvPr>
                  <p:cNvSpPr/>
                  <p:nvPr/>
                </p:nvSpPr>
                <p:spPr>
                  <a:xfrm>
                    <a:off x="3911466" y="2670048"/>
                    <a:ext cx="3069316" cy="618490"/>
                  </a:xfrm>
                  <a:custGeom>
                    <a:avLst/>
                    <a:gdLst/>
                    <a:ahLst/>
                    <a:cxnLst/>
                    <a:rect l="l" t="t" r="r" b="b"/>
                    <a:pathLst>
                      <a:path w="2723515" h="618489">
                        <a:moveTo>
                          <a:pt x="0" y="617981"/>
                        </a:moveTo>
                        <a:lnTo>
                          <a:pt x="2723388" y="0"/>
                        </a:lnTo>
                      </a:path>
                    </a:pathLst>
                  </a:custGeom>
                  <a:solidFill>
                    <a:schemeClr val="accent1"/>
                  </a:solidFill>
                  <a:ln w="76200">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31" name="object 26">
                  <a:extLst>
                    <a:ext uri="{FF2B5EF4-FFF2-40B4-BE49-F238E27FC236}">
                      <a16:creationId xmlns:a16="http://schemas.microsoft.com/office/drawing/2014/main" id="{4536255E-DC02-C134-BCD7-302DFE39CB60}"/>
                    </a:ext>
                  </a:extLst>
                </p:cNvPr>
                <p:cNvSpPr txBox="1"/>
                <p:nvPr/>
              </p:nvSpPr>
              <p:spPr>
                <a:xfrm>
                  <a:off x="4984305" y="3436746"/>
                  <a:ext cx="941705" cy="197490"/>
                </a:xfrm>
                <a:prstGeom prst="rect">
                  <a:avLst/>
                </a:prstGeom>
              </p:spPr>
              <p:txBody>
                <a:bodyPr vert="horz" wrap="square" lIns="0" tIns="12700" rIns="0" bIns="0" rtlCol="0">
                  <a:spAutoFit/>
                </a:bodyPr>
                <a:lstStyle/>
                <a:p>
                  <a:pPr marL="12700" marR="0" lvl="0" indent="0" algn="ctr"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0" normalizeH="0" baseline="0" noProof="0" dirty="0">
                      <a:ln>
                        <a:noFill/>
                      </a:ln>
                      <a:solidFill>
                        <a:srgbClr val="000000"/>
                      </a:solidFill>
                      <a:effectLst/>
                      <a:uLnTx/>
                      <a:uFillTx/>
                      <a:latin typeface="Arial"/>
                      <a:ea typeface="+mn-ea"/>
                      <a:cs typeface="Arial"/>
                    </a:rPr>
                    <a:t>2.</a:t>
                  </a:r>
                  <a:r>
                    <a:rPr kumimoji="0" sz="1200" b="1" i="0" u="none" strike="noStrike" kern="0" cap="none" spc="-80" normalizeH="0" baseline="0" noProof="0" dirty="0">
                      <a:ln>
                        <a:noFill/>
                      </a:ln>
                      <a:solidFill>
                        <a:srgbClr val="000000"/>
                      </a:solidFill>
                      <a:effectLst/>
                      <a:uLnTx/>
                      <a:uFillTx/>
                      <a:latin typeface="Arial"/>
                      <a:ea typeface="+mn-ea"/>
                      <a:cs typeface="Arial"/>
                    </a:rPr>
                    <a:t> </a:t>
                  </a:r>
                  <a:r>
                    <a:rPr kumimoji="0" sz="1200" b="1" i="0" u="none" strike="noStrike" kern="0" cap="none" spc="0" normalizeH="0" baseline="0" noProof="0" dirty="0">
                      <a:ln>
                        <a:noFill/>
                      </a:ln>
                      <a:solidFill>
                        <a:srgbClr val="000000"/>
                      </a:solidFill>
                      <a:effectLst/>
                      <a:uLnTx/>
                      <a:uFillTx/>
                      <a:latin typeface="Arial"/>
                      <a:ea typeface="+mn-ea"/>
                      <a:cs typeface="Arial"/>
                    </a:rPr>
                    <a:t>Imbalance</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grpSp>
          <p:grpSp>
            <p:nvGrpSpPr>
              <p:cNvPr id="20" name="Group 19">
                <a:extLst>
                  <a:ext uri="{FF2B5EF4-FFF2-40B4-BE49-F238E27FC236}">
                    <a16:creationId xmlns:a16="http://schemas.microsoft.com/office/drawing/2014/main" id="{385CE678-B2CA-4918-2022-582F3AA2CCEB}"/>
                  </a:ext>
                </a:extLst>
              </p:cNvPr>
              <p:cNvGrpSpPr/>
              <p:nvPr/>
            </p:nvGrpSpPr>
            <p:grpSpPr>
              <a:xfrm>
                <a:off x="5176657" y="1382573"/>
                <a:ext cx="2922271" cy="1320928"/>
                <a:chOff x="5133136" y="1435386"/>
                <a:chExt cx="2922271" cy="1320928"/>
              </a:xfrm>
            </p:grpSpPr>
            <p:grpSp>
              <p:nvGrpSpPr>
                <p:cNvPr id="119" name="Group 118">
                  <a:extLst>
                    <a:ext uri="{FF2B5EF4-FFF2-40B4-BE49-F238E27FC236}">
                      <a16:creationId xmlns:a16="http://schemas.microsoft.com/office/drawing/2014/main" id="{A745CBFA-1CFD-E439-1227-05F8CB2DBA58}"/>
                    </a:ext>
                  </a:extLst>
                </p:cNvPr>
                <p:cNvGrpSpPr/>
                <p:nvPr/>
              </p:nvGrpSpPr>
              <p:grpSpPr>
                <a:xfrm>
                  <a:off x="5133136" y="1814101"/>
                  <a:ext cx="1242061" cy="942213"/>
                  <a:chOff x="3798569" y="2056638"/>
                  <a:chExt cx="1242061" cy="942213"/>
                </a:xfrm>
              </p:grpSpPr>
              <p:sp>
                <p:nvSpPr>
                  <p:cNvPr id="126" name="object 33">
                    <a:extLst>
                      <a:ext uri="{FF2B5EF4-FFF2-40B4-BE49-F238E27FC236}">
                        <a16:creationId xmlns:a16="http://schemas.microsoft.com/office/drawing/2014/main" id="{495C64A0-2C12-EC8D-B104-DEE94B74A5A0}"/>
                      </a:ext>
                    </a:extLst>
                  </p:cNvPr>
                  <p:cNvSpPr/>
                  <p:nvPr/>
                </p:nvSpPr>
                <p:spPr>
                  <a:xfrm>
                    <a:off x="3798569" y="2783586"/>
                    <a:ext cx="1242060" cy="215265"/>
                  </a:xfrm>
                  <a:custGeom>
                    <a:avLst/>
                    <a:gdLst/>
                    <a:ahLst/>
                    <a:cxnLst/>
                    <a:rect l="l" t="t" r="r" b="b"/>
                    <a:pathLst>
                      <a:path w="1242060" h="215264">
                        <a:moveTo>
                          <a:pt x="0" y="214884"/>
                        </a:moveTo>
                        <a:lnTo>
                          <a:pt x="1242060" y="214884"/>
                        </a:lnTo>
                        <a:lnTo>
                          <a:pt x="1242060" y="0"/>
                        </a:lnTo>
                        <a:lnTo>
                          <a:pt x="0" y="0"/>
                        </a:lnTo>
                        <a:lnTo>
                          <a:pt x="0" y="214884"/>
                        </a:lnTo>
                        <a:close/>
                      </a:path>
                    </a:pathLst>
                  </a:custGeom>
                  <a:solidFill>
                    <a:srgbClr val="F36633"/>
                  </a:solidFill>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27" name="object 34">
                    <a:extLst>
                      <a:ext uri="{FF2B5EF4-FFF2-40B4-BE49-F238E27FC236}">
                        <a16:creationId xmlns:a16="http://schemas.microsoft.com/office/drawing/2014/main" id="{E6A90709-0009-624D-7EF5-E395C0F22876}"/>
                      </a:ext>
                    </a:extLst>
                  </p:cNvPr>
                  <p:cNvSpPr txBox="1"/>
                  <p:nvPr/>
                </p:nvSpPr>
                <p:spPr>
                  <a:xfrm>
                    <a:off x="3905196" y="2806580"/>
                    <a:ext cx="1028808" cy="184666"/>
                  </a:xfrm>
                  <a:prstGeom prst="rect">
                    <a:avLst/>
                  </a:prstGeom>
                </p:spPr>
                <p:txBody>
                  <a:bodyPr vert="horz" wrap="none" lIns="0" tIns="0" rIns="0" bIns="0" rtlCol="0">
                    <a:spAutoFit/>
                  </a:bodyPr>
                  <a:lstStyle/>
                  <a:p>
                    <a:pPr marL="12700" marR="0" lvl="0" indent="0" algn="ctr" defTabSz="914400" rtl="0" eaLnBrk="1" fontAlgn="auto" latinLnBrk="0" hangingPunct="1">
                      <a:lnSpc>
                        <a:spcPct val="100000"/>
                      </a:lnSpc>
                      <a:spcBef>
                        <a:spcPts val="105"/>
                      </a:spcBef>
                      <a:spcAft>
                        <a:spcPts val="0"/>
                      </a:spcAft>
                      <a:buClrTx/>
                      <a:buSzTx/>
                      <a:buFontTx/>
                      <a:buNone/>
                      <a:tabLst/>
                      <a:defRPr/>
                    </a:pPr>
                    <a:r>
                      <a:rPr kumimoji="0" sz="1200" b="1" i="0" u="none" strike="noStrike" kern="0" cap="none" spc="-5" normalizeH="0" baseline="0" noProof="0" dirty="0">
                        <a:ln>
                          <a:noFill/>
                        </a:ln>
                        <a:solidFill>
                          <a:srgbClr val="FFFFFF"/>
                        </a:solidFill>
                        <a:effectLst/>
                        <a:uLnTx/>
                        <a:uFillTx/>
                        <a:latin typeface="Arial"/>
                        <a:ea typeface="+mn-ea"/>
                        <a:cs typeface="Arial"/>
                      </a:rPr>
                      <a:t>Antiproteases</a:t>
                    </a:r>
                    <a:endParaRPr kumimoji="0" sz="1200" b="0" i="0" u="none" strike="noStrike" kern="0" cap="none" spc="0" normalizeH="0" baseline="0" noProof="0" dirty="0">
                      <a:ln>
                        <a:noFill/>
                      </a:ln>
                      <a:solidFill>
                        <a:srgbClr val="F36633"/>
                      </a:solidFill>
                      <a:effectLst/>
                      <a:uLnTx/>
                      <a:uFillTx/>
                      <a:latin typeface="Arial"/>
                      <a:ea typeface="+mn-ea"/>
                      <a:cs typeface="Arial"/>
                    </a:endParaRPr>
                  </a:p>
                </p:txBody>
              </p:sp>
              <p:sp>
                <p:nvSpPr>
                  <p:cNvPr id="128" name="object 36">
                    <a:extLst>
                      <a:ext uri="{FF2B5EF4-FFF2-40B4-BE49-F238E27FC236}">
                        <a16:creationId xmlns:a16="http://schemas.microsoft.com/office/drawing/2014/main" id="{AD553B0D-FEA2-7FE3-DFA7-7E87C312E4B5}"/>
                      </a:ext>
                    </a:extLst>
                  </p:cNvPr>
                  <p:cNvSpPr/>
                  <p:nvPr/>
                </p:nvSpPr>
                <p:spPr>
                  <a:xfrm>
                    <a:off x="3798570" y="2056638"/>
                    <a:ext cx="1242060" cy="739140"/>
                  </a:xfrm>
                  <a:custGeom>
                    <a:avLst/>
                    <a:gdLst/>
                    <a:ahLst/>
                    <a:cxnLst/>
                    <a:rect l="l" t="t" r="r" b="b"/>
                    <a:pathLst>
                      <a:path w="1242060" h="739139">
                        <a:moveTo>
                          <a:pt x="0" y="739139"/>
                        </a:moveTo>
                        <a:lnTo>
                          <a:pt x="1242060" y="739139"/>
                        </a:lnTo>
                        <a:lnTo>
                          <a:pt x="1242060" y="0"/>
                        </a:lnTo>
                        <a:lnTo>
                          <a:pt x="0" y="0"/>
                        </a:lnTo>
                        <a:lnTo>
                          <a:pt x="0" y="739139"/>
                        </a:lnTo>
                        <a:close/>
                      </a:path>
                    </a:pathLst>
                  </a:custGeom>
                  <a:ln w="19811">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129" name="object 37">
                    <a:extLst>
                      <a:ext uri="{FF2B5EF4-FFF2-40B4-BE49-F238E27FC236}">
                        <a16:creationId xmlns:a16="http://schemas.microsoft.com/office/drawing/2014/main" id="{44056F51-3691-C49E-85C2-A71021D68392}"/>
                      </a:ext>
                    </a:extLst>
                  </p:cNvPr>
                  <p:cNvPicPr/>
                  <p:nvPr/>
                </p:nvPicPr>
                <p:blipFill rotWithShape="1">
                  <a:blip r:embed="rId5" cstate="print"/>
                  <a:srcRect l="7179" r="5358" b="5015"/>
                  <a:stretch/>
                </p:blipFill>
                <p:spPr>
                  <a:xfrm>
                    <a:off x="3971926" y="2080260"/>
                    <a:ext cx="914400" cy="696278"/>
                  </a:xfrm>
                  <a:prstGeom prst="rect">
                    <a:avLst/>
                  </a:prstGeom>
                </p:spPr>
              </p:pic>
            </p:grpSp>
            <p:grpSp>
              <p:nvGrpSpPr>
                <p:cNvPr id="120" name="Group 119">
                  <a:extLst>
                    <a:ext uri="{FF2B5EF4-FFF2-40B4-BE49-F238E27FC236}">
                      <a16:creationId xmlns:a16="http://schemas.microsoft.com/office/drawing/2014/main" id="{3AB16370-2C9B-4F6C-EB09-9C988A304D30}"/>
                    </a:ext>
                  </a:extLst>
                </p:cNvPr>
                <p:cNvGrpSpPr/>
                <p:nvPr/>
              </p:nvGrpSpPr>
              <p:grpSpPr>
                <a:xfrm>
                  <a:off x="6813346" y="1435386"/>
                  <a:ext cx="1242061" cy="942213"/>
                  <a:chOff x="6517004" y="1677923"/>
                  <a:chExt cx="1242061" cy="942213"/>
                </a:xfrm>
              </p:grpSpPr>
              <p:grpSp>
                <p:nvGrpSpPr>
                  <p:cNvPr id="121" name="Group 120">
                    <a:extLst>
                      <a:ext uri="{FF2B5EF4-FFF2-40B4-BE49-F238E27FC236}">
                        <a16:creationId xmlns:a16="http://schemas.microsoft.com/office/drawing/2014/main" id="{FAFD4285-5273-1A91-1CB7-90DA409BEDE9}"/>
                      </a:ext>
                    </a:extLst>
                  </p:cNvPr>
                  <p:cNvGrpSpPr/>
                  <p:nvPr/>
                </p:nvGrpSpPr>
                <p:grpSpPr>
                  <a:xfrm>
                    <a:off x="6517004" y="1677923"/>
                    <a:ext cx="1242061" cy="942213"/>
                    <a:chOff x="5478779" y="1677923"/>
                    <a:chExt cx="1242061" cy="942213"/>
                  </a:xfrm>
                </p:grpSpPr>
                <p:sp>
                  <p:nvSpPr>
                    <p:cNvPr id="123" name="object 33">
                      <a:extLst>
                        <a:ext uri="{FF2B5EF4-FFF2-40B4-BE49-F238E27FC236}">
                          <a16:creationId xmlns:a16="http://schemas.microsoft.com/office/drawing/2014/main" id="{40C05CEF-8826-4C08-B2B9-8992BE511162}"/>
                        </a:ext>
                      </a:extLst>
                    </p:cNvPr>
                    <p:cNvSpPr/>
                    <p:nvPr/>
                  </p:nvSpPr>
                  <p:spPr>
                    <a:xfrm>
                      <a:off x="5478779" y="2404871"/>
                      <a:ext cx="1242060" cy="215265"/>
                    </a:xfrm>
                    <a:custGeom>
                      <a:avLst/>
                      <a:gdLst/>
                      <a:ahLst/>
                      <a:cxnLst/>
                      <a:rect l="l" t="t" r="r" b="b"/>
                      <a:pathLst>
                        <a:path w="1242060" h="215264">
                          <a:moveTo>
                            <a:pt x="0" y="214884"/>
                          </a:moveTo>
                          <a:lnTo>
                            <a:pt x="1242060" y="214884"/>
                          </a:lnTo>
                          <a:lnTo>
                            <a:pt x="1242060" y="0"/>
                          </a:lnTo>
                          <a:lnTo>
                            <a:pt x="0" y="0"/>
                          </a:lnTo>
                          <a:lnTo>
                            <a:pt x="0" y="214884"/>
                          </a:lnTo>
                          <a:close/>
                        </a:path>
                      </a:pathLst>
                    </a:custGeom>
                    <a:solidFill>
                      <a:srgbClr val="F36633"/>
                    </a:solidFill>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124" name="object 30">
                      <a:extLst>
                        <a:ext uri="{FF2B5EF4-FFF2-40B4-BE49-F238E27FC236}">
                          <a16:creationId xmlns:a16="http://schemas.microsoft.com/office/drawing/2014/main" id="{109EABCE-76EC-4A5D-6295-077D7D928F82}"/>
                        </a:ext>
                      </a:extLst>
                    </p:cNvPr>
                    <p:cNvPicPr/>
                    <p:nvPr/>
                  </p:nvPicPr>
                  <p:blipFill rotWithShape="1">
                    <a:blip r:embed="rId6" cstate="print"/>
                    <a:srcRect l="2908" t="10777" r="5605" b="3238"/>
                    <a:stretch/>
                  </p:blipFill>
                  <p:spPr>
                    <a:xfrm>
                      <a:off x="5647372" y="1728406"/>
                      <a:ext cx="904876" cy="638175"/>
                    </a:xfrm>
                    <a:prstGeom prst="rect">
                      <a:avLst/>
                    </a:prstGeom>
                  </p:spPr>
                </p:pic>
                <p:sp>
                  <p:nvSpPr>
                    <p:cNvPr id="125" name="object 36">
                      <a:extLst>
                        <a:ext uri="{FF2B5EF4-FFF2-40B4-BE49-F238E27FC236}">
                          <a16:creationId xmlns:a16="http://schemas.microsoft.com/office/drawing/2014/main" id="{618229FA-F251-2A0E-F87A-7BF02C544E36}"/>
                        </a:ext>
                      </a:extLst>
                    </p:cNvPr>
                    <p:cNvSpPr/>
                    <p:nvPr/>
                  </p:nvSpPr>
                  <p:spPr>
                    <a:xfrm>
                      <a:off x="5478780" y="1677923"/>
                      <a:ext cx="1242060" cy="739140"/>
                    </a:xfrm>
                    <a:custGeom>
                      <a:avLst/>
                      <a:gdLst/>
                      <a:ahLst/>
                      <a:cxnLst/>
                      <a:rect l="l" t="t" r="r" b="b"/>
                      <a:pathLst>
                        <a:path w="1242060" h="739139">
                          <a:moveTo>
                            <a:pt x="0" y="739139"/>
                          </a:moveTo>
                          <a:lnTo>
                            <a:pt x="1242060" y="739139"/>
                          </a:lnTo>
                          <a:lnTo>
                            <a:pt x="1242060" y="0"/>
                          </a:lnTo>
                          <a:lnTo>
                            <a:pt x="0" y="0"/>
                          </a:lnTo>
                          <a:lnTo>
                            <a:pt x="0" y="739139"/>
                          </a:lnTo>
                          <a:close/>
                        </a:path>
                      </a:pathLst>
                    </a:custGeom>
                    <a:ln w="19811">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22" name="object 34">
                    <a:extLst>
                      <a:ext uri="{FF2B5EF4-FFF2-40B4-BE49-F238E27FC236}">
                        <a16:creationId xmlns:a16="http://schemas.microsoft.com/office/drawing/2014/main" id="{7B9C4C69-86DC-BB43-F969-46258F8E52CA}"/>
                      </a:ext>
                    </a:extLst>
                  </p:cNvPr>
                  <p:cNvSpPr txBox="1"/>
                  <p:nvPr/>
                </p:nvSpPr>
                <p:spPr>
                  <a:xfrm>
                    <a:off x="6768222" y="2427865"/>
                    <a:ext cx="739626" cy="184666"/>
                  </a:xfrm>
                  <a:prstGeom prst="rect">
                    <a:avLst/>
                  </a:prstGeom>
                </p:spPr>
                <p:txBody>
                  <a:bodyPr vert="horz" wrap="none" lIns="0" tIns="0" rIns="0" bIns="0" rtlCol="0">
                    <a:spAutoFit/>
                  </a:bodyPr>
                  <a:lstStyle/>
                  <a:p>
                    <a:pPr marL="12700" marR="0" lvl="0" indent="0" algn="ctr" defTabSz="914400" rtl="0" eaLnBrk="1" fontAlgn="auto" latinLnBrk="0" hangingPunct="1">
                      <a:lnSpc>
                        <a:spcPct val="100000"/>
                      </a:lnSpc>
                      <a:spcBef>
                        <a:spcPts val="105"/>
                      </a:spcBef>
                      <a:spcAft>
                        <a:spcPts val="0"/>
                      </a:spcAft>
                      <a:buClrTx/>
                      <a:buSzTx/>
                      <a:buFontTx/>
                      <a:buNone/>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Proteases</a:t>
                    </a:r>
                  </a:p>
                </p:txBody>
              </p:sp>
            </p:grpSp>
          </p:grpSp>
        </p:grpSp>
        <p:grpSp>
          <p:nvGrpSpPr>
            <p:cNvPr id="24" name="Group 23">
              <a:extLst>
                <a:ext uri="{FF2B5EF4-FFF2-40B4-BE49-F238E27FC236}">
                  <a16:creationId xmlns:a16="http://schemas.microsoft.com/office/drawing/2014/main" id="{84F305B9-65FC-194A-CEEB-E6096A53D6E2}"/>
                </a:ext>
              </a:extLst>
            </p:cNvPr>
            <p:cNvGrpSpPr/>
            <p:nvPr/>
          </p:nvGrpSpPr>
          <p:grpSpPr>
            <a:xfrm>
              <a:off x="7892180" y="1839053"/>
              <a:ext cx="3927475" cy="3603988"/>
              <a:chOff x="7831220" y="2049065"/>
              <a:chExt cx="3927475" cy="3603988"/>
            </a:xfrm>
          </p:grpSpPr>
          <p:sp>
            <p:nvSpPr>
              <p:cNvPr id="96" name="Bent-Up Arrow 93">
                <a:extLst>
                  <a:ext uri="{FF2B5EF4-FFF2-40B4-BE49-F238E27FC236}">
                    <a16:creationId xmlns:a16="http://schemas.microsoft.com/office/drawing/2014/main" id="{854DFB2B-BD38-605A-ECA8-11C3610F9AC6}"/>
                  </a:ext>
                </a:extLst>
              </p:cNvPr>
              <p:cNvSpPr/>
              <p:nvPr/>
            </p:nvSpPr>
            <p:spPr>
              <a:xfrm rot="10800000" flipH="1">
                <a:off x="8411058" y="2049065"/>
                <a:ext cx="1682868" cy="1249316"/>
              </a:xfrm>
              <a:prstGeom prst="bentUpArrow">
                <a:avLst>
                  <a:gd name="adj1" fmla="val 20331"/>
                  <a:gd name="adj2" fmla="val 25000"/>
                  <a:gd name="adj3" fmla="val 28050"/>
                </a:avLst>
              </a:prstGeom>
              <a:solidFill>
                <a:schemeClr val="tx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Arial" panose="020B0604020202020204"/>
                  <a:ea typeface="+mn-ea"/>
                  <a:cs typeface="Noto Sans"/>
                </a:endParaRPr>
              </a:p>
            </p:txBody>
          </p:sp>
          <p:sp>
            <p:nvSpPr>
              <p:cNvPr id="109" name="object 45">
                <a:extLst>
                  <a:ext uri="{FF2B5EF4-FFF2-40B4-BE49-F238E27FC236}">
                    <a16:creationId xmlns:a16="http://schemas.microsoft.com/office/drawing/2014/main" id="{35DA5A40-CAAE-490B-966C-9EECA0D76EFA}"/>
                  </a:ext>
                </a:extLst>
              </p:cNvPr>
              <p:cNvSpPr txBox="1"/>
              <p:nvPr/>
            </p:nvSpPr>
            <p:spPr>
              <a:xfrm>
                <a:off x="7831220" y="4537327"/>
                <a:ext cx="3923619" cy="1107996"/>
              </a:xfrm>
              <a:prstGeom prst="rect">
                <a:avLst/>
              </a:prstGeom>
              <a:solidFill>
                <a:srgbClr val="F36633"/>
              </a:solidFill>
            </p:spPr>
            <p:txBody>
              <a:bodyPr vert="horz" wrap="square" lIns="91440" tIns="91440" rIns="91440" bIns="91440" rtlCol="0">
                <a:spAutoFit/>
              </a:bodyPr>
              <a:lstStyle/>
              <a:p>
                <a:pPr marL="299085" marR="73660" lvl="0" indent="-228600" algn="l" defTabSz="914400" rtl="0" eaLnBrk="1" fontAlgn="auto" latinLnBrk="0" hangingPunct="1">
                  <a:lnSpc>
                    <a:spcPct val="100000"/>
                  </a:lnSpc>
                  <a:spcBef>
                    <a:spcPts val="900"/>
                  </a:spcBef>
                  <a:spcAft>
                    <a:spcPts val="0"/>
                  </a:spcAft>
                  <a:buClrTx/>
                  <a:buSzTx/>
                  <a:buFont typeface="+mj-lt"/>
                  <a:buAutoNum type="arabicPeriod" startAt="3"/>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Breakdown of connective tissues by proteases leads to alveolar wall destruction. This impairs gas exchange due to the loss of functional alveoli which are surrounded by the sites of gas exchange - capillaries (i.e., emphysema)</a:t>
                </a:r>
              </a:p>
            </p:txBody>
          </p:sp>
          <p:sp>
            <p:nvSpPr>
              <p:cNvPr id="110" name="object 46">
                <a:extLst>
                  <a:ext uri="{FF2B5EF4-FFF2-40B4-BE49-F238E27FC236}">
                    <a16:creationId xmlns:a16="http://schemas.microsoft.com/office/drawing/2014/main" id="{4ABA3DF2-D467-E6FC-C649-160C11364353}"/>
                  </a:ext>
                </a:extLst>
              </p:cNvPr>
              <p:cNvSpPr/>
              <p:nvPr/>
            </p:nvSpPr>
            <p:spPr>
              <a:xfrm>
                <a:off x="7835075" y="3332605"/>
                <a:ext cx="3919764" cy="2320448"/>
              </a:xfrm>
              <a:custGeom>
                <a:avLst/>
                <a:gdLst/>
                <a:ahLst/>
                <a:cxnLst/>
                <a:rect l="l" t="t" r="r" b="b"/>
                <a:pathLst>
                  <a:path w="2929254" h="1214754">
                    <a:moveTo>
                      <a:pt x="0" y="1214627"/>
                    </a:moveTo>
                    <a:lnTo>
                      <a:pt x="2929127" y="1214627"/>
                    </a:lnTo>
                    <a:lnTo>
                      <a:pt x="2929127" y="0"/>
                    </a:lnTo>
                    <a:lnTo>
                      <a:pt x="0" y="0"/>
                    </a:lnTo>
                    <a:lnTo>
                      <a:pt x="0" y="1214627"/>
                    </a:lnTo>
                    <a:close/>
                  </a:path>
                </a:pathLst>
              </a:custGeom>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11" name="object 6">
                <a:extLst>
                  <a:ext uri="{FF2B5EF4-FFF2-40B4-BE49-F238E27FC236}">
                    <a16:creationId xmlns:a16="http://schemas.microsoft.com/office/drawing/2014/main" id="{E0C494AE-52AA-C01D-5E40-253F33AD0643}"/>
                  </a:ext>
                </a:extLst>
              </p:cNvPr>
              <p:cNvGrpSpPr/>
              <p:nvPr/>
            </p:nvGrpSpPr>
            <p:grpSpPr>
              <a:xfrm>
                <a:off x="8918096" y="3788232"/>
                <a:ext cx="1753722" cy="666920"/>
                <a:chOff x="6868668" y="3971544"/>
                <a:chExt cx="1275715" cy="485140"/>
              </a:xfrm>
            </p:grpSpPr>
            <p:pic>
              <p:nvPicPr>
                <p:cNvPr id="115" name="object 7">
                  <a:extLst>
                    <a:ext uri="{FF2B5EF4-FFF2-40B4-BE49-F238E27FC236}">
                      <a16:creationId xmlns:a16="http://schemas.microsoft.com/office/drawing/2014/main" id="{89081C6B-DE4F-0867-0FD2-D70637A99A98}"/>
                    </a:ext>
                  </a:extLst>
                </p:cNvPr>
                <p:cNvPicPr/>
                <p:nvPr/>
              </p:nvPicPr>
              <p:blipFill>
                <a:blip r:embed="rId7" cstate="print"/>
                <a:stretch>
                  <a:fillRect/>
                </a:stretch>
              </p:blipFill>
              <p:spPr>
                <a:xfrm>
                  <a:off x="6868668" y="3972814"/>
                  <a:ext cx="216407" cy="443738"/>
                </a:xfrm>
                <a:prstGeom prst="rect">
                  <a:avLst/>
                </a:prstGeom>
              </p:spPr>
            </p:pic>
            <p:pic>
              <p:nvPicPr>
                <p:cNvPr id="116" name="object 8">
                  <a:extLst>
                    <a:ext uri="{FF2B5EF4-FFF2-40B4-BE49-F238E27FC236}">
                      <a16:creationId xmlns:a16="http://schemas.microsoft.com/office/drawing/2014/main" id="{C8699FAD-50C4-E9C8-F232-B3E910B150C4}"/>
                    </a:ext>
                  </a:extLst>
                </p:cNvPr>
                <p:cNvPicPr/>
                <p:nvPr/>
              </p:nvPicPr>
              <p:blipFill>
                <a:blip r:embed="rId8" cstate="print"/>
                <a:stretch>
                  <a:fillRect/>
                </a:stretch>
              </p:blipFill>
              <p:spPr>
                <a:xfrm>
                  <a:off x="6975348" y="3971544"/>
                  <a:ext cx="1168907" cy="484631"/>
                </a:xfrm>
                <a:prstGeom prst="rect">
                  <a:avLst/>
                </a:prstGeom>
              </p:spPr>
            </p:pic>
            <p:pic>
              <p:nvPicPr>
                <p:cNvPr id="117" name="object 9">
                  <a:extLst>
                    <a:ext uri="{FF2B5EF4-FFF2-40B4-BE49-F238E27FC236}">
                      <a16:creationId xmlns:a16="http://schemas.microsoft.com/office/drawing/2014/main" id="{375B4B77-824F-ED34-8E9E-34D6304413F7}"/>
                    </a:ext>
                  </a:extLst>
                </p:cNvPr>
                <p:cNvPicPr/>
                <p:nvPr/>
              </p:nvPicPr>
              <p:blipFill>
                <a:blip r:embed="rId9" cstate="print"/>
                <a:stretch>
                  <a:fillRect/>
                </a:stretch>
              </p:blipFill>
              <p:spPr>
                <a:xfrm>
                  <a:off x="7906512" y="3976116"/>
                  <a:ext cx="217932" cy="445261"/>
                </a:xfrm>
                <a:prstGeom prst="rect">
                  <a:avLst/>
                </a:prstGeom>
              </p:spPr>
            </p:pic>
          </p:grpSp>
          <p:sp>
            <p:nvSpPr>
              <p:cNvPr id="112" name="object 45">
                <a:extLst>
                  <a:ext uri="{FF2B5EF4-FFF2-40B4-BE49-F238E27FC236}">
                    <a16:creationId xmlns:a16="http://schemas.microsoft.com/office/drawing/2014/main" id="{A73DD21F-A1DB-8815-33A4-FB8F6453B625}"/>
                  </a:ext>
                </a:extLst>
              </p:cNvPr>
              <p:cNvSpPr txBox="1"/>
              <p:nvPr/>
            </p:nvSpPr>
            <p:spPr>
              <a:xfrm>
                <a:off x="7831220" y="3332605"/>
                <a:ext cx="3927475" cy="369332"/>
              </a:xfrm>
              <a:prstGeom prst="rect">
                <a:avLst/>
              </a:prstGeom>
              <a:solidFill>
                <a:srgbClr val="F36633"/>
              </a:solidFill>
            </p:spPr>
            <p:txBody>
              <a:bodyPr vert="horz" wrap="square" lIns="91440" tIns="91440" rIns="91440" bIns="91440" rtlCol="0">
                <a:spAutoFit/>
              </a:bodyPr>
              <a:lstStyle/>
              <a:p>
                <a:pPr marL="70485" marR="73660" lvl="0" indent="0" algn="ctr" defTabSz="914400" rtl="0" eaLnBrk="1" fontAlgn="auto" latinLnBrk="0" hangingPunct="1">
                  <a:lnSpc>
                    <a:spcPct val="100000"/>
                  </a:lnSpc>
                  <a:spcBef>
                    <a:spcPts val="900"/>
                  </a:spcBef>
                  <a:spcAft>
                    <a:spcPts val="0"/>
                  </a:spcAft>
                  <a:buClrTx/>
                  <a:buSzTx/>
                  <a:buFontTx/>
                  <a:buNone/>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Gas exchange in the lung</a:t>
                </a:r>
              </a:p>
            </p:txBody>
          </p:sp>
          <p:grpSp>
            <p:nvGrpSpPr>
              <p:cNvPr id="22" name="Group 21">
                <a:extLst>
                  <a:ext uri="{FF2B5EF4-FFF2-40B4-BE49-F238E27FC236}">
                    <a16:creationId xmlns:a16="http://schemas.microsoft.com/office/drawing/2014/main" id="{54736F3A-8E59-F5DD-1BB0-EC91D85996DD}"/>
                  </a:ext>
                </a:extLst>
              </p:cNvPr>
              <p:cNvGrpSpPr/>
              <p:nvPr/>
            </p:nvGrpSpPr>
            <p:grpSpPr>
              <a:xfrm>
                <a:off x="8487502" y="3750774"/>
                <a:ext cx="3044403" cy="725590"/>
                <a:chOff x="8372957" y="3750774"/>
                <a:chExt cx="3044403" cy="725590"/>
              </a:xfrm>
            </p:grpSpPr>
            <p:sp>
              <p:nvSpPr>
                <p:cNvPr id="113" name="Rectangle 112">
                  <a:extLst>
                    <a:ext uri="{FF2B5EF4-FFF2-40B4-BE49-F238E27FC236}">
                      <a16:creationId xmlns:a16="http://schemas.microsoft.com/office/drawing/2014/main" id="{9FE20881-58C6-6094-389C-061EF37A7087}"/>
                    </a:ext>
                  </a:extLst>
                </p:cNvPr>
                <p:cNvSpPr/>
                <p:nvPr/>
              </p:nvSpPr>
              <p:spPr>
                <a:xfrm>
                  <a:off x="10491786" y="3750774"/>
                  <a:ext cx="925574"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225"/>
                    </a:spcBef>
                    <a:spcAft>
                      <a:spcPts val="0"/>
                    </a:spcAft>
                    <a:buClrTx/>
                    <a:buSzTx/>
                    <a:buFontTx/>
                    <a:buNone/>
                    <a:tabLst/>
                    <a:defRPr/>
                  </a:pPr>
                  <a:r>
                    <a:rPr kumimoji="0" lang="en-US" sz="1000" b="1" i="0" u="none" strike="noStrike" kern="0" cap="none" spc="-5" normalizeH="0" baseline="0" noProof="0" dirty="0">
                      <a:ln>
                        <a:noFill/>
                      </a:ln>
                      <a:solidFill>
                        <a:srgbClr val="000000"/>
                      </a:solidFill>
                      <a:effectLst/>
                      <a:uLnTx/>
                      <a:uFillTx/>
                      <a:latin typeface="Arial"/>
                      <a:ea typeface="+mn-ea"/>
                      <a:cs typeface="Arial"/>
                    </a:rPr>
                    <a:t>Carbon</a:t>
                  </a:r>
                  <a:r>
                    <a:rPr kumimoji="0" lang="en-US" sz="1000" b="1" i="0" u="none" strike="noStrike" kern="0" cap="none" spc="-15" normalizeH="0" baseline="0" noProof="0" dirty="0">
                      <a:ln>
                        <a:noFill/>
                      </a:ln>
                      <a:solidFill>
                        <a:srgbClr val="000000"/>
                      </a:solidFill>
                      <a:effectLst/>
                      <a:uLnTx/>
                      <a:uFillTx/>
                      <a:latin typeface="Arial"/>
                      <a:ea typeface="+mn-ea"/>
                      <a:cs typeface="Arial"/>
                    </a:rPr>
                    <a:t> </a:t>
                  </a:r>
                  <a:r>
                    <a:rPr kumimoji="0" lang="en-US" sz="1000" b="1" i="0" u="none" strike="noStrike" kern="0" cap="none" spc="0" normalizeH="0" baseline="0" noProof="0" dirty="0">
                      <a:ln>
                        <a:noFill/>
                      </a:ln>
                      <a:solidFill>
                        <a:srgbClr val="000000"/>
                      </a:solidFill>
                      <a:effectLst/>
                      <a:uLnTx/>
                      <a:uFillTx/>
                      <a:latin typeface="Arial"/>
                      <a:ea typeface="+mn-ea"/>
                      <a:cs typeface="Arial"/>
                    </a:rPr>
                    <a:t>dioxide</a:t>
                  </a:r>
                  <a:endParaRPr kumimoji="0" lang="en-US" sz="1000" b="0" i="0" u="none" strike="noStrike" kern="0" cap="none" spc="0" normalizeH="0" baseline="0" noProof="0" dirty="0">
                    <a:ln>
                      <a:noFill/>
                    </a:ln>
                    <a:solidFill>
                      <a:srgbClr val="000000"/>
                    </a:solidFill>
                    <a:effectLst/>
                    <a:uLnTx/>
                    <a:uFillTx/>
                    <a:latin typeface="Arial"/>
                    <a:ea typeface="+mn-ea"/>
                    <a:cs typeface="Arial"/>
                  </a:endParaRPr>
                </a:p>
              </p:txBody>
            </p:sp>
            <p:sp>
              <p:nvSpPr>
                <p:cNvPr id="114" name="Rectangle 113">
                  <a:extLst>
                    <a:ext uri="{FF2B5EF4-FFF2-40B4-BE49-F238E27FC236}">
                      <a16:creationId xmlns:a16="http://schemas.microsoft.com/office/drawing/2014/main" id="{F31B003E-0B3A-B8B7-A25C-86D25AB274B4}"/>
                    </a:ext>
                  </a:extLst>
                </p:cNvPr>
                <p:cNvSpPr/>
                <p:nvPr/>
              </p:nvSpPr>
              <p:spPr>
                <a:xfrm>
                  <a:off x="8372957" y="4322476"/>
                  <a:ext cx="464230" cy="153888"/>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225"/>
                    </a:spcBef>
                    <a:spcAft>
                      <a:spcPts val="0"/>
                    </a:spcAft>
                    <a:buClrTx/>
                    <a:buSzTx/>
                    <a:buFontTx/>
                    <a:buNone/>
                    <a:tabLst/>
                    <a:defRPr/>
                  </a:pPr>
                  <a:r>
                    <a:rPr kumimoji="0" lang="en-US" sz="1000" b="1" i="0" u="none" strike="noStrike" kern="0" cap="none" spc="-5" normalizeH="0" baseline="0" noProof="0" dirty="0">
                      <a:ln>
                        <a:noFill/>
                      </a:ln>
                      <a:solidFill>
                        <a:srgbClr val="000000"/>
                      </a:solidFill>
                      <a:effectLst/>
                      <a:uLnTx/>
                      <a:uFillTx/>
                      <a:latin typeface="Arial"/>
                      <a:ea typeface="+mn-ea"/>
                      <a:cs typeface="Arial"/>
                    </a:rPr>
                    <a:t>Oxygen</a:t>
                  </a:r>
                  <a:endParaRPr kumimoji="0" lang="en-US" sz="1000" b="0" i="0" u="none" strike="noStrike" kern="0" cap="none" spc="0" normalizeH="0" baseline="0" noProof="0" dirty="0">
                    <a:ln>
                      <a:noFill/>
                    </a:ln>
                    <a:solidFill>
                      <a:srgbClr val="000000"/>
                    </a:solidFill>
                    <a:effectLst/>
                    <a:uLnTx/>
                    <a:uFillTx/>
                    <a:latin typeface="Arial"/>
                    <a:ea typeface="+mn-ea"/>
                    <a:cs typeface="Arial"/>
                  </a:endParaRPr>
                </a:p>
              </p:txBody>
            </p:sp>
          </p:grpSp>
        </p:grpSp>
        <p:grpSp>
          <p:nvGrpSpPr>
            <p:cNvPr id="23" name="Group 22">
              <a:extLst>
                <a:ext uri="{FF2B5EF4-FFF2-40B4-BE49-F238E27FC236}">
                  <a16:creationId xmlns:a16="http://schemas.microsoft.com/office/drawing/2014/main" id="{CEE5CE7C-5877-300C-E87D-545ECA62D493}"/>
                </a:ext>
              </a:extLst>
            </p:cNvPr>
            <p:cNvGrpSpPr/>
            <p:nvPr/>
          </p:nvGrpSpPr>
          <p:grpSpPr>
            <a:xfrm>
              <a:off x="4130430" y="3624486"/>
              <a:ext cx="2682518" cy="1818555"/>
              <a:chOff x="4098173" y="3808063"/>
              <a:chExt cx="2682518" cy="1818555"/>
            </a:xfrm>
          </p:grpSpPr>
          <p:grpSp>
            <p:nvGrpSpPr>
              <p:cNvPr id="105" name="Group 104">
                <a:extLst>
                  <a:ext uri="{FF2B5EF4-FFF2-40B4-BE49-F238E27FC236}">
                    <a16:creationId xmlns:a16="http://schemas.microsoft.com/office/drawing/2014/main" id="{E0AD2598-7F00-5B43-4D2C-B3D54F86E610}"/>
                  </a:ext>
                </a:extLst>
              </p:cNvPr>
              <p:cNvGrpSpPr/>
              <p:nvPr/>
            </p:nvGrpSpPr>
            <p:grpSpPr>
              <a:xfrm>
                <a:off x="4098173" y="3808063"/>
                <a:ext cx="2682518" cy="1818555"/>
                <a:chOff x="7832525" y="4274034"/>
                <a:chExt cx="3927475" cy="1818555"/>
              </a:xfrm>
            </p:grpSpPr>
            <p:sp>
              <p:nvSpPr>
                <p:cNvPr id="107" name="object 45">
                  <a:extLst>
                    <a:ext uri="{FF2B5EF4-FFF2-40B4-BE49-F238E27FC236}">
                      <a16:creationId xmlns:a16="http://schemas.microsoft.com/office/drawing/2014/main" id="{2524539F-36DB-4850-BBE9-3BD499EC005A}"/>
                    </a:ext>
                  </a:extLst>
                </p:cNvPr>
                <p:cNvSpPr txBox="1"/>
                <p:nvPr/>
              </p:nvSpPr>
              <p:spPr>
                <a:xfrm>
                  <a:off x="7832525" y="5351377"/>
                  <a:ext cx="3927475" cy="738664"/>
                </a:xfrm>
                <a:prstGeom prst="rect">
                  <a:avLst/>
                </a:prstGeom>
                <a:solidFill>
                  <a:srgbClr val="F36633"/>
                </a:solidFill>
              </p:spPr>
              <p:txBody>
                <a:bodyPr vert="horz" wrap="square" lIns="91440" tIns="91440" rIns="91440" bIns="91440" rtlCol="0">
                  <a:spAutoFit/>
                </a:bodyPr>
                <a:lstStyle/>
                <a:p>
                  <a:pPr marL="299085" marR="73660" lvl="0" indent="-228600" algn="l" defTabSz="914400" rtl="0" eaLnBrk="1" fontAlgn="auto" latinLnBrk="0" hangingPunct="1">
                    <a:lnSpc>
                      <a:spcPct val="100000"/>
                    </a:lnSpc>
                    <a:spcBef>
                      <a:spcPts val="900"/>
                    </a:spcBef>
                    <a:spcAft>
                      <a:spcPts val="0"/>
                    </a:spcAft>
                    <a:buClrTx/>
                    <a:buSzTx/>
                    <a:buFont typeface="+mj-lt"/>
                    <a:buAutoNum type="arabicPeriod" startAt="4"/>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Alveolar wall destruction </a:t>
                  </a:r>
                  <a:r>
                    <a:rPr kumimoji="0" lang="en-US" sz="1200" b="1" i="0" u="none" strike="noStrike" kern="0" cap="none" spc="-5" normalizeH="0" baseline="0" noProof="0" dirty="0">
                      <a:ln>
                        <a:noFill/>
                      </a:ln>
                      <a:solidFill>
                        <a:srgbClr val="FFFFFF"/>
                      </a:solidFill>
                      <a:effectLst/>
                      <a:uLnTx/>
                      <a:uFillTx/>
                      <a:latin typeface="Arial"/>
                      <a:ea typeface="+mn-ea"/>
                      <a:cs typeface="Arial"/>
                      <a:sym typeface="Wingdings" panose="05000000000000000000" pitchFamily="2" charset="2"/>
                    </a:rPr>
                    <a:t> air gets trapped  leads to hyperinflation</a:t>
                  </a:r>
                </a:p>
              </p:txBody>
            </p:sp>
            <p:sp>
              <p:nvSpPr>
                <p:cNvPr id="108" name="object 46">
                  <a:extLst>
                    <a:ext uri="{FF2B5EF4-FFF2-40B4-BE49-F238E27FC236}">
                      <a16:creationId xmlns:a16="http://schemas.microsoft.com/office/drawing/2014/main" id="{3F09C08D-C65A-6018-415B-FC340D264AEE}"/>
                    </a:ext>
                  </a:extLst>
                </p:cNvPr>
                <p:cNvSpPr/>
                <p:nvPr/>
              </p:nvSpPr>
              <p:spPr>
                <a:xfrm>
                  <a:off x="7840236" y="4274034"/>
                  <a:ext cx="3919764" cy="1818555"/>
                </a:xfrm>
                <a:custGeom>
                  <a:avLst/>
                  <a:gdLst/>
                  <a:ahLst/>
                  <a:cxnLst/>
                  <a:rect l="l" t="t" r="r" b="b"/>
                  <a:pathLst>
                    <a:path w="2929254" h="1214754">
                      <a:moveTo>
                        <a:pt x="0" y="1214627"/>
                      </a:moveTo>
                      <a:lnTo>
                        <a:pt x="2929127" y="1214627"/>
                      </a:lnTo>
                      <a:lnTo>
                        <a:pt x="2929127" y="0"/>
                      </a:lnTo>
                      <a:lnTo>
                        <a:pt x="0" y="0"/>
                      </a:lnTo>
                      <a:lnTo>
                        <a:pt x="0" y="1214627"/>
                      </a:lnTo>
                      <a:close/>
                    </a:path>
                  </a:pathLst>
                </a:custGeom>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pic>
            <p:nvPicPr>
              <p:cNvPr id="106" name="object 22">
                <a:extLst>
                  <a:ext uri="{FF2B5EF4-FFF2-40B4-BE49-F238E27FC236}">
                    <a16:creationId xmlns:a16="http://schemas.microsoft.com/office/drawing/2014/main" id="{220AF15A-460D-2236-2D51-45A741A3BDDF}"/>
                  </a:ext>
                </a:extLst>
              </p:cNvPr>
              <p:cNvPicPr/>
              <p:nvPr/>
            </p:nvPicPr>
            <p:blipFill>
              <a:blip r:embed="rId10" cstate="print"/>
              <a:stretch>
                <a:fillRect/>
              </a:stretch>
            </p:blipFill>
            <p:spPr>
              <a:xfrm>
                <a:off x="4990716" y="3904662"/>
                <a:ext cx="897433" cy="900171"/>
              </a:xfrm>
              <a:prstGeom prst="rect">
                <a:avLst/>
              </a:prstGeom>
            </p:spPr>
          </p:pic>
        </p:grpSp>
        <p:sp>
          <p:nvSpPr>
            <p:cNvPr id="99" name="object 38">
              <a:extLst>
                <a:ext uri="{FF2B5EF4-FFF2-40B4-BE49-F238E27FC236}">
                  <a16:creationId xmlns:a16="http://schemas.microsoft.com/office/drawing/2014/main" id="{366CC97E-8009-BB1E-18EE-ED9B4199D320}"/>
                </a:ext>
              </a:extLst>
            </p:cNvPr>
            <p:cNvSpPr/>
            <p:nvPr/>
          </p:nvSpPr>
          <p:spPr>
            <a:xfrm rot="10800000">
              <a:off x="7074731" y="4860422"/>
              <a:ext cx="555666" cy="582618"/>
            </a:xfrm>
            <a:prstGeom prst="rightArrow">
              <a:avLst/>
            </a:pr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00" name="object 38">
              <a:extLst>
                <a:ext uri="{FF2B5EF4-FFF2-40B4-BE49-F238E27FC236}">
                  <a16:creationId xmlns:a16="http://schemas.microsoft.com/office/drawing/2014/main" id="{EF241DA5-06A6-4530-99C2-0BCF9C00564B}"/>
                </a:ext>
              </a:extLst>
            </p:cNvPr>
            <p:cNvSpPr/>
            <p:nvPr/>
          </p:nvSpPr>
          <p:spPr>
            <a:xfrm rot="10800000">
              <a:off x="3312981" y="4860422"/>
              <a:ext cx="555666" cy="582618"/>
            </a:xfrm>
            <a:prstGeom prst="rightArrow">
              <a:avLst/>
            </a:prstGeom>
            <a:solidFill>
              <a:schemeClr val="accent1"/>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9" name="Group 18">
              <a:extLst>
                <a:ext uri="{FF2B5EF4-FFF2-40B4-BE49-F238E27FC236}">
                  <a16:creationId xmlns:a16="http://schemas.microsoft.com/office/drawing/2014/main" id="{2E4C8664-1E28-A597-819C-A554171F0A1C}"/>
                </a:ext>
              </a:extLst>
            </p:cNvPr>
            <p:cNvGrpSpPr/>
            <p:nvPr/>
          </p:nvGrpSpPr>
          <p:grpSpPr>
            <a:xfrm>
              <a:off x="365125" y="3680279"/>
              <a:ext cx="2682518" cy="1762762"/>
              <a:chOff x="365125" y="3808063"/>
              <a:chExt cx="2682518" cy="1762762"/>
            </a:xfrm>
          </p:grpSpPr>
          <p:pic>
            <p:nvPicPr>
              <p:cNvPr id="102" name="Picture 101">
                <a:extLst>
                  <a:ext uri="{FF2B5EF4-FFF2-40B4-BE49-F238E27FC236}">
                    <a16:creationId xmlns:a16="http://schemas.microsoft.com/office/drawing/2014/main" id="{EBA13577-0FCF-2483-B1B0-D5274182B232}"/>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flipH="1">
                <a:off x="385701" y="3812769"/>
                <a:ext cx="2659147" cy="1086305"/>
              </a:xfrm>
              <a:prstGeom prst="rect">
                <a:avLst/>
              </a:prstGeom>
            </p:spPr>
          </p:pic>
          <p:grpSp>
            <p:nvGrpSpPr>
              <p:cNvPr id="101" name="Group 100">
                <a:extLst>
                  <a:ext uri="{FF2B5EF4-FFF2-40B4-BE49-F238E27FC236}">
                    <a16:creationId xmlns:a16="http://schemas.microsoft.com/office/drawing/2014/main" id="{46D947AB-7C20-60B5-7201-01A0D5DB6308}"/>
                  </a:ext>
                </a:extLst>
              </p:cNvPr>
              <p:cNvGrpSpPr/>
              <p:nvPr/>
            </p:nvGrpSpPr>
            <p:grpSpPr>
              <a:xfrm>
                <a:off x="365125" y="3808063"/>
                <a:ext cx="2682518" cy="1762762"/>
                <a:chOff x="7832525" y="4274034"/>
                <a:chExt cx="3927475" cy="1762762"/>
              </a:xfrm>
            </p:grpSpPr>
            <p:sp>
              <p:nvSpPr>
                <p:cNvPr id="103" name="object 45">
                  <a:extLst>
                    <a:ext uri="{FF2B5EF4-FFF2-40B4-BE49-F238E27FC236}">
                      <a16:creationId xmlns:a16="http://schemas.microsoft.com/office/drawing/2014/main" id="{0C353B84-CED7-C506-0354-BB5E49D138FB}"/>
                    </a:ext>
                  </a:extLst>
                </p:cNvPr>
                <p:cNvSpPr txBox="1"/>
                <p:nvPr/>
              </p:nvSpPr>
              <p:spPr>
                <a:xfrm>
                  <a:off x="7832525" y="5341852"/>
                  <a:ext cx="3927475" cy="694944"/>
                </a:xfrm>
                <a:prstGeom prst="rect">
                  <a:avLst/>
                </a:prstGeom>
                <a:solidFill>
                  <a:srgbClr val="F36633"/>
                </a:solidFill>
              </p:spPr>
              <p:txBody>
                <a:bodyPr vert="horz" wrap="square" lIns="91440" tIns="91440" rIns="91440" bIns="91440" rtlCol="0" anchor="ctr">
                  <a:noAutofit/>
                </a:bodyPr>
                <a:lstStyle/>
                <a:p>
                  <a:pPr marL="299085" marR="73660" lvl="0" indent="-228600" algn="l" defTabSz="914400" rtl="0" eaLnBrk="1" fontAlgn="auto" latinLnBrk="0" hangingPunct="1">
                    <a:lnSpc>
                      <a:spcPct val="100000"/>
                    </a:lnSpc>
                    <a:spcBef>
                      <a:spcPts val="900"/>
                    </a:spcBef>
                    <a:spcAft>
                      <a:spcPts val="0"/>
                    </a:spcAft>
                    <a:buClrTx/>
                    <a:buSzTx/>
                    <a:buFont typeface="+mj-lt"/>
                    <a:buAutoNum type="arabicPeriod" startAt="5"/>
                    <a:tabLst/>
                    <a:defRPr/>
                  </a:pPr>
                  <a:r>
                    <a:rPr kumimoji="0" lang="en-US" sz="1200" b="1" i="0" u="none" strike="noStrike" kern="0" cap="none" spc="-5" normalizeH="0" baseline="0" noProof="0" dirty="0">
                      <a:ln>
                        <a:noFill/>
                      </a:ln>
                      <a:solidFill>
                        <a:srgbClr val="FFFFFF"/>
                      </a:solidFill>
                      <a:effectLst/>
                      <a:uLnTx/>
                      <a:uFillTx/>
                      <a:latin typeface="Arial"/>
                      <a:ea typeface="+mn-ea"/>
                      <a:cs typeface="Arial"/>
                    </a:rPr>
                    <a:t>Increased COPD symptoms e.g., dyspnoea*</a:t>
                  </a:r>
                </a:p>
              </p:txBody>
            </p:sp>
            <p:sp>
              <p:nvSpPr>
                <p:cNvPr id="104" name="object 46">
                  <a:extLst>
                    <a:ext uri="{FF2B5EF4-FFF2-40B4-BE49-F238E27FC236}">
                      <a16:creationId xmlns:a16="http://schemas.microsoft.com/office/drawing/2014/main" id="{6C2CFA62-C680-E9D3-FC71-0F5ACD5AF8E2}"/>
                    </a:ext>
                  </a:extLst>
                </p:cNvPr>
                <p:cNvSpPr/>
                <p:nvPr/>
              </p:nvSpPr>
              <p:spPr>
                <a:xfrm>
                  <a:off x="7840236" y="4274034"/>
                  <a:ext cx="3919764" cy="1762761"/>
                </a:xfrm>
                <a:custGeom>
                  <a:avLst/>
                  <a:gdLst/>
                  <a:ahLst/>
                  <a:cxnLst/>
                  <a:rect l="l" t="t" r="r" b="b"/>
                  <a:pathLst>
                    <a:path w="2929254" h="1214754">
                      <a:moveTo>
                        <a:pt x="0" y="1214627"/>
                      </a:moveTo>
                      <a:lnTo>
                        <a:pt x="2929127" y="1214627"/>
                      </a:lnTo>
                      <a:lnTo>
                        <a:pt x="2929127" y="0"/>
                      </a:lnTo>
                      <a:lnTo>
                        <a:pt x="0" y="0"/>
                      </a:lnTo>
                      <a:lnTo>
                        <a:pt x="0" y="1214627"/>
                      </a:lnTo>
                      <a:close/>
                    </a:path>
                  </a:pathLst>
                </a:custGeom>
                <a:ln w="19812">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grpSp>
        </p:grpSp>
      </p:grpSp>
      <p:sp>
        <p:nvSpPr>
          <p:cNvPr id="4" name="Rectangle 3">
            <a:extLst>
              <a:ext uri="{FF2B5EF4-FFF2-40B4-BE49-F238E27FC236}">
                <a16:creationId xmlns:a16="http://schemas.microsoft.com/office/drawing/2014/main" id="{E7715297-0FDC-75D1-5E19-02FC3011F231}"/>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121531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COPD Pathogenic Mechanisms:</a:t>
            </a:r>
            <a:endParaRPr lang="en-GB" dirty="0"/>
          </a:p>
        </p:txBody>
      </p:sp>
      <p:sp>
        <p:nvSpPr>
          <p:cNvPr id="6" name="Subtitle 5">
            <a:extLst>
              <a:ext uri="{FF2B5EF4-FFF2-40B4-BE49-F238E27FC236}">
                <a16:creationId xmlns:a16="http://schemas.microsoft.com/office/drawing/2014/main" id="{91D35A28-FF03-368F-18FA-AA60FBA56DF1}"/>
              </a:ext>
            </a:extLst>
          </p:cNvPr>
          <p:cNvSpPr>
            <a:spLocks noGrp="1"/>
          </p:cNvSpPr>
          <p:nvPr>
            <p:ph type="subTitle" idx="1"/>
          </p:nvPr>
        </p:nvSpPr>
        <p:spPr/>
        <p:txBody>
          <a:bodyPr/>
          <a:lstStyle/>
          <a:p>
            <a:r>
              <a:rPr lang="en-US" i="1" dirty="0"/>
              <a:t>Mucus hypersecretion</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0362" y="5792174"/>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Ramos FL;International Journal of COPD;2014;24;139-150; 2.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 3. MacNee W;Clinical Respiratory Medicine;2012;4;531-552; 4. Fahy JV;The New England Journal of Medicine; 2010;363;2233-2247.</a:t>
            </a:r>
          </a:p>
        </p:txBody>
      </p:sp>
      <p:sp>
        <p:nvSpPr>
          <p:cNvPr id="27" name="Content Placeholder 9">
            <a:extLst>
              <a:ext uri="{FF2B5EF4-FFF2-40B4-BE49-F238E27FC236}">
                <a16:creationId xmlns:a16="http://schemas.microsoft.com/office/drawing/2014/main" id="{C8E5214D-7891-E4A1-7C0E-5A2866EFE077}"/>
              </a:ext>
            </a:extLst>
          </p:cNvPr>
          <p:cNvSpPr txBox="1">
            <a:spLocks/>
          </p:cNvSpPr>
          <p:nvPr/>
        </p:nvSpPr>
        <p:spPr>
          <a:xfrm>
            <a:off x="365125" y="1194859"/>
            <a:ext cx="11424000" cy="1631216"/>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Airway mucus is part of the lung’s innate immune function that traps foreign particles and microorganisms,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enabling their clearance</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from the lung by ciliary transport and cough</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Enlarged submucosal glands, increased number of goblet cells, oxidative stress and increased proteases result in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airway mucus hypersecretion</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2,3</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clinical consequences of mucus hypersecretion are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airflow limitation</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and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compromised mucociliary clearance</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due to obstruction of the airway lumen</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p>
        </p:txBody>
      </p:sp>
      <p:grpSp>
        <p:nvGrpSpPr>
          <p:cNvPr id="28" name="Group 27">
            <a:extLst>
              <a:ext uri="{FF2B5EF4-FFF2-40B4-BE49-F238E27FC236}">
                <a16:creationId xmlns:a16="http://schemas.microsoft.com/office/drawing/2014/main" id="{46E3001F-1290-FEC8-43CE-0D958E0621A2}"/>
              </a:ext>
            </a:extLst>
          </p:cNvPr>
          <p:cNvGrpSpPr/>
          <p:nvPr/>
        </p:nvGrpSpPr>
        <p:grpSpPr>
          <a:xfrm>
            <a:off x="3407920" y="2933341"/>
            <a:ext cx="5376160" cy="2612369"/>
            <a:chOff x="3351409" y="3305928"/>
            <a:chExt cx="5376160" cy="2612369"/>
          </a:xfrm>
        </p:grpSpPr>
        <p:sp>
          <p:nvSpPr>
            <p:cNvPr id="29" name="object 22">
              <a:extLst>
                <a:ext uri="{FF2B5EF4-FFF2-40B4-BE49-F238E27FC236}">
                  <a16:creationId xmlns:a16="http://schemas.microsoft.com/office/drawing/2014/main" id="{38EA525F-38BA-113A-1267-427620E37144}"/>
                </a:ext>
              </a:extLst>
            </p:cNvPr>
            <p:cNvSpPr txBox="1"/>
            <p:nvPr/>
          </p:nvSpPr>
          <p:spPr>
            <a:xfrm>
              <a:off x="4046305" y="5720807"/>
              <a:ext cx="4041140" cy="197490"/>
            </a:xfrm>
            <a:prstGeom prst="rect">
              <a:avLst/>
            </a:prstGeom>
          </p:spPr>
          <p:txBody>
            <a:bodyPr vert="horz" wrap="square" lIns="0" tIns="12700" rIns="0" bIns="0" rtlCol="0">
              <a:spAutoFit/>
            </a:bodyPr>
            <a:lstStyle/>
            <a:p>
              <a:pPr marL="38100" marR="0" lvl="0" indent="0" algn="l" defTabSz="914400" rtl="0" eaLnBrk="1" fontAlgn="auto" latinLnBrk="0" hangingPunct="1">
                <a:lnSpc>
                  <a:spcPct val="100000"/>
                </a:lnSpc>
                <a:spcBef>
                  <a:spcPts val="100"/>
                </a:spcBef>
                <a:spcAft>
                  <a:spcPts val="0"/>
                </a:spcAft>
                <a:buClrTx/>
                <a:buSzTx/>
                <a:buFontTx/>
                <a:buNone/>
                <a:tabLst/>
                <a:defRPr/>
              </a:pPr>
              <a:r>
                <a:rPr kumimoji="0" sz="1200" b="1" i="0" u="none" strike="noStrike" kern="0" cap="none" spc="-5" normalizeH="0" baseline="0" noProof="0" dirty="0">
                  <a:ln>
                    <a:noFill/>
                  </a:ln>
                  <a:solidFill>
                    <a:srgbClr val="000000"/>
                  </a:solidFill>
                  <a:effectLst/>
                  <a:uLnTx/>
                  <a:uFillTx/>
                  <a:latin typeface="Arial"/>
                  <a:ea typeface="+mn-ea"/>
                  <a:cs typeface="Arial"/>
                </a:rPr>
                <a:t>Structure</a:t>
              </a:r>
              <a:r>
                <a:rPr kumimoji="0" sz="1200" b="1" i="0" u="none" strike="noStrike" kern="0" cap="none" spc="-10" normalizeH="0" baseline="0" noProof="0" dirty="0">
                  <a:ln>
                    <a:noFill/>
                  </a:ln>
                  <a:solidFill>
                    <a:srgbClr val="000000"/>
                  </a:solidFill>
                  <a:effectLst/>
                  <a:uLnTx/>
                  <a:uFillTx/>
                  <a:latin typeface="Arial"/>
                  <a:ea typeface="+mn-ea"/>
                  <a:cs typeface="Arial"/>
                </a:rPr>
                <a:t> </a:t>
              </a:r>
              <a:r>
                <a:rPr kumimoji="0" sz="1200" b="1" i="0" u="none" strike="noStrike" kern="0" cap="none" spc="0" normalizeH="0" baseline="0" noProof="0" dirty="0">
                  <a:ln>
                    <a:noFill/>
                  </a:ln>
                  <a:solidFill>
                    <a:srgbClr val="000000"/>
                  </a:solidFill>
                  <a:effectLst/>
                  <a:uLnTx/>
                  <a:uFillTx/>
                  <a:latin typeface="Arial"/>
                  <a:ea typeface="+mn-ea"/>
                  <a:cs typeface="Arial"/>
                </a:rPr>
                <a:t>of airway</a:t>
              </a:r>
              <a:r>
                <a:rPr kumimoji="0" sz="1200" b="1" i="0" u="none" strike="noStrike" kern="0" cap="none" spc="-45" normalizeH="0" baseline="0" noProof="0" dirty="0">
                  <a:ln>
                    <a:noFill/>
                  </a:ln>
                  <a:solidFill>
                    <a:srgbClr val="000000"/>
                  </a:solidFill>
                  <a:effectLst/>
                  <a:uLnTx/>
                  <a:uFillTx/>
                  <a:latin typeface="Arial"/>
                  <a:ea typeface="+mn-ea"/>
                  <a:cs typeface="Arial"/>
                </a:rPr>
                <a:t> </a:t>
              </a:r>
              <a:r>
                <a:rPr kumimoji="0" sz="1200" b="1" i="0" u="none" strike="noStrike" kern="0" cap="none" spc="0" normalizeH="0" baseline="0" noProof="0" dirty="0">
                  <a:ln>
                    <a:noFill/>
                  </a:ln>
                  <a:solidFill>
                    <a:srgbClr val="000000"/>
                  </a:solidFill>
                  <a:effectLst/>
                  <a:uLnTx/>
                  <a:uFillTx/>
                  <a:latin typeface="Arial"/>
                  <a:ea typeface="+mn-ea"/>
                  <a:cs typeface="Arial"/>
                </a:rPr>
                <a:t>epithelia and submucosal</a:t>
              </a:r>
              <a:r>
                <a:rPr kumimoji="0" sz="1200" b="1" i="0" u="none" strike="noStrike" kern="0" cap="none" spc="-25" normalizeH="0" baseline="0" noProof="0" dirty="0">
                  <a:ln>
                    <a:noFill/>
                  </a:ln>
                  <a:solidFill>
                    <a:srgbClr val="000000"/>
                  </a:solidFill>
                  <a:effectLst/>
                  <a:uLnTx/>
                  <a:uFillTx/>
                  <a:latin typeface="Arial"/>
                  <a:ea typeface="+mn-ea"/>
                  <a:cs typeface="Arial"/>
                </a:rPr>
                <a:t> </a:t>
              </a:r>
              <a:r>
                <a:rPr kumimoji="0" sz="1200" b="1" i="0" u="none" strike="noStrike" kern="0" cap="none" spc="0" normalizeH="0" baseline="0" noProof="0" dirty="0">
                  <a:ln>
                    <a:noFill/>
                  </a:ln>
                  <a:solidFill>
                    <a:srgbClr val="000000"/>
                  </a:solidFill>
                  <a:effectLst/>
                  <a:uLnTx/>
                  <a:uFillTx/>
                  <a:latin typeface="Arial"/>
                  <a:ea typeface="+mn-ea"/>
                  <a:cs typeface="Arial"/>
                </a:rPr>
                <a:t>glands</a:t>
              </a:r>
              <a:r>
                <a:rPr kumimoji="0" lang="en-US" sz="1200" b="1" i="0" u="none" strike="noStrike" kern="0" cap="none" spc="0" normalizeH="0" baseline="24305" noProof="0" dirty="0">
                  <a:ln>
                    <a:noFill/>
                  </a:ln>
                  <a:solidFill>
                    <a:srgbClr val="000000"/>
                  </a:solidFill>
                  <a:effectLst/>
                  <a:uLnTx/>
                  <a:uFillTx/>
                  <a:latin typeface="Arial"/>
                  <a:ea typeface="+mn-ea"/>
                  <a:cs typeface="Arial"/>
                </a:rPr>
                <a:t>4</a:t>
              </a:r>
              <a:endParaRPr kumimoji="0" sz="1200" b="0" i="0" u="none" strike="noStrike" kern="0" cap="none" spc="0" normalizeH="0" baseline="24305" noProof="0" dirty="0">
                <a:ln>
                  <a:noFill/>
                </a:ln>
                <a:solidFill>
                  <a:srgbClr val="000000"/>
                </a:solidFill>
                <a:effectLst/>
                <a:uLnTx/>
                <a:uFillTx/>
                <a:latin typeface="Arial"/>
                <a:ea typeface="+mn-ea"/>
                <a:cs typeface="Arial"/>
              </a:endParaRPr>
            </a:p>
          </p:txBody>
        </p:sp>
        <p:grpSp>
          <p:nvGrpSpPr>
            <p:cNvPr id="30" name="Group 29">
              <a:extLst>
                <a:ext uri="{FF2B5EF4-FFF2-40B4-BE49-F238E27FC236}">
                  <a16:creationId xmlns:a16="http://schemas.microsoft.com/office/drawing/2014/main" id="{8E204FB4-2642-E3CC-677B-4502F334A649}"/>
                </a:ext>
              </a:extLst>
            </p:cNvPr>
            <p:cNvGrpSpPr/>
            <p:nvPr/>
          </p:nvGrpSpPr>
          <p:grpSpPr>
            <a:xfrm>
              <a:off x="3351409" y="3305928"/>
              <a:ext cx="5376160" cy="2355647"/>
              <a:chOff x="3351409" y="3204328"/>
              <a:chExt cx="5376160" cy="2355647"/>
            </a:xfrm>
          </p:grpSpPr>
          <p:pic>
            <p:nvPicPr>
              <p:cNvPr id="31" name="object 7">
                <a:extLst>
                  <a:ext uri="{FF2B5EF4-FFF2-40B4-BE49-F238E27FC236}">
                    <a16:creationId xmlns:a16="http://schemas.microsoft.com/office/drawing/2014/main" id="{27D8A871-2959-4DBC-482E-65B6C82512FF}"/>
                  </a:ext>
                </a:extLst>
              </p:cNvPr>
              <p:cNvPicPr/>
              <p:nvPr/>
            </p:nvPicPr>
            <p:blipFill>
              <a:blip r:embed="rId2" cstate="print"/>
              <a:stretch>
                <a:fillRect/>
              </a:stretch>
            </p:blipFill>
            <p:spPr>
              <a:xfrm>
                <a:off x="4537844" y="3581823"/>
                <a:ext cx="3154680" cy="1978152"/>
              </a:xfrm>
              <a:prstGeom prst="rect">
                <a:avLst/>
              </a:prstGeom>
            </p:spPr>
          </p:pic>
          <p:sp>
            <p:nvSpPr>
              <p:cNvPr id="64" name="object 13">
                <a:extLst>
                  <a:ext uri="{FF2B5EF4-FFF2-40B4-BE49-F238E27FC236}">
                    <a16:creationId xmlns:a16="http://schemas.microsoft.com/office/drawing/2014/main" id="{8E92A6E2-D67A-D3A0-CAB6-0ABE2184D975}"/>
                  </a:ext>
                </a:extLst>
              </p:cNvPr>
              <p:cNvSpPr txBox="1"/>
              <p:nvPr/>
            </p:nvSpPr>
            <p:spPr>
              <a:xfrm>
                <a:off x="3351409" y="3377475"/>
                <a:ext cx="1055370" cy="197490"/>
              </a:xfrm>
              <a:prstGeom prst="rect">
                <a:avLst/>
              </a:prstGeom>
            </p:spPr>
            <p:txBody>
              <a:bodyPr vert="horz" wrap="square" lIns="0" tIns="12700" rIns="0" bIns="0" rtlCol="0">
                <a:spAutoFit/>
              </a:bodyPr>
              <a:lstStyle/>
              <a:p>
                <a:pPr marL="0" marR="508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Mucous layer</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66" name="object 14">
                <a:extLst>
                  <a:ext uri="{FF2B5EF4-FFF2-40B4-BE49-F238E27FC236}">
                    <a16:creationId xmlns:a16="http://schemas.microsoft.com/office/drawing/2014/main" id="{C5ACAEB2-7228-EE86-08B7-91AE8CCBE197}"/>
                  </a:ext>
                </a:extLst>
              </p:cNvPr>
              <p:cNvSpPr txBox="1"/>
              <p:nvPr/>
            </p:nvSpPr>
            <p:spPr>
              <a:xfrm>
                <a:off x="3730250" y="4462822"/>
                <a:ext cx="640881"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Basal</a:t>
                </a:r>
                <a:r>
                  <a:rPr kumimoji="0" sz="1200" b="0" i="0" u="none" strike="noStrike" kern="0" cap="none" spc="-70"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cell</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67" name="object 15">
                <a:extLst>
                  <a:ext uri="{FF2B5EF4-FFF2-40B4-BE49-F238E27FC236}">
                    <a16:creationId xmlns:a16="http://schemas.microsoft.com/office/drawing/2014/main" id="{CA7D1D0B-90E7-933D-40D4-18EEB2A1DDA6}"/>
                  </a:ext>
                </a:extLst>
              </p:cNvPr>
              <p:cNvSpPr txBox="1"/>
              <p:nvPr/>
            </p:nvSpPr>
            <p:spPr>
              <a:xfrm>
                <a:off x="7815460" y="3749590"/>
                <a:ext cx="842538"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Ciliated</a:t>
                </a:r>
                <a:r>
                  <a:rPr kumimoji="0" sz="1200" b="0" i="0" u="none" strike="noStrike" kern="0" cap="none" spc="-6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cells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68" name="object 16">
                <a:extLst>
                  <a:ext uri="{FF2B5EF4-FFF2-40B4-BE49-F238E27FC236}">
                    <a16:creationId xmlns:a16="http://schemas.microsoft.com/office/drawing/2014/main" id="{778A21B0-9A8F-B478-1721-9861D0D54E41}"/>
                  </a:ext>
                </a:extLst>
              </p:cNvPr>
              <p:cNvSpPr txBox="1"/>
              <p:nvPr/>
            </p:nvSpPr>
            <p:spPr>
              <a:xfrm>
                <a:off x="5293874" y="4969043"/>
                <a:ext cx="841256" cy="369332"/>
              </a:xfrm>
              <a:prstGeom prst="rect">
                <a:avLst/>
              </a:prstGeom>
            </p:spPr>
            <p:txBody>
              <a:bodyPr vert="horz" wrap="none" lIns="0" tIns="0" rIns="0" bIns="0" rtlCol="0">
                <a:spAutoFit/>
              </a:bodyPr>
              <a:lstStyle/>
              <a:p>
                <a:pPr marL="0" marR="5080" lvl="0" indent="0" algn="ctr" defTabSz="914400" rtl="0" eaLnBrk="1" fontAlgn="auto" latinLnBrk="0" hangingPunct="1">
                  <a:lnSpc>
                    <a:spcPct val="100000"/>
                  </a:lnSpc>
                  <a:spcBef>
                    <a:spcPts val="0"/>
                  </a:spcBef>
                  <a:spcAft>
                    <a:spcPts val="0"/>
                  </a:spcAft>
                  <a:buClrTx/>
                  <a:buSzTx/>
                  <a:buFontTx/>
                  <a:buNone/>
                  <a:tabLst/>
                  <a:defRPr/>
                </a:pPr>
                <a:r>
                  <a:rPr kumimoji="0" sz="1200" b="0" i="0" u="none" strike="noStrike" kern="0" cap="none" spc="0" normalizeH="0" baseline="0" noProof="0" dirty="0">
                    <a:ln>
                      <a:noFill/>
                    </a:ln>
                    <a:solidFill>
                      <a:srgbClr val="000000"/>
                    </a:solidFill>
                    <a:effectLst/>
                    <a:uLnTx/>
                    <a:uFillTx/>
                    <a:latin typeface="Arial"/>
                    <a:ea typeface="+mn-ea"/>
                    <a:cs typeface="Arial"/>
                  </a:rPr>
                  <a:t>S</a:t>
                </a:r>
                <a:r>
                  <a:rPr kumimoji="0" sz="1200" b="0" i="0" u="none" strike="noStrike" kern="0" cap="none" spc="-5" normalizeH="0" baseline="0" noProof="0" dirty="0">
                    <a:ln>
                      <a:noFill/>
                    </a:ln>
                    <a:solidFill>
                      <a:srgbClr val="000000"/>
                    </a:solidFill>
                    <a:effectLst/>
                    <a:uLnTx/>
                    <a:uFillTx/>
                    <a:latin typeface="Arial"/>
                    <a:ea typeface="+mn-ea"/>
                    <a:cs typeface="Arial"/>
                  </a:rPr>
                  <a:t>ub</a:t>
                </a:r>
                <a:r>
                  <a:rPr kumimoji="0" sz="1200" b="0" i="0" u="none" strike="noStrike" kern="0" cap="none" spc="5" normalizeH="0" baseline="0" noProof="0" dirty="0">
                    <a:ln>
                      <a:noFill/>
                    </a:ln>
                    <a:solidFill>
                      <a:srgbClr val="000000"/>
                    </a:solidFill>
                    <a:effectLst/>
                    <a:uLnTx/>
                    <a:uFillTx/>
                    <a:latin typeface="Arial"/>
                    <a:ea typeface="+mn-ea"/>
                    <a:cs typeface="Arial"/>
                  </a:rPr>
                  <a:t>m</a:t>
                </a:r>
                <a:r>
                  <a:rPr kumimoji="0" sz="1200" b="0" i="0" u="none" strike="noStrike" kern="0" cap="none" spc="-5" normalizeH="0" baseline="0" noProof="0" dirty="0">
                    <a:ln>
                      <a:noFill/>
                    </a:ln>
                    <a:solidFill>
                      <a:srgbClr val="000000"/>
                    </a:solidFill>
                    <a:effectLst/>
                    <a:uLnTx/>
                    <a:uFillTx/>
                    <a:latin typeface="Arial"/>
                    <a:ea typeface="+mn-ea"/>
                    <a:cs typeface="Arial"/>
                  </a:rPr>
                  <a:t>uc</a:t>
                </a:r>
                <a:r>
                  <a:rPr kumimoji="0" sz="1200" b="0" i="0" u="none" strike="noStrike" kern="0" cap="none" spc="-15" normalizeH="0" baseline="0" noProof="0" dirty="0">
                    <a:ln>
                      <a:noFill/>
                    </a:ln>
                    <a:solidFill>
                      <a:srgbClr val="000000"/>
                    </a:solidFill>
                    <a:effectLst/>
                    <a:uLnTx/>
                    <a:uFillTx/>
                    <a:latin typeface="Arial"/>
                    <a:ea typeface="+mn-ea"/>
                    <a:cs typeface="Arial"/>
                  </a:rPr>
                  <a:t>o</a:t>
                </a:r>
                <a:r>
                  <a:rPr kumimoji="0" sz="1200" b="0" i="0" u="none" strike="noStrike" kern="0" cap="none" spc="-5" normalizeH="0" baseline="0" noProof="0" dirty="0">
                    <a:ln>
                      <a:noFill/>
                    </a:ln>
                    <a:solidFill>
                      <a:srgbClr val="000000"/>
                    </a:solidFill>
                    <a:effectLst/>
                    <a:uLnTx/>
                    <a:uFillTx/>
                    <a:latin typeface="Arial"/>
                    <a:ea typeface="+mn-ea"/>
                    <a:cs typeface="Arial"/>
                  </a:rPr>
                  <a:t>s</a:t>
                </a:r>
                <a:r>
                  <a:rPr kumimoji="0" sz="1200" b="0" i="0" u="none" strike="noStrike" kern="0" cap="none" spc="-15" normalizeH="0" baseline="0" noProof="0" dirty="0">
                    <a:ln>
                      <a:noFill/>
                    </a:ln>
                    <a:solidFill>
                      <a:srgbClr val="000000"/>
                    </a:solidFill>
                    <a:effectLst/>
                    <a:uLnTx/>
                    <a:uFillTx/>
                    <a:latin typeface="Arial"/>
                    <a:ea typeface="+mn-ea"/>
                    <a:cs typeface="Arial"/>
                  </a:rPr>
                  <a:t>a</a:t>
                </a:r>
                <a:r>
                  <a:rPr kumimoji="0" sz="1200" b="0" i="0" u="none" strike="noStrike" kern="0" cap="none" spc="-5" normalizeH="0" baseline="0" noProof="0" dirty="0">
                    <a:ln>
                      <a:noFill/>
                    </a:ln>
                    <a:solidFill>
                      <a:srgbClr val="000000"/>
                    </a:solidFill>
                    <a:effectLst/>
                    <a:uLnTx/>
                    <a:uFillTx/>
                    <a:latin typeface="Arial"/>
                    <a:ea typeface="+mn-ea"/>
                    <a:cs typeface="Arial"/>
                  </a:rPr>
                  <a:t>l</a:t>
                </a:r>
                <a:br>
                  <a:rPr kumimoji="0" lang="en-US" sz="1200" b="0" i="0" u="none" strike="noStrike" kern="0" cap="none" spc="-5" normalizeH="0" baseline="0" noProof="0" dirty="0">
                    <a:ln>
                      <a:noFill/>
                    </a:ln>
                    <a:solidFill>
                      <a:srgbClr val="000000"/>
                    </a:solidFill>
                    <a:effectLst/>
                    <a:uLnTx/>
                    <a:uFillTx/>
                    <a:latin typeface="Arial"/>
                    <a:ea typeface="+mn-ea"/>
                    <a:cs typeface="Arial"/>
                  </a:rPr>
                </a:br>
                <a:r>
                  <a:rPr kumimoji="0" sz="1200" b="0" i="0" u="none" strike="noStrike" kern="0" cap="none" spc="-5" normalizeH="0" baseline="0" noProof="0" dirty="0">
                    <a:ln>
                      <a:noFill/>
                    </a:ln>
                    <a:solidFill>
                      <a:srgbClr val="000000"/>
                    </a:solidFill>
                    <a:effectLst/>
                    <a:uLnTx/>
                    <a:uFillTx/>
                    <a:latin typeface="Arial"/>
                    <a:ea typeface="+mn-ea"/>
                    <a:cs typeface="Arial"/>
                  </a:rPr>
                  <a:t> gland</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69" name="object 20">
                <a:extLst>
                  <a:ext uri="{FF2B5EF4-FFF2-40B4-BE49-F238E27FC236}">
                    <a16:creationId xmlns:a16="http://schemas.microsoft.com/office/drawing/2014/main" id="{5D0596D8-4D13-EDFD-40C0-D98C0409EE68}"/>
                  </a:ext>
                </a:extLst>
              </p:cNvPr>
              <p:cNvSpPr txBox="1"/>
              <p:nvPr/>
            </p:nvSpPr>
            <p:spPr>
              <a:xfrm>
                <a:off x="4589787" y="3204328"/>
                <a:ext cx="724557"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tab pos="1014730" algn="l"/>
                    <a:tab pos="3237865" algn="l"/>
                  </a:tabLst>
                  <a:defRPr/>
                </a:pPr>
                <a:r>
                  <a:rPr kumimoji="0" lang="en-US" sz="1200" b="0" i="0" u="none" strike="noStrike" kern="0" cap="none" spc="0" normalizeH="0" baseline="0" noProof="0" dirty="0">
                    <a:ln>
                      <a:noFill/>
                    </a:ln>
                    <a:solidFill>
                      <a:srgbClr val="000000"/>
                    </a:solidFill>
                    <a:effectLst/>
                    <a:uLnTx/>
                    <a:uFillTx/>
                    <a:latin typeface="Arial"/>
                    <a:ea typeface="+mn-ea"/>
                    <a:cs typeface="Arial"/>
                  </a:rPr>
                  <a:t>Goblet cell</a:t>
                </a:r>
                <a:endParaRPr kumimoji="0" sz="1800" b="0" i="0" u="none" strike="noStrike" kern="0" cap="none" spc="0" normalizeH="0" baseline="4629" noProof="0" dirty="0">
                  <a:ln>
                    <a:noFill/>
                  </a:ln>
                  <a:solidFill>
                    <a:srgbClr val="000000"/>
                  </a:solidFill>
                  <a:effectLst/>
                  <a:uLnTx/>
                  <a:uFillTx/>
                  <a:latin typeface="Arial"/>
                  <a:ea typeface="+mn-ea"/>
                  <a:cs typeface="Arial"/>
                </a:endParaRPr>
              </a:p>
            </p:txBody>
          </p:sp>
          <p:sp>
            <p:nvSpPr>
              <p:cNvPr id="70" name="object 21">
                <a:extLst>
                  <a:ext uri="{FF2B5EF4-FFF2-40B4-BE49-F238E27FC236}">
                    <a16:creationId xmlns:a16="http://schemas.microsoft.com/office/drawing/2014/main" id="{35142021-7F64-EB9D-F7C4-BF81F3C8AC1D}"/>
                  </a:ext>
                </a:extLst>
              </p:cNvPr>
              <p:cNvSpPr txBox="1"/>
              <p:nvPr/>
            </p:nvSpPr>
            <p:spPr>
              <a:xfrm>
                <a:off x="7815460" y="5095678"/>
                <a:ext cx="872355"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Mucous</a:t>
                </a:r>
                <a:r>
                  <a:rPr kumimoji="0" sz="1200" b="0" i="0" u="none" strike="noStrike" kern="0" cap="none" spc="-5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cells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71" name="object 13">
                <a:extLst>
                  <a:ext uri="{FF2B5EF4-FFF2-40B4-BE49-F238E27FC236}">
                    <a16:creationId xmlns:a16="http://schemas.microsoft.com/office/drawing/2014/main" id="{48E0874E-F2AF-606E-E321-A07D4C298AE0}"/>
                  </a:ext>
                </a:extLst>
              </p:cNvPr>
              <p:cNvSpPr txBox="1"/>
              <p:nvPr/>
            </p:nvSpPr>
            <p:spPr>
              <a:xfrm>
                <a:off x="3351409" y="3609159"/>
                <a:ext cx="1055370" cy="197490"/>
              </a:xfrm>
              <a:prstGeom prst="rect">
                <a:avLst/>
              </a:prstGeom>
            </p:spPr>
            <p:txBody>
              <a:bodyPr vert="horz" wrap="square" lIns="0" tIns="12700" rIns="0" bIns="0" rtlCol="0">
                <a:spAutoFit/>
              </a:bodyPr>
              <a:lstStyle/>
              <a:p>
                <a:pPr marL="0" marR="5080" lvl="0" indent="0" algn="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Periciliary layer</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72" name="object 20">
                <a:extLst>
                  <a:ext uri="{FF2B5EF4-FFF2-40B4-BE49-F238E27FC236}">
                    <a16:creationId xmlns:a16="http://schemas.microsoft.com/office/drawing/2014/main" id="{D2E86310-5B15-61C5-F93D-FDD06C890D77}"/>
                  </a:ext>
                </a:extLst>
              </p:cNvPr>
              <p:cNvSpPr txBox="1"/>
              <p:nvPr/>
            </p:nvSpPr>
            <p:spPr>
              <a:xfrm>
                <a:off x="5570497" y="3204328"/>
                <a:ext cx="315792"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tab pos="1014730" algn="l"/>
                    <a:tab pos="3237865" algn="l"/>
                  </a:tabLst>
                  <a:defRPr/>
                </a:pPr>
                <a:r>
                  <a:rPr kumimoji="0" lang="en-US" sz="1200" b="0" i="0" u="none" strike="noStrike" kern="0" cap="none" spc="0" normalizeH="0" baseline="0" noProof="0" dirty="0">
                    <a:ln>
                      <a:noFill/>
                    </a:ln>
                    <a:solidFill>
                      <a:srgbClr val="000000"/>
                    </a:solidFill>
                    <a:effectLst/>
                    <a:uLnTx/>
                    <a:uFillTx/>
                    <a:latin typeface="Arial"/>
                    <a:ea typeface="+mn-ea"/>
                    <a:cs typeface="Arial"/>
                  </a:rPr>
                  <a:t>Duct</a:t>
                </a:r>
                <a:endParaRPr kumimoji="0" sz="1800" b="0" i="0" u="none" strike="noStrike" kern="0" cap="none" spc="0" normalizeH="0" baseline="4629" noProof="0" dirty="0">
                  <a:ln>
                    <a:noFill/>
                  </a:ln>
                  <a:solidFill>
                    <a:srgbClr val="000000"/>
                  </a:solidFill>
                  <a:effectLst/>
                  <a:uLnTx/>
                  <a:uFillTx/>
                  <a:latin typeface="Arial"/>
                  <a:ea typeface="+mn-ea"/>
                  <a:cs typeface="Arial"/>
                </a:endParaRPr>
              </a:p>
            </p:txBody>
          </p:sp>
          <p:sp>
            <p:nvSpPr>
              <p:cNvPr id="73" name="object 20">
                <a:extLst>
                  <a:ext uri="{FF2B5EF4-FFF2-40B4-BE49-F238E27FC236}">
                    <a16:creationId xmlns:a16="http://schemas.microsoft.com/office/drawing/2014/main" id="{1EAA0927-1B0D-A4BB-7751-A52ACF2A27E1}"/>
                  </a:ext>
                </a:extLst>
              </p:cNvPr>
              <p:cNvSpPr txBox="1"/>
              <p:nvPr/>
            </p:nvSpPr>
            <p:spPr>
              <a:xfrm>
                <a:off x="7815460" y="3204328"/>
                <a:ext cx="912109" cy="184666"/>
              </a:xfrm>
              <a:prstGeom prst="rect">
                <a:avLst/>
              </a:prstGeom>
            </p:spPr>
            <p:txBody>
              <a:bodyPr vert="horz"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tab pos="1014730" algn="l"/>
                    <a:tab pos="3237865" algn="l"/>
                  </a:tabLst>
                  <a:defRPr/>
                </a:pPr>
                <a:r>
                  <a:rPr kumimoji="0" lang="en-US" sz="1200" b="0" i="0" u="none" strike="noStrike" kern="0" cap="none" spc="0" normalizeH="0" baseline="0" noProof="0" dirty="0">
                    <a:ln>
                      <a:noFill/>
                    </a:ln>
                    <a:solidFill>
                      <a:srgbClr val="000000"/>
                    </a:solidFill>
                    <a:effectLst/>
                    <a:uLnTx/>
                    <a:uFillTx/>
                    <a:latin typeface="Arial"/>
                    <a:ea typeface="+mn-ea"/>
                    <a:cs typeface="Arial"/>
                  </a:rPr>
                  <a:t>Mucous layer</a:t>
                </a:r>
                <a:endParaRPr kumimoji="0" sz="1800" b="0" i="0" u="none" strike="noStrike" kern="0" cap="none" spc="0" normalizeH="0" baseline="4629" noProof="0" dirty="0">
                  <a:ln>
                    <a:noFill/>
                  </a:ln>
                  <a:solidFill>
                    <a:srgbClr val="000000"/>
                  </a:solidFill>
                  <a:effectLst/>
                  <a:uLnTx/>
                  <a:uFillTx/>
                  <a:latin typeface="Arial"/>
                  <a:ea typeface="+mn-ea"/>
                  <a:cs typeface="Arial"/>
                </a:endParaRPr>
              </a:p>
            </p:txBody>
          </p:sp>
          <p:cxnSp>
            <p:nvCxnSpPr>
              <p:cNvPr id="74" name="Elbow Connector 13">
                <a:extLst>
                  <a:ext uri="{FF2B5EF4-FFF2-40B4-BE49-F238E27FC236}">
                    <a16:creationId xmlns:a16="http://schemas.microsoft.com/office/drawing/2014/main" id="{1D02FDDB-C431-F564-3E50-335C4E64780E}"/>
                  </a:ext>
                </a:extLst>
              </p:cNvPr>
              <p:cNvCxnSpPr/>
              <p:nvPr/>
            </p:nvCxnSpPr>
            <p:spPr>
              <a:xfrm rot="10800000">
                <a:off x="4457200" y="3502239"/>
                <a:ext cx="318002" cy="79584"/>
              </a:xfrm>
              <a:prstGeom prst="bentConnector3">
                <a:avLst>
                  <a:gd name="adj1" fmla="val -171"/>
                </a:avLst>
              </a:prstGeom>
              <a:noFill/>
              <a:ln w="12700" cap="flat" cmpd="sng" algn="ctr">
                <a:solidFill>
                  <a:srgbClr val="544F40"/>
                </a:solidFill>
                <a:prstDash val="solid"/>
                <a:miter lim="800000"/>
                <a:tailEnd type="triangle"/>
              </a:ln>
              <a:effectLst/>
            </p:spPr>
          </p:cxnSp>
          <p:cxnSp>
            <p:nvCxnSpPr>
              <p:cNvPr id="75" name="Straight Arrow Connector 74">
                <a:extLst>
                  <a:ext uri="{FF2B5EF4-FFF2-40B4-BE49-F238E27FC236}">
                    <a16:creationId xmlns:a16="http://schemas.microsoft.com/office/drawing/2014/main" id="{B5350236-474F-9F11-4E5E-3F2075FF74BE}"/>
                  </a:ext>
                </a:extLst>
              </p:cNvPr>
              <p:cNvCxnSpPr/>
              <p:nvPr/>
            </p:nvCxnSpPr>
            <p:spPr>
              <a:xfrm flipH="1">
                <a:off x="4438651" y="4566961"/>
                <a:ext cx="1031080" cy="0"/>
              </a:xfrm>
              <a:prstGeom prst="straightConnector1">
                <a:avLst/>
              </a:prstGeom>
              <a:noFill/>
              <a:ln w="12700" cap="flat" cmpd="sng" algn="ctr">
                <a:solidFill>
                  <a:srgbClr val="544F40"/>
                </a:solidFill>
                <a:prstDash val="solid"/>
                <a:miter lim="800000"/>
                <a:tailEnd type="triangle"/>
              </a:ln>
              <a:effectLst/>
            </p:spPr>
          </p:cxnSp>
          <p:cxnSp>
            <p:nvCxnSpPr>
              <p:cNvPr id="76" name="Straight Arrow Connector 75">
                <a:extLst>
                  <a:ext uri="{FF2B5EF4-FFF2-40B4-BE49-F238E27FC236}">
                    <a16:creationId xmlns:a16="http://schemas.microsoft.com/office/drawing/2014/main" id="{774D23A3-F413-94F6-44BA-300E82D2D0ED}"/>
                  </a:ext>
                </a:extLst>
              </p:cNvPr>
              <p:cNvCxnSpPr/>
              <p:nvPr/>
            </p:nvCxnSpPr>
            <p:spPr>
              <a:xfrm flipH="1">
                <a:off x="4438651" y="3722834"/>
                <a:ext cx="133349" cy="0"/>
              </a:xfrm>
              <a:prstGeom prst="straightConnector1">
                <a:avLst/>
              </a:prstGeom>
              <a:noFill/>
              <a:ln w="12700" cap="flat" cmpd="sng" algn="ctr">
                <a:solidFill>
                  <a:srgbClr val="544F40"/>
                </a:solidFill>
                <a:prstDash val="solid"/>
                <a:miter lim="800000"/>
                <a:tailEnd type="triangle"/>
              </a:ln>
              <a:effectLst/>
            </p:spPr>
          </p:cxnSp>
          <p:cxnSp>
            <p:nvCxnSpPr>
              <p:cNvPr id="77" name="Straight Arrow Connector 76">
                <a:extLst>
                  <a:ext uri="{FF2B5EF4-FFF2-40B4-BE49-F238E27FC236}">
                    <a16:creationId xmlns:a16="http://schemas.microsoft.com/office/drawing/2014/main" id="{72002E28-BB0D-7F4A-6B16-19646B222079}"/>
                  </a:ext>
                </a:extLst>
              </p:cNvPr>
              <p:cNvCxnSpPr/>
              <p:nvPr/>
            </p:nvCxnSpPr>
            <p:spPr>
              <a:xfrm flipV="1">
                <a:off x="5728393" y="3418716"/>
                <a:ext cx="0" cy="327784"/>
              </a:xfrm>
              <a:prstGeom prst="straightConnector1">
                <a:avLst/>
              </a:prstGeom>
              <a:noFill/>
              <a:ln w="12700" cap="flat" cmpd="sng" algn="ctr">
                <a:solidFill>
                  <a:srgbClr val="544F40"/>
                </a:solidFill>
                <a:prstDash val="solid"/>
                <a:miter lim="800000"/>
                <a:tailEnd type="triangle"/>
              </a:ln>
              <a:effectLst/>
            </p:spPr>
          </p:cxnSp>
          <p:cxnSp>
            <p:nvCxnSpPr>
              <p:cNvPr id="78" name="Elbow Connector 140">
                <a:extLst>
                  <a:ext uri="{FF2B5EF4-FFF2-40B4-BE49-F238E27FC236}">
                    <a16:creationId xmlns:a16="http://schemas.microsoft.com/office/drawing/2014/main" id="{31C646E6-1483-C4F9-6964-22B3AFC3DE47}"/>
                  </a:ext>
                </a:extLst>
              </p:cNvPr>
              <p:cNvCxnSpPr/>
              <p:nvPr/>
            </p:nvCxnSpPr>
            <p:spPr>
              <a:xfrm flipV="1">
                <a:off x="7466725" y="3308785"/>
                <a:ext cx="318002" cy="287327"/>
              </a:xfrm>
              <a:prstGeom prst="bentConnector3">
                <a:avLst>
                  <a:gd name="adj1" fmla="val -2417"/>
                </a:avLst>
              </a:prstGeom>
              <a:noFill/>
              <a:ln w="12700" cap="flat" cmpd="sng" algn="ctr">
                <a:solidFill>
                  <a:srgbClr val="544F40"/>
                </a:solidFill>
                <a:prstDash val="solid"/>
                <a:miter lim="800000"/>
                <a:tailEnd type="triangle"/>
              </a:ln>
              <a:effectLst/>
            </p:spPr>
          </p:cxnSp>
          <p:cxnSp>
            <p:nvCxnSpPr>
              <p:cNvPr id="79" name="Straight Arrow Connector 78">
                <a:extLst>
                  <a:ext uri="{FF2B5EF4-FFF2-40B4-BE49-F238E27FC236}">
                    <a16:creationId xmlns:a16="http://schemas.microsoft.com/office/drawing/2014/main" id="{A214F6FF-1EFF-B29A-E06B-DBCFF52F4BEC}"/>
                  </a:ext>
                </a:extLst>
              </p:cNvPr>
              <p:cNvCxnSpPr/>
              <p:nvPr/>
            </p:nvCxnSpPr>
            <p:spPr>
              <a:xfrm>
                <a:off x="6227801" y="5188011"/>
                <a:ext cx="1556505" cy="0"/>
              </a:xfrm>
              <a:prstGeom prst="straightConnector1">
                <a:avLst/>
              </a:prstGeom>
              <a:noFill/>
              <a:ln w="12700" cap="flat" cmpd="sng" algn="ctr">
                <a:solidFill>
                  <a:srgbClr val="544F40"/>
                </a:solidFill>
                <a:prstDash val="solid"/>
                <a:miter lim="800000"/>
                <a:tailEnd type="triangle"/>
              </a:ln>
              <a:effectLst/>
            </p:spPr>
          </p:cxnSp>
          <p:cxnSp>
            <p:nvCxnSpPr>
              <p:cNvPr id="80" name="Straight Arrow Connector 79">
                <a:extLst>
                  <a:ext uri="{FF2B5EF4-FFF2-40B4-BE49-F238E27FC236}">
                    <a16:creationId xmlns:a16="http://schemas.microsoft.com/office/drawing/2014/main" id="{FF18935E-4B67-EFEF-7F97-13AD60FCF62B}"/>
                  </a:ext>
                </a:extLst>
              </p:cNvPr>
              <p:cNvCxnSpPr/>
              <p:nvPr/>
            </p:nvCxnSpPr>
            <p:spPr>
              <a:xfrm>
                <a:off x="7434263" y="3849219"/>
                <a:ext cx="350043" cy="0"/>
              </a:xfrm>
              <a:prstGeom prst="straightConnector1">
                <a:avLst/>
              </a:prstGeom>
              <a:noFill/>
              <a:ln w="12700" cap="flat" cmpd="sng" algn="ctr">
                <a:solidFill>
                  <a:srgbClr val="544F40"/>
                </a:solidFill>
                <a:prstDash val="solid"/>
                <a:miter lim="800000"/>
                <a:tailEnd type="triangle"/>
              </a:ln>
              <a:effectLst/>
            </p:spPr>
          </p:cxnSp>
        </p:grpSp>
      </p:grpSp>
      <p:sp>
        <p:nvSpPr>
          <p:cNvPr id="4" name="Rectangle 3">
            <a:extLst>
              <a:ext uri="{FF2B5EF4-FFF2-40B4-BE49-F238E27FC236}">
                <a16:creationId xmlns:a16="http://schemas.microsoft.com/office/drawing/2014/main" id="{20B9A749-8837-7015-0EE5-4FB006FB9AB6}"/>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7380639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59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COPD Pathogenic Mechanisms:</a:t>
            </a:r>
            <a:endParaRPr lang="en-GB" dirty="0"/>
          </a:p>
        </p:txBody>
      </p:sp>
      <p:sp>
        <p:nvSpPr>
          <p:cNvPr id="6" name="Subtitle 5">
            <a:extLst>
              <a:ext uri="{FF2B5EF4-FFF2-40B4-BE49-F238E27FC236}">
                <a16:creationId xmlns:a16="http://schemas.microsoft.com/office/drawing/2014/main" id="{91D35A28-FF03-368F-18FA-AA60FBA56DF1}"/>
              </a:ext>
            </a:extLst>
          </p:cNvPr>
          <p:cNvSpPr>
            <a:spLocks noGrp="1"/>
          </p:cNvSpPr>
          <p:nvPr>
            <p:ph type="subTitle" idx="1"/>
          </p:nvPr>
        </p:nvSpPr>
        <p:spPr/>
        <p:txBody>
          <a:bodyPr/>
          <a:lstStyle/>
          <a:p>
            <a:r>
              <a:rPr lang="en-US" i="1" dirty="0"/>
              <a:t>Tissue remodelling and defective lung repair</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1584" y="5791686"/>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a:t>
            </a:r>
          </a:p>
        </p:txBody>
      </p:sp>
      <p:grpSp>
        <p:nvGrpSpPr>
          <p:cNvPr id="20" name="Group 19">
            <a:extLst>
              <a:ext uri="{FF2B5EF4-FFF2-40B4-BE49-F238E27FC236}">
                <a16:creationId xmlns:a16="http://schemas.microsoft.com/office/drawing/2014/main" id="{1E5FE44E-25D4-4121-C7E7-69336B7EFF3A}"/>
              </a:ext>
            </a:extLst>
          </p:cNvPr>
          <p:cNvGrpSpPr/>
          <p:nvPr/>
        </p:nvGrpSpPr>
        <p:grpSpPr>
          <a:xfrm>
            <a:off x="2472373" y="1484830"/>
            <a:ext cx="7247254" cy="4091786"/>
            <a:chOff x="2472373" y="1484830"/>
            <a:chExt cx="7247254" cy="4091786"/>
          </a:xfrm>
        </p:grpSpPr>
        <p:grpSp>
          <p:nvGrpSpPr>
            <p:cNvPr id="97" name="Group 96">
              <a:extLst>
                <a:ext uri="{FF2B5EF4-FFF2-40B4-BE49-F238E27FC236}">
                  <a16:creationId xmlns:a16="http://schemas.microsoft.com/office/drawing/2014/main" id="{05701649-9CC7-30DE-EBAF-2FDA3FDBC96E}"/>
                </a:ext>
              </a:extLst>
            </p:cNvPr>
            <p:cNvGrpSpPr/>
            <p:nvPr/>
          </p:nvGrpSpPr>
          <p:grpSpPr>
            <a:xfrm>
              <a:off x="2472373" y="1484830"/>
              <a:ext cx="7247254" cy="876524"/>
              <a:chOff x="1552575" y="1919905"/>
              <a:chExt cx="7247254" cy="876524"/>
            </a:xfrm>
          </p:grpSpPr>
          <p:sp>
            <p:nvSpPr>
              <p:cNvPr id="98" name="object 19">
                <a:extLst>
                  <a:ext uri="{FF2B5EF4-FFF2-40B4-BE49-F238E27FC236}">
                    <a16:creationId xmlns:a16="http://schemas.microsoft.com/office/drawing/2014/main" id="{B5D80BB6-B916-9879-AD31-3468F315D776}"/>
                  </a:ext>
                </a:extLst>
              </p:cNvPr>
              <p:cNvSpPr txBox="1"/>
              <p:nvPr/>
            </p:nvSpPr>
            <p:spPr>
              <a:xfrm>
                <a:off x="1552575" y="1919905"/>
                <a:ext cx="7247254" cy="876524"/>
              </a:xfrm>
              <a:prstGeom prst="rect">
                <a:avLst/>
              </a:prstGeom>
              <a:ln w="19050">
                <a:solidFill>
                  <a:schemeClr val="accent1"/>
                </a:solidFill>
              </a:ln>
            </p:spPr>
            <p:txBody>
              <a:bodyPr vert="horz" wrap="square" lIns="0" tIns="0" rIns="0" bIns="45720" rtlCol="0" anchor="b">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400" b="0" i="0" u="none" strike="noStrike" kern="0" cap="none" spc="0" normalizeH="0" baseline="0" noProof="0" dirty="0">
                    <a:ln>
                      <a:noFill/>
                    </a:ln>
                    <a:solidFill>
                      <a:srgbClr val="000000"/>
                    </a:solidFill>
                    <a:effectLst/>
                    <a:uLnTx/>
                    <a:uFillTx/>
                    <a:latin typeface="Arial"/>
                    <a:ea typeface="+mn-ea"/>
                    <a:cs typeface="Arial"/>
                  </a:rPr>
                  <a:t>COPD</a:t>
                </a:r>
                <a:r>
                  <a:rPr kumimoji="0" sz="1400" b="0" i="0" u="none" strike="noStrike" kern="0" cap="none" spc="-20" normalizeH="0" baseline="0" noProof="0" dirty="0">
                    <a:ln>
                      <a:noFill/>
                    </a:ln>
                    <a:solidFill>
                      <a:srgbClr val="000000"/>
                    </a:solidFill>
                    <a:effectLst/>
                    <a:uLnTx/>
                    <a:uFillTx/>
                    <a:latin typeface="Arial"/>
                    <a:ea typeface="+mn-ea"/>
                    <a:cs typeface="Arial"/>
                  </a:rPr>
                  <a:t> </a:t>
                </a:r>
                <a:r>
                  <a:rPr kumimoji="0" sz="1400" b="0" i="0" u="none" strike="noStrike" kern="0" cap="none" spc="0" normalizeH="0" baseline="0" noProof="0" dirty="0">
                    <a:ln>
                      <a:noFill/>
                    </a:ln>
                    <a:solidFill>
                      <a:srgbClr val="000000"/>
                    </a:solidFill>
                    <a:effectLst/>
                    <a:uLnTx/>
                    <a:uFillTx/>
                    <a:latin typeface="Arial"/>
                    <a:ea typeface="+mn-ea"/>
                    <a:cs typeface="Arial"/>
                  </a:rPr>
                  <a:t>risk</a:t>
                </a:r>
                <a:r>
                  <a:rPr kumimoji="0" sz="1400" b="0" i="0" u="none" strike="noStrike" kern="0" cap="none" spc="-45" normalizeH="0" baseline="0" noProof="0" dirty="0">
                    <a:ln>
                      <a:noFill/>
                    </a:ln>
                    <a:solidFill>
                      <a:srgbClr val="000000"/>
                    </a:solidFill>
                    <a:effectLst/>
                    <a:uLnTx/>
                    <a:uFillTx/>
                    <a:latin typeface="Arial"/>
                    <a:ea typeface="+mn-ea"/>
                    <a:cs typeface="Arial"/>
                  </a:rPr>
                  <a:t> </a:t>
                </a:r>
                <a:r>
                  <a:rPr kumimoji="0" sz="1400" b="0" i="0" u="none" strike="noStrike" kern="0" cap="none" spc="0" normalizeH="0" baseline="0" noProof="0" dirty="0">
                    <a:ln>
                      <a:noFill/>
                    </a:ln>
                    <a:solidFill>
                      <a:srgbClr val="000000"/>
                    </a:solidFill>
                    <a:effectLst/>
                    <a:uLnTx/>
                    <a:uFillTx/>
                    <a:latin typeface="Arial"/>
                    <a:ea typeface="+mn-ea"/>
                    <a:cs typeface="Arial"/>
                  </a:rPr>
                  <a:t>factors</a:t>
                </a:r>
              </a:p>
            </p:txBody>
          </p:sp>
          <p:grpSp>
            <p:nvGrpSpPr>
              <p:cNvPr id="99" name="Group 98">
                <a:extLst>
                  <a:ext uri="{FF2B5EF4-FFF2-40B4-BE49-F238E27FC236}">
                    <a16:creationId xmlns:a16="http://schemas.microsoft.com/office/drawing/2014/main" id="{357BC4C9-4B8A-7E6D-A422-23A46096F090}"/>
                  </a:ext>
                </a:extLst>
              </p:cNvPr>
              <p:cNvGrpSpPr/>
              <p:nvPr/>
            </p:nvGrpSpPr>
            <p:grpSpPr>
              <a:xfrm>
                <a:off x="2887699" y="1968988"/>
                <a:ext cx="4575342" cy="746436"/>
                <a:chOff x="2553396" y="1968988"/>
                <a:chExt cx="4575342" cy="746436"/>
              </a:xfrm>
            </p:grpSpPr>
            <p:pic>
              <p:nvPicPr>
                <p:cNvPr id="100" name="object 20">
                  <a:extLst>
                    <a:ext uri="{FF2B5EF4-FFF2-40B4-BE49-F238E27FC236}">
                      <a16:creationId xmlns:a16="http://schemas.microsoft.com/office/drawing/2014/main" id="{26691835-6AD3-9A53-349E-22DF177CE7D6}"/>
                    </a:ext>
                  </a:extLst>
                </p:cNvPr>
                <p:cNvPicPr/>
                <p:nvPr/>
              </p:nvPicPr>
              <p:blipFill>
                <a:blip r:embed="rId2" cstate="print"/>
                <a:stretch>
                  <a:fillRect/>
                </a:stretch>
              </p:blipFill>
              <p:spPr>
                <a:xfrm>
                  <a:off x="4348137" y="1968988"/>
                  <a:ext cx="973050" cy="440138"/>
                </a:xfrm>
                <a:prstGeom prst="rect">
                  <a:avLst/>
                </a:prstGeom>
              </p:spPr>
            </p:pic>
            <p:pic>
              <p:nvPicPr>
                <p:cNvPr id="101" name="object 21">
                  <a:extLst>
                    <a:ext uri="{FF2B5EF4-FFF2-40B4-BE49-F238E27FC236}">
                      <a16:creationId xmlns:a16="http://schemas.microsoft.com/office/drawing/2014/main" id="{F1EC4625-B175-B546-6884-1E10ADDB8F82}"/>
                    </a:ext>
                  </a:extLst>
                </p:cNvPr>
                <p:cNvPicPr/>
                <p:nvPr/>
              </p:nvPicPr>
              <p:blipFill>
                <a:blip r:embed="rId3" cstate="print"/>
                <a:stretch>
                  <a:fillRect/>
                </a:stretch>
              </p:blipFill>
              <p:spPr>
                <a:xfrm>
                  <a:off x="2553396" y="2001461"/>
                  <a:ext cx="535538" cy="657464"/>
                </a:xfrm>
                <a:prstGeom prst="rect">
                  <a:avLst/>
                </a:prstGeom>
              </p:spPr>
            </p:pic>
            <p:pic>
              <p:nvPicPr>
                <p:cNvPr id="102" name="object 22">
                  <a:extLst>
                    <a:ext uri="{FF2B5EF4-FFF2-40B4-BE49-F238E27FC236}">
                      <a16:creationId xmlns:a16="http://schemas.microsoft.com/office/drawing/2014/main" id="{6A617AD6-E0E4-CD25-AA88-BA7DC7360569}"/>
                    </a:ext>
                  </a:extLst>
                </p:cNvPr>
                <p:cNvPicPr/>
                <p:nvPr/>
              </p:nvPicPr>
              <p:blipFill>
                <a:blip r:embed="rId4" cstate="print"/>
                <a:stretch>
                  <a:fillRect/>
                </a:stretch>
              </p:blipFill>
              <p:spPr>
                <a:xfrm>
                  <a:off x="6582054" y="2008806"/>
                  <a:ext cx="546684" cy="706618"/>
                </a:xfrm>
                <a:prstGeom prst="rect">
                  <a:avLst/>
                </a:prstGeom>
              </p:spPr>
            </p:pic>
          </p:grpSp>
        </p:grpSp>
        <p:sp>
          <p:nvSpPr>
            <p:cNvPr id="103" name="object 23">
              <a:extLst>
                <a:ext uri="{FF2B5EF4-FFF2-40B4-BE49-F238E27FC236}">
                  <a16:creationId xmlns:a16="http://schemas.microsoft.com/office/drawing/2014/main" id="{BEA8184C-D2B8-CACB-D4AD-3ED5D5B9D60B}"/>
                </a:ext>
              </a:extLst>
            </p:cNvPr>
            <p:cNvSpPr/>
            <p:nvPr/>
          </p:nvSpPr>
          <p:spPr>
            <a:xfrm>
              <a:off x="5929630" y="2404259"/>
              <a:ext cx="332740" cy="201295"/>
            </a:xfrm>
            <a:custGeom>
              <a:avLst/>
              <a:gdLst/>
              <a:ahLst/>
              <a:cxnLst/>
              <a:rect l="l" t="t" r="r" b="b"/>
              <a:pathLst>
                <a:path w="332739" h="201294">
                  <a:moveTo>
                    <a:pt x="249174" y="0"/>
                  </a:moveTo>
                  <a:lnTo>
                    <a:pt x="83057" y="0"/>
                  </a:lnTo>
                  <a:lnTo>
                    <a:pt x="83057" y="100584"/>
                  </a:lnTo>
                  <a:lnTo>
                    <a:pt x="0" y="100584"/>
                  </a:lnTo>
                  <a:lnTo>
                    <a:pt x="166115" y="201167"/>
                  </a:lnTo>
                  <a:lnTo>
                    <a:pt x="332231" y="100584"/>
                  </a:lnTo>
                  <a:lnTo>
                    <a:pt x="249174" y="100584"/>
                  </a:lnTo>
                  <a:lnTo>
                    <a:pt x="249174"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04" name="Group 103">
              <a:extLst>
                <a:ext uri="{FF2B5EF4-FFF2-40B4-BE49-F238E27FC236}">
                  <a16:creationId xmlns:a16="http://schemas.microsoft.com/office/drawing/2014/main" id="{A17F9CB7-A9D4-914D-D379-6B097B553FB0}"/>
                </a:ext>
              </a:extLst>
            </p:cNvPr>
            <p:cNvGrpSpPr/>
            <p:nvPr/>
          </p:nvGrpSpPr>
          <p:grpSpPr>
            <a:xfrm>
              <a:off x="2472373" y="2648459"/>
              <a:ext cx="7247254" cy="683687"/>
              <a:chOff x="2472373" y="3301680"/>
              <a:chExt cx="7247254" cy="683687"/>
            </a:xfrm>
          </p:grpSpPr>
          <p:sp>
            <p:nvSpPr>
              <p:cNvPr id="105" name="object 19">
                <a:extLst>
                  <a:ext uri="{FF2B5EF4-FFF2-40B4-BE49-F238E27FC236}">
                    <a16:creationId xmlns:a16="http://schemas.microsoft.com/office/drawing/2014/main" id="{7AF57F7C-C99F-0248-4C8C-E88F8FC9404C}"/>
                  </a:ext>
                </a:extLst>
              </p:cNvPr>
              <p:cNvSpPr txBox="1"/>
              <p:nvPr/>
            </p:nvSpPr>
            <p:spPr>
              <a:xfrm>
                <a:off x="2472373" y="3301680"/>
                <a:ext cx="7247254" cy="683687"/>
              </a:xfrm>
              <a:prstGeom prst="rect">
                <a:avLst/>
              </a:prstGeom>
              <a:ln w="19050">
                <a:solidFill>
                  <a:schemeClr val="accent1"/>
                </a:solidFill>
              </a:ln>
            </p:spPr>
            <p:txBody>
              <a:bodyPr vert="horz" wrap="square" lIns="0" tIns="0" rIns="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rPr>
                  <a:t>Inflammation/injury to the small airways of the lungs</a:t>
                </a:r>
              </a:p>
            </p:txBody>
          </p:sp>
          <p:pic>
            <p:nvPicPr>
              <p:cNvPr id="106" name="object 7">
                <a:extLst>
                  <a:ext uri="{FF2B5EF4-FFF2-40B4-BE49-F238E27FC236}">
                    <a16:creationId xmlns:a16="http://schemas.microsoft.com/office/drawing/2014/main" id="{A1F22606-4596-9013-3B47-A71A47A19344}"/>
                  </a:ext>
                </a:extLst>
              </p:cNvPr>
              <p:cNvPicPr/>
              <p:nvPr/>
            </p:nvPicPr>
            <p:blipFill>
              <a:blip r:embed="rId5" cstate="print"/>
              <a:stretch>
                <a:fillRect/>
              </a:stretch>
            </p:blipFill>
            <p:spPr>
              <a:xfrm>
                <a:off x="3536976" y="3373494"/>
                <a:ext cx="381000" cy="540058"/>
              </a:xfrm>
              <a:prstGeom prst="rect">
                <a:avLst/>
              </a:prstGeom>
            </p:spPr>
          </p:pic>
        </p:grpSp>
        <p:sp>
          <p:nvSpPr>
            <p:cNvPr id="107" name="object 19">
              <a:extLst>
                <a:ext uri="{FF2B5EF4-FFF2-40B4-BE49-F238E27FC236}">
                  <a16:creationId xmlns:a16="http://schemas.microsoft.com/office/drawing/2014/main" id="{E93E760C-67F0-B1B1-C42D-A21A0C91FCD0}"/>
                </a:ext>
              </a:extLst>
            </p:cNvPr>
            <p:cNvSpPr txBox="1"/>
            <p:nvPr/>
          </p:nvSpPr>
          <p:spPr>
            <a:xfrm>
              <a:off x="2472373" y="3619251"/>
              <a:ext cx="7247254" cy="424516"/>
            </a:xfrm>
            <a:prstGeom prst="rect">
              <a:avLst/>
            </a:prstGeom>
            <a:ln w="19050">
              <a:solidFill>
                <a:schemeClr val="accent1"/>
              </a:solidFill>
            </a:ln>
          </p:spPr>
          <p:txBody>
            <a:bodyPr vert="horz" wrap="square" lIns="0" tIns="0" rIns="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srgbClr val="000000"/>
                  </a:solidFill>
                  <a:effectLst/>
                  <a:uLnTx/>
                  <a:uFillTx/>
                  <a:latin typeface="Arial"/>
                  <a:ea typeface="+mn-ea"/>
                  <a:cs typeface="Arial"/>
                </a:rPr>
                <a:t>The process of lung repair is disrupted, and permanent tissue remodelling can occur</a:t>
              </a:r>
            </a:p>
          </p:txBody>
        </p:sp>
        <p:sp>
          <p:nvSpPr>
            <p:cNvPr id="108" name="object 23">
              <a:extLst>
                <a:ext uri="{FF2B5EF4-FFF2-40B4-BE49-F238E27FC236}">
                  <a16:creationId xmlns:a16="http://schemas.microsoft.com/office/drawing/2014/main" id="{1F8BB8BC-5345-459C-5B1D-BF8436647A78}"/>
                </a:ext>
              </a:extLst>
            </p:cNvPr>
            <p:cNvSpPr/>
            <p:nvPr/>
          </p:nvSpPr>
          <p:spPr>
            <a:xfrm>
              <a:off x="5929630" y="3384576"/>
              <a:ext cx="332740" cy="201295"/>
            </a:xfrm>
            <a:custGeom>
              <a:avLst/>
              <a:gdLst/>
              <a:ahLst/>
              <a:cxnLst/>
              <a:rect l="l" t="t" r="r" b="b"/>
              <a:pathLst>
                <a:path w="332739" h="201294">
                  <a:moveTo>
                    <a:pt x="249174" y="0"/>
                  </a:moveTo>
                  <a:lnTo>
                    <a:pt x="83057" y="0"/>
                  </a:lnTo>
                  <a:lnTo>
                    <a:pt x="83057" y="100584"/>
                  </a:lnTo>
                  <a:lnTo>
                    <a:pt x="0" y="100584"/>
                  </a:lnTo>
                  <a:lnTo>
                    <a:pt x="166115" y="201167"/>
                  </a:lnTo>
                  <a:lnTo>
                    <a:pt x="332231" y="100584"/>
                  </a:lnTo>
                  <a:lnTo>
                    <a:pt x="249174" y="100584"/>
                  </a:lnTo>
                  <a:lnTo>
                    <a:pt x="249174"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09" name="object 23">
              <a:extLst>
                <a:ext uri="{FF2B5EF4-FFF2-40B4-BE49-F238E27FC236}">
                  <a16:creationId xmlns:a16="http://schemas.microsoft.com/office/drawing/2014/main" id="{2A365544-DDC0-CA3E-76F9-D57842689B54}"/>
                </a:ext>
              </a:extLst>
            </p:cNvPr>
            <p:cNvSpPr/>
            <p:nvPr/>
          </p:nvSpPr>
          <p:spPr>
            <a:xfrm>
              <a:off x="5929630" y="4096197"/>
              <a:ext cx="332740" cy="201295"/>
            </a:xfrm>
            <a:custGeom>
              <a:avLst/>
              <a:gdLst/>
              <a:ahLst/>
              <a:cxnLst/>
              <a:rect l="l" t="t" r="r" b="b"/>
              <a:pathLst>
                <a:path w="332739" h="201294">
                  <a:moveTo>
                    <a:pt x="249174" y="0"/>
                  </a:moveTo>
                  <a:lnTo>
                    <a:pt x="83057" y="0"/>
                  </a:lnTo>
                  <a:lnTo>
                    <a:pt x="83057" y="100584"/>
                  </a:lnTo>
                  <a:lnTo>
                    <a:pt x="0" y="100584"/>
                  </a:lnTo>
                  <a:lnTo>
                    <a:pt x="166115" y="201167"/>
                  </a:lnTo>
                  <a:lnTo>
                    <a:pt x="332231" y="100584"/>
                  </a:lnTo>
                  <a:lnTo>
                    <a:pt x="249174" y="100584"/>
                  </a:lnTo>
                  <a:lnTo>
                    <a:pt x="249174"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10" name="Group 109">
              <a:extLst>
                <a:ext uri="{FF2B5EF4-FFF2-40B4-BE49-F238E27FC236}">
                  <a16:creationId xmlns:a16="http://schemas.microsoft.com/office/drawing/2014/main" id="{FAC7378D-ACF6-8463-25F5-3A8E336FACFD}"/>
                </a:ext>
              </a:extLst>
            </p:cNvPr>
            <p:cNvGrpSpPr/>
            <p:nvPr/>
          </p:nvGrpSpPr>
          <p:grpSpPr>
            <a:xfrm>
              <a:off x="2472373" y="4330872"/>
              <a:ext cx="7247254" cy="1245744"/>
              <a:chOff x="2472373" y="4716825"/>
              <a:chExt cx="7247254" cy="1245744"/>
            </a:xfrm>
          </p:grpSpPr>
          <p:sp>
            <p:nvSpPr>
              <p:cNvPr id="111" name="object 19">
                <a:extLst>
                  <a:ext uri="{FF2B5EF4-FFF2-40B4-BE49-F238E27FC236}">
                    <a16:creationId xmlns:a16="http://schemas.microsoft.com/office/drawing/2014/main" id="{92BB69F0-1889-360A-D8E0-870D0396E9E6}"/>
                  </a:ext>
                </a:extLst>
              </p:cNvPr>
              <p:cNvSpPr txBox="1"/>
              <p:nvPr/>
            </p:nvSpPr>
            <p:spPr>
              <a:xfrm>
                <a:off x="2472373" y="4716825"/>
                <a:ext cx="7247254" cy="1245744"/>
              </a:xfrm>
              <a:prstGeom prst="rect">
                <a:avLst/>
              </a:prstGeom>
              <a:ln w="19050">
                <a:solidFill>
                  <a:schemeClr val="accent1"/>
                </a:solidFill>
              </a:ln>
            </p:spPr>
            <p:txBody>
              <a:bodyPr vert="horz" wrap="square" lIns="0" tIns="0" rIns="0" bIns="4572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srgbClr val="534F40"/>
                  </a:solidFill>
                  <a:effectLst/>
                  <a:uLnTx/>
                  <a:uFillTx/>
                  <a:latin typeface="Arial"/>
                  <a:ea typeface="+mn-ea"/>
                  <a:cs typeface="Arial"/>
                </a:endParaRPr>
              </a:p>
            </p:txBody>
          </p:sp>
          <p:grpSp>
            <p:nvGrpSpPr>
              <p:cNvPr id="112" name="Group 111">
                <a:extLst>
                  <a:ext uri="{FF2B5EF4-FFF2-40B4-BE49-F238E27FC236}">
                    <a16:creationId xmlns:a16="http://schemas.microsoft.com/office/drawing/2014/main" id="{647B7031-1E14-3C5D-CF97-D34E2B21B8BE}"/>
                  </a:ext>
                </a:extLst>
              </p:cNvPr>
              <p:cNvGrpSpPr/>
              <p:nvPr/>
            </p:nvGrpSpPr>
            <p:grpSpPr>
              <a:xfrm>
                <a:off x="2827140" y="4794947"/>
                <a:ext cx="6044978" cy="1089500"/>
                <a:chOff x="2827140" y="4794947"/>
                <a:chExt cx="6044978" cy="1089500"/>
              </a:xfrm>
            </p:grpSpPr>
            <p:grpSp>
              <p:nvGrpSpPr>
                <p:cNvPr id="113" name="Group 112">
                  <a:extLst>
                    <a:ext uri="{FF2B5EF4-FFF2-40B4-BE49-F238E27FC236}">
                      <a16:creationId xmlns:a16="http://schemas.microsoft.com/office/drawing/2014/main" id="{6453F75B-A5A5-2BB6-5FAE-8DDBD5331ACB}"/>
                    </a:ext>
                  </a:extLst>
                </p:cNvPr>
                <p:cNvGrpSpPr/>
                <p:nvPr/>
              </p:nvGrpSpPr>
              <p:grpSpPr>
                <a:xfrm>
                  <a:off x="2827140" y="4794947"/>
                  <a:ext cx="1918154" cy="1089500"/>
                  <a:chOff x="2680778" y="4794947"/>
                  <a:chExt cx="1918154" cy="1089500"/>
                </a:xfrm>
              </p:grpSpPr>
              <p:grpSp>
                <p:nvGrpSpPr>
                  <p:cNvPr id="124" name="Group 123">
                    <a:extLst>
                      <a:ext uri="{FF2B5EF4-FFF2-40B4-BE49-F238E27FC236}">
                        <a16:creationId xmlns:a16="http://schemas.microsoft.com/office/drawing/2014/main" id="{06191AC3-2E03-F7BE-EAAA-E7E725FFA4F6}"/>
                      </a:ext>
                    </a:extLst>
                  </p:cNvPr>
                  <p:cNvGrpSpPr/>
                  <p:nvPr/>
                </p:nvGrpSpPr>
                <p:grpSpPr>
                  <a:xfrm>
                    <a:off x="3222025" y="4794947"/>
                    <a:ext cx="835660" cy="836930"/>
                    <a:chOff x="10594445" y="4748021"/>
                    <a:chExt cx="835660" cy="836930"/>
                  </a:xfrm>
                </p:grpSpPr>
                <p:sp>
                  <p:nvSpPr>
                    <p:cNvPr id="126" name="object 14">
                      <a:extLst>
                        <a:ext uri="{FF2B5EF4-FFF2-40B4-BE49-F238E27FC236}">
                          <a16:creationId xmlns:a16="http://schemas.microsoft.com/office/drawing/2014/main" id="{439F92DE-9B5D-B2F9-5915-C9AA764FC075}"/>
                        </a:ext>
                      </a:extLst>
                    </p:cNvPr>
                    <p:cNvSpPr/>
                    <p:nvPr/>
                  </p:nvSpPr>
                  <p:spPr>
                    <a:xfrm>
                      <a:off x="10710983" y="4972319"/>
                      <a:ext cx="602615" cy="461009"/>
                    </a:xfrm>
                    <a:custGeom>
                      <a:avLst/>
                      <a:gdLst/>
                      <a:ahLst/>
                      <a:cxnLst/>
                      <a:rect l="l" t="t" r="r" b="b"/>
                      <a:pathLst>
                        <a:path w="602614" h="461010">
                          <a:moveTo>
                            <a:pt x="509127" y="0"/>
                          </a:moveTo>
                          <a:lnTo>
                            <a:pt x="476952" y="4276"/>
                          </a:lnTo>
                          <a:lnTo>
                            <a:pt x="456612" y="14208"/>
                          </a:lnTo>
                          <a:lnTo>
                            <a:pt x="445670" y="23822"/>
                          </a:lnTo>
                          <a:lnTo>
                            <a:pt x="435657" y="33781"/>
                          </a:lnTo>
                          <a:lnTo>
                            <a:pt x="423358" y="40622"/>
                          </a:lnTo>
                          <a:lnTo>
                            <a:pt x="405558" y="40878"/>
                          </a:lnTo>
                          <a:lnTo>
                            <a:pt x="364037" y="29743"/>
                          </a:lnTo>
                          <a:lnTo>
                            <a:pt x="339804" y="37814"/>
                          </a:lnTo>
                          <a:lnTo>
                            <a:pt x="328477" y="52147"/>
                          </a:lnTo>
                          <a:lnTo>
                            <a:pt x="325675" y="59801"/>
                          </a:lnTo>
                          <a:lnTo>
                            <a:pt x="325016" y="66186"/>
                          </a:lnTo>
                          <a:lnTo>
                            <a:pt x="320405" y="78406"/>
                          </a:lnTo>
                          <a:lnTo>
                            <a:pt x="307887" y="86054"/>
                          </a:lnTo>
                          <a:lnTo>
                            <a:pt x="283511" y="78724"/>
                          </a:lnTo>
                          <a:lnTo>
                            <a:pt x="244034" y="61167"/>
                          </a:lnTo>
                          <a:lnTo>
                            <a:pt x="222125" y="50458"/>
                          </a:lnTo>
                          <a:lnTo>
                            <a:pt x="210549" y="44220"/>
                          </a:lnTo>
                          <a:lnTo>
                            <a:pt x="202070" y="40080"/>
                          </a:lnTo>
                          <a:lnTo>
                            <a:pt x="189452" y="35662"/>
                          </a:lnTo>
                          <a:lnTo>
                            <a:pt x="165459" y="28592"/>
                          </a:lnTo>
                          <a:lnTo>
                            <a:pt x="122856" y="16494"/>
                          </a:lnTo>
                          <a:lnTo>
                            <a:pt x="122916" y="72967"/>
                          </a:lnTo>
                          <a:lnTo>
                            <a:pt x="130571" y="116522"/>
                          </a:lnTo>
                          <a:lnTo>
                            <a:pt x="136751" y="149528"/>
                          </a:lnTo>
                          <a:lnTo>
                            <a:pt x="132381" y="174355"/>
                          </a:lnTo>
                          <a:lnTo>
                            <a:pt x="113895" y="189495"/>
                          </a:lnTo>
                          <a:lnTo>
                            <a:pt x="86502" y="194325"/>
                          </a:lnTo>
                          <a:lnTo>
                            <a:pt x="54300" y="192821"/>
                          </a:lnTo>
                          <a:lnTo>
                            <a:pt x="21383" y="188960"/>
                          </a:lnTo>
                          <a:lnTo>
                            <a:pt x="1815" y="185755"/>
                          </a:lnTo>
                          <a:lnTo>
                            <a:pt x="0" y="192087"/>
                          </a:lnTo>
                          <a:lnTo>
                            <a:pt x="5542" y="221017"/>
                          </a:lnTo>
                          <a:lnTo>
                            <a:pt x="8048" y="285607"/>
                          </a:lnTo>
                          <a:lnTo>
                            <a:pt x="33581" y="328483"/>
                          </a:lnTo>
                          <a:lnTo>
                            <a:pt x="80772" y="357727"/>
                          </a:lnTo>
                          <a:lnTo>
                            <a:pt x="132939" y="374850"/>
                          </a:lnTo>
                          <a:lnTo>
                            <a:pt x="173402" y="381365"/>
                          </a:lnTo>
                          <a:lnTo>
                            <a:pt x="196345" y="386526"/>
                          </a:lnTo>
                          <a:lnTo>
                            <a:pt x="209978" y="396081"/>
                          </a:lnTo>
                          <a:lnTo>
                            <a:pt x="219229" y="408564"/>
                          </a:lnTo>
                          <a:lnTo>
                            <a:pt x="229028" y="422513"/>
                          </a:lnTo>
                          <a:lnTo>
                            <a:pt x="255516" y="440025"/>
                          </a:lnTo>
                          <a:lnTo>
                            <a:pt x="303672" y="456596"/>
                          </a:lnTo>
                          <a:lnTo>
                            <a:pt x="361402" y="460857"/>
                          </a:lnTo>
                          <a:lnTo>
                            <a:pt x="416607" y="441436"/>
                          </a:lnTo>
                          <a:lnTo>
                            <a:pt x="473852" y="379662"/>
                          </a:lnTo>
                          <a:lnTo>
                            <a:pt x="502142" y="341010"/>
                          </a:lnTo>
                          <a:lnTo>
                            <a:pt x="513762" y="320313"/>
                          </a:lnTo>
                          <a:lnTo>
                            <a:pt x="521001" y="312404"/>
                          </a:lnTo>
                          <a:lnTo>
                            <a:pt x="535487" y="311872"/>
                          </a:lnTo>
                          <a:lnTo>
                            <a:pt x="557545" y="313197"/>
                          </a:lnTo>
                          <a:lnTo>
                            <a:pt x="580223" y="310761"/>
                          </a:lnTo>
                          <a:lnTo>
                            <a:pt x="596566" y="298942"/>
                          </a:lnTo>
                          <a:lnTo>
                            <a:pt x="602370" y="281110"/>
                          </a:lnTo>
                          <a:lnTo>
                            <a:pt x="602138" y="264398"/>
                          </a:lnTo>
                          <a:lnTo>
                            <a:pt x="599406" y="249114"/>
                          </a:lnTo>
                          <a:lnTo>
                            <a:pt x="597709" y="235569"/>
                          </a:lnTo>
                          <a:lnTo>
                            <a:pt x="599414" y="213713"/>
                          </a:lnTo>
                          <a:lnTo>
                            <a:pt x="600487" y="175307"/>
                          </a:lnTo>
                          <a:lnTo>
                            <a:pt x="594869" y="123376"/>
                          </a:lnTo>
                          <a:lnTo>
                            <a:pt x="576500" y="60944"/>
                          </a:lnTo>
                          <a:lnTo>
                            <a:pt x="545016" y="14511"/>
                          </a:lnTo>
                          <a:lnTo>
                            <a:pt x="509127" y="0"/>
                          </a:lnTo>
                          <a:close/>
                        </a:path>
                      </a:pathLst>
                    </a:custGeom>
                    <a:solidFill>
                      <a:srgbClr val="FCDFD5"/>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nvGrpSpPr>
                    <p:cNvPr id="127" name="Group 126">
                      <a:extLst>
                        <a:ext uri="{FF2B5EF4-FFF2-40B4-BE49-F238E27FC236}">
                          <a16:creationId xmlns:a16="http://schemas.microsoft.com/office/drawing/2014/main" id="{47F12DAE-AA79-97BE-0B79-1440D5024513}"/>
                        </a:ext>
                      </a:extLst>
                    </p:cNvPr>
                    <p:cNvGrpSpPr/>
                    <p:nvPr/>
                  </p:nvGrpSpPr>
                  <p:grpSpPr>
                    <a:xfrm>
                      <a:off x="10594445" y="4748021"/>
                      <a:ext cx="835660" cy="836930"/>
                      <a:chOff x="10594445" y="4748021"/>
                      <a:chExt cx="835660" cy="836930"/>
                    </a:xfrm>
                  </p:grpSpPr>
                  <p:grpSp>
                    <p:nvGrpSpPr>
                      <p:cNvPr id="128" name="Group 127">
                        <a:extLst>
                          <a:ext uri="{FF2B5EF4-FFF2-40B4-BE49-F238E27FC236}">
                            <a16:creationId xmlns:a16="http://schemas.microsoft.com/office/drawing/2014/main" id="{1B5CE616-1908-C3ED-EC74-8C4B7B5CBF6D}"/>
                          </a:ext>
                        </a:extLst>
                      </p:cNvPr>
                      <p:cNvGrpSpPr/>
                      <p:nvPr/>
                    </p:nvGrpSpPr>
                    <p:grpSpPr>
                      <a:xfrm>
                        <a:off x="10594445" y="4748021"/>
                        <a:ext cx="835660" cy="836930"/>
                        <a:chOff x="10594445" y="4748021"/>
                        <a:chExt cx="835660" cy="836930"/>
                      </a:xfrm>
                    </p:grpSpPr>
                    <p:sp>
                      <p:nvSpPr>
                        <p:cNvPr id="130" name="object 15">
                          <a:extLst>
                            <a:ext uri="{FF2B5EF4-FFF2-40B4-BE49-F238E27FC236}">
                              <a16:creationId xmlns:a16="http://schemas.microsoft.com/office/drawing/2014/main" id="{46A4771D-37F4-BC04-1D97-ACA0477350EF}"/>
                            </a:ext>
                          </a:extLst>
                        </p:cNvPr>
                        <p:cNvSpPr/>
                        <p:nvPr/>
                      </p:nvSpPr>
                      <p:spPr>
                        <a:xfrm>
                          <a:off x="10710983" y="4972319"/>
                          <a:ext cx="602615" cy="461009"/>
                        </a:xfrm>
                        <a:custGeom>
                          <a:avLst/>
                          <a:gdLst/>
                          <a:ahLst/>
                          <a:cxnLst/>
                          <a:rect l="l" t="t" r="r" b="b"/>
                          <a:pathLst>
                            <a:path w="602614" h="461010">
                              <a:moveTo>
                                <a:pt x="132381" y="174355"/>
                              </a:moveTo>
                              <a:lnTo>
                                <a:pt x="136751" y="149528"/>
                              </a:lnTo>
                              <a:lnTo>
                                <a:pt x="130571" y="116522"/>
                              </a:lnTo>
                              <a:lnTo>
                                <a:pt x="122916" y="72967"/>
                              </a:lnTo>
                              <a:lnTo>
                                <a:pt x="122856" y="16494"/>
                              </a:lnTo>
                              <a:lnTo>
                                <a:pt x="165459" y="28592"/>
                              </a:lnTo>
                              <a:lnTo>
                                <a:pt x="189452" y="35662"/>
                              </a:lnTo>
                              <a:lnTo>
                                <a:pt x="202070" y="40080"/>
                              </a:lnTo>
                              <a:lnTo>
                                <a:pt x="210549" y="44220"/>
                              </a:lnTo>
                              <a:lnTo>
                                <a:pt x="222125" y="50458"/>
                              </a:lnTo>
                              <a:lnTo>
                                <a:pt x="244034" y="61167"/>
                              </a:lnTo>
                              <a:lnTo>
                                <a:pt x="283511" y="78724"/>
                              </a:lnTo>
                              <a:lnTo>
                                <a:pt x="307887" y="86054"/>
                              </a:lnTo>
                              <a:lnTo>
                                <a:pt x="320405" y="78406"/>
                              </a:lnTo>
                              <a:lnTo>
                                <a:pt x="325016" y="66186"/>
                              </a:lnTo>
                              <a:lnTo>
                                <a:pt x="325675" y="59801"/>
                              </a:lnTo>
                              <a:lnTo>
                                <a:pt x="328477" y="52147"/>
                              </a:lnTo>
                              <a:lnTo>
                                <a:pt x="339804" y="37814"/>
                              </a:lnTo>
                              <a:lnTo>
                                <a:pt x="364037" y="29743"/>
                              </a:lnTo>
                              <a:lnTo>
                                <a:pt x="405558" y="40878"/>
                              </a:lnTo>
                              <a:lnTo>
                                <a:pt x="423358" y="40622"/>
                              </a:lnTo>
                              <a:lnTo>
                                <a:pt x="435657" y="33781"/>
                              </a:lnTo>
                              <a:lnTo>
                                <a:pt x="445670" y="23822"/>
                              </a:lnTo>
                              <a:lnTo>
                                <a:pt x="456612" y="14208"/>
                              </a:lnTo>
                              <a:lnTo>
                                <a:pt x="476952" y="4276"/>
                              </a:lnTo>
                              <a:lnTo>
                                <a:pt x="509127" y="0"/>
                              </a:lnTo>
                              <a:lnTo>
                                <a:pt x="545016" y="14511"/>
                              </a:lnTo>
                              <a:lnTo>
                                <a:pt x="576500" y="60944"/>
                              </a:lnTo>
                              <a:lnTo>
                                <a:pt x="594869" y="123376"/>
                              </a:lnTo>
                              <a:lnTo>
                                <a:pt x="600487" y="175307"/>
                              </a:lnTo>
                              <a:lnTo>
                                <a:pt x="599414" y="213713"/>
                              </a:lnTo>
                              <a:lnTo>
                                <a:pt x="597709" y="235569"/>
                              </a:lnTo>
                              <a:lnTo>
                                <a:pt x="599406" y="249114"/>
                              </a:lnTo>
                              <a:lnTo>
                                <a:pt x="602138" y="264398"/>
                              </a:lnTo>
                              <a:lnTo>
                                <a:pt x="602370" y="281110"/>
                              </a:lnTo>
                              <a:lnTo>
                                <a:pt x="596566" y="298942"/>
                              </a:lnTo>
                              <a:lnTo>
                                <a:pt x="580223" y="310761"/>
                              </a:lnTo>
                              <a:lnTo>
                                <a:pt x="557545" y="313197"/>
                              </a:lnTo>
                              <a:lnTo>
                                <a:pt x="535487" y="311872"/>
                              </a:lnTo>
                              <a:lnTo>
                                <a:pt x="521001" y="312404"/>
                              </a:lnTo>
                              <a:lnTo>
                                <a:pt x="513762" y="320313"/>
                              </a:lnTo>
                              <a:lnTo>
                                <a:pt x="502142" y="341010"/>
                              </a:lnTo>
                              <a:lnTo>
                                <a:pt x="473852" y="379662"/>
                              </a:lnTo>
                              <a:lnTo>
                                <a:pt x="416607" y="441436"/>
                              </a:lnTo>
                              <a:lnTo>
                                <a:pt x="361402" y="460857"/>
                              </a:lnTo>
                              <a:lnTo>
                                <a:pt x="303672" y="456596"/>
                              </a:lnTo>
                              <a:lnTo>
                                <a:pt x="255516" y="440025"/>
                              </a:lnTo>
                              <a:lnTo>
                                <a:pt x="229028" y="422513"/>
                              </a:lnTo>
                              <a:lnTo>
                                <a:pt x="219229" y="408564"/>
                              </a:lnTo>
                              <a:lnTo>
                                <a:pt x="209978" y="396081"/>
                              </a:lnTo>
                              <a:lnTo>
                                <a:pt x="196345" y="386526"/>
                              </a:lnTo>
                              <a:lnTo>
                                <a:pt x="173402" y="381365"/>
                              </a:lnTo>
                              <a:lnTo>
                                <a:pt x="132939" y="374850"/>
                              </a:lnTo>
                              <a:lnTo>
                                <a:pt x="80772" y="357727"/>
                              </a:lnTo>
                              <a:lnTo>
                                <a:pt x="33581" y="328483"/>
                              </a:lnTo>
                              <a:lnTo>
                                <a:pt x="8048" y="285607"/>
                              </a:lnTo>
                              <a:lnTo>
                                <a:pt x="5542" y="221017"/>
                              </a:lnTo>
                              <a:lnTo>
                                <a:pt x="0" y="192087"/>
                              </a:lnTo>
                              <a:lnTo>
                                <a:pt x="1815" y="185755"/>
                              </a:lnTo>
                              <a:lnTo>
                                <a:pt x="21383" y="188960"/>
                              </a:lnTo>
                              <a:lnTo>
                                <a:pt x="54300" y="192821"/>
                              </a:lnTo>
                              <a:lnTo>
                                <a:pt x="86502" y="194325"/>
                              </a:lnTo>
                              <a:lnTo>
                                <a:pt x="113895" y="189495"/>
                              </a:lnTo>
                              <a:lnTo>
                                <a:pt x="132381" y="174355"/>
                              </a:lnTo>
                              <a:close/>
                            </a:path>
                          </a:pathLst>
                        </a:custGeom>
                        <a:solidFill>
                          <a:srgbClr val="F36633">
                            <a:lumMod val="20000"/>
                            <a:lumOff val="80000"/>
                          </a:srgbClr>
                        </a:solidFill>
                        <a:ln w="13716">
                          <a:solidFill>
                            <a:srgbClr val="F36633"/>
                          </a:solidFill>
                          <a:prstDash val="sys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sp>
                      <p:nvSpPr>
                        <p:cNvPr id="131" name="object 17">
                          <a:extLst>
                            <a:ext uri="{FF2B5EF4-FFF2-40B4-BE49-F238E27FC236}">
                              <a16:creationId xmlns:a16="http://schemas.microsoft.com/office/drawing/2014/main" id="{97960389-6072-AA41-906A-28801A2F2E9B}"/>
                            </a:ext>
                          </a:extLst>
                        </p:cNvPr>
                        <p:cNvSpPr/>
                        <p:nvPr/>
                      </p:nvSpPr>
                      <p:spPr>
                        <a:xfrm>
                          <a:off x="10594445" y="4748021"/>
                          <a:ext cx="835660" cy="836930"/>
                        </a:xfrm>
                        <a:prstGeom prst="ellipse">
                          <a:avLst/>
                        </a:prstGeom>
                        <a:ln w="19050">
                          <a:solidFill>
                            <a:srgbClr val="544F4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29" name="object 16">
                        <a:extLst>
                          <a:ext uri="{FF2B5EF4-FFF2-40B4-BE49-F238E27FC236}">
                            <a16:creationId xmlns:a16="http://schemas.microsoft.com/office/drawing/2014/main" id="{B89C43B9-0DA4-A758-8962-862B9F45D0AD}"/>
                          </a:ext>
                        </a:extLst>
                      </p:cNvPr>
                      <p:cNvSpPr/>
                      <p:nvPr/>
                    </p:nvSpPr>
                    <p:spPr>
                      <a:xfrm>
                        <a:off x="10734930" y="5008102"/>
                        <a:ext cx="541655" cy="397510"/>
                      </a:xfrm>
                      <a:custGeom>
                        <a:avLst/>
                        <a:gdLst/>
                        <a:ahLst/>
                        <a:cxnLst/>
                        <a:rect l="l" t="t" r="r" b="b"/>
                        <a:pathLst>
                          <a:path w="541655" h="397510">
                            <a:moveTo>
                              <a:pt x="461049" y="0"/>
                            </a:moveTo>
                            <a:lnTo>
                              <a:pt x="433443" y="3692"/>
                            </a:lnTo>
                            <a:lnTo>
                              <a:pt x="416028" y="12207"/>
                            </a:lnTo>
                            <a:lnTo>
                              <a:pt x="406608" y="20496"/>
                            </a:lnTo>
                            <a:lnTo>
                              <a:pt x="398010" y="29083"/>
                            </a:lnTo>
                            <a:lnTo>
                              <a:pt x="387435" y="34978"/>
                            </a:lnTo>
                            <a:lnTo>
                              <a:pt x="372086" y="35194"/>
                            </a:lnTo>
                            <a:lnTo>
                              <a:pt x="336456" y="25626"/>
                            </a:lnTo>
                            <a:lnTo>
                              <a:pt x="315650" y="32559"/>
                            </a:lnTo>
                            <a:lnTo>
                              <a:pt x="305917" y="44874"/>
                            </a:lnTo>
                            <a:lnTo>
                              <a:pt x="303506" y="51450"/>
                            </a:lnTo>
                            <a:lnTo>
                              <a:pt x="302938" y="56975"/>
                            </a:lnTo>
                            <a:lnTo>
                              <a:pt x="298965" y="67548"/>
                            </a:lnTo>
                            <a:lnTo>
                              <a:pt x="288182" y="74168"/>
                            </a:lnTo>
                            <a:lnTo>
                              <a:pt x="267184" y="67833"/>
                            </a:lnTo>
                            <a:lnTo>
                              <a:pt x="208543" y="39905"/>
                            </a:lnTo>
                            <a:lnTo>
                              <a:pt x="176804" y="26033"/>
                            </a:lnTo>
                            <a:lnTo>
                              <a:pt x="160098" y="20221"/>
                            </a:lnTo>
                            <a:lnTo>
                              <a:pt x="146556" y="16468"/>
                            </a:lnTo>
                            <a:lnTo>
                              <a:pt x="124309" y="8778"/>
                            </a:lnTo>
                            <a:lnTo>
                              <a:pt x="120711" y="59834"/>
                            </a:lnTo>
                            <a:lnTo>
                              <a:pt x="131056" y="98520"/>
                            </a:lnTo>
                            <a:lnTo>
                              <a:pt x="141329" y="127704"/>
                            </a:lnTo>
                            <a:lnTo>
                              <a:pt x="137517" y="150256"/>
                            </a:lnTo>
                            <a:lnTo>
                              <a:pt x="114851" y="164855"/>
                            </a:lnTo>
                            <a:lnTo>
                              <a:pt x="81160" y="170751"/>
                            </a:lnTo>
                            <a:lnTo>
                              <a:pt x="41326" y="171384"/>
                            </a:lnTo>
                            <a:lnTo>
                              <a:pt x="230" y="170195"/>
                            </a:lnTo>
                            <a:lnTo>
                              <a:pt x="0" y="172110"/>
                            </a:lnTo>
                            <a:lnTo>
                              <a:pt x="5722" y="173894"/>
                            </a:lnTo>
                            <a:lnTo>
                              <a:pt x="12160" y="192466"/>
                            </a:lnTo>
                            <a:lnTo>
                              <a:pt x="14073" y="244744"/>
                            </a:lnTo>
                            <a:lnTo>
                              <a:pt x="43664" y="286861"/>
                            </a:lnTo>
                            <a:lnTo>
                              <a:pt x="89352" y="311927"/>
                            </a:lnTo>
                            <a:lnTo>
                              <a:pt x="137088" y="324326"/>
                            </a:lnTo>
                            <a:lnTo>
                              <a:pt x="172823" y="328437"/>
                            </a:lnTo>
                            <a:lnTo>
                              <a:pt x="192480" y="332920"/>
                            </a:lnTo>
                            <a:lnTo>
                              <a:pt x="204160" y="341153"/>
                            </a:lnTo>
                            <a:lnTo>
                              <a:pt x="212078" y="351887"/>
                            </a:lnTo>
                            <a:lnTo>
                              <a:pt x="220448" y="363870"/>
                            </a:lnTo>
                            <a:lnTo>
                              <a:pt x="243218" y="379003"/>
                            </a:lnTo>
                            <a:lnTo>
                              <a:pt x="284599" y="393303"/>
                            </a:lnTo>
                            <a:lnTo>
                              <a:pt x="334194" y="396982"/>
                            </a:lnTo>
                            <a:lnTo>
                              <a:pt x="381611" y="380253"/>
                            </a:lnTo>
                            <a:lnTo>
                              <a:pt x="430805" y="326973"/>
                            </a:lnTo>
                            <a:lnTo>
                              <a:pt x="455128" y="293671"/>
                            </a:lnTo>
                            <a:lnTo>
                              <a:pt x="465139" y="275847"/>
                            </a:lnTo>
                            <a:lnTo>
                              <a:pt x="471400" y="269001"/>
                            </a:lnTo>
                            <a:lnTo>
                              <a:pt x="483735" y="268573"/>
                            </a:lnTo>
                            <a:lnTo>
                              <a:pt x="502642" y="269763"/>
                            </a:lnTo>
                            <a:lnTo>
                              <a:pt x="522120" y="267716"/>
                            </a:lnTo>
                            <a:lnTo>
                              <a:pt x="536170" y="257571"/>
                            </a:lnTo>
                            <a:lnTo>
                              <a:pt x="541150" y="242163"/>
                            </a:lnTo>
                            <a:lnTo>
                              <a:pt x="540964" y="227742"/>
                            </a:lnTo>
                            <a:lnTo>
                              <a:pt x="538634" y="214584"/>
                            </a:lnTo>
                            <a:lnTo>
                              <a:pt x="537186" y="202961"/>
                            </a:lnTo>
                            <a:lnTo>
                              <a:pt x="538634" y="184126"/>
                            </a:lnTo>
                            <a:lnTo>
                              <a:pt x="539535" y="151050"/>
                            </a:lnTo>
                            <a:lnTo>
                              <a:pt x="534721" y="106306"/>
                            </a:lnTo>
                            <a:lnTo>
                              <a:pt x="519025" y="52466"/>
                            </a:lnTo>
                            <a:lnTo>
                              <a:pt x="491894" y="12475"/>
                            </a:lnTo>
                            <a:lnTo>
                              <a:pt x="461049" y="0"/>
                            </a:lnTo>
                            <a:close/>
                          </a:path>
                        </a:pathLst>
                      </a:custGeom>
                      <a:solidFill>
                        <a:srgbClr val="E7E6E6">
                          <a:lumMod val="90000"/>
                        </a:srgb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grpSp>
              <p:sp>
                <p:nvSpPr>
                  <p:cNvPr id="125" name="Rectangle 124">
                    <a:extLst>
                      <a:ext uri="{FF2B5EF4-FFF2-40B4-BE49-F238E27FC236}">
                        <a16:creationId xmlns:a16="http://schemas.microsoft.com/office/drawing/2014/main" id="{1AD0BA0D-667A-43DF-DE2D-640F0236F276}"/>
                      </a:ext>
                    </a:extLst>
                  </p:cNvPr>
                  <p:cNvSpPr/>
                  <p:nvPr/>
                </p:nvSpPr>
                <p:spPr>
                  <a:xfrm>
                    <a:off x="2680778" y="5669003"/>
                    <a:ext cx="1918154" cy="215444"/>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Arial"/>
                        <a:ea typeface="+mn-ea"/>
                        <a:cs typeface="Arial"/>
                      </a:rPr>
                      <a:t>Alveolar</a:t>
                    </a:r>
                    <a:r>
                      <a:rPr kumimoji="0" lang="en-US" sz="1400" b="0" i="0" u="none" strike="noStrike" kern="0" cap="none" spc="-40" normalizeH="0" baseline="0" noProof="0" dirty="0">
                        <a:ln>
                          <a:noFill/>
                        </a:ln>
                        <a:solidFill>
                          <a:srgbClr val="000000"/>
                        </a:solidFill>
                        <a:effectLst/>
                        <a:uLnTx/>
                        <a:uFillTx/>
                        <a:latin typeface="Arial"/>
                        <a:ea typeface="+mn-ea"/>
                        <a:cs typeface="Arial"/>
                      </a:rPr>
                      <a:t> </a:t>
                    </a:r>
                    <a:r>
                      <a:rPr kumimoji="0" lang="en-US" sz="1400" b="0" i="0" u="none" strike="noStrike" kern="0" cap="none" spc="-5" normalizeH="0" baseline="0" noProof="0" dirty="0">
                        <a:ln>
                          <a:noFill/>
                        </a:ln>
                        <a:solidFill>
                          <a:srgbClr val="000000"/>
                        </a:solidFill>
                        <a:effectLst/>
                        <a:uLnTx/>
                        <a:uFillTx/>
                        <a:latin typeface="Arial"/>
                        <a:ea typeface="+mn-ea"/>
                        <a:cs typeface="Arial"/>
                      </a:rPr>
                      <a:t>wall </a:t>
                    </a:r>
                    <a:r>
                      <a:rPr kumimoji="0" lang="en-US" sz="1400" b="0" i="0" u="none" strike="noStrike" kern="0" cap="none" spc="0" normalizeH="0" baseline="0" noProof="0" dirty="0">
                        <a:ln>
                          <a:noFill/>
                        </a:ln>
                        <a:solidFill>
                          <a:srgbClr val="000000"/>
                        </a:solidFill>
                        <a:effectLst/>
                        <a:uLnTx/>
                        <a:uFillTx/>
                        <a:latin typeface="Arial"/>
                        <a:ea typeface="+mn-ea"/>
                        <a:cs typeface="Arial"/>
                      </a:rPr>
                      <a:t>destruction</a:t>
                    </a:r>
                    <a:endParaRPr kumimoji="0" lang="en-US" sz="14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14" name="Group 113">
                  <a:extLst>
                    <a:ext uri="{FF2B5EF4-FFF2-40B4-BE49-F238E27FC236}">
                      <a16:creationId xmlns:a16="http://schemas.microsoft.com/office/drawing/2014/main" id="{21D10215-B07A-5876-15F0-3C806FABF3AD}"/>
                    </a:ext>
                  </a:extLst>
                </p:cNvPr>
                <p:cNvGrpSpPr/>
                <p:nvPr/>
              </p:nvGrpSpPr>
              <p:grpSpPr>
                <a:xfrm>
                  <a:off x="5227173" y="4794947"/>
                  <a:ext cx="1737655" cy="1089500"/>
                  <a:chOff x="5088923" y="4794947"/>
                  <a:chExt cx="1737655" cy="1089500"/>
                </a:xfrm>
              </p:grpSpPr>
              <p:grpSp>
                <p:nvGrpSpPr>
                  <p:cNvPr id="120" name="Group 119">
                    <a:extLst>
                      <a:ext uri="{FF2B5EF4-FFF2-40B4-BE49-F238E27FC236}">
                        <a16:creationId xmlns:a16="http://schemas.microsoft.com/office/drawing/2014/main" id="{EC6DA4A9-8B56-DC2F-DC7E-5A51FB12AD50}"/>
                      </a:ext>
                    </a:extLst>
                  </p:cNvPr>
                  <p:cNvGrpSpPr/>
                  <p:nvPr/>
                </p:nvGrpSpPr>
                <p:grpSpPr>
                  <a:xfrm>
                    <a:off x="5539920" y="4794947"/>
                    <a:ext cx="835660" cy="836930"/>
                    <a:chOff x="12497921" y="4729733"/>
                    <a:chExt cx="835660" cy="836930"/>
                  </a:xfrm>
                </p:grpSpPr>
                <p:pic>
                  <p:nvPicPr>
                    <p:cNvPr id="122" name="object 9">
                      <a:extLst>
                        <a:ext uri="{FF2B5EF4-FFF2-40B4-BE49-F238E27FC236}">
                          <a16:creationId xmlns:a16="http://schemas.microsoft.com/office/drawing/2014/main" id="{54805508-4621-8F85-34A4-4B47374917D1}"/>
                        </a:ext>
                      </a:extLst>
                    </p:cNvPr>
                    <p:cNvPicPr/>
                    <p:nvPr/>
                  </p:nvPicPr>
                  <p:blipFill>
                    <a:blip r:embed="rId6" cstate="print"/>
                    <a:stretch>
                      <a:fillRect/>
                    </a:stretch>
                  </p:blipFill>
                  <p:spPr>
                    <a:xfrm>
                      <a:off x="12753191" y="4858511"/>
                      <a:ext cx="323088" cy="550163"/>
                    </a:xfrm>
                    <a:prstGeom prst="rect">
                      <a:avLst/>
                    </a:prstGeom>
                  </p:spPr>
                </p:pic>
                <p:sp>
                  <p:nvSpPr>
                    <p:cNvPr id="123" name="object 10">
                      <a:extLst>
                        <a:ext uri="{FF2B5EF4-FFF2-40B4-BE49-F238E27FC236}">
                          <a16:creationId xmlns:a16="http://schemas.microsoft.com/office/drawing/2014/main" id="{62A81159-A057-C734-86E8-AE06BF3937C9}"/>
                        </a:ext>
                      </a:extLst>
                    </p:cNvPr>
                    <p:cNvSpPr/>
                    <p:nvPr/>
                  </p:nvSpPr>
                  <p:spPr>
                    <a:xfrm>
                      <a:off x="12497921" y="4729733"/>
                      <a:ext cx="835660" cy="836930"/>
                    </a:xfrm>
                    <a:prstGeom prst="ellipse">
                      <a:avLst/>
                    </a:prstGeom>
                    <a:ln w="19050">
                      <a:solidFill>
                        <a:srgbClr val="544F4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21" name="Rectangle 120">
                    <a:extLst>
                      <a:ext uri="{FF2B5EF4-FFF2-40B4-BE49-F238E27FC236}">
                        <a16:creationId xmlns:a16="http://schemas.microsoft.com/office/drawing/2014/main" id="{BE520383-AF19-707E-2DCD-97DEEDAD0907}"/>
                      </a:ext>
                    </a:extLst>
                  </p:cNvPr>
                  <p:cNvSpPr/>
                  <p:nvPr/>
                </p:nvSpPr>
                <p:spPr>
                  <a:xfrm>
                    <a:off x="5088923" y="5669003"/>
                    <a:ext cx="1737655" cy="215444"/>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Arial"/>
                        <a:ea typeface="+mn-ea"/>
                        <a:cs typeface="Arial"/>
                      </a:rPr>
                      <a:t>Mucus hypersecretion</a:t>
                    </a:r>
                    <a:endParaRPr kumimoji="0" lang="en-US" sz="1400" b="0" i="0" u="none" strike="noStrike" kern="0" cap="none" spc="0" normalizeH="0" baseline="0" noProof="0" dirty="0">
                      <a:ln>
                        <a:noFill/>
                      </a:ln>
                      <a:solidFill>
                        <a:srgbClr val="000000"/>
                      </a:solidFill>
                      <a:effectLst/>
                      <a:uLnTx/>
                      <a:uFillTx/>
                      <a:latin typeface="Arial"/>
                      <a:ea typeface="+mn-ea"/>
                      <a:cs typeface="Noto Sans"/>
                    </a:endParaRPr>
                  </a:p>
                </p:txBody>
              </p:sp>
            </p:grpSp>
            <p:grpSp>
              <p:nvGrpSpPr>
                <p:cNvPr id="115" name="Group 114">
                  <a:extLst>
                    <a:ext uri="{FF2B5EF4-FFF2-40B4-BE49-F238E27FC236}">
                      <a16:creationId xmlns:a16="http://schemas.microsoft.com/office/drawing/2014/main" id="{BA57AE5C-5824-A290-E3B1-D0C62B18C189}"/>
                    </a:ext>
                  </a:extLst>
                </p:cNvPr>
                <p:cNvGrpSpPr/>
                <p:nvPr/>
              </p:nvGrpSpPr>
              <p:grpSpPr>
                <a:xfrm>
                  <a:off x="8036458" y="4794947"/>
                  <a:ext cx="835660" cy="1089500"/>
                  <a:chOff x="7913988" y="4794947"/>
                  <a:chExt cx="835660" cy="1089500"/>
                </a:xfrm>
              </p:grpSpPr>
              <p:grpSp>
                <p:nvGrpSpPr>
                  <p:cNvPr id="116" name="Group 115">
                    <a:extLst>
                      <a:ext uri="{FF2B5EF4-FFF2-40B4-BE49-F238E27FC236}">
                        <a16:creationId xmlns:a16="http://schemas.microsoft.com/office/drawing/2014/main" id="{16F4CFAF-EB37-123B-6075-E3CF7F4F0865}"/>
                      </a:ext>
                    </a:extLst>
                  </p:cNvPr>
                  <p:cNvGrpSpPr/>
                  <p:nvPr/>
                </p:nvGrpSpPr>
                <p:grpSpPr>
                  <a:xfrm>
                    <a:off x="7913988" y="4794947"/>
                    <a:ext cx="835660" cy="836930"/>
                    <a:chOff x="14250521" y="4729733"/>
                    <a:chExt cx="835660" cy="836930"/>
                  </a:xfrm>
                </p:grpSpPr>
                <p:pic>
                  <p:nvPicPr>
                    <p:cNvPr id="118" name="object 11">
                      <a:extLst>
                        <a:ext uri="{FF2B5EF4-FFF2-40B4-BE49-F238E27FC236}">
                          <a16:creationId xmlns:a16="http://schemas.microsoft.com/office/drawing/2014/main" id="{E0CDCD6C-C6C1-3DD3-348D-0B83EBC44BEB}"/>
                        </a:ext>
                      </a:extLst>
                    </p:cNvPr>
                    <p:cNvPicPr/>
                    <p:nvPr/>
                  </p:nvPicPr>
                  <p:blipFill>
                    <a:blip r:embed="rId7" cstate="print"/>
                    <a:stretch>
                      <a:fillRect/>
                    </a:stretch>
                  </p:blipFill>
                  <p:spPr>
                    <a:xfrm>
                      <a:off x="14464643" y="4838699"/>
                      <a:ext cx="405383" cy="609600"/>
                    </a:xfrm>
                    <a:prstGeom prst="rect">
                      <a:avLst/>
                    </a:prstGeom>
                  </p:spPr>
                </p:pic>
                <p:sp>
                  <p:nvSpPr>
                    <p:cNvPr id="119" name="object 12">
                      <a:extLst>
                        <a:ext uri="{FF2B5EF4-FFF2-40B4-BE49-F238E27FC236}">
                          <a16:creationId xmlns:a16="http://schemas.microsoft.com/office/drawing/2014/main" id="{07925F56-ACCE-666D-535F-BB50656C25BB}"/>
                        </a:ext>
                      </a:extLst>
                    </p:cNvPr>
                    <p:cNvSpPr/>
                    <p:nvPr/>
                  </p:nvSpPr>
                  <p:spPr>
                    <a:xfrm>
                      <a:off x="14250521" y="4729733"/>
                      <a:ext cx="835660" cy="836930"/>
                    </a:xfrm>
                    <a:prstGeom prst="ellipse">
                      <a:avLst/>
                    </a:prstGeom>
                    <a:ln w="19050">
                      <a:solidFill>
                        <a:srgbClr val="544F40"/>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sp>
                <p:nvSpPr>
                  <p:cNvPr id="117" name="Rectangle 116">
                    <a:extLst>
                      <a:ext uri="{FF2B5EF4-FFF2-40B4-BE49-F238E27FC236}">
                        <a16:creationId xmlns:a16="http://schemas.microsoft.com/office/drawing/2014/main" id="{FB08563D-E81C-EBA6-CF40-29EF4E0393B5}"/>
                      </a:ext>
                    </a:extLst>
                  </p:cNvPr>
                  <p:cNvSpPr/>
                  <p:nvPr/>
                </p:nvSpPr>
                <p:spPr>
                  <a:xfrm>
                    <a:off x="8020996" y="5669003"/>
                    <a:ext cx="621645" cy="215444"/>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5" normalizeH="0" baseline="0" noProof="0" dirty="0">
                        <a:ln>
                          <a:noFill/>
                        </a:ln>
                        <a:solidFill>
                          <a:srgbClr val="000000"/>
                        </a:solidFill>
                        <a:effectLst/>
                        <a:uLnTx/>
                        <a:uFillTx/>
                        <a:latin typeface="Arial"/>
                        <a:ea typeface="+mn-ea"/>
                        <a:cs typeface="Arial"/>
                      </a:rPr>
                      <a:t>Fibrosis</a:t>
                    </a:r>
                    <a:endParaRPr kumimoji="0" lang="en-US" sz="1400" b="0" i="0" u="none" strike="noStrike" kern="0" cap="none" spc="0" normalizeH="0" baseline="0" noProof="0" dirty="0">
                      <a:ln>
                        <a:noFill/>
                      </a:ln>
                      <a:solidFill>
                        <a:srgbClr val="000000"/>
                      </a:solidFill>
                      <a:effectLst/>
                      <a:uLnTx/>
                      <a:uFillTx/>
                      <a:latin typeface="Arial"/>
                      <a:ea typeface="+mn-ea"/>
                      <a:cs typeface="Noto Sans"/>
                    </a:endParaRPr>
                  </a:p>
                </p:txBody>
              </p:sp>
            </p:grpSp>
          </p:grpSp>
        </p:grpSp>
      </p:grpSp>
      <p:sp>
        <p:nvSpPr>
          <p:cNvPr id="21" name="Content Placeholder 3">
            <a:extLst>
              <a:ext uri="{FF2B5EF4-FFF2-40B4-BE49-F238E27FC236}">
                <a16:creationId xmlns:a16="http://schemas.microsoft.com/office/drawing/2014/main" id="{AA3F5B26-06F1-5755-EABA-29C1447A6C17}"/>
              </a:ext>
            </a:extLst>
          </p:cNvPr>
          <p:cNvSpPr txBox="1">
            <a:spLocks/>
          </p:cNvSpPr>
          <p:nvPr/>
        </p:nvSpPr>
        <p:spPr>
          <a:xfrm>
            <a:off x="352801" y="1083163"/>
            <a:ext cx="11424000" cy="246221"/>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How COPD risk factors potentially contribute to lung tissue </a:t>
            </a:r>
            <a:r>
              <a:rPr kumimoji="0" lang="en-GB" sz="1600" b="0" i="0" u="none" strike="noStrike" kern="0" cap="none" spc="0" normalizeH="0" baseline="0" noProof="0" dirty="0">
                <a:ln>
                  <a:noFill/>
                </a:ln>
                <a:solidFill>
                  <a:srgbClr val="544F40"/>
                </a:solidFill>
                <a:effectLst/>
                <a:uLnTx/>
                <a:uFillTx/>
                <a:latin typeface="Arial" panose="020B0604020202020204" pitchFamily="34" charset="0"/>
                <a:ea typeface="+mn-ea"/>
                <a:cs typeface="Arial"/>
              </a:rPr>
              <a:t>remodelling</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and disrupt the repair process:</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p:txBody>
      </p:sp>
      <p:sp>
        <p:nvSpPr>
          <p:cNvPr id="4" name="Rectangle 3">
            <a:extLst>
              <a:ext uri="{FF2B5EF4-FFF2-40B4-BE49-F238E27FC236}">
                <a16:creationId xmlns:a16="http://schemas.microsoft.com/office/drawing/2014/main" id="{9F092B09-8272-DF3C-132E-50ADE2DC54D6}"/>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75086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Pathological Consequences of COPD Inflammation</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1743" y="5791973"/>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GSK created image from Brashier BB &amp; Kodgule R. JAPI Suppl 2012; 60:17–21.</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Agusti AG;Respiratory Medicine;2005;99;670-682; 2. Brashier BB;The Journal of the Association of Physicians of India;2012;60;17-21; 3. MacNee W;Clinical Respiratory Medicine;2012;4;531-552</a:t>
            </a:r>
          </a:p>
        </p:txBody>
      </p:sp>
      <p:sp>
        <p:nvSpPr>
          <p:cNvPr id="22" name="Content Placeholder 9">
            <a:extLst>
              <a:ext uri="{FF2B5EF4-FFF2-40B4-BE49-F238E27FC236}">
                <a16:creationId xmlns:a16="http://schemas.microsoft.com/office/drawing/2014/main" id="{7622EE29-6667-F809-40C7-83294A61497D}"/>
              </a:ext>
            </a:extLst>
          </p:cNvPr>
          <p:cNvSpPr txBox="1">
            <a:spLocks/>
          </p:cNvSpPr>
          <p:nvPr/>
        </p:nvSpPr>
        <p:spPr>
          <a:xfrm>
            <a:off x="379154" y="892390"/>
            <a:ext cx="11424000" cy="892552"/>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COPD is a </a:t>
            </a: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multicomponent</a:t>
            </a: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disease with inflammation at its core</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Inflammation induces various pathological changes in the lungs of patients with COPD</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1,2</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6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Resulting physiological changes eventually impact the patient’s quality of life and survival:</a:t>
            </a:r>
            <a:r>
              <a:rPr kumimoji="0" lang="en-US" sz="16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2,3</a:t>
            </a:r>
          </a:p>
        </p:txBody>
      </p:sp>
      <p:sp>
        <p:nvSpPr>
          <p:cNvPr id="23" name="object 9">
            <a:extLst>
              <a:ext uri="{FF2B5EF4-FFF2-40B4-BE49-F238E27FC236}">
                <a16:creationId xmlns:a16="http://schemas.microsoft.com/office/drawing/2014/main" id="{261010EA-D29A-5A01-B5D9-2E0B5886C576}"/>
              </a:ext>
            </a:extLst>
          </p:cNvPr>
          <p:cNvSpPr txBox="1"/>
          <p:nvPr/>
        </p:nvSpPr>
        <p:spPr>
          <a:xfrm>
            <a:off x="363188" y="3950859"/>
            <a:ext cx="4110494" cy="1169551"/>
          </a:xfrm>
          <a:prstGeom prst="rect">
            <a:avLst/>
          </a:prstGeom>
          <a:ln w="19050">
            <a:solidFill>
              <a:srgbClr val="F36633"/>
            </a:solidFill>
          </a:ln>
        </p:spPr>
        <p:txBody>
          <a:bodyPr vert="horz" wrap="square" lIns="45720" tIns="45720" rIns="45720" bIns="45720" rtlCol="0">
            <a:spAutoFit/>
          </a:bodyPr>
          <a:lstStyle>
            <a:defPPr>
              <a:defRPr lang="en-US"/>
            </a:defPPr>
            <a:lvl1pPr>
              <a:spcAft>
                <a:spcPts val="600"/>
              </a:spcAft>
              <a:defRPr sz="1200" b="1" spc="-5">
                <a:solidFill>
                  <a:srgbClr val="534F40"/>
                </a:solidFill>
                <a:latin typeface="Arial"/>
                <a:cs typeface="Arial"/>
              </a:defRPr>
            </a:lvl1pPr>
          </a:lstStyle>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sz="1200" b="0" i="0" u="none" strike="noStrike" kern="0" cap="none" spc="-5" normalizeH="0" baseline="0" noProof="0" dirty="0">
                <a:ln>
                  <a:noFill/>
                </a:ln>
                <a:solidFill>
                  <a:srgbClr val="000000"/>
                </a:solidFill>
                <a:effectLst/>
                <a:uLnTx/>
                <a:uFillTx/>
                <a:latin typeface="Arial"/>
                <a:ea typeface="+mn-ea"/>
                <a:cs typeface="Arial"/>
              </a:rPr>
              <a:t>Elasticity of lung tissue is reduced</a:t>
            </a:r>
            <a:r>
              <a:rPr kumimoji="0" sz="1200" b="0" i="0" u="none" strike="noStrike" kern="0" cap="none" spc="-5" normalizeH="0" baseline="30000" noProof="0" dirty="0">
                <a:ln>
                  <a:noFill/>
                </a:ln>
                <a:solidFill>
                  <a:srgbClr val="000000"/>
                </a:solidFill>
                <a:effectLst/>
                <a:uLnTx/>
                <a:uFillTx/>
                <a:latin typeface="Arial"/>
                <a:ea typeface="+mn-ea"/>
                <a:cs typeface="Arial"/>
              </a:rPr>
              <a:t>2</a:t>
            </a:r>
          </a:p>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sz="1200" b="0" i="0" u="none" strike="noStrike" kern="0" cap="none" spc="-5" normalizeH="0" baseline="0" noProof="0" dirty="0">
                <a:ln>
                  <a:noFill/>
                </a:ln>
                <a:solidFill>
                  <a:srgbClr val="000000"/>
                </a:solidFill>
                <a:effectLst/>
                <a:uLnTx/>
                <a:uFillTx/>
                <a:latin typeface="Arial"/>
                <a:ea typeface="+mn-ea"/>
                <a:cs typeface="Arial"/>
              </a:rPr>
              <a:t>Loss of elastic recoil in the alveoli</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due to excessive breakdown of the</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protein elastin by protease</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enzymes</a:t>
            </a:r>
            <a:r>
              <a:rPr kumimoji="0" sz="1200" b="0" i="0" u="none" strike="noStrike" kern="0" cap="none" spc="-5" normalizeH="0" baseline="30000" noProof="0" dirty="0">
                <a:ln>
                  <a:noFill/>
                </a:ln>
                <a:solidFill>
                  <a:srgbClr val="000000"/>
                </a:solidFill>
                <a:effectLst/>
                <a:uLnTx/>
                <a:uFillTx/>
                <a:latin typeface="Arial"/>
                <a:ea typeface="+mn-ea"/>
                <a:cs typeface="Arial"/>
              </a:rPr>
              <a:t>3</a:t>
            </a:r>
          </a:p>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sz="1200" b="0" i="0" u="none" strike="noStrike" kern="0" cap="none" spc="-5" normalizeH="0" baseline="0" noProof="0" dirty="0">
                <a:ln>
                  <a:noFill/>
                </a:ln>
                <a:solidFill>
                  <a:srgbClr val="000000"/>
                </a:solidFill>
                <a:effectLst/>
                <a:uLnTx/>
                <a:uFillTx/>
                <a:latin typeface="Arial"/>
                <a:ea typeface="+mn-ea"/>
                <a:cs typeface="Arial"/>
              </a:rPr>
              <a:t>Alveolar attachment to small</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airways is destroyed by action of</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protease enzymes</a:t>
            </a:r>
            <a:r>
              <a:rPr kumimoji="0" sz="1200" b="0" i="0" u="none" strike="noStrike" kern="0" cap="none" spc="-5" normalizeH="0" baseline="30000" noProof="0" dirty="0">
                <a:ln>
                  <a:noFill/>
                </a:ln>
                <a:solidFill>
                  <a:srgbClr val="000000"/>
                </a:solidFill>
                <a:effectLst/>
                <a:uLnTx/>
                <a:uFillTx/>
                <a:latin typeface="Arial"/>
                <a:ea typeface="+mn-ea"/>
                <a:cs typeface="Arial"/>
              </a:rPr>
              <a:t>3</a:t>
            </a:r>
          </a:p>
        </p:txBody>
      </p:sp>
      <p:sp>
        <p:nvSpPr>
          <p:cNvPr id="24" name="object 18">
            <a:extLst>
              <a:ext uri="{FF2B5EF4-FFF2-40B4-BE49-F238E27FC236}">
                <a16:creationId xmlns:a16="http://schemas.microsoft.com/office/drawing/2014/main" id="{0B6FF554-2497-35D1-9273-EE57E554F989}"/>
              </a:ext>
            </a:extLst>
          </p:cNvPr>
          <p:cNvSpPr txBox="1"/>
          <p:nvPr/>
        </p:nvSpPr>
        <p:spPr>
          <a:xfrm>
            <a:off x="363188" y="2061881"/>
            <a:ext cx="4110494" cy="1354217"/>
          </a:xfrm>
          <a:prstGeom prst="rect">
            <a:avLst/>
          </a:prstGeom>
          <a:ln w="19050">
            <a:solidFill>
              <a:srgbClr val="F36633"/>
            </a:solidFill>
          </a:ln>
        </p:spPr>
        <p:txBody>
          <a:bodyPr vert="horz" wrap="square" lIns="45720" tIns="45720" rIns="45720" bIns="45720" rtlCol="0">
            <a:spAutoFit/>
          </a:bodyPr>
          <a:lstStyle/>
          <a:p>
            <a:pPr marL="0" marR="0" lvl="0" indent="0" algn="l" defTabSz="914400" rtl="0" eaLnBrk="1" fontAlgn="auto" latinLnBrk="0" hangingPunct="1">
              <a:lnSpc>
                <a:spcPct val="100000"/>
              </a:lnSpc>
              <a:spcBef>
                <a:spcPts val="0"/>
              </a:spcBef>
              <a:spcAft>
                <a:spcPts val="600"/>
              </a:spcAft>
              <a:buClr>
                <a:srgbClr val="F36633"/>
              </a:buClr>
              <a:buSzTx/>
              <a:buFontTx/>
              <a:buNone/>
              <a:tabLst/>
              <a:defRPr/>
            </a:pPr>
            <a:r>
              <a:rPr kumimoji="0" sz="1200" b="1" i="0" u="none" strike="noStrike" kern="0" cap="none" spc="-5" normalizeH="0" baseline="0" noProof="0" dirty="0">
                <a:ln>
                  <a:noFill/>
                </a:ln>
                <a:solidFill>
                  <a:srgbClr val="000000"/>
                </a:solidFill>
                <a:effectLst/>
                <a:uLnTx/>
                <a:uFillTx/>
                <a:latin typeface="Arial"/>
                <a:ea typeface="+mn-ea"/>
                <a:cs typeface="Arial"/>
              </a:rPr>
              <a:t>Hyperinflation:</a:t>
            </a:r>
            <a:endParaRPr kumimoji="0" sz="1200" b="0" i="0" u="none" strike="noStrike" kern="0" cap="none" spc="0" normalizeH="0" baseline="0" noProof="0" dirty="0">
              <a:ln>
                <a:noFill/>
              </a:ln>
              <a:solidFill>
                <a:srgbClr val="000000"/>
              </a:solidFill>
              <a:effectLst/>
              <a:uLnTx/>
              <a:uFillTx/>
              <a:latin typeface="Arial"/>
              <a:ea typeface="+mn-ea"/>
              <a:cs typeface="Arial"/>
            </a:endParaRPr>
          </a:p>
          <a:p>
            <a:pPr marL="182880" marR="100965"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sz="1200" b="0" i="0" u="none" strike="noStrike" kern="0" cap="none" spc="-5" normalizeH="0" baseline="0" noProof="0" dirty="0">
                <a:ln>
                  <a:noFill/>
                </a:ln>
                <a:solidFill>
                  <a:srgbClr val="000000"/>
                </a:solidFill>
                <a:effectLst/>
                <a:uLnTx/>
                <a:uFillTx/>
                <a:latin typeface="Arial"/>
                <a:ea typeface="+mn-ea"/>
                <a:cs typeface="Arial"/>
              </a:rPr>
              <a:t>Destruction </a:t>
            </a:r>
            <a:r>
              <a:rPr kumimoji="0" sz="1200" b="0" i="0" u="none" strike="noStrike" kern="0" cap="none" spc="0" normalizeH="0" baseline="0" noProof="0" dirty="0">
                <a:ln>
                  <a:noFill/>
                </a:ln>
                <a:solidFill>
                  <a:srgbClr val="000000"/>
                </a:solidFill>
                <a:effectLst/>
                <a:uLnTx/>
                <a:uFillTx/>
                <a:latin typeface="Arial"/>
                <a:ea typeface="+mn-ea"/>
                <a:cs typeface="Arial"/>
              </a:rPr>
              <a:t>of </a:t>
            </a:r>
            <a:r>
              <a:rPr kumimoji="0" sz="1200" b="0" i="0" u="none" strike="noStrike" kern="0" cap="none" spc="-5" normalizeH="0" baseline="0" noProof="0" dirty="0">
                <a:ln>
                  <a:noFill/>
                </a:ln>
                <a:solidFill>
                  <a:srgbClr val="000000"/>
                </a:solidFill>
                <a:effectLst/>
                <a:uLnTx/>
                <a:uFillTx/>
                <a:latin typeface="Arial"/>
                <a:ea typeface="+mn-ea"/>
                <a:cs typeface="Arial"/>
              </a:rPr>
              <a:t>elastin and</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narrowing </a:t>
            </a:r>
            <a:r>
              <a:rPr kumimoji="0" sz="1200" b="0" i="0" u="none" strike="noStrike" kern="0" cap="none" spc="0" normalizeH="0" baseline="0" noProof="0" dirty="0">
                <a:ln>
                  <a:noFill/>
                </a:ln>
                <a:solidFill>
                  <a:srgbClr val="000000"/>
                </a:solidFill>
                <a:effectLst/>
                <a:uLnTx/>
                <a:uFillTx/>
                <a:latin typeface="Arial"/>
                <a:ea typeface="+mn-ea"/>
                <a:cs typeface="Arial"/>
              </a:rPr>
              <a:t>of </a:t>
            </a:r>
            <a:r>
              <a:rPr kumimoji="0" sz="1200" b="0" i="0" u="none" strike="noStrike" kern="0" cap="none" spc="-10" normalizeH="0" baseline="0" noProof="0" dirty="0">
                <a:ln>
                  <a:noFill/>
                </a:ln>
                <a:solidFill>
                  <a:srgbClr val="000000"/>
                </a:solidFill>
                <a:effectLst/>
                <a:uLnTx/>
                <a:uFillTx/>
                <a:latin typeface="Arial"/>
                <a:ea typeface="+mn-ea"/>
                <a:cs typeface="Arial"/>
              </a:rPr>
              <a:t>airways </a:t>
            </a:r>
            <a:r>
              <a:rPr kumimoji="0" sz="1200" b="0" i="0" u="none" strike="noStrike" kern="0" cap="none" spc="0" normalizeH="0" baseline="0" noProof="0" dirty="0">
                <a:ln>
                  <a:noFill/>
                </a:ln>
                <a:solidFill>
                  <a:srgbClr val="000000"/>
                </a:solidFill>
                <a:effectLst/>
                <a:uLnTx/>
                <a:uFillTx/>
                <a:latin typeface="Arial"/>
                <a:ea typeface="+mn-ea"/>
                <a:cs typeface="Arial"/>
              </a:rPr>
              <a:t>leads to an</a:t>
            </a:r>
            <a:r>
              <a:rPr kumimoji="0" lang="en-US" sz="1200" b="0" i="0" u="none" strike="noStrike" kern="0" cap="none" spc="0"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abnormally</a:t>
            </a:r>
            <a:r>
              <a:rPr kumimoji="0" sz="1200" b="0" i="0" u="none" strike="noStrike" kern="0" cap="none" spc="-3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high</a:t>
            </a:r>
            <a:r>
              <a:rPr kumimoji="0" sz="1200" b="0" i="0" u="none" strike="noStrike" kern="0" cap="none" spc="-3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level</a:t>
            </a:r>
            <a:r>
              <a:rPr kumimoji="0" sz="1200" b="0" i="0" u="none" strike="noStrike" kern="0" cap="none" spc="-25"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of</a:t>
            </a:r>
            <a:r>
              <a:rPr kumimoji="0" sz="1200" b="0" i="0" u="none" strike="noStrike" kern="0" cap="none" spc="-10"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inflation</a:t>
            </a:r>
            <a:r>
              <a:rPr kumimoji="0" sz="1200" b="0" i="0" u="none" strike="noStrike" kern="0" cap="none" spc="-40"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of</a:t>
            </a:r>
            <a:r>
              <a:rPr kumimoji="0" lang="en-US" sz="1200" b="0" i="0" u="none" strike="noStrike" kern="0" cap="none" spc="0"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t</a:t>
            </a:r>
            <a:r>
              <a:rPr kumimoji="0" sz="1200" b="0" i="0" u="none" strike="noStrike" kern="0" cap="none" spc="5" normalizeH="0" baseline="0" noProof="0" dirty="0">
                <a:ln>
                  <a:noFill/>
                </a:ln>
                <a:solidFill>
                  <a:srgbClr val="000000"/>
                </a:solidFill>
                <a:effectLst/>
                <a:uLnTx/>
                <a:uFillTx/>
                <a:latin typeface="Arial"/>
                <a:ea typeface="+mn-ea"/>
                <a:cs typeface="Arial"/>
              </a:rPr>
              <a:t>h</a:t>
            </a:r>
            <a:r>
              <a:rPr kumimoji="0" sz="1200" b="0" i="0" u="none" strike="noStrike" kern="0" cap="none" spc="-5" normalizeH="0" baseline="0" noProof="0" dirty="0">
                <a:ln>
                  <a:noFill/>
                </a:ln>
                <a:solidFill>
                  <a:srgbClr val="000000"/>
                </a:solidFill>
                <a:effectLst/>
                <a:uLnTx/>
                <a:uFillTx/>
                <a:latin typeface="Arial"/>
                <a:ea typeface="+mn-ea"/>
                <a:cs typeface="Arial"/>
              </a:rPr>
              <a:t>e</a:t>
            </a:r>
            <a:r>
              <a:rPr kumimoji="0" sz="1200" b="0" i="0" u="none" strike="noStrike" kern="0" cap="none" spc="-10"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lu</a:t>
            </a:r>
            <a:r>
              <a:rPr kumimoji="0" sz="1200" b="0" i="0" u="none" strike="noStrike" kern="0" cap="none" spc="0" normalizeH="0" baseline="0" noProof="0" dirty="0">
                <a:ln>
                  <a:noFill/>
                </a:ln>
                <a:solidFill>
                  <a:srgbClr val="000000"/>
                </a:solidFill>
                <a:effectLst/>
                <a:uLnTx/>
                <a:uFillTx/>
                <a:latin typeface="Arial"/>
                <a:ea typeface="+mn-ea"/>
                <a:cs typeface="Arial"/>
              </a:rPr>
              <a:t>n</a:t>
            </a:r>
            <a:r>
              <a:rPr kumimoji="0" sz="1200" b="0" i="0" u="none" strike="noStrike" kern="0" cap="none" spc="-15" normalizeH="0" baseline="0" noProof="0" dirty="0">
                <a:ln>
                  <a:noFill/>
                </a:ln>
                <a:solidFill>
                  <a:srgbClr val="000000"/>
                </a:solidFill>
                <a:effectLst/>
                <a:uLnTx/>
                <a:uFillTx/>
                <a:latin typeface="Arial"/>
                <a:ea typeface="+mn-ea"/>
                <a:cs typeface="Arial"/>
              </a:rPr>
              <a:t>g</a:t>
            </a:r>
            <a:r>
              <a:rPr kumimoji="0" sz="1200" b="0" i="0" u="none" strike="noStrike" kern="0" cap="none" spc="0" normalizeH="0" baseline="0" noProof="0" dirty="0">
                <a:ln>
                  <a:noFill/>
                </a:ln>
                <a:solidFill>
                  <a:srgbClr val="000000"/>
                </a:solidFill>
                <a:effectLst/>
                <a:uLnTx/>
                <a:uFillTx/>
                <a:latin typeface="Arial"/>
                <a:ea typeface="+mn-ea"/>
                <a:cs typeface="Arial"/>
              </a:rPr>
              <a:t>s</a:t>
            </a:r>
            <a:r>
              <a:rPr kumimoji="0" sz="1200" b="0" i="0" u="none" strike="noStrike" kern="0" cap="none" spc="-130" normalizeH="0" baseline="0" noProof="0" dirty="0">
                <a:ln>
                  <a:noFill/>
                </a:ln>
                <a:solidFill>
                  <a:srgbClr val="000000"/>
                </a:solidFill>
                <a:effectLst/>
                <a:uLnTx/>
                <a:uFillTx/>
                <a:latin typeface="Arial"/>
                <a:ea typeface="+mn-ea"/>
                <a:cs typeface="Arial"/>
              </a:rPr>
              <a:t> </a:t>
            </a:r>
            <a:r>
              <a:rPr kumimoji="0" sz="1200" b="0" i="0" u="none" strike="noStrike" kern="0" cap="none" spc="-7" normalizeH="0" baseline="24305" noProof="0" dirty="0">
                <a:ln>
                  <a:noFill/>
                </a:ln>
                <a:solidFill>
                  <a:srgbClr val="000000"/>
                </a:solidFill>
                <a:effectLst/>
                <a:uLnTx/>
                <a:uFillTx/>
                <a:latin typeface="Arial"/>
                <a:ea typeface="+mn-ea"/>
                <a:cs typeface="Arial"/>
              </a:rPr>
              <a:t>2</a:t>
            </a:r>
            <a:endParaRPr kumimoji="0" sz="1200" b="0" i="0" u="none" strike="noStrike" kern="0" cap="none" spc="0" normalizeH="0" baseline="24305" noProof="0" dirty="0">
              <a:ln>
                <a:noFill/>
              </a:ln>
              <a:solidFill>
                <a:srgbClr val="000000"/>
              </a:solidFill>
              <a:effectLst/>
              <a:uLnTx/>
              <a:uFillTx/>
              <a:latin typeface="Arial"/>
              <a:ea typeface="+mn-ea"/>
              <a:cs typeface="Arial"/>
            </a:endParaRPr>
          </a:p>
          <a:p>
            <a:pPr marL="182880" marR="168275"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sz="1200" b="0" i="0" u="none" strike="noStrike" kern="0" cap="none" spc="0" normalizeH="0" baseline="0" noProof="0" dirty="0">
                <a:ln>
                  <a:noFill/>
                </a:ln>
                <a:solidFill>
                  <a:srgbClr val="000000"/>
                </a:solidFill>
                <a:effectLst/>
                <a:uLnTx/>
                <a:uFillTx/>
                <a:latin typeface="Arial"/>
                <a:ea typeface="+mn-ea"/>
                <a:cs typeface="Arial"/>
              </a:rPr>
              <a:t>The</a:t>
            </a:r>
            <a:r>
              <a:rPr kumimoji="0" sz="1200" b="0" i="0" u="none" strike="noStrike" kern="0" cap="none" spc="-2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lungs</a:t>
            </a:r>
            <a:r>
              <a:rPr kumimoji="0" sz="1200" b="0" i="0" u="none" strike="noStrike" kern="0" cap="none" spc="-20"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attempt</a:t>
            </a:r>
            <a:r>
              <a:rPr kumimoji="0" sz="1200" b="0" i="0" u="none" strike="noStrike" kern="0" cap="none" spc="-30"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to</a:t>
            </a:r>
            <a:r>
              <a:rPr kumimoji="0" sz="1200" b="0" i="0" u="none" strike="noStrike" kern="0" cap="none" spc="-5" normalizeH="0" baseline="0" noProof="0" dirty="0">
                <a:ln>
                  <a:noFill/>
                </a:ln>
                <a:solidFill>
                  <a:srgbClr val="000000"/>
                </a:solidFill>
                <a:effectLst/>
                <a:uLnTx/>
                <a:uFillTx/>
                <a:latin typeface="Arial"/>
                <a:ea typeface="+mn-ea"/>
                <a:cs typeface="Arial"/>
              </a:rPr>
              <a:t> compensate</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for the </a:t>
            </a:r>
            <a:r>
              <a:rPr kumimoji="0" sz="1200" b="0" i="0" u="none" strike="noStrike" kern="0" cap="none" spc="-5" normalizeH="0" baseline="0" noProof="0" dirty="0">
                <a:ln>
                  <a:noFill/>
                </a:ln>
                <a:solidFill>
                  <a:srgbClr val="000000"/>
                </a:solidFill>
                <a:effectLst/>
                <a:uLnTx/>
                <a:uFillTx/>
                <a:latin typeface="Arial"/>
                <a:ea typeface="+mn-ea"/>
                <a:cs typeface="Arial"/>
              </a:rPr>
              <a:t>loss </a:t>
            </a:r>
            <a:r>
              <a:rPr kumimoji="0" sz="1200" b="0" i="0" u="none" strike="noStrike" kern="0" cap="none" spc="0" normalizeH="0" baseline="0" noProof="0" dirty="0">
                <a:ln>
                  <a:noFill/>
                </a:ln>
                <a:solidFill>
                  <a:srgbClr val="000000"/>
                </a:solidFill>
                <a:effectLst/>
                <a:uLnTx/>
                <a:uFillTx/>
                <a:latin typeface="Arial"/>
                <a:ea typeface="+mn-ea"/>
                <a:cs typeface="Arial"/>
              </a:rPr>
              <a:t>of </a:t>
            </a:r>
            <a:r>
              <a:rPr kumimoji="0" sz="1200" b="0" i="0" u="none" strike="noStrike" kern="0" cap="none" spc="-5" normalizeH="0" baseline="0" noProof="0" dirty="0">
                <a:ln>
                  <a:noFill/>
                </a:ln>
                <a:solidFill>
                  <a:srgbClr val="000000"/>
                </a:solidFill>
                <a:effectLst/>
                <a:uLnTx/>
                <a:uFillTx/>
                <a:latin typeface="Arial"/>
                <a:ea typeface="+mn-ea"/>
                <a:cs typeface="Arial"/>
              </a:rPr>
              <a:t>elastic </a:t>
            </a:r>
            <a:r>
              <a:rPr kumimoji="0" sz="1200" b="0" i="0" u="none" strike="noStrike" kern="0" cap="none" spc="0" normalizeH="0" baseline="0" noProof="0" dirty="0">
                <a:ln>
                  <a:noFill/>
                </a:ln>
                <a:solidFill>
                  <a:srgbClr val="000000"/>
                </a:solidFill>
                <a:effectLst/>
                <a:uLnTx/>
                <a:uFillTx/>
                <a:latin typeface="Arial"/>
                <a:ea typeface="+mn-ea"/>
                <a:cs typeface="Arial"/>
              </a:rPr>
              <a:t>fibres </a:t>
            </a:r>
            <a:r>
              <a:rPr kumimoji="0" sz="1200" b="0" i="0" u="none" strike="noStrike" kern="0" cap="none" spc="-5" normalizeH="0" baseline="0" noProof="0" dirty="0">
                <a:ln>
                  <a:noFill/>
                </a:ln>
                <a:solidFill>
                  <a:srgbClr val="000000"/>
                </a:solidFill>
                <a:effectLst/>
                <a:uLnTx/>
                <a:uFillTx/>
                <a:latin typeface="Arial"/>
                <a:ea typeface="+mn-ea"/>
                <a:cs typeface="Arial"/>
              </a:rPr>
              <a:t>with</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increased </a:t>
            </a:r>
            <a:r>
              <a:rPr kumimoji="0" sz="1200" b="0" i="0" u="none" strike="noStrike" kern="0" cap="none" spc="0" normalizeH="0" baseline="0" noProof="0" dirty="0">
                <a:ln>
                  <a:noFill/>
                </a:ln>
                <a:solidFill>
                  <a:srgbClr val="000000"/>
                </a:solidFill>
                <a:effectLst/>
                <a:uLnTx/>
                <a:uFillTx/>
                <a:latin typeface="Arial"/>
                <a:ea typeface="+mn-ea"/>
                <a:cs typeface="Arial"/>
              </a:rPr>
              <a:t>traction </a:t>
            </a:r>
            <a:r>
              <a:rPr kumimoji="0" sz="1200" b="0" i="0" u="none" strike="noStrike" kern="0" cap="none" spc="-5" normalizeH="0" baseline="0" noProof="0" dirty="0">
                <a:ln>
                  <a:noFill/>
                </a:ln>
                <a:solidFill>
                  <a:srgbClr val="000000"/>
                </a:solidFill>
                <a:effectLst/>
                <a:uLnTx/>
                <a:uFillTx/>
                <a:latin typeface="Arial"/>
                <a:ea typeface="+mn-ea"/>
                <a:cs typeface="Arial"/>
              </a:rPr>
              <a:t>on </a:t>
            </a:r>
            <a:r>
              <a:rPr kumimoji="0" sz="1200" b="0" i="0" u="none" strike="noStrike" kern="0" cap="none" spc="-10" normalizeH="0" baseline="0" noProof="0" dirty="0">
                <a:ln>
                  <a:noFill/>
                </a:ln>
                <a:solidFill>
                  <a:srgbClr val="000000"/>
                </a:solidFill>
                <a:effectLst/>
                <a:uLnTx/>
                <a:uFillTx/>
                <a:latin typeface="Arial"/>
                <a:ea typeface="+mn-ea"/>
                <a:cs typeface="Arial"/>
              </a:rPr>
              <a:t>airways,</a:t>
            </a:r>
            <a:r>
              <a:rPr kumimoji="0" lang="en-US" sz="1200" b="0" i="0" u="none" strike="noStrike" kern="0" cap="none" spc="-10"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which</a:t>
            </a:r>
            <a:r>
              <a:rPr kumimoji="0" sz="1200" b="0" i="0" u="none" strike="noStrike" kern="0" cap="none" spc="-15" normalizeH="0" baseline="0" noProof="0" dirty="0">
                <a:ln>
                  <a:noFill/>
                </a:ln>
                <a:solidFill>
                  <a:srgbClr val="000000"/>
                </a:solidFill>
                <a:effectLst/>
                <a:uLnTx/>
                <a:uFillTx/>
                <a:latin typeface="Arial"/>
                <a:ea typeface="+mn-ea"/>
                <a:cs typeface="Arial"/>
              </a:rPr>
              <a:t> </a:t>
            </a:r>
            <a:r>
              <a:rPr kumimoji="0" sz="1200" b="0" i="0" u="none" strike="noStrike" kern="0" cap="none" spc="0" normalizeH="0" baseline="0" noProof="0" dirty="0">
                <a:ln>
                  <a:noFill/>
                </a:ln>
                <a:solidFill>
                  <a:srgbClr val="000000"/>
                </a:solidFill>
                <a:effectLst/>
                <a:uLnTx/>
                <a:uFillTx/>
                <a:latin typeface="Arial"/>
                <a:ea typeface="+mn-ea"/>
                <a:cs typeface="Arial"/>
              </a:rPr>
              <a:t>fill</a:t>
            </a:r>
            <a:r>
              <a:rPr kumimoji="0" sz="1200" b="0" i="0" u="none" strike="noStrike" kern="0" cap="none" spc="-15"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with unwanted</a:t>
            </a:r>
            <a:r>
              <a:rPr kumimoji="0" lang="en-US" sz="1200" b="0" i="0" u="none" strike="noStrike" kern="0" cap="none" spc="-5" normalizeH="0" baseline="0" noProof="0" dirty="0">
                <a:ln>
                  <a:noFill/>
                </a:ln>
                <a:solidFill>
                  <a:srgbClr val="000000"/>
                </a:solidFill>
                <a:effectLst/>
                <a:uLnTx/>
                <a:uFillTx/>
                <a:latin typeface="Arial"/>
                <a:ea typeface="+mn-ea"/>
                <a:cs typeface="Arial"/>
              </a:rPr>
              <a:t> </a:t>
            </a:r>
            <a:r>
              <a:rPr kumimoji="0" lang="en-GB" sz="1200" b="0" i="0" u="none" strike="noStrike" kern="0" cap="none" spc="0" normalizeH="0" baseline="0" noProof="0" dirty="0">
                <a:ln>
                  <a:noFill/>
                </a:ln>
                <a:solidFill>
                  <a:srgbClr val="000000"/>
                </a:solidFill>
                <a:effectLst/>
                <a:uLnTx/>
                <a:uFillTx/>
                <a:latin typeface="Arial"/>
                <a:ea typeface="+mn-ea"/>
                <a:cs typeface="Arial"/>
              </a:rPr>
              <a:t>‘</a:t>
            </a:r>
            <a:r>
              <a:rPr kumimoji="0" sz="1200" b="0" i="0" u="none" strike="noStrike" kern="0" cap="none" spc="0" normalizeH="0" baseline="0" noProof="0" dirty="0">
                <a:ln>
                  <a:noFill/>
                </a:ln>
                <a:solidFill>
                  <a:srgbClr val="000000"/>
                </a:solidFill>
                <a:effectLst/>
                <a:uLnTx/>
                <a:uFillTx/>
                <a:latin typeface="Arial"/>
                <a:ea typeface="+mn-ea"/>
                <a:cs typeface="Arial"/>
              </a:rPr>
              <a:t>trapped</a:t>
            </a:r>
            <a:r>
              <a:rPr kumimoji="0" lang="en-GB" sz="1200" b="0" i="0" u="none" strike="noStrike" kern="0" cap="none" spc="0" normalizeH="0" baseline="0" noProof="0" dirty="0">
                <a:ln>
                  <a:noFill/>
                </a:ln>
                <a:solidFill>
                  <a:srgbClr val="000000"/>
                </a:solidFill>
                <a:effectLst/>
                <a:uLnTx/>
                <a:uFillTx/>
                <a:latin typeface="Arial"/>
                <a:ea typeface="+mn-ea"/>
                <a:cs typeface="Arial"/>
              </a:rPr>
              <a:t>'</a:t>
            </a:r>
            <a:r>
              <a:rPr kumimoji="0" sz="1200" b="0" i="0" u="none" strike="noStrike" kern="0" cap="none" spc="-60" normalizeH="0" baseline="0" noProof="0" dirty="0">
                <a:ln>
                  <a:noFill/>
                </a:ln>
                <a:solidFill>
                  <a:srgbClr val="000000"/>
                </a:solidFill>
                <a:effectLst/>
                <a:uLnTx/>
                <a:uFillTx/>
                <a:latin typeface="Arial"/>
                <a:ea typeface="+mn-ea"/>
                <a:cs typeface="Arial"/>
              </a:rPr>
              <a:t> </a:t>
            </a:r>
            <a:r>
              <a:rPr kumimoji="0" sz="1200" b="0" i="0" u="none" strike="noStrike" kern="0" cap="none" spc="-5" normalizeH="0" baseline="0" noProof="0" dirty="0">
                <a:ln>
                  <a:noFill/>
                </a:ln>
                <a:solidFill>
                  <a:srgbClr val="000000"/>
                </a:solidFill>
                <a:effectLst/>
                <a:uLnTx/>
                <a:uFillTx/>
                <a:latin typeface="Arial"/>
                <a:ea typeface="+mn-ea"/>
                <a:cs typeface="Arial"/>
              </a:rPr>
              <a:t>air</a:t>
            </a:r>
            <a:r>
              <a:rPr kumimoji="0" sz="1200" b="0" i="0" u="none" strike="noStrike" kern="0" cap="none" spc="-7" normalizeH="0" baseline="24305" noProof="0" dirty="0">
                <a:ln>
                  <a:noFill/>
                </a:ln>
                <a:solidFill>
                  <a:srgbClr val="000000"/>
                </a:solidFill>
                <a:effectLst/>
                <a:uLnTx/>
                <a:uFillTx/>
                <a:latin typeface="Arial"/>
                <a:ea typeface="+mn-ea"/>
                <a:cs typeface="Arial"/>
              </a:rPr>
              <a:t>3</a:t>
            </a:r>
            <a:endParaRPr kumimoji="0" sz="1200" b="0" i="0" u="none" strike="noStrike" kern="0" cap="none" spc="0" normalizeH="0" baseline="24305" noProof="0" dirty="0">
              <a:ln>
                <a:noFill/>
              </a:ln>
              <a:solidFill>
                <a:srgbClr val="000000"/>
              </a:solidFill>
              <a:effectLst/>
              <a:uLnTx/>
              <a:uFillTx/>
              <a:latin typeface="Arial"/>
              <a:ea typeface="+mn-ea"/>
              <a:cs typeface="Arial"/>
            </a:endParaRPr>
          </a:p>
        </p:txBody>
      </p:sp>
      <p:sp>
        <p:nvSpPr>
          <p:cNvPr id="25" name="object 18">
            <a:extLst>
              <a:ext uri="{FF2B5EF4-FFF2-40B4-BE49-F238E27FC236}">
                <a16:creationId xmlns:a16="http://schemas.microsoft.com/office/drawing/2014/main" id="{906D916B-5F8E-D8AF-F11C-43B95C1E3386}"/>
              </a:ext>
            </a:extLst>
          </p:cNvPr>
          <p:cNvSpPr txBox="1"/>
          <p:nvPr/>
        </p:nvSpPr>
        <p:spPr>
          <a:xfrm>
            <a:off x="7711413" y="2061881"/>
            <a:ext cx="4110494" cy="1092607"/>
          </a:xfrm>
          <a:prstGeom prst="rect">
            <a:avLst/>
          </a:prstGeom>
          <a:ln w="19050">
            <a:solidFill>
              <a:srgbClr val="F36633"/>
            </a:solidFill>
          </a:ln>
        </p:spPr>
        <p:txBody>
          <a:bodyPr vert="horz" wrap="square" lIns="108000" tIns="45720" rIns="45720" bIns="45720" rtlCol="0">
            <a:spAutoFit/>
          </a:bodyPr>
          <a:lstStyle/>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Destruction of alveoli and terminal bronchioles results in large air filled spaces</a:t>
            </a:r>
            <a:r>
              <a:rPr kumimoji="0" lang="en-US" sz="1200" b="0" i="0" u="none" strike="noStrike" kern="0" cap="none" spc="-5" normalizeH="0" baseline="30000" noProof="0" dirty="0">
                <a:ln>
                  <a:noFill/>
                </a:ln>
                <a:solidFill>
                  <a:srgbClr val="000000"/>
                </a:solidFill>
                <a:effectLst/>
                <a:uLnTx/>
                <a:uFillTx/>
                <a:latin typeface="Arial"/>
                <a:ea typeface="+mn-ea"/>
                <a:cs typeface="Arial"/>
              </a:rPr>
              <a:t>3</a:t>
            </a:r>
          </a:p>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This can lead to different forms of emphysema, including: panlobular, paraseptal, centrilobular, bullous emphysema</a:t>
            </a:r>
            <a:r>
              <a:rPr kumimoji="0" lang="en-US" sz="1200" b="0" i="0" u="none" strike="noStrike" kern="0" cap="none" spc="-5" normalizeH="0" baseline="30000" noProof="0" dirty="0">
                <a:ln>
                  <a:noFill/>
                </a:ln>
                <a:solidFill>
                  <a:srgbClr val="000000"/>
                </a:solidFill>
                <a:effectLst/>
                <a:uLnTx/>
                <a:uFillTx/>
                <a:latin typeface="Arial"/>
                <a:ea typeface="+mn-ea"/>
                <a:cs typeface="Arial"/>
              </a:rPr>
              <a:t>3</a:t>
            </a:r>
          </a:p>
        </p:txBody>
      </p:sp>
      <p:sp>
        <p:nvSpPr>
          <p:cNvPr id="26" name="object 18">
            <a:extLst>
              <a:ext uri="{FF2B5EF4-FFF2-40B4-BE49-F238E27FC236}">
                <a16:creationId xmlns:a16="http://schemas.microsoft.com/office/drawing/2014/main" id="{537EED2C-6FF4-A66A-1B3D-B479EFB867D2}"/>
              </a:ext>
            </a:extLst>
          </p:cNvPr>
          <p:cNvSpPr txBox="1"/>
          <p:nvPr/>
        </p:nvSpPr>
        <p:spPr>
          <a:xfrm>
            <a:off x="7711413" y="3675783"/>
            <a:ext cx="4110494" cy="276999"/>
          </a:xfrm>
          <a:prstGeom prst="rect">
            <a:avLst/>
          </a:prstGeom>
          <a:ln w="19050">
            <a:solidFill>
              <a:srgbClr val="F36633"/>
            </a:solidFill>
          </a:ln>
        </p:spPr>
        <p:txBody>
          <a:bodyPr vert="horz" wrap="square" lIns="108000" tIns="45720" rIns="45720" bIns="45720" rtlCol="0" anchor="ctr">
            <a:spAutoFit/>
          </a:bodyPr>
          <a:lstStyle/>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Narrowed airway results in airflow limitation</a:t>
            </a:r>
            <a:r>
              <a:rPr kumimoji="0" lang="en-US" sz="1200" b="0" i="0" u="none" strike="noStrike" kern="0" cap="none" spc="-5" normalizeH="0" baseline="30000" noProof="0" dirty="0">
                <a:ln>
                  <a:noFill/>
                </a:ln>
                <a:solidFill>
                  <a:srgbClr val="000000"/>
                </a:solidFill>
                <a:effectLst/>
                <a:uLnTx/>
                <a:uFillTx/>
                <a:latin typeface="Arial"/>
                <a:ea typeface="+mn-ea"/>
                <a:cs typeface="Arial"/>
              </a:rPr>
              <a:t>2</a:t>
            </a:r>
          </a:p>
        </p:txBody>
      </p:sp>
      <p:sp>
        <p:nvSpPr>
          <p:cNvPr id="27" name="object 18">
            <a:extLst>
              <a:ext uri="{FF2B5EF4-FFF2-40B4-BE49-F238E27FC236}">
                <a16:creationId xmlns:a16="http://schemas.microsoft.com/office/drawing/2014/main" id="{D4D5C351-A7CD-2215-9F61-E8B6FA9407BE}"/>
              </a:ext>
            </a:extLst>
          </p:cNvPr>
          <p:cNvSpPr txBox="1"/>
          <p:nvPr/>
        </p:nvSpPr>
        <p:spPr>
          <a:xfrm>
            <a:off x="7711413" y="4474079"/>
            <a:ext cx="4110494" cy="646331"/>
          </a:xfrm>
          <a:prstGeom prst="rect">
            <a:avLst/>
          </a:prstGeom>
          <a:ln w="19050">
            <a:solidFill>
              <a:srgbClr val="F36633"/>
            </a:solidFill>
          </a:ln>
        </p:spPr>
        <p:txBody>
          <a:bodyPr vert="horz" wrap="square" lIns="108000" tIns="45720" rIns="45720" bIns="45720" rtlCol="0">
            <a:spAutoFit/>
          </a:bodyPr>
          <a:lstStyle/>
          <a:p>
            <a:pPr marL="182880" marR="0" lvl="0" indent="-18288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62890" algn="l"/>
              </a:tabLst>
              <a:defRPr/>
            </a:pPr>
            <a:r>
              <a:rPr kumimoji="0" lang="en-US" sz="1200" b="0" i="0" u="none" strike="noStrike" kern="0" cap="none" spc="-5" normalizeH="0" baseline="0" noProof="0" dirty="0">
                <a:ln>
                  <a:noFill/>
                </a:ln>
                <a:solidFill>
                  <a:srgbClr val="000000"/>
                </a:solidFill>
                <a:effectLst/>
                <a:uLnTx/>
                <a:uFillTx/>
                <a:latin typeface="Arial"/>
                <a:ea typeface="+mn-ea"/>
                <a:cs typeface="Arial"/>
              </a:rPr>
              <a:t>Airway remodelling with smooth muscle hypertrophy, fibrosis, inflammation and excessive secretion of mucus all contribute to restriction of airflow</a:t>
            </a:r>
            <a:r>
              <a:rPr kumimoji="0" lang="en-US" sz="1200" b="0" i="0" u="none" strike="noStrike" kern="0" cap="none" spc="-5" normalizeH="0" baseline="30000" noProof="0" dirty="0">
                <a:ln>
                  <a:noFill/>
                </a:ln>
                <a:solidFill>
                  <a:srgbClr val="000000"/>
                </a:solidFill>
                <a:effectLst/>
                <a:uLnTx/>
                <a:uFillTx/>
                <a:latin typeface="Arial"/>
                <a:ea typeface="+mn-ea"/>
                <a:cs typeface="Arial"/>
              </a:rPr>
              <a:t>3</a:t>
            </a:r>
          </a:p>
        </p:txBody>
      </p:sp>
      <p:grpSp>
        <p:nvGrpSpPr>
          <p:cNvPr id="28" name="Group 27">
            <a:extLst>
              <a:ext uri="{FF2B5EF4-FFF2-40B4-BE49-F238E27FC236}">
                <a16:creationId xmlns:a16="http://schemas.microsoft.com/office/drawing/2014/main" id="{8E18BBE5-B12C-3D97-D064-0973C34D5D53}"/>
              </a:ext>
            </a:extLst>
          </p:cNvPr>
          <p:cNvGrpSpPr/>
          <p:nvPr/>
        </p:nvGrpSpPr>
        <p:grpSpPr>
          <a:xfrm>
            <a:off x="4473682" y="2105164"/>
            <a:ext cx="3237732" cy="3237981"/>
            <a:chOff x="4473682" y="2492754"/>
            <a:chExt cx="3237732" cy="3237981"/>
          </a:xfrm>
        </p:grpSpPr>
        <p:pic>
          <p:nvPicPr>
            <p:cNvPr id="29" name="object 8">
              <a:extLst>
                <a:ext uri="{FF2B5EF4-FFF2-40B4-BE49-F238E27FC236}">
                  <a16:creationId xmlns:a16="http://schemas.microsoft.com/office/drawing/2014/main" id="{BF3E07DD-DC6B-8E2A-3B30-F2C3FAFB0391}"/>
                </a:ext>
              </a:extLst>
            </p:cNvPr>
            <p:cNvPicPr/>
            <p:nvPr/>
          </p:nvPicPr>
          <p:blipFill>
            <a:blip r:embed="rId2" cstate="print"/>
            <a:stretch>
              <a:fillRect/>
            </a:stretch>
          </p:blipFill>
          <p:spPr>
            <a:xfrm>
              <a:off x="4534499" y="2492754"/>
              <a:ext cx="3023621" cy="3237981"/>
            </a:xfrm>
            <a:prstGeom prst="rect">
              <a:avLst/>
            </a:prstGeom>
          </p:spPr>
        </p:pic>
        <p:cxnSp>
          <p:nvCxnSpPr>
            <p:cNvPr id="30" name="Straight Arrow Connector 17">
              <a:extLst>
                <a:ext uri="{FF2B5EF4-FFF2-40B4-BE49-F238E27FC236}">
                  <a16:creationId xmlns:a16="http://schemas.microsoft.com/office/drawing/2014/main" id="{62A72997-AB77-677E-C71A-4C07FC47BDF1}"/>
                </a:ext>
              </a:extLst>
            </p:cNvPr>
            <p:cNvCxnSpPr>
              <a:stCxn id="24" idx="3"/>
            </p:cNvCxnSpPr>
            <p:nvPr/>
          </p:nvCxnSpPr>
          <p:spPr>
            <a:xfrm>
              <a:off x="4473682" y="2738990"/>
              <a:ext cx="316006" cy="660714"/>
            </a:xfrm>
            <a:prstGeom prst="bentConnector2">
              <a:avLst/>
            </a:prstGeom>
            <a:noFill/>
            <a:ln w="12700" cap="flat" cmpd="sng" algn="ctr">
              <a:solidFill>
                <a:schemeClr val="accent1"/>
              </a:solidFill>
              <a:prstDash val="solid"/>
              <a:miter lim="800000"/>
              <a:tailEnd type="oval"/>
            </a:ln>
            <a:effectLst/>
          </p:spPr>
        </p:cxnSp>
        <p:cxnSp>
          <p:nvCxnSpPr>
            <p:cNvPr id="31" name="Straight Arrow Connector 17">
              <a:extLst>
                <a:ext uri="{FF2B5EF4-FFF2-40B4-BE49-F238E27FC236}">
                  <a16:creationId xmlns:a16="http://schemas.microsoft.com/office/drawing/2014/main" id="{04DE62B2-C155-A356-819E-BA8D0FD3BE5C}"/>
                </a:ext>
              </a:extLst>
            </p:cNvPr>
            <p:cNvCxnSpPr>
              <a:stCxn id="25" idx="1"/>
            </p:cNvCxnSpPr>
            <p:nvPr/>
          </p:nvCxnSpPr>
          <p:spPr>
            <a:xfrm rot="10800000" flipV="1">
              <a:off x="6644685" y="2608185"/>
              <a:ext cx="1066729" cy="529638"/>
            </a:xfrm>
            <a:prstGeom prst="bentConnector3">
              <a:avLst>
                <a:gd name="adj1" fmla="val 50000"/>
              </a:avLst>
            </a:prstGeom>
            <a:noFill/>
            <a:ln w="12700" cap="flat" cmpd="sng" algn="ctr">
              <a:solidFill>
                <a:schemeClr val="accent1"/>
              </a:solidFill>
              <a:prstDash val="solid"/>
              <a:miter lim="800000"/>
              <a:tailEnd type="oval"/>
            </a:ln>
            <a:effectLst/>
          </p:spPr>
        </p:cxnSp>
        <p:cxnSp>
          <p:nvCxnSpPr>
            <p:cNvPr id="64" name="Straight Arrow Connector 17">
              <a:extLst>
                <a:ext uri="{FF2B5EF4-FFF2-40B4-BE49-F238E27FC236}">
                  <a16:creationId xmlns:a16="http://schemas.microsoft.com/office/drawing/2014/main" id="{5C8612F1-04A1-1348-C245-35D611118904}"/>
                </a:ext>
              </a:extLst>
            </p:cNvPr>
            <p:cNvCxnSpPr>
              <a:stCxn id="26" idx="1"/>
            </p:cNvCxnSpPr>
            <p:nvPr/>
          </p:nvCxnSpPr>
          <p:spPr>
            <a:xfrm rot="10800000">
              <a:off x="7462737" y="3578265"/>
              <a:ext cx="248676" cy="512099"/>
            </a:xfrm>
            <a:prstGeom prst="bentConnector2">
              <a:avLst/>
            </a:prstGeom>
            <a:noFill/>
            <a:ln w="12700" cap="flat" cmpd="sng" algn="ctr">
              <a:solidFill>
                <a:schemeClr val="accent1"/>
              </a:solidFill>
              <a:prstDash val="solid"/>
              <a:miter lim="800000"/>
              <a:tailEnd type="oval"/>
            </a:ln>
            <a:effectLst/>
          </p:spPr>
        </p:cxnSp>
        <p:cxnSp>
          <p:nvCxnSpPr>
            <p:cNvPr id="66" name="Straight Arrow Connector 17">
              <a:extLst>
                <a:ext uri="{FF2B5EF4-FFF2-40B4-BE49-F238E27FC236}">
                  <a16:creationId xmlns:a16="http://schemas.microsoft.com/office/drawing/2014/main" id="{8EF9623F-05B5-81ED-72B5-3EFE93ECF1B4}"/>
                </a:ext>
              </a:extLst>
            </p:cNvPr>
            <p:cNvCxnSpPr>
              <a:stCxn id="27" idx="1"/>
            </p:cNvCxnSpPr>
            <p:nvPr/>
          </p:nvCxnSpPr>
          <p:spPr>
            <a:xfrm rot="10800000">
              <a:off x="7090047" y="3782411"/>
              <a:ext cx="621367" cy="1290915"/>
            </a:xfrm>
            <a:prstGeom prst="bentConnector2">
              <a:avLst/>
            </a:prstGeom>
            <a:noFill/>
            <a:ln w="12700" cap="flat" cmpd="sng" algn="ctr">
              <a:solidFill>
                <a:schemeClr val="accent1"/>
              </a:solidFill>
              <a:prstDash val="solid"/>
              <a:miter lim="800000"/>
              <a:tailEnd type="oval"/>
            </a:ln>
            <a:effectLst/>
          </p:spPr>
        </p:cxnSp>
        <p:cxnSp>
          <p:nvCxnSpPr>
            <p:cNvPr id="67" name="Straight Arrow Connector 17">
              <a:extLst>
                <a:ext uri="{FF2B5EF4-FFF2-40B4-BE49-F238E27FC236}">
                  <a16:creationId xmlns:a16="http://schemas.microsoft.com/office/drawing/2014/main" id="{F7DCAAC4-1DB0-BEC0-1EE3-2F380F883EC5}"/>
                </a:ext>
              </a:extLst>
            </p:cNvPr>
            <p:cNvCxnSpPr>
              <a:stCxn id="23" idx="3"/>
            </p:cNvCxnSpPr>
            <p:nvPr/>
          </p:nvCxnSpPr>
          <p:spPr>
            <a:xfrm flipV="1">
              <a:off x="4473682" y="4460971"/>
              <a:ext cx="1027206" cy="350744"/>
            </a:xfrm>
            <a:prstGeom prst="bentConnector3">
              <a:avLst>
                <a:gd name="adj1" fmla="val 50000"/>
              </a:avLst>
            </a:prstGeom>
            <a:noFill/>
            <a:ln w="12700" cap="flat" cmpd="sng" algn="ctr">
              <a:solidFill>
                <a:schemeClr val="accent1"/>
              </a:solidFill>
              <a:prstDash val="solid"/>
              <a:miter lim="800000"/>
              <a:tailEnd type="oval"/>
            </a:ln>
            <a:effectLst/>
          </p:spPr>
        </p:cxnSp>
        <p:cxnSp>
          <p:nvCxnSpPr>
            <p:cNvPr id="68" name="Straight Arrow Connector 17">
              <a:extLst>
                <a:ext uri="{FF2B5EF4-FFF2-40B4-BE49-F238E27FC236}">
                  <a16:creationId xmlns:a16="http://schemas.microsoft.com/office/drawing/2014/main" id="{60972155-0339-0829-EDAB-57C41A3F0007}"/>
                </a:ext>
              </a:extLst>
            </p:cNvPr>
            <p:cNvCxnSpPr>
              <a:stCxn id="23" idx="3"/>
            </p:cNvCxnSpPr>
            <p:nvPr/>
          </p:nvCxnSpPr>
          <p:spPr>
            <a:xfrm>
              <a:off x="4473682" y="4535635"/>
              <a:ext cx="1351143" cy="178489"/>
            </a:xfrm>
            <a:prstGeom prst="bentConnector3">
              <a:avLst>
                <a:gd name="adj1" fmla="val 50000"/>
              </a:avLst>
            </a:prstGeom>
            <a:noFill/>
            <a:ln w="12700" cap="flat" cmpd="sng" algn="ctr">
              <a:solidFill>
                <a:schemeClr val="accent1"/>
              </a:solidFill>
              <a:prstDash val="solid"/>
              <a:miter lim="800000"/>
              <a:tailEnd type="oval"/>
            </a:ln>
            <a:effectLst/>
          </p:spPr>
        </p:cxnSp>
      </p:grpSp>
      <p:sp>
        <p:nvSpPr>
          <p:cNvPr id="4" name="Rectangle 3">
            <a:extLst>
              <a:ext uri="{FF2B5EF4-FFF2-40B4-BE49-F238E27FC236}">
                <a16:creationId xmlns:a16="http://schemas.microsoft.com/office/drawing/2014/main" id="{3971CDA1-A485-4D9A-FEDB-A4259A41417E}"/>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616164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2F1E7-3F9E-8D4B-68DF-8497149914CC}"/>
              </a:ext>
            </a:extLst>
          </p:cNvPr>
          <p:cNvSpPr>
            <a:spLocks noGrp="1"/>
          </p:cNvSpPr>
          <p:nvPr>
            <p:ph type="title"/>
          </p:nvPr>
        </p:nvSpPr>
        <p:spPr/>
        <p:txBody>
          <a:bodyPr/>
          <a:lstStyle/>
          <a:p>
            <a:r>
              <a:rPr lang="en-US" dirty="0"/>
              <a:t>Pathophysiology of COPD</a:t>
            </a:r>
            <a:endParaRPr lang="en-GB" dirty="0"/>
          </a:p>
        </p:txBody>
      </p:sp>
      <p:sp>
        <p:nvSpPr>
          <p:cNvPr id="5" name="Text Placeholder 10">
            <a:extLst>
              <a:ext uri="{FF2B5EF4-FFF2-40B4-BE49-F238E27FC236}">
                <a16:creationId xmlns:a16="http://schemas.microsoft.com/office/drawing/2014/main" id="{5595D98E-F726-4844-B496-1030634FDD57}"/>
              </a:ext>
            </a:extLst>
          </p:cNvPr>
          <p:cNvSpPr txBox="1">
            <a:spLocks/>
          </p:cNvSpPr>
          <p:nvPr/>
        </p:nvSpPr>
        <p:spPr>
          <a:xfrm>
            <a:off x="272254" y="5508574"/>
            <a:ext cx="11460164" cy="298800"/>
          </a:xfrm>
          <a:prstGeom prst="rect">
            <a:avLst/>
          </a:prstGeom>
        </p:spPr>
        <p:txBody>
          <a:bodyPr tIns="0" bIns="0"/>
          <a:lstStyle>
            <a:lvl1pPr marL="359991" indent="-359991" algn="l" defTabSz="1219170" rtl="0" eaLnBrk="1" latinLnBrk="0" hangingPunct="1">
              <a:spcBef>
                <a:spcPts val="300"/>
              </a:spcBef>
              <a:spcAft>
                <a:spcPts val="300"/>
              </a:spcAft>
              <a:buClr>
                <a:schemeClr val="tx2"/>
              </a:buClr>
              <a:buSzPct val="110000"/>
              <a:buFont typeface="Arial" panose="020B0604020202020204" pitchFamily="34" charset="0"/>
              <a:buChar char="•"/>
              <a:defRPr sz="2200" kern="1200">
                <a:solidFill>
                  <a:schemeClr val="tx1"/>
                </a:solidFill>
                <a:latin typeface="+mn-lt"/>
                <a:ea typeface="+mn-ea"/>
                <a:cs typeface="+mn-cs"/>
              </a:defRPr>
            </a:lvl1pPr>
            <a:lvl2pPr marL="717533" indent="-359991" algn="l" defTabSz="1219170" rtl="0" eaLnBrk="1" latinLnBrk="0" hangingPunct="1">
              <a:spcBef>
                <a:spcPts val="300"/>
              </a:spcBef>
              <a:spcAft>
                <a:spcPts val="300"/>
              </a:spcAft>
              <a:buClr>
                <a:schemeClr val="tx1"/>
              </a:buClr>
              <a:buFont typeface="Arial" panose="020B0604020202020204" pitchFamily="34" charset="0"/>
              <a:buChar char="­"/>
              <a:defRPr sz="2000" kern="1200">
                <a:solidFill>
                  <a:schemeClr val="tx1"/>
                </a:solidFill>
                <a:latin typeface="+mn-lt"/>
                <a:ea typeface="+mn-ea"/>
                <a:cs typeface="+mn-cs"/>
              </a:defRPr>
            </a:lvl2pPr>
            <a:lvl3pPr marL="1079973" indent="-359991" algn="l" defTabSz="1219170" rtl="0" eaLnBrk="1" latinLnBrk="0" hangingPunct="1">
              <a:spcBef>
                <a:spcPts val="300"/>
              </a:spcBef>
              <a:spcAft>
                <a:spcPts val="300"/>
              </a:spcAft>
              <a:buClr>
                <a:schemeClr val="tx1"/>
              </a:buClr>
              <a:buFont typeface="Arial" panose="020B0604020202020204" pitchFamily="34" charset="0"/>
              <a:buChar char="­"/>
              <a:defRPr sz="1800" kern="1200">
                <a:solidFill>
                  <a:schemeClr val="tx1"/>
                </a:solidFill>
                <a:latin typeface="+mn-lt"/>
                <a:ea typeface="+mn-ea"/>
                <a:cs typeface="+mn-cs"/>
              </a:defRPr>
            </a:lvl3pPr>
            <a:lvl4pPr marL="1441415" indent="-359991" algn="l" defTabSz="1219170" rtl="0" eaLnBrk="1" latinLnBrk="0" hangingPunct="1">
              <a:spcBef>
                <a:spcPts val="300"/>
              </a:spcBef>
              <a:spcAft>
                <a:spcPts val="300"/>
              </a:spcAft>
              <a:buClr>
                <a:schemeClr val="tx1"/>
              </a:buClr>
              <a:buFont typeface="Arial" panose="020B0604020202020204" pitchFamily="34" charset="0"/>
              <a:buChar char="­"/>
              <a:defRPr sz="1600" kern="1200">
                <a:solidFill>
                  <a:schemeClr val="tx1"/>
                </a:solidFill>
                <a:latin typeface="+mn-lt"/>
                <a:ea typeface="+mn-ea"/>
                <a:cs typeface="+mn-cs"/>
              </a:defRPr>
            </a:lvl4pPr>
            <a:lvl5pPr marL="1799955" indent="-359991" algn="l" defTabSz="1219170" rtl="0" eaLnBrk="1" latinLnBrk="0" hangingPunct="1">
              <a:spcBef>
                <a:spcPts val="300"/>
              </a:spcBef>
              <a:spcAft>
                <a:spcPts val="300"/>
              </a:spcAft>
              <a:buClr>
                <a:schemeClr val="tx1"/>
              </a:buClr>
              <a:buFont typeface="Arial" panose="020B0604020202020204" pitchFamily="34" charset="0"/>
              <a:buChar char="­"/>
              <a:defRPr sz="14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prstClr val="white"/>
                </a:solidFill>
                <a:effectLst/>
                <a:uLnTx/>
                <a:uFillTx/>
                <a:latin typeface="Arial"/>
                <a:ea typeface="+mn-ea"/>
                <a:cs typeface="Noto Sans"/>
              </a:rPr>
              <a:t>COPD, chronic obstructive pulmonary disease.</a:t>
            </a:r>
            <a:endParaRPr kumimoji="0" lang="en-GB" sz="800" b="0" i="0" u="none" strike="noStrike" kern="1200" cap="none" spc="0" normalizeH="0" baseline="0" noProof="0" dirty="0">
              <a:ln>
                <a:noFill/>
              </a:ln>
              <a:solidFill>
                <a:prstClr val="white"/>
              </a:solidFill>
              <a:effectLst/>
              <a:uLnTx/>
              <a:uFillTx/>
              <a:latin typeface="Arial"/>
              <a:ea typeface="+mn-ea"/>
              <a:cs typeface="Noto Sans"/>
            </a:endParaRPr>
          </a:p>
        </p:txBody>
      </p:sp>
      <p:sp>
        <p:nvSpPr>
          <p:cNvPr id="4" name="Rectangle 3">
            <a:extLst>
              <a:ext uri="{FF2B5EF4-FFF2-40B4-BE49-F238E27FC236}">
                <a16:creationId xmlns:a16="http://schemas.microsoft.com/office/drawing/2014/main" id="{320DC655-EDD2-8B65-EEEF-31F165A0D767}"/>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prstClr val="white"/>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prstClr val="white"/>
              </a:solidFill>
              <a:effectLst/>
              <a:uLnTx/>
              <a:uFillTx/>
              <a:latin typeface="Arial"/>
              <a:ea typeface="+mn-ea"/>
              <a:cs typeface="Noto Sans"/>
            </a:endParaRPr>
          </a:p>
        </p:txBody>
      </p:sp>
    </p:spTree>
    <p:extLst>
      <p:ext uri="{BB962C8B-B14F-4D97-AF65-F5344CB8AC3E}">
        <p14:creationId xmlns:p14="http://schemas.microsoft.com/office/powerpoint/2010/main" val="3257237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Pathophysiology of COPD</a:t>
            </a:r>
            <a:r>
              <a:rPr lang="en-US" baseline="30000" dirty="0"/>
              <a:t>1</a:t>
            </a:r>
            <a:endParaRPr lang="en-GB" baseline="30000"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0856" y="5792423"/>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a:t>
            </a:r>
          </a:p>
        </p:txBody>
      </p:sp>
      <p:sp>
        <p:nvSpPr>
          <p:cNvPr id="73" name="object 3">
            <a:extLst>
              <a:ext uri="{FF2B5EF4-FFF2-40B4-BE49-F238E27FC236}">
                <a16:creationId xmlns:a16="http://schemas.microsoft.com/office/drawing/2014/main" id="{90EB947D-A886-CE7E-25BF-E57B10F4401B}"/>
              </a:ext>
            </a:extLst>
          </p:cNvPr>
          <p:cNvSpPr txBox="1"/>
          <p:nvPr/>
        </p:nvSpPr>
        <p:spPr>
          <a:xfrm>
            <a:off x="360857" y="4492339"/>
            <a:ext cx="11470288" cy="677108"/>
          </a:xfrm>
          <a:prstGeom prst="rect">
            <a:avLst/>
          </a:prstGeom>
          <a:solidFill>
            <a:srgbClr val="F36633"/>
          </a:solidFill>
          <a:ln w="9144">
            <a:solidFill>
              <a:srgbClr val="F36633"/>
            </a:solidFill>
          </a:ln>
        </p:spPr>
        <p:txBody>
          <a:bodyPr vert="horz" wrap="square" lIns="91440" tIns="91440" rIns="91440" bIns="91440" rtlCol="0">
            <a:spAutoFit/>
          </a:bodyPr>
          <a:lstStyle/>
          <a:p>
            <a:pPr marL="0" marR="32004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5" normalizeH="0" baseline="0" noProof="0" dirty="0">
                <a:ln>
                  <a:noFill/>
                </a:ln>
                <a:solidFill>
                  <a:srgbClr val="FFFFFF"/>
                </a:solidFill>
                <a:effectLst/>
                <a:uLnTx/>
                <a:uFillTx/>
                <a:latin typeface="Arial"/>
                <a:ea typeface="+mn-ea"/>
                <a:cs typeface="Arial"/>
              </a:rPr>
              <a:t>The underlying disease process in COPD leads to characteristic physiological abnormalities and symptoms. Let’s explore each of these in turn…</a:t>
            </a:r>
          </a:p>
        </p:txBody>
      </p:sp>
      <p:grpSp>
        <p:nvGrpSpPr>
          <p:cNvPr id="81" name="Group 80">
            <a:extLst>
              <a:ext uri="{FF2B5EF4-FFF2-40B4-BE49-F238E27FC236}">
                <a16:creationId xmlns:a16="http://schemas.microsoft.com/office/drawing/2014/main" id="{B37773C5-7D41-BC73-375E-6B229A07AAFC}"/>
              </a:ext>
            </a:extLst>
          </p:cNvPr>
          <p:cNvGrpSpPr/>
          <p:nvPr/>
        </p:nvGrpSpPr>
        <p:grpSpPr>
          <a:xfrm>
            <a:off x="362987" y="1440000"/>
            <a:ext cx="11466026" cy="1782379"/>
            <a:chOff x="337526" y="1440000"/>
            <a:chExt cx="11422674" cy="1782379"/>
          </a:xfrm>
        </p:grpSpPr>
        <p:sp>
          <p:nvSpPr>
            <p:cNvPr id="19" name="Rectangle 18">
              <a:extLst>
                <a:ext uri="{FF2B5EF4-FFF2-40B4-BE49-F238E27FC236}">
                  <a16:creationId xmlns:a16="http://schemas.microsoft.com/office/drawing/2014/main" id="{24EA2AFD-EBAB-AC7D-031A-7C15D024AFD8}"/>
                </a:ext>
              </a:extLst>
            </p:cNvPr>
            <p:cNvSpPr/>
            <p:nvPr/>
          </p:nvSpPr>
          <p:spPr>
            <a:xfrm>
              <a:off x="5070978" y="1440000"/>
              <a:ext cx="1955770" cy="687667"/>
            </a:xfrm>
            <a:prstGeom prst="rect">
              <a:avLst/>
            </a:prstGeom>
            <a:solidFill>
              <a:srgbClr val="F36633"/>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600" b="1" i="0" u="none" strike="noStrike" kern="0" cap="none" spc="0" normalizeH="0" baseline="0" noProof="0" dirty="0">
                  <a:ln>
                    <a:noFill/>
                  </a:ln>
                  <a:solidFill>
                    <a:prstClr val="white"/>
                  </a:solidFill>
                  <a:effectLst/>
                  <a:uLnTx/>
                  <a:uFillTx/>
                  <a:latin typeface="Arial" panose="020B0604020202020204"/>
                  <a:ea typeface="+mn-ea"/>
                  <a:cs typeface="Noto Sans"/>
                </a:rPr>
                <a:t>COPD</a:t>
              </a:r>
            </a:p>
          </p:txBody>
        </p:sp>
        <p:sp>
          <p:nvSpPr>
            <p:cNvPr id="20" name="Rectangle 19">
              <a:extLst>
                <a:ext uri="{FF2B5EF4-FFF2-40B4-BE49-F238E27FC236}">
                  <a16:creationId xmlns:a16="http://schemas.microsoft.com/office/drawing/2014/main" id="{A7B1D720-215C-7CF7-9E21-26E1B4BAB644}"/>
                </a:ext>
              </a:extLst>
            </p:cNvPr>
            <p:cNvSpPr>
              <a:spLocks/>
            </p:cNvSpPr>
            <p:nvPr/>
          </p:nvSpPr>
          <p:spPr>
            <a:xfrm>
              <a:off x="337526" y="2538379"/>
              <a:ext cx="1828800" cy="684000"/>
            </a:xfrm>
            <a:prstGeom prst="rect">
              <a:avLst/>
            </a:prstGeom>
            <a:solidFill>
              <a:schemeClr val="bg2"/>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Airflow limitation and</a:t>
              </a:r>
              <a:b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b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gas trapping</a:t>
              </a:r>
            </a:p>
          </p:txBody>
        </p:sp>
        <p:sp>
          <p:nvSpPr>
            <p:cNvPr id="69" name="Rectangle 68">
              <a:extLst>
                <a:ext uri="{FF2B5EF4-FFF2-40B4-BE49-F238E27FC236}">
                  <a16:creationId xmlns:a16="http://schemas.microsoft.com/office/drawing/2014/main" id="{7A4B3DC8-03CD-BD72-2836-09084AB5FB04}"/>
                </a:ext>
              </a:extLst>
            </p:cNvPr>
            <p:cNvSpPr/>
            <p:nvPr/>
          </p:nvSpPr>
          <p:spPr>
            <a:xfrm>
              <a:off x="5134462" y="2538379"/>
              <a:ext cx="1828800" cy="684000"/>
            </a:xfrm>
            <a:prstGeom prst="rect">
              <a:avLst/>
            </a:prstGeom>
            <a:solidFill>
              <a:schemeClr val="accent3"/>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Pulmonary </a:t>
              </a:r>
              <a:b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b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hypertension</a:t>
              </a:r>
            </a:p>
          </p:txBody>
        </p:sp>
        <p:sp>
          <p:nvSpPr>
            <p:cNvPr id="70" name="Rectangle 69">
              <a:extLst>
                <a:ext uri="{FF2B5EF4-FFF2-40B4-BE49-F238E27FC236}">
                  <a16:creationId xmlns:a16="http://schemas.microsoft.com/office/drawing/2014/main" id="{6CA167E9-F164-ECE7-36DB-2544084DB59B}"/>
                </a:ext>
              </a:extLst>
            </p:cNvPr>
            <p:cNvSpPr>
              <a:spLocks/>
            </p:cNvSpPr>
            <p:nvPr/>
          </p:nvSpPr>
          <p:spPr>
            <a:xfrm>
              <a:off x="9931400" y="2538379"/>
              <a:ext cx="1828800" cy="684000"/>
            </a:xfrm>
            <a:prstGeom prst="rect">
              <a:avLst/>
            </a:prstGeom>
            <a:solidFill>
              <a:schemeClr val="accent6"/>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Exacerbation</a:t>
              </a:r>
            </a:p>
          </p:txBody>
        </p:sp>
        <p:sp>
          <p:nvSpPr>
            <p:cNvPr id="71" name="Rectangle 70">
              <a:extLst>
                <a:ext uri="{FF2B5EF4-FFF2-40B4-BE49-F238E27FC236}">
                  <a16:creationId xmlns:a16="http://schemas.microsoft.com/office/drawing/2014/main" id="{1E535BAD-29C6-73C5-362D-6736DAA9A5D2}"/>
                </a:ext>
              </a:extLst>
            </p:cNvPr>
            <p:cNvSpPr>
              <a:spLocks/>
            </p:cNvSpPr>
            <p:nvPr/>
          </p:nvSpPr>
          <p:spPr>
            <a:xfrm>
              <a:off x="7532931" y="2538379"/>
              <a:ext cx="1828800" cy="684000"/>
            </a:xfrm>
            <a:prstGeom prst="rect">
              <a:avLst/>
            </a:prstGeom>
            <a:solidFill>
              <a:schemeClr val="accent4"/>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Multimorbidity</a:t>
              </a:r>
            </a:p>
          </p:txBody>
        </p:sp>
        <p:sp>
          <p:nvSpPr>
            <p:cNvPr id="72" name="Rectangle 71">
              <a:extLst>
                <a:ext uri="{FF2B5EF4-FFF2-40B4-BE49-F238E27FC236}">
                  <a16:creationId xmlns:a16="http://schemas.microsoft.com/office/drawing/2014/main" id="{03B43D97-71DA-5BEE-0BE8-1EA684495DCD}"/>
                </a:ext>
              </a:extLst>
            </p:cNvPr>
            <p:cNvSpPr/>
            <p:nvPr/>
          </p:nvSpPr>
          <p:spPr>
            <a:xfrm>
              <a:off x="2735994" y="2538379"/>
              <a:ext cx="1828800" cy="684000"/>
            </a:xfrm>
            <a:prstGeom prst="rect">
              <a:avLst/>
            </a:prstGeom>
            <a:solidFill>
              <a:schemeClr val="accent1"/>
            </a:solidFill>
            <a:ln w="12700" cap="flat" cmpd="sng" algn="ctr">
              <a:noFill/>
              <a:prstDash val="solid"/>
              <a:miter lim="800000"/>
            </a:ln>
            <a:effectLst/>
          </p:spPr>
          <p:txBody>
            <a:bodyPr spcFirstLastPara="0" vert="horz" wrap="square" lIns="10160" tIns="10160" rIns="10160" bIns="10160" numCol="1" spcCol="1270" anchor="ctr" anchorCtr="0">
              <a:noAutofit/>
            </a:bodyPr>
            <a:lstStyle/>
            <a:p>
              <a:pPr marL="0" marR="0" lvl="0" indent="0" algn="ctr" defTabSz="711200" rtl="0" eaLnBrk="1" fontAlgn="auto" latinLnBrk="0" hangingPunct="1">
                <a:lnSpc>
                  <a:spcPct val="90000"/>
                </a:lnSpc>
                <a:spcBef>
                  <a:spcPct val="0"/>
                </a:spcBef>
                <a:spcAft>
                  <a:spcPct val="35000"/>
                </a:spcAft>
                <a:buClrTx/>
                <a:buSzTx/>
                <a:buFontTx/>
                <a:buNone/>
                <a:tabLst/>
                <a:defRPr/>
              </a:pPr>
              <a:r>
                <a:rPr kumimoji="0" lang="en-US" sz="1200" b="1" i="0" u="none" strike="noStrike" kern="0" cap="none" spc="0" normalizeH="0" baseline="0" noProof="0" dirty="0">
                  <a:ln>
                    <a:noFill/>
                  </a:ln>
                  <a:solidFill>
                    <a:prstClr val="white"/>
                  </a:solidFill>
                  <a:effectLst/>
                  <a:uLnTx/>
                  <a:uFillTx/>
                  <a:latin typeface="Arial" panose="020B0604020202020204"/>
                  <a:ea typeface="+mn-ea"/>
                  <a:cs typeface="Noto Sans"/>
                </a:rPr>
                <a:t>Gas exchange abnormalities</a:t>
              </a:r>
            </a:p>
          </p:txBody>
        </p:sp>
        <p:cxnSp>
          <p:nvCxnSpPr>
            <p:cNvPr id="74" name="Elbow Connector 28">
              <a:extLst>
                <a:ext uri="{FF2B5EF4-FFF2-40B4-BE49-F238E27FC236}">
                  <a16:creationId xmlns:a16="http://schemas.microsoft.com/office/drawing/2014/main" id="{F9DDEEDD-D7C2-3213-97AD-D427FB5E2616}"/>
                </a:ext>
              </a:extLst>
            </p:cNvPr>
            <p:cNvCxnSpPr>
              <a:stCxn id="19" idx="2"/>
              <a:endCxn id="20" idx="0"/>
            </p:cNvCxnSpPr>
            <p:nvPr/>
          </p:nvCxnSpPr>
          <p:spPr>
            <a:xfrm rot="5400000">
              <a:off x="3445040" y="-65445"/>
              <a:ext cx="410712" cy="4796937"/>
            </a:xfrm>
            <a:prstGeom prst="bentConnector3">
              <a:avLst>
                <a:gd name="adj1" fmla="val 50000"/>
              </a:avLst>
            </a:prstGeom>
            <a:noFill/>
            <a:ln w="12700" cap="flat" cmpd="sng" algn="ctr">
              <a:solidFill>
                <a:schemeClr val="tx1"/>
              </a:solidFill>
              <a:prstDash val="solid"/>
              <a:miter lim="800000"/>
            </a:ln>
            <a:effectLst/>
          </p:spPr>
        </p:cxnSp>
        <p:cxnSp>
          <p:nvCxnSpPr>
            <p:cNvPr id="75" name="Elbow Connector 29">
              <a:extLst>
                <a:ext uri="{FF2B5EF4-FFF2-40B4-BE49-F238E27FC236}">
                  <a16:creationId xmlns:a16="http://schemas.microsoft.com/office/drawing/2014/main" id="{C668EB30-F09D-7FC7-58D3-F11AC36D525A}"/>
                </a:ext>
              </a:extLst>
            </p:cNvPr>
            <p:cNvCxnSpPr>
              <a:stCxn id="19" idx="2"/>
              <a:endCxn id="72" idx="0"/>
            </p:cNvCxnSpPr>
            <p:nvPr/>
          </p:nvCxnSpPr>
          <p:spPr>
            <a:xfrm rot="5400000">
              <a:off x="4644273" y="1133788"/>
              <a:ext cx="410712" cy="2398469"/>
            </a:xfrm>
            <a:prstGeom prst="bentConnector3">
              <a:avLst>
                <a:gd name="adj1" fmla="val 50000"/>
              </a:avLst>
            </a:prstGeom>
            <a:noFill/>
            <a:ln w="12700" cap="flat" cmpd="sng" algn="ctr">
              <a:solidFill>
                <a:srgbClr val="544F40"/>
              </a:solidFill>
              <a:prstDash val="solid"/>
              <a:miter lim="800000"/>
            </a:ln>
            <a:effectLst/>
          </p:spPr>
        </p:cxnSp>
        <p:cxnSp>
          <p:nvCxnSpPr>
            <p:cNvPr id="77" name="Elbow Connector 32">
              <a:extLst>
                <a:ext uri="{FF2B5EF4-FFF2-40B4-BE49-F238E27FC236}">
                  <a16:creationId xmlns:a16="http://schemas.microsoft.com/office/drawing/2014/main" id="{C689B462-D25E-A0B4-B0AB-58385DAE1EC4}"/>
                </a:ext>
              </a:extLst>
            </p:cNvPr>
            <p:cNvCxnSpPr>
              <a:stCxn id="19" idx="2"/>
              <a:endCxn id="69" idx="0"/>
            </p:cNvCxnSpPr>
            <p:nvPr/>
          </p:nvCxnSpPr>
          <p:spPr>
            <a:xfrm rot="5400000">
              <a:off x="5843508" y="2333023"/>
              <a:ext cx="410712" cy="1"/>
            </a:xfrm>
            <a:prstGeom prst="bentConnector3">
              <a:avLst>
                <a:gd name="adj1" fmla="val 50000"/>
              </a:avLst>
            </a:prstGeom>
            <a:noFill/>
            <a:ln w="12700" cap="flat" cmpd="sng" algn="ctr">
              <a:solidFill>
                <a:srgbClr val="544F40"/>
              </a:solidFill>
              <a:prstDash val="solid"/>
              <a:miter lim="800000"/>
            </a:ln>
            <a:effectLst/>
          </p:spPr>
        </p:cxnSp>
        <p:cxnSp>
          <p:nvCxnSpPr>
            <p:cNvPr id="78" name="Elbow Connector 35">
              <a:extLst>
                <a:ext uri="{FF2B5EF4-FFF2-40B4-BE49-F238E27FC236}">
                  <a16:creationId xmlns:a16="http://schemas.microsoft.com/office/drawing/2014/main" id="{0500ED71-3CD0-A08D-BA2F-80AB00F041CA}"/>
                </a:ext>
              </a:extLst>
            </p:cNvPr>
            <p:cNvCxnSpPr>
              <a:cxnSpLocks/>
              <a:stCxn id="19" idx="2"/>
              <a:endCxn id="70" idx="0"/>
            </p:cNvCxnSpPr>
            <p:nvPr/>
          </p:nvCxnSpPr>
          <p:spPr>
            <a:xfrm rot="16200000" flipH="1">
              <a:off x="8241976" y="-65445"/>
              <a:ext cx="410712" cy="4796936"/>
            </a:xfrm>
            <a:prstGeom prst="bentConnector3">
              <a:avLst>
                <a:gd name="adj1" fmla="val 50000"/>
              </a:avLst>
            </a:prstGeom>
            <a:noFill/>
            <a:ln w="12700" cap="flat" cmpd="sng" algn="ctr">
              <a:solidFill>
                <a:srgbClr val="544F40"/>
              </a:solidFill>
              <a:prstDash val="solid"/>
              <a:miter lim="800000"/>
            </a:ln>
            <a:effectLst/>
          </p:spPr>
        </p:cxnSp>
        <p:cxnSp>
          <p:nvCxnSpPr>
            <p:cNvPr id="79" name="Elbow Connector 38">
              <a:extLst>
                <a:ext uri="{FF2B5EF4-FFF2-40B4-BE49-F238E27FC236}">
                  <a16:creationId xmlns:a16="http://schemas.microsoft.com/office/drawing/2014/main" id="{3A45E456-6E60-B097-755F-768362A84A0B}"/>
                </a:ext>
              </a:extLst>
            </p:cNvPr>
            <p:cNvCxnSpPr>
              <a:cxnSpLocks/>
              <a:stCxn id="19" idx="2"/>
              <a:endCxn id="71" idx="0"/>
            </p:cNvCxnSpPr>
            <p:nvPr/>
          </p:nvCxnSpPr>
          <p:spPr>
            <a:xfrm rot="16200000" flipH="1">
              <a:off x="7042742" y="1133789"/>
              <a:ext cx="410712" cy="2398467"/>
            </a:xfrm>
            <a:prstGeom prst="bentConnector3">
              <a:avLst>
                <a:gd name="adj1" fmla="val 50000"/>
              </a:avLst>
            </a:prstGeom>
            <a:noFill/>
            <a:ln w="12700" cap="flat" cmpd="sng" algn="ctr">
              <a:solidFill>
                <a:srgbClr val="544F40"/>
              </a:solidFill>
              <a:prstDash val="solid"/>
              <a:miter lim="800000"/>
            </a:ln>
            <a:effectLst/>
          </p:spPr>
        </p:cxnSp>
      </p:grpSp>
      <p:sp>
        <p:nvSpPr>
          <p:cNvPr id="4" name="Rectangle 3">
            <a:extLst>
              <a:ext uri="{FF2B5EF4-FFF2-40B4-BE49-F238E27FC236}">
                <a16:creationId xmlns:a16="http://schemas.microsoft.com/office/drawing/2014/main" id="{96044270-06B5-A33C-3FC5-DE7D9A3B713C}"/>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809510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Pathophysiology of COPD</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0852" y="5792482"/>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 FEV1/FVC ratio is measurement of amount of air forcefully exhaled from lungs; * volume of gas inhaled and exhaled from the lungs in a given period of time; #  VD/VT, ratio of dead space (VD) ventilation to tidal volume (VT).</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FEV1, forced expiratory volume in 1 second; FVC, forced vital capacity.</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 2. Rodríguez-Roisin R;Journal of Applied Physiology;2009;106;1902-1908; 3. Elbehairy AF;American Journal of Respiratory Critical Care Medicine;2015;191;1384-1394.</a:t>
            </a:r>
          </a:p>
        </p:txBody>
      </p:sp>
      <p:graphicFrame>
        <p:nvGraphicFramePr>
          <p:cNvPr id="10" name="object 6">
            <a:extLst>
              <a:ext uri="{FF2B5EF4-FFF2-40B4-BE49-F238E27FC236}">
                <a16:creationId xmlns:a16="http://schemas.microsoft.com/office/drawing/2014/main" id="{EFEECDB4-ED6D-94F4-C44E-ADEA081E4F5D}"/>
              </a:ext>
            </a:extLst>
          </p:cNvPr>
          <p:cNvGraphicFramePr>
            <a:graphicFrameLocks noGrp="1"/>
          </p:cNvGraphicFramePr>
          <p:nvPr/>
        </p:nvGraphicFramePr>
        <p:xfrm>
          <a:off x="360852" y="864548"/>
          <a:ext cx="11470296" cy="3486840"/>
        </p:xfrm>
        <a:graphic>
          <a:graphicData uri="http://schemas.openxmlformats.org/drawingml/2006/table">
            <a:tbl>
              <a:tblPr firstRow="1" bandRow="1"/>
              <a:tblGrid>
                <a:gridCol w="11470296">
                  <a:extLst>
                    <a:ext uri="{9D8B030D-6E8A-4147-A177-3AD203B41FA5}">
                      <a16:colId xmlns:a16="http://schemas.microsoft.com/office/drawing/2014/main" val="20000"/>
                    </a:ext>
                  </a:extLst>
                </a:gridCol>
              </a:tblGrid>
              <a:tr h="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US" sz="1200" b="1" spc="-5" dirty="0">
                          <a:solidFill>
                            <a:srgbClr val="FFFFFF"/>
                          </a:solidFill>
                          <a:latin typeface="+mn-lt"/>
                          <a:cs typeface="Arial"/>
                        </a:rPr>
                        <a:t>Airflow limitation and gas trapping</a:t>
                      </a:r>
                      <a:r>
                        <a:rPr lang="en-US" sz="1200" b="1" spc="-5" baseline="30000" dirty="0">
                          <a:solidFill>
                            <a:srgbClr val="FFFFFF"/>
                          </a:solidFill>
                          <a:latin typeface="+mn-lt"/>
                          <a:cs typeface="Arial"/>
                        </a:rPr>
                        <a:t>1</a:t>
                      </a:r>
                    </a:p>
                  </a:txBody>
                  <a:tcPr marL="180000" marR="45720" marT="72000" marB="7200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10000"/>
                  </a:ext>
                </a:extLst>
              </a:tr>
              <a:tr h="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30480" indent="-285750">
                        <a:lnSpc>
                          <a:spcPct val="100000"/>
                        </a:lnSpc>
                        <a:spcBef>
                          <a:spcPts val="0"/>
                        </a:spcBef>
                        <a:spcAft>
                          <a:spcPts val="600"/>
                        </a:spcAft>
                        <a:buClr>
                          <a:schemeClr val="tx2"/>
                        </a:buClr>
                        <a:buFont typeface="Arial" panose="020B0604020202020204" pitchFamily="34" charset="0"/>
                        <a:buChar char="•"/>
                        <a:tabLst>
                          <a:tab pos="224154" algn="l"/>
                        </a:tabLst>
                      </a:pPr>
                      <a:r>
                        <a:rPr lang="en-US" sz="1200" spc="-5" dirty="0">
                          <a:solidFill>
                            <a:schemeClr val="tx1"/>
                          </a:solidFill>
                          <a:latin typeface="+mn-lt"/>
                          <a:cs typeface="Arial"/>
                        </a:rPr>
                        <a:t>A mixture of small airways disease (narrowing, luminal exudation and loss of airways) and parenchymal destruction correlate </a:t>
                      </a:r>
                      <a:r>
                        <a:rPr lang="en-US" sz="1200" spc="-10" dirty="0">
                          <a:solidFill>
                            <a:schemeClr val="tx1"/>
                          </a:solidFill>
                          <a:latin typeface="+mn-lt"/>
                          <a:cs typeface="Arial"/>
                        </a:rPr>
                        <a:t>with</a:t>
                      </a:r>
                      <a:r>
                        <a:rPr lang="en-US" sz="1200" spc="5" dirty="0">
                          <a:solidFill>
                            <a:schemeClr val="tx1"/>
                          </a:solidFill>
                          <a:latin typeface="+mn-lt"/>
                          <a:cs typeface="Arial"/>
                        </a:rPr>
                        <a:t> </a:t>
                      </a:r>
                      <a:r>
                        <a:rPr lang="en-US" sz="1200" spc="-5" dirty="0">
                          <a:solidFill>
                            <a:schemeClr val="tx1"/>
                          </a:solidFill>
                          <a:latin typeface="+mn-lt"/>
                          <a:cs typeface="Arial"/>
                        </a:rPr>
                        <a:t>a </a:t>
                      </a:r>
                      <a:r>
                        <a:rPr lang="en-US" sz="1200" kern="1200" dirty="0">
                          <a:solidFill>
                            <a:schemeClr val="tx1"/>
                          </a:solidFill>
                          <a:latin typeface="+mn-lt"/>
                          <a:ea typeface="+mn-ea"/>
                          <a:cs typeface="Arial"/>
                        </a:rPr>
                        <a:t>reduction </a:t>
                      </a:r>
                      <a:r>
                        <a:rPr lang="en-US" sz="1200" spc="-5" dirty="0">
                          <a:solidFill>
                            <a:schemeClr val="tx1"/>
                          </a:solidFill>
                          <a:latin typeface="+mn-lt"/>
                          <a:cs typeface="Arial"/>
                        </a:rPr>
                        <a:t>in</a:t>
                      </a:r>
                      <a:r>
                        <a:rPr lang="en-US" sz="1200" spc="-15" dirty="0">
                          <a:solidFill>
                            <a:schemeClr val="tx1"/>
                          </a:solidFill>
                          <a:latin typeface="+mn-lt"/>
                          <a:cs typeface="Arial"/>
                        </a:rPr>
                        <a:t> </a:t>
                      </a:r>
                      <a:r>
                        <a:rPr lang="en-US" sz="1200" dirty="0">
                          <a:solidFill>
                            <a:schemeClr val="tx1"/>
                          </a:solidFill>
                          <a:latin typeface="+mn-lt"/>
                          <a:cs typeface="Arial"/>
                        </a:rPr>
                        <a:t>FEV</a:t>
                      </a:r>
                      <a:r>
                        <a:rPr lang="en-US" sz="1200" baseline="-21164" dirty="0">
                          <a:solidFill>
                            <a:schemeClr val="tx1"/>
                          </a:solidFill>
                          <a:latin typeface="+mn-lt"/>
                          <a:cs typeface="Arial"/>
                        </a:rPr>
                        <a:t>1  </a:t>
                      </a:r>
                      <a:r>
                        <a:rPr lang="en-US" sz="1200" kern="1200" dirty="0">
                          <a:solidFill>
                            <a:schemeClr val="tx1"/>
                          </a:solidFill>
                          <a:latin typeface="+mn-lt"/>
                          <a:ea typeface="+mn-ea"/>
                          <a:cs typeface="Arial"/>
                        </a:rPr>
                        <a:t>and FEV</a:t>
                      </a:r>
                      <a:r>
                        <a:rPr lang="en-US" sz="1200" kern="1200" baseline="-25000" dirty="0">
                          <a:solidFill>
                            <a:schemeClr val="tx1"/>
                          </a:solidFill>
                          <a:latin typeface="+mn-lt"/>
                          <a:ea typeface="+mn-ea"/>
                          <a:cs typeface="Arial"/>
                        </a:rPr>
                        <a:t>1</a:t>
                      </a:r>
                      <a:r>
                        <a:rPr lang="en-US" sz="1200" kern="1200" dirty="0">
                          <a:solidFill>
                            <a:schemeClr val="tx1"/>
                          </a:solidFill>
                          <a:latin typeface="+mn-lt"/>
                          <a:ea typeface="+mn-ea"/>
                          <a:cs typeface="Arial"/>
                        </a:rPr>
                        <a:t>/FVC ratio</a:t>
                      </a:r>
                      <a:r>
                        <a:rPr lang="en-US" sz="1200" kern="1200" baseline="30000" dirty="0">
                          <a:solidFill>
                            <a:schemeClr val="tx1"/>
                          </a:solidFill>
                          <a:latin typeface="+mn-lt"/>
                          <a:ea typeface="+mn-ea"/>
                          <a:cs typeface="Arial"/>
                        </a:rPr>
                        <a:t>±</a:t>
                      </a:r>
                    </a:p>
                    <a:p>
                      <a:pPr marL="285750" marR="584835" indent="-285750">
                        <a:lnSpc>
                          <a:spcPct val="100000"/>
                        </a:lnSpc>
                        <a:spcBef>
                          <a:spcPts val="0"/>
                        </a:spcBef>
                        <a:spcAft>
                          <a:spcPts val="600"/>
                        </a:spcAft>
                        <a:buClr>
                          <a:schemeClr val="tx2"/>
                        </a:buClr>
                        <a:buFont typeface="Arial" panose="020B0604020202020204" pitchFamily="34" charset="0"/>
                        <a:buChar char="•"/>
                        <a:tabLst>
                          <a:tab pos="224154" algn="l"/>
                        </a:tabLst>
                      </a:pPr>
                      <a:r>
                        <a:rPr lang="en-US" sz="1200" spc="-5" dirty="0">
                          <a:solidFill>
                            <a:schemeClr val="tx1"/>
                          </a:solidFill>
                          <a:latin typeface="+mn-lt"/>
                          <a:cs typeface="Arial"/>
                        </a:rPr>
                        <a:t>The limited emptying of lungs during forced expiration progressively</a:t>
                      </a:r>
                      <a:r>
                        <a:rPr lang="en-US" sz="1200" spc="5" dirty="0">
                          <a:solidFill>
                            <a:schemeClr val="tx1"/>
                          </a:solidFill>
                          <a:latin typeface="+mn-lt"/>
                          <a:cs typeface="Arial"/>
                        </a:rPr>
                        <a:t> </a:t>
                      </a:r>
                      <a:r>
                        <a:rPr lang="en-US" sz="1200" spc="-5" dirty="0">
                          <a:solidFill>
                            <a:schemeClr val="tx1"/>
                          </a:solidFill>
                          <a:latin typeface="+mn-lt"/>
                          <a:cs typeface="Arial"/>
                        </a:rPr>
                        <a:t>traps</a:t>
                      </a:r>
                      <a:r>
                        <a:rPr lang="en-US" sz="1200" spc="25" dirty="0">
                          <a:solidFill>
                            <a:schemeClr val="tx1"/>
                          </a:solidFill>
                          <a:latin typeface="+mn-lt"/>
                          <a:cs typeface="Arial"/>
                        </a:rPr>
                        <a:t> </a:t>
                      </a:r>
                      <a:r>
                        <a:rPr lang="en-US" sz="1200" spc="-5" dirty="0">
                          <a:solidFill>
                            <a:schemeClr val="tx1"/>
                          </a:solidFill>
                          <a:latin typeface="+mn-lt"/>
                          <a:cs typeface="Arial"/>
                        </a:rPr>
                        <a:t>gas</a:t>
                      </a:r>
                      <a:r>
                        <a:rPr lang="en-US" sz="1200" spc="25" dirty="0">
                          <a:solidFill>
                            <a:schemeClr val="tx1"/>
                          </a:solidFill>
                          <a:latin typeface="+mn-lt"/>
                          <a:cs typeface="Arial"/>
                        </a:rPr>
                        <a:t> </a:t>
                      </a:r>
                      <a:r>
                        <a:rPr lang="en-US" sz="1200" spc="-5" dirty="0">
                          <a:solidFill>
                            <a:schemeClr val="tx1"/>
                          </a:solidFill>
                          <a:latin typeface="+mn-lt"/>
                          <a:cs typeface="Arial"/>
                        </a:rPr>
                        <a:t>during</a:t>
                      </a:r>
                      <a:r>
                        <a:rPr lang="en-US" sz="1200" spc="25" dirty="0">
                          <a:solidFill>
                            <a:schemeClr val="tx1"/>
                          </a:solidFill>
                          <a:latin typeface="+mn-lt"/>
                          <a:cs typeface="Arial"/>
                        </a:rPr>
                        <a:t> </a:t>
                      </a:r>
                      <a:r>
                        <a:rPr lang="en-US" sz="1200" spc="-5" dirty="0">
                          <a:solidFill>
                            <a:schemeClr val="tx1"/>
                          </a:solidFill>
                          <a:latin typeface="+mn-lt"/>
                          <a:cs typeface="Arial"/>
                        </a:rPr>
                        <a:t>each</a:t>
                      </a:r>
                      <a:r>
                        <a:rPr lang="en-US" sz="1200" spc="10" dirty="0">
                          <a:solidFill>
                            <a:schemeClr val="tx1"/>
                          </a:solidFill>
                          <a:latin typeface="+mn-lt"/>
                          <a:cs typeface="Arial"/>
                        </a:rPr>
                        <a:t> </a:t>
                      </a:r>
                      <a:r>
                        <a:rPr lang="en-US" sz="1200" spc="-5" dirty="0">
                          <a:solidFill>
                            <a:schemeClr val="tx1"/>
                          </a:solidFill>
                          <a:latin typeface="+mn-lt"/>
                          <a:cs typeface="Arial"/>
                        </a:rPr>
                        <a:t>expiration,</a:t>
                      </a:r>
                      <a:r>
                        <a:rPr lang="en-US" sz="1200" spc="30" dirty="0">
                          <a:solidFill>
                            <a:schemeClr val="tx1"/>
                          </a:solidFill>
                          <a:latin typeface="+mn-lt"/>
                          <a:cs typeface="Arial"/>
                        </a:rPr>
                        <a:t> </a:t>
                      </a:r>
                      <a:r>
                        <a:rPr lang="en-US" sz="1200" spc="-5" dirty="0">
                          <a:solidFill>
                            <a:schemeClr val="tx1"/>
                          </a:solidFill>
                          <a:latin typeface="+mn-lt"/>
                          <a:cs typeface="Arial"/>
                        </a:rPr>
                        <a:t>resulting in</a:t>
                      </a:r>
                      <a:r>
                        <a:rPr lang="en-US" sz="1200" spc="-10" dirty="0">
                          <a:solidFill>
                            <a:schemeClr val="tx1"/>
                          </a:solidFill>
                          <a:latin typeface="+mn-lt"/>
                          <a:cs typeface="Arial"/>
                        </a:rPr>
                        <a:t> </a:t>
                      </a:r>
                      <a:r>
                        <a:rPr lang="en-US" sz="1200" spc="-5" dirty="0">
                          <a:solidFill>
                            <a:schemeClr val="tx1"/>
                          </a:solidFill>
                          <a:latin typeface="+mn-lt"/>
                          <a:cs typeface="Arial"/>
                        </a:rPr>
                        <a:t>hyperinflation</a:t>
                      </a:r>
                      <a:endParaRPr lang="en-US" sz="1200" dirty="0">
                        <a:solidFill>
                          <a:schemeClr val="tx1"/>
                        </a:solidFill>
                        <a:latin typeface="+mn-lt"/>
                        <a:cs typeface="Arial"/>
                      </a:endParaRPr>
                    </a:p>
                    <a:p>
                      <a:pPr marL="285750" indent="-285750">
                        <a:lnSpc>
                          <a:spcPct val="100000"/>
                        </a:lnSpc>
                        <a:spcBef>
                          <a:spcPts val="0"/>
                        </a:spcBef>
                        <a:spcAft>
                          <a:spcPts val="600"/>
                        </a:spcAft>
                        <a:buClr>
                          <a:schemeClr val="tx2"/>
                        </a:buClr>
                        <a:buFont typeface="Arial" panose="020B0604020202020204" pitchFamily="34" charset="0"/>
                        <a:buChar char="•"/>
                        <a:tabLst>
                          <a:tab pos="224154" algn="l"/>
                        </a:tabLst>
                      </a:pPr>
                      <a:r>
                        <a:rPr lang="en-US" sz="1200" spc="-5" dirty="0">
                          <a:solidFill>
                            <a:schemeClr val="tx1"/>
                          </a:solidFill>
                          <a:latin typeface="+mn-lt"/>
                          <a:cs typeface="Arial"/>
                        </a:rPr>
                        <a:t>Static lung hyperinflation</a:t>
                      </a:r>
                      <a:r>
                        <a:rPr lang="en-US" sz="1200" spc="10" dirty="0">
                          <a:solidFill>
                            <a:schemeClr val="tx1"/>
                          </a:solidFill>
                          <a:latin typeface="+mn-lt"/>
                          <a:cs typeface="Arial"/>
                        </a:rPr>
                        <a:t> </a:t>
                      </a:r>
                      <a:r>
                        <a:rPr lang="en-US" sz="1200" spc="-5" dirty="0">
                          <a:solidFill>
                            <a:schemeClr val="tx1"/>
                          </a:solidFill>
                          <a:latin typeface="+mn-lt"/>
                          <a:cs typeface="Arial"/>
                        </a:rPr>
                        <a:t>is thought</a:t>
                      </a:r>
                      <a:r>
                        <a:rPr lang="en-US" sz="1200" spc="30" dirty="0">
                          <a:solidFill>
                            <a:schemeClr val="tx1"/>
                          </a:solidFill>
                          <a:latin typeface="+mn-lt"/>
                          <a:cs typeface="Arial"/>
                        </a:rPr>
                        <a:t> </a:t>
                      </a:r>
                      <a:r>
                        <a:rPr lang="en-US" sz="1200" spc="-5" dirty="0">
                          <a:solidFill>
                            <a:schemeClr val="tx1"/>
                          </a:solidFill>
                          <a:latin typeface="+mn-lt"/>
                          <a:cs typeface="Arial"/>
                        </a:rPr>
                        <a:t>to</a:t>
                      </a:r>
                      <a:r>
                        <a:rPr lang="en-US" sz="1200" spc="15" dirty="0">
                          <a:solidFill>
                            <a:schemeClr val="tx1"/>
                          </a:solidFill>
                          <a:latin typeface="+mn-lt"/>
                          <a:cs typeface="Arial"/>
                        </a:rPr>
                        <a:t> </a:t>
                      </a:r>
                      <a:r>
                        <a:rPr lang="en-US" sz="1200" spc="-5" dirty="0">
                          <a:solidFill>
                            <a:schemeClr val="tx1"/>
                          </a:solidFill>
                          <a:latin typeface="+mn-lt"/>
                          <a:cs typeface="Arial"/>
                        </a:rPr>
                        <a:t>be</a:t>
                      </a:r>
                      <a:r>
                        <a:rPr lang="en-US" sz="1200" dirty="0">
                          <a:solidFill>
                            <a:schemeClr val="tx1"/>
                          </a:solidFill>
                          <a:latin typeface="+mn-lt"/>
                          <a:cs typeface="Arial"/>
                        </a:rPr>
                        <a:t> </a:t>
                      </a:r>
                      <a:r>
                        <a:rPr lang="en-US" sz="1200" spc="-5" dirty="0">
                          <a:solidFill>
                            <a:schemeClr val="tx1"/>
                          </a:solidFill>
                          <a:latin typeface="+mn-lt"/>
                          <a:cs typeface="Arial"/>
                        </a:rPr>
                        <a:t>one</a:t>
                      </a:r>
                      <a:r>
                        <a:rPr lang="en-US" sz="1200" dirty="0">
                          <a:solidFill>
                            <a:schemeClr val="tx1"/>
                          </a:solidFill>
                          <a:latin typeface="+mn-lt"/>
                          <a:cs typeface="Arial"/>
                        </a:rPr>
                        <a:t> </a:t>
                      </a:r>
                      <a:r>
                        <a:rPr lang="en-US" sz="1200" spc="-5" dirty="0">
                          <a:solidFill>
                            <a:schemeClr val="tx1"/>
                          </a:solidFill>
                          <a:latin typeface="+mn-lt"/>
                          <a:cs typeface="Arial"/>
                        </a:rPr>
                        <a:t>of</a:t>
                      </a:r>
                      <a:r>
                        <a:rPr lang="en-US" sz="1200" spc="20" dirty="0">
                          <a:solidFill>
                            <a:schemeClr val="tx1"/>
                          </a:solidFill>
                          <a:latin typeface="+mn-lt"/>
                          <a:cs typeface="Arial"/>
                        </a:rPr>
                        <a:t> </a:t>
                      </a:r>
                      <a:r>
                        <a:rPr lang="en-US" sz="1200" spc="-5" dirty="0">
                          <a:solidFill>
                            <a:schemeClr val="tx1"/>
                          </a:solidFill>
                          <a:latin typeface="+mn-lt"/>
                          <a:cs typeface="Arial"/>
                        </a:rPr>
                        <a:t>the</a:t>
                      </a:r>
                      <a:r>
                        <a:rPr lang="en-US" sz="1200" spc="15" dirty="0">
                          <a:solidFill>
                            <a:schemeClr val="tx1"/>
                          </a:solidFill>
                          <a:latin typeface="+mn-lt"/>
                          <a:cs typeface="Arial"/>
                        </a:rPr>
                        <a:t> </a:t>
                      </a:r>
                      <a:r>
                        <a:rPr lang="en-US" sz="1200" spc="-5" dirty="0">
                          <a:solidFill>
                            <a:schemeClr val="tx1"/>
                          </a:solidFill>
                          <a:latin typeface="+mn-lt"/>
                          <a:cs typeface="Arial"/>
                        </a:rPr>
                        <a:t>main</a:t>
                      </a:r>
                      <a:r>
                        <a:rPr lang="en-US" sz="1200" dirty="0">
                          <a:solidFill>
                            <a:schemeClr val="tx1"/>
                          </a:solidFill>
                          <a:latin typeface="+mn-lt"/>
                          <a:cs typeface="Arial"/>
                        </a:rPr>
                        <a:t> </a:t>
                      </a:r>
                      <a:r>
                        <a:rPr lang="en-US" sz="1200" spc="-5" dirty="0">
                          <a:solidFill>
                            <a:schemeClr val="tx1"/>
                          </a:solidFill>
                          <a:latin typeface="+mn-lt"/>
                          <a:cs typeface="Arial"/>
                        </a:rPr>
                        <a:t>mechanisms</a:t>
                      </a:r>
                      <a:r>
                        <a:rPr lang="en-US" sz="1200" spc="10" dirty="0">
                          <a:solidFill>
                            <a:schemeClr val="tx1"/>
                          </a:solidFill>
                          <a:latin typeface="+mn-lt"/>
                          <a:cs typeface="Arial"/>
                        </a:rPr>
                        <a:t> causing</a:t>
                      </a:r>
                      <a:r>
                        <a:rPr lang="en-US" sz="1200" spc="20" dirty="0">
                          <a:solidFill>
                            <a:schemeClr val="tx1"/>
                          </a:solidFill>
                          <a:latin typeface="+mn-lt"/>
                          <a:cs typeface="Arial"/>
                        </a:rPr>
                        <a:t> exertional </a:t>
                      </a:r>
                      <a:r>
                        <a:rPr lang="en-US" sz="1200" spc="-5" dirty="0">
                          <a:solidFill>
                            <a:schemeClr val="tx1"/>
                          </a:solidFill>
                          <a:latin typeface="+mn-lt"/>
                          <a:cs typeface="Arial"/>
                        </a:rPr>
                        <a:t>dyspnoea and limits exercise capacity</a:t>
                      </a:r>
                      <a:endParaRPr lang="en-US" sz="1200" dirty="0">
                        <a:solidFill>
                          <a:schemeClr val="tx1"/>
                        </a:solidFill>
                        <a:latin typeface="+mn-lt"/>
                        <a:cs typeface="Arial"/>
                      </a:endParaRPr>
                    </a:p>
                    <a:p>
                      <a:pPr marL="285750" marR="135255" indent="-285750">
                        <a:lnSpc>
                          <a:spcPct val="100000"/>
                        </a:lnSpc>
                        <a:spcBef>
                          <a:spcPts val="0"/>
                        </a:spcBef>
                        <a:spcAft>
                          <a:spcPts val="600"/>
                        </a:spcAft>
                        <a:buClr>
                          <a:schemeClr val="tx2"/>
                        </a:buClr>
                        <a:buFont typeface="Arial" panose="020B0604020202020204" pitchFamily="34" charset="0"/>
                        <a:buChar char="•"/>
                        <a:tabLst>
                          <a:tab pos="224154" algn="l"/>
                        </a:tabLst>
                      </a:pPr>
                      <a:r>
                        <a:rPr lang="en-US" sz="1200" spc="-5" dirty="0">
                          <a:solidFill>
                            <a:schemeClr val="tx1"/>
                          </a:solidFill>
                          <a:latin typeface="+mn-lt"/>
                          <a:cs typeface="Arial"/>
                        </a:rPr>
                        <a:t>Lung hyperinflation impacts the contractile properties of the diaphragm and other respiratory muscles</a:t>
                      </a:r>
                      <a:endParaRPr lang="en-US" sz="1200" dirty="0">
                        <a:solidFill>
                          <a:schemeClr val="tx1"/>
                        </a:solidFill>
                        <a:latin typeface="+mn-lt"/>
                        <a:cs typeface="Arial"/>
                      </a:endParaRPr>
                    </a:p>
                  </a:txBody>
                  <a:tcPr marL="180000" marR="45720" marT="72000" marB="72000">
                    <a:lnL w="12700">
                      <a:solidFill>
                        <a:srgbClr val="FFFFFF"/>
                      </a:solidFill>
                      <a:prstDash val="solid"/>
                    </a:lnL>
                    <a:lnR w="1270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1"/>
                  </a:ext>
                </a:extLst>
              </a:tr>
              <a:tr h="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US" sz="1200" b="1" spc="5" dirty="0">
                          <a:solidFill>
                            <a:srgbClr val="FFFFFF"/>
                          </a:solidFill>
                          <a:latin typeface="+mn-lt"/>
                          <a:cs typeface="Arial"/>
                        </a:rPr>
                        <a:t>Gas exchange abnormalities</a:t>
                      </a:r>
                    </a:p>
                  </a:txBody>
                  <a:tcPr marL="180000" marR="45720" marT="72000" marB="72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10002"/>
                  </a:ext>
                </a:extLst>
              </a:tr>
              <a:tr h="198624">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spc="-5" dirty="0">
                          <a:solidFill>
                            <a:schemeClr val="tx1"/>
                          </a:solidFill>
                          <a:latin typeface="+mn-lt"/>
                          <a:cs typeface="Arial"/>
                        </a:rPr>
                        <a:t>Ventilation-perfusion* mismatching</a:t>
                      </a:r>
                      <a:r>
                        <a:rPr lang="en-US" sz="1200" spc="-10" dirty="0">
                          <a:solidFill>
                            <a:schemeClr val="tx1"/>
                          </a:solidFill>
                          <a:latin typeface="+mn-lt"/>
                          <a:cs typeface="Arial"/>
                        </a:rPr>
                        <a:t> </a:t>
                      </a:r>
                      <a:r>
                        <a:rPr lang="en-US" sz="1200" spc="-5" dirty="0">
                          <a:solidFill>
                            <a:schemeClr val="tx1"/>
                          </a:solidFill>
                          <a:latin typeface="+mn-lt"/>
                          <a:cs typeface="Arial"/>
                        </a:rPr>
                        <a:t>and</a:t>
                      </a:r>
                      <a:r>
                        <a:rPr lang="en-US" sz="1200" spc="15" dirty="0">
                          <a:solidFill>
                            <a:schemeClr val="tx1"/>
                          </a:solidFill>
                          <a:latin typeface="+mn-lt"/>
                          <a:cs typeface="Arial"/>
                        </a:rPr>
                        <a:t> </a:t>
                      </a:r>
                      <a:r>
                        <a:rPr lang="en-US" sz="1200" spc="-5" dirty="0">
                          <a:solidFill>
                            <a:schemeClr val="tx1"/>
                          </a:solidFill>
                          <a:latin typeface="+mn-lt"/>
                          <a:cs typeface="Arial"/>
                        </a:rPr>
                        <a:t>loss of</a:t>
                      </a:r>
                      <a:r>
                        <a:rPr lang="en-US" sz="1200" spc="5" dirty="0">
                          <a:solidFill>
                            <a:schemeClr val="tx1"/>
                          </a:solidFill>
                          <a:latin typeface="+mn-lt"/>
                          <a:cs typeface="Arial"/>
                        </a:rPr>
                        <a:t> </a:t>
                      </a:r>
                      <a:r>
                        <a:rPr lang="en-US" sz="1200" spc="-5" dirty="0">
                          <a:solidFill>
                            <a:schemeClr val="tx1"/>
                          </a:solidFill>
                          <a:latin typeface="+mn-lt"/>
                          <a:cs typeface="Arial"/>
                        </a:rPr>
                        <a:t>alveolar</a:t>
                      </a:r>
                      <a:r>
                        <a:rPr lang="en-US" sz="1200" dirty="0">
                          <a:solidFill>
                            <a:schemeClr val="tx1"/>
                          </a:solidFill>
                          <a:latin typeface="+mn-lt"/>
                          <a:cs typeface="Arial"/>
                        </a:rPr>
                        <a:t> </a:t>
                      </a:r>
                      <a:r>
                        <a:rPr lang="en-US" sz="1200" spc="-5" dirty="0">
                          <a:solidFill>
                            <a:schemeClr val="tx1"/>
                          </a:solidFill>
                          <a:latin typeface="+mn-lt"/>
                          <a:cs typeface="Arial"/>
                        </a:rPr>
                        <a:t>tissue</a:t>
                      </a:r>
                      <a:r>
                        <a:rPr lang="en-US" sz="1200" spc="-10" dirty="0">
                          <a:solidFill>
                            <a:schemeClr val="tx1"/>
                          </a:solidFill>
                          <a:latin typeface="+mn-lt"/>
                          <a:cs typeface="Arial"/>
                        </a:rPr>
                        <a:t> </a:t>
                      </a:r>
                      <a:r>
                        <a:rPr lang="en-US" sz="1200" spc="-5" dirty="0">
                          <a:solidFill>
                            <a:schemeClr val="tx1"/>
                          </a:solidFill>
                          <a:latin typeface="+mn-lt"/>
                          <a:cs typeface="Arial"/>
                        </a:rPr>
                        <a:t>(emphysema)</a:t>
                      </a:r>
                      <a:r>
                        <a:rPr lang="en-US" sz="1200" spc="50" dirty="0">
                          <a:solidFill>
                            <a:schemeClr val="tx1"/>
                          </a:solidFill>
                          <a:latin typeface="+mn-lt"/>
                          <a:cs typeface="Arial"/>
                        </a:rPr>
                        <a:t> </a:t>
                      </a:r>
                      <a:r>
                        <a:rPr lang="en-US" sz="1200" spc="-5" dirty="0">
                          <a:solidFill>
                            <a:schemeClr val="tx1"/>
                          </a:solidFill>
                          <a:latin typeface="+mn-lt"/>
                          <a:cs typeface="Arial"/>
                        </a:rPr>
                        <a:t>are</a:t>
                      </a:r>
                      <a:r>
                        <a:rPr lang="en-US" sz="1200" spc="15" dirty="0">
                          <a:solidFill>
                            <a:schemeClr val="tx1"/>
                          </a:solidFill>
                          <a:latin typeface="+mn-lt"/>
                          <a:cs typeface="Arial"/>
                        </a:rPr>
                        <a:t> </a:t>
                      </a:r>
                      <a:r>
                        <a:rPr lang="en-US" sz="1200" spc="-5" dirty="0">
                          <a:solidFill>
                            <a:schemeClr val="tx1"/>
                          </a:solidFill>
                          <a:latin typeface="+mn-lt"/>
                          <a:cs typeface="Arial"/>
                        </a:rPr>
                        <a:t>the</a:t>
                      </a:r>
                      <a:r>
                        <a:rPr lang="en-US" sz="1200" spc="15" dirty="0">
                          <a:solidFill>
                            <a:schemeClr val="tx1"/>
                          </a:solidFill>
                          <a:latin typeface="+mn-lt"/>
                          <a:cs typeface="Arial"/>
                        </a:rPr>
                        <a:t> </a:t>
                      </a:r>
                      <a:r>
                        <a:rPr lang="en-US" sz="1200" spc="-5" dirty="0">
                          <a:solidFill>
                            <a:schemeClr val="tx1"/>
                          </a:solidFill>
                          <a:latin typeface="+mn-lt"/>
                          <a:cs typeface="Arial"/>
                        </a:rPr>
                        <a:t>most important</a:t>
                      </a:r>
                      <a:r>
                        <a:rPr lang="en-US" sz="1200" spc="20" dirty="0">
                          <a:solidFill>
                            <a:schemeClr val="tx1"/>
                          </a:solidFill>
                          <a:latin typeface="+mn-lt"/>
                          <a:cs typeface="Arial"/>
                        </a:rPr>
                        <a:t> </a:t>
                      </a:r>
                      <a:r>
                        <a:rPr lang="en-US" sz="1200" spc="-5" dirty="0">
                          <a:solidFill>
                            <a:schemeClr val="tx1"/>
                          </a:solidFill>
                          <a:latin typeface="+mn-lt"/>
                          <a:cs typeface="Arial"/>
                        </a:rPr>
                        <a:t>causes</a:t>
                      </a:r>
                      <a:r>
                        <a:rPr lang="en-US" sz="1200" spc="-10" dirty="0">
                          <a:solidFill>
                            <a:schemeClr val="tx1"/>
                          </a:solidFill>
                          <a:latin typeface="+mn-lt"/>
                          <a:cs typeface="Arial"/>
                        </a:rPr>
                        <a:t> </a:t>
                      </a:r>
                      <a:r>
                        <a:rPr lang="en-US" sz="1200" spc="-5" dirty="0">
                          <a:solidFill>
                            <a:schemeClr val="tx1"/>
                          </a:solidFill>
                          <a:latin typeface="+mn-lt"/>
                          <a:cs typeface="Arial"/>
                        </a:rPr>
                        <a:t>of</a:t>
                      </a:r>
                      <a:r>
                        <a:rPr lang="en-US" sz="1200" spc="10" dirty="0">
                          <a:solidFill>
                            <a:schemeClr val="tx1"/>
                          </a:solidFill>
                          <a:latin typeface="+mn-lt"/>
                          <a:cs typeface="Arial"/>
                        </a:rPr>
                        <a:t> </a:t>
                      </a:r>
                      <a:r>
                        <a:rPr lang="en-US" sz="1200" spc="-5" dirty="0">
                          <a:solidFill>
                            <a:schemeClr val="tx1"/>
                          </a:solidFill>
                          <a:latin typeface="+mn-lt"/>
                          <a:cs typeface="Arial"/>
                        </a:rPr>
                        <a:t>impaired pulmonary</a:t>
                      </a:r>
                      <a:r>
                        <a:rPr lang="en-US" sz="1200" dirty="0">
                          <a:solidFill>
                            <a:schemeClr val="tx1"/>
                          </a:solidFill>
                          <a:latin typeface="+mn-lt"/>
                          <a:cs typeface="Arial"/>
                        </a:rPr>
                        <a:t> </a:t>
                      </a:r>
                      <a:r>
                        <a:rPr lang="en-US" sz="1200" spc="-5" dirty="0">
                          <a:solidFill>
                            <a:schemeClr val="tx1"/>
                          </a:solidFill>
                          <a:latin typeface="+mn-lt"/>
                          <a:cs typeface="Arial"/>
                        </a:rPr>
                        <a:t>gas</a:t>
                      </a:r>
                      <a:r>
                        <a:rPr lang="en-US" sz="1200" spc="5" dirty="0">
                          <a:solidFill>
                            <a:schemeClr val="tx1"/>
                          </a:solidFill>
                          <a:latin typeface="+mn-lt"/>
                          <a:cs typeface="Arial"/>
                        </a:rPr>
                        <a:t> </a:t>
                      </a:r>
                      <a:r>
                        <a:rPr lang="en-US" sz="1200" spc="-5" dirty="0">
                          <a:solidFill>
                            <a:schemeClr val="tx1"/>
                          </a:solidFill>
                          <a:latin typeface="+mn-lt"/>
                          <a:cs typeface="Arial"/>
                        </a:rPr>
                        <a:t>exchange</a:t>
                      </a:r>
                      <a:r>
                        <a:rPr lang="en-US" sz="1200" spc="-5" baseline="30000" dirty="0">
                          <a:solidFill>
                            <a:schemeClr val="tx1"/>
                          </a:solidFill>
                          <a:latin typeface="+mn-lt"/>
                          <a:cs typeface="Arial"/>
                        </a:rPr>
                        <a:t>2</a:t>
                      </a:r>
                      <a:endParaRPr lang="en-US" sz="1200" baseline="30000" dirty="0">
                        <a:solidFill>
                          <a:schemeClr val="tx1"/>
                        </a:solidFill>
                        <a:latin typeface="+mn-lt"/>
                        <a:cs typeface="Arial"/>
                      </a:endParaRPr>
                    </a:p>
                    <a:p>
                      <a:pPr marL="28575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spc="-10" dirty="0">
                          <a:solidFill>
                            <a:schemeClr val="tx1"/>
                          </a:solidFill>
                          <a:latin typeface="+mn-lt"/>
                          <a:cs typeface="Arial"/>
                        </a:rPr>
                        <a:t>Pulmonary gas exchange </a:t>
                      </a:r>
                      <a:r>
                        <a:rPr lang="en-US" sz="1200" spc="-5" dirty="0">
                          <a:solidFill>
                            <a:schemeClr val="tx1"/>
                          </a:solidFill>
                          <a:latin typeface="+mn-lt"/>
                          <a:cs typeface="Arial"/>
                        </a:rPr>
                        <a:t>worsens</a:t>
                      </a:r>
                      <a:r>
                        <a:rPr lang="en-US" sz="1200" spc="20" dirty="0">
                          <a:solidFill>
                            <a:schemeClr val="tx1"/>
                          </a:solidFill>
                          <a:latin typeface="+mn-lt"/>
                          <a:cs typeface="Arial"/>
                        </a:rPr>
                        <a:t> </a:t>
                      </a:r>
                      <a:r>
                        <a:rPr lang="en-US" sz="1200" spc="-5" dirty="0">
                          <a:solidFill>
                            <a:schemeClr val="tx1"/>
                          </a:solidFill>
                          <a:latin typeface="+mn-lt"/>
                          <a:cs typeface="Arial"/>
                        </a:rPr>
                        <a:t>as</a:t>
                      </a:r>
                      <a:r>
                        <a:rPr lang="en-US" sz="1200" spc="5" dirty="0">
                          <a:solidFill>
                            <a:schemeClr val="tx1"/>
                          </a:solidFill>
                          <a:latin typeface="+mn-lt"/>
                          <a:cs typeface="Arial"/>
                        </a:rPr>
                        <a:t> </a:t>
                      </a:r>
                      <a:r>
                        <a:rPr lang="en-US" sz="1200" spc="-5" dirty="0">
                          <a:solidFill>
                            <a:schemeClr val="tx1"/>
                          </a:solidFill>
                          <a:latin typeface="+mn-lt"/>
                          <a:cs typeface="Arial"/>
                        </a:rPr>
                        <a:t>the</a:t>
                      </a:r>
                      <a:r>
                        <a:rPr lang="en-US" sz="1200" spc="15" dirty="0">
                          <a:solidFill>
                            <a:schemeClr val="tx1"/>
                          </a:solidFill>
                          <a:latin typeface="+mn-lt"/>
                          <a:cs typeface="Arial"/>
                        </a:rPr>
                        <a:t> </a:t>
                      </a:r>
                      <a:r>
                        <a:rPr lang="en-US" sz="1200" spc="-5" dirty="0">
                          <a:solidFill>
                            <a:schemeClr val="tx1"/>
                          </a:solidFill>
                          <a:latin typeface="+mn-lt"/>
                          <a:cs typeface="Arial"/>
                        </a:rPr>
                        <a:t>disease</a:t>
                      </a:r>
                      <a:r>
                        <a:rPr lang="en-US" sz="1200" spc="-10" dirty="0">
                          <a:solidFill>
                            <a:schemeClr val="tx1"/>
                          </a:solidFill>
                          <a:latin typeface="+mn-lt"/>
                          <a:cs typeface="Arial"/>
                        </a:rPr>
                        <a:t> </a:t>
                      </a:r>
                      <a:r>
                        <a:rPr lang="en-US" sz="1200" spc="-5" dirty="0">
                          <a:solidFill>
                            <a:schemeClr val="tx1"/>
                          </a:solidFill>
                          <a:latin typeface="+mn-lt"/>
                          <a:cs typeface="Arial"/>
                        </a:rPr>
                        <a:t>progresses</a:t>
                      </a:r>
                      <a:r>
                        <a:rPr lang="en-US" sz="1200" spc="-5" baseline="30000" dirty="0">
                          <a:solidFill>
                            <a:schemeClr val="tx1"/>
                          </a:solidFill>
                          <a:latin typeface="+mn-lt"/>
                          <a:cs typeface="Arial"/>
                        </a:rPr>
                        <a:t>1</a:t>
                      </a:r>
                      <a:endParaRPr lang="en-US" sz="1200" dirty="0">
                        <a:solidFill>
                          <a:schemeClr val="tx1"/>
                        </a:solidFill>
                        <a:latin typeface="+mn-lt"/>
                        <a:cs typeface="Arial"/>
                      </a:endParaRPr>
                    </a:p>
                    <a:p>
                      <a:pPr marL="285750" marR="508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spc="-5" dirty="0">
                          <a:solidFill>
                            <a:schemeClr val="tx1"/>
                          </a:solidFill>
                          <a:latin typeface="+mn-lt"/>
                          <a:cs typeface="Arial"/>
                        </a:rPr>
                        <a:t>Other</a:t>
                      </a:r>
                      <a:r>
                        <a:rPr lang="en-US" sz="1200" spc="35" dirty="0">
                          <a:solidFill>
                            <a:schemeClr val="tx1"/>
                          </a:solidFill>
                          <a:latin typeface="+mn-lt"/>
                          <a:cs typeface="Arial"/>
                        </a:rPr>
                        <a:t> </a:t>
                      </a:r>
                      <a:r>
                        <a:rPr lang="en-US" sz="1200" spc="-5" dirty="0">
                          <a:solidFill>
                            <a:schemeClr val="tx1"/>
                          </a:solidFill>
                          <a:latin typeface="+mn-lt"/>
                          <a:cs typeface="Arial"/>
                        </a:rPr>
                        <a:t>causes</a:t>
                      </a:r>
                      <a:r>
                        <a:rPr lang="en-US" sz="1200" dirty="0">
                          <a:solidFill>
                            <a:schemeClr val="tx1"/>
                          </a:solidFill>
                          <a:latin typeface="+mn-lt"/>
                          <a:cs typeface="Arial"/>
                        </a:rPr>
                        <a:t> </a:t>
                      </a:r>
                      <a:r>
                        <a:rPr lang="en-US" sz="1200" spc="-5" dirty="0">
                          <a:solidFill>
                            <a:schemeClr val="tx1"/>
                          </a:solidFill>
                          <a:latin typeface="+mn-lt"/>
                          <a:cs typeface="Arial"/>
                        </a:rPr>
                        <a:t>are</a:t>
                      </a:r>
                      <a:r>
                        <a:rPr lang="en-US" sz="1200" spc="10" dirty="0">
                          <a:solidFill>
                            <a:schemeClr val="tx1"/>
                          </a:solidFill>
                          <a:latin typeface="+mn-lt"/>
                          <a:cs typeface="Arial"/>
                        </a:rPr>
                        <a:t> </a:t>
                      </a:r>
                      <a:r>
                        <a:rPr lang="en-US" sz="1200" spc="-5" dirty="0">
                          <a:solidFill>
                            <a:schemeClr val="tx1"/>
                          </a:solidFill>
                          <a:latin typeface="+mn-lt"/>
                          <a:cs typeface="Arial"/>
                        </a:rPr>
                        <a:t>the</a:t>
                      </a:r>
                      <a:r>
                        <a:rPr lang="en-US" sz="1200" spc="20" dirty="0">
                          <a:solidFill>
                            <a:schemeClr val="tx1"/>
                          </a:solidFill>
                          <a:latin typeface="+mn-lt"/>
                          <a:cs typeface="Arial"/>
                        </a:rPr>
                        <a:t> </a:t>
                      </a:r>
                      <a:r>
                        <a:rPr lang="en-US" sz="1200" spc="-5" dirty="0">
                          <a:solidFill>
                            <a:schemeClr val="tx1"/>
                          </a:solidFill>
                          <a:latin typeface="+mn-lt"/>
                          <a:cs typeface="Arial"/>
                        </a:rPr>
                        <a:t>changes</a:t>
                      </a:r>
                      <a:r>
                        <a:rPr lang="en-US" sz="1200" spc="15" dirty="0">
                          <a:solidFill>
                            <a:schemeClr val="tx1"/>
                          </a:solidFill>
                          <a:latin typeface="+mn-lt"/>
                          <a:cs typeface="Arial"/>
                        </a:rPr>
                        <a:t> </a:t>
                      </a:r>
                      <a:r>
                        <a:rPr lang="en-US" sz="1200" spc="-5" dirty="0">
                          <a:solidFill>
                            <a:schemeClr val="tx1"/>
                          </a:solidFill>
                          <a:latin typeface="+mn-lt"/>
                          <a:cs typeface="Arial"/>
                        </a:rPr>
                        <a:t>seen</a:t>
                      </a:r>
                      <a:r>
                        <a:rPr lang="en-US" sz="1200" dirty="0">
                          <a:solidFill>
                            <a:schemeClr val="tx1"/>
                          </a:solidFill>
                          <a:latin typeface="+mn-lt"/>
                          <a:cs typeface="Arial"/>
                        </a:rPr>
                        <a:t> in</a:t>
                      </a:r>
                      <a:r>
                        <a:rPr lang="en-US" sz="1200" spc="5" dirty="0">
                          <a:solidFill>
                            <a:schemeClr val="tx1"/>
                          </a:solidFill>
                          <a:latin typeface="+mn-lt"/>
                          <a:cs typeface="Arial"/>
                        </a:rPr>
                        <a:t> </a:t>
                      </a:r>
                      <a:r>
                        <a:rPr lang="en-US" sz="1200" spc="-5" dirty="0">
                          <a:solidFill>
                            <a:schemeClr val="tx1"/>
                          </a:solidFill>
                          <a:latin typeface="+mn-lt"/>
                          <a:cs typeface="Arial"/>
                        </a:rPr>
                        <a:t>small</a:t>
                      </a:r>
                      <a:r>
                        <a:rPr lang="en-US" sz="1200" dirty="0">
                          <a:solidFill>
                            <a:schemeClr val="tx1"/>
                          </a:solidFill>
                          <a:latin typeface="+mn-lt"/>
                          <a:cs typeface="Arial"/>
                        </a:rPr>
                        <a:t> </a:t>
                      </a:r>
                      <a:r>
                        <a:rPr lang="en-US" sz="1200" spc="-10" dirty="0">
                          <a:solidFill>
                            <a:schemeClr val="tx1"/>
                          </a:solidFill>
                          <a:latin typeface="+mn-lt"/>
                          <a:cs typeface="Arial"/>
                        </a:rPr>
                        <a:t>airways,</a:t>
                      </a:r>
                      <a:r>
                        <a:rPr lang="en-US" sz="1200" spc="35" dirty="0">
                          <a:solidFill>
                            <a:schemeClr val="tx1"/>
                          </a:solidFill>
                          <a:latin typeface="+mn-lt"/>
                          <a:cs typeface="Arial"/>
                        </a:rPr>
                        <a:t> </a:t>
                      </a:r>
                      <a:r>
                        <a:rPr lang="en-US" sz="1200" spc="-5" dirty="0">
                          <a:solidFill>
                            <a:schemeClr val="tx1"/>
                          </a:solidFill>
                          <a:latin typeface="+mn-lt"/>
                          <a:cs typeface="Arial"/>
                        </a:rPr>
                        <a:t>pulmonary</a:t>
                      </a:r>
                      <a:r>
                        <a:rPr lang="en-US" sz="1200" spc="10" dirty="0">
                          <a:solidFill>
                            <a:schemeClr val="tx1"/>
                          </a:solidFill>
                          <a:latin typeface="+mn-lt"/>
                          <a:cs typeface="Arial"/>
                        </a:rPr>
                        <a:t> </a:t>
                      </a:r>
                      <a:r>
                        <a:rPr lang="en-US" sz="1200" spc="-5" dirty="0">
                          <a:solidFill>
                            <a:schemeClr val="tx1"/>
                          </a:solidFill>
                          <a:latin typeface="+mn-lt"/>
                          <a:cs typeface="Arial"/>
                        </a:rPr>
                        <a:t>hypertension</a:t>
                      </a:r>
                      <a:r>
                        <a:rPr lang="en-US" sz="1200" spc="30" dirty="0">
                          <a:solidFill>
                            <a:schemeClr val="tx1"/>
                          </a:solidFill>
                          <a:latin typeface="+mn-lt"/>
                          <a:cs typeface="Arial"/>
                        </a:rPr>
                        <a:t> </a:t>
                      </a:r>
                      <a:r>
                        <a:rPr lang="en-US" sz="1200" spc="-5" dirty="0">
                          <a:solidFill>
                            <a:schemeClr val="tx1"/>
                          </a:solidFill>
                          <a:latin typeface="+mn-lt"/>
                          <a:cs typeface="Arial"/>
                        </a:rPr>
                        <a:t>and</a:t>
                      </a:r>
                      <a:r>
                        <a:rPr lang="en-US" sz="1200" dirty="0">
                          <a:solidFill>
                            <a:schemeClr val="tx1"/>
                          </a:solidFill>
                          <a:latin typeface="+mn-lt"/>
                          <a:cs typeface="Arial"/>
                        </a:rPr>
                        <a:t> </a:t>
                      </a:r>
                      <a:r>
                        <a:rPr lang="en-US" sz="1200" spc="-5" dirty="0">
                          <a:solidFill>
                            <a:schemeClr val="tx1"/>
                          </a:solidFill>
                          <a:latin typeface="+mn-lt"/>
                          <a:cs typeface="Arial"/>
                        </a:rPr>
                        <a:t>impaired cardiac</a:t>
                      </a:r>
                      <a:r>
                        <a:rPr lang="en-US" sz="1200" dirty="0">
                          <a:solidFill>
                            <a:schemeClr val="tx1"/>
                          </a:solidFill>
                          <a:latin typeface="+mn-lt"/>
                          <a:cs typeface="Arial"/>
                        </a:rPr>
                        <a:t> </a:t>
                      </a:r>
                      <a:r>
                        <a:rPr lang="en-US" sz="1200" spc="-5" dirty="0">
                          <a:solidFill>
                            <a:schemeClr val="tx1"/>
                          </a:solidFill>
                          <a:latin typeface="+mn-lt"/>
                          <a:cs typeface="Arial"/>
                        </a:rPr>
                        <a:t>function</a:t>
                      </a:r>
                      <a:r>
                        <a:rPr lang="en-US" sz="1200" spc="-5" baseline="30000" dirty="0">
                          <a:solidFill>
                            <a:schemeClr val="tx1"/>
                          </a:solidFill>
                          <a:latin typeface="+mn-lt"/>
                          <a:cs typeface="Arial"/>
                        </a:rPr>
                        <a:t>2</a:t>
                      </a:r>
                      <a:endParaRPr lang="en-US" sz="1200" spc="-5" dirty="0">
                        <a:solidFill>
                          <a:schemeClr val="tx1"/>
                        </a:solidFill>
                        <a:latin typeface="+mn-lt"/>
                        <a:cs typeface="Arial"/>
                      </a:endParaRPr>
                    </a:p>
                    <a:p>
                      <a:pPr marL="285750" marR="508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mn-lt"/>
                          <a:ea typeface="+mn-ea"/>
                          <a:cs typeface="Arial"/>
                        </a:rPr>
                        <a:t>High</a:t>
                      </a:r>
                      <a:r>
                        <a:rPr lang="en-US" sz="1200" dirty="0">
                          <a:solidFill>
                            <a:schemeClr val="tx1"/>
                          </a:solidFill>
                          <a:latin typeface="+mn-lt"/>
                          <a:cs typeface="Arial"/>
                        </a:rPr>
                        <a:t> </a:t>
                      </a:r>
                      <a:r>
                        <a:rPr lang="en-US" sz="1200" kern="1200" spc="-5" dirty="0">
                          <a:solidFill>
                            <a:schemeClr val="tx1"/>
                          </a:solidFill>
                          <a:latin typeface="+mn-lt"/>
                          <a:ea typeface="+mn-ea"/>
                          <a:cs typeface="Arial"/>
                        </a:rPr>
                        <a:t>V</a:t>
                      </a:r>
                      <a:r>
                        <a:rPr lang="en-US" sz="1200" kern="1200" spc="-5" baseline="-25000" dirty="0">
                          <a:solidFill>
                            <a:schemeClr val="tx1"/>
                          </a:solidFill>
                          <a:latin typeface="+mn-lt"/>
                          <a:ea typeface="+mn-ea"/>
                          <a:cs typeface="Arial"/>
                        </a:rPr>
                        <a:t>D</a:t>
                      </a:r>
                      <a:r>
                        <a:rPr lang="en-US" sz="1200" kern="1200" spc="-5" dirty="0">
                          <a:solidFill>
                            <a:schemeClr val="tx1"/>
                          </a:solidFill>
                          <a:latin typeface="+mn-lt"/>
                          <a:ea typeface="+mn-ea"/>
                          <a:cs typeface="Arial"/>
                        </a:rPr>
                        <a:t>/V</a:t>
                      </a:r>
                      <a:r>
                        <a:rPr lang="en-US" sz="1200" kern="1200" spc="-5" baseline="-25000" dirty="0">
                          <a:solidFill>
                            <a:schemeClr val="tx1"/>
                          </a:solidFill>
                          <a:latin typeface="+mn-lt"/>
                          <a:ea typeface="+mn-ea"/>
                          <a:cs typeface="Arial"/>
                        </a:rPr>
                        <a:t>T</a:t>
                      </a:r>
                      <a:r>
                        <a:rPr lang="en-US" sz="1200" kern="1200" spc="-5" baseline="30000" dirty="0">
                          <a:solidFill>
                            <a:schemeClr val="tx1"/>
                          </a:solidFill>
                          <a:latin typeface="+mn-lt"/>
                          <a:ea typeface="+mn-ea"/>
                          <a:cs typeface="Arial"/>
                        </a:rPr>
                        <a:t>#</a:t>
                      </a:r>
                      <a:r>
                        <a:rPr lang="en-US" sz="1200" kern="1200" spc="-5" dirty="0">
                          <a:solidFill>
                            <a:schemeClr val="tx1"/>
                          </a:solidFill>
                          <a:latin typeface="+mn-lt"/>
                          <a:ea typeface="+mn-ea"/>
                          <a:cs typeface="Arial"/>
                        </a:rPr>
                        <a:t> was the most consistent gas exchange abnormality in smokers with only spirometric abnormalities</a:t>
                      </a:r>
                      <a:r>
                        <a:rPr lang="en-US" sz="1200" kern="1200" spc="-5" baseline="30000" dirty="0">
                          <a:solidFill>
                            <a:schemeClr val="tx1"/>
                          </a:solidFill>
                          <a:latin typeface="+mn-lt"/>
                          <a:ea typeface="+mn-ea"/>
                          <a:cs typeface="Arial"/>
                        </a:rPr>
                        <a:t>3</a:t>
                      </a:r>
                    </a:p>
                    <a:p>
                      <a:pPr marL="285750" marR="508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mn-lt"/>
                          <a:ea typeface="+mn-ea"/>
                          <a:cs typeface="Arial"/>
                        </a:rPr>
                        <a:t>Compensatory increases in minute ventilation during exercise maintained alveolar ventilation and arterial blood gas homeostasis but at the expense of earlier dynamic mechanical constraints, greater dyspnoea and exercise intolerance in mild COPD</a:t>
                      </a:r>
                      <a:r>
                        <a:rPr lang="en-US" sz="1200" kern="1200" spc="-5" baseline="30000" dirty="0">
                          <a:solidFill>
                            <a:schemeClr val="tx1"/>
                          </a:solidFill>
                          <a:latin typeface="+mn-lt"/>
                          <a:ea typeface="+mn-ea"/>
                          <a:cs typeface="Arial"/>
                        </a:rPr>
                        <a:t>3</a:t>
                      </a:r>
                    </a:p>
                  </a:txBody>
                  <a:tcPr marL="180000" marR="45720" marT="72000" marB="72000">
                    <a:lnL w="12700">
                      <a:solidFill>
                        <a:srgbClr val="FFFFFF"/>
                      </a:solidFill>
                      <a:prstDash val="solid"/>
                    </a:lnL>
                    <a:lnR w="12700" cap="flat" cmpd="sng" algn="ctr">
                      <a:solidFill>
                        <a:srgbClr val="FFFFFF"/>
                      </a:solidFill>
                      <a:prstDash val="solid"/>
                      <a:round/>
                      <a:headEnd type="none" w="med" len="med"/>
                      <a:tailEnd type="none" w="med" len="med"/>
                    </a:lnR>
                    <a:lnT w="19050">
                      <a:solidFill>
                        <a:srgbClr val="FFFFFF"/>
                      </a:solidFill>
                      <a:prstDash val="soli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960DE31B-C97C-3716-915E-349EE9BA61A6}"/>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1442886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64</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Pathophysiology of COPD</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3233" y="5791169"/>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 EGFR, epidermal growth factor receptor.</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GB" sz="800" b="0" i="0" u="none" strike="noStrike" kern="1200" cap="none" spc="0" normalizeH="0" baseline="0" noProof="0" dirty="0">
                <a:ln>
                  <a:noFill/>
                </a:ln>
                <a:solidFill>
                  <a:srgbClr val="000000"/>
                </a:solidFill>
                <a:effectLst/>
                <a:uLnTx/>
                <a:uFillTx/>
                <a:latin typeface="Arial"/>
                <a:ea typeface="+mn-ea"/>
                <a:cs typeface="Noto Sans"/>
              </a:rPr>
              <a:t>1. 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a:t>
            </a:r>
          </a:p>
        </p:txBody>
      </p:sp>
      <p:graphicFrame>
        <p:nvGraphicFramePr>
          <p:cNvPr id="20" name="object 6">
            <a:extLst>
              <a:ext uri="{FF2B5EF4-FFF2-40B4-BE49-F238E27FC236}">
                <a16:creationId xmlns:a16="http://schemas.microsoft.com/office/drawing/2014/main" id="{0A077A3D-B0E5-24C5-67AE-03362B667430}"/>
              </a:ext>
            </a:extLst>
          </p:cNvPr>
          <p:cNvGraphicFramePr>
            <a:graphicFrameLocks noGrp="1"/>
          </p:cNvGraphicFramePr>
          <p:nvPr/>
        </p:nvGraphicFramePr>
        <p:xfrm>
          <a:off x="360852" y="864548"/>
          <a:ext cx="11470296" cy="1834080"/>
        </p:xfrm>
        <a:graphic>
          <a:graphicData uri="http://schemas.openxmlformats.org/drawingml/2006/table">
            <a:tbl>
              <a:tblPr firstRow="1" bandRow="1"/>
              <a:tblGrid>
                <a:gridCol w="11470296">
                  <a:extLst>
                    <a:ext uri="{9D8B030D-6E8A-4147-A177-3AD203B41FA5}">
                      <a16:colId xmlns:a16="http://schemas.microsoft.com/office/drawing/2014/main" val="20000"/>
                    </a:ext>
                  </a:extLst>
                </a:gridCol>
              </a:tblGrid>
              <a:tr h="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US" sz="1200" b="1" kern="1200" spc="5" dirty="0">
                          <a:solidFill>
                            <a:srgbClr val="FFFFFF"/>
                          </a:solidFill>
                          <a:latin typeface="Arial" panose="020B0604020202020204"/>
                          <a:ea typeface="+mn-ea"/>
                          <a:cs typeface="Arial"/>
                        </a:rPr>
                        <a:t>Pulmonary hypertension</a:t>
                      </a:r>
                      <a:r>
                        <a:rPr lang="en-US" sz="1200" b="1" kern="1200" spc="5" baseline="30000" dirty="0">
                          <a:solidFill>
                            <a:srgbClr val="FFFFFF"/>
                          </a:solidFill>
                          <a:latin typeface="Arial" panose="020B0604020202020204"/>
                          <a:ea typeface="+mn-ea"/>
                          <a:cs typeface="Arial"/>
                        </a:rPr>
                        <a:t>1</a:t>
                      </a:r>
                    </a:p>
                  </a:txBody>
                  <a:tcPr marL="180000" marR="45720" marT="72000" marB="72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3"/>
                    </a:solidFill>
                  </a:tcPr>
                </a:tc>
                <a:extLst>
                  <a:ext uri="{0D108BD9-81ED-4DB2-BD59-A6C34878D82A}">
                    <a16:rowId xmlns:a16="http://schemas.microsoft.com/office/drawing/2014/main" val="10002"/>
                  </a:ext>
                </a:extLst>
              </a:tr>
              <a:tr h="0">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May develop late in the course of COPD</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Is due to hypoxic vasoconstriction of the small pulmonary arteries as a result of an inflammatory response in vessels, similar to that seen in the airways</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May also occur due to loss of pulmonary capillary bed caused by emphysema</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Progressive pulmonary hypertension may lead to right ventricular hypertrophy and eventually to right-sided heart failure</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Severe progression worsens survival</a:t>
                      </a:r>
                    </a:p>
                  </a:txBody>
                  <a:tcPr marL="180000" marR="45720" marT="144000" marB="144000">
                    <a:lnL w="12700">
                      <a:solidFill>
                        <a:srgbClr val="FFFFFF"/>
                      </a:solidFill>
                      <a:prstDash val="solid"/>
                    </a:lnL>
                    <a:lnR w="1270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09180C62-F101-A68B-CE5E-3EC4094BC2E1}"/>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graphicFrame>
        <p:nvGraphicFramePr>
          <p:cNvPr id="7" name="object 6">
            <a:extLst>
              <a:ext uri="{FF2B5EF4-FFF2-40B4-BE49-F238E27FC236}">
                <a16:creationId xmlns:a16="http://schemas.microsoft.com/office/drawing/2014/main" id="{2A33528F-427D-52A4-CCC7-8C89D2431C81}"/>
              </a:ext>
            </a:extLst>
          </p:cNvPr>
          <p:cNvGraphicFramePr>
            <a:graphicFrameLocks noGrp="1"/>
          </p:cNvGraphicFramePr>
          <p:nvPr/>
        </p:nvGraphicFramePr>
        <p:xfrm>
          <a:off x="353101" y="2622473"/>
          <a:ext cx="11470296" cy="3256680"/>
        </p:xfrm>
        <a:graphic>
          <a:graphicData uri="http://schemas.openxmlformats.org/drawingml/2006/table">
            <a:tbl>
              <a:tblPr firstRow="1" bandRow="1"/>
              <a:tblGrid>
                <a:gridCol w="11470296">
                  <a:extLst>
                    <a:ext uri="{9D8B030D-6E8A-4147-A177-3AD203B41FA5}">
                      <a16:colId xmlns:a16="http://schemas.microsoft.com/office/drawing/2014/main" val="20000"/>
                    </a:ext>
                  </a:extLst>
                </a:gridCol>
              </a:tblGrid>
              <a:tr h="229412">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US" sz="1200" b="1" kern="1200" spc="-5" dirty="0">
                          <a:solidFill>
                            <a:srgbClr val="FFFFFF"/>
                          </a:solidFill>
                          <a:latin typeface="Arial" panose="020B0604020202020204"/>
                          <a:ea typeface="+mn-ea"/>
                          <a:cs typeface="Arial"/>
                        </a:rPr>
                        <a:t>Multimorbidity</a:t>
                      </a:r>
                      <a:r>
                        <a:rPr lang="en-US" sz="1200" b="1" kern="1200" spc="-5" baseline="30000" dirty="0">
                          <a:solidFill>
                            <a:srgbClr val="FFFFFF"/>
                          </a:solidFill>
                          <a:latin typeface="Arial" panose="020B0604020202020204"/>
                          <a:ea typeface="+mn-ea"/>
                          <a:cs typeface="Arial"/>
                        </a:rPr>
                        <a:t>1</a:t>
                      </a:r>
                    </a:p>
                  </a:txBody>
                  <a:tcPr marL="180000" marR="45720" marT="72000" marB="7200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4"/>
                    </a:solidFill>
                  </a:tcPr>
                </a:tc>
                <a:extLst>
                  <a:ext uri="{0D108BD9-81ED-4DB2-BD59-A6C34878D82A}">
                    <a16:rowId xmlns:a16="http://schemas.microsoft.com/office/drawing/2014/main" val="10000"/>
                  </a:ext>
                </a:extLst>
              </a:tr>
              <a:tr h="830598">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Most patients with COPD suffer concomitant chronic diseases linked to the same risk factors</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Airflow obstruction and hyperinflation affect cardiac function and gas exchange</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Inflammatory mediators in circulation may contribute to skeletal muscle wasting and initiate or worsen other comorbidities, e.g., ischaemic heart disease, diabetes, osteoporosis, normocytic </a:t>
                      </a:r>
                      <a:r>
                        <a:rPr lang="en-GB" sz="1200" kern="1200" spc="-5" noProof="0" dirty="0">
                          <a:solidFill>
                            <a:schemeClr val="tx1"/>
                          </a:solidFill>
                          <a:latin typeface="Arial" panose="020B0604020202020204"/>
                          <a:ea typeface="+mn-ea"/>
                          <a:cs typeface="Arial"/>
                        </a:rPr>
                        <a:t>anaemia</a:t>
                      </a:r>
                      <a:r>
                        <a:rPr lang="en-US" sz="1200" kern="1200" spc="-5" dirty="0">
                          <a:solidFill>
                            <a:schemeClr val="tx1"/>
                          </a:solidFill>
                          <a:latin typeface="Arial" panose="020B0604020202020204"/>
                          <a:ea typeface="+mn-ea"/>
                          <a:cs typeface="Arial"/>
                        </a:rPr>
                        <a:t> and metabolic syndrome</a:t>
                      </a:r>
                    </a:p>
                  </a:txBody>
                  <a:tcPr marL="180000" marR="45720" marT="144000" marB="144000">
                    <a:lnL w="12700">
                      <a:solidFill>
                        <a:srgbClr val="FFFFFF"/>
                      </a:solidFill>
                      <a:prstDash val="solid"/>
                    </a:lnL>
                    <a:lnR w="12700" cap="flat" cmpd="sng" algn="ctr">
                      <a:solidFill>
                        <a:srgbClr val="FFFFFF"/>
                      </a:solidFill>
                      <a:prstDash val="solid"/>
                      <a:round/>
                      <a:headEnd type="none" w="med" len="med"/>
                      <a:tailEnd type="none" w="med" len="med"/>
                    </a:lnR>
                    <a:lnT w="19050">
                      <a:solidFill>
                        <a:srgbClr val="FFFFFF"/>
                      </a:solidFill>
                      <a:prstDash val="solid"/>
                    </a:lnT>
                    <a:lnB w="1905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extLst>
                  <a:ext uri="{0D108BD9-81ED-4DB2-BD59-A6C34878D82A}">
                    <a16:rowId xmlns:a16="http://schemas.microsoft.com/office/drawing/2014/main" val="10001"/>
                  </a:ext>
                </a:extLst>
              </a:tr>
              <a:tr h="229412">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0">
                        <a:lnSpc>
                          <a:spcPct val="100000"/>
                        </a:lnSpc>
                        <a:spcBef>
                          <a:spcPts val="0"/>
                        </a:spcBef>
                      </a:pPr>
                      <a:r>
                        <a:rPr lang="en-US" sz="1200" b="1" kern="1200" spc="5" dirty="0">
                          <a:solidFill>
                            <a:srgbClr val="FFFFFF"/>
                          </a:solidFill>
                          <a:latin typeface="Arial" panose="020B0604020202020204"/>
                          <a:ea typeface="+mn-ea"/>
                          <a:cs typeface="Arial"/>
                        </a:rPr>
                        <a:t>Exacerbations</a:t>
                      </a:r>
                      <a:r>
                        <a:rPr lang="en-US" sz="1200" b="1" kern="1200" spc="5" baseline="30000" dirty="0">
                          <a:solidFill>
                            <a:srgbClr val="FFFFFF"/>
                          </a:solidFill>
                          <a:latin typeface="Arial" panose="020B0604020202020204"/>
                          <a:ea typeface="+mn-ea"/>
                          <a:cs typeface="Arial"/>
                        </a:rPr>
                        <a:t>1</a:t>
                      </a:r>
                    </a:p>
                  </a:txBody>
                  <a:tcPr marL="180000" marR="45720" marT="72000" marB="72000">
                    <a:lnL w="12700">
                      <a:solidFill>
                        <a:srgbClr val="FFFFFF"/>
                      </a:solidFill>
                      <a:prstDash val="solid"/>
                    </a:lnL>
                    <a:lnR w="12700">
                      <a:solidFill>
                        <a:srgbClr val="FFFFFF"/>
                      </a:solidFill>
                      <a:prstDash val="solid"/>
                    </a:lnR>
                    <a:lnT w="19050">
                      <a:solidFill>
                        <a:srgbClr val="FFFFFF"/>
                      </a:solidFill>
                      <a:prstDash val="solid"/>
                    </a:lnT>
                    <a:lnB w="19050">
                      <a:solidFill>
                        <a:srgbClr val="FFFFFF"/>
                      </a:solidFill>
                      <a:prstDash val="solid"/>
                    </a:lnB>
                    <a:lnTlToBr w="12700" cmpd="sng">
                      <a:noFill/>
                      <a:prstDash val="solid"/>
                    </a:lnTlToBr>
                    <a:lnBlToTr w="12700" cmpd="sng">
                      <a:noFill/>
                      <a:prstDash val="solid"/>
                    </a:lnBlToTr>
                    <a:solidFill>
                      <a:schemeClr val="accent6"/>
                    </a:solidFill>
                  </a:tcPr>
                </a:tc>
                <a:extLst>
                  <a:ext uri="{0D108BD9-81ED-4DB2-BD59-A6C34878D82A}">
                    <a16:rowId xmlns:a16="http://schemas.microsoft.com/office/drawing/2014/main" val="10002"/>
                  </a:ext>
                </a:extLst>
              </a:tr>
              <a:tr h="879516">
                <a:tc>
                  <a:txBody>
                    <a:bodyPr/>
                    <a:lstStyle>
                      <a:lvl1pPr marL="0" algn="l" defTabSz="1219170" rtl="0" eaLnBrk="1" latinLnBrk="0" hangingPunct="1">
                        <a:defRPr sz="2400" kern="1200">
                          <a:solidFill>
                            <a:schemeClr val="tx1"/>
                          </a:solidFill>
                          <a:latin typeface="Arial" panose="020B0604020202020204"/>
                        </a:defRPr>
                      </a:lvl1pPr>
                      <a:lvl2pPr marL="609585" algn="l" defTabSz="1219170" rtl="0" eaLnBrk="1" latinLnBrk="0" hangingPunct="1">
                        <a:defRPr sz="2400" kern="1200">
                          <a:solidFill>
                            <a:schemeClr val="tx1"/>
                          </a:solidFill>
                          <a:latin typeface="Arial" panose="020B0604020202020204"/>
                        </a:defRPr>
                      </a:lvl2pPr>
                      <a:lvl3pPr marL="1219170" algn="l" defTabSz="1219170" rtl="0" eaLnBrk="1" latinLnBrk="0" hangingPunct="1">
                        <a:defRPr sz="2400" kern="1200">
                          <a:solidFill>
                            <a:schemeClr val="tx1"/>
                          </a:solidFill>
                          <a:latin typeface="Arial" panose="020B0604020202020204"/>
                        </a:defRPr>
                      </a:lvl3pPr>
                      <a:lvl4pPr marL="1828754" algn="l" defTabSz="1219170" rtl="0" eaLnBrk="1" latinLnBrk="0" hangingPunct="1">
                        <a:defRPr sz="2400" kern="1200">
                          <a:solidFill>
                            <a:schemeClr val="tx1"/>
                          </a:solidFill>
                          <a:latin typeface="Arial" panose="020B0604020202020204"/>
                        </a:defRPr>
                      </a:lvl4pPr>
                      <a:lvl5pPr marL="2438339" algn="l" defTabSz="1219170" rtl="0" eaLnBrk="1" latinLnBrk="0" hangingPunct="1">
                        <a:defRPr sz="2400" kern="1200">
                          <a:solidFill>
                            <a:schemeClr val="tx1"/>
                          </a:solidFill>
                          <a:latin typeface="Arial" panose="020B0604020202020204"/>
                        </a:defRPr>
                      </a:lvl5pPr>
                      <a:lvl6pPr marL="3047924" algn="l" defTabSz="1219170" rtl="0" eaLnBrk="1" latinLnBrk="0" hangingPunct="1">
                        <a:defRPr sz="2400" kern="1200">
                          <a:solidFill>
                            <a:schemeClr val="tx1"/>
                          </a:solidFill>
                          <a:latin typeface="Arial" panose="020B0604020202020204"/>
                        </a:defRPr>
                      </a:lvl6pPr>
                      <a:lvl7pPr marL="3657509" algn="l" defTabSz="1219170" rtl="0" eaLnBrk="1" latinLnBrk="0" hangingPunct="1">
                        <a:defRPr sz="2400" kern="1200">
                          <a:solidFill>
                            <a:schemeClr val="tx1"/>
                          </a:solidFill>
                          <a:latin typeface="Arial" panose="020B0604020202020204"/>
                        </a:defRPr>
                      </a:lvl7pPr>
                      <a:lvl8pPr marL="4267093" algn="l" defTabSz="1219170" rtl="0" eaLnBrk="1" latinLnBrk="0" hangingPunct="1">
                        <a:defRPr sz="2400" kern="1200">
                          <a:solidFill>
                            <a:schemeClr val="tx1"/>
                          </a:solidFill>
                          <a:latin typeface="Arial" panose="020B0604020202020204"/>
                        </a:defRPr>
                      </a:lvl8pPr>
                      <a:lvl9pPr marL="4876678" algn="l" defTabSz="1219170" rtl="0" eaLnBrk="1" latinLnBrk="0" hangingPunct="1">
                        <a:defRPr sz="2400" kern="1200">
                          <a:solidFill>
                            <a:schemeClr val="tx1"/>
                          </a:solidFill>
                          <a:latin typeface="Arial" panose="020B0604020202020204"/>
                        </a:defRPr>
                      </a:lvl9pPr>
                    </a:lstStyle>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Acute worsening of respiratory symptoms, resulting in a need for additional therapy</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Thought to be caused by complex interactions between the host, viruses, bacteria and environmental pollution</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During an exacerbation there is increased hyperinflation, increased airway and systemic inflammation and gas trapping, with reduced expiratory flow, causing an increase in dyspnoea</a:t>
                      </a:r>
                    </a:p>
                    <a:p>
                      <a:pPr marL="285750" marR="229870" indent="-285750">
                        <a:lnSpc>
                          <a:spcPct val="100000"/>
                        </a:lnSpc>
                        <a:spcBef>
                          <a:spcPts val="0"/>
                        </a:spcBef>
                        <a:spcAft>
                          <a:spcPts val="600"/>
                        </a:spcAft>
                        <a:buClr>
                          <a:schemeClr val="tx2"/>
                        </a:buClr>
                        <a:buFont typeface="Arial" panose="020B0604020202020204" pitchFamily="34" charset="0"/>
                        <a:buChar char="•"/>
                        <a:tabLst>
                          <a:tab pos="198755" algn="l"/>
                        </a:tabLst>
                      </a:pPr>
                      <a:r>
                        <a:rPr lang="en-US" sz="1200" kern="1200" spc="-5" dirty="0">
                          <a:solidFill>
                            <a:schemeClr val="tx1"/>
                          </a:solidFill>
                          <a:latin typeface="Arial" panose="020B0604020202020204"/>
                          <a:ea typeface="+mn-ea"/>
                          <a:cs typeface="Arial"/>
                        </a:rPr>
                        <a:t>Other conditions like pneumonia, thromboembolism and acute cardiac failure may mimic or aggravate an exacerbation </a:t>
                      </a:r>
                    </a:p>
                  </a:txBody>
                  <a:tcPr marL="180000" marR="45720" marT="144000" marB="144000">
                    <a:lnL w="12700">
                      <a:solidFill>
                        <a:srgbClr val="FFFFFF"/>
                      </a:solidFill>
                      <a:prstDash val="solid"/>
                    </a:lnL>
                    <a:lnR w="12700" cap="flat" cmpd="sng" algn="ctr">
                      <a:solidFill>
                        <a:srgbClr val="FFFFFF"/>
                      </a:solidFill>
                      <a:prstDash val="solid"/>
                      <a:round/>
                      <a:headEnd type="none" w="med" len="med"/>
                      <a:tailEnd type="none" w="med" len="med"/>
                    </a:lnR>
                    <a:lnT w="19050">
                      <a:solidFill>
                        <a:srgbClr val="FFFFFF"/>
                      </a:solidFill>
                      <a:prstDash val="solid"/>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chemeClr val="accent6">
                        <a:lumMod val="20000"/>
                        <a:lumOff val="80000"/>
                      </a:schemeClr>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402914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A6198A-90F5-07DA-14EE-8D23C51FCD43}"/>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57CBE86C-ABFA-6592-B158-45301DFE93F5}"/>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3CAF4DFE-53E5-9F6F-CA8A-47B71278EBAC}"/>
              </a:ext>
            </a:extLst>
          </p:cNvPr>
          <p:cNvSpPr>
            <a:spLocks noGrp="1"/>
          </p:cNvSpPr>
          <p:nvPr>
            <p:ph type="title"/>
          </p:nvPr>
        </p:nvSpPr>
        <p:spPr/>
        <p:txBody>
          <a:bodyPr/>
          <a:lstStyle/>
          <a:p>
            <a:r>
              <a:rPr lang="en-US" dirty="0"/>
              <a:t>COPD Exacerbations are Episodes of Symptom Worsening</a:t>
            </a:r>
            <a:endParaRPr lang="en-GB" dirty="0"/>
          </a:p>
        </p:txBody>
      </p:sp>
      <p:sp>
        <p:nvSpPr>
          <p:cNvPr id="65" name="Text Placeholder 10">
            <a:extLst>
              <a:ext uri="{FF2B5EF4-FFF2-40B4-BE49-F238E27FC236}">
                <a16:creationId xmlns:a16="http://schemas.microsoft.com/office/drawing/2014/main" id="{CAF0B6D1-808B-70F6-F256-EAD29DDCE359}"/>
              </a:ext>
            </a:extLst>
          </p:cNvPr>
          <p:cNvSpPr txBox="1">
            <a:spLocks/>
          </p:cNvSpPr>
          <p:nvPr/>
        </p:nvSpPr>
        <p:spPr>
          <a:xfrm>
            <a:off x="360952" y="5791169"/>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GB" sz="800" b="0" i="0" u="none" strike="noStrike" kern="1200" cap="none" spc="0" normalizeH="0" baseline="0" noProof="0" dirty="0">
                <a:ln>
                  <a:noFill/>
                </a:ln>
                <a:solidFill>
                  <a:srgbClr val="000000"/>
                </a:solidFill>
                <a:effectLst/>
                <a:uLnTx/>
                <a:uFillTx/>
                <a:latin typeface="Arial"/>
                <a:ea typeface="+mn-ea"/>
                <a:cs typeface="Noto Sans"/>
              </a:rPr>
              <a:t>1. Global Initiative for Chronic Obstructive Lung Disease;GOLD;2023;1-205. Available at: https://goldcopd.org/2023-gold-report-2/. Accessed February 2023</a:t>
            </a:r>
            <a:r>
              <a:rPr kumimoji="0" lang="en-US" sz="800" b="0" i="0" u="none" strike="noStrike" kern="1200" cap="none" spc="0" normalizeH="0" baseline="0" noProof="0" dirty="0">
                <a:ln>
                  <a:noFill/>
                </a:ln>
                <a:solidFill>
                  <a:srgbClr val="000000"/>
                </a:solidFill>
                <a:effectLst/>
                <a:uLnTx/>
                <a:uFillTx/>
                <a:latin typeface="Arial"/>
                <a:ea typeface="+mn-ea"/>
                <a:cs typeface="Noto Sans"/>
              </a:rPr>
              <a:t>; 2. Wedzicha JA;Breathe;2013;9;435-440; 3. Rovina N;Mediators of inflammation;2013;2013:413735;1-9.</a:t>
            </a:r>
          </a:p>
        </p:txBody>
      </p:sp>
      <p:sp>
        <p:nvSpPr>
          <p:cNvPr id="84" name="Content Placeholder 4">
            <a:extLst>
              <a:ext uri="{FF2B5EF4-FFF2-40B4-BE49-F238E27FC236}">
                <a16:creationId xmlns:a16="http://schemas.microsoft.com/office/drawing/2014/main" id="{CEFC8BFB-7D31-9451-B992-22842C9C3496}"/>
              </a:ext>
            </a:extLst>
          </p:cNvPr>
          <p:cNvSpPr txBox="1">
            <a:spLocks/>
          </p:cNvSpPr>
          <p:nvPr/>
        </p:nvSpPr>
        <p:spPr>
          <a:xfrm>
            <a:off x="377825" y="962154"/>
            <a:ext cx="5954447" cy="2708434"/>
          </a:xfrm>
          <a:prstGeom prst="rect">
            <a:avLst/>
          </a:prstGeom>
        </p:spPr>
        <p:txBody>
          <a:bodyPr vert="horz" lIns="0" tIns="0" rIns="0" bIns="0" rtlCol="0">
            <a:spAutoFit/>
          </a:bodyPr>
          <a:lstStyle>
            <a:lvl1pPr marL="27432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1pPr>
            <a:lvl2pPr marL="54864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2pPr>
            <a:lvl3pPr marL="82296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3pPr>
            <a:lvl4pPr marL="109728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4pPr>
            <a:lvl5pPr marL="1371600" indent="-274320" algn="l" defTabSz="914400" rtl="0" eaLnBrk="1" latinLnBrk="0" hangingPunct="1">
              <a:lnSpc>
                <a:spcPct val="100000"/>
              </a:lnSpc>
              <a:spcBef>
                <a:spcPts val="0"/>
              </a:spcBef>
              <a:spcAft>
                <a:spcPts val="600"/>
              </a:spcAft>
              <a:buClrTx/>
              <a:buFont typeface="Arial" panose="020B0604020202020204" pitchFamily="34" charset="0"/>
              <a:buChar char="–"/>
              <a:defRPr sz="1400" kern="1200">
                <a:solidFill>
                  <a:srgbClr val="544F40"/>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600"/>
              </a:spcAft>
              <a:buClrTx/>
              <a:buSzTx/>
              <a:buFont typeface="Arial" panose="020B0604020202020204" pitchFamily="34" charset="0"/>
              <a:buNone/>
              <a:tabLst/>
              <a:defRPr/>
            </a:pPr>
            <a:r>
              <a:rPr kumimoji="0" lang="en-US" sz="16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Exacerbations:</a:t>
            </a:r>
          </a:p>
          <a:p>
            <a:pPr marL="444500" marR="0" lvl="1" indent="-169863"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Thought to be caused by complex interactions between the host, viruses, bacteria and environmental pollution</a:t>
            </a:r>
            <a:r>
              <a:rPr kumimoji="0" lang="en-US" sz="14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444500" marR="0" lvl="1" indent="-169863"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4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Oxidative stress</a:t>
            </a:r>
            <a:r>
              <a:rPr kumimoji="0" lang="en-US" sz="1400" b="0"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is further </a:t>
            </a:r>
            <a:r>
              <a:rPr kumimoji="0" lang="en-US" sz="14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increased</a:t>
            </a: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during exacerbations</a:t>
            </a:r>
            <a:r>
              <a:rPr kumimoji="0" lang="en-US" sz="14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These factors increase the </a:t>
            </a:r>
            <a:r>
              <a:rPr kumimoji="0" lang="en-US" sz="14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inflammatory burden</a:t>
            </a:r>
            <a:r>
              <a:rPr kumimoji="0" lang="en-US" sz="1400" b="0"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in the lower airways, </a:t>
            </a:r>
            <a:r>
              <a:rPr kumimoji="0" lang="en-US" sz="14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overwhelming</a:t>
            </a:r>
            <a:r>
              <a:rPr kumimoji="0" lang="en-US" sz="1400" b="1"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the body’s natural protective anti‐inflammatory </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defences</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and so leads to increased tissue damage</a:t>
            </a:r>
            <a:r>
              <a:rPr kumimoji="0" lang="en-US" sz="14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3</a:t>
            </a:r>
          </a:p>
          <a:p>
            <a:pPr marL="274320" marR="0" lvl="0" indent="-274320" algn="l" defTabSz="91440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Severe exacerbations are defined as those which </a:t>
            </a:r>
            <a:r>
              <a:rPr kumimoji="0" lang="en-US" sz="1400" b="1" i="0" u="none" strike="noStrike" kern="1200" cap="none" spc="0" normalizeH="0" baseline="0" noProof="0" dirty="0">
                <a:ln>
                  <a:noFill/>
                </a:ln>
                <a:solidFill>
                  <a:srgbClr val="F36633"/>
                </a:solidFill>
                <a:effectLst/>
                <a:uLnTx/>
                <a:uFillTx/>
                <a:latin typeface="Arial" panose="020B0604020202020204" pitchFamily="34" charset="0"/>
                <a:ea typeface="+mn-ea"/>
                <a:cs typeface="Arial" panose="020B0604020202020204" pitchFamily="34" charset="0"/>
              </a:rPr>
              <a:t>require hospitalisation</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or visits to the emergency room. </a:t>
            </a:r>
            <a:r>
              <a:rPr kumimoji="0" lang="en-GB"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Hospitalisation</a:t>
            </a:r>
            <a:r>
              <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for a COPD exacerbation is associated with poor prognosis and increased risk of death</a:t>
            </a:r>
            <a:r>
              <a:rPr kumimoji="0" lang="en-US" sz="1400" b="0" i="0" u="none" strike="noStrike" kern="1200" cap="none" spc="0" normalizeH="0" baseline="30000" noProof="0" dirty="0">
                <a:ln>
                  <a:noFill/>
                </a:ln>
                <a:solidFill>
                  <a:srgbClr val="000000"/>
                </a:solidFill>
                <a:effectLst/>
                <a:uLnTx/>
                <a:uFillTx/>
                <a:latin typeface="Arial" panose="020B0604020202020204" pitchFamily="34" charset="0"/>
                <a:ea typeface="+mn-ea"/>
                <a:cs typeface="Arial" panose="020B0604020202020204" pitchFamily="34" charset="0"/>
              </a:rPr>
              <a:t>1</a:t>
            </a:r>
            <a:endParaRPr kumimoji="0" lang="en-US" sz="14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grpSp>
        <p:nvGrpSpPr>
          <p:cNvPr id="23" name="Group 22">
            <a:extLst>
              <a:ext uri="{FF2B5EF4-FFF2-40B4-BE49-F238E27FC236}">
                <a16:creationId xmlns:a16="http://schemas.microsoft.com/office/drawing/2014/main" id="{C72F8572-012B-84BB-3C88-429EC916F4FE}"/>
              </a:ext>
            </a:extLst>
          </p:cNvPr>
          <p:cNvGrpSpPr/>
          <p:nvPr/>
        </p:nvGrpSpPr>
        <p:grpSpPr>
          <a:xfrm>
            <a:off x="6695583" y="1000941"/>
            <a:ext cx="5129012" cy="4546598"/>
            <a:chOff x="6527943" y="1193481"/>
            <a:chExt cx="5129012" cy="4546598"/>
          </a:xfrm>
        </p:grpSpPr>
        <p:grpSp>
          <p:nvGrpSpPr>
            <p:cNvPr id="86" name="Group 85">
              <a:extLst>
                <a:ext uri="{FF2B5EF4-FFF2-40B4-BE49-F238E27FC236}">
                  <a16:creationId xmlns:a16="http://schemas.microsoft.com/office/drawing/2014/main" id="{C0F04CB6-633D-2859-CF4B-03A1E204A640}"/>
                </a:ext>
              </a:extLst>
            </p:cNvPr>
            <p:cNvGrpSpPr/>
            <p:nvPr/>
          </p:nvGrpSpPr>
          <p:grpSpPr>
            <a:xfrm>
              <a:off x="6527943" y="1502872"/>
              <a:ext cx="5129012" cy="4237207"/>
              <a:chOff x="6460717" y="1731191"/>
              <a:chExt cx="5129012" cy="4237207"/>
            </a:xfrm>
          </p:grpSpPr>
          <p:sp>
            <p:nvSpPr>
              <p:cNvPr id="87" name="object 25">
                <a:extLst>
                  <a:ext uri="{FF2B5EF4-FFF2-40B4-BE49-F238E27FC236}">
                    <a16:creationId xmlns:a16="http://schemas.microsoft.com/office/drawing/2014/main" id="{00E2F405-1E33-53E1-B7B6-5A6AC1E81B64}"/>
                  </a:ext>
                </a:extLst>
              </p:cNvPr>
              <p:cNvSpPr txBox="1"/>
              <p:nvPr/>
            </p:nvSpPr>
            <p:spPr>
              <a:xfrm>
                <a:off x="6880731" y="1731191"/>
                <a:ext cx="492122" cy="184666"/>
              </a:xfrm>
              <a:prstGeom prst="rect">
                <a:avLst/>
              </a:prstGeom>
            </p:spPr>
            <p:txBody>
              <a:bodyPr vert="horz" wrap="none" lIns="0" tIns="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T</a:t>
                </a:r>
                <a:r>
                  <a:rPr kumimoji="0" sz="1200" b="0" i="0" u="none" strike="noStrike" kern="0" cap="none" spc="-5" normalizeH="0" baseline="0" noProof="0" dirty="0">
                    <a:ln>
                      <a:noFill/>
                    </a:ln>
                    <a:solidFill>
                      <a:srgbClr val="000000"/>
                    </a:solidFill>
                    <a:effectLst/>
                    <a:uLnTx/>
                    <a:uFillTx/>
                    <a:latin typeface="Arial"/>
                    <a:ea typeface="+mn-ea"/>
                    <a:cs typeface="Arial"/>
                  </a:rPr>
                  <a:t>r</a:t>
                </a:r>
                <a:r>
                  <a:rPr kumimoji="0" sz="1200" b="0" i="0" u="none" strike="noStrike" kern="0" cap="none" spc="-15" normalizeH="0" baseline="0" noProof="0" dirty="0">
                    <a:ln>
                      <a:noFill/>
                    </a:ln>
                    <a:solidFill>
                      <a:srgbClr val="000000"/>
                    </a:solidFill>
                    <a:effectLst/>
                    <a:uLnTx/>
                    <a:uFillTx/>
                    <a:latin typeface="Arial"/>
                    <a:ea typeface="+mn-ea"/>
                    <a:cs typeface="Arial"/>
                  </a:rPr>
                  <a:t>igg</a:t>
                </a:r>
                <a:r>
                  <a:rPr kumimoji="0" sz="1200" b="0" i="0" u="none" strike="noStrike" kern="0" cap="none" spc="-5" normalizeH="0" baseline="0" noProof="0" dirty="0">
                    <a:ln>
                      <a:noFill/>
                    </a:ln>
                    <a:solidFill>
                      <a:srgbClr val="000000"/>
                    </a:solidFill>
                    <a:effectLst/>
                    <a:uLnTx/>
                    <a:uFillTx/>
                    <a:latin typeface="Arial"/>
                    <a:ea typeface="+mn-ea"/>
                    <a:cs typeface="Arial"/>
                  </a:rPr>
                  <a:t>e</a:t>
                </a:r>
                <a:r>
                  <a:rPr kumimoji="0" sz="1200" b="0" i="0" u="none" strike="noStrike" kern="0" cap="none" spc="0" normalizeH="0" baseline="0" noProof="0" dirty="0">
                    <a:ln>
                      <a:noFill/>
                    </a:ln>
                    <a:solidFill>
                      <a:srgbClr val="000000"/>
                    </a:solidFill>
                    <a:effectLst/>
                    <a:uLnTx/>
                    <a:uFillTx/>
                    <a:latin typeface="Arial"/>
                    <a:ea typeface="+mn-ea"/>
                    <a:cs typeface="Arial"/>
                  </a:rPr>
                  <a:t>r</a:t>
                </a:r>
              </a:p>
            </p:txBody>
          </p:sp>
          <p:sp>
            <p:nvSpPr>
              <p:cNvPr id="88" name="object 26">
                <a:extLst>
                  <a:ext uri="{FF2B5EF4-FFF2-40B4-BE49-F238E27FC236}">
                    <a16:creationId xmlns:a16="http://schemas.microsoft.com/office/drawing/2014/main" id="{5DE5B96C-907E-F37C-66D1-8BC21C96B7B8}"/>
                  </a:ext>
                </a:extLst>
              </p:cNvPr>
              <p:cNvSpPr txBox="1"/>
              <p:nvPr/>
            </p:nvSpPr>
            <p:spPr>
              <a:xfrm>
                <a:off x="6880731" y="2622606"/>
                <a:ext cx="570349" cy="184666"/>
              </a:xfrm>
              <a:prstGeom prst="rect">
                <a:avLst/>
              </a:prstGeom>
            </p:spPr>
            <p:txBody>
              <a:bodyPr vert="horz" wrap="none" lIns="0" tIns="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Bacteria</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89" name="object 28">
                <a:extLst>
                  <a:ext uri="{FF2B5EF4-FFF2-40B4-BE49-F238E27FC236}">
                    <a16:creationId xmlns:a16="http://schemas.microsoft.com/office/drawing/2014/main" id="{7E036A68-187E-983B-F922-1814A71675B5}"/>
                  </a:ext>
                </a:extLst>
              </p:cNvPr>
              <p:cNvSpPr txBox="1"/>
              <p:nvPr/>
            </p:nvSpPr>
            <p:spPr>
              <a:xfrm>
                <a:off x="8618135" y="2622606"/>
                <a:ext cx="516936" cy="184666"/>
              </a:xfrm>
              <a:prstGeom prst="rect">
                <a:avLst/>
              </a:prstGeom>
            </p:spPr>
            <p:txBody>
              <a:bodyPr vert="horz" wrap="none" lIns="0" tIns="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Viruses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90" name="object 29">
                <a:extLst>
                  <a:ext uri="{FF2B5EF4-FFF2-40B4-BE49-F238E27FC236}">
                    <a16:creationId xmlns:a16="http://schemas.microsoft.com/office/drawing/2014/main" id="{599B11D1-66E1-FEBD-0524-9C8AEEE1F0D6}"/>
                  </a:ext>
                </a:extLst>
              </p:cNvPr>
              <p:cNvSpPr txBox="1"/>
              <p:nvPr/>
            </p:nvSpPr>
            <p:spPr>
              <a:xfrm>
                <a:off x="10168653" y="2622606"/>
                <a:ext cx="679673" cy="184666"/>
              </a:xfrm>
              <a:prstGeom prst="rect">
                <a:avLst/>
              </a:prstGeom>
            </p:spPr>
            <p:txBody>
              <a:bodyPr vert="horz" wrap="none" lIns="0" tIns="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5" normalizeH="0" baseline="0" noProof="0" dirty="0">
                    <a:ln>
                      <a:noFill/>
                    </a:ln>
                    <a:solidFill>
                      <a:srgbClr val="000000"/>
                    </a:solidFill>
                    <a:effectLst/>
                    <a:uLnTx/>
                    <a:uFillTx/>
                    <a:latin typeface="Arial"/>
                    <a:ea typeface="+mn-ea"/>
                    <a:cs typeface="Arial"/>
                  </a:rPr>
                  <a:t>Pollutants</a:t>
                </a:r>
                <a:endParaRPr kumimoji="0" sz="1200" b="0" i="0" u="none" strike="noStrike" kern="0" cap="none" spc="0" normalizeH="0" baseline="0" noProof="0" dirty="0">
                  <a:ln>
                    <a:noFill/>
                  </a:ln>
                  <a:solidFill>
                    <a:srgbClr val="000000"/>
                  </a:solidFill>
                  <a:effectLst/>
                  <a:uLnTx/>
                  <a:uFillTx/>
                  <a:latin typeface="Arial"/>
                  <a:ea typeface="+mn-ea"/>
                  <a:cs typeface="Arial"/>
                </a:endParaRPr>
              </a:p>
            </p:txBody>
          </p:sp>
          <p:sp>
            <p:nvSpPr>
              <p:cNvPr id="91" name="object 32">
                <a:extLst>
                  <a:ext uri="{FF2B5EF4-FFF2-40B4-BE49-F238E27FC236}">
                    <a16:creationId xmlns:a16="http://schemas.microsoft.com/office/drawing/2014/main" id="{807D2C69-E24D-95FA-62F1-0EC829E69D5B}"/>
                  </a:ext>
                </a:extLst>
              </p:cNvPr>
              <p:cNvSpPr/>
              <p:nvPr/>
            </p:nvSpPr>
            <p:spPr>
              <a:xfrm>
                <a:off x="7165905" y="2782201"/>
                <a:ext cx="3383033" cy="115570"/>
              </a:xfrm>
              <a:custGeom>
                <a:avLst/>
                <a:gdLst/>
                <a:ahLst/>
                <a:cxnLst/>
                <a:rect l="l" t="t" r="r" b="b"/>
                <a:pathLst>
                  <a:path w="2701290" h="115570">
                    <a:moveTo>
                      <a:pt x="0" y="0"/>
                    </a:moveTo>
                    <a:lnTo>
                      <a:pt x="0" y="115188"/>
                    </a:lnTo>
                    <a:lnTo>
                      <a:pt x="2700782" y="115188"/>
                    </a:lnTo>
                    <a:lnTo>
                      <a:pt x="2700782" y="12064"/>
                    </a:lnTo>
                  </a:path>
                </a:pathLst>
              </a:custGeom>
              <a:ln w="19050">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dirty="0">
                  <a:ln>
                    <a:noFill/>
                  </a:ln>
                  <a:solidFill>
                    <a:srgbClr val="F36633"/>
                  </a:solidFill>
                  <a:effectLst/>
                  <a:uLnTx/>
                  <a:uFillTx/>
                  <a:latin typeface="Arial"/>
                  <a:ea typeface="+mn-ea"/>
                  <a:cs typeface="Noto Sans"/>
                </a:endParaRPr>
              </a:p>
            </p:txBody>
          </p:sp>
          <p:cxnSp>
            <p:nvCxnSpPr>
              <p:cNvPr id="92" name="Straight Arrow Connector 91">
                <a:extLst>
                  <a:ext uri="{FF2B5EF4-FFF2-40B4-BE49-F238E27FC236}">
                    <a16:creationId xmlns:a16="http://schemas.microsoft.com/office/drawing/2014/main" id="{4BB576E3-8B01-CE9F-B683-C01464A0A2B6}"/>
                  </a:ext>
                </a:extLst>
              </p:cNvPr>
              <p:cNvCxnSpPr>
                <a:stCxn id="89" idx="2"/>
              </p:cNvCxnSpPr>
              <p:nvPr/>
            </p:nvCxnSpPr>
            <p:spPr>
              <a:xfrm>
                <a:off x="8876603" y="2807272"/>
                <a:ext cx="0" cy="201559"/>
              </a:xfrm>
              <a:prstGeom prst="straightConnector1">
                <a:avLst/>
              </a:prstGeom>
              <a:ln w="19050">
                <a:solidFill>
                  <a:srgbClr val="F36633"/>
                </a:solidFill>
                <a:tailEnd type="triangle"/>
              </a:ln>
            </p:spPr>
          </p:cxnSp>
          <p:sp>
            <p:nvSpPr>
              <p:cNvPr id="93" name="object 27">
                <a:extLst>
                  <a:ext uri="{FF2B5EF4-FFF2-40B4-BE49-F238E27FC236}">
                    <a16:creationId xmlns:a16="http://schemas.microsoft.com/office/drawing/2014/main" id="{823ED8DD-64D9-6E81-F3AE-AC8F5F414E48}"/>
                  </a:ext>
                </a:extLst>
              </p:cNvPr>
              <p:cNvSpPr txBox="1"/>
              <p:nvPr/>
            </p:nvSpPr>
            <p:spPr>
              <a:xfrm>
                <a:off x="6880731" y="3348047"/>
                <a:ext cx="483274" cy="184666"/>
              </a:xfrm>
              <a:prstGeom prst="rect">
                <a:avLst/>
              </a:prstGeom>
            </p:spPr>
            <p:txBody>
              <a:bodyPr vert="horz" wrap="none" lIns="0" tIns="0" rIns="0" bIns="0" rtlCol="0">
                <a:spAutoFit/>
              </a:bodyPr>
              <a:lstStyle/>
              <a:p>
                <a:pPr marL="12700" marR="0" lvl="0" indent="0" algn="l" defTabSz="914400" rtl="0" eaLnBrk="1" fontAlgn="auto" latinLnBrk="0" hangingPunct="1">
                  <a:lnSpc>
                    <a:spcPct val="100000"/>
                  </a:lnSpc>
                  <a:spcBef>
                    <a:spcPts val="100"/>
                  </a:spcBef>
                  <a:spcAft>
                    <a:spcPts val="0"/>
                  </a:spcAft>
                  <a:buClrTx/>
                  <a:buSzTx/>
                  <a:buFontTx/>
                  <a:buNone/>
                  <a:tabLst/>
                  <a:defRPr/>
                </a:pPr>
                <a:r>
                  <a:rPr kumimoji="0" sz="1200" b="0" i="0" u="none" strike="noStrike" kern="0" cap="none" spc="0" normalizeH="0" baseline="0" noProof="0" dirty="0">
                    <a:ln>
                      <a:noFill/>
                    </a:ln>
                    <a:solidFill>
                      <a:srgbClr val="000000"/>
                    </a:solidFill>
                    <a:effectLst/>
                    <a:uLnTx/>
                    <a:uFillTx/>
                    <a:latin typeface="Arial"/>
                    <a:ea typeface="+mn-ea"/>
                    <a:cs typeface="Arial"/>
                  </a:rPr>
                  <a:t>E</a:t>
                </a:r>
                <a:r>
                  <a:rPr kumimoji="0" sz="1200" b="0" i="0" u="none" strike="noStrike" kern="0" cap="none" spc="10" normalizeH="0" baseline="0" noProof="0" dirty="0">
                    <a:ln>
                      <a:noFill/>
                    </a:ln>
                    <a:solidFill>
                      <a:srgbClr val="000000"/>
                    </a:solidFill>
                    <a:effectLst/>
                    <a:uLnTx/>
                    <a:uFillTx/>
                    <a:latin typeface="Arial"/>
                    <a:ea typeface="+mn-ea"/>
                    <a:cs typeface="Arial"/>
                  </a:rPr>
                  <a:t>ff</a:t>
                </a:r>
                <a:r>
                  <a:rPr kumimoji="0" sz="1200" b="0" i="0" u="none" strike="noStrike" kern="0" cap="none" spc="-5" normalizeH="0" baseline="0" noProof="0" dirty="0">
                    <a:ln>
                      <a:noFill/>
                    </a:ln>
                    <a:solidFill>
                      <a:srgbClr val="000000"/>
                    </a:solidFill>
                    <a:effectLst/>
                    <a:uLnTx/>
                    <a:uFillTx/>
                    <a:latin typeface="Arial"/>
                    <a:ea typeface="+mn-ea"/>
                    <a:cs typeface="Arial"/>
                  </a:rPr>
                  <a:t>e</a:t>
                </a:r>
                <a:r>
                  <a:rPr kumimoji="0" sz="1200" b="0" i="0" u="none" strike="noStrike" kern="0" cap="none" spc="0" normalizeH="0" baseline="0" noProof="0" dirty="0">
                    <a:ln>
                      <a:noFill/>
                    </a:ln>
                    <a:solidFill>
                      <a:srgbClr val="000000"/>
                    </a:solidFill>
                    <a:effectLst/>
                    <a:uLnTx/>
                    <a:uFillTx/>
                    <a:latin typeface="Arial"/>
                    <a:ea typeface="+mn-ea"/>
                    <a:cs typeface="Arial"/>
                  </a:rPr>
                  <a:t>cts</a:t>
                </a:r>
              </a:p>
            </p:txBody>
          </p:sp>
          <p:sp>
            <p:nvSpPr>
              <p:cNvPr id="94" name="Rectangle 93">
                <a:extLst>
                  <a:ext uri="{FF2B5EF4-FFF2-40B4-BE49-F238E27FC236}">
                    <a16:creationId xmlns:a16="http://schemas.microsoft.com/office/drawing/2014/main" id="{07A8393C-8687-1FA0-B6D9-FE35442DB25E}"/>
                  </a:ext>
                </a:extLst>
              </p:cNvPr>
              <p:cNvSpPr/>
              <p:nvPr/>
            </p:nvSpPr>
            <p:spPr>
              <a:xfrm>
                <a:off x="9968106" y="3491108"/>
                <a:ext cx="1621623" cy="246221"/>
              </a:xfrm>
              <a:prstGeom prst="rect">
                <a:avLst/>
              </a:prstGeom>
              <a:noFill/>
              <a:ln w="19050" cap="flat" cmpd="sng" algn="ctr">
                <a:solidFill>
                  <a:srgbClr val="F36633"/>
                </a:solidFill>
                <a:prstDash val="solid"/>
                <a:miter lim="800000"/>
              </a:ln>
              <a:effectLst/>
            </p:spPr>
            <p:txBody>
              <a:bodyPr lIns="45720" tIns="45720" rIns="45720" bIns="4572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Inflamed COPD airway</a:t>
                </a:r>
              </a:p>
            </p:txBody>
          </p:sp>
          <p:sp>
            <p:nvSpPr>
              <p:cNvPr id="95" name="Rectangle 94">
                <a:extLst>
                  <a:ext uri="{FF2B5EF4-FFF2-40B4-BE49-F238E27FC236}">
                    <a16:creationId xmlns:a16="http://schemas.microsoft.com/office/drawing/2014/main" id="{6C98CDAC-2150-B0D6-E219-46B0CE342F83}"/>
                  </a:ext>
                </a:extLst>
              </p:cNvPr>
              <p:cNvSpPr/>
              <p:nvPr/>
            </p:nvSpPr>
            <p:spPr>
              <a:xfrm>
                <a:off x="9968106" y="5637729"/>
                <a:ext cx="1621623" cy="330669"/>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Dynamic </a:t>
                </a:r>
                <a:b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b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hyperinflation</a:t>
                </a:r>
              </a:p>
            </p:txBody>
          </p:sp>
          <p:sp>
            <p:nvSpPr>
              <p:cNvPr id="96" name="Rectangle 95">
                <a:extLst>
                  <a:ext uri="{FF2B5EF4-FFF2-40B4-BE49-F238E27FC236}">
                    <a16:creationId xmlns:a16="http://schemas.microsoft.com/office/drawing/2014/main" id="{F356680A-D77F-59C8-CB3B-47F2F7EB73FD}"/>
                  </a:ext>
                </a:extLst>
              </p:cNvPr>
              <p:cNvSpPr/>
              <p:nvPr/>
            </p:nvSpPr>
            <p:spPr>
              <a:xfrm>
                <a:off x="9968106" y="4696830"/>
                <a:ext cx="1621623" cy="457850"/>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Bronchoconstriction, oedema, mucus hypersecretion</a:t>
                </a:r>
              </a:p>
            </p:txBody>
          </p:sp>
          <p:sp>
            <p:nvSpPr>
              <p:cNvPr id="97" name="Rectangle 96">
                <a:extLst>
                  <a:ext uri="{FF2B5EF4-FFF2-40B4-BE49-F238E27FC236}">
                    <a16:creationId xmlns:a16="http://schemas.microsoft.com/office/drawing/2014/main" id="{3C262FDF-B458-5FFC-C304-00F7D136CC8B}"/>
                  </a:ext>
                </a:extLst>
              </p:cNvPr>
              <p:cNvSpPr/>
              <p:nvPr/>
            </p:nvSpPr>
            <p:spPr>
              <a:xfrm>
                <a:off x="9968106" y="4247747"/>
                <a:ext cx="1621623" cy="330669"/>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Greater airway inflammation</a:t>
                </a:r>
              </a:p>
            </p:txBody>
          </p:sp>
          <p:sp>
            <p:nvSpPr>
              <p:cNvPr id="98" name="Rectangle 97">
                <a:extLst>
                  <a:ext uri="{FF2B5EF4-FFF2-40B4-BE49-F238E27FC236}">
                    <a16:creationId xmlns:a16="http://schemas.microsoft.com/office/drawing/2014/main" id="{95770A01-5897-4007-2533-96BAFF8D8949}"/>
                  </a:ext>
                </a:extLst>
              </p:cNvPr>
              <p:cNvSpPr/>
              <p:nvPr/>
            </p:nvSpPr>
            <p:spPr>
              <a:xfrm>
                <a:off x="9968106" y="5273094"/>
                <a:ext cx="1621623" cy="246221"/>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Expiratory flow limitation</a:t>
                </a:r>
              </a:p>
            </p:txBody>
          </p:sp>
          <p:sp>
            <p:nvSpPr>
              <p:cNvPr id="99" name="Rectangle 98">
                <a:extLst>
                  <a:ext uri="{FF2B5EF4-FFF2-40B4-BE49-F238E27FC236}">
                    <a16:creationId xmlns:a16="http://schemas.microsoft.com/office/drawing/2014/main" id="{3D760207-5174-B24D-B416-D77B434CCBE7}"/>
                  </a:ext>
                </a:extLst>
              </p:cNvPr>
              <p:cNvSpPr/>
              <p:nvPr/>
            </p:nvSpPr>
            <p:spPr>
              <a:xfrm>
                <a:off x="6460717" y="5637729"/>
                <a:ext cx="1621623" cy="330669"/>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Cardiovascular</a:t>
                </a:r>
                <a:b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b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comorbidity</a:t>
                </a:r>
              </a:p>
            </p:txBody>
          </p:sp>
          <p:sp>
            <p:nvSpPr>
              <p:cNvPr id="100" name="Rectangle 99">
                <a:extLst>
                  <a:ext uri="{FF2B5EF4-FFF2-40B4-BE49-F238E27FC236}">
                    <a16:creationId xmlns:a16="http://schemas.microsoft.com/office/drawing/2014/main" id="{2A5FCC63-A239-F83B-F908-F261DDD7F47B}"/>
                  </a:ext>
                </a:extLst>
              </p:cNvPr>
              <p:cNvSpPr/>
              <p:nvPr/>
            </p:nvSpPr>
            <p:spPr>
              <a:xfrm>
                <a:off x="6460717" y="4908459"/>
                <a:ext cx="1621623" cy="246221"/>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Systemic inflammation</a:t>
                </a:r>
              </a:p>
            </p:txBody>
          </p:sp>
          <p:sp>
            <p:nvSpPr>
              <p:cNvPr id="101" name="Rectangle 100">
                <a:extLst>
                  <a:ext uri="{FF2B5EF4-FFF2-40B4-BE49-F238E27FC236}">
                    <a16:creationId xmlns:a16="http://schemas.microsoft.com/office/drawing/2014/main" id="{B9740017-A74E-8E86-D80A-249642A0459A}"/>
                  </a:ext>
                </a:extLst>
              </p:cNvPr>
              <p:cNvSpPr/>
              <p:nvPr/>
            </p:nvSpPr>
            <p:spPr>
              <a:xfrm>
                <a:off x="8214412" y="5637729"/>
                <a:ext cx="1621623" cy="330669"/>
              </a:xfrm>
              <a:prstGeom prst="rect">
                <a:avLst/>
              </a:prstGeom>
              <a:noFill/>
              <a:ln w="19050" cap="flat" cmpd="sng" algn="ctr">
                <a:solidFill>
                  <a:srgbClr val="F36633"/>
                </a:solidFill>
                <a:prstDash val="solid"/>
                <a:miter lim="800000"/>
              </a:ln>
              <a:effectLst/>
            </p:spPr>
            <p:txBody>
              <a:bodyPr lIns="45720" tIns="45720" rIns="45720" bIns="45720" rtlCol="0" anchor="ctr">
                <a:noAutofit/>
              </a:bodyPr>
              <a:lstStyle/>
              <a:p>
                <a:pPr marL="0" marR="0" lvl="0" indent="0" algn="ctr" defTabSz="914400" rtl="0" eaLnBrk="1" fontAlgn="auto" latinLnBrk="0" hangingPunct="1">
                  <a:lnSpc>
                    <a:spcPct val="85000"/>
                  </a:lnSpc>
                  <a:spcBef>
                    <a:spcPts val="0"/>
                  </a:spcBef>
                  <a:spcAft>
                    <a:spcPts val="0"/>
                  </a:spcAft>
                  <a:buClrTx/>
                  <a:buSzTx/>
                  <a:buFontTx/>
                  <a:buNone/>
                  <a:tabLst/>
                  <a:defRPr/>
                </a:pP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Exacerbation</a:t>
                </a:r>
                <a:b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br>
                <a:r>
                  <a:rPr kumimoji="0" lang="en-US" sz="1000" b="0" i="0" u="none" strike="noStrike" kern="0" cap="none" spc="0" normalizeH="0" baseline="0" noProof="0" dirty="0">
                    <a:ln>
                      <a:noFill/>
                    </a:ln>
                    <a:solidFill>
                      <a:srgbClr val="000000"/>
                    </a:solidFill>
                    <a:effectLst/>
                    <a:uLnTx/>
                    <a:uFillTx/>
                    <a:latin typeface="Arial" panose="020B0604020202020204"/>
                    <a:ea typeface="+mn-ea"/>
                    <a:cs typeface="Noto Sans"/>
                  </a:rPr>
                  <a:t>of symptoms</a:t>
                </a:r>
              </a:p>
            </p:txBody>
          </p:sp>
          <p:cxnSp>
            <p:nvCxnSpPr>
              <p:cNvPr id="102" name="Straight Arrow Connector 101">
                <a:extLst>
                  <a:ext uri="{FF2B5EF4-FFF2-40B4-BE49-F238E27FC236}">
                    <a16:creationId xmlns:a16="http://schemas.microsoft.com/office/drawing/2014/main" id="{0469A740-607C-C178-F38A-444F97C5D7E1}"/>
                  </a:ext>
                </a:extLst>
              </p:cNvPr>
              <p:cNvCxnSpPr>
                <a:stCxn id="94" idx="1"/>
              </p:cNvCxnSpPr>
              <p:nvPr/>
            </p:nvCxnSpPr>
            <p:spPr>
              <a:xfrm flipH="1">
                <a:off x="9124950" y="3614219"/>
                <a:ext cx="843156" cy="0"/>
              </a:xfrm>
              <a:prstGeom prst="straightConnector1">
                <a:avLst/>
              </a:prstGeom>
              <a:ln w="19050">
                <a:solidFill>
                  <a:srgbClr val="F36633"/>
                </a:solidFill>
                <a:tailEnd type="none"/>
              </a:ln>
            </p:spPr>
          </p:cxnSp>
          <p:cxnSp>
            <p:nvCxnSpPr>
              <p:cNvPr id="103" name="Straight Arrow Connector 102">
                <a:extLst>
                  <a:ext uri="{FF2B5EF4-FFF2-40B4-BE49-F238E27FC236}">
                    <a16:creationId xmlns:a16="http://schemas.microsoft.com/office/drawing/2014/main" id="{B3912A9B-1D66-9013-7609-DE71DC237FBA}"/>
                  </a:ext>
                </a:extLst>
              </p:cNvPr>
              <p:cNvCxnSpPr>
                <a:stCxn id="97" idx="1"/>
              </p:cNvCxnSpPr>
              <p:nvPr/>
            </p:nvCxnSpPr>
            <p:spPr>
              <a:xfrm flipH="1" flipV="1">
                <a:off x="9124950" y="4413081"/>
                <a:ext cx="843156" cy="1"/>
              </a:xfrm>
              <a:prstGeom prst="straightConnector1">
                <a:avLst/>
              </a:prstGeom>
              <a:ln w="19050">
                <a:solidFill>
                  <a:srgbClr val="F36633"/>
                </a:solidFill>
                <a:tailEnd type="none"/>
              </a:ln>
            </p:spPr>
          </p:cxnSp>
          <p:cxnSp>
            <p:nvCxnSpPr>
              <p:cNvPr id="104" name="Straight Arrow Connector 86">
                <a:extLst>
                  <a:ext uri="{FF2B5EF4-FFF2-40B4-BE49-F238E27FC236}">
                    <a16:creationId xmlns:a16="http://schemas.microsoft.com/office/drawing/2014/main" id="{5B1C617C-B6E3-30EA-253D-354F28AB7ED8}"/>
                  </a:ext>
                </a:extLst>
              </p:cNvPr>
              <p:cNvCxnSpPr>
                <a:endCxn id="100" idx="0"/>
              </p:cNvCxnSpPr>
              <p:nvPr/>
            </p:nvCxnSpPr>
            <p:spPr>
              <a:xfrm rot="10800000" flipV="1">
                <a:off x="7271529" y="4409015"/>
                <a:ext cx="1346606" cy="499443"/>
              </a:xfrm>
              <a:prstGeom prst="bentConnector2">
                <a:avLst/>
              </a:prstGeom>
              <a:ln w="19050">
                <a:solidFill>
                  <a:srgbClr val="F36633"/>
                </a:solidFill>
                <a:tailEnd type="triangle"/>
              </a:ln>
            </p:spPr>
          </p:cxnSp>
          <p:cxnSp>
            <p:nvCxnSpPr>
              <p:cNvPr id="105" name="Straight Arrow Connector 86">
                <a:extLst>
                  <a:ext uri="{FF2B5EF4-FFF2-40B4-BE49-F238E27FC236}">
                    <a16:creationId xmlns:a16="http://schemas.microsoft.com/office/drawing/2014/main" id="{6E84F61F-E37D-20F9-E08B-6B56AA26090E}"/>
                  </a:ext>
                </a:extLst>
              </p:cNvPr>
              <p:cNvCxnSpPr>
                <a:stCxn id="100" idx="2"/>
                <a:endCxn id="99" idx="0"/>
              </p:cNvCxnSpPr>
              <p:nvPr/>
            </p:nvCxnSpPr>
            <p:spPr>
              <a:xfrm>
                <a:off x="7271529" y="5154680"/>
                <a:ext cx="0" cy="483049"/>
              </a:xfrm>
              <a:prstGeom prst="straightConnector1">
                <a:avLst/>
              </a:prstGeom>
              <a:ln w="19050">
                <a:solidFill>
                  <a:srgbClr val="F36633"/>
                </a:solidFill>
                <a:tailEnd type="triangle"/>
              </a:ln>
            </p:spPr>
          </p:cxnSp>
          <p:cxnSp>
            <p:nvCxnSpPr>
              <p:cNvPr id="106" name="Straight Arrow Connector 86">
                <a:extLst>
                  <a:ext uri="{FF2B5EF4-FFF2-40B4-BE49-F238E27FC236}">
                    <a16:creationId xmlns:a16="http://schemas.microsoft.com/office/drawing/2014/main" id="{40903601-11B5-BD67-F9A9-1427663C97CB}"/>
                  </a:ext>
                </a:extLst>
              </p:cNvPr>
              <p:cNvCxnSpPr>
                <a:endCxn id="96" idx="1"/>
              </p:cNvCxnSpPr>
              <p:nvPr/>
            </p:nvCxnSpPr>
            <p:spPr>
              <a:xfrm rot="16200000" flipH="1">
                <a:off x="9306807" y="4264456"/>
                <a:ext cx="231094" cy="1091503"/>
              </a:xfrm>
              <a:prstGeom prst="bentConnector2">
                <a:avLst/>
              </a:prstGeom>
              <a:ln w="19050">
                <a:solidFill>
                  <a:srgbClr val="F36633"/>
                </a:solidFill>
                <a:tailEnd type="triangle"/>
              </a:ln>
            </p:spPr>
          </p:cxnSp>
          <p:cxnSp>
            <p:nvCxnSpPr>
              <p:cNvPr id="107" name="Straight Connector 106">
                <a:extLst>
                  <a:ext uri="{FF2B5EF4-FFF2-40B4-BE49-F238E27FC236}">
                    <a16:creationId xmlns:a16="http://schemas.microsoft.com/office/drawing/2014/main" id="{FA7B6201-DE8F-E5E6-72A0-BFD591CAB1E0}"/>
                  </a:ext>
                </a:extLst>
              </p:cNvPr>
              <p:cNvCxnSpPr/>
              <p:nvPr/>
            </p:nvCxnSpPr>
            <p:spPr>
              <a:xfrm flipV="1">
                <a:off x="8082340" y="5062109"/>
                <a:ext cx="1885766" cy="0"/>
              </a:xfrm>
              <a:prstGeom prst="line">
                <a:avLst/>
              </a:prstGeom>
              <a:ln w="19050">
                <a:solidFill>
                  <a:srgbClr val="F36633"/>
                </a:solidFill>
                <a:tailEnd type="none"/>
              </a:ln>
            </p:spPr>
          </p:cxnSp>
          <p:cxnSp>
            <p:nvCxnSpPr>
              <p:cNvPr id="108" name="Straight Arrow Connector 86">
                <a:extLst>
                  <a:ext uri="{FF2B5EF4-FFF2-40B4-BE49-F238E27FC236}">
                    <a16:creationId xmlns:a16="http://schemas.microsoft.com/office/drawing/2014/main" id="{6FA3EADC-95D2-B6D7-F25E-279771936ABD}"/>
                  </a:ext>
                </a:extLst>
              </p:cNvPr>
              <p:cNvCxnSpPr>
                <a:endCxn id="101" idx="0"/>
              </p:cNvCxnSpPr>
              <p:nvPr/>
            </p:nvCxnSpPr>
            <p:spPr>
              <a:xfrm>
                <a:off x="9025224" y="5054965"/>
                <a:ext cx="0" cy="582764"/>
              </a:xfrm>
              <a:prstGeom prst="straightConnector1">
                <a:avLst/>
              </a:prstGeom>
              <a:ln w="19050">
                <a:solidFill>
                  <a:srgbClr val="F36633"/>
                </a:solidFill>
                <a:tailEnd type="triangle"/>
              </a:ln>
            </p:spPr>
          </p:cxnSp>
          <p:cxnSp>
            <p:nvCxnSpPr>
              <p:cNvPr id="109" name="Straight Arrow Connector 108">
                <a:extLst>
                  <a:ext uri="{FF2B5EF4-FFF2-40B4-BE49-F238E27FC236}">
                    <a16:creationId xmlns:a16="http://schemas.microsoft.com/office/drawing/2014/main" id="{8936DEBF-2B76-C6B9-794B-ECBD1AC47023}"/>
                  </a:ext>
                </a:extLst>
              </p:cNvPr>
              <p:cNvCxnSpPr>
                <a:stCxn id="98" idx="1"/>
              </p:cNvCxnSpPr>
              <p:nvPr/>
            </p:nvCxnSpPr>
            <p:spPr>
              <a:xfrm flipH="1">
                <a:off x="9025224" y="5396205"/>
                <a:ext cx="942882" cy="0"/>
              </a:xfrm>
              <a:prstGeom prst="straightConnector1">
                <a:avLst/>
              </a:prstGeom>
              <a:ln w="19050">
                <a:solidFill>
                  <a:srgbClr val="F36633"/>
                </a:solidFill>
                <a:tailEnd type="none"/>
              </a:ln>
            </p:spPr>
          </p:cxnSp>
          <p:cxnSp>
            <p:nvCxnSpPr>
              <p:cNvPr id="110" name="Straight Arrow Connector 109">
                <a:extLst>
                  <a:ext uri="{FF2B5EF4-FFF2-40B4-BE49-F238E27FC236}">
                    <a16:creationId xmlns:a16="http://schemas.microsoft.com/office/drawing/2014/main" id="{55CB6B6A-2E88-069C-1E48-AB41F9C73C22}"/>
                  </a:ext>
                </a:extLst>
              </p:cNvPr>
              <p:cNvCxnSpPr>
                <a:stCxn id="95" idx="1"/>
                <a:endCxn id="101" idx="3"/>
              </p:cNvCxnSpPr>
              <p:nvPr/>
            </p:nvCxnSpPr>
            <p:spPr>
              <a:xfrm flipH="1">
                <a:off x="9836035" y="5803064"/>
                <a:ext cx="132071" cy="0"/>
              </a:xfrm>
              <a:prstGeom prst="straightConnector1">
                <a:avLst/>
              </a:prstGeom>
              <a:ln w="19050">
                <a:solidFill>
                  <a:srgbClr val="F36633"/>
                </a:solidFill>
                <a:tailEnd type="triangle"/>
              </a:ln>
            </p:spPr>
          </p:cxnSp>
          <p:cxnSp>
            <p:nvCxnSpPr>
              <p:cNvPr id="111" name="Straight Arrow Connector 110">
                <a:extLst>
                  <a:ext uri="{FF2B5EF4-FFF2-40B4-BE49-F238E27FC236}">
                    <a16:creationId xmlns:a16="http://schemas.microsoft.com/office/drawing/2014/main" id="{E5BF7261-F5D4-EAC2-892B-4F9E2C99B3F9}"/>
                  </a:ext>
                </a:extLst>
              </p:cNvPr>
              <p:cNvCxnSpPr>
                <a:stCxn id="98" idx="2"/>
                <a:endCxn id="95" idx="0"/>
              </p:cNvCxnSpPr>
              <p:nvPr/>
            </p:nvCxnSpPr>
            <p:spPr>
              <a:xfrm>
                <a:off x="10778918" y="5519315"/>
                <a:ext cx="0" cy="118414"/>
              </a:xfrm>
              <a:prstGeom prst="straightConnector1">
                <a:avLst/>
              </a:prstGeom>
              <a:ln w="19050">
                <a:solidFill>
                  <a:srgbClr val="F36633"/>
                </a:solidFill>
                <a:tailEnd type="triangle"/>
              </a:ln>
            </p:spPr>
          </p:cxnSp>
          <p:cxnSp>
            <p:nvCxnSpPr>
              <p:cNvPr id="112" name="Straight Arrow Connector 111">
                <a:extLst>
                  <a:ext uri="{FF2B5EF4-FFF2-40B4-BE49-F238E27FC236}">
                    <a16:creationId xmlns:a16="http://schemas.microsoft.com/office/drawing/2014/main" id="{A231F05C-1CAB-E974-45CD-94B17B833C34}"/>
                  </a:ext>
                </a:extLst>
              </p:cNvPr>
              <p:cNvCxnSpPr>
                <a:stCxn id="96" idx="2"/>
                <a:endCxn id="98" idx="0"/>
              </p:cNvCxnSpPr>
              <p:nvPr/>
            </p:nvCxnSpPr>
            <p:spPr>
              <a:xfrm>
                <a:off x="10778918" y="5154680"/>
                <a:ext cx="0" cy="118414"/>
              </a:xfrm>
              <a:prstGeom prst="straightConnector1">
                <a:avLst/>
              </a:prstGeom>
              <a:ln w="19050">
                <a:solidFill>
                  <a:srgbClr val="F36633"/>
                </a:solidFill>
                <a:tailEnd type="triangle"/>
              </a:ln>
            </p:spPr>
          </p:cxnSp>
          <p:pic>
            <p:nvPicPr>
              <p:cNvPr id="113" name="Picture 112">
                <a:extLst>
                  <a:ext uri="{FF2B5EF4-FFF2-40B4-BE49-F238E27FC236}">
                    <a16:creationId xmlns:a16="http://schemas.microsoft.com/office/drawing/2014/main" id="{9351A686-002A-2185-3512-857F65E03DC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445941" y="1983839"/>
                <a:ext cx="822960" cy="548640"/>
              </a:xfrm>
              <a:prstGeom prst="rect">
                <a:avLst/>
              </a:prstGeom>
            </p:spPr>
          </p:pic>
          <p:pic>
            <p:nvPicPr>
              <p:cNvPr id="114" name="Picture 113">
                <a:extLst>
                  <a:ext uri="{FF2B5EF4-FFF2-40B4-BE49-F238E27FC236}">
                    <a16:creationId xmlns:a16="http://schemas.microsoft.com/office/drawing/2014/main" id="{CA2DAA6A-0FA5-0646-B504-C3D86CEF318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925633" y="1983839"/>
                <a:ext cx="438372" cy="548640"/>
              </a:xfrm>
              <a:prstGeom prst="rect">
                <a:avLst/>
              </a:prstGeom>
            </p:spPr>
          </p:pic>
          <p:pic>
            <p:nvPicPr>
              <p:cNvPr id="115" name="Picture 114">
                <a:extLst>
                  <a:ext uri="{FF2B5EF4-FFF2-40B4-BE49-F238E27FC236}">
                    <a16:creationId xmlns:a16="http://schemas.microsoft.com/office/drawing/2014/main" id="{E12ACF71-137E-BDD4-BCDE-95CEAE511BFD}"/>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2095" t="6111" r="3360" b="2917"/>
              <a:stretch/>
            </p:blipFill>
            <p:spPr>
              <a:xfrm>
                <a:off x="10267079" y="1983839"/>
                <a:ext cx="563717" cy="548640"/>
              </a:xfrm>
              <a:prstGeom prst="rect">
                <a:avLst/>
              </a:prstGeom>
            </p:spPr>
          </p:pic>
          <p:grpSp>
            <p:nvGrpSpPr>
              <p:cNvPr id="116" name="Group 115">
                <a:extLst>
                  <a:ext uri="{FF2B5EF4-FFF2-40B4-BE49-F238E27FC236}">
                    <a16:creationId xmlns:a16="http://schemas.microsoft.com/office/drawing/2014/main" id="{1EB9FD03-EE67-A12A-056F-7B0676FB3830}"/>
                  </a:ext>
                </a:extLst>
              </p:cNvPr>
              <p:cNvGrpSpPr/>
              <p:nvPr/>
            </p:nvGrpSpPr>
            <p:grpSpPr>
              <a:xfrm>
                <a:off x="8021735" y="2946405"/>
                <a:ext cx="1744758" cy="1105558"/>
                <a:chOff x="1625702" y="1804987"/>
                <a:chExt cx="2801833" cy="1775370"/>
              </a:xfrm>
            </p:grpSpPr>
            <p:grpSp>
              <p:nvGrpSpPr>
                <p:cNvPr id="119" name="Group 118">
                  <a:extLst>
                    <a:ext uri="{FF2B5EF4-FFF2-40B4-BE49-F238E27FC236}">
                      <a16:creationId xmlns:a16="http://schemas.microsoft.com/office/drawing/2014/main" id="{F9006B75-C0BC-7B87-A301-DA4F328A8813}"/>
                    </a:ext>
                  </a:extLst>
                </p:cNvPr>
                <p:cNvGrpSpPr/>
                <p:nvPr/>
              </p:nvGrpSpPr>
              <p:grpSpPr>
                <a:xfrm>
                  <a:off x="1905644" y="2032205"/>
                  <a:ext cx="2209156" cy="1260542"/>
                  <a:chOff x="3037285" y="186602"/>
                  <a:chExt cx="2679934" cy="1529167"/>
                </a:xfrm>
              </p:grpSpPr>
              <p:pic>
                <p:nvPicPr>
                  <p:cNvPr id="124" name="Picture 123">
                    <a:extLst>
                      <a:ext uri="{FF2B5EF4-FFF2-40B4-BE49-F238E27FC236}">
                        <a16:creationId xmlns:a16="http://schemas.microsoft.com/office/drawing/2014/main" id="{D3502366-8C08-521F-E9C8-1F80932B8F0A}"/>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214" t="8329" r="3983" b="18628"/>
                  <a:stretch/>
                </p:blipFill>
                <p:spPr>
                  <a:xfrm>
                    <a:off x="3076542" y="203272"/>
                    <a:ext cx="2626062" cy="1460810"/>
                  </a:xfrm>
                  <a:prstGeom prst="rect">
                    <a:avLst/>
                  </a:prstGeom>
                </p:spPr>
              </p:pic>
              <p:sp>
                <p:nvSpPr>
                  <p:cNvPr id="125" name="Rectangle 124">
                    <a:extLst>
                      <a:ext uri="{FF2B5EF4-FFF2-40B4-BE49-F238E27FC236}">
                        <a16:creationId xmlns:a16="http://schemas.microsoft.com/office/drawing/2014/main" id="{717334D4-4953-F272-9ED3-4932C70EBDE1}"/>
                      </a:ext>
                    </a:extLst>
                  </p:cNvPr>
                  <p:cNvSpPr/>
                  <p:nvPr/>
                </p:nvSpPr>
                <p:spPr>
                  <a:xfrm>
                    <a:off x="5100441" y="186602"/>
                    <a:ext cx="508009" cy="107083"/>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Arial" panose="020B0604020202020204"/>
                      <a:ea typeface="+mn-ea"/>
                      <a:cs typeface="Noto Sans"/>
                    </a:endParaRPr>
                  </a:p>
                </p:txBody>
              </p:sp>
              <p:sp>
                <p:nvSpPr>
                  <p:cNvPr id="126" name="Rectangle 125">
                    <a:extLst>
                      <a:ext uri="{FF2B5EF4-FFF2-40B4-BE49-F238E27FC236}">
                        <a16:creationId xmlns:a16="http://schemas.microsoft.com/office/drawing/2014/main" id="{1A98A252-5797-B66E-EC47-18800F16DA1A}"/>
                      </a:ext>
                    </a:extLst>
                  </p:cNvPr>
                  <p:cNvSpPr/>
                  <p:nvPr/>
                </p:nvSpPr>
                <p:spPr>
                  <a:xfrm>
                    <a:off x="5377371" y="1340973"/>
                    <a:ext cx="339848" cy="124836"/>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Arial" panose="020B0604020202020204"/>
                      <a:ea typeface="+mn-ea"/>
                      <a:cs typeface="Noto Sans"/>
                    </a:endParaRPr>
                  </a:p>
                </p:txBody>
              </p:sp>
              <p:sp>
                <p:nvSpPr>
                  <p:cNvPr id="127" name="Rectangle 126">
                    <a:extLst>
                      <a:ext uri="{FF2B5EF4-FFF2-40B4-BE49-F238E27FC236}">
                        <a16:creationId xmlns:a16="http://schemas.microsoft.com/office/drawing/2014/main" id="{2A48DB2B-2E70-B06F-C742-57056A5EB0B2}"/>
                      </a:ext>
                    </a:extLst>
                  </p:cNvPr>
                  <p:cNvSpPr/>
                  <p:nvPr/>
                </p:nvSpPr>
                <p:spPr>
                  <a:xfrm>
                    <a:off x="4978901" y="1614407"/>
                    <a:ext cx="440203" cy="92760"/>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Arial" panose="020B0604020202020204"/>
                      <a:ea typeface="+mn-ea"/>
                      <a:cs typeface="Noto Sans"/>
                    </a:endParaRPr>
                  </a:p>
                </p:txBody>
              </p:sp>
              <p:sp>
                <p:nvSpPr>
                  <p:cNvPr id="128" name="Rectangle 127">
                    <a:extLst>
                      <a:ext uri="{FF2B5EF4-FFF2-40B4-BE49-F238E27FC236}">
                        <a16:creationId xmlns:a16="http://schemas.microsoft.com/office/drawing/2014/main" id="{89207D54-420C-4148-2A9F-CB60EA186C3C}"/>
                      </a:ext>
                    </a:extLst>
                  </p:cNvPr>
                  <p:cNvSpPr/>
                  <p:nvPr/>
                </p:nvSpPr>
                <p:spPr>
                  <a:xfrm>
                    <a:off x="3037285" y="1527751"/>
                    <a:ext cx="639586" cy="188018"/>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dirty="0">
                      <a:ln>
                        <a:noFill/>
                      </a:ln>
                      <a:solidFill>
                        <a:prstClr val="white"/>
                      </a:solidFill>
                      <a:effectLst/>
                      <a:uLnTx/>
                      <a:uFillTx/>
                      <a:latin typeface="Arial" panose="020B0604020202020204"/>
                      <a:ea typeface="+mn-ea"/>
                      <a:cs typeface="Noto Sans"/>
                    </a:endParaRPr>
                  </a:p>
                </p:txBody>
              </p:sp>
            </p:grpSp>
            <p:sp>
              <p:nvSpPr>
                <p:cNvPr id="120" name="object 21">
                  <a:extLst>
                    <a:ext uri="{FF2B5EF4-FFF2-40B4-BE49-F238E27FC236}">
                      <a16:creationId xmlns:a16="http://schemas.microsoft.com/office/drawing/2014/main" id="{94A018E7-6FAF-B23B-82F5-4132FB28AB09}"/>
                    </a:ext>
                  </a:extLst>
                </p:cNvPr>
                <p:cNvSpPr txBox="1"/>
                <p:nvPr/>
              </p:nvSpPr>
              <p:spPr>
                <a:xfrm>
                  <a:off x="1625702" y="3184961"/>
                  <a:ext cx="951424" cy="395396"/>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800" b="1" i="0" u="none" strike="noStrike" kern="0" cap="none" spc="-5" normalizeH="0" baseline="0" noProof="0" dirty="0">
                      <a:ln>
                        <a:noFill/>
                      </a:ln>
                      <a:solidFill>
                        <a:srgbClr val="000000"/>
                      </a:solidFill>
                      <a:effectLst/>
                      <a:uLnTx/>
                      <a:uFillTx/>
                      <a:latin typeface="Arial"/>
                      <a:ea typeface="+mn-ea"/>
                      <a:cs typeface="Arial"/>
                    </a:rPr>
                    <a:t>Normal lung</a:t>
                  </a:r>
                  <a:br>
                    <a:rPr kumimoji="0" lang="en-US" sz="800" b="1" i="0" u="none" strike="noStrike" kern="0" cap="none" spc="-5" normalizeH="0" baseline="0" noProof="0" dirty="0">
                      <a:ln>
                        <a:noFill/>
                      </a:ln>
                      <a:solidFill>
                        <a:srgbClr val="000000"/>
                      </a:solidFill>
                      <a:effectLst/>
                      <a:uLnTx/>
                      <a:uFillTx/>
                      <a:latin typeface="Arial"/>
                      <a:ea typeface="+mn-ea"/>
                      <a:cs typeface="Arial"/>
                    </a:rPr>
                  </a:br>
                  <a:r>
                    <a:rPr kumimoji="0" lang="en-US" sz="800" b="1" i="0" u="none" strike="noStrike" kern="0" cap="none" spc="-5" normalizeH="0" baseline="0" noProof="0" dirty="0">
                      <a:ln>
                        <a:noFill/>
                      </a:ln>
                      <a:solidFill>
                        <a:srgbClr val="000000"/>
                      </a:solidFill>
                      <a:effectLst/>
                      <a:uLnTx/>
                      <a:uFillTx/>
                      <a:latin typeface="Arial"/>
                      <a:ea typeface="+mn-ea"/>
                      <a:cs typeface="Arial"/>
                    </a:rPr>
                    <a:t>and airway</a:t>
                  </a:r>
                  <a:endParaRPr kumimoji="0" sz="800" b="0" i="0" u="none" strike="noStrike" kern="0" cap="none" spc="0" normalizeH="0" baseline="0" noProof="0" dirty="0">
                    <a:ln>
                      <a:noFill/>
                    </a:ln>
                    <a:solidFill>
                      <a:srgbClr val="000000"/>
                    </a:solidFill>
                    <a:effectLst/>
                    <a:uLnTx/>
                    <a:uFillTx/>
                    <a:latin typeface="Arial"/>
                    <a:ea typeface="+mn-ea"/>
                    <a:cs typeface="Arial"/>
                  </a:endParaRPr>
                </a:p>
              </p:txBody>
            </p:sp>
            <p:sp>
              <p:nvSpPr>
                <p:cNvPr id="121" name="object 21">
                  <a:extLst>
                    <a:ext uri="{FF2B5EF4-FFF2-40B4-BE49-F238E27FC236}">
                      <a16:creationId xmlns:a16="http://schemas.microsoft.com/office/drawing/2014/main" id="{128B26DE-9EDB-9788-2F29-C615AACAA4BE}"/>
                    </a:ext>
                  </a:extLst>
                </p:cNvPr>
                <p:cNvSpPr txBox="1"/>
                <p:nvPr/>
              </p:nvSpPr>
              <p:spPr>
                <a:xfrm>
                  <a:off x="3367481" y="3184961"/>
                  <a:ext cx="1060054" cy="395396"/>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800" b="1" i="0" u="none" strike="noStrike" kern="0" cap="none" spc="-5" normalizeH="0" baseline="0" noProof="0" dirty="0">
                      <a:ln>
                        <a:noFill/>
                      </a:ln>
                      <a:solidFill>
                        <a:srgbClr val="000000"/>
                      </a:solidFill>
                      <a:effectLst/>
                      <a:uLnTx/>
                      <a:uFillTx/>
                      <a:latin typeface="Arial"/>
                      <a:ea typeface="+mn-ea"/>
                      <a:cs typeface="Arial"/>
                    </a:rPr>
                    <a:t>Inflamed lung</a:t>
                  </a:r>
                  <a:br>
                    <a:rPr kumimoji="0" lang="en-US" sz="800" b="1" i="0" u="none" strike="noStrike" kern="0" cap="none" spc="-5" normalizeH="0" baseline="0" noProof="0" dirty="0">
                      <a:ln>
                        <a:noFill/>
                      </a:ln>
                      <a:solidFill>
                        <a:srgbClr val="000000"/>
                      </a:solidFill>
                      <a:effectLst/>
                      <a:uLnTx/>
                      <a:uFillTx/>
                      <a:latin typeface="Arial"/>
                      <a:ea typeface="+mn-ea"/>
                      <a:cs typeface="Arial"/>
                    </a:rPr>
                  </a:br>
                  <a:r>
                    <a:rPr kumimoji="0" lang="en-US" sz="800" b="1" i="0" u="none" strike="noStrike" kern="0" cap="none" spc="-5" normalizeH="0" baseline="0" noProof="0" dirty="0">
                      <a:ln>
                        <a:noFill/>
                      </a:ln>
                      <a:solidFill>
                        <a:srgbClr val="000000"/>
                      </a:solidFill>
                      <a:effectLst/>
                      <a:uLnTx/>
                      <a:uFillTx/>
                      <a:latin typeface="Arial"/>
                      <a:ea typeface="+mn-ea"/>
                      <a:cs typeface="Arial"/>
                    </a:rPr>
                    <a:t>and airway</a:t>
                  </a:r>
                  <a:endParaRPr kumimoji="0" sz="800" b="0" i="0" u="none" strike="noStrike" kern="0" cap="none" spc="0" normalizeH="0" baseline="0" noProof="0" dirty="0">
                    <a:ln>
                      <a:noFill/>
                    </a:ln>
                    <a:solidFill>
                      <a:srgbClr val="000000"/>
                    </a:solidFill>
                    <a:effectLst/>
                    <a:uLnTx/>
                    <a:uFillTx/>
                    <a:latin typeface="Arial"/>
                    <a:ea typeface="+mn-ea"/>
                    <a:cs typeface="Arial"/>
                  </a:endParaRPr>
                </a:p>
              </p:txBody>
            </p:sp>
            <p:sp>
              <p:nvSpPr>
                <p:cNvPr id="122" name="object 21">
                  <a:extLst>
                    <a:ext uri="{FF2B5EF4-FFF2-40B4-BE49-F238E27FC236}">
                      <a16:creationId xmlns:a16="http://schemas.microsoft.com/office/drawing/2014/main" id="{2693BA8B-AF9B-21DD-F68E-A5F0721DC935}"/>
                    </a:ext>
                  </a:extLst>
                </p:cNvPr>
                <p:cNvSpPr txBox="1"/>
                <p:nvPr/>
              </p:nvSpPr>
              <p:spPr>
                <a:xfrm>
                  <a:off x="3872695" y="2894684"/>
                  <a:ext cx="517414" cy="197699"/>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800" b="1" i="0" u="none" strike="noStrike" kern="0" cap="none" spc="-5" normalizeH="0" baseline="0" noProof="0" dirty="0">
                      <a:ln>
                        <a:noFill/>
                      </a:ln>
                      <a:solidFill>
                        <a:srgbClr val="544F40"/>
                      </a:solidFill>
                      <a:effectLst/>
                      <a:uLnTx/>
                      <a:uFillTx/>
                      <a:latin typeface="Arial"/>
                      <a:ea typeface="+mn-ea"/>
                      <a:cs typeface="Arial"/>
                    </a:rPr>
                    <a:t>Mucus</a:t>
                  </a:r>
                  <a:endParaRPr kumimoji="0" sz="800" b="0" i="0" u="none" strike="noStrike" kern="0" cap="none" spc="0" normalizeH="0" baseline="0" noProof="0" dirty="0">
                    <a:ln>
                      <a:noFill/>
                    </a:ln>
                    <a:solidFill>
                      <a:srgbClr val="F36633"/>
                    </a:solidFill>
                    <a:effectLst/>
                    <a:uLnTx/>
                    <a:uFillTx/>
                    <a:latin typeface="Arial"/>
                    <a:ea typeface="+mn-ea"/>
                    <a:cs typeface="Arial"/>
                  </a:endParaRPr>
                </a:p>
              </p:txBody>
            </p:sp>
            <p:sp>
              <p:nvSpPr>
                <p:cNvPr id="123" name="object 21">
                  <a:extLst>
                    <a:ext uri="{FF2B5EF4-FFF2-40B4-BE49-F238E27FC236}">
                      <a16:creationId xmlns:a16="http://schemas.microsoft.com/office/drawing/2014/main" id="{B21B43E2-01DF-554D-D2B1-A123C5F201D6}"/>
                    </a:ext>
                  </a:extLst>
                </p:cNvPr>
                <p:cNvSpPr txBox="1"/>
                <p:nvPr/>
              </p:nvSpPr>
              <p:spPr>
                <a:xfrm>
                  <a:off x="3423249" y="1804987"/>
                  <a:ext cx="753725" cy="395396"/>
                </a:xfrm>
                <a:prstGeom prst="rect">
                  <a:avLst/>
                </a:prstGeom>
              </p:spPr>
              <p:txBody>
                <a:bodyPr vert="horz" wrap="none" lIns="0" tIns="0" rIns="0" bIns="0" rtlCol="0" anchor="ctr" anchorCtr="0">
                  <a:spAutoFit/>
                </a:bodyPr>
                <a:lstStyle/>
                <a:p>
                  <a:pPr marL="0" marR="0" lvl="0" indent="0" algn="ctr" defTabSz="914400" rtl="0" eaLnBrk="1" fontAlgn="auto" latinLnBrk="0" hangingPunct="1">
                    <a:lnSpc>
                      <a:spcPct val="100000"/>
                    </a:lnSpc>
                    <a:spcBef>
                      <a:spcPts val="100"/>
                    </a:spcBef>
                    <a:spcAft>
                      <a:spcPts val="0"/>
                    </a:spcAft>
                    <a:buClrTx/>
                    <a:buSzTx/>
                    <a:buFontTx/>
                    <a:buNone/>
                    <a:tabLst/>
                    <a:defRPr/>
                  </a:pPr>
                  <a:r>
                    <a:rPr kumimoji="0" lang="en-US" sz="800" b="1" i="0" u="none" strike="noStrike" kern="0" cap="none" spc="-5" normalizeH="0" baseline="0" noProof="0" dirty="0">
                      <a:ln>
                        <a:noFill/>
                      </a:ln>
                      <a:solidFill>
                        <a:srgbClr val="000000"/>
                      </a:solidFill>
                      <a:effectLst/>
                      <a:uLnTx/>
                      <a:uFillTx/>
                      <a:latin typeface="Arial"/>
                      <a:ea typeface="+mn-ea"/>
                      <a:cs typeface="Arial"/>
                    </a:rPr>
                    <a:t>Narrowed</a:t>
                  </a:r>
                  <a:br>
                    <a:rPr kumimoji="0" lang="en-US" sz="800" b="1" i="0" u="none" strike="noStrike" kern="0" cap="none" spc="-5" normalizeH="0" baseline="0" noProof="0" dirty="0">
                      <a:ln>
                        <a:noFill/>
                      </a:ln>
                      <a:solidFill>
                        <a:srgbClr val="000000"/>
                      </a:solidFill>
                      <a:effectLst/>
                      <a:uLnTx/>
                      <a:uFillTx/>
                      <a:latin typeface="Arial"/>
                      <a:ea typeface="+mn-ea"/>
                      <a:cs typeface="Arial"/>
                    </a:rPr>
                  </a:br>
                  <a:r>
                    <a:rPr kumimoji="0" lang="en-US" sz="800" b="1" i="0" u="none" strike="noStrike" kern="0" cap="none" spc="-5" normalizeH="0" baseline="0" noProof="0" dirty="0">
                      <a:ln>
                        <a:noFill/>
                      </a:ln>
                      <a:solidFill>
                        <a:srgbClr val="000000"/>
                      </a:solidFill>
                      <a:effectLst/>
                      <a:uLnTx/>
                      <a:uFillTx/>
                      <a:latin typeface="Arial"/>
                      <a:ea typeface="+mn-ea"/>
                      <a:cs typeface="Arial"/>
                    </a:rPr>
                    <a:t>lumen</a:t>
                  </a:r>
                  <a:endParaRPr kumimoji="0" sz="800" b="0" i="0" u="none" strike="noStrike" kern="0" cap="none" spc="0" normalizeH="0" baseline="0" noProof="0" dirty="0">
                    <a:ln>
                      <a:noFill/>
                    </a:ln>
                    <a:solidFill>
                      <a:srgbClr val="000000"/>
                    </a:solidFill>
                    <a:effectLst/>
                    <a:uLnTx/>
                    <a:uFillTx/>
                    <a:latin typeface="Arial"/>
                    <a:ea typeface="+mn-ea"/>
                    <a:cs typeface="Arial"/>
                  </a:endParaRPr>
                </a:p>
              </p:txBody>
            </p:sp>
          </p:grpSp>
          <p:pic>
            <p:nvPicPr>
              <p:cNvPr id="117" name="Picture 116">
                <a:extLst>
                  <a:ext uri="{FF2B5EF4-FFF2-40B4-BE49-F238E27FC236}">
                    <a16:creationId xmlns:a16="http://schemas.microsoft.com/office/drawing/2014/main" id="{85DFD33B-463A-5A9A-6A35-AFC8404771C1}"/>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587897" y="4125413"/>
                <a:ext cx="615405" cy="615405"/>
              </a:xfrm>
              <a:prstGeom prst="rect">
                <a:avLst/>
              </a:prstGeom>
            </p:spPr>
          </p:pic>
          <p:cxnSp>
            <p:nvCxnSpPr>
              <p:cNvPr id="118" name="Straight Arrow Connector 117">
                <a:extLst>
                  <a:ext uri="{FF2B5EF4-FFF2-40B4-BE49-F238E27FC236}">
                    <a16:creationId xmlns:a16="http://schemas.microsoft.com/office/drawing/2014/main" id="{CC6CC294-86CD-344A-A258-0066D7CBC88C}"/>
                  </a:ext>
                </a:extLst>
              </p:cNvPr>
              <p:cNvCxnSpPr/>
              <p:nvPr/>
            </p:nvCxnSpPr>
            <p:spPr>
              <a:xfrm>
                <a:off x="8876603" y="3875581"/>
                <a:ext cx="0" cy="201559"/>
              </a:xfrm>
              <a:prstGeom prst="straightConnector1">
                <a:avLst/>
              </a:prstGeom>
              <a:ln w="19050">
                <a:solidFill>
                  <a:srgbClr val="F36633"/>
                </a:solidFill>
                <a:tailEnd type="triangle"/>
              </a:ln>
            </p:spPr>
          </p:cxnSp>
        </p:grpSp>
        <p:sp>
          <p:nvSpPr>
            <p:cNvPr id="20" name="object 48">
              <a:extLst>
                <a:ext uri="{FF2B5EF4-FFF2-40B4-BE49-F238E27FC236}">
                  <a16:creationId xmlns:a16="http://schemas.microsoft.com/office/drawing/2014/main" id="{64BC6588-A6A9-5267-88CE-D9F6E1FF1AB1}"/>
                </a:ext>
              </a:extLst>
            </p:cNvPr>
            <p:cNvSpPr txBox="1"/>
            <p:nvPr/>
          </p:nvSpPr>
          <p:spPr>
            <a:xfrm>
              <a:off x="6527943" y="1193481"/>
              <a:ext cx="5129007" cy="276999"/>
            </a:xfrm>
            <a:prstGeom prst="rect">
              <a:avLst/>
            </a:prstGeom>
            <a:solidFill>
              <a:srgbClr val="F36633"/>
            </a:solidFill>
          </p:spPr>
          <p:txBody>
            <a:bodyPr vert="horz" wrap="square" lIns="45720" tIns="45720" rIns="45720" bIns="45720" rtlCol="0">
              <a:spAutoFit/>
            </a:bodyPr>
            <a:lstStyle/>
            <a:p>
              <a:pPr marL="2540" marR="0" lvl="0" indent="0" algn="ctr" defTabSz="914400" rtl="0" eaLnBrk="1" fontAlgn="auto" latinLnBrk="0" hangingPunct="1">
                <a:lnSpc>
                  <a:spcPct val="100000"/>
                </a:lnSpc>
                <a:spcBef>
                  <a:spcPts val="0"/>
                </a:spcBef>
                <a:spcAft>
                  <a:spcPts val="0"/>
                </a:spcAft>
                <a:buClrTx/>
                <a:buSzTx/>
                <a:buFontTx/>
                <a:buNone/>
                <a:tabLst/>
                <a:defRPr/>
              </a:pPr>
              <a:r>
                <a:rPr kumimoji="0" sz="1200" b="1" i="0" u="none" strike="noStrike" kern="0" cap="none" spc="-5" normalizeH="0" baseline="0" noProof="0" dirty="0">
                  <a:ln>
                    <a:noFill/>
                  </a:ln>
                  <a:solidFill>
                    <a:srgbClr val="FFFFFF"/>
                  </a:solidFill>
                  <a:effectLst/>
                  <a:uLnTx/>
                  <a:uFillTx/>
                  <a:latin typeface="Arial"/>
                  <a:ea typeface="+mn-ea"/>
                  <a:cs typeface="Arial"/>
                </a:rPr>
                <a:t>Exacerbation</a:t>
              </a:r>
              <a:r>
                <a:rPr kumimoji="0" sz="1200" b="1" i="0" u="none" strike="noStrike" kern="0" cap="none" spc="-30"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triggers</a:t>
              </a:r>
              <a:r>
                <a:rPr kumimoji="0" sz="1200" b="1" i="0" u="none" strike="noStrike" kern="0" cap="none" spc="-1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and</a:t>
              </a:r>
              <a:r>
                <a:rPr kumimoji="0" sz="1200" b="1" i="0" u="none" strike="noStrike" kern="0" cap="none" spc="-5" normalizeH="0" baseline="0" noProof="0" dirty="0">
                  <a:ln>
                    <a:noFill/>
                  </a:ln>
                  <a:solidFill>
                    <a:srgbClr val="FFFFFF"/>
                  </a:solidFill>
                  <a:effectLst/>
                  <a:uLnTx/>
                  <a:uFillTx/>
                  <a:latin typeface="Arial"/>
                  <a:ea typeface="+mn-ea"/>
                  <a:cs typeface="Arial"/>
                </a:rPr>
                <a:t> </a:t>
              </a:r>
              <a:r>
                <a:rPr kumimoji="0" sz="1200" b="1" i="0" u="none" strike="noStrike" kern="0" cap="none" spc="0" normalizeH="0" baseline="0" noProof="0" dirty="0">
                  <a:ln>
                    <a:noFill/>
                  </a:ln>
                  <a:solidFill>
                    <a:srgbClr val="FFFFFF"/>
                  </a:solidFill>
                  <a:effectLst/>
                  <a:uLnTx/>
                  <a:uFillTx/>
                  <a:latin typeface="Arial"/>
                  <a:ea typeface="+mn-ea"/>
                  <a:cs typeface="Arial"/>
                </a:rPr>
                <a:t>consequences</a:t>
              </a:r>
              <a:r>
                <a:rPr kumimoji="0" sz="1200" b="1" i="0" u="none" strike="noStrike" kern="0" cap="none" spc="0" normalizeH="0" baseline="24305" noProof="0" dirty="0">
                  <a:ln>
                    <a:noFill/>
                  </a:ln>
                  <a:solidFill>
                    <a:srgbClr val="FFFFFF"/>
                  </a:solidFill>
                  <a:effectLst/>
                  <a:uLnTx/>
                  <a:uFillTx/>
                  <a:latin typeface="Arial"/>
                  <a:ea typeface="+mn-ea"/>
                  <a:cs typeface="Arial"/>
                </a:rPr>
                <a:t>2</a:t>
              </a:r>
              <a:endParaRPr kumimoji="0" sz="1200" b="0" i="0" u="none" strike="noStrike" kern="0" cap="none" spc="0" normalizeH="0" baseline="24305" noProof="0" dirty="0">
                <a:ln>
                  <a:noFill/>
                </a:ln>
                <a:solidFill>
                  <a:srgbClr val="F36633"/>
                </a:solidFill>
                <a:effectLst/>
                <a:uLnTx/>
                <a:uFillTx/>
                <a:latin typeface="Arial"/>
                <a:ea typeface="+mn-ea"/>
                <a:cs typeface="Arial"/>
              </a:endParaRPr>
            </a:p>
          </p:txBody>
        </p:sp>
      </p:grpSp>
      <p:sp>
        <p:nvSpPr>
          <p:cNvPr id="24" name="Rectangle 23">
            <a:extLst>
              <a:ext uri="{FF2B5EF4-FFF2-40B4-BE49-F238E27FC236}">
                <a16:creationId xmlns:a16="http://schemas.microsoft.com/office/drawing/2014/main" id="{D5764E1D-924D-1D9D-360B-51202C2E3D61}"/>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96629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962CBFA-66E7-E0E4-EA71-EFAB2700942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Date Placeholder 2">
            <a:extLst>
              <a:ext uri="{FF2B5EF4-FFF2-40B4-BE49-F238E27FC236}">
                <a16:creationId xmlns:a16="http://schemas.microsoft.com/office/drawing/2014/main" id="{30553386-D8C6-FED4-38E9-3BFE3301B3C3}"/>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431ED21-3E82-48A3-9298-8FC0977DC32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 name="Title 4">
            <a:extLst>
              <a:ext uri="{FF2B5EF4-FFF2-40B4-BE49-F238E27FC236}">
                <a16:creationId xmlns:a16="http://schemas.microsoft.com/office/drawing/2014/main" id="{0A52ACD4-5C11-36C2-7674-8E3235F0EB55}"/>
              </a:ext>
            </a:extLst>
          </p:cNvPr>
          <p:cNvSpPr>
            <a:spLocks noGrp="1"/>
          </p:cNvSpPr>
          <p:nvPr>
            <p:ph type="title"/>
          </p:nvPr>
        </p:nvSpPr>
        <p:spPr/>
        <p:txBody>
          <a:bodyPr/>
          <a:lstStyle/>
          <a:p>
            <a:r>
              <a:rPr lang="en-US" dirty="0"/>
              <a:t>Summary</a:t>
            </a:r>
            <a:endParaRPr lang="en-GB" dirty="0"/>
          </a:p>
        </p:txBody>
      </p:sp>
      <p:grpSp>
        <p:nvGrpSpPr>
          <p:cNvPr id="22" name="Group 21">
            <a:extLst>
              <a:ext uri="{FF2B5EF4-FFF2-40B4-BE49-F238E27FC236}">
                <a16:creationId xmlns:a16="http://schemas.microsoft.com/office/drawing/2014/main" id="{63157F75-ADA0-DBC6-8584-3E108A8090A8}"/>
              </a:ext>
            </a:extLst>
          </p:cNvPr>
          <p:cNvGrpSpPr/>
          <p:nvPr/>
        </p:nvGrpSpPr>
        <p:grpSpPr>
          <a:xfrm>
            <a:off x="376386" y="1235022"/>
            <a:ext cx="11455802" cy="4056820"/>
            <a:chOff x="345906" y="1440762"/>
            <a:chExt cx="11455802" cy="4056820"/>
          </a:xfrm>
        </p:grpSpPr>
        <p:grpSp>
          <p:nvGrpSpPr>
            <p:cNvPr id="19" name="Group 18">
              <a:extLst>
                <a:ext uri="{FF2B5EF4-FFF2-40B4-BE49-F238E27FC236}">
                  <a16:creationId xmlns:a16="http://schemas.microsoft.com/office/drawing/2014/main" id="{F2DAD428-9A16-219D-4342-49596A181704}"/>
                </a:ext>
              </a:extLst>
            </p:cNvPr>
            <p:cNvGrpSpPr/>
            <p:nvPr/>
          </p:nvGrpSpPr>
          <p:grpSpPr>
            <a:xfrm>
              <a:off x="345906" y="2493624"/>
              <a:ext cx="11455802" cy="896112"/>
              <a:chOff x="345906" y="2498430"/>
              <a:chExt cx="11455802" cy="896112"/>
            </a:xfrm>
          </p:grpSpPr>
          <p:sp>
            <p:nvSpPr>
              <p:cNvPr id="40" name="object 9">
                <a:extLst>
                  <a:ext uri="{FF2B5EF4-FFF2-40B4-BE49-F238E27FC236}">
                    <a16:creationId xmlns:a16="http://schemas.microsoft.com/office/drawing/2014/main" id="{A130842D-F8D3-BD89-F2A2-56C0FF9921A0}"/>
                  </a:ext>
                </a:extLst>
              </p:cNvPr>
              <p:cNvSpPr txBox="1">
                <a:spLocks/>
              </p:cNvSpPr>
              <p:nvPr/>
            </p:nvSpPr>
            <p:spPr>
              <a:xfrm>
                <a:off x="1116288" y="2498430"/>
                <a:ext cx="10685420" cy="896112"/>
              </a:xfrm>
              <a:prstGeom prst="rect">
                <a:avLst/>
              </a:prstGeom>
              <a:solidFill>
                <a:schemeClr val="accent1"/>
              </a:solidFill>
              <a:ln w="19050">
                <a:noFill/>
              </a:ln>
            </p:spPr>
            <p:txBody>
              <a:bodyPr vert="horz" wrap="square" lIns="91440" tIns="91440" rIns="91440" bIns="91440" rtlCol="0" anchor="ctr">
                <a:noAutofit/>
              </a:bodyPr>
              <a:lstStyle/>
              <a:p>
                <a:pPr marL="71755"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5" normalizeH="0" baseline="0" noProof="0" dirty="0">
                    <a:ln>
                      <a:noFill/>
                    </a:ln>
                    <a:solidFill>
                      <a:prstClr val="white"/>
                    </a:solidFill>
                    <a:effectLst/>
                    <a:uLnTx/>
                    <a:uFillTx/>
                    <a:latin typeface="Arial"/>
                    <a:ea typeface="+mn-ea"/>
                    <a:cs typeface="Arial"/>
                  </a:rPr>
                  <a:t>Epithelial cells and multiple cells of the immune system are involved in the inflammatory response which leads to </a:t>
                </a:r>
                <a:r>
                  <a:rPr kumimoji="0" lang="en-US" sz="1400" b="1" i="0" u="none" strike="noStrike" kern="0" cap="none" spc="-5" normalizeH="0" baseline="0" noProof="0" dirty="0">
                    <a:ln>
                      <a:noFill/>
                    </a:ln>
                    <a:solidFill>
                      <a:prstClr val="white"/>
                    </a:solidFill>
                    <a:effectLst/>
                    <a:uLnTx/>
                    <a:uFillTx/>
                    <a:latin typeface="Arial"/>
                    <a:ea typeface="+mn-ea"/>
                    <a:cs typeface="Arial"/>
                  </a:rPr>
                  <a:t>mucus hypersecretion</a:t>
                </a:r>
                <a:r>
                  <a:rPr kumimoji="0" lang="en-US" sz="1400" b="0" i="0" u="none" strike="noStrike" kern="0" cap="none" spc="-5" normalizeH="0" baseline="0" noProof="0" dirty="0">
                    <a:ln>
                      <a:noFill/>
                    </a:ln>
                    <a:solidFill>
                      <a:prstClr val="white"/>
                    </a:solidFill>
                    <a:effectLst/>
                    <a:uLnTx/>
                    <a:uFillTx/>
                    <a:latin typeface="Arial"/>
                    <a:ea typeface="+mn-ea"/>
                    <a:cs typeface="Arial"/>
                  </a:rPr>
                  <a:t>,</a:t>
                </a:r>
                <a:r>
                  <a:rPr kumimoji="0" lang="en-US" sz="1400" b="1" i="0" u="none" strike="noStrike" kern="0" cap="none" spc="-5" normalizeH="0" baseline="0" noProof="0" dirty="0">
                    <a:ln>
                      <a:noFill/>
                    </a:ln>
                    <a:solidFill>
                      <a:prstClr val="white"/>
                    </a:solidFill>
                    <a:effectLst/>
                    <a:uLnTx/>
                    <a:uFillTx/>
                    <a:latin typeface="Arial"/>
                    <a:ea typeface="+mn-ea"/>
                    <a:cs typeface="Arial"/>
                  </a:rPr>
                  <a:t> fibrosis </a:t>
                </a:r>
                <a:r>
                  <a:rPr kumimoji="0" lang="en-US" sz="1400" b="0" i="0" u="none" strike="noStrike" kern="0" cap="none" spc="-5" normalizeH="0" baseline="0" noProof="0" dirty="0">
                    <a:ln>
                      <a:noFill/>
                    </a:ln>
                    <a:solidFill>
                      <a:prstClr val="white"/>
                    </a:solidFill>
                    <a:effectLst/>
                    <a:uLnTx/>
                    <a:uFillTx/>
                    <a:latin typeface="Arial"/>
                    <a:ea typeface="+mn-ea"/>
                    <a:cs typeface="Arial"/>
                  </a:rPr>
                  <a:t>and </a:t>
                </a:r>
                <a:r>
                  <a:rPr kumimoji="0" lang="en-US" sz="1400" b="1" i="0" u="none" strike="noStrike" kern="0" cap="none" spc="-5" normalizeH="0" baseline="0" noProof="0" dirty="0">
                    <a:ln>
                      <a:noFill/>
                    </a:ln>
                    <a:solidFill>
                      <a:prstClr val="white"/>
                    </a:solidFill>
                    <a:effectLst/>
                    <a:uLnTx/>
                    <a:uFillTx/>
                    <a:latin typeface="Arial"/>
                    <a:ea typeface="+mn-ea"/>
                    <a:cs typeface="Arial"/>
                  </a:rPr>
                  <a:t>destruction of the alveolar wall</a:t>
                </a:r>
                <a:r>
                  <a:rPr kumimoji="0" lang="en-US" sz="1400" b="0" i="0" u="none" strike="noStrike" kern="0" cap="none" spc="-5" normalizeH="0" baseline="30000" noProof="0" dirty="0">
                    <a:ln>
                      <a:noFill/>
                    </a:ln>
                    <a:solidFill>
                      <a:prstClr val="white"/>
                    </a:solidFill>
                    <a:effectLst/>
                    <a:uLnTx/>
                    <a:uFillTx/>
                    <a:latin typeface="Arial"/>
                    <a:ea typeface="+mn-ea"/>
                    <a:cs typeface="Arial"/>
                  </a:rPr>
                  <a:t>1,2</a:t>
                </a:r>
              </a:p>
            </p:txBody>
          </p:sp>
          <p:sp>
            <p:nvSpPr>
              <p:cNvPr id="41" name="object 11">
                <a:extLst>
                  <a:ext uri="{FF2B5EF4-FFF2-40B4-BE49-F238E27FC236}">
                    <a16:creationId xmlns:a16="http://schemas.microsoft.com/office/drawing/2014/main" id="{2500C9FF-F32F-5C87-087A-D21DF68CD3F9}"/>
                  </a:ext>
                </a:extLst>
              </p:cNvPr>
              <p:cNvSpPr/>
              <p:nvPr/>
            </p:nvSpPr>
            <p:spPr>
              <a:xfrm>
                <a:off x="345906" y="2498430"/>
                <a:ext cx="683260" cy="896112"/>
              </a:xfrm>
              <a:custGeom>
                <a:avLst/>
                <a:gdLst/>
                <a:ahLst/>
                <a:cxnLst/>
                <a:rect l="l" t="t" r="r" b="b"/>
                <a:pathLst>
                  <a:path w="683260" h="662939">
                    <a:moveTo>
                      <a:pt x="0" y="662939"/>
                    </a:moveTo>
                    <a:lnTo>
                      <a:pt x="682751" y="662939"/>
                    </a:lnTo>
                    <a:lnTo>
                      <a:pt x="682751" y="0"/>
                    </a:lnTo>
                    <a:lnTo>
                      <a:pt x="0" y="0"/>
                    </a:lnTo>
                    <a:lnTo>
                      <a:pt x="0" y="662939"/>
                    </a:lnTo>
                    <a:close/>
                  </a:path>
                </a:pathLst>
              </a:custGeom>
              <a:ln w="19050">
                <a:solidFill>
                  <a:schemeClr val="accent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pic>
            <p:nvPicPr>
              <p:cNvPr id="42" name="object 12">
                <a:extLst>
                  <a:ext uri="{FF2B5EF4-FFF2-40B4-BE49-F238E27FC236}">
                    <a16:creationId xmlns:a16="http://schemas.microsoft.com/office/drawing/2014/main" id="{8DC9DCF6-DF51-CB4E-53E0-FB7874C64AC9}"/>
                  </a:ext>
                </a:extLst>
              </p:cNvPr>
              <p:cNvPicPr/>
              <p:nvPr/>
            </p:nvPicPr>
            <p:blipFill>
              <a:blip r:embed="rId2" cstate="print">
                <a:duotone>
                  <a:prstClr val="black"/>
                  <a:schemeClr val="accent1">
                    <a:tint val="45000"/>
                    <a:satMod val="400000"/>
                  </a:schemeClr>
                </a:duotone>
              </a:blip>
              <a:stretch>
                <a:fillRect/>
              </a:stretch>
            </p:blipFill>
            <p:spPr>
              <a:xfrm>
                <a:off x="472833" y="2731222"/>
                <a:ext cx="427164" cy="430529"/>
              </a:xfrm>
              <a:prstGeom prst="rect">
                <a:avLst/>
              </a:prstGeom>
            </p:spPr>
          </p:pic>
        </p:grpSp>
        <p:grpSp>
          <p:nvGrpSpPr>
            <p:cNvPr id="20" name="Group 19">
              <a:extLst>
                <a:ext uri="{FF2B5EF4-FFF2-40B4-BE49-F238E27FC236}">
                  <a16:creationId xmlns:a16="http://schemas.microsoft.com/office/drawing/2014/main" id="{E24621A5-9B6A-F8D1-2CF8-C474A4A42ACB}"/>
                </a:ext>
              </a:extLst>
            </p:cNvPr>
            <p:cNvGrpSpPr/>
            <p:nvPr/>
          </p:nvGrpSpPr>
          <p:grpSpPr>
            <a:xfrm>
              <a:off x="345906" y="3547547"/>
              <a:ext cx="11455801" cy="896112"/>
              <a:chOff x="345906" y="3547663"/>
              <a:chExt cx="11455801" cy="896112"/>
            </a:xfrm>
          </p:grpSpPr>
          <p:sp>
            <p:nvSpPr>
              <p:cNvPr id="37" name="object 17">
                <a:extLst>
                  <a:ext uri="{FF2B5EF4-FFF2-40B4-BE49-F238E27FC236}">
                    <a16:creationId xmlns:a16="http://schemas.microsoft.com/office/drawing/2014/main" id="{E6BE08D9-C690-EA60-A358-D0915624B1DE}"/>
                  </a:ext>
                </a:extLst>
              </p:cNvPr>
              <p:cNvSpPr txBox="1">
                <a:spLocks/>
              </p:cNvSpPr>
              <p:nvPr/>
            </p:nvSpPr>
            <p:spPr>
              <a:xfrm>
                <a:off x="1116287" y="3547663"/>
                <a:ext cx="10685420" cy="896112"/>
              </a:xfrm>
              <a:prstGeom prst="rect">
                <a:avLst/>
              </a:prstGeom>
              <a:solidFill>
                <a:schemeClr val="accent3"/>
              </a:solidFill>
              <a:ln w="19050">
                <a:noFill/>
              </a:ln>
            </p:spPr>
            <p:txBody>
              <a:bodyPr vert="horz" wrap="square" lIns="91440" tIns="91440" rIns="91440" bIns="91440" rtlCol="0" anchor="ctr">
                <a:noAutofit/>
              </a:bodyPr>
              <a:lstStyle/>
              <a:p>
                <a:pPr marL="7112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0" cap="none" spc="-5" normalizeH="0" baseline="0" noProof="0" dirty="0">
                    <a:ln>
                      <a:noFill/>
                    </a:ln>
                    <a:solidFill>
                      <a:prstClr val="white"/>
                    </a:solidFill>
                    <a:effectLst/>
                    <a:uLnTx/>
                    <a:uFillTx/>
                    <a:latin typeface="Arial"/>
                    <a:ea typeface="+mn-ea"/>
                    <a:cs typeface="Arial"/>
                  </a:rPr>
                  <a:t>Airflow limitation and gas trapping, gas exchange abnormalities</a:t>
                </a:r>
                <a:r>
                  <a:rPr kumimoji="0" lang="en-US" sz="1400" b="0" i="0" u="none" strike="noStrike" kern="0" cap="none" spc="-5" normalizeH="0" baseline="0" noProof="0" dirty="0">
                    <a:ln>
                      <a:noFill/>
                    </a:ln>
                    <a:solidFill>
                      <a:prstClr val="white"/>
                    </a:solidFill>
                    <a:effectLst/>
                    <a:uLnTx/>
                    <a:uFillTx/>
                    <a:latin typeface="Arial"/>
                    <a:ea typeface="+mn-ea"/>
                    <a:cs typeface="Arial"/>
                  </a:rPr>
                  <a:t>,</a:t>
                </a:r>
                <a:r>
                  <a:rPr kumimoji="0" lang="en-US" sz="1400" b="1" i="0" u="none" strike="noStrike" kern="0" cap="none" spc="-5" normalizeH="0" baseline="0" noProof="0" dirty="0">
                    <a:ln>
                      <a:noFill/>
                    </a:ln>
                    <a:solidFill>
                      <a:prstClr val="white"/>
                    </a:solidFill>
                    <a:effectLst/>
                    <a:uLnTx/>
                    <a:uFillTx/>
                    <a:latin typeface="Arial"/>
                    <a:ea typeface="+mn-ea"/>
                    <a:cs typeface="Arial"/>
                  </a:rPr>
                  <a:t> pulmonary hypertension</a:t>
                </a:r>
                <a:r>
                  <a:rPr kumimoji="0" lang="en-US" sz="1400" b="0" i="0" u="none" strike="noStrike" kern="0" cap="none" spc="-5" normalizeH="0" baseline="0" noProof="0" dirty="0">
                    <a:ln>
                      <a:noFill/>
                    </a:ln>
                    <a:solidFill>
                      <a:prstClr val="white"/>
                    </a:solidFill>
                    <a:effectLst/>
                    <a:uLnTx/>
                    <a:uFillTx/>
                    <a:latin typeface="Arial"/>
                    <a:ea typeface="+mn-ea"/>
                    <a:cs typeface="Arial"/>
                  </a:rPr>
                  <a:t>,</a:t>
                </a:r>
                <a:r>
                  <a:rPr kumimoji="0" lang="en-US" sz="1400" b="1" i="0" u="none" strike="noStrike" kern="0" cap="none" spc="-5" normalizeH="0" baseline="0" noProof="0" dirty="0">
                    <a:ln>
                      <a:noFill/>
                    </a:ln>
                    <a:solidFill>
                      <a:prstClr val="white"/>
                    </a:solidFill>
                    <a:effectLst/>
                    <a:uLnTx/>
                    <a:uFillTx/>
                    <a:latin typeface="Arial"/>
                    <a:ea typeface="+mn-ea"/>
                    <a:cs typeface="Arial"/>
                  </a:rPr>
                  <a:t> exacerbations </a:t>
                </a:r>
                <a:r>
                  <a:rPr kumimoji="0" lang="en-US" sz="1400" b="0" i="0" u="none" strike="noStrike" kern="0" cap="none" spc="-5" normalizeH="0" baseline="0" noProof="0" dirty="0">
                    <a:ln>
                      <a:noFill/>
                    </a:ln>
                    <a:solidFill>
                      <a:prstClr val="white"/>
                    </a:solidFill>
                    <a:effectLst/>
                    <a:uLnTx/>
                    <a:uFillTx/>
                    <a:latin typeface="Arial"/>
                    <a:ea typeface="+mn-ea"/>
                    <a:cs typeface="Arial"/>
                  </a:rPr>
                  <a:t>and </a:t>
                </a:r>
                <a:r>
                  <a:rPr kumimoji="0" lang="en-US" sz="1400" b="1" i="0" u="none" strike="noStrike" kern="0" cap="none" spc="-5" normalizeH="0" baseline="0" noProof="0" dirty="0">
                    <a:ln>
                      <a:noFill/>
                    </a:ln>
                    <a:solidFill>
                      <a:prstClr val="white"/>
                    </a:solidFill>
                    <a:effectLst/>
                    <a:uLnTx/>
                    <a:uFillTx/>
                    <a:latin typeface="Arial"/>
                    <a:ea typeface="+mn-ea"/>
                    <a:cs typeface="Arial"/>
                  </a:rPr>
                  <a:t>multimorbidity </a:t>
                </a:r>
                <a:r>
                  <a:rPr kumimoji="0" lang="en-US" sz="1400" b="0" i="0" u="none" strike="noStrike" kern="0" cap="none" spc="-5" normalizeH="0" baseline="0" noProof="0" dirty="0">
                    <a:ln>
                      <a:noFill/>
                    </a:ln>
                    <a:solidFill>
                      <a:prstClr val="white"/>
                    </a:solidFill>
                    <a:effectLst/>
                    <a:uLnTx/>
                    <a:uFillTx/>
                    <a:latin typeface="Arial"/>
                    <a:ea typeface="+mn-ea"/>
                    <a:cs typeface="Arial"/>
                  </a:rPr>
                  <a:t>form a part of the pathophysiology of COPD</a:t>
                </a:r>
                <a:r>
                  <a:rPr kumimoji="0" lang="en-US" sz="1400" b="0" i="0" u="none" strike="noStrike" kern="0" cap="none" spc="-5" normalizeH="0" baseline="30000" noProof="0" dirty="0">
                    <a:ln>
                      <a:noFill/>
                    </a:ln>
                    <a:solidFill>
                      <a:prstClr val="white"/>
                    </a:solidFill>
                    <a:effectLst/>
                    <a:uLnTx/>
                    <a:uFillTx/>
                    <a:latin typeface="Arial"/>
                    <a:ea typeface="+mn-ea"/>
                    <a:cs typeface="Arial"/>
                  </a:rPr>
                  <a:t>1,2</a:t>
                </a:r>
              </a:p>
            </p:txBody>
          </p:sp>
          <p:sp>
            <p:nvSpPr>
              <p:cNvPr id="38" name="object 19">
                <a:extLst>
                  <a:ext uri="{FF2B5EF4-FFF2-40B4-BE49-F238E27FC236}">
                    <a16:creationId xmlns:a16="http://schemas.microsoft.com/office/drawing/2014/main" id="{15FAA2D7-1502-1E22-BE02-4BF8773C86D9}"/>
                  </a:ext>
                </a:extLst>
              </p:cNvPr>
              <p:cNvSpPr/>
              <p:nvPr/>
            </p:nvSpPr>
            <p:spPr>
              <a:xfrm>
                <a:off x="345906" y="3547663"/>
                <a:ext cx="683260" cy="896112"/>
              </a:xfrm>
              <a:custGeom>
                <a:avLst/>
                <a:gdLst/>
                <a:ahLst/>
                <a:cxnLst/>
                <a:rect l="l" t="t" r="r" b="b"/>
                <a:pathLst>
                  <a:path w="683260" h="660400">
                    <a:moveTo>
                      <a:pt x="0" y="659892"/>
                    </a:moveTo>
                    <a:lnTo>
                      <a:pt x="682751" y="659892"/>
                    </a:lnTo>
                    <a:lnTo>
                      <a:pt x="682751" y="0"/>
                    </a:lnTo>
                    <a:lnTo>
                      <a:pt x="0" y="0"/>
                    </a:lnTo>
                    <a:lnTo>
                      <a:pt x="0" y="659892"/>
                    </a:lnTo>
                    <a:close/>
                  </a:path>
                </a:pathLst>
              </a:custGeom>
              <a:ln w="19050">
                <a:solidFill>
                  <a:schemeClr val="accent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sp>
            <p:nvSpPr>
              <p:cNvPr id="39" name="object 20">
                <a:extLst>
                  <a:ext uri="{FF2B5EF4-FFF2-40B4-BE49-F238E27FC236}">
                    <a16:creationId xmlns:a16="http://schemas.microsoft.com/office/drawing/2014/main" id="{FBF48954-9861-2E37-884C-2067E9AFB9BF}"/>
                  </a:ext>
                </a:extLst>
              </p:cNvPr>
              <p:cNvSpPr/>
              <p:nvPr/>
            </p:nvSpPr>
            <p:spPr>
              <a:xfrm>
                <a:off x="470505" y="3764897"/>
                <a:ext cx="458470" cy="461645"/>
              </a:xfrm>
              <a:custGeom>
                <a:avLst/>
                <a:gdLst/>
                <a:ahLst/>
                <a:cxnLst/>
                <a:rect l="l" t="t" r="r" b="b"/>
                <a:pathLst>
                  <a:path w="458469" h="461645">
                    <a:moveTo>
                      <a:pt x="3404" y="403605"/>
                    </a:moveTo>
                    <a:lnTo>
                      <a:pt x="0" y="415315"/>
                    </a:lnTo>
                    <a:lnTo>
                      <a:pt x="124" y="427561"/>
                    </a:lnTo>
                    <a:lnTo>
                      <a:pt x="3883" y="439164"/>
                    </a:lnTo>
                    <a:lnTo>
                      <a:pt x="11379" y="448944"/>
                    </a:lnTo>
                    <a:lnTo>
                      <a:pt x="21733" y="456568"/>
                    </a:lnTo>
                    <a:lnTo>
                      <a:pt x="33473" y="460692"/>
                    </a:lnTo>
                    <a:lnTo>
                      <a:pt x="45853" y="461196"/>
                    </a:lnTo>
                    <a:lnTo>
                      <a:pt x="58128" y="457961"/>
                    </a:lnTo>
                    <a:lnTo>
                      <a:pt x="3404" y="403605"/>
                    </a:lnTo>
                    <a:close/>
                  </a:path>
                  <a:path w="458469" h="461645">
                    <a:moveTo>
                      <a:pt x="136660" y="277018"/>
                    </a:moveTo>
                    <a:lnTo>
                      <a:pt x="124527" y="280963"/>
                    </a:lnTo>
                    <a:lnTo>
                      <a:pt x="113995" y="289051"/>
                    </a:lnTo>
                    <a:lnTo>
                      <a:pt x="11379" y="391159"/>
                    </a:lnTo>
                    <a:lnTo>
                      <a:pt x="11379" y="392302"/>
                    </a:lnTo>
                    <a:lnTo>
                      <a:pt x="69533" y="450087"/>
                    </a:lnTo>
                    <a:lnTo>
                      <a:pt x="69533" y="448944"/>
                    </a:lnTo>
                    <a:lnTo>
                      <a:pt x="172149" y="346963"/>
                    </a:lnTo>
                    <a:lnTo>
                      <a:pt x="179646" y="336629"/>
                    </a:lnTo>
                    <a:lnTo>
                      <a:pt x="183404" y="324961"/>
                    </a:lnTo>
                    <a:lnTo>
                      <a:pt x="183529" y="312673"/>
                    </a:lnTo>
                    <a:lnTo>
                      <a:pt x="180124" y="300481"/>
                    </a:lnTo>
                    <a:lnTo>
                      <a:pt x="186970" y="294766"/>
                    </a:lnTo>
                    <a:lnTo>
                      <a:pt x="242987" y="294766"/>
                    </a:lnTo>
                    <a:lnTo>
                      <a:pt x="216760" y="281177"/>
                    </a:lnTo>
                    <a:lnTo>
                      <a:pt x="161887" y="281177"/>
                    </a:lnTo>
                    <a:lnTo>
                      <a:pt x="149434" y="277121"/>
                    </a:lnTo>
                    <a:lnTo>
                      <a:pt x="136660" y="277018"/>
                    </a:lnTo>
                    <a:close/>
                  </a:path>
                  <a:path w="458469" h="461645">
                    <a:moveTo>
                      <a:pt x="242987" y="294766"/>
                    </a:moveTo>
                    <a:lnTo>
                      <a:pt x="186970" y="294766"/>
                    </a:lnTo>
                    <a:lnTo>
                      <a:pt x="209770" y="310211"/>
                    </a:lnTo>
                    <a:lnTo>
                      <a:pt x="235138" y="322024"/>
                    </a:lnTo>
                    <a:lnTo>
                      <a:pt x="262643" y="329574"/>
                    </a:lnTo>
                    <a:lnTo>
                      <a:pt x="291859" y="332231"/>
                    </a:lnTo>
                    <a:lnTo>
                      <a:pt x="336258" y="326261"/>
                    </a:lnTo>
                    <a:lnTo>
                      <a:pt x="376065" y="309447"/>
                    </a:lnTo>
                    <a:lnTo>
                      <a:pt x="381914" y="304926"/>
                    </a:lnTo>
                    <a:lnTo>
                      <a:pt x="291859" y="304926"/>
                    </a:lnTo>
                    <a:lnTo>
                      <a:pt x="248060" y="297395"/>
                    </a:lnTo>
                    <a:lnTo>
                      <a:pt x="242987" y="294766"/>
                    </a:lnTo>
                    <a:close/>
                  </a:path>
                  <a:path w="458469" h="461645">
                    <a:moveTo>
                      <a:pt x="381722" y="27177"/>
                    </a:moveTo>
                    <a:lnTo>
                      <a:pt x="291859" y="27177"/>
                    </a:lnTo>
                    <a:lnTo>
                      <a:pt x="336099" y="34718"/>
                    </a:lnTo>
                    <a:lnTo>
                      <a:pt x="374318" y="54555"/>
                    </a:lnTo>
                    <a:lnTo>
                      <a:pt x="404327" y="84565"/>
                    </a:lnTo>
                    <a:lnTo>
                      <a:pt x="423939" y="122629"/>
                    </a:lnTo>
                    <a:lnTo>
                      <a:pt x="430962" y="166623"/>
                    </a:lnTo>
                    <a:lnTo>
                      <a:pt x="423939" y="210061"/>
                    </a:lnTo>
                    <a:lnTo>
                      <a:pt x="404327" y="247786"/>
                    </a:lnTo>
                    <a:lnTo>
                      <a:pt x="374318" y="277623"/>
                    </a:lnTo>
                    <a:lnTo>
                      <a:pt x="336099" y="297395"/>
                    </a:lnTo>
                    <a:lnTo>
                      <a:pt x="291859" y="304926"/>
                    </a:lnTo>
                    <a:lnTo>
                      <a:pt x="381914" y="304926"/>
                    </a:lnTo>
                    <a:lnTo>
                      <a:pt x="409728" y="283432"/>
                    </a:lnTo>
                    <a:lnTo>
                      <a:pt x="435694" y="249860"/>
                    </a:lnTo>
                    <a:lnTo>
                      <a:pt x="452413" y="210376"/>
                    </a:lnTo>
                    <a:lnTo>
                      <a:pt x="458331" y="166623"/>
                    </a:lnTo>
                    <a:lnTo>
                      <a:pt x="452413" y="122399"/>
                    </a:lnTo>
                    <a:lnTo>
                      <a:pt x="435694" y="82615"/>
                    </a:lnTo>
                    <a:lnTo>
                      <a:pt x="409728" y="48879"/>
                    </a:lnTo>
                    <a:lnTo>
                      <a:pt x="381722" y="27177"/>
                    </a:lnTo>
                    <a:close/>
                  </a:path>
                  <a:path w="458469" h="461645">
                    <a:moveTo>
                      <a:pt x="291859" y="0"/>
                    </a:moveTo>
                    <a:lnTo>
                      <a:pt x="247858" y="5966"/>
                    </a:lnTo>
                    <a:lnTo>
                      <a:pt x="208165" y="22794"/>
                    </a:lnTo>
                    <a:lnTo>
                      <a:pt x="174425" y="48879"/>
                    </a:lnTo>
                    <a:lnTo>
                      <a:pt x="148287" y="82615"/>
                    </a:lnTo>
                    <a:lnTo>
                      <a:pt x="131396" y="122399"/>
                    </a:lnTo>
                    <a:lnTo>
                      <a:pt x="125400" y="166623"/>
                    </a:lnTo>
                    <a:lnTo>
                      <a:pt x="128304" y="197221"/>
                    </a:lnTo>
                    <a:lnTo>
                      <a:pt x="136660" y="225758"/>
                    </a:lnTo>
                    <a:lnTo>
                      <a:pt x="149934" y="251938"/>
                    </a:lnTo>
                    <a:lnTo>
                      <a:pt x="167589" y="275462"/>
                    </a:lnTo>
                    <a:lnTo>
                      <a:pt x="161887" y="281177"/>
                    </a:lnTo>
                    <a:lnTo>
                      <a:pt x="216760" y="281177"/>
                    </a:lnTo>
                    <a:lnTo>
                      <a:pt x="209898" y="277623"/>
                    </a:lnTo>
                    <a:lnTo>
                      <a:pt x="179728" y="247786"/>
                    </a:lnTo>
                    <a:lnTo>
                      <a:pt x="159901" y="210061"/>
                    </a:lnTo>
                    <a:lnTo>
                      <a:pt x="152769" y="166623"/>
                    </a:lnTo>
                    <a:lnTo>
                      <a:pt x="159901" y="122629"/>
                    </a:lnTo>
                    <a:lnTo>
                      <a:pt x="179728" y="84565"/>
                    </a:lnTo>
                    <a:lnTo>
                      <a:pt x="209898" y="54555"/>
                    </a:lnTo>
                    <a:lnTo>
                      <a:pt x="248060" y="34718"/>
                    </a:lnTo>
                    <a:lnTo>
                      <a:pt x="291859" y="27177"/>
                    </a:lnTo>
                    <a:lnTo>
                      <a:pt x="381722" y="27177"/>
                    </a:lnTo>
                    <a:lnTo>
                      <a:pt x="376065" y="22794"/>
                    </a:lnTo>
                    <a:lnTo>
                      <a:pt x="336258" y="5966"/>
                    </a:lnTo>
                    <a:lnTo>
                      <a:pt x="291859" y="0"/>
                    </a:lnTo>
                    <a:close/>
                  </a:path>
                </a:pathLst>
              </a:custGeom>
              <a:solidFill>
                <a:schemeClr val="accent3"/>
              </a:solidFill>
              <a:ln>
                <a:solidFill>
                  <a:schemeClr val="accent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grpSp>
          <p:nvGrpSpPr>
            <p:cNvPr id="21" name="Group 20">
              <a:extLst>
                <a:ext uri="{FF2B5EF4-FFF2-40B4-BE49-F238E27FC236}">
                  <a16:creationId xmlns:a16="http://schemas.microsoft.com/office/drawing/2014/main" id="{30A976E9-AD7A-8CB9-7A3A-4DA2E2C9C234}"/>
                </a:ext>
              </a:extLst>
            </p:cNvPr>
            <p:cNvGrpSpPr/>
            <p:nvPr/>
          </p:nvGrpSpPr>
          <p:grpSpPr>
            <a:xfrm>
              <a:off x="345906" y="4601470"/>
              <a:ext cx="11455801" cy="896112"/>
              <a:chOff x="345906" y="4601470"/>
              <a:chExt cx="11455801" cy="896112"/>
            </a:xfrm>
          </p:grpSpPr>
          <p:sp>
            <p:nvSpPr>
              <p:cNvPr id="34" name="object 21">
                <a:extLst>
                  <a:ext uri="{FF2B5EF4-FFF2-40B4-BE49-F238E27FC236}">
                    <a16:creationId xmlns:a16="http://schemas.microsoft.com/office/drawing/2014/main" id="{3FFB3CED-BDBF-E23B-3F8A-DE046150F96D}"/>
                  </a:ext>
                </a:extLst>
              </p:cNvPr>
              <p:cNvSpPr txBox="1">
                <a:spLocks/>
              </p:cNvSpPr>
              <p:nvPr/>
            </p:nvSpPr>
            <p:spPr>
              <a:xfrm>
                <a:off x="1116287" y="4601470"/>
                <a:ext cx="10685420" cy="896112"/>
              </a:xfrm>
              <a:prstGeom prst="rect">
                <a:avLst/>
              </a:prstGeom>
              <a:solidFill>
                <a:schemeClr val="accent6"/>
              </a:solidFill>
              <a:ln w="19050">
                <a:noFill/>
              </a:ln>
            </p:spPr>
            <p:txBody>
              <a:bodyPr vert="horz" wrap="none" lIns="91440" tIns="91440" rIns="91440" bIns="91440" rtlCol="0" anchor="ctr">
                <a:noAutofit/>
              </a:bodyPr>
              <a:lstStyle/>
              <a:p>
                <a:pPr marL="71120" marR="239776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0" normalizeH="0" baseline="0" noProof="0" dirty="0">
                    <a:ln>
                      <a:noFill/>
                    </a:ln>
                    <a:solidFill>
                      <a:prstClr val="white"/>
                    </a:solidFill>
                    <a:effectLst/>
                    <a:uLnTx/>
                    <a:uFillTx/>
                    <a:latin typeface="Arial"/>
                    <a:ea typeface="+mn-ea"/>
                    <a:cs typeface="Noto Sans"/>
                  </a:rPr>
                  <a:t>Exacerbations are thought to be triggered by viruses, bacteria and environmental pollution, resulting in a greater inflammatory</a:t>
                </a:r>
                <a:br>
                  <a:rPr kumimoji="0" lang="en-US" sz="1400" b="0" i="0" u="none" strike="noStrike" kern="0" cap="none" spc="0" normalizeH="0" baseline="0" noProof="0" dirty="0">
                    <a:ln>
                      <a:noFill/>
                    </a:ln>
                    <a:solidFill>
                      <a:prstClr val="white"/>
                    </a:solidFill>
                    <a:effectLst/>
                    <a:uLnTx/>
                    <a:uFillTx/>
                    <a:latin typeface="Arial"/>
                    <a:ea typeface="+mn-ea"/>
                    <a:cs typeface="Noto Sans"/>
                  </a:rPr>
                </a:br>
                <a:r>
                  <a:rPr kumimoji="0" lang="en-US" sz="1400" b="0" i="0" u="none" strike="noStrike" kern="0" cap="none" spc="0" normalizeH="0" baseline="0" noProof="0" dirty="0">
                    <a:ln>
                      <a:noFill/>
                    </a:ln>
                    <a:solidFill>
                      <a:prstClr val="white"/>
                    </a:solidFill>
                    <a:effectLst/>
                    <a:uLnTx/>
                    <a:uFillTx/>
                    <a:latin typeface="Arial"/>
                    <a:ea typeface="+mn-ea"/>
                    <a:cs typeface="Noto Sans"/>
                  </a:rPr>
                  <a:t>response and an </a:t>
                </a:r>
                <a:r>
                  <a:rPr kumimoji="0" lang="en-US" sz="1400" b="1" i="0" u="none" strike="noStrike" kern="0" cap="none" spc="0" normalizeH="0" baseline="0" noProof="0" dirty="0">
                    <a:ln>
                      <a:noFill/>
                    </a:ln>
                    <a:solidFill>
                      <a:prstClr val="white"/>
                    </a:solidFill>
                    <a:effectLst/>
                    <a:uLnTx/>
                    <a:uFillTx/>
                    <a:latin typeface="Arial"/>
                    <a:ea typeface="+mn-ea"/>
                    <a:cs typeface="Noto Sans"/>
                  </a:rPr>
                  <a:t>acute worsening</a:t>
                </a:r>
                <a:r>
                  <a:rPr kumimoji="0" lang="en-US" sz="1400" b="0" i="0" u="none" strike="noStrike" kern="0" cap="none" spc="0" normalizeH="0" baseline="0" noProof="0" dirty="0">
                    <a:ln>
                      <a:noFill/>
                    </a:ln>
                    <a:solidFill>
                      <a:prstClr val="white"/>
                    </a:solidFill>
                    <a:effectLst/>
                    <a:uLnTx/>
                    <a:uFillTx/>
                    <a:latin typeface="Arial"/>
                    <a:ea typeface="+mn-ea"/>
                    <a:cs typeface="Noto Sans"/>
                  </a:rPr>
                  <a:t> of respiratory symptoms</a:t>
                </a:r>
                <a:r>
                  <a:rPr kumimoji="0" lang="en-US" sz="1400" b="0" i="0" u="none" strike="noStrike" kern="0" cap="none" spc="0" normalizeH="0" baseline="30000" noProof="0" dirty="0">
                    <a:ln>
                      <a:noFill/>
                    </a:ln>
                    <a:solidFill>
                      <a:prstClr val="white"/>
                    </a:solidFill>
                    <a:effectLst/>
                    <a:uLnTx/>
                    <a:uFillTx/>
                    <a:latin typeface="Arial"/>
                    <a:ea typeface="+mn-ea"/>
                    <a:cs typeface="Noto Sans"/>
                  </a:rPr>
                  <a:t>2</a:t>
                </a:r>
              </a:p>
            </p:txBody>
          </p:sp>
          <p:sp>
            <p:nvSpPr>
              <p:cNvPr id="35" name="object 23">
                <a:extLst>
                  <a:ext uri="{FF2B5EF4-FFF2-40B4-BE49-F238E27FC236}">
                    <a16:creationId xmlns:a16="http://schemas.microsoft.com/office/drawing/2014/main" id="{81CBC7D3-B8E7-2086-D345-C8939253A81F}"/>
                  </a:ext>
                </a:extLst>
              </p:cNvPr>
              <p:cNvSpPr/>
              <p:nvPr/>
            </p:nvSpPr>
            <p:spPr>
              <a:xfrm>
                <a:off x="345906" y="4601470"/>
                <a:ext cx="683260" cy="896112"/>
              </a:xfrm>
              <a:custGeom>
                <a:avLst/>
                <a:gdLst/>
                <a:ahLst/>
                <a:cxnLst/>
                <a:rect l="l" t="t" r="r" b="b"/>
                <a:pathLst>
                  <a:path w="683260" h="681354">
                    <a:moveTo>
                      <a:pt x="0" y="681228"/>
                    </a:moveTo>
                    <a:lnTo>
                      <a:pt x="682752" y="681228"/>
                    </a:lnTo>
                    <a:lnTo>
                      <a:pt x="682752" y="0"/>
                    </a:lnTo>
                    <a:lnTo>
                      <a:pt x="0" y="0"/>
                    </a:lnTo>
                    <a:lnTo>
                      <a:pt x="0" y="681228"/>
                    </a:lnTo>
                    <a:close/>
                  </a:path>
                </a:pathLst>
              </a:custGeom>
              <a:ln w="19050">
                <a:solidFill>
                  <a:schemeClr val="accent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sp>
            <p:nvSpPr>
              <p:cNvPr id="36" name="object 24">
                <a:extLst>
                  <a:ext uri="{FF2B5EF4-FFF2-40B4-BE49-F238E27FC236}">
                    <a16:creationId xmlns:a16="http://schemas.microsoft.com/office/drawing/2014/main" id="{408EF8AE-68D3-D5E9-A746-85E483C27D4A}"/>
                  </a:ext>
                </a:extLst>
              </p:cNvPr>
              <p:cNvSpPr/>
              <p:nvPr/>
            </p:nvSpPr>
            <p:spPr>
              <a:xfrm>
                <a:off x="441156" y="4820926"/>
                <a:ext cx="489584" cy="457200"/>
              </a:xfrm>
              <a:custGeom>
                <a:avLst/>
                <a:gdLst/>
                <a:ahLst/>
                <a:cxnLst/>
                <a:rect l="l" t="t" r="r" b="b"/>
                <a:pathLst>
                  <a:path w="489584" h="457200">
                    <a:moveTo>
                      <a:pt x="36410" y="150114"/>
                    </a:moveTo>
                    <a:lnTo>
                      <a:pt x="20472" y="150114"/>
                    </a:lnTo>
                    <a:lnTo>
                      <a:pt x="12478" y="151683"/>
                    </a:lnTo>
                    <a:lnTo>
                      <a:pt x="5973" y="155813"/>
                    </a:lnTo>
                    <a:lnTo>
                      <a:pt x="1600" y="161633"/>
                    </a:lnTo>
                    <a:lnTo>
                      <a:pt x="0" y="168275"/>
                    </a:lnTo>
                    <a:lnTo>
                      <a:pt x="0" y="436727"/>
                    </a:lnTo>
                    <a:lnTo>
                      <a:pt x="1600" y="444727"/>
                    </a:lnTo>
                    <a:lnTo>
                      <a:pt x="5973" y="451231"/>
                    </a:lnTo>
                    <a:lnTo>
                      <a:pt x="12478" y="455601"/>
                    </a:lnTo>
                    <a:lnTo>
                      <a:pt x="20472" y="457200"/>
                    </a:lnTo>
                    <a:lnTo>
                      <a:pt x="36410" y="457200"/>
                    </a:lnTo>
                    <a:lnTo>
                      <a:pt x="44404" y="455601"/>
                    </a:lnTo>
                    <a:lnTo>
                      <a:pt x="50909" y="451231"/>
                    </a:lnTo>
                    <a:lnTo>
                      <a:pt x="55282" y="444727"/>
                    </a:lnTo>
                    <a:lnTo>
                      <a:pt x="56883" y="436727"/>
                    </a:lnTo>
                    <a:lnTo>
                      <a:pt x="56883" y="393509"/>
                    </a:lnTo>
                    <a:lnTo>
                      <a:pt x="489204" y="393509"/>
                    </a:lnTo>
                    <a:lnTo>
                      <a:pt x="489204" y="329819"/>
                    </a:lnTo>
                    <a:lnTo>
                      <a:pt x="56883" y="329819"/>
                    </a:lnTo>
                    <a:lnTo>
                      <a:pt x="56883" y="313944"/>
                    </a:lnTo>
                    <a:lnTo>
                      <a:pt x="220713" y="313944"/>
                    </a:lnTo>
                    <a:lnTo>
                      <a:pt x="220713" y="288925"/>
                    </a:lnTo>
                    <a:lnTo>
                      <a:pt x="219347" y="282067"/>
                    </a:lnTo>
                    <a:lnTo>
                      <a:pt x="56883" y="282067"/>
                    </a:lnTo>
                    <a:lnTo>
                      <a:pt x="56883" y="168275"/>
                    </a:lnTo>
                    <a:lnTo>
                      <a:pt x="55282" y="161633"/>
                    </a:lnTo>
                    <a:lnTo>
                      <a:pt x="50909" y="155813"/>
                    </a:lnTo>
                    <a:lnTo>
                      <a:pt x="44404" y="151683"/>
                    </a:lnTo>
                    <a:lnTo>
                      <a:pt x="36410" y="150114"/>
                    </a:lnTo>
                    <a:close/>
                  </a:path>
                  <a:path w="489584" h="457200">
                    <a:moveTo>
                      <a:pt x="489204" y="395782"/>
                    </a:moveTo>
                    <a:lnTo>
                      <a:pt x="434593" y="395782"/>
                    </a:lnTo>
                    <a:lnTo>
                      <a:pt x="434593" y="436727"/>
                    </a:lnTo>
                    <a:lnTo>
                      <a:pt x="435839" y="444727"/>
                    </a:lnTo>
                    <a:lnTo>
                      <a:pt x="439431" y="451231"/>
                    </a:lnTo>
                    <a:lnTo>
                      <a:pt x="445154" y="455601"/>
                    </a:lnTo>
                    <a:lnTo>
                      <a:pt x="452793" y="457200"/>
                    </a:lnTo>
                    <a:lnTo>
                      <a:pt x="471004" y="457200"/>
                    </a:lnTo>
                    <a:lnTo>
                      <a:pt x="477684" y="455601"/>
                    </a:lnTo>
                    <a:lnTo>
                      <a:pt x="483514" y="451231"/>
                    </a:lnTo>
                    <a:lnTo>
                      <a:pt x="487639" y="444727"/>
                    </a:lnTo>
                    <a:lnTo>
                      <a:pt x="489204" y="436727"/>
                    </a:lnTo>
                    <a:lnTo>
                      <a:pt x="489204" y="395782"/>
                    </a:lnTo>
                    <a:close/>
                  </a:path>
                  <a:path w="489584" h="457200">
                    <a:moveTo>
                      <a:pt x="489204" y="393509"/>
                    </a:moveTo>
                    <a:lnTo>
                      <a:pt x="56883" y="393509"/>
                    </a:lnTo>
                    <a:lnTo>
                      <a:pt x="59156" y="398056"/>
                    </a:lnTo>
                    <a:lnTo>
                      <a:pt x="430047" y="398056"/>
                    </a:lnTo>
                    <a:lnTo>
                      <a:pt x="434593" y="395782"/>
                    </a:lnTo>
                    <a:lnTo>
                      <a:pt x="489204" y="395782"/>
                    </a:lnTo>
                    <a:lnTo>
                      <a:pt x="489204" y="393509"/>
                    </a:lnTo>
                    <a:close/>
                  </a:path>
                  <a:path w="489584" h="457200">
                    <a:moveTo>
                      <a:pt x="430047" y="325247"/>
                    </a:moveTo>
                    <a:lnTo>
                      <a:pt x="63715" y="325247"/>
                    </a:lnTo>
                    <a:lnTo>
                      <a:pt x="59156" y="327533"/>
                    </a:lnTo>
                    <a:lnTo>
                      <a:pt x="56883" y="329819"/>
                    </a:lnTo>
                    <a:lnTo>
                      <a:pt x="489204" y="329819"/>
                    </a:lnTo>
                    <a:lnTo>
                      <a:pt x="489204" y="327533"/>
                    </a:lnTo>
                    <a:lnTo>
                      <a:pt x="434593" y="327533"/>
                    </a:lnTo>
                    <a:lnTo>
                      <a:pt x="430047" y="325247"/>
                    </a:lnTo>
                    <a:close/>
                  </a:path>
                  <a:path w="489584" h="457200">
                    <a:moveTo>
                      <a:pt x="471004" y="241173"/>
                    </a:moveTo>
                    <a:lnTo>
                      <a:pt x="452793" y="241173"/>
                    </a:lnTo>
                    <a:lnTo>
                      <a:pt x="445154" y="242760"/>
                    </a:lnTo>
                    <a:lnTo>
                      <a:pt x="439431" y="247110"/>
                    </a:lnTo>
                    <a:lnTo>
                      <a:pt x="435839" y="253603"/>
                    </a:lnTo>
                    <a:lnTo>
                      <a:pt x="434593" y="261620"/>
                    </a:lnTo>
                    <a:lnTo>
                      <a:pt x="434593" y="327533"/>
                    </a:lnTo>
                    <a:lnTo>
                      <a:pt x="489204" y="327533"/>
                    </a:lnTo>
                    <a:lnTo>
                      <a:pt x="489204" y="261620"/>
                    </a:lnTo>
                    <a:lnTo>
                      <a:pt x="487639" y="253603"/>
                    </a:lnTo>
                    <a:lnTo>
                      <a:pt x="483514" y="247110"/>
                    </a:lnTo>
                    <a:lnTo>
                      <a:pt x="477684" y="242760"/>
                    </a:lnTo>
                    <a:lnTo>
                      <a:pt x="471004" y="241173"/>
                    </a:lnTo>
                    <a:close/>
                  </a:path>
                  <a:path w="489584" h="457200">
                    <a:moveTo>
                      <a:pt x="220713" y="313944"/>
                    </a:moveTo>
                    <a:lnTo>
                      <a:pt x="56883" y="313944"/>
                    </a:lnTo>
                    <a:lnTo>
                      <a:pt x="56883" y="318389"/>
                    </a:lnTo>
                    <a:lnTo>
                      <a:pt x="61429" y="322961"/>
                    </a:lnTo>
                    <a:lnTo>
                      <a:pt x="65989" y="325247"/>
                    </a:lnTo>
                    <a:lnTo>
                      <a:pt x="209334" y="325247"/>
                    </a:lnTo>
                    <a:lnTo>
                      <a:pt x="216153" y="320675"/>
                    </a:lnTo>
                    <a:lnTo>
                      <a:pt x="220713" y="313944"/>
                    </a:lnTo>
                    <a:close/>
                  </a:path>
                  <a:path w="489584" h="457200">
                    <a:moveTo>
                      <a:pt x="200228" y="268350"/>
                    </a:moveTo>
                    <a:lnTo>
                      <a:pt x="65989" y="268350"/>
                    </a:lnTo>
                    <a:lnTo>
                      <a:pt x="59156" y="275209"/>
                    </a:lnTo>
                    <a:lnTo>
                      <a:pt x="56883" y="282067"/>
                    </a:lnTo>
                    <a:lnTo>
                      <a:pt x="219347" y="282067"/>
                    </a:lnTo>
                    <a:lnTo>
                      <a:pt x="219112" y="280888"/>
                    </a:lnTo>
                    <a:lnTo>
                      <a:pt x="214737" y="274351"/>
                    </a:lnTo>
                    <a:lnTo>
                      <a:pt x="208229" y="269958"/>
                    </a:lnTo>
                    <a:lnTo>
                      <a:pt x="200228" y="268350"/>
                    </a:lnTo>
                    <a:close/>
                  </a:path>
                  <a:path w="489584" h="457200">
                    <a:moveTo>
                      <a:pt x="277596" y="118237"/>
                    </a:moveTo>
                    <a:lnTo>
                      <a:pt x="211607" y="118237"/>
                    </a:lnTo>
                    <a:lnTo>
                      <a:pt x="211607" y="170561"/>
                    </a:lnTo>
                    <a:lnTo>
                      <a:pt x="277596" y="170561"/>
                    </a:lnTo>
                    <a:lnTo>
                      <a:pt x="277596" y="118237"/>
                    </a:lnTo>
                    <a:close/>
                  </a:path>
                  <a:path w="489584" h="457200">
                    <a:moveTo>
                      <a:pt x="329933" y="52324"/>
                    </a:moveTo>
                    <a:lnTo>
                      <a:pt x="159270" y="52324"/>
                    </a:lnTo>
                    <a:lnTo>
                      <a:pt x="159270" y="118237"/>
                    </a:lnTo>
                    <a:lnTo>
                      <a:pt x="329933" y="118237"/>
                    </a:lnTo>
                    <a:lnTo>
                      <a:pt x="329933" y="52324"/>
                    </a:lnTo>
                    <a:close/>
                  </a:path>
                  <a:path w="489584" h="457200">
                    <a:moveTo>
                      <a:pt x="277596" y="0"/>
                    </a:moveTo>
                    <a:lnTo>
                      <a:pt x="211607" y="0"/>
                    </a:lnTo>
                    <a:lnTo>
                      <a:pt x="211607" y="52324"/>
                    </a:lnTo>
                    <a:lnTo>
                      <a:pt x="277596" y="52324"/>
                    </a:lnTo>
                    <a:lnTo>
                      <a:pt x="277596" y="0"/>
                    </a:lnTo>
                    <a:close/>
                  </a:path>
                </a:pathLst>
              </a:custGeom>
              <a:solidFill>
                <a:schemeClr val="accent6"/>
              </a:solidFill>
              <a:ln>
                <a:solidFill>
                  <a:schemeClr val="accent6"/>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grpSp>
          <p:nvGrpSpPr>
            <p:cNvPr id="18" name="Group 17">
              <a:extLst>
                <a:ext uri="{FF2B5EF4-FFF2-40B4-BE49-F238E27FC236}">
                  <a16:creationId xmlns:a16="http://schemas.microsoft.com/office/drawing/2014/main" id="{649DA543-3DFA-DCA0-55C9-CC43CA783BE6}"/>
                </a:ext>
              </a:extLst>
            </p:cNvPr>
            <p:cNvGrpSpPr/>
            <p:nvPr/>
          </p:nvGrpSpPr>
          <p:grpSpPr>
            <a:xfrm>
              <a:off x="345906" y="1440762"/>
              <a:ext cx="11455052" cy="895051"/>
              <a:chOff x="345906" y="1440762"/>
              <a:chExt cx="11455052" cy="895051"/>
            </a:xfrm>
          </p:grpSpPr>
          <p:sp>
            <p:nvSpPr>
              <p:cNvPr id="31" name="object 5">
                <a:extLst>
                  <a:ext uri="{FF2B5EF4-FFF2-40B4-BE49-F238E27FC236}">
                    <a16:creationId xmlns:a16="http://schemas.microsoft.com/office/drawing/2014/main" id="{00544D73-3451-6DC8-5EA5-B5DA068562FF}"/>
                  </a:ext>
                </a:extLst>
              </p:cNvPr>
              <p:cNvSpPr txBox="1">
                <a:spLocks/>
              </p:cNvSpPr>
              <p:nvPr/>
            </p:nvSpPr>
            <p:spPr>
              <a:xfrm>
                <a:off x="1116289" y="1440762"/>
                <a:ext cx="10684669" cy="895051"/>
              </a:xfrm>
              <a:prstGeom prst="rect">
                <a:avLst/>
              </a:prstGeom>
              <a:solidFill>
                <a:srgbClr val="F36633"/>
              </a:solidFill>
              <a:ln w="19050">
                <a:noFill/>
              </a:ln>
            </p:spPr>
            <p:txBody>
              <a:bodyPr vert="horz" wrap="square" lIns="91440" tIns="91440" rIns="91440" bIns="91440" rtlCol="0" anchor="ctr">
                <a:noAutofit/>
              </a:bodyPr>
              <a:lstStyle/>
              <a:p>
                <a:pPr marL="7239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0" cap="none" spc="-10" normalizeH="0" baseline="0" noProof="0" dirty="0">
                    <a:ln>
                      <a:noFill/>
                    </a:ln>
                    <a:solidFill>
                      <a:prstClr val="white"/>
                    </a:solidFill>
                    <a:effectLst/>
                    <a:uLnTx/>
                    <a:uFillTx/>
                    <a:latin typeface="Arial"/>
                    <a:ea typeface="+mn-ea"/>
                    <a:cs typeface="Arial"/>
                  </a:rPr>
                  <a:t>COPD develops in patients as a result of changes in </a:t>
                </a:r>
                <a:r>
                  <a:rPr kumimoji="0" lang="en-US" sz="1400" b="1" i="0" u="none" strike="noStrike" kern="0" cap="none" spc="-10" normalizeH="0" baseline="0" noProof="0" dirty="0">
                    <a:ln>
                      <a:noFill/>
                    </a:ln>
                    <a:solidFill>
                      <a:prstClr val="white"/>
                    </a:solidFill>
                    <a:effectLst/>
                    <a:uLnTx/>
                    <a:uFillTx/>
                    <a:latin typeface="Arial"/>
                    <a:ea typeface="+mn-ea"/>
                    <a:cs typeface="Arial"/>
                  </a:rPr>
                  <a:t>multiple mechanisms</a:t>
                </a:r>
                <a:r>
                  <a:rPr kumimoji="0" lang="en-US" sz="1400" b="0" i="0" u="none" strike="noStrike" kern="0" cap="none" spc="-10" normalizeH="0" baseline="0" noProof="0" dirty="0">
                    <a:ln>
                      <a:noFill/>
                    </a:ln>
                    <a:solidFill>
                      <a:prstClr val="white"/>
                    </a:solidFill>
                    <a:effectLst/>
                    <a:uLnTx/>
                    <a:uFillTx/>
                    <a:latin typeface="Arial"/>
                    <a:ea typeface="+mn-ea"/>
                    <a:cs typeface="Arial"/>
                  </a:rPr>
                  <a:t> (e.g., increased airway inflammation, protease/antiprotease imbalance, oxidative stress) that work together, resulting in the physiological abnormalities associated with COPD</a:t>
                </a:r>
                <a:r>
                  <a:rPr kumimoji="0" lang="en-US" sz="1400" b="0" i="0" u="none" strike="noStrike" kern="0" cap="none" spc="-10" normalizeH="0" baseline="30000" noProof="0" dirty="0">
                    <a:ln>
                      <a:noFill/>
                    </a:ln>
                    <a:solidFill>
                      <a:prstClr val="white"/>
                    </a:solidFill>
                    <a:effectLst/>
                    <a:uLnTx/>
                    <a:uFillTx/>
                    <a:latin typeface="Arial"/>
                    <a:ea typeface="+mn-ea"/>
                    <a:cs typeface="Arial"/>
                  </a:rPr>
                  <a:t>1,2</a:t>
                </a:r>
              </a:p>
            </p:txBody>
          </p:sp>
          <p:sp>
            <p:nvSpPr>
              <p:cNvPr id="32" name="object 7">
                <a:extLst>
                  <a:ext uri="{FF2B5EF4-FFF2-40B4-BE49-F238E27FC236}">
                    <a16:creationId xmlns:a16="http://schemas.microsoft.com/office/drawing/2014/main" id="{12B1FF7B-7FC0-AA86-7B6B-6D1A492EF3F9}"/>
                  </a:ext>
                </a:extLst>
              </p:cNvPr>
              <p:cNvSpPr>
                <a:spLocks/>
              </p:cNvSpPr>
              <p:nvPr/>
            </p:nvSpPr>
            <p:spPr>
              <a:xfrm>
                <a:off x="345906" y="1440762"/>
                <a:ext cx="680085" cy="895051"/>
              </a:xfrm>
              <a:custGeom>
                <a:avLst/>
                <a:gdLst/>
                <a:ahLst/>
                <a:cxnLst/>
                <a:rect l="l" t="t" r="r" b="b"/>
                <a:pathLst>
                  <a:path w="680085" h="672464">
                    <a:moveTo>
                      <a:pt x="0" y="672084"/>
                    </a:moveTo>
                    <a:lnTo>
                      <a:pt x="679704" y="672084"/>
                    </a:lnTo>
                    <a:lnTo>
                      <a:pt x="679704" y="0"/>
                    </a:lnTo>
                    <a:lnTo>
                      <a:pt x="0" y="0"/>
                    </a:lnTo>
                    <a:lnTo>
                      <a:pt x="0" y="672084"/>
                    </a:lnTo>
                    <a:close/>
                  </a:path>
                </a:pathLst>
              </a:custGeom>
              <a:ln w="19050">
                <a:solidFill>
                  <a:srgbClr val="F36633"/>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sp>
            <p:nvSpPr>
              <p:cNvPr id="33" name="object 17">
                <a:extLst>
                  <a:ext uri="{FF2B5EF4-FFF2-40B4-BE49-F238E27FC236}">
                    <a16:creationId xmlns:a16="http://schemas.microsoft.com/office/drawing/2014/main" id="{8485E090-3589-471E-7A15-96B351763833}"/>
                  </a:ext>
                </a:extLst>
              </p:cNvPr>
              <p:cNvSpPr>
                <a:spLocks/>
              </p:cNvSpPr>
              <p:nvPr/>
            </p:nvSpPr>
            <p:spPr>
              <a:xfrm>
                <a:off x="446553" y="1650480"/>
                <a:ext cx="478790" cy="475615"/>
              </a:xfrm>
              <a:custGeom>
                <a:avLst/>
                <a:gdLst/>
                <a:ahLst/>
                <a:cxnLst/>
                <a:rect l="l" t="t" r="r" b="b"/>
                <a:pathLst>
                  <a:path w="1002030" h="992504">
                    <a:moveTo>
                      <a:pt x="530239" y="0"/>
                    </a:moveTo>
                    <a:lnTo>
                      <a:pt x="457621" y="0"/>
                    </a:lnTo>
                    <a:lnTo>
                      <a:pt x="453087" y="4699"/>
                    </a:lnTo>
                    <a:lnTo>
                      <a:pt x="453087" y="365506"/>
                    </a:lnTo>
                    <a:lnTo>
                      <a:pt x="398629" y="413004"/>
                    </a:lnTo>
                    <a:lnTo>
                      <a:pt x="398629" y="403479"/>
                    </a:lnTo>
                    <a:lnTo>
                      <a:pt x="394095" y="393954"/>
                    </a:lnTo>
                    <a:lnTo>
                      <a:pt x="394095" y="389255"/>
                    </a:lnTo>
                    <a:lnTo>
                      <a:pt x="387357" y="346914"/>
                    </a:lnTo>
                    <a:lnTo>
                      <a:pt x="377643" y="303228"/>
                    </a:lnTo>
                    <a:lnTo>
                      <a:pt x="360270" y="265757"/>
                    </a:lnTo>
                    <a:lnTo>
                      <a:pt x="294248" y="237363"/>
                    </a:lnTo>
                    <a:lnTo>
                      <a:pt x="244161" y="244851"/>
                    </a:lnTo>
                    <a:lnTo>
                      <a:pt x="202141" y="265651"/>
                    </a:lnTo>
                    <a:lnTo>
                      <a:pt x="167181" y="297259"/>
                    </a:lnTo>
                    <a:lnTo>
                      <a:pt x="138273" y="337175"/>
                    </a:lnTo>
                    <a:lnTo>
                      <a:pt x="114408" y="382898"/>
                    </a:lnTo>
                    <a:lnTo>
                      <a:pt x="94579" y="431927"/>
                    </a:lnTo>
                    <a:lnTo>
                      <a:pt x="77167" y="478762"/>
                    </a:lnTo>
                    <a:lnTo>
                      <a:pt x="60311" y="525763"/>
                    </a:lnTo>
                    <a:lnTo>
                      <a:pt x="44566" y="573092"/>
                    </a:lnTo>
                    <a:lnTo>
                      <a:pt x="30488" y="620914"/>
                    </a:lnTo>
                    <a:lnTo>
                      <a:pt x="18633" y="669394"/>
                    </a:lnTo>
                    <a:lnTo>
                      <a:pt x="9555" y="718696"/>
                    </a:lnTo>
                    <a:lnTo>
                      <a:pt x="3812" y="768985"/>
                    </a:lnTo>
                    <a:lnTo>
                      <a:pt x="556" y="814255"/>
                    </a:lnTo>
                    <a:lnTo>
                      <a:pt x="0" y="858931"/>
                    </a:lnTo>
                    <a:lnTo>
                      <a:pt x="4286" y="900689"/>
                    </a:lnTo>
                    <a:lnTo>
                      <a:pt x="15559" y="937210"/>
                    </a:lnTo>
                    <a:lnTo>
                      <a:pt x="35962" y="966170"/>
                    </a:lnTo>
                    <a:lnTo>
                      <a:pt x="67637" y="985248"/>
                    </a:lnTo>
                    <a:lnTo>
                      <a:pt x="112727" y="992124"/>
                    </a:lnTo>
                    <a:lnTo>
                      <a:pt x="161484" y="983884"/>
                    </a:lnTo>
                    <a:lnTo>
                      <a:pt x="205450" y="962660"/>
                    </a:lnTo>
                    <a:lnTo>
                      <a:pt x="246367" y="933693"/>
                    </a:lnTo>
                    <a:lnTo>
                      <a:pt x="285978" y="902228"/>
                    </a:lnTo>
                    <a:lnTo>
                      <a:pt x="326023" y="873506"/>
                    </a:lnTo>
                    <a:lnTo>
                      <a:pt x="358781" y="850328"/>
                    </a:lnTo>
                    <a:lnTo>
                      <a:pt x="408984" y="798639"/>
                    </a:lnTo>
                    <a:lnTo>
                      <a:pt x="421324" y="759460"/>
                    </a:lnTo>
                    <a:lnTo>
                      <a:pt x="425079" y="711753"/>
                    </a:lnTo>
                    <a:lnTo>
                      <a:pt x="424156" y="662225"/>
                    </a:lnTo>
                    <a:lnTo>
                      <a:pt x="420681" y="612673"/>
                    </a:lnTo>
                    <a:lnTo>
                      <a:pt x="416778" y="564896"/>
                    </a:lnTo>
                    <a:lnTo>
                      <a:pt x="416707" y="547838"/>
                    </a:lnTo>
                    <a:lnTo>
                      <a:pt x="416211" y="531685"/>
                    </a:lnTo>
                    <a:lnTo>
                      <a:pt x="414865" y="515532"/>
                    </a:lnTo>
                    <a:lnTo>
                      <a:pt x="412244" y="498475"/>
                    </a:lnTo>
                    <a:lnTo>
                      <a:pt x="493930" y="436753"/>
                    </a:lnTo>
                    <a:lnTo>
                      <a:pt x="584697" y="507873"/>
                    </a:lnTo>
                    <a:lnTo>
                      <a:pt x="584697" y="564896"/>
                    </a:lnTo>
                    <a:lnTo>
                      <a:pt x="580793" y="612673"/>
                    </a:lnTo>
                    <a:lnTo>
                      <a:pt x="577318" y="662225"/>
                    </a:lnTo>
                    <a:lnTo>
                      <a:pt x="576396" y="711753"/>
                    </a:lnTo>
                    <a:lnTo>
                      <a:pt x="580150" y="759460"/>
                    </a:lnTo>
                    <a:lnTo>
                      <a:pt x="592491" y="798639"/>
                    </a:lnTo>
                    <a:lnTo>
                      <a:pt x="642694" y="850328"/>
                    </a:lnTo>
                    <a:lnTo>
                      <a:pt x="675451" y="873506"/>
                    </a:lnTo>
                    <a:lnTo>
                      <a:pt x="715496" y="902228"/>
                    </a:lnTo>
                    <a:lnTo>
                      <a:pt x="755106" y="933693"/>
                    </a:lnTo>
                    <a:lnTo>
                      <a:pt x="796020" y="962660"/>
                    </a:lnTo>
                    <a:lnTo>
                      <a:pt x="839978" y="983884"/>
                    </a:lnTo>
                    <a:lnTo>
                      <a:pt x="888722" y="992124"/>
                    </a:lnTo>
                    <a:lnTo>
                      <a:pt x="933820" y="985248"/>
                    </a:lnTo>
                    <a:lnTo>
                      <a:pt x="965498" y="966170"/>
                    </a:lnTo>
                    <a:lnTo>
                      <a:pt x="985901" y="937210"/>
                    </a:lnTo>
                    <a:lnTo>
                      <a:pt x="997175" y="900689"/>
                    </a:lnTo>
                    <a:lnTo>
                      <a:pt x="1001467" y="858931"/>
                    </a:lnTo>
                    <a:lnTo>
                      <a:pt x="1000923" y="814255"/>
                    </a:lnTo>
                    <a:lnTo>
                      <a:pt x="997688" y="768985"/>
                    </a:lnTo>
                    <a:lnTo>
                      <a:pt x="991925" y="718696"/>
                    </a:lnTo>
                    <a:lnTo>
                      <a:pt x="982841" y="669394"/>
                    </a:lnTo>
                    <a:lnTo>
                      <a:pt x="970986" y="620914"/>
                    </a:lnTo>
                    <a:lnTo>
                      <a:pt x="956912" y="573092"/>
                    </a:lnTo>
                    <a:lnTo>
                      <a:pt x="941170" y="525763"/>
                    </a:lnTo>
                    <a:lnTo>
                      <a:pt x="924310" y="478762"/>
                    </a:lnTo>
                    <a:lnTo>
                      <a:pt x="906883" y="431927"/>
                    </a:lnTo>
                    <a:lnTo>
                      <a:pt x="887041" y="382898"/>
                    </a:lnTo>
                    <a:lnTo>
                      <a:pt x="863167" y="337175"/>
                    </a:lnTo>
                    <a:lnTo>
                      <a:pt x="834254" y="297259"/>
                    </a:lnTo>
                    <a:lnTo>
                      <a:pt x="799297" y="265651"/>
                    </a:lnTo>
                    <a:lnTo>
                      <a:pt x="757289" y="244851"/>
                    </a:lnTo>
                    <a:lnTo>
                      <a:pt x="707227" y="237363"/>
                    </a:lnTo>
                    <a:lnTo>
                      <a:pt x="670917" y="242062"/>
                    </a:lnTo>
                    <a:lnTo>
                      <a:pt x="641205" y="265757"/>
                    </a:lnTo>
                    <a:lnTo>
                      <a:pt x="623832" y="303228"/>
                    </a:lnTo>
                    <a:lnTo>
                      <a:pt x="614117" y="346914"/>
                    </a:lnTo>
                    <a:lnTo>
                      <a:pt x="607379" y="389255"/>
                    </a:lnTo>
                    <a:lnTo>
                      <a:pt x="604758" y="396396"/>
                    </a:lnTo>
                    <a:lnTo>
                      <a:pt x="603412" y="403526"/>
                    </a:lnTo>
                    <a:lnTo>
                      <a:pt x="602916" y="410632"/>
                    </a:lnTo>
                    <a:lnTo>
                      <a:pt x="602845" y="417703"/>
                    </a:lnTo>
                    <a:lnTo>
                      <a:pt x="534773" y="365506"/>
                    </a:lnTo>
                    <a:lnTo>
                      <a:pt x="534773" y="4699"/>
                    </a:lnTo>
                    <a:lnTo>
                      <a:pt x="530239" y="0"/>
                    </a:lnTo>
                    <a:close/>
                  </a:path>
                </a:pathLst>
              </a:custGeom>
              <a:solidFill>
                <a:srgbClr val="F36633"/>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0" cap="none" spc="0" normalizeH="0" baseline="0" noProof="0" dirty="0">
                  <a:ln>
                    <a:noFill/>
                  </a:ln>
                  <a:solidFill>
                    <a:srgbClr val="F36633"/>
                  </a:solidFill>
                  <a:effectLst/>
                  <a:uLnTx/>
                  <a:uFillTx/>
                  <a:latin typeface="Arial"/>
                  <a:ea typeface="+mn-ea"/>
                  <a:cs typeface="Noto Sans"/>
                </a:endParaRPr>
              </a:p>
            </p:txBody>
          </p:sp>
        </p:grpSp>
      </p:grpSp>
      <p:sp>
        <p:nvSpPr>
          <p:cNvPr id="45" name="Text Placeholder 10">
            <a:extLst>
              <a:ext uri="{FF2B5EF4-FFF2-40B4-BE49-F238E27FC236}">
                <a16:creationId xmlns:a16="http://schemas.microsoft.com/office/drawing/2014/main" id="{F80CEF18-1F89-1454-A981-F0A392B46F3B}"/>
              </a:ext>
            </a:extLst>
          </p:cNvPr>
          <p:cNvSpPr txBox="1">
            <a:spLocks/>
          </p:cNvSpPr>
          <p:nvPr/>
        </p:nvSpPr>
        <p:spPr>
          <a:xfrm>
            <a:off x="363233" y="5792417"/>
            <a:ext cx="11460164" cy="298800"/>
          </a:xfrm>
          <a:prstGeom prst="rect">
            <a:avLst/>
          </a:prstGeom>
        </p:spPr>
        <p:txBody>
          <a:bodyPr vert="horz" lIns="0" tIns="0" rIns="0" bIns="0" rtlCol="0" anchor="b">
            <a:noAutofit/>
          </a:bodyPr>
          <a:lstStyle>
            <a:lvl1pPr marL="0" indent="0" algn="l" defTabSz="1219170" rtl="0" eaLnBrk="1" latinLnBrk="0" hangingPunct="1">
              <a:spcBef>
                <a:spcPts val="300"/>
              </a:spcBef>
              <a:spcAft>
                <a:spcPts val="300"/>
              </a:spcAft>
              <a:buClr>
                <a:schemeClr val="tx2"/>
              </a:buClr>
              <a:buSzPct val="110000"/>
              <a:buFont typeface="Arial" panose="020B0604020202020204" pitchFamily="34" charset="0"/>
              <a:buNone/>
              <a:defRPr sz="12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COPD, chronic obstructive pulmonary disease.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1. MacNee W;Clinical Respiratory Medicine;2012;4;531-552; 2. </a:t>
            </a:r>
            <a:r>
              <a:rPr kumimoji="0" lang="en-GB"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Disease;GOLD;2023;1-205. Available at: https://goldcopd.org/2023-gold-report-2/. Accessed February 2023.</a:t>
            </a: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Rectangle 22">
            <a:extLst>
              <a:ext uri="{FF2B5EF4-FFF2-40B4-BE49-F238E27FC236}">
                <a16:creationId xmlns:a16="http://schemas.microsoft.com/office/drawing/2014/main" id="{DA6FEC53-7AE5-9733-747B-9E964104945B}"/>
              </a:ext>
            </a:extLst>
          </p:cNvPr>
          <p:cNvSpPr/>
          <p:nvPr/>
        </p:nvSpPr>
        <p:spPr bwMode="auto">
          <a:xfrm>
            <a:off x="4707732" y="6582472"/>
            <a:ext cx="2776537" cy="269875"/>
          </a:xfrm>
          <a:prstGeom prst="rect">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900" b="1" i="0" u="none" strike="noStrike" kern="0" cap="none" spc="0" normalizeH="0" baseline="0" noProof="0" dirty="0">
                <a:ln>
                  <a:noFill/>
                </a:ln>
                <a:solidFill>
                  <a:srgbClr val="000000"/>
                </a:solidFill>
                <a:effectLst/>
                <a:uLnTx/>
                <a:uFillTx/>
                <a:latin typeface="Arial"/>
                <a:ea typeface="+mn-ea"/>
                <a:cs typeface="Noto Sans"/>
              </a:rPr>
              <a:t>FOR GSK INTERNAL USE ONLY</a:t>
            </a:r>
            <a:endParaRPr kumimoji="0" lang="en-GB" sz="900" b="1" i="0" u="none" strike="noStrike" kern="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3434259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0C160F7-6B98-519A-D720-7D3BF3CA6AD3}"/>
              </a:ext>
            </a:extLst>
          </p:cNvPr>
          <p:cNvSpPr>
            <a:spLocks noGrp="1"/>
          </p:cNvSpPr>
          <p:nvPr>
            <p:ph type="title"/>
          </p:nvPr>
        </p:nvSpPr>
        <p:spPr/>
        <p:txBody>
          <a:bodyPr/>
          <a:lstStyle/>
          <a:p>
            <a:r>
              <a:rPr lang="en-GB" dirty="0"/>
              <a:t>COPD diagnosis and assessment</a:t>
            </a:r>
          </a:p>
        </p:txBody>
      </p:sp>
      <p:sp>
        <p:nvSpPr>
          <p:cNvPr id="8" name="Subtitle 7">
            <a:extLst>
              <a:ext uri="{FF2B5EF4-FFF2-40B4-BE49-F238E27FC236}">
                <a16:creationId xmlns:a16="http://schemas.microsoft.com/office/drawing/2014/main" id="{E488168E-0CCE-0E5C-FC27-DDF789017205}"/>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7559183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EBE4026-4D97-436E-ACFD-97631AFFDEAB}"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*Dyspnea that is progressive over time, worse with exercise or persistent. </a:t>
            </a:r>
            <a:r>
              <a:rPr lang="en-US" baseline="30000" dirty="0"/>
              <a:t>†</a:t>
            </a:r>
            <a:r>
              <a:rPr lang="en-US" dirty="0"/>
              <a:t>May be intermittent and unproductive. </a:t>
            </a:r>
            <a:r>
              <a:rPr lang="en-US" baseline="30000" dirty="0"/>
              <a:t>‡</a:t>
            </a:r>
            <a:r>
              <a:rPr lang="en-US" dirty="0"/>
              <a:t>Includes genetic factors, developmental abnormalities, low birthweight, prematurity and childhood respiratory infections.  </a:t>
            </a:r>
          </a:p>
          <a:p>
            <a:r>
              <a:rPr lang="en-US" dirty="0"/>
              <a:t>ABG, arterial blood gas; CT, </a:t>
            </a:r>
            <a:r>
              <a:rPr lang="en-US" dirty="0" err="1"/>
              <a:t>computerised</a:t>
            </a:r>
            <a:r>
              <a:rPr lang="en-US" dirty="0"/>
              <a:t> tomography; FEV</a:t>
            </a:r>
            <a:r>
              <a:rPr lang="en-US" baseline="-25000" dirty="0"/>
              <a:t>1</a:t>
            </a:r>
            <a:r>
              <a:rPr lang="en-US" dirty="0"/>
              <a:t>, forced expiratory volume in 1 second; FVC, forced vital capacity </a:t>
            </a:r>
          </a:p>
          <a:p>
            <a:r>
              <a:rPr lang="en-US" dirty="0"/>
              <a:t>Global Initiative for Chronic Obstructive Lung Disease. 2023 GOLD Report. </a:t>
            </a:r>
            <a:r>
              <a:rPr lang="en-US" dirty="0">
                <a:solidFill>
                  <a:schemeClr val="tx2"/>
                </a:solidFill>
                <a:hlinkClick r:id="rId3"/>
              </a:rPr>
              <a:t>https://goldcopd.org/wp-content/uploads/2023/01/GOLD-2023-ver-1.2-7Jan2023_WMV.pdf</a:t>
            </a:r>
            <a:r>
              <a:rPr lang="en-US" dirty="0"/>
              <a:t>. Accessed February 15, 2023.</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GB" dirty="0"/>
              <a:t>Diagnosis of COPD</a:t>
            </a:r>
          </a:p>
        </p:txBody>
      </p:sp>
      <p:sp>
        <p:nvSpPr>
          <p:cNvPr id="19" name="object 6">
            <a:extLst>
              <a:ext uri="{FF2B5EF4-FFF2-40B4-BE49-F238E27FC236}">
                <a16:creationId xmlns:a16="http://schemas.microsoft.com/office/drawing/2014/main" id="{C4833C0E-0946-C1F2-1E27-B0DE84F18570}"/>
              </a:ext>
            </a:extLst>
          </p:cNvPr>
          <p:cNvSpPr txBox="1"/>
          <p:nvPr/>
        </p:nvSpPr>
        <p:spPr>
          <a:xfrm>
            <a:off x="367284" y="1128680"/>
            <a:ext cx="11457432" cy="470864"/>
          </a:xfrm>
          <a:prstGeom prst="rect">
            <a:avLst/>
          </a:prstGeom>
          <a:solidFill>
            <a:schemeClr val="bg2">
              <a:lumMod val="20000"/>
              <a:lumOff val="80000"/>
            </a:schemeClr>
          </a:solidFill>
        </p:spPr>
        <p:txBody>
          <a:bodyPr vert="horz" wrap="square" lIns="182880" tIns="0" rIns="0" bIns="0" rtlCol="0" anchor="ctr" anchorCtr="0">
            <a:noAutofit/>
          </a:bodyPr>
          <a:lstStyle/>
          <a:p>
            <a:pPr marL="0" marR="349885"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36633"/>
                </a:solidFill>
                <a:effectLst/>
                <a:uLnTx/>
                <a:uFillTx/>
                <a:latin typeface="Arial"/>
                <a:ea typeface="+mn-ea"/>
                <a:cs typeface="Arial"/>
              </a:rPr>
              <a:t>“</a:t>
            </a:r>
            <a:r>
              <a:rPr kumimoji="0" lang="en-IN" sz="1100" b="1" i="0" u="none" strike="noStrike" kern="1200" cap="none" spc="0" normalizeH="0" baseline="0" noProof="0" dirty="0">
                <a:ln>
                  <a:noFill/>
                </a:ln>
                <a:solidFill>
                  <a:srgbClr val="F36633"/>
                </a:solidFill>
                <a:effectLst/>
                <a:uLnTx/>
                <a:uFillTx/>
                <a:latin typeface="Arial"/>
                <a:ea typeface="+mn-ea"/>
                <a:cs typeface="Arial"/>
              </a:rPr>
              <a:t>A diagnosis of COPD should be considered in any patient who has </a:t>
            </a:r>
            <a:r>
              <a:rPr kumimoji="0" lang="en-US" sz="1100" b="1" i="0" u="none" strike="noStrike" kern="1200" cap="none" spc="0" normalizeH="0" baseline="0" noProof="0" dirty="0">
                <a:ln>
                  <a:noFill/>
                </a:ln>
                <a:solidFill>
                  <a:srgbClr val="F36633"/>
                </a:solidFill>
                <a:effectLst/>
                <a:uLnTx/>
                <a:uFillTx/>
                <a:latin typeface="Arial"/>
                <a:ea typeface="+mn-ea"/>
                <a:cs typeface="Arial"/>
              </a:rPr>
              <a:t>dyspnea</a:t>
            </a:r>
            <a:r>
              <a:rPr kumimoji="0" lang="en-IN" sz="1100" b="1" i="0" u="none" strike="noStrike" kern="1200" cap="none" spc="0" normalizeH="0" baseline="0" noProof="0" dirty="0">
                <a:ln>
                  <a:noFill/>
                </a:ln>
                <a:solidFill>
                  <a:srgbClr val="F36633"/>
                </a:solidFill>
                <a:effectLst/>
                <a:uLnTx/>
                <a:uFillTx/>
                <a:latin typeface="Arial"/>
                <a:ea typeface="+mn-ea"/>
                <a:cs typeface="Arial"/>
              </a:rPr>
              <a:t>, chronic cough or sputum production, </a:t>
            </a:r>
            <a:r>
              <a:rPr kumimoji="0" lang="en-US" sz="1100" b="1" i="0" u="none" strike="noStrike" kern="1200" cap="none" spc="0" normalizeH="0" baseline="0" noProof="0" dirty="0">
                <a:ln>
                  <a:noFill/>
                </a:ln>
                <a:solidFill>
                  <a:srgbClr val="F36633"/>
                </a:solidFill>
                <a:effectLst/>
                <a:uLnTx/>
                <a:uFillTx/>
                <a:latin typeface="Arial"/>
                <a:ea typeface="+mn-ea"/>
                <a:cs typeface="Arial"/>
              </a:rPr>
              <a:t>a history of recurrent lower respiratory tract infections </a:t>
            </a:r>
            <a:r>
              <a:rPr kumimoji="0" lang="en-IN" sz="1100" b="1" i="0" u="none" strike="noStrike" kern="1200" cap="none" spc="0" normalizeH="0" baseline="0" noProof="0" dirty="0">
                <a:ln>
                  <a:noFill/>
                </a:ln>
                <a:solidFill>
                  <a:srgbClr val="F36633"/>
                </a:solidFill>
                <a:effectLst/>
                <a:uLnTx/>
                <a:uFillTx/>
                <a:latin typeface="Arial"/>
                <a:ea typeface="+mn-ea"/>
                <a:cs typeface="Arial"/>
              </a:rPr>
              <a:t>and/or a history of exposure to risk factors for the disease</a:t>
            </a:r>
            <a:r>
              <a:rPr kumimoji="0" sz="1100" b="1" i="0" u="none" strike="noStrike" kern="1200" cap="none" spc="0" normalizeH="0" baseline="0" noProof="0" dirty="0">
                <a:ln>
                  <a:noFill/>
                </a:ln>
                <a:solidFill>
                  <a:srgbClr val="F36633"/>
                </a:solidFill>
                <a:effectLst/>
                <a:uLnTx/>
                <a:uFillTx/>
                <a:latin typeface="Arial"/>
                <a:ea typeface="+mn-ea"/>
                <a:cs typeface="Arial"/>
              </a:rPr>
              <a:t>”</a:t>
            </a:r>
            <a:endParaRPr kumimoji="0" sz="1100" b="0" i="0" u="none" strike="noStrike" kern="1200" cap="none" spc="0" normalizeH="0" baseline="26455" noProof="0" dirty="0">
              <a:ln>
                <a:noFill/>
              </a:ln>
              <a:solidFill>
                <a:srgbClr val="F36633"/>
              </a:solidFill>
              <a:effectLst/>
              <a:uLnTx/>
              <a:uFillTx/>
              <a:latin typeface="Arial"/>
              <a:ea typeface="+mn-ea"/>
              <a:cs typeface="Arial"/>
            </a:endParaRPr>
          </a:p>
        </p:txBody>
      </p:sp>
      <p:sp>
        <p:nvSpPr>
          <p:cNvPr id="20" name="object 4">
            <a:extLst>
              <a:ext uri="{FF2B5EF4-FFF2-40B4-BE49-F238E27FC236}">
                <a16:creationId xmlns:a16="http://schemas.microsoft.com/office/drawing/2014/main" id="{5C81C985-BD52-1217-7239-821A789FC40A}"/>
              </a:ext>
            </a:extLst>
          </p:cNvPr>
          <p:cNvSpPr txBox="1"/>
          <p:nvPr/>
        </p:nvSpPr>
        <p:spPr>
          <a:xfrm>
            <a:off x="367284" y="1646596"/>
            <a:ext cx="11457432" cy="182742"/>
          </a:xfrm>
          <a:prstGeom prst="rect">
            <a:avLst/>
          </a:prstGeom>
        </p:spPr>
        <p:txBody>
          <a:bodyPr vert="horz" wrap="square" lIns="0" tIns="13335" rIns="0" bIns="0" rtlCol="0">
            <a:spAutoFit/>
          </a:bodyPr>
          <a:lstStyle/>
          <a:p>
            <a:pPr marL="38100" marR="0" lvl="0" indent="0" algn="l" defTabSz="1219170" rtl="0" eaLnBrk="1" fontAlgn="auto" latinLnBrk="0" hangingPunct="1">
              <a:lnSpc>
                <a:spcPct val="100000"/>
              </a:lnSpc>
              <a:spcBef>
                <a:spcPts val="105"/>
              </a:spcBef>
              <a:spcAft>
                <a:spcPts val="0"/>
              </a:spcAft>
              <a:buClrTx/>
              <a:buSzTx/>
              <a:buFontTx/>
              <a:buNone/>
              <a:tabLst/>
              <a:defRPr/>
            </a:pPr>
            <a:r>
              <a:rPr kumimoji="0" lang="en-IN" sz="1100" b="1" i="0" u="none" strike="noStrike" kern="1200" cap="none" spc="0" normalizeH="0" baseline="0" noProof="0" dirty="0">
                <a:ln>
                  <a:noFill/>
                </a:ln>
                <a:solidFill>
                  <a:srgbClr val="000000"/>
                </a:solidFill>
                <a:effectLst/>
                <a:uLnTx/>
                <a:uFillTx/>
                <a:latin typeface="Arial"/>
                <a:ea typeface="+mn-ea"/>
                <a:cs typeface="Arial"/>
              </a:rPr>
              <a:t>S</a:t>
            </a:r>
            <a:r>
              <a:rPr kumimoji="0" sz="1100" b="1" i="0" u="none" strike="noStrike" kern="1200" cap="none" spc="0" normalizeH="0" baseline="0" noProof="0" dirty="0" err="1">
                <a:ln>
                  <a:noFill/>
                </a:ln>
                <a:solidFill>
                  <a:srgbClr val="000000"/>
                </a:solidFill>
                <a:effectLst/>
                <a:uLnTx/>
                <a:uFillTx/>
                <a:latin typeface="Arial"/>
                <a:ea typeface="+mn-ea"/>
                <a:cs typeface="Arial"/>
              </a:rPr>
              <a:t>pirometry</a:t>
            </a:r>
            <a:r>
              <a:rPr kumimoji="0" sz="1100" b="1" i="0" u="none" strike="noStrike" kern="1200" cap="none" spc="0" normalizeH="0" baseline="0" noProof="0" dirty="0">
                <a:ln>
                  <a:noFill/>
                </a:ln>
                <a:solidFill>
                  <a:srgbClr val="000000"/>
                </a:solidFill>
                <a:effectLst/>
                <a:uLnTx/>
                <a:uFillTx/>
                <a:latin typeface="Arial"/>
                <a:ea typeface="+mn-ea"/>
                <a:cs typeface="Arial"/>
              </a:rPr>
              <a:t> </a:t>
            </a:r>
            <a:r>
              <a:rPr kumimoji="0" lang="en-IN" sz="1100" b="0" i="0" u="none" strike="noStrike" kern="1200" cap="none" spc="0" normalizeH="0" baseline="0" noProof="0" dirty="0">
                <a:ln>
                  <a:noFill/>
                </a:ln>
                <a:solidFill>
                  <a:srgbClr val="000000"/>
                </a:solidFill>
                <a:effectLst/>
                <a:uLnTx/>
                <a:uFillTx/>
                <a:latin typeface="Arial"/>
                <a:ea typeface="+mn-ea"/>
                <a:cs typeface="Arial"/>
              </a:rPr>
              <a:t>that</a:t>
            </a:r>
            <a:r>
              <a:rPr kumimoji="0" lang="en-IN" sz="1100" b="1" i="0" u="none" strike="noStrike" kern="1200" cap="none" spc="0" normalizeH="0" baseline="0" noProof="0" dirty="0">
                <a:ln>
                  <a:noFill/>
                </a:ln>
                <a:solidFill>
                  <a:srgbClr val="000000"/>
                </a:solidFill>
                <a:effectLst/>
                <a:uLnTx/>
                <a:uFillTx/>
                <a:latin typeface="Arial"/>
                <a:ea typeface="+mn-ea"/>
                <a:cs typeface="Arial"/>
              </a:rPr>
              <a:t> </a:t>
            </a:r>
            <a:r>
              <a:rPr kumimoji="0" lang="en-IN" sz="1100" b="0" i="0" u="none" strike="noStrike" kern="1200" cap="none" spc="0" normalizeH="0" baseline="0" noProof="0" dirty="0">
                <a:ln>
                  <a:noFill/>
                </a:ln>
                <a:solidFill>
                  <a:srgbClr val="000000"/>
                </a:solidFill>
                <a:effectLst/>
                <a:uLnTx/>
                <a:uFillTx/>
                <a:latin typeface="Arial"/>
                <a:ea typeface="+mn-ea"/>
                <a:cs typeface="Arial"/>
              </a:rPr>
              <a:t>demonstrates</a:t>
            </a:r>
            <a:r>
              <a:rPr kumimoji="0" lang="en-IN" sz="1100" b="1" i="0" u="none" strike="noStrike" kern="1200" cap="none" spc="0" normalizeH="0" baseline="0" noProof="0" dirty="0">
                <a:ln>
                  <a:noFill/>
                </a:ln>
                <a:solidFill>
                  <a:srgbClr val="000000"/>
                </a:solidFill>
                <a:effectLst/>
                <a:uLnTx/>
                <a:uFillTx/>
                <a:latin typeface="Arial"/>
                <a:ea typeface="+mn-ea"/>
                <a:cs typeface="Arial"/>
              </a:rPr>
              <a:t> </a:t>
            </a:r>
            <a:r>
              <a:rPr kumimoji="0" lang="en-IN" sz="1100" b="0" i="0" u="none" strike="noStrike" kern="1200" cap="none" spc="0" normalizeH="0" baseline="0" noProof="0" dirty="0">
                <a:ln>
                  <a:noFill/>
                </a:ln>
                <a:solidFill>
                  <a:srgbClr val="000000"/>
                </a:solidFill>
                <a:effectLst/>
                <a:uLnTx/>
                <a:uFillTx/>
                <a:latin typeface="Arial"/>
                <a:ea typeface="+mn-ea"/>
                <a:cs typeface="Arial"/>
              </a:rPr>
              <a:t>a</a:t>
            </a:r>
            <a:r>
              <a:rPr kumimoji="0" lang="en-IN" sz="1100" b="1" i="0" u="none" strike="noStrike" kern="1200" cap="none" spc="0" normalizeH="0" baseline="0" noProof="0" dirty="0">
                <a:ln>
                  <a:noFill/>
                </a:ln>
                <a:solidFill>
                  <a:srgbClr val="000000"/>
                </a:solidFill>
                <a:effectLst/>
                <a:uLnTx/>
                <a:uFillTx/>
                <a:latin typeface="Arial"/>
                <a:ea typeface="+mn-ea"/>
                <a:cs typeface="Arial"/>
              </a:rPr>
              <a:t> </a:t>
            </a:r>
            <a:r>
              <a:rPr kumimoji="0" lang="en-US" sz="1100" b="0" i="0" u="none" strike="noStrike" kern="1200" cap="none" spc="0" normalizeH="0" baseline="0" noProof="0" dirty="0">
                <a:ln>
                  <a:noFill/>
                </a:ln>
                <a:solidFill>
                  <a:srgbClr val="000000"/>
                </a:solidFill>
                <a:effectLst/>
                <a:uLnTx/>
                <a:uFillTx/>
                <a:latin typeface="Arial"/>
                <a:ea typeface="+mn-ea"/>
                <a:cs typeface="Arial"/>
              </a:rPr>
              <a:t>post-bronchodilator ratio of FEV</a:t>
            </a:r>
            <a:r>
              <a:rPr kumimoji="0" lang="en-US" sz="1100" b="0" i="0" u="none" strike="noStrike" kern="1200" cap="none" spc="0" normalizeH="0" baseline="-21604" noProof="0" dirty="0">
                <a:ln>
                  <a:noFill/>
                </a:ln>
                <a:solidFill>
                  <a:srgbClr val="000000"/>
                </a:solidFill>
                <a:effectLst/>
                <a:uLnTx/>
                <a:uFillTx/>
                <a:latin typeface="Arial"/>
                <a:ea typeface="+mn-ea"/>
                <a:cs typeface="Arial"/>
              </a:rPr>
              <a:t>1</a:t>
            </a:r>
            <a:r>
              <a:rPr kumimoji="0" lang="en-US" sz="1100" b="0" i="0" u="none" strike="noStrike" kern="1200" cap="none" spc="0" normalizeH="0" baseline="0" noProof="0" dirty="0">
                <a:ln>
                  <a:noFill/>
                </a:ln>
                <a:solidFill>
                  <a:srgbClr val="000000"/>
                </a:solidFill>
                <a:effectLst/>
                <a:uLnTx/>
                <a:uFillTx/>
                <a:latin typeface="Arial"/>
                <a:ea typeface="+mn-ea"/>
                <a:cs typeface="Arial"/>
              </a:rPr>
              <a:t>/FVC &lt; 0.70 confirming </a:t>
            </a:r>
            <a:r>
              <a:rPr kumimoji="0" lang="en-IN" sz="1100" b="0" i="0" u="none" strike="noStrike" kern="1200" cap="none" spc="0" normalizeH="0" baseline="0" noProof="0" dirty="0">
                <a:ln>
                  <a:noFill/>
                </a:ln>
                <a:solidFill>
                  <a:srgbClr val="000000"/>
                </a:solidFill>
                <a:effectLst/>
                <a:uLnTx/>
                <a:uFillTx/>
                <a:latin typeface="Arial"/>
                <a:ea typeface="+mn-ea"/>
                <a:cs typeface="Arial"/>
              </a:rPr>
              <a:t>airflow obstruction is </a:t>
            </a:r>
            <a:r>
              <a:rPr kumimoji="0" sz="1100" b="0" i="0" u="none" strike="noStrike" kern="1200" cap="none" spc="0" normalizeH="0" baseline="0" noProof="0" dirty="0">
                <a:ln>
                  <a:noFill/>
                </a:ln>
                <a:solidFill>
                  <a:srgbClr val="000000"/>
                </a:solidFill>
                <a:effectLst/>
                <a:uLnTx/>
                <a:uFillTx/>
                <a:latin typeface="Arial"/>
                <a:ea typeface="+mn-ea"/>
                <a:cs typeface="Arial"/>
              </a:rPr>
              <a:t>required to </a:t>
            </a:r>
            <a:r>
              <a:rPr kumimoji="0" lang="en-IN" sz="1100" b="0" i="0" u="none" strike="noStrike" kern="1200" cap="none" spc="0" normalizeH="0" baseline="0" noProof="0" dirty="0">
                <a:ln>
                  <a:noFill/>
                </a:ln>
                <a:solidFill>
                  <a:srgbClr val="000000"/>
                </a:solidFill>
                <a:effectLst/>
                <a:uLnTx/>
                <a:uFillTx/>
                <a:latin typeface="Arial"/>
                <a:ea typeface="+mn-ea"/>
                <a:cs typeface="Arial"/>
              </a:rPr>
              <a:t>establish</a:t>
            </a:r>
            <a:r>
              <a:rPr kumimoji="0" sz="1100" b="0" i="0" u="none" strike="noStrike" kern="1200" cap="none" spc="0" normalizeH="0" baseline="0" noProof="0" dirty="0">
                <a:ln>
                  <a:noFill/>
                </a:ln>
                <a:solidFill>
                  <a:srgbClr val="000000"/>
                </a:solidFill>
                <a:effectLst/>
                <a:uLnTx/>
                <a:uFillTx/>
                <a:latin typeface="Arial"/>
                <a:ea typeface="+mn-ea"/>
                <a:cs typeface="Arial"/>
              </a:rPr>
              <a:t> the diagnosis</a:t>
            </a:r>
            <a:endParaRPr kumimoji="0" sz="1100" b="0" i="0" u="none" strike="noStrike" kern="1200" cap="none" spc="0" normalizeH="0" baseline="24691" noProof="0" dirty="0">
              <a:ln>
                <a:noFill/>
              </a:ln>
              <a:solidFill>
                <a:srgbClr val="000000"/>
              </a:solidFill>
              <a:effectLst/>
              <a:uLnTx/>
              <a:uFillTx/>
              <a:latin typeface="Arial"/>
              <a:ea typeface="+mn-ea"/>
              <a:cs typeface="Arial"/>
            </a:endParaRPr>
          </a:p>
        </p:txBody>
      </p:sp>
      <p:sp>
        <p:nvSpPr>
          <p:cNvPr id="21" name="object 11">
            <a:extLst>
              <a:ext uri="{FF2B5EF4-FFF2-40B4-BE49-F238E27FC236}">
                <a16:creationId xmlns:a16="http://schemas.microsoft.com/office/drawing/2014/main" id="{F936B9B4-1623-6394-A145-65681A2AB83F}"/>
              </a:ext>
            </a:extLst>
          </p:cNvPr>
          <p:cNvSpPr txBox="1"/>
          <p:nvPr/>
        </p:nvSpPr>
        <p:spPr>
          <a:xfrm>
            <a:off x="367284" y="3916596"/>
            <a:ext cx="11457432" cy="1572225"/>
          </a:xfrm>
          <a:prstGeom prst="rect">
            <a:avLst/>
          </a:prstGeom>
          <a:solidFill>
            <a:srgbClr val="EAEAEA"/>
          </a:solidFill>
        </p:spPr>
        <p:txBody>
          <a:bodyPr vert="horz" wrap="square" lIns="0" tIns="38100" rIns="0" bIns="0" rtlCol="0">
            <a:spAutoFit/>
          </a:bodyPr>
          <a:lstStyle/>
          <a:p>
            <a:pPr marL="0" marR="0" lvl="0" indent="0" algn="l" defTabSz="1219170" rtl="0" eaLnBrk="1" fontAlgn="auto" latinLnBrk="0" hangingPunct="1">
              <a:lnSpc>
                <a:spcPct val="100000"/>
              </a:lnSpc>
              <a:spcBef>
                <a:spcPts val="0"/>
              </a:spcBef>
              <a:spcAft>
                <a:spcPts val="200"/>
              </a:spcAft>
              <a:buClrTx/>
              <a:buSzTx/>
              <a:buFontTx/>
              <a:buNone/>
              <a:tabLst/>
              <a:defRPr/>
            </a:pPr>
            <a:r>
              <a:rPr kumimoji="0" lang="en-IN" sz="1100" b="1" i="0" u="none" strike="noStrike" kern="1200" cap="none" spc="0" normalizeH="0" baseline="0" noProof="0" dirty="0">
                <a:ln>
                  <a:noFill/>
                </a:ln>
                <a:solidFill>
                  <a:srgbClr val="000000"/>
                </a:solidFill>
                <a:effectLst/>
                <a:uLnTx/>
                <a:uFillTx/>
                <a:latin typeface="Arial"/>
                <a:ea typeface="+mn-ea"/>
                <a:cs typeface="Arial"/>
              </a:rPr>
              <a:t>If there is a marked discordance between the level of airflow obstruction and perceived symptoms</a:t>
            </a:r>
            <a:r>
              <a:rPr kumimoji="0" sz="1100" b="1" i="0" u="none" strike="noStrike" kern="1200" cap="none" spc="0" normalizeH="0" baseline="0" noProof="0" dirty="0">
                <a:ln>
                  <a:noFill/>
                </a:ln>
                <a:solidFill>
                  <a:srgbClr val="000000"/>
                </a:solidFill>
                <a:effectLst/>
                <a:uLnTx/>
                <a:uFillTx/>
                <a:latin typeface="Arial"/>
                <a:ea typeface="+mn-ea"/>
                <a:cs typeface="Arial"/>
              </a:rPr>
              <a:t>, </a:t>
            </a:r>
            <a:r>
              <a:rPr kumimoji="0" lang="en-IN" sz="1100" b="1" i="0" u="none" strike="noStrike" kern="1200" cap="none" spc="0" normalizeH="0" baseline="0" noProof="0" dirty="0">
                <a:ln>
                  <a:noFill/>
                </a:ln>
                <a:solidFill>
                  <a:srgbClr val="000000"/>
                </a:solidFill>
                <a:effectLst/>
                <a:uLnTx/>
                <a:uFillTx/>
                <a:latin typeface="Arial"/>
                <a:ea typeface="+mn-ea"/>
                <a:cs typeface="Arial"/>
              </a:rPr>
              <a:t>additional</a:t>
            </a:r>
            <a:r>
              <a:rPr kumimoji="0" sz="1100" b="1" i="0" u="none" strike="noStrike" kern="1200" cap="none" spc="0" normalizeH="0" baseline="0" noProof="0" dirty="0">
                <a:ln>
                  <a:noFill/>
                </a:ln>
                <a:solidFill>
                  <a:srgbClr val="000000"/>
                </a:solidFill>
                <a:effectLst/>
                <a:uLnTx/>
                <a:uFillTx/>
                <a:latin typeface="Arial"/>
                <a:ea typeface="+mn-ea"/>
                <a:cs typeface="Arial"/>
              </a:rPr>
              <a:t> tests may be undertaken, such as</a:t>
            </a:r>
            <a:endParaRPr kumimoji="0" sz="1100" b="0" i="0" u="none" strike="noStrike" kern="1200" cap="none" spc="0" normalizeH="0" baseline="24691" noProof="0" dirty="0">
              <a:ln>
                <a:noFill/>
              </a:ln>
              <a:solidFill>
                <a:srgbClr val="000000"/>
              </a:solidFill>
              <a:effectLst/>
              <a:uLnTx/>
              <a:uFillTx/>
              <a:latin typeface="Arial"/>
              <a:ea typeface="+mn-ea"/>
              <a:cs typeface="Arial"/>
            </a:endParaRPr>
          </a:p>
          <a:p>
            <a:pPr marL="144463" marR="1778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Physiological evaluations </a:t>
            </a:r>
            <a:r>
              <a:rPr kumimoji="0" lang="en-US" sz="1100" b="0" i="0" u="none" strike="noStrike" kern="1200" cap="none" spc="0" normalizeH="0" baseline="0" noProof="0" dirty="0">
                <a:ln>
                  <a:noFill/>
                </a:ln>
                <a:solidFill>
                  <a:srgbClr val="000000"/>
                </a:solidFill>
                <a:effectLst/>
                <a:uLnTx/>
                <a:uFillTx/>
                <a:latin typeface="Arial"/>
                <a:ea typeface="+mn-ea"/>
                <a:cs typeface="Arial"/>
              </a:rPr>
              <a:t>to assess the severity of COPD (</a:t>
            </a:r>
            <a:r>
              <a:rPr kumimoji="0" lang="en-US" sz="1100" b="0" i="0" u="none" strike="noStrike" kern="1200" cap="none" spc="0" normalizeH="0" baseline="0" noProof="0" dirty="0" err="1">
                <a:ln>
                  <a:noFill/>
                </a:ln>
                <a:solidFill>
                  <a:srgbClr val="000000"/>
                </a:solidFill>
                <a:effectLst/>
                <a:uLnTx/>
                <a:uFillTx/>
                <a:latin typeface="Arial"/>
                <a:ea typeface="+mn-ea"/>
                <a:cs typeface="Arial"/>
              </a:rPr>
              <a:t>eg</a:t>
            </a:r>
            <a:r>
              <a:rPr kumimoji="0" lang="en-US" sz="1100" b="0" i="0" u="none" strike="noStrike" kern="1200" cap="none" spc="0" normalizeH="0" baseline="0" noProof="0" dirty="0">
                <a:ln>
                  <a:noFill/>
                </a:ln>
                <a:solidFill>
                  <a:srgbClr val="000000"/>
                </a:solidFill>
                <a:effectLst/>
                <a:uLnTx/>
                <a:uFillTx/>
                <a:latin typeface="Arial"/>
                <a:ea typeface="+mn-ea"/>
                <a:cs typeface="Arial"/>
              </a:rPr>
              <a:t>, measurement of lung volumes and carbon monoxide diffusing capacity of the lungs)</a:t>
            </a:r>
          </a:p>
          <a:p>
            <a:pPr marL="144463" marR="1778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Exercise testing </a:t>
            </a:r>
            <a:r>
              <a:rPr kumimoji="0" sz="1100" b="0" i="0" u="none" strike="noStrike" kern="1200" cap="none" spc="0" normalizeH="0" baseline="0" noProof="0" dirty="0">
                <a:ln>
                  <a:noFill/>
                </a:ln>
                <a:solidFill>
                  <a:srgbClr val="000000"/>
                </a:solidFill>
                <a:effectLst/>
                <a:uLnTx/>
                <a:uFillTx/>
                <a:latin typeface="Arial"/>
                <a:ea typeface="+mn-ea"/>
                <a:cs typeface="Arial"/>
              </a:rPr>
              <a:t>for assessing disability, mortality risk and effectiveness of pulmonary rehabilitation</a:t>
            </a:r>
            <a:r>
              <a:rPr kumimoji="0" lang="en-US" sz="1100" b="0" i="0" u="none" strike="noStrike" kern="1200" cap="none" spc="0" normalizeH="0" baseline="0" noProof="0" dirty="0">
                <a:ln>
                  <a:noFill/>
                </a:ln>
                <a:solidFill>
                  <a:srgbClr val="000000"/>
                </a:solidFill>
                <a:effectLst/>
                <a:uLnTx/>
                <a:uFillTx/>
                <a:latin typeface="Arial"/>
                <a:ea typeface="+mn-ea"/>
                <a:cs typeface="Arial"/>
              </a:rPr>
              <a:t> </a:t>
            </a:r>
            <a:r>
              <a:rPr kumimoji="0" sz="1100" b="0" i="0" u="none" strike="noStrike" kern="1200" cap="none" spc="0" normalizeH="0" baseline="0" noProof="0" dirty="0">
                <a:ln>
                  <a:noFill/>
                </a:ln>
                <a:solidFill>
                  <a:srgbClr val="000000"/>
                </a:solidFill>
                <a:effectLst/>
                <a:uLnTx/>
                <a:uFillTx/>
                <a:latin typeface="Arial"/>
                <a:ea typeface="+mn-ea"/>
                <a:cs typeface="Arial"/>
              </a:rPr>
              <a:t>(eg</a:t>
            </a:r>
            <a:r>
              <a:rPr kumimoji="0" lang="en-IN" sz="1100" b="0" i="0" u="none" strike="noStrike" kern="1200" cap="none" spc="0" normalizeH="0" baseline="0" noProof="0" dirty="0">
                <a:ln>
                  <a:noFill/>
                </a:ln>
                <a:solidFill>
                  <a:srgbClr val="000000"/>
                </a:solidFill>
                <a:effectLst/>
                <a:uLnTx/>
                <a:uFillTx/>
                <a:latin typeface="Arial"/>
                <a:ea typeface="+mn-ea"/>
                <a:cs typeface="Arial"/>
              </a:rPr>
              <a:t>,</a:t>
            </a:r>
            <a:r>
              <a:rPr kumimoji="0" sz="1100" b="0" i="0" u="none" strike="noStrike" kern="1200" cap="none" spc="0" normalizeH="0" baseline="0" noProof="0" dirty="0">
                <a:ln>
                  <a:noFill/>
                </a:ln>
                <a:solidFill>
                  <a:srgbClr val="000000"/>
                </a:solidFill>
                <a:effectLst/>
                <a:uLnTx/>
                <a:uFillTx/>
                <a:latin typeface="Arial"/>
                <a:ea typeface="+mn-ea"/>
                <a:cs typeface="Arial"/>
              </a:rPr>
              <a:t> 6-minute walk </a:t>
            </a:r>
            <a:r>
              <a:rPr kumimoji="0" lang="en-IN" sz="1100" b="0" i="0" u="none" strike="noStrike" kern="1200" cap="none" spc="0" normalizeH="0" baseline="0" noProof="0" dirty="0">
                <a:ln>
                  <a:noFill/>
                </a:ln>
                <a:solidFill>
                  <a:srgbClr val="000000"/>
                </a:solidFill>
                <a:effectLst/>
                <a:uLnTx/>
                <a:uFillTx/>
                <a:latin typeface="Arial"/>
                <a:ea typeface="+mn-ea"/>
                <a:cs typeface="Arial"/>
              </a:rPr>
              <a:t>and </a:t>
            </a:r>
            <a:r>
              <a:rPr kumimoji="0" sz="1100" b="0" i="0" u="none" strike="noStrike" kern="1200" cap="none" spc="0" normalizeH="0" baseline="0" noProof="0" dirty="0">
                <a:ln>
                  <a:noFill/>
                </a:ln>
                <a:solidFill>
                  <a:srgbClr val="000000"/>
                </a:solidFill>
                <a:effectLst/>
                <a:uLnTx/>
                <a:uFillTx/>
                <a:latin typeface="Arial"/>
                <a:ea typeface="+mn-ea"/>
                <a:cs typeface="Arial"/>
              </a:rPr>
              <a:t>treadmill)</a:t>
            </a:r>
          </a:p>
          <a:p>
            <a:pPr marL="144463" marR="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Imaging </a:t>
            </a:r>
            <a:r>
              <a:rPr kumimoji="0" sz="1100" b="0" i="0" u="none" strike="noStrike" kern="1200" cap="none" spc="0" normalizeH="0" baseline="0" noProof="0" dirty="0">
                <a:ln>
                  <a:noFill/>
                </a:ln>
                <a:solidFill>
                  <a:srgbClr val="000000"/>
                </a:solidFill>
                <a:effectLst/>
                <a:uLnTx/>
                <a:uFillTx/>
                <a:latin typeface="Arial"/>
                <a:ea typeface="+mn-ea"/>
                <a:cs typeface="Arial"/>
              </a:rPr>
              <a:t>for differential diagnosis</a:t>
            </a:r>
            <a:r>
              <a:rPr kumimoji="0" lang="en-IN" sz="1100" b="0" i="0" u="none" strike="noStrike" kern="1200" cap="none" spc="0" normalizeH="0" baseline="0" noProof="0" dirty="0">
                <a:ln>
                  <a:noFill/>
                </a:ln>
                <a:solidFill>
                  <a:srgbClr val="000000"/>
                </a:solidFill>
                <a:effectLst/>
                <a:uLnTx/>
                <a:uFillTx/>
                <a:latin typeface="Arial"/>
                <a:ea typeface="+mn-ea"/>
                <a:cs typeface="Arial"/>
              </a:rPr>
              <a:t> </a:t>
            </a:r>
            <a:r>
              <a:rPr kumimoji="0" sz="1100" b="0" i="0" u="none" strike="noStrike" kern="1200" cap="none" spc="0" normalizeH="0" baseline="0" noProof="0" dirty="0">
                <a:ln>
                  <a:noFill/>
                </a:ln>
                <a:solidFill>
                  <a:srgbClr val="000000"/>
                </a:solidFill>
                <a:effectLst/>
                <a:uLnTx/>
                <a:uFillTx/>
                <a:latin typeface="Arial"/>
                <a:ea typeface="+mn-ea"/>
                <a:cs typeface="Arial"/>
              </a:rPr>
              <a:t>(</a:t>
            </a:r>
            <a:r>
              <a:rPr kumimoji="0" lang="en-IN" sz="1100" b="0" i="0" u="none" strike="noStrike" kern="1200" cap="none" spc="0" normalizeH="0" baseline="0" noProof="0" dirty="0">
                <a:ln>
                  <a:noFill/>
                </a:ln>
                <a:solidFill>
                  <a:srgbClr val="000000"/>
                </a:solidFill>
                <a:effectLst/>
                <a:uLnTx/>
                <a:uFillTx/>
                <a:latin typeface="Arial"/>
                <a:ea typeface="+mn-ea"/>
                <a:cs typeface="Arial"/>
              </a:rPr>
              <a:t>eg, chest </a:t>
            </a:r>
            <a:r>
              <a:rPr kumimoji="0" sz="1100" b="0" i="0" u="none" strike="noStrike" kern="1200" cap="none" spc="0" normalizeH="0" baseline="0" noProof="0" dirty="0">
                <a:ln>
                  <a:noFill/>
                </a:ln>
                <a:solidFill>
                  <a:srgbClr val="000000"/>
                </a:solidFill>
                <a:effectLst/>
                <a:uLnTx/>
                <a:uFillTx/>
                <a:latin typeface="Arial"/>
                <a:ea typeface="+mn-ea"/>
                <a:cs typeface="Arial"/>
              </a:rPr>
              <a:t>X-ray</a:t>
            </a:r>
            <a:r>
              <a:rPr kumimoji="0" lang="en-IN" sz="1100" b="0" i="0" u="none" strike="noStrike" kern="1200" cap="none" spc="0" normalizeH="0" baseline="0" noProof="0" dirty="0">
                <a:ln>
                  <a:noFill/>
                </a:ln>
                <a:solidFill>
                  <a:srgbClr val="000000"/>
                </a:solidFill>
                <a:effectLst/>
                <a:uLnTx/>
                <a:uFillTx/>
                <a:latin typeface="Arial"/>
                <a:ea typeface="+mn-ea"/>
                <a:cs typeface="Arial"/>
              </a:rPr>
              <a:t> and </a:t>
            </a:r>
            <a:r>
              <a:rPr kumimoji="0" sz="1100" b="0" i="0" u="none" strike="noStrike" kern="1200" cap="none" spc="0" normalizeH="0" baseline="0" noProof="0" dirty="0">
                <a:ln>
                  <a:noFill/>
                </a:ln>
                <a:solidFill>
                  <a:srgbClr val="000000"/>
                </a:solidFill>
                <a:effectLst/>
                <a:uLnTx/>
                <a:uFillTx/>
                <a:latin typeface="Arial"/>
                <a:ea typeface="+mn-ea"/>
                <a:cs typeface="Arial"/>
              </a:rPr>
              <a:t>CT scan)</a:t>
            </a:r>
          </a:p>
          <a:p>
            <a:pPr marL="144463" marR="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Blood test(s) </a:t>
            </a:r>
            <a:r>
              <a:rPr kumimoji="0" sz="1100" b="0" i="0" u="none" strike="noStrike" kern="1200" cap="none" spc="0" normalizeH="0" baseline="0" noProof="0" dirty="0">
                <a:ln>
                  <a:noFill/>
                </a:ln>
                <a:solidFill>
                  <a:srgbClr val="000000"/>
                </a:solidFill>
                <a:effectLst/>
                <a:uLnTx/>
                <a:uFillTx/>
                <a:latin typeface="Arial"/>
                <a:ea typeface="+mn-ea"/>
                <a:cs typeface="Arial"/>
              </a:rPr>
              <a:t>for evaluating disease severity (eg</a:t>
            </a:r>
            <a:r>
              <a:rPr kumimoji="0" lang="en-IN" sz="1100" b="0" i="0" u="none" strike="noStrike" kern="1200" cap="none" spc="0" normalizeH="0" baseline="0" noProof="0" dirty="0">
                <a:ln>
                  <a:noFill/>
                </a:ln>
                <a:solidFill>
                  <a:srgbClr val="000000"/>
                </a:solidFill>
                <a:effectLst/>
                <a:uLnTx/>
                <a:uFillTx/>
                <a:latin typeface="Arial"/>
                <a:ea typeface="+mn-ea"/>
                <a:cs typeface="Arial"/>
              </a:rPr>
              <a:t>,</a:t>
            </a:r>
            <a:r>
              <a:rPr kumimoji="0" sz="1100" b="0" i="0" u="none" strike="noStrike" kern="1200" cap="none" spc="0" normalizeH="0" baseline="0" noProof="0" dirty="0">
                <a:ln>
                  <a:noFill/>
                </a:ln>
                <a:solidFill>
                  <a:srgbClr val="000000"/>
                </a:solidFill>
                <a:effectLst/>
                <a:uLnTx/>
                <a:uFillTx/>
                <a:latin typeface="Arial"/>
                <a:ea typeface="+mn-ea"/>
                <a:cs typeface="Arial"/>
              </a:rPr>
              <a:t> </a:t>
            </a:r>
            <a:r>
              <a:rPr kumimoji="0" lang="en-IN" sz="1100" b="0" i="0" u="none" strike="noStrike" kern="1200" cap="none" spc="0" normalizeH="0" baseline="0" noProof="0" dirty="0">
                <a:ln>
                  <a:noFill/>
                </a:ln>
                <a:solidFill>
                  <a:srgbClr val="000000"/>
                </a:solidFill>
                <a:effectLst/>
                <a:uLnTx/>
                <a:uFillTx/>
                <a:latin typeface="Arial"/>
                <a:ea typeface="+mn-ea"/>
                <a:cs typeface="Arial"/>
              </a:rPr>
              <a:t>measuring </a:t>
            </a:r>
            <a:r>
              <a:rPr kumimoji="0" lang="en-US" sz="1100" b="0" i="0" u="none" strike="noStrike" kern="1200" cap="none" spc="0" normalizeH="0" baseline="0" noProof="0" dirty="0">
                <a:ln>
                  <a:noFill/>
                </a:ln>
                <a:solidFill>
                  <a:srgbClr val="000000"/>
                </a:solidFill>
                <a:effectLst/>
                <a:uLnTx/>
                <a:uFillTx/>
                <a:latin typeface="Arial"/>
                <a:ea typeface="+mn-ea"/>
                <a:cs typeface="Arial"/>
              </a:rPr>
              <a:t>blood eosinophil count to identify patients with a high </a:t>
            </a:r>
            <a:r>
              <a:rPr kumimoji="0" sz="1100" b="0" i="0" u="none" strike="noStrike" kern="1200" cap="none" spc="0" normalizeH="0" baseline="0" noProof="0" dirty="0">
                <a:ln>
                  <a:noFill/>
                </a:ln>
                <a:solidFill>
                  <a:srgbClr val="000000"/>
                </a:solidFill>
                <a:effectLst/>
                <a:uLnTx/>
                <a:uFillTx/>
                <a:latin typeface="Arial"/>
                <a:ea typeface="+mn-ea"/>
                <a:cs typeface="Arial"/>
              </a:rPr>
              <a:t>exacerbation risk)</a:t>
            </a:r>
            <a:endParaRPr kumimoji="0" lang="en-US" sz="1100" b="0" i="0" u="none" strike="noStrike" kern="1200" cap="none" spc="0" normalizeH="0" baseline="0" noProof="0" dirty="0">
              <a:ln>
                <a:noFill/>
              </a:ln>
              <a:solidFill>
                <a:srgbClr val="000000"/>
              </a:solidFill>
              <a:effectLst/>
              <a:uLnTx/>
              <a:uFillTx/>
              <a:latin typeface="Arial"/>
              <a:ea typeface="+mn-ea"/>
              <a:cs typeface="Arial"/>
            </a:endParaRPr>
          </a:p>
          <a:p>
            <a:pPr marL="144463" marR="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Oximetry and ABG </a:t>
            </a:r>
            <a:r>
              <a:rPr kumimoji="0" lang="en-US" sz="1100" b="0" i="0" u="none" strike="noStrike" kern="1200" cap="none" spc="0" normalizeH="0" baseline="0" noProof="0" dirty="0">
                <a:ln>
                  <a:noFill/>
                </a:ln>
                <a:solidFill>
                  <a:srgbClr val="000000"/>
                </a:solidFill>
                <a:effectLst/>
                <a:uLnTx/>
                <a:uFillTx/>
                <a:latin typeface="Arial"/>
                <a:ea typeface="+mn-ea"/>
                <a:cs typeface="Arial"/>
              </a:rPr>
              <a:t>for evaluating patients' arterial oxygen saturation</a:t>
            </a:r>
          </a:p>
          <a:p>
            <a:pPr marL="144463" marR="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Composite score </a:t>
            </a:r>
            <a:r>
              <a:rPr kumimoji="0" lang="en-US" sz="1100" b="0" i="0" u="none" strike="noStrike" kern="1200" cap="none" spc="0" normalizeH="0" baseline="0" noProof="0" dirty="0">
                <a:ln>
                  <a:noFill/>
                </a:ln>
                <a:solidFill>
                  <a:srgbClr val="000000"/>
                </a:solidFill>
                <a:effectLst/>
                <a:uLnTx/>
                <a:uFillTx/>
                <a:latin typeface="Arial"/>
                <a:ea typeface="+mn-ea"/>
                <a:cs typeface="Arial"/>
              </a:rPr>
              <a:t>for identifying disease severity using a combination of variables such as exercise intolerance and weight loss</a:t>
            </a:r>
          </a:p>
          <a:p>
            <a:pPr marL="144463" marR="0" lvl="0" indent="-144463" algn="l" defTabSz="1219170" rtl="0" eaLnBrk="1" fontAlgn="auto" latinLnBrk="0" hangingPunct="1">
              <a:lnSpc>
                <a:spcPct val="100000"/>
              </a:lnSpc>
              <a:spcBef>
                <a:spcPts val="0"/>
              </a:spcBef>
              <a:spcAft>
                <a:spcPts val="200"/>
              </a:spcAft>
              <a:buClr>
                <a:srgbClr val="F36633"/>
              </a:buClr>
              <a:buSzTx/>
              <a:buFont typeface="Arial" panose="020B0604020202020204" pitchFamily="34" charset="0"/>
              <a:buChar char="•"/>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Assessment of treatable traits </a:t>
            </a:r>
            <a:r>
              <a:rPr kumimoji="0" lang="en-US" sz="1100" b="0" i="0" u="none" strike="noStrike" kern="1200" cap="none" spc="0" normalizeH="0" baseline="0" noProof="0" dirty="0">
                <a:ln>
                  <a:noFill/>
                </a:ln>
                <a:solidFill>
                  <a:srgbClr val="000000"/>
                </a:solidFill>
                <a:effectLst/>
                <a:uLnTx/>
                <a:uFillTx/>
                <a:latin typeface="Arial"/>
                <a:ea typeface="+mn-ea"/>
                <a:cs typeface="Arial"/>
              </a:rPr>
              <a:t>for addressing heterogeneity and complexity of COPD in clinical practice (eg, persistent dyspnea and exacerbations)  </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2" name="object 7">
            <a:extLst>
              <a:ext uri="{FF2B5EF4-FFF2-40B4-BE49-F238E27FC236}">
                <a16:creationId xmlns:a16="http://schemas.microsoft.com/office/drawing/2014/main" id="{52DB7B03-BBB7-1C15-4C18-646FAC352EBF}"/>
              </a:ext>
            </a:extLst>
          </p:cNvPr>
          <p:cNvSpPr txBox="1"/>
          <p:nvPr/>
        </p:nvSpPr>
        <p:spPr>
          <a:xfrm>
            <a:off x="1491359" y="1935106"/>
            <a:ext cx="4558467" cy="1056308"/>
          </a:xfrm>
          <a:prstGeom prst="rect">
            <a:avLst/>
          </a:prstGeom>
          <a:solidFill>
            <a:schemeClr val="tx2">
              <a:lumMod val="20000"/>
              <a:lumOff val="80000"/>
            </a:schemeClr>
          </a:solidFill>
        </p:spPr>
        <p:txBody>
          <a:bodyPr vert="horz" wrap="square" lIns="45720" tIns="45720" rIns="45720" bIns="45720" rtlCol="0">
            <a:noAutofit/>
          </a:bodyPr>
          <a:lstStyle/>
          <a:p>
            <a:pPr marL="0" marR="0" lvl="0" indent="0" algn="l" defTabSz="1219170" rtl="0" eaLnBrk="1" fontAlgn="auto" latinLnBrk="0" hangingPunct="1">
              <a:lnSpc>
                <a:spcPct val="100000"/>
              </a:lnSpc>
              <a:spcBef>
                <a:spcPts val="900"/>
              </a:spcBef>
              <a:spcAft>
                <a:spcPts val="0"/>
              </a:spcAft>
              <a:buClrTx/>
              <a:buSzTx/>
              <a:buFontTx/>
              <a:buNone/>
              <a:tabLst/>
              <a:defRPr/>
            </a:pPr>
            <a:r>
              <a:rPr kumimoji="0" sz="1100" b="1" i="0" u="none" strike="noStrike" kern="1200" cap="none" spc="0" normalizeH="0" baseline="0" noProof="0" dirty="0">
                <a:ln>
                  <a:noFill/>
                </a:ln>
                <a:solidFill>
                  <a:srgbClr val="F36633"/>
                </a:solidFill>
                <a:effectLst/>
                <a:uLnTx/>
                <a:uFillTx/>
                <a:latin typeface="Arial"/>
                <a:ea typeface="+mn-ea"/>
                <a:cs typeface="Arial"/>
              </a:rPr>
              <a:t>Symptoms</a:t>
            </a:r>
            <a:endParaRPr kumimoji="0" sz="1100" b="0" i="0" u="none" strike="noStrike" kern="1200" cap="none" spc="0" normalizeH="0" baseline="24691" noProof="0" dirty="0">
              <a:ln>
                <a:noFill/>
              </a:ln>
              <a:solidFill>
                <a:srgbClr val="F36633"/>
              </a:solidFill>
              <a:effectLst/>
              <a:uLnTx/>
              <a:uFillTx/>
              <a:latin typeface="Arial"/>
              <a:ea typeface="+mn-ea"/>
              <a:cs typeface="Arial"/>
            </a:endParaRPr>
          </a:p>
          <a:p>
            <a:pPr marL="278765" marR="0" lvl="0" indent="-171450" algn="l" defTabSz="1219170" rtl="0" eaLnBrk="1" fontAlgn="auto" latinLnBrk="0" hangingPunct="1">
              <a:lnSpc>
                <a:spcPct val="100000"/>
              </a:lnSpc>
              <a:spcBef>
                <a:spcPts val="65"/>
              </a:spcBef>
              <a:spcAft>
                <a:spcPts val="0"/>
              </a:spcAft>
              <a:buClr>
                <a:srgbClr val="F36633"/>
              </a:buClr>
              <a:buSzTx/>
              <a:buFont typeface="Arial" panose="020B0604020202020204" pitchFamily="34" charset="0"/>
              <a:buChar char="•"/>
              <a:tabLst>
                <a:tab pos="280670" algn="l"/>
              </a:tabLst>
              <a:defRPr/>
            </a:pPr>
            <a:r>
              <a:rPr kumimoji="0" sz="1100" b="0" i="0" u="none" strike="noStrike" kern="1200" cap="none" spc="0" normalizeH="0" baseline="0" noProof="0" dirty="0">
                <a:ln>
                  <a:noFill/>
                </a:ln>
                <a:solidFill>
                  <a:srgbClr val="000000"/>
                </a:solidFill>
                <a:effectLst/>
                <a:uLnTx/>
                <a:uFillTx/>
                <a:latin typeface="Arial"/>
                <a:ea typeface="+mn-ea"/>
                <a:cs typeface="Arial"/>
              </a:rPr>
              <a:t>Dyspnea</a:t>
            </a:r>
            <a:r>
              <a:rPr kumimoji="0" lang="en-IN" sz="1100" b="0" i="0" u="none" strike="noStrike" kern="1200" cap="none" spc="0" normalizeH="0" baseline="0" noProof="0" dirty="0">
                <a:ln>
                  <a:noFill/>
                </a:ln>
                <a:solidFill>
                  <a:srgbClr val="000000"/>
                </a:solidFill>
                <a:effectLst/>
                <a:uLnTx/>
                <a:uFillTx/>
                <a:latin typeface="Arial"/>
                <a:ea typeface="+mn-ea"/>
                <a:cs typeface="Arial"/>
              </a:rPr>
              <a:t>*</a:t>
            </a:r>
          </a:p>
          <a:p>
            <a:pPr marL="278765" marR="0" lvl="0" indent="-171450" algn="l" defTabSz="1219170" rtl="0" eaLnBrk="1" fontAlgn="auto" latinLnBrk="0" hangingPunct="1">
              <a:lnSpc>
                <a:spcPct val="100000"/>
              </a:lnSpc>
              <a:spcBef>
                <a:spcPts val="65"/>
              </a:spcBef>
              <a:spcAft>
                <a:spcPts val="0"/>
              </a:spcAft>
              <a:buClr>
                <a:srgbClr val="F36633"/>
              </a:buClr>
              <a:buSzTx/>
              <a:buFont typeface="Arial" panose="020B0604020202020204" pitchFamily="34" charset="0"/>
              <a:buChar char="•"/>
              <a:tabLst>
                <a:tab pos="280670" algn="l"/>
              </a:tabLst>
              <a:defRPr/>
            </a:pPr>
            <a:r>
              <a:rPr kumimoji="0" lang="en-IN" sz="1100" b="0" i="0" u="none" strike="noStrike" kern="1200" cap="none" spc="0" normalizeH="0" baseline="0" noProof="0" dirty="0">
                <a:ln>
                  <a:noFill/>
                </a:ln>
                <a:solidFill>
                  <a:srgbClr val="000000"/>
                </a:solidFill>
                <a:effectLst/>
                <a:uLnTx/>
                <a:uFillTx/>
                <a:latin typeface="Arial"/>
                <a:ea typeface="+mn-ea"/>
                <a:cs typeface="Arial"/>
              </a:rPr>
              <a:t>Recurrent wheeze</a:t>
            </a:r>
            <a:endParaRPr kumimoji="0" sz="1100" b="0" i="0" u="none" strike="noStrike" kern="1200" cap="none" spc="0" normalizeH="0" baseline="0" noProof="0" dirty="0">
              <a:ln>
                <a:noFill/>
              </a:ln>
              <a:solidFill>
                <a:srgbClr val="000000"/>
              </a:solidFill>
              <a:effectLst/>
              <a:uLnTx/>
              <a:uFillTx/>
              <a:latin typeface="Arial"/>
              <a:ea typeface="+mn-ea"/>
              <a:cs typeface="Arial"/>
            </a:endParaRPr>
          </a:p>
          <a:p>
            <a:pPr marL="278765" marR="0" lvl="0" indent="-171450" algn="l" defTabSz="1219170" rtl="0" eaLnBrk="1" fontAlgn="auto" latinLnBrk="0" hangingPunct="1">
              <a:lnSpc>
                <a:spcPct val="100000"/>
              </a:lnSpc>
              <a:spcBef>
                <a:spcPts val="65"/>
              </a:spcBef>
              <a:spcAft>
                <a:spcPts val="0"/>
              </a:spcAft>
              <a:buClr>
                <a:srgbClr val="F36633"/>
              </a:buClr>
              <a:buSzTx/>
              <a:buFont typeface="Arial" panose="020B0604020202020204" pitchFamily="34" charset="0"/>
              <a:buChar char="•"/>
              <a:tabLst>
                <a:tab pos="280670" algn="l"/>
              </a:tabLst>
              <a:defRPr/>
            </a:pPr>
            <a:r>
              <a:rPr kumimoji="0" sz="1100" b="0" i="0" u="none" strike="noStrike" kern="1200" cap="none" spc="0" normalizeH="0" baseline="0" noProof="0" dirty="0">
                <a:ln>
                  <a:noFill/>
                </a:ln>
                <a:solidFill>
                  <a:srgbClr val="000000"/>
                </a:solidFill>
                <a:effectLst/>
                <a:uLnTx/>
                <a:uFillTx/>
                <a:latin typeface="Arial"/>
                <a:ea typeface="+mn-ea"/>
                <a:cs typeface="Arial"/>
              </a:rPr>
              <a:t>Chronic cough</a:t>
            </a:r>
            <a:r>
              <a:rPr kumimoji="0" lang="en-US" sz="1100" b="0" i="0" u="none" strike="noStrike" kern="1200" cap="none" spc="0" normalizeH="0" baseline="30000" noProof="0" dirty="0">
                <a:ln>
                  <a:noFill/>
                </a:ln>
                <a:solidFill>
                  <a:srgbClr val="000000"/>
                </a:solidFill>
                <a:effectLst/>
                <a:uLnTx/>
                <a:uFillTx/>
                <a:latin typeface="Arial"/>
                <a:ea typeface="+mn-ea"/>
                <a:cs typeface="Arial"/>
              </a:rPr>
              <a:t>†</a:t>
            </a:r>
            <a:endParaRPr kumimoji="0" sz="1100" b="0" i="0" u="none" strike="noStrike" kern="1200" cap="none" spc="0" normalizeH="0" baseline="30000" noProof="0" dirty="0">
              <a:ln>
                <a:noFill/>
              </a:ln>
              <a:solidFill>
                <a:srgbClr val="000000"/>
              </a:solidFill>
              <a:effectLst/>
              <a:uLnTx/>
              <a:uFillTx/>
              <a:latin typeface="Arial"/>
              <a:ea typeface="+mn-ea"/>
              <a:cs typeface="Arial"/>
            </a:endParaRPr>
          </a:p>
          <a:p>
            <a:pPr marL="278765" marR="0" lvl="0" indent="-171450" algn="l" defTabSz="1219170" rtl="0" eaLnBrk="1" fontAlgn="auto" latinLnBrk="0" hangingPunct="1">
              <a:lnSpc>
                <a:spcPct val="100000"/>
              </a:lnSpc>
              <a:spcBef>
                <a:spcPts val="45"/>
              </a:spcBef>
              <a:spcAft>
                <a:spcPts val="0"/>
              </a:spcAft>
              <a:buClr>
                <a:srgbClr val="F36633"/>
              </a:buClr>
              <a:buSzTx/>
              <a:buFont typeface="Arial" panose="020B0604020202020204" pitchFamily="34" charset="0"/>
              <a:buChar char="•"/>
              <a:tabLst>
                <a:tab pos="280670" algn="l"/>
              </a:tabLst>
              <a:defRPr/>
            </a:pPr>
            <a:r>
              <a:rPr kumimoji="0" lang="en-IN" sz="1100" b="0" i="0" u="none" strike="noStrike" kern="1200" cap="none" spc="0" normalizeH="0" baseline="0" noProof="0" dirty="0">
                <a:ln>
                  <a:noFill/>
                </a:ln>
                <a:solidFill>
                  <a:srgbClr val="000000"/>
                </a:solidFill>
                <a:effectLst/>
                <a:uLnTx/>
                <a:uFillTx/>
                <a:latin typeface="Arial"/>
                <a:ea typeface="+mn-ea"/>
                <a:cs typeface="Arial"/>
              </a:rPr>
              <a:t>Recurrent lower respiratory tract infection</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3" name="object 8">
            <a:extLst>
              <a:ext uri="{FF2B5EF4-FFF2-40B4-BE49-F238E27FC236}">
                <a16:creationId xmlns:a16="http://schemas.microsoft.com/office/drawing/2014/main" id="{15A13701-B2DF-E710-5598-D7EAAA32FCA5}"/>
              </a:ext>
            </a:extLst>
          </p:cNvPr>
          <p:cNvSpPr txBox="1"/>
          <p:nvPr/>
        </p:nvSpPr>
        <p:spPr>
          <a:xfrm>
            <a:off x="6142175" y="1935105"/>
            <a:ext cx="4558467" cy="1056308"/>
          </a:xfrm>
          <a:prstGeom prst="rect">
            <a:avLst/>
          </a:prstGeom>
          <a:solidFill>
            <a:schemeClr val="tx2">
              <a:lumMod val="20000"/>
              <a:lumOff val="80000"/>
            </a:schemeClr>
          </a:solidFill>
        </p:spPr>
        <p:txBody>
          <a:bodyPr vert="horz" wrap="square" lIns="45720" tIns="45720" rIns="45720" bIns="45720" rtlCol="0">
            <a:noAutofit/>
          </a:bodyPr>
          <a:lstStyle/>
          <a:p>
            <a:pPr marL="0" marR="0" lvl="0" indent="0" algn="l" defTabSz="1219170" rtl="0" eaLnBrk="1" fontAlgn="auto" latinLnBrk="0" hangingPunct="1">
              <a:lnSpc>
                <a:spcPct val="100000"/>
              </a:lnSpc>
              <a:spcBef>
                <a:spcPts val="150"/>
              </a:spcBef>
              <a:spcAft>
                <a:spcPts val="0"/>
              </a:spcAft>
              <a:buClrTx/>
              <a:buSzTx/>
              <a:buFontTx/>
              <a:buNone/>
              <a:tabLst/>
              <a:defRPr/>
            </a:pPr>
            <a:r>
              <a:rPr kumimoji="0" sz="1100" b="1" i="0" u="none" strike="noStrike" kern="1200" cap="none" spc="0" normalizeH="0" baseline="0" noProof="0" dirty="0">
                <a:ln>
                  <a:noFill/>
                </a:ln>
                <a:solidFill>
                  <a:srgbClr val="F36633"/>
                </a:solidFill>
                <a:effectLst/>
                <a:uLnTx/>
                <a:uFillTx/>
                <a:latin typeface="Arial"/>
                <a:ea typeface="+mn-ea"/>
                <a:cs typeface="Arial"/>
              </a:rPr>
              <a:t>Risk factors</a:t>
            </a:r>
            <a:endParaRPr kumimoji="0" sz="1100" b="0" i="0" u="none" strike="noStrike" kern="1200" cap="none" spc="0" normalizeH="0" baseline="24691" noProof="0" dirty="0">
              <a:ln>
                <a:noFill/>
              </a:ln>
              <a:solidFill>
                <a:srgbClr val="F36633"/>
              </a:solidFill>
              <a:effectLst/>
              <a:uLnTx/>
              <a:uFillTx/>
              <a:latin typeface="Arial"/>
              <a:ea typeface="+mn-ea"/>
              <a:cs typeface="Arial"/>
            </a:endParaRPr>
          </a:p>
          <a:p>
            <a:pPr marL="278765" marR="0" lvl="0" indent="-171450" algn="l" defTabSz="1219170" rtl="0" eaLnBrk="1" fontAlgn="auto" latinLnBrk="0" hangingPunct="1">
              <a:lnSpc>
                <a:spcPct val="100000"/>
              </a:lnSpc>
              <a:spcBef>
                <a:spcPts val="70"/>
              </a:spcBef>
              <a:spcAft>
                <a:spcPts val="0"/>
              </a:spcAft>
              <a:buClr>
                <a:srgbClr val="F36633"/>
              </a:buClr>
              <a:buSzTx/>
              <a:buFont typeface="Arial" panose="020B0604020202020204" pitchFamily="34" charset="0"/>
              <a:buChar char="•"/>
              <a:tabLst>
                <a:tab pos="280670" algn="l"/>
              </a:tabLst>
              <a:defRPr/>
            </a:pPr>
            <a:r>
              <a:rPr kumimoji="0" sz="1100" b="0" i="0" u="none" strike="noStrike" kern="1200" cap="none" spc="0" normalizeH="0" baseline="0" noProof="0" dirty="0">
                <a:ln>
                  <a:noFill/>
                </a:ln>
                <a:solidFill>
                  <a:srgbClr val="000000"/>
                </a:solidFill>
                <a:effectLst/>
                <a:uLnTx/>
                <a:uFillTx/>
                <a:latin typeface="Arial"/>
                <a:ea typeface="+mn-ea"/>
                <a:cs typeface="Arial"/>
              </a:rPr>
              <a:t>Host factors</a:t>
            </a:r>
            <a:r>
              <a:rPr kumimoji="0" lang="en-US" sz="1100" b="0" i="0" u="none" strike="noStrike" kern="1200" cap="none" spc="0" normalizeH="0" baseline="30000" noProof="0" dirty="0">
                <a:ln>
                  <a:noFill/>
                </a:ln>
                <a:solidFill>
                  <a:srgbClr val="000000"/>
                </a:solidFill>
                <a:effectLst/>
                <a:uLnTx/>
                <a:uFillTx/>
                <a:latin typeface="Arial"/>
                <a:ea typeface="+mn-ea"/>
                <a:cs typeface="Arial"/>
              </a:rPr>
              <a:t>‡</a:t>
            </a:r>
            <a:endParaRPr kumimoji="0" sz="1100" b="0" i="0" u="none" strike="noStrike" kern="1200" cap="none" spc="0" normalizeH="0" baseline="30000" noProof="0" dirty="0">
              <a:ln>
                <a:noFill/>
              </a:ln>
              <a:solidFill>
                <a:srgbClr val="000000"/>
              </a:solidFill>
              <a:effectLst/>
              <a:uLnTx/>
              <a:uFillTx/>
              <a:latin typeface="Arial"/>
              <a:ea typeface="+mn-ea"/>
              <a:cs typeface="Arial"/>
            </a:endParaRPr>
          </a:p>
          <a:p>
            <a:pPr marL="278765" marR="0" lvl="0" indent="-171450" algn="l" defTabSz="1219170" rtl="0" eaLnBrk="1" fontAlgn="auto" latinLnBrk="0" hangingPunct="1">
              <a:lnSpc>
                <a:spcPct val="100000"/>
              </a:lnSpc>
              <a:spcBef>
                <a:spcPts val="60"/>
              </a:spcBef>
              <a:spcAft>
                <a:spcPts val="0"/>
              </a:spcAft>
              <a:buClr>
                <a:srgbClr val="F36633"/>
              </a:buClr>
              <a:buSzTx/>
              <a:buFont typeface="Arial" panose="020B0604020202020204" pitchFamily="34" charset="0"/>
              <a:buChar char="•"/>
              <a:tabLst>
                <a:tab pos="280670" algn="l"/>
              </a:tabLst>
              <a:defRPr/>
            </a:pPr>
            <a:r>
              <a:rPr kumimoji="0" sz="1100" b="0" i="0" u="none" strike="noStrike" kern="1200" cap="none" spc="0" normalizeH="0" baseline="0" noProof="0" dirty="0">
                <a:ln>
                  <a:noFill/>
                </a:ln>
                <a:solidFill>
                  <a:srgbClr val="000000"/>
                </a:solidFill>
                <a:effectLst/>
                <a:uLnTx/>
                <a:uFillTx/>
                <a:latin typeface="Arial"/>
                <a:ea typeface="+mn-ea"/>
                <a:cs typeface="Arial"/>
              </a:rPr>
              <a:t>Tobacco</a:t>
            </a:r>
            <a:endParaRPr kumimoji="0" lang="en-IN" sz="1100" b="0" i="0" u="none" strike="noStrike" kern="1200" cap="none" spc="0" normalizeH="0" baseline="0" noProof="0" dirty="0">
              <a:ln>
                <a:noFill/>
              </a:ln>
              <a:solidFill>
                <a:srgbClr val="000000"/>
              </a:solidFill>
              <a:effectLst/>
              <a:uLnTx/>
              <a:uFillTx/>
              <a:latin typeface="Arial"/>
              <a:ea typeface="+mn-ea"/>
              <a:cs typeface="Arial"/>
            </a:endParaRPr>
          </a:p>
          <a:p>
            <a:pPr marL="278765" marR="0" lvl="0" indent="-171450" algn="l" defTabSz="1219170" rtl="0" eaLnBrk="1" fontAlgn="auto" latinLnBrk="0" hangingPunct="1">
              <a:lnSpc>
                <a:spcPct val="100000"/>
              </a:lnSpc>
              <a:spcBef>
                <a:spcPts val="60"/>
              </a:spcBef>
              <a:spcAft>
                <a:spcPts val="0"/>
              </a:spcAft>
              <a:buClr>
                <a:srgbClr val="F36633"/>
              </a:buClr>
              <a:buSzTx/>
              <a:buFont typeface="Arial" panose="020B0604020202020204" pitchFamily="34" charset="0"/>
              <a:buChar char="•"/>
              <a:tabLst>
                <a:tab pos="280670" algn="l"/>
              </a:tabLst>
              <a:defRPr/>
            </a:pPr>
            <a:r>
              <a:rPr kumimoji="0" lang="en-GB" sz="1100" b="0" i="0" u="none" strike="noStrike" kern="1200" cap="none" spc="0" normalizeH="0" baseline="0" noProof="0" dirty="0">
                <a:ln>
                  <a:noFill/>
                </a:ln>
                <a:solidFill>
                  <a:srgbClr val="000000"/>
                </a:solidFill>
                <a:effectLst/>
                <a:uLnTx/>
                <a:uFillTx/>
                <a:latin typeface="Arial"/>
                <a:ea typeface="+mn-ea"/>
                <a:cs typeface="Arial"/>
              </a:rPr>
              <a:t>Smoke from cooking and heating fuels</a:t>
            </a:r>
            <a:endParaRPr kumimoji="0" sz="1100" b="0" i="0" u="none" strike="noStrike" kern="1200" cap="none" spc="0" normalizeH="0" baseline="0" noProof="0" dirty="0">
              <a:ln>
                <a:noFill/>
              </a:ln>
              <a:solidFill>
                <a:srgbClr val="000000"/>
              </a:solidFill>
              <a:effectLst/>
              <a:uLnTx/>
              <a:uFillTx/>
              <a:latin typeface="Arial"/>
              <a:ea typeface="+mn-ea"/>
              <a:cs typeface="Arial"/>
            </a:endParaRPr>
          </a:p>
          <a:p>
            <a:pPr marL="278765" marR="0" lvl="0" indent="-171450" algn="l" defTabSz="1219170" rtl="0" eaLnBrk="1" fontAlgn="auto" latinLnBrk="0" hangingPunct="1">
              <a:lnSpc>
                <a:spcPct val="100000"/>
              </a:lnSpc>
              <a:spcBef>
                <a:spcPts val="50"/>
              </a:spcBef>
              <a:spcAft>
                <a:spcPts val="0"/>
              </a:spcAft>
              <a:buClr>
                <a:srgbClr val="F36633"/>
              </a:buClr>
              <a:buSzTx/>
              <a:buFont typeface="Arial" panose="020B0604020202020204" pitchFamily="34" charset="0"/>
              <a:buChar char="•"/>
              <a:tabLst>
                <a:tab pos="280670" algn="l"/>
              </a:tabLst>
              <a:defRPr/>
            </a:pPr>
            <a:r>
              <a:rPr kumimoji="0" sz="1100" b="0" i="0" u="none" strike="noStrike" kern="1200" cap="none" spc="0" normalizeH="0" baseline="0" noProof="0" dirty="0">
                <a:ln>
                  <a:noFill/>
                </a:ln>
                <a:solidFill>
                  <a:srgbClr val="000000"/>
                </a:solidFill>
                <a:effectLst/>
                <a:uLnTx/>
                <a:uFillTx/>
                <a:latin typeface="Arial"/>
                <a:ea typeface="+mn-ea"/>
                <a:cs typeface="Arial"/>
              </a:rPr>
              <a:t>Occupation</a:t>
            </a:r>
            <a:r>
              <a:rPr kumimoji="0" lang="en-IN" sz="1100" b="0" i="0" u="none" strike="noStrike" kern="1200" cap="none" spc="0" normalizeH="0" baseline="0" noProof="0" dirty="0">
                <a:ln>
                  <a:noFill/>
                </a:ln>
                <a:solidFill>
                  <a:srgbClr val="000000"/>
                </a:solidFill>
                <a:effectLst/>
                <a:uLnTx/>
                <a:uFillTx/>
                <a:latin typeface="Arial"/>
                <a:ea typeface="+mn-ea"/>
                <a:cs typeface="Arial"/>
              </a:rPr>
              <a:t>al dusts, vapours, gases and other chemicals</a:t>
            </a:r>
          </a:p>
        </p:txBody>
      </p:sp>
      <p:sp>
        <p:nvSpPr>
          <p:cNvPr id="25" name="object 9">
            <a:extLst>
              <a:ext uri="{FF2B5EF4-FFF2-40B4-BE49-F238E27FC236}">
                <a16:creationId xmlns:a16="http://schemas.microsoft.com/office/drawing/2014/main" id="{8B3F063D-2623-9192-9E05-5186C77B484F}"/>
              </a:ext>
            </a:extLst>
          </p:cNvPr>
          <p:cNvSpPr txBox="1"/>
          <p:nvPr/>
        </p:nvSpPr>
        <p:spPr>
          <a:xfrm>
            <a:off x="4836160" y="3231846"/>
            <a:ext cx="2519680" cy="615479"/>
          </a:xfrm>
          <a:prstGeom prst="rect">
            <a:avLst/>
          </a:prstGeom>
          <a:solidFill>
            <a:schemeClr val="bg2"/>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Arial"/>
              </a:rPr>
              <a:t>Spirometry</a:t>
            </a:r>
            <a:endParaRPr kumimoji="0" sz="1100" b="0" i="0" u="none" strike="noStrike" kern="1200" cap="none" spc="0" normalizeH="0" baseline="24691"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210"/>
              </a:spcBef>
              <a:spcAft>
                <a:spcPts val="0"/>
              </a:spcAft>
              <a:buClrTx/>
              <a:buSzTx/>
              <a:buFontTx/>
              <a:buNone/>
              <a:tabLst/>
              <a:defRPr/>
            </a:pPr>
            <a:r>
              <a:rPr kumimoji="0" sz="1100" b="0" i="0" u="none" strike="noStrike" kern="1200" cap="none" spc="0" normalizeH="0" baseline="0" noProof="0" dirty="0">
                <a:ln>
                  <a:noFill/>
                </a:ln>
                <a:solidFill>
                  <a:srgbClr val="FFFFFF"/>
                </a:solidFill>
                <a:effectLst/>
                <a:uLnTx/>
                <a:uFillTx/>
                <a:latin typeface="Arial"/>
                <a:ea typeface="+mn-ea"/>
                <a:cs typeface="Arial"/>
              </a:rPr>
              <a:t>Required to establish </a:t>
            </a:r>
            <a:r>
              <a:rPr kumimoji="0" lang="en-IN" sz="1100" b="0" i="0" u="none" strike="noStrike" kern="1200" cap="none" spc="0" normalizeH="0" baseline="0" noProof="0" dirty="0">
                <a:ln>
                  <a:noFill/>
                </a:ln>
                <a:solidFill>
                  <a:srgbClr val="FFFFFF"/>
                </a:solidFill>
                <a:effectLst/>
                <a:uLnTx/>
                <a:uFillTx/>
                <a:latin typeface="Arial"/>
                <a:ea typeface="+mn-ea"/>
                <a:cs typeface="Arial"/>
              </a:rPr>
              <a:t>COPD </a:t>
            </a:r>
            <a:r>
              <a:rPr kumimoji="0" sz="1100" b="0" i="0" u="none" strike="noStrike" kern="1200" cap="none" spc="0" normalizeH="0" baseline="0" noProof="0" dirty="0">
                <a:ln>
                  <a:noFill/>
                </a:ln>
                <a:solidFill>
                  <a:srgbClr val="FFFFFF"/>
                </a:solidFill>
                <a:effectLst/>
                <a:uLnTx/>
                <a:uFillTx/>
                <a:latin typeface="Arial"/>
                <a:ea typeface="+mn-ea"/>
                <a:cs typeface="Arial"/>
              </a:rPr>
              <a:t>diagnosis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cxnSp>
        <p:nvCxnSpPr>
          <p:cNvPr id="30" name="Connector: Elbow 29">
            <a:extLst>
              <a:ext uri="{FF2B5EF4-FFF2-40B4-BE49-F238E27FC236}">
                <a16:creationId xmlns:a16="http://schemas.microsoft.com/office/drawing/2014/main" id="{2B781872-3B76-2AD6-9250-8B9B5E40E6D8}"/>
              </a:ext>
            </a:extLst>
          </p:cNvPr>
          <p:cNvCxnSpPr>
            <a:stCxn id="22" idx="2"/>
            <a:endCxn id="25" idx="0"/>
          </p:cNvCxnSpPr>
          <p:nvPr/>
        </p:nvCxnSpPr>
        <p:spPr>
          <a:xfrm rot="16200000" flipH="1">
            <a:off x="4813080" y="1948926"/>
            <a:ext cx="240432" cy="2325407"/>
          </a:xfrm>
          <a:prstGeom prst="bentConnector3">
            <a:avLst/>
          </a:prstGeom>
          <a:ln w="19050" cap="rnd">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C755F326-50AF-5720-F442-F5DBBF54E749}"/>
              </a:ext>
            </a:extLst>
          </p:cNvPr>
          <p:cNvCxnSpPr>
            <a:cxnSpLocks/>
            <a:stCxn id="23" idx="2"/>
            <a:endCxn id="25" idx="0"/>
          </p:cNvCxnSpPr>
          <p:nvPr/>
        </p:nvCxnSpPr>
        <p:spPr>
          <a:xfrm rot="5400000">
            <a:off x="7138489" y="1948925"/>
            <a:ext cx="240433" cy="2325409"/>
          </a:xfrm>
          <a:prstGeom prst="bentConnector3">
            <a:avLst>
              <a:gd name="adj1" fmla="val 50000"/>
            </a:avLst>
          </a:prstGeom>
          <a:ln w="19050" cap="rnd">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999626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69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5E59F4EA-5ABC-4BB1-A312-5312EFDF7762}"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FEV</a:t>
            </a:r>
            <a:r>
              <a:rPr lang="en-US" baseline="-25000" dirty="0"/>
              <a:t>1</a:t>
            </a:r>
            <a:r>
              <a:rPr lang="en-US" dirty="0"/>
              <a:t>, forced expiratory volume in 1 second; FVC, forced vital capacity</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p:txBody>
          <a:bodyPr/>
          <a:lstStyle/>
          <a:p>
            <a:r>
              <a:rPr lang="en-GB" dirty="0"/>
              <a:t>Spirometry</a:t>
            </a:r>
          </a:p>
        </p:txBody>
      </p:sp>
      <p:pic>
        <p:nvPicPr>
          <p:cNvPr id="16" name="object 4">
            <a:extLst>
              <a:ext uri="{FF2B5EF4-FFF2-40B4-BE49-F238E27FC236}">
                <a16:creationId xmlns:a16="http://schemas.microsoft.com/office/drawing/2014/main" id="{7BE59FE7-71A9-9877-4E1D-EE4DB1DCE606}"/>
              </a:ext>
            </a:extLst>
          </p:cNvPr>
          <p:cNvPicPr/>
          <p:nvPr/>
        </p:nvPicPr>
        <p:blipFill rotWithShape="1">
          <a:blip r:embed="rId4" cstate="print"/>
          <a:srcRect l="16667" r="16667"/>
          <a:stretch/>
        </p:blipFill>
        <p:spPr>
          <a:xfrm>
            <a:off x="7444885" y="1300200"/>
            <a:ext cx="4193815" cy="4193814"/>
          </a:xfrm>
          <a:prstGeom prst="snip2DiagRect">
            <a:avLst/>
          </a:prstGeom>
          <a:ln w="19050">
            <a:solidFill>
              <a:schemeClr val="tx2"/>
            </a:solidFill>
          </a:ln>
          <a:effectLst>
            <a:softEdge rad="63500"/>
          </a:effectLst>
        </p:spPr>
      </p:pic>
      <p:sp>
        <p:nvSpPr>
          <p:cNvPr id="11" name="object 5">
            <a:extLst>
              <a:ext uri="{FF2B5EF4-FFF2-40B4-BE49-F238E27FC236}">
                <a16:creationId xmlns:a16="http://schemas.microsoft.com/office/drawing/2014/main" id="{8981FF95-ACCE-733D-52AC-7400A45B491E}"/>
              </a:ext>
            </a:extLst>
          </p:cNvPr>
          <p:cNvSpPr/>
          <p:nvPr/>
        </p:nvSpPr>
        <p:spPr>
          <a:xfrm>
            <a:off x="365125" y="1300296"/>
            <a:ext cx="7026276" cy="3994017"/>
          </a:xfrm>
          <a:custGeom>
            <a:avLst/>
            <a:gdLst/>
            <a:ahLst/>
            <a:cxnLst/>
            <a:rect l="l" t="t" r="r" b="b"/>
            <a:pathLst>
              <a:path w="3942715" h="3371215">
                <a:moveTo>
                  <a:pt x="3942588" y="0"/>
                </a:moveTo>
                <a:lnTo>
                  <a:pt x="0" y="0"/>
                </a:lnTo>
                <a:lnTo>
                  <a:pt x="0" y="3371088"/>
                </a:lnTo>
                <a:lnTo>
                  <a:pt x="3942588" y="3371088"/>
                </a:lnTo>
                <a:lnTo>
                  <a:pt x="3942588" y="0"/>
                </a:lnTo>
                <a:close/>
              </a:path>
            </a:pathLst>
          </a:custGeom>
          <a:solidFill>
            <a:schemeClr val="bg2">
              <a:lumMod val="20000"/>
              <a:lumOff val="80000"/>
            </a:schemeClr>
          </a:solidFill>
        </p:spPr>
        <p:txBody>
          <a:bodyPr wrap="square" lIns="91440" tIns="45720" rIns="45720" bIns="45720" rtlCol="0" anchor="ctr" anchorCtr="0"/>
          <a:lstStyle/>
          <a:p>
            <a:pPr marL="227013" marR="0" lvl="0" indent="-227013" algn="l" defTabSz="1219170" rtl="0" eaLnBrk="1" fontAlgn="auto" latinLnBrk="0" hangingPunct="1">
              <a:lnSpc>
                <a:spcPct val="100000"/>
              </a:lnSpc>
              <a:spcBef>
                <a:spcPts val="1200"/>
              </a:spcBef>
              <a:spcAft>
                <a:spcPts val="0"/>
              </a:spcAft>
              <a:buClr>
                <a:srgbClr val="F3663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A non-invasive, reproducible, cheap and readily available test to measure airflow obstruction objectively</a:t>
            </a:r>
          </a:p>
          <a:p>
            <a:pPr marL="227013" marR="0" lvl="0" indent="-227013" algn="l" defTabSz="1219170" rtl="0" eaLnBrk="1" fontAlgn="auto" latinLnBrk="0" hangingPunct="1">
              <a:lnSpc>
                <a:spcPct val="100000"/>
              </a:lnSpc>
              <a:spcBef>
                <a:spcPts val="1200"/>
              </a:spcBef>
              <a:spcAft>
                <a:spcPts val="0"/>
              </a:spcAft>
              <a:buClr>
                <a:srgbClr val="F3663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Measures i) the volume of air forcibly exhaled from the point of maximal inspiration (</a:t>
            </a:r>
            <a:r>
              <a:rPr kumimoji="0" lang="en-US" sz="2000" b="0" i="0" u="none" strike="noStrike" kern="1200" cap="none" spc="0" normalizeH="0" baseline="0" noProof="0" dirty="0" err="1">
                <a:ln>
                  <a:noFill/>
                </a:ln>
                <a:solidFill>
                  <a:srgbClr val="000000"/>
                </a:solidFill>
                <a:effectLst/>
                <a:uLnTx/>
                <a:uFillTx/>
                <a:latin typeface="Arial"/>
                <a:ea typeface="+mn-ea"/>
                <a:cs typeface="Noto Sans"/>
              </a:rPr>
              <a:t>ie</a:t>
            </a:r>
            <a:r>
              <a:rPr kumimoji="0" lang="en-US" sz="2000" b="0" i="0" u="none" strike="noStrike" kern="1200" cap="none" spc="0" normalizeH="0" baseline="0" noProof="0" dirty="0">
                <a:ln>
                  <a:noFill/>
                </a:ln>
                <a:solidFill>
                  <a:srgbClr val="000000"/>
                </a:solidFill>
                <a:effectLst/>
                <a:uLnTx/>
                <a:uFillTx/>
                <a:latin typeface="Arial"/>
                <a:ea typeface="+mn-ea"/>
                <a:cs typeface="Noto Sans"/>
              </a:rPr>
              <a:t>, FVC) and ii) the volume of air exhaled during the first second of this maneuver (</a:t>
            </a:r>
            <a:r>
              <a:rPr kumimoji="0" lang="en-US" sz="2000" b="0" i="0" u="none" strike="noStrike" kern="1200" cap="none" spc="0" normalizeH="0" baseline="0" noProof="0" dirty="0" err="1">
                <a:ln>
                  <a:noFill/>
                </a:ln>
                <a:solidFill>
                  <a:srgbClr val="000000"/>
                </a:solidFill>
                <a:effectLst/>
                <a:uLnTx/>
                <a:uFillTx/>
                <a:latin typeface="Arial"/>
                <a:ea typeface="+mn-ea"/>
                <a:cs typeface="Noto Sans"/>
              </a:rPr>
              <a:t>ie</a:t>
            </a:r>
            <a:r>
              <a:rPr kumimoji="0" lang="en-US" sz="2000" b="0" i="0" u="none" strike="noStrike" kern="1200" cap="none" spc="0" normalizeH="0" baseline="0" noProof="0" dirty="0">
                <a:ln>
                  <a:noFill/>
                </a:ln>
                <a:solidFill>
                  <a:srgbClr val="000000"/>
                </a:solidFill>
                <a:effectLst/>
                <a:uLnTx/>
                <a:uFillTx/>
                <a:latin typeface="Arial"/>
                <a:ea typeface="+mn-ea"/>
                <a:cs typeface="Noto Sans"/>
              </a:rPr>
              <a:t>, FEV</a:t>
            </a:r>
            <a:r>
              <a:rPr kumimoji="0" lang="en-US" sz="2000" b="0" i="0" u="none" strike="noStrike" kern="1200" cap="none" spc="0" normalizeH="0" baseline="-25000" noProof="0" dirty="0">
                <a:ln>
                  <a:noFill/>
                </a:ln>
                <a:solidFill>
                  <a:srgbClr val="000000"/>
                </a:solidFill>
                <a:effectLst/>
                <a:uLnTx/>
                <a:uFillTx/>
                <a:latin typeface="Arial"/>
                <a:ea typeface="+mn-ea"/>
                <a:cs typeface="Noto Sans"/>
              </a:rPr>
              <a:t>1</a:t>
            </a:r>
            <a:r>
              <a:rPr kumimoji="0" lang="en-US" sz="2000" b="0" i="0" u="none" strike="noStrike" kern="1200" cap="none" spc="0" normalizeH="0" baseline="0" noProof="0" dirty="0">
                <a:ln>
                  <a:noFill/>
                </a:ln>
                <a:solidFill>
                  <a:srgbClr val="000000"/>
                </a:solidFill>
                <a:effectLst/>
                <a:uLnTx/>
                <a:uFillTx/>
                <a:latin typeface="Arial"/>
                <a:ea typeface="+mn-ea"/>
                <a:cs typeface="Noto Sans"/>
              </a:rPr>
              <a:t>)</a:t>
            </a:r>
          </a:p>
          <a:p>
            <a:pPr marL="227013" marR="0" lvl="0" indent="-227013" algn="l" defTabSz="1219170" rtl="0" eaLnBrk="1" fontAlgn="auto" latinLnBrk="0" hangingPunct="1">
              <a:lnSpc>
                <a:spcPct val="100000"/>
              </a:lnSpc>
              <a:spcBef>
                <a:spcPts val="1200"/>
              </a:spcBef>
              <a:spcAft>
                <a:spcPts val="0"/>
              </a:spcAft>
              <a:buClr>
                <a:srgbClr val="F36633"/>
              </a:buClr>
              <a:buSzTx/>
              <a:buFont typeface="Arial" panose="020B0604020202020204" pitchFamily="34" charset="0"/>
              <a:buChar char="•"/>
              <a:tabLst/>
              <a:defRPr/>
            </a:pPr>
            <a:r>
              <a:rPr kumimoji="0" lang="en-US" sz="2000" b="0" i="0" u="none" strike="noStrike" kern="1200" cap="none" spc="0" normalizeH="0" baseline="0" noProof="0" dirty="0">
                <a:ln>
                  <a:noFill/>
                </a:ln>
                <a:solidFill>
                  <a:srgbClr val="000000"/>
                </a:solidFill>
                <a:effectLst/>
                <a:uLnTx/>
                <a:uFillTx/>
                <a:latin typeface="Arial"/>
                <a:ea typeface="+mn-ea"/>
                <a:cs typeface="Noto Sans"/>
              </a:rPr>
              <a:t>Diagnosis of COPD and determination of spirometric grades (severity of airflow limitation) are based on FEV</a:t>
            </a:r>
            <a:r>
              <a:rPr kumimoji="0" lang="en-US" sz="2000" b="0" i="0" u="none" strike="noStrike" kern="1200" cap="none" spc="0" normalizeH="0" baseline="-25000" noProof="0" dirty="0">
                <a:ln>
                  <a:noFill/>
                </a:ln>
                <a:solidFill>
                  <a:srgbClr val="000000"/>
                </a:solidFill>
                <a:effectLst/>
                <a:uLnTx/>
                <a:uFillTx/>
                <a:latin typeface="Arial"/>
                <a:ea typeface="+mn-ea"/>
                <a:cs typeface="Noto Sans"/>
              </a:rPr>
              <a:t>1</a:t>
            </a:r>
            <a:r>
              <a:rPr kumimoji="0" lang="en-US" sz="2000" b="0" i="0" u="none" strike="noStrike" kern="1200" cap="none" spc="0" normalizeH="0" baseline="0" noProof="0" dirty="0">
                <a:ln>
                  <a:noFill/>
                </a:ln>
                <a:solidFill>
                  <a:srgbClr val="000000"/>
                </a:solidFill>
                <a:effectLst/>
                <a:uLnTx/>
                <a:uFillTx/>
                <a:latin typeface="Arial"/>
                <a:ea typeface="+mn-ea"/>
                <a:cs typeface="Noto Sans"/>
              </a:rPr>
              <a:t> and FVC</a:t>
            </a:r>
          </a:p>
        </p:txBody>
      </p:sp>
    </p:spTree>
    <p:custDataLst>
      <p:tags r:id="rId1"/>
    </p:custDataLst>
    <p:extLst>
      <p:ext uri="{BB962C8B-B14F-4D97-AF65-F5344CB8AC3E}">
        <p14:creationId xmlns:p14="http://schemas.microsoft.com/office/powerpoint/2010/main" val="733290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3E3E78C7-C5D8-4F17-8122-A0B77DF9246D}"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CAT, COPD Assessment Test; CRQ, Chronic Respiratory Questionnaire; FEV</a:t>
            </a:r>
            <a:r>
              <a:rPr lang="en-US" baseline="-25000" dirty="0"/>
              <a:t>1</a:t>
            </a:r>
            <a:r>
              <a:rPr lang="en-US" dirty="0"/>
              <a:t>, forced expiratory volume in 1 second; GOLD, Global Initiative for Chronic Obstructive Lung Disease; mMRC, modified Medical Research Council; SGRQ, St George’s Respiratory Questionnaire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p:txBody>
          <a:bodyPr/>
          <a:lstStyle/>
          <a:p>
            <a:r>
              <a:rPr lang="en-GB" dirty="0"/>
              <a:t>Assessment of COPD</a:t>
            </a:r>
          </a:p>
        </p:txBody>
      </p:sp>
      <p:sp>
        <p:nvSpPr>
          <p:cNvPr id="2" name="object 3">
            <a:extLst>
              <a:ext uri="{FF2B5EF4-FFF2-40B4-BE49-F238E27FC236}">
                <a16:creationId xmlns:a16="http://schemas.microsoft.com/office/drawing/2014/main" id="{6364976E-96F9-F46B-28EB-A71A3781DA39}"/>
              </a:ext>
            </a:extLst>
          </p:cNvPr>
          <p:cNvSpPr txBox="1"/>
          <p:nvPr/>
        </p:nvSpPr>
        <p:spPr>
          <a:xfrm>
            <a:off x="365125" y="3272606"/>
            <a:ext cx="11460162" cy="2021707"/>
          </a:xfrm>
          <a:prstGeom prst="rect">
            <a:avLst/>
          </a:prstGeom>
        </p:spPr>
        <p:txBody>
          <a:bodyPr vert="horz" wrap="square" lIns="0" tIns="51435" rIns="0" bIns="0" rtlCol="0">
            <a:spAutoFit/>
          </a:bodyPr>
          <a:lstStyle/>
          <a:p>
            <a:pPr marL="0" marR="0" lvl="0" indent="0" algn="l" defTabSz="1219170" rtl="0" eaLnBrk="1" fontAlgn="auto" latinLnBrk="0" hangingPunct="1">
              <a:lnSpc>
                <a:spcPct val="100000"/>
              </a:lnSpc>
              <a:spcBef>
                <a:spcPts val="0"/>
              </a:spcBef>
              <a:spcAft>
                <a:spcPts val="600"/>
              </a:spcAft>
              <a:buClrTx/>
              <a:buSzTx/>
              <a:buFontTx/>
              <a:buNone/>
              <a:tabLst>
                <a:tab pos="224154" algn="l"/>
              </a:tabLst>
              <a:defRPr/>
            </a:pPr>
            <a:r>
              <a:rPr kumimoji="0" lang="en-IN" sz="1400" b="0" i="0" u="none" strike="noStrike" kern="1200" cap="none" spc="0" normalizeH="0" baseline="0" noProof="0" dirty="0">
                <a:ln>
                  <a:noFill/>
                </a:ln>
                <a:solidFill>
                  <a:srgbClr val="000000"/>
                </a:solidFill>
                <a:effectLst/>
                <a:uLnTx/>
                <a:uFillTx/>
                <a:latin typeface="Arial"/>
                <a:ea typeface="+mn-ea"/>
                <a:cs typeface="Arial"/>
              </a:rPr>
              <a:t>To guide therapy, COPD assessment must focus on the following 4 fundamental aspects</a:t>
            </a:r>
            <a:r>
              <a:rPr kumimoji="0" sz="1400" b="0" i="0" u="none" strike="noStrike" kern="1200" cap="none" spc="0" normalizeH="0" baseline="0" noProof="0" dirty="0">
                <a:ln>
                  <a:noFill/>
                </a:ln>
                <a:solidFill>
                  <a:srgbClr val="000000"/>
                </a:solidFill>
                <a:effectLst/>
                <a:uLnTx/>
                <a:uFillTx/>
                <a:latin typeface="Arial"/>
                <a:ea typeface="+mn-ea"/>
                <a:cs typeface="Arial"/>
              </a:rPr>
              <a:t>:</a:t>
            </a:r>
          </a:p>
          <a:p>
            <a:pPr marL="171450" marR="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24154" algn="l"/>
              </a:tabLst>
              <a:defRPr/>
            </a:pPr>
            <a:r>
              <a:rPr kumimoji="0" lang="en-IN" sz="1400" b="1" i="0" u="none" strike="noStrike" kern="1200" cap="none" spc="0" normalizeH="0" baseline="0" noProof="0" dirty="0">
                <a:ln>
                  <a:noFill/>
                </a:ln>
                <a:solidFill>
                  <a:srgbClr val="000000"/>
                </a:solidFill>
                <a:effectLst/>
                <a:uLnTx/>
                <a:uFillTx/>
                <a:latin typeface="Arial"/>
                <a:ea typeface="+mn-ea"/>
                <a:cs typeface="Arial"/>
              </a:rPr>
              <a:t>S</a:t>
            </a:r>
            <a:r>
              <a:rPr kumimoji="0" sz="1400" b="1" i="0" u="none" strike="noStrike" kern="1200" cap="none" spc="0" normalizeH="0" baseline="0" noProof="0" dirty="0" err="1">
                <a:ln>
                  <a:noFill/>
                </a:ln>
                <a:solidFill>
                  <a:srgbClr val="000000"/>
                </a:solidFill>
                <a:effectLst/>
                <a:uLnTx/>
                <a:uFillTx/>
                <a:latin typeface="Arial"/>
                <a:ea typeface="+mn-ea"/>
                <a:cs typeface="Arial"/>
              </a:rPr>
              <a:t>everity</a:t>
            </a:r>
            <a:r>
              <a:rPr kumimoji="0" sz="1400" b="1" i="0" u="none" strike="noStrike" kern="1200" cap="none" spc="0" normalizeH="0" baseline="0" noProof="0" dirty="0">
                <a:ln>
                  <a:noFill/>
                </a:ln>
                <a:solidFill>
                  <a:srgbClr val="000000"/>
                </a:solidFill>
                <a:effectLst/>
                <a:uLnTx/>
                <a:uFillTx/>
                <a:latin typeface="Arial"/>
                <a:ea typeface="+mn-ea"/>
                <a:cs typeface="Arial"/>
              </a:rPr>
              <a:t> of </a:t>
            </a:r>
            <a:r>
              <a:rPr kumimoji="0" lang="en-IN" sz="1400" b="1" i="0" u="none" strike="noStrike" kern="1200" cap="none" spc="0" normalizeH="0" baseline="0" noProof="0" dirty="0">
                <a:ln>
                  <a:noFill/>
                </a:ln>
                <a:solidFill>
                  <a:srgbClr val="000000"/>
                </a:solidFill>
                <a:effectLst/>
                <a:uLnTx/>
                <a:uFillTx/>
                <a:latin typeface="Arial"/>
                <a:ea typeface="+mn-ea"/>
                <a:cs typeface="Arial"/>
              </a:rPr>
              <a:t>airflow limitation</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a:p>
            <a:pPr marL="342900" marR="30480" lvl="1" indent="-171450" algn="l" defTabSz="1219170" rtl="0" eaLnBrk="1" fontAlgn="auto" latinLnBrk="0" hangingPunct="1">
              <a:lnSpc>
                <a:spcPct val="100000"/>
              </a:lnSpc>
              <a:spcBef>
                <a:spcPts val="0"/>
              </a:spcBef>
              <a:spcAft>
                <a:spcPts val="600"/>
              </a:spcAft>
              <a:buClrTx/>
              <a:buSzTx/>
              <a:buFontTx/>
              <a:buChar char="–"/>
              <a:tabLst>
                <a:tab pos="723265" algn="l"/>
                <a:tab pos="723900" algn="l"/>
              </a:tabLst>
              <a:defRPr/>
            </a:pPr>
            <a:r>
              <a:rPr kumimoji="0" lang="en-IN" sz="1400" b="0" i="0" u="none" strike="noStrike" kern="1200" cap="none" spc="0" normalizeH="0" baseline="0" noProof="0" dirty="0">
                <a:ln>
                  <a:noFill/>
                </a:ln>
                <a:solidFill>
                  <a:srgbClr val="000000"/>
                </a:solidFill>
                <a:effectLst/>
                <a:uLnTx/>
                <a:uFillTx/>
                <a:latin typeface="Arial"/>
                <a:ea typeface="+mn-ea"/>
                <a:cs typeface="Arial"/>
              </a:rPr>
              <a:t>GOLD</a:t>
            </a:r>
            <a:r>
              <a:rPr kumimoji="0" sz="1400" b="0" i="0" u="none" strike="noStrike" kern="1200" cap="none" spc="0" normalizeH="0" baseline="0" noProof="0" dirty="0">
                <a:ln>
                  <a:noFill/>
                </a:ln>
                <a:solidFill>
                  <a:srgbClr val="000000"/>
                </a:solidFill>
                <a:effectLst/>
                <a:uLnTx/>
                <a:uFillTx/>
                <a:latin typeface="Arial"/>
                <a:ea typeface="+mn-ea"/>
                <a:cs typeface="Arial"/>
              </a:rPr>
              <a:t> grades based on </a:t>
            </a:r>
            <a:r>
              <a:rPr kumimoji="0" lang="en-IN" sz="1400" b="0" i="0" u="none" strike="noStrike" kern="1200" cap="none" spc="0" normalizeH="0" baseline="0" noProof="0" dirty="0">
                <a:ln>
                  <a:noFill/>
                </a:ln>
                <a:solidFill>
                  <a:srgbClr val="000000"/>
                </a:solidFill>
                <a:effectLst/>
                <a:uLnTx/>
                <a:uFillTx/>
                <a:latin typeface="Arial"/>
                <a:ea typeface="+mn-ea"/>
                <a:cs typeface="Arial"/>
              </a:rPr>
              <a:t>post-bronchodilator </a:t>
            </a:r>
            <a:r>
              <a:rPr kumimoji="0" sz="1400" b="0" i="0" u="none" strike="noStrike" kern="1200" cap="none" spc="0" normalizeH="0" baseline="0" noProof="0" dirty="0">
                <a:ln>
                  <a:noFill/>
                </a:ln>
                <a:solidFill>
                  <a:srgbClr val="000000"/>
                </a:solidFill>
                <a:effectLst/>
                <a:uLnTx/>
                <a:uFillTx/>
                <a:latin typeface="Arial"/>
                <a:ea typeface="+mn-ea"/>
                <a:cs typeface="Arial"/>
              </a:rPr>
              <a:t>FEV</a:t>
            </a:r>
            <a:r>
              <a:rPr kumimoji="0" sz="1400" b="0" i="0" u="none" strike="noStrike" kern="1200" cap="none" spc="0" normalizeH="0" baseline="-21604" noProof="0" dirty="0">
                <a:ln>
                  <a:noFill/>
                </a:ln>
                <a:solidFill>
                  <a:srgbClr val="000000"/>
                </a:solidFill>
                <a:effectLst/>
                <a:uLnTx/>
                <a:uFillTx/>
                <a:latin typeface="Arial"/>
                <a:ea typeface="+mn-ea"/>
                <a:cs typeface="Arial"/>
              </a:rPr>
              <a:t>1</a:t>
            </a:r>
            <a:r>
              <a:rPr kumimoji="0" sz="1400" b="0" i="0" u="none" strike="noStrike" kern="1200" cap="none" spc="0" normalizeH="0" baseline="0" noProof="0" dirty="0">
                <a:ln>
                  <a:noFill/>
                </a:ln>
                <a:solidFill>
                  <a:srgbClr val="000000"/>
                </a:solidFill>
                <a:effectLst/>
                <a:uLnTx/>
                <a:uFillTx/>
                <a:latin typeface="Arial"/>
                <a:ea typeface="+mn-ea"/>
                <a:cs typeface="Arial"/>
              </a:rPr>
              <a:t> are used to assess the severity of</a:t>
            </a:r>
            <a:r>
              <a:rPr kumimoji="0" lang="en-US" sz="1400" b="0" i="0" u="none" strike="noStrike" kern="1200" cap="none" spc="0" normalizeH="0" baseline="0" noProof="0" dirty="0">
                <a:ln>
                  <a:noFill/>
                </a:ln>
                <a:solidFill>
                  <a:srgbClr val="000000"/>
                </a:solidFill>
                <a:effectLst/>
                <a:uLnTx/>
                <a:uFillTx/>
                <a:latin typeface="Arial"/>
                <a:ea typeface="+mn-ea"/>
                <a:cs typeface="Arial"/>
              </a:rPr>
              <a:t> </a:t>
            </a:r>
            <a:r>
              <a:rPr kumimoji="0" sz="1400" b="0" i="0" u="none" strike="noStrike" kern="1200" cap="none" spc="0" normalizeH="0" baseline="0" noProof="0" dirty="0">
                <a:ln>
                  <a:noFill/>
                </a:ln>
                <a:solidFill>
                  <a:srgbClr val="000000"/>
                </a:solidFill>
                <a:effectLst/>
                <a:uLnTx/>
                <a:uFillTx/>
                <a:latin typeface="Arial"/>
                <a:ea typeface="+mn-ea"/>
                <a:cs typeface="Arial"/>
              </a:rPr>
              <a:t>airflow limitation</a:t>
            </a:r>
            <a:endParaRPr kumimoji="0" sz="1400" b="0" i="0" u="none" strike="noStrike" kern="1200" cap="none" spc="0" normalizeH="0" baseline="30000" noProof="0" dirty="0">
              <a:ln>
                <a:noFill/>
              </a:ln>
              <a:solidFill>
                <a:srgbClr val="000000"/>
              </a:solidFill>
              <a:effectLst/>
              <a:uLnTx/>
              <a:uFillTx/>
              <a:latin typeface="Arial"/>
              <a:ea typeface="+mn-ea"/>
              <a:cs typeface="Arial"/>
            </a:endParaRPr>
          </a:p>
          <a:p>
            <a:pPr marL="171450" marR="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24154" algn="l"/>
              </a:tabLst>
              <a:defRPr/>
            </a:pPr>
            <a:r>
              <a:rPr kumimoji="0" lang="en-IN" sz="1400" b="1" i="0" u="none" strike="noStrike" kern="1200" cap="none" spc="0" normalizeH="0" baseline="0" noProof="0" dirty="0">
                <a:ln>
                  <a:noFill/>
                </a:ln>
                <a:solidFill>
                  <a:srgbClr val="000000"/>
                </a:solidFill>
                <a:effectLst/>
                <a:uLnTx/>
                <a:uFillTx/>
                <a:latin typeface="Arial"/>
                <a:ea typeface="+mn-ea"/>
                <a:cs typeface="Arial"/>
              </a:rPr>
              <a:t>N</a:t>
            </a:r>
            <a:r>
              <a:rPr kumimoji="0" sz="1400" b="1" i="0" u="none" strike="noStrike" kern="1200" cap="none" spc="0" normalizeH="0" baseline="0" noProof="0" dirty="0" err="1">
                <a:ln>
                  <a:noFill/>
                </a:ln>
                <a:solidFill>
                  <a:srgbClr val="000000"/>
                </a:solidFill>
                <a:effectLst/>
                <a:uLnTx/>
                <a:uFillTx/>
                <a:latin typeface="Arial"/>
                <a:ea typeface="+mn-ea"/>
                <a:cs typeface="Arial"/>
              </a:rPr>
              <a:t>ature</a:t>
            </a:r>
            <a:r>
              <a:rPr kumimoji="0" sz="1400" b="1" i="0" u="none" strike="noStrike" kern="1200" cap="none" spc="0" normalizeH="0" baseline="0" noProof="0" dirty="0">
                <a:ln>
                  <a:noFill/>
                </a:ln>
                <a:solidFill>
                  <a:srgbClr val="000000"/>
                </a:solidFill>
                <a:effectLst/>
                <a:uLnTx/>
                <a:uFillTx/>
                <a:latin typeface="Arial"/>
                <a:ea typeface="+mn-ea"/>
                <a:cs typeface="Arial"/>
              </a:rPr>
              <a:t> and magnitude of </a:t>
            </a:r>
            <a:r>
              <a:rPr kumimoji="0" lang="en-IN" sz="1400" b="1" i="0" u="none" strike="noStrike" kern="1200" cap="none" spc="0" normalizeH="0" baseline="0" noProof="0" dirty="0">
                <a:ln>
                  <a:noFill/>
                </a:ln>
                <a:solidFill>
                  <a:srgbClr val="000000"/>
                </a:solidFill>
                <a:effectLst/>
                <a:uLnTx/>
                <a:uFillTx/>
                <a:latin typeface="Arial"/>
                <a:ea typeface="+mn-ea"/>
                <a:cs typeface="Arial"/>
              </a:rPr>
              <a:t>current </a:t>
            </a:r>
            <a:r>
              <a:rPr kumimoji="0" sz="1400" b="1" i="0" u="none" strike="noStrike" kern="1200" cap="none" spc="0" normalizeH="0" baseline="0" noProof="0" dirty="0">
                <a:ln>
                  <a:noFill/>
                </a:ln>
                <a:solidFill>
                  <a:srgbClr val="000000"/>
                </a:solidFill>
                <a:effectLst/>
                <a:uLnTx/>
                <a:uFillTx/>
                <a:latin typeface="Arial"/>
                <a:ea typeface="+mn-ea"/>
                <a:cs typeface="Arial"/>
              </a:rPr>
              <a:t>symptoms</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a:p>
            <a:pPr marL="342900" marR="0" lvl="1" indent="-171450" algn="l" defTabSz="1219170" rtl="0" eaLnBrk="1" fontAlgn="auto" latinLnBrk="0" hangingPunct="1">
              <a:lnSpc>
                <a:spcPct val="100000"/>
              </a:lnSpc>
              <a:spcBef>
                <a:spcPts val="0"/>
              </a:spcBef>
              <a:spcAft>
                <a:spcPts val="600"/>
              </a:spcAft>
              <a:buClrTx/>
              <a:buSzTx/>
              <a:buFontTx/>
              <a:buChar char="–"/>
              <a:tabLst>
                <a:tab pos="723265" algn="l"/>
                <a:tab pos="723900" algn="l"/>
              </a:tabLst>
              <a:defRPr/>
            </a:pPr>
            <a:r>
              <a:rPr kumimoji="0" lang="en-IN" sz="1400" b="0" i="0" u="none" strike="noStrike" kern="1200" cap="none" spc="0" normalizeH="0" baseline="0" noProof="0" dirty="0">
                <a:ln>
                  <a:noFill/>
                </a:ln>
                <a:solidFill>
                  <a:srgbClr val="000000"/>
                </a:solidFill>
                <a:effectLst/>
                <a:uLnTx/>
                <a:uFillTx/>
                <a:latin typeface="Arial"/>
                <a:ea typeface="+mn-ea"/>
                <a:cs typeface="Arial"/>
              </a:rPr>
              <a:t>Validated questionnaires (eg, mMRC scale, SGRQ, CRQ and CAT™) are used to determine the nature and magnitude of symptoms</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a:p>
            <a:pPr marL="171450" marR="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24154" algn="l"/>
              </a:tabLst>
              <a:defRPr/>
            </a:pPr>
            <a:r>
              <a:rPr kumimoji="0" lang="en-IN" sz="1400" b="1" i="0" u="none" strike="noStrike" kern="1200" cap="none" spc="0" normalizeH="0" baseline="0" noProof="0" dirty="0">
                <a:ln>
                  <a:noFill/>
                </a:ln>
                <a:solidFill>
                  <a:srgbClr val="000000"/>
                </a:solidFill>
                <a:effectLst/>
                <a:uLnTx/>
                <a:uFillTx/>
                <a:latin typeface="Arial"/>
                <a:ea typeface="+mn-ea"/>
                <a:cs typeface="Arial"/>
              </a:rPr>
              <a:t>Previous </a:t>
            </a:r>
            <a:r>
              <a:rPr kumimoji="0" sz="1400" b="1" i="0" u="none" strike="noStrike" kern="1200" cap="none" spc="0" normalizeH="0" baseline="0" noProof="0" dirty="0">
                <a:ln>
                  <a:noFill/>
                </a:ln>
                <a:solidFill>
                  <a:srgbClr val="000000"/>
                </a:solidFill>
                <a:effectLst/>
                <a:uLnTx/>
                <a:uFillTx/>
                <a:latin typeface="Arial"/>
                <a:ea typeface="+mn-ea"/>
                <a:cs typeface="Arial"/>
              </a:rPr>
              <a:t>history </a:t>
            </a:r>
            <a:r>
              <a:rPr kumimoji="0" lang="en-IN" sz="1400" b="1" i="0" u="none" strike="noStrike" kern="1200" cap="none" spc="0" normalizeH="0" baseline="0" noProof="0" dirty="0">
                <a:ln>
                  <a:noFill/>
                </a:ln>
                <a:solidFill>
                  <a:srgbClr val="000000"/>
                </a:solidFill>
                <a:effectLst/>
                <a:uLnTx/>
                <a:uFillTx/>
                <a:latin typeface="Arial"/>
                <a:ea typeface="+mn-ea"/>
                <a:cs typeface="Arial"/>
              </a:rPr>
              <a:t>of moderate and severe </a:t>
            </a:r>
            <a:r>
              <a:rPr kumimoji="0" lang="en-US" sz="1400" b="1" i="0" u="none" strike="noStrike" kern="1200" cap="none" spc="0" normalizeH="0" baseline="0" noProof="0" dirty="0">
                <a:ln>
                  <a:noFill/>
                </a:ln>
                <a:solidFill>
                  <a:srgbClr val="000000"/>
                </a:solidFill>
                <a:effectLst/>
                <a:uLnTx/>
                <a:uFillTx/>
                <a:latin typeface="Arial"/>
                <a:ea typeface="+mn-ea"/>
                <a:cs typeface="Arial"/>
              </a:rPr>
              <a:t>exacerbations</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a:p>
            <a:pPr marL="171450" marR="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224154" algn="l"/>
              </a:tabLst>
              <a:defRPr/>
            </a:pPr>
            <a:r>
              <a:rPr kumimoji="0" sz="1400" b="1" i="0" u="none" strike="noStrike" kern="1200" cap="none" spc="0" normalizeH="0" baseline="0" noProof="0" dirty="0">
                <a:ln>
                  <a:noFill/>
                </a:ln>
                <a:solidFill>
                  <a:srgbClr val="000000"/>
                </a:solidFill>
                <a:effectLst/>
                <a:uLnTx/>
                <a:uFillTx/>
                <a:latin typeface="Arial"/>
                <a:ea typeface="+mn-ea"/>
                <a:cs typeface="Arial"/>
              </a:rPr>
              <a:t>Presence </a:t>
            </a:r>
            <a:r>
              <a:rPr kumimoji="0" lang="en-IN" sz="1400" b="1" i="0" u="none" strike="noStrike" kern="1200" cap="none" spc="0" normalizeH="0" baseline="0" noProof="0" dirty="0">
                <a:ln>
                  <a:noFill/>
                </a:ln>
                <a:solidFill>
                  <a:srgbClr val="000000"/>
                </a:solidFill>
                <a:effectLst/>
                <a:uLnTx/>
                <a:uFillTx/>
                <a:latin typeface="Arial"/>
                <a:ea typeface="+mn-ea"/>
                <a:cs typeface="Arial"/>
              </a:rPr>
              <a:t>and type </a:t>
            </a:r>
            <a:r>
              <a:rPr kumimoji="0" sz="1400" b="1" i="0" u="none" strike="noStrike" kern="1200" cap="none" spc="0" normalizeH="0" baseline="0" noProof="0" dirty="0">
                <a:ln>
                  <a:noFill/>
                </a:ln>
                <a:solidFill>
                  <a:srgbClr val="000000"/>
                </a:solidFill>
                <a:effectLst/>
                <a:uLnTx/>
                <a:uFillTx/>
                <a:latin typeface="Arial"/>
                <a:ea typeface="+mn-ea"/>
                <a:cs typeface="Arial"/>
              </a:rPr>
              <a:t>of </a:t>
            </a:r>
            <a:r>
              <a:rPr kumimoji="0" lang="en-IN" sz="1400" b="1" i="0" u="none" strike="noStrike" kern="1200" cap="none" spc="0" normalizeH="0" baseline="0" noProof="0" dirty="0">
                <a:ln>
                  <a:noFill/>
                </a:ln>
                <a:solidFill>
                  <a:srgbClr val="000000"/>
                </a:solidFill>
                <a:effectLst/>
                <a:uLnTx/>
                <a:uFillTx/>
                <a:latin typeface="Arial"/>
                <a:ea typeface="+mn-ea"/>
                <a:cs typeface="Arial"/>
              </a:rPr>
              <a:t>other diseases (multimorbidity)</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sp>
        <p:nvSpPr>
          <p:cNvPr id="7" name="object 6">
            <a:extLst>
              <a:ext uri="{FF2B5EF4-FFF2-40B4-BE49-F238E27FC236}">
                <a16:creationId xmlns:a16="http://schemas.microsoft.com/office/drawing/2014/main" id="{0086872D-7F32-E817-1D6C-9AB434E520B3}"/>
              </a:ext>
            </a:extLst>
          </p:cNvPr>
          <p:cNvSpPr txBox="1"/>
          <p:nvPr/>
        </p:nvSpPr>
        <p:spPr>
          <a:xfrm>
            <a:off x="374122" y="2383516"/>
            <a:ext cx="3605380" cy="708329"/>
          </a:xfrm>
          <a:prstGeom prst="rect">
            <a:avLst/>
          </a:prstGeom>
          <a:solidFill>
            <a:schemeClr val="accent1"/>
          </a:solidFill>
          <a:ln>
            <a:noFill/>
          </a:ln>
        </p:spPr>
        <p:txBody>
          <a:bodyPr vert="horz" wrap="square" lIns="45720" tIns="45720" rIns="45720" bIns="45720" rtlCol="0" anchor="ctr">
            <a:noAutofit/>
          </a:bodyPr>
          <a:lstStyle/>
          <a:p>
            <a:pPr marL="340995" marR="328295" lvl="0" indent="-3810" algn="ctr" defTabSz="1219170" rtl="0" eaLnBrk="1" fontAlgn="auto" latinLnBrk="0" hangingPunct="1">
              <a:lnSpc>
                <a:spcPct val="100000"/>
              </a:lnSpc>
              <a:spcBef>
                <a:spcPts val="409"/>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Determine the </a:t>
            </a:r>
            <a:r>
              <a:rPr kumimoji="0" lang="en-IN" sz="1400" b="1" i="0" u="sng" strike="noStrike" kern="1200" cap="none" spc="0" normalizeH="0" baseline="0" noProof="0" dirty="0">
                <a:ln>
                  <a:noFill/>
                </a:ln>
                <a:solidFill>
                  <a:srgbClr val="FFFFFF"/>
                </a:solidFill>
                <a:effectLst/>
                <a:uLnTx/>
                <a:uFillTx/>
                <a:latin typeface="Arial"/>
                <a:ea typeface="+mn-ea"/>
                <a:cs typeface="Arial"/>
              </a:rPr>
              <a:t>severity of airflow obstruction</a:t>
            </a:r>
            <a:endParaRPr kumimoji="0" sz="1400" b="0" i="0" u="sng" strike="noStrike" kern="1200" cap="none" spc="0" normalizeH="0" baseline="0" noProof="0" dirty="0">
              <a:ln>
                <a:noFill/>
              </a:ln>
              <a:solidFill>
                <a:srgbClr val="000000"/>
              </a:solidFill>
              <a:effectLst/>
              <a:uLnTx/>
              <a:uFillTx/>
              <a:latin typeface="Arial"/>
              <a:ea typeface="+mn-ea"/>
              <a:cs typeface="Arial"/>
            </a:endParaRPr>
          </a:p>
        </p:txBody>
      </p:sp>
      <p:sp>
        <p:nvSpPr>
          <p:cNvPr id="9" name="object 7">
            <a:extLst>
              <a:ext uri="{FF2B5EF4-FFF2-40B4-BE49-F238E27FC236}">
                <a16:creationId xmlns:a16="http://schemas.microsoft.com/office/drawing/2014/main" id="{82E8AE40-6D99-D014-D4C5-2B2D2A04A941}"/>
              </a:ext>
            </a:extLst>
          </p:cNvPr>
          <p:cNvSpPr txBox="1"/>
          <p:nvPr/>
        </p:nvSpPr>
        <p:spPr>
          <a:xfrm>
            <a:off x="4288582" y="2383516"/>
            <a:ext cx="3605380" cy="708329"/>
          </a:xfrm>
          <a:prstGeom prst="rect">
            <a:avLst/>
          </a:prstGeom>
          <a:solidFill>
            <a:schemeClr val="accent2"/>
          </a:solidFill>
          <a:ln>
            <a:noFill/>
          </a:ln>
        </p:spPr>
        <p:txBody>
          <a:bodyPr vert="horz" wrap="square" lIns="45720" tIns="45720" rIns="45720" bIns="45720" rtlCol="0" anchor="ctr">
            <a:noAutofit/>
          </a:bodyPr>
          <a:lstStyle/>
          <a:p>
            <a:pPr marL="356235" marR="348615" lvl="0" indent="635" algn="ctr" defTabSz="1219170" rtl="0" eaLnBrk="1" fontAlgn="auto" latinLnBrk="0" hangingPunct="1">
              <a:lnSpc>
                <a:spcPct val="100000"/>
              </a:lnSpc>
              <a:spcBef>
                <a:spcPts val="409"/>
              </a:spcBef>
              <a:spcAft>
                <a:spcPts val="0"/>
              </a:spcAft>
              <a:buClrTx/>
              <a:buSzTx/>
              <a:buFontTx/>
              <a:buNone/>
              <a:tabLst/>
              <a:defRPr/>
            </a:pPr>
            <a:r>
              <a:rPr kumimoji="0" sz="1400" b="1" i="0" u="none" strike="noStrike" kern="1200" cap="none" spc="0" normalizeH="0" baseline="0" noProof="0" dirty="0">
                <a:ln>
                  <a:noFill/>
                </a:ln>
                <a:solidFill>
                  <a:prstClr val="white"/>
                </a:solidFill>
                <a:effectLst/>
                <a:uLnTx/>
                <a:uFillTx/>
                <a:latin typeface="Arial"/>
                <a:ea typeface="+mn-ea"/>
                <a:cs typeface="Arial"/>
              </a:rPr>
              <a:t>Determine </a:t>
            </a:r>
            <a:r>
              <a:rPr kumimoji="0" lang="en-IN" sz="1400" b="1" i="0" u="none" strike="noStrike" kern="1200" cap="none" spc="0" normalizeH="0" baseline="0" noProof="0" dirty="0">
                <a:ln>
                  <a:noFill/>
                </a:ln>
                <a:solidFill>
                  <a:prstClr val="white"/>
                </a:solidFill>
                <a:effectLst/>
                <a:uLnTx/>
                <a:uFillTx/>
                <a:latin typeface="Arial"/>
                <a:ea typeface="+mn-ea"/>
                <a:cs typeface="Arial"/>
              </a:rPr>
              <a:t>the </a:t>
            </a:r>
            <a:r>
              <a:rPr kumimoji="0" sz="1400" b="1" i="0" u="none" strike="noStrike" kern="1200" cap="none" spc="0" normalizeH="0" baseline="0" noProof="0" dirty="0">
                <a:ln>
                  <a:noFill/>
                </a:ln>
                <a:solidFill>
                  <a:prstClr val="white"/>
                </a:solidFill>
                <a:effectLst/>
                <a:uLnTx/>
                <a:uFillTx/>
                <a:latin typeface="Arial"/>
                <a:ea typeface="+mn-ea"/>
                <a:cs typeface="Arial"/>
              </a:rPr>
              <a:t>impact of</a:t>
            </a:r>
            <a:r>
              <a:rPr kumimoji="0" lang="en-US" sz="1400" b="1" i="0" u="none" strike="noStrike" kern="1200" cap="none" spc="0" normalizeH="0" baseline="0" noProof="0" dirty="0">
                <a:ln>
                  <a:noFill/>
                </a:ln>
                <a:solidFill>
                  <a:prstClr val="white"/>
                </a:solidFill>
                <a:effectLst/>
                <a:uLnTx/>
                <a:uFillTx/>
                <a:latin typeface="Arial"/>
                <a:ea typeface="+mn-ea"/>
                <a:cs typeface="Arial"/>
              </a:rPr>
              <a:t> </a:t>
            </a:r>
            <a:r>
              <a:rPr kumimoji="0" lang="en-IN" sz="1400" b="1" i="0" u="none" strike="noStrike" kern="1200" cap="none" spc="0" normalizeH="0" baseline="0" noProof="0" dirty="0">
                <a:ln>
                  <a:noFill/>
                </a:ln>
                <a:solidFill>
                  <a:prstClr val="white"/>
                </a:solidFill>
                <a:effectLst/>
                <a:uLnTx/>
                <a:uFillTx/>
                <a:latin typeface="Arial"/>
                <a:ea typeface="+mn-ea"/>
                <a:cs typeface="Arial"/>
              </a:rPr>
              <a:t>disease</a:t>
            </a:r>
            <a:r>
              <a:rPr kumimoji="0" sz="1400" b="1" i="0" u="none" strike="noStrike" kern="1200" cap="none" spc="0" normalizeH="0" baseline="0" noProof="0" dirty="0">
                <a:ln>
                  <a:noFill/>
                </a:ln>
                <a:solidFill>
                  <a:prstClr val="white"/>
                </a:solidFill>
                <a:effectLst/>
                <a:uLnTx/>
                <a:uFillTx/>
                <a:latin typeface="Arial"/>
                <a:ea typeface="+mn-ea"/>
                <a:cs typeface="Arial"/>
              </a:rPr>
              <a:t> on the</a:t>
            </a:r>
            <a:r>
              <a:rPr kumimoji="0" lang="en-US" sz="1400" b="1" i="0" u="none" strike="noStrike" kern="1200" cap="none" spc="0" normalizeH="0" baseline="0" noProof="0" dirty="0">
                <a:ln>
                  <a:noFill/>
                </a:ln>
                <a:solidFill>
                  <a:prstClr val="white"/>
                </a:solidFill>
                <a:effectLst/>
                <a:uLnTx/>
                <a:uFillTx/>
                <a:latin typeface="Arial"/>
                <a:ea typeface="+mn-ea"/>
                <a:cs typeface="Arial"/>
              </a:rPr>
              <a:t> </a:t>
            </a:r>
            <a:r>
              <a:rPr kumimoji="0" sz="1400" b="1" i="0" u="sng" strike="noStrike" kern="1200" cap="none" spc="0" normalizeH="0" baseline="0" noProof="0" dirty="0">
                <a:ln>
                  <a:noFill/>
                </a:ln>
                <a:solidFill>
                  <a:prstClr val="white"/>
                </a:solidFill>
                <a:effectLst/>
                <a:uLnTx/>
                <a:uFillTx/>
                <a:latin typeface="Arial"/>
                <a:ea typeface="+mn-ea"/>
                <a:cs typeface="Arial"/>
              </a:rPr>
              <a:t>patient’s health status</a:t>
            </a:r>
            <a:endParaRPr kumimoji="0" sz="1400" b="0" i="0" u="sng" strike="noStrike" kern="1200" cap="none" spc="0" normalizeH="0" baseline="0" noProof="0" dirty="0">
              <a:ln>
                <a:noFill/>
              </a:ln>
              <a:solidFill>
                <a:prstClr val="white"/>
              </a:solidFill>
              <a:effectLst/>
              <a:uLnTx/>
              <a:uFillTx/>
              <a:latin typeface="Arial"/>
              <a:ea typeface="+mn-ea"/>
              <a:cs typeface="Arial"/>
            </a:endParaRPr>
          </a:p>
        </p:txBody>
      </p:sp>
      <p:sp>
        <p:nvSpPr>
          <p:cNvPr id="10" name="object 8">
            <a:extLst>
              <a:ext uri="{FF2B5EF4-FFF2-40B4-BE49-F238E27FC236}">
                <a16:creationId xmlns:a16="http://schemas.microsoft.com/office/drawing/2014/main" id="{E7689844-0262-083A-80E2-DD2581BC5625}"/>
              </a:ext>
            </a:extLst>
          </p:cNvPr>
          <p:cNvSpPr txBox="1"/>
          <p:nvPr/>
        </p:nvSpPr>
        <p:spPr>
          <a:xfrm>
            <a:off x="8214194" y="2383516"/>
            <a:ext cx="3603684" cy="708329"/>
          </a:xfrm>
          <a:prstGeom prst="rect">
            <a:avLst/>
          </a:prstGeom>
          <a:solidFill>
            <a:schemeClr val="accent3"/>
          </a:solidFill>
          <a:ln>
            <a:noFill/>
          </a:ln>
        </p:spPr>
        <p:txBody>
          <a:bodyPr vert="horz" wrap="square" lIns="45720" tIns="45720" rIns="45720" bIns="45720" rtlCol="0" anchor="ctr">
            <a:noAutofit/>
          </a:bodyPr>
          <a:lstStyle/>
          <a:p>
            <a:pPr marL="93980" marR="83820" lvl="0" indent="0" algn="ctr" defTabSz="1219170" rtl="0" eaLnBrk="1" fontAlgn="auto" latinLnBrk="0" hangingPunct="1">
              <a:lnSpc>
                <a:spcPct val="100000"/>
              </a:lnSpc>
              <a:spcBef>
                <a:spcPts val="409"/>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Determine the </a:t>
            </a:r>
            <a:r>
              <a:rPr kumimoji="0" sz="1400" b="1" i="0" u="sng" strike="noStrike" kern="1200" cap="none" spc="0" normalizeH="0" baseline="0" noProof="0" dirty="0">
                <a:ln>
                  <a:noFill/>
                </a:ln>
                <a:solidFill>
                  <a:srgbClr val="FFFFFF"/>
                </a:solidFill>
                <a:effectLst/>
                <a:uLnTx/>
                <a:uFillTx/>
                <a:latin typeface="Arial"/>
                <a:ea typeface="+mn-ea"/>
                <a:cs typeface="Arial"/>
              </a:rPr>
              <a:t>risk of future</a:t>
            </a:r>
            <a:r>
              <a:rPr kumimoji="0" lang="en-US" sz="1400" b="1" i="0" u="sng" strike="noStrike" kern="1200" cap="none" spc="0" normalizeH="0" baseline="0" noProof="0" dirty="0">
                <a:ln>
                  <a:noFill/>
                </a:ln>
                <a:solidFill>
                  <a:srgbClr val="FFFFFF"/>
                </a:solidFill>
                <a:effectLst/>
                <a:uLnTx/>
                <a:uFillTx/>
                <a:latin typeface="Arial"/>
                <a:ea typeface="+mn-ea"/>
                <a:cs typeface="Arial"/>
              </a:rPr>
              <a:t> </a:t>
            </a:r>
            <a:r>
              <a:rPr kumimoji="0" sz="1400" b="1" i="0" u="sng" strike="noStrike" kern="1200" cap="none" spc="0" normalizeH="0" baseline="0" noProof="0" dirty="0">
                <a:ln>
                  <a:noFill/>
                </a:ln>
                <a:solidFill>
                  <a:srgbClr val="FFFFFF"/>
                </a:solidFill>
                <a:effectLst/>
                <a:uLnTx/>
                <a:uFillTx/>
                <a:latin typeface="Arial"/>
                <a:ea typeface="+mn-ea"/>
                <a:cs typeface="Arial"/>
              </a:rPr>
              <a:t>events </a:t>
            </a:r>
            <a:r>
              <a:rPr kumimoji="0" sz="1400" b="1" i="0" u="none" strike="noStrike" kern="1200" cap="none" spc="0" normalizeH="0" baseline="0" noProof="0" dirty="0">
                <a:ln>
                  <a:noFill/>
                </a:ln>
                <a:solidFill>
                  <a:srgbClr val="FFFFFF"/>
                </a:solidFill>
                <a:effectLst/>
                <a:uLnTx/>
                <a:uFillTx/>
                <a:latin typeface="Arial"/>
                <a:ea typeface="+mn-ea"/>
                <a:cs typeface="Arial"/>
              </a:rPr>
              <a:t>such as exacerbations</a:t>
            </a:r>
            <a:r>
              <a:rPr kumimoji="0" lang="en-US" sz="1400" b="1" i="0" u="none" strike="noStrike" kern="1200" cap="none" spc="0" normalizeH="0" baseline="0" noProof="0" dirty="0">
                <a:ln>
                  <a:noFill/>
                </a:ln>
                <a:solidFill>
                  <a:srgbClr val="FFFFFF"/>
                </a:solidFill>
                <a:effectLst/>
                <a:uLnTx/>
                <a:uFillTx/>
                <a:latin typeface="Arial"/>
                <a:ea typeface="+mn-ea"/>
                <a:cs typeface="Arial"/>
              </a:rPr>
              <a:t> </a:t>
            </a:r>
            <a:r>
              <a:rPr kumimoji="0" sz="1400" b="1" i="0" u="none" strike="noStrike" kern="1200" cap="none" spc="0" normalizeH="0" baseline="0" noProof="0" dirty="0">
                <a:ln>
                  <a:noFill/>
                </a:ln>
                <a:solidFill>
                  <a:srgbClr val="FFFFFF"/>
                </a:solidFill>
                <a:effectLst/>
                <a:uLnTx/>
                <a:uFillTx/>
                <a:latin typeface="Arial"/>
                <a:ea typeface="+mn-ea"/>
                <a:cs typeface="Arial"/>
              </a:rPr>
              <a:t>or death</a:t>
            </a:r>
            <a:endParaRPr kumimoji="0" sz="1400" b="0" i="0" u="none" strike="noStrike" kern="1200" cap="none" spc="0" normalizeH="0" baseline="0" noProof="0" dirty="0">
              <a:ln>
                <a:noFill/>
              </a:ln>
              <a:solidFill>
                <a:srgbClr val="000000"/>
              </a:solidFill>
              <a:effectLst/>
              <a:uLnTx/>
              <a:uFillTx/>
              <a:latin typeface="Arial"/>
              <a:ea typeface="+mn-ea"/>
              <a:cs typeface="Arial"/>
            </a:endParaRPr>
          </a:p>
        </p:txBody>
      </p:sp>
      <p:sp>
        <p:nvSpPr>
          <p:cNvPr id="15" name="object 9">
            <a:extLst>
              <a:ext uri="{FF2B5EF4-FFF2-40B4-BE49-F238E27FC236}">
                <a16:creationId xmlns:a16="http://schemas.microsoft.com/office/drawing/2014/main" id="{A9D78B17-93E3-F828-0D0A-E0C5D698D893}"/>
              </a:ext>
            </a:extLst>
          </p:cNvPr>
          <p:cNvSpPr txBox="1"/>
          <p:nvPr/>
        </p:nvSpPr>
        <p:spPr>
          <a:xfrm>
            <a:off x="4288582" y="1307285"/>
            <a:ext cx="3605380" cy="708329"/>
          </a:xfrm>
          <a:prstGeom prst="rect">
            <a:avLst/>
          </a:prstGeom>
          <a:solidFill>
            <a:schemeClr val="bg2"/>
          </a:solidFill>
          <a:ln w="12192">
            <a:noFill/>
          </a:ln>
        </p:spPr>
        <p:txBody>
          <a:bodyPr vert="horz" wrap="square" lIns="45720" tIns="45720" rIns="45720" bIns="45720" rtlCol="0" anchor="ctr">
            <a:noAutofit/>
          </a:bodyPr>
          <a:lstStyle/>
          <a:p>
            <a:pPr marL="0" marR="0" lvl="0" indent="0" algn="ctr" defTabSz="1219170" rtl="0" eaLnBrk="1" fontAlgn="auto" latinLnBrk="0" hangingPunct="1">
              <a:lnSpc>
                <a:spcPct val="100000"/>
              </a:lnSpc>
              <a:spcBef>
                <a:spcPts val="125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Goals of </a:t>
            </a:r>
            <a:r>
              <a:rPr kumimoji="0" lang="en-IN" sz="1400" b="1" i="0" u="none" strike="noStrike" kern="1200" cap="none" spc="0" normalizeH="0" baseline="0" noProof="0" dirty="0">
                <a:ln>
                  <a:noFill/>
                </a:ln>
                <a:solidFill>
                  <a:srgbClr val="FFFFFF"/>
                </a:solidFill>
                <a:effectLst/>
                <a:uLnTx/>
                <a:uFillTx/>
                <a:latin typeface="Arial"/>
                <a:ea typeface="+mn-ea"/>
                <a:cs typeface="Arial"/>
              </a:rPr>
              <a:t>initial </a:t>
            </a:r>
            <a:r>
              <a:rPr kumimoji="0" sz="1400" b="1" i="0" u="none" strike="noStrike" kern="1200" cap="none" spc="0" normalizeH="0" baseline="0" noProof="0" dirty="0">
                <a:ln>
                  <a:noFill/>
                </a:ln>
                <a:solidFill>
                  <a:srgbClr val="FFFFFF"/>
                </a:solidFill>
                <a:effectLst/>
                <a:uLnTx/>
                <a:uFillTx/>
                <a:latin typeface="Arial"/>
                <a:ea typeface="+mn-ea"/>
                <a:cs typeface="Arial"/>
              </a:rPr>
              <a:t>COPD</a:t>
            </a:r>
            <a:endParaRPr kumimoji="0" sz="1400" b="0"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assessment</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cxnSp>
        <p:nvCxnSpPr>
          <p:cNvPr id="18" name="Straight Arrow Connector 22">
            <a:extLst>
              <a:ext uri="{FF2B5EF4-FFF2-40B4-BE49-F238E27FC236}">
                <a16:creationId xmlns:a16="http://schemas.microsoft.com/office/drawing/2014/main" id="{DC8D7BB5-2BB7-56EB-EAA2-94ECC69F3BD9}"/>
              </a:ext>
            </a:extLst>
          </p:cNvPr>
          <p:cNvCxnSpPr>
            <a:stCxn id="15" idx="2"/>
            <a:endCxn id="7" idx="0"/>
          </p:cNvCxnSpPr>
          <p:nvPr/>
        </p:nvCxnSpPr>
        <p:spPr>
          <a:xfrm rot="5400000">
            <a:off x="3950091" y="242335"/>
            <a:ext cx="367902" cy="3914460"/>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22">
            <a:extLst>
              <a:ext uri="{FF2B5EF4-FFF2-40B4-BE49-F238E27FC236}">
                <a16:creationId xmlns:a16="http://schemas.microsoft.com/office/drawing/2014/main" id="{050D052A-B1F7-6214-D287-3B3097496CFC}"/>
              </a:ext>
            </a:extLst>
          </p:cNvPr>
          <p:cNvCxnSpPr>
            <a:stCxn id="15" idx="2"/>
            <a:endCxn id="10" idx="0"/>
          </p:cNvCxnSpPr>
          <p:nvPr/>
        </p:nvCxnSpPr>
        <p:spPr>
          <a:xfrm rot="16200000" flipH="1">
            <a:off x="7869703" y="237183"/>
            <a:ext cx="367902" cy="3924764"/>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22">
            <a:extLst>
              <a:ext uri="{FF2B5EF4-FFF2-40B4-BE49-F238E27FC236}">
                <a16:creationId xmlns:a16="http://schemas.microsoft.com/office/drawing/2014/main" id="{DDA1C765-7B64-7AA7-1BCD-652497666D87}"/>
              </a:ext>
            </a:extLst>
          </p:cNvPr>
          <p:cNvCxnSpPr>
            <a:stCxn id="15" idx="2"/>
            <a:endCxn id="9" idx="0"/>
          </p:cNvCxnSpPr>
          <p:nvPr/>
        </p:nvCxnSpPr>
        <p:spPr>
          <a:xfrm>
            <a:off x="6091272" y="2015614"/>
            <a:ext cx="0" cy="367902"/>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57902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71</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AF7286C-3D7A-4A64-8A03-AF69AEE99480}"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CAT, COPD Assessment Test; CCQ, COPD Control Questionnaire; E-RS: COPD, Evaluating Respiratory Symptoms in Chronic Obstructive Pulmonary Disease; GOLD, Global Initiative for Chronic Obstructive Lung Disease; mMRC, modified Medical Research Council; SGRQ, St George’s Respiratory Questionnaire</a:t>
            </a:r>
          </a:p>
          <a:p>
            <a:pPr marL="0" marR="0" lvl="0" indent="0" algn="l" defTabSz="1219170" rtl="0" eaLnBrk="1" fontAlgn="auto" latinLnBrk="0" hangingPunct="1">
              <a:lnSpc>
                <a:spcPct val="100000"/>
              </a:lnSpc>
              <a:spcBef>
                <a:spcPts val="300"/>
              </a:spcBef>
              <a:spcAft>
                <a:spcPts val="300"/>
              </a:spcAft>
              <a:buClr>
                <a:srgbClr val="F36633"/>
              </a:buClr>
              <a:buSzPct val="110000"/>
              <a:buFont typeface="Arial" panose="020B0604020202020204" pitchFamily="34" charset="0"/>
              <a:buNone/>
              <a:tabLst/>
              <a:defRPr/>
            </a:pPr>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 </a:t>
            </a:r>
            <a:r>
              <a:rPr lang="en-US" dirty="0"/>
              <a:t>2. EXACT-PRO Initiative;2021;1-4;E-RS COPD.</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p:txBody>
          <a:bodyPr/>
          <a:lstStyle/>
          <a:p>
            <a:r>
              <a:rPr lang="en-US" dirty="0"/>
              <a:t>Assessment of COPD symptoms (1)</a:t>
            </a:r>
            <a:endParaRPr lang="en-GB" dirty="0"/>
          </a:p>
        </p:txBody>
      </p:sp>
      <p:sp>
        <p:nvSpPr>
          <p:cNvPr id="11" name="object 8">
            <a:extLst>
              <a:ext uri="{FF2B5EF4-FFF2-40B4-BE49-F238E27FC236}">
                <a16:creationId xmlns:a16="http://schemas.microsoft.com/office/drawing/2014/main" id="{4498F399-E132-E9C3-7578-E0E7CC425EE8}"/>
              </a:ext>
            </a:extLst>
          </p:cNvPr>
          <p:cNvSpPr txBox="1"/>
          <p:nvPr/>
        </p:nvSpPr>
        <p:spPr>
          <a:xfrm>
            <a:off x="377550" y="4219038"/>
            <a:ext cx="11457432" cy="1067735"/>
          </a:xfrm>
          <a:prstGeom prst="rect">
            <a:avLst/>
          </a:prstGeom>
          <a:solidFill>
            <a:schemeClr val="bg2">
              <a:lumMod val="20000"/>
              <a:lumOff val="80000"/>
            </a:schemeClr>
          </a:solidFill>
        </p:spPr>
        <p:txBody>
          <a:bodyPr vert="horz" wrap="square" lIns="91440" tIns="0" rIns="0" bIns="0" rtlCol="0" anchor="ctr">
            <a:noAutofit/>
          </a:bodyPr>
          <a:lstStyle/>
          <a:p>
            <a:pPr marL="171450" marR="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357505" algn="l"/>
                <a:tab pos="358140" algn="l"/>
              </a:tabLst>
              <a:defRPr/>
            </a:pPr>
            <a:r>
              <a:rPr kumimoji="0" lang="en-IN" sz="1400" b="0" i="0" u="none" strike="noStrike" kern="1200" cap="none" spc="0" normalizeH="0" baseline="0" noProof="0" dirty="0">
                <a:ln>
                  <a:noFill/>
                </a:ln>
                <a:solidFill>
                  <a:srgbClr val="000000"/>
                </a:solidFill>
                <a:effectLst/>
                <a:uLnTx/>
                <a:uFillTx/>
                <a:latin typeface="Arial"/>
                <a:ea typeface="+mn-ea"/>
                <a:cs typeface="Arial"/>
              </a:rPr>
              <a:t>The</a:t>
            </a:r>
            <a:r>
              <a:rPr kumimoji="0" sz="1400" b="0" i="0" u="none" strike="noStrike" kern="1200" cap="none" spc="0" normalizeH="0" baseline="0" noProof="0" dirty="0">
                <a:ln>
                  <a:noFill/>
                </a:ln>
                <a:solidFill>
                  <a:srgbClr val="000000"/>
                </a:solidFill>
                <a:effectLst/>
                <a:uLnTx/>
                <a:uFillTx/>
                <a:latin typeface="Arial"/>
                <a:ea typeface="+mn-ea"/>
                <a:cs typeface="Arial"/>
              </a:rPr>
              <a:t> </a:t>
            </a:r>
            <a:r>
              <a:rPr kumimoji="0" sz="1400" b="1" i="0" u="sng" strike="noStrike" kern="1200" cap="none" spc="0" normalizeH="0" baseline="0" noProof="0" dirty="0">
                <a:ln>
                  <a:noFill/>
                </a:ln>
                <a:solidFill>
                  <a:srgbClr val="000000"/>
                </a:solidFill>
                <a:effectLst/>
                <a:uLnTx/>
                <a:uFillTx/>
                <a:latin typeface="Arial"/>
                <a:ea typeface="+mn-ea"/>
                <a:cs typeface="Arial"/>
              </a:rPr>
              <a:t>mMRC</a:t>
            </a:r>
            <a:r>
              <a:rPr kumimoji="0" sz="1400" b="0" i="0" u="none" strike="noStrike" kern="1200" cap="none" spc="0" normalizeH="0" baseline="0" noProof="0" dirty="0">
                <a:ln>
                  <a:noFill/>
                </a:ln>
                <a:solidFill>
                  <a:srgbClr val="000000"/>
                </a:solidFill>
                <a:effectLst/>
                <a:uLnTx/>
                <a:uFillTx/>
                <a:latin typeface="Arial"/>
                <a:ea typeface="+mn-ea"/>
                <a:cs typeface="Arial"/>
              </a:rPr>
              <a:t> </a:t>
            </a:r>
            <a:r>
              <a:rPr kumimoji="0" lang="en-IN" sz="1400" b="0" i="0" u="none" strike="noStrike" kern="1200" cap="none" spc="0" normalizeH="0" baseline="0" noProof="0" dirty="0">
                <a:ln>
                  <a:noFill/>
                </a:ln>
                <a:solidFill>
                  <a:srgbClr val="000000"/>
                </a:solidFill>
                <a:effectLst/>
                <a:uLnTx/>
                <a:uFillTx/>
                <a:latin typeface="Arial"/>
                <a:ea typeface="+mn-ea"/>
                <a:cs typeface="Arial"/>
              </a:rPr>
              <a:t>scale was the first questionnaire that was developed to measure breathlessness, a key symptom in many patients with COPD</a:t>
            </a:r>
            <a:r>
              <a:rPr kumimoji="0" sz="1400" b="0" i="0" u="none" strike="noStrike" kern="1200" cap="none" spc="0" normalizeH="0" baseline="26455" noProof="0" dirty="0">
                <a:ln>
                  <a:noFill/>
                </a:ln>
                <a:solidFill>
                  <a:srgbClr val="000000"/>
                </a:solidFill>
                <a:effectLst/>
                <a:uLnTx/>
                <a:uFillTx/>
                <a:latin typeface="Arial"/>
                <a:ea typeface="+mn-ea"/>
                <a:cs typeface="Arial"/>
              </a:rPr>
              <a:t>1</a:t>
            </a:r>
          </a:p>
          <a:p>
            <a:pPr marL="171450" marR="118110" lvl="0" indent="-17145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357505" algn="l"/>
                <a:tab pos="358140"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However, </a:t>
            </a:r>
            <a:r>
              <a:rPr kumimoji="0" lang="en-IN" sz="1400" b="0" i="0" u="none" strike="noStrike" kern="1200" cap="none" spc="0" normalizeH="0" baseline="0" noProof="0" dirty="0">
                <a:ln>
                  <a:noFill/>
                </a:ln>
                <a:solidFill>
                  <a:srgbClr val="000000"/>
                </a:solidFill>
                <a:effectLst/>
                <a:uLnTx/>
                <a:uFillTx/>
                <a:latin typeface="Arial"/>
                <a:ea typeface="+mn-ea"/>
                <a:cs typeface="Arial"/>
              </a:rPr>
              <a:t>the </a:t>
            </a:r>
            <a:r>
              <a:rPr kumimoji="0" sz="1400" b="0" i="0" u="none" strike="noStrike" kern="1200" cap="none" spc="0" normalizeH="0" baseline="0" noProof="0" dirty="0">
                <a:ln>
                  <a:noFill/>
                </a:ln>
                <a:solidFill>
                  <a:srgbClr val="000000"/>
                </a:solidFill>
                <a:effectLst/>
                <a:uLnTx/>
                <a:uFillTx/>
                <a:latin typeface="Arial"/>
                <a:ea typeface="+mn-ea"/>
                <a:cs typeface="Arial"/>
              </a:rPr>
              <a:t>GOLD </a:t>
            </a:r>
            <a:r>
              <a:rPr kumimoji="0" lang="en-IN" sz="1400" b="0" i="0" u="none" strike="noStrike" kern="1200" cap="none" spc="0" normalizeH="0" baseline="0" noProof="0" dirty="0">
                <a:ln>
                  <a:noFill/>
                </a:ln>
                <a:solidFill>
                  <a:srgbClr val="000000"/>
                </a:solidFill>
                <a:effectLst/>
                <a:uLnTx/>
                <a:uFillTx/>
                <a:latin typeface="Arial"/>
                <a:ea typeface="+mn-ea"/>
                <a:cs typeface="Arial"/>
              </a:rPr>
              <a:t>2023 </a:t>
            </a:r>
            <a:r>
              <a:rPr kumimoji="0" sz="1400" b="0" i="0" u="none" strike="noStrike" kern="1200" cap="none" spc="0" normalizeH="0" baseline="0" noProof="0" dirty="0">
                <a:ln>
                  <a:noFill/>
                </a:ln>
                <a:solidFill>
                  <a:srgbClr val="000000"/>
                </a:solidFill>
                <a:effectLst/>
                <a:uLnTx/>
                <a:uFillTx/>
                <a:latin typeface="Arial"/>
                <a:ea typeface="+mn-ea"/>
                <a:cs typeface="Arial"/>
              </a:rPr>
              <a:t>now </a:t>
            </a:r>
            <a:r>
              <a:rPr kumimoji="0" lang="en-IN" sz="1400" b="0" i="0" u="none" strike="noStrike" kern="1200" cap="none" spc="0" normalizeH="0" baseline="0" noProof="0" dirty="0">
                <a:ln>
                  <a:noFill/>
                </a:ln>
                <a:solidFill>
                  <a:srgbClr val="000000"/>
                </a:solidFill>
                <a:effectLst/>
                <a:uLnTx/>
                <a:uFillTx/>
                <a:latin typeface="Arial"/>
                <a:ea typeface="+mn-ea"/>
                <a:cs typeface="Arial"/>
              </a:rPr>
              <a:t>acknowledges </a:t>
            </a:r>
            <a:r>
              <a:rPr kumimoji="0" sz="1400" b="0" i="0" u="none" strike="noStrike" kern="1200" cap="none" spc="0" normalizeH="0" baseline="0" noProof="0" dirty="0">
                <a:ln>
                  <a:noFill/>
                </a:ln>
                <a:solidFill>
                  <a:srgbClr val="000000"/>
                </a:solidFill>
                <a:effectLst/>
                <a:uLnTx/>
                <a:uFillTx/>
                <a:latin typeface="Arial"/>
                <a:ea typeface="+mn-ea"/>
                <a:cs typeface="Arial"/>
              </a:rPr>
              <a:t>that </a:t>
            </a:r>
            <a:r>
              <a:rPr kumimoji="0" sz="1400" b="1" i="1" u="none" strike="noStrike" kern="1200" cap="none" spc="0" normalizeH="0" baseline="0" noProof="0" dirty="0">
                <a:ln>
                  <a:noFill/>
                </a:ln>
                <a:solidFill>
                  <a:srgbClr val="000000"/>
                </a:solidFill>
                <a:effectLst/>
                <a:uLnTx/>
                <a:uFillTx/>
                <a:latin typeface="Arial"/>
                <a:ea typeface="+mn-ea"/>
                <a:cs typeface="Arial"/>
              </a:rPr>
              <a:t>“COPD impacts patients beyond just dyspn</a:t>
            </a:r>
            <a:r>
              <a:rPr kumimoji="0" lang="en-US" sz="1400" b="1" i="1" u="none" strike="noStrike" kern="1200" cap="none" spc="0" normalizeH="0" baseline="0" noProof="0" dirty="0">
                <a:ln>
                  <a:noFill/>
                </a:ln>
                <a:solidFill>
                  <a:srgbClr val="000000"/>
                </a:solidFill>
                <a:effectLst/>
                <a:uLnTx/>
                <a:uFillTx/>
                <a:latin typeface="Arial"/>
                <a:ea typeface="+mn-ea"/>
                <a:cs typeface="Arial"/>
              </a:rPr>
              <a:t>o</a:t>
            </a:r>
            <a:r>
              <a:rPr kumimoji="0" sz="1400" b="1" i="1" u="none" strike="noStrike" kern="1200" cap="none" spc="0" normalizeH="0" baseline="0" noProof="0" dirty="0">
                <a:ln>
                  <a:noFill/>
                </a:ln>
                <a:solidFill>
                  <a:srgbClr val="000000"/>
                </a:solidFill>
                <a:effectLst/>
                <a:uLnTx/>
                <a:uFillTx/>
                <a:latin typeface="Arial"/>
                <a:ea typeface="+mn-ea"/>
                <a:cs typeface="Arial"/>
              </a:rPr>
              <a:t>ea.</a:t>
            </a:r>
            <a:r>
              <a:rPr kumimoji="0" lang="en-US" sz="1400" b="1" i="1" u="none" strike="noStrike" kern="1200" cap="none" spc="0" normalizeH="0" baseline="0" noProof="0" dirty="0">
                <a:ln>
                  <a:noFill/>
                </a:ln>
                <a:solidFill>
                  <a:srgbClr val="000000"/>
                </a:solidFill>
                <a:effectLst/>
                <a:uLnTx/>
                <a:uFillTx/>
                <a:latin typeface="Arial"/>
                <a:ea typeface="+mn-ea"/>
                <a:cs typeface="Arial"/>
              </a:rPr>
              <a:t> </a:t>
            </a:r>
            <a:r>
              <a:rPr kumimoji="0" sz="1400" b="1" i="1" u="none" strike="noStrike" kern="1200" cap="none" spc="0" normalizeH="0" baseline="0" noProof="0" dirty="0">
                <a:ln>
                  <a:noFill/>
                </a:ln>
                <a:solidFill>
                  <a:srgbClr val="000000"/>
                </a:solidFill>
                <a:effectLst/>
                <a:uLnTx/>
                <a:uFillTx/>
                <a:latin typeface="Arial"/>
                <a:ea typeface="+mn-ea"/>
                <a:cs typeface="Arial"/>
              </a:rPr>
              <a:t>For this reason, </a:t>
            </a:r>
            <a:r>
              <a:rPr kumimoji="0" lang="en-IN" sz="1400" b="1" i="1" u="none" strike="noStrike" kern="1200" cap="none" spc="0" normalizeH="0" baseline="0" noProof="0" dirty="0">
                <a:ln>
                  <a:noFill/>
                </a:ln>
                <a:solidFill>
                  <a:srgbClr val="000000"/>
                </a:solidFill>
                <a:effectLst/>
                <a:uLnTx/>
                <a:uFillTx/>
                <a:latin typeface="Arial"/>
                <a:ea typeface="+mn-ea"/>
                <a:cs typeface="Arial"/>
              </a:rPr>
              <a:t>multidimensional questionnaire is recommended</a:t>
            </a:r>
            <a:r>
              <a:rPr kumimoji="0" sz="1400" b="1" i="1" u="none" strike="noStrike" kern="1200" cap="none" spc="0" normalizeH="0" baseline="0" noProof="0" dirty="0">
                <a:ln>
                  <a:noFill/>
                </a:ln>
                <a:solidFill>
                  <a:srgbClr val="000000"/>
                </a:solidFill>
                <a:effectLst/>
                <a:uLnTx/>
                <a:uFillTx/>
                <a:latin typeface="Arial"/>
                <a:ea typeface="+mn-ea"/>
                <a:cs typeface="Arial"/>
              </a:rPr>
              <a:t>”</a:t>
            </a:r>
            <a:r>
              <a:rPr kumimoji="0" sz="1400" b="1" i="1" u="none" strike="noStrike" kern="1200" cap="none" spc="0" normalizeH="0" baseline="26455" noProof="0" dirty="0">
                <a:ln>
                  <a:noFill/>
                </a:ln>
                <a:solidFill>
                  <a:srgbClr val="000000"/>
                </a:solidFill>
                <a:effectLst/>
                <a:uLnTx/>
                <a:uFillTx/>
                <a:latin typeface="Arial"/>
                <a:ea typeface="+mn-ea"/>
                <a:cs typeface="Arial"/>
              </a:rPr>
              <a:t>1</a:t>
            </a:r>
            <a:endParaRPr kumimoji="0" sz="14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12" name="Rectangle 11">
            <a:extLst>
              <a:ext uri="{FF2B5EF4-FFF2-40B4-BE49-F238E27FC236}">
                <a16:creationId xmlns:a16="http://schemas.microsoft.com/office/drawing/2014/main" id="{DF52F364-7424-18DC-9995-F908FBF210D9}"/>
              </a:ext>
            </a:extLst>
          </p:cNvPr>
          <p:cNvSpPr/>
          <p:nvPr/>
        </p:nvSpPr>
        <p:spPr>
          <a:xfrm>
            <a:off x="4261923" y="1319318"/>
            <a:ext cx="3664164" cy="59101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Questionnaires used for assessment of symptom severity</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1</a:t>
            </a:r>
          </a:p>
        </p:txBody>
      </p:sp>
      <p:sp>
        <p:nvSpPr>
          <p:cNvPr id="13" name="Rectangle 12">
            <a:extLst>
              <a:ext uri="{FF2B5EF4-FFF2-40B4-BE49-F238E27FC236}">
                <a16:creationId xmlns:a16="http://schemas.microsoft.com/office/drawing/2014/main" id="{D13277A1-93CA-5447-19A2-ECC660A4E2DA}"/>
              </a:ext>
            </a:extLst>
          </p:cNvPr>
          <p:cNvSpPr/>
          <p:nvPr/>
        </p:nvSpPr>
        <p:spPr>
          <a:xfrm>
            <a:off x="367284" y="2300424"/>
            <a:ext cx="2161858" cy="139633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mMRC Scale</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1</a:t>
            </a:r>
          </a:p>
        </p:txBody>
      </p:sp>
      <p:sp>
        <p:nvSpPr>
          <p:cNvPr id="14" name="Rectangle 13">
            <a:extLst>
              <a:ext uri="{FF2B5EF4-FFF2-40B4-BE49-F238E27FC236}">
                <a16:creationId xmlns:a16="http://schemas.microsoft.com/office/drawing/2014/main" id="{BE3F38AF-BF92-34D8-EBD0-675F7918EB63}"/>
              </a:ext>
            </a:extLst>
          </p:cNvPr>
          <p:cNvSpPr/>
          <p:nvPr/>
        </p:nvSpPr>
        <p:spPr>
          <a:xfrm>
            <a:off x="2691177" y="2300424"/>
            <a:ext cx="2161858" cy="139633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CAT™</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1</a:t>
            </a:r>
          </a:p>
        </p:txBody>
      </p:sp>
      <p:sp>
        <p:nvSpPr>
          <p:cNvPr id="16" name="Rectangle 15">
            <a:extLst>
              <a:ext uri="{FF2B5EF4-FFF2-40B4-BE49-F238E27FC236}">
                <a16:creationId xmlns:a16="http://schemas.microsoft.com/office/drawing/2014/main" id="{4EB79F1D-D5AB-CF27-4959-B725E0E555EB}"/>
              </a:ext>
            </a:extLst>
          </p:cNvPr>
          <p:cNvSpPr/>
          <p:nvPr/>
        </p:nvSpPr>
        <p:spPr>
          <a:xfrm>
            <a:off x="5015071" y="2300424"/>
            <a:ext cx="2161858" cy="139633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SGRQ</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1</a:t>
            </a:r>
          </a:p>
        </p:txBody>
      </p:sp>
      <p:sp>
        <p:nvSpPr>
          <p:cNvPr id="21" name="Rectangle 20">
            <a:extLst>
              <a:ext uri="{FF2B5EF4-FFF2-40B4-BE49-F238E27FC236}">
                <a16:creationId xmlns:a16="http://schemas.microsoft.com/office/drawing/2014/main" id="{0E678BC3-748E-852B-7D7B-BB2C5320FD18}"/>
              </a:ext>
            </a:extLst>
          </p:cNvPr>
          <p:cNvSpPr/>
          <p:nvPr/>
        </p:nvSpPr>
        <p:spPr>
          <a:xfrm>
            <a:off x="7338964" y="2300424"/>
            <a:ext cx="2161858" cy="139633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CCQ</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1</a:t>
            </a:r>
          </a:p>
        </p:txBody>
      </p:sp>
      <p:sp>
        <p:nvSpPr>
          <p:cNvPr id="22" name="Rectangle 21">
            <a:extLst>
              <a:ext uri="{FF2B5EF4-FFF2-40B4-BE49-F238E27FC236}">
                <a16:creationId xmlns:a16="http://schemas.microsoft.com/office/drawing/2014/main" id="{D88EFC89-774B-5095-9F46-1A33BD6030BE}"/>
              </a:ext>
            </a:extLst>
          </p:cNvPr>
          <p:cNvSpPr/>
          <p:nvPr/>
        </p:nvSpPr>
        <p:spPr>
          <a:xfrm>
            <a:off x="9662858" y="2300424"/>
            <a:ext cx="2161858" cy="139633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E-RS: COPD</a:t>
            </a:r>
            <a:r>
              <a:rPr kumimoji="0" lang="en-US" sz="1400" b="1" i="0" u="none" strike="noStrike" kern="1200" cap="none" spc="0" normalizeH="0" baseline="30000" noProof="0" dirty="0">
                <a:ln>
                  <a:noFill/>
                </a:ln>
                <a:solidFill>
                  <a:prstClr val="white"/>
                </a:solidFill>
                <a:effectLst/>
                <a:uLnTx/>
                <a:uFillTx/>
                <a:latin typeface="Arial"/>
                <a:ea typeface="+mn-ea"/>
                <a:cs typeface="Noto Sans"/>
              </a:rPr>
              <a:t>2</a:t>
            </a:r>
          </a:p>
        </p:txBody>
      </p:sp>
      <p:cxnSp>
        <p:nvCxnSpPr>
          <p:cNvPr id="23" name="Straight Arrow Connector 22">
            <a:extLst>
              <a:ext uri="{FF2B5EF4-FFF2-40B4-BE49-F238E27FC236}">
                <a16:creationId xmlns:a16="http://schemas.microsoft.com/office/drawing/2014/main" id="{777FCB02-795B-476C-856A-0FDCD053718F}"/>
              </a:ext>
            </a:extLst>
          </p:cNvPr>
          <p:cNvCxnSpPr>
            <a:stCxn id="12" idx="2"/>
            <a:endCxn id="13" idx="0"/>
          </p:cNvCxnSpPr>
          <p:nvPr/>
        </p:nvCxnSpPr>
        <p:spPr>
          <a:xfrm rot="5400000">
            <a:off x="3576064" y="-217518"/>
            <a:ext cx="390091" cy="4645792"/>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2">
            <a:extLst>
              <a:ext uri="{FF2B5EF4-FFF2-40B4-BE49-F238E27FC236}">
                <a16:creationId xmlns:a16="http://schemas.microsoft.com/office/drawing/2014/main" id="{CB58FB4E-6A0B-49E6-37E9-B7D69A812D63}"/>
              </a:ext>
            </a:extLst>
          </p:cNvPr>
          <p:cNvCxnSpPr>
            <a:stCxn id="12" idx="2"/>
            <a:endCxn id="14" idx="0"/>
          </p:cNvCxnSpPr>
          <p:nvPr/>
        </p:nvCxnSpPr>
        <p:spPr>
          <a:xfrm rot="5400000">
            <a:off x="4738011" y="944429"/>
            <a:ext cx="390091" cy="2321899"/>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2">
            <a:extLst>
              <a:ext uri="{FF2B5EF4-FFF2-40B4-BE49-F238E27FC236}">
                <a16:creationId xmlns:a16="http://schemas.microsoft.com/office/drawing/2014/main" id="{7F2848D6-E46C-4157-3C4B-D8AA52EE6B13}"/>
              </a:ext>
            </a:extLst>
          </p:cNvPr>
          <p:cNvCxnSpPr>
            <a:stCxn id="12" idx="2"/>
            <a:endCxn id="21" idx="0"/>
          </p:cNvCxnSpPr>
          <p:nvPr/>
        </p:nvCxnSpPr>
        <p:spPr>
          <a:xfrm rot="16200000" flipH="1">
            <a:off x="7061904" y="942434"/>
            <a:ext cx="390091" cy="2325888"/>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2">
            <a:extLst>
              <a:ext uri="{FF2B5EF4-FFF2-40B4-BE49-F238E27FC236}">
                <a16:creationId xmlns:a16="http://schemas.microsoft.com/office/drawing/2014/main" id="{500AE84D-8DE4-0616-4170-722438AA8F9E}"/>
              </a:ext>
            </a:extLst>
          </p:cNvPr>
          <p:cNvCxnSpPr>
            <a:stCxn id="12" idx="2"/>
            <a:endCxn id="22" idx="0"/>
          </p:cNvCxnSpPr>
          <p:nvPr/>
        </p:nvCxnSpPr>
        <p:spPr>
          <a:xfrm rot="16200000" flipH="1">
            <a:off x="8223851" y="-219513"/>
            <a:ext cx="390091" cy="4649782"/>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2">
            <a:extLst>
              <a:ext uri="{FF2B5EF4-FFF2-40B4-BE49-F238E27FC236}">
                <a16:creationId xmlns:a16="http://schemas.microsoft.com/office/drawing/2014/main" id="{4AB01CF4-4AAE-AD82-0B48-312997CD349D}"/>
              </a:ext>
            </a:extLst>
          </p:cNvPr>
          <p:cNvCxnSpPr>
            <a:stCxn id="12" idx="2"/>
            <a:endCxn id="16" idx="0"/>
          </p:cNvCxnSpPr>
          <p:nvPr/>
        </p:nvCxnSpPr>
        <p:spPr>
          <a:xfrm>
            <a:off x="6094005" y="1910333"/>
            <a:ext cx="1995" cy="390091"/>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237971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ABF98691-747C-4FA9-865C-EFE2C584B68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CAT, COPD Assessment Test; CCQ, COPD Control Questionnaire; E-RS: COPD, Evaluating Respiratory Symptoms in Chronic Obstructive Pulmonary Disease; mMRC, modified Medical Research Council; SGRQ, St George’s Respiratory Questionnaire</a:t>
            </a:r>
          </a:p>
          <a:p>
            <a:r>
              <a:rPr lang="en-US" dirty="0"/>
              <a:t>1</a:t>
            </a:r>
            <a:r>
              <a:rPr kumimoji="0" lang="en-US" sz="800" b="0" i="0" u="none" strike="noStrike" kern="1200" cap="none" spc="0" normalizeH="0" baseline="0" noProof="0" dirty="0">
                <a:ln>
                  <a:noFill/>
                </a:ln>
                <a:solidFill>
                  <a:srgbClr val="000000"/>
                </a:solidFill>
                <a:effectLst/>
                <a:uLnTx/>
                <a:uFillTx/>
                <a:latin typeface="Arial"/>
                <a:ea typeface="+mn-ea"/>
                <a:cs typeface="Noto Sans"/>
              </a:rPr>
              <a:t> 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EXACT-PRO Initiative;2021;1-4;E-RS COPD.</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p:txBody>
          <a:bodyPr/>
          <a:lstStyle/>
          <a:p>
            <a:r>
              <a:rPr lang="en-US" dirty="0"/>
              <a:t>Assessment of COPD symptoms (2)</a:t>
            </a:r>
            <a:endParaRPr lang="en-GB" dirty="0"/>
          </a:p>
        </p:txBody>
      </p:sp>
      <p:sp>
        <p:nvSpPr>
          <p:cNvPr id="9" name="object 15">
            <a:extLst>
              <a:ext uri="{FF2B5EF4-FFF2-40B4-BE49-F238E27FC236}">
                <a16:creationId xmlns:a16="http://schemas.microsoft.com/office/drawing/2014/main" id="{6DA98920-C0C6-9F27-2990-0FD4FAAC8090}"/>
              </a:ext>
            </a:extLst>
          </p:cNvPr>
          <p:cNvSpPr txBox="1"/>
          <p:nvPr/>
        </p:nvSpPr>
        <p:spPr>
          <a:xfrm>
            <a:off x="367284" y="1308675"/>
            <a:ext cx="11456415" cy="452704"/>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101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As COPD is a complex disease, additional assessments such as a multidimensional </a:t>
            </a:r>
            <a:endParaRPr kumimoji="0" lang="en-US" sz="1200" b="0"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symptomatic assessment beyond the use of the mMRC scale may be required</a:t>
            </a:r>
            <a:endParaRPr kumimoji="0" lang="en-US"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0" name="object 16">
            <a:extLst>
              <a:ext uri="{FF2B5EF4-FFF2-40B4-BE49-F238E27FC236}">
                <a16:creationId xmlns:a16="http://schemas.microsoft.com/office/drawing/2014/main" id="{B983C0CA-DA7A-B9AA-DCF2-00E8D0F71F07}"/>
              </a:ext>
            </a:extLst>
          </p:cNvPr>
          <p:cNvSpPr txBox="1"/>
          <p:nvPr/>
        </p:nvSpPr>
        <p:spPr>
          <a:xfrm>
            <a:off x="2690823" y="3396125"/>
            <a:ext cx="2166329" cy="934402"/>
          </a:xfrm>
          <a:prstGeom prst="rect">
            <a:avLst/>
          </a:prstGeom>
          <a:ln w="19811">
            <a:solidFill>
              <a:schemeClr val="accent2"/>
            </a:solidFill>
          </a:ln>
        </p:spPr>
        <p:txBody>
          <a:bodyPr vert="horz" wrap="square" lIns="0" tIns="0" rIns="0" bIns="0" rtlCol="0" anchor="ctr" anchorCtr="0">
            <a:noAutofit/>
          </a:bodyPr>
          <a:lstStyle/>
          <a:p>
            <a:pPr marL="132080" marR="123825" lvl="0" indent="-1270"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Measure of health</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status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5" name="object 17">
            <a:extLst>
              <a:ext uri="{FF2B5EF4-FFF2-40B4-BE49-F238E27FC236}">
                <a16:creationId xmlns:a16="http://schemas.microsoft.com/office/drawing/2014/main" id="{DDB8DF07-6675-BFA0-54D3-7D3574A99C8D}"/>
              </a:ext>
            </a:extLst>
          </p:cNvPr>
          <p:cNvSpPr txBox="1"/>
          <p:nvPr/>
        </p:nvSpPr>
        <p:spPr>
          <a:xfrm>
            <a:off x="368303" y="3396125"/>
            <a:ext cx="2166329" cy="934402"/>
          </a:xfrm>
          <a:prstGeom prst="rect">
            <a:avLst/>
          </a:prstGeom>
          <a:ln w="19812">
            <a:solidFill>
              <a:schemeClr val="accent1"/>
            </a:solidFill>
          </a:ln>
        </p:spPr>
        <p:txBody>
          <a:bodyPr vert="horz" wrap="square" lIns="0" tIns="0" rIns="0" bIns="0" rtlCol="0" anchor="ctr" anchorCtr="0">
            <a:noAutofit/>
          </a:bodyPr>
          <a:lstStyle/>
          <a:p>
            <a:pPr marL="454659" marR="401320" lvl="0" indent="-45720"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Measure of</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dyspnea</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8" name="object 18">
            <a:extLst>
              <a:ext uri="{FF2B5EF4-FFF2-40B4-BE49-F238E27FC236}">
                <a16:creationId xmlns:a16="http://schemas.microsoft.com/office/drawing/2014/main" id="{FFE7653F-AA4E-F41F-CC06-1F173C2E9287}"/>
              </a:ext>
            </a:extLst>
          </p:cNvPr>
          <p:cNvSpPr txBox="1"/>
          <p:nvPr/>
        </p:nvSpPr>
        <p:spPr>
          <a:xfrm>
            <a:off x="367284" y="4680591"/>
            <a:ext cx="2166329" cy="523625"/>
          </a:xfrm>
          <a:prstGeom prst="rect">
            <a:avLst/>
          </a:prstGeom>
          <a:solidFill>
            <a:schemeClr val="bg2"/>
          </a:solidFill>
        </p:spPr>
        <p:txBody>
          <a:bodyPr vert="horz" wrap="square" lIns="0" tIns="0" rIns="0" bIns="0" rtlCol="0" anchor="ctr" anchorCtr="0">
            <a:noAutofit/>
          </a:bodyPr>
          <a:lstStyle/>
          <a:p>
            <a:pPr marL="269240" marR="262255" lvl="0" indent="0" algn="ctr" defTabSz="1219170" rtl="0" eaLnBrk="1" fontAlgn="auto" latinLnBrk="0" hangingPunct="1">
              <a:lnSpc>
                <a:spcPct val="100000"/>
              </a:lnSpc>
              <a:spcBef>
                <a:spcPts val="40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Assessment of</a:t>
            </a:r>
            <a:r>
              <a:rPr kumimoji="0" lang="en-US" sz="1200" b="1" i="0" u="none" strike="noStrike" kern="1200" cap="none" spc="0" normalizeH="0" baseline="0" noProof="0" dirty="0">
                <a:ln>
                  <a:noFill/>
                </a:ln>
                <a:solidFill>
                  <a:srgbClr val="FFFFFF"/>
                </a:solidFill>
                <a:effectLst/>
                <a:uLnTx/>
                <a:uFillTx/>
                <a:latin typeface="Arial"/>
                <a:ea typeface="+mn-ea"/>
                <a:cs typeface="Arial"/>
              </a:rPr>
              <a:t> </a:t>
            </a:r>
            <a:r>
              <a:rPr kumimoji="0" sz="1200" b="1" i="0" u="none" strike="noStrike" kern="1200" cap="none" spc="0" normalizeH="0" baseline="0" noProof="0" dirty="0">
                <a:ln>
                  <a:noFill/>
                </a:ln>
                <a:solidFill>
                  <a:srgbClr val="FFFFFF"/>
                </a:solidFill>
                <a:effectLst/>
                <a:uLnTx/>
                <a:uFillTx/>
                <a:latin typeface="Arial"/>
                <a:ea typeface="+mn-ea"/>
                <a:cs typeface="Arial"/>
              </a:rPr>
              <a:t>dyspnea</a:t>
            </a:r>
            <a:r>
              <a:rPr kumimoji="0" lang="en-US" sz="1200" b="0"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FFFFFF"/>
                </a:solidFill>
                <a:effectLst/>
                <a:uLnTx/>
                <a:uFillTx/>
                <a:latin typeface="Arial"/>
                <a:ea typeface="+mn-ea"/>
                <a:cs typeface="Arial"/>
              </a:rPr>
              <a:t>only</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19" name="object 19">
            <a:extLst>
              <a:ext uri="{FF2B5EF4-FFF2-40B4-BE49-F238E27FC236}">
                <a16:creationId xmlns:a16="http://schemas.microsoft.com/office/drawing/2014/main" id="{04566209-3DF9-0B8C-2945-BEBBE7339824}"/>
              </a:ext>
            </a:extLst>
          </p:cNvPr>
          <p:cNvSpPr txBox="1"/>
          <p:nvPr/>
        </p:nvSpPr>
        <p:spPr>
          <a:xfrm>
            <a:off x="7335867" y="3396125"/>
            <a:ext cx="2166329" cy="934402"/>
          </a:xfrm>
          <a:prstGeom prst="rect">
            <a:avLst/>
          </a:prstGeom>
          <a:ln w="19811">
            <a:solidFill>
              <a:schemeClr val="accent4"/>
            </a:solidFill>
          </a:ln>
        </p:spPr>
        <p:txBody>
          <a:bodyPr vert="horz" wrap="square" lIns="0" tIns="0" rIns="0" bIns="0" rtlCol="0" anchor="ctr" anchorCtr="0">
            <a:noAutofit/>
          </a:bodyPr>
          <a:lstStyle/>
          <a:p>
            <a:pPr marL="132080" marR="123189" lvl="0" indent="-635"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Measure of </a:t>
            </a:r>
            <a:br>
              <a:rPr kumimoji="0" lang="en-US" sz="1200" b="1" i="0" u="none" strike="noStrike" kern="1200" cap="none" spc="0" normalizeH="0" baseline="0" noProof="0" dirty="0">
                <a:ln>
                  <a:noFill/>
                </a:ln>
                <a:solidFill>
                  <a:srgbClr val="000000"/>
                </a:solidFill>
                <a:effectLst/>
                <a:uLnTx/>
                <a:uFillTx/>
                <a:latin typeface="Arial"/>
                <a:ea typeface="+mn-ea"/>
                <a:cs typeface="Arial"/>
              </a:rPr>
            </a:br>
            <a:r>
              <a:rPr kumimoji="0" lang="en-US" sz="1200" b="1" i="0" u="none" strike="noStrike" kern="1200" cap="none" spc="0" normalizeH="0" baseline="0" noProof="0" dirty="0">
                <a:ln>
                  <a:noFill/>
                </a:ln>
                <a:solidFill>
                  <a:srgbClr val="000000"/>
                </a:solidFill>
                <a:effectLst/>
                <a:uLnTx/>
                <a:uFillTx/>
                <a:latin typeface="Arial"/>
                <a:ea typeface="+mn-ea"/>
                <a:cs typeface="Arial"/>
              </a:rPr>
              <a:t>disease-specific health status</a:t>
            </a:r>
          </a:p>
        </p:txBody>
      </p:sp>
      <p:sp>
        <p:nvSpPr>
          <p:cNvPr id="20" name="object 20">
            <a:extLst>
              <a:ext uri="{FF2B5EF4-FFF2-40B4-BE49-F238E27FC236}">
                <a16:creationId xmlns:a16="http://schemas.microsoft.com/office/drawing/2014/main" id="{212DE3E7-20E1-1809-8F14-F4D8FF163A32}"/>
              </a:ext>
            </a:extLst>
          </p:cNvPr>
          <p:cNvSpPr txBox="1"/>
          <p:nvPr/>
        </p:nvSpPr>
        <p:spPr>
          <a:xfrm>
            <a:off x="2689804" y="4674014"/>
            <a:ext cx="9134872" cy="536778"/>
          </a:xfrm>
          <a:prstGeom prst="rect">
            <a:avLst/>
          </a:prstGeom>
          <a:solidFill>
            <a:schemeClr val="tx2"/>
          </a:solidFill>
        </p:spPr>
        <p:txBody>
          <a:bodyPr vert="horz" wrap="square" lIns="0" tIns="0" rIns="0" bIns="0" rtlCol="0" anchor="ctr" anchorCtr="0">
            <a:noAutofit/>
          </a:bodyPr>
          <a:lstStyle/>
          <a:p>
            <a:pPr marL="1270" marR="0" lvl="0" indent="0" algn="ctr" defTabSz="121917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Arial"/>
                <a:ea typeface="+mn-ea"/>
                <a:cs typeface="Arial"/>
              </a:rPr>
              <a:t>Multidimensional</a:t>
            </a:r>
            <a:r>
              <a:rPr kumimoji="0" sz="1200" b="1" i="0" u="none" strike="noStrike" kern="1200" cap="none" spc="0" normalizeH="0" baseline="0" noProof="0" dirty="0">
                <a:ln>
                  <a:noFill/>
                </a:ln>
                <a:solidFill>
                  <a:srgbClr val="FFFFFF"/>
                </a:solidFill>
                <a:effectLst/>
                <a:uLnTx/>
                <a:uFillTx/>
                <a:latin typeface="Arial"/>
                <a:ea typeface="+mn-ea"/>
                <a:cs typeface="Arial"/>
              </a:rPr>
              <a:t> </a:t>
            </a:r>
            <a:r>
              <a:rPr kumimoji="0" lang="en-IN" sz="1200" b="1" i="0" u="none" strike="noStrike" kern="1200" cap="none" spc="0" normalizeH="0" baseline="0" noProof="0" dirty="0">
                <a:ln>
                  <a:noFill/>
                </a:ln>
                <a:solidFill>
                  <a:srgbClr val="FFFFFF"/>
                </a:solidFill>
                <a:effectLst/>
                <a:uLnTx/>
                <a:uFillTx/>
                <a:latin typeface="Arial"/>
                <a:ea typeface="+mn-ea"/>
                <a:cs typeface="Arial"/>
              </a:rPr>
              <a:t>symptomatic </a:t>
            </a:r>
            <a:r>
              <a:rPr kumimoji="0" sz="1200" b="1" i="0" u="none" strike="noStrike" kern="1200" cap="none" spc="0" normalizeH="0" baseline="0" noProof="0" dirty="0">
                <a:ln>
                  <a:noFill/>
                </a:ln>
                <a:solidFill>
                  <a:srgbClr val="FFFFFF"/>
                </a:solidFill>
                <a:effectLst/>
                <a:uLnTx/>
                <a:uFillTx/>
                <a:latin typeface="Arial"/>
                <a:ea typeface="+mn-ea"/>
                <a:cs typeface="Arial"/>
              </a:rPr>
              <a:t>assessment</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8" name="object 21">
            <a:extLst>
              <a:ext uri="{FF2B5EF4-FFF2-40B4-BE49-F238E27FC236}">
                <a16:creationId xmlns:a16="http://schemas.microsoft.com/office/drawing/2014/main" id="{F8738997-B409-9309-C11A-EF56A9DD8BD6}"/>
              </a:ext>
            </a:extLst>
          </p:cNvPr>
          <p:cNvSpPr txBox="1"/>
          <p:nvPr/>
        </p:nvSpPr>
        <p:spPr>
          <a:xfrm>
            <a:off x="5013346" y="3396125"/>
            <a:ext cx="2166329" cy="934402"/>
          </a:xfrm>
          <a:prstGeom prst="rect">
            <a:avLst/>
          </a:prstGeom>
          <a:ln w="19811">
            <a:solidFill>
              <a:schemeClr val="accent3"/>
            </a:solidFill>
          </a:ln>
        </p:spPr>
        <p:txBody>
          <a:bodyPr vert="horz" wrap="square" lIns="0" tIns="0" rIns="0" bIns="0" rtlCol="0" anchor="ctr" anchorCtr="0">
            <a:noAutofit/>
          </a:bodyPr>
          <a:lstStyle/>
          <a:p>
            <a:pPr marL="132080" marR="123825" lvl="0" indent="-635"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Measure of </a:t>
            </a:r>
            <a:br>
              <a:rPr kumimoji="0" lang="en-IN" sz="1200" b="1" i="0" u="none" strike="noStrike" kern="1200" cap="none" spc="0" normalizeH="0" baseline="0" noProof="0" dirty="0">
                <a:ln>
                  <a:noFill/>
                </a:ln>
                <a:solidFill>
                  <a:srgbClr val="000000"/>
                </a:solidFill>
                <a:effectLst/>
                <a:uLnTx/>
                <a:uFillTx/>
                <a:latin typeface="Arial"/>
                <a:ea typeface="+mn-ea"/>
                <a:cs typeface="Arial"/>
              </a:rPr>
            </a:br>
            <a:r>
              <a:rPr kumimoji="0" lang="en-IN" sz="1200" b="1" i="0" u="none" strike="noStrike" kern="1200" cap="none" spc="0" normalizeH="0" baseline="0" noProof="0" dirty="0">
                <a:ln>
                  <a:noFill/>
                </a:ln>
                <a:solidFill>
                  <a:srgbClr val="000000"/>
                </a:solidFill>
                <a:effectLst/>
                <a:uLnTx/>
                <a:uFillTx/>
                <a:latin typeface="Arial"/>
                <a:ea typeface="+mn-ea"/>
                <a:cs typeface="Arial"/>
              </a:rPr>
              <a:t>disease-specific </a:t>
            </a:r>
            <a:r>
              <a:rPr kumimoji="0" sz="1200" b="1" i="0" u="none" strike="noStrike" kern="1200" cap="none" spc="0" normalizeH="0" baseline="0" noProof="0" dirty="0">
                <a:ln>
                  <a:noFill/>
                </a:ln>
                <a:solidFill>
                  <a:srgbClr val="000000"/>
                </a:solidFill>
                <a:effectLst/>
                <a:uLnTx/>
                <a:uFillTx/>
                <a:latin typeface="Arial"/>
                <a:ea typeface="+mn-ea"/>
                <a:cs typeface="Arial"/>
              </a:rPr>
              <a:t>health</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status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29" name="object 22">
            <a:extLst>
              <a:ext uri="{FF2B5EF4-FFF2-40B4-BE49-F238E27FC236}">
                <a16:creationId xmlns:a16="http://schemas.microsoft.com/office/drawing/2014/main" id="{DD8EAEDD-9925-E980-22DE-E4E7265185F4}"/>
              </a:ext>
            </a:extLst>
          </p:cNvPr>
          <p:cNvSpPr txBox="1"/>
          <p:nvPr/>
        </p:nvSpPr>
        <p:spPr>
          <a:xfrm>
            <a:off x="9657370" y="3409381"/>
            <a:ext cx="2166329" cy="934402"/>
          </a:xfrm>
          <a:prstGeom prst="rect">
            <a:avLst/>
          </a:prstGeom>
          <a:ln w="19811">
            <a:solidFill>
              <a:schemeClr val="accent5"/>
            </a:solidFill>
          </a:ln>
        </p:spPr>
        <p:txBody>
          <a:bodyPr vert="horz" wrap="square" lIns="0" tIns="0" rIns="0" bIns="0" rtlCol="0" anchor="ctr" anchorCtr="0">
            <a:noAutofit/>
          </a:bodyPr>
          <a:lstStyle/>
          <a:p>
            <a:pPr marL="94615" marR="86995" lvl="0" indent="0" algn="ctr" defTabSz="1219170" rtl="0" eaLnBrk="1" fontAlgn="auto" latinLnBrk="0" hangingPunct="1">
              <a:lnSpc>
                <a:spcPct val="100000"/>
              </a:lnSpc>
              <a:spcBef>
                <a:spcPts val="620"/>
              </a:spcBef>
              <a:spcAft>
                <a:spcPts val="0"/>
              </a:spcAft>
              <a:buClrTx/>
              <a:buSzTx/>
              <a:buFontTx/>
              <a:buNone/>
              <a:tabLst/>
              <a:defRPr/>
            </a:pPr>
            <a:r>
              <a:rPr kumimoji="0" sz="1200" b="1" i="0" u="none" strike="noStrike" kern="1200" cap="none" spc="0" normalizeH="0" baseline="0" noProof="0" dirty="0" err="1">
                <a:ln>
                  <a:noFill/>
                </a:ln>
                <a:solidFill>
                  <a:srgbClr val="000000"/>
                </a:solidFill>
                <a:effectLst/>
                <a:uLnTx/>
                <a:uFillTx/>
                <a:latin typeface="Arial"/>
                <a:ea typeface="+mn-ea"/>
                <a:cs typeface="Arial"/>
              </a:rPr>
              <a:t>Evaluat</a:t>
            </a:r>
            <a:r>
              <a:rPr kumimoji="0" lang="en-IN" sz="1200" b="1" i="0" u="none" strike="noStrike" kern="1200" cap="none" spc="0" normalizeH="0" baseline="0" noProof="0" dirty="0">
                <a:ln>
                  <a:noFill/>
                </a:ln>
                <a:solidFill>
                  <a:srgbClr val="000000"/>
                </a:solidFill>
                <a:effectLst/>
                <a:uLnTx/>
                <a:uFillTx/>
                <a:latin typeface="Arial"/>
                <a:ea typeface="+mn-ea"/>
                <a:cs typeface="Arial"/>
              </a:rPr>
              <a:t>ion of</a:t>
            </a:r>
            <a:r>
              <a:rPr kumimoji="0" sz="1200" b="1" i="0" u="none" strike="noStrike" kern="1200" cap="none" spc="0" normalizeH="0" baseline="0" noProof="0" dirty="0">
                <a:ln>
                  <a:noFill/>
                </a:ln>
                <a:solidFill>
                  <a:srgbClr val="000000"/>
                </a:solidFill>
                <a:effectLst/>
                <a:uLnTx/>
                <a:uFillTx/>
                <a:latin typeface="Arial"/>
                <a:ea typeface="+mn-ea"/>
                <a:cs typeface="Arial"/>
              </a:rPr>
              <a:t> the effect</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of treatment on the</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severity of</a:t>
            </a:r>
            <a:r>
              <a:rPr kumimoji="0" lang="en-US" sz="1200" b="1" i="0" u="none" strike="noStrike" kern="1200" cap="none" spc="0" normalizeH="0" baseline="0" noProof="0" dirty="0">
                <a:ln>
                  <a:noFill/>
                </a:ln>
                <a:solidFill>
                  <a:srgbClr val="000000"/>
                </a:solidFill>
                <a:effectLst/>
                <a:uLnTx/>
                <a:uFillTx/>
                <a:latin typeface="Arial"/>
                <a:ea typeface="+mn-ea"/>
                <a:cs typeface="Arial"/>
              </a:rPr>
              <a:t> exacerbations and </a:t>
            </a:r>
            <a:r>
              <a:rPr kumimoji="0" sz="1200" b="1" i="0" u="none" strike="noStrike" kern="1200" cap="none" spc="0" normalizeH="0" baseline="0" noProof="0" dirty="0">
                <a:ln>
                  <a:noFill/>
                </a:ln>
                <a:solidFill>
                  <a:srgbClr val="000000"/>
                </a:solidFill>
                <a:effectLst/>
                <a:uLnTx/>
                <a:uFillTx/>
                <a:latin typeface="Arial"/>
                <a:ea typeface="+mn-ea"/>
                <a:cs typeface="Arial"/>
              </a:rPr>
              <a:t>respiratory</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symptoms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30" name="object 23">
            <a:extLst>
              <a:ext uri="{FF2B5EF4-FFF2-40B4-BE49-F238E27FC236}">
                <a16:creationId xmlns:a16="http://schemas.microsoft.com/office/drawing/2014/main" id="{D82E3F5D-4031-65EC-1AAB-EF2CC8942393}"/>
              </a:ext>
            </a:extLst>
          </p:cNvPr>
          <p:cNvSpPr txBox="1"/>
          <p:nvPr/>
        </p:nvSpPr>
        <p:spPr>
          <a:xfrm>
            <a:off x="7334847" y="2146522"/>
            <a:ext cx="2166329" cy="930484"/>
          </a:xfrm>
          <a:prstGeom prst="rect">
            <a:avLst/>
          </a:prstGeom>
          <a:solidFill>
            <a:schemeClr val="accent4"/>
          </a:solidFill>
        </p:spPr>
        <p:txBody>
          <a:bodyPr vert="horz" wrap="square" lIns="0" tIns="0" rIns="0" bIns="0" rtlCol="0" anchor="ctr" anchorCtr="0">
            <a:noAutofit/>
          </a:bodyPr>
          <a:lstStyle/>
          <a:p>
            <a:pPr marL="297815" marR="288290" lvl="0" indent="635"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CCQ</a:t>
            </a:r>
            <a:r>
              <a:rPr kumimoji="0" sz="1200" b="1" i="0" u="none" strike="noStrike" kern="1200" cap="none" spc="0" normalizeH="0" baseline="24305" noProof="0" dirty="0">
                <a:ln>
                  <a:noFill/>
                </a:ln>
                <a:solidFill>
                  <a:srgbClr val="FFFFFF"/>
                </a:solidFill>
                <a:effectLst/>
                <a:uLnTx/>
                <a:uFillTx/>
                <a:latin typeface="Arial"/>
                <a:ea typeface="+mn-ea"/>
                <a:cs typeface="Arial"/>
              </a:rPr>
              <a:t>1</a:t>
            </a:r>
            <a:endParaRPr kumimoji="0" sz="1200" b="0" i="0" u="none" strike="noStrike" kern="1200" cap="none" spc="0" normalizeH="0" baseline="24305" noProof="0" dirty="0">
              <a:ln>
                <a:noFill/>
              </a:ln>
              <a:solidFill>
                <a:srgbClr val="000000"/>
              </a:solidFill>
              <a:effectLst/>
              <a:uLnTx/>
              <a:uFillTx/>
              <a:latin typeface="Arial"/>
              <a:ea typeface="+mn-ea"/>
              <a:cs typeface="Arial"/>
            </a:endParaRPr>
          </a:p>
        </p:txBody>
      </p:sp>
      <p:sp>
        <p:nvSpPr>
          <p:cNvPr id="31" name="object 24">
            <a:extLst>
              <a:ext uri="{FF2B5EF4-FFF2-40B4-BE49-F238E27FC236}">
                <a16:creationId xmlns:a16="http://schemas.microsoft.com/office/drawing/2014/main" id="{AE946952-5D5D-2C90-4D2A-6F00653A1B05}"/>
              </a:ext>
            </a:extLst>
          </p:cNvPr>
          <p:cNvSpPr txBox="1"/>
          <p:nvPr/>
        </p:nvSpPr>
        <p:spPr>
          <a:xfrm>
            <a:off x="367284" y="2146522"/>
            <a:ext cx="2166329" cy="930484"/>
          </a:xfrm>
          <a:prstGeom prst="rect">
            <a:avLst/>
          </a:prstGeom>
          <a:solidFill>
            <a:schemeClr val="accent1"/>
          </a:solidFill>
        </p:spPr>
        <p:txBody>
          <a:bodyPr vert="horz" wrap="square" lIns="0" tIns="0" rIns="0" bIns="0" rtlCol="0" anchor="ctr" anchorCtr="0">
            <a:noAutofit/>
          </a:bodyPr>
          <a:lstStyle/>
          <a:p>
            <a:pPr marL="165735" marR="158750" lvl="0" indent="1270" algn="ctr" defTabSz="1219170" rtl="0" eaLnBrk="1" fontAlgn="auto" latinLnBrk="0" hangingPunct="1">
              <a:lnSpc>
                <a:spcPct val="100000"/>
              </a:lnSpc>
              <a:spcBef>
                <a:spcPts val="165"/>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mMRC</a:t>
            </a:r>
            <a:r>
              <a:rPr kumimoji="0" lang="en-IN" sz="1200" b="1" i="0" u="none" strike="noStrike" kern="1200" cap="none" spc="0" normalizeH="0" baseline="0" noProof="0" dirty="0">
                <a:ln>
                  <a:noFill/>
                </a:ln>
                <a:solidFill>
                  <a:srgbClr val="FFFFFF"/>
                </a:solidFill>
                <a:effectLst/>
                <a:uLnTx/>
                <a:uFillTx/>
                <a:latin typeface="Arial"/>
                <a:ea typeface="+mn-ea"/>
                <a:cs typeface="Arial"/>
              </a:rPr>
              <a:t> Scale</a:t>
            </a:r>
            <a:r>
              <a:rPr kumimoji="0" sz="1200" b="1" i="0" u="none" strike="noStrike" kern="1200" cap="none" spc="0" normalizeH="0" baseline="24305" noProof="0" dirty="0">
                <a:ln>
                  <a:noFill/>
                </a:ln>
                <a:solidFill>
                  <a:srgbClr val="FFFFFF"/>
                </a:solidFill>
                <a:effectLst/>
                <a:uLnTx/>
                <a:uFillTx/>
                <a:latin typeface="Arial"/>
                <a:ea typeface="+mn-ea"/>
                <a:cs typeface="Arial"/>
              </a:rPr>
              <a:t>1</a:t>
            </a:r>
            <a:endParaRPr kumimoji="0" sz="1200" b="0" i="0" u="none" strike="noStrike" kern="1200" cap="none" spc="0" normalizeH="0" baseline="24305" noProof="0" dirty="0">
              <a:ln>
                <a:noFill/>
              </a:ln>
              <a:solidFill>
                <a:srgbClr val="000000"/>
              </a:solidFill>
              <a:effectLst/>
              <a:uLnTx/>
              <a:uFillTx/>
              <a:latin typeface="Arial"/>
              <a:ea typeface="+mn-ea"/>
              <a:cs typeface="Arial"/>
            </a:endParaRPr>
          </a:p>
        </p:txBody>
      </p:sp>
      <p:sp>
        <p:nvSpPr>
          <p:cNvPr id="32" name="object 25">
            <a:extLst>
              <a:ext uri="{FF2B5EF4-FFF2-40B4-BE49-F238E27FC236}">
                <a16:creationId xmlns:a16="http://schemas.microsoft.com/office/drawing/2014/main" id="{27C26E22-36A9-100E-23E8-90058DF34B48}"/>
              </a:ext>
            </a:extLst>
          </p:cNvPr>
          <p:cNvSpPr txBox="1"/>
          <p:nvPr/>
        </p:nvSpPr>
        <p:spPr>
          <a:xfrm>
            <a:off x="2689805" y="2143768"/>
            <a:ext cx="2166329" cy="935993"/>
          </a:xfrm>
          <a:prstGeom prst="rect">
            <a:avLst/>
          </a:prstGeom>
          <a:solidFill>
            <a:schemeClr val="accent2"/>
          </a:solidFill>
        </p:spPr>
        <p:txBody>
          <a:bodyPr vert="horz" wrap="square" lIns="0" tIns="0" rIns="0" bIns="0" rtlCol="0" anchor="ctr" anchorCtr="0">
            <a:noAutofit/>
          </a:bodyPr>
          <a:lstStyle>
            <a:defPPr>
              <a:defRPr lang="en-US"/>
            </a:defPPr>
            <a:lvl1pPr marL="356235" marR="348615" indent="635" algn="ctr">
              <a:lnSpc>
                <a:spcPct val="100000"/>
              </a:lnSpc>
              <a:spcBef>
                <a:spcPts val="409"/>
              </a:spcBef>
              <a:defRPr sz="1200" b="1">
                <a:solidFill>
                  <a:schemeClr val="bg1"/>
                </a:solidFill>
                <a:latin typeface="Arial"/>
                <a:cs typeface="Arial"/>
              </a:defRPr>
            </a:lvl1pPr>
          </a:lstStyle>
          <a:p>
            <a:pPr marL="356235" marR="348615" lvl="0" indent="635" algn="ctr" defTabSz="1219170" rtl="0" eaLnBrk="1" fontAlgn="auto" latinLnBrk="0" hangingPunct="1">
              <a:lnSpc>
                <a:spcPct val="100000"/>
              </a:lnSpc>
              <a:spcBef>
                <a:spcPts val="409"/>
              </a:spcBef>
              <a:spcAft>
                <a:spcPts val="0"/>
              </a:spcAft>
              <a:buClrTx/>
              <a:buSzTx/>
              <a:buFontTx/>
              <a:buNone/>
              <a:tabLst/>
              <a:defRPr/>
            </a:pPr>
            <a:r>
              <a:rPr kumimoji="0" sz="1200" b="1" i="0" u="none" strike="noStrike" kern="1200" cap="none" spc="0" normalizeH="0" baseline="0" noProof="0" dirty="0">
                <a:ln>
                  <a:noFill/>
                </a:ln>
                <a:solidFill>
                  <a:prstClr val="white"/>
                </a:solidFill>
                <a:effectLst/>
                <a:uLnTx/>
                <a:uFillTx/>
                <a:latin typeface="Arial"/>
                <a:ea typeface="+mn-ea"/>
                <a:cs typeface="Arial"/>
              </a:rPr>
              <a:t>CAT</a:t>
            </a:r>
            <a:r>
              <a:rPr kumimoji="0" lang="en-US" sz="1200" b="1" i="0" u="none" strike="noStrike" kern="1200" cap="none" spc="0" normalizeH="0" baseline="0" noProof="0" dirty="0">
                <a:ln>
                  <a:noFill/>
                </a:ln>
                <a:solidFill>
                  <a:prstClr val="white"/>
                </a:solidFill>
                <a:effectLst/>
                <a:uLnTx/>
                <a:uFillTx/>
                <a:latin typeface="Arial"/>
                <a:ea typeface="+mn-ea"/>
                <a:cs typeface="Arial"/>
              </a:rPr>
              <a:t>™</a:t>
            </a:r>
            <a:r>
              <a:rPr kumimoji="0" sz="1200" b="1" i="0" u="none" strike="noStrike" kern="1200" cap="none" spc="0" normalizeH="0" baseline="30000" noProof="0" dirty="0">
                <a:ln>
                  <a:noFill/>
                </a:ln>
                <a:solidFill>
                  <a:prstClr val="white"/>
                </a:solidFill>
                <a:effectLst/>
                <a:uLnTx/>
                <a:uFillTx/>
                <a:latin typeface="Arial"/>
                <a:ea typeface="+mn-ea"/>
                <a:cs typeface="Arial"/>
              </a:rPr>
              <a:t>1</a:t>
            </a:r>
          </a:p>
        </p:txBody>
      </p:sp>
      <p:sp>
        <p:nvSpPr>
          <p:cNvPr id="33" name="object 26">
            <a:extLst>
              <a:ext uri="{FF2B5EF4-FFF2-40B4-BE49-F238E27FC236}">
                <a16:creationId xmlns:a16="http://schemas.microsoft.com/office/drawing/2014/main" id="{003FFE91-FB2B-7D08-9F68-7B29223DF455}"/>
              </a:ext>
            </a:extLst>
          </p:cNvPr>
          <p:cNvSpPr txBox="1"/>
          <p:nvPr/>
        </p:nvSpPr>
        <p:spPr>
          <a:xfrm>
            <a:off x="5012326" y="2144380"/>
            <a:ext cx="2166329" cy="934768"/>
          </a:xfrm>
          <a:prstGeom prst="rect">
            <a:avLst/>
          </a:prstGeom>
          <a:solidFill>
            <a:schemeClr val="accent3"/>
          </a:solidFill>
        </p:spPr>
        <p:txBody>
          <a:bodyPr vert="horz" wrap="square" lIns="0" tIns="0" rIns="0" bIns="0" rtlCol="0" anchor="ctr" anchorCtr="0">
            <a:noAutofit/>
          </a:bodyPr>
          <a:lstStyle/>
          <a:p>
            <a:pPr marL="297180" marR="290195" lvl="0" indent="-1270" algn="ctr" defTabSz="1219170" rtl="0" eaLnBrk="1" fontAlgn="auto" latinLnBrk="0" hangingPunct="1">
              <a:lnSpc>
                <a:spcPct val="100000"/>
              </a:lnSpc>
              <a:spcBef>
                <a:spcPts val="905"/>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SGRQ</a:t>
            </a:r>
            <a:r>
              <a:rPr kumimoji="0" sz="1200" b="1" i="0" u="none" strike="noStrike" kern="1200" cap="none" spc="0" normalizeH="0" baseline="24305" noProof="0" dirty="0">
                <a:ln>
                  <a:noFill/>
                </a:ln>
                <a:solidFill>
                  <a:srgbClr val="FFFFFF"/>
                </a:solidFill>
                <a:effectLst/>
                <a:uLnTx/>
                <a:uFillTx/>
                <a:latin typeface="Arial"/>
                <a:ea typeface="+mn-ea"/>
                <a:cs typeface="Arial"/>
              </a:rPr>
              <a:t>1</a:t>
            </a:r>
            <a:endParaRPr kumimoji="0" sz="1200" b="0" i="0" u="none" strike="noStrike" kern="1200" cap="none" spc="0" normalizeH="0" baseline="24305" noProof="0" dirty="0">
              <a:ln>
                <a:noFill/>
              </a:ln>
              <a:solidFill>
                <a:srgbClr val="000000"/>
              </a:solidFill>
              <a:effectLst/>
              <a:uLnTx/>
              <a:uFillTx/>
              <a:latin typeface="Arial"/>
              <a:ea typeface="+mn-ea"/>
              <a:cs typeface="Arial"/>
            </a:endParaRPr>
          </a:p>
        </p:txBody>
      </p:sp>
      <p:sp>
        <p:nvSpPr>
          <p:cNvPr id="34" name="object 27">
            <a:extLst>
              <a:ext uri="{FF2B5EF4-FFF2-40B4-BE49-F238E27FC236}">
                <a16:creationId xmlns:a16="http://schemas.microsoft.com/office/drawing/2014/main" id="{00D2D8D2-63EA-A6DE-7FE6-C8F4E84275D5}"/>
              </a:ext>
            </a:extLst>
          </p:cNvPr>
          <p:cNvSpPr txBox="1"/>
          <p:nvPr/>
        </p:nvSpPr>
        <p:spPr>
          <a:xfrm>
            <a:off x="9657370" y="2144380"/>
            <a:ext cx="2166329" cy="934768"/>
          </a:xfrm>
          <a:prstGeom prst="rect">
            <a:avLst/>
          </a:prstGeom>
          <a:solidFill>
            <a:schemeClr val="accent5"/>
          </a:solidFill>
        </p:spPr>
        <p:txBody>
          <a:bodyPr vert="horz" wrap="square" lIns="0" tIns="0" rIns="0" bIns="0" rtlCol="0" anchor="ctr" anchorCtr="0">
            <a:noAutofit/>
          </a:bodyPr>
          <a:lstStyle/>
          <a:p>
            <a:pPr marL="90805" marR="81280" lvl="0" indent="0" algn="ctr" defTabSz="1219170" rtl="0" eaLnBrk="1" fontAlgn="auto" latinLnBrk="0" hangingPunct="1">
              <a:lnSpc>
                <a:spcPct val="100000"/>
              </a:lnSpc>
              <a:spcBef>
                <a:spcPts val="900"/>
              </a:spcBef>
              <a:spcAft>
                <a:spcPts val="0"/>
              </a:spcAft>
              <a:buClrTx/>
              <a:buSzTx/>
              <a:buFontTx/>
              <a:buNone/>
              <a:tabLst/>
              <a:defRPr/>
            </a:pPr>
            <a:r>
              <a:rPr kumimoji="0" sz="1200" b="1" i="0" u="none" strike="noStrike" kern="1200" cap="none" spc="0" normalizeH="0" baseline="0" noProof="0" dirty="0">
                <a:ln>
                  <a:noFill/>
                </a:ln>
                <a:solidFill>
                  <a:prstClr val="white"/>
                </a:solidFill>
                <a:effectLst/>
                <a:uLnTx/>
                <a:uFillTx/>
                <a:latin typeface="Arial"/>
                <a:ea typeface="+mn-ea"/>
                <a:cs typeface="Arial"/>
              </a:rPr>
              <a:t>E-RS: COPD</a:t>
            </a:r>
            <a:r>
              <a:rPr kumimoji="0" sz="1200" b="1" i="0" u="none" strike="noStrike" kern="1200" cap="none" spc="0" normalizeH="0" baseline="24305" noProof="0" dirty="0">
                <a:ln>
                  <a:noFill/>
                </a:ln>
                <a:solidFill>
                  <a:prstClr val="white"/>
                </a:solidFill>
                <a:effectLst/>
                <a:uLnTx/>
                <a:uFillTx/>
                <a:latin typeface="Arial"/>
                <a:ea typeface="+mn-ea"/>
                <a:cs typeface="Arial"/>
              </a:rPr>
              <a:t>2</a:t>
            </a:r>
            <a:endParaRPr kumimoji="0" sz="1200" b="0" i="0" u="none" strike="noStrike" kern="1200" cap="none" spc="0" normalizeH="0" baseline="24305" noProof="0" dirty="0">
              <a:ln>
                <a:noFill/>
              </a:ln>
              <a:solidFill>
                <a:prstClr val="white"/>
              </a:solidFill>
              <a:effectLst/>
              <a:uLnTx/>
              <a:uFillTx/>
              <a:latin typeface="Arial"/>
              <a:ea typeface="+mn-ea"/>
              <a:cs typeface="Arial"/>
            </a:endParaRPr>
          </a:p>
        </p:txBody>
      </p:sp>
      <p:cxnSp>
        <p:nvCxnSpPr>
          <p:cNvPr id="35" name="Straight Arrow Connector 22">
            <a:extLst>
              <a:ext uri="{FF2B5EF4-FFF2-40B4-BE49-F238E27FC236}">
                <a16:creationId xmlns:a16="http://schemas.microsoft.com/office/drawing/2014/main" id="{BCFB495E-FF0C-7A35-0BC9-A99485A0763A}"/>
              </a:ext>
            </a:extLst>
          </p:cNvPr>
          <p:cNvCxnSpPr>
            <a:cxnSpLocks/>
            <a:stCxn id="9" idx="2"/>
            <a:endCxn id="34" idx="0"/>
          </p:cNvCxnSpPr>
          <p:nvPr/>
        </p:nvCxnSpPr>
        <p:spPr>
          <a:xfrm rot="16200000" flipH="1">
            <a:off x="8226513" y="-369643"/>
            <a:ext cx="383001" cy="4645043"/>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22">
            <a:extLst>
              <a:ext uri="{FF2B5EF4-FFF2-40B4-BE49-F238E27FC236}">
                <a16:creationId xmlns:a16="http://schemas.microsoft.com/office/drawing/2014/main" id="{5FB18CD0-3695-742C-8E39-BC11C132A685}"/>
              </a:ext>
            </a:extLst>
          </p:cNvPr>
          <p:cNvCxnSpPr>
            <a:cxnSpLocks/>
            <a:stCxn id="9" idx="2"/>
            <a:endCxn id="30" idx="0"/>
          </p:cNvCxnSpPr>
          <p:nvPr/>
        </p:nvCxnSpPr>
        <p:spPr>
          <a:xfrm rot="16200000" flipH="1">
            <a:off x="7064181" y="792690"/>
            <a:ext cx="385143" cy="2322520"/>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22">
            <a:extLst>
              <a:ext uri="{FF2B5EF4-FFF2-40B4-BE49-F238E27FC236}">
                <a16:creationId xmlns:a16="http://schemas.microsoft.com/office/drawing/2014/main" id="{8090495A-5105-2E04-EA64-B0A07F78E2EE}"/>
              </a:ext>
            </a:extLst>
          </p:cNvPr>
          <p:cNvCxnSpPr>
            <a:cxnSpLocks/>
            <a:stCxn id="9" idx="2"/>
            <a:endCxn id="32" idx="0"/>
          </p:cNvCxnSpPr>
          <p:nvPr/>
        </p:nvCxnSpPr>
        <p:spPr>
          <a:xfrm rot="5400000">
            <a:off x="4743037" y="791312"/>
            <a:ext cx="382389" cy="2322522"/>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22">
            <a:extLst>
              <a:ext uri="{FF2B5EF4-FFF2-40B4-BE49-F238E27FC236}">
                <a16:creationId xmlns:a16="http://schemas.microsoft.com/office/drawing/2014/main" id="{903EC188-D6D6-7839-5397-4F273EAC3D50}"/>
              </a:ext>
            </a:extLst>
          </p:cNvPr>
          <p:cNvCxnSpPr>
            <a:cxnSpLocks/>
            <a:stCxn id="9" idx="2"/>
            <a:endCxn id="31" idx="0"/>
          </p:cNvCxnSpPr>
          <p:nvPr/>
        </p:nvCxnSpPr>
        <p:spPr>
          <a:xfrm rot="5400000">
            <a:off x="3580400" y="-368571"/>
            <a:ext cx="385143" cy="4645043"/>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22">
            <a:extLst>
              <a:ext uri="{FF2B5EF4-FFF2-40B4-BE49-F238E27FC236}">
                <a16:creationId xmlns:a16="http://schemas.microsoft.com/office/drawing/2014/main" id="{06201DB9-58CC-FF54-3817-CA374ECCDEE8}"/>
              </a:ext>
            </a:extLst>
          </p:cNvPr>
          <p:cNvCxnSpPr>
            <a:cxnSpLocks/>
            <a:stCxn id="9" idx="2"/>
            <a:endCxn id="33" idx="0"/>
          </p:cNvCxnSpPr>
          <p:nvPr/>
        </p:nvCxnSpPr>
        <p:spPr>
          <a:xfrm flipH="1">
            <a:off x="6095491" y="1761379"/>
            <a:ext cx="1" cy="383001"/>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22">
            <a:extLst>
              <a:ext uri="{FF2B5EF4-FFF2-40B4-BE49-F238E27FC236}">
                <a16:creationId xmlns:a16="http://schemas.microsoft.com/office/drawing/2014/main" id="{B01E0DFC-3D6F-1037-57F5-9BD13BC62A07}"/>
              </a:ext>
            </a:extLst>
          </p:cNvPr>
          <p:cNvCxnSpPr>
            <a:cxnSpLocks/>
            <a:stCxn id="31" idx="2"/>
            <a:endCxn id="15" idx="0"/>
          </p:cNvCxnSpPr>
          <p:nvPr/>
        </p:nvCxnSpPr>
        <p:spPr>
          <a:xfrm>
            <a:off x="1450449" y="3084705"/>
            <a:ext cx="1019" cy="319119"/>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22">
            <a:extLst>
              <a:ext uri="{FF2B5EF4-FFF2-40B4-BE49-F238E27FC236}">
                <a16:creationId xmlns:a16="http://schemas.microsoft.com/office/drawing/2014/main" id="{E1DA7F51-9A83-1A8B-CAEA-E703ADDE4F79}"/>
              </a:ext>
            </a:extLst>
          </p:cNvPr>
          <p:cNvCxnSpPr>
            <a:cxnSpLocks/>
            <a:stCxn id="32" idx="2"/>
            <a:endCxn id="10" idx="0"/>
          </p:cNvCxnSpPr>
          <p:nvPr/>
        </p:nvCxnSpPr>
        <p:spPr>
          <a:xfrm>
            <a:off x="3772970" y="3087460"/>
            <a:ext cx="1018" cy="316364"/>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22">
            <a:extLst>
              <a:ext uri="{FF2B5EF4-FFF2-40B4-BE49-F238E27FC236}">
                <a16:creationId xmlns:a16="http://schemas.microsoft.com/office/drawing/2014/main" id="{6453D80A-E77D-1A38-87E2-B700712515B5}"/>
              </a:ext>
            </a:extLst>
          </p:cNvPr>
          <p:cNvCxnSpPr>
            <a:cxnSpLocks/>
            <a:stCxn id="33" idx="2"/>
            <a:endCxn id="28" idx="0"/>
          </p:cNvCxnSpPr>
          <p:nvPr/>
        </p:nvCxnSpPr>
        <p:spPr>
          <a:xfrm>
            <a:off x="6095491" y="3086847"/>
            <a:ext cx="1020" cy="316977"/>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22">
            <a:extLst>
              <a:ext uri="{FF2B5EF4-FFF2-40B4-BE49-F238E27FC236}">
                <a16:creationId xmlns:a16="http://schemas.microsoft.com/office/drawing/2014/main" id="{10C1A661-FC77-4257-6232-D87B9FB7B780}"/>
              </a:ext>
            </a:extLst>
          </p:cNvPr>
          <p:cNvCxnSpPr>
            <a:cxnSpLocks/>
            <a:stCxn id="30" idx="2"/>
            <a:endCxn id="19" idx="0"/>
          </p:cNvCxnSpPr>
          <p:nvPr/>
        </p:nvCxnSpPr>
        <p:spPr>
          <a:xfrm>
            <a:off x="8418012" y="3084705"/>
            <a:ext cx="1020" cy="319119"/>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22">
            <a:extLst>
              <a:ext uri="{FF2B5EF4-FFF2-40B4-BE49-F238E27FC236}">
                <a16:creationId xmlns:a16="http://schemas.microsoft.com/office/drawing/2014/main" id="{0542634D-4330-7EE3-79A8-4D2FB638F557}"/>
              </a:ext>
            </a:extLst>
          </p:cNvPr>
          <p:cNvCxnSpPr>
            <a:cxnSpLocks/>
            <a:stCxn id="34" idx="2"/>
            <a:endCxn id="29" idx="0"/>
          </p:cNvCxnSpPr>
          <p:nvPr/>
        </p:nvCxnSpPr>
        <p:spPr>
          <a:xfrm>
            <a:off x="10740535" y="3086847"/>
            <a:ext cx="0" cy="330233"/>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0" name="Straight Arrow Connector 22">
            <a:extLst>
              <a:ext uri="{FF2B5EF4-FFF2-40B4-BE49-F238E27FC236}">
                <a16:creationId xmlns:a16="http://schemas.microsoft.com/office/drawing/2014/main" id="{954D4638-20FE-2BA0-A46D-EF8B1AB15095}"/>
              </a:ext>
            </a:extLst>
          </p:cNvPr>
          <p:cNvCxnSpPr>
            <a:cxnSpLocks/>
          </p:cNvCxnSpPr>
          <p:nvPr/>
        </p:nvCxnSpPr>
        <p:spPr>
          <a:xfrm>
            <a:off x="1450449" y="4349340"/>
            <a:ext cx="1019" cy="319119"/>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22">
            <a:extLst>
              <a:ext uri="{FF2B5EF4-FFF2-40B4-BE49-F238E27FC236}">
                <a16:creationId xmlns:a16="http://schemas.microsoft.com/office/drawing/2014/main" id="{1F6FC30D-ACB3-3550-57F6-479B0C217D83}"/>
              </a:ext>
            </a:extLst>
          </p:cNvPr>
          <p:cNvCxnSpPr>
            <a:cxnSpLocks/>
          </p:cNvCxnSpPr>
          <p:nvPr/>
        </p:nvCxnSpPr>
        <p:spPr>
          <a:xfrm>
            <a:off x="3772970" y="4352095"/>
            <a:ext cx="1018" cy="316364"/>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22">
            <a:extLst>
              <a:ext uri="{FF2B5EF4-FFF2-40B4-BE49-F238E27FC236}">
                <a16:creationId xmlns:a16="http://schemas.microsoft.com/office/drawing/2014/main" id="{72744149-C51A-A622-1DC0-E944EEDCFD0F}"/>
              </a:ext>
            </a:extLst>
          </p:cNvPr>
          <p:cNvCxnSpPr>
            <a:cxnSpLocks/>
          </p:cNvCxnSpPr>
          <p:nvPr/>
        </p:nvCxnSpPr>
        <p:spPr>
          <a:xfrm>
            <a:off x="6095491" y="4351482"/>
            <a:ext cx="1020" cy="316977"/>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3" name="Straight Arrow Connector 22">
            <a:extLst>
              <a:ext uri="{FF2B5EF4-FFF2-40B4-BE49-F238E27FC236}">
                <a16:creationId xmlns:a16="http://schemas.microsoft.com/office/drawing/2014/main" id="{89E8965D-17B6-2F11-DEC1-2BFB4863A4DA}"/>
              </a:ext>
            </a:extLst>
          </p:cNvPr>
          <p:cNvCxnSpPr>
            <a:cxnSpLocks/>
          </p:cNvCxnSpPr>
          <p:nvPr/>
        </p:nvCxnSpPr>
        <p:spPr>
          <a:xfrm>
            <a:off x="8418012" y="4349340"/>
            <a:ext cx="1020" cy="319119"/>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Straight Arrow Connector 22">
            <a:extLst>
              <a:ext uri="{FF2B5EF4-FFF2-40B4-BE49-F238E27FC236}">
                <a16:creationId xmlns:a16="http://schemas.microsoft.com/office/drawing/2014/main" id="{422750E1-8F41-4836-BB7C-30ED401FAE9D}"/>
              </a:ext>
            </a:extLst>
          </p:cNvPr>
          <p:cNvCxnSpPr>
            <a:cxnSpLocks/>
          </p:cNvCxnSpPr>
          <p:nvPr/>
        </p:nvCxnSpPr>
        <p:spPr>
          <a:xfrm>
            <a:off x="10740535" y="4351482"/>
            <a:ext cx="0" cy="316977"/>
          </a:xfrm>
          <a:prstGeom prst="straightConnector1">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605256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8A084DB7-3841-427E-9BEE-6CE7231DFCBF}"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Note: The full questionnaire is available in reference 2. </a:t>
            </a:r>
            <a:endParaRPr lang="en-US" baseline="30000" dirty="0"/>
          </a:p>
          <a:p>
            <a:r>
              <a:rPr lang="en-US" dirty="0"/>
              <a:t>mMRC, modified Medical Research Council</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American Thoracic Society. </a:t>
            </a:r>
            <a:r>
              <a:rPr lang="en-GB" b="0" i="1" dirty="0">
                <a:solidFill>
                  <a:srgbClr val="000000"/>
                </a:solidFill>
                <a:effectLst/>
                <a:latin typeface="arial" panose="020B0604020202020204" pitchFamily="34" charset="0"/>
              </a:rPr>
              <a:t>Am Rev Respir Dis</a:t>
            </a:r>
            <a:r>
              <a:rPr lang="en-GB" b="0" i="0" dirty="0">
                <a:solidFill>
                  <a:srgbClr val="000000"/>
                </a:solidFill>
                <a:effectLst/>
                <a:latin typeface="arial" panose="020B0604020202020204" pitchFamily="34" charset="0"/>
              </a:rPr>
              <a:t>. </a:t>
            </a:r>
            <a:r>
              <a:rPr lang="en-US" dirty="0"/>
              <a:t>1982;126:952-956.</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The mMRC scale </a:t>
            </a:r>
            <a:endParaRPr lang="en-GB" dirty="0"/>
          </a:p>
        </p:txBody>
      </p:sp>
      <p:sp>
        <p:nvSpPr>
          <p:cNvPr id="2" name="object 3">
            <a:extLst>
              <a:ext uri="{FF2B5EF4-FFF2-40B4-BE49-F238E27FC236}">
                <a16:creationId xmlns:a16="http://schemas.microsoft.com/office/drawing/2014/main" id="{52D238A8-C91B-2958-6C8F-C0E5384FD489}"/>
              </a:ext>
            </a:extLst>
          </p:cNvPr>
          <p:cNvSpPr txBox="1"/>
          <p:nvPr/>
        </p:nvSpPr>
        <p:spPr>
          <a:xfrm>
            <a:off x="365124" y="1303338"/>
            <a:ext cx="11457432" cy="443070"/>
          </a:xfrm>
          <a:prstGeom prst="rect">
            <a:avLst/>
          </a:prstGeom>
        </p:spPr>
        <p:txBody>
          <a:bodyPr vert="horz" wrap="square" lIns="0" tIns="12065" rIns="0" bIns="0" rtlCol="0">
            <a:spAutoFit/>
          </a:bodyPr>
          <a:lstStyle/>
          <a:p>
            <a:pPr marL="12700" marR="5080" lvl="0" indent="0" algn="l" defTabSz="1219170" rtl="0" eaLnBrk="1" fontAlgn="auto" latinLnBrk="0" hangingPunct="1">
              <a:lnSpc>
                <a:spcPct val="100000"/>
              </a:lnSpc>
              <a:spcBef>
                <a:spcPts val="95"/>
              </a:spcBef>
              <a:spcAft>
                <a:spcPts val="0"/>
              </a:spcAft>
              <a:buClrTx/>
              <a:buSzTx/>
              <a:buFontTx/>
              <a:buNone/>
              <a:tabLst/>
              <a:defRPr/>
            </a:pPr>
            <a:r>
              <a:rPr kumimoji="0" sz="1400" b="1" i="0" u="none" strike="noStrike" kern="1200" cap="none" spc="0" normalizeH="0" baseline="0" noProof="0" dirty="0">
                <a:ln>
                  <a:noFill/>
                </a:ln>
                <a:solidFill>
                  <a:srgbClr val="000000"/>
                </a:solidFill>
                <a:effectLst/>
                <a:uLnTx/>
                <a:uFillTx/>
                <a:latin typeface="Arial"/>
                <a:ea typeface="+mn-ea"/>
                <a:cs typeface="Arial"/>
              </a:rPr>
              <a:t>The mMRC is a 5-item tool, with grades 0 (“breathless with strenuous exercise”) to 4</a:t>
            </a:r>
            <a:r>
              <a:rPr kumimoji="0" lang="en-US" sz="1400" b="1"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(“too breathless to leave the house” or “breathless when dressing or undressing”)</a:t>
            </a:r>
          </a:p>
        </p:txBody>
      </p:sp>
      <p:graphicFrame>
        <p:nvGraphicFramePr>
          <p:cNvPr id="7" name="object 5">
            <a:extLst>
              <a:ext uri="{FF2B5EF4-FFF2-40B4-BE49-F238E27FC236}">
                <a16:creationId xmlns:a16="http://schemas.microsoft.com/office/drawing/2014/main" id="{2944826D-131F-DD39-B053-A242188E5121}"/>
              </a:ext>
            </a:extLst>
          </p:cNvPr>
          <p:cNvGraphicFramePr>
            <a:graphicFrameLocks noGrp="1"/>
          </p:cNvGraphicFramePr>
          <p:nvPr/>
        </p:nvGraphicFramePr>
        <p:xfrm>
          <a:off x="365125" y="1910148"/>
          <a:ext cx="11460162" cy="2986798"/>
        </p:xfrm>
        <a:graphic>
          <a:graphicData uri="http://schemas.openxmlformats.org/drawingml/2006/table">
            <a:tbl>
              <a:tblPr firstRow="1" bandRow="1">
                <a:tableStyleId>{2D5ABB26-0587-4C30-8999-92F81FD0307C}</a:tableStyleId>
              </a:tblPr>
              <a:tblGrid>
                <a:gridCol w="960619">
                  <a:extLst>
                    <a:ext uri="{9D8B030D-6E8A-4147-A177-3AD203B41FA5}">
                      <a16:colId xmlns:a16="http://schemas.microsoft.com/office/drawing/2014/main" val="20000"/>
                    </a:ext>
                  </a:extLst>
                </a:gridCol>
                <a:gridCol w="1137393">
                  <a:extLst>
                    <a:ext uri="{9D8B030D-6E8A-4147-A177-3AD203B41FA5}">
                      <a16:colId xmlns:a16="http://schemas.microsoft.com/office/drawing/2014/main" val="20001"/>
                    </a:ext>
                  </a:extLst>
                </a:gridCol>
                <a:gridCol w="9362150">
                  <a:extLst>
                    <a:ext uri="{9D8B030D-6E8A-4147-A177-3AD203B41FA5}">
                      <a16:colId xmlns:a16="http://schemas.microsoft.com/office/drawing/2014/main" val="20002"/>
                    </a:ext>
                  </a:extLst>
                </a:gridCol>
              </a:tblGrid>
              <a:tr h="395998">
                <a:tc gridSpan="3">
                  <a:txBody>
                    <a:bodyPr/>
                    <a:lstStyle/>
                    <a:p>
                      <a:pPr marL="91440">
                        <a:lnSpc>
                          <a:spcPct val="100000"/>
                        </a:lnSpc>
                        <a:spcBef>
                          <a:spcPts val="680"/>
                        </a:spcBef>
                      </a:pPr>
                      <a:r>
                        <a:rPr sz="1400" b="1" spc="0" baseline="0" dirty="0">
                          <a:solidFill>
                            <a:srgbClr val="FFFFFF"/>
                          </a:solidFill>
                          <a:latin typeface="Arial"/>
                          <a:cs typeface="Arial"/>
                        </a:rPr>
                        <a:t>Please tick in the box that applies to you (</a:t>
                      </a:r>
                      <a:r>
                        <a:rPr lang="en-IN" sz="1400" b="1" spc="0" baseline="0" dirty="0">
                          <a:solidFill>
                            <a:srgbClr val="FFFFFF"/>
                          </a:solidFill>
                          <a:latin typeface="Arial"/>
                          <a:cs typeface="Arial"/>
                        </a:rPr>
                        <a:t>1 </a:t>
                      </a:r>
                      <a:r>
                        <a:rPr sz="1400" b="1" spc="0" baseline="0" dirty="0">
                          <a:solidFill>
                            <a:srgbClr val="FFFFFF"/>
                          </a:solidFill>
                          <a:latin typeface="Arial"/>
                          <a:cs typeface="Arial"/>
                        </a:rPr>
                        <a:t>box only</a:t>
                      </a:r>
                      <a:r>
                        <a:rPr lang="en-IN" sz="1400" b="1" spc="0" baseline="0" dirty="0">
                          <a:solidFill>
                            <a:srgbClr val="FFFFFF"/>
                          </a:solidFill>
                          <a:latin typeface="Arial"/>
                          <a:cs typeface="Arial"/>
                        </a:rPr>
                        <a:t>;</a:t>
                      </a:r>
                      <a:r>
                        <a:rPr sz="1400" b="1" spc="0" baseline="0" dirty="0">
                          <a:solidFill>
                            <a:srgbClr val="FFFFFF"/>
                          </a:solidFill>
                          <a:latin typeface="Arial"/>
                          <a:cs typeface="Arial"/>
                        </a:rPr>
                        <a:t> </a:t>
                      </a:r>
                      <a:r>
                        <a:rPr lang="en-IN" sz="1400" b="1" spc="0" baseline="0" dirty="0">
                          <a:solidFill>
                            <a:srgbClr val="FFFFFF"/>
                          </a:solidFill>
                          <a:latin typeface="Arial"/>
                          <a:cs typeface="Arial"/>
                        </a:rPr>
                        <a:t>g</a:t>
                      </a:r>
                      <a:r>
                        <a:rPr sz="1400" b="1" spc="0" baseline="0" dirty="0" err="1">
                          <a:solidFill>
                            <a:srgbClr val="FFFFFF"/>
                          </a:solidFill>
                          <a:latin typeface="Arial"/>
                          <a:cs typeface="Arial"/>
                        </a:rPr>
                        <a:t>rades</a:t>
                      </a:r>
                      <a:r>
                        <a:rPr sz="1400" b="1" spc="0" baseline="0" dirty="0">
                          <a:solidFill>
                            <a:srgbClr val="FFFFFF"/>
                          </a:solidFill>
                          <a:latin typeface="Arial"/>
                          <a:cs typeface="Arial"/>
                        </a:rPr>
                        <a:t> 0</a:t>
                      </a:r>
                      <a:r>
                        <a:rPr lang="en-GB" sz="1400" b="1" spc="0" baseline="0" dirty="0">
                          <a:solidFill>
                            <a:srgbClr val="FFFFFF"/>
                          </a:solidFill>
                          <a:latin typeface="Arial"/>
                          <a:cs typeface="Arial"/>
                        </a:rPr>
                        <a:t>–</a:t>
                      </a:r>
                      <a:r>
                        <a:rPr sz="1400" b="1" spc="0" baseline="0" dirty="0">
                          <a:solidFill>
                            <a:srgbClr val="FFFFFF"/>
                          </a:solidFill>
                          <a:latin typeface="Arial"/>
                          <a:cs typeface="Arial"/>
                        </a:rPr>
                        <a:t>4)</a:t>
                      </a:r>
                      <a:endParaRPr sz="1400" spc="0" baseline="0" dirty="0">
                        <a:latin typeface="Arial"/>
                        <a:cs typeface="Arial"/>
                      </a:endParaRPr>
                    </a:p>
                  </a:txBody>
                  <a:tcPr marL="45720" marR="45720" anchor="ctr">
                    <a:solidFill>
                      <a:srgbClr val="F36633"/>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518160">
                <a:tc>
                  <a:txBody>
                    <a:bodyPr/>
                    <a:lstStyle/>
                    <a:p>
                      <a:pPr marR="41910" algn="l">
                        <a:lnSpc>
                          <a:spcPct val="100000"/>
                        </a:lnSpc>
                        <a:spcBef>
                          <a:spcPts val="1050"/>
                        </a:spcBef>
                      </a:pPr>
                      <a:r>
                        <a:rPr sz="1400" spc="0" baseline="0" dirty="0">
                          <a:solidFill>
                            <a:schemeClr val="tx1"/>
                          </a:solidFill>
                          <a:latin typeface="Arial"/>
                          <a:cs typeface="Arial"/>
                        </a:rPr>
                        <a:t>mMRC</a:t>
                      </a:r>
                    </a:p>
                  </a:txBody>
                  <a:tcPr marL="45720" marR="45720" anchor="ctr">
                    <a:lnB w="9525" cap="flat" cmpd="sng" algn="ctr">
                      <a:solidFill>
                        <a:schemeClr val="bg2">
                          <a:lumMod val="40000"/>
                          <a:lumOff val="60000"/>
                        </a:schemeClr>
                      </a:solidFill>
                      <a:prstDash val="solid"/>
                      <a:round/>
                      <a:headEnd type="none" w="med" len="med"/>
                      <a:tailEnd type="none" w="med" len="med"/>
                    </a:lnB>
                  </a:tcPr>
                </a:tc>
                <a:tc>
                  <a:txBody>
                    <a:bodyPr/>
                    <a:lstStyle/>
                    <a:p>
                      <a:pPr algn="l">
                        <a:lnSpc>
                          <a:spcPct val="100000"/>
                        </a:lnSpc>
                        <a:spcBef>
                          <a:spcPts val="1050"/>
                        </a:spcBef>
                      </a:pPr>
                      <a:r>
                        <a:rPr sz="1400" spc="0" baseline="0" dirty="0">
                          <a:solidFill>
                            <a:schemeClr val="tx1"/>
                          </a:solidFill>
                          <a:latin typeface="Arial"/>
                          <a:cs typeface="Arial"/>
                        </a:rPr>
                        <a:t>Grade 0</a:t>
                      </a:r>
                    </a:p>
                  </a:txBody>
                  <a:tcPr marL="45720" marR="45720" anchor="ctr">
                    <a:lnB w="9525" cap="flat" cmpd="sng" algn="ctr">
                      <a:solidFill>
                        <a:schemeClr val="bg2">
                          <a:lumMod val="40000"/>
                          <a:lumOff val="60000"/>
                        </a:schemeClr>
                      </a:solidFill>
                      <a:prstDash val="solid"/>
                      <a:round/>
                      <a:headEnd type="none" w="med" len="med"/>
                      <a:tailEnd type="none" w="med" len="med"/>
                    </a:lnB>
                  </a:tcPr>
                </a:tc>
                <a:tc>
                  <a:txBody>
                    <a:bodyPr/>
                    <a:lstStyle/>
                    <a:p>
                      <a:pPr marL="0" indent="0" algn="l">
                        <a:lnSpc>
                          <a:spcPct val="100000"/>
                        </a:lnSpc>
                        <a:spcBef>
                          <a:spcPts val="1050"/>
                        </a:spcBef>
                        <a:tabLst/>
                      </a:pPr>
                      <a:r>
                        <a:rPr sz="1400" spc="0" baseline="0" dirty="0">
                          <a:solidFill>
                            <a:schemeClr val="tx1"/>
                          </a:solidFill>
                          <a:latin typeface="Arial"/>
                          <a:cs typeface="Arial"/>
                        </a:rPr>
                        <a:t>I only get breathless with strenuous exercise</a:t>
                      </a:r>
                    </a:p>
                  </a:txBody>
                  <a:tcPr marL="45720" marR="45720" anchor="ctr">
                    <a:lnB w="9525"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10001"/>
                  </a:ext>
                </a:extLst>
              </a:tr>
              <a:tr h="518160">
                <a:tc>
                  <a:txBody>
                    <a:bodyPr/>
                    <a:lstStyle/>
                    <a:p>
                      <a:pPr marR="41910" algn="l">
                        <a:lnSpc>
                          <a:spcPct val="100000"/>
                        </a:lnSpc>
                        <a:spcBef>
                          <a:spcPts val="1050"/>
                        </a:spcBef>
                      </a:pPr>
                      <a:r>
                        <a:rPr sz="1400" spc="0" baseline="0" dirty="0">
                          <a:solidFill>
                            <a:schemeClr val="tx1"/>
                          </a:solidFill>
                          <a:latin typeface="Arial"/>
                          <a:cs typeface="Arial"/>
                        </a:rPr>
                        <a:t>mMRC</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algn="l">
                        <a:lnSpc>
                          <a:spcPct val="100000"/>
                        </a:lnSpc>
                        <a:spcBef>
                          <a:spcPts val="1050"/>
                        </a:spcBef>
                      </a:pPr>
                      <a:r>
                        <a:rPr sz="1400" spc="0" baseline="0" dirty="0">
                          <a:solidFill>
                            <a:schemeClr val="tx1"/>
                          </a:solidFill>
                          <a:latin typeface="Arial"/>
                          <a:cs typeface="Arial"/>
                        </a:rPr>
                        <a:t>Grade 1</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marL="0" indent="0" algn="l">
                        <a:lnSpc>
                          <a:spcPct val="100000"/>
                        </a:lnSpc>
                        <a:spcBef>
                          <a:spcPts val="1050"/>
                        </a:spcBef>
                      </a:pPr>
                      <a:r>
                        <a:rPr sz="1400" spc="0" baseline="0" dirty="0">
                          <a:solidFill>
                            <a:schemeClr val="tx1"/>
                          </a:solidFill>
                          <a:latin typeface="Arial"/>
                          <a:cs typeface="Arial"/>
                        </a:rPr>
                        <a:t>I get short of breath when hurrying on the level or walking up a slight hill</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10002"/>
                  </a:ext>
                </a:extLst>
              </a:tr>
              <a:tr h="518160">
                <a:tc>
                  <a:txBody>
                    <a:bodyPr/>
                    <a:lstStyle/>
                    <a:p>
                      <a:pPr marR="41910" algn="l">
                        <a:lnSpc>
                          <a:spcPct val="100000"/>
                        </a:lnSpc>
                        <a:spcBef>
                          <a:spcPts val="1050"/>
                        </a:spcBef>
                      </a:pPr>
                      <a:r>
                        <a:rPr sz="1400" spc="0" baseline="0" dirty="0">
                          <a:solidFill>
                            <a:schemeClr val="tx1"/>
                          </a:solidFill>
                          <a:latin typeface="Arial"/>
                          <a:cs typeface="Arial"/>
                        </a:rPr>
                        <a:t>mMRC</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algn="l">
                        <a:lnSpc>
                          <a:spcPct val="100000"/>
                        </a:lnSpc>
                        <a:spcBef>
                          <a:spcPts val="1050"/>
                        </a:spcBef>
                      </a:pPr>
                      <a:r>
                        <a:rPr sz="1400" spc="0" baseline="0" dirty="0">
                          <a:solidFill>
                            <a:schemeClr val="tx1"/>
                          </a:solidFill>
                          <a:latin typeface="Arial"/>
                          <a:cs typeface="Arial"/>
                        </a:rPr>
                        <a:t>Grade 2</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marL="0" marR="936625" indent="0" algn="l">
                        <a:lnSpc>
                          <a:spcPct val="100000"/>
                        </a:lnSpc>
                        <a:spcBef>
                          <a:spcPts val="330"/>
                        </a:spcBef>
                      </a:pPr>
                      <a:r>
                        <a:rPr sz="1400" spc="0" baseline="0" dirty="0">
                          <a:solidFill>
                            <a:schemeClr val="tx1"/>
                          </a:solidFill>
                          <a:latin typeface="Arial"/>
                          <a:cs typeface="Arial"/>
                        </a:rPr>
                        <a:t>I walk slower than people of the same age on the level because of breathlessness</a:t>
                      </a:r>
                      <a:r>
                        <a:rPr lang="en-US" sz="1400" spc="0" baseline="0" dirty="0">
                          <a:solidFill>
                            <a:schemeClr val="tx1"/>
                          </a:solidFill>
                          <a:latin typeface="Arial"/>
                          <a:cs typeface="Arial"/>
                        </a:rPr>
                        <a:t> </a:t>
                      </a:r>
                      <a:r>
                        <a:rPr sz="1400" spc="0" baseline="0" dirty="0">
                          <a:solidFill>
                            <a:schemeClr val="tx1"/>
                          </a:solidFill>
                          <a:latin typeface="Arial"/>
                          <a:cs typeface="Arial"/>
                        </a:rPr>
                        <a:t>or I have to stop for breath when walking </a:t>
                      </a:r>
                      <a:r>
                        <a:rPr lang="en-IN" sz="1400" spc="0" baseline="0" dirty="0">
                          <a:solidFill>
                            <a:schemeClr val="tx1"/>
                          </a:solidFill>
                          <a:latin typeface="Arial"/>
                          <a:cs typeface="Arial"/>
                        </a:rPr>
                        <a:t>on</a:t>
                      </a:r>
                      <a:r>
                        <a:rPr sz="1400" spc="0" baseline="0" dirty="0">
                          <a:solidFill>
                            <a:schemeClr val="tx1"/>
                          </a:solidFill>
                          <a:latin typeface="Arial"/>
                          <a:cs typeface="Arial"/>
                        </a:rPr>
                        <a:t> my own pace on the level</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10003"/>
                  </a:ext>
                </a:extLst>
              </a:tr>
              <a:tr h="518160">
                <a:tc>
                  <a:txBody>
                    <a:bodyPr/>
                    <a:lstStyle/>
                    <a:p>
                      <a:pPr marR="41910" algn="l">
                        <a:lnSpc>
                          <a:spcPct val="100000"/>
                        </a:lnSpc>
                        <a:spcBef>
                          <a:spcPts val="1050"/>
                        </a:spcBef>
                      </a:pPr>
                      <a:r>
                        <a:rPr sz="1400" spc="0" baseline="0" dirty="0">
                          <a:solidFill>
                            <a:schemeClr val="tx1"/>
                          </a:solidFill>
                          <a:latin typeface="Arial"/>
                          <a:cs typeface="Arial"/>
                        </a:rPr>
                        <a:t>mMRC</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algn="l">
                        <a:lnSpc>
                          <a:spcPct val="100000"/>
                        </a:lnSpc>
                        <a:spcBef>
                          <a:spcPts val="1050"/>
                        </a:spcBef>
                      </a:pPr>
                      <a:r>
                        <a:rPr sz="1400" spc="0" baseline="0" dirty="0">
                          <a:solidFill>
                            <a:schemeClr val="tx1"/>
                          </a:solidFill>
                          <a:latin typeface="Arial"/>
                          <a:cs typeface="Arial"/>
                        </a:rPr>
                        <a:t>Grade 3</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tc>
                  <a:txBody>
                    <a:bodyPr/>
                    <a:lstStyle/>
                    <a:p>
                      <a:pPr marL="0" indent="0" algn="l">
                        <a:lnSpc>
                          <a:spcPct val="100000"/>
                        </a:lnSpc>
                        <a:spcBef>
                          <a:spcPts val="1050"/>
                        </a:spcBef>
                      </a:pPr>
                      <a:r>
                        <a:rPr sz="1400" spc="0" baseline="0" dirty="0">
                          <a:solidFill>
                            <a:schemeClr val="tx1"/>
                          </a:solidFill>
                          <a:latin typeface="Arial"/>
                          <a:cs typeface="Arial"/>
                        </a:rPr>
                        <a:t>I stop for breath after walking about 100 met</a:t>
                      </a:r>
                      <a:r>
                        <a:rPr lang="en-IN" sz="1400" spc="0" baseline="0" dirty="0">
                          <a:solidFill>
                            <a:schemeClr val="tx1"/>
                          </a:solidFill>
                          <a:latin typeface="Arial"/>
                          <a:cs typeface="Arial"/>
                        </a:rPr>
                        <a:t>e</a:t>
                      </a:r>
                      <a:r>
                        <a:rPr sz="1400" spc="0" baseline="0" dirty="0" err="1">
                          <a:solidFill>
                            <a:schemeClr val="tx1"/>
                          </a:solidFill>
                          <a:latin typeface="Arial"/>
                          <a:cs typeface="Arial"/>
                        </a:rPr>
                        <a:t>rs</a:t>
                      </a:r>
                      <a:r>
                        <a:rPr sz="1400" spc="0" baseline="0" dirty="0">
                          <a:solidFill>
                            <a:schemeClr val="tx1"/>
                          </a:solidFill>
                          <a:latin typeface="Arial"/>
                          <a:cs typeface="Arial"/>
                        </a:rPr>
                        <a:t> or after a few minutes on the level</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lumMod val="40000"/>
                          <a:lumOff val="60000"/>
                        </a:schemeClr>
                      </a:solidFill>
                      <a:prstDash val="solid"/>
                      <a:round/>
                      <a:headEnd type="none" w="med" len="med"/>
                      <a:tailEnd type="none" w="med" len="med"/>
                    </a:lnB>
                  </a:tcPr>
                </a:tc>
                <a:extLst>
                  <a:ext uri="{0D108BD9-81ED-4DB2-BD59-A6C34878D82A}">
                    <a16:rowId xmlns:a16="http://schemas.microsoft.com/office/drawing/2014/main" val="10004"/>
                  </a:ext>
                </a:extLst>
              </a:tr>
              <a:tr h="518160">
                <a:tc>
                  <a:txBody>
                    <a:bodyPr/>
                    <a:lstStyle/>
                    <a:p>
                      <a:pPr marR="41910" algn="l">
                        <a:lnSpc>
                          <a:spcPct val="100000"/>
                        </a:lnSpc>
                        <a:spcBef>
                          <a:spcPts val="1055"/>
                        </a:spcBef>
                      </a:pPr>
                      <a:r>
                        <a:rPr sz="1400" spc="0" baseline="0" dirty="0">
                          <a:solidFill>
                            <a:schemeClr val="tx1"/>
                          </a:solidFill>
                          <a:latin typeface="Arial"/>
                          <a:cs typeface="Arial"/>
                        </a:rPr>
                        <a:t>mMRC</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algn="l">
                        <a:lnSpc>
                          <a:spcPct val="100000"/>
                        </a:lnSpc>
                        <a:spcBef>
                          <a:spcPts val="1055"/>
                        </a:spcBef>
                      </a:pPr>
                      <a:r>
                        <a:rPr sz="1400" spc="0" baseline="0" dirty="0">
                          <a:solidFill>
                            <a:schemeClr val="tx1"/>
                          </a:solidFill>
                          <a:latin typeface="Arial"/>
                          <a:cs typeface="Arial"/>
                        </a:rPr>
                        <a:t>Grade 4</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tc>
                  <a:txBody>
                    <a:bodyPr/>
                    <a:lstStyle/>
                    <a:p>
                      <a:pPr marL="0" indent="0" algn="l">
                        <a:lnSpc>
                          <a:spcPct val="100000"/>
                        </a:lnSpc>
                        <a:spcBef>
                          <a:spcPts val="1055"/>
                        </a:spcBef>
                      </a:pPr>
                      <a:r>
                        <a:rPr sz="1400" spc="0" baseline="0" dirty="0">
                          <a:solidFill>
                            <a:schemeClr val="tx1"/>
                          </a:solidFill>
                          <a:latin typeface="Arial"/>
                          <a:cs typeface="Arial"/>
                        </a:rPr>
                        <a:t>I am too breathless to leave the house or I am breathless when dressing or undressing</a:t>
                      </a:r>
                    </a:p>
                  </a:txBody>
                  <a:tcPr marL="45720" marR="45720" anchor="ctr">
                    <a:lnT w="9525"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2" name="object 6">
            <a:extLst>
              <a:ext uri="{FF2B5EF4-FFF2-40B4-BE49-F238E27FC236}">
                <a16:creationId xmlns:a16="http://schemas.microsoft.com/office/drawing/2014/main" id="{51FBA669-1B98-B2A6-D517-36CF6630527B}"/>
              </a:ext>
            </a:extLst>
          </p:cNvPr>
          <p:cNvSpPr/>
          <p:nvPr/>
        </p:nvSpPr>
        <p:spPr>
          <a:xfrm>
            <a:off x="11324551" y="2435613"/>
            <a:ext cx="256309" cy="250190"/>
          </a:xfrm>
          <a:custGeom>
            <a:avLst/>
            <a:gdLst/>
            <a:ahLst/>
            <a:cxnLst/>
            <a:rect l="l" t="t" r="r" b="b"/>
            <a:pathLst>
              <a:path w="281940" h="250189">
                <a:moveTo>
                  <a:pt x="0" y="249936"/>
                </a:moveTo>
                <a:lnTo>
                  <a:pt x="281940" y="249936"/>
                </a:lnTo>
                <a:lnTo>
                  <a:pt x="281940" y="0"/>
                </a:lnTo>
                <a:lnTo>
                  <a:pt x="0" y="0"/>
                </a:lnTo>
                <a:lnTo>
                  <a:pt x="0" y="249936"/>
                </a:lnTo>
                <a:close/>
              </a:path>
            </a:pathLst>
          </a:custGeom>
          <a:ln w="19812">
            <a:solidFill>
              <a:schemeClr val="bg2">
                <a:lumMod val="50000"/>
              </a:schemeClr>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 name="object 6">
            <a:extLst>
              <a:ext uri="{FF2B5EF4-FFF2-40B4-BE49-F238E27FC236}">
                <a16:creationId xmlns:a16="http://schemas.microsoft.com/office/drawing/2014/main" id="{A880CF43-0527-6728-8B52-60F92867602D}"/>
              </a:ext>
            </a:extLst>
          </p:cNvPr>
          <p:cNvSpPr/>
          <p:nvPr/>
        </p:nvSpPr>
        <p:spPr>
          <a:xfrm>
            <a:off x="11324551" y="2957357"/>
            <a:ext cx="256309" cy="250190"/>
          </a:xfrm>
          <a:custGeom>
            <a:avLst/>
            <a:gdLst/>
            <a:ahLst/>
            <a:cxnLst/>
            <a:rect l="l" t="t" r="r" b="b"/>
            <a:pathLst>
              <a:path w="281940" h="250189">
                <a:moveTo>
                  <a:pt x="0" y="249936"/>
                </a:moveTo>
                <a:lnTo>
                  <a:pt x="281940" y="249936"/>
                </a:lnTo>
                <a:lnTo>
                  <a:pt x="281940" y="0"/>
                </a:lnTo>
                <a:lnTo>
                  <a:pt x="0" y="0"/>
                </a:lnTo>
                <a:lnTo>
                  <a:pt x="0" y="249936"/>
                </a:lnTo>
                <a:close/>
              </a:path>
            </a:pathLst>
          </a:custGeom>
          <a:ln w="19812">
            <a:solidFill>
              <a:schemeClr val="bg2">
                <a:lumMod val="50000"/>
              </a:schemeClr>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object 6">
            <a:extLst>
              <a:ext uri="{FF2B5EF4-FFF2-40B4-BE49-F238E27FC236}">
                <a16:creationId xmlns:a16="http://schemas.microsoft.com/office/drawing/2014/main" id="{0D23BF6E-D403-7980-FC84-5A6DAD6D8400}"/>
              </a:ext>
            </a:extLst>
          </p:cNvPr>
          <p:cNvSpPr/>
          <p:nvPr/>
        </p:nvSpPr>
        <p:spPr>
          <a:xfrm>
            <a:off x="11324551" y="3479101"/>
            <a:ext cx="256309" cy="250190"/>
          </a:xfrm>
          <a:custGeom>
            <a:avLst/>
            <a:gdLst/>
            <a:ahLst/>
            <a:cxnLst/>
            <a:rect l="l" t="t" r="r" b="b"/>
            <a:pathLst>
              <a:path w="281940" h="250189">
                <a:moveTo>
                  <a:pt x="0" y="249936"/>
                </a:moveTo>
                <a:lnTo>
                  <a:pt x="281940" y="249936"/>
                </a:lnTo>
                <a:lnTo>
                  <a:pt x="281940" y="0"/>
                </a:lnTo>
                <a:lnTo>
                  <a:pt x="0" y="0"/>
                </a:lnTo>
                <a:lnTo>
                  <a:pt x="0" y="249936"/>
                </a:lnTo>
                <a:close/>
              </a:path>
            </a:pathLst>
          </a:custGeom>
          <a:ln w="19812">
            <a:solidFill>
              <a:schemeClr val="bg2">
                <a:lumMod val="50000"/>
              </a:schemeClr>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4" name="object 6">
            <a:extLst>
              <a:ext uri="{FF2B5EF4-FFF2-40B4-BE49-F238E27FC236}">
                <a16:creationId xmlns:a16="http://schemas.microsoft.com/office/drawing/2014/main" id="{AA3B4867-DF91-854B-E45F-0EB9DE842D33}"/>
              </a:ext>
            </a:extLst>
          </p:cNvPr>
          <p:cNvSpPr/>
          <p:nvPr/>
        </p:nvSpPr>
        <p:spPr>
          <a:xfrm>
            <a:off x="11324551" y="4000845"/>
            <a:ext cx="256309" cy="250190"/>
          </a:xfrm>
          <a:custGeom>
            <a:avLst/>
            <a:gdLst/>
            <a:ahLst/>
            <a:cxnLst/>
            <a:rect l="l" t="t" r="r" b="b"/>
            <a:pathLst>
              <a:path w="281940" h="250189">
                <a:moveTo>
                  <a:pt x="0" y="249936"/>
                </a:moveTo>
                <a:lnTo>
                  <a:pt x="281940" y="249936"/>
                </a:lnTo>
                <a:lnTo>
                  <a:pt x="281940" y="0"/>
                </a:lnTo>
                <a:lnTo>
                  <a:pt x="0" y="0"/>
                </a:lnTo>
                <a:lnTo>
                  <a:pt x="0" y="249936"/>
                </a:lnTo>
                <a:close/>
              </a:path>
            </a:pathLst>
          </a:custGeom>
          <a:ln w="19812">
            <a:solidFill>
              <a:schemeClr val="bg2">
                <a:lumMod val="50000"/>
              </a:schemeClr>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5" name="object 6">
            <a:extLst>
              <a:ext uri="{FF2B5EF4-FFF2-40B4-BE49-F238E27FC236}">
                <a16:creationId xmlns:a16="http://schemas.microsoft.com/office/drawing/2014/main" id="{3008A600-7040-E9B8-8FBB-CCF614780A5D}"/>
              </a:ext>
            </a:extLst>
          </p:cNvPr>
          <p:cNvSpPr/>
          <p:nvPr/>
        </p:nvSpPr>
        <p:spPr>
          <a:xfrm>
            <a:off x="11324551" y="4522587"/>
            <a:ext cx="256309" cy="250190"/>
          </a:xfrm>
          <a:custGeom>
            <a:avLst/>
            <a:gdLst/>
            <a:ahLst/>
            <a:cxnLst/>
            <a:rect l="l" t="t" r="r" b="b"/>
            <a:pathLst>
              <a:path w="281940" h="250189">
                <a:moveTo>
                  <a:pt x="0" y="249936"/>
                </a:moveTo>
                <a:lnTo>
                  <a:pt x="281940" y="249936"/>
                </a:lnTo>
                <a:lnTo>
                  <a:pt x="281940" y="0"/>
                </a:lnTo>
                <a:lnTo>
                  <a:pt x="0" y="0"/>
                </a:lnTo>
                <a:lnTo>
                  <a:pt x="0" y="249936"/>
                </a:lnTo>
                <a:close/>
              </a:path>
            </a:pathLst>
          </a:custGeom>
          <a:ln w="19812">
            <a:solidFill>
              <a:schemeClr val="bg2">
                <a:lumMod val="50000"/>
              </a:schemeClr>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Tree>
    <p:custDataLst>
      <p:tags r:id="rId1"/>
    </p:custDataLst>
    <p:extLst>
      <p:ext uri="{BB962C8B-B14F-4D97-AF65-F5344CB8AC3E}">
        <p14:creationId xmlns:p14="http://schemas.microsoft.com/office/powerpoint/2010/main" val="2774735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74</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E3EEF27B-C98E-4A60-8452-9E4C423F8074}"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Note: The full questionnaire is available in reference 2. </a:t>
            </a:r>
            <a:endParaRPr lang="en-US" baseline="30000" dirty="0"/>
          </a:p>
          <a:p>
            <a:r>
              <a:rPr lang="en-US" dirty="0"/>
              <a:t>CAT, COPD Assessment Test</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Jones PW, et al. </a:t>
            </a:r>
            <a:r>
              <a:rPr lang="en-US" i="1" dirty="0"/>
              <a:t>Eur Respir J</a:t>
            </a:r>
            <a:r>
              <a:rPr lang="en-US" dirty="0"/>
              <a:t>. 2009;34:648‐654. </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The CAT™</a:t>
            </a:r>
            <a:endParaRPr lang="en-GB" dirty="0"/>
          </a:p>
        </p:txBody>
      </p:sp>
      <p:sp>
        <p:nvSpPr>
          <p:cNvPr id="9" name="object 3">
            <a:extLst>
              <a:ext uri="{FF2B5EF4-FFF2-40B4-BE49-F238E27FC236}">
                <a16:creationId xmlns:a16="http://schemas.microsoft.com/office/drawing/2014/main" id="{534F8F53-978D-45A9-89A3-001026356C46}"/>
              </a:ext>
            </a:extLst>
          </p:cNvPr>
          <p:cNvSpPr txBox="1"/>
          <p:nvPr/>
        </p:nvSpPr>
        <p:spPr>
          <a:xfrm>
            <a:off x="365125" y="1303338"/>
            <a:ext cx="11456379" cy="630942"/>
          </a:xfrm>
          <a:prstGeom prst="rect">
            <a:avLst/>
          </a:prstGeom>
        </p:spPr>
        <p:txBody>
          <a:bodyPr vert="horz" wrap="square" lIns="0" tIns="0" rIns="0" bIns="0" rtlCol="0">
            <a:spAutoFit/>
          </a:bodyPr>
          <a:lstStyle/>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The CAT is an 8-item unidimensional scale developed to be applicable worldwide</a:t>
            </a:r>
            <a:r>
              <a:rPr kumimoji="0" sz="1200" b="0" i="0" u="none" strike="noStrike" kern="1200" cap="none" spc="0" normalizeH="0" baseline="26455" noProof="0" dirty="0">
                <a:ln>
                  <a:noFill/>
                </a:ln>
                <a:solidFill>
                  <a:srgbClr val="000000"/>
                </a:solidFill>
                <a:effectLst/>
                <a:uLnTx/>
                <a:uFillTx/>
                <a:latin typeface="Arial"/>
                <a:ea typeface="+mn-ea"/>
                <a:cs typeface="Arial"/>
              </a:rPr>
              <a:t>1</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sz="1200" b="0" i="0" u="none" strike="noStrike" kern="1200" cap="none" spc="0" normalizeH="0" baseline="0" noProof="0" dirty="0">
                <a:ln>
                  <a:noFill/>
                </a:ln>
                <a:solidFill>
                  <a:srgbClr val="000000"/>
                </a:solidFill>
                <a:effectLst/>
                <a:uLnTx/>
                <a:uFillTx/>
                <a:latin typeface="Arial"/>
                <a:ea typeface="+mn-ea"/>
                <a:cs typeface="Arial"/>
              </a:rPr>
              <a:t>Scores range from 0</a:t>
            </a:r>
            <a:r>
              <a:rPr kumimoji="0" lang="en-IN" sz="1200" b="0" i="0" u="none" strike="noStrike" kern="1200" cap="none" spc="0" normalizeH="0" baseline="0" noProof="0" dirty="0">
                <a:ln>
                  <a:noFill/>
                </a:ln>
                <a:solidFill>
                  <a:srgbClr val="000000"/>
                </a:solidFill>
                <a:effectLst/>
                <a:uLnTx/>
                <a:uFillTx/>
                <a:latin typeface="Arial"/>
                <a:ea typeface="+mn-ea"/>
                <a:cs typeface="Arial"/>
              </a:rPr>
              <a:t> to </a:t>
            </a:r>
            <a:r>
              <a:rPr kumimoji="0" sz="1200" b="0" i="0" u="none" strike="noStrike" kern="1200" cap="none" spc="0" normalizeH="0" baseline="0" noProof="0" dirty="0">
                <a:ln>
                  <a:noFill/>
                </a:ln>
                <a:solidFill>
                  <a:srgbClr val="000000"/>
                </a:solidFill>
                <a:effectLst/>
                <a:uLnTx/>
                <a:uFillTx/>
                <a:latin typeface="Arial"/>
                <a:ea typeface="+mn-ea"/>
                <a:cs typeface="Arial"/>
              </a:rPr>
              <a:t>40</a:t>
            </a:r>
            <a:r>
              <a:rPr kumimoji="0" lang="en-IN" sz="1200" b="0" i="0" u="none" strike="noStrike" kern="1200" cap="none" spc="0" normalizeH="0" baseline="0" noProof="0" dirty="0">
                <a:ln>
                  <a:noFill/>
                </a:ln>
                <a:solidFill>
                  <a:srgbClr val="000000"/>
                </a:solidFill>
                <a:effectLst/>
                <a:uLnTx/>
                <a:uFillTx/>
                <a:latin typeface="Arial"/>
                <a:ea typeface="+mn-ea"/>
                <a:cs typeface="Arial"/>
              </a:rPr>
              <a:t>,</a:t>
            </a:r>
            <a:r>
              <a:rPr kumimoji="0" sz="1200" b="0" i="0" u="none" strike="noStrike" kern="1200" cap="none" spc="0" normalizeH="0" baseline="0" noProof="0" dirty="0">
                <a:ln>
                  <a:noFill/>
                </a:ln>
                <a:solidFill>
                  <a:srgbClr val="000000"/>
                </a:solidFill>
                <a:effectLst/>
                <a:uLnTx/>
                <a:uFillTx/>
                <a:latin typeface="Arial"/>
                <a:ea typeface="+mn-ea"/>
                <a:cs typeface="Arial"/>
              </a:rPr>
              <a:t> with a higher score indicating </a:t>
            </a:r>
            <a:r>
              <a:rPr kumimoji="0" lang="en-IN" sz="1200" b="0" i="0" u="none" strike="noStrike" kern="1200" cap="none" spc="0" normalizeH="0" baseline="0" noProof="0" dirty="0">
                <a:ln>
                  <a:noFill/>
                </a:ln>
                <a:solidFill>
                  <a:srgbClr val="000000"/>
                </a:solidFill>
                <a:effectLst/>
                <a:uLnTx/>
                <a:uFillTx/>
                <a:latin typeface="Arial"/>
                <a:ea typeface="+mn-ea"/>
                <a:cs typeface="Arial"/>
              </a:rPr>
              <a:t>a </a:t>
            </a:r>
            <a:r>
              <a:rPr kumimoji="0" sz="1200" b="0" i="0" u="none" strike="noStrike" kern="1200" cap="none" spc="0" normalizeH="0" baseline="0" noProof="0" dirty="0">
                <a:ln>
                  <a:noFill/>
                </a:ln>
                <a:solidFill>
                  <a:srgbClr val="000000"/>
                </a:solidFill>
                <a:effectLst/>
                <a:uLnTx/>
                <a:uFillTx/>
                <a:latin typeface="Arial"/>
                <a:ea typeface="+mn-ea"/>
                <a:cs typeface="Arial"/>
              </a:rPr>
              <a:t>worse health status</a:t>
            </a:r>
            <a:r>
              <a:rPr kumimoji="0" sz="1200" b="0" i="0" u="none" strike="noStrike" kern="1200" cap="none" spc="0" normalizeH="0" baseline="26455" noProof="0" dirty="0">
                <a:ln>
                  <a:noFill/>
                </a:ln>
                <a:solidFill>
                  <a:srgbClr val="000000"/>
                </a:solidFill>
                <a:effectLst/>
                <a:uLnTx/>
                <a:uFillTx/>
                <a:latin typeface="Arial"/>
                <a:ea typeface="+mn-ea"/>
                <a:cs typeface="Arial"/>
              </a:rPr>
              <a:t>1</a:t>
            </a:r>
            <a:endParaRPr kumimoji="0" lang="en-US" sz="1200" b="0" i="0" u="none" strike="noStrike" kern="1200" cap="none" spc="0" normalizeH="0" baseline="26455" noProof="0" dirty="0">
              <a:ln>
                <a:noFill/>
              </a:ln>
              <a:solidFill>
                <a:srgbClr val="000000"/>
              </a:solidFill>
              <a:effectLst/>
              <a:uLnTx/>
              <a:uFillTx/>
              <a:latin typeface="Arial"/>
              <a:ea typeface="+mn-ea"/>
              <a:cs typeface="Arial"/>
            </a:endParaRP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200" b="0" i="0" u="sng" strike="noStrike" kern="1200" cap="none" spc="0" normalizeH="0" baseline="0" noProof="0" dirty="0">
                <a:ln>
                  <a:noFill/>
                </a:ln>
                <a:solidFill>
                  <a:srgbClr val="000000"/>
                </a:solidFill>
                <a:effectLst/>
                <a:uLnTx/>
                <a:uFillTx/>
                <a:latin typeface="Arial"/>
                <a:ea typeface="+mn-ea"/>
                <a:cs typeface="Arial"/>
              </a:rPr>
              <a:t>A score ≥ 10 </a:t>
            </a:r>
            <a:r>
              <a:rPr kumimoji="0" lang="en-US" sz="1200" b="0" i="0" u="none" strike="noStrike" kern="1200" cap="none" spc="0" normalizeH="0" baseline="0" noProof="0" dirty="0">
                <a:ln>
                  <a:noFill/>
                </a:ln>
                <a:solidFill>
                  <a:srgbClr val="000000"/>
                </a:solidFill>
                <a:effectLst/>
                <a:uLnTx/>
                <a:uFillTx/>
                <a:latin typeface="Arial"/>
                <a:ea typeface="+mn-ea"/>
                <a:cs typeface="Arial"/>
              </a:rPr>
              <a:t>should be used as the cutoff for considering regular treatment</a:t>
            </a:r>
            <a:r>
              <a:rPr kumimoji="0" lang="en-US" sz="1200" b="0" i="0" u="none" strike="noStrike" kern="1200" cap="none" spc="0" normalizeH="0" baseline="26455" noProof="0" dirty="0">
                <a:ln>
                  <a:noFill/>
                </a:ln>
                <a:solidFill>
                  <a:srgbClr val="000000"/>
                </a:solidFill>
                <a:effectLst/>
                <a:uLnTx/>
                <a:uFillTx/>
                <a:latin typeface="Arial"/>
                <a:ea typeface="+mn-ea"/>
                <a:cs typeface="Arial"/>
              </a:rPr>
              <a:t>1</a:t>
            </a:r>
          </a:p>
        </p:txBody>
      </p:sp>
      <p:grpSp>
        <p:nvGrpSpPr>
          <p:cNvPr id="134" name="Group 133">
            <a:extLst>
              <a:ext uri="{FF2B5EF4-FFF2-40B4-BE49-F238E27FC236}">
                <a16:creationId xmlns:a16="http://schemas.microsoft.com/office/drawing/2014/main" id="{1C623BDC-EABA-C42D-8EA7-F6105A6BB2CB}"/>
              </a:ext>
            </a:extLst>
          </p:cNvPr>
          <p:cNvGrpSpPr/>
          <p:nvPr/>
        </p:nvGrpSpPr>
        <p:grpSpPr>
          <a:xfrm>
            <a:off x="365125" y="1892723"/>
            <a:ext cx="11440470" cy="3830671"/>
            <a:chOff x="365125" y="1892723"/>
            <a:chExt cx="11440470" cy="3830671"/>
          </a:xfrm>
        </p:grpSpPr>
        <p:grpSp>
          <p:nvGrpSpPr>
            <p:cNvPr id="121" name="Group 120">
              <a:extLst>
                <a:ext uri="{FF2B5EF4-FFF2-40B4-BE49-F238E27FC236}">
                  <a16:creationId xmlns:a16="http://schemas.microsoft.com/office/drawing/2014/main" id="{7F397B2B-A475-9DA2-07C8-2B5CA6C7BA3F}"/>
                </a:ext>
              </a:extLst>
            </p:cNvPr>
            <p:cNvGrpSpPr/>
            <p:nvPr/>
          </p:nvGrpSpPr>
          <p:grpSpPr>
            <a:xfrm>
              <a:off x="365125" y="2107976"/>
              <a:ext cx="11440470" cy="351062"/>
              <a:chOff x="365125" y="2107976"/>
              <a:chExt cx="11440470" cy="351062"/>
            </a:xfrm>
          </p:grpSpPr>
          <p:sp>
            <p:nvSpPr>
              <p:cNvPr id="111" name="object 82">
                <a:extLst>
                  <a:ext uri="{FF2B5EF4-FFF2-40B4-BE49-F238E27FC236}">
                    <a16:creationId xmlns:a16="http://schemas.microsoft.com/office/drawing/2014/main" id="{830A8CF9-700C-809B-CB0E-1DBCB821B894}"/>
                  </a:ext>
                </a:extLst>
              </p:cNvPr>
              <p:cNvSpPr/>
              <p:nvPr/>
            </p:nvSpPr>
            <p:spPr>
              <a:xfrm>
                <a:off x="365125" y="2107976"/>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2" name="Rectangle 111">
                <a:extLst>
                  <a:ext uri="{FF2B5EF4-FFF2-40B4-BE49-F238E27FC236}">
                    <a16:creationId xmlns:a16="http://schemas.microsoft.com/office/drawing/2014/main" id="{CF251DF9-FB45-69EC-DDC5-6FBC7DD3135D}"/>
                  </a:ext>
                </a:extLst>
              </p:cNvPr>
              <p:cNvSpPr/>
              <p:nvPr/>
            </p:nvSpPr>
            <p:spPr>
              <a:xfrm>
                <a:off x="447580" y="2206563"/>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never cough</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5" name="Oval 114">
                <a:extLst>
                  <a:ext uri="{FF2B5EF4-FFF2-40B4-BE49-F238E27FC236}">
                    <a16:creationId xmlns:a16="http://schemas.microsoft.com/office/drawing/2014/main" id="{C96B6942-40BA-6188-9B25-843D2FE51DFB}"/>
                  </a:ext>
                </a:extLst>
              </p:cNvPr>
              <p:cNvSpPr/>
              <p:nvPr/>
            </p:nvSpPr>
            <p:spPr>
              <a:xfrm>
                <a:off x="4630114"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116" name="Oval 115">
                <a:extLst>
                  <a:ext uri="{FF2B5EF4-FFF2-40B4-BE49-F238E27FC236}">
                    <a16:creationId xmlns:a16="http://schemas.microsoft.com/office/drawing/2014/main" id="{4C6C5104-082A-2290-BB15-FE9455737C66}"/>
                  </a:ext>
                </a:extLst>
              </p:cNvPr>
              <p:cNvSpPr/>
              <p:nvPr/>
            </p:nvSpPr>
            <p:spPr>
              <a:xfrm>
                <a:off x="4976558"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117" name="Oval 116">
                <a:extLst>
                  <a:ext uri="{FF2B5EF4-FFF2-40B4-BE49-F238E27FC236}">
                    <a16:creationId xmlns:a16="http://schemas.microsoft.com/office/drawing/2014/main" id="{C8D15BF1-F287-394D-1401-620C226C3888}"/>
                  </a:ext>
                </a:extLst>
              </p:cNvPr>
              <p:cNvSpPr/>
              <p:nvPr/>
            </p:nvSpPr>
            <p:spPr>
              <a:xfrm>
                <a:off x="5323002"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118" name="Oval 117">
                <a:extLst>
                  <a:ext uri="{FF2B5EF4-FFF2-40B4-BE49-F238E27FC236}">
                    <a16:creationId xmlns:a16="http://schemas.microsoft.com/office/drawing/2014/main" id="{FE30FD86-B6E8-D009-73A8-C55264471055}"/>
                  </a:ext>
                </a:extLst>
              </p:cNvPr>
              <p:cNvSpPr/>
              <p:nvPr/>
            </p:nvSpPr>
            <p:spPr>
              <a:xfrm>
                <a:off x="5669446"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119" name="Oval 118">
                <a:extLst>
                  <a:ext uri="{FF2B5EF4-FFF2-40B4-BE49-F238E27FC236}">
                    <a16:creationId xmlns:a16="http://schemas.microsoft.com/office/drawing/2014/main" id="{894B8534-21CD-048F-6D9D-1D22EFCD6F59}"/>
                  </a:ext>
                </a:extLst>
              </p:cNvPr>
              <p:cNvSpPr/>
              <p:nvPr/>
            </p:nvSpPr>
            <p:spPr>
              <a:xfrm>
                <a:off x="6015890"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120" name="Oval 119">
                <a:extLst>
                  <a:ext uri="{FF2B5EF4-FFF2-40B4-BE49-F238E27FC236}">
                    <a16:creationId xmlns:a16="http://schemas.microsoft.com/office/drawing/2014/main" id="{C22EBB98-6252-FF26-4143-7AB9DA41F38F}"/>
                  </a:ext>
                </a:extLst>
              </p:cNvPr>
              <p:cNvSpPr/>
              <p:nvPr/>
            </p:nvSpPr>
            <p:spPr>
              <a:xfrm>
                <a:off x="6362335" y="217621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114" name="Rectangle 113">
                <a:extLst>
                  <a:ext uri="{FF2B5EF4-FFF2-40B4-BE49-F238E27FC236}">
                    <a16:creationId xmlns:a16="http://schemas.microsoft.com/office/drawing/2014/main" id="{CFAC333D-E449-84AE-EA44-40530799AF5A}"/>
                  </a:ext>
                </a:extLst>
              </p:cNvPr>
              <p:cNvSpPr/>
              <p:nvPr/>
            </p:nvSpPr>
            <p:spPr>
              <a:xfrm>
                <a:off x="6986296" y="2206563"/>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cough all the time</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10" name="object 82">
                <a:extLst>
                  <a:ext uri="{FF2B5EF4-FFF2-40B4-BE49-F238E27FC236}">
                    <a16:creationId xmlns:a16="http://schemas.microsoft.com/office/drawing/2014/main" id="{BB950D42-1D07-61CF-AFE6-859271D26560}"/>
                  </a:ext>
                </a:extLst>
              </p:cNvPr>
              <p:cNvSpPr/>
              <p:nvPr/>
            </p:nvSpPr>
            <p:spPr>
              <a:xfrm>
                <a:off x="11011686" y="2107976"/>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2" name="Group 121">
              <a:extLst>
                <a:ext uri="{FF2B5EF4-FFF2-40B4-BE49-F238E27FC236}">
                  <a16:creationId xmlns:a16="http://schemas.microsoft.com/office/drawing/2014/main" id="{2352A0F6-9126-0E1E-F8F5-D5580019D158}"/>
                </a:ext>
              </a:extLst>
            </p:cNvPr>
            <p:cNvGrpSpPr/>
            <p:nvPr/>
          </p:nvGrpSpPr>
          <p:grpSpPr>
            <a:xfrm>
              <a:off x="365125" y="2515883"/>
              <a:ext cx="11440470" cy="351062"/>
              <a:chOff x="365125" y="2515883"/>
              <a:chExt cx="11440470" cy="351062"/>
            </a:xfrm>
          </p:grpSpPr>
          <p:sp>
            <p:nvSpPr>
              <p:cNvPr id="99" name="object 82">
                <a:extLst>
                  <a:ext uri="{FF2B5EF4-FFF2-40B4-BE49-F238E27FC236}">
                    <a16:creationId xmlns:a16="http://schemas.microsoft.com/office/drawing/2014/main" id="{F4C3E637-5B40-1860-9406-C7ACC2C0F3C6}"/>
                  </a:ext>
                </a:extLst>
              </p:cNvPr>
              <p:cNvSpPr/>
              <p:nvPr/>
            </p:nvSpPr>
            <p:spPr>
              <a:xfrm>
                <a:off x="365125" y="2515883"/>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0" name="Rectangle 99">
                <a:extLst>
                  <a:ext uri="{FF2B5EF4-FFF2-40B4-BE49-F238E27FC236}">
                    <a16:creationId xmlns:a16="http://schemas.microsoft.com/office/drawing/2014/main" id="{5FC44DF7-C387-EB68-C042-BC0EED8D3597}"/>
                  </a:ext>
                </a:extLst>
              </p:cNvPr>
              <p:cNvSpPr/>
              <p:nvPr/>
            </p:nvSpPr>
            <p:spPr>
              <a:xfrm>
                <a:off x="447580" y="2614470"/>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have no phlegm (mucus) in my chest at all</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03" name="Oval 102">
                <a:extLst>
                  <a:ext uri="{FF2B5EF4-FFF2-40B4-BE49-F238E27FC236}">
                    <a16:creationId xmlns:a16="http://schemas.microsoft.com/office/drawing/2014/main" id="{6494FA51-F4A4-CD1A-E343-D22E53F6B4D2}"/>
                  </a:ext>
                </a:extLst>
              </p:cNvPr>
              <p:cNvSpPr/>
              <p:nvPr/>
            </p:nvSpPr>
            <p:spPr>
              <a:xfrm>
                <a:off x="4630114"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104" name="Oval 103">
                <a:extLst>
                  <a:ext uri="{FF2B5EF4-FFF2-40B4-BE49-F238E27FC236}">
                    <a16:creationId xmlns:a16="http://schemas.microsoft.com/office/drawing/2014/main" id="{377CD3D1-980E-74AC-425D-DD83F60AA9E3}"/>
                  </a:ext>
                </a:extLst>
              </p:cNvPr>
              <p:cNvSpPr/>
              <p:nvPr/>
            </p:nvSpPr>
            <p:spPr>
              <a:xfrm>
                <a:off x="4976558"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105" name="Oval 104">
                <a:extLst>
                  <a:ext uri="{FF2B5EF4-FFF2-40B4-BE49-F238E27FC236}">
                    <a16:creationId xmlns:a16="http://schemas.microsoft.com/office/drawing/2014/main" id="{FF61E294-105C-20FF-B1FD-0446D8B78D44}"/>
                  </a:ext>
                </a:extLst>
              </p:cNvPr>
              <p:cNvSpPr/>
              <p:nvPr/>
            </p:nvSpPr>
            <p:spPr>
              <a:xfrm>
                <a:off x="5323002"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106" name="Oval 105">
                <a:extLst>
                  <a:ext uri="{FF2B5EF4-FFF2-40B4-BE49-F238E27FC236}">
                    <a16:creationId xmlns:a16="http://schemas.microsoft.com/office/drawing/2014/main" id="{71FB57DD-1BFC-D37E-9D91-00F8339F155B}"/>
                  </a:ext>
                </a:extLst>
              </p:cNvPr>
              <p:cNvSpPr/>
              <p:nvPr/>
            </p:nvSpPr>
            <p:spPr>
              <a:xfrm>
                <a:off x="5669446"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107" name="Oval 106">
                <a:extLst>
                  <a:ext uri="{FF2B5EF4-FFF2-40B4-BE49-F238E27FC236}">
                    <a16:creationId xmlns:a16="http://schemas.microsoft.com/office/drawing/2014/main" id="{891EAB31-50DD-E075-F544-BE2B14C969E1}"/>
                  </a:ext>
                </a:extLst>
              </p:cNvPr>
              <p:cNvSpPr/>
              <p:nvPr/>
            </p:nvSpPr>
            <p:spPr>
              <a:xfrm>
                <a:off x="6015890"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108" name="Oval 107">
                <a:extLst>
                  <a:ext uri="{FF2B5EF4-FFF2-40B4-BE49-F238E27FC236}">
                    <a16:creationId xmlns:a16="http://schemas.microsoft.com/office/drawing/2014/main" id="{04C55AF0-3D73-032D-A757-2E3AFEF6ADCB}"/>
                  </a:ext>
                </a:extLst>
              </p:cNvPr>
              <p:cNvSpPr/>
              <p:nvPr/>
            </p:nvSpPr>
            <p:spPr>
              <a:xfrm>
                <a:off x="6362335" y="2584125"/>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102" name="Rectangle 101">
                <a:extLst>
                  <a:ext uri="{FF2B5EF4-FFF2-40B4-BE49-F238E27FC236}">
                    <a16:creationId xmlns:a16="http://schemas.microsoft.com/office/drawing/2014/main" id="{67CAF8AC-B3AF-A20A-0A63-643494D30112}"/>
                  </a:ext>
                </a:extLst>
              </p:cNvPr>
              <p:cNvSpPr/>
              <p:nvPr/>
            </p:nvSpPr>
            <p:spPr>
              <a:xfrm>
                <a:off x="6986296" y="2614470"/>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My chest is completely full of phlegm (mucus)</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8" name="object 82">
                <a:extLst>
                  <a:ext uri="{FF2B5EF4-FFF2-40B4-BE49-F238E27FC236}">
                    <a16:creationId xmlns:a16="http://schemas.microsoft.com/office/drawing/2014/main" id="{B160DECE-D361-0506-5F02-74F798115726}"/>
                  </a:ext>
                </a:extLst>
              </p:cNvPr>
              <p:cNvSpPr/>
              <p:nvPr/>
            </p:nvSpPr>
            <p:spPr>
              <a:xfrm>
                <a:off x="11011686" y="2515883"/>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3" name="Group 122">
              <a:extLst>
                <a:ext uri="{FF2B5EF4-FFF2-40B4-BE49-F238E27FC236}">
                  <a16:creationId xmlns:a16="http://schemas.microsoft.com/office/drawing/2014/main" id="{B3D6EDB1-5D69-668D-273D-C4A0FAB9D29B}"/>
                </a:ext>
              </a:extLst>
            </p:cNvPr>
            <p:cNvGrpSpPr/>
            <p:nvPr/>
          </p:nvGrpSpPr>
          <p:grpSpPr>
            <a:xfrm>
              <a:off x="365125" y="2923790"/>
              <a:ext cx="11440470" cy="351062"/>
              <a:chOff x="365125" y="2923789"/>
              <a:chExt cx="11440470" cy="351062"/>
            </a:xfrm>
          </p:grpSpPr>
          <p:sp>
            <p:nvSpPr>
              <p:cNvPr id="87" name="object 82">
                <a:extLst>
                  <a:ext uri="{FF2B5EF4-FFF2-40B4-BE49-F238E27FC236}">
                    <a16:creationId xmlns:a16="http://schemas.microsoft.com/office/drawing/2014/main" id="{107919E1-16CE-0550-6E7C-8D942E647432}"/>
                  </a:ext>
                </a:extLst>
              </p:cNvPr>
              <p:cNvSpPr/>
              <p:nvPr/>
            </p:nvSpPr>
            <p:spPr>
              <a:xfrm>
                <a:off x="365125" y="2923789"/>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8" name="Rectangle 87">
                <a:extLst>
                  <a:ext uri="{FF2B5EF4-FFF2-40B4-BE49-F238E27FC236}">
                    <a16:creationId xmlns:a16="http://schemas.microsoft.com/office/drawing/2014/main" id="{CEB54076-D0C4-1002-B44A-DA9F1E9D2D4E}"/>
                  </a:ext>
                </a:extLst>
              </p:cNvPr>
              <p:cNvSpPr/>
              <p:nvPr/>
            </p:nvSpPr>
            <p:spPr>
              <a:xfrm>
                <a:off x="447580" y="3022376"/>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My chest does not feel tight at all</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91" name="Oval 90">
                <a:extLst>
                  <a:ext uri="{FF2B5EF4-FFF2-40B4-BE49-F238E27FC236}">
                    <a16:creationId xmlns:a16="http://schemas.microsoft.com/office/drawing/2014/main" id="{7A4D4C43-96EE-F197-2E47-8CE823CA8246}"/>
                  </a:ext>
                </a:extLst>
              </p:cNvPr>
              <p:cNvSpPr/>
              <p:nvPr/>
            </p:nvSpPr>
            <p:spPr>
              <a:xfrm>
                <a:off x="4630114"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92" name="Oval 91">
                <a:extLst>
                  <a:ext uri="{FF2B5EF4-FFF2-40B4-BE49-F238E27FC236}">
                    <a16:creationId xmlns:a16="http://schemas.microsoft.com/office/drawing/2014/main" id="{28EBC7DD-1B49-5370-75DB-6C182C1787A6}"/>
                  </a:ext>
                </a:extLst>
              </p:cNvPr>
              <p:cNvSpPr/>
              <p:nvPr/>
            </p:nvSpPr>
            <p:spPr>
              <a:xfrm>
                <a:off x="4976558"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93" name="Oval 92">
                <a:extLst>
                  <a:ext uri="{FF2B5EF4-FFF2-40B4-BE49-F238E27FC236}">
                    <a16:creationId xmlns:a16="http://schemas.microsoft.com/office/drawing/2014/main" id="{324FD6A4-A8A5-2A32-596C-704D99BCAF7B}"/>
                  </a:ext>
                </a:extLst>
              </p:cNvPr>
              <p:cNvSpPr/>
              <p:nvPr/>
            </p:nvSpPr>
            <p:spPr>
              <a:xfrm>
                <a:off x="5323002"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94" name="Oval 93">
                <a:extLst>
                  <a:ext uri="{FF2B5EF4-FFF2-40B4-BE49-F238E27FC236}">
                    <a16:creationId xmlns:a16="http://schemas.microsoft.com/office/drawing/2014/main" id="{1DEAC2C0-0D61-2F5E-C9D6-3B383E10195C}"/>
                  </a:ext>
                </a:extLst>
              </p:cNvPr>
              <p:cNvSpPr/>
              <p:nvPr/>
            </p:nvSpPr>
            <p:spPr>
              <a:xfrm>
                <a:off x="5669446"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95" name="Oval 94">
                <a:extLst>
                  <a:ext uri="{FF2B5EF4-FFF2-40B4-BE49-F238E27FC236}">
                    <a16:creationId xmlns:a16="http://schemas.microsoft.com/office/drawing/2014/main" id="{6E9CA95A-B0ED-C5D6-D75B-772EE0E6B192}"/>
                  </a:ext>
                </a:extLst>
              </p:cNvPr>
              <p:cNvSpPr/>
              <p:nvPr/>
            </p:nvSpPr>
            <p:spPr>
              <a:xfrm>
                <a:off x="6015890"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96" name="Oval 95">
                <a:extLst>
                  <a:ext uri="{FF2B5EF4-FFF2-40B4-BE49-F238E27FC236}">
                    <a16:creationId xmlns:a16="http://schemas.microsoft.com/office/drawing/2014/main" id="{31B229E7-C6F4-4814-66F0-B1AC7ACA8CD1}"/>
                  </a:ext>
                </a:extLst>
              </p:cNvPr>
              <p:cNvSpPr/>
              <p:nvPr/>
            </p:nvSpPr>
            <p:spPr>
              <a:xfrm>
                <a:off x="6362335" y="299203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90" name="Rectangle 89">
                <a:extLst>
                  <a:ext uri="{FF2B5EF4-FFF2-40B4-BE49-F238E27FC236}">
                    <a16:creationId xmlns:a16="http://schemas.microsoft.com/office/drawing/2014/main" id="{D1212F61-3F5E-67EA-9A8D-0BFB97960175}"/>
                  </a:ext>
                </a:extLst>
              </p:cNvPr>
              <p:cNvSpPr/>
              <p:nvPr/>
            </p:nvSpPr>
            <p:spPr>
              <a:xfrm>
                <a:off x="6986296" y="3022376"/>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My chest feels very tight</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6" name="object 82">
                <a:extLst>
                  <a:ext uri="{FF2B5EF4-FFF2-40B4-BE49-F238E27FC236}">
                    <a16:creationId xmlns:a16="http://schemas.microsoft.com/office/drawing/2014/main" id="{0B88D2CB-931A-2E27-A8EE-02542A1BC0EA}"/>
                  </a:ext>
                </a:extLst>
              </p:cNvPr>
              <p:cNvSpPr/>
              <p:nvPr/>
            </p:nvSpPr>
            <p:spPr>
              <a:xfrm>
                <a:off x="11011686" y="2923789"/>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4" name="Group 123">
              <a:extLst>
                <a:ext uri="{FF2B5EF4-FFF2-40B4-BE49-F238E27FC236}">
                  <a16:creationId xmlns:a16="http://schemas.microsoft.com/office/drawing/2014/main" id="{1E7C1393-0E33-F653-ADD8-DA71F26A3C2D}"/>
                </a:ext>
              </a:extLst>
            </p:cNvPr>
            <p:cNvGrpSpPr/>
            <p:nvPr/>
          </p:nvGrpSpPr>
          <p:grpSpPr>
            <a:xfrm>
              <a:off x="365125" y="3331697"/>
              <a:ext cx="11440470" cy="351062"/>
              <a:chOff x="365125" y="3331696"/>
              <a:chExt cx="11440470" cy="351062"/>
            </a:xfrm>
          </p:grpSpPr>
          <p:sp>
            <p:nvSpPr>
              <p:cNvPr id="75" name="object 82">
                <a:extLst>
                  <a:ext uri="{FF2B5EF4-FFF2-40B4-BE49-F238E27FC236}">
                    <a16:creationId xmlns:a16="http://schemas.microsoft.com/office/drawing/2014/main" id="{9B656A7E-846B-78B1-4DC2-11E80AD4E17D}"/>
                  </a:ext>
                </a:extLst>
              </p:cNvPr>
              <p:cNvSpPr/>
              <p:nvPr/>
            </p:nvSpPr>
            <p:spPr>
              <a:xfrm>
                <a:off x="365125" y="3331696"/>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6" name="Rectangle 75">
                <a:extLst>
                  <a:ext uri="{FF2B5EF4-FFF2-40B4-BE49-F238E27FC236}">
                    <a16:creationId xmlns:a16="http://schemas.microsoft.com/office/drawing/2014/main" id="{28086556-1CB5-511C-9B7A-93126F3CDED7}"/>
                  </a:ext>
                </a:extLst>
              </p:cNvPr>
              <p:cNvSpPr/>
              <p:nvPr/>
            </p:nvSpPr>
            <p:spPr>
              <a:xfrm>
                <a:off x="447580" y="3353339"/>
                <a:ext cx="3529235" cy="307777"/>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When I walk up a hill or 1 flight of stairs, I am not breathless</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9" name="Oval 78">
                <a:extLst>
                  <a:ext uri="{FF2B5EF4-FFF2-40B4-BE49-F238E27FC236}">
                    <a16:creationId xmlns:a16="http://schemas.microsoft.com/office/drawing/2014/main" id="{04330083-011D-2985-75FA-A6F74A9E306C}"/>
                  </a:ext>
                </a:extLst>
              </p:cNvPr>
              <p:cNvSpPr/>
              <p:nvPr/>
            </p:nvSpPr>
            <p:spPr>
              <a:xfrm>
                <a:off x="4630114"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80" name="Oval 79">
                <a:extLst>
                  <a:ext uri="{FF2B5EF4-FFF2-40B4-BE49-F238E27FC236}">
                    <a16:creationId xmlns:a16="http://schemas.microsoft.com/office/drawing/2014/main" id="{2AA3FD2F-1663-ED06-22CC-189C2490E181}"/>
                  </a:ext>
                </a:extLst>
              </p:cNvPr>
              <p:cNvSpPr/>
              <p:nvPr/>
            </p:nvSpPr>
            <p:spPr>
              <a:xfrm>
                <a:off x="4976558"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81" name="Oval 80">
                <a:extLst>
                  <a:ext uri="{FF2B5EF4-FFF2-40B4-BE49-F238E27FC236}">
                    <a16:creationId xmlns:a16="http://schemas.microsoft.com/office/drawing/2014/main" id="{FAC86D44-85C5-B3D9-31C5-492A856B335F}"/>
                  </a:ext>
                </a:extLst>
              </p:cNvPr>
              <p:cNvSpPr/>
              <p:nvPr/>
            </p:nvSpPr>
            <p:spPr>
              <a:xfrm>
                <a:off x="5323002"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82" name="Oval 81">
                <a:extLst>
                  <a:ext uri="{FF2B5EF4-FFF2-40B4-BE49-F238E27FC236}">
                    <a16:creationId xmlns:a16="http://schemas.microsoft.com/office/drawing/2014/main" id="{B5F2214F-7C32-4A48-0862-33089137C70A}"/>
                  </a:ext>
                </a:extLst>
              </p:cNvPr>
              <p:cNvSpPr/>
              <p:nvPr/>
            </p:nvSpPr>
            <p:spPr>
              <a:xfrm>
                <a:off x="5669446"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83" name="Oval 82">
                <a:extLst>
                  <a:ext uri="{FF2B5EF4-FFF2-40B4-BE49-F238E27FC236}">
                    <a16:creationId xmlns:a16="http://schemas.microsoft.com/office/drawing/2014/main" id="{08F7E8F7-E235-DE56-B5D2-4A8579978997}"/>
                  </a:ext>
                </a:extLst>
              </p:cNvPr>
              <p:cNvSpPr/>
              <p:nvPr/>
            </p:nvSpPr>
            <p:spPr>
              <a:xfrm>
                <a:off x="6015890"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84" name="Oval 83">
                <a:extLst>
                  <a:ext uri="{FF2B5EF4-FFF2-40B4-BE49-F238E27FC236}">
                    <a16:creationId xmlns:a16="http://schemas.microsoft.com/office/drawing/2014/main" id="{7C347A15-B212-2EDB-D594-594678BE44E7}"/>
                  </a:ext>
                </a:extLst>
              </p:cNvPr>
              <p:cNvSpPr/>
              <p:nvPr/>
            </p:nvSpPr>
            <p:spPr>
              <a:xfrm>
                <a:off x="6362335" y="339993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78" name="Rectangle 77">
                <a:extLst>
                  <a:ext uri="{FF2B5EF4-FFF2-40B4-BE49-F238E27FC236}">
                    <a16:creationId xmlns:a16="http://schemas.microsoft.com/office/drawing/2014/main" id="{4CE835A5-1092-7303-9415-1529A53DD3B7}"/>
                  </a:ext>
                </a:extLst>
              </p:cNvPr>
              <p:cNvSpPr/>
              <p:nvPr/>
            </p:nvSpPr>
            <p:spPr>
              <a:xfrm>
                <a:off x="6986296" y="3430283"/>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When I walk up a hill or 1 flight of stairs, I am very breathless</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4" name="object 82">
                <a:extLst>
                  <a:ext uri="{FF2B5EF4-FFF2-40B4-BE49-F238E27FC236}">
                    <a16:creationId xmlns:a16="http://schemas.microsoft.com/office/drawing/2014/main" id="{F4FBE4ED-DAC7-ECE7-01A7-BCE9E1D62A63}"/>
                  </a:ext>
                </a:extLst>
              </p:cNvPr>
              <p:cNvSpPr/>
              <p:nvPr/>
            </p:nvSpPr>
            <p:spPr>
              <a:xfrm>
                <a:off x="11011686" y="3331696"/>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5" name="Group 124">
              <a:extLst>
                <a:ext uri="{FF2B5EF4-FFF2-40B4-BE49-F238E27FC236}">
                  <a16:creationId xmlns:a16="http://schemas.microsoft.com/office/drawing/2014/main" id="{C62FF67B-601A-3A3E-4482-456B262E97DA}"/>
                </a:ext>
              </a:extLst>
            </p:cNvPr>
            <p:cNvGrpSpPr/>
            <p:nvPr/>
          </p:nvGrpSpPr>
          <p:grpSpPr>
            <a:xfrm>
              <a:off x="365125" y="3739604"/>
              <a:ext cx="11440470" cy="351062"/>
              <a:chOff x="365125" y="3739602"/>
              <a:chExt cx="11440470" cy="351062"/>
            </a:xfrm>
          </p:grpSpPr>
          <p:sp>
            <p:nvSpPr>
              <p:cNvPr id="63" name="object 82">
                <a:extLst>
                  <a:ext uri="{FF2B5EF4-FFF2-40B4-BE49-F238E27FC236}">
                    <a16:creationId xmlns:a16="http://schemas.microsoft.com/office/drawing/2014/main" id="{0F04AE09-C286-D227-4545-01E62D0ABA8D}"/>
                  </a:ext>
                </a:extLst>
              </p:cNvPr>
              <p:cNvSpPr/>
              <p:nvPr/>
            </p:nvSpPr>
            <p:spPr>
              <a:xfrm>
                <a:off x="365125" y="3739602"/>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4" name="Rectangle 63">
                <a:extLst>
                  <a:ext uri="{FF2B5EF4-FFF2-40B4-BE49-F238E27FC236}">
                    <a16:creationId xmlns:a16="http://schemas.microsoft.com/office/drawing/2014/main" id="{D4F980F4-8E52-A58D-6E47-676EE70EF5C5}"/>
                  </a:ext>
                </a:extLst>
              </p:cNvPr>
              <p:cNvSpPr/>
              <p:nvPr/>
            </p:nvSpPr>
            <p:spPr>
              <a:xfrm>
                <a:off x="447580" y="3838189"/>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am not limited doing any activities at home</a:t>
                </a:r>
              </a:p>
            </p:txBody>
          </p:sp>
          <p:sp>
            <p:nvSpPr>
              <p:cNvPr id="67" name="Oval 66">
                <a:extLst>
                  <a:ext uri="{FF2B5EF4-FFF2-40B4-BE49-F238E27FC236}">
                    <a16:creationId xmlns:a16="http://schemas.microsoft.com/office/drawing/2014/main" id="{CE84F3ED-D127-A42E-FDDD-8E84A5E20688}"/>
                  </a:ext>
                </a:extLst>
              </p:cNvPr>
              <p:cNvSpPr/>
              <p:nvPr/>
            </p:nvSpPr>
            <p:spPr>
              <a:xfrm>
                <a:off x="4630114"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68" name="Oval 67">
                <a:extLst>
                  <a:ext uri="{FF2B5EF4-FFF2-40B4-BE49-F238E27FC236}">
                    <a16:creationId xmlns:a16="http://schemas.microsoft.com/office/drawing/2014/main" id="{6EA1DFED-0764-F12E-0B05-20E279841C18}"/>
                  </a:ext>
                </a:extLst>
              </p:cNvPr>
              <p:cNvSpPr/>
              <p:nvPr/>
            </p:nvSpPr>
            <p:spPr>
              <a:xfrm>
                <a:off x="4976558"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69" name="Oval 68">
                <a:extLst>
                  <a:ext uri="{FF2B5EF4-FFF2-40B4-BE49-F238E27FC236}">
                    <a16:creationId xmlns:a16="http://schemas.microsoft.com/office/drawing/2014/main" id="{380C070F-B617-1366-95A9-F49D02189C25}"/>
                  </a:ext>
                </a:extLst>
              </p:cNvPr>
              <p:cNvSpPr/>
              <p:nvPr/>
            </p:nvSpPr>
            <p:spPr>
              <a:xfrm>
                <a:off x="5323002"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70" name="Oval 69">
                <a:extLst>
                  <a:ext uri="{FF2B5EF4-FFF2-40B4-BE49-F238E27FC236}">
                    <a16:creationId xmlns:a16="http://schemas.microsoft.com/office/drawing/2014/main" id="{FAAEF21A-30D8-FA3B-7DF2-F2FC462B0333}"/>
                  </a:ext>
                </a:extLst>
              </p:cNvPr>
              <p:cNvSpPr/>
              <p:nvPr/>
            </p:nvSpPr>
            <p:spPr>
              <a:xfrm>
                <a:off x="5669446"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71" name="Oval 70">
                <a:extLst>
                  <a:ext uri="{FF2B5EF4-FFF2-40B4-BE49-F238E27FC236}">
                    <a16:creationId xmlns:a16="http://schemas.microsoft.com/office/drawing/2014/main" id="{867F3B86-A79E-55D9-ED98-E19E89FB3396}"/>
                  </a:ext>
                </a:extLst>
              </p:cNvPr>
              <p:cNvSpPr/>
              <p:nvPr/>
            </p:nvSpPr>
            <p:spPr>
              <a:xfrm>
                <a:off x="6015890"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72" name="Oval 71">
                <a:extLst>
                  <a:ext uri="{FF2B5EF4-FFF2-40B4-BE49-F238E27FC236}">
                    <a16:creationId xmlns:a16="http://schemas.microsoft.com/office/drawing/2014/main" id="{09CA1D4D-E95A-ABAB-5B94-17597CCFA69A}"/>
                  </a:ext>
                </a:extLst>
              </p:cNvPr>
              <p:cNvSpPr/>
              <p:nvPr/>
            </p:nvSpPr>
            <p:spPr>
              <a:xfrm>
                <a:off x="6362335" y="380784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66" name="Rectangle 65">
                <a:extLst>
                  <a:ext uri="{FF2B5EF4-FFF2-40B4-BE49-F238E27FC236}">
                    <a16:creationId xmlns:a16="http://schemas.microsoft.com/office/drawing/2014/main" id="{9408407E-0189-038A-5B78-494406BEFBBC}"/>
                  </a:ext>
                </a:extLst>
              </p:cNvPr>
              <p:cNvSpPr/>
              <p:nvPr/>
            </p:nvSpPr>
            <p:spPr>
              <a:xfrm>
                <a:off x="6986296" y="3838189"/>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am very limited doing any activities at home</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2" name="object 82">
                <a:extLst>
                  <a:ext uri="{FF2B5EF4-FFF2-40B4-BE49-F238E27FC236}">
                    <a16:creationId xmlns:a16="http://schemas.microsoft.com/office/drawing/2014/main" id="{DA9EBA07-E842-2CBB-36C6-071CE51CD800}"/>
                  </a:ext>
                </a:extLst>
              </p:cNvPr>
              <p:cNvSpPr/>
              <p:nvPr/>
            </p:nvSpPr>
            <p:spPr>
              <a:xfrm>
                <a:off x="11011686" y="3739602"/>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6" name="Group 125">
              <a:extLst>
                <a:ext uri="{FF2B5EF4-FFF2-40B4-BE49-F238E27FC236}">
                  <a16:creationId xmlns:a16="http://schemas.microsoft.com/office/drawing/2014/main" id="{9E84265E-E6DF-7907-75F4-A12E2723DD3D}"/>
                </a:ext>
              </a:extLst>
            </p:cNvPr>
            <p:cNvGrpSpPr/>
            <p:nvPr/>
          </p:nvGrpSpPr>
          <p:grpSpPr>
            <a:xfrm>
              <a:off x="365125" y="4147511"/>
              <a:ext cx="11440470" cy="351062"/>
              <a:chOff x="365125" y="4147509"/>
              <a:chExt cx="11440470" cy="351062"/>
            </a:xfrm>
          </p:grpSpPr>
          <p:sp>
            <p:nvSpPr>
              <p:cNvPr id="51" name="object 82">
                <a:extLst>
                  <a:ext uri="{FF2B5EF4-FFF2-40B4-BE49-F238E27FC236}">
                    <a16:creationId xmlns:a16="http://schemas.microsoft.com/office/drawing/2014/main" id="{929C36F3-E51D-4260-895B-BFF3EFA635D0}"/>
                  </a:ext>
                </a:extLst>
              </p:cNvPr>
              <p:cNvSpPr/>
              <p:nvPr/>
            </p:nvSpPr>
            <p:spPr>
              <a:xfrm>
                <a:off x="365125" y="4147509"/>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2" name="Rectangle 51">
                <a:extLst>
                  <a:ext uri="{FF2B5EF4-FFF2-40B4-BE49-F238E27FC236}">
                    <a16:creationId xmlns:a16="http://schemas.microsoft.com/office/drawing/2014/main" id="{59D917AE-0FEC-12A7-37CB-6D0EA593F59A}"/>
                  </a:ext>
                </a:extLst>
              </p:cNvPr>
              <p:cNvSpPr/>
              <p:nvPr/>
            </p:nvSpPr>
            <p:spPr>
              <a:xfrm>
                <a:off x="447580" y="4246096"/>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am confident leaving my home despite my lung condition</a:t>
                </a:r>
              </a:p>
            </p:txBody>
          </p:sp>
          <p:sp>
            <p:nvSpPr>
              <p:cNvPr id="55" name="Oval 54">
                <a:extLst>
                  <a:ext uri="{FF2B5EF4-FFF2-40B4-BE49-F238E27FC236}">
                    <a16:creationId xmlns:a16="http://schemas.microsoft.com/office/drawing/2014/main" id="{052F50BD-5A12-0535-D313-661B4FE7934F}"/>
                  </a:ext>
                </a:extLst>
              </p:cNvPr>
              <p:cNvSpPr/>
              <p:nvPr/>
            </p:nvSpPr>
            <p:spPr>
              <a:xfrm>
                <a:off x="4630114"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56" name="Oval 55">
                <a:extLst>
                  <a:ext uri="{FF2B5EF4-FFF2-40B4-BE49-F238E27FC236}">
                    <a16:creationId xmlns:a16="http://schemas.microsoft.com/office/drawing/2014/main" id="{0600B201-0E08-D158-3E2B-941BF3F43D85}"/>
                  </a:ext>
                </a:extLst>
              </p:cNvPr>
              <p:cNvSpPr/>
              <p:nvPr/>
            </p:nvSpPr>
            <p:spPr>
              <a:xfrm>
                <a:off x="4976558"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57" name="Oval 56">
                <a:extLst>
                  <a:ext uri="{FF2B5EF4-FFF2-40B4-BE49-F238E27FC236}">
                    <a16:creationId xmlns:a16="http://schemas.microsoft.com/office/drawing/2014/main" id="{84B922A1-B1CA-6BF1-9CDA-F506CDCE358B}"/>
                  </a:ext>
                </a:extLst>
              </p:cNvPr>
              <p:cNvSpPr/>
              <p:nvPr/>
            </p:nvSpPr>
            <p:spPr>
              <a:xfrm>
                <a:off x="5323002"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58" name="Oval 57">
                <a:extLst>
                  <a:ext uri="{FF2B5EF4-FFF2-40B4-BE49-F238E27FC236}">
                    <a16:creationId xmlns:a16="http://schemas.microsoft.com/office/drawing/2014/main" id="{6A3F3978-0914-2EBA-CAA2-0A49D208F61E}"/>
                  </a:ext>
                </a:extLst>
              </p:cNvPr>
              <p:cNvSpPr/>
              <p:nvPr/>
            </p:nvSpPr>
            <p:spPr>
              <a:xfrm>
                <a:off x="5669446"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59" name="Oval 58">
                <a:extLst>
                  <a:ext uri="{FF2B5EF4-FFF2-40B4-BE49-F238E27FC236}">
                    <a16:creationId xmlns:a16="http://schemas.microsoft.com/office/drawing/2014/main" id="{497B5308-505C-8570-BDDD-5867703803DA}"/>
                  </a:ext>
                </a:extLst>
              </p:cNvPr>
              <p:cNvSpPr/>
              <p:nvPr/>
            </p:nvSpPr>
            <p:spPr>
              <a:xfrm>
                <a:off x="6015890"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60" name="Oval 59">
                <a:extLst>
                  <a:ext uri="{FF2B5EF4-FFF2-40B4-BE49-F238E27FC236}">
                    <a16:creationId xmlns:a16="http://schemas.microsoft.com/office/drawing/2014/main" id="{758767E0-46F9-2527-2218-8BB42CE4E14F}"/>
                  </a:ext>
                </a:extLst>
              </p:cNvPr>
              <p:cNvSpPr/>
              <p:nvPr/>
            </p:nvSpPr>
            <p:spPr>
              <a:xfrm>
                <a:off x="6362335" y="4215751"/>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54" name="Rectangle 53">
                <a:extLst>
                  <a:ext uri="{FF2B5EF4-FFF2-40B4-BE49-F238E27FC236}">
                    <a16:creationId xmlns:a16="http://schemas.microsoft.com/office/drawing/2014/main" id="{BB36D1CF-2B4E-3424-EC6D-F84A14C752B9}"/>
                  </a:ext>
                </a:extLst>
              </p:cNvPr>
              <p:cNvSpPr/>
              <p:nvPr/>
            </p:nvSpPr>
            <p:spPr>
              <a:xfrm>
                <a:off x="6986296" y="4169152"/>
                <a:ext cx="3899024" cy="307777"/>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am not at all confident leaving my home because of my lung condition</a:t>
                </a:r>
              </a:p>
            </p:txBody>
          </p:sp>
          <p:sp>
            <p:nvSpPr>
              <p:cNvPr id="50" name="object 82">
                <a:extLst>
                  <a:ext uri="{FF2B5EF4-FFF2-40B4-BE49-F238E27FC236}">
                    <a16:creationId xmlns:a16="http://schemas.microsoft.com/office/drawing/2014/main" id="{C7943D4D-801F-8637-9AD4-DD12A9075682}"/>
                  </a:ext>
                </a:extLst>
              </p:cNvPr>
              <p:cNvSpPr/>
              <p:nvPr/>
            </p:nvSpPr>
            <p:spPr>
              <a:xfrm>
                <a:off x="11011686" y="4147509"/>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7" name="Group 126">
              <a:extLst>
                <a:ext uri="{FF2B5EF4-FFF2-40B4-BE49-F238E27FC236}">
                  <a16:creationId xmlns:a16="http://schemas.microsoft.com/office/drawing/2014/main" id="{133D4879-84CA-7C6E-1C9C-BD959CED6E19}"/>
                </a:ext>
              </a:extLst>
            </p:cNvPr>
            <p:cNvGrpSpPr/>
            <p:nvPr/>
          </p:nvGrpSpPr>
          <p:grpSpPr>
            <a:xfrm>
              <a:off x="365125" y="4555418"/>
              <a:ext cx="11440470" cy="351062"/>
              <a:chOff x="365125" y="4555416"/>
              <a:chExt cx="11440470" cy="351062"/>
            </a:xfrm>
          </p:grpSpPr>
          <p:sp>
            <p:nvSpPr>
              <p:cNvPr id="39" name="object 82">
                <a:extLst>
                  <a:ext uri="{FF2B5EF4-FFF2-40B4-BE49-F238E27FC236}">
                    <a16:creationId xmlns:a16="http://schemas.microsoft.com/office/drawing/2014/main" id="{63E04758-946E-97DB-BE5A-32FCC0FA4E49}"/>
                  </a:ext>
                </a:extLst>
              </p:cNvPr>
              <p:cNvSpPr/>
              <p:nvPr/>
            </p:nvSpPr>
            <p:spPr>
              <a:xfrm>
                <a:off x="365125" y="4555416"/>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 name="Rectangle 39">
                <a:extLst>
                  <a:ext uri="{FF2B5EF4-FFF2-40B4-BE49-F238E27FC236}">
                    <a16:creationId xmlns:a16="http://schemas.microsoft.com/office/drawing/2014/main" id="{4318B338-BD30-CF1B-367B-0BB9201A7CD9}"/>
                  </a:ext>
                </a:extLst>
              </p:cNvPr>
              <p:cNvSpPr/>
              <p:nvPr/>
            </p:nvSpPr>
            <p:spPr>
              <a:xfrm>
                <a:off x="447580" y="4654003"/>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sleep soundly</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3" name="Oval 42">
                <a:extLst>
                  <a:ext uri="{FF2B5EF4-FFF2-40B4-BE49-F238E27FC236}">
                    <a16:creationId xmlns:a16="http://schemas.microsoft.com/office/drawing/2014/main" id="{9879D8B1-3869-877A-996F-627C7D855A8F}"/>
                  </a:ext>
                </a:extLst>
              </p:cNvPr>
              <p:cNvSpPr/>
              <p:nvPr/>
            </p:nvSpPr>
            <p:spPr>
              <a:xfrm>
                <a:off x="4630114"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44" name="Oval 43">
                <a:extLst>
                  <a:ext uri="{FF2B5EF4-FFF2-40B4-BE49-F238E27FC236}">
                    <a16:creationId xmlns:a16="http://schemas.microsoft.com/office/drawing/2014/main" id="{4F9A8693-8EA9-10D1-AF0D-C4472B72665D}"/>
                  </a:ext>
                </a:extLst>
              </p:cNvPr>
              <p:cNvSpPr/>
              <p:nvPr/>
            </p:nvSpPr>
            <p:spPr>
              <a:xfrm>
                <a:off x="4976558"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45" name="Oval 44">
                <a:extLst>
                  <a:ext uri="{FF2B5EF4-FFF2-40B4-BE49-F238E27FC236}">
                    <a16:creationId xmlns:a16="http://schemas.microsoft.com/office/drawing/2014/main" id="{FA3F3142-B1D7-26EF-348F-2434C487E5FF}"/>
                  </a:ext>
                </a:extLst>
              </p:cNvPr>
              <p:cNvSpPr/>
              <p:nvPr/>
            </p:nvSpPr>
            <p:spPr>
              <a:xfrm>
                <a:off x="5323002"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46" name="Oval 45">
                <a:extLst>
                  <a:ext uri="{FF2B5EF4-FFF2-40B4-BE49-F238E27FC236}">
                    <a16:creationId xmlns:a16="http://schemas.microsoft.com/office/drawing/2014/main" id="{EE4BFDC1-548A-30A9-0010-336A2227A64E}"/>
                  </a:ext>
                </a:extLst>
              </p:cNvPr>
              <p:cNvSpPr/>
              <p:nvPr/>
            </p:nvSpPr>
            <p:spPr>
              <a:xfrm>
                <a:off x="5669446"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47" name="Oval 46">
                <a:extLst>
                  <a:ext uri="{FF2B5EF4-FFF2-40B4-BE49-F238E27FC236}">
                    <a16:creationId xmlns:a16="http://schemas.microsoft.com/office/drawing/2014/main" id="{9DDBC091-5782-D4EA-45D0-E106DCA1044A}"/>
                  </a:ext>
                </a:extLst>
              </p:cNvPr>
              <p:cNvSpPr/>
              <p:nvPr/>
            </p:nvSpPr>
            <p:spPr>
              <a:xfrm>
                <a:off x="6015890"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48" name="Oval 47">
                <a:extLst>
                  <a:ext uri="{FF2B5EF4-FFF2-40B4-BE49-F238E27FC236}">
                    <a16:creationId xmlns:a16="http://schemas.microsoft.com/office/drawing/2014/main" id="{616E69F2-697D-A603-17A3-E5579E912180}"/>
                  </a:ext>
                </a:extLst>
              </p:cNvPr>
              <p:cNvSpPr/>
              <p:nvPr/>
            </p:nvSpPr>
            <p:spPr>
              <a:xfrm>
                <a:off x="6362335" y="4623658"/>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42" name="Rectangle 41">
                <a:extLst>
                  <a:ext uri="{FF2B5EF4-FFF2-40B4-BE49-F238E27FC236}">
                    <a16:creationId xmlns:a16="http://schemas.microsoft.com/office/drawing/2014/main" id="{EB432BE0-783F-F870-2AF9-53C8983E33FE}"/>
                  </a:ext>
                </a:extLst>
              </p:cNvPr>
              <p:cNvSpPr/>
              <p:nvPr/>
            </p:nvSpPr>
            <p:spPr>
              <a:xfrm>
                <a:off x="6986296" y="4654003"/>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don’t sleep soundly because of my lung condition</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8" name="object 82">
                <a:extLst>
                  <a:ext uri="{FF2B5EF4-FFF2-40B4-BE49-F238E27FC236}">
                    <a16:creationId xmlns:a16="http://schemas.microsoft.com/office/drawing/2014/main" id="{01668D5E-C90C-1FC7-4192-DD98EED07254}"/>
                  </a:ext>
                </a:extLst>
              </p:cNvPr>
              <p:cNvSpPr/>
              <p:nvPr/>
            </p:nvSpPr>
            <p:spPr>
              <a:xfrm>
                <a:off x="11011686" y="4555416"/>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128" name="Group 127">
              <a:extLst>
                <a:ext uri="{FF2B5EF4-FFF2-40B4-BE49-F238E27FC236}">
                  <a16:creationId xmlns:a16="http://schemas.microsoft.com/office/drawing/2014/main" id="{09489839-3918-5F07-2038-FBC98F01D075}"/>
                </a:ext>
              </a:extLst>
            </p:cNvPr>
            <p:cNvGrpSpPr/>
            <p:nvPr/>
          </p:nvGrpSpPr>
          <p:grpSpPr>
            <a:xfrm>
              <a:off x="365125" y="4963322"/>
              <a:ext cx="11440470" cy="351062"/>
              <a:chOff x="365125" y="4963322"/>
              <a:chExt cx="11440470" cy="351062"/>
            </a:xfrm>
          </p:grpSpPr>
          <p:sp>
            <p:nvSpPr>
              <p:cNvPr id="27" name="object 82">
                <a:extLst>
                  <a:ext uri="{FF2B5EF4-FFF2-40B4-BE49-F238E27FC236}">
                    <a16:creationId xmlns:a16="http://schemas.microsoft.com/office/drawing/2014/main" id="{A1FAFC68-7330-04EA-9473-E9D8F1542B5D}"/>
                  </a:ext>
                </a:extLst>
              </p:cNvPr>
              <p:cNvSpPr/>
              <p:nvPr/>
            </p:nvSpPr>
            <p:spPr>
              <a:xfrm>
                <a:off x="365125" y="4963322"/>
                <a:ext cx="10558683"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20000"/>
                  <a:lumOff val="80000"/>
                </a:schemeClr>
              </a:solidFill>
              <a:ln w="19050">
                <a:noFill/>
              </a:ln>
            </p:spPr>
            <p:txBody>
              <a:bodyPr wrap="square" lIns="0" tIns="0" rIns="0" bIns="0" rtlCol="0">
                <a:no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8" name="Rectangle 27">
                <a:extLst>
                  <a:ext uri="{FF2B5EF4-FFF2-40B4-BE49-F238E27FC236}">
                    <a16:creationId xmlns:a16="http://schemas.microsoft.com/office/drawing/2014/main" id="{722CA6A9-CF33-2237-100F-51288D58306A}"/>
                  </a:ext>
                </a:extLst>
              </p:cNvPr>
              <p:cNvSpPr/>
              <p:nvPr/>
            </p:nvSpPr>
            <p:spPr>
              <a:xfrm>
                <a:off x="447580" y="5061909"/>
                <a:ext cx="3529235"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have lots of energy</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1" name="Oval 30">
                <a:extLst>
                  <a:ext uri="{FF2B5EF4-FFF2-40B4-BE49-F238E27FC236}">
                    <a16:creationId xmlns:a16="http://schemas.microsoft.com/office/drawing/2014/main" id="{05D7021E-DB29-AD4E-1E49-214216AC6047}"/>
                  </a:ext>
                </a:extLst>
              </p:cNvPr>
              <p:cNvSpPr/>
              <p:nvPr/>
            </p:nvSpPr>
            <p:spPr>
              <a:xfrm>
                <a:off x="4630114"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0</a:t>
                </a:r>
              </a:p>
            </p:txBody>
          </p:sp>
          <p:sp>
            <p:nvSpPr>
              <p:cNvPr id="32" name="Oval 31">
                <a:extLst>
                  <a:ext uri="{FF2B5EF4-FFF2-40B4-BE49-F238E27FC236}">
                    <a16:creationId xmlns:a16="http://schemas.microsoft.com/office/drawing/2014/main" id="{5734FB7E-EBF2-8E06-FCE5-641370EE1163}"/>
                  </a:ext>
                </a:extLst>
              </p:cNvPr>
              <p:cNvSpPr/>
              <p:nvPr/>
            </p:nvSpPr>
            <p:spPr>
              <a:xfrm>
                <a:off x="4976558"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1</a:t>
                </a:r>
              </a:p>
            </p:txBody>
          </p:sp>
          <p:sp>
            <p:nvSpPr>
              <p:cNvPr id="33" name="Oval 32">
                <a:extLst>
                  <a:ext uri="{FF2B5EF4-FFF2-40B4-BE49-F238E27FC236}">
                    <a16:creationId xmlns:a16="http://schemas.microsoft.com/office/drawing/2014/main" id="{FC577116-6C6D-8D1A-9ECA-71ED90EEAFF2}"/>
                  </a:ext>
                </a:extLst>
              </p:cNvPr>
              <p:cNvSpPr/>
              <p:nvPr/>
            </p:nvSpPr>
            <p:spPr>
              <a:xfrm>
                <a:off x="5323002"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2</a:t>
                </a:r>
              </a:p>
            </p:txBody>
          </p:sp>
          <p:sp>
            <p:nvSpPr>
              <p:cNvPr id="34" name="Oval 33">
                <a:extLst>
                  <a:ext uri="{FF2B5EF4-FFF2-40B4-BE49-F238E27FC236}">
                    <a16:creationId xmlns:a16="http://schemas.microsoft.com/office/drawing/2014/main" id="{123099F7-E52D-970E-E7C7-F66BF8FC6636}"/>
                  </a:ext>
                </a:extLst>
              </p:cNvPr>
              <p:cNvSpPr/>
              <p:nvPr/>
            </p:nvSpPr>
            <p:spPr>
              <a:xfrm>
                <a:off x="5669446"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3</a:t>
                </a:r>
              </a:p>
            </p:txBody>
          </p:sp>
          <p:sp>
            <p:nvSpPr>
              <p:cNvPr id="35" name="Oval 34">
                <a:extLst>
                  <a:ext uri="{FF2B5EF4-FFF2-40B4-BE49-F238E27FC236}">
                    <a16:creationId xmlns:a16="http://schemas.microsoft.com/office/drawing/2014/main" id="{78D2FFB3-61F3-421C-12ED-77E619A5BF0D}"/>
                  </a:ext>
                </a:extLst>
              </p:cNvPr>
              <p:cNvSpPr/>
              <p:nvPr/>
            </p:nvSpPr>
            <p:spPr>
              <a:xfrm>
                <a:off x="6015890"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4</a:t>
                </a:r>
              </a:p>
            </p:txBody>
          </p:sp>
          <p:sp>
            <p:nvSpPr>
              <p:cNvPr id="36" name="Oval 35">
                <a:extLst>
                  <a:ext uri="{FF2B5EF4-FFF2-40B4-BE49-F238E27FC236}">
                    <a16:creationId xmlns:a16="http://schemas.microsoft.com/office/drawing/2014/main" id="{8BF97741-BB2C-9C56-EFE1-7F0BB88D8DDD}"/>
                  </a:ext>
                </a:extLst>
              </p:cNvPr>
              <p:cNvSpPr/>
              <p:nvPr/>
            </p:nvSpPr>
            <p:spPr>
              <a:xfrm>
                <a:off x="6362335" y="5031564"/>
                <a:ext cx="229369" cy="214579"/>
              </a:xfrm>
              <a:prstGeom prst="ellipse">
                <a:avLst/>
              </a:prstGeom>
              <a:solidFill>
                <a:schemeClr val="bg1"/>
              </a:solidFill>
              <a:ln w="190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Noto Sans"/>
                  </a:rPr>
                  <a:t>5</a:t>
                </a:r>
              </a:p>
            </p:txBody>
          </p:sp>
          <p:sp>
            <p:nvSpPr>
              <p:cNvPr id="30" name="Rectangle 29">
                <a:extLst>
                  <a:ext uri="{FF2B5EF4-FFF2-40B4-BE49-F238E27FC236}">
                    <a16:creationId xmlns:a16="http://schemas.microsoft.com/office/drawing/2014/main" id="{55CC529F-B6FB-AE4F-C1F8-C31D4B6785E6}"/>
                  </a:ext>
                </a:extLst>
              </p:cNvPr>
              <p:cNvSpPr/>
              <p:nvPr/>
            </p:nvSpPr>
            <p:spPr>
              <a:xfrm>
                <a:off x="6986296" y="5061909"/>
                <a:ext cx="3899024" cy="153888"/>
              </a:xfrm>
              <a:prstGeom prst="rect">
                <a:avLst/>
              </a:prstGeom>
            </p:spPr>
            <p:txBody>
              <a:bodyPr wrap="squar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Arial"/>
                  </a:rPr>
                  <a:t>I have no energy at all</a:t>
                </a:r>
                <a:endParaRPr kumimoji="0" lang="en-US"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6" name="object 82">
                <a:extLst>
                  <a:ext uri="{FF2B5EF4-FFF2-40B4-BE49-F238E27FC236}">
                    <a16:creationId xmlns:a16="http://schemas.microsoft.com/office/drawing/2014/main" id="{B9BFBC93-3AEF-F7EC-2274-12538A9C69C7}"/>
                  </a:ext>
                </a:extLst>
              </p:cNvPr>
              <p:cNvSpPr/>
              <p:nvPr/>
            </p:nvSpPr>
            <p:spPr>
              <a:xfrm>
                <a:off x="11011686" y="4963322"/>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bg1"/>
              </a:solidFill>
              <a:ln w="12700">
                <a:solidFill>
                  <a:schemeClr val="tx2"/>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5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129" name="object 7">
              <a:extLst>
                <a:ext uri="{FF2B5EF4-FFF2-40B4-BE49-F238E27FC236}">
                  <a16:creationId xmlns:a16="http://schemas.microsoft.com/office/drawing/2014/main" id="{452BF3BE-76E9-3BBE-5001-9A84C35B0384}"/>
                </a:ext>
              </a:extLst>
            </p:cNvPr>
            <p:cNvSpPr txBox="1"/>
            <p:nvPr/>
          </p:nvSpPr>
          <p:spPr>
            <a:xfrm>
              <a:off x="11052840" y="1892723"/>
              <a:ext cx="691787" cy="169277"/>
            </a:xfrm>
            <a:prstGeom prst="rect">
              <a:avLst/>
            </a:prstGeom>
          </p:spPr>
          <p:txBody>
            <a:bodyPr vert="horz" wrap="square" lIns="0" tIns="0" rIns="0" bIns="0" rtlCol="0" anchor="ctr" anchorCtr="0">
              <a:spAutoFit/>
            </a:bodyPr>
            <a:lstStyle/>
            <a:p>
              <a:pPr marL="12700" marR="0" lvl="0" indent="0" algn="ctr" defTabSz="1219170" rtl="0" eaLnBrk="1" fontAlgn="auto" latinLnBrk="0" hangingPunct="1">
                <a:lnSpc>
                  <a:spcPct val="100000"/>
                </a:lnSpc>
                <a:spcBef>
                  <a:spcPts val="105"/>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SCORE</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131" name="object 18">
              <a:extLst>
                <a:ext uri="{FF2B5EF4-FFF2-40B4-BE49-F238E27FC236}">
                  <a16:creationId xmlns:a16="http://schemas.microsoft.com/office/drawing/2014/main" id="{EE9B0047-A289-A847-BF7E-7A4C4D9BA698}"/>
                </a:ext>
              </a:extLst>
            </p:cNvPr>
            <p:cNvSpPr txBox="1"/>
            <p:nvPr/>
          </p:nvSpPr>
          <p:spPr>
            <a:xfrm>
              <a:off x="9856160" y="5456813"/>
              <a:ext cx="1027430" cy="182101"/>
            </a:xfrm>
            <a:prstGeom prst="rect">
              <a:avLst/>
            </a:prstGeom>
          </p:spPr>
          <p:txBody>
            <a:bodyPr vert="horz" wrap="square" lIns="0" tIns="12700" rIns="0" bIns="0" rtlCol="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sz="1100" b="1" i="0" u="none" strike="noStrike" kern="1200" cap="none" spc="0" normalizeH="0" baseline="0" noProof="0" dirty="0">
                  <a:ln>
                    <a:noFill/>
                  </a:ln>
                  <a:solidFill>
                    <a:srgbClr val="F36600"/>
                  </a:solidFill>
                  <a:effectLst/>
                  <a:uLnTx/>
                  <a:uFillTx/>
                  <a:latin typeface="Arial"/>
                  <a:ea typeface="+mn-ea"/>
                  <a:cs typeface="Arial"/>
                </a:rPr>
                <a:t>TOTAL SCORE</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133" name="object 82">
              <a:extLst>
                <a:ext uri="{FF2B5EF4-FFF2-40B4-BE49-F238E27FC236}">
                  <a16:creationId xmlns:a16="http://schemas.microsoft.com/office/drawing/2014/main" id="{DCD5AFAB-6894-3B60-4F44-49A625CD812A}"/>
                </a:ext>
              </a:extLst>
            </p:cNvPr>
            <p:cNvSpPr/>
            <p:nvPr/>
          </p:nvSpPr>
          <p:spPr>
            <a:xfrm>
              <a:off x="11011686" y="5372332"/>
              <a:ext cx="793909" cy="351062"/>
            </a:xfrm>
            <a:custGeom>
              <a:avLst/>
              <a:gdLst/>
              <a:ahLst/>
              <a:cxnLst/>
              <a:rect l="l" t="t" r="r" b="b"/>
              <a:pathLst>
                <a:path w="7137400" h="364489">
                  <a:moveTo>
                    <a:pt x="7136892" y="0"/>
                  </a:moveTo>
                  <a:lnTo>
                    <a:pt x="0" y="0"/>
                  </a:lnTo>
                  <a:lnTo>
                    <a:pt x="0" y="364236"/>
                  </a:lnTo>
                  <a:lnTo>
                    <a:pt x="7136892" y="364236"/>
                  </a:lnTo>
                  <a:lnTo>
                    <a:pt x="7136892" y="0"/>
                  </a:lnTo>
                  <a:close/>
                </a:path>
              </a:pathLst>
            </a:custGeom>
            <a:solidFill>
              <a:schemeClr val="tx2">
                <a:lumMod val="60000"/>
                <a:lumOff val="40000"/>
              </a:schemeClr>
            </a:solidFill>
            <a:ln w="12700">
              <a:solidFill>
                <a:schemeClr val="tx2"/>
              </a:solidFill>
            </a:ln>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sz="1100" b="1" i="0" u="none" strike="noStrike" kern="1200" cap="none" spc="0" normalizeH="0" baseline="0" noProof="0" dirty="0">
                <a:ln>
                  <a:noFill/>
                </a:ln>
                <a:solidFill>
                  <a:prstClr val="white"/>
                </a:solidFill>
                <a:effectLst/>
                <a:uLnTx/>
                <a:uFillTx/>
                <a:latin typeface="Arial"/>
                <a:ea typeface="+mn-ea"/>
                <a:cs typeface="Noto Sans"/>
              </a:endParaRPr>
            </a:p>
          </p:txBody>
        </p:sp>
      </p:grpSp>
    </p:spTree>
    <p:custDataLst>
      <p:tags r:id="rId1"/>
    </p:custDataLst>
    <p:extLst>
      <p:ext uri="{BB962C8B-B14F-4D97-AF65-F5344CB8AC3E}">
        <p14:creationId xmlns:p14="http://schemas.microsoft.com/office/powerpoint/2010/main" val="326002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24AF4B26-4B34-4B77-BF01-4E17BA287630}"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Note: The full questionnaire is available from https://www.sgul.ac.uk/research/research-operations/research-administration/st-georges-respiratory-questionnaire.</a:t>
            </a:r>
            <a:endParaRPr lang="en-US" dirty="0">
              <a:solidFill>
                <a:schemeClr val="tx2"/>
              </a:solidFill>
            </a:endParaRPr>
          </a:p>
          <a:p>
            <a:r>
              <a:rPr lang="en-US" dirty="0"/>
              <a:t>SGRQ, St George’s Respiratory Questionnaire</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American Thoracic Society. St. George’s Respiratory Questionnaire. </a:t>
            </a:r>
            <a:r>
              <a:rPr lang="en-US" dirty="0">
                <a:hlinkClick r:id="rId4"/>
              </a:rPr>
              <a:t>https://www.thoracic.org/members/assemblies/assemblies/srn/questionaires/sgrq.php</a:t>
            </a:r>
            <a:r>
              <a:rPr lang="en-US" dirty="0"/>
              <a:t>. Accessed February 22, 2023. </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The SGRQ</a:t>
            </a:r>
            <a:endParaRPr lang="en-GB" dirty="0"/>
          </a:p>
        </p:txBody>
      </p:sp>
      <p:sp>
        <p:nvSpPr>
          <p:cNvPr id="9" name="object 3">
            <a:extLst>
              <a:ext uri="{FF2B5EF4-FFF2-40B4-BE49-F238E27FC236}">
                <a16:creationId xmlns:a16="http://schemas.microsoft.com/office/drawing/2014/main" id="{534F8F53-978D-45A9-89A3-001026356C46}"/>
              </a:ext>
            </a:extLst>
          </p:cNvPr>
          <p:cNvSpPr txBox="1"/>
          <p:nvPr/>
        </p:nvSpPr>
        <p:spPr>
          <a:xfrm>
            <a:off x="365125" y="1303338"/>
            <a:ext cx="11456379" cy="1000274"/>
          </a:xfrm>
          <a:prstGeom prst="rect">
            <a:avLst/>
          </a:prstGeom>
        </p:spPr>
        <p:txBody>
          <a:bodyPr vert="horz" wrap="square" lIns="0" tIns="0" rIns="0" bIns="0" rtlCol="0">
            <a:spAutoFit/>
          </a:bodyPr>
          <a:lstStyle/>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SGRQ is the most widely documented comprehensive questionnaire</a:t>
            </a:r>
            <a:r>
              <a:rPr kumimoji="0" lang="en-US" sz="1100" b="0" i="0" u="none" strike="noStrike" kern="1200" cap="none" spc="0" normalizeH="0" baseline="30000" noProof="0" dirty="0">
                <a:ln>
                  <a:noFill/>
                </a:ln>
                <a:solidFill>
                  <a:srgbClr val="000000"/>
                </a:solidFill>
                <a:effectLst/>
                <a:uLnTx/>
                <a:uFillTx/>
                <a:latin typeface="Arial"/>
                <a:ea typeface="+mn-ea"/>
                <a:cs typeface="Arial"/>
              </a:rPr>
              <a:t>1</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It is a 50-item questionnaire, producing 3 component scores and a total score</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Items are weighted to support scaling and the total score ranges from 0 to 100, with a higher score indicating a worse health status</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sng" strike="noStrike" kern="1200" cap="none" spc="0" normalizeH="0" baseline="0" noProof="0" dirty="0">
                <a:ln>
                  <a:noFill/>
                </a:ln>
                <a:solidFill>
                  <a:srgbClr val="000000"/>
                </a:solidFill>
                <a:effectLst/>
                <a:uLnTx/>
                <a:uFillTx/>
                <a:latin typeface="Arial"/>
                <a:ea typeface="+mn-ea"/>
                <a:cs typeface="Arial"/>
              </a:rPr>
              <a:t>A score ≥ 25 </a:t>
            </a:r>
            <a:r>
              <a:rPr kumimoji="0" lang="en-US" sz="1100" b="0" i="0" u="none" strike="noStrike" kern="1200" cap="none" spc="0" normalizeH="0" baseline="0" noProof="0" dirty="0">
                <a:ln>
                  <a:noFill/>
                </a:ln>
                <a:solidFill>
                  <a:srgbClr val="000000"/>
                </a:solidFill>
                <a:effectLst/>
                <a:uLnTx/>
                <a:uFillTx/>
                <a:latin typeface="Arial"/>
                <a:ea typeface="+mn-ea"/>
                <a:cs typeface="Arial"/>
              </a:rPr>
              <a:t>should be used as the cutoff for considering regular treatment</a:t>
            </a:r>
            <a:r>
              <a:rPr kumimoji="0" lang="en-US" sz="1100" b="0" i="0" u="none" strike="noStrike" kern="1200" cap="none" spc="0" normalizeH="0" baseline="30000" noProof="0" dirty="0">
                <a:ln>
                  <a:noFill/>
                </a:ln>
                <a:solidFill>
                  <a:srgbClr val="000000"/>
                </a:solidFill>
                <a:effectLst/>
                <a:uLnTx/>
                <a:uFillTx/>
                <a:latin typeface="Arial"/>
                <a:ea typeface="+mn-ea"/>
                <a:cs typeface="Arial"/>
              </a:rPr>
              <a:t>1</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It is divided into 3 parts, measuring symptoms, activity limitation and impact of the disease and includes questions such as</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p:txBody>
      </p:sp>
      <p:graphicFrame>
        <p:nvGraphicFramePr>
          <p:cNvPr id="2" name="Table 1">
            <a:extLst>
              <a:ext uri="{FF2B5EF4-FFF2-40B4-BE49-F238E27FC236}">
                <a16:creationId xmlns:a16="http://schemas.microsoft.com/office/drawing/2014/main" id="{EE46155A-F24E-5AD6-901C-E3532DC4542E}"/>
              </a:ext>
            </a:extLst>
          </p:cNvPr>
          <p:cNvGraphicFramePr>
            <a:graphicFrameLocks noGrp="1"/>
          </p:cNvGraphicFramePr>
          <p:nvPr/>
        </p:nvGraphicFramePr>
        <p:xfrm>
          <a:off x="365125" y="2417191"/>
          <a:ext cx="11456377" cy="2880360"/>
        </p:xfrm>
        <a:graphic>
          <a:graphicData uri="http://schemas.openxmlformats.org/drawingml/2006/table">
            <a:tbl>
              <a:tblPr firstRow="1" bandRow="1">
                <a:tableStyleId>{5C22544A-7EE6-4342-B048-85BDC9FD1C3A}</a:tableStyleId>
              </a:tblPr>
              <a:tblGrid>
                <a:gridCol w="4252142">
                  <a:extLst>
                    <a:ext uri="{9D8B030D-6E8A-4147-A177-3AD203B41FA5}">
                      <a16:colId xmlns:a16="http://schemas.microsoft.com/office/drawing/2014/main" val="2081625466"/>
                    </a:ext>
                  </a:extLst>
                </a:gridCol>
                <a:gridCol w="1440847">
                  <a:extLst>
                    <a:ext uri="{9D8B030D-6E8A-4147-A177-3AD203B41FA5}">
                      <a16:colId xmlns:a16="http://schemas.microsoft.com/office/drawing/2014/main" val="3550586036"/>
                    </a:ext>
                  </a:extLst>
                </a:gridCol>
                <a:gridCol w="1440847">
                  <a:extLst>
                    <a:ext uri="{9D8B030D-6E8A-4147-A177-3AD203B41FA5}">
                      <a16:colId xmlns:a16="http://schemas.microsoft.com/office/drawing/2014/main" val="4274560768"/>
                    </a:ext>
                  </a:extLst>
                </a:gridCol>
                <a:gridCol w="1440847">
                  <a:extLst>
                    <a:ext uri="{9D8B030D-6E8A-4147-A177-3AD203B41FA5}">
                      <a16:colId xmlns:a16="http://schemas.microsoft.com/office/drawing/2014/main" val="201422055"/>
                    </a:ext>
                  </a:extLst>
                </a:gridCol>
                <a:gridCol w="1440847">
                  <a:extLst>
                    <a:ext uri="{9D8B030D-6E8A-4147-A177-3AD203B41FA5}">
                      <a16:colId xmlns:a16="http://schemas.microsoft.com/office/drawing/2014/main" val="1552126125"/>
                    </a:ext>
                  </a:extLst>
                </a:gridCol>
                <a:gridCol w="1440847">
                  <a:extLst>
                    <a:ext uri="{9D8B030D-6E8A-4147-A177-3AD203B41FA5}">
                      <a16:colId xmlns:a16="http://schemas.microsoft.com/office/drawing/2014/main" val="2654155357"/>
                    </a:ext>
                  </a:extLst>
                </a:gridCol>
              </a:tblGrid>
              <a:tr h="0">
                <a:tc>
                  <a:txBody>
                    <a:bodyPr/>
                    <a:lstStyle/>
                    <a:p>
                      <a:endParaRPr lang="en-US" sz="1100" dirty="0"/>
                    </a:p>
                  </a:txBody>
                  <a:tcPr marL="45720" marR="45720" anchor="ctr">
                    <a:lnL w="12700" cmpd="sng">
                      <a:noFill/>
                    </a:lnL>
                    <a:lnR w="952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100" dirty="0"/>
                        <a:t>Most days a week</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100" dirty="0"/>
                        <a:t>Several days a week</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100" dirty="0"/>
                        <a:t>A few days a month</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100" dirty="0"/>
                        <a:t>Only with chest infections</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12700" cmpd="sng">
                      <a:noFill/>
                    </a:lnT>
                    <a:lnB w="38100" cmpd="sng">
                      <a:noFill/>
                    </a:lnB>
                    <a:lnTlToBr w="12700" cmpd="sng">
                      <a:noFill/>
                      <a:prstDash val="solid"/>
                    </a:lnTlToBr>
                    <a:lnBlToTr w="12700" cmpd="sng">
                      <a:noFill/>
                      <a:prstDash val="solid"/>
                    </a:lnBlToTr>
                    <a:solidFill>
                      <a:schemeClr val="tx2"/>
                    </a:solidFill>
                  </a:tcPr>
                </a:tc>
                <a:tc>
                  <a:txBody>
                    <a:bodyPr/>
                    <a:lstStyle/>
                    <a:p>
                      <a:pPr algn="ctr"/>
                      <a:r>
                        <a:rPr lang="en-US" sz="1100" dirty="0"/>
                        <a:t>Not at all</a:t>
                      </a:r>
                    </a:p>
                  </a:txBody>
                  <a:tcPr marL="45720" marR="45720" anchor="ctr">
                    <a:lnL w="9525" cap="flat" cmpd="sng" algn="ctr">
                      <a:noFill/>
                      <a:prstDash val="solid"/>
                      <a:round/>
                      <a:headEnd type="none" w="med" len="med"/>
                      <a:tailEnd type="none" w="med" len="med"/>
                    </a:lnL>
                    <a:lnR w="12700" cmpd="sng">
                      <a:noFill/>
                    </a:lnR>
                    <a:lnT w="12700" cmpd="sng">
                      <a:noFill/>
                    </a:lnT>
                    <a:lnB w="381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val="4123450012"/>
                  </a:ext>
                </a:extLst>
              </a:tr>
              <a:tr h="0">
                <a:tc>
                  <a:txBody>
                    <a:bodyPr/>
                    <a:lstStyle/>
                    <a:p>
                      <a:r>
                        <a:rPr lang="en-US" sz="1100" dirty="0">
                          <a:solidFill>
                            <a:schemeClr val="tx1"/>
                          </a:solidFill>
                        </a:rPr>
                        <a:t>Over the past 3 months, I have coughed</a:t>
                      </a:r>
                    </a:p>
                  </a:txBody>
                  <a:tcPr marL="45720" marR="45720" anchor="ctr">
                    <a:lnL w="12700" cmpd="sng">
                      <a:noFill/>
                    </a:lnL>
                    <a:lnR w="9525" cap="flat" cmpd="sng" algn="ctr">
                      <a:noFill/>
                      <a:prstDash val="solid"/>
                      <a:round/>
                      <a:headEnd type="none" w="med" len="med"/>
                      <a:tailEnd type="none" w="med" len="med"/>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12700" cmpd="sng">
                      <a:noFill/>
                    </a:lnR>
                    <a:lnT w="38100" cmpd="sng">
                      <a:noFill/>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3267896898"/>
                  </a:ext>
                </a:extLst>
              </a:tr>
              <a:tr h="0">
                <a:tc>
                  <a:txBody>
                    <a:bodyPr/>
                    <a:lstStyle/>
                    <a:p>
                      <a:r>
                        <a:rPr lang="en-US" sz="1100" dirty="0">
                          <a:solidFill>
                            <a:schemeClr val="tx1"/>
                          </a:solidFill>
                        </a:rPr>
                        <a:t>Over the past 3 months, I have brought up phlegm (sputum)</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3009288430"/>
                  </a:ext>
                </a:extLst>
              </a:tr>
              <a:tr h="0">
                <a:tc>
                  <a:txBody>
                    <a:bodyPr/>
                    <a:lstStyle/>
                    <a:p>
                      <a:r>
                        <a:rPr lang="en-US" sz="1100" dirty="0">
                          <a:solidFill>
                            <a:schemeClr val="tx1"/>
                          </a:solidFill>
                        </a:rPr>
                        <a:t>Over the past 3 months, I have had attacks of wheezing</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32076991"/>
                  </a:ext>
                </a:extLst>
              </a:tr>
              <a:tr h="0">
                <a:tc>
                  <a:txBody>
                    <a:bodyPr/>
                    <a:lstStyle/>
                    <a:p>
                      <a:r>
                        <a:rPr lang="en-US" sz="1100" kern="1200" dirty="0">
                          <a:solidFill>
                            <a:schemeClr val="tx1"/>
                          </a:solidFill>
                          <a:latin typeface="+mn-lt"/>
                          <a:ea typeface="+mn-ea"/>
                          <a:cs typeface="+mn-cs"/>
                        </a:rPr>
                        <a:t>Over the past 3 months, I have had shortness of breath</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extLst>
                  <a:ext uri="{0D108BD9-81ED-4DB2-BD59-A6C34878D82A}">
                    <a16:rowId xmlns:a16="http://schemas.microsoft.com/office/drawing/2014/main" val="2385386486"/>
                  </a:ext>
                </a:extLst>
              </a:tr>
              <a:tr h="0">
                <a:tc>
                  <a:txBody>
                    <a:bodyPr/>
                    <a:lstStyle/>
                    <a:p>
                      <a:endParaRPr lang="en-US" sz="1100" dirty="0">
                        <a:solidFill>
                          <a:srgbClr val="544F40"/>
                        </a:solidFill>
                      </a:endParaRP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dirty="0">
                          <a:solidFill>
                            <a:schemeClr val="bg1"/>
                          </a:solidFill>
                        </a:rPr>
                        <a:t>True</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r>
                        <a:rPr lang="en-US" sz="1100" b="1" dirty="0">
                          <a:solidFill>
                            <a:schemeClr val="bg1"/>
                          </a:solidFill>
                        </a:rPr>
                        <a:t>False</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9565908"/>
                  </a:ext>
                </a:extLst>
              </a:tr>
              <a:tr h="0">
                <a:tc>
                  <a:txBody>
                    <a:bodyPr/>
                    <a:lstStyle/>
                    <a:p>
                      <a:r>
                        <a:rPr lang="en-US" sz="1100" dirty="0">
                          <a:solidFill>
                            <a:schemeClr val="tx1"/>
                          </a:solidFill>
                        </a:rPr>
                        <a:t>I cannot play sports or games</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en-US" sz="12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299346471"/>
                  </a:ext>
                </a:extLst>
              </a:tr>
              <a:tr h="0">
                <a:tc>
                  <a:txBody>
                    <a:bodyPr/>
                    <a:lstStyle/>
                    <a:p>
                      <a:r>
                        <a:rPr lang="en-US" sz="1100" dirty="0">
                          <a:solidFill>
                            <a:schemeClr val="tx1"/>
                          </a:solidFill>
                        </a:rPr>
                        <a:t>I cannot go out for entertainment or recreation</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endParaRPr lang="en-US" sz="12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98249293"/>
                  </a:ext>
                </a:extLst>
              </a:tr>
              <a:tr h="0">
                <a:tc>
                  <a:txBody>
                    <a:bodyPr/>
                    <a:lstStyle/>
                    <a:p>
                      <a:r>
                        <a:rPr lang="en-US" sz="1100" dirty="0">
                          <a:solidFill>
                            <a:schemeClr val="tx1"/>
                          </a:solidFill>
                        </a:rPr>
                        <a:t>I cannot go out of the house to do shopping</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a:txBody>
                    <a:bodyPr/>
                    <a:lstStyle/>
                    <a:p>
                      <a:pPr algn="ctr"/>
                      <a:endParaRPr lang="en-US" sz="12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71366576"/>
                  </a:ext>
                </a:extLst>
              </a:tr>
              <a:tr h="0">
                <a:tc>
                  <a:txBody>
                    <a:bodyPr/>
                    <a:lstStyle/>
                    <a:p>
                      <a:pPr marL="0" algn="l" defTabSz="914400" rtl="0" eaLnBrk="1" latinLnBrk="0" hangingPunct="1"/>
                      <a:r>
                        <a:rPr lang="en-US" sz="1100" kern="1200" dirty="0">
                          <a:solidFill>
                            <a:schemeClr val="tx1"/>
                          </a:solidFill>
                          <a:latin typeface="+mn-lt"/>
                          <a:ea typeface="+mn-ea"/>
                          <a:cs typeface="+mn-cs"/>
                        </a:rPr>
                        <a:t>I cannot do housework</a:t>
                      </a:r>
                    </a:p>
                  </a:txBody>
                  <a:tcPr marL="45720" marR="45720" anchor="ctr">
                    <a:lnL w="12700" cmpd="sng">
                      <a:noFill/>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Arial" panose="020B0604020202020204"/>
                          <a:ea typeface="+mn-ea"/>
                          <a:cs typeface="+mn-cs"/>
                        </a:rPr>
                        <a:t>□</a:t>
                      </a: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2">
                        <a:lumMod val="20000"/>
                        <a:lumOff val="80000"/>
                      </a:schemeClr>
                    </a:solidFill>
                  </a:tcPr>
                </a:tc>
                <a:tc>
                  <a:txBody>
                    <a:bodyPr/>
                    <a:lstStyle/>
                    <a:p>
                      <a:pPr algn="ctr"/>
                      <a:endParaRPr lang="en-US" sz="12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dirty="0">
                        <a:solidFill>
                          <a:srgbClr val="544F40"/>
                        </a:solidFill>
                      </a:endParaRPr>
                    </a:p>
                  </a:txBody>
                  <a:tcPr marL="45720" marR="45720" anchor="ctr">
                    <a:lnL w="9525" cap="flat" cmpd="sng" algn="ctr">
                      <a:noFill/>
                      <a:prstDash val="solid"/>
                      <a:round/>
                      <a:headEnd type="none" w="med" len="med"/>
                      <a:tailEnd type="none" w="med" len="med"/>
                    </a:lnL>
                    <a:lnR w="12700" cmpd="sng">
                      <a:noFill/>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16225274"/>
                  </a:ext>
                </a:extLst>
              </a:tr>
            </a:tbl>
          </a:graphicData>
        </a:graphic>
      </p:graphicFrame>
    </p:spTree>
    <p:custDataLst>
      <p:tags r:id="rId1"/>
    </p:custDataLst>
    <p:extLst>
      <p:ext uri="{BB962C8B-B14F-4D97-AF65-F5344CB8AC3E}">
        <p14:creationId xmlns:p14="http://schemas.microsoft.com/office/powerpoint/2010/main" val="2676308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710989BE-0F88-4C03-ACD3-D9AF7F31518B}"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Note: The full questionnaire is available from </a:t>
            </a:r>
            <a:r>
              <a:rPr lang="en-US" dirty="0">
                <a:solidFill>
                  <a:schemeClr val="tx2"/>
                </a:solidFill>
                <a:hlinkClick r:id="rId3">
                  <a:extLst>
                    <a:ext uri="{A12FA001-AC4F-418D-AE19-62706E023703}">
                      <ahyp:hlinkClr xmlns:ahyp="http://schemas.microsoft.com/office/drawing/2018/hyperlinkcolor" val="tx"/>
                    </a:ext>
                  </a:extLst>
                </a:hlinkClick>
              </a:rPr>
              <a:t>https://ccq.nl/?page_id=4</a:t>
            </a:r>
            <a:r>
              <a:rPr lang="en-US" dirty="0">
                <a:solidFill>
                  <a:schemeClr val="tx2"/>
                </a:solidFill>
              </a:rPr>
              <a:t>.  </a:t>
            </a:r>
          </a:p>
          <a:p>
            <a:r>
              <a:rPr lang="en-US" dirty="0"/>
              <a:t>1. Clinical COPD Questionnaire one week. </a:t>
            </a:r>
            <a:r>
              <a:rPr lang="en-US" dirty="0">
                <a:solidFill>
                  <a:schemeClr val="tx2"/>
                </a:solidFill>
                <a:hlinkClick r:id="rId3">
                  <a:extLst>
                    <a:ext uri="{A12FA001-AC4F-418D-AE19-62706E023703}">
                      <ahyp:hlinkClr xmlns:ahyp="http://schemas.microsoft.com/office/drawing/2018/hyperlinkcolor" val="tx"/>
                    </a:ext>
                  </a:extLst>
                </a:hlinkClick>
              </a:rPr>
              <a:t>https://ccq.nl/?page_id=4</a:t>
            </a:r>
            <a:r>
              <a:rPr lang="en-US" dirty="0"/>
              <a:t>. Accessed February 22, 2023; 2. Clinical COPD Questionnaire 24 hours. </a:t>
            </a:r>
            <a:r>
              <a:rPr lang="en-US" dirty="0">
                <a:solidFill>
                  <a:schemeClr val="tx2"/>
                </a:solidFill>
                <a:hlinkClick r:id="rId3">
                  <a:extLst>
                    <a:ext uri="{A12FA001-AC4F-418D-AE19-62706E023703}">
                      <ahyp:hlinkClr xmlns:ahyp="http://schemas.microsoft.com/office/drawing/2018/hyperlinkcolor" val="tx"/>
                    </a:ext>
                  </a:extLst>
                </a:hlinkClick>
              </a:rPr>
              <a:t>https://ccq.nl/?page_id=4</a:t>
            </a:r>
            <a:r>
              <a:rPr lang="en-US" dirty="0"/>
              <a:t>. Accessed February 22, 2023; 3. Zhou Z, et al. </a:t>
            </a:r>
            <a:r>
              <a:rPr lang="en-US" i="1" dirty="0"/>
              <a:t>Int J Chron Obstruct </a:t>
            </a:r>
            <a:r>
              <a:rPr lang="en-US" i="1" dirty="0" err="1"/>
              <a:t>Pulmon</a:t>
            </a:r>
            <a:r>
              <a:rPr lang="en-US" i="1" dirty="0"/>
              <a:t> Dis</a:t>
            </a:r>
            <a:r>
              <a:rPr lang="en-US" dirty="0"/>
              <a:t>. 2018;13:1675-1682.</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COPD Control Questionnaire (CCQ)</a:t>
            </a:r>
            <a:endParaRPr lang="en-GB" dirty="0"/>
          </a:p>
        </p:txBody>
      </p:sp>
      <p:sp>
        <p:nvSpPr>
          <p:cNvPr id="9" name="object 3">
            <a:extLst>
              <a:ext uri="{FF2B5EF4-FFF2-40B4-BE49-F238E27FC236}">
                <a16:creationId xmlns:a16="http://schemas.microsoft.com/office/drawing/2014/main" id="{534F8F53-978D-45A9-89A3-001026356C46}"/>
              </a:ext>
            </a:extLst>
          </p:cNvPr>
          <p:cNvSpPr txBox="1"/>
          <p:nvPr/>
        </p:nvSpPr>
        <p:spPr>
          <a:xfrm>
            <a:off x="365125" y="1303338"/>
            <a:ext cx="11456379" cy="1415772"/>
          </a:xfrm>
          <a:prstGeom prst="rect">
            <a:avLst/>
          </a:prstGeom>
        </p:spPr>
        <p:txBody>
          <a:bodyPr vert="horz" wrap="square" lIns="0" tIns="0" rIns="0" bIns="0" rtlCol="0">
            <a:spAutoFit/>
          </a:bodyPr>
          <a:lstStyle/>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CCQ was developed to measure the health status of patients with COPD and comprises 10 items </a:t>
            </a:r>
            <a:r>
              <a:rPr kumimoji="0" lang="en-US" sz="1100" b="0" i="0" u="none" strike="noStrike" kern="1200" cap="none" spc="0" normalizeH="0" baseline="0" noProof="0" dirty="0" err="1">
                <a:ln>
                  <a:noFill/>
                </a:ln>
                <a:solidFill>
                  <a:srgbClr val="000000"/>
                </a:solidFill>
                <a:effectLst/>
                <a:uLnTx/>
                <a:uFillTx/>
                <a:latin typeface="Arial"/>
                <a:ea typeface="+mn-ea"/>
                <a:cs typeface="Arial"/>
              </a:rPr>
              <a:t>categorised</a:t>
            </a:r>
            <a:r>
              <a:rPr kumimoji="0" lang="en-US" sz="1100" b="0" i="0" u="none" strike="noStrike" kern="1200" cap="none" spc="0" normalizeH="0" baseline="0" noProof="0" dirty="0">
                <a:ln>
                  <a:noFill/>
                </a:ln>
                <a:solidFill>
                  <a:srgbClr val="000000"/>
                </a:solidFill>
                <a:effectLst/>
                <a:uLnTx/>
                <a:uFillTx/>
                <a:latin typeface="Arial"/>
                <a:ea typeface="+mn-ea"/>
                <a:cs typeface="Arial"/>
              </a:rPr>
              <a:t> into 3 domains:</a:t>
            </a:r>
            <a:r>
              <a:rPr kumimoji="0" lang="en-US" sz="1100" b="0" i="0" u="none" strike="noStrike" kern="1200" cap="none" spc="0" normalizeH="0" baseline="30000" noProof="0" dirty="0">
                <a:ln>
                  <a:noFill/>
                </a:ln>
                <a:solidFill>
                  <a:srgbClr val="000000"/>
                </a:solidFill>
                <a:effectLst/>
                <a:uLnTx/>
                <a:uFillTx/>
                <a:latin typeface="Arial"/>
                <a:ea typeface="+mn-ea"/>
                <a:cs typeface="Arial"/>
              </a:rPr>
              <a:t>3</a:t>
            </a:r>
          </a:p>
          <a:p>
            <a:pPr marL="344488" marR="0" lvl="0" indent="-171450" algn="l" defTabSz="121917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Symptoms</a:t>
            </a:r>
          </a:p>
          <a:p>
            <a:pPr marL="344488" marR="0" lvl="0" indent="-171450" algn="l" defTabSz="121917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Functional state</a:t>
            </a:r>
          </a:p>
          <a:p>
            <a:pPr marL="344488" marR="0" lvl="0" indent="-171450" algn="l" defTabSz="121917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Mental state</a:t>
            </a:r>
          </a:p>
          <a:p>
            <a:pPr marL="171450" marR="0" lvl="0" indent="-171450" algn="l" defTabSz="1219170" rtl="0" eaLnBrk="1" fontAlgn="auto" latinLnBrk="0" hangingPunct="1">
              <a:lnSpc>
                <a:spcPct val="100000"/>
              </a:lnSpc>
              <a:spcBef>
                <a:spcPts val="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Two versions of the CCQ are available:</a:t>
            </a:r>
          </a:p>
          <a:p>
            <a:pPr marL="344488" marR="0" lvl="0" indent="-171450" algn="l" defTabSz="121917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One version assessing symptoms over the past week1 and one over the past 24 hours</a:t>
            </a:r>
            <a:r>
              <a:rPr kumimoji="0" lang="en-US" sz="1100" b="0" i="0" u="none" strike="noStrike" kern="1200" cap="none" spc="0" normalizeH="0" baseline="30000" noProof="0" dirty="0">
                <a:ln>
                  <a:noFill/>
                </a:ln>
                <a:solidFill>
                  <a:srgbClr val="000000"/>
                </a:solidFill>
                <a:effectLst/>
                <a:uLnTx/>
                <a:uFillTx/>
                <a:latin typeface="Arial"/>
                <a:ea typeface="+mn-ea"/>
                <a:cs typeface="Arial"/>
              </a:rPr>
              <a:t>2</a:t>
            </a:r>
          </a:p>
          <a:p>
            <a:pPr marL="344488" marR="0" lvl="0" indent="-171450" algn="l" defTabSz="1219170" rtl="0" eaLnBrk="1" fontAlgn="auto" latinLnBrk="0" hangingPunct="1">
              <a:lnSpc>
                <a:spcPct val="100000"/>
              </a:lnSpc>
              <a:spcBef>
                <a:spcPts val="0"/>
              </a:spcBef>
              <a:spcAft>
                <a:spcPts val="300"/>
              </a:spcAft>
              <a:buClr>
                <a:srgbClr val="000000"/>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Sample questions include the following:</a:t>
            </a:r>
            <a:r>
              <a:rPr kumimoji="0" lang="en-US" sz="1100" b="0" i="0" u="none" strike="noStrike" kern="1200" cap="none" spc="0" normalizeH="0" baseline="30000" noProof="0" dirty="0">
                <a:ln>
                  <a:noFill/>
                </a:ln>
                <a:solidFill>
                  <a:srgbClr val="000000"/>
                </a:solidFill>
                <a:effectLst/>
                <a:uLnTx/>
                <a:uFillTx/>
                <a:latin typeface="Arial"/>
                <a:ea typeface="+mn-ea"/>
                <a:cs typeface="Arial"/>
              </a:rPr>
              <a:t>1,2</a:t>
            </a:r>
          </a:p>
        </p:txBody>
      </p:sp>
      <p:graphicFrame>
        <p:nvGraphicFramePr>
          <p:cNvPr id="7" name="object 3">
            <a:extLst>
              <a:ext uri="{FF2B5EF4-FFF2-40B4-BE49-F238E27FC236}">
                <a16:creationId xmlns:a16="http://schemas.microsoft.com/office/drawing/2014/main" id="{81EFB3F1-52E0-8ABE-AE9B-22BE47E50E5F}"/>
              </a:ext>
            </a:extLst>
          </p:cNvPr>
          <p:cNvGraphicFramePr>
            <a:graphicFrameLocks noGrp="1"/>
          </p:cNvGraphicFramePr>
          <p:nvPr/>
        </p:nvGraphicFramePr>
        <p:xfrm>
          <a:off x="367286" y="3016825"/>
          <a:ext cx="11457426" cy="2148840"/>
        </p:xfrm>
        <a:graphic>
          <a:graphicData uri="http://schemas.openxmlformats.org/drawingml/2006/table">
            <a:tbl>
              <a:tblPr firstRow="1" bandRow="1">
                <a:tableStyleId>{2D5ABB26-0587-4C30-8999-92F81FD0307C}</a:tableStyleId>
              </a:tblPr>
              <a:tblGrid>
                <a:gridCol w="4530639">
                  <a:extLst>
                    <a:ext uri="{9D8B030D-6E8A-4147-A177-3AD203B41FA5}">
                      <a16:colId xmlns:a16="http://schemas.microsoft.com/office/drawing/2014/main" val="20000"/>
                    </a:ext>
                  </a:extLst>
                </a:gridCol>
                <a:gridCol w="989541">
                  <a:extLst>
                    <a:ext uri="{9D8B030D-6E8A-4147-A177-3AD203B41FA5}">
                      <a16:colId xmlns:a16="http://schemas.microsoft.com/office/drawing/2014/main" val="20001"/>
                    </a:ext>
                  </a:extLst>
                </a:gridCol>
                <a:gridCol w="989541">
                  <a:extLst>
                    <a:ext uri="{9D8B030D-6E8A-4147-A177-3AD203B41FA5}">
                      <a16:colId xmlns:a16="http://schemas.microsoft.com/office/drawing/2014/main" val="20002"/>
                    </a:ext>
                  </a:extLst>
                </a:gridCol>
                <a:gridCol w="989541">
                  <a:extLst>
                    <a:ext uri="{9D8B030D-6E8A-4147-A177-3AD203B41FA5}">
                      <a16:colId xmlns:a16="http://schemas.microsoft.com/office/drawing/2014/main" val="20003"/>
                    </a:ext>
                  </a:extLst>
                </a:gridCol>
                <a:gridCol w="989541">
                  <a:extLst>
                    <a:ext uri="{9D8B030D-6E8A-4147-A177-3AD203B41FA5}">
                      <a16:colId xmlns:a16="http://schemas.microsoft.com/office/drawing/2014/main" val="20004"/>
                    </a:ext>
                  </a:extLst>
                </a:gridCol>
                <a:gridCol w="989541">
                  <a:extLst>
                    <a:ext uri="{9D8B030D-6E8A-4147-A177-3AD203B41FA5}">
                      <a16:colId xmlns:a16="http://schemas.microsoft.com/office/drawing/2014/main" val="20005"/>
                    </a:ext>
                  </a:extLst>
                </a:gridCol>
                <a:gridCol w="989541">
                  <a:extLst>
                    <a:ext uri="{9D8B030D-6E8A-4147-A177-3AD203B41FA5}">
                      <a16:colId xmlns:a16="http://schemas.microsoft.com/office/drawing/2014/main" val="20006"/>
                    </a:ext>
                  </a:extLst>
                </a:gridCol>
                <a:gridCol w="989541">
                  <a:extLst>
                    <a:ext uri="{9D8B030D-6E8A-4147-A177-3AD203B41FA5}">
                      <a16:colId xmlns:a16="http://schemas.microsoft.com/office/drawing/2014/main" val="20007"/>
                    </a:ext>
                  </a:extLst>
                </a:gridCol>
              </a:tblGrid>
              <a:tr h="0">
                <a:tc gridSpan="8">
                  <a:txBody>
                    <a:bodyPr/>
                    <a:lstStyle/>
                    <a:p>
                      <a:pPr algn="l" rtl="0" fontAlgn="ctr"/>
                      <a:r>
                        <a:rPr lang="en-US" sz="1100" b="1" i="0" u="none" strike="noStrike" dirty="0">
                          <a:solidFill>
                            <a:srgbClr val="FFFFFF"/>
                          </a:solidFill>
                          <a:effectLst/>
                          <a:latin typeface="Arial" panose="020B0604020202020204" pitchFamily="34" charset="0"/>
                        </a:rPr>
                        <a:t>Please circle the number of the response that best describes how you have been feeling during the past week (only 1 response for each question)</a:t>
                      </a:r>
                    </a:p>
                  </a:txBody>
                  <a:tcPr marL="45720" marR="45720" anchor="ctr">
                    <a:lnL>
                      <a:noFill/>
                    </a:lnL>
                    <a:lnR>
                      <a:noFill/>
                    </a:lnR>
                    <a:lnT>
                      <a:noFill/>
                    </a:lnT>
                    <a:lnB>
                      <a:noFill/>
                    </a:lnB>
                    <a:lnTlToBr w="12700" cmpd="sng">
                      <a:noFill/>
                      <a:prstDash val="solid"/>
                    </a:lnTlToBr>
                    <a:lnBlToTr w="12700" cmpd="sng">
                      <a:noFill/>
                      <a:prstDash val="solid"/>
                    </a:lnBlToTr>
                    <a:solidFill>
                      <a:srgbClr val="F36633"/>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10000"/>
                  </a:ext>
                </a:extLst>
              </a:tr>
              <a:tr h="0">
                <a:tc>
                  <a:txBody>
                    <a:bodyPr/>
                    <a:lstStyle/>
                    <a:p>
                      <a:pPr algn="l" rtl="0" fontAlgn="ctr"/>
                      <a:r>
                        <a:rPr lang="en-US" sz="1100" b="0" i="0" u="none" strike="noStrike" dirty="0">
                          <a:solidFill>
                            <a:schemeClr val="tx1"/>
                          </a:solidFill>
                          <a:effectLst/>
                          <a:latin typeface="Arial" panose="020B0604020202020204" pitchFamily="34" charset="0"/>
                        </a:rPr>
                        <a:t>On average,</a:t>
                      </a:r>
                      <a:r>
                        <a:rPr lang="en-US" sz="1100" b="1" i="0" u="none" strike="noStrike" dirty="0">
                          <a:solidFill>
                            <a:schemeClr val="tx1"/>
                          </a:solidFill>
                          <a:effectLst/>
                          <a:latin typeface="Arial" panose="020B0604020202020204" pitchFamily="34" charset="0"/>
                        </a:rPr>
                        <a:t> during the past week, </a:t>
                      </a:r>
                      <a:r>
                        <a:rPr lang="en-US" sz="1100" b="0" i="0" u="none" strike="noStrike" dirty="0">
                          <a:solidFill>
                            <a:schemeClr val="tx1"/>
                          </a:solidFill>
                          <a:effectLst/>
                          <a:latin typeface="Arial" panose="020B0604020202020204" pitchFamily="34" charset="0"/>
                        </a:rPr>
                        <a:t>how often did you feel</a:t>
                      </a:r>
                    </a:p>
                  </a:txBody>
                  <a:tcPr marL="45720" marR="45720" anchor="ctr">
                    <a:lnL>
                      <a:noFill/>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Never</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Hardly ever</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A few times</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Several times</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Many times</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A great many times</a:t>
                      </a:r>
                    </a:p>
                  </a:txBody>
                  <a:tcPr marL="45720" marR="45720" anchor="ctr">
                    <a:lnL w="12700">
                      <a:noFill/>
                      <a:prstDash val="solid"/>
                    </a:lnL>
                    <a:lnR w="12700">
                      <a:noFill/>
                      <a:prstDash val="solid"/>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tc>
                  <a:txBody>
                    <a:bodyPr/>
                    <a:lstStyle/>
                    <a:p>
                      <a:pPr algn="ctr" rtl="0" fontAlgn="ctr"/>
                      <a:r>
                        <a:rPr lang="en-GB" sz="1100" b="1" i="0" u="none" strike="noStrike" dirty="0">
                          <a:solidFill>
                            <a:schemeClr val="tx1"/>
                          </a:solidFill>
                          <a:effectLst/>
                          <a:latin typeface="Arial" panose="020B0604020202020204" pitchFamily="34" charset="0"/>
                        </a:rPr>
                        <a:t>Almost all the time</a:t>
                      </a:r>
                    </a:p>
                  </a:txBody>
                  <a:tcPr marL="45720" marR="45720" anchor="ctr">
                    <a:lnL w="12700">
                      <a:noFill/>
                      <a:prstDash val="solid"/>
                    </a:lnL>
                    <a:lnR>
                      <a:noFill/>
                    </a:lnR>
                    <a:lnT>
                      <a:noFill/>
                    </a:lnT>
                    <a:lnB w="12700">
                      <a:noFill/>
                      <a:prstDash val="solid"/>
                    </a:lnB>
                    <a:lnTlToBr w="12700" cmpd="sng">
                      <a:noFill/>
                      <a:prstDash val="solid"/>
                    </a:lnTlToBr>
                    <a:lnBlToTr w="12700" cmpd="sng">
                      <a:noFill/>
                      <a:prstDash val="solid"/>
                    </a:lnBlToTr>
                    <a:solidFill>
                      <a:schemeClr val="tx2">
                        <a:lumMod val="20000"/>
                        <a:lumOff val="80000"/>
                      </a:schemeClr>
                    </a:solidFill>
                  </a:tcPr>
                </a:tc>
                <a:extLst>
                  <a:ext uri="{0D108BD9-81ED-4DB2-BD59-A6C34878D82A}">
                    <a16:rowId xmlns:a16="http://schemas.microsoft.com/office/drawing/2014/main" val="10001"/>
                  </a:ext>
                </a:extLst>
              </a:tr>
              <a:tr h="365760">
                <a:tc>
                  <a:txBody>
                    <a:bodyPr/>
                    <a:lstStyle/>
                    <a:p>
                      <a:pPr algn="l" rtl="0" fontAlgn="ctr"/>
                      <a:r>
                        <a:rPr lang="en-US" sz="1100" b="0" i="0" u="none" strike="noStrike" dirty="0">
                          <a:solidFill>
                            <a:schemeClr val="tx1"/>
                          </a:solidFill>
                          <a:effectLst/>
                          <a:latin typeface="Arial" panose="020B0604020202020204" pitchFamily="34" charset="0"/>
                        </a:rPr>
                        <a:t>1. Short of breath </a:t>
                      </a:r>
                      <a:r>
                        <a:rPr lang="en-US" sz="1100" b="1" i="0" u="none" strike="noStrike" dirty="0">
                          <a:solidFill>
                            <a:schemeClr val="tx1"/>
                          </a:solidFill>
                          <a:effectLst/>
                          <a:latin typeface="Arial" panose="020B0604020202020204" pitchFamily="34" charset="0"/>
                        </a:rPr>
                        <a:t>at rest</a:t>
                      </a:r>
                      <a:r>
                        <a:rPr lang="en-US" sz="1100" b="0" i="0" u="none" strike="noStrike" dirty="0">
                          <a:solidFill>
                            <a:schemeClr val="tx1"/>
                          </a:solidFill>
                          <a:effectLst/>
                          <a:latin typeface="Arial" panose="020B0604020202020204" pitchFamily="34" charset="0"/>
                        </a:rPr>
                        <a:t>?</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0</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1</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2</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3</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4</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5</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6</a:t>
                      </a:r>
                    </a:p>
                  </a:txBody>
                  <a:tcPr marL="45720" marR="45720" anchor="ctr">
                    <a:lnL>
                      <a:noFill/>
                    </a:lnL>
                    <a:lnR>
                      <a:noFill/>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65760">
                <a:tc>
                  <a:txBody>
                    <a:bodyPr/>
                    <a:lstStyle/>
                    <a:p>
                      <a:pPr algn="l" rtl="0" fontAlgn="ctr"/>
                      <a:r>
                        <a:rPr lang="en-US" sz="1100" b="0" i="0" u="none" strike="noStrike" dirty="0">
                          <a:solidFill>
                            <a:schemeClr val="tx1"/>
                          </a:solidFill>
                          <a:effectLst/>
                          <a:latin typeface="Arial" panose="020B0604020202020204" pitchFamily="34" charset="0"/>
                        </a:rPr>
                        <a:t>2. Short of breath doing </a:t>
                      </a:r>
                      <a:r>
                        <a:rPr lang="en-US" sz="1100" b="1" i="0" u="none" strike="noStrike" dirty="0">
                          <a:solidFill>
                            <a:schemeClr val="tx1"/>
                          </a:solidFill>
                          <a:effectLst/>
                          <a:latin typeface="Arial" panose="020B0604020202020204" pitchFamily="34" charset="0"/>
                        </a:rPr>
                        <a:t>physical activities</a:t>
                      </a:r>
                      <a:r>
                        <a:rPr lang="en-US" sz="1100" b="0" i="0" u="none" strike="noStrike" dirty="0">
                          <a:solidFill>
                            <a:schemeClr val="tx1"/>
                          </a:solidFill>
                          <a:effectLst/>
                          <a:latin typeface="Arial" panose="020B0604020202020204" pitchFamily="34" charset="0"/>
                        </a:rPr>
                        <a:t>?</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0</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1</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2</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3</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4</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5</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6</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65760">
                <a:tc>
                  <a:txBody>
                    <a:bodyPr/>
                    <a:lstStyle/>
                    <a:p>
                      <a:pPr algn="l" rtl="0" fontAlgn="ctr"/>
                      <a:r>
                        <a:rPr lang="en-US" sz="1100" b="0" i="0" u="none" strike="noStrike" dirty="0">
                          <a:solidFill>
                            <a:schemeClr val="tx1"/>
                          </a:solidFill>
                          <a:effectLst/>
                          <a:latin typeface="Arial" panose="020B0604020202020204" pitchFamily="34" charset="0"/>
                        </a:rPr>
                        <a:t>3. </a:t>
                      </a:r>
                      <a:r>
                        <a:rPr lang="en-US" sz="1100" b="1" i="0" u="none" strike="noStrike" dirty="0">
                          <a:solidFill>
                            <a:schemeClr val="tx1"/>
                          </a:solidFill>
                          <a:effectLst/>
                          <a:latin typeface="Arial" panose="020B0604020202020204" pitchFamily="34" charset="0"/>
                        </a:rPr>
                        <a:t>Concerned </a:t>
                      </a:r>
                      <a:r>
                        <a:rPr lang="en-US" sz="1100" b="0" i="0" u="none" strike="noStrike" dirty="0">
                          <a:solidFill>
                            <a:schemeClr val="tx1"/>
                          </a:solidFill>
                          <a:effectLst/>
                          <a:latin typeface="Arial" panose="020B0604020202020204" pitchFamily="34" charset="0"/>
                        </a:rPr>
                        <a:t>about getting a cold or your breathing getting worse?</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0</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1</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2</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3</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4</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5</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6</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365760">
                <a:tc>
                  <a:txBody>
                    <a:bodyPr/>
                    <a:lstStyle/>
                    <a:p>
                      <a:pPr algn="l" rtl="0" fontAlgn="ctr"/>
                      <a:r>
                        <a:rPr lang="en-US" sz="1100" b="0" i="0" u="none" strike="noStrike" dirty="0">
                          <a:solidFill>
                            <a:schemeClr val="tx1"/>
                          </a:solidFill>
                          <a:effectLst/>
                          <a:latin typeface="Arial" panose="020B0604020202020204" pitchFamily="34" charset="0"/>
                        </a:rPr>
                        <a:t>4. </a:t>
                      </a:r>
                      <a:r>
                        <a:rPr lang="en-US" sz="1100" b="1" i="0" u="none" strike="noStrike" dirty="0">
                          <a:solidFill>
                            <a:schemeClr val="tx1"/>
                          </a:solidFill>
                          <a:effectLst/>
                          <a:latin typeface="Arial" panose="020B0604020202020204" pitchFamily="34" charset="0"/>
                        </a:rPr>
                        <a:t>Depressed (down) </a:t>
                      </a:r>
                      <a:r>
                        <a:rPr lang="en-US" sz="1100" b="0" i="0" u="none" strike="noStrike" dirty="0">
                          <a:solidFill>
                            <a:schemeClr val="tx1"/>
                          </a:solidFill>
                          <a:effectLst/>
                          <a:latin typeface="Arial" panose="020B0604020202020204" pitchFamily="34" charset="0"/>
                        </a:rPr>
                        <a:t>because of your breathing problems?</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0</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1</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2</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3</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4</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5</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rtl="0" fontAlgn="ctr"/>
                      <a:r>
                        <a:rPr lang="en-GB" sz="1100" b="0" i="0" u="none" strike="noStrike" dirty="0">
                          <a:solidFill>
                            <a:schemeClr val="tx1"/>
                          </a:solidFill>
                          <a:effectLst/>
                          <a:latin typeface="Arial" panose="020B0604020202020204" pitchFamily="34" charset="0"/>
                        </a:rPr>
                        <a:t>6</a:t>
                      </a:r>
                    </a:p>
                  </a:txBody>
                  <a:tcPr marL="45720" marR="45720" anchor="ctr">
                    <a:lnL>
                      <a:noFill/>
                    </a:lnL>
                    <a:lnR>
                      <a:noFill/>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Tree>
    <p:custDataLst>
      <p:tags r:id="rId1"/>
    </p:custDataLst>
    <p:extLst>
      <p:ext uri="{BB962C8B-B14F-4D97-AF65-F5344CB8AC3E}">
        <p14:creationId xmlns:p14="http://schemas.microsoft.com/office/powerpoint/2010/main" val="341659940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77</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05F1833-66E0-4414-808C-A430E597948F}"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Note: The full questionnaire is available from </a:t>
            </a:r>
            <a:r>
              <a:rPr lang="en-US" dirty="0">
                <a:solidFill>
                  <a:schemeClr val="tx2"/>
                </a:solidFill>
                <a:hlinkClick r:id="rId3">
                  <a:extLst>
                    <a:ext uri="{A12FA001-AC4F-418D-AE19-62706E023703}">
                      <ahyp:hlinkClr xmlns:ahyp="http://schemas.microsoft.com/office/drawing/2018/hyperlinkcolor" val="tx"/>
                    </a:ext>
                  </a:extLst>
                </a:hlinkClick>
              </a:rPr>
              <a:t>http://www.ema.europa.eu/docs/en_GB/document_library/Other/2015/04/WC500185443.pdf</a:t>
            </a:r>
            <a:r>
              <a:rPr lang="en-US" dirty="0">
                <a:solidFill>
                  <a:schemeClr val="tx2"/>
                </a:solidFill>
              </a:rPr>
              <a:t>. </a:t>
            </a:r>
          </a:p>
          <a:p>
            <a:r>
              <a:rPr lang="en-US" dirty="0"/>
              <a:t>1. Evidera E-RS user manual Version 3.1. </a:t>
            </a:r>
            <a:r>
              <a:rPr lang="en-US" dirty="0">
                <a:solidFill>
                  <a:schemeClr val="tx2"/>
                </a:solidFill>
                <a:hlinkClick r:id="rId3">
                  <a:extLst>
                    <a:ext uri="{A12FA001-AC4F-418D-AE19-62706E023703}">
                      <ahyp:hlinkClr xmlns:ahyp="http://schemas.microsoft.com/office/drawing/2018/hyperlinkcolor" val="tx"/>
                    </a:ext>
                  </a:extLst>
                </a:hlinkClick>
              </a:rPr>
              <a:t>http://www.ema.europa.eu/docs/en_GB/document_library/Other/2015/04/WC500185443.pdf</a:t>
            </a:r>
            <a:r>
              <a:rPr lang="en-US" dirty="0"/>
              <a:t>. Accessed February 22, 2023; 2. EXACT-PRO Initiative;2021;1-4;E-RS COPD.</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Evaluating Respiratory Symptoms in COPD (E-RS: COPD)</a:t>
            </a:r>
            <a:endParaRPr lang="en-GB" dirty="0"/>
          </a:p>
        </p:txBody>
      </p:sp>
      <p:sp>
        <p:nvSpPr>
          <p:cNvPr id="9" name="object 3">
            <a:extLst>
              <a:ext uri="{FF2B5EF4-FFF2-40B4-BE49-F238E27FC236}">
                <a16:creationId xmlns:a16="http://schemas.microsoft.com/office/drawing/2014/main" id="{534F8F53-978D-45A9-89A3-001026356C46}"/>
              </a:ext>
            </a:extLst>
          </p:cNvPr>
          <p:cNvSpPr txBox="1"/>
          <p:nvPr/>
        </p:nvSpPr>
        <p:spPr>
          <a:xfrm>
            <a:off x="365125" y="1141413"/>
            <a:ext cx="11456379" cy="1492716"/>
          </a:xfrm>
          <a:prstGeom prst="rect">
            <a:avLst/>
          </a:prstGeom>
        </p:spPr>
        <p:txBody>
          <a:bodyPr vert="horz" wrap="square" lIns="0" tIns="0" rIns="0" bIns="0" rtlCol="0">
            <a:spAutoFit/>
          </a:bodyPr>
          <a:lstStyle/>
          <a:p>
            <a:pPr marL="171450" marR="0" lvl="0" indent="-1714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E-RS: COPD is used to measure the effect of treatment on the severity of respiratory symptoms in stable COPD</a:t>
            </a:r>
            <a:r>
              <a:rPr kumimoji="0" lang="en-US" sz="1100" b="0" i="0" u="none" strike="noStrike" kern="1200" cap="none" spc="0" normalizeH="0" baseline="30000" noProof="0" dirty="0">
                <a:ln>
                  <a:noFill/>
                </a:ln>
                <a:solidFill>
                  <a:srgbClr val="000000"/>
                </a:solidFill>
                <a:effectLst/>
                <a:uLnTx/>
                <a:uFillTx/>
                <a:latin typeface="Arial"/>
                <a:ea typeface="+mn-ea"/>
                <a:cs typeface="Arial"/>
              </a:rPr>
              <a:t>1,2</a:t>
            </a:r>
          </a:p>
          <a:p>
            <a:pPr marL="171450" marR="0" lvl="0" indent="-1714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It contains 11 respiratory symptom items and is a part of the 14-item EXAcerbations of Chronic pulmonary disease Tool (EXACT) which is used to quantify and measure COPD exacerbations</a:t>
            </a:r>
            <a:r>
              <a:rPr kumimoji="0" lang="en-US" sz="1100" b="0" i="0" u="none" strike="noStrike" kern="1200" cap="none" spc="0" normalizeH="0" baseline="30000" noProof="0" dirty="0">
                <a:ln>
                  <a:noFill/>
                </a:ln>
                <a:solidFill>
                  <a:srgbClr val="000000"/>
                </a:solidFill>
                <a:effectLst/>
                <a:uLnTx/>
                <a:uFillTx/>
                <a:latin typeface="Arial"/>
                <a:ea typeface="+mn-ea"/>
                <a:cs typeface="Arial"/>
              </a:rPr>
              <a:t>1,2</a:t>
            </a:r>
          </a:p>
          <a:p>
            <a:pPr marL="171450" marR="0" lvl="0" indent="-1714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E-RS: COPD is always performed together with the EXACT, allowing 1 set of questions to have 2 uses</a:t>
            </a:r>
            <a:r>
              <a:rPr kumimoji="0" lang="en-US" sz="1100" b="0" i="0" u="none" strike="noStrike" kern="1200" cap="none" spc="0" normalizeH="0" baseline="30000" noProof="0" dirty="0">
                <a:ln>
                  <a:noFill/>
                </a:ln>
                <a:solidFill>
                  <a:srgbClr val="000000"/>
                </a:solidFill>
                <a:effectLst/>
                <a:uLnTx/>
                <a:uFillTx/>
                <a:latin typeface="Arial"/>
                <a:ea typeface="+mn-ea"/>
                <a:cs typeface="Arial"/>
              </a:rPr>
              <a:t>1,2</a:t>
            </a:r>
          </a:p>
          <a:p>
            <a:pPr marL="171450" marR="0" lvl="0" indent="-1714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 RS-Total score is computed by taking the sum of the items comprising the questionnaire and ranges from 0 to 40, with higher values indicating more severe respiratory symptoms</a:t>
            </a:r>
            <a:r>
              <a:rPr kumimoji="0" lang="en-US" sz="1100" b="0" i="0" u="none" strike="noStrike" kern="1200" cap="none" spc="0" normalizeH="0" baseline="30000" noProof="0" dirty="0">
                <a:ln>
                  <a:noFill/>
                </a:ln>
                <a:solidFill>
                  <a:srgbClr val="000000"/>
                </a:solidFill>
                <a:effectLst/>
                <a:uLnTx/>
                <a:uFillTx/>
                <a:latin typeface="Arial"/>
                <a:ea typeface="+mn-ea"/>
                <a:cs typeface="Arial"/>
              </a:rPr>
              <a:t>1</a:t>
            </a:r>
          </a:p>
          <a:p>
            <a:pPr marL="171450" marR="0" lvl="0" indent="-171450" algn="l" defTabSz="1219170" rtl="0" eaLnBrk="1" fontAlgn="auto" latinLnBrk="0" hangingPunct="1">
              <a:lnSpc>
                <a:spcPct val="100000"/>
              </a:lnSpc>
              <a:spcBef>
                <a:spcPts val="300"/>
              </a:spcBef>
              <a:spcAft>
                <a:spcPts val="300"/>
              </a:spcAft>
              <a:buClr>
                <a:srgbClr val="F36633"/>
              </a:buClr>
              <a:buSzTx/>
              <a:buFont typeface="Arial" panose="020B0604020202020204" pitchFamily="34" charset="0"/>
              <a:buChar char="•"/>
              <a:tabLst>
                <a:tab pos="224154" algn="l"/>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There are also 3 subscales which are determined from the sum of the relevant items: RS-Breathlessness, RS-Cough &amp; Sputum and RS-Chest Symptoms</a:t>
            </a:r>
            <a:r>
              <a:rPr kumimoji="0" lang="en-US" sz="1100" b="0" i="0" u="none" strike="noStrike" kern="1200" cap="none" spc="0" normalizeH="0" baseline="30000" noProof="0" dirty="0">
                <a:ln>
                  <a:noFill/>
                </a:ln>
                <a:solidFill>
                  <a:srgbClr val="000000"/>
                </a:solidFill>
                <a:effectLst/>
                <a:uLnTx/>
                <a:uFillTx/>
                <a:latin typeface="Arial"/>
                <a:ea typeface="+mn-ea"/>
                <a:cs typeface="Arial"/>
              </a:rPr>
              <a:t>1</a:t>
            </a:r>
          </a:p>
        </p:txBody>
      </p:sp>
      <p:graphicFrame>
        <p:nvGraphicFramePr>
          <p:cNvPr id="2" name="object 7">
            <a:extLst>
              <a:ext uri="{FF2B5EF4-FFF2-40B4-BE49-F238E27FC236}">
                <a16:creationId xmlns:a16="http://schemas.microsoft.com/office/drawing/2014/main" id="{449CA13C-EF23-7916-FC68-07791F218F7C}"/>
              </a:ext>
            </a:extLst>
          </p:cNvPr>
          <p:cNvGraphicFramePr>
            <a:graphicFrameLocks noGrp="1"/>
          </p:cNvGraphicFramePr>
          <p:nvPr/>
        </p:nvGraphicFramePr>
        <p:xfrm>
          <a:off x="365125" y="2726728"/>
          <a:ext cx="11457432" cy="2590800"/>
        </p:xfrm>
        <a:graphic>
          <a:graphicData uri="http://schemas.openxmlformats.org/drawingml/2006/table">
            <a:tbl>
              <a:tblPr firstRow="1" bandRow="1">
                <a:tableStyleId>{2D5ABB26-0587-4C30-8999-92F81FD0307C}</a:tableStyleId>
              </a:tblPr>
              <a:tblGrid>
                <a:gridCol w="3672721">
                  <a:extLst>
                    <a:ext uri="{9D8B030D-6E8A-4147-A177-3AD203B41FA5}">
                      <a16:colId xmlns:a16="http://schemas.microsoft.com/office/drawing/2014/main" val="20000"/>
                    </a:ext>
                  </a:extLst>
                </a:gridCol>
                <a:gridCol w="7784711">
                  <a:extLst>
                    <a:ext uri="{9D8B030D-6E8A-4147-A177-3AD203B41FA5}">
                      <a16:colId xmlns:a16="http://schemas.microsoft.com/office/drawing/2014/main" val="20001"/>
                    </a:ext>
                  </a:extLst>
                </a:gridCol>
              </a:tblGrid>
              <a:tr h="205618">
                <a:tc rowSpan="5">
                  <a:txBody>
                    <a:bodyPr/>
                    <a:lstStyle/>
                    <a:p>
                      <a:pPr marL="91440">
                        <a:lnSpc>
                          <a:spcPct val="100000"/>
                        </a:lnSpc>
                        <a:spcBef>
                          <a:spcPts val="225"/>
                        </a:spcBef>
                      </a:pPr>
                      <a:r>
                        <a:rPr sz="1100" b="1" spc="-5" dirty="0">
                          <a:solidFill>
                            <a:schemeClr val="bg1"/>
                          </a:solidFill>
                          <a:latin typeface="+mn-lt"/>
                          <a:cs typeface="Arial"/>
                        </a:rPr>
                        <a:t>1.</a:t>
                      </a:r>
                      <a:r>
                        <a:rPr sz="1100" b="1" spc="-20" dirty="0">
                          <a:solidFill>
                            <a:schemeClr val="bg1"/>
                          </a:solidFill>
                          <a:latin typeface="+mn-lt"/>
                          <a:cs typeface="Arial"/>
                        </a:rPr>
                        <a:t> </a:t>
                      </a:r>
                      <a:r>
                        <a:rPr sz="1100" b="1" spc="-5" dirty="0">
                          <a:solidFill>
                            <a:schemeClr val="bg1"/>
                          </a:solidFill>
                          <a:latin typeface="+mn-lt"/>
                          <a:cs typeface="Arial"/>
                        </a:rPr>
                        <a:t>Did</a:t>
                      </a:r>
                      <a:r>
                        <a:rPr sz="1100" b="1" spc="10" dirty="0">
                          <a:solidFill>
                            <a:schemeClr val="bg1"/>
                          </a:solidFill>
                          <a:latin typeface="+mn-lt"/>
                          <a:cs typeface="Arial"/>
                        </a:rPr>
                        <a:t> </a:t>
                      </a:r>
                      <a:r>
                        <a:rPr sz="1100" b="1" spc="-5" dirty="0">
                          <a:solidFill>
                            <a:schemeClr val="bg1"/>
                          </a:solidFill>
                          <a:latin typeface="+mn-lt"/>
                          <a:cs typeface="Arial"/>
                        </a:rPr>
                        <a:t>your </a:t>
                      </a:r>
                      <a:r>
                        <a:rPr sz="1100" b="1" dirty="0">
                          <a:solidFill>
                            <a:schemeClr val="bg1"/>
                          </a:solidFill>
                          <a:latin typeface="+mn-lt"/>
                          <a:cs typeface="Arial"/>
                        </a:rPr>
                        <a:t>chest</a:t>
                      </a:r>
                      <a:r>
                        <a:rPr sz="1100" b="1" spc="-35" dirty="0">
                          <a:solidFill>
                            <a:schemeClr val="bg1"/>
                          </a:solidFill>
                          <a:latin typeface="+mn-lt"/>
                          <a:cs typeface="Arial"/>
                        </a:rPr>
                        <a:t> </a:t>
                      </a:r>
                      <a:r>
                        <a:rPr sz="1100" b="1" dirty="0">
                          <a:solidFill>
                            <a:schemeClr val="bg1"/>
                          </a:solidFill>
                          <a:latin typeface="+mn-lt"/>
                          <a:cs typeface="Arial"/>
                        </a:rPr>
                        <a:t>feel</a:t>
                      </a:r>
                      <a:r>
                        <a:rPr sz="1100" b="1" spc="-25" dirty="0">
                          <a:solidFill>
                            <a:schemeClr val="bg1"/>
                          </a:solidFill>
                          <a:latin typeface="+mn-lt"/>
                          <a:cs typeface="Arial"/>
                        </a:rPr>
                        <a:t> </a:t>
                      </a:r>
                      <a:r>
                        <a:rPr sz="1100" b="1" dirty="0">
                          <a:solidFill>
                            <a:schemeClr val="bg1"/>
                          </a:solidFill>
                          <a:latin typeface="+mn-lt"/>
                          <a:cs typeface="Arial"/>
                        </a:rPr>
                        <a:t>congested</a:t>
                      </a:r>
                      <a:r>
                        <a:rPr sz="1100" b="1" spc="-30" dirty="0">
                          <a:solidFill>
                            <a:schemeClr val="bg1"/>
                          </a:solidFill>
                          <a:latin typeface="+mn-lt"/>
                          <a:cs typeface="Arial"/>
                        </a:rPr>
                        <a:t> </a:t>
                      </a:r>
                      <a:r>
                        <a:rPr sz="1100" b="1" spc="-5" dirty="0">
                          <a:solidFill>
                            <a:schemeClr val="bg1"/>
                          </a:solidFill>
                          <a:latin typeface="+mn-lt"/>
                          <a:cs typeface="Arial"/>
                        </a:rPr>
                        <a:t>today?</a:t>
                      </a:r>
                      <a:endParaRPr sz="1100" b="1" dirty="0">
                        <a:solidFill>
                          <a:schemeClr val="bg1"/>
                        </a:solidFill>
                        <a:latin typeface="+mn-lt"/>
                        <a:cs typeface="Arial"/>
                      </a:endParaRPr>
                    </a:p>
                  </a:txBody>
                  <a:tcPr marL="45720" marR="45720" anchor="ctr">
                    <a:lnL w="12700">
                      <a:noFill/>
                      <a:prstDash val="solid"/>
                    </a:lnL>
                    <a:lnR>
                      <a:noFill/>
                    </a:lnR>
                    <a:lnT w="12700">
                      <a:noFill/>
                      <a:prstDash val="soli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indent="0">
                        <a:lnSpc>
                          <a:spcPct val="100000"/>
                        </a:lnSpc>
                        <a:spcBef>
                          <a:spcPts val="125"/>
                        </a:spcBef>
                      </a:pPr>
                      <a:r>
                        <a:rPr sz="1100" dirty="0">
                          <a:solidFill>
                            <a:schemeClr val="tx1"/>
                          </a:solidFill>
                          <a:latin typeface="+mn-lt"/>
                          <a:cs typeface="Arial"/>
                        </a:rPr>
                        <a:t>0.</a:t>
                      </a:r>
                      <a:r>
                        <a:rPr sz="1100" spc="165" dirty="0">
                          <a:solidFill>
                            <a:schemeClr val="tx1"/>
                          </a:solidFill>
                          <a:latin typeface="+mn-lt"/>
                          <a:cs typeface="Arial"/>
                        </a:rPr>
                        <a:t> </a:t>
                      </a:r>
                      <a:r>
                        <a:rPr sz="1100" spc="-5" dirty="0">
                          <a:solidFill>
                            <a:schemeClr val="tx1"/>
                          </a:solidFill>
                          <a:latin typeface="+mn-lt"/>
                          <a:cs typeface="Arial"/>
                        </a:rPr>
                        <a:t>Not</a:t>
                      </a:r>
                      <a:r>
                        <a:rPr sz="1100" spc="-15" dirty="0">
                          <a:solidFill>
                            <a:schemeClr val="tx1"/>
                          </a:solidFill>
                          <a:latin typeface="+mn-lt"/>
                          <a:cs typeface="Arial"/>
                        </a:rPr>
                        <a:t> </a:t>
                      </a:r>
                      <a:r>
                        <a:rPr sz="1100" dirty="0">
                          <a:solidFill>
                            <a:schemeClr val="tx1"/>
                          </a:solidFill>
                          <a:latin typeface="+mn-lt"/>
                          <a:cs typeface="Arial"/>
                        </a:rPr>
                        <a:t>at</a:t>
                      </a:r>
                      <a:r>
                        <a:rPr sz="1100" spc="-25" dirty="0">
                          <a:solidFill>
                            <a:schemeClr val="tx1"/>
                          </a:solidFill>
                          <a:latin typeface="+mn-lt"/>
                          <a:cs typeface="Arial"/>
                        </a:rPr>
                        <a:t> </a:t>
                      </a:r>
                      <a:r>
                        <a:rPr sz="1100" spc="-5" dirty="0">
                          <a:solidFill>
                            <a:schemeClr val="tx1"/>
                          </a:solidFill>
                          <a:latin typeface="+mn-lt"/>
                          <a:cs typeface="Arial"/>
                        </a:rPr>
                        <a:t>all</a:t>
                      </a:r>
                      <a:endParaRPr sz="1100" dirty="0">
                        <a:solidFill>
                          <a:schemeClr val="tx1"/>
                        </a:solidFill>
                        <a:latin typeface="+mn-lt"/>
                        <a:cs typeface="Arial"/>
                      </a:endParaRPr>
                    </a:p>
                  </a:txBody>
                  <a:tcPr marL="45720" marR="45720">
                    <a:lnL>
                      <a:noFill/>
                    </a:lnL>
                    <a:lnR w="12700">
                      <a:noFill/>
                      <a:prstDash val="solid"/>
                    </a:lnR>
                    <a:lnT w="12700">
                      <a:noFill/>
                      <a:prstDash val="soli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11049">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tcPr>
                </a:tc>
                <a:tc>
                  <a:txBody>
                    <a:bodyPr/>
                    <a:lstStyle/>
                    <a:p>
                      <a:pPr marL="0" indent="0">
                        <a:lnSpc>
                          <a:spcPct val="100000"/>
                        </a:lnSpc>
                        <a:spcBef>
                          <a:spcPts val="160"/>
                        </a:spcBef>
                      </a:pPr>
                      <a:r>
                        <a:rPr sz="1100" dirty="0">
                          <a:solidFill>
                            <a:schemeClr val="tx1"/>
                          </a:solidFill>
                          <a:latin typeface="+mn-lt"/>
                          <a:cs typeface="Arial"/>
                        </a:rPr>
                        <a:t>1.</a:t>
                      </a:r>
                      <a:r>
                        <a:rPr sz="1100" spc="165" dirty="0">
                          <a:solidFill>
                            <a:schemeClr val="tx1"/>
                          </a:solidFill>
                          <a:latin typeface="+mn-lt"/>
                          <a:cs typeface="Arial"/>
                        </a:rPr>
                        <a:t> </a:t>
                      </a:r>
                      <a:r>
                        <a:rPr sz="1100" spc="-5" dirty="0">
                          <a:solidFill>
                            <a:schemeClr val="tx1"/>
                          </a:solidFill>
                          <a:latin typeface="+mn-lt"/>
                          <a:cs typeface="Arial"/>
                        </a:rPr>
                        <a:t>Slightly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21136">
                <a:tc vMerge="1">
                  <a:txBody>
                    <a:bodyPr/>
                    <a:lstStyle/>
                    <a:p>
                      <a:pPr marL="91440">
                        <a:lnSpc>
                          <a:spcPct val="100000"/>
                        </a:lnSpc>
                        <a:spcBef>
                          <a:spcPts val="225"/>
                        </a:spcBef>
                      </a:pPr>
                      <a:r>
                        <a:rPr sz="1100" spc="-5" dirty="0">
                          <a:solidFill>
                            <a:schemeClr val="tx1"/>
                          </a:solidFill>
                          <a:latin typeface="+mn-lt"/>
                          <a:cs typeface="Arial"/>
                        </a:rPr>
                        <a:t>1.</a:t>
                      </a:r>
                      <a:r>
                        <a:rPr sz="1100" spc="-20" dirty="0">
                          <a:solidFill>
                            <a:schemeClr val="tx1"/>
                          </a:solidFill>
                          <a:latin typeface="+mn-lt"/>
                          <a:cs typeface="Arial"/>
                        </a:rPr>
                        <a:t> </a:t>
                      </a:r>
                      <a:r>
                        <a:rPr sz="1100" spc="-5" dirty="0">
                          <a:solidFill>
                            <a:schemeClr val="tx1"/>
                          </a:solidFill>
                          <a:latin typeface="+mn-lt"/>
                          <a:cs typeface="Arial"/>
                        </a:rPr>
                        <a:t>Did</a:t>
                      </a:r>
                      <a:r>
                        <a:rPr sz="1100" spc="10" dirty="0">
                          <a:solidFill>
                            <a:schemeClr val="tx1"/>
                          </a:solidFill>
                          <a:latin typeface="+mn-lt"/>
                          <a:cs typeface="Arial"/>
                        </a:rPr>
                        <a:t> </a:t>
                      </a:r>
                      <a:r>
                        <a:rPr sz="1100" spc="-5" dirty="0">
                          <a:solidFill>
                            <a:schemeClr val="tx1"/>
                          </a:solidFill>
                          <a:latin typeface="+mn-lt"/>
                          <a:cs typeface="Arial"/>
                        </a:rPr>
                        <a:t>your </a:t>
                      </a:r>
                      <a:r>
                        <a:rPr sz="1100" dirty="0">
                          <a:solidFill>
                            <a:schemeClr val="tx1"/>
                          </a:solidFill>
                          <a:latin typeface="+mn-lt"/>
                          <a:cs typeface="Arial"/>
                        </a:rPr>
                        <a:t>chest</a:t>
                      </a:r>
                      <a:r>
                        <a:rPr sz="1100" spc="-35" dirty="0">
                          <a:solidFill>
                            <a:schemeClr val="tx1"/>
                          </a:solidFill>
                          <a:latin typeface="+mn-lt"/>
                          <a:cs typeface="Arial"/>
                        </a:rPr>
                        <a:t> </a:t>
                      </a:r>
                      <a:r>
                        <a:rPr sz="1100" dirty="0">
                          <a:solidFill>
                            <a:schemeClr val="tx1"/>
                          </a:solidFill>
                          <a:latin typeface="+mn-lt"/>
                          <a:cs typeface="Arial"/>
                        </a:rPr>
                        <a:t>feel</a:t>
                      </a:r>
                      <a:r>
                        <a:rPr sz="1100" spc="-25" dirty="0">
                          <a:solidFill>
                            <a:schemeClr val="tx1"/>
                          </a:solidFill>
                          <a:latin typeface="+mn-lt"/>
                          <a:cs typeface="Arial"/>
                        </a:rPr>
                        <a:t> </a:t>
                      </a:r>
                      <a:r>
                        <a:rPr sz="1100" dirty="0">
                          <a:solidFill>
                            <a:schemeClr val="tx1"/>
                          </a:solidFill>
                          <a:latin typeface="+mn-lt"/>
                          <a:cs typeface="Arial"/>
                        </a:rPr>
                        <a:t>congested</a:t>
                      </a:r>
                      <a:r>
                        <a:rPr sz="1100" spc="-30" dirty="0">
                          <a:solidFill>
                            <a:schemeClr val="tx1"/>
                          </a:solidFill>
                          <a:latin typeface="+mn-lt"/>
                          <a:cs typeface="Arial"/>
                        </a:rPr>
                        <a:t> </a:t>
                      </a:r>
                      <a:r>
                        <a:rPr sz="1100" spc="-5" dirty="0">
                          <a:solidFill>
                            <a:schemeClr val="tx1"/>
                          </a:solidFill>
                          <a:latin typeface="+mn-lt"/>
                          <a:cs typeface="Arial"/>
                        </a:rPr>
                        <a:t>today?</a:t>
                      </a:r>
                      <a:endParaRPr sz="1100" dirty="0">
                        <a:solidFill>
                          <a:schemeClr val="tx1"/>
                        </a:solidFill>
                        <a:latin typeface="+mn-lt"/>
                        <a:cs typeface="Arial"/>
                      </a:endParaRPr>
                    </a:p>
                  </a:txBody>
                  <a:tcPr marL="0" marR="0" marT="28575" marB="0">
                    <a:lnL w="12700">
                      <a:solidFill>
                        <a:srgbClr val="FFFFFF"/>
                      </a:solidFill>
                      <a:prstDash val="solid"/>
                    </a:lnL>
                  </a:tcPr>
                </a:tc>
                <a:tc>
                  <a:txBody>
                    <a:bodyPr/>
                    <a:lstStyle/>
                    <a:p>
                      <a:pPr marL="0" indent="0">
                        <a:lnSpc>
                          <a:spcPct val="100000"/>
                        </a:lnSpc>
                        <a:spcBef>
                          <a:spcPts val="160"/>
                        </a:spcBef>
                      </a:pPr>
                      <a:r>
                        <a:rPr sz="1100" dirty="0">
                          <a:solidFill>
                            <a:schemeClr val="tx1"/>
                          </a:solidFill>
                          <a:latin typeface="+mn-lt"/>
                          <a:cs typeface="Arial"/>
                        </a:rPr>
                        <a:t>2.</a:t>
                      </a:r>
                      <a:r>
                        <a:rPr sz="1100" spc="165" dirty="0">
                          <a:solidFill>
                            <a:schemeClr val="tx1"/>
                          </a:solidFill>
                          <a:latin typeface="+mn-lt"/>
                          <a:cs typeface="Arial"/>
                        </a:rPr>
                        <a:t> </a:t>
                      </a:r>
                      <a:r>
                        <a:rPr sz="1100" spc="-5" dirty="0">
                          <a:solidFill>
                            <a:schemeClr val="tx1"/>
                          </a:solidFill>
                          <a:latin typeface="+mn-lt"/>
                          <a:cs typeface="Arial"/>
                        </a:rPr>
                        <a:t>Moderately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05618">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tcPr>
                </a:tc>
                <a:tc>
                  <a:txBody>
                    <a:bodyPr/>
                    <a:lstStyle/>
                    <a:p>
                      <a:pPr marL="0" indent="0">
                        <a:lnSpc>
                          <a:spcPct val="100000"/>
                        </a:lnSpc>
                        <a:spcBef>
                          <a:spcPts val="125"/>
                        </a:spcBef>
                      </a:pPr>
                      <a:r>
                        <a:rPr sz="1100" dirty="0">
                          <a:solidFill>
                            <a:schemeClr val="tx1"/>
                          </a:solidFill>
                          <a:latin typeface="+mn-lt"/>
                          <a:cs typeface="Arial"/>
                        </a:rPr>
                        <a:t>3.</a:t>
                      </a:r>
                      <a:r>
                        <a:rPr sz="1100" spc="165" dirty="0">
                          <a:solidFill>
                            <a:schemeClr val="tx1"/>
                          </a:solidFill>
                          <a:latin typeface="+mn-lt"/>
                          <a:cs typeface="Arial"/>
                        </a:rPr>
                        <a:t> </a:t>
                      </a:r>
                      <a:r>
                        <a:rPr sz="1100" spc="-5" dirty="0">
                          <a:solidFill>
                            <a:schemeClr val="tx1"/>
                          </a:solidFill>
                          <a:latin typeface="+mn-lt"/>
                          <a:cs typeface="Arial"/>
                        </a:rPr>
                        <a:t>Severely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11049">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lnB w="12700">
                      <a:solidFill>
                        <a:srgbClr val="534F40"/>
                      </a:solidFill>
                      <a:prstDash val="solid"/>
                    </a:lnB>
                  </a:tcPr>
                </a:tc>
                <a:tc>
                  <a:txBody>
                    <a:bodyPr/>
                    <a:lstStyle/>
                    <a:p>
                      <a:pPr marL="0" indent="0">
                        <a:lnSpc>
                          <a:spcPct val="100000"/>
                        </a:lnSpc>
                        <a:spcBef>
                          <a:spcPts val="160"/>
                        </a:spcBef>
                      </a:pPr>
                      <a:r>
                        <a:rPr sz="1100" dirty="0">
                          <a:solidFill>
                            <a:schemeClr val="tx1"/>
                          </a:solidFill>
                          <a:latin typeface="+mn-lt"/>
                          <a:cs typeface="Arial"/>
                        </a:rPr>
                        <a:t>4.</a:t>
                      </a:r>
                      <a:r>
                        <a:rPr sz="1100" spc="165" dirty="0">
                          <a:solidFill>
                            <a:schemeClr val="tx1"/>
                          </a:solidFill>
                          <a:latin typeface="+mn-lt"/>
                          <a:cs typeface="Arial"/>
                        </a:rPr>
                        <a:t> </a:t>
                      </a:r>
                      <a:r>
                        <a:rPr sz="1100" spc="-5" dirty="0">
                          <a:solidFill>
                            <a:schemeClr val="tx1"/>
                          </a:solidFill>
                          <a:latin typeface="+mn-lt"/>
                          <a:cs typeface="Arial"/>
                        </a:rPr>
                        <a:t>Extremely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06394">
                <a:tc rowSpan="5">
                  <a:txBody>
                    <a:bodyPr/>
                    <a:lstStyle/>
                    <a:p>
                      <a:pPr marL="91440">
                        <a:lnSpc>
                          <a:spcPct val="100000"/>
                        </a:lnSpc>
                        <a:spcBef>
                          <a:spcPts val="225"/>
                        </a:spcBef>
                      </a:pPr>
                      <a:r>
                        <a:rPr sz="1100" b="1" dirty="0">
                          <a:solidFill>
                            <a:schemeClr val="bg1"/>
                          </a:solidFill>
                          <a:latin typeface="+mn-lt"/>
                          <a:cs typeface="Arial"/>
                        </a:rPr>
                        <a:t>2.</a:t>
                      </a:r>
                      <a:r>
                        <a:rPr sz="1100" b="1" spc="-20" dirty="0">
                          <a:solidFill>
                            <a:schemeClr val="bg1"/>
                          </a:solidFill>
                          <a:latin typeface="+mn-lt"/>
                          <a:cs typeface="Arial"/>
                        </a:rPr>
                        <a:t> </a:t>
                      </a:r>
                      <a:r>
                        <a:rPr sz="1100" b="1" spc="-5" dirty="0">
                          <a:solidFill>
                            <a:schemeClr val="bg1"/>
                          </a:solidFill>
                          <a:latin typeface="+mn-lt"/>
                          <a:cs typeface="Arial"/>
                        </a:rPr>
                        <a:t>How </a:t>
                      </a:r>
                      <a:r>
                        <a:rPr sz="1100" b="1" dirty="0">
                          <a:solidFill>
                            <a:schemeClr val="bg1"/>
                          </a:solidFill>
                          <a:latin typeface="+mn-lt"/>
                          <a:cs typeface="Arial"/>
                        </a:rPr>
                        <a:t>often</a:t>
                      </a:r>
                      <a:r>
                        <a:rPr sz="1100" b="1" spc="-40" dirty="0">
                          <a:solidFill>
                            <a:schemeClr val="bg1"/>
                          </a:solidFill>
                          <a:latin typeface="+mn-lt"/>
                          <a:cs typeface="Arial"/>
                        </a:rPr>
                        <a:t> </a:t>
                      </a:r>
                      <a:r>
                        <a:rPr sz="1100" b="1" spc="-5" dirty="0">
                          <a:solidFill>
                            <a:schemeClr val="bg1"/>
                          </a:solidFill>
                          <a:latin typeface="+mn-lt"/>
                          <a:cs typeface="Arial"/>
                        </a:rPr>
                        <a:t>did</a:t>
                      </a:r>
                      <a:r>
                        <a:rPr sz="1100" b="1" spc="-10" dirty="0">
                          <a:solidFill>
                            <a:schemeClr val="bg1"/>
                          </a:solidFill>
                          <a:latin typeface="+mn-lt"/>
                          <a:cs typeface="Arial"/>
                        </a:rPr>
                        <a:t> </a:t>
                      </a:r>
                      <a:r>
                        <a:rPr sz="1100" b="1" spc="-5" dirty="0">
                          <a:solidFill>
                            <a:schemeClr val="bg1"/>
                          </a:solidFill>
                          <a:latin typeface="+mn-lt"/>
                          <a:cs typeface="Arial"/>
                        </a:rPr>
                        <a:t>you</a:t>
                      </a:r>
                      <a:r>
                        <a:rPr sz="1100" b="1" dirty="0">
                          <a:solidFill>
                            <a:schemeClr val="bg1"/>
                          </a:solidFill>
                          <a:latin typeface="+mn-lt"/>
                          <a:cs typeface="Arial"/>
                        </a:rPr>
                        <a:t> cough</a:t>
                      </a:r>
                      <a:r>
                        <a:rPr sz="1100" b="1" spc="-25" dirty="0">
                          <a:solidFill>
                            <a:schemeClr val="bg1"/>
                          </a:solidFill>
                          <a:latin typeface="+mn-lt"/>
                          <a:cs typeface="Arial"/>
                        </a:rPr>
                        <a:t> </a:t>
                      </a:r>
                      <a:r>
                        <a:rPr sz="1100" b="1" spc="-5" dirty="0">
                          <a:solidFill>
                            <a:schemeClr val="bg1"/>
                          </a:solidFill>
                          <a:latin typeface="+mn-lt"/>
                          <a:cs typeface="Arial"/>
                        </a:rPr>
                        <a:t>today?</a:t>
                      </a:r>
                      <a:endParaRPr sz="1100" b="1" dirty="0">
                        <a:solidFill>
                          <a:schemeClr val="bg1"/>
                        </a:solidFill>
                        <a:latin typeface="+mn-lt"/>
                        <a:cs typeface="Arial"/>
                      </a:endParaRPr>
                    </a:p>
                  </a:txBody>
                  <a:tcPr marL="45720" marR="45720" anchor="ctr">
                    <a:lnL w="12700">
                      <a:noFill/>
                      <a:prstDash val="solid"/>
                    </a:lnL>
                    <a:lnR>
                      <a:noFill/>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tx2"/>
                    </a:solidFill>
                  </a:tcPr>
                </a:tc>
                <a:tc>
                  <a:txBody>
                    <a:bodyPr/>
                    <a:lstStyle/>
                    <a:p>
                      <a:pPr marL="0" indent="0">
                        <a:lnSpc>
                          <a:spcPct val="100000"/>
                        </a:lnSpc>
                        <a:spcBef>
                          <a:spcPts val="130"/>
                        </a:spcBef>
                      </a:pPr>
                      <a:r>
                        <a:rPr sz="1100" dirty="0">
                          <a:solidFill>
                            <a:schemeClr val="tx1"/>
                          </a:solidFill>
                          <a:latin typeface="+mn-lt"/>
                          <a:cs typeface="Arial"/>
                        </a:rPr>
                        <a:t>0.</a:t>
                      </a:r>
                      <a:r>
                        <a:rPr sz="1100" spc="165" dirty="0">
                          <a:solidFill>
                            <a:schemeClr val="tx1"/>
                          </a:solidFill>
                          <a:latin typeface="+mn-lt"/>
                          <a:cs typeface="Arial"/>
                        </a:rPr>
                        <a:t> </a:t>
                      </a:r>
                      <a:r>
                        <a:rPr sz="1100" spc="-5" dirty="0">
                          <a:solidFill>
                            <a:schemeClr val="tx1"/>
                          </a:solidFill>
                          <a:latin typeface="+mn-lt"/>
                          <a:cs typeface="Arial"/>
                        </a:rPr>
                        <a:t>Not</a:t>
                      </a:r>
                      <a:r>
                        <a:rPr sz="1100" spc="-15" dirty="0">
                          <a:solidFill>
                            <a:schemeClr val="tx1"/>
                          </a:solidFill>
                          <a:latin typeface="+mn-lt"/>
                          <a:cs typeface="Arial"/>
                        </a:rPr>
                        <a:t> </a:t>
                      </a:r>
                      <a:r>
                        <a:rPr sz="1100" dirty="0">
                          <a:solidFill>
                            <a:schemeClr val="tx1"/>
                          </a:solidFill>
                          <a:latin typeface="+mn-lt"/>
                          <a:cs typeface="Arial"/>
                        </a:rPr>
                        <a:t>at</a:t>
                      </a:r>
                      <a:r>
                        <a:rPr sz="1100" spc="-25" dirty="0">
                          <a:solidFill>
                            <a:schemeClr val="tx1"/>
                          </a:solidFill>
                          <a:latin typeface="+mn-lt"/>
                          <a:cs typeface="Arial"/>
                        </a:rPr>
                        <a:t> </a:t>
                      </a:r>
                      <a:r>
                        <a:rPr sz="1100" spc="-5" dirty="0">
                          <a:solidFill>
                            <a:schemeClr val="tx1"/>
                          </a:solidFill>
                          <a:latin typeface="+mn-lt"/>
                          <a:cs typeface="Arial"/>
                        </a:rPr>
                        <a:t>all</a:t>
                      </a:r>
                      <a:endParaRPr sz="1100" dirty="0">
                        <a:solidFill>
                          <a:schemeClr val="tx1"/>
                        </a:solidFill>
                        <a:latin typeface="+mn-lt"/>
                        <a:cs typeface="Arial"/>
                      </a:endParaRPr>
                    </a:p>
                  </a:txBody>
                  <a:tcPr marL="45720" marR="45720">
                    <a:lnL>
                      <a:noFill/>
                    </a:lnL>
                    <a:lnR w="12700">
                      <a:noFill/>
                      <a:prstDash val="solid"/>
                    </a:lnR>
                    <a:lnT w="9525" cap="flat" cmpd="sng" algn="ctr">
                      <a:solidFill>
                        <a:schemeClr val="bg2"/>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211049">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tcPr>
                </a:tc>
                <a:tc>
                  <a:txBody>
                    <a:bodyPr/>
                    <a:lstStyle/>
                    <a:p>
                      <a:pPr marL="0" indent="0">
                        <a:lnSpc>
                          <a:spcPct val="100000"/>
                        </a:lnSpc>
                        <a:spcBef>
                          <a:spcPts val="160"/>
                        </a:spcBef>
                      </a:pPr>
                      <a:r>
                        <a:rPr sz="1100" dirty="0">
                          <a:solidFill>
                            <a:schemeClr val="tx1"/>
                          </a:solidFill>
                          <a:latin typeface="+mn-lt"/>
                          <a:cs typeface="Arial"/>
                        </a:rPr>
                        <a:t>1.</a:t>
                      </a:r>
                      <a:r>
                        <a:rPr sz="1100" spc="160" dirty="0">
                          <a:solidFill>
                            <a:schemeClr val="tx1"/>
                          </a:solidFill>
                          <a:latin typeface="+mn-lt"/>
                          <a:cs typeface="Arial"/>
                        </a:rPr>
                        <a:t> </a:t>
                      </a:r>
                      <a:r>
                        <a:rPr sz="1100" spc="-5" dirty="0">
                          <a:solidFill>
                            <a:schemeClr val="tx1"/>
                          </a:solidFill>
                          <a:latin typeface="+mn-lt"/>
                          <a:cs typeface="Arial"/>
                        </a:rPr>
                        <a:t>Rarely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221136">
                <a:tc vMerge="1">
                  <a:txBody>
                    <a:bodyPr/>
                    <a:lstStyle/>
                    <a:p>
                      <a:pPr marL="91440">
                        <a:lnSpc>
                          <a:spcPct val="100000"/>
                        </a:lnSpc>
                        <a:spcBef>
                          <a:spcPts val="225"/>
                        </a:spcBef>
                      </a:pPr>
                      <a:r>
                        <a:rPr sz="1100" dirty="0">
                          <a:solidFill>
                            <a:schemeClr val="tx1"/>
                          </a:solidFill>
                          <a:latin typeface="+mn-lt"/>
                          <a:cs typeface="Arial"/>
                        </a:rPr>
                        <a:t>2.</a:t>
                      </a:r>
                      <a:r>
                        <a:rPr sz="1100" spc="-20" dirty="0">
                          <a:solidFill>
                            <a:schemeClr val="tx1"/>
                          </a:solidFill>
                          <a:latin typeface="+mn-lt"/>
                          <a:cs typeface="Arial"/>
                        </a:rPr>
                        <a:t> </a:t>
                      </a:r>
                      <a:r>
                        <a:rPr sz="1100" spc="-5" dirty="0">
                          <a:solidFill>
                            <a:schemeClr val="tx1"/>
                          </a:solidFill>
                          <a:latin typeface="+mn-lt"/>
                          <a:cs typeface="Arial"/>
                        </a:rPr>
                        <a:t>How </a:t>
                      </a:r>
                      <a:r>
                        <a:rPr sz="1100" dirty="0">
                          <a:solidFill>
                            <a:schemeClr val="tx1"/>
                          </a:solidFill>
                          <a:latin typeface="+mn-lt"/>
                          <a:cs typeface="Arial"/>
                        </a:rPr>
                        <a:t>often</a:t>
                      </a:r>
                      <a:r>
                        <a:rPr sz="1100" spc="-40" dirty="0">
                          <a:solidFill>
                            <a:schemeClr val="tx1"/>
                          </a:solidFill>
                          <a:latin typeface="+mn-lt"/>
                          <a:cs typeface="Arial"/>
                        </a:rPr>
                        <a:t> </a:t>
                      </a:r>
                      <a:r>
                        <a:rPr sz="1100" spc="-5" dirty="0">
                          <a:solidFill>
                            <a:schemeClr val="tx1"/>
                          </a:solidFill>
                          <a:latin typeface="+mn-lt"/>
                          <a:cs typeface="Arial"/>
                        </a:rPr>
                        <a:t>did</a:t>
                      </a:r>
                      <a:r>
                        <a:rPr sz="1100" spc="-10" dirty="0">
                          <a:solidFill>
                            <a:schemeClr val="tx1"/>
                          </a:solidFill>
                          <a:latin typeface="+mn-lt"/>
                          <a:cs typeface="Arial"/>
                        </a:rPr>
                        <a:t> </a:t>
                      </a:r>
                      <a:r>
                        <a:rPr sz="1100" spc="-5" dirty="0">
                          <a:solidFill>
                            <a:schemeClr val="tx1"/>
                          </a:solidFill>
                          <a:latin typeface="+mn-lt"/>
                          <a:cs typeface="Arial"/>
                        </a:rPr>
                        <a:t>you</a:t>
                      </a:r>
                      <a:r>
                        <a:rPr sz="1100" dirty="0">
                          <a:solidFill>
                            <a:schemeClr val="tx1"/>
                          </a:solidFill>
                          <a:latin typeface="+mn-lt"/>
                          <a:cs typeface="Arial"/>
                        </a:rPr>
                        <a:t> cough</a:t>
                      </a:r>
                      <a:r>
                        <a:rPr sz="1100" spc="-25" dirty="0">
                          <a:solidFill>
                            <a:schemeClr val="tx1"/>
                          </a:solidFill>
                          <a:latin typeface="+mn-lt"/>
                          <a:cs typeface="Arial"/>
                        </a:rPr>
                        <a:t> </a:t>
                      </a:r>
                      <a:r>
                        <a:rPr sz="1100" spc="-5" dirty="0">
                          <a:solidFill>
                            <a:schemeClr val="tx1"/>
                          </a:solidFill>
                          <a:latin typeface="+mn-lt"/>
                          <a:cs typeface="Arial"/>
                        </a:rPr>
                        <a:t>today?</a:t>
                      </a:r>
                      <a:endParaRPr sz="1100" dirty="0">
                        <a:solidFill>
                          <a:schemeClr val="tx1"/>
                        </a:solidFill>
                        <a:latin typeface="+mn-lt"/>
                        <a:cs typeface="Arial"/>
                      </a:endParaRPr>
                    </a:p>
                  </a:txBody>
                  <a:tcPr marL="0" marR="0" marT="28575" marB="0">
                    <a:lnL w="12700">
                      <a:solidFill>
                        <a:srgbClr val="FFFFFF"/>
                      </a:solidFill>
                      <a:prstDash val="solid"/>
                    </a:lnL>
                  </a:tcPr>
                </a:tc>
                <a:tc>
                  <a:txBody>
                    <a:bodyPr/>
                    <a:lstStyle/>
                    <a:p>
                      <a:pPr marL="0" indent="0">
                        <a:lnSpc>
                          <a:spcPct val="100000"/>
                        </a:lnSpc>
                        <a:spcBef>
                          <a:spcPts val="160"/>
                        </a:spcBef>
                      </a:pPr>
                      <a:r>
                        <a:rPr sz="1100" dirty="0">
                          <a:solidFill>
                            <a:schemeClr val="tx1"/>
                          </a:solidFill>
                          <a:latin typeface="+mn-lt"/>
                          <a:cs typeface="Arial"/>
                        </a:rPr>
                        <a:t>2.</a:t>
                      </a:r>
                      <a:r>
                        <a:rPr sz="1100" spc="170" dirty="0">
                          <a:solidFill>
                            <a:schemeClr val="tx1"/>
                          </a:solidFill>
                          <a:latin typeface="+mn-lt"/>
                          <a:cs typeface="Arial"/>
                        </a:rPr>
                        <a:t> </a:t>
                      </a:r>
                      <a:r>
                        <a:rPr sz="1100" spc="-5" dirty="0">
                          <a:solidFill>
                            <a:schemeClr val="tx1"/>
                          </a:solidFill>
                          <a:latin typeface="+mn-lt"/>
                          <a:cs typeface="Arial"/>
                        </a:rPr>
                        <a:t>Occasionally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205618">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tcPr>
                </a:tc>
                <a:tc>
                  <a:txBody>
                    <a:bodyPr/>
                    <a:lstStyle/>
                    <a:p>
                      <a:pPr marL="0" indent="0">
                        <a:lnSpc>
                          <a:spcPct val="100000"/>
                        </a:lnSpc>
                        <a:spcBef>
                          <a:spcPts val="125"/>
                        </a:spcBef>
                      </a:pPr>
                      <a:r>
                        <a:rPr sz="1100" dirty="0">
                          <a:solidFill>
                            <a:schemeClr val="tx1"/>
                          </a:solidFill>
                          <a:latin typeface="+mn-lt"/>
                          <a:cs typeface="Arial"/>
                        </a:rPr>
                        <a:t>3.</a:t>
                      </a:r>
                      <a:r>
                        <a:rPr sz="1100" spc="160" dirty="0">
                          <a:solidFill>
                            <a:schemeClr val="tx1"/>
                          </a:solidFill>
                          <a:latin typeface="+mn-lt"/>
                          <a:cs typeface="Arial"/>
                        </a:rPr>
                        <a:t> </a:t>
                      </a:r>
                      <a:r>
                        <a:rPr sz="1100" dirty="0">
                          <a:solidFill>
                            <a:schemeClr val="tx1"/>
                          </a:solidFill>
                          <a:latin typeface="+mn-lt"/>
                          <a:cs typeface="Arial"/>
                        </a:rPr>
                        <a:t>Frequently</a:t>
                      </a: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6350" cap="flat" cmpd="sng" algn="ctr">
                      <a:solidFill>
                        <a:schemeClr val="bg2">
                          <a:lumMod val="40000"/>
                          <a:lumOff val="6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211049">
                <a:tc vMerge="1">
                  <a:txBody>
                    <a:bodyPr/>
                    <a:lstStyle/>
                    <a:p>
                      <a:pPr>
                        <a:lnSpc>
                          <a:spcPct val="100000"/>
                        </a:lnSpc>
                      </a:pPr>
                      <a:endParaRPr sz="1100" dirty="0">
                        <a:solidFill>
                          <a:schemeClr val="tx1"/>
                        </a:solidFill>
                        <a:latin typeface="+mn-lt"/>
                        <a:cs typeface="Times New Roman"/>
                      </a:endParaRPr>
                    </a:p>
                  </a:txBody>
                  <a:tcPr marL="0" marR="0" marT="0" marB="0">
                    <a:lnL w="12700">
                      <a:solidFill>
                        <a:srgbClr val="FFFFFF"/>
                      </a:solidFill>
                      <a:prstDash val="solid"/>
                    </a:lnL>
                    <a:lnB w="12700">
                      <a:solidFill>
                        <a:srgbClr val="534F40"/>
                      </a:solidFill>
                      <a:prstDash val="solid"/>
                    </a:lnB>
                  </a:tcPr>
                </a:tc>
                <a:tc>
                  <a:txBody>
                    <a:bodyPr/>
                    <a:lstStyle/>
                    <a:p>
                      <a:pPr marL="0" indent="0">
                        <a:lnSpc>
                          <a:spcPct val="100000"/>
                        </a:lnSpc>
                        <a:spcBef>
                          <a:spcPts val="160"/>
                        </a:spcBef>
                      </a:pPr>
                      <a:r>
                        <a:rPr sz="1100" dirty="0">
                          <a:solidFill>
                            <a:schemeClr val="tx1"/>
                          </a:solidFill>
                          <a:latin typeface="+mn-lt"/>
                          <a:cs typeface="Arial"/>
                        </a:rPr>
                        <a:t>4.</a:t>
                      </a:r>
                      <a:r>
                        <a:rPr sz="1100" spc="175" dirty="0">
                          <a:solidFill>
                            <a:schemeClr val="tx1"/>
                          </a:solidFill>
                          <a:latin typeface="+mn-lt"/>
                          <a:cs typeface="Arial"/>
                        </a:rPr>
                        <a:t> </a:t>
                      </a:r>
                      <a:r>
                        <a:rPr sz="1100" spc="-5" dirty="0">
                          <a:solidFill>
                            <a:schemeClr val="tx1"/>
                          </a:solidFill>
                          <a:latin typeface="+mn-lt"/>
                          <a:cs typeface="Arial"/>
                        </a:rPr>
                        <a:t>Almost</a:t>
                      </a:r>
                      <a:r>
                        <a:rPr sz="1100" spc="-15" dirty="0">
                          <a:solidFill>
                            <a:schemeClr val="tx1"/>
                          </a:solidFill>
                          <a:latin typeface="+mn-lt"/>
                          <a:cs typeface="Arial"/>
                        </a:rPr>
                        <a:t> </a:t>
                      </a:r>
                      <a:r>
                        <a:rPr sz="1100" spc="-5" dirty="0">
                          <a:solidFill>
                            <a:schemeClr val="tx1"/>
                          </a:solidFill>
                          <a:latin typeface="+mn-lt"/>
                          <a:cs typeface="Arial"/>
                        </a:rPr>
                        <a:t>constantly</a:t>
                      </a:r>
                      <a:endParaRPr sz="1100" dirty="0">
                        <a:solidFill>
                          <a:schemeClr val="tx1"/>
                        </a:solidFill>
                        <a:latin typeface="+mn-lt"/>
                        <a:cs typeface="Arial"/>
                      </a:endParaRPr>
                    </a:p>
                  </a:txBody>
                  <a:tcPr marL="45720" marR="45720">
                    <a:lnL>
                      <a:noFill/>
                    </a:lnL>
                    <a:lnR w="12700">
                      <a:noFill/>
                      <a:prstDash val="solid"/>
                    </a:lnR>
                    <a:lnT w="6350" cap="flat" cmpd="sng" algn="ctr">
                      <a:solidFill>
                        <a:schemeClr val="bg2">
                          <a:lumMod val="40000"/>
                          <a:lumOff val="6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9"/>
                  </a:ext>
                </a:extLst>
              </a:tr>
            </a:tbl>
          </a:graphicData>
        </a:graphic>
      </p:graphicFrame>
    </p:spTree>
    <p:custDataLst>
      <p:tags r:id="rId1"/>
    </p:custDataLst>
    <p:extLst>
      <p:ext uri="{BB962C8B-B14F-4D97-AF65-F5344CB8AC3E}">
        <p14:creationId xmlns:p14="http://schemas.microsoft.com/office/powerpoint/2010/main" val="12760087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B80D5C9-D85A-F835-871B-D251CFF70F01}"/>
              </a:ext>
            </a:extLst>
          </p:cNvPr>
          <p:cNvSpPr>
            <a:spLocks noGrp="1"/>
          </p:cNvSpPr>
          <p:nvPr>
            <p:ph type="title"/>
          </p:nvPr>
        </p:nvSpPr>
        <p:spPr/>
        <p:txBody>
          <a:bodyPr/>
          <a:lstStyle/>
          <a:p>
            <a:r>
              <a:rPr lang="en-GB" dirty="0"/>
              <a:t>COPD management and treatment</a:t>
            </a:r>
          </a:p>
        </p:txBody>
      </p:sp>
      <p:sp>
        <p:nvSpPr>
          <p:cNvPr id="8" name="Subtitle 7">
            <a:extLst>
              <a:ext uri="{FF2B5EF4-FFF2-40B4-BE49-F238E27FC236}">
                <a16:creationId xmlns:a16="http://schemas.microsoft.com/office/drawing/2014/main" id="{3B00464C-0817-AF11-4330-D4B902797AB9}"/>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58805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79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162C610B-28FE-4BFF-942C-3A98663B5A66}"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HCP, healthcare professional</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Agusti A, et al. </a:t>
            </a:r>
            <a:r>
              <a:rPr lang="en-US" i="1" dirty="0"/>
              <a:t>Respir Res</a:t>
            </a:r>
            <a:r>
              <a:rPr lang="en-US" dirty="0"/>
              <a:t>. 2010;11(1):122; 3. Carlone S, et al. </a:t>
            </a:r>
            <a:r>
              <a:rPr lang="en-US" i="1" dirty="0"/>
              <a:t>Multidiscip Respir Med</a:t>
            </a:r>
            <a:r>
              <a:rPr lang="en-US" dirty="0"/>
              <a:t>. 2014;9(1):58; 4. </a:t>
            </a:r>
            <a:r>
              <a:rPr lang="en-US" dirty="0" err="1"/>
              <a:t>Braman</a:t>
            </a:r>
            <a:r>
              <a:rPr lang="en-US" dirty="0"/>
              <a:t> SS. Chapter 4. In: ACCP Pulmonary Medicine Board Review. 26th ed. 2012:1-39. </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Goals for the management of stable COPD</a:t>
            </a:r>
            <a:endParaRPr lang="en-GB" dirty="0"/>
          </a:p>
        </p:txBody>
      </p:sp>
      <p:sp>
        <p:nvSpPr>
          <p:cNvPr id="10" name="object 4">
            <a:extLst>
              <a:ext uri="{FF2B5EF4-FFF2-40B4-BE49-F238E27FC236}">
                <a16:creationId xmlns:a16="http://schemas.microsoft.com/office/drawing/2014/main" id="{49D48A9C-1854-4ED8-7B90-7D9C34C5F76B}"/>
              </a:ext>
            </a:extLst>
          </p:cNvPr>
          <p:cNvSpPr txBox="1"/>
          <p:nvPr/>
        </p:nvSpPr>
        <p:spPr>
          <a:xfrm>
            <a:off x="365124" y="1312391"/>
            <a:ext cx="11460163" cy="227626"/>
          </a:xfrm>
          <a:prstGeom prst="rect">
            <a:avLst/>
          </a:prstGeom>
        </p:spPr>
        <p:txBody>
          <a:bodyPr vert="horz" wrap="square" lIns="0" tIns="12065" rIns="0" bIns="0" rtlCol="0">
            <a:spAutoFit/>
          </a:bodyPr>
          <a:lstStyle/>
          <a:p>
            <a:pPr marL="171450" marR="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COPD is a </a:t>
            </a:r>
            <a:r>
              <a:rPr kumimoji="0" sz="1400" b="1" i="0" u="none" strike="noStrike" kern="1200" cap="none" spc="0" normalizeH="0" baseline="0" noProof="0" dirty="0">
                <a:ln>
                  <a:noFill/>
                </a:ln>
                <a:solidFill>
                  <a:srgbClr val="000000"/>
                </a:solidFill>
                <a:effectLst/>
                <a:uLnTx/>
                <a:uFillTx/>
                <a:latin typeface="Arial"/>
                <a:ea typeface="+mn-ea"/>
                <a:cs typeface="Arial"/>
              </a:rPr>
              <a:t>treatable </a:t>
            </a:r>
            <a:r>
              <a:rPr kumimoji="0" lang="en-US" sz="1400" b="1" i="0" u="none" strike="noStrike" kern="1200" cap="none" spc="0" normalizeH="0" baseline="0" noProof="0" dirty="0">
                <a:ln>
                  <a:noFill/>
                </a:ln>
                <a:solidFill>
                  <a:srgbClr val="000000"/>
                </a:solidFill>
                <a:effectLst/>
                <a:uLnTx/>
                <a:uFillTx/>
                <a:latin typeface="Arial"/>
                <a:ea typeface="+mn-ea"/>
                <a:cs typeface="Arial"/>
              </a:rPr>
              <a:t>disease,</a:t>
            </a:r>
            <a:r>
              <a:rPr kumimoji="0" sz="1400" b="1" i="0" u="none" strike="noStrike" kern="1200" cap="none" spc="0" normalizeH="0" baseline="0" noProof="0" dirty="0">
                <a:ln>
                  <a:noFill/>
                </a:ln>
                <a:solidFill>
                  <a:srgbClr val="000000"/>
                </a:solidFill>
                <a:effectLst/>
                <a:uLnTx/>
                <a:uFillTx/>
                <a:latin typeface="Arial"/>
                <a:ea typeface="+mn-ea"/>
                <a:cs typeface="Arial"/>
              </a:rPr>
              <a:t> </a:t>
            </a:r>
            <a:r>
              <a:rPr kumimoji="0" sz="1400" b="0" i="0" u="none" strike="noStrike" kern="1200" cap="none" spc="0" normalizeH="0" baseline="0" noProof="0" dirty="0">
                <a:ln>
                  <a:noFill/>
                </a:ln>
                <a:solidFill>
                  <a:srgbClr val="000000"/>
                </a:solidFill>
                <a:effectLst/>
                <a:uLnTx/>
                <a:uFillTx/>
                <a:latin typeface="Arial"/>
                <a:ea typeface="+mn-ea"/>
                <a:cs typeface="Arial"/>
              </a:rPr>
              <a:t>and HCPs generally manage the disease by</a:t>
            </a:r>
            <a:r>
              <a:rPr kumimoji="0" lang="en-GB" sz="1400" b="0" i="0" u="none" strike="noStrike" kern="1200" cap="none" spc="0" normalizeH="0" baseline="26455" noProof="0" dirty="0">
                <a:ln>
                  <a:noFill/>
                </a:ln>
                <a:solidFill>
                  <a:srgbClr val="000000"/>
                </a:solidFill>
                <a:effectLst/>
                <a:uLnTx/>
                <a:uFillTx/>
                <a:latin typeface="Arial"/>
                <a:ea typeface="+mn-ea"/>
                <a:cs typeface="Arial"/>
              </a:rPr>
              <a:t>1</a:t>
            </a:r>
            <a:endParaRPr kumimoji="0" sz="1400" b="0" i="0" u="none" strike="noStrike" kern="1200" cap="none" spc="0" normalizeH="0" baseline="26455" noProof="0" dirty="0">
              <a:ln>
                <a:noFill/>
              </a:ln>
              <a:solidFill>
                <a:srgbClr val="000000"/>
              </a:solidFill>
              <a:effectLst/>
              <a:uLnTx/>
              <a:uFillTx/>
              <a:latin typeface="Arial"/>
              <a:ea typeface="+mn-ea"/>
              <a:cs typeface="Arial"/>
            </a:endParaRPr>
          </a:p>
        </p:txBody>
      </p:sp>
      <p:sp>
        <p:nvSpPr>
          <p:cNvPr id="11" name="object 4">
            <a:extLst>
              <a:ext uri="{FF2B5EF4-FFF2-40B4-BE49-F238E27FC236}">
                <a16:creationId xmlns:a16="http://schemas.microsoft.com/office/drawing/2014/main" id="{B884AC64-3BB6-F82E-F918-1545CBE4B5FC}"/>
              </a:ext>
            </a:extLst>
          </p:cNvPr>
          <p:cNvSpPr txBox="1"/>
          <p:nvPr/>
        </p:nvSpPr>
        <p:spPr>
          <a:xfrm>
            <a:off x="365124" y="3698875"/>
            <a:ext cx="11460163" cy="1335622"/>
          </a:xfrm>
          <a:prstGeom prst="rect">
            <a:avLst/>
          </a:prstGeom>
        </p:spPr>
        <p:txBody>
          <a:bodyPr vert="horz" wrap="square" lIns="0" tIns="12065" rIns="0" bIns="0" rtlCol="0">
            <a:spAutoFit/>
          </a:bodyPr>
          <a:lstStyle/>
          <a:p>
            <a:pPr marL="171450" marR="3048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224154"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Patients with COPD have differing needs due to the </a:t>
            </a:r>
            <a:r>
              <a:rPr kumimoji="0" lang="en-US" sz="1400" b="1" i="0" u="none" strike="noStrike" kern="1200" cap="none" spc="0" normalizeH="0" baseline="0" noProof="0" dirty="0">
                <a:ln>
                  <a:noFill/>
                </a:ln>
                <a:solidFill>
                  <a:srgbClr val="000000"/>
                </a:solidFill>
                <a:effectLst/>
                <a:uLnTx/>
                <a:uFillTx/>
                <a:latin typeface="Arial"/>
                <a:ea typeface="+mn-ea"/>
                <a:cs typeface="Arial"/>
              </a:rPr>
              <a:t>heterogeneous nature </a:t>
            </a:r>
            <a:r>
              <a:rPr kumimoji="0" lang="en-US" sz="1400" b="0" i="0" u="none" strike="noStrike" kern="1200" cap="none" spc="0" normalizeH="0" baseline="0" noProof="0" dirty="0">
                <a:ln>
                  <a:noFill/>
                </a:ln>
                <a:solidFill>
                  <a:srgbClr val="000000"/>
                </a:solidFill>
                <a:effectLst/>
                <a:uLnTx/>
                <a:uFillTx/>
                <a:latin typeface="Arial"/>
                <a:ea typeface="+mn-ea"/>
                <a:cs typeface="Arial"/>
              </a:rPr>
              <a:t>of the disease and varying comorbidities</a:t>
            </a:r>
            <a:r>
              <a:rPr kumimoji="0" lang="en-US" sz="1400" b="0" i="0" u="none" strike="noStrike" kern="1200" cap="none" spc="0" normalizeH="0" baseline="26455" noProof="0" dirty="0">
                <a:ln>
                  <a:noFill/>
                </a:ln>
                <a:solidFill>
                  <a:srgbClr val="000000"/>
                </a:solidFill>
                <a:effectLst/>
                <a:uLnTx/>
                <a:uFillTx/>
                <a:latin typeface="Arial"/>
                <a:ea typeface="+mn-ea"/>
                <a:cs typeface="Arial"/>
              </a:rPr>
              <a:t>1,2</a:t>
            </a:r>
          </a:p>
          <a:p>
            <a:pPr marL="171450" marR="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224154"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Patients </a:t>
            </a:r>
            <a:r>
              <a:rPr kumimoji="0" lang="en-US" sz="1400" b="1" i="0" u="none" strike="noStrike" kern="1200" cap="none" spc="0" normalizeH="0" baseline="0" noProof="0" dirty="0">
                <a:ln>
                  <a:noFill/>
                </a:ln>
                <a:solidFill>
                  <a:srgbClr val="000000"/>
                </a:solidFill>
                <a:effectLst/>
                <a:uLnTx/>
                <a:uFillTx/>
                <a:latin typeface="Arial"/>
                <a:ea typeface="+mn-ea"/>
                <a:cs typeface="Arial"/>
              </a:rPr>
              <a:t>do not always </a:t>
            </a:r>
            <a:r>
              <a:rPr kumimoji="0" lang="en-US" sz="1400" b="1" i="0" u="none" strike="noStrike" kern="1200" cap="none" spc="0" normalizeH="0" baseline="0" noProof="0" dirty="0" err="1">
                <a:ln>
                  <a:noFill/>
                </a:ln>
                <a:solidFill>
                  <a:srgbClr val="000000"/>
                </a:solidFill>
                <a:effectLst/>
                <a:uLnTx/>
                <a:uFillTx/>
                <a:latin typeface="Arial"/>
                <a:ea typeface="+mn-ea"/>
                <a:cs typeface="Arial"/>
              </a:rPr>
              <a:t>recognise</a:t>
            </a:r>
            <a:r>
              <a:rPr kumimoji="0" lang="en-US" sz="1400" b="1" i="0" u="none" strike="noStrike" kern="1200" cap="none" spc="0" normalizeH="0" baseline="0" noProof="0" dirty="0">
                <a:ln>
                  <a:noFill/>
                </a:ln>
                <a:solidFill>
                  <a:srgbClr val="000000"/>
                </a:solidFill>
                <a:effectLst/>
                <a:uLnTx/>
                <a:uFillTx/>
                <a:latin typeface="Arial"/>
                <a:ea typeface="+mn-ea"/>
                <a:cs typeface="Arial"/>
              </a:rPr>
              <a:t> </a:t>
            </a:r>
            <a:r>
              <a:rPr kumimoji="0" lang="en-US" sz="1400" b="0" i="0" u="none" strike="noStrike" kern="1200" cap="none" spc="0" normalizeH="0" baseline="0" noProof="0" dirty="0">
                <a:ln>
                  <a:noFill/>
                </a:ln>
                <a:solidFill>
                  <a:srgbClr val="000000"/>
                </a:solidFill>
                <a:effectLst/>
                <a:uLnTx/>
                <a:uFillTx/>
                <a:latin typeface="Arial"/>
                <a:ea typeface="+mn-ea"/>
                <a:cs typeface="Arial"/>
              </a:rPr>
              <a:t>the impact of COPD on their lives, making treatment even more challenging</a:t>
            </a:r>
            <a:r>
              <a:rPr kumimoji="0" lang="en-US" sz="1400" b="0" i="0" u="none" strike="noStrike" kern="1200" cap="none" spc="0" normalizeH="0" baseline="26455" noProof="0" dirty="0">
                <a:ln>
                  <a:noFill/>
                </a:ln>
                <a:solidFill>
                  <a:srgbClr val="000000"/>
                </a:solidFill>
                <a:effectLst/>
                <a:uLnTx/>
                <a:uFillTx/>
                <a:latin typeface="Arial"/>
                <a:ea typeface="+mn-ea"/>
                <a:cs typeface="Arial"/>
              </a:rPr>
              <a:t>3</a:t>
            </a:r>
          </a:p>
          <a:p>
            <a:pPr marL="171450" marR="19177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224154"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COPD is a </a:t>
            </a:r>
            <a:r>
              <a:rPr kumimoji="0" lang="en-US" sz="1400" b="1" i="0" u="none" strike="noStrike" kern="1200" cap="none" spc="0" normalizeH="0" baseline="0" noProof="0" dirty="0">
                <a:ln>
                  <a:noFill/>
                </a:ln>
                <a:solidFill>
                  <a:srgbClr val="000000"/>
                </a:solidFill>
                <a:effectLst/>
                <a:uLnTx/>
                <a:uFillTx/>
                <a:latin typeface="Arial"/>
                <a:ea typeface="+mn-ea"/>
                <a:cs typeface="Arial"/>
              </a:rPr>
              <a:t>progressive disease, </a:t>
            </a:r>
            <a:r>
              <a:rPr kumimoji="0" lang="en-US" sz="1400" b="0" i="0" u="none" strike="noStrike" kern="1200" cap="none" spc="0" normalizeH="0" baseline="0" noProof="0" dirty="0">
                <a:ln>
                  <a:noFill/>
                </a:ln>
                <a:solidFill>
                  <a:srgbClr val="000000"/>
                </a:solidFill>
                <a:effectLst/>
                <a:uLnTx/>
                <a:uFillTx/>
                <a:latin typeface="Arial"/>
                <a:ea typeface="+mn-ea"/>
                <a:cs typeface="Arial"/>
              </a:rPr>
              <a:t>and a different combination of therapies are used based on disease severity</a:t>
            </a:r>
            <a:r>
              <a:rPr kumimoji="0" lang="en-US" sz="1400" b="0" i="0" u="none" strike="noStrike" kern="1200" cap="none" spc="0" normalizeH="0" baseline="26455" noProof="0" dirty="0">
                <a:ln>
                  <a:noFill/>
                </a:ln>
                <a:solidFill>
                  <a:srgbClr val="000000"/>
                </a:solidFill>
                <a:effectLst/>
                <a:uLnTx/>
                <a:uFillTx/>
                <a:latin typeface="Arial"/>
                <a:ea typeface="+mn-ea"/>
                <a:cs typeface="Arial"/>
              </a:rPr>
              <a:t>1</a:t>
            </a:r>
          </a:p>
          <a:p>
            <a:pPr marL="171450" marR="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224154"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HCPs can use a combination of </a:t>
            </a:r>
            <a:r>
              <a:rPr kumimoji="0" lang="en-US" sz="1400" b="1" i="0" u="none" strike="noStrike" kern="1200" cap="none" spc="0" normalizeH="0" baseline="0" noProof="0" dirty="0">
                <a:ln>
                  <a:noFill/>
                </a:ln>
                <a:solidFill>
                  <a:srgbClr val="000000"/>
                </a:solidFill>
                <a:effectLst/>
                <a:uLnTx/>
                <a:uFillTx/>
                <a:latin typeface="Arial"/>
                <a:ea typeface="+mn-ea"/>
                <a:cs typeface="Arial"/>
              </a:rPr>
              <a:t>pharmacological and non-pharmacological</a:t>
            </a:r>
            <a:r>
              <a:rPr kumimoji="0" lang="en-US" sz="1400" b="0" i="0" u="none" strike="noStrike" kern="1200" cap="none" spc="0" normalizeH="0" baseline="0" noProof="0" dirty="0">
                <a:ln>
                  <a:noFill/>
                </a:ln>
                <a:solidFill>
                  <a:srgbClr val="000000"/>
                </a:solidFill>
                <a:effectLst/>
                <a:uLnTx/>
                <a:uFillTx/>
                <a:latin typeface="Arial"/>
                <a:ea typeface="+mn-ea"/>
                <a:cs typeface="Arial"/>
              </a:rPr>
              <a:t> </a:t>
            </a:r>
            <a:r>
              <a:rPr kumimoji="0" lang="en-US" sz="1400" b="1" i="0" u="none" strike="noStrike" kern="1200" cap="none" spc="0" normalizeH="0" baseline="0" noProof="0" dirty="0">
                <a:ln>
                  <a:noFill/>
                </a:ln>
                <a:solidFill>
                  <a:srgbClr val="000000"/>
                </a:solidFill>
                <a:effectLst/>
                <a:uLnTx/>
                <a:uFillTx/>
                <a:latin typeface="Arial"/>
                <a:ea typeface="+mn-ea"/>
                <a:cs typeface="Arial"/>
              </a:rPr>
              <a:t>approaches</a:t>
            </a:r>
            <a:r>
              <a:rPr kumimoji="0" lang="en-US" sz="1400" b="0" i="0" u="none" strike="noStrike" kern="1200" cap="none" spc="0" normalizeH="0" baseline="26455" noProof="0" dirty="0">
                <a:ln>
                  <a:noFill/>
                </a:ln>
                <a:solidFill>
                  <a:srgbClr val="000000"/>
                </a:solidFill>
                <a:effectLst/>
                <a:uLnTx/>
                <a:uFillTx/>
                <a:latin typeface="Arial"/>
                <a:ea typeface="+mn-ea"/>
                <a:cs typeface="Arial"/>
              </a:rPr>
              <a:t>4</a:t>
            </a:r>
          </a:p>
        </p:txBody>
      </p:sp>
      <p:grpSp>
        <p:nvGrpSpPr>
          <p:cNvPr id="17" name="Group 16">
            <a:extLst>
              <a:ext uri="{FF2B5EF4-FFF2-40B4-BE49-F238E27FC236}">
                <a16:creationId xmlns:a16="http://schemas.microsoft.com/office/drawing/2014/main" id="{C6DD6D38-84AF-D923-AE31-4B5C4B49A6AA}"/>
              </a:ext>
            </a:extLst>
          </p:cNvPr>
          <p:cNvGrpSpPr/>
          <p:nvPr/>
        </p:nvGrpSpPr>
        <p:grpSpPr>
          <a:xfrm>
            <a:off x="365124" y="1719904"/>
            <a:ext cx="11457432" cy="1507514"/>
            <a:chOff x="365124" y="1719904"/>
            <a:chExt cx="11457432" cy="1507514"/>
          </a:xfrm>
        </p:grpSpPr>
        <p:sp>
          <p:nvSpPr>
            <p:cNvPr id="13" name="object 8">
              <a:extLst>
                <a:ext uri="{FF2B5EF4-FFF2-40B4-BE49-F238E27FC236}">
                  <a16:creationId xmlns:a16="http://schemas.microsoft.com/office/drawing/2014/main" id="{78516671-F5D1-1B69-495C-243075851C65}"/>
                </a:ext>
              </a:extLst>
            </p:cNvPr>
            <p:cNvSpPr txBox="1"/>
            <p:nvPr/>
          </p:nvSpPr>
          <p:spPr>
            <a:xfrm>
              <a:off x="365124" y="2120130"/>
              <a:ext cx="5597314" cy="1107288"/>
            </a:xfrm>
            <a:prstGeom prst="rect">
              <a:avLst/>
            </a:prstGeom>
            <a:ln w="12700">
              <a:noFill/>
            </a:ln>
          </p:spPr>
          <p:txBody>
            <a:bodyPr vert="horz" wrap="square" lIns="91440" tIns="0" rIns="0" bIns="0" rtlCol="0" anchor="ctr" anchorCtr="0">
              <a:noAutofit/>
            </a:bodyPr>
            <a:lstStyle/>
            <a:p>
              <a:pPr marL="117475" marR="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Relieving symptoms</a:t>
              </a:r>
            </a:p>
            <a:p>
              <a:pPr marL="117475" marR="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Improving exercise tolerance</a:t>
              </a:r>
            </a:p>
            <a:p>
              <a:pPr marL="117475" marR="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Improving health status</a:t>
              </a:r>
            </a:p>
          </p:txBody>
        </p:sp>
        <p:sp>
          <p:nvSpPr>
            <p:cNvPr id="14" name="object 9">
              <a:extLst>
                <a:ext uri="{FF2B5EF4-FFF2-40B4-BE49-F238E27FC236}">
                  <a16:creationId xmlns:a16="http://schemas.microsoft.com/office/drawing/2014/main" id="{D808622B-47AB-EC94-928C-76C6463897B5}"/>
                </a:ext>
              </a:extLst>
            </p:cNvPr>
            <p:cNvSpPr txBox="1"/>
            <p:nvPr/>
          </p:nvSpPr>
          <p:spPr>
            <a:xfrm>
              <a:off x="365124" y="1719904"/>
              <a:ext cx="5597314" cy="386715"/>
            </a:xfrm>
            <a:prstGeom prst="rect">
              <a:avLst/>
            </a:prstGeom>
            <a:solidFill>
              <a:srgbClr val="F36633"/>
            </a:solidFill>
            <a:ln w="12700">
              <a:noFill/>
            </a:ln>
          </p:spPr>
          <p:txBody>
            <a:bodyPr vert="horz" wrap="square" lIns="0" tIns="71120" rIns="0" bIns="0" rtlCol="0" anchor="ctr">
              <a:noAutofit/>
            </a:bodyPr>
            <a:lstStyle/>
            <a:p>
              <a:pPr marL="90805" marR="0" lvl="0" indent="0" algn="l" defTabSz="1219170" rtl="0" eaLnBrk="1" fontAlgn="auto" latinLnBrk="0" hangingPunct="1">
                <a:lnSpc>
                  <a:spcPct val="100000"/>
                </a:lnSpc>
                <a:spcBef>
                  <a:spcPts val="56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Reducing symptoms</a:t>
              </a:r>
              <a:endParaRPr kumimoji="0" sz="1400" b="0" i="0" u="none" strike="noStrike" kern="1200" cap="none" spc="0" normalizeH="0" baseline="0" noProof="0" dirty="0">
                <a:ln>
                  <a:noFill/>
                </a:ln>
                <a:solidFill>
                  <a:srgbClr val="000000"/>
                </a:solidFill>
                <a:effectLst/>
                <a:uLnTx/>
                <a:uFillTx/>
                <a:latin typeface="Arial"/>
                <a:ea typeface="+mn-ea"/>
                <a:cs typeface="Arial"/>
              </a:endParaRPr>
            </a:p>
          </p:txBody>
        </p:sp>
        <p:sp>
          <p:nvSpPr>
            <p:cNvPr id="15" name="object 10">
              <a:extLst>
                <a:ext uri="{FF2B5EF4-FFF2-40B4-BE49-F238E27FC236}">
                  <a16:creationId xmlns:a16="http://schemas.microsoft.com/office/drawing/2014/main" id="{7DA962AD-2381-E2CE-2706-6DF7FD3429F9}"/>
                </a:ext>
              </a:extLst>
            </p:cNvPr>
            <p:cNvSpPr txBox="1"/>
            <p:nvPr/>
          </p:nvSpPr>
          <p:spPr>
            <a:xfrm>
              <a:off x="6228062" y="2120130"/>
              <a:ext cx="5594494" cy="1107288"/>
            </a:xfrm>
            <a:prstGeom prst="rect">
              <a:avLst/>
            </a:prstGeom>
            <a:ln w="12700">
              <a:noFill/>
            </a:ln>
          </p:spPr>
          <p:txBody>
            <a:bodyPr vert="horz" wrap="square" lIns="91440" tIns="0" rIns="0" bIns="0" rtlCol="0" anchor="ctr" anchorCtr="0">
              <a:noAutofit/>
            </a:bodyPr>
            <a:lstStyle/>
            <a:p>
              <a:pPr marL="117475" marR="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Preventing disease progression</a:t>
              </a:r>
            </a:p>
            <a:p>
              <a:pPr marL="117475" marR="131572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Preventing and treating</a:t>
              </a:r>
              <a:r>
                <a:rPr kumimoji="0" lang="en-US" sz="1400" b="0" i="0" u="none" strike="noStrike" kern="1200" cap="none" spc="0" normalizeH="0" baseline="0" noProof="0" dirty="0">
                  <a:ln>
                    <a:noFill/>
                  </a:ln>
                  <a:solidFill>
                    <a:srgbClr val="000000"/>
                  </a:solidFill>
                  <a:effectLst/>
                  <a:uLnTx/>
                  <a:uFillTx/>
                  <a:latin typeface="Arial"/>
                  <a:ea typeface="+mn-ea"/>
                  <a:cs typeface="Arial"/>
                </a:rPr>
                <a:t> </a:t>
              </a:r>
              <a:r>
                <a:rPr kumimoji="0" sz="1400" b="0" i="0" u="none" strike="noStrike" kern="1200" cap="none" spc="0" normalizeH="0" baseline="0" noProof="0" dirty="0">
                  <a:ln>
                    <a:noFill/>
                  </a:ln>
                  <a:solidFill>
                    <a:srgbClr val="000000"/>
                  </a:solidFill>
                  <a:effectLst/>
                  <a:uLnTx/>
                  <a:uFillTx/>
                  <a:latin typeface="Arial"/>
                  <a:ea typeface="+mn-ea"/>
                  <a:cs typeface="Arial"/>
                </a:rPr>
                <a:t>exacerbations</a:t>
              </a:r>
            </a:p>
            <a:p>
              <a:pPr marL="117475" marR="0" lvl="0" indent="-117475"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358140" algn="l"/>
                  <a:tab pos="358775" algn="l"/>
                </a:tabLst>
                <a:defRPr/>
              </a:pPr>
              <a:r>
                <a:rPr kumimoji="0" sz="1400" b="0" i="0" u="none" strike="noStrike" kern="1200" cap="none" spc="0" normalizeH="0" baseline="0" noProof="0" dirty="0">
                  <a:ln>
                    <a:noFill/>
                  </a:ln>
                  <a:solidFill>
                    <a:srgbClr val="000000"/>
                  </a:solidFill>
                  <a:effectLst/>
                  <a:uLnTx/>
                  <a:uFillTx/>
                  <a:latin typeface="Arial"/>
                  <a:ea typeface="+mn-ea"/>
                  <a:cs typeface="Arial"/>
                </a:rPr>
                <a:t>Reducing mortality</a:t>
              </a:r>
            </a:p>
          </p:txBody>
        </p:sp>
        <p:sp>
          <p:nvSpPr>
            <p:cNvPr id="16" name="object 11">
              <a:extLst>
                <a:ext uri="{FF2B5EF4-FFF2-40B4-BE49-F238E27FC236}">
                  <a16:creationId xmlns:a16="http://schemas.microsoft.com/office/drawing/2014/main" id="{417B0BFB-2C61-30F7-0B9A-0412FD8EB2E8}"/>
                </a:ext>
              </a:extLst>
            </p:cNvPr>
            <p:cNvSpPr txBox="1"/>
            <p:nvPr/>
          </p:nvSpPr>
          <p:spPr>
            <a:xfrm>
              <a:off x="6228062" y="1719904"/>
              <a:ext cx="5594494" cy="386715"/>
            </a:xfrm>
            <a:prstGeom prst="rect">
              <a:avLst/>
            </a:prstGeom>
            <a:solidFill>
              <a:srgbClr val="F36633"/>
            </a:solidFill>
            <a:ln w="12700">
              <a:noFill/>
            </a:ln>
          </p:spPr>
          <p:txBody>
            <a:bodyPr vert="horz" wrap="square" lIns="0" tIns="71120" rIns="0" bIns="0" rtlCol="0" anchor="ctr">
              <a:noAutofit/>
            </a:bodyPr>
            <a:lstStyle/>
            <a:p>
              <a:pPr marL="90805" marR="0" lvl="0" indent="0" algn="l" defTabSz="1219170" rtl="0" eaLnBrk="1" fontAlgn="auto" latinLnBrk="0" hangingPunct="1">
                <a:lnSpc>
                  <a:spcPct val="100000"/>
                </a:lnSpc>
                <a:spcBef>
                  <a:spcPts val="56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Reducing risk</a:t>
              </a:r>
              <a:endParaRPr kumimoji="0" sz="1400" b="0" i="0" u="none" strike="noStrike" kern="1200" cap="none" spc="0" normalizeH="0" baseline="0" noProof="0" dirty="0">
                <a:ln>
                  <a:noFill/>
                </a:ln>
                <a:solidFill>
                  <a:srgbClr val="000000"/>
                </a:solidFill>
                <a:effectLst/>
                <a:uLnTx/>
                <a:uFillTx/>
                <a:latin typeface="Arial"/>
                <a:ea typeface="+mn-ea"/>
                <a:cs typeface="Arial"/>
              </a:endParaRPr>
            </a:p>
          </p:txBody>
        </p:sp>
      </p:grpSp>
    </p:spTree>
    <p:custDataLst>
      <p:tags r:id="rId1"/>
    </p:custDataLst>
    <p:extLst>
      <p:ext uri="{BB962C8B-B14F-4D97-AF65-F5344CB8AC3E}">
        <p14:creationId xmlns:p14="http://schemas.microsoft.com/office/powerpoint/2010/main" val="1666321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AAFB2502-064A-4A7E-B1B7-A59CAD158124}"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Pharmacological approaches for the management of COPD (1)</a:t>
            </a:r>
            <a:endParaRPr lang="en-GB" dirty="0"/>
          </a:p>
        </p:txBody>
      </p:sp>
      <p:sp>
        <p:nvSpPr>
          <p:cNvPr id="59" name="object 4">
            <a:extLst>
              <a:ext uri="{FF2B5EF4-FFF2-40B4-BE49-F238E27FC236}">
                <a16:creationId xmlns:a16="http://schemas.microsoft.com/office/drawing/2014/main" id="{B2E31BB0-9C1E-DDA3-38B9-28F68E1258D8}"/>
              </a:ext>
            </a:extLst>
          </p:cNvPr>
          <p:cNvSpPr txBox="1"/>
          <p:nvPr/>
        </p:nvSpPr>
        <p:spPr>
          <a:xfrm>
            <a:off x="365124" y="1312391"/>
            <a:ext cx="11460163" cy="443070"/>
          </a:xfrm>
          <a:prstGeom prst="rect">
            <a:avLst/>
          </a:prstGeom>
        </p:spPr>
        <p:txBody>
          <a:bodyPr vert="horz" wrap="square" lIns="0" tIns="12065" rIns="0" bIns="0" rtlCol="0">
            <a:spAutoFit/>
          </a:bodyPr>
          <a:lstStyle/>
          <a:p>
            <a:pPr marL="171450" marR="0" lvl="0" indent="-171450"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Pharmacological treatments are used to </a:t>
            </a:r>
            <a:r>
              <a:rPr kumimoji="0" lang="en-US" sz="1400" b="1" i="0" u="none" strike="noStrike" kern="1200" cap="none" spc="0" normalizeH="0" baseline="0" noProof="0" dirty="0">
                <a:ln>
                  <a:noFill/>
                </a:ln>
                <a:solidFill>
                  <a:srgbClr val="000000"/>
                </a:solidFill>
                <a:effectLst/>
                <a:uLnTx/>
                <a:uFillTx/>
                <a:latin typeface="Arial"/>
                <a:ea typeface="+mn-ea"/>
                <a:cs typeface="Arial"/>
              </a:rPr>
              <a:t>reduce symptoms </a:t>
            </a:r>
            <a:r>
              <a:rPr kumimoji="0" lang="en-US" sz="1400" b="0" i="0" u="none" strike="noStrike" kern="1200" cap="none" spc="0" normalizeH="0" baseline="0" noProof="0" dirty="0">
                <a:ln>
                  <a:noFill/>
                </a:ln>
                <a:solidFill>
                  <a:srgbClr val="000000"/>
                </a:solidFill>
                <a:effectLst/>
                <a:uLnTx/>
                <a:uFillTx/>
                <a:latin typeface="Arial"/>
                <a:ea typeface="+mn-ea"/>
                <a:cs typeface="Arial"/>
              </a:rPr>
              <a:t>and </a:t>
            </a:r>
            <a:r>
              <a:rPr kumimoji="0" lang="en-US" sz="1400" b="1" i="0" u="none" strike="noStrike" kern="1200" cap="none" spc="0" normalizeH="0" baseline="0" noProof="0" dirty="0">
                <a:ln>
                  <a:noFill/>
                </a:ln>
                <a:solidFill>
                  <a:srgbClr val="000000"/>
                </a:solidFill>
                <a:effectLst/>
                <a:uLnTx/>
                <a:uFillTx/>
                <a:latin typeface="Arial"/>
                <a:ea typeface="+mn-ea"/>
                <a:cs typeface="Arial"/>
              </a:rPr>
              <a:t>the risk and severity of exacerbations </a:t>
            </a:r>
            <a:r>
              <a:rPr kumimoji="0" lang="en-US" sz="1400" b="0" i="0" u="none" strike="noStrike" kern="1200" cap="none" spc="0" normalizeH="0" baseline="0" noProof="0" dirty="0">
                <a:ln>
                  <a:noFill/>
                </a:ln>
                <a:solidFill>
                  <a:srgbClr val="000000"/>
                </a:solidFill>
                <a:effectLst/>
                <a:uLnTx/>
                <a:uFillTx/>
                <a:latin typeface="Arial"/>
                <a:ea typeface="+mn-ea"/>
                <a:cs typeface="Arial"/>
              </a:rPr>
              <a:t>and </a:t>
            </a:r>
            <a:r>
              <a:rPr kumimoji="0" lang="en-US" sz="1400" b="1" i="0" u="none" strike="noStrike" kern="1200" cap="none" spc="0" normalizeH="0" baseline="0" noProof="0" dirty="0">
                <a:ln>
                  <a:noFill/>
                </a:ln>
                <a:solidFill>
                  <a:srgbClr val="000000"/>
                </a:solidFill>
                <a:effectLst/>
                <a:uLnTx/>
                <a:uFillTx/>
                <a:latin typeface="Arial"/>
                <a:ea typeface="+mn-ea"/>
                <a:cs typeface="Arial"/>
              </a:rPr>
              <a:t>to improve health status</a:t>
            </a:r>
            <a:r>
              <a:rPr kumimoji="0" lang="en-US" sz="1400" b="0" i="0" u="none" strike="noStrike" kern="1200" cap="none" spc="0" normalizeH="0" baseline="0" noProof="0" dirty="0">
                <a:ln>
                  <a:noFill/>
                </a:ln>
                <a:solidFill>
                  <a:srgbClr val="000000"/>
                </a:solidFill>
                <a:effectLst/>
                <a:uLnTx/>
                <a:uFillTx/>
                <a:latin typeface="Arial"/>
                <a:ea typeface="+mn-ea"/>
                <a:cs typeface="Arial"/>
              </a:rPr>
              <a:t> and </a:t>
            </a:r>
            <a:r>
              <a:rPr kumimoji="0" lang="en-US" sz="1400" b="1" i="0" u="none" strike="noStrike" kern="1200" cap="none" spc="0" normalizeH="0" baseline="0" noProof="0" dirty="0">
                <a:ln>
                  <a:noFill/>
                </a:ln>
                <a:solidFill>
                  <a:srgbClr val="000000"/>
                </a:solidFill>
                <a:effectLst/>
                <a:uLnTx/>
                <a:uFillTx/>
                <a:latin typeface="Arial"/>
                <a:ea typeface="+mn-ea"/>
                <a:cs typeface="Arial"/>
              </a:rPr>
              <a:t>exercise tolerance</a:t>
            </a:r>
          </a:p>
        </p:txBody>
      </p:sp>
      <p:grpSp>
        <p:nvGrpSpPr>
          <p:cNvPr id="60" name="Group 59">
            <a:extLst>
              <a:ext uri="{FF2B5EF4-FFF2-40B4-BE49-F238E27FC236}">
                <a16:creationId xmlns:a16="http://schemas.microsoft.com/office/drawing/2014/main" id="{F0A59DF3-8501-A0C1-CA9D-270A4E20F007}"/>
              </a:ext>
            </a:extLst>
          </p:cNvPr>
          <p:cNvGrpSpPr/>
          <p:nvPr/>
        </p:nvGrpSpPr>
        <p:grpSpPr>
          <a:xfrm>
            <a:off x="367284" y="2105925"/>
            <a:ext cx="11457432" cy="3188388"/>
            <a:chOff x="367284" y="2105925"/>
            <a:chExt cx="11457432" cy="3188388"/>
          </a:xfrm>
        </p:grpSpPr>
        <p:sp>
          <p:nvSpPr>
            <p:cNvPr id="61" name="object 5">
              <a:extLst>
                <a:ext uri="{FF2B5EF4-FFF2-40B4-BE49-F238E27FC236}">
                  <a16:creationId xmlns:a16="http://schemas.microsoft.com/office/drawing/2014/main" id="{EB18B2B1-6B29-568B-A281-539CA896090C}"/>
                </a:ext>
              </a:extLst>
            </p:cNvPr>
            <p:cNvSpPr txBox="1"/>
            <p:nvPr/>
          </p:nvSpPr>
          <p:spPr>
            <a:xfrm>
              <a:off x="1805612" y="3091482"/>
              <a:ext cx="1393389" cy="605709"/>
            </a:xfrm>
            <a:prstGeom prst="rect">
              <a:avLst/>
            </a:prstGeom>
            <a:solidFill>
              <a:srgbClr val="F36633"/>
            </a:solidFill>
          </p:spPr>
          <p:txBody>
            <a:bodyPr vert="horz" wrap="square" lIns="45720" tIns="45720" rIns="45720" bIns="45720" rtlCol="0" anchor="ctr" anchorCtr="0">
              <a:noAutofit/>
            </a:bodyPr>
            <a:lstStyle/>
            <a:p>
              <a:pPr marL="0" marR="1905" lvl="0" indent="0" algn="ctr" defTabSz="1219170" rtl="0" eaLnBrk="1" fontAlgn="auto" latinLnBrk="0" hangingPunct="1">
                <a:lnSpc>
                  <a:spcPts val="1300"/>
                </a:lnSpc>
                <a:spcBef>
                  <a:spcPts val="0"/>
                </a:spcBef>
                <a:spcAft>
                  <a:spcPts val="0"/>
                </a:spcAft>
                <a:buClrTx/>
                <a:buSzTx/>
                <a:buFontTx/>
                <a:buNone/>
                <a:tabLst/>
                <a:defRPr/>
              </a:pPr>
              <a:r>
                <a:rPr kumimoji="0" sz="1200" b="1" i="0" u="none" strike="noStrike" kern="1200" cap="none" spc="0" normalizeH="0" baseline="0" noProof="0" dirty="0">
                  <a:ln>
                    <a:noFill/>
                  </a:ln>
                  <a:solidFill>
                    <a:srgbClr val="FFFFFF"/>
                  </a:solidFill>
                  <a:effectLst/>
                  <a:uLnTx/>
                  <a:uFillTx/>
                  <a:latin typeface="Arial"/>
                  <a:ea typeface="+mn-ea"/>
                  <a:cs typeface="Arial"/>
                </a:rPr>
                <a:t>Risk of</a:t>
              </a:r>
              <a:r>
                <a:rPr kumimoji="0" lang="en-US" sz="1200" b="1" i="0" u="none" strike="noStrike" kern="1200" cap="none" spc="0" normalizeH="0" baseline="0" noProof="0" dirty="0">
                  <a:ln>
                    <a:noFill/>
                  </a:ln>
                  <a:solidFill>
                    <a:srgbClr val="FFFFFF"/>
                  </a:solidFill>
                  <a:effectLst/>
                  <a:uLnTx/>
                  <a:uFillTx/>
                  <a:latin typeface="Arial"/>
                  <a:ea typeface="+mn-ea"/>
                  <a:cs typeface="Arial"/>
                </a:rPr>
                <a:t> </a:t>
              </a:r>
              <a:r>
                <a:rPr kumimoji="0" sz="1200" b="1" i="0" u="none" strike="noStrike" kern="1200" cap="none" spc="0" normalizeH="0" baseline="0" noProof="0" dirty="0">
                  <a:ln>
                    <a:noFill/>
                  </a:ln>
                  <a:solidFill>
                    <a:srgbClr val="FFFFFF"/>
                  </a:solidFill>
                  <a:effectLst/>
                  <a:uLnTx/>
                  <a:uFillTx/>
                  <a:latin typeface="Arial"/>
                  <a:ea typeface="+mn-ea"/>
                  <a:cs typeface="Arial"/>
                </a:rPr>
                <a:t>exacerbations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62" name="object 6">
              <a:extLst>
                <a:ext uri="{FF2B5EF4-FFF2-40B4-BE49-F238E27FC236}">
                  <a16:creationId xmlns:a16="http://schemas.microsoft.com/office/drawing/2014/main" id="{56951D32-C889-B7AF-6F91-891F823E22C6}"/>
                </a:ext>
              </a:extLst>
            </p:cNvPr>
            <p:cNvSpPr txBox="1"/>
            <p:nvPr/>
          </p:nvSpPr>
          <p:spPr>
            <a:xfrm>
              <a:off x="3243939"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Side effects</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63" name="object 12">
              <a:extLst>
                <a:ext uri="{FF2B5EF4-FFF2-40B4-BE49-F238E27FC236}">
                  <a16:creationId xmlns:a16="http://schemas.microsoft.com/office/drawing/2014/main" id="{09A94F1A-A80C-7EE6-8CA4-C733B96DCF81}"/>
                </a:ext>
              </a:extLst>
            </p:cNvPr>
            <p:cNvSpPr txBox="1"/>
            <p:nvPr/>
          </p:nvSpPr>
          <p:spPr>
            <a:xfrm>
              <a:off x="367284" y="4211880"/>
              <a:ext cx="2810973" cy="1082433"/>
            </a:xfrm>
            <a:prstGeom prst="rect">
              <a:avLst/>
            </a:prstGeom>
            <a:ln w="19812">
              <a:solidFill>
                <a:srgbClr val="F36633"/>
              </a:solidFill>
              <a:prstDash val="dash"/>
            </a:ln>
          </p:spPr>
          <p:txBody>
            <a:bodyPr vert="horz" wrap="square" lIns="45720" tIns="45720" rIns="45720" bIns="45720" rtlCol="0" anchor="ctr">
              <a:noAutofit/>
            </a:bodyPr>
            <a:lstStyle/>
            <a:p>
              <a:pPr marL="0" marR="85725" lvl="0" indent="3175"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36633"/>
                  </a:solidFill>
                  <a:effectLst/>
                  <a:uLnTx/>
                  <a:uFillTx/>
                  <a:latin typeface="Arial"/>
                  <a:ea typeface="+mn-ea"/>
                  <a:cs typeface="Arial"/>
                </a:rPr>
                <a:t>The </a:t>
              </a:r>
              <a:r>
                <a:rPr kumimoji="0" lang="en-IN" sz="1200" b="1" i="0" u="none" strike="noStrike" kern="1200" cap="none" spc="0" normalizeH="0" baseline="0" noProof="0" dirty="0">
                  <a:ln>
                    <a:noFill/>
                  </a:ln>
                  <a:solidFill>
                    <a:srgbClr val="F36633"/>
                  </a:solidFill>
                  <a:effectLst/>
                  <a:uLnTx/>
                  <a:uFillTx/>
                  <a:latin typeface="Arial"/>
                  <a:ea typeface="+mn-ea"/>
                  <a:cs typeface="Arial"/>
                </a:rPr>
                <a:t>initial pharmacological treatment </a:t>
              </a:r>
              <a:r>
                <a:rPr kumimoji="0" sz="1200" b="1" i="0" u="none" strike="noStrike" kern="1200" cap="none" spc="0" normalizeH="0" baseline="0" noProof="0" dirty="0">
                  <a:ln>
                    <a:noFill/>
                  </a:ln>
                  <a:solidFill>
                    <a:srgbClr val="F36633"/>
                  </a:solidFill>
                  <a:effectLst/>
                  <a:uLnTx/>
                  <a:uFillTx/>
                  <a:latin typeface="Arial"/>
                  <a:ea typeface="+mn-ea"/>
                  <a:cs typeface="Arial"/>
                </a:rPr>
                <a:t>should be</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based on</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the </a:t>
              </a:r>
              <a:r>
                <a:rPr kumimoji="0" sz="1200" b="1" i="0" u="none" strike="noStrike" kern="1200" cap="none" spc="0" normalizeH="0" baseline="0" noProof="0" dirty="0" err="1">
                  <a:ln>
                    <a:noFill/>
                  </a:ln>
                  <a:solidFill>
                    <a:srgbClr val="F36633"/>
                  </a:solidFill>
                  <a:effectLst/>
                  <a:uLnTx/>
                  <a:uFillTx/>
                  <a:latin typeface="Arial"/>
                  <a:ea typeface="+mn-ea"/>
                  <a:cs typeface="Arial"/>
                </a:rPr>
                <a:t>individuali</a:t>
              </a:r>
              <a:r>
                <a:rPr kumimoji="0" lang="en-IN" sz="1200" b="1" i="0" u="none" strike="noStrike" kern="1200" cap="none" spc="0" normalizeH="0" baseline="0" noProof="0" dirty="0">
                  <a:ln>
                    <a:noFill/>
                  </a:ln>
                  <a:solidFill>
                    <a:srgbClr val="F36633"/>
                  </a:solidFill>
                  <a:effectLst/>
                  <a:uLnTx/>
                  <a:uFillTx/>
                  <a:latin typeface="Arial"/>
                  <a:ea typeface="+mn-ea"/>
                  <a:cs typeface="Arial"/>
                </a:rPr>
                <a:t>s</a:t>
              </a:r>
              <a:r>
                <a:rPr kumimoji="0" sz="1200" b="1" i="0" u="none" strike="noStrike" kern="1200" cap="none" spc="0" normalizeH="0" baseline="0" noProof="0" dirty="0">
                  <a:ln>
                    <a:noFill/>
                  </a:ln>
                  <a:solidFill>
                    <a:srgbClr val="F36633"/>
                  </a:solidFill>
                  <a:effectLst/>
                  <a:uLnTx/>
                  <a:uFillTx/>
                  <a:latin typeface="Arial"/>
                  <a:ea typeface="+mn-ea"/>
                  <a:cs typeface="Arial"/>
                </a:rPr>
                <a:t>ed</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assessment of symptoms</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and risk of exacerbations</a:t>
              </a:r>
              <a:endParaRPr kumimoji="0" sz="1200" b="0" i="0" u="none" strike="noStrike" kern="1200" cap="none" spc="0" normalizeH="0" baseline="0" noProof="0" dirty="0">
                <a:ln>
                  <a:noFill/>
                </a:ln>
                <a:solidFill>
                  <a:srgbClr val="F36633"/>
                </a:solidFill>
                <a:effectLst/>
                <a:uLnTx/>
                <a:uFillTx/>
                <a:latin typeface="Arial"/>
                <a:ea typeface="+mn-ea"/>
                <a:cs typeface="Arial"/>
              </a:endParaRPr>
            </a:p>
          </p:txBody>
        </p:sp>
        <p:sp>
          <p:nvSpPr>
            <p:cNvPr id="64" name="object 20">
              <a:extLst>
                <a:ext uri="{FF2B5EF4-FFF2-40B4-BE49-F238E27FC236}">
                  <a16:creationId xmlns:a16="http://schemas.microsoft.com/office/drawing/2014/main" id="{17BC2882-3D25-3F6F-E865-2F32147CFD99}"/>
                </a:ext>
              </a:extLst>
            </p:cNvPr>
            <p:cNvSpPr txBox="1"/>
            <p:nvPr/>
          </p:nvSpPr>
          <p:spPr>
            <a:xfrm>
              <a:off x="4215774" y="2105925"/>
              <a:ext cx="3760452" cy="587284"/>
            </a:xfrm>
            <a:prstGeom prst="rect">
              <a:avLst/>
            </a:prstGeom>
            <a:solidFill>
              <a:schemeClr val="bg2"/>
            </a:solidFill>
          </p:spPr>
          <p:txBody>
            <a:bodyPr vert="horz" wrap="square" lIns="45720" tIns="45720" rIns="45720" bIns="45720" rtlCol="0" anchor="ctr">
              <a:noAutofit/>
            </a:bodyPr>
            <a:lstStyle/>
            <a:p>
              <a:pPr marL="54610" marR="0" lvl="0" indent="0" algn="ctr" defTabSz="1219170" rtl="0" eaLnBrk="1" fontAlgn="auto" latinLnBrk="0" hangingPunct="1">
                <a:lnSpc>
                  <a:spcPts val="1595"/>
                </a:lnSpc>
                <a:spcBef>
                  <a:spcPts val="825"/>
                </a:spcBef>
                <a:spcAft>
                  <a:spcPts val="0"/>
                </a:spcAft>
                <a:buClrTx/>
                <a:buSzTx/>
                <a:buFontTx/>
                <a:buNone/>
                <a:tabLst/>
                <a:defRPr/>
              </a:pPr>
              <a:r>
                <a:rPr kumimoji="0" lang="en-IN" sz="1200" b="1" i="0" u="none" strike="noStrike" kern="1200" cap="none" spc="0" normalizeH="0" baseline="0" noProof="0" dirty="0">
                  <a:ln>
                    <a:noFill/>
                  </a:ln>
                  <a:solidFill>
                    <a:srgbClr val="FFFFFF"/>
                  </a:solidFill>
                  <a:effectLst/>
                  <a:uLnTx/>
                  <a:uFillTx/>
                  <a:latin typeface="Arial"/>
                  <a:ea typeface="+mn-ea"/>
                  <a:cs typeface="Arial"/>
                </a:rPr>
                <a:t>Individualised pharmacological management of COPD </a:t>
              </a:r>
              <a:r>
                <a:rPr kumimoji="0" sz="1200" b="1" i="0" u="none" strike="noStrike" kern="1200" cap="none" spc="0" normalizeH="0" baseline="0" noProof="0" dirty="0">
                  <a:ln>
                    <a:noFill/>
                  </a:ln>
                  <a:solidFill>
                    <a:srgbClr val="FFFFFF"/>
                  </a:solidFill>
                  <a:effectLst/>
                  <a:uLnTx/>
                  <a:uFillTx/>
                  <a:latin typeface="Arial"/>
                  <a:ea typeface="+mn-ea"/>
                  <a:cs typeface="Arial"/>
                </a:rPr>
                <a:t>should be based on</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cxnSp>
          <p:nvCxnSpPr>
            <p:cNvPr id="65" name="Elbow Connector 27">
              <a:extLst>
                <a:ext uri="{FF2B5EF4-FFF2-40B4-BE49-F238E27FC236}">
                  <a16:creationId xmlns:a16="http://schemas.microsoft.com/office/drawing/2014/main" id="{C098C1F3-7C2C-2D83-FDC4-B7AE49611F5C}"/>
                </a:ext>
              </a:extLst>
            </p:cNvPr>
            <p:cNvCxnSpPr>
              <a:cxnSpLocks/>
              <a:stCxn id="64" idx="2"/>
              <a:endCxn id="75" idx="0"/>
            </p:cNvCxnSpPr>
            <p:nvPr/>
          </p:nvCxnSpPr>
          <p:spPr>
            <a:xfrm rot="5400000">
              <a:off x="3380854" y="376335"/>
              <a:ext cx="398273" cy="5032020"/>
            </a:xfrm>
            <a:prstGeom prst="bentConnector3">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6" name="Elbow Connector 28">
              <a:extLst>
                <a:ext uri="{FF2B5EF4-FFF2-40B4-BE49-F238E27FC236}">
                  <a16:creationId xmlns:a16="http://schemas.microsoft.com/office/drawing/2014/main" id="{902C30A2-E008-499B-7D09-672FC4251B7C}"/>
                </a:ext>
              </a:extLst>
            </p:cNvPr>
            <p:cNvCxnSpPr>
              <a:stCxn id="64" idx="2"/>
              <a:endCxn id="61" idx="0"/>
            </p:cNvCxnSpPr>
            <p:nvPr/>
          </p:nvCxnSpPr>
          <p:spPr>
            <a:xfrm rot="5400000">
              <a:off x="4100018" y="1095499"/>
              <a:ext cx="398273" cy="3593693"/>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7" name="Elbow Connector 31">
              <a:extLst>
                <a:ext uri="{FF2B5EF4-FFF2-40B4-BE49-F238E27FC236}">
                  <a16:creationId xmlns:a16="http://schemas.microsoft.com/office/drawing/2014/main" id="{EBAD3417-F3DB-9136-2257-CA4212AED24D}"/>
                </a:ext>
              </a:extLst>
            </p:cNvPr>
            <p:cNvCxnSpPr>
              <a:stCxn id="64" idx="2"/>
              <a:endCxn id="62" idx="0"/>
            </p:cNvCxnSpPr>
            <p:nvPr/>
          </p:nvCxnSpPr>
          <p:spPr>
            <a:xfrm rot="5400000">
              <a:off x="4819181" y="1814662"/>
              <a:ext cx="398273" cy="2155366"/>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8" name="Elbow Connector 35">
              <a:extLst>
                <a:ext uri="{FF2B5EF4-FFF2-40B4-BE49-F238E27FC236}">
                  <a16:creationId xmlns:a16="http://schemas.microsoft.com/office/drawing/2014/main" id="{3118FB34-5C72-B374-C268-8706C64AA01B}"/>
                </a:ext>
              </a:extLst>
            </p:cNvPr>
            <p:cNvCxnSpPr>
              <a:cxnSpLocks/>
              <a:stCxn id="64" idx="2"/>
              <a:endCxn id="76" idx="0"/>
            </p:cNvCxnSpPr>
            <p:nvPr/>
          </p:nvCxnSpPr>
          <p:spPr>
            <a:xfrm rot="5400000">
              <a:off x="5537495" y="2532976"/>
              <a:ext cx="398273" cy="718738"/>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69" name="Elbow Connector 38">
              <a:extLst>
                <a:ext uri="{FF2B5EF4-FFF2-40B4-BE49-F238E27FC236}">
                  <a16:creationId xmlns:a16="http://schemas.microsoft.com/office/drawing/2014/main" id="{09237804-2BB3-F24A-73AC-2EFB9151C8E9}"/>
                </a:ext>
              </a:extLst>
            </p:cNvPr>
            <p:cNvCxnSpPr>
              <a:cxnSpLocks/>
              <a:stCxn id="64" idx="2"/>
              <a:endCxn id="77" idx="0"/>
            </p:cNvCxnSpPr>
            <p:nvPr/>
          </p:nvCxnSpPr>
          <p:spPr>
            <a:xfrm rot="16200000" flipH="1">
              <a:off x="6255383" y="2533825"/>
              <a:ext cx="398273" cy="717039"/>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0" name="Elbow Connector 41">
              <a:extLst>
                <a:ext uri="{FF2B5EF4-FFF2-40B4-BE49-F238E27FC236}">
                  <a16:creationId xmlns:a16="http://schemas.microsoft.com/office/drawing/2014/main" id="{E30D33D0-E09F-7FAA-E7B9-870051BA34CB}"/>
                </a:ext>
              </a:extLst>
            </p:cNvPr>
            <p:cNvCxnSpPr>
              <a:cxnSpLocks/>
              <a:stCxn id="64" idx="2"/>
              <a:endCxn id="78" idx="0"/>
            </p:cNvCxnSpPr>
            <p:nvPr/>
          </p:nvCxnSpPr>
          <p:spPr>
            <a:xfrm rot="16200000" flipH="1">
              <a:off x="6974547" y="1814662"/>
              <a:ext cx="398273" cy="2155366"/>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1" name="Elbow Connector 46">
              <a:extLst>
                <a:ext uri="{FF2B5EF4-FFF2-40B4-BE49-F238E27FC236}">
                  <a16:creationId xmlns:a16="http://schemas.microsoft.com/office/drawing/2014/main" id="{308567DA-6F7E-B5AB-7CE4-7462324FC468}"/>
                </a:ext>
              </a:extLst>
            </p:cNvPr>
            <p:cNvCxnSpPr>
              <a:cxnSpLocks/>
              <a:stCxn id="64" idx="2"/>
              <a:endCxn id="79" idx="0"/>
            </p:cNvCxnSpPr>
            <p:nvPr/>
          </p:nvCxnSpPr>
          <p:spPr>
            <a:xfrm rot="16200000" flipH="1">
              <a:off x="7693710" y="1095498"/>
              <a:ext cx="398273" cy="3593693"/>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2" name="Elbow Connector 49">
              <a:extLst>
                <a:ext uri="{FF2B5EF4-FFF2-40B4-BE49-F238E27FC236}">
                  <a16:creationId xmlns:a16="http://schemas.microsoft.com/office/drawing/2014/main" id="{E6E54095-A8E6-72E2-A1FF-173E933A6FED}"/>
                </a:ext>
              </a:extLst>
            </p:cNvPr>
            <p:cNvCxnSpPr>
              <a:cxnSpLocks/>
              <a:stCxn id="64" idx="2"/>
              <a:endCxn id="80" idx="0"/>
            </p:cNvCxnSpPr>
            <p:nvPr/>
          </p:nvCxnSpPr>
          <p:spPr>
            <a:xfrm rot="16200000" flipH="1">
              <a:off x="8412875" y="376334"/>
              <a:ext cx="398273" cy="5032022"/>
            </a:xfrm>
            <a:prstGeom prst="bentConnector3">
              <a:avLst>
                <a:gd name="adj1" fmla="val 50000"/>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cxnSp>
          <p:nvCxnSpPr>
            <p:cNvPr id="73" name="Elbow Connector 52">
              <a:extLst>
                <a:ext uri="{FF2B5EF4-FFF2-40B4-BE49-F238E27FC236}">
                  <a16:creationId xmlns:a16="http://schemas.microsoft.com/office/drawing/2014/main" id="{45C6FF30-08FE-0CD7-3220-3CD73B947F40}"/>
                </a:ext>
              </a:extLst>
            </p:cNvPr>
            <p:cNvCxnSpPr>
              <a:cxnSpLocks/>
              <a:stCxn id="75" idx="2"/>
              <a:endCxn id="63" idx="0"/>
            </p:cNvCxnSpPr>
            <p:nvPr/>
          </p:nvCxnSpPr>
          <p:spPr>
            <a:xfrm rot="16200000" flipH="1">
              <a:off x="1161031" y="3600139"/>
              <a:ext cx="514689" cy="708791"/>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4" name="Elbow Connector 57">
              <a:extLst>
                <a:ext uri="{FF2B5EF4-FFF2-40B4-BE49-F238E27FC236}">
                  <a16:creationId xmlns:a16="http://schemas.microsoft.com/office/drawing/2014/main" id="{8F41D7BA-1B5D-78CB-0A2B-211AE141F86D}"/>
                </a:ext>
              </a:extLst>
            </p:cNvPr>
            <p:cNvCxnSpPr>
              <a:stCxn id="61" idx="2"/>
              <a:endCxn id="63" idx="0"/>
            </p:cNvCxnSpPr>
            <p:nvPr/>
          </p:nvCxnSpPr>
          <p:spPr>
            <a:xfrm rot="5400000">
              <a:off x="1880195" y="3589767"/>
              <a:ext cx="514689" cy="729536"/>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75" name="object 6">
              <a:extLst>
                <a:ext uri="{FF2B5EF4-FFF2-40B4-BE49-F238E27FC236}">
                  <a16:creationId xmlns:a16="http://schemas.microsoft.com/office/drawing/2014/main" id="{E7276300-11E9-A354-E1CF-3BAC2A09D423}"/>
                </a:ext>
              </a:extLst>
            </p:cNvPr>
            <p:cNvSpPr txBox="1"/>
            <p:nvPr/>
          </p:nvSpPr>
          <p:spPr>
            <a:xfrm>
              <a:off x="367285" y="3091482"/>
              <a:ext cx="1393389" cy="605709"/>
            </a:xfrm>
            <a:prstGeom prst="rect">
              <a:avLst/>
            </a:prstGeom>
            <a:solidFill>
              <a:schemeClr val="tx2"/>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FFFFFF"/>
                  </a:solidFill>
                  <a:effectLst/>
                  <a:uLnTx/>
                  <a:uFillTx/>
                  <a:latin typeface="Arial"/>
                  <a:ea typeface="+mn-ea"/>
                  <a:cs typeface="Arial"/>
                </a:rPr>
                <a:t>Symptom severity</a:t>
              </a:r>
            </a:p>
          </p:txBody>
        </p:sp>
        <p:sp>
          <p:nvSpPr>
            <p:cNvPr id="76" name="object 6">
              <a:extLst>
                <a:ext uri="{FF2B5EF4-FFF2-40B4-BE49-F238E27FC236}">
                  <a16:creationId xmlns:a16="http://schemas.microsoft.com/office/drawing/2014/main" id="{BAF02EEC-8BC5-AA6B-BC4C-A4EB1C163DE3}"/>
                </a:ext>
              </a:extLst>
            </p:cNvPr>
            <p:cNvSpPr txBox="1"/>
            <p:nvPr/>
          </p:nvSpPr>
          <p:spPr>
            <a:xfrm>
              <a:off x="4680567"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a:ea typeface="+mn-ea"/>
                  <a:cs typeface="Arial"/>
                </a:rPr>
                <a:t>Comorbidities</a:t>
              </a:r>
            </a:p>
          </p:txBody>
        </p:sp>
        <p:sp>
          <p:nvSpPr>
            <p:cNvPr id="77" name="object 6">
              <a:extLst>
                <a:ext uri="{FF2B5EF4-FFF2-40B4-BE49-F238E27FC236}">
                  <a16:creationId xmlns:a16="http://schemas.microsoft.com/office/drawing/2014/main" id="{DD7BCF84-EF6D-FB7D-F473-ABA6A51BDD30}"/>
                </a:ext>
              </a:extLst>
            </p:cNvPr>
            <p:cNvSpPr txBox="1"/>
            <p:nvPr/>
          </p:nvSpPr>
          <p:spPr>
            <a:xfrm>
              <a:off x="6116344"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a:ea typeface="+mn-ea"/>
                  <a:cs typeface="Arial"/>
                </a:rPr>
                <a:t>Drug availability</a:t>
              </a:r>
            </a:p>
          </p:txBody>
        </p:sp>
        <p:sp>
          <p:nvSpPr>
            <p:cNvPr id="78" name="object 6">
              <a:extLst>
                <a:ext uri="{FF2B5EF4-FFF2-40B4-BE49-F238E27FC236}">
                  <a16:creationId xmlns:a16="http://schemas.microsoft.com/office/drawing/2014/main" id="{2A23FEC7-B198-C5C5-97C8-5CC94C427C43}"/>
                </a:ext>
              </a:extLst>
            </p:cNvPr>
            <p:cNvSpPr txBox="1"/>
            <p:nvPr/>
          </p:nvSpPr>
          <p:spPr>
            <a:xfrm>
              <a:off x="7554671"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a:ea typeface="+mn-ea"/>
                  <a:cs typeface="Arial"/>
                </a:rPr>
                <a:t>Patient response</a:t>
              </a:r>
            </a:p>
          </p:txBody>
        </p:sp>
        <p:sp>
          <p:nvSpPr>
            <p:cNvPr id="79" name="object 6">
              <a:extLst>
                <a:ext uri="{FF2B5EF4-FFF2-40B4-BE49-F238E27FC236}">
                  <a16:creationId xmlns:a16="http://schemas.microsoft.com/office/drawing/2014/main" id="{74B790C3-7C58-465D-F23E-21B90098D0F9}"/>
                </a:ext>
              </a:extLst>
            </p:cNvPr>
            <p:cNvSpPr txBox="1"/>
            <p:nvPr/>
          </p:nvSpPr>
          <p:spPr>
            <a:xfrm>
              <a:off x="8992998"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dirty="0">
                  <a:ln>
                    <a:noFill/>
                  </a:ln>
                  <a:solidFill>
                    <a:srgbClr val="000000"/>
                  </a:solidFill>
                  <a:effectLst/>
                  <a:uLnTx/>
                  <a:uFillTx/>
                  <a:latin typeface="Arial"/>
                  <a:ea typeface="+mn-ea"/>
                  <a:cs typeface="Arial"/>
                </a:rPr>
                <a:t>Preference</a:t>
              </a:r>
            </a:p>
          </p:txBody>
        </p:sp>
        <p:sp>
          <p:nvSpPr>
            <p:cNvPr id="80" name="object 6">
              <a:extLst>
                <a:ext uri="{FF2B5EF4-FFF2-40B4-BE49-F238E27FC236}">
                  <a16:creationId xmlns:a16="http://schemas.microsoft.com/office/drawing/2014/main" id="{04AACEA3-8B82-148F-4985-9CE4F83231F7}"/>
                </a:ext>
              </a:extLst>
            </p:cNvPr>
            <p:cNvSpPr txBox="1"/>
            <p:nvPr/>
          </p:nvSpPr>
          <p:spPr>
            <a:xfrm>
              <a:off x="10431327" y="3091482"/>
              <a:ext cx="1393389" cy="605709"/>
            </a:xfrm>
            <a:prstGeom prst="rect">
              <a:avLst/>
            </a:prstGeom>
            <a:solidFill>
              <a:schemeClr val="tx2">
                <a:lumMod val="20000"/>
                <a:lumOff val="80000"/>
              </a:schemeClr>
            </a:solidFill>
          </p:spPr>
          <p:txBody>
            <a:bodyPr vert="horz" wrap="square" lIns="45720" tIns="45720" rIns="45720" bIns="4572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Ability to use drug delivery device</a:t>
              </a:r>
            </a:p>
          </p:txBody>
        </p:sp>
      </p:grpSp>
    </p:spTree>
    <p:custDataLst>
      <p:tags r:id="rId1"/>
    </p:custDataLst>
    <p:extLst>
      <p:ext uri="{BB962C8B-B14F-4D97-AF65-F5344CB8AC3E}">
        <p14:creationId xmlns:p14="http://schemas.microsoft.com/office/powerpoint/2010/main" val="724156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81</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1274E0B1-92C9-479D-8017-D159B1AD3D47}"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FEV</a:t>
            </a:r>
            <a:r>
              <a:rPr lang="en-US" baseline="-25000" dirty="0"/>
              <a:t>1</a:t>
            </a:r>
            <a:r>
              <a:rPr lang="en-US" dirty="0"/>
              <a:t>, forced expiratory volume in 1 second; ICS, inhaled corticosteroid; LABA, long-acting </a:t>
            </a:r>
            <a:r>
              <a:rPr lang="el-GR" dirty="0"/>
              <a:t>β2</a:t>
            </a:r>
            <a:r>
              <a:rPr lang="en-IN" dirty="0"/>
              <a:t> </a:t>
            </a:r>
            <a:r>
              <a:rPr lang="en-US" dirty="0"/>
              <a:t>agonist; LAMA, long-acting muscarinic antagonist; PDE4, phosphodiesterase-4; SABA, short-acting </a:t>
            </a:r>
            <a:r>
              <a:rPr lang="el-GR" dirty="0"/>
              <a:t>β2</a:t>
            </a:r>
            <a:r>
              <a:rPr lang="en-IN" dirty="0"/>
              <a:t> </a:t>
            </a:r>
            <a:r>
              <a:rPr lang="en-US" dirty="0"/>
              <a:t>agonist; SAMA, short-acting muscarinic antagonist</a:t>
            </a:r>
          </a:p>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5" name="Subtitle 4">
            <a:extLst>
              <a:ext uri="{FF2B5EF4-FFF2-40B4-BE49-F238E27FC236}">
                <a16:creationId xmlns:a16="http://schemas.microsoft.com/office/drawing/2014/main" id="{F956255C-1A2C-A4B6-9283-6AE0EB734377}"/>
              </a:ext>
            </a:extLst>
          </p:cNvPr>
          <p:cNvSpPr>
            <a:spLocks noGrp="1"/>
          </p:cNvSpPr>
          <p:nvPr>
            <p:ph type="subTitle" idx="1"/>
          </p:nvPr>
        </p:nvSpPr>
        <p:spPr>
          <a:xfrm>
            <a:off x="365125" y="694950"/>
            <a:ext cx="11460164" cy="352800"/>
          </a:xfrm>
        </p:spPr>
        <p:txBody>
          <a:bodyPr/>
          <a:lstStyle/>
          <a:p>
            <a:r>
              <a:rPr lang="en-US" dirty="0"/>
              <a:t>A range of pharmacological interventions is available, such as</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Pharmacological approaches for the management of COPD (2)</a:t>
            </a:r>
            <a:endParaRPr lang="en-GB" dirty="0"/>
          </a:p>
        </p:txBody>
      </p:sp>
      <p:sp>
        <p:nvSpPr>
          <p:cNvPr id="9" name="TextBox 8">
            <a:extLst>
              <a:ext uri="{FF2B5EF4-FFF2-40B4-BE49-F238E27FC236}">
                <a16:creationId xmlns:a16="http://schemas.microsoft.com/office/drawing/2014/main" id="{680B64F3-F8E5-F564-5D1B-F5DE23F16E91}"/>
              </a:ext>
            </a:extLst>
          </p:cNvPr>
          <p:cNvSpPr txBox="1"/>
          <p:nvPr/>
        </p:nvSpPr>
        <p:spPr>
          <a:xfrm>
            <a:off x="365125" y="3655527"/>
            <a:ext cx="11460163" cy="1641475"/>
          </a:xfrm>
          <a:prstGeom prst="rect">
            <a:avLst/>
          </a:prstGeom>
          <a:noFill/>
        </p:spPr>
        <p:txBody>
          <a:bodyPr wrap="square" rtlCol="0">
            <a:spAutoFit/>
          </a:bodyPr>
          <a:lstStyle/>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IN" sz="1200" b="0" i="0" u="none" strike="noStrike" kern="1200" cap="none" spc="0" normalizeH="0" baseline="0" noProof="0" dirty="0">
                <a:ln>
                  <a:noFill/>
                </a:ln>
                <a:solidFill>
                  <a:srgbClr val="000000"/>
                </a:solidFill>
                <a:effectLst/>
                <a:uLnTx/>
                <a:uFillTx/>
                <a:latin typeface="Arial"/>
                <a:ea typeface="+mn-ea"/>
                <a:cs typeface="Noto Sans"/>
              </a:rPr>
              <a:t>Inhaled bronchodilators are regularly used to prevent or reduce symptoms</a:t>
            </a:r>
          </a:p>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Combination treatment with SABA + SAMA or LABA + LAMA improves FEV</a:t>
            </a:r>
            <a:r>
              <a:rPr kumimoji="0" lang="en-US" sz="1200" b="0" i="0" u="none" strike="noStrike" kern="1200" cap="none" spc="0" normalizeH="0" baseline="-25000" noProof="0" dirty="0">
                <a:ln>
                  <a:noFill/>
                </a:ln>
                <a:solidFill>
                  <a:srgbClr val="000000"/>
                </a:solidFill>
                <a:effectLst/>
                <a:uLnTx/>
                <a:uFillTx/>
                <a:latin typeface="Arial"/>
                <a:ea typeface="+mn-ea"/>
                <a:cs typeface="Noto Sans"/>
              </a:rPr>
              <a:t>1</a:t>
            </a:r>
            <a:r>
              <a:rPr kumimoji="0" lang="en-US" sz="1200" b="0" i="0" u="none" strike="noStrike" kern="1200" cap="none" spc="0" normalizeH="0" baseline="0" noProof="0" dirty="0">
                <a:ln>
                  <a:noFill/>
                </a:ln>
                <a:solidFill>
                  <a:srgbClr val="000000"/>
                </a:solidFill>
                <a:effectLst/>
                <a:uLnTx/>
                <a:uFillTx/>
                <a:latin typeface="Arial"/>
                <a:ea typeface="+mn-ea"/>
                <a:cs typeface="Noto Sans"/>
              </a:rPr>
              <a:t> and symptoms compared with monotherapy</a:t>
            </a:r>
          </a:p>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Long-term monotherapy with ICS is not recommended. The regular use of ICS increases the risk of pneumonia especially in patients with severe COPD</a:t>
            </a:r>
          </a:p>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The use of ICS + LABA in COPD is not encouraged. If there is an indication for an ICS, triple therapy with ICS + LABA + LAMA is preferred over ICS + LABA as it improves symptoms, lung function and health status and reduces exacerbations</a:t>
            </a:r>
          </a:p>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Single inhaler therapy may be more convenient and effective than multiple inhaler therapy</a:t>
            </a:r>
          </a:p>
          <a:p>
            <a:pPr marL="171450" marR="0" lvl="0" indent="-171450" algn="l" defTabSz="1219170" rtl="0" eaLnBrk="1" fontAlgn="auto" latinLnBrk="0" hangingPunct="1">
              <a:lnSpc>
                <a:spcPct val="100000"/>
              </a:lnSpc>
              <a:spcBef>
                <a:spcPts val="200"/>
              </a:spcBef>
              <a:spcAft>
                <a:spcPts val="200"/>
              </a:spcAft>
              <a:buClr>
                <a:srgbClr val="F36633"/>
              </a:buClr>
              <a:buSzTx/>
              <a:buFont typeface="Arial" panose="020B0604020202020204" pitchFamily="34" charset="0"/>
              <a:buChar char="•"/>
              <a:tabLst/>
              <a:defRPr/>
            </a:pPr>
            <a:r>
              <a:rPr kumimoji="0" lang="en-US" sz="1200" b="0" i="0" u="none" strike="noStrike" kern="1200" cap="none" spc="0" normalizeH="0" baseline="0" noProof="0" dirty="0">
                <a:ln>
                  <a:noFill/>
                </a:ln>
                <a:solidFill>
                  <a:srgbClr val="000000"/>
                </a:solidFill>
                <a:effectLst/>
                <a:uLnTx/>
                <a:uFillTx/>
                <a:latin typeface="Arial"/>
                <a:ea typeface="+mn-ea"/>
                <a:cs typeface="Noto Sans"/>
              </a:rPr>
              <a:t>The choice of medicine within each class depends on the medication availability and patient’s responses and preferences  </a:t>
            </a:r>
          </a:p>
        </p:txBody>
      </p:sp>
      <p:sp>
        <p:nvSpPr>
          <p:cNvPr id="37" name="object 5">
            <a:extLst>
              <a:ext uri="{FF2B5EF4-FFF2-40B4-BE49-F238E27FC236}">
                <a16:creationId xmlns:a16="http://schemas.microsoft.com/office/drawing/2014/main" id="{226472ED-FA9D-723B-2FFE-8B3F2ADC5601}"/>
              </a:ext>
            </a:extLst>
          </p:cNvPr>
          <p:cNvSpPr txBox="1"/>
          <p:nvPr/>
        </p:nvSpPr>
        <p:spPr>
          <a:xfrm>
            <a:off x="2208399" y="1300200"/>
            <a:ext cx="2604313" cy="416166"/>
          </a:xfrm>
          <a:prstGeom prst="rect">
            <a:avLst/>
          </a:prstGeom>
          <a:solidFill>
            <a:schemeClr val="bg2"/>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805"/>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Arial"/>
              </a:rPr>
              <a:t>Bronchodilators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38" name="object 15">
            <a:extLst>
              <a:ext uri="{FF2B5EF4-FFF2-40B4-BE49-F238E27FC236}">
                <a16:creationId xmlns:a16="http://schemas.microsoft.com/office/drawing/2014/main" id="{906F162F-9C9C-74AD-B643-400F55277BE6}"/>
              </a:ext>
            </a:extLst>
          </p:cNvPr>
          <p:cNvSpPr txBox="1"/>
          <p:nvPr/>
        </p:nvSpPr>
        <p:spPr>
          <a:xfrm>
            <a:off x="7848986" y="1300200"/>
            <a:ext cx="2604313" cy="416166"/>
          </a:xfrm>
          <a:prstGeom prst="rect">
            <a:avLst/>
          </a:prstGeom>
          <a:solidFill>
            <a:schemeClr val="tx2"/>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805"/>
              </a:spcBef>
              <a:spcAft>
                <a:spcPts val="0"/>
              </a:spcAft>
              <a:buClrTx/>
              <a:buSzTx/>
              <a:buFontTx/>
              <a:buNone/>
              <a:tabLst/>
              <a:defRPr/>
            </a:pPr>
            <a:r>
              <a:rPr kumimoji="0" sz="1100" b="1" i="0" u="none" strike="noStrike" kern="1200" cap="none" spc="0" normalizeH="0" baseline="0" noProof="0" dirty="0">
                <a:ln>
                  <a:noFill/>
                </a:ln>
                <a:solidFill>
                  <a:srgbClr val="FFFFFF"/>
                </a:solidFill>
                <a:effectLst/>
                <a:uLnTx/>
                <a:uFillTx/>
                <a:latin typeface="Arial"/>
                <a:ea typeface="+mn-ea"/>
                <a:cs typeface="Arial"/>
              </a:rPr>
              <a:t>Anti-inflammatory agents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0" name="object 16">
            <a:extLst>
              <a:ext uri="{FF2B5EF4-FFF2-40B4-BE49-F238E27FC236}">
                <a16:creationId xmlns:a16="http://schemas.microsoft.com/office/drawing/2014/main" id="{21F9F1F5-5ED8-1DCC-304E-0BDD601ADDE8}"/>
              </a:ext>
            </a:extLst>
          </p:cNvPr>
          <p:cNvSpPr txBox="1"/>
          <p:nvPr/>
        </p:nvSpPr>
        <p:spPr>
          <a:xfrm>
            <a:off x="6899325" y="2081667"/>
            <a:ext cx="1931849" cy="654807"/>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ICS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1" name="object 17">
            <a:extLst>
              <a:ext uri="{FF2B5EF4-FFF2-40B4-BE49-F238E27FC236}">
                <a16:creationId xmlns:a16="http://schemas.microsoft.com/office/drawing/2014/main" id="{3FD17C96-7206-2B0C-E7C6-E2BF41D8F48C}"/>
              </a:ext>
            </a:extLst>
          </p:cNvPr>
          <p:cNvSpPr txBox="1"/>
          <p:nvPr/>
        </p:nvSpPr>
        <p:spPr>
          <a:xfrm>
            <a:off x="367284" y="2081667"/>
            <a:ext cx="1931849" cy="654807"/>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l-GR" sz="1100" b="1" i="0" u="none" strike="noStrike" kern="1200" cap="none" spc="0" normalizeH="0" baseline="0" noProof="0" dirty="0">
                <a:ln>
                  <a:noFill/>
                </a:ln>
                <a:solidFill>
                  <a:srgbClr val="000000"/>
                </a:solidFill>
                <a:effectLst/>
                <a:uLnTx/>
                <a:uFillTx/>
                <a:latin typeface="Arial"/>
                <a:ea typeface="+mn-ea"/>
                <a:cs typeface="Arial"/>
              </a:rPr>
              <a:t>β</a:t>
            </a:r>
            <a:r>
              <a:rPr kumimoji="0" sz="1100" b="1" i="0" u="none" strike="noStrike" kern="1200" cap="none" spc="0" normalizeH="0" baseline="-20833" noProof="0" dirty="0">
                <a:ln>
                  <a:noFill/>
                </a:ln>
                <a:solidFill>
                  <a:srgbClr val="000000"/>
                </a:solidFill>
                <a:effectLst/>
                <a:uLnTx/>
                <a:uFillTx/>
                <a:latin typeface="Arial"/>
                <a:ea typeface="+mn-ea"/>
                <a:cs typeface="Arial"/>
              </a:rPr>
              <a:t>2</a:t>
            </a:r>
            <a:r>
              <a:rPr kumimoji="0" lang="en-IN" sz="1100" b="1" i="0" u="none" strike="noStrike" kern="1200" cap="none" spc="0" normalizeH="0" baseline="0" noProof="0" dirty="0">
                <a:ln>
                  <a:noFill/>
                </a:ln>
                <a:solidFill>
                  <a:srgbClr val="000000"/>
                </a:solidFill>
                <a:effectLst/>
                <a:uLnTx/>
                <a:uFillTx/>
                <a:latin typeface="Arial"/>
                <a:ea typeface="+mn-ea"/>
                <a:cs typeface="Arial"/>
              </a:rPr>
              <a:t> </a:t>
            </a:r>
            <a:r>
              <a:rPr kumimoji="0" sz="1100" b="1" i="0" u="none" strike="noStrike" kern="1200" cap="none" spc="0" normalizeH="0" baseline="0" noProof="0" dirty="0">
                <a:ln>
                  <a:noFill/>
                </a:ln>
                <a:solidFill>
                  <a:srgbClr val="000000"/>
                </a:solidFill>
                <a:effectLst/>
                <a:uLnTx/>
                <a:uFillTx/>
                <a:latin typeface="Arial"/>
                <a:ea typeface="+mn-ea"/>
                <a:cs typeface="Arial"/>
              </a:rPr>
              <a:t>agonists</a:t>
            </a:r>
            <a:endParaRPr kumimoji="0" sz="1100" b="0"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eg</a:t>
            </a:r>
            <a:r>
              <a:rPr kumimoji="0" lang="en-IN" sz="1100" b="1" i="0" u="none" strike="noStrike" kern="1200" cap="none" spc="0" normalizeH="0" baseline="0" noProof="0" dirty="0">
                <a:ln>
                  <a:noFill/>
                </a:ln>
                <a:solidFill>
                  <a:srgbClr val="000000"/>
                </a:solidFill>
                <a:effectLst/>
                <a:uLnTx/>
                <a:uFillTx/>
                <a:latin typeface="Arial"/>
                <a:ea typeface="+mn-ea"/>
                <a:cs typeface="Arial"/>
              </a:rPr>
              <a:t>,</a:t>
            </a:r>
            <a:r>
              <a:rPr kumimoji="0" sz="1100" b="1" i="0" u="none" strike="noStrike" kern="1200" cap="none" spc="0" normalizeH="0" baseline="0" noProof="0" dirty="0">
                <a:ln>
                  <a:noFill/>
                </a:ln>
                <a:solidFill>
                  <a:srgbClr val="000000"/>
                </a:solidFill>
                <a:effectLst/>
                <a:uLnTx/>
                <a:uFillTx/>
                <a:latin typeface="Arial"/>
                <a:ea typeface="+mn-ea"/>
                <a:cs typeface="Arial"/>
              </a:rPr>
              <a:t> SABA</a:t>
            </a:r>
            <a:r>
              <a:rPr kumimoji="0" lang="en-IN" sz="1100" b="1" i="0" u="none" strike="noStrike" kern="1200" cap="none" spc="0" normalizeH="0" baseline="0" noProof="0" dirty="0">
                <a:ln>
                  <a:noFill/>
                </a:ln>
                <a:solidFill>
                  <a:srgbClr val="000000"/>
                </a:solidFill>
                <a:effectLst/>
                <a:uLnTx/>
                <a:uFillTx/>
                <a:latin typeface="Arial"/>
                <a:ea typeface="+mn-ea"/>
                <a:cs typeface="Arial"/>
              </a:rPr>
              <a:t> and</a:t>
            </a:r>
            <a:r>
              <a:rPr kumimoji="0" sz="1100" b="1" i="0" u="none" strike="noStrike" kern="1200" cap="none" spc="0" normalizeH="0" baseline="0" noProof="0" dirty="0">
                <a:ln>
                  <a:noFill/>
                </a:ln>
                <a:solidFill>
                  <a:srgbClr val="000000"/>
                </a:solidFill>
                <a:effectLst/>
                <a:uLnTx/>
                <a:uFillTx/>
                <a:latin typeface="Arial"/>
                <a:ea typeface="+mn-ea"/>
                <a:cs typeface="Arial"/>
              </a:rPr>
              <a:t> LABA</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2" name="object 19">
            <a:extLst>
              <a:ext uri="{FF2B5EF4-FFF2-40B4-BE49-F238E27FC236}">
                <a16:creationId xmlns:a16="http://schemas.microsoft.com/office/drawing/2014/main" id="{4A406AC7-3BAB-A2A0-7A3A-9F78AE70A48D}"/>
              </a:ext>
            </a:extLst>
          </p:cNvPr>
          <p:cNvSpPr txBox="1"/>
          <p:nvPr/>
        </p:nvSpPr>
        <p:spPr>
          <a:xfrm>
            <a:off x="4721978" y="2081667"/>
            <a:ext cx="1931849" cy="654807"/>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Methylxanthines</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3" name="object 20">
            <a:extLst>
              <a:ext uri="{FF2B5EF4-FFF2-40B4-BE49-F238E27FC236}">
                <a16:creationId xmlns:a16="http://schemas.microsoft.com/office/drawing/2014/main" id="{D1211246-F0A0-82A4-8033-3974291BCF78}"/>
              </a:ext>
            </a:extLst>
          </p:cNvPr>
          <p:cNvSpPr txBox="1"/>
          <p:nvPr/>
        </p:nvSpPr>
        <p:spPr>
          <a:xfrm>
            <a:off x="9076670" y="2081667"/>
            <a:ext cx="2753258" cy="654807"/>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Other anti-inflammatory agents</a:t>
            </a:r>
            <a:endParaRPr kumimoji="0" lang="en-US" sz="1100" b="0"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 eg, mucolytic agents, </a:t>
            </a:r>
            <a:r>
              <a:rPr kumimoji="0" lang="en-IN" sz="1100" b="1" i="0" u="none" strike="noStrike" kern="1200" cap="none" spc="0" normalizeH="0" baseline="0" noProof="0" dirty="0">
                <a:ln>
                  <a:noFill/>
                </a:ln>
                <a:solidFill>
                  <a:srgbClr val="000000"/>
                </a:solidFill>
                <a:effectLst/>
                <a:uLnTx/>
                <a:uFillTx/>
                <a:latin typeface="Arial"/>
                <a:ea typeface="+mn-ea"/>
                <a:cs typeface="Arial"/>
              </a:rPr>
              <a:t>PDE</a:t>
            </a:r>
            <a:r>
              <a:rPr kumimoji="0" sz="1100" b="1" i="0" u="none" strike="noStrike" kern="1200" cap="none" spc="0" normalizeH="0" baseline="0" noProof="0" dirty="0">
                <a:ln>
                  <a:noFill/>
                </a:ln>
                <a:solidFill>
                  <a:srgbClr val="000000"/>
                </a:solidFill>
                <a:effectLst/>
                <a:uLnTx/>
                <a:uFillTx/>
                <a:latin typeface="Arial"/>
                <a:ea typeface="+mn-ea"/>
                <a:cs typeface="Arial"/>
              </a:rPr>
              <a:t>4 inhibitors</a:t>
            </a:r>
            <a:r>
              <a:rPr kumimoji="0" lang="en-IN" sz="1100" b="1" i="0" u="none" strike="noStrike" kern="1200" cap="none" spc="0" normalizeH="0" baseline="0" noProof="0" dirty="0">
                <a:ln>
                  <a:noFill/>
                </a:ln>
                <a:solidFill>
                  <a:srgbClr val="000000"/>
                </a:solidFill>
                <a:effectLst/>
                <a:uLnTx/>
                <a:uFillTx/>
                <a:latin typeface="Arial"/>
                <a:ea typeface="+mn-ea"/>
                <a:cs typeface="Arial"/>
              </a:rPr>
              <a:t> and antibiotics </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4" name="object 21">
            <a:extLst>
              <a:ext uri="{FF2B5EF4-FFF2-40B4-BE49-F238E27FC236}">
                <a16:creationId xmlns:a16="http://schemas.microsoft.com/office/drawing/2014/main" id="{70103860-9155-ACCA-1C14-965B210C0762}"/>
              </a:ext>
            </a:extLst>
          </p:cNvPr>
          <p:cNvSpPr txBox="1"/>
          <p:nvPr/>
        </p:nvSpPr>
        <p:spPr>
          <a:xfrm>
            <a:off x="4221370" y="3081200"/>
            <a:ext cx="3749260" cy="539900"/>
          </a:xfrm>
          <a:prstGeom prst="rect">
            <a:avLst/>
          </a:prstGeom>
          <a:solidFill>
            <a:schemeClr val="bg2">
              <a:lumMod val="75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660"/>
              </a:spcBef>
              <a:spcAft>
                <a:spcPts val="0"/>
              </a:spcAft>
              <a:buClrTx/>
              <a:buSzTx/>
              <a:buFontTx/>
              <a:buNone/>
              <a:tabLst/>
              <a:defRPr/>
            </a:pPr>
            <a:r>
              <a:rPr kumimoji="0" sz="1100" b="1" i="0" u="none" strike="noStrike" kern="1200" cap="none" spc="0" normalizeH="0" baseline="0" noProof="0" dirty="0">
                <a:ln>
                  <a:noFill/>
                </a:ln>
                <a:solidFill>
                  <a:prstClr val="white"/>
                </a:solidFill>
                <a:effectLst/>
                <a:uLnTx/>
                <a:uFillTx/>
                <a:latin typeface="Arial"/>
                <a:ea typeface="+mn-ea"/>
                <a:cs typeface="Arial"/>
              </a:rPr>
              <a:t>Combination therapy</a:t>
            </a:r>
            <a:br>
              <a:rPr kumimoji="0" lang="en-US" sz="1100" b="0" i="0" u="none" strike="noStrike" kern="1200" cap="none" spc="0" normalizeH="0" baseline="0" noProof="0" dirty="0">
                <a:ln>
                  <a:noFill/>
                </a:ln>
                <a:solidFill>
                  <a:prstClr val="white"/>
                </a:solidFill>
                <a:effectLst/>
                <a:uLnTx/>
                <a:uFillTx/>
                <a:latin typeface="Arial"/>
                <a:ea typeface="+mn-ea"/>
                <a:cs typeface="Arial"/>
              </a:rPr>
            </a:br>
            <a:r>
              <a:rPr kumimoji="0" sz="1100" b="1" i="0" u="none" strike="noStrike" kern="1200" cap="none" spc="0" normalizeH="0" baseline="0" noProof="0" dirty="0">
                <a:ln>
                  <a:noFill/>
                </a:ln>
                <a:solidFill>
                  <a:prstClr val="white"/>
                </a:solidFill>
                <a:effectLst/>
                <a:uLnTx/>
                <a:uFillTx/>
                <a:latin typeface="Arial"/>
                <a:ea typeface="+mn-ea"/>
                <a:cs typeface="Arial"/>
              </a:rPr>
              <a:t>eg</a:t>
            </a:r>
            <a:r>
              <a:rPr kumimoji="0" lang="en-IN" sz="1100" b="1" i="0" u="none" strike="noStrike" kern="1200" cap="none" spc="0" normalizeH="0" baseline="0" noProof="0" dirty="0">
                <a:ln>
                  <a:noFill/>
                </a:ln>
                <a:solidFill>
                  <a:prstClr val="white"/>
                </a:solidFill>
                <a:effectLst/>
                <a:uLnTx/>
                <a:uFillTx/>
                <a:latin typeface="Arial"/>
                <a:ea typeface="+mn-ea"/>
                <a:cs typeface="Arial"/>
              </a:rPr>
              <a:t>,</a:t>
            </a:r>
            <a:r>
              <a:rPr kumimoji="0" sz="1100" b="1" i="0" u="none" strike="noStrike" kern="1200" cap="none" spc="0" normalizeH="0" baseline="0" noProof="0" dirty="0">
                <a:ln>
                  <a:noFill/>
                </a:ln>
                <a:solidFill>
                  <a:prstClr val="white"/>
                </a:solidFill>
                <a:effectLst/>
                <a:uLnTx/>
                <a:uFillTx/>
                <a:latin typeface="Arial"/>
                <a:ea typeface="+mn-ea"/>
                <a:cs typeface="Arial"/>
              </a:rPr>
              <a:t> LAMA</a:t>
            </a:r>
            <a:r>
              <a:rPr kumimoji="0" lang="en-IN" sz="1100" b="1" i="0" u="none" strike="noStrike" kern="1200" cap="none" spc="0" normalizeH="0" baseline="0" noProof="0" dirty="0">
                <a:ln>
                  <a:noFill/>
                </a:ln>
                <a:solidFill>
                  <a:prstClr val="white"/>
                </a:solidFill>
                <a:effectLst/>
                <a:uLnTx/>
                <a:uFillTx/>
                <a:latin typeface="Arial"/>
                <a:ea typeface="+mn-ea"/>
                <a:cs typeface="Arial"/>
              </a:rPr>
              <a:t> + </a:t>
            </a:r>
            <a:r>
              <a:rPr kumimoji="0" sz="1100" b="1" i="0" u="none" strike="noStrike" kern="1200" cap="none" spc="0" normalizeH="0" baseline="0" noProof="0" dirty="0">
                <a:ln>
                  <a:noFill/>
                </a:ln>
                <a:solidFill>
                  <a:prstClr val="white"/>
                </a:solidFill>
                <a:effectLst/>
                <a:uLnTx/>
                <a:uFillTx/>
                <a:latin typeface="Arial"/>
                <a:ea typeface="+mn-ea"/>
                <a:cs typeface="Arial"/>
              </a:rPr>
              <a:t>LABA, ICS</a:t>
            </a:r>
            <a:r>
              <a:rPr kumimoji="0" lang="en-IN" sz="1100" b="1" i="0" u="none" strike="noStrike" kern="1200" cap="none" spc="0" normalizeH="0" baseline="0" noProof="0" dirty="0">
                <a:ln>
                  <a:noFill/>
                </a:ln>
                <a:solidFill>
                  <a:prstClr val="white"/>
                </a:solidFill>
                <a:effectLst/>
                <a:uLnTx/>
                <a:uFillTx/>
                <a:latin typeface="Arial"/>
                <a:ea typeface="+mn-ea"/>
                <a:cs typeface="Arial"/>
              </a:rPr>
              <a:t> + </a:t>
            </a:r>
            <a:r>
              <a:rPr kumimoji="0" sz="1100" b="1" i="0" u="none" strike="noStrike" kern="1200" cap="none" spc="0" normalizeH="0" baseline="0" noProof="0" dirty="0">
                <a:ln>
                  <a:noFill/>
                </a:ln>
                <a:solidFill>
                  <a:prstClr val="white"/>
                </a:solidFill>
                <a:effectLst/>
                <a:uLnTx/>
                <a:uFillTx/>
                <a:latin typeface="Arial"/>
                <a:ea typeface="+mn-ea"/>
                <a:cs typeface="Arial"/>
              </a:rPr>
              <a:t>LABA</a:t>
            </a:r>
            <a:r>
              <a:rPr kumimoji="0" lang="en-IN" sz="1100" b="1" i="0" u="none" strike="noStrike" kern="1200" cap="none" spc="0" normalizeH="0" baseline="0" noProof="0" dirty="0">
                <a:ln>
                  <a:noFill/>
                </a:ln>
                <a:solidFill>
                  <a:prstClr val="white"/>
                </a:solidFill>
                <a:effectLst/>
                <a:uLnTx/>
                <a:uFillTx/>
                <a:latin typeface="Arial"/>
                <a:ea typeface="+mn-ea"/>
                <a:cs typeface="Arial"/>
              </a:rPr>
              <a:t>, </a:t>
            </a:r>
            <a:r>
              <a:rPr kumimoji="0" lang="en-US" sz="1100" b="1" i="0" u="none" strike="noStrike" kern="1200" cap="none" spc="0" normalizeH="0" baseline="0" noProof="0" dirty="0">
                <a:ln>
                  <a:noFill/>
                </a:ln>
                <a:solidFill>
                  <a:prstClr val="white"/>
                </a:solidFill>
                <a:effectLst/>
                <a:uLnTx/>
                <a:uFillTx/>
                <a:latin typeface="Arial"/>
                <a:ea typeface="+mn-ea"/>
                <a:cs typeface="Arial"/>
              </a:rPr>
              <a:t>ICS + LABA + LAMA</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45" name="object 19">
            <a:extLst>
              <a:ext uri="{FF2B5EF4-FFF2-40B4-BE49-F238E27FC236}">
                <a16:creationId xmlns:a16="http://schemas.microsoft.com/office/drawing/2014/main" id="{0DAB0C15-5619-CB99-B053-30CCF411C70D}"/>
              </a:ext>
            </a:extLst>
          </p:cNvPr>
          <p:cNvSpPr txBox="1"/>
          <p:nvPr/>
        </p:nvSpPr>
        <p:spPr>
          <a:xfrm>
            <a:off x="2544631" y="2081667"/>
            <a:ext cx="1931849" cy="654807"/>
          </a:xfrm>
          <a:prstGeom prst="rect">
            <a:avLst/>
          </a:prstGeom>
          <a:solidFill>
            <a:schemeClr val="tx2">
              <a:lumMod val="20000"/>
              <a:lumOff val="80000"/>
            </a:schemeClr>
          </a:solidFill>
        </p:spPr>
        <p:txBody>
          <a:bodyPr vert="horz" wrap="square" lIns="0" tIns="0" rIns="0" bIns="0" rtlCol="0" anchor="ctr" anchorCtr="0">
            <a:no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pt-BR" sz="1100" b="1" i="0" u="none" strike="noStrike" kern="1200" cap="none" spc="0" normalizeH="0" baseline="0" noProof="0" dirty="0">
                <a:ln>
                  <a:noFill/>
                </a:ln>
                <a:solidFill>
                  <a:srgbClr val="000000"/>
                </a:solidFill>
                <a:effectLst/>
                <a:uLnTx/>
                <a:uFillTx/>
                <a:latin typeface="Arial"/>
                <a:ea typeface="+mn-ea"/>
                <a:cs typeface="Arial"/>
              </a:rPr>
              <a:t>Anticholinergics</a:t>
            </a:r>
            <a:br>
              <a:rPr kumimoji="0" lang="pt-BR" sz="1100" b="1" i="0" u="none" strike="noStrike" kern="1200" cap="none" spc="0" normalizeH="0" baseline="0" noProof="0" dirty="0">
                <a:ln>
                  <a:noFill/>
                </a:ln>
                <a:solidFill>
                  <a:srgbClr val="000000"/>
                </a:solidFill>
                <a:effectLst/>
                <a:uLnTx/>
                <a:uFillTx/>
                <a:latin typeface="Arial"/>
                <a:ea typeface="+mn-ea"/>
                <a:cs typeface="Arial"/>
              </a:rPr>
            </a:br>
            <a:r>
              <a:rPr kumimoji="0" lang="pt-BR" sz="1100" b="1" i="0" u="none" strike="noStrike" kern="1200" cap="none" spc="0" normalizeH="0" baseline="0" noProof="0" dirty="0">
                <a:ln>
                  <a:noFill/>
                </a:ln>
                <a:solidFill>
                  <a:srgbClr val="000000"/>
                </a:solidFill>
                <a:effectLst/>
                <a:uLnTx/>
                <a:uFillTx/>
                <a:latin typeface="Arial"/>
                <a:ea typeface="+mn-ea"/>
                <a:cs typeface="Arial"/>
              </a:rPr>
              <a:t>eg, SAMA and LAMA</a:t>
            </a:r>
          </a:p>
        </p:txBody>
      </p:sp>
      <p:cxnSp>
        <p:nvCxnSpPr>
          <p:cNvPr id="14" name="Elbow Connector 31">
            <a:extLst>
              <a:ext uri="{FF2B5EF4-FFF2-40B4-BE49-F238E27FC236}">
                <a16:creationId xmlns:a16="http://schemas.microsoft.com/office/drawing/2014/main" id="{66FA3BFA-E43B-9805-7789-DB380C2CDA32}"/>
              </a:ext>
            </a:extLst>
          </p:cNvPr>
          <p:cNvCxnSpPr>
            <a:stCxn id="37" idx="2"/>
            <a:endCxn id="41" idx="0"/>
          </p:cNvCxnSpPr>
          <p:nvPr/>
        </p:nvCxnSpPr>
        <p:spPr>
          <a:xfrm rot="5400000">
            <a:off x="2239233" y="810343"/>
            <a:ext cx="365301" cy="2177347"/>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Elbow Connector 32">
            <a:extLst>
              <a:ext uri="{FF2B5EF4-FFF2-40B4-BE49-F238E27FC236}">
                <a16:creationId xmlns:a16="http://schemas.microsoft.com/office/drawing/2014/main" id="{F55FC065-1C4A-C36E-2735-50056412EE20}"/>
              </a:ext>
            </a:extLst>
          </p:cNvPr>
          <p:cNvCxnSpPr>
            <a:stCxn id="37" idx="2"/>
            <a:endCxn id="45" idx="0"/>
          </p:cNvCxnSpPr>
          <p:nvPr/>
        </p:nvCxnSpPr>
        <p:spPr>
          <a:xfrm>
            <a:off x="3510556" y="1716366"/>
            <a:ext cx="0" cy="365301"/>
          </a:xfrm>
          <a:prstGeom prst="straightConnector1">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Elbow Connector 35">
            <a:extLst>
              <a:ext uri="{FF2B5EF4-FFF2-40B4-BE49-F238E27FC236}">
                <a16:creationId xmlns:a16="http://schemas.microsoft.com/office/drawing/2014/main" id="{311953D3-638A-1343-6D70-E1212F98CD7D}"/>
              </a:ext>
            </a:extLst>
          </p:cNvPr>
          <p:cNvCxnSpPr>
            <a:cxnSpLocks/>
            <a:stCxn id="37" idx="2"/>
            <a:endCxn id="42" idx="0"/>
          </p:cNvCxnSpPr>
          <p:nvPr/>
        </p:nvCxnSpPr>
        <p:spPr>
          <a:xfrm rot="16200000" flipH="1">
            <a:off x="4416579" y="810342"/>
            <a:ext cx="365301" cy="2177347"/>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Elbow Connector 38">
            <a:extLst>
              <a:ext uri="{FF2B5EF4-FFF2-40B4-BE49-F238E27FC236}">
                <a16:creationId xmlns:a16="http://schemas.microsoft.com/office/drawing/2014/main" id="{5BBCED50-F8E4-941F-C949-8993F448B6FA}"/>
              </a:ext>
            </a:extLst>
          </p:cNvPr>
          <p:cNvCxnSpPr>
            <a:cxnSpLocks/>
            <a:stCxn id="38" idx="2"/>
            <a:endCxn id="40" idx="0"/>
          </p:cNvCxnSpPr>
          <p:nvPr/>
        </p:nvCxnSpPr>
        <p:spPr>
          <a:xfrm rot="5400000">
            <a:off x="8325547" y="1256070"/>
            <a:ext cx="365301" cy="1285893"/>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38">
            <a:extLst>
              <a:ext uri="{FF2B5EF4-FFF2-40B4-BE49-F238E27FC236}">
                <a16:creationId xmlns:a16="http://schemas.microsoft.com/office/drawing/2014/main" id="{E642F286-7899-3F9A-77F7-E2C1161895DE}"/>
              </a:ext>
            </a:extLst>
          </p:cNvPr>
          <p:cNvCxnSpPr>
            <a:cxnSpLocks/>
            <a:stCxn id="38" idx="2"/>
            <a:endCxn id="43" idx="0"/>
          </p:cNvCxnSpPr>
          <p:nvPr/>
        </p:nvCxnSpPr>
        <p:spPr>
          <a:xfrm rot="16200000" flipH="1">
            <a:off x="9619571" y="1247938"/>
            <a:ext cx="365301" cy="1302156"/>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Elbow Connector 45">
            <a:extLst>
              <a:ext uri="{FF2B5EF4-FFF2-40B4-BE49-F238E27FC236}">
                <a16:creationId xmlns:a16="http://schemas.microsoft.com/office/drawing/2014/main" id="{784848BA-5EA0-7E76-7664-C127297E027E}"/>
              </a:ext>
            </a:extLst>
          </p:cNvPr>
          <p:cNvCxnSpPr>
            <a:cxnSpLocks/>
            <a:stCxn id="40" idx="2"/>
            <a:endCxn id="44" idx="0"/>
          </p:cNvCxnSpPr>
          <p:nvPr/>
        </p:nvCxnSpPr>
        <p:spPr>
          <a:xfrm rot="5400000">
            <a:off x="6808262" y="2024212"/>
            <a:ext cx="344726" cy="1769250"/>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48">
            <a:extLst>
              <a:ext uri="{FF2B5EF4-FFF2-40B4-BE49-F238E27FC236}">
                <a16:creationId xmlns:a16="http://schemas.microsoft.com/office/drawing/2014/main" id="{A6DE6694-77E1-1F27-057E-AA7B4C300437}"/>
              </a:ext>
            </a:extLst>
          </p:cNvPr>
          <p:cNvCxnSpPr>
            <a:cxnSpLocks/>
            <a:stCxn id="41" idx="2"/>
            <a:endCxn id="44" idx="0"/>
          </p:cNvCxnSpPr>
          <p:nvPr/>
        </p:nvCxnSpPr>
        <p:spPr>
          <a:xfrm rot="16200000" flipH="1">
            <a:off x="3542241" y="527441"/>
            <a:ext cx="344726" cy="4762791"/>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2" name="Elbow Connector 38">
            <a:extLst>
              <a:ext uri="{FF2B5EF4-FFF2-40B4-BE49-F238E27FC236}">
                <a16:creationId xmlns:a16="http://schemas.microsoft.com/office/drawing/2014/main" id="{720F69C2-594B-5CC8-9B7E-4AB624F9D810}"/>
              </a:ext>
            </a:extLst>
          </p:cNvPr>
          <p:cNvCxnSpPr>
            <a:cxnSpLocks/>
            <a:stCxn id="45" idx="2"/>
            <a:endCxn id="44" idx="0"/>
          </p:cNvCxnSpPr>
          <p:nvPr/>
        </p:nvCxnSpPr>
        <p:spPr>
          <a:xfrm rot="16200000" flipH="1">
            <a:off x="4630915" y="1616115"/>
            <a:ext cx="344726" cy="2585444"/>
          </a:xfrm>
          <a:prstGeom prst="bentConnector3">
            <a:avLst>
              <a:gd name="adj1" fmla="val 50000"/>
            </a:avLst>
          </a:prstGeom>
          <a:ln w="9525">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75620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a:extLst>
              <a:ext uri="{FF2B5EF4-FFF2-40B4-BE49-F238E27FC236}">
                <a16:creationId xmlns:a16="http://schemas.microsoft.com/office/drawing/2014/main" id="{3BD69F91-1535-5622-442D-A1965FE63B8E}"/>
              </a:ext>
            </a:extLst>
          </p:cNvPr>
          <p:cNvGrpSpPr/>
          <p:nvPr/>
        </p:nvGrpSpPr>
        <p:grpSpPr>
          <a:xfrm>
            <a:off x="1881035" y="2007212"/>
            <a:ext cx="3094395" cy="643830"/>
            <a:chOff x="2109247" y="2028857"/>
            <a:chExt cx="2557351" cy="585300"/>
          </a:xfrm>
        </p:grpSpPr>
        <p:sp>
          <p:nvSpPr>
            <p:cNvPr id="56" name="object 8">
              <a:extLst>
                <a:ext uri="{FF2B5EF4-FFF2-40B4-BE49-F238E27FC236}">
                  <a16:creationId xmlns:a16="http://schemas.microsoft.com/office/drawing/2014/main" id="{E1A3EFCD-CEA3-7F03-EFF2-3F72EF739B8D}"/>
                </a:ext>
              </a:extLst>
            </p:cNvPr>
            <p:cNvSpPr txBox="1"/>
            <p:nvPr/>
          </p:nvSpPr>
          <p:spPr>
            <a:xfrm>
              <a:off x="2109247" y="2028857"/>
              <a:ext cx="2557351" cy="585300"/>
            </a:xfrm>
            <a:prstGeom prst="roundRect">
              <a:avLst>
                <a:gd name="adj" fmla="val 7323"/>
              </a:avLst>
            </a:prstGeom>
            <a:solidFill>
              <a:schemeClr val="tx1">
                <a:lumMod val="60000"/>
                <a:lumOff val="40000"/>
              </a:schemeClr>
            </a:solidFill>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58" name="object 11">
              <a:extLst>
                <a:ext uri="{FF2B5EF4-FFF2-40B4-BE49-F238E27FC236}">
                  <a16:creationId xmlns:a16="http://schemas.microsoft.com/office/drawing/2014/main" id="{9839D080-A9E9-169D-E1FC-8EB35B8E3BDB}"/>
                </a:ext>
              </a:extLst>
            </p:cNvPr>
            <p:cNvSpPr txBox="1"/>
            <p:nvPr/>
          </p:nvSpPr>
          <p:spPr>
            <a:xfrm>
              <a:off x="2429842" y="2073403"/>
              <a:ext cx="2192143" cy="496209"/>
            </a:xfrm>
            <a:prstGeom prst="roundRect">
              <a:avLst>
                <a:gd name="adj" fmla="val 8577"/>
              </a:avLst>
            </a:prstGeom>
            <a:solidFill>
              <a:schemeClr val="bg1"/>
            </a:solidFill>
            <a:ln w="12700">
              <a:solidFill>
                <a:schemeClr val="tx1">
                  <a:lumMod val="60000"/>
                  <a:lumOff val="40000"/>
                </a:schemeClr>
              </a:solidFill>
            </a:ln>
          </p:spPr>
          <p:txBody>
            <a:bodyPr vert="horz" wrap="square" lIns="0" tIns="40005" rIns="0" bIns="0" rtlCol="0" anchor="ctr">
              <a:noAutofit/>
            </a:bodyPr>
            <a:lstStyle/>
            <a:p>
              <a:pPr marL="379095" marR="134620" lvl="0" indent="-239395" algn="ctr" defTabSz="1219170" rtl="0" eaLnBrk="1" fontAlgn="auto" latinLnBrk="0" hangingPunct="1">
                <a:lnSpc>
                  <a:spcPct val="100000"/>
                </a:lnSpc>
                <a:spcBef>
                  <a:spcPts val="315"/>
                </a:spcBef>
                <a:spcAft>
                  <a:spcPts val="0"/>
                </a:spcAft>
                <a:buClrTx/>
                <a:buSzTx/>
                <a:buFontTx/>
                <a:buNone/>
                <a:tabLst/>
                <a:defRPr/>
              </a:pPr>
              <a:r>
                <a:rPr kumimoji="0" sz="1200" b="1" i="0" u="none" strike="noStrike" kern="1200" cap="none" spc="0" normalizeH="0" baseline="0" noProof="0" dirty="0">
                  <a:ln>
                    <a:noFill/>
                  </a:ln>
                  <a:solidFill>
                    <a:srgbClr val="000000"/>
                  </a:solidFill>
                  <a:effectLst/>
                  <a:uLnTx/>
                  <a:uFillTx/>
                  <a:latin typeface="Arial"/>
                  <a:ea typeface="+mn-ea"/>
                  <a:cs typeface="Arial"/>
                </a:rPr>
                <a:t>Post-bronchodilator</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FEV</a:t>
              </a:r>
              <a:r>
                <a:rPr kumimoji="0" sz="1200" b="1" i="0" u="none" strike="noStrike" kern="1200" cap="none" spc="0" normalizeH="0" baseline="-21604" noProof="0" dirty="0">
                  <a:ln>
                    <a:noFill/>
                  </a:ln>
                  <a:solidFill>
                    <a:srgbClr val="000000"/>
                  </a:solidFill>
                  <a:effectLst/>
                  <a:uLnTx/>
                  <a:uFillTx/>
                  <a:latin typeface="Arial"/>
                  <a:ea typeface="+mn-ea"/>
                  <a:cs typeface="Arial"/>
                </a:rPr>
                <a:t>1</a:t>
              </a:r>
              <a:r>
                <a:rPr kumimoji="0" sz="1200" b="1" i="0" u="none" strike="noStrike" kern="1200" cap="none" spc="0" normalizeH="0" baseline="0" noProof="0" dirty="0">
                  <a:ln>
                    <a:noFill/>
                  </a:ln>
                  <a:solidFill>
                    <a:srgbClr val="000000"/>
                  </a:solidFill>
                  <a:effectLst/>
                  <a:uLnTx/>
                  <a:uFillTx/>
                  <a:latin typeface="Arial"/>
                  <a:ea typeface="+mn-ea"/>
                  <a:cs typeface="Arial"/>
                </a:rPr>
                <a:t>/FVC &lt;</a:t>
              </a:r>
              <a:r>
                <a:rPr kumimoji="0" lang="en-IN" sz="1200" b="1" i="0" u="none" strike="noStrike" kern="1200" cap="none" spc="0" normalizeH="0" baseline="0" noProof="0" dirty="0">
                  <a:ln>
                    <a:noFill/>
                  </a:ln>
                  <a:solidFill>
                    <a:srgbClr val="000000"/>
                  </a:solidFill>
                  <a:effectLst/>
                  <a:uLnTx/>
                  <a:uFillTx/>
                  <a:latin typeface="Arial"/>
                  <a:ea typeface="+mn-ea"/>
                  <a:cs typeface="Arial"/>
                </a:rPr>
                <a:t> </a:t>
              </a:r>
              <a:r>
                <a:rPr kumimoji="0" sz="1200" b="1" i="0" u="none" strike="noStrike" kern="1200" cap="none" spc="0" normalizeH="0" baseline="0" noProof="0" dirty="0">
                  <a:ln>
                    <a:noFill/>
                  </a:ln>
                  <a:solidFill>
                    <a:srgbClr val="000000"/>
                  </a:solidFill>
                  <a:effectLst/>
                  <a:uLnTx/>
                  <a:uFillTx/>
                  <a:latin typeface="Arial"/>
                  <a:ea typeface="+mn-ea"/>
                  <a:cs typeface="Arial"/>
                </a:rPr>
                <a:t>0.7</a:t>
              </a: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grpSp>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D07552FF-A1F0-4F4E-9C51-7DDE95E971A3}"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dirty="0"/>
              <a:t>*Different countries may use different assessment tools. Please refer to the local guidelines.</a:t>
            </a:r>
          </a:p>
          <a:p>
            <a:r>
              <a:rPr lang="en-US" dirty="0"/>
              <a:t>CAT, COPD Assessment Test; FEV</a:t>
            </a:r>
            <a:r>
              <a:rPr lang="en-US" baseline="-25000" dirty="0"/>
              <a:t>1</a:t>
            </a:r>
            <a:r>
              <a:rPr lang="en-US" dirty="0"/>
              <a:t>, forced expiratory volume in 1 second; FVC, forced vital capacity; GOLD, Global Initiative for Chronic Obstructive Lung Disease; mMRC, modified Medical Research Council</a:t>
            </a:r>
          </a:p>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GOLD 2025: Classification grid for COPD</a:t>
            </a:r>
            <a:endParaRPr lang="en-GB" dirty="0"/>
          </a:p>
        </p:txBody>
      </p:sp>
      <p:sp>
        <p:nvSpPr>
          <p:cNvPr id="11" name="Rectangle 10">
            <a:extLst>
              <a:ext uri="{FF2B5EF4-FFF2-40B4-BE49-F238E27FC236}">
                <a16:creationId xmlns:a16="http://schemas.microsoft.com/office/drawing/2014/main" id="{0EAE4120-49A6-D76A-AD99-A851BFB7F097}"/>
              </a:ext>
            </a:extLst>
          </p:cNvPr>
          <p:cNvSpPr/>
          <p:nvPr/>
        </p:nvSpPr>
        <p:spPr>
          <a:xfrm>
            <a:off x="377550" y="1103313"/>
            <a:ext cx="11436900" cy="656590"/>
          </a:xfrm>
          <a:prstGeom prst="rect">
            <a:avLst/>
          </a:prstGeom>
        </p:spPr>
        <p:txBody>
          <a:bodyPr wrap="square" lIns="0" tIns="0" rIns="0" bIns="0">
            <a:spAutoFit/>
          </a:bodyPr>
          <a:lstStyle/>
          <a:p>
            <a:pPr marL="171450" marR="5080" lvl="0" indent="-171450" algn="l" defTabSz="1219170" rtl="0" eaLnBrk="1" fontAlgn="auto" latinLnBrk="0" hangingPunct="1">
              <a:lnSpc>
                <a:spcPct val="100000"/>
              </a:lnSpc>
              <a:spcBef>
                <a:spcPts val="400"/>
              </a:spcBef>
              <a:spcAft>
                <a:spcPts val="400"/>
              </a:spcAft>
              <a:buClr>
                <a:srgbClr val="F36633"/>
              </a:buClr>
              <a:buSzTx/>
              <a:buFont typeface="Arial" panose="020B0604020202020204" pitchFamily="34" charset="0"/>
              <a:buChar char="•"/>
              <a:tabLst>
                <a:tab pos="19875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GOLD 2025 proposes the </a:t>
            </a:r>
            <a:r>
              <a:rPr kumimoji="0" lang="en-US" sz="1200" b="1" i="0" u="none" strike="noStrike" kern="1200" cap="none" spc="0" normalizeH="0" baseline="0" noProof="0" dirty="0">
                <a:ln>
                  <a:noFill/>
                </a:ln>
                <a:solidFill>
                  <a:srgbClr val="000000"/>
                </a:solidFill>
                <a:effectLst/>
                <a:uLnTx/>
                <a:uFillTx/>
                <a:latin typeface="Arial"/>
                <a:ea typeface="+mn-ea"/>
                <a:cs typeface="Arial"/>
              </a:rPr>
              <a:t>ABE assessment tool</a:t>
            </a:r>
            <a:r>
              <a:rPr kumimoji="0" lang="en-US" sz="1200" b="0" i="0" u="none" strike="noStrike" kern="1200" cap="none" spc="0" normalizeH="0" baseline="0" noProof="0" dirty="0">
                <a:ln>
                  <a:noFill/>
                </a:ln>
                <a:solidFill>
                  <a:srgbClr val="000000"/>
                </a:solidFill>
                <a:effectLst/>
                <a:uLnTx/>
                <a:uFillTx/>
                <a:latin typeface="Arial"/>
                <a:ea typeface="+mn-ea"/>
                <a:cs typeface="Arial"/>
              </a:rPr>
              <a:t>*</a:t>
            </a:r>
            <a:r>
              <a:rPr kumimoji="0" lang="en-US" sz="1200" b="1" i="0" u="none" strike="noStrike" kern="1200" cap="none" spc="0" normalizeH="0" baseline="0" noProof="0" dirty="0">
                <a:ln>
                  <a:noFill/>
                </a:ln>
                <a:solidFill>
                  <a:srgbClr val="000000"/>
                </a:solidFill>
                <a:effectLst/>
                <a:uLnTx/>
                <a:uFillTx/>
                <a:latin typeface="Arial"/>
                <a:ea typeface="+mn-ea"/>
                <a:cs typeface="Arial"/>
              </a:rPr>
              <a:t> </a:t>
            </a:r>
            <a:r>
              <a:rPr kumimoji="0" lang="en-US" sz="1200" b="0" i="0" u="none" strike="noStrike" kern="1200" cap="none" spc="0" normalizeH="0" baseline="0" noProof="0" dirty="0">
                <a:ln>
                  <a:noFill/>
                </a:ln>
                <a:solidFill>
                  <a:srgbClr val="000000"/>
                </a:solidFill>
                <a:effectLst/>
                <a:uLnTx/>
                <a:uFillTx/>
                <a:latin typeface="Arial"/>
                <a:ea typeface="+mn-ea"/>
                <a:cs typeface="Arial"/>
              </a:rPr>
              <a:t>derived from the ABCD combined assessment tool that </a:t>
            </a:r>
            <a:r>
              <a:rPr kumimoji="0" lang="en-US" sz="1200" b="0" i="0" u="none" strike="noStrike" kern="1200" cap="none" spc="0" normalizeH="0" baseline="0" noProof="0" dirty="0" err="1">
                <a:ln>
                  <a:noFill/>
                </a:ln>
                <a:solidFill>
                  <a:srgbClr val="000000"/>
                </a:solidFill>
                <a:effectLst/>
                <a:uLnTx/>
                <a:uFillTx/>
                <a:latin typeface="Arial"/>
                <a:ea typeface="+mn-ea"/>
                <a:cs typeface="Arial"/>
              </a:rPr>
              <a:t>recognises</a:t>
            </a:r>
            <a:r>
              <a:rPr kumimoji="0" lang="en-US" sz="1200" b="0" i="0" u="none" strike="noStrike" kern="1200" cap="none" spc="0" normalizeH="0" baseline="0" noProof="0" dirty="0">
                <a:ln>
                  <a:noFill/>
                </a:ln>
                <a:solidFill>
                  <a:srgbClr val="000000"/>
                </a:solidFill>
                <a:effectLst/>
                <a:uLnTx/>
                <a:uFillTx/>
                <a:latin typeface="Arial"/>
                <a:ea typeface="+mn-ea"/>
                <a:cs typeface="Arial"/>
              </a:rPr>
              <a:t> the clinical relevance of exacerbations, independently of the level of symptoms</a:t>
            </a:r>
          </a:p>
          <a:p>
            <a:pPr marL="171450" marR="5080" lvl="0" indent="-171450" algn="l" defTabSz="1219170" rtl="0" eaLnBrk="1" fontAlgn="auto" latinLnBrk="0" hangingPunct="1">
              <a:lnSpc>
                <a:spcPct val="100000"/>
              </a:lnSpc>
              <a:spcBef>
                <a:spcPts val="400"/>
              </a:spcBef>
              <a:spcAft>
                <a:spcPts val="400"/>
              </a:spcAft>
              <a:buClr>
                <a:srgbClr val="F36633"/>
              </a:buClr>
              <a:buSzTx/>
              <a:buFont typeface="Arial" panose="020B0604020202020204" pitchFamily="34" charset="0"/>
              <a:buChar char="•"/>
              <a:tabLst>
                <a:tab pos="19875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The A and B groups remain unchanged, but the C and D groups are merged into a single group termed “E” to highlight the clinical relevance of exacerbations</a:t>
            </a:r>
          </a:p>
        </p:txBody>
      </p:sp>
      <p:sp>
        <p:nvSpPr>
          <p:cNvPr id="13" name="object 10">
            <a:extLst>
              <a:ext uri="{FF2B5EF4-FFF2-40B4-BE49-F238E27FC236}">
                <a16:creationId xmlns:a16="http://schemas.microsoft.com/office/drawing/2014/main" id="{C563149B-2E97-EE04-0F60-B4AF7A2F864C}"/>
              </a:ext>
            </a:extLst>
          </p:cNvPr>
          <p:cNvSpPr/>
          <p:nvPr/>
        </p:nvSpPr>
        <p:spPr>
          <a:xfrm rot="5400000">
            <a:off x="1190648" y="2757207"/>
            <a:ext cx="389818" cy="458002"/>
          </a:xfrm>
          <a:custGeom>
            <a:avLst/>
            <a:gdLst/>
            <a:ahLst/>
            <a:cxnLst/>
            <a:rect l="l" t="t" r="r" b="b"/>
            <a:pathLst>
              <a:path w="563880" h="355600">
                <a:moveTo>
                  <a:pt x="332231" y="0"/>
                </a:moveTo>
                <a:lnTo>
                  <a:pt x="332231" y="88773"/>
                </a:lnTo>
                <a:lnTo>
                  <a:pt x="0" y="88773"/>
                </a:lnTo>
                <a:lnTo>
                  <a:pt x="0" y="266318"/>
                </a:lnTo>
                <a:lnTo>
                  <a:pt x="332231" y="266318"/>
                </a:lnTo>
                <a:lnTo>
                  <a:pt x="332231" y="355091"/>
                </a:lnTo>
                <a:lnTo>
                  <a:pt x="563880" y="177545"/>
                </a:lnTo>
                <a:lnTo>
                  <a:pt x="332231" y="0"/>
                </a:lnTo>
                <a:close/>
              </a:path>
            </a:pathLst>
          </a:custGeom>
          <a:solidFill>
            <a:schemeClr val="bg2">
              <a:lumMod val="60000"/>
              <a:lumOff val="40000"/>
            </a:schemeClr>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57" name="object 8">
            <a:extLst>
              <a:ext uri="{FF2B5EF4-FFF2-40B4-BE49-F238E27FC236}">
                <a16:creationId xmlns:a16="http://schemas.microsoft.com/office/drawing/2014/main" id="{217D337B-12F6-B6AF-64EA-8CEE2D58F67F}"/>
              </a:ext>
            </a:extLst>
          </p:cNvPr>
          <p:cNvSpPr txBox="1"/>
          <p:nvPr/>
        </p:nvSpPr>
        <p:spPr>
          <a:xfrm>
            <a:off x="377550" y="1947213"/>
            <a:ext cx="2016015" cy="748588"/>
          </a:xfrm>
          <a:prstGeom prst="rect">
            <a:avLst/>
          </a:prstGeom>
          <a:solidFill>
            <a:schemeClr val="bg2">
              <a:lumMod val="20000"/>
              <a:lumOff val="80000"/>
            </a:schemeClr>
          </a:solidFill>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sz="1200" b="1" i="0" u="none" strike="noStrike" kern="1200" cap="none" spc="0" normalizeH="0" baseline="0" noProof="0" dirty="0">
                <a:ln>
                  <a:noFill/>
                </a:ln>
                <a:solidFill>
                  <a:srgbClr val="F36633"/>
                </a:solidFill>
                <a:effectLst/>
                <a:uLnTx/>
                <a:uFillTx/>
                <a:latin typeface="Arial"/>
                <a:ea typeface="+mn-ea"/>
                <a:cs typeface="Arial"/>
              </a:rPr>
              <a:t>Spirometrically</a:t>
            </a:r>
            <a:endParaRPr kumimoji="0" sz="1200" b="0" i="0" u="none" strike="noStrike" kern="1200" cap="none" spc="0" normalizeH="0" baseline="0" noProof="0" dirty="0">
              <a:ln>
                <a:noFill/>
              </a:ln>
              <a:solidFill>
                <a:srgbClr val="F36633"/>
              </a:solidFill>
              <a:effectLst/>
              <a:uLnTx/>
              <a:uFillTx/>
              <a:latin typeface="Arial"/>
              <a:ea typeface="+mn-ea"/>
              <a:cs typeface="Arial"/>
            </a:endParaRPr>
          </a:p>
          <a:p>
            <a:pPr marL="0" marR="0" lvl="0" indent="0" algn="ctr" defTabSz="1219170" rtl="0" eaLnBrk="1" fontAlgn="auto" latinLnBrk="0" hangingPunct="1">
              <a:lnSpc>
                <a:spcPct val="100000"/>
              </a:lnSpc>
              <a:spcBef>
                <a:spcPts val="0"/>
              </a:spcBef>
              <a:spcAft>
                <a:spcPts val="0"/>
              </a:spcAft>
              <a:buClrTx/>
              <a:buSzTx/>
              <a:buFontTx/>
              <a:buNone/>
              <a:tabLst/>
              <a:defRPr/>
            </a:pPr>
            <a:r>
              <a:rPr kumimoji="0" sz="1200" b="1" i="0" u="none" strike="noStrike" kern="1200" cap="none" spc="0" normalizeH="0" baseline="0" noProof="0" dirty="0">
                <a:ln>
                  <a:noFill/>
                </a:ln>
                <a:solidFill>
                  <a:srgbClr val="F36633"/>
                </a:solidFill>
                <a:effectLst/>
                <a:uLnTx/>
                <a:uFillTx/>
                <a:latin typeface="Arial"/>
                <a:ea typeface="+mn-ea"/>
                <a:cs typeface="Arial"/>
              </a:rPr>
              <a:t>confirmed diagnosis</a:t>
            </a:r>
            <a:endParaRPr kumimoji="0" sz="1200" b="0" i="0" u="none" strike="noStrike" kern="1200" cap="none" spc="0" normalizeH="0" baseline="0" noProof="0" dirty="0">
              <a:ln>
                <a:noFill/>
              </a:ln>
              <a:solidFill>
                <a:srgbClr val="F36633"/>
              </a:solidFill>
              <a:effectLst/>
              <a:uLnTx/>
              <a:uFillTx/>
              <a:latin typeface="Arial"/>
              <a:ea typeface="+mn-ea"/>
              <a:cs typeface="Arial"/>
            </a:endParaRPr>
          </a:p>
        </p:txBody>
      </p:sp>
      <p:sp>
        <p:nvSpPr>
          <p:cNvPr id="23" name="object 8">
            <a:extLst>
              <a:ext uri="{FF2B5EF4-FFF2-40B4-BE49-F238E27FC236}">
                <a16:creationId xmlns:a16="http://schemas.microsoft.com/office/drawing/2014/main" id="{623A5F10-B92C-9E13-D4F3-5EF0A6E3206D}"/>
              </a:ext>
            </a:extLst>
          </p:cNvPr>
          <p:cNvSpPr txBox="1"/>
          <p:nvPr/>
        </p:nvSpPr>
        <p:spPr>
          <a:xfrm rot="16200000">
            <a:off x="6388790" y="3670203"/>
            <a:ext cx="2049034" cy="323563"/>
          </a:xfrm>
          <a:prstGeom prst="roundRect">
            <a:avLst>
              <a:gd name="adj" fmla="val 50000"/>
            </a:avLst>
          </a:prstGeom>
          <a:solidFill>
            <a:schemeClr val="bg1">
              <a:lumMod val="50000"/>
            </a:schemeClr>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Exacerbation history</a:t>
            </a:r>
            <a:endParaRPr kumimoji="0" sz="1200" b="0" i="0" u="none" strike="noStrike" kern="1200" cap="none" spc="0" normalizeH="0" baseline="0" noProof="0" dirty="0">
              <a:ln>
                <a:noFill/>
              </a:ln>
              <a:solidFill>
                <a:prstClr val="white"/>
              </a:solidFill>
              <a:effectLst/>
              <a:uLnTx/>
              <a:uFillTx/>
              <a:latin typeface="Arial"/>
              <a:ea typeface="+mn-ea"/>
              <a:cs typeface="Arial"/>
            </a:endParaRPr>
          </a:p>
        </p:txBody>
      </p:sp>
      <p:sp>
        <p:nvSpPr>
          <p:cNvPr id="24" name="object 8">
            <a:extLst>
              <a:ext uri="{FF2B5EF4-FFF2-40B4-BE49-F238E27FC236}">
                <a16:creationId xmlns:a16="http://schemas.microsoft.com/office/drawing/2014/main" id="{A24A7C26-409F-A5C5-9587-EB00C729FF25}"/>
              </a:ext>
            </a:extLst>
          </p:cNvPr>
          <p:cNvSpPr txBox="1"/>
          <p:nvPr/>
        </p:nvSpPr>
        <p:spPr>
          <a:xfrm>
            <a:off x="7593255" y="3073252"/>
            <a:ext cx="1608845" cy="623912"/>
          </a:xfrm>
          <a:prstGeom prst="rect">
            <a:avLst/>
          </a:prstGeom>
          <a:solidFill>
            <a:schemeClr val="bg1"/>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 2 moderate exacerbations or ≥ 1 leading to </a:t>
            </a:r>
            <a:r>
              <a:rPr kumimoji="0" lang="en-US" sz="1200" b="1" i="0" u="none" strike="noStrike" kern="1200" cap="none" spc="0" normalizeH="0" baseline="0" noProof="0" dirty="0" err="1">
                <a:ln>
                  <a:noFill/>
                </a:ln>
                <a:solidFill>
                  <a:srgbClr val="000000"/>
                </a:solidFill>
                <a:effectLst/>
                <a:uLnTx/>
                <a:uFillTx/>
                <a:latin typeface="Arial"/>
                <a:ea typeface="+mn-ea"/>
                <a:cs typeface="Arial"/>
              </a:rPr>
              <a:t>hospitalisation</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25" name="object 8">
            <a:extLst>
              <a:ext uri="{FF2B5EF4-FFF2-40B4-BE49-F238E27FC236}">
                <a16:creationId xmlns:a16="http://schemas.microsoft.com/office/drawing/2014/main" id="{8462AFDF-E249-812F-4BA1-558E6FEA91C8}"/>
              </a:ext>
            </a:extLst>
          </p:cNvPr>
          <p:cNvSpPr txBox="1"/>
          <p:nvPr/>
        </p:nvSpPr>
        <p:spPr>
          <a:xfrm>
            <a:off x="9229338" y="3009683"/>
            <a:ext cx="2543810" cy="751050"/>
          </a:xfrm>
          <a:prstGeom prst="rect">
            <a:avLst/>
          </a:prstGeom>
          <a:solidFill>
            <a:schemeClr val="accent5"/>
          </a:solid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E</a:t>
            </a:r>
            <a:endParaRPr kumimoji="0" sz="1200" b="1" i="0" u="none" strike="noStrike" kern="1200" cap="none" spc="0" normalizeH="0" baseline="0" noProof="0" dirty="0">
              <a:ln>
                <a:noFill/>
              </a:ln>
              <a:solidFill>
                <a:prstClr val="white"/>
              </a:solidFill>
              <a:effectLst/>
              <a:uLnTx/>
              <a:uFillTx/>
              <a:latin typeface="Arial"/>
              <a:ea typeface="+mn-ea"/>
              <a:cs typeface="Arial"/>
            </a:endParaRPr>
          </a:p>
        </p:txBody>
      </p:sp>
      <p:sp>
        <p:nvSpPr>
          <p:cNvPr id="26" name="object 8">
            <a:extLst>
              <a:ext uri="{FF2B5EF4-FFF2-40B4-BE49-F238E27FC236}">
                <a16:creationId xmlns:a16="http://schemas.microsoft.com/office/drawing/2014/main" id="{D7FF0DF3-3220-B62C-26D3-AA64C6E9CA44}"/>
              </a:ext>
            </a:extLst>
          </p:cNvPr>
          <p:cNvSpPr txBox="1"/>
          <p:nvPr/>
        </p:nvSpPr>
        <p:spPr>
          <a:xfrm>
            <a:off x="9229338" y="3851773"/>
            <a:ext cx="1285074" cy="751050"/>
          </a:xfrm>
          <a:prstGeom prst="rect">
            <a:avLst/>
          </a:prstGeom>
          <a:solidFill>
            <a:schemeClr val="accent1"/>
          </a:solid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A</a:t>
            </a:r>
            <a:endParaRPr kumimoji="0" sz="1200" b="1" i="0" u="none" strike="noStrike" kern="1200" cap="none" spc="0" normalizeH="0" baseline="0" noProof="0" dirty="0">
              <a:ln>
                <a:noFill/>
              </a:ln>
              <a:solidFill>
                <a:prstClr val="white"/>
              </a:solidFill>
              <a:effectLst/>
              <a:uLnTx/>
              <a:uFillTx/>
              <a:latin typeface="Arial"/>
              <a:ea typeface="+mn-ea"/>
              <a:cs typeface="Arial"/>
            </a:endParaRPr>
          </a:p>
        </p:txBody>
      </p:sp>
      <p:sp>
        <p:nvSpPr>
          <p:cNvPr id="27" name="object 8">
            <a:extLst>
              <a:ext uri="{FF2B5EF4-FFF2-40B4-BE49-F238E27FC236}">
                <a16:creationId xmlns:a16="http://schemas.microsoft.com/office/drawing/2014/main" id="{97806CB2-D149-808E-0225-A1FE93DD5BF7}"/>
              </a:ext>
            </a:extLst>
          </p:cNvPr>
          <p:cNvSpPr txBox="1"/>
          <p:nvPr/>
        </p:nvSpPr>
        <p:spPr>
          <a:xfrm>
            <a:off x="10625458" y="3851773"/>
            <a:ext cx="1147690" cy="751050"/>
          </a:xfrm>
          <a:prstGeom prst="rect">
            <a:avLst/>
          </a:prstGeom>
          <a:solidFill>
            <a:schemeClr val="accent2"/>
          </a:solid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B</a:t>
            </a:r>
            <a:endParaRPr kumimoji="0" sz="1200" b="1" i="0" u="none" strike="noStrike" kern="1200" cap="none" spc="0" normalizeH="0" baseline="0" noProof="0" dirty="0">
              <a:ln>
                <a:noFill/>
              </a:ln>
              <a:solidFill>
                <a:prstClr val="white"/>
              </a:solidFill>
              <a:effectLst/>
              <a:uLnTx/>
              <a:uFillTx/>
              <a:latin typeface="Arial"/>
              <a:ea typeface="+mn-ea"/>
              <a:cs typeface="Arial"/>
            </a:endParaRPr>
          </a:p>
        </p:txBody>
      </p:sp>
      <p:sp>
        <p:nvSpPr>
          <p:cNvPr id="28" name="object 8">
            <a:extLst>
              <a:ext uri="{FF2B5EF4-FFF2-40B4-BE49-F238E27FC236}">
                <a16:creationId xmlns:a16="http://schemas.microsoft.com/office/drawing/2014/main" id="{A2D89C06-035D-E568-84CB-A810880305BA}"/>
              </a:ext>
            </a:extLst>
          </p:cNvPr>
          <p:cNvSpPr txBox="1"/>
          <p:nvPr/>
        </p:nvSpPr>
        <p:spPr>
          <a:xfrm>
            <a:off x="9388101" y="4617555"/>
            <a:ext cx="967548" cy="461413"/>
          </a:xfrm>
          <a:prstGeom prst="rect">
            <a:avLst/>
          </a:prstGeom>
          <a:no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mMRC 0–1</a:t>
            </a:r>
            <a:br>
              <a:rPr kumimoji="0" lang="en-US" sz="1200" b="1" i="0" u="none" strike="noStrike" kern="1200" cap="none" spc="0" normalizeH="0" baseline="0" noProof="0" dirty="0">
                <a:ln>
                  <a:noFill/>
                </a:ln>
                <a:solidFill>
                  <a:srgbClr val="000000"/>
                </a:solidFill>
                <a:effectLst/>
                <a:uLnTx/>
                <a:uFillTx/>
                <a:latin typeface="Arial"/>
                <a:ea typeface="+mn-ea"/>
                <a:cs typeface="Arial"/>
              </a:rPr>
            </a:br>
            <a:r>
              <a:rPr kumimoji="0" lang="en-US" sz="1200" b="1" i="0" u="none" strike="noStrike" kern="1200" cap="none" spc="0" normalizeH="0" baseline="0" noProof="0" dirty="0">
                <a:ln>
                  <a:noFill/>
                </a:ln>
                <a:solidFill>
                  <a:srgbClr val="000000"/>
                </a:solidFill>
                <a:effectLst/>
                <a:uLnTx/>
                <a:uFillTx/>
                <a:latin typeface="Arial"/>
                <a:ea typeface="+mn-ea"/>
                <a:cs typeface="Arial"/>
              </a:rPr>
              <a:t>CAT &lt; 10</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29" name="object 8">
            <a:extLst>
              <a:ext uri="{FF2B5EF4-FFF2-40B4-BE49-F238E27FC236}">
                <a16:creationId xmlns:a16="http://schemas.microsoft.com/office/drawing/2014/main" id="{9D3B6D79-EC72-3A62-0BFC-DB17E703B34F}"/>
              </a:ext>
            </a:extLst>
          </p:cNvPr>
          <p:cNvSpPr txBox="1"/>
          <p:nvPr/>
        </p:nvSpPr>
        <p:spPr>
          <a:xfrm>
            <a:off x="10715529" y="4617555"/>
            <a:ext cx="967548" cy="461413"/>
          </a:xfrm>
          <a:prstGeom prst="rect">
            <a:avLst/>
          </a:prstGeom>
          <a:no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mMRC ≥ 2</a:t>
            </a:r>
            <a:br>
              <a:rPr kumimoji="0" lang="en-US" sz="1200" b="1" i="0" u="none" strike="noStrike" kern="1200" cap="none" spc="0" normalizeH="0" baseline="0" noProof="0" dirty="0">
                <a:ln>
                  <a:noFill/>
                </a:ln>
                <a:solidFill>
                  <a:srgbClr val="000000"/>
                </a:solidFill>
                <a:effectLst/>
                <a:uLnTx/>
                <a:uFillTx/>
                <a:latin typeface="Arial"/>
                <a:ea typeface="+mn-ea"/>
                <a:cs typeface="Arial"/>
              </a:rPr>
            </a:br>
            <a:r>
              <a:rPr kumimoji="0" lang="en-US" sz="1200" b="1" i="0" u="none" strike="noStrike" kern="1200" cap="none" spc="0" normalizeH="0" baseline="0" noProof="0" dirty="0">
                <a:ln>
                  <a:noFill/>
                </a:ln>
                <a:solidFill>
                  <a:srgbClr val="000000"/>
                </a:solidFill>
                <a:effectLst/>
                <a:uLnTx/>
                <a:uFillTx/>
                <a:latin typeface="Arial"/>
                <a:ea typeface="+mn-ea"/>
                <a:cs typeface="Arial"/>
              </a:rPr>
              <a:t>CAT ≥ 10</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35" name="object 8">
            <a:extLst>
              <a:ext uri="{FF2B5EF4-FFF2-40B4-BE49-F238E27FC236}">
                <a16:creationId xmlns:a16="http://schemas.microsoft.com/office/drawing/2014/main" id="{D3967C06-E640-F0A3-A147-678CEDD9EDD9}"/>
              </a:ext>
            </a:extLst>
          </p:cNvPr>
          <p:cNvSpPr txBox="1"/>
          <p:nvPr/>
        </p:nvSpPr>
        <p:spPr>
          <a:xfrm>
            <a:off x="2098990" y="3396937"/>
            <a:ext cx="4469984" cy="1403680"/>
          </a:xfrm>
          <a:prstGeom prst="roundRect">
            <a:avLst>
              <a:gd name="adj" fmla="val 3318"/>
            </a:avLst>
          </a:prstGeom>
          <a:solidFill>
            <a:schemeClr val="tx1">
              <a:lumMod val="60000"/>
              <a:lumOff val="40000"/>
            </a:schemeClr>
          </a:solidFill>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36" name="object 8">
            <a:extLst>
              <a:ext uri="{FF2B5EF4-FFF2-40B4-BE49-F238E27FC236}">
                <a16:creationId xmlns:a16="http://schemas.microsoft.com/office/drawing/2014/main" id="{BBC45A3E-0E0A-99F1-2196-8CAF26869A96}"/>
              </a:ext>
            </a:extLst>
          </p:cNvPr>
          <p:cNvSpPr txBox="1"/>
          <p:nvPr/>
        </p:nvSpPr>
        <p:spPr>
          <a:xfrm>
            <a:off x="2098991" y="3463613"/>
            <a:ext cx="4398197" cy="1270330"/>
          </a:xfrm>
          <a:prstGeom prst="roundRect">
            <a:avLst>
              <a:gd name="adj" fmla="val 3318"/>
            </a:avLst>
          </a:prstGeom>
          <a:solidFill>
            <a:schemeClr val="bg1"/>
          </a:solidFill>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endParaRPr kumimoji="0" sz="1200" b="0" i="0" u="none" strike="noStrike" kern="1200" cap="none" spc="0" normalizeH="0" baseline="0" noProof="0" dirty="0">
              <a:ln>
                <a:noFill/>
              </a:ln>
              <a:solidFill>
                <a:srgbClr val="000000"/>
              </a:solidFill>
              <a:effectLst/>
              <a:uLnTx/>
              <a:uFillTx/>
              <a:latin typeface="Arial"/>
              <a:ea typeface="+mn-ea"/>
              <a:cs typeface="Arial"/>
            </a:endParaRPr>
          </a:p>
        </p:txBody>
      </p:sp>
      <p:sp>
        <p:nvSpPr>
          <p:cNvPr id="39" name="object 9">
            <a:extLst>
              <a:ext uri="{FF2B5EF4-FFF2-40B4-BE49-F238E27FC236}">
                <a16:creationId xmlns:a16="http://schemas.microsoft.com/office/drawing/2014/main" id="{246AF077-B862-90B9-A3D0-DFA694743ADD}"/>
              </a:ext>
            </a:extLst>
          </p:cNvPr>
          <p:cNvSpPr txBox="1"/>
          <p:nvPr/>
        </p:nvSpPr>
        <p:spPr>
          <a:xfrm>
            <a:off x="377550" y="3276615"/>
            <a:ext cx="2016015" cy="1644322"/>
          </a:xfrm>
          <a:prstGeom prst="rect">
            <a:avLst/>
          </a:prstGeom>
          <a:solidFill>
            <a:schemeClr val="bg2">
              <a:lumMod val="20000"/>
              <a:lumOff val="80000"/>
            </a:schemeClr>
          </a:solidFill>
        </p:spPr>
        <p:txBody>
          <a:bodyPr vert="horz" wrap="square" lIns="0" tIns="0" rIns="0" bIns="0" rtlCol="0" anchor="ctr" anchorCtr="0">
            <a:noAutofit/>
          </a:bodyPr>
          <a:lstStyle/>
          <a:p>
            <a:pPr marL="0" marR="172720" lvl="0" indent="0" algn="ctr" defTabSz="1219170" rtl="0" eaLnBrk="1" fontAlgn="auto" latinLnBrk="0" hangingPunct="1">
              <a:lnSpc>
                <a:spcPct val="100000"/>
              </a:lnSpc>
              <a:spcBef>
                <a:spcPts val="550"/>
              </a:spcBef>
              <a:spcAft>
                <a:spcPts val="0"/>
              </a:spcAft>
              <a:buClrTx/>
              <a:buSzTx/>
              <a:buFontTx/>
              <a:buNone/>
              <a:tabLst/>
              <a:defRPr/>
            </a:pPr>
            <a:r>
              <a:rPr kumimoji="0" sz="1200" b="1" i="0" u="none" strike="noStrike" kern="1200" cap="none" spc="0" normalizeH="0" baseline="0" noProof="0" dirty="0">
                <a:ln>
                  <a:noFill/>
                </a:ln>
                <a:solidFill>
                  <a:srgbClr val="F36633"/>
                </a:solidFill>
                <a:effectLst/>
                <a:uLnTx/>
                <a:uFillTx/>
                <a:latin typeface="Arial"/>
                <a:ea typeface="+mn-ea"/>
                <a:cs typeface="Arial"/>
              </a:rPr>
              <a:t>Assessment of</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airflow limitation </a:t>
            </a:r>
            <a:br>
              <a:rPr kumimoji="0" lang="en-GB" sz="1200" b="1" i="0" u="none" strike="noStrike" kern="1200" cap="none" spc="0" normalizeH="0" baseline="0" noProof="0" dirty="0">
                <a:ln>
                  <a:noFill/>
                </a:ln>
                <a:solidFill>
                  <a:srgbClr val="F36633"/>
                </a:solidFill>
                <a:effectLst/>
                <a:uLnTx/>
                <a:uFillTx/>
                <a:latin typeface="Arial"/>
                <a:ea typeface="+mn-ea"/>
                <a:cs typeface="Arial"/>
              </a:rPr>
            </a:br>
            <a:r>
              <a:rPr kumimoji="0" sz="1200" b="1" i="0" u="none" strike="noStrike" kern="1200" cap="none" spc="0" normalizeH="0" baseline="0" noProof="0" dirty="0">
                <a:ln>
                  <a:noFill/>
                </a:ln>
                <a:solidFill>
                  <a:srgbClr val="F36633"/>
                </a:solidFill>
                <a:effectLst/>
                <a:uLnTx/>
                <a:uFillTx/>
                <a:latin typeface="Arial"/>
                <a:ea typeface="+mn-ea"/>
                <a:cs typeface="Arial"/>
              </a:rPr>
              <a:t>(spirometric</a:t>
            </a:r>
            <a:r>
              <a:rPr kumimoji="0" lang="en-US" sz="1200" b="1" i="0" u="none" strike="noStrike" kern="1200" cap="none" spc="0" normalizeH="0" baseline="0" noProof="0" dirty="0">
                <a:ln>
                  <a:noFill/>
                </a:ln>
                <a:solidFill>
                  <a:srgbClr val="F36633"/>
                </a:solidFill>
                <a:effectLst/>
                <a:uLnTx/>
                <a:uFillTx/>
                <a:latin typeface="Arial"/>
                <a:ea typeface="+mn-ea"/>
                <a:cs typeface="Arial"/>
              </a:rPr>
              <a:t> </a:t>
            </a:r>
            <a:r>
              <a:rPr kumimoji="0" sz="1200" b="1" i="0" u="none" strike="noStrike" kern="1200" cap="none" spc="0" normalizeH="0" baseline="0" noProof="0" dirty="0">
                <a:ln>
                  <a:noFill/>
                </a:ln>
                <a:solidFill>
                  <a:srgbClr val="F36633"/>
                </a:solidFill>
                <a:effectLst/>
                <a:uLnTx/>
                <a:uFillTx/>
                <a:latin typeface="Arial"/>
                <a:ea typeface="+mn-ea"/>
                <a:cs typeface="Arial"/>
              </a:rPr>
              <a:t>grade)</a:t>
            </a:r>
            <a:endParaRPr kumimoji="0" sz="1200" b="0" i="0" u="none" strike="noStrike" kern="1200" cap="none" spc="0" normalizeH="0" baseline="0" noProof="0" dirty="0">
              <a:ln>
                <a:noFill/>
              </a:ln>
              <a:solidFill>
                <a:srgbClr val="F36633"/>
              </a:solidFill>
              <a:effectLst/>
              <a:uLnTx/>
              <a:uFillTx/>
              <a:latin typeface="Arial"/>
              <a:ea typeface="+mn-ea"/>
              <a:cs typeface="Arial"/>
            </a:endParaRPr>
          </a:p>
        </p:txBody>
      </p:sp>
      <p:sp>
        <p:nvSpPr>
          <p:cNvPr id="46" name="Rectangle 45">
            <a:extLst>
              <a:ext uri="{FF2B5EF4-FFF2-40B4-BE49-F238E27FC236}">
                <a16:creationId xmlns:a16="http://schemas.microsoft.com/office/drawing/2014/main" id="{EB8FFE91-942F-F5B5-D534-B0B0F7C39C4E}"/>
              </a:ext>
            </a:extLst>
          </p:cNvPr>
          <p:cNvSpPr/>
          <p:nvPr/>
        </p:nvSpPr>
        <p:spPr>
          <a:xfrm>
            <a:off x="2453420" y="3687562"/>
            <a:ext cx="444032" cy="184666"/>
          </a:xfrm>
          <a:prstGeom prst="rect">
            <a:avLst/>
          </a:prstGeom>
        </p:spPr>
        <p:txBody>
          <a:bodyPr wrap="non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Grade</a:t>
            </a:r>
            <a:endParaRPr kumimoji="0" lang="en-US"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7" name="Rectangle 46">
            <a:extLst>
              <a:ext uri="{FF2B5EF4-FFF2-40B4-BE49-F238E27FC236}">
                <a16:creationId xmlns:a16="http://schemas.microsoft.com/office/drawing/2014/main" id="{97EC26CE-C1E1-46A0-E03B-8FBDBE3BC785}"/>
              </a:ext>
            </a:extLst>
          </p:cNvPr>
          <p:cNvSpPr/>
          <p:nvPr/>
        </p:nvSpPr>
        <p:spPr>
          <a:xfrm>
            <a:off x="2453420" y="4165163"/>
            <a:ext cx="974626" cy="369332"/>
          </a:xfrm>
          <a:prstGeom prst="rect">
            <a:avLst/>
          </a:prstGeom>
        </p:spPr>
        <p:txBody>
          <a:bodyPr wrap="none" lIns="0" tIns="0" rIns="0" bIns="0" anchor="ctr" anchorCtr="0">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FEV</a:t>
            </a:r>
            <a:r>
              <a:rPr kumimoji="0" lang="en-US" sz="1200" b="1" i="0" u="none" strike="noStrike" kern="1200" cap="none" spc="0" normalizeH="0" baseline="-25000" noProof="0" dirty="0">
                <a:ln>
                  <a:noFill/>
                </a:ln>
                <a:solidFill>
                  <a:srgbClr val="000000"/>
                </a:solidFill>
                <a:effectLst/>
                <a:uLnTx/>
                <a:uFillTx/>
                <a:latin typeface="Arial"/>
                <a:ea typeface="+mn-ea"/>
                <a:cs typeface="Arial"/>
              </a:rPr>
              <a:t>1</a:t>
            </a:r>
          </a:p>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 predicted)</a:t>
            </a:r>
            <a:endParaRPr kumimoji="0" lang="en-US"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8" name="Rectangle 47">
            <a:extLst>
              <a:ext uri="{FF2B5EF4-FFF2-40B4-BE49-F238E27FC236}">
                <a16:creationId xmlns:a16="http://schemas.microsoft.com/office/drawing/2014/main" id="{81AC9A0C-0F48-B4B9-4DA5-953C0A42BCA1}"/>
              </a:ext>
            </a:extLst>
          </p:cNvPr>
          <p:cNvSpPr/>
          <p:nvPr/>
        </p:nvSpPr>
        <p:spPr>
          <a:xfrm>
            <a:off x="3718788" y="3595229"/>
            <a:ext cx="477826" cy="369332"/>
          </a:xfrm>
          <a:prstGeom prst="rect">
            <a:avLst/>
          </a:prstGeom>
        </p:spPr>
        <p:txBody>
          <a:bodyPr wrap="square" lIns="0" tIns="0" rIns="0" bIns="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658A6"/>
                </a:solidFill>
                <a:effectLst/>
                <a:uLnTx/>
                <a:uFillTx/>
                <a:latin typeface="Arial"/>
                <a:ea typeface="+mn-ea"/>
                <a:cs typeface="Arial"/>
              </a:rPr>
              <a:t>GOLD 1</a:t>
            </a:r>
            <a:endParaRPr kumimoji="0" lang="en-US" sz="1200" b="0" i="0" u="none" strike="noStrike" kern="1200" cap="none" spc="0" normalizeH="0" baseline="0" noProof="0" dirty="0">
              <a:ln>
                <a:noFill/>
              </a:ln>
              <a:solidFill>
                <a:srgbClr val="6658A6"/>
              </a:solidFill>
              <a:effectLst/>
              <a:uLnTx/>
              <a:uFillTx/>
              <a:latin typeface="Arial"/>
              <a:ea typeface="+mn-ea"/>
              <a:cs typeface="Noto Sans"/>
            </a:endParaRPr>
          </a:p>
        </p:txBody>
      </p:sp>
      <p:sp>
        <p:nvSpPr>
          <p:cNvPr id="49" name="Rectangle 48">
            <a:extLst>
              <a:ext uri="{FF2B5EF4-FFF2-40B4-BE49-F238E27FC236}">
                <a16:creationId xmlns:a16="http://schemas.microsoft.com/office/drawing/2014/main" id="{077E80D8-4E14-48C1-3121-A5FFB2AE937D}"/>
              </a:ext>
            </a:extLst>
          </p:cNvPr>
          <p:cNvSpPr/>
          <p:nvPr/>
        </p:nvSpPr>
        <p:spPr>
          <a:xfrm>
            <a:off x="4465775" y="3595229"/>
            <a:ext cx="477826" cy="369332"/>
          </a:xfrm>
          <a:prstGeom prst="rect">
            <a:avLst/>
          </a:prstGeom>
        </p:spPr>
        <p:txBody>
          <a:bodyPr wrap="square" lIns="0" tIns="0" rIns="0" bIns="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21860"/>
                </a:solidFill>
                <a:effectLst/>
                <a:uLnTx/>
                <a:uFillTx/>
                <a:latin typeface="Arial"/>
                <a:ea typeface="+mn-ea"/>
                <a:cs typeface="Arial"/>
              </a:rPr>
              <a:t>GOLD 2</a:t>
            </a:r>
            <a:endParaRPr kumimoji="0" lang="en-US" sz="1200" b="0" i="0" u="none" strike="noStrike" kern="1200" cap="none" spc="0" normalizeH="0" baseline="0" noProof="0" dirty="0">
              <a:ln>
                <a:noFill/>
              </a:ln>
              <a:solidFill>
                <a:srgbClr val="E21860"/>
              </a:solidFill>
              <a:effectLst/>
              <a:uLnTx/>
              <a:uFillTx/>
              <a:latin typeface="Arial"/>
              <a:ea typeface="+mn-ea"/>
              <a:cs typeface="Noto Sans"/>
            </a:endParaRPr>
          </a:p>
        </p:txBody>
      </p:sp>
      <p:sp>
        <p:nvSpPr>
          <p:cNvPr id="50" name="Rectangle 49">
            <a:extLst>
              <a:ext uri="{FF2B5EF4-FFF2-40B4-BE49-F238E27FC236}">
                <a16:creationId xmlns:a16="http://schemas.microsoft.com/office/drawing/2014/main" id="{3209601A-136A-888D-F213-9B9F51234590}"/>
              </a:ext>
            </a:extLst>
          </p:cNvPr>
          <p:cNvSpPr/>
          <p:nvPr/>
        </p:nvSpPr>
        <p:spPr>
          <a:xfrm>
            <a:off x="5212761" y="3595229"/>
            <a:ext cx="477826" cy="369332"/>
          </a:xfrm>
          <a:prstGeom prst="rect">
            <a:avLst/>
          </a:prstGeom>
        </p:spPr>
        <p:txBody>
          <a:bodyPr wrap="square" lIns="0" tIns="0" rIns="0" bIns="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69B445"/>
                </a:solidFill>
                <a:effectLst/>
                <a:uLnTx/>
                <a:uFillTx/>
                <a:latin typeface="Arial"/>
                <a:ea typeface="+mn-ea"/>
                <a:cs typeface="Arial"/>
              </a:rPr>
              <a:t>GOLD 3</a:t>
            </a:r>
            <a:endParaRPr kumimoji="0" lang="en-US" sz="1200" b="0" i="0" u="none" strike="noStrike" kern="1200" cap="none" spc="0" normalizeH="0" baseline="0" noProof="0" dirty="0">
              <a:ln>
                <a:noFill/>
              </a:ln>
              <a:solidFill>
                <a:srgbClr val="69B445"/>
              </a:solidFill>
              <a:effectLst/>
              <a:uLnTx/>
              <a:uFillTx/>
              <a:latin typeface="Arial"/>
              <a:ea typeface="+mn-ea"/>
              <a:cs typeface="Noto Sans"/>
            </a:endParaRPr>
          </a:p>
        </p:txBody>
      </p:sp>
      <p:sp>
        <p:nvSpPr>
          <p:cNvPr id="51" name="Rectangle 50">
            <a:extLst>
              <a:ext uri="{FF2B5EF4-FFF2-40B4-BE49-F238E27FC236}">
                <a16:creationId xmlns:a16="http://schemas.microsoft.com/office/drawing/2014/main" id="{038D2F27-1B55-B2EE-3691-2B610A356A49}"/>
              </a:ext>
            </a:extLst>
          </p:cNvPr>
          <p:cNvSpPr/>
          <p:nvPr/>
        </p:nvSpPr>
        <p:spPr>
          <a:xfrm>
            <a:off x="5944831" y="3595229"/>
            <a:ext cx="477826" cy="369332"/>
          </a:xfrm>
          <a:prstGeom prst="rect">
            <a:avLst/>
          </a:prstGeom>
        </p:spPr>
        <p:txBody>
          <a:bodyPr wrap="square" lIns="0" tIns="0" rIns="0" bIns="0" anchor="ctr" anchorCtr="0">
            <a:spAutoFit/>
          </a:bodyP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244EA2"/>
                </a:solidFill>
                <a:effectLst/>
                <a:uLnTx/>
                <a:uFillTx/>
                <a:latin typeface="Arial"/>
                <a:ea typeface="+mn-ea"/>
                <a:cs typeface="Arial"/>
              </a:rPr>
              <a:t>GOLD 4</a:t>
            </a:r>
            <a:endParaRPr kumimoji="0" lang="en-US" sz="1200" b="0" i="0" u="none" strike="noStrike" kern="1200" cap="none" spc="0" normalizeH="0" baseline="0" noProof="0" dirty="0">
              <a:ln>
                <a:noFill/>
              </a:ln>
              <a:solidFill>
                <a:srgbClr val="244EA2"/>
              </a:solidFill>
              <a:effectLst/>
              <a:uLnTx/>
              <a:uFillTx/>
              <a:latin typeface="Arial"/>
              <a:ea typeface="+mn-ea"/>
              <a:cs typeface="Noto Sans"/>
            </a:endParaRPr>
          </a:p>
        </p:txBody>
      </p:sp>
      <p:sp>
        <p:nvSpPr>
          <p:cNvPr id="52" name="Oval 51">
            <a:extLst>
              <a:ext uri="{FF2B5EF4-FFF2-40B4-BE49-F238E27FC236}">
                <a16:creationId xmlns:a16="http://schemas.microsoft.com/office/drawing/2014/main" id="{68BB1B54-B5AB-9B75-40D2-9B9E9B1B9D43}"/>
              </a:ext>
            </a:extLst>
          </p:cNvPr>
          <p:cNvSpPr/>
          <p:nvPr/>
        </p:nvSpPr>
        <p:spPr>
          <a:xfrm>
            <a:off x="3686959" y="4098369"/>
            <a:ext cx="541484" cy="50292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Noto Sans"/>
              </a:rPr>
              <a:t>≥ 80</a:t>
            </a:r>
          </a:p>
        </p:txBody>
      </p:sp>
      <p:sp>
        <p:nvSpPr>
          <p:cNvPr id="53" name="Oval 52">
            <a:extLst>
              <a:ext uri="{FF2B5EF4-FFF2-40B4-BE49-F238E27FC236}">
                <a16:creationId xmlns:a16="http://schemas.microsoft.com/office/drawing/2014/main" id="{C042FD69-F5A7-52AA-1443-17B88FE5CDC4}"/>
              </a:ext>
            </a:extLst>
          </p:cNvPr>
          <p:cNvSpPr/>
          <p:nvPr/>
        </p:nvSpPr>
        <p:spPr>
          <a:xfrm>
            <a:off x="4433946" y="4098369"/>
            <a:ext cx="541484" cy="50292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Noto Sans"/>
              </a:rPr>
              <a:t>50–79</a:t>
            </a:r>
          </a:p>
        </p:txBody>
      </p:sp>
      <p:sp>
        <p:nvSpPr>
          <p:cNvPr id="54" name="Oval 53">
            <a:extLst>
              <a:ext uri="{FF2B5EF4-FFF2-40B4-BE49-F238E27FC236}">
                <a16:creationId xmlns:a16="http://schemas.microsoft.com/office/drawing/2014/main" id="{0A504F80-91C3-313F-14B6-C889F3B6D0A0}"/>
              </a:ext>
            </a:extLst>
          </p:cNvPr>
          <p:cNvSpPr/>
          <p:nvPr/>
        </p:nvSpPr>
        <p:spPr>
          <a:xfrm>
            <a:off x="5180933" y="4098369"/>
            <a:ext cx="541484" cy="50292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Noto Sans"/>
              </a:rPr>
              <a:t>30–49</a:t>
            </a:r>
          </a:p>
        </p:txBody>
      </p:sp>
      <p:sp>
        <p:nvSpPr>
          <p:cNvPr id="55" name="Oval 54">
            <a:extLst>
              <a:ext uri="{FF2B5EF4-FFF2-40B4-BE49-F238E27FC236}">
                <a16:creationId xmlns:a16="http://schemas.microsoft.com/office/drawing/2014/main" id="{40C70780-D6C0-3866-C1A2-98B5E2AA5233}"/>
              </a:ext>
            </a:extLst>
          </p:cNvPr>
          <p:cNvSpPr/>
          <p:nvPr/>
        </p:nvSpPr>
        <p:spPr>
          <a:xfrm>
            <a:off x="5913002" y="4098369"/>
            <a:ext cx="541484" cy="50292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Noto Sans"/>
              </a:rPr>
              <a:t>&lt; 30</a:t>
            </a:r>
          </a:p>
        </p:txBody>
      </p:sp>
      <p:sp>
        <p:nvSpPr>
          <p:cNvPr id="31" name="object 8">
            <a:extLst>
              <a:ext uri="{FF2B5EF4-FFF2-40B4-BE49-F238E27FC236}">
                <a16:creationId xmlns:a16="http://schemas.microsoft.com/office/drawing/2014/main" id="{C2D01A31-A40F-9B0A-214E-1FA6F68A4AE1}"/>
              </a:ext>
            </a:extLst>
          </p:cNvPr>
          <p:cNvSpPr txBox="1"/>
          <p:nvPr/>
        </p:nvSpPr>
        <p:spPr>
          <a:xfrm>
            <a:off x="9229338" y="2007804"/>
            <a:ext cx="2559628" cy="748588"/>
          </a:xfrm>
          <a:prstGeom prst="rect">
            <a:avLst/>
          </a:prstGeom>
          <a:solidFill>
            <a:srgbClr val="F36600"/>
          </a:solidFill>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Arial"/>
              </a:rPr>
              <a:t>Assessment of symptoms/</a:t>
            </a:r>
            <a:br>
              <a:rPr kumimoji="0" lang="en-US" sz="1200" b="1" i="0" u="none" strike="noStrike" kern="1200" cap="none" spc="0" normalizeH="0" baseline="0" noProof="0" dirty="0">
                <a:ln>
                  <a:noFill/>
                </a:ln>
                <a:solidFill>
                  <a:srgbClr val="FFFFFF"/>
                </a:solidFill>
                <a:effectLst/>
                <a:uLnTx/>
                <a:uFillTx/>
                <a:latin typeface="Arial"/>
                <a:ea typeface="+mn-ea"/>
                <a:cs typeface="Arial"/>
              </a:rPr>
            </a:br>
            <a:r>
              <a:rPr kumimoji="0" lang="en-US" sz="1200" b="1" i="0" u="none" strike="noStrike" kern="1200" cap="none" spc="0" normalizeH="0" baseline="0" noProof="0" dirty="0">
                <a:ln>
                  <a:noFill/>
                </a:ln>
                <a:solidFill>
                  <a:srgbClr val="FFFFFF"/>
                </a:solidFill>
                <a:effectLst/>
                <a:uLnTx/>
                <a:uFillTx/>
                <a:latin typeface="Arial"/>
                <a:ea typeface="+mn-ea"/>
                <a:cs typeface="Arial"/>
              </a:rPr>
              <a:t>risk of exacerbations</a:t>
            </a:r>
          </a:p>
        </p:txBody>
      </p:sp>
      <p:sp>
        <p:nvSpPr>
          <p:cNvPr id="32" name="Bent Arrow 10">
            <a:extLst>
              <a:ext uri="{FF2B5EF4-FFF2-40B4-BE49-F238E27FC236}">
                <a16:creationId xmlns:a16="http://schemas.microsoft.com/office/drawing/2014/main" id="{731D2D6E-1820-591D-E2CF-1A1F0FBA9DF1}"/>
              </a:ext>
            </a:extLst>
          </p:cNvPr>
          <p:cNvSpPr/>
          <p:nvPr/>
        </p:nvSpPr>
        <p:spPr>
          <a:xfrm>
            <a:off x="5895061" y="2114430"/>
            <a:ext cx="3221779" cy="1179810"/>
          </a:xfrm>
          <a:prstGeom prst="bentArrow">
            <a:avLst>
              <a:gd name="adj1" fmla="val 23115"/>
              <a:gd name="adj2" fmla="val 22719"/>
              <a:gd name="adj3" fmla="val 25771"/>
              <a:gd name="adj4" fmla="val 39039"/>
            </a:avLst>
          </a:prstGeom>
          <a:solidFill>
            <a:schemeClr val="bg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3" name="object 8">
            <a:extLst>
              <a:ext uri="{FF2B5EF4-FFF2-40B4-BE49-F238E27FC236}">
                <a16:creationId xmlns:a16="http://schemas.microsoft.com/office/drawing/2014/main" id="{3FBB567A-DF87-7BFD-3D90-79A8ECD605D9}"/>
              </a:ext>
            </a:extLst>
          </p:cNvPr>
          <p:cNvSpPr txBox="1"/>
          <p:nvPr/>
        </p:nvSpPr>
        <p:spPr>
          <a:xfrm>
            <a:off x="7584160" y="3915342"/>
            <a:ext cx="1608845" cy="623912"/>
          </a:xfrm>
          <a:prstGeom prst="rect">
            <a:avLst/>
          </a:prstGeom>
          <a:solidFill>
            <a:schemeClr val="bg1"/>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0–1 exacerbation not leading to </a:t>
            </a:r>
            <a:r>
              <a:rPr kumimoji="0" lang="en-US" sz="1200" b="1" i="0" u="none" strike="noStrike" kern="1200" cap="none" spc="0" normalizeH="0" baseline="0" noProof="0" dirty="0" err="1">
                <a:ln>
                  <a:noFill/>
                </a:ln>
                <a:solidFill>
                  <a:srgbClr val="000000"/>
                </a:solidFill>
                <a:effectLst/>
                <a:uLnTx/>
                <a:uFillTx/>
                <a:latin typeface="Arial"/>
                <a:ea typeface="+mn-ea"/>
                <a:cs typeface="Arial"/>
              </a:rPr>
              <a:t>hospitalisation</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34" name="object 8">
            <a:extLst>
              <a:ext uri="{FF2B5EF4-FFF2-40B4-BE49-F238E27FC236}">
                <a16:creationId xmlns:a16="http://schemas.microsoft.com/office/drawing/2014/main" id="{82B3E55D-3919-BCA2-E323-FA28CDA182D3}"/>
              </a:ext>
            </a:extLst>
          </p:cNvPr>
          <p:cNvSpPr txBox="1"/>
          <p:nvPr/>
        </p:nvSpPr>
        <p:spPr>
          <a:xfrm>
            <a:off x="9280716" y="5165995"/>
            <a:ext cx="2508951" cy="300519"/>
          </a:xfrm>
          <a:prstGeom prst="roundRect">
            <a:avLst>
              <a:gd name="adj" fmla="val 50000"/>
            </a:avLst>
          </a:prstGeom>
          <a:solidFill>
            <a:schemeClr val="bg1">
              <a:lumMod val="50000"/>
            </a:schemeClr>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Symptoms</a:t>
            </a:r>
          </a:p>
        </p:txBody>
      </p:sp>
    </p:spTree>
    <p:custDataLst>
      <p:tags r:id="rId1"/>
    </p:custDataLst>
    <p:extLst>
      <p:ext uri="{BB962C8B-B14F-4D97-AF65-F5344CB8AC3E}">
        <p14:creationId xmlns:p14="http://schemas.microsoft.com/office/powerpoint/2010/main" val="1436429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6C73AC95-F8A9-486B-BBF9-CE65BA873500}"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noRot="1" noMove="1" noResize="1" noEditPoints="1" noAdjustHandles="1" noChangeArrowheads="1" noChangeShapeType="1"/>
          </p:cNvSpPr>
          <p:nvPr>
            <p:ph type="body" sz="quarter" idx="13"/>
          </p:nvPr>
        </p:nvSpPr>
        <p:spPr/>
        <p:txBody>
          <a:bodyPr/>
          <a:lstStyle/>
          <a:p>
            <a:r>
              <a:rPr lang="en-US" baseline="30000" dirty="0"/>
              <a:t>†</a:t>
            </a:r>
            <a:r>
              <a:rPr lang="en-US" dirty="0"/>
              <a:t>In the presence of concomitant asthma, patients with COPD should be treated like patients with asthma. In this circumstance, the use of ICS is required. *Single inhaler therapy may be more convenient and effective than multiple inhaler therapy.</a:t>
            </a:r>
          </a:p>
          <a:p>
            <a:r>
              <a:rPr lang="en-US" dirty="0"/>
              <a:t>CAT, COPD Assessment Test; </a:t>
            </a:r>
            <a:r>
              <a:rPr lang="en-US" dirty="0" err="1"/>
              <a:t>eos</a:t>
            </a:r>
            <a:r>
              <a:rPr lang="en-US" dirty="0"/>
              <a:t>, blood eosinophil count (cells/µL); GOLD, Global Initiative for Chronic Obstructive Lung Disease; ICS, inhaled corticosteroid; LABA, long-acting β2 agonist; LAMA, long-acting muscarinic antagonist; mMRC, modified Medical Research Council </a:t>
            </a:r>
          </a:p>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GOLD 2025: Initial pharmacological treatment algorithm</a:t>
            </a:r>
            <a:endParaRPr lang="en-GB" dirty="0"/>
          </a:p>
        </p:txBody>
      </p:sp>
      <p:sp>
        <p:nvSpPr>
          <p:cNvPr id="11" name="Rectangle 10">
            <a:extLst>
              <a:ext uri="{FF2B5EF4-FFF2-40B4-BE49-F238E27FC236}">
                <a16:creationId xmlns:a16="http://schemas.microsoft.com/office/drawing/2014/main" id="{0EAE4120-49A6-D76A-AD99-A851BFB7F097}"/>
              </a:ext>
            </a:extLst>
          </p:cNvPr>
          <p:cNvSpPr/>
          <p:nvPr/>
        </p:nvSpPr>
        <p:spPr>
          <a:xfrm>
            <a:off x="377550" y="1103313"/>
            <a:ext cx="11436900" cy="369332"/>
          </a:xfrm>
          <a:prstGeom prst="rect">
            <a:avLst/>
          </a:prstGeom>
        </p:spPr>
        <p:txBody>
          <a:bodyPr wrap="square" lIns="0" tIns="0" rIns="0" bIns="0">
            <a:spAutoFit/>
          </a:bodyPr>
          <a:lstStyle/>
          <a:p>
            <a:pPr marL="171450" marR="5080" lvl="0" indent="-171450" algn="l" defTabSz="1219170" rtl="0" eaLnBrk="1" fontAlgn="auto" latinLnBrk="0" hangingPunct="1">
              <a:lnSpc>
                <a:spcPct val="100000"/>
              </a:lnSpc>
              <a:spcBef>
                <a:spcPts val="400"/>
              </a:spcBef>
              <a:spcAft>
                <a:spcPts val="400"/>
              </a:spcAft>
              <a:buClr>
                <a:srgbClr val="F36633"/>
              </a:buClr>
              <a:buSzTx/>
              <a:buFont typeface="Arial" panose="020B0604020202020204" pitchFamily="34" charset="0"/>
              <a:buChar char="•"/>
              <a:tabLst>
                <a:tab pos="198755" algn="l"/>
              </a:tabLst>
              <a:defRPr/>
            </a:pPr>
            <a:r>
              <a:rPr kumimoji="0" lang="en-US" sz="1200" b="0" i="0" u="none" strike="noStrike" kern="1200" cap="none" spc="0" normalizeH="0" baseline="0" noProof="0" dirty="0">
                <a:ln>
                  <a:noFill/>
                </a:ln>
                <a:solidFill>
                  <a:srgbClr val="000000"/>
                </a:solidFill>
                <a:effectLst/>
                <a:uLnTx/>
                <a:uFillTx/>
                <a:latin typeface="Arial"/>
                <a:ea typeface="+mn-ea"/>
                <a:cs typeface="Arial"/>
              </a:rPr>
              <a:t>GOLD 2025 recommends the initiation of pharmacological management of COPD based on </a:t>
            </a:r>
            <a:r>
              <a:rPr kumimoji="0" lang="en-US" sz="1200" b="0" i="0" u="none" strike="noStrike" kern="1200" cap="none" spc="0" normalizeH="0" baseline="0" noProof="0" dirty="0" err="1">
                <a:ln>
                  <a:noFill/>
                </a:ln>
                <a:solidFill>
                  <a:srgbClr val="000000"/>
                </a:solidFill>
                <a:effectLst/>
                <a:uLnTx/>
                <a:uFillTx/>
                <a:latin typeface="Arial"/>
                <a:ea typeface="+mn-ea"/>
                <a:cs typeface="Arial"/>
              </a:rPr>
              <a:t>individualised</a:t>
            </a:r>
            <a:r>
              <a:rPr kumimoji="0" lang="en-US" sz="1200" b="0" i="0" u="none" strike="noStrike" kern="1200" cap="none" spc="0" normalizeH="0" baseline="0" noProof="0" dirty="0">
                <a:ln>
                  <a:noFill/>
                </a:ln>
                <a:solidFill>
                  <a:srgbClr val="000000"/>
                </a:solidFill>
                <a:effectLst/>
                <a:uLnTx/>
                <a:uFillTx/>
                <a:latin typeface="Arial"/>
                <a:ea typeface="+mn-ea"/>
                <a:cs typeface="Arial"/>
              </a:rPr>
              <a:t> assessment of symptoms and risk of exacerbations following the assessment of “ABE” groups</a:t>
            </a:r>
          </a:p>
        </p:txBody>
      </p:sp>
      <p:sp>
        <p:nvSpPr>
          <p:cNvPr id="7" name="object 8">
            <a:extLst>
              <a:ext uri="{FF2B5EF4-FFF2-40B4-BE49-F238E27FC236}">
                <a16:creationId xmlns:a16="http://schemas.microsoft.com/office/drawing/2014/main" id="{3897D7A3-DF5A-6BBE-D398-6ABCC78874FA}"/>
              </a:ext>
            </a:extLst>
          </p:cNvPr>
          <p:cNvSpPr txBox="1"/>
          <p:nvPr/>
        </p:nvSpPr>
        <p:spPr>
          <a:xfrm rot="16200000">
            <a:off x="130503" y="2766737"/>
            <a:ext cx="2727265" cy="399991"/>
          </a:xfrm>
          <a:prstGeom prst="roundRect">
            <a:avLst>
              <a:gd name="adj" fmla="val 50000"/>
            </a:avLst>
          </a:prstGeom>
          <a:solidFill>
            <a:schemeClr val="bg1">
              <a:lumMod val="50000"/>
            </a:schemeClr>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Exacerbation history</a:t>
            </a:r>
            <a:endParaRPr kumimoji="0" sz="1200" b="0" i="0" u="none" strike="noStrike" kern="1200" cap="none" spc="0" normalizeH="0" baseline="0" noProof="0" dirty="0">
              <a:ln>
                <a:noFill/>
              </a:ln>
              <a:solidFill>
                <a:prstClr val="white"/>
              </a:solidFill>
              <a:effectLst/>
              <a:uLnTx/>
              <a:uFillTx/>
              <a:latin typeface="Arial"/>
              <a:ea typeface="+mn-ea"/>
              <a:cs typeface="Arial"/>
            </a:endParaRPr>
          </a:p>
        </p:txBody>
      </p:sp>
      <p:sp>
        <p:nvSpPr>
          <p:cNvPr id="9" name="object 8">
            <a:extLst>
              <a:ext uri="{FF2B5EF4-FFF2-40B4-BE49-F238E27FC236}">
                <a16:creationId xmlns:a16="http://schemas.microsoft.com/office/drawing/2014/main" id="{B3769A61-675F-5375-B406-C035CAA97654}"/>
              </a:ext>
            </a:extLst>
          </p:cNvPr>
          <p:cNvSpPr txBox="1"/>
          <p:nvPr/>
        </p:nvSpPr>
        <p:spPr>
          <a:xfrm>
            <a:off x="2105128" y="1784928"/>
            <a:ext cx="1988866" cy="830427"/>
          </a:xfrm>
          <a:prstGeom prst="rect">
            <a:avLst/>
          </a:prstGeom>
          <a:solidFill>
            <a:schemeClr val="bg1"/>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 2 moderate exacerbations or ≥ 1 leading to </a:t>
            </a:r>
            <a:r>
              <a:rPr kumimoji="0" lang="en-US" sz="1200" b="1" i="0" u="none" strike="noStrike" kern="1200" cap="none" spc="0" normalizeH="0" baseline="0" noProof="0" dirty="0" err="1">
                <a:ln>
                  <a:noFill/>
                </a:ln>
                <a:solidFill>
                  <a:srgbClr val="000000"/>
                </a:solidFill>
                <a:effectLst/>
                <a:uLnTx/>
                <a:uFillTx/>
                <a:latin typeface="Arial"/>
                <a:ea typeface="+mn-ea"/>
                <a:cs typeface="Arial"/>
              </a:rPr>
              <a:t>hospitalisation</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12" name="object 8">
            <a:extLst>
              <a:ext uri="{FF2B5EF4-FFF2-40B4-BE49-F238E27FC236}">
                <a16:creationId xmlns:a16="http://schemas.microsoft.com/office/drawing/2014/main" id="{9960F4F4-76C3-E161-E1BF-B3688AD02238}"/>
              </a:ext>
            </a:extLst>
          </p:cNvPr>
          <p:cNvSpPr txBox="1"/>
          <p:nvPr/>
        </p:nvSpPr>
        <p:spPr>
          <a:xfrm>
            <a:off x="4160542" y="1700317"/>
            <a:ext cx="6719137" cy="999648"/>
          </a:xfrm>
          <a:prstGeom prst="rect">
            <a:avLst/>
          </a:prstGeom>
          <a:solidFill>
            <a:schemeClr val="accent5"/>
          </a:solidFill>
          <a:ln>
            <a:noFill/>
          </a:ln>
        </p:spPr>
        <p:txBody>
          <a:bodyPr vert="horz" wrap="square" lIns="45720" tIns="45720" rIns="45720" bIns="4572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Arial"/>
              </a:rPr>
              <a:t>Group E</a:t>
            </a:r>
            <a:r>
              <a:rPr kumimoji="0" lang="en-US" sz="1400" b="1" i="0" u="none" strike="noStrike" kern="1200" cap="none" spc="0" normalizeH="0" baseline="30000" noProof="0" dirty="0">
                <a:ln>
                  <a:noFill/>
                </a:ln>
                <a:solidFill>
                  <a:prstClr val="white"/>
                </a:solidFill>
                <a:effectLst/>
                <a:uLnTx/>
                <a:uFillTx/>
                <a:latin typeface="Arial"/>
                <a:ea typeface="+mn-ea"/>
                <a:cs typeface="Arial"/>
              </a:rPr>
              <a:t>†</a:t>
            </a:r>
          </a:p>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a:ea typeface="+mn-ea"/>
                <a:cs typeface="Arial"/>
              </a:rPr>
              <a:t>LABA + LAMA*</a:t>
            </a:r>
          </a:p>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a:ea typeface="+mn-ea"/>
                <a:cs typeface="Arial"/>
              </a:rPr>
              <a:t>Consider LABA + LAMA + ICS* if blood </a:t>
            </a:r>
            <a:r>
              <a:rPr kumimoji="0" lang="en-US" sz="1400" b="0" i="0" u="none" strike="noStrike" kern="1200" cap="none" spc="0" normalizeH="0" baseline="0" noProof="0" dirty="0" err="1">
                <a:ln>
                  <a:noFill/>
                </a:ln>
                <a:solidFill>
                  <a:prstClr val="white"/>
                </a:solidFill>
                <a:effectLst/>
                <a:uLnTx/>
                <a:uFillTx/>
                <a:latin typeface="Arial"/>
                <a:ea typeface="+mn-ea"/>
                <a:cs typeface="Arial"/>
              </a:rPr>
              <a:t>eos</a:t>
            </a:r>
            <a:r>
              <a:rPr kumimoji="0" lang="en-US" sz="1400" b="0" i="0" u="none" strike="noStrike" kern="1200" cap="none" spc="0" normalizeH="0" baseline="0" noProof="0" dirty="0">
                <a:ln>
                  <a:noFill/>
                </a:ln>
                <a:solidFill>
                  <a:prstClr val="white"/>
                </a:solidFill>
                <a:effectLst/>
                <a:uLnTx/>
                <a:uFillTx/>
                <a:latin typeface="Arial"/>
                <a:ea typeface="+mn-ea"/>
                <a:cs typeface="Arial"/>
              </a:rPr>
              <a:t> ≥ 300 </a:t>
            </a:r>
            <a:endParaRPr kumimoji="0" sz="1400" b="0" i="0" u="none" strike="noStrike" kern="1200" cap="none" spc="0" normalizeH="0" baseline="0" noProof="0" dirty="0">
              <a:ln>
                <a:noFill/>
              </a:ln>
              <a:solidFill>
                <a:prstClr val="white"/>
              </a:solidFill>
              <a:effectLst/>
              <a:uLnTx/>
              <a:uFillTx/>
              <a:latin typeface="Arial"/>
              <a:ea typeface="+mn-ea"/>
              <a:cs typeface="Arial"/>
            </a:endParaRPr>
          </a:p>
        </p:txBody>
      </p:sp>
      <p:sp>
        <p:nvSpPr>
          <p:cNvPr id="14" name="object 8">
            <a:extLst>
              <a:ext uri="{FF2B5EF4-FFF2-40B4-BE49-F238E27FC236}">
                <a16:creationId xmlns:a16="http://schemas.microsoft.com/office/drawing/2014/main" id="{79612529-2DDC-9AF6-0BBA-05A32F9C661C}"/>
              </a:ext>
            </a:extLst>
          </p:cNvPr>
          <p:cNvSpPr txBox="1"/>
          <p:nvPr/>
        </p:nvSpPr>
        <p:spPr>
          <a:xfrm>
            <a:off x="4178722" y="3014748"/>
            <a:ext cx="3805075" cy="999648"/>
          </a:xfrm>
          <a:prstGeom prst="rect">
            <a:avLst/>
          </a:prstGeom>
          <a:solidFill>
            <a:schemeClr val="accent1"/>
          </a:solidFill>
          <a:ln>
            <a:noFill/>
          </a:ln>
        </p:spPr>
        <p:txBody>
          <a:bodyPr vert="horz" wrap="square" lIns="45720" tIns="45720" rIns="45720" bIns="4572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Arial"/>
              </a:rPr>
              <a:t>Group A</a:t>
            </a:r>
          </a:p>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a:ea typeface="+mn-ea"/>
                <a:cs typeface="Arial"/>
              </a:rPr>
              <a:t>A bronchodilator</a:t>
            </a:r>
            <a:endParaRPr kumimoji="0" sz="1400" b="0" i="0" u="none" strike="noStrike" kern="1200" cap="none" spc="0" normalizeH="0" baseline="0" noProof="0" dirty="0">
              <a:ln>
                <a:noFill/>
              </a:ln>
              <a:solidFill>
                <a:prstClr val="white"/>
              </a:solidFill>
              <a:effectLst/>
              <a:uLnTx/>
              <a:uFillTx/>
              <a:latin typeface="Arial"/>
              <a:ea typeface="+mn-ea"/>
              <a:cs typeface="Arial"/>
            </a:endParaRPr>
          </a:p>
        </p:txBody>
      </p:sp>
      <p:sp>
        <p:nvSpPr>
          <p:cNvPr id="15" name="object 8">
            <a:extLst>
              <a:ext uri="{FF2B5EF4-FFF2-40B4-BE49-F238E27FC236}">
                <a16:creationId xmlns:a16="http://schemas.microsoft.com/office/drawing/2014/main" id="{B73F61A0-E201-771A-ED1F-5C8CFF7FD977}"/>
              </a:ext>
            </a:extLst>
          </p:cNvPr>
          <p:cNvSpPr txBox="1"/>
          <p:nvPr/>
        </p:nvSpPr>
        <p:spPr>
          <a:xfrm>
            <a:off x="8079769" y="3014748"/>
            <a:ext cx="2801244" cy="999648"/>
          </a:xfrm>
          <a:prstGeom prst="rect">
            <a:avLst/>
          </a:prstGeom>
          <a:solidFill>
            <a:schemeClr val="accent2"/>
          </a:solidFill>
          <a:ln>
            <a:noFill/>
          </a:ln>
        </p:spPr>
        <p:txBody>
          <a:bodyPr vert="horz" wrap="square" lIns="45720" tIns="45720" rIns="45720" bIns="4572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Arial"/>
              </a:rPr>
              <a:t>Group B</a:t>
            </a:r>
          </a:p>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400" b="0" i="0" u="none" strike="noStrike" kern="1200" cap="none" spc="0" normalizeH="0" baseline="0" noProof="0" dirty="0">
                <a:ln>
                  <a:noFill/>
                </a:ln>
                <a:solidFill>
                  <a:prstClr val="white"/>
                </a:solidFill>
                <a:effectLst/>
                <a:uLnTx/>
                <a:uFillTx/>
                <a:latin typeface="Arial"/>
                <a:ea typeface="+mn-ea"/>
                <a:cs typeface="Arial"/>
              </a:rPr>
              <a:t>LABA + LAMA*</a:t>
            </a:r>
          </a:p>
        </p:txBody>
      </p:sp>
      <p:sp>
        <p:nvSpPr>
          <p:cNvPr id="16" name="object 8">
            <a:extLst>
              <a:ext uri="{FF2B5EF4-FFF2-40B4-BE49-F238E27FC236}">
                <a16:creationId xmlns:a16="http://schemas.microsoft.com/office/drawing/2014/main" id="{259D885E-9052-E5DA-5EA6-71624464A0AF}"/>
              </a:ext>
            </a:extLst>
          </p:cNvPr>
          <p:cNvSpPr txBox="1"/>
          <p:nvPr/>
        </p:nvSpPr>
        <p:spPr>
          <a:xfrm>
            <a:off x="5483214" y="4105384"/>
            <a:ext cx="1196090" cy="614141"/>
          </a:xfrm>
          <a:prstGeom prst="rect">
            <a:avLst/>
          </a:prstGeom>
          <a:no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mMRC 0–1</a:t>
            </a:r>
            <a:br>
              <a:rPr kumimoji="0" lang="en-US" sz="1200" b="1" i="0" u="none" strike="noStrike" kern="1200" cap="none" spc="0" normalizeH="0" baseline="0" noProof="0" dirty="0">
                <a:ln>
                  <a:noFill/>
                </a:ln>
                <a:solidFill>
                  <a:srgbClr val="000000"/>
                </a:solidFill>
                <a:effectLst/>
                <a:uLnTx/>
                <a:uFillTx/>
                <a:latin typeface="Arial"/>
                <a:ea typeface="+mn-ea"/>
                <a:cs typeface="Arial"/>
              </a:rPr>
            </a:br>
            <a:r>
              <a:rPr kumimoji="0" lang="en-US" sz="1200" b="1" i="0" u="none" strike="noStrike" kern="1200" cap="none" spc="0" normalizeH="0" baseline="0" noProof="0" dirty="0">
                <a:ln>
                  <a:noFill/>
                </a:ln>
                <a:solidFill>
                  <a:srgbClr val="000000"/>
                </a:solidFill>
                <a:effectLst/>
                <a:uLnTx/>
                <a:uFillTx/>
                <a:latin typeface="Arial"/>
                <a:ea typeface="+mn-ea"/>
                <a:cs typeface="Arial"/>
              </a:rPr>
              <a:t>CAT &lt; 10</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17" name="object 8">
            <a:extLst>
              <a:ext uri="{FF2B5EF4-FFF2-40B4-BE49-F238E27FC236}">
                <a16:creationId xmlns:a16="http://schemas.microsoft.com/office/drawing/2014/main" id="{82753569-474A-8FEA-E48F-37FB736DE636}"/>
              </a:ext>
            </a:extLst>
          </p:cNvPr>
          <p:cNvSpPr txBox="1"/>
          <p:nvPr/>
        </p:nvSpPr>
        <p:spPr>
          <a:xfrm>
            <a:off x="8882346" y="4105384"/>
            <a:ext cx="1196090" cy="614141"/>
          </a:xfrm>
          <a:prstGeom prst="rect">
            <a:avLst/>
          </a:prstGeom>
          <a:noFill/>
          <a:ln>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mMRC ≥ 2</a:t>
            </a:r>
            <a:br>
              <a:rPr kumimoji="0" lang="en-US" sz="1200" b="1" i="0" u="none" strike="noStrike" kern="1200" cap="none" spc="0" normalizeH="0" baseline="0" noProof="0" dirty="0">
                <a:ln>
                  <a:noFill/>
                </a:ln>
                <a:solidFill>
                  <a:srgbClr val="000000"/>
                </a:solidFill>
                <a:effectLst/>
                <a:uLnTx/>
                <a:uFillTx/>
                <a:latin typeface="Arial"/>
                <a:ea typeface="+mn-ea"/>
                <a:cs typeface="Arial"/>
              </a:rPr>
            </a:br>
            <a:r>
              <a:rPr kumimoji="0" lang="en-US" sz="1200" b="1" i="0" u="none" strike="noStrike" kern="1200" cap="none" spc="0" normalizeH="0" baseline="0" noProof="0" dirty="0">
                <a:ln>
                  <a:noFill/>
                </a:ln>
                <a:solidFill>
                  <a:srgbClr val="000000"/>
                </a:solidFill>
                <a:effectLst/>
                <a:uLnTx/>
                <a:uFillTx/>
                <a:latin typeface="Arial"/>
                <a:ea typeface="+mn-ea"/>
                <a:cs typeface="Arial"/>
              </a:rPr>
              <a:t>CAT ≥ 10</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18" name="object 8">
            <a:extLst>
              <a:ext uri="{FF2B5EF4-FFF2-40B4-BE49-F238E27FC236}">
                <a16:creationId xmlns:a16="http://schemas.microsoft.com/office/drawing/2014/main" id="{A46DE134-8EAF-2D63-E82D-EFB775010601}"/>
              </a:ext>
            </a:extLst>
          </p:cNvPr>
          <p:cNvSpPr txBox="1"/>
          <p:nvPr/>
        </p:nvSpPr>
        <p:spPr>
          <a:xfrm>
            <a:off x="2093885" y="3099359"/>
            <a:ext cx="1988866" cy="830427"/>
          </a:xfrm>
          <a:prstGeom prst="rect">
            <a:avLst/>
          </a:prstGeom>
          <a:solidFill>
            <a:schemeClr val="bg1"/>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0–1 exacerbation not leading to </a:t>
            </a:r>
            <a:r>
              <a:rPr kumimoji="0" lang="en-US" sz="1200" b="1" i="0" u="none" strike="noStrike" kern="1200" cap="none" spc="0" normalizeH="0" baseline="0" noProof="0" dirty="0" err="1">
                <a:ln>
                  <a:noFill/>
                </a:ln>
                <a:solidFill>
                  <a:srgbClr val="000000"/>
                </a:solidFill>
                <a:effectLst/>
                <a:uLnTx/>
                <a:uFillTx/>
                <a:latin typeface="Arial"/>
                <a:ea typeface="+mn-ea"/>
                <a:cs typeface="Arial"/>
              </a:rPr>
              <a:t>hospitalisation</a:t>
            </a:r>
            <a:endParaRPr kumimoji="0" sz="1200" b="1" i="0" u="none" strike="noStrike" kern="1200" cap="none" spc="0" normalizeH="0" baseline="0" noProof="0" dirty="0">
              <a:ln>
                <a:noFill/>
              </a:ln>
              <a:solidFill>
                <a:srgbClr val="000000"/>
              </a:solidFill>
              <a:effectLst/>
              <a:uLnTx/>
              <a:uFillTx/>
              <a:latin typeface="Arial"/>
              <a:ea typeface="+mn-ea"/>
              <a:cs typeface="Arial"/>
            </a:endParaRPr>
          </a:p>
        </p:txBody>
      </p:sp>
      <p:sp>
        <p:nvSpPr>
          <p:cNvPr id="19" name="object 8">
            <a:extLst>
              <a:ext uri="{FF2B5EF4-FFF2-40B4-BE49-F238E27FC236}">
                <a16:creationId xmlns:a16="http://schemas.microsoft.com/office/drawing/2014/main" id="{238BF6AA-66B9-DCAB-B130-BF9259339199}"/>
              </a:ext>
            </a:extLst>
          </p:cNvPr>
          <p:cNvSpPr txBox="1"/>
          <p:nvPr/>
        </p:nvSpPr>
        <p:spPr>
          <a:xfrm>
            <a:off x="4178724" y="4854909"/>
            <a:ext cx="6719137" cy="399991"/>
          </a:xfrm>
          <a:prstGeom prst="roundRect">
            <a:avLst>
              <a:gd name="adj" fmla="val 50000"/>
            </a:avLst>
          </a:prstGeom>
          <a:solidFill>
            <a:schemeClr val="bg1">
              <a:lumMod val="50000"/>
            </a:schemeClr>
          </a:solidFill>
          <a:ln w="12700">
            <a:noFill/>
          </a:ln>
        </p:spPr>
        <p:txBody>
          <a:bodyPr vert="horz" wrap="square" lIns="0" tIns="0" rIns="0" bIns="0" rtlCol="0" anchor="ctr" anchorCtr="0">
            <a:noAutofit/>
          </a:bodyPr>
          <a:lstStyle/>
          <a:p>
            <a:pPr marL="381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Arial"/>
                <a:ea typeface="+mn-ea"/>
                <a:cs typeface="Arial"/>
              </a:rPr>
              <a:t>Symptoms</a:t>
            </a:r>
          </a:p>
        </p:txBody>
      </p:sp>
    </p:spTree>
    <p:custDataLst>
      <p:tags r:id="rId1"/>
    </p:custDataLst>
    <p:extLst>
      <p:ext uri="{BB962C8B-B14F-4D97-AF65-F5344CB8AC3E}">
        <p14:creationId xmlns:p14="http://schemas.microsoft.com/office/powerpoint/2010/main" val="3558342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 Placeholder 23">
            <a:extLst>
              <a:ext uri="{FF2B5EF4-FFF2-40B4-BE49-F238E27FC236}">
                <a16:creationId xmlns:a16="http://schemas.microsoft.com/office/drawing/2014/main" id="{B8BB017A-75A6-162B-8E2D-E8FC957CB2B6}"/>
              </a:ext>
            </a:extLst>
          </p:cNvPr>
          <p:cNvSpPr>
            <a:spLocks noGrp="1"/>
          </p:cNvSpPr>
          <p:nvPr>
            <p:ph type="body" sz="quarter" idx="13"/>
          </p:nvPr>
        </p:nvSpPr>
        <p:spPr/>
        <p:txBody>
          <a:bodyPr/>
          <a:lstStyle/>
          <a:p>
            <a:r>
              <a:rPr lang="en-US" dirty="0">
                <a:effectLst/>
              </a:rPr>
              <a:t>GOLD provides COPD management recommendations for drug classes, not specific products</a:t>
            </a:r>
            <a:r>
              <a:rPr lang="en-US" b="1" dirty="0">
                <a:cs typeface="Segoe UI" panose="020B0502040204020203" pitchFamily="34" charset="0"/>
              </a:rPr>
              <a:t>.</a:t>
            </a:r>
            <a:endParaRPr lang="en-GB" dirty="0">
              <a:effectLst/>
              <a:ea typeface="Times New Roman" panose="02020603050405020304" pitchFamily="18" charset="0"/>
              <a:cs typeface="Segoe UI" panose="020B0502040204020203" pitchFamily="34" charset="0"/>
            </a:endParaRPr>
          </a:p>
          <a:p>
            <a:r>
              <a:rPr lang="en-GB" dirty="0">
                <a:effectLst/>
                <a:ea typeface="Times New Roman" panose="02020603050405020304" pitchFamily="18" charset="0"/>
                <a:cs typeface="Arial" panose="020B0604020202020204" pitchFamily="34" charset="0"/>
              </a:rPr>
              <a:t>The figure is used with the permission of </a:t>
            </a:r>
            <a:r>
              <a:rPr lang="en-US" sz="700" dirty="0">
                <a:effectLst/>
                <a:latin typeface="Arial" panose="020B0604020202020204" pitchFamily="34" charset="0"/>
                <a:ea typeface="Times New Roman" panose="02020603050405020304" pitchFamily="18" charset="0"/>
                <a:cs typeface="Arial" panose="020B0604020202020204" pitchFamily="34" charset="0"/>
              </a:rPr>
              <a:t>© [2024 and 2025] Global Strategy for Diagnosis, Management and Prevention of COPD all rights reserved. Use is by express license from the owner</a:t>
            </a:r>
            <a:r>
              <a:rPr lang="en-GB" sz="700" dirty="0">
                <a:effectLst/>
                <a:latin typeface="Arial" panose="020B0604020202020204" pitchFamily="34" charset="0"/>
                <a:ea typeface="Times New Roman" panose="02020603050405020304" pitchFamily="18" charset="0"/>
                <a:cs typeface="Arial" panose="020B0604020202020204" pitchFamily="34" charset="0"/>
              </a:rPr>
              <a:t>. </a:t>
            </a:r>
            <a:r>
              <a:rPr lang="en-GB" dirty="0">
                <a:effectLst/>
                <a:ea typeface="Times New Roman" panose="02020603050405020304" pitchFamily="18" charset="0"/>
                <a:cs typeface="Arial" panose="020B0604020202020204" pitchFamily="34" charset="0"/>
              </a:rPr>
              <a:t>The same data can be found in GOLD. Global Strategy for the Diagnosis, Management and Prevention of COPD. 2025.</a:t>
            </a:r>
            <a:endParaRPr kumimoji="0" lang="en-US" b="0" i="0" u="none" strike="noStrike" kern="1200" cap="none" spc="0" normalizeH="0" baseline="0" noProof="0" dirty="0">
              <a:ln>
                <a:noFill/>
              </a:ln>
              <a:solidFill>
                <a:schemeClr val="tx1"/>
              </a:solidFill>
              <a:effectLst/>
              <a:uLnTx/>
              <a:uFillTx/>
              <a:ea typeface="+mn-ea"/>
              <a:cs typeface="Noto Sans"/>
            </a:endParaRPr>
          </a:p>
          <a:p>
            <a:pPr>
              <a:defRPr/>
            </a:pPr>
            <a:r>
              <a:rPr kumimoji="0" lang="en-GB" b="0" i="0" u="none" strike="noStrike" kern="1200" cap="none" spc="0" normalizeH="0" baseline="0" noProof="0" dirty="0" err="1">
                <a:ln>
                  <a:noFill/>
                </a:ln>
                <a:solidFill>
                  <a:prstClr val="black"/>
                </a:solidFill>
                <a:effectLst/>
                <a:uLnTx/>
                <a:uFillTx/>
                <a:ea typeface="+mn-ea"/>
                <a:cs typeface="Arial" panose="020B0604020202020204" pitchFamily="34" charset="0"/>
              </a:rPr>
              <a:t>eos</a:t>
            </a:r>
            <a:r>
              <a:rPr kumimoji="0" lang="en-GB" b="0" i="0" u="none" strike="noStrike" kern="1200" cap="none" spc="0" normalizeH="0" baseline="0" noProof="0" dirty="0">
                <a:ln>
                  <a:noFill/>
                </a:ln>
                <a:solidFill>
                  <a:prstClr val="black"/>
                </a:solidFill>
                <a:effectLst/>
                <a:uLnTx/>
                <a:uFillTx/>
                <a:ea typeface="+mn-ea"/>
                <a:cs typeface="Arial" panose="020B0604020202020204" pitchFamily="34" charset="0"/>
              </a:rPr>
              <a:t>, eosinophil; </a:t>
            </a:r>
            <a:r>
              <a:rPr kumimoji="0" lang="en-IN" b="0" i="0" u="none" strike="noStrike" kern="1200" cap="none" spc="0" normalizeH="0" baseline="0" noProof="0" dirty="0">
                <a:ln>
                  <a:noFill/>
                </a:ln>
                <a:solidFill>
                  <a:srgbClr val="000000"/>
                </a:solidFill>
                <a:effectLst/>
                <a:uLnTx/>
                <a:uFillTx/>
                <a:ea typeface="+mn-ea"/>
                <a:cs typeface="Noto Sans"/>
              </a:rPr>
              <a:t>FEV</a:t>
            </a:r>
            <a:r>
              <a:rPr kumimoji="0" lang="en-IN" b="0" i="0" u="none" strike="noStrike" kern="1200" cap="none" spc="0" normalizeH="0" baseline="-25000" noProof="0" dirty="0">
                <a:ln>
                  <a:noFill/>
                </a:ln>
                <a:solidFill>
                  <a:srgbClr val="000000"/>
                </a:solidFill>
                <a:effectLst/>
                <a:uLnTx/>
                <a:uFillTx/>
                <a:ea typeface="+mn-ea"/>
                <a:cs typeface="Noto Sans"/>
              </a:rPr>
              <a:t>1</a:t>
            </a:r>
            <a:r>
              <a:rPr kumimoji="0" lang="en-IN" b="0" i="0" u="none" strike="noStrike" kern="1200" cap="none" spc="0" normalizeH="0" baseline="0" noProof="0" dirty="0">
                <a:ln>
                  <a:noFill/>
                </a:ln>
                <a:solidFill>
                  <a:srgbClr val="000000"/>
                </a:solidFill>
                <a:effectLst/>
                <a:uLnTx/>
                <a:uFillTx/>
                <a:ea typeface="+mn-ea"/>
                <a:cs typeface="Noto Sans"/>
              </a:rPr>
              <a:t>, forced expiratory volume in 1 second; </a:t>
            </a:r>
            <a:r>
              <a:rPr kumimoji="0" lang="en-US" b="0" i="0" u="none" strike="noStrike" kern="1200" cap="none" spc="0" normalizeH="0" baseline="0" noProof="0" dirty="0">
                <a:ln>
                  <a:noFill/>
                </a:ln>
                <a:solidFill>
                  <a:srgbClr val="000000"/>
                </a:solidFill>
                <a:effectLst/>
                <a:uLnTx/>
                <a:uFillTx/>
                <a:ea typeface="+mn-ea"/>
                <a:cs typeface="Noto Sans"/>
              </a:rPr>
              <a:t>GOLD, Global Initiative for Chronic Obstructive Lung Disease; </a:t>
            </a:r>
            <a:r>
              <a:rPr kumimoji="0" lang="en-GB" b="0" i="0" u="none" strike="noStrike" kern="1200" cap="none" spc="0" normalizeH="0" baseline="0" noProof="0" dirty="0">
                <a:ln>
                  <a:noFill/>
                </a:ln>
                <a:solidFill>
                  <a:prstClr val="black"/>
                </a:solidFill>
                <a:effectLst/>
                <a:uLnTx/>
                <a:uFillTx/>
                <a:ea typeface="+mn-ea"/>
                <a:cs typeface="Arial" panose="020B0604020202020204" pitchFamily="34" charset="0"/>
              </a:rPr>
              <a:t>ICS, inhaled corticosteroid; LABA, long-acting β</a:t>
            </a:r>
            <a:r>
              <a:rPr kumimoji="0" lang="en-GB" b="0" i="0" u="none" strike="noStrike" kern="1200" cap="none" spc="0" normalizeH="0" baseline="-25000" noProof="0" dirty="0">
                <a:ln>
                  <a:noFill/>
                </a:ln>
                <a:solidFill>
                  <a:prstClr val="black"/>
                </a:solidFill>
                <a:effectLst/>
                <a:uLnTx/>
                <a:uFillTx/>
                <a:ea typeface="+mn-ea"/>
                <a:cs typeface="Arial" panose="020B0604020202020204" pitchFamily="34" charset="0"/>
              </a:rPr>
              <a:t>2</a:t>
            </a:r>
            <a:r>
              <a:rPr kumimoji="0" lang="en-GB" b="0" i="0" u="none" strike="noStrike" kern="1200" cap="none" spc="0" normalizeH="0" baseline="0" noProof="0" dirty="0">
                <a:ln>
                  <a:noFill/>
                </a:ln>
                <a:solidFill>
                  <a:prstClr val="black"/>
                </a:solidFill>
                <a:effectLst/>
                <a:uLnTx/>
                <a:uFillTx/>
                <a:ea typeface="+mn-ea"/>
                <a:cs typeface="Arial" panose="020B0604020202020204" pitchFamily="34" charset="0"/>
              </a:rPr>
              <a:t>-agonist; LAMA, long-acting muscarinic antagonist.</a:t>
            </a:r>
          </a:p>
          <a:p>
            <a:pPr>
              <a:spcBef>
                <a:spcPts val="0"/>
              </a:spcBef>
              <a:spcAft>
                <a:spcPts val="0"/>
              </a:spcAft>
              <a:defRPr/>
            </a:pPr>
            <a:r>
              <a:rPr lang="en-US"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kern="100" dirty="0">
                <a:effectLst/>
                <a:ea typeface="Calibri" panose="020F0502020204030204" pitchFamily="34" charset="0"/>
                <a:cs typeface="Times New Roman" panose="02020603050405020304" pitchFamily="18" charset="0"/>
                <a:hlinkClick r:id="rId3"/>
              </a:rPr>
              <a:t>https://goldcopd.org/wp-content/uploads/2024/11/GOLD-2025-Report-v1.0-15Nov2024_WMV.pdf</a:t>
            </a:r>
            <a:r>
              <a:rPr lang="en-US" kern="100" dirty="0">
                <a:effectLst/>
                <a:ea typeface="Calibri" panose="020F0502020204030204" pitchFamily="34" charset="0"/>
                <a:cs typeface="Times New Roman" panose="02020603050405020304" pitchFamily="18" charset="0"/>
              </a:rPr>
              <a:t>. Accessed November </a:t>
            </a:r>
            <a:r>
              <a:rPr lang="en-US" kern="100" dirty="0">
                <a:ea typeface="Calibri" panose="020F0502020204030204" pitchFamily="34" charset="0"/>
                <a:cs typeface="Times New Roman" panose="02020603050405020304" pitchFamily="18" charset="0"/>
              </a:rPr>
              <a:t>21,</a:t>
            </a:r>
            <a:r>
              <a:rPr lang="en-US" kern="100" dirty="0">
                <a:effectLst/>
                <a:ea typeface="Calibri" panose="020F0502020204030204" pitchFamily="34" charset="0"/>
                <a:cs typeface="Times New Roman" panose="02020603050405020304" pitchFamily="18" charset="0"/>
              </a:rPr>
              <a:t> 2024.</a:t>
            </a:r>
            <a:endParaRPr kumimoji="0" lang="en-US" sz="7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2" name="Title 21">
            <a:extLst>
              <a:ext uri="{FF2B5EF4-FFF2-40B4-BE49-F238E27FC236}">
                <a16:creationId xmlns:a16="http://schemas.microsoft.com/office/drawing/2014/main" id="{37248E5E-1B0A-8817-87F8-169B201D61C5}"/>
              </a:ext>
            </a:extLst>
          </p:cNvPr>
          <p:cNvSpPr>
            <a:spLocks noGrp="1"/>
          </p:cNvSpPr>
          <p:nvPr>
            <p:ph type="title"/>
          </p:nvPr>
        </p:nvSpPr>
        <p:spPr/>
        <p:txBody>
          <a:bodyPr/>
          <a:lstStyle/>
          <a:p>
            <a:r>
              <a:rPr lang="en-US" dirty="0"/>
              <a:t>GOLD 2025: Follow-up pharmacological treatment algorithm</a:t>
            </a:r>
            <a:endParaRPr lang="en-IN" dirty="0"/>
          </a:p>
        </p:txBody>
      </p:sp>
      <p:sp>
        <p:nvSpPr>
          <p:cNvPr id="29" name="Text Placeholder 24">
            <a:extLst>
              <a:ext uri="{FF2B5EF4-FFF2-40B4-BE49-F238E27FC236}">
                <a16:creationId xmlns:a16="http://schemas.microsoft.com/office/drawing/2014/main" id="{7839E0D2-479B-1F3E-064C-B02E1BFE1EA2}"/>
              </a:ext>
            </a:extLst>
          </p:cNvPr>
          <p:cNvSpPr txBox="1">
            <a:spLocks/>
          </p:cNvSpPr>
          <p:nvPr/>
        </p:nvSpPr>
        <p:spPr>
          <a:xfrm>
            <a:off x="1009650" y="5966882"/>
            <a:ext cx="10815639" cy="298800"/>
          </a:xfrm>
          <a:prstGeom prst="rect">
            <a:avLst/>
          </a:prstGeom>
        </p:spPr>
        <p:txBody>
          <a:bodyPr vert="horz" lIns="0" tIns="0" rIns="0" bIns="0" rtlCol="0" anchor="b">
            <a:noAutofit/>
          </a:bodyPr>
          <a:lstStyle>
            <a:lvl1pPr marL="0" indent="0" algn="l" defTabSz="1219170" rtl="0" eaLnBrk="1" latinLnBrk="0" hangingPunct="1">
              <a:spcBef>
                <a:spcPts val="0"/>
              </a:spcBef>
              <a:spcAft>
                <a:spcPts val="0"/>
              </a:spcAft>
              <a:buClr>
                <a:schemeClr val="tx2"/>
              </a:buClr>
              <a:buSzPct val="110000"/>
              <a:buFont typeface="Arial" panose="020B0604020202020204" pitchFamily="34" charset="0"/>
              <a:buNone/>
              <a:defRPr sz="700" kern="1200">
                <a:solidFill>
                  <a:schemeClr val="tx1"/>
                </a:solidFill>
                <a:latin typeface="+mn-lt"/>
                <a:ea typeface="+mn-ea"/>
                <a:cs typeface="+mn-cs"/>
              </a:defRPr>
            </a:lvl1pPr>
            <a:lvl2pPr marL="35754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2pPr>
            <a:lvl3pPr marL="719982"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3pPr>
            <a:lvl4pPr marL="1081424" indent="0" algn="l" defTabSz="1219170" rtl="0" eaLnBrk="1" latinLnBrk="0" hangingPunct="1">
              <a:spcBef>
                <a:spcPts val="300"/>
              </a:spcBef>
              <a:spcAft>
                <a:spcPts val="300"/>
              </a:spcAft>
              <a:buClr>
                <a:schemeClr val="tx1"/>
              </a:buClr>
              <a:buFont typeface="Arial" panose="020B0604020202020204" pitchFamily="34" charset="0"/>
              <a:buNone/>
              <a:defRPr sz="1000" kern="1200">
                <a:solidFill>
                  <a:schemeClr val="tx1"/>
                </a:solidFill>
                <a:latin typeface="+mn-lt"/>
                <a:ea typeface="+mn-ea"/>
                <a:cs typeface="+mn-cs"/>
              </a:defRPr>
            </a:lvl4pPr>
            <a:lvl5pPr marL="1439964" indent="0" algn="l" defTabSz="1219170" rtl="0" eaLnBrk="1" latinLnBrk="0" hangingPunct="1">
              <a:spcBef>
                <a:spcPts val="300"/>
              </a:spcBef>
              <a:spcAft>
                <a:spcPts val="300"/>
              </a:spcAft>
              <a:buClr>
                <a:schemeClr val="tx1"/>
              </a:buClr>
              <a:buFont typeface="Arial" panose="020B0604020202020204" pitchFamily="34" charset="0"/>
              <a:buNone/>
              <a:defRPr sz="1000" b="0" kern="1200">
                <a:solidFill>
                  <a:schemeClr val="tx1"/>
                </a:solidFill>
                <a:latin typeface="+mn-lt"/>
                <a:ea typeface="+mn-ea"/>
                <a:cs typeface="+mn-cs"/>
              </a:defRPr>
            </a:lvl5pPr>
            <a:lvl6pPr marL="2159946"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6pPr>
            <a:lvl7pPr marL="2399940"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7pPr>
            <a:lvl8pPr marL="2759931"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8pPr>
            <a:lvl9pPr marL="3119922" indent="-359991" algn="l" defTabSz="1219170" rtl="0" eaLnBrk="1" latinLnBrk="0" hangingPunct="1">
              <a:spcBef>
                <a:spcPts val="300"/>
              </a:spcBef>
              <a:spcAft>
                <a:spcPts val="300"/>
              </a:spcAft>
              <a:buClr>
                <a:schemeClr val="tx1"/>
              </a:buClr>
              <a:buFont typeface="Arial" panose="020B0604020202020204" pitchFamily="34" charset="0"/>
              <a:buChar char="­"/>
              <a:defRPr sz="1200" kern="1200">
                <a:solidFill>
                  <a:schemeClr val="tx1"/>
                </a:solidFill>
                <a:latin typeface="+mn-lt"/>
                <a:ea typeface="+mn-ea"/>
                <a:cs typeface="+mn-cs"/>
              </a:defRPr>
            </a:lvl9pPr>
          </a:lstStyle>
          <a:p>
            <a:pPr marL="0" marR="0" lvl="0" indent="0" algn="l" defTabSz="1219170" rtl="0" eaLnBrk="1" fontAlgn="auto" latinLnBrk="0" hangingPunct="1">
              <a:lnSpc>
                <a:spcPct val="100000"/>
              </a:lnSpc>
              <a:spcBef>
                <a:spcPts val="0"/>
              </a:spcBef>
              <a:spcAft>
                <a:spcPts val="0"/>
              </a:spcAft>
              <a:buClr>
                <a:srgbClr val="F36633"/>
              </a:buClr>
              <a:buSzPct val="110000"/>
              <a:buFont typeface="Arial" panose="020B0604020202020204" pitchFamily="34" charset="0"/>
              <a:buNone/>
              <a:tabLst/>
              <a:defRPr/>
            </a:pPr>
            <a:endParaRPr kumimoji="0" lang="en-US" sz="700" b="0" i="0" u="none" strike="noStrike" kern="1200" cap="none" spc="0" normalizeH="0" baseline="0" noProof="0">
              <a:ln>
                <a:noFill/>
              </a:ln>
              <a:solidFill>
                <a:srgbClr val="000000"/>
              </a:solidFill>
              <a:effectLst/>
              <a:uLnTx/>
              <a:uFillTx/>
              <a:latin typeface="Arial"/>
              <a:ea typeface="+mn-ea"/>
              <a:cs typeface="Noto Sans"/>
            </a:endParaRPr>
          </a:p>
        </p:txBody>
      </p:sp>
      <p:sp>
        <p:nvSpPr>
          <p:cNvPr id="34" name="Slide Number Placeholder 3">
            <a:extLst>
              <a:ext uri="{FF2B5EF4-FFF2-40B4-BE49-F238E27FC236}">
                <a16:creationId xmlns:a16="http://schemas.microsoft.com/office/drawing/2014/main" id="{1F68326B-151F-9695-EB39-AC6E44E5E4A9}"/>
              </a:ext>
            </a:extLst>
          </p:cNvPr>
          <p:cNvSpPr>
            <a:spLocks noGrp="1"/>
          </p:cNvSpPr>
          <p:nvPr>
            <p:ph type="sldNum" sz="quarter" idx="11"/>
          </p:nvPr>
        </p:nvSpPr>
        <p:spPr>
          <a:xfrm>
            <a:off x="11285288" y="6479625"/>
            <a:ext cx="540000" cy="269875"/>
          </a:xfrm>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84</a:t>
            </a:fld>
            <a:endParaRPr kumimoji="0" lang="en-GB" sz="1000" b="0" i="0" u="none" strike="noStrike" kern="1200" cap="none" spc="0" normalizeH="0" baseline="0" noProof="0">
              <a:ln>
                <a:noFill/>
              </a:ln>
              <a:solidFill>
                <a:srgbClr val="000000"/>
              </a:solidFill>
              <a:effectLst/>
              <a:uLnTx/>
              <a:uFillTx/>
              <a:latin typeface="Arial"/>
              <a:ea typeface="+mn-ea"/>
              <a:cs typeface="Noto Sans"/>
            </a:endParaRPr>
          </a:p>
        </p:txBody>
      </p:sp>
      <p:grpSp>
        <p:nvGrpSpPr>
          <p:cNvPr id="36" name="Group 35">
            <a:extLst>
              <a:ext uri="{FF2B5EF4-FFF2-40B4-BE49-F238E27FC236}">
                <a16:creationId xmlns:a16="http://schemas.microsoft.com/office/drawing/2014/main" id="{A33681C2-D358-DBCE-DA93-2724D4AE1464}"/>
              </a:ext>
            </a:extLst>
          </p:cNvPr>
          <p:cNvGrpSpPr/>
          <p:nvPr/>
        </p:nvGrpSpPr>
        <p:grpSpPr>
          <a:xfrm>
            <a:off x="10967925" y="-2"/>
            <a:ext cx="857361" cy="711992"/>
            <a:chOff x="10967925" y="-2"/>
            <a:chExt cx="857361" cy="711992"/>
          </a:xfrm>
        </p:grpSpPr>
        <p:sp>
          <p:nvSpPr>
            <p:cNvPr id="37" name="Rectangle: Top Corners Rounded 36">
              <a:extLst>
                <a:ext uri="{FF2B5EF4-FFF2-40B4-BE49-F238E27FC236}">
                  <a16:creationId xmlns:a16="http://schemas.microsoft.com/office/drawing/2014/main" id="{1D7CAB34-79CD-0E76-DAB2-917D82D6A722}"/>
                </a:ext>
              </a:extLst>
            </p:cNvPr>
            <p:cNvSpPr/>
            <p:nvPr/>
          </p:nvSpPr>
          <p:spPr bwMode="auto">
            <a:xfrm rot="10800000">
              <a:off x="10967925" y="-2"/>
              <a:ext cx="857361" cy="711992"/>
            </a:xfrm>
            <a:prstGeom prst="round2SameRect">
              <a:avLst>
                <a:gd name="adj1" fmla="val 11985"/>
                <a:gd name="adj2" fmla="val 0"/>
              </a:avLst>
            </a:prstGeom>
            <a:solidFill>
              <a:srgbClr val="364359"/>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1219170" rtl="0" eaLnBrk="0" fontAlgn="auto" latinLnBrk="0" hangingPunct="0">
                <a:lnSpc>
                  <a:spcPct val="100000"/>
                </a:lnSpc>
                <a:spcBef>
                  <a:spcPts val="300"/>
                </a:spcBef>
                <a:spcAft>
                  <a:spcPts val="300"/>
                </a:spcAft>
                <a:buClr>
                  <a:srgbClr val="F36633"/>
                </a:buClr>
                <a:buSzPct val="110000"/>
                <a:buFontTx/>
                <a:buNone/>
                <a:tabLst/>
                <a:defRPr/>
              </a:pPr>
              <a:endParaRPr kumimoji="0" lang="en-IN" sz="1600" b="0" i="0" u="none" strike="noStrike" kern="0" cap="none" spc="0" normalizeH="0" baseline="0" noProof="0">
                <a:ln>
                  <a:noFill/>
                </a:ln>
                <a:solidFill>
                  <a:srgbClr val="000000"/>
                </a:solidFill>
                <a:effectLst/>
                <a:uLnTx/>
                <a:uFillTx/>
                <a:latin typeface="Arial"/>
                <a:ea typeface="+mn-ea"/>
                <a:cs typeface="Noto Sans"/>
              </a:endParaRPr>
            </a:p>
          </p:txBody>
        </p:sp>
        <p:sp>
          <p:nvSpPr>
            <p:cNvPr id="38" name="TextBox 37">
              <a:extLst>
                <a:ext uri="{FF2B5EF4-FFF2-40B4-BE49-F238E27FC236}">
                  <a16:creationId xmlns:a16="http://schemas.microsoft.com/office/drawing/2014/main" id="{16966138-F64C-605B-DB1D-F133DBFACF17}"/>
                </a:ext>
              </a:extLst>
            </p:cNvPr>
            <p:cNvSpPr txBox="1"/>
            <p:nvPr/>
          </p:nvSpPr>
          <p:spPr>
            <a:xfrm>
              <a:off x="10994384" y="30497"/>
              <a:ext cx="804442" cy="646331"/>
            </a:xfrm>
            <a:prstGeom prst="rect">
              <a:avLst/>
            </a:prstGeom>
            <a:noFill/>
          </p:spPr>
          <p:txBody>
            <a:bodyPr wrap="square" rtlCol="0">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AU" sz="2200" b="1" i="0" u="none" strike="noStrike" kern="1200" cap="none" spc="0" normalizeH="0" baseline="0" noProof="0">
                  <a:ln>
                    <a:noFill/>
                  </a:ln>
                  <a:solidFill>
                    <a:prstClr val="white"/>
                  </a:solidFill>
                  <a:effectLst/>
                  <a:uLnTx/>
                  <a:uFillTx/>
                  <a:latin typeface="Calibri" panose="020F0502020204030204" pitchFamily="34" charset="0"/>
                  <a:ea typeface="Verdana" panose="020B0604030504040204" pitchFamily="34" charset="0"/>
                  <a:cs typeface="Calibri" panose="020F0502020204030204" pitchFamily="34" charset="0"/>
                </a:rPr>
                <a:t>2025</a:t>
              </a:r>
              <a:br>
                <a:rPr kumimoji="0" lang="en-AU" sz="2200" b="1" i="0" u="none" strike="noStrike" kern="1200" cap="none" spc="0" normalizeH="0" baseline="0" noProof="0">
                  <a:ln>
                    <a:noFill/>
                  </a:ln>
                  <a:solidFill>
                    <a:prstClr val="white"/>
                  </a:solidFill>
                  <a:effectLst/>
                  <a:uLnTx/>
                  <a:uFillTx/>
                  <a:latin typeface="Calibri" panose="020F0502020204030204" pitchFamily="34" charset="0"/>
                  <a:ea typeface="Verdana" panose="020B0604030504040204" pitchFamily="34" charset="0"/>
                  <a:cs typeface="Calibri" panose="020F0502020204030204" pitchFamily="34" charset="0"/>
                </a:rPr>
              </a:br>
              <a:r>
                <a:rPr kumimoji="0" lang="en-AU" sz="1400" b="1" i="0" u="none" strike="noStrike" kern="1200" cap="none" spc="0" normalizeH="0" baseline="0" noProof="0">
                  <a:ln>
                    <a:noFill/>
                  </a:ln>
                  <a:solidFill>
                    <a:prstClr val="white"/>
                  </a:solidFill>
                  <a:effectLst/>
                  <a:uLnTx/>
                  <a:uFillTx/>
                  <a:latin typeface="Calibri" panose="020F0502020204030204" pitchFamily="34" charset="0"/>
                  <a:ea typeface="Verdana" panose="020B0604030504040204" pitchFamily="34" charset="0"/>
                  <a:cs typeface="Calibri" panose="020F0502020204030204" pitchFamily="34" charset="0"/>
                </a:rPr>
                <a:t>REPORT</a:t>
              </a:r>
              <a:endParaRPr kumimoji="0" lang="en-AU" sz="2200" b="1" i="0" u="none" strike="noStrike" kern="1200" cap="none" spc="0" normalizeH="0" baseline="0" noProof="0">
                <a:ln>
                  <a:noFill/>
                </a:ln>
                <a:solidFill>
                  <a:prstClr val="white"/>
                </a:solidFill>
                <a:effectLst/>
                <a:uLnTx/>
                <a:uFillTx/>
                <a:latin typeface="Calibri" panose="020F0502020204030204" pitchFamily="34" charset="0"/>
                <a:ea typeface="Verdana" panose="020B0604030504040204" pitchFamily="34" charset="0"/>
                <a:cs typeface="Calibri" panose="020F0502020204030204" pitchFamily="34" charset="0"/>
              </a:endParaRPr>
            </a:p>
          </p:txBody>
        </p:sp>
      </p:grpSp>
      <p:grpSp>
        <p:nvGrpSpPr>
          <p:cNvPr id="41" name="Group 40">
            <a:extLst>
              <a:ext uri="{FF2B5EF4-FFF2-40B4-BE49-F238E27FC236}">
                <a16:creationId xmlns:a16="http://schemas.microsoft.com/office/drawing/2014/main" id="{20380917-9E38-1130-5987-488604ED2E2E}"/>
              </a:ext>
            </a:extLst>
          </p:cNvPr>
          <p:cNvGrpSpPr/>
          <p:nvPr/>
        </p:nvGrpSpPr>
        <p:grpSpPr>
          <a:xfrm>
            <a:off x="663756" y="1024100"/>
            <a:ext cx="11156742" cy="4235881"/>
            <a:chOff x="663756" y="1177332"/>
            <a:chExt cx="11156742" cy="4364232"/>
          </a:xfrm>
        </p:grpSpPr>
        <p:grpSp>
          <p:nvGrpSpPr>
            <p:cNvPr id="40" name="Group 39">
              <a:extLst>
                <a:ext uri="{FF2B5EF4-FFF2-40B4-BE49-F238E27FC236}">
                  <a16:creationId xmlns:a16="http://schemas.microsoft.com/office/drawing/2014/main" id="{4BE99A06-6935-EA87-E7C7-83AA7736DB2C}"/>
                </a:ext>
              </a:extLst>
            </p:cNvPr>
            <p:cNvGrpSpPr/>
            <p:nvPr/>
          </p:nvGrpSpPr>
          <p:grpSpPr>
            <a:xfrm>
              <a:off x="6977496" y="1177332"/>
              <a:ext cx="4843002" cy="4364232"/>
              <a:chOff x="6977496" y="1177332"/>
              <a:chExt cx="4843002" cy="4364232"/>
            </a:xfrm>
          </p:grpSpPr>
          <p:grpSp>
            <p:nvGrpSpPr>
              <p:cNvPr id="33" name="Group 32">
                <a:extLst>
                  <a:ext uri="{FF2B5EF4-FFF2-40B4-BE49-F238E27FC236}">
                    <a16:creationId xmlns:a16="http://schemas.microsoft.com/office/drawing/2014/main" id="{67B19A9A-9BB4-C791-27E1-34866107F7D6}"/>
                  </a:ext>
                </a:extLst>
              </p:cNvPr>
              <p:cNvGrpSpPr/>
              <p:nvPr/>
            </p:nvGrpSpPr>
            <p:grpSpPr>
              <a:xfrm>
                <a:off x="6977496" y="1177332"/>
                <a:ext cx="4843002" cy="3248901"/>
                <a:chOff x="6977496" y="1177332"/>
                <a:chExt cx="4843002" cy="3248901"/>
              </a:xfrm>
            </p:grpSpPr>
            <p:sp>
              <p:nvSpPr>
                <p:cNvPr id="2" name="Rectangle: Rounded Corners 1">
                  <a:extLst>
                    <a:ext uri="{FF2B5EF4-FFF2-40B4-BE49-F238E27FC236}">
                      <a16:creationId xmlns:a16="http://schemas.microsoft.com/office/drawing/2014/main" id="{4FF7F996-3292-6F66-515C-20E8A660E076}"/>
                    </a:ext>
                  </a:extLst>
                </p:cNvPr>
                <p:cNvSpPr/>
                <p:nvPr/>
              </p:nvSpPr>
              <p:spPr bwMode="auto">
                <a:xfrm>
                  <a:off x="7342727" y="1742446"/>
                  <a:ext cx="4163875" cy="2683787"/>
                </a:xfrm>
                <a:prstGeom prst="roundRect">
                  <a:avLst>
                    <a:gd name="adj" fmla="val 4458"/>
                  </a:avLst>
                </a:prstGeom>
                <a:solidFill>
                  <a:schemeClr val="tx2"/>
                </a:solidFill>
                <a:ln>
                  <a:noFill/>
                  <a:prstDash val="sysDot"/>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45720" tIns="182880" rIns="45720" bIns="9144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US" sz="1600" b="0" i="0" u="none" strike="noStrike" kern="0" cap="none" spc="0" normalizeH="0" baseline="0" noProof="0">
                    <a:ln>
                      <a:noFill/>
                    </a:ln>
                    <a:solidFill>
                      <a:srgbClr val="000000"/>
                    </a:solidFill>
                    <a:effectLst/>
                    <a:uLnTx/>
                    <a:uFillTx/>
                    <a:latin typeface="Arial"/>
                    <a:ea typeface="+mn-ea"/>
                    <a:cs typeface="Noto Sans"/>
                  </a:endParaRPr>
                </a:p>
              </p:txBody>
            </p:sp>
            <p:sp>
              <p:nvSpPr>
                <p:cNvPr id="27" name="Rectangle: Rounded Corners 26">
                  <a:extLst>
                    <a:ext uri="{FF2B5EF4-FFF2-40B4-BE49-F238E27FC236}">
                      <a16:creationId xmlns:a16="http://schemas.microsoft.com/office/drawing/2014/main" id="{DEDEC0DB-42CF-475E-33BD-EF5ED361581E}"/>
                    </a:ext>
                  </a:extLst>
                </p:cNvPr>
                <p:cNvSpPr/>
                <p:nvPr/>
              </p:nvSpPr>
              <p:spPr bwMode="auto">
                <a:xfrm>
                  <a:off x="6977496" y="1177332"/>
                  <a:ext cx="4843002" cy="3161078"/>
                </a:xfrm>
                <a:prstGeom prst="roundRect">
                  <a:avLst>
                    <a:gd name="adj" fmla="val 5106"/>
                  </a:avLst>
                </a:prstGeom>
                <a:solidFill>
                  <a:schemeClr val="bg1"/>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1219170" rtl="0" eaLnBrk="0" fontAlgn="auto" latinLnBrk="0" hangingPunct="0">
                    <a:lnSpc>
                      <a:spcPct val="100000"/>
                    </a:lnSpc>
                    <a:spcBef>
                      <a:spcPts val="300"/>
                    </a:spcBef>
                    <a:spcAft>
                      <a:spcPts val="300"/>
                    </a:spcAft>
                    <a:buClr>
                      <a:srgbClr val="F36633"/>
                    </a:buClr>
                    <a:buSzPct val="110000"/>
                    <a:buFontTx/>
                    <a:buNone/>
                    <a:tabLst/>
                    <a:defRPr/>
                  </a:pPr>
                  <a:endParaRPr kumimoji="0" lang="en-IN" sz="1600" b="0" i="0" u="none" strike="noStrike" kern="0" cap="none" spc="0" normalizeH="0" baseline="0" noProof="0">
                    <a:ln>
                      <a:noFill/>
                    </a:ln>
                    <a:solidFill>
                      <a:srgbClr val="000000"/>
                    </a:solidFill>
                    <a:effectLst/>
                    <a:uLnTx/>
                    <a:uFillTx/>
                    <a:latin typeface="Arial"/>
                    <a:ea typeface="+mn-ea"/>
                    <a:cs typeface="Noto Sans"/>
                  </a:endParaRPr>
                </a:p>
              </p:txBody>
            </p:sp>
            <p:sp>
              <p:nvSpPr>
                <p:cNvPr id="28" name="TextBox 27">
                  <a:extLst>
                    <a:ext uri="{FF2B5EF4-FFF2-40B4-BE49-F238E27FC236}">
                      <a16:creationId xmlns:a16="http://schemas.microsoft.com/office/drawing/2014/main" id="{5C564738-65B8-F000-8946-AF2FCA03FDF8}"/>
                    </a:ext>
                  </a:extLst>
                </p:cNvPr>
                <p:cNvSpPr txBox="1"/>
                <p:nvPr/>
              </p:nvSpPr>
              <p:spPr>
                <a:xfrm>
                  <a:off x="7175308" y="1265155"/>
                  <a:ext cx="4447378" cy="2985433"/>
                </a:xfrm>
                <a:prstGeom prst="rect">
                  <a:avLst/>
                </a:prstGeom>
                <a:noFill/>
              </p:spPr>
              <p:txBody>
                <a:bodyPr wrap="square">
                  <a:noAutofit/>
                </a:bodyPr>
                <a:lstStyle/>
                <a:p>
                  <a:pPr marL="0" marR="0" lvl="0" indent="0" algn="l" defTabSz="1219170" rtl="0" eaLnBrk="1" fontAlgn="auto" latinLnBrk="0" hangingPunct="1">
                    <a:lnSpc>
                      <a:spcPct val="100000"/>
                    </a:lnSpc>
                    <a:spcBef>
                      <a:spcPts val="0"/>
                    </a:spcBef>
                    <a:spcAft>
                      <a:spcPts val="400"/>
                    </a:spcAft>
                    <a:buClr>
                      <a:srgbClr val="F36633"/>
                    </a:buClr>
                    <a:buSzTx/>
                    <a:buFontTx/>
                    <a:buNone/>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If response to initial treatment is appropriate, maintain the treatment. If not:</a:t>
                  </a:r>
                </a:p>
                <a:p>
                  <a:pPr marL="171450" marR="0" lvl="0" indent="-171450" algn="l" defTabSz="121917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Check adherence, inhaler technique, and possible interfering comorbidities</a:t>
                  </a:r>
                </a:p>
                <a:p>
                  <a:pPr marL="171450" marR="0" lvl="0" indent="-171450" algn="l" defTabSz="121917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The need to target primarily dyspnea/activity limitation or to prevent further exacerbations should be evaluated in each patient. Consider the predominant treatable trait to target (dyspnea or exacerbations)</a:t>
                  </a:r>
                </a:p>
                <a:p>
                  <a:pPr marL="0" marR="0" lvl="0" indent="0" algn="l" defTabSz="1219170" rtl="0" eaLnBrk="1" fontAlgn="auto" latinLnBrk="0" hangingPunct="1">
                    <a:lnSpc>
                      <a:spcPct val="100000"/>
                    </a:lnSpc>
                    <a:spcBef>
                      <a:spcPts val="0"/>
                    </a:spcBef>
                    <a:spcAft>
                      <a:spcPts val="400"/>
                    </a:spcAft>
                    <a:buClr>
                      <a:srgbClr val="F36633"/>
                    </a:buClr>
                    <a:buSzTx/>
                    <a:buFontTx/>
                    <a:buNone/>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If a change in treatment is considered necessary, the corresponding algorithms can be selected:</a:t>
                  </a:r>
                </a:p>
                <a:p>
                  <a:pPr marL="171450" marR="0" lvl="0" indent="-171450" algn="l" defTabSz="121917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Left column for dyspnea or </a:t>
                  </a:r>
                </a:p>
                <a:p>
                  <a:pPr marL="171450" marR="0" lvl="0" indent="-171450" algn="l" defTabSz="1219170" rtl="0" eaLnBrk="1" fontAlgn="auto" latinLnBrk="0" hangingPunct="1">
                    <a:lnSpc>
                      <a:spcPct val="100000"/>
                    </a:lnSpc>
                    <a:spcBef>
                      <a:spcPts val="0"/>
                    </a:spcBef>
                    <a:spcAft>
                      <a:spcPts val="400"/>
                    </a:spcAft>
                    <a:buClr>
                      <a:srgbClr val="F36633"/>
                    </a:buClr>
                    <a:buSzTx/>
                    <a:buFont typeface="Arial" panose="020B0604020202020204" pitchFamily="34" charset="0"/>
                    <a:buChar char="•"/>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Right column for exacerbations </a:t>
                  </a:r>
                </a:p>
                <a:p>
                  <a:pPr marL="360000" marR="0" lvl="0" indent="-171450" algn="l" defTabSz="121917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200" b="0" i="0" u="none" strike="noStrike" kern="100" cap="none" spc="0" normalizeH="0" baseline="0" noProof="0">
                      <a:ln>
                        <a:noFill/>
                      </a:ln>
                      <a:solidFill>
                        <a:sysClr val="windowText" lastClr="000000"/>
                      </a:solidFill>
                      <a:effectLst/>
                      <a:uLnTx/>
                      <a:uFillTx/>
                      <a:latin typeface="Arial"/>
                      <a:ea typeface="Calibri" panose="020F0502020204030204" pitchFamily="34" charset="0"/>
                      <a:cs typeface="Times New Roman" panose="02020603050405020304" pitchFamily="18" charset="0"/>
                    </a:rPr>
                    <a:t>The exacerbation pathway should be used if both dyspnea and exacerbations need to be targeted</a:t>
                  </a:r>
                </a:p>
              </p:txBody>
            </p:sp>
          </p:grpSp>
          <p:sp>
            <p:nvSpPr>
              <p:cNvPr id="8" name="Speech Bubble: Oval 27">
                <a:extLst>
                  <a:ext uri="{FF2B5EF4-FFF2-40B4-BE49-F238E27FC236}">
                    <a16:creationId xmlns:a16="http://schemas.microsoft.com/office/drawing/2014/main" id="{07DB1765-5434-3863-64B3-896D9F30985D}"/>
                  </a:ext>
                </a:extLst>
              </p:cNvPr>
              <p:cNvSpPr/>
              <p:nvPr/>
            </p:nvSpPr>
            <p:spPr bwMode="auto">
              <a:xfrm>
                <a:off x="6977496" y="4600663"/>
                <a:ext cx="4843002" cy="940901"/>
              </a:xfrm>
              <a:prstGeom prst="roundRect">
                <a:avLst>
                  <a:gd name="adj" fmla="val 10081"/>
                </a:avLst>
              </a:prstGeom>
              <a:solidFill>
                <a:schemeClr val="accent4"/>
              </a:solidFill>
              <a:ln w="12700" cap="flat" cmpd="sng" algn="ctr">
                <a:noFill/>
                <a:prstDash val="solid"/>
              </a:ln>
              <a:effectLst/>
            </p:spPr>
            <p:txBody>
              <a:bodyPr anchor="ctr">
                <a:noAutofit/>
              </a:bodyPr>
              <a:lstStyle>
                <a:lvl1pPr defTabSz="912813">
                  <a:defRPr>
                    <a:solidFill>
                      <a:schemeClr val="tx1"/>
                    </a:solidFill>
                    <a:latin typeface="Calibri" pitchFamily="34" charset="0"/>
                    <a:cs typeface="Arial" pitchFamily="34" charset="0"/>
                  </a:defRPr>
                </a:lvl1pPr>
                <a:lvl2pPr marL="742950" indent="-285750" defTabSz="912813">
                  <a:defRPr>
                    <a:solidFill>
                      <a:schemeClr val="tx1"/>
                    </a:solidFill>
                    <a:latin typeface="Calibri" pitchFamily="34" charset="0"/>
                    <a:cs typeface="Arial" pitchFamily="34" charset="0"/>
                  </a:defRPr>
                </a:lvl2pPr>
                <a:lvl3pPr marL="1143000" indent="-228600" defTabSz="912813">
                  <a:defRPr>
                    <a:solidFill>
                      <a:schemeClr val="tx1"/>
                    </a:solidFill>
                    <a:latin typeface="Calibri" pitchFamily="34" charset="0"/>
                    <a:cs typeface="Arial" pitchFamily="34" charset="0"/>
                  </a:defRPr>
                </a:lvl3pPr>
                <a:lvl4pPr marL="1600200" indent="-228600" defTabSz="912813">
                  <a:defRPr>
                    <a:solidFill>
                      <a:schemeClr val="tx1"/>
                    </a:solidFill>
                    <a:latin typeface="Calibri" pitchFamily="34" charset="0"/>
                    <a:cs typeface="Arial" pitchFamily="34" charset="0"/>
                  </a:defRPr>
                </a:lvl4pPr>
                <a:lvl5pPr marL="2057400" indent="-228600" defTabSz="912813">
                  <a:defRPr>
                    <a:solidFill>
                      <a:schemeClr val="tx1"/>
                    </a:solidFill>
                    <a:latin typeface="Calibri" pitchFamily="34" charset="0"/>
                    <a:cs typeface="Arial" pitchFamily="34" charset="0"/>
                  </a:defRPr>
                </a:lvl5pPr>
                <a:lvl6pPr marL="2514600" indent="-228600" defTabSz="912813" fontAlgn="base">
                  <a:spcBef>
                    <a:spcPct val="0"/>
                  </a:spcBef>
                  <a:spcAft>
                    <a:spcPct val="0"/>
                  </a:spcAft>
                  <a:defRPr>
                    <a:solidFill>
                      <a:schemeClr val="tx1"/>
                    </a:solidFill>
                    <a:latin typeface="Calibri" pitchFamily="34" charset="0"/>
                    <a:cs typeface="Arial" pitchFamily="34" charset="0"/>
                  </a:defRPr>
                </a:lvl6pPr>
                <a:lvl7pPr marL="2971800" indent="-228600" defTabSz="912813" fontAlgn="base">
                  <a:spcBef>
                    <a:spcPct val="0"/>
                  </a:spcBef>
                  <a:spcAft>
                    <a:spcPct val="0"/>
                  </a:spcAft>
                  <a:defRPr>
                    <a:solidFill>
                      <a:schemeClr val="tx1"/>
                    </a:solidFill>
                    <a:latin typeface="Calibri" pitchFamily="34" charset="0"/>
                    <a:cs typeface="Arial" pitchFamily="34" charset="0"/>
                  </a:defRPr>
                </a:lvl7pPr>
                <a:lvl8pPr marL="3429000" indent="-228600" defTabSz="912813" fontAlgn="base">
                  <a:spcBef>
                    <a:spcPct val="0"/>
                  </a:spcBef>
                  <a:spcAft>
                    <a:spcPct val="0"/>
                  </a:spcAft>
                  <a:defRPr>
                    <a:solidFill>
                      <a:schemeClr val="tx1"/>
                    </a:solidFill>
                    <a:latin typeface="Calibri" pitchFamily="34" charset="0"/>
                    <a:cs typeface="Arial" pitchFamily="34" charset="0"/>
                  </a:defRPr>
                </a:lvl8pPr>
                <a:lvl9pPr marL="3886200" indent="-228600" defTabSz="912813" fontAlgn="base">
                  <a:spcBef>
                    <a:spcPct val="0"/>
                  </a:spcBef>
                  <a:spcAft>
                    <a:spcPct val="0"/>
                  </a:spcAft>
                  <a:defRPr>
                    <a:solidFill>
                      <a:schemeClr val="tx1"/>
                    </a:solidFill>
                    <a:latin typeface="Calibri" pitchFamily="34" charset="0"/>
                    <a:cs typeface="Arial" pitchFamily="34" charset="0"/>
                  </a:defRPr>
                </a:lvl9pPr>
              </a:lstStyle>
              <a:p>
                <a:pPr marL="0" marR="0" lvl="0" indent="0" algn="l" defTabSz="912813" rtl="0" eaLnBrk="1" fontAlgn="base" latinLnBrk="0" hangingPunct="1">
                  <a:lnSpc>
                    <a:spcPct val="100000"/>
                  </a:lnSpc>
                  <a:spcBef>
                    <a:spcPct val="0"/>
                  </a:spcBef>
                  <a:spcAft>
                    <a:spcPct val="0"/>
                  </a:spcAft>
                  <a:buClrTx/>
                  <a:buSzTx/>
                  <a:buFontTx/>
                  <a:buNone/>
                  <a:tabLst/>
                  <a:defRPr/>
                </a:pPr>
                <a:r>
                  <a:rPr kumimoji="0" lang="en-US" altLang="de-DE" sz="1300" b="0" i="0" u="none" strike="noStrike" kern="0" cap="none" spc="0" normalizeH="0" baseline="0" noProof="0" dirty="0">
                    <a:ln>
                      <a:noFill/>
                    </a:ln>
                    <a:solidFill>
                      <a:srgbClr val="FFFFFF"/>
                    </a:solidFill>
                    <a:effectLst/>
                    <a:uLnTx/>
                    <a:uFillTx/>
                    <a:latin typeface="Arial"/>
                    <a:ea typeface="+mn-ea"/>
                    <a:cs typeface="Arial" pitchFamily="34" charset="0"/>
                  </a:rPr>
                  <a:t>The algorithm is revised to include new treatments—</a:t>
                </a:r>
                <a:r>
                  <a:rPr kumimoji="0" lang="en-US" altLang="de-DE" sz="1300" b="0" i="0" u="none" strike="noStrike" kern="0" cap="none" spc="0" normalizeH="0" baseline="0" noProof="0" dirty="0" err="1">
                    <a:ln>
                      <a:noFill/>
                    </a:ln>
                    <a:solidFill>
                      <a:srgbClr val="FFFFFF"/>
                    </a:solidFill>
                    <a:effectLst/>
                    <a:uLnTx/>
                    <a:uFillTx/>
                    <a:latin typeface="Arial"/>
                    <a:ea typeface="+mn-ea"/>
                    <a:cs typeface="Arial" pitchFamily="34" charset="0"/>
                  </a:rPr>
                  <a:t>ensifentrine</a:t>
                </a:r>
                <a:r>
                  <a:rPr kumimoji="0" lang="en-US" altLang="de-DE" sz="1300" b="0" i="0" u="none" strike="noStrike" kern="0" cap="none" spc="0" normalizeH="0" baseline="0" noProof="0" dirty="0">
                    <a:ln>
                      <a:noFill/>
                    </a:ln>
                    <a:solidFill>
                      <a:srgbClr val="FFFFFF"/>
                    </a:solidFill>
                    <a:effectLst/>
                    <a:uLnTx/>
                    <a:uFillTx/>
                    <a:latin typeface="Arial"/>
                    <a:ea typeface="+mn-ea"/>
                    <a:cs typeface="Arial" pitchFamily="34" charset="0"/>
                  </a:rPr>
                  <a:t> for dyspnea and dupilumab for patients who continue to exacerbate despite triple inhaler therapy in patients with raised </a:t>
                </a:r>
                <a:r>
                  <a:rPr kumimoji="0" lang="en-US" altLang="de-DE" sz="1300" b="0" i="0" u="none" strike="noStrike" kern="0" cap="none" spc="0" normalizeH="0" baseline="0" noProof="0" dirty="0" err="1">
                    <a:ln>
                      <a:noFill/>
                    </a:ln>
                    <a:solidFill>
                      <a:srgbClr val="FFFFFF"/>
                    </a:solidFill>
                    <a:effectLst/>
                    <a:uLnTx/>
                    <a:uFillTx/>
                    <a:latin typeface="Arial"/>
                    <a:ea typeface="+mn-ea"/>
                    <a:cs typeface="Arial" pitchFamily="34" charset="0"/>
                  </a:rPr>
                  <a:t>eos</a:t>
                </a:r>
                <a:r>
                  <a:rPr kumimoji="0" lang="en-US" altLang="de-DE" sz="1300" b="0" i="0" u="none" strike="noStrike" kern="0" cap="none" spc="0" normalizeH="0" baseline="0" noProof="0" dirty="0">
                    <a:ln>
                      <a:noFill/>
                    </a:ln>
                    <a:solidFill>
                      <a:srgbClr val="FFFFFF"/>
                    </a:solidFill>
                    <a:effectLst/>
                    <a:uLnTx/>
                    <a:uFillTx/>
                    <a:latin typeface="Arial"/>
                    <a:ea typeface="+mn-ea"/>
                    <a:cs typeface="Arial" pitchFamily="34" charset="0"/>
                  </a:rPr>
                  <a:t> + chronic bronchitis</a:t>
                </a:r>
              </a:p>
            </p:txBody>
          </p:sp>
        </p:grpSp>
        <p:grpSp>
          <p:nvGrpSpPr>
            <p:cNvPr id="39" name="Group 38">
              <a:extLst>
                <a:ext uri="{FF2B5EF4-FFF2-40B4-BE49-F238E27FC236}">
                  <a16:creationId xmlns:a16="http://schemas.microsoft.com/office/drawing/2014/main" id="{8B10CED7-D0D0-740B-2861-B9C09FE93C04}"/>
                </a:ext>
              </a:extLst>
            </p:cNvPr>
            <p:cNvGrpSpPr/>
            <p:nvPr/>
          </p:nvGrpSpPr>
          <p:grpSpPr>
            <a:xfrm>
              <a:off x="663756" y="1309949"/>
              <a:ext cx="5665625" cy="4098997"/>
              <a:chOff x="663756" y="1311509"/>
              <a:chExt cx="5665625" cy="4147220"/>
            </a:xfrm>
          </p:grpSpPr>
          <p:pic>
            <p:nvPicPr>
              <p:cNvPr id="3" name="Picture 2" descr="This slide shows Figure 3.9 from the GOLD 2025 report. It gives suggested follow-up pharmacological treatment for patients with dyspnea and for those with exacerbations.">
                <a:extLst>
                  <a:ext uri="{FF2B5EF4-FFF2-40B4-BE49-F238E27FC236}">
                    <a16:creationId xmlns:a16="http://schemas.microsoft.com/office/drawing/2014/main" id="{95B6B1AC-EC65-DE7F-A8D1-DFE1AF992C17}"/>
                  </a:ext>
                </a:extLst>
              </p:cNvPr>
              <p:cNvPicPr>
                <a:picLocks noChangeAspect="1"/>
              </p:cNvPicPr>
              <p:nvPr/>
            </p:nvPicPr>
            <p:blipFill rotWithShape="1">
              <a:blip r:embed="rId4"/>
              <a:srcRect l="7215" t="14279" r="7396" b="37424"/>
              <a:stretch/>
            </p:blipFill>
            <p:spPr bwMode="auto">
              <a:xfrm>
                <a:off x="663756" y="1311509"/>
                <a:ext cx="5665625" cy="4147220"/>
              </a:xfrm>
              <a:prstGeom prst="roundRect">
                <a:avLst>
                  <a:gd name="adj" fmla="val 4203"/>
                </a:avLst>
              </a:prstGeom>
              <a:ln>
                <a:solidFill>
                  <a:schemeClr val="tx2">
                    <a:lumMod val="40000"/>
                    <a:lumOff val="60000"/>
                  </a:schemeClr>
                </a:solidFill>
              </a:ln>
              <a:extLst>
                <a:ext uri="{53640926-AAD7-44D8-BBD7-CCE9431645EC}">
                  <a14:shadowObscured xmlns:a14="http://schemas.microsoft.com/office/drawing/2010/main"/>
                </a:ext>
              </a:extLst>
            </p:spPr>
          </p:pic>
          <p:sp>
            <p:nvSpPr>
              <p:cNvPr id="25" name="Rectangle 24">
                <a:extLst>
                  <a:ext uri="{FF2B5EF4-FFF2-40B4-BE49-F238E27FC236}">
                    <a16:creationId xmlns:a16="http://schemas.microsoft.com/office/drawing/2014/main" id="{70977CA3-F74F-5DAA-A20E-58BA83EB8804}"/>
                  </a:ext>
                </a:extLst>
              </p:cNvPr>
              <p:cNvSpPr/>
              <p:nvPr/>
            </p:nvSpPr>
            <p:spPr bwMode="auto">
              <a:xfrm>
                <a:off x="998378" y="4096139"/>
                <a:ext cx="1455574" cy="158620"/>
              </a:xfrm>
              <a:prstGeom prst="rect">
                <a:avLst/>
              </a:prstGeom>
              <a:noFill/>
              <a:ln w="19050">
                <a:solidFill>
                  <a:schemeClr val="accent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1219170" rtl="0" eaLnBrk="0" fontAlgn="auto" latinLnBrk="0" hangingPunct="0">
                  <a:lnSpc>
                    <a:spcPct val="100000"/>
                  </a:lnSpc>
                  <a:spcBef>
                    <a:spcPts val="300"/>
                  </a:spcBef>
                  <a:spcAft>
                    <a:spcPts val="300"/>
                  </a:spcAft>
                  <a:buClr>
                    <a:srgbClr val="F36633"/>
                  </a:buClr>
                  <a:buSzPct val="110000"/>
                  <a:buFontTx/>
                  <a:buNone/>
                  <a:tabLst/>
                  <a:defRPr/>
                </a:pPr>
                <a:endParaRPr kumimoji="0" lang="en-US" sz="1600" b="0" i="0" u="none" strike="noStrike" kern="0" cap="none" spc="0" normalizeH="0" baseline="0" noProof="0" err="1">
                  <a:ln>
                    <a:noFill/>
                  </a:ln>
                  <a:solidFill>
                    <a:srgbClr val="000000"/>
                  </a:solidFill>
                  <a:effectLst/>
                  <a:uLnTx/>
                  <a:uFillTx/>
                  <a:latin typeface="Arial"/>
                  <a:ea typeface="+mn-ea"/>
                  <a:cs typeface="Noto Sans"/>
                </a:endParaRPr>
              </a:p>
            </p:txBody>
          </p:sp>
          <p:sp>
            <p:nvSpPr>
              <p:cNvPr id="30" name="Rectangle 29">
                <a:extLst>
                  <a:ext uri="{FF2B5EF4-FFF2-40B4-BE49-F238E27FC236}">
                    <a16:creationId xmlns:a16="http://schemas.microsoft.com/office/drawing/2014/main" id="{2711A13E-7F54-26DB-1565-817CCD374E0E}"/>
                  </a:ext>
                </a:extLst>
              </p:cNvPr>
              <p:cNvSpPr/>
              <p:nvPr/>
            </p:nvSpPr>
            <p:spPr bwMode="auto">
              <a:xfrm>
                <a:off x="5271796" y="4254759"/>
                <a:ext cx="994508" cy="505931"/>
              </a:xfrm>
              <a:prstGeom prst="rect">
                <a:avLst/>
              </a:prstGeom>
              <a:noFill/>
              <a:ln w="19050">
                <a:solidFill>
                  <a:schemeClr val="accent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1219170" rtl="0" eaLnBrk="0" fontAlgn="auto" latinLnBrk="0" hangingPunct="0">
                  <a:lnSpc>
                    <a:spcPct val="100000"/>
                  </a:lnSpc>
                  <a:spcBef>
                    <a:spcPts val="300"/>
                  </a:spcBef>
                  <a:spcAft>
                    <a:spcPts val="300"/>
                  </a:spcAft>
                  <a:buClr>
                    <a:srgbClr val="F36633"/>
                  </a:buClr>
                  <a:buSzPct val="110000"/>
                  <a:buFontTx/>
                  <a:buNone/>
                  <a:tabLst/>
                  <a:defRPr/>
                </a:pPr>
                <a:endParaRPr kumimoji="0" lang="en-US" sz="1600" b="0" i="0" u="none" strike="noStrike" kern="0" cap="none" spc="0" normalizeH="0" baseline="0" noProof="0" err="1">
                  <a:ln>
                    <a:noFill/>
                  </a:ln>
                  <a:solidFill>
                    <a:srgbClr val="000000"/>
                  </a:solidFill>
                  <a:effectLst/>
                  <a:uLnTx/>
                  <a:uFillTx/>
                  <a:latin typeface="Arial"/>
                  <a:ea typeface="+mn-ea"/>
                  <a:cs typeface="Noto Sans"/>
                </a:endParaRPr>
              </a:p>
            </p:txBody>
          </p:sp>
        </p:grpSp>
        <p:cxnSp>
          <p:nvCxnSpPr>
            <p:cNvPr id="9" name="Straight Arrow Connector 8">
              <a:extLst>
                <a:ext uri="{FF2B5EF4-FFF2-40B4-BE49-F238E27FC236}">
                  <a16:creationId xmlns:a16="http://schemas.microsoft.com/office/drawing/2014/main" id="{9DF49DFB-069A-3E91-71F8-6FCE9773EC46}"/>
                </a:ext>
              </a:extLst>
            </p:cNvPr>
            <p:cNvCxnSpPr>
              <a:cxnSpLocks/>
            </p:cNvCxnSpPr>
            <p:nvPr/>
          </p:nvCxnSpPr>
          <p:spPr>
            <a:xfrm flipH="1">
              <a:off x="5991726" y="5109713"/>
              <a:ext cx="2244519" cy="0"/>
            </a:xfrm>
            <a:prstGeom prst="straightConnector1">
              <a:avLst/>
            </a:prstGeom>
            <a:ln w="15875" cap="rnd">
              <a:solidFill>
                <a:schemeClr val="accent4"/>
              </a:solidFill>
              <a:prstDash val="sysDash"/>
              <a:tailEnd type="oval"/>
            </a:ln>
          </p:spPr>
          <p:style>
            <a:lnRef idx="1">
              <a:schemeClr val="accent1"/>
            </a:lnRef>
            <a:fillRef idx="0">
              <a:schemeClr val="accent1"/>
            </a:fillRef>
            <a:effectRef idx="0">
              <a:schemeClr val="accent1"/>
            </a:effectRef>
            <a:fontRef idx="minor">
              <a:schemeClr val="tx1"/>
            </a:fontRef>
          </p:style>
        </p:cxnSp>
      </p:grpSp>
      <p:grpSp>
        <p:nvGrpSpPr>
          <p:cNvPr id="4" name="Group 3">
            <a:extLst>
              <a:ext uri="{FF2B5EF4-FFF2-40B4-BE49-F238E27FC236}">
                <a16:creationId xmlns:a16="http://schemas.microsoft.com/office/drawing/2014/main" id="{03306C64-FBF6-C135-F485-C629A39569C3}"/>
              </a:ext>
            </a:extLst>
          </p:cNvPr>
          <p:cNvGrpSpPr/>
          <p:nvPr/>
        </p:nvGrpSpPr>
        <p:grpSpPr>
          <a:xfrm>
            <a:off x="11427664" y="6482617"/>
            <a:ext cx="254953" cy="252000"/>
            <a:chOff x="10915935" y="6482617"/>
            <a:chExt cx="254953" cy="252000"/>
          </a:xfrm>
        </p:grpSpPr>
        <p:grpSp>
          <p:nvGrpSpPr>
            <p:cNvPr id="5" name="Group 4">
              <a:extLst>
                <a:ext uri="{FF2B5EF4-FFF2-40B4-BE49-F238E27FC236}">
                  <a16:creationId xmlns:a16="http://schemas.microsoft.com/office/drawing/2014/main" id="{4EFEA172-7DB9-2D31-692A-BF58F11D999B}"/>
                </a:ext>
              </a:extLst>
            </p:cNvPr>
            <p:cNvGrpSpPr/>
            <p:nvPr/>
          </p:nvGrpSpPr>
          <p:grpSpPr>
            <a:xfrm>
              <a:off x="10918765" y="6482617"/>
              <a:ext cx="251102" cy="252000"/>
              <a:chOff x="10918765" y="6294095"/>
              <a:chExt cx="251102" cy="252000"/>
            </a:xfrm>
          </p:grpSpPr>
          <p:sp>
            <p:nvSpPr>
              <p:cNvPr id="14" name="Oval 13">
                <a:extLst>
                  <a:ext uri="{FF2B5EF4-FFF2-40B4-BE49-F238E27FC236}">
                    <a16:creationId xmlns:a16="http://schemas.microsoft.com/office/drawing/2014/main" id="{42A5D728-C096-401A-66EF-5A9E39CF3BEA}"/>
                  </a:ext>
                </a:extLst>
              </p:cNvPr>
              <p:cNvSpPr/>
              <p:nvPr/>
            </p:nvSpPr>
            <p:spPr bwMode="auto">
              <a:xfrm>
                <a:off x="10918765" y="6294095"/>
                <a:ext cx="251102" cy="252000"/>
              </a:xfrm>
              <a:prstGeom prst="ellipse">
                <a:avLst/>
              </a:prstGeom>
              <a:solidFill>
                <a:schemeClr val="tx2"/>
              </a:solidFill>
              <a:ln>
                <a:solidFill>
                  <a:schemeClr val="tx2">
                    <a:lumMod val="40000"/>
                    <a:lumOff val="60000"/>
                  </a:schemeClr>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GB" sz="1600" b="0" i="0" u="none" strike="noStrike" kern="0" cap="none" spc="0" normalizeH="0" baseline="0" noProof="0">
                  <a:ln>
                    <a:noFill/>
                  </a:ln>
                  <a:solidFill>
                    <a:srgbClr val="000000"/>
                  </a:solidFill>
                  <a:effectLst/>
                  <a:uLnTx/>
                  <a:uFillTx/>
                  <a:latin typeface="Arial"/>
                  <a:ea typeface="+mn-ea"/>
                  <a:cs typeface="Arial"/>
                </a:endParaRPr>
              </a:p>
            </p:txBody>
          </p:sp>
          <p:pic>
            <p:nvPicPr>
              <p:cNvPr id="15" name="Graphic 14" descr="Home with solid fill">
                <a:extLst>
                  <a:ext uri="{FF2B5EF4-FFF2-40B4-BE49-F238E27FC236}">
                    <a16:creationId xmlns:a16="http://schemas.microsoft.com/office/drawing/2014/main" id="{44F0DAF9-1041-5A8B-6E49-ED38C48E957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953007" y="6328787"/>
                <a:ext cx="182617" cy="182617"/>
              </a:xfrm>
              <a:prstGeom prst="rect">
                <a:avLst/>
              </a:prstGeom>
            </p:spPr>
          </p:pic>
        </p:grpSp>
        <p:sp>
          <p:nvSpPr>
            <p:cNvPr id="10" name="Oval 9">
              <a:hlinkClick r:id="rId7" action="ppaction://hlinksldjump"/>
              <a:extLst>
                <a:ext uri="{FF2B5EF4-FFF2-40B4-BE49-F238E27FC236}">
                  <a16:creationId xmlns:a16="http://schemas.microsoft.com/office/drawing/2014/main" id="{EDAD3553-B980-E405-909C-0385B7B9BB91}"/>
                </a:ext>
              </a:extLst>
            </p:cNvPr>
            <p:cNvSpPr/>
            <p:nvPr/>
          </p:nvSpPr>
          <p:spPr bwMode="auto">
            <a:xfrm>
              <a:off x="10915935" y="6484205"/>
              <a:ext cx="254953" cy="247133"/>
            </a:xfrm>
            <a:prstGeom prst="ellipse">
              <a:avLst/>
            </a:prstGeom>
            <a:no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l" defTabSz="914400" rtl="0" eaLnBrk="0" fontAlgn="auto" latinLnBrk="0" hangingPunct="0">
                <a:lnSpc>
                  <a:spcPct val="100000"/>
                </a:lnSpc>
                <a:spcBef>
                  <a:spcPts val="300"/>
                </a:spcBef>
                <a:spcAft>
                  <a:spcPts val="300"/>
                </a:spcAft>
                <a:buClr>
                  <a:srgbClr val="F36633"/>
                </a:buClr>
                <a:buSzPct val="110000"/>
                <a:buFontTx/>
                <a:buNone/>
                <a:tabLst/>
                <a:defRPr/>
              </a:pPr>
              <a:endParaRPr kumimoji="0" lang="en-IN" sz="1600" b="0" i="0" u="none" strike="noStrike" kern="0" cap="none" spc="0" normalizeH="0" baseline="0" noProof="0">
                <a:ln>
                  <a:noFill/>
                </a:ln>
                <a:solidFill>
                  <a:srgbClr val="000000"/>
                </a:solidFill>
                <a:effectLst/>
                <a:uLnTx/>
                <a:uFillTx/>
                <a:latin typeface="Arial"/>
                <a:ea typeface="+mn-ea"/>
                <a:cs typeface="Arial"/>
              </a:endParaRPr>
            </a:p>
          </p:txBody>
        </p:sp>
      </p:grpSp>
    </p:spTree>
    <p:extLst>
      <p:ext uri="{BB962C8B-B14F-4D97-AF65-F5344CB8AC3E}">
        <p14:creationId xmlns:p14="http://schemas.microsoft.com/office/powerpoint/2010/main" val="651783673"/>
      </p:ext>
    </p:extLst>
  </p:cSld>
  <p:clrMapOvr>
    <a:masterClrMapping/>
  </p:clrMapOvr>
  <mc:AlternateContent xmlns:mc="http://schemas.openxmlformats.org/markup-compatibility/2006" xmlns:p14="http://schemas.microsoft.com/office/powerpoint/2010/main">
    <mc:Choice Requires="p14">
      <p:transition p14:dur="0" advTm="109812"/>
    </mc:Choice>
    <mc:Fallback xmlns="">
      <p:transition advTm="109812"/>
    </mc:Fallback>
  </mc:AlternateContent>
</p:sld>
</file>

<file path=ppt/slides/slide8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158C8929-8913-44DF-B60F-2ED06B9F524A}"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a:xfrm>
            <a:off x="365125" y="5792400"/>
            <a:ext cx="11460164" cy="430886"/>
          </a:xfrm>
        </p:spPr>
        <p:txBody>
          <a:bodyPr/>
          <a:lstStyle/>
          <a:p>
            <a:r>
              <a:rPr lang="en-US" dirty="0"/>
              <a:t>Note: These non-pharmacological treatments can be accompanied by pharmacological treatment. </a:t>
            </a:r>
          </a:p>
          <a:p>
            <a:r>
              <a:rPr lang="en-US" dirty="0"/>
              <a:t>COVID-19, Coronavirus disease 2019; GOLD, Global Initiative for Chronic Obstructive Lung Disease; NA, not applicable.</a:t>
            </a:r>
          </a:p>
          <a:p>
            <a:pPr>
              <a:spcBef>
                <a:spcPts val="0"/>
              </a:spcBef>
              <a:spcAft>
                <a:spcPts val="0"/>
              </a:spcAft>
              <a:defRPr/>
            </a:pPr>
            <a:r>
              <a:rPr lang="en-US" kern="100" dirty="0">
                <a:effectLst/>
                <a:ea typeface="Calibri" panose="020F0502020204030204" pitchFamily="34" charset="0"/>
                <a:cs typeface="Times New Roman" panose="02020603050405020304" pitchFamily="18" charset="0"/>
              </a:rPr>
              <a:t>Global Initiative for Chronic Obstructive Lung Disease. Global Strategy for the Diagnosis, Management, and Prevention of Chronic Obstructive Pulmonary Disease (2025 Report). </a:t>
            </a:r>
            <a:r>
              <a:rPr lang="en-US" kern="100" dirty="0">
                <a:effectLst/>
                <a:ea typeface="Calibri" panose="020F0502020204030204" pitchFamily="34" charset="0"/>
                <a:cs typeface="Times New Roman" panose="02020603050405020304" pitchFamily="18" charset="0"/>
                <a:hlinkClick r:id="rId3"/>
              </a:rPr>
              <a:t>https://goldcopd.org/wp-content/uploads/2024/11/GOLD-2025-Report-v1.0-15Nov2024_WMV.pdf</a:t>
            </a:r>
            <a:r>
              <a:rPr lang="en-US" kern="100" dirty="0">
                <a:effectLst/>
                <a:ea typeface="Calibri" panose="020F0502020204030204" pitchFamily="34" charset="0"/>
                <a:cs typeface="Times New Roman" panose="02020603050405020304" pitchFamily="18" charset="0"/>
              </a:rPr>
              <a:t>. Accessed November </a:t>
            </a:r>
            <a:r>
              <a:rPr lang="en-US" kern="100" dirty="0">
                <a:ea typeface="Calibri" panose="020F0502020204030204" pitchFamily="34" charset="0"/>
                <a:cs typeface="Times New Roman" panose="02020603050405020304" pitchFamily="18" charset="0"/>
              </a:rPr>
              <a:t>21,</a:t>
            </a:r>
            <a:r>
              <a:rPr lang="en-US" kern="100" dirty="0">
                <a:effectLst/>
                <a:ea typeface="Calibri" panose="020F0502020204030204" pitchFamily="34" charset="0"/>
                <a:cs typeface="Times New Roman" panose="02020603050405020304" pitchFamily="18" charset="0"/>
              </a:rPr>
              <a:t> 2024.</a:t>
            </a:r>
            <a:endParaRPr kumimoji="0" lang="en-US" sz="8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The role of non-pharmacological interventions for stable COPD</a:t>
            </a:r>
            <a:endParaRPr lang="en-GB" dirty="0"/>
          </a:p>
        </p:txBody>
      </p:sp>
      <p:sp>
        <p:nvSpPr>
          <p:cNvPr id="5" name="Rectangle 4">
            <a:extLst>
              <a:ext uri="{FF2B5EF4-FFF2-40B4-BE49-F238E27FC236}">
                <a16:creationId xmlns:a16="http://schemas.microsoft.com/office/drawing/2014/main" id="{B5297E1D-2059-C793-0529-3293BC2E08AE}"/>
              </a:ext>
            </a:extLst>
          </p:cNvPr>
          <p:cNvSpPr/>
          <p:nvPr/>
        </p:nvSpPr>
        <p:spPr>
          <a:xfrm>
            <a:off x="365125" y="846138"/>
            <a:ext cx="11457432" cy="507831"/>
          </a:xfrm>
          <a:prstGeom prst="rect">
            <a:avLst/>
          </a:prstGeom>
        </p:spPr>
        <p:txBody>
          <a:bodyPr wrap="square" lIns="0" tIns="0" rIns="0" bIns="0">
            <a:spAutoFit/>
          </a:bodyPr>
          <a:lstStyle/>
          <a:p>
            <a:pPr marL="228600" marR="5080" lvl="0" indent="-22860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Non-pharmacological treatment is complementary to pharmacological treatment and should be a part of comprehensive COPD management</a:t>
            </a:r>
          </a:p>
          <a:p>
            <a:pPr marL="228600" marR="5080" lvl="0" indent="-228600" algn="l" defTabSz="1219170" rtl="0" eaLnBrk="1" fontAlgn="auto" latinLnBrk="0" hangingPunct="1">
              <a:lnSpc>
                <a:spcPct val="100000"/>
              </a:lnSpc>
              <a:spcBef>
                <a:spcPts val="0"/>
              </a:spcBef>
              <a:spcAft>
                <a:spcPts val="600"/>
              </a:spcAft>
              <a:buClr>
                <a:srgbClr val="F36633"/>
              </a:buClr>
              <a:buSzTx/>
              <a:buFont typeface="Arial" panose="020B0604020202020204" pitchFamily="34" charset="0"/>
              <a:buChar char="•"/>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Recommendations for follow-up non-pharmacological treatment are based on the patient’s treatable traits, eg, symptoms and exacerbations</a:t>
            </a:r>
          </a:p>
        </p:txBody>
      </p:sp>
      <p:graphicFrame>
        <p:nvGraphicFramePr>
          <p:cNvPr id="28" name="object 5">
            <a:extLst>
              <a:ext uri="{FF2B5EF4-FFF2-40B4-BE49-F238E27FC236}">
                <a16:creationId xmlns:a16="http://schemas.microsoft.com/office/drawing/2014/main" id="{403074FB-5CF8-9AEF-5271-09374BAF3F07}"/>
              </a:ext>
            </a:extLst>
          </p:cNvPr>
          <p:cNvGraphicFramePr>
            <a:graphicFrameLocks noGrp="1"/>
          </p:cNvGraphicFramePr>
          <p:nvPr/>
        </p:nvGraphicFramePr>
        <p:xfrm>
          <a:off x="365124" y="1528351"/>
          <a:ext cx="11457430" cy="3291840"/>
        </p:xfrm>
        <a:graphic>
          <a:graphicData uri="http://schemas.openxmlformats.org/drawingml/2006/table">
            <a:tbl>
              <a:tblPr firstRow="1" bandRow="1">
                <a:tableStyleId>{2D5ABB26-0587-4C30-8999-92F81FD0307C}</a:tableStyleId>
              </a:tblPr>
              <a:tblGrid>
                <a:gridCol w="5782458">
                  <a:extLst>
                    <a:ext uri="{9D8B030D-6E8A-4147-A177-3AD203B41FA5}">
                      <a16:colId xmlns:a16="http://schemas.microsoft.com/office/drawing/2014/main" val="20000"/>
                    </a:ext>
                  </a:extLst>
                </a:gridCol>
                <a:gridCol w="1874305">
                  <a:extLst>
                    <a:ext uri="{9D8B030D-6E8A-4147-A177-3AD203B41FA5}">
                      <a16:colId xmlns:a16="http://schemas.microsoft.com/office/drawing/2014/main" val="20001"/>
                    </a:ext>
                  </a:extLst>
                </a:gridCol>
                <a:gridCol w="1900334">
                  <a:extLst>
                    <a:ext uri="{9D8B030D-6E8A-4147-A177-3AD203B41FA5}">
                      <a16:colId xmlns:a16="http://schemas.microsoft.com/office/drawing/2014/main" val="20002"/>
                    </a:ext>
                  </a:extLst>
                </a:gridCol>
                <a:gridCol w="1900333">
                  <a:extLst>
                    <a:ext uri="{9D8B030D-6E8A-4147-A177-3AD203B41FA5}">
                      <a16:colId xmlns:a16="http://schemas.microsoft.com/office/drawing/2014/main" val="20003"/>
                    </a:ext>
                  </a:extLst>
                </a:gridCol>
              </a:tblGrid>
              <a:tr h="0">
                <a:tc>
                  <a:txBody>
                    <a:bodyPr/>
                    <a:lstStyle/>
                    <a:p>
                      <a:pPr marL="0" indent="0">
                        <a:lnSpc>
                          <a:spcPct val="100000"/>
                        </a:lnSpc>
                        <a:spcBef>
                          <a:spcPts val="894"/>
                        </a:spcBef>
                      </a:pPr>
                      <a:r>
                        <a:rPr sz="1200" b="1" spc="0" dirty="0">
                          <a:solidFill>
                            <a:schemeClr val="bg1"/>
                          </a:solidFill>
                          <a:latin typeface="Arial"/>
                          <a:cs typeface="Arial"/>
                        </a:rPr>
                        <a:t>GOLD 20</a:t>
                      </a:r>
                      <a:r>
                        <a:rPr lang="en-US" sz="1200" b="1" spc="0" dirty="0">
                          <a:solidFill>
                            <a:schemeClr val="bg1"/>
                          </a:solidFill>
                          <a:latin typeface="Arial"/>
                          <a:cs typeface="Arial"/>
                        </a:rPr>
                        <a:t>23</a:t>
                      </a:r>
                      <a:r>
                        <a:rPr sz="1200" b="1" spc="0" dirty="0">
                          <a:solidFill>
                            <a:schemeClr val="bg1"/>
                          </a:solidFill>
                          <a:latin typeface="Arial"/>
                          <a:cs typeface="Arial"/>
                        </a:rPr>
                        <a:t> recommendations</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36600"/>
                    </a:solidFill>
                  </a:tcPr>
                </a:tc>
                <a:tc>
                  <a:txBody>
                    <a:bodyPr/>
                    <a:lstStyle/>
                    <a:p>
                      <a:pPr marL="0" indent="0" algn="ctr">
                        <a:lnSpc>
                          <a:spcPct val="100000"/>
                        </a:lnSpc>
                        <a:spcBef>
                          <a:spcPts val="894"/>
                        </a:spcBef>
                      </a:pPr>
                      <a:r>
                        <a:rPr sz="1200" b="1" spc="0" dirty="0">
                          <a:solidFill>
                            <a:schemeClr val="bg1"/>
                          </a:solidFill>
                          <a:latin typeface="Arial"/>
                          <a:cs typeface="Arial"/>
                        </a:rPr>
                        <a:t>Group A</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36600"/>
                    </a:solidFill>
                  </a:tcPr>
                </a:tc>
                <a:tc>
                  <a:txBody>
                    <a:bodyPr/>
                    <a:lstStyle/>
                    <a:p>
                      <a:pPr marL="0" indent="0" algn="ctr">
                        <a:lnSpc>
                          <a:spcPct val="100000"/>
                        </a:lnSpc>
                        <a:spcBef>
                          <a:spcPts val="894"/>
                        </a:spcBef>
                      </a:pPr>
                      <a:r>
                        <a:rPr sz="1200" b="1" spc="0" dirty="0">
                          <a:solidFill>
                            <a:schemeClr val="bg1"/>
                          </a:solidFill>
                          <a:latin typeface="Arial"/>
                          <a:cs typeface="Arial"/>
                        </a:rPr>
                        <a:t>Group B</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36600"/>
                    </a:solidFill>
                  </a:tcPr>
                </a:tc>
                <a:tc>
                  <a:txBody>
                    <a:bodyPr/>
                    <a:lstStyle/>
                    <a:p>
                      <a:pPr marL="0" indent="0" algn="ctr">
                        <a:lnSpc>
                          <a:spcPct val="100000"/>
                        </a:lnSpc>
                        <a:spcBef>
                          <a:spcPts val="894"/>
                        </a:spcBef>
                      </a:pPr>
                      <a:r>
                        <a:rPr sz="1200" b="1" spc="0" dirty="0">
                          <a:solidFill>
                            <a:schemeClr val="bg1"/>
                          </a:solidFill>
                          <a:latin typeface="Arial"/>
                          <a:cs typeface="Arial"/>
                        </a:rPr>
                        <a:t>Group </a:t>
                      </a:r>
                      <a:r>
                        <a:rPr lang="en-IN" sz="1200" b="1" spc="0" dirty="0">
                          <a:solidFill>
                            <a:schemeClr val="bg1"/>
                          </a:solidFill>
                          <a:latin typeface="Arial"/>
                          <a:cs typeface="Arial"/>
                        </a:rPr>
                        <a:t>E</a:t>
                      </a:r>
                      <a:endParaRPr sz="1200" b="1" spc="0" dirty="0">
                        <a:solidFill>
                          <a:schemeClr val="bg1"/>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F36600"/>
                    </a:solidFill>
                  </a:tcPr>
                </a:tc>
                <a:extLst>
                  <a:ext uri="{0D108BD9-81ED-4DB2-BD59-A6C34878D82A}">
                    <a16:rowId xmlns:a16="http://schemas.microsoft.com/office/drawing/2014/main" val="10000"/>
                  </a:ext>
                </a:extLst>
              </a:tr>
              <a:tr h="0">
                <a:tc>
                  <a:txBody>
                    <a:bodyPr/>
                    <a:lstStyle/>
                    <a:p>
                      <a:pPr marL="0" indent="0">
                        <a:lnSpc>
                          <a:spcPct val="100000"/>
                        </a:lnSpc>
                        <a:spcBef>
                          <a:spcPts val="500"/>
                        </a:spcBef>
                      </a:pPr>
                      <a:r>
                        <a:rPr sz="1200" spc="0" dirty="0">
                          <a:solidFill>
                            <a:srgbClr val="000000"/>
                          </a:solidFill>
                          <a:latin typeface="Arial"/>
                          <a:cs typeface="Arial"/>
                        </a:rPr>
                        <a:t>Smoking cessation</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0">
                <a:tc>
                  <a:txBody>
                    <a:bodyPr/>
                    <a:lstStyle/>
                    <a:p>
                      <a:pPr marL="0" indent="0">
                        <a:lnSpc>
                          <a:spcPct val="100000"/>
                        </a:lnSpc>
                        <a:spcBef>
                          <a:spcPts val="500"/>
                        </a:spcBef>
                      </a:pPr>
                      <a:r>
                        <a:rPr lang="en-US" sz="1200" spc="0" dirty="0">
                          <a:solidFill>
                            <a:srgbClr val="000000"/>
                          </a:solidFill>
                          <a:latin typeface="+mn-lt"/>
                          <a:cs typeface="Arial"/>
                        </a:rPr>
                        <a:t>Pulmonary Rehabilitation</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r>
                        <a:rPr lang="en-IN" sz="1200" spc="0" dirty="0">
                          <a:solidFill>
                            <a:schemeClr val="tx1"/>
                          </a:solidFill>
                          <a:latin typeface="Segoe UI Symbol"/>
                          <a:cs typeface="Segoe UI Symbol"/>
                        </a:rPr>
                        <a:t>NA</a:t>
                      </a: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highlight>
                          <a:srgbClr val="FF0000"/>
                        </a:highlight>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highlight>
                          <a:srgbClr val="FF0000"/>
                        </a:highlight>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91486512"/>
                  </a:ext>
                </a:extLst>
              </a:tr>
              <a:tr h="0">
                <a:tc>
                  <a:txBody>
                    <a:bodyPr/>
                    <a:lstStyle/>
                    <a:p>
                      <a:pPr marL="0" indent="0">
                        <a:lnSpc>
                          <a:spcPct val="100000"/>
                        </a:lnSpc>
                        <a:spcBef>
                          <a:spcPts val="500"/>
                        </a:spcBef>
                      </a:pPr>
                      <a:r>
                        <a:rPr lang="en-IN" sz="1200" spc="0" dirty="0">
                          <a:solidFill>
                            <a:srgbClr val="000000"/>
                          </a:solidFill>
                          <a:latin typeface="Arial"/>
                          <a:cs typeface="Arial"/>
                        </a:rPr>
                        <a:t>P</a:t>
                      </a:r>
                      <a:r>
                        <a:rPr sz="1200" spc="0" dirty="0" err="1">
                          <a:solidFill>
                            <a:srgbClr val="000000"/>
                          </a:solidFill>
                          <a:latin typeface="Arial"/>
                          <a:cs typeface="Arial"/>
                        </a:rPr>
                        <a:t>hysical</a:t>
                      </a:r>
                      <a:r>
                        <a:rPr sz="1200" spc="0" dirty="0">
                          <a:solidFill>
                            <a:srgbClr val="000000"/>
                          </a:solidFill>
                          <a:latin typeface="Arial"/>
                          <a:cs typeface="Arial"/>
                        </a:rPr>
                        <a:t> </a:t>
                      </a:r>
                      <a:r>
                        <a:rPr lang="en-US" sz="1200" spc="0" dirty="0">
                          <a:solidFill>
                            <a:srgbClr val="000000"/>
                          </a:solidFill>
                          <a:latin typeface="Arial"/>
                          <a:cs typeface="Arial"/>
                        </a:rPr>
                        <a:t>activity</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0">
                <a:tc>
                  <a:txBody>
                    <a:bodyPr/>
                    <a:lstStyle/>
                    <a:p>
                      <a:pPr marL="0" indent="0">
                        <a:lnSpc>
                          <a:spcPct val="100000"/>
                        </a:lnSpc>
                        <a:spcBef>
                          <a:spcPts val="500"/>
                        </a:spcBef>
                      </a:pPr>
                      <a:r>
                        <a:rPr lang="en-US" sz="1200" spc="0" dirty="0">
                          <a:solidFill>
                            <a:srgbClr val="000000"/>
                          </a:solidFill>
                          <a:latin typeface="Arial"/>
                          <a:cs typeface="Arial"/>
                        </a:rPr>
                        <a:t>Flu</a:t>
                      </a:r>
                      <a:r>
                        <a:rPr lang="en-US" sz="1200" spc="0" baseline="0" dirty="0">
                          <a:solidFill>
                            <a:srgbClr val="000000"/>
                          </a:solidFill>
                          <a:latin typeface="Arial"/>
                          <a:cs typeface="Arial"/>
                        </a:rPr>
                        <a:t> vaccination</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5"/>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0">
                <a:tc>
                  <a:txBody>
                    <a:bodyPr/>
                    <a:lstStyle/>
                    <a:p>
                      <a:pPr marL="0" indent="0">
                        <a:lnSpc>
                          <a:spcPct val="100000"/>
                        </a:lnSpc>
                        <a:spcBef>
                          <a:spcPts val="500"/>
                        </a:spcBef>
                      </a:pPr>
                      <a:r>
                        <a:rPr lang="en-US" sz="1200" spc="0" dirty="0">
                          <a:solidFill>
                            <a:srgbClr val="000000"/>
                          </a:solidFill>
                          <a:latin typeface="Arial"/>
                          <a:cs typeface="Arial"/>
                        </a:rPr>
                        <a:t>Pneumococcal</a:t>
                      </a:r>
                      <a:r>
                        <a:rPr lang="en-US" sz="1200" spc="0" baseline="0" dirty="0">
                          <a:solidFill>
                            <a:srgbClr val="000000"/>
                          </a:solidFill>
                          <a:latin typeface="Arial"/>
                          <a:cs typeface="Arial"/>
                        </a:rPr>
                        <a:t> vaccination </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4"/>
                  </a:ext>
                </a:extLst>
              </a:tr>
              <a:tr h="0">
                <a:tc>
                  <a:txBody>
                    <a:bodyPr/>
                    <a:lstStyle/>
                    <a:p>
                      <a:pPr marL="0" indent="0">
                        <a:lnSpc>
                          <a:spcPct val="100000"/>
                        </a:lnSpc>
                        <a:spcBef>
                          <a:spcPts val="500"/>
                        </a:spcBef>
                      </a:pPr>
                      <a:r>
                        <a:rPr lang="en-US" sz="1200" spc="0" dirty="0">
                          <a:solidFill>
                            <a:srgbClr val="000000"/>
                          </a:solidFill>
                          <a:latin typeface="Arial"/>
                          <a:cs typeface="Arial"/>
                        </a:rPr>
                        <a:t>Pertussis </a:t>
                      </a:r>
                      <a:r>
                        <a:rPr sz="1200" spc="0" dirty="0">
                          <a:solidFill>
                            <a:srgbClr val="000000"/>
                          </a:solidFill>
                          <a:latin typeface="Arial"/>
                          <a:cs typeface="Arial"/>
                        </a:rPr>
                        <a:t>vaccination</a:t>
                      </a: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9"/>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9"/>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09"/>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5"/>
                  </a:ext>
                </a:extLst>
              </a:tr>
              <a:tr h="0">
                <a:tc>
                  <a:txBody>
                    <a:bodyPr/>
                    <a:lstStyle/>
                    <a:p>
                      <a:pPr marL="0" indent="0">
                        <a:lnSpc>
                          <a:spcPct val="100000"/>
                        </a:lnSpc>
                        <a:spcBef>
                          <a:spcPts val="500"/>
                        </a:spcBef>
                      </a:pPr>
                      <a:r>
                        <a:rPr lang="en-IN" sz="1200" spc="0" dirty="0">
                          <a:solidFill>
                            <a:srgbClr val="000000"/>
                          </a:solidFill>
                          <a:latin typeface="Arial"/>
                          <a:cs typeface="Arial"/>
                        </a:rPr>
                        <a:t>Shingles vaccination</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pPr>
                      <a:endParaRPr sz="1200" spc="0" dirty="0">
                        <a:solidFill>
                          <a:schemeClr val="tx1"/>
                        </a:solidFill>
                        <a:latin typeface="Times New Roman"/>
                        <a:cs typeface="Times New Roman"/>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6"/>
                  </a:ext>
                </a:extLst>
              </a:tr>
              <a:tr h="0">
                <a:tc>
                  <a:txBody>
                    <a:bodyPr/>
                    <a:lstStyle/>
                    <a:p>
                      <a:pPr marL="0" indent="0">
                        <a:lnSpc>
                          <a:spcPct val="100000"/>
                        </a:lnSpc>
                        <a:spcBef>
                          <a:spcPts val="500"/>
                        </a:spcBef>
                      </a:pPr>
                      <a:r>
                        <a:rPr lang="en-IN" sz="1200" spc="0" dirty="0">
                          <a:solidFill>
                            <a:srgbClr val="000000"/>
                          </a:solidFill>
                          <a:latin typeface="Arial"/>
                          <a:cs typeface="Arial"/>
                        </a:rPr>
                        <a:t>COVID-19 vaccination</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pPr>
                      <a:endParaRPr sz="1200" spc="0" dirty="0">
                        <a:solidFill>
                          <a:schemeClr val="tx1"/>
                        </a:solidFill>
                        <a:latin typeface="Times New Roman"/>
                        <a:cs typeface="Times New Roman"/>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9118200"/>
                  </a:ext>
                </a:extLst>
              </a:tr>
            </a:tbl>
          </a:graphicData>
        </a:graphic>
      </p:graphicFrame>
      <p:grpSp>
        <p:nvGrpSpPr>
          <p:cNvPr id="632" name="Group 631">
            <a:extLst>
              <a:ext uri="{FF2B5EF4-FFF2-40B4-BE49-F238E27FC236}">
                <a16:creationId xmlns:a16="http://schemas.microsoft.com/office/drawing/2014/main" id="{FE34D92B-4A32-2505-F11B-AF5B1CB4624F}"/>
              </a:ext>
            </a:extLst>
          </p:cNvPr>
          <p:cNvGrpSpPr/>
          <p:nvPr/>
        </p:nvGrpSpPr>
        <p:grpSpPr>
          <a:xfrm>
            <a:off x="6946454" y="1945387"/>
            <a:ext cx="4071469" cy="2819357"/>
            <a:chOff x="6946454" y="2402587"/>
            <a:chExt cx="4071469" cy="2819357"/>
          </a:xfrm>
        </p:grpSpPr>
        <p:grpSp>
          <p:nvGrpSpPr>
            <p:cNvPr id="109" name="Group 108">
              <a:extLst>
                <a:ext uri="{FF2B5EF4-FFF2-40B4-BE49-F238E27FC236}">
                  <a16:creationId xmlns:a16="http://schemas.microsoft.com/office/drawing/2014/main" id="{F933B6C9-1EAF-62AC-08E9-5BCE9CF5D2B4}"/>
                </a:ext>
              </a:extLst>
            </p:cNvPr>
            <p:cNvGrpSpPr/>
            <p:nvPr/>
          </p:nvGrpSpPr>
          <p:grpSpPr>
            <a:xfrm>
              <a:off x="6979817" y="2402587"/>
              <a:ext cx="218329" cy="268722"/>
              <a:chOff x="-7713341" y="-5614397"/>
              <a:chExt cx="4114692" cy="5064417"/>
            </a:xfrm>
          </p:grpSpPr>
          <p:sp>
            <p:nvSpPr>
              <p:cNvPr id="110" name="Freeform: Shape 109">
                <a:extLst>
                  <a:ext uri="{FF2B5EF4-FFF2-40B4-BE49-F238E27FC236}">
                    <a16:creationId xmlns:a16="http://schemas.microsoft.com/office/drawing/2014/main" id="{80A26DA7-80B9-BC49-79FF-97B2622A5DD1}"/>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1" name="Freeform: Shape 110">
                <a:extLst>
                  <a:ext uri="{FF2B5EF4-FFF2-40B4-BE49-F238E27FC236}">
                    <a16:creationId xmlns:a16="http://schemas.microsoft.com/office/drawing/2014/main" id="{D40B217D-BAB0-C47C-6AE1-8884A15F4122}"/>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2" name="Freeform: Shape 111">
                <a:extLst>
                  <a:ext uri="{FF2B5EF4-FFF2-40B4-BE49-F238E27FC236}">
                    <a16:creationId xmlns:a16="http://schemas.microsoft.com/office/drawing/2014/main" id="{FACD086C-2758-8277-6F14-F2A211FE3766}"/>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3" name="Freeform: Shape 112">
                <a:extLst>
                  <a:ext uri="{FF2B5EF4-FFF2-40B4-BE49-F238E27FC236}">
                    <a16:creationId xmlns:a16="http://schemas.microsoft.com/office/drawing/2014/main" id="{C92B7E1D-9B46-96FD-C59E-A36BCB244D3B}"/>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4" name="Freeform: Shape 113">
                <a:extLst>
                  <a:ext uri="{FF2B5EF4-FFF2-40B4-BE49-F238E27FC236}">
                    <a16:creationId xmlns:a16="http://schemas.microsoft.com/office/drawing/2014/main" id="{E98BA798-AF3B-B436-CA63-634B61827578}"/>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5" name="Freeform: Shape 114">
                <a:extLst>
                  <a:ext uri="{FF2B5EF4-FFF2-40B4-BE49-F238E27FC236}">
                    <a16:creationId xmlns:a16="http://schemas.microsoft.com/office/drawing/2014/main" id="{82122B0C-A95C-216C-F7BD-663236478D9E}"/>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6" name="Freeform: Shape 115">
                <a:extLst>
                  <a:ext uri="{FF2B5EF4-FFF2-40B4-BE49-F238E27FC236}">
                    <a16:creationId xmlns:a16="http://schemas.microsoft.com/office/drawing/2014/main" id="{5280DC60-6657-EC31-0249-713F2DFA2AD8}"/>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7" name="Freeform: Shape 116">
                <a:extLst>
                  <a:ext uri="{FF2B5EF4-FFF2-40B4-BE49-F238E27FC236}">
                    <a16:creationId xmlns:a16="http://schemas.microsoft.com/office/drawing/2014/main" id="{D325E521-4C34-39F3-4C08-696A890DD53F}"/>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8" name="Freeform: Shape 117">
                <a:extLst>
                  <a:ext uri="{FF2B5EF4-FFF2-40B4-BE49-F238E27FC236}">
                    <a16:creationId xmlns:a16="http://schemas.microsoft.com/office/drawing/2014/main" id="{F5113ACA-2C77-7F89-F2CE-25759D73E6F6}"/>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19" name="Freeform: Shape 118">
                <a:extLst>
                  <a:ext uri="{FF2B5EF4-FFF2-40B4-BE49-F238E27FC236}">
                    <a16:creationId xmlns:a16="http://schemas.microsoft.com/office/drawing/2014/main" id="{0479BF19-7166-85B7-FEC8-4FBAC833033D}"/>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20" name="Freeform: Shape 119">
                <a:extLst>
                  <a:ext uri="{FF2B5EF4-FFF2-40B4-BE49-F238E27FC236}">
                    <a16:creationId xmlns:a16="http://schemas.microsoft.com/office/drawing/2014/main" id="{AB72853D-4F22-CD3A-8975-08DE7C8910A5}"/>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21" name="Freeform: Shape 120">
                <a:extLst>
                  <a:ext uri="{FF2B5EF4-FFF2-40B4-BE49-F238E27FC236}">
                    <a16:creationId xmlns:a16="http://schemas.microsoft.com/office/drawing/2014/main" id="{8F5B59D9-A387-A1F2-35DA-83003C3C54B9}"/>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22" name="Freeform: Shape 121">
                <a:extLst>
                  <a:ext uri="{FF2B5EF4-FFF2-40B4-BE49-F238E27FC236}">
                    <a16:creationId xmlns:a16="http://schemas.microsoft.com/office/drawing/2014/main" id="{86886076-DEFE-5DD7-6416-3B10FA966D65}"/>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123" name="Freeform: Shape 122">
                <a:extLst>
                  <a:ext uri="{FF2B5EF4-FFF2-40B4-BE49-F238E27FC236}">
                    <a16:creationId xmlns:a16="http://schemas.microsoft.com/office/drawing/2014/main" id="{F96A7A0C-A75B-1D9E-CE7C-D198612215F5}"/>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384" name="Group 383">
              <a:extLst>
                <a:ext uri="{FF2B5EF4-FFF2-40B4-BE49-F238E27FC236}">
                  <a16:creationId xmlns:a16="http://schemas.microsoft.com/office/drawing/2014/main" id="{D85A948D-2937-C28B-5694-EBA344A38F90}"/>
                </a:ext>
              </a:extLst>
            </p:cNvPr>
            <p:cNvGrpSpPr/>
            <p:nvPr/>
          </p:nvGrpSpPr>
          <p:grpSpPr>
            <a:xfrm>
              <a:off x="8873024" y="2402587"/>
              <a:ext cx="218329" cy="268722"/>
              <a:chOff x="-7713341" y="-5614397"/>
              <a:chExt cx="4114692" cy="5064417"/>
            </a:xfrm>
          </p:grpSpPr>
          <p:sp>
            <p:nvSpPr>
              <p:cNvPr id="385" name="Freeform: Shape 384">
                <a:extLst>
                  <a:ext uri="{FF2B5EF4-FFF2-40B4-BE49-F238E27FC236}">
                    <a16:creationId xmlns:a16="http://schemas.microsoft.com/office/drawing/2014/main" id="{42BD0A15-CC9F-9763-6346-A7FA5DC4FAF7}"/>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6" name="Freeform: Shape 385">
                <a:extLst>
                  <a:ext uri="{FF2B5EF4-FFF2-40B4-BE49-F238E27FC236}">
                    <a16:creationId xmlns:a16="http://schemas.microsoft.com/office/drawing/2014/main" id="{93305D8D-A0E6-EA8F-30ED-39DF35C72471}"/>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7" name="Freeform: Shape 386">
                <a:extLst>
                  <a:ext uri="{FF2B5EF4-FFF2-40B4-BE49-F238E27FC236}">
                    <a16:creationId xmlns:a16="http://schemas.microsoft.com/office/drawing/2014/main" id="{8C4679EC-17D0-D090-C6DB-839D95203F5A}"/>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8" name="Freeform: Shape 387">
                <a:extLst>
                  <a:ext uri="{FF2B5EF4-FFF2-40B4-BE49-F238E27FC236}">
                    <a16:creationId xmlns:a16="http://schemas.microsoft.com/office/drawing/2014/main" id="{EE5A0443-EAB7-2E5B-AD8F-C7A9DB020520}"/>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9" name="Freeform: Shape 388">
                <a:extLst>
                  <a:ext uri="{FF2B5EF4-FFF2-40B4-BE49-F238E27FC236}">
                    <a16:creationId xmlns:a16="http://schemas.microsoft.com/office/drawing/2014/main" id="{45127890-38FF-6958-9673-1E2A4C76CBE2}"/>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0" name="Freeform: Shape 389">
                <a:extLst>
                  <a:ext uri="{FF2B5EF4-FFF2-40B4-BE49-F238E27FC236}">
                    <a16:creationId xmlns:a16="http://schemas.microsoft.com/office/drawing/2014/main" id="{BF361E13-2D00-A548-9903-22D645E30B9F}"/>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1" name="Freeform: Shape 390">
                <a:extLst>
                  <a:ext uri="{FF2B5EF4-FFF2-40B4-BE49-F238E27FC236}">
                    <a16:creationId xmlns:a16="http://schemas.microsoft.com/office/drawing/2014/main" id="{7764C3FA-AD05-9B6C-A4F3-17B44E3D02B3}"/>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2" name="Freeform: Shape 391">
                <a:extLst>
                  <a:ext uri="{FF2B5EF4-FFF2-40B4-BE49-F238E27FC236}">
                    <a16:creationId xmlns:a16="http://schemas.microsoft.com/office/drawing/2014/main" id="{01EEC4E6-A678-A3FF-B294-D59BFBAC5416}"/>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3" name="Freeform: Shape 392">
                <a:extLst>
                  <a:ext uri="{FF2B5EF4-FFF2-40B4-BE49-F238E27FC236}">
                    <a16:creationId xmlns:a16="http://schemas.microsoft.com/office/drawing/2014/main" id="{F080B3E1-58EE-6CEA-CC53-29CF60CA7980}"/>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4" name="Freeform: Shape 393">
                <a:extLst>
                  <a:ext uri="{FF2B5EF4-FFF2-40B4-BE49-F238E27FC236}">
                    <a16:creationId xmlns:a16="http://schemas.microsoft.com/office/drawing/2014/main" id="{51610A77-818F-6FF4-A051-1FF415779903}"/>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5" name="Freeform: Shape 394">
                <a:extLst>
                  <a:ext uri="{FF2B5EF4-FFF2-40B4-BE49-F238E27FC236}">
                    <a16:creationId xmlns:a16="http://schemas.microsoft.com/office/drawing/2014/main" id="{6D65A9CD-9612-CC76-A185-8FC784457CF6}"/>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6" name="Freeform: Shape 395">
                <a:extLst>
                  <a:ext uri="{FF2B5EF4-FFF2-40B4-BE49-F238E27FC236}">
                    <a16:creationId xmlns:a16="http://schemas.microsoft.com/office/drawing/2014/main" id="{F69AC17B-DD0D-5205-8DEF-D5D0BA8AAA02}"/>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7" name="Freeform: Shape 396">
                <a:extLst>
                  <a:ext uri="{FF2B5EF4-FFF2-40B4-BE49-F238E27FC236}">
                    <a16:creationId xmlns:a16="http://schemas.microsoft.com/office/drawing/2014/main" id="{2A215CB8-B1F0-C771-BFDD-ACD4DABE39A4}"/>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98" name="Freeform: Shape 397">
                <a:extLst>
                  <a:ext uri="{FF2B5EF4-FFF2-40B4-BE49-F238E27FC236}">
                    <a16:creationId xmlns:a16="http://schemas.microsoft.com/office/drawing/2014/main" id="{306F2E6C-0FF2-E8D2-0374-C576C5477D7E}"/>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368" name="Group 367">
              <a:extLst>
                <a:ext uri="{FF2B5EF4-FFF2-40B4-BE49-F238E27FC236}">
                  <a16:creationId xmlns:a16="http://schemas.microsoft.com/office/drawing/2014/main" id="{D47A2580-DB49-2170-2A80-01DB55DF8EC9}"/>
                </a:ext>
              </a:extLst>
            </p:cNvPr>
            <p:cNvGrpSpPr/>
            <p:nvPr/>
          </p:nvGrpSpPr>
          <p:grpSpPr>
            <a:xfrm>
              <a:off x="8873024" y="2768834"/>
              <a:ext cx="218329" cy="268722"/>
              <a:chOff x="-7713341" y="-5614397"/>
              <a:chExt cx="4114692" cy="5064417"/>
            </a:xfrm>
          </p:grpSpPr>
          <p:sp>
            <p:nvSpPr>
              <p:cNvPr id="369" name="Freeform: Shape 368">
                <a:extLst>
                  <a:ext uri="{FF2B5EF4-FFF2-40B4-BE49-F238E27FC236}">
                    <a16:creationId xmlns:a16="http://schemas.microsoft.com/office/drawing/2014/main" id="{81D006FA-4222-C3E5-8C43-A92008CBA835}"/>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0" name="Freeform: Shape 369">
                <a:extLst>
                  <a:ext uri="{FF2B5EF4-FFF2-40B4-BE49-F238E27FC236}">
                    <a16:creationId xmlns:a16="http://schemas.microsoft.com/office/drawing/2014/main" id="{F7A725C0-CA24-1A23-3802-D843DADA0CBC}"/>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1" name="Freeform: Shape 370">
                <a:extLst>
                  <a:ext uri="{FF2B5EF4-FFF2-40B4-BE49-F238E27FC236}">
                    <a16:creationId xmlns:a16="http://schemas.microsoft.com/office/drawing/2014/main" id="{D8556D73-2B3D-1702-7C8D-BC595C601158}"/>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2" name="Freeform: Shape 371">
                <a:extLst>
                  <a:ext uri="{FF2B5EF4-FFF2-40B4-BE49-F238E27FC236}">
                    <a16:creationId xmlns:a16="http://schemas.microsoft.com/office/drawing/2014/main" id="{0A5E6D77-48CA-9ADD-E5B8-D63E53CAF8B6}"/>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3" name="Freeform: Shape 372">
                <a:extLst>
                  <a:ext uri="{FF2B5EF4-FFF2-40B4-BE49-F238E27FC236}">
                    <a16:creationId xmlns:a16="http://schemas.microsoft.com/office/drawing/2014/main" id="{8BBE268D-290E-D7E0-8F75-1C83BF0F6DFA}"/>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4" name="Freeform: Shape 373">
                <a:extLst>
                  <a:ext uri="{FF2B5EF4-FFF2-40B4-BE49-F238E27FC236}">
                    <a16:creationId xmlns:a16="http://schemas.microsoft.com/office/drawing/2014/main" id="{5728AAD6-764E-2E13-BF76-63EAA30F164F}"/>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5" name="Freeform: Shape 374">
                <a:extLst>
                  <a:ext uri="{FF2B5EF4-FFF2-40B4-BE49-F238E27FC236}">
                    <a16:creationId xmlns:a16="http://schemas.microsoft.com/office/drawing/2014/main" id="{14998385-E37C-E71A-7F2A-9701F246C815}"/>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6" name="Freeform: Shape 375">
                <a:extLst>
                  <a:ext uri="{FF2B5EF4-FFF2-40B4-BE49-F238E27FC236}">
                    <a16:creationId xmlns:a16="http://schemas.microsoft.com/office/drawing/2014/main" id="{B1A3DB84-F5C6-09A4-D683-43A0490F6640}"/>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7" name="Freeform: Shape 376">
                <a:extLst>
                  <a:ext uri="{FF2B5EF4-FFF2-40B4-BE49-F238E27FC236}">
                    <a16:creationId xmlns:a16="http://schemas.microsoft.com/office/drawing/2014/main" id="{670F604B-5D0D-B75F-4E68-D19D1748F384}"/>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8" name="Freeform: Shape 377">
                <a:extLst>
                  <a:ext uri="{FF2B5EF4-FFF2-40B4-BE49-F238E27FC236}">
                    <a16:creationId xmlns:a16="http://schemas.microsoft.com/office/drawing/2014/main" id="{FE823DEF-29DC-30C9-1643-C51698A6A823}"/>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79" name="Freeform: Shape 378">
                <a:extLst>
                  <a:ext uri="{FF2B5EF4-FFF2-40B4-BE49-F238E27FC236}">
                    <a16:creationId xmlns:a16="http://schemas.microsoft.com/office/drawing/2014/main" id="{359C1F06-FD5B-DFAD-0619-494473E69E33}"/>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0" name="Freeform: Shape 379">
                <a:extLst>
                  <a:ext uri="{FF2B5EF4-FFF2-40B4-BE49-F238E27FC236}">
                    <a16:creationId xmlns:a16="http://schemas.microsoft.com/office/drawing/2014/main" id="{3E5E4C66-A2C2-93C5-34E8-60FBD7504AB5}"/>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1" name="Freeform: Shape 380">
                <a:extLst>
                  <a:ext uri="{FF2B5EF4-FFF2-40B4-BE49-F238E27FC236}">
                    <a16:creationId xmlns:a16="http://schemas.microsoft.com/office/drawing/2014/main" id="{BA0DD723-5E6E-C0E7-2786-EA1E7CFA867C}"/>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382" name="Freeform: Shape 381">
                <a:extLst>
                  <a:ext uri="{FF2B5EF4-FFF2-40B4-BE49-F238E27FC236}">
                    <a16:creationId xmlns:a16="http://schemas.microsoft.com/office/drawing/2014/main" id="{6B11B825-69EB-C1A8-0CCA-447DABD9D24A}"/>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21" name="Group 520">
              <a:extLst>
                <a:ext uri="{FF2B5EF4-FFF2-40B4-BE49-F238E27FC236}">
                  <a16:creationId xmlns:a16="http://schemas.microsoft.com/office/drawing/2014/main" id="{81238618-DEBE-56D0-7A17-480A7AB9FB6F}"/>
                </a:ext>
              </a:extLst>
            </p:cNvPr>
            <p:cNvGrpSpPr/>
            <p:nvPr/>
          </p:nvGrpSpPr>
          <p:grpSpPr>
            <a:xfrm>
              <a:off x="10766231" y="2402587"/>
              <a:ext cx="218329" cy="268722"/>
              <a:chOff x="-7713341" y="-5614397"/>
              <a:chExt cx="4114692" cy="5064417"/>
            </a:xfrm>
          </p:grpSpPr>
          <p:sp>
            <p:nvSpPr>
              <p:cNvPr id="522" name="Freeform: Shape 521">
                <a:extLst>
                  <a:ext uri="{FF2B5EF4-FFF2-40B4-BE49-F238E27FC236}">
                    <a16:creationId xmlns:a16="http://schemas.microsoft.com/office/drawing/2014/main" id="{935FB795-FF01-1769-0248-D8CE5D244217}"/>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3" name="Freeform: Shape 522">
                <a:extLst>
                  <a:ext uri="{FF2B5EF4-FFF2-40B4-BE49-F238E27FC236}">
                    <a16:creationId xmlns:a16="http://schemas.microsoft.com/office/drawing/2014/main" id="{026E22E7-0C7B-EDDF-55C9-A31E6DBF22B7}"/>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4" name="Freeform: Shape 523">
                <a:extLst>
                  <a:ext uri="{FF2B5EF4-FFF2-40B4-BE49-F238E27FC236}">
                    <a16:creationId xmlns:a16="http://schemas.microsoft.com/office/drawing/2014/main" id="{82BE8814-FF2F-DFCB-73BC-DDE115D08ADF}"/>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5" name="Freeform: Shape 524">
                <a:extLst>
                  <a:ext uri="{FF2B5EF4-FFF2-40B4-BE49-F238E27FC236}">
                    <a16:creationId xmlns:a16="http://schemas.microsoft.com/office/drawing/2014/main" id="{BC6DC45D-4C83-9FBF-34E0-FD18E7EDADEF}"/>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6" name="Freeform: Shape 525">
                <a:extLst>
                  <a:ext uri="{FF2B5EF4-FFF2-40B4-BE49-F238E27FC236}">
                    <a16:creationId xmlns:a16="http://schemas.microsoft.com/office/drawing/2014/main" id="{4F622F52-F761-A753-31BE-B06EAA73A1F0}"/>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7" name="Freeform: Shape 526">
                <a:extLst>
                  <a:ext uri="{FF2B5EF4-FFF2-40B4-BE49-F238E27FC236}">
                    <a16:creationId xmlns:a16="http://schemas.microsoft.com/office/drawing/2014/main" id="{6FAAD319-C1A3-7DE7-4AFE-99CD874B6712}"/>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8" name="Freeform: Shape 527">
                <a:extLst>
                  <a:ext uri="{FF2B5EF4-FFF2-40B4-BE49-F238E27FC236}">
                    <a16:creationId xmlns:a16="http://schemas.microsoft.com/office/drawing/2014/main" id="{87EDABDF-AA84-CD5B-4159-D3A1CC1031DC}"/>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29" name="Freeform: Shape 528">
                <a:extLst>
                  <a:ext uri="{FF2B5EF4-FFF2-40B4-BE49-F238E27FC236}">
                    <a16:creationId xmlns:a16="http://schemas.microsoft.com/office/drawing/2014/main" id="{A39EC693-55E9-9362-05DF-EA84FD84971F}"/>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0" name="Freeform: Shape 529">
                <a:extLst>
                  <a:ext uri="{FF2B5EF4-FFF2-40B4-BE49-F238E27FC236}">
                    <a16:creationId xmlns:a16="http://schemas.microsoft.com/office/drawing/2014/main" id="{F9B62197-F798-C39F-69A5-C11144CCBB12}"/>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1" name="Freeform: Shape 530">
                <a:extLst>
                  <a:ext uri="{FF2B5EF4-FFF2-40B4-BE49-F238E27FC236}">
                    <a16:creationId xmlns:a16="http://schemas.microsoft.com/office/drawing/2014/main" id="{A91EE7A2-F4CB-182F-C7A6-A3CAF73FE812}"/>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2" name="Freeform: Shape 531">
                <a:extLst>
                  <a:ext uri="{FF2B5EF4-FFF2-40B4-BE49-F238E27FC236}">
                    <a16:creationId xmlns:a16="http://schemas.microsoft.com/office/drawing/2014/main" id="{2634C929-8697-153B-C84B-BD17977A34F7}"/>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3" name="Freeform: Shape 532">
                <a:extLst>
                  <a:ext uri="{FF2B5EF4-FFF2-40B4-BE49-F238E27FC236}">
                    <a16:creationId xmlns:a16="http://schemas.microsoft.com/office/drawing/2014/main" id="{87BABC4D-45B5-1005-2370-FDA0BE6564E9}"/>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4" name="Freeform: Shape 533">
                <a:extLst>
                  <a:ext uri="{FF2B5EF4-FFF2-40B4-BE49-F238E27FC236}">
                    <a16:creationId xmlns:a16="http://schemas.microsoft.com/office/drawing/2014/main" id="{D0E0ABA9-E8C9-54F1-E980-924623BA35E6}"/>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5" name="Freeform: Shape 534">
                <a:extLst>
                  <a:ext uri="{FF2B5EF4-FFF2-40B4-BE49-F238E27FC236}">
                    <a16:creationId xmlns:a16="http://schemas.microsoft.com/office/drawing/2014/main" id="{1C51F9D7-A99D-8D22-852F-4FB4A608B51A}"/>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05" name="Group 504">
              <a:extLst>
                <a:ext uri="{FF2B5EF4-FFF2-40B4-BE49-F238E27FC236}">
                  <a16:creationId xmlns:a16="http://schemas.microsoft.com/office/drawing/2014/main" id="{E3C24C28-CF14-47AC-D39B-63727A03200C}"/>
                </a:ext>
              </a:extLst>
            </p:cNvPr>
            <p:cNvGrpSpPr/>
            <p:nvPr/>
          </p:nvGrpSpPr>
          <p:grpSpPr>
            <a:xfrm>
              <a:off x="10766231" y="2768834"/>
              <a:ext cx="218329" cy="268722"/>
              <a:chOff x="-7713341" y="-5614397"/>
              <a:chExt cx="4114692" cy="5064417"/>
            </a:xfrm>
          </p:grpSpPr>
          <p:sp>
            <p:nvSpPr>
              <p:cNvPr id="506" name="Freeform: Shape 505">
                <a:extLst>
                  <a:ext uri="{FF2B5EF4-FFF2-40B4-BE49-F238E27FC236}">
                    <a16:creationId xmlns:a16="http://schemas.microsoft.com/office/drawing/2014/main" id="{2FC0DCB0-85AB-A8EE-0C0B-57448CD36956}"/>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07" name="Freeform: Shape 506">
                <a:extLst>
                  <a:ext uri="{FF2B5EF4-FFF2-40B4-BE49-F238E27FC236}">
                    <a16:creationId xmlns:a16="http://schemas.microsoft.com/office/drawing/2014/main" id="{DE321220-E350-FAF5-8CCD-60AB61608287}"/>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08" name="Freeform: Shape 507">
                <a:extLst>
                  <a:ext uri="{FF2B5EF4-FFF2-40B4-BE49-F238E27FC236}">
                    <a16:creationId xmlns:a16="http://schemas.microsoft.com/office/drawing/2014/main" id="{82FA7200-E719-78D6-D846-3FEA681C9BA2}"/>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09" name="Freeform: Shape 508">
                <a:extLst>
                  <a:ext uri="{FF2B5EF4-FFF2-40B4-BE49-F238E27FC236}">
                    <a16:creationId xmlns:a16="http://schemas.microsoft.com/office/drawing/2014/main" id="{8D6EA902-8C6E-C271-6C3A-99564F27330D}"/>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0" name="Freeform: Shape 509">
                <a:extLst>
                  <a:ext uri="{FF2B5EF4-FFF2-40B4-BE49-F238E27FC236}">
                    <a16:creationId xmlns:a16="http://schemas.microsoft.com/office/drawing/2014/main" id="{F9157B5E-F187-25A9-BC17-FCC4BDC6106D}"/>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1" name="Freeform: Shape 510">
                <a:extLst>
                  <a:ext uri="{FF2B5EF4-FFF2-40B4-BE49-F238E27FC236}">
                    <a16:creationId xmlns:a16="http://schemas.microsoft.com/office/drawing/2014/main" id="{5E9856CA-79A4-6786-4252-AD82858DDC70}"/>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2" name="Freeform: Shape 511">
                <a:extLst>
                  <a:ext uri="{FF2B5EF4-FFF2-40B4-BE49-F238E27FC236}">
                    <a16:creationId xmlns:a16="http://schemas.microsoft.com/office/drawing/2014/main" id="{5595E83C-2B60-C61D-0679-A281E668E803}"/>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3" name="Freeform: Shape 512">
                <a:extLst>
                  <a:ext uri="{FF2B5EF4-FFF2-40B4-BE49-F238E27FC236}">
                    <a16:creationId xmlns:a16="http://schemas.microsoft.com/office/drawing/2014/main" id="{18310C07-9142-1F9B-E9E3-09608B831FA6}"/>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4" name="Freeform: Shape 513">
                <a:extLst>
                  <a:ext uri="{FF2B5EF4-FFF2-40B4-BE49-F238E27FC236}">
                    <a16:creationId xmlns:a16="http://schemas.microsoft.com/office/drawing/2014/main" id="{B773803D-8333-DABA-56DA-C4AA15928673}"/>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5" name="Freeform: Shape 514">
                <a:extLst>
                  <a:ext uri="{FF2B5EF4-FFF2-40B4-BE49-F238E27FC236}">
                    <a16:creationId xmlns:a16="http://schemas.microsoft.com/office/drawing/2014/main" id="{0F465164-B751-B6D3-1A88-B4039AAD3172}"/>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6" name="Freeform: Shape 515">
                <a:extLst>
                  <a:ext uri="{FF2B5EF4-FFF2-40B4-BE49-F238E27FC236}">
                    <a16:creationId xmlns:a16="http://schemas.microsoft.com/office/drawing/2014/main" id="{E8387BBC-5CC2-6AB6-62BF-9B6DBB60CFBE}"/>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7" name="Freeform: Shape 516">
                <a:extLst>
                  <a:ext uri="{FF2B5EF4-FFF2-40B4-BE49-F238E27FC236}">
                    <a16:creationId xmlns:a16="http://schemas.microsoft.com/office/drawing/2014/main" id="{5C609EDA-7C03-6F78-12F9-42AB4DF6B7E5}"/>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8" name="Freeform: Shape 517">
                <a:extLst>
                  <a:ext uri="{FF2B5EF4-FFF2-40B4-BE49-F238E27FC236}">
                    <a16:creationId xmlns:a16="http://schemas.microsoft.com/office/drawing/2014/main" id="{5B1BFC4A-A0A6-9BB0-19B1-0A18C61F0048}"/>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19" name="Freeform: Shape 518">
                <a:extLst>
                  <a:ext uri="{FF2B5EF4-FFF2-40B4-BE49-F238E27FC236}">
                    <a16:creationId xmlns:a16="http://schemas.microsoft.com/office/drawing/2014/main" id="{542FB1F8-1E78-A64C-21CF-7D2AFC94F0D8}"/>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sp>
          <p:nvSpPr>
            <p:cNvPr id="536" name="Freeform: Shape 535">
              <a:extLst>
                <a:ext uri="{FF2B5EF4-FFF2-40B4-BE49-F238E27FC236}">
                  <a16:creationId xmlns:a16="http://schemas.microsoft.com/office/drawing/2014/main" id="{F469FAE1-81C6-41CE-F4C7-0FFD3BBA5D56}"/>
                </a:ext>
              </a:extLst>
            </p:cNvPr>
            <p:cNvSpPr/>
            <p:nvPr/>
          </p:nvSpPr>
          <p:spPr>
            <a:xfrm>
              <a:off x="6946454" y="3129646"/>
              <a:ext cx="285055" cy="281907"/>
            </a:xfrm>
            <a:custGeom>
              <a:avLst/>
              <a:gdLst>
                <a:gd name="connsiteX0" fmla="*/ 3250599 w 5372222"/>
                <a:gd name="connsiteY0" fmla="*/ 267471 h 5312911"/>
                <a:gd name="connsiteX1" fmla="*/ 3296871 w 5372222"/>
                <a:gd name="connsiteY1" fmla="*/ 323920 h 5312911"/>
                <a:gd name="connsiteX2" fmla="*/ 3502611 w 5372222"/>
                <a:gd name="connsiteY2" fmla="*/ 472366 h 5312911"/>
                <a:gd name="connsiteX3" fmla="*/ 3755916 w 5372222"/>
                <a:gd name="connsiteY3" fmla="*/ 490965 h 5312911"/>
                <a:gd name="connsiteX4" fmla="*/ 3827514 w 5372222"/>
                <a:gd name="connsiteY4" fmla="*/ 477647 h 5312911"/>
                <a:gd name="connsiteX5" fmla="*/ 4147488 w 5372222"/>
                <a:gd name="connsiteY5" fmla="*/ 487022 h 5312911"/>
                <a:gd name="connsiteX6" fmla="*/ 4431567 w 5372222"/>
                <a:gd name="connsiteY6" fmla="*/ 635821 h 5312911"/>
                <a:gd name="connsiteX7" fmla="*/ 4627588 w 5372222"/>
                <a:gd name="connsiteY7" fmla="*/ 889969 h 5312911"/>
                <a:gd name="connsiteX8" fmla="*/ 4692268 w 5372222"/>
                <a:gd name="connsiteY8" fmla="*/ 1203020 h 5312911"/>
                <a:gd name="connsiteX9" fmla="*/ 4691426 w 5372222"/>
                <a:gd name="connsiteY9" fmla="*/ 1275921 h 5312911"/>
                <a:gd name="connsiteX10" fmla="*/ 4753804 w 5372222"/>
                <a:gd name="connsiteY10" fmla="*/ 1522652 h 5312911"/>
                <a:gd name="connsiteX11" fmla="*/ 4935512 w 5372222"/>
                <a:gd name="connsiteY11" fmla="*/ 1698922 h 5312911"/>
                <a:gd name="connsiteX12" fmla="*/ 4999046 w 5372222"/>
                <a:gd name="connsiteY12" fmla="*/ 1734633 h 5312911"/>
                <a:gd name="connsiteX13" fmla="*/ 5238352 w 5372222"/>
                <a:gd name="connsiteY13" fmla="*/ 1948259 h 5312911"/>
                <a:gd name="connsiteX14" fmla="*/ 5360473 w 5372222"/>
                <a:gd name="connsiteY14" fmla="*/ 2244545 h 5312911"/>
                <a:gd name="connsiteX15" fmla="*/ 5347149 w 5372222"/>
                <a:gd name="connsiteY15" fmla="*/ 2564372 h 5312911"/>
                <a:gd name="connsiteX16" fmla="*/ 5195410 w 5372222"/>
                <a:gd name="connsiteY16" fmla="*/ 2846648 h 5312911"/>
                <a:gd name="connsiteX17" fmla="*/ 5147845 w 5372222"/>
                <a:gd name="connsiteY17" fmla="*/ 2901943 h 5312911"/>
                <a:gd name="connsiteX18" fmla="*/ 5037549 w 5372222"/>
                <a:gd name="connsiteY18" fmla="*/ 3130226 h 5312911"/>
                <a:gd name="connsiteX19" fmla="*/ 5062884 w 5372222"/>
                <a:gd name="connsiteY19" fmla="*/ 3382698 h 5312911"/>
                <a:gd name="connsiteX20" fmla="*/ 5088563 w 5372222"/>
                <a:gd name="connsiteY20" fmla="*/ 3450857 h 5312911"/>
                <a:gd name="connsiteX21" fmla="*/ 5135138 w 5372222"/>
                <a:gd name="connsiteY21" fmla="*/ 3767540 h 5312911"/>
                <a:gd name="connsiteX22" fmla="*/ 5037353 w 5372222"/>
                <a:gd name="connsiteY22" fmla="*/ 4073015 h 5312911"/>
                <a:gd name="connsiteX23" fmla="*/ 5037196 w 5372222"/>
                <a:gd name="connsiteY23" fmla="*/ 4073358 h 5312911"/>
                <a:gd name="connsiteX24" fmla="*/ 5037353 w 5372222"/>
                <a:gd name="connsiteY24" fmla="*/ 4073515 h 5312911"/>
                <a:gd name="connsiteX25" fmla="*/ 4821591 w 5372222"/>
                <a:gd name="connsiteY25" fmla="*/ 4310370 h 5312911"/>
                <a:gd name="connsiteX26" fmla="*/ 4523659 w 5372222"/>
                <a:gd name="connsiteY26" fmla="*/ 4428700 h 5312911"/>
                <a:gd name="connsiteX27" fmla="*/ 4451749 w 5372222"/>
                <a:gd name="connsiteY27" fmla="*/ 4440565 h 5312911"/>
                <a:gd name="connsiteX28" fmla="*/ 4220673 w 5372222"/>
                <a:gd name="connsiteY28" fmla="*/ 4544738 h 5312911"/>
                <a:gd name="connsiteX29" fmla="*/ 4078115 w 5372222"/>
                <a:gd name="connsiteY29" fmla="*/ 4753926 h 5312911"/>
                <a:gd name="connsiteX30" fmla="*/ 4053926 w 5372222"/>
                <a:gd name="connsiteY30" fmla="*/ 4822731 h 5312911"/>
                <a:gd name="connsiteX31" fmla="*/ 3885885 w 5372222"/>
                <a:gd name="connsiteY31" fmla="*/ 5096131 h 5312911"/>
                <a:gd name="connsiteX32" fmla="*/ 3614622 w 5372222"/>
                <a:gd name="connsiteY32" fmla="*/ 5267160 h 5312911"/>
                <a:gd name="connsiteX33" fmla="*/ 3297439 w 5372222"/>
                <a:gd name="connsiteY33" fmla="*/ 5309944 h 5312911"/>
                <a:gd name="connsiteX34" fmla="*/ 2992925 w 5372222"/>
                <a:gd name="connsiteY34" fmla="*/ 5209366 h 5312911"/>
                <a:gd name="connsiteX35" fmla="*/ 2930203 w 5372222"/>
                <a:gd name="connsiteY35" fmla="*/ 5172323 h 5312911"/>
                <a:gd name="connsiteX36" fmla="*/ 2686117 w 5372222"/>
                <a:gd name="connsiteY36" fmla="*/ 5103361 h 5312911"/>
                <a:gd name="connsiteX37" fmla="*/ 2442031 w 5372222"/>
                <a:gd name="connsiteY37" fmla="*/ 5172323 h 5312911"/>
                <a:gd name="connsiteX38" fmla="*/ 2379310 w 5372222"/>
                <a:gd name="connsiteY38" fmla="*/ 5209366 h 5312911"/>
                <a:gd name="connsiteX39" fmla="*/ 2074795 w 5372222"/>
                <a:gd name="connsiteY39" fmla="*/ 5309944 h 5312911"/>
                <a:gd name="connsiteX40" fmla="*/ 1757612 w 5372222"/>
                <a:gd name="connsiteY40" fmla="*/ 5267160 h 5312911"/>
                <a:gd name="connsiteX41" fmla="*/ 1486349 w 5372222"/>
                <a:gd name="connsiteY41" fmla="*/ 5096131 h 5312911"/>
                <a:gd name="connsiteX42" fmla="*/ 1318308 w 5372222"/>
                <a:gd name="connsiteY42" fmla="*/ 4822731 h 5312911"/>
                <a:gd name="connsiteX43" fmla="*/ 1294119 w 5372222"/>
                <a:gd name="connsiteY43" fmla="*/ 4753926 h 5312911"/>
                <a:gd name="connsiteX44" fmla="*/ 1151561 w 5372222"/>
                <a:gd name="connsiteY44" fmla="*/ 4544738 h 5312911"/>
                <a:gd name="connsiteX45" fmla="*/ 920486 w 5372222"/>
                <a:gd name="connsiteY45" fmla="*/ 4440565 h 5312911"/>
                <a:gd name="connsiteX46" fmla="*/ 848575 w 5372222"/>
                <a:gd name="connsiteY46" fmla="*/ 4428700 h 5312911"/>
                <a:gd name="connsiteX47" fmla="*/ 550644 w 5372222"/>
                <a:gd name="connsiteY47" fmla="*/ 4310370 h 5312911"/>
                <a:gd name="connsiteX48" fmla="*/ 334881 w 5372222"/>
                <a:gd name="connsiteY48" fmla="*/ 4073015 h 5312911"/>
                <a:gd name="connsiteX49" fmla="*/ 237106 w 5372222"/>
                <a:gd name="connsiteY49" fmla="*/ 3767540 h 5312911"/>
                <a:gd name="connsiteX50" fmla="*/ 283681 w 5372222"/>
                <a:gd name="connsiteY50" fmla="*/ 3450857 h 5312911"/>
                <a:gd name="connsiteX51" fmla="*/ 309360 w 5372222"/>
                <a:gd name="connsiteY51" fmla="*/ 3382698 h 5312911"/>
                <a:gd name="connsiteX52" fmla="*/ 334695 w 5372222"/>
                <a:gd name="connsiteY52" fmla="*/ 3130226 h 5312911"/>
                <a:gd name="connsiteX53" fmla="*/ 224396 w 5372222"/>
                <a:gd name="connsiteY53" fmla="*/ 2901943 h 5312911"/>
                <a:gd name="connsiteX54" fmla="*/ 176826 w 5372222"/>
                <a:gd name="connsiteY54" fmla="*/ 2846638 h 5312911"/>
                <a:gd name="connsiteX55" fmla="*/ 25088 w 5372222"/>
                <a:gd name="connsiteY55" fmla="*/ 2564363 h 5312911"/>
                <a:gd name="connsiteX56" fmla="*/ 11769 w 5372222"/>
                <a:gd name="connsiteY56" fmla="*/ 2244535 h 5312911"/>
                <a:gd name="connsiteX57" fmla="*/ 133891 w 5372222"/>
                <a:gd name="connsiteY57" fmla="*/ 1948093 h 5312911"/>
                <a:gd name="connsiteX58" fmla="*/ 373198 w 5372222"/>
                <a:gd name="connsiteY58" fmla="*/ 1734466 h 5312911"/>
                <a:gd name="connsiteX59" fmla="*/ 436722 w 5372222"/>
                <a:gd name="connsiteY59" fmla="*/ 1698765 h 5312911"/>
                <a:gd name="connsiteX60" fmla="*/ 618430 w 5372222"/>
                <a:gd name="connsiteY60" fmla="*/ 1521996 h 5312911"/>
                <a:gd name="connsiteX61" fmla="*/ 622065 w 5372222"/>
                <a:gd name="connsiteY61" fmla="*/ 1516215 h 5312911"/>
                <a:gd name="connsiteX62" fmla="*/ 680808 w 5372222"/>
                <a:gd name="connsiteY62" fmla="*/ 1275725 h 5312911"/>
                <a:gd name="connsiteX63" fmla="*/ 679966 w 5372222"/>
                <a:gd name="connsiteY63" fmla="*/ 1202824 h 5312911"/>
                <a:gd name="connsiteX64" fmla="*/ 744647 w 5372222"/>
                <a:gd name="connsiteY64" fmla="*/ 889773 h 5312911"/>
                <a:gd name="connsiteX65" fmla="*/ 940668 w 5372222"/>
                <a:gd name="connsiteY65" fmla="*/ 635626 h 5312911"/>
                <a:gd name="connsiteX66" fmla="*/ 1224746 w 5372222"/>
                <a:gd name="connsiteY66" fmla="*/ 486826 h 5312911"/>
                <a:gd name="connsiteX67" fmla="*/ 1544720 w 5372222"/>
                <a:gd name="connsiteY67" fmla="*/ 477450 h 5312911"/>
                <a:gd name="connsiteX68" fmla="*/ 1616328 w 5372222"/>
                <a:gd name="connsiteY68" fmla="*/ 490768 h 5312911"/>
                <a:gd name="connsiteX69" fmla="*/ 1869633 w 5372222"/>
                <a:gd name="connsiteY69" fmla="*/ 472169 h 5312911"/>
                <a:gd name="connsiteX70" fmla="*/ 2075373 w 5372222"/>
                <a:gd name="connsiteY70" fmla="*/ 323723 h 5312911"/>
                <a:gd name="connsiteX71" fmla="*/ 2121635 w 5372222"/>
                <a:gd name="connsiteY71" fmla="*/ 267275 h 5312911"/>
                <a:gd name="connsiteX72" fmla="*/ 2372951 w 5372222"/>
                <a:gd name="connsiteY72" fmla="*/ 68618 h 5312911"/>
                <a:gd name="connsiteX73" fmla="*/ 2686000 w 5372222"/>
                <a:gd name="connsiteY73" fmla="*/ 0 h 5312911"/>
                <a:gd name="connsiteX74" fmla="*/ 2999048 w 5372222"/>
                <a:gd name="connsiteY74" fmla="*/ 68618 h 5312911"/>
                <a:gd name="connsiteX75" fmla="*/ 3250364 w 5372222"/>
                <a:gd name="connsiteY75" fmla="*/ 267275 h 5312911"/>
                <a:gd name="connsiteX76" fmla="*/ 1896340 w 5372222"/>
                <a:gd name="connsiteY76" fmla="*/ 2654545 h 5312911"/>
                <a:gd name="connsiteX77" fmla="*/ 1920872 w 5372222"/>
                <a:gd name="connsiteY77" fmla="*/ 2478422 h 5312911"/>
                <a:gd name="connsiteX78" fmla="*/ 2096995 w 5372222"/>
                <a:gd name="connsiteY78" fmla="*/ 2503111 h 5312911"/>
                <a:gd name="connsiteX79" fmla="*/ 2524935 w 5372222"/>
                <a:gd name="connsiteY79" fmla="*/ 3070797 h 5312911"/>
                <a:gd name="connsiteX80" fmla="*/ 3271702 w 5372222"/>
                <a:gd name="connsiteY80" fmla="*/ 1956381 h 5312911"/>
                <a:gd name="connsiteX81" fmla="*/ 3445827 w 5372222"/>
                <a:gd name="connsiteY81" fmla="*/ 1921974 h 5312911"/>
                <a:gd name="connsiteX82" fmla="*/ 3480234 w 5372222"/>
                <a:gd name="connsiteY82" fmla="*/ 2096098 h 5312911"/>
                <a:gd name="connsiteX83" fmla="*/ 2639669 w 5372222"/>
                <a:gd name="connsiteY83" fmla="*/ 3350623 h 5312911"/>
                <a:gd name="connsiteX84" fmla="*/ 2606750 w 5372222"/>
                <a:gd name="connsiteY84" fmla="*/ 3387822 h 5312911"/>
                <a:gd name="connsiteX85" fmla="*/ 2430627 w 5372222"/>
                <a:gd name="connsiteY85" fmla="*/ 3363290 h 5312911"/>
                <a:gd name="connsiteX86" fmla="*/ 1896340 w 5372222"/>
                <a:gd name="connsiteY86" fmla="*/ 2654722 h 5312911"/>
                <a:gd name="connsiteX87" fmla="*/ 2686391 w 5372222"/>
                <a:gd name="connsiteY87" fmla="*/ 1073580 h 5312911"/>
                <a:gd name="connsiteX88" fmla="*/ 3805813 w 5372222"/>
                <a:gd name="connsiteY88" fmla="*/ 1537220 h 5312911"/>
                <a:gd name="connsiteX89" fmla="*/ 4269453 w 5372222"/>
                <a:gd name="connsiteY89" fmla="*/ 2656446 h 5312911"/>
                <a:gd name="connsiteX90" fmla="*/ 3805813 w 5372222"/>
                <a:gd name="connsiteY90" fmla="*/ 3775868 h 5312911"/>
                <a:gd name="connsiteX91" fmla="*/ 2686391 w 5372222"/>
                <a:gd name="connsiteY91" fmla="*/ 4239508 h 5312911"/>
                <a:gd name="connsiteX92" fmla="*/ 1566970 w 5372222"/>
                <a:gd name="connsiteY92" fmla="*/ 3775868 h 5312911"/>
                <a:gd name="connsiteX93" fmla="*/ 1103330 w 5372222"/>
                <a:gd name="connsiteY93" fmla="*/ 2656446 h 5312911"/>
                <a:gd name="connsiteX94" fmla="*/ 1566970 w 5372222"/>
                <a:gd name="connsiteY94" fmla="*/ 1537220 h 5312911"/>
                <a:gd name="connsiteX95" fmla="*/ 2686391 w 5372222"/>
                <a:gd name="connsiteY95" fmla="*/ 1073580 h 5312911"/>
                <a:gd name="connsiteX96" fmla="*/ 3627720 w 5372222"/>
                <a:gd name="connsiteY96" fmla="*/ 1715332 h 5312911"/>
                <a:gd name="connsiteX97" fmla="*/ 2686391 w 5372222"/>
                <a:gd name="connsiteY97" fmla="*/ 1325396 h 5312911"/>
                <a:gd name="connsiteX98" fmla="*/ 1745062 w 5372222"/>
                <a:gd name="connsiteY98" fmla="*/ 1715332 h 5312911"/>
                <a:gd name="connsiteX99" fmla="*/ 1355126 w 5372222"/>
                <a:gd name="connsiteY99" fmla="*/ 2656662 h 5312911"/>
                <a:gd name="connsiteX100" fmla="*/ 1745062 w 5372222"/>
                <a:gd name="connsiteY100" fmla="*/ 3597991 h 5312911"/>
                <a:gd name="connsiteX101" fmla="*/ 2686391 w 5372222"/>
                <a:gd name="connsiteY101" fmla="*/ 3987927 h 5312911"/>
                <a:gd name="connsiteX102" fmla="*/ 3627720 w 5372222"/>
                <a:gd name="connsiteY102" fmla="*/ 3597991 h 5312911"/>
                <a:gd name="connsiteX103" fmla="*/ 4017657 w 5372222"/>
                <a:gd name="connsiteY103" fmla="*/ 2656662 h 5312911"/>
                <a:gd name="connsiteX104" fmla="*/ 3627720 w 5372222"/>
                <a:gd name="connsiteY104" fmla="*/ 1715332 h 5312911"/>
                <a:gd name="connsiteX105" fmla="*/ 3103152 w 5372222"/>
                <a:gd name="connsiteY105" fmla="*/ 483048 h 5312911"/>
                <a:gd name="connsiteX106" fmla="*/ 3056880 w 5372222"/>
                <a:gd name="connsiteY106" fmla="*/ 426752 h 5312911"/>
                <a:gd name="connsiteX107" fmla="*/ 2892131 w 5372222"/>
                <a:gd name="connsiteY107" fmla="*/ 295755 h 5312911"/>
                <a:gd name="connsiteX108" fmla="*/ 2686391 w 5372222"/>
                <a:gd name="connsiteY108" fmla="*/ 251820 h 5312911"/>
                <a:gd name="connsiteX109" fmla="*/ 2480651 w 5372222"/>
                <a:gd name="connsiteY109" fmla="*/ 295755 h 5312911"/>
                <a:gd name="connsiteX110" fmla="*/ 2315903 w 5372222"/>
                <a:gd name="connsiteY110" fmla="*/ 426752 h 5312911"/>
                <a:gd name="connsiteX111" fmla="*/ 2269640 w 5372222"/>
                <a:gd name="connsiteY111" fmla="*/ 483048 h 5312911"/>
                <a:gd name="connsiteX112" fmla="*/ 1955593 w 5372222"/>
                <a:gd name="connsiteY112" fmla="*/ 708225 h 5312911"/>
                <a:gd name="connsiteX113" fmla="*/ 1570595 w 5372222"/>
                <a:gd name="connsiteY113" fmla="*/ 737540 h 5312911"/>
                <a:gd name="connsiteX114" fmla="*/ 1498987 w 5372222"/>
                <a:gd name="connsiteY114" fmla="*/ 724222 h 5312911"/>
                <a:gd name="connsiteX115" fmla="*/ 1288153 w 5372222"/>
                <a:gd name="connsiteY115" fmla="*/ 729657 h 5312911"/>
                <a:gd name="connsiteX116" fmla="*/ 1102507 w 5372222"/>
                <a:gd name="connsiteY116" fmla="*/ 828235 h 5312911"/>
                <a:gd name="connsiteX117" fmla="*/ 973302 w 5372222"/>
                <a:gd name="connsiteY117" fmla="*/ 993822 h 5312911"/>
                <a:gd name="connsiteX118" fmla="*/ 931165 w 5372222"/>
                <a:gd name="connsiteY118" fmla="*/ 1200708 h 5312911"/>
                <a:gd name="connsiteX119" fmla="*/ 932007 w 5372222"/>
                <a:gd name="connsiteY119" fmla="*/ 1273619 h 5312911"/>
                <a:gd name="connsiteX120" fmla="*/ 840502 w 5372222"/>
                <a:gd name="connsiteY120" fmla="*/ 1639826 h 5312911"/>
                <a:gd name="connsiteX121" fmla="*/ 836220 w 5372222"/>
                <a:gd name="connsiteY121" fmla="*/ 1647713 h 5312911"/>
                <a:gd name="connsiteX122" fmla="*/ 560029 w 5372222"/>
                <a:gd name="connsiteY122" fmla="*/ 1917976 h 5312911"/>
                <a:gd name="connsiteX123" fmla="*/ 496495 w 5372222"/>
                <a:gd name="connsiteY123" fmla="*/ 1953677 h 5312911"/>
                <a:gd name="connsiteX124" fmla="*/ 338819 w 5372222"/>
                <a:gd name="connsiteY124" fmla="*/ 2092601 h 5312911"/>
                <a:gd name="connsiteX125" fmla="*/ 259992 w 5372222"/>
                <a:gd name="connsiteY125" fmla="*/ 2287623 h 5312911"/>
                <a:gd name="connsiteX126" fmla="*/ 267408 w 5372222"/>
                <a:gd name="connsiteY126" fmla="*/ 2498301 h 5312911"/>
                <a:gd name="connsiteX127" fmla="*/ 367986 w 5372222"/>
                <a:gd name="connsiteY127" fmla="*/ 2683143 h 5312911"/>
                <a:gd name="connsiteX128" fmla="*/ 415561 w 5372222"/>
                <a:gd name="connsiteY128" fmla="*/ 2738448 h 5312911"/>
                <a:gd name="connsiteX129" fmla="*/ 582954 w 5372222"/>
                <a:gd name="connsiteY129" fmla="*/ 3086893 h 5312911"/>
                <a:gd name="connsiteX130" fmla="*/ 544755 w 5372222"/>
                <a:gd name="connsiteY130" fmla="*/ 3471206 h 5312911"/>
                <a:gd name="connsiteX131" fmla="*/ 519077 w 5372222"/>
                <a:gd name="connsiteY131" fmla="*/ 3539365 h 5312911"/>
                <a:gd name="connsiteX132" fmla="*/ 488314 w 5372222"/>
                <a:gd name="connsiteY132" fmla="*/ 3747897 h 5312911"/>
                <a:gd name="connsiteX133" fmla="*/ 552681 w 5372222"/>
                <a:gd name="connsiteY133" fmla="*/ 3948052 h 5312911"/>
                <a:gd name="connsiteX134" fmla="*/ 693741 w 5372222"/>
                <a:gd name="connsiteY134" fmla="*/ 4103778 h 5312911"/>
                <a:gd name="connsiteX135" fmla="*/ 889458 w 5372222"/>
                <a:gd name="connsiteY135" fmla="*/ 4180960 h 5312911"/>
                <a:gd name="connsiteX136" fmla="*/ 961369 w 5372222"/>
                <a:gd name="connsiteY136" fmla="*/ 4192824 h 5312911"/>
                <a:gd name="connsiteX137" fmla="*/ 1313606 w 5372222"/>
                <a:gd name="connsiteY137" fmla="*/ 4352145 h 5312911"/>
                <a:gd name="connsiteX138" fmla="*/ 1531857 w 5372222"/>
                <a:gd name="connsiteY138" fmla="*/ 4671621 h 5312911"/>
                <a:gd name="connsiteX139" fmla="*/ 1556046 w 5372222"/>
                <a:gd name="connsiteY139" fmla="*/ 4740436 h 5312911"/>
                <a:gd name="connsiteX140" fmla="*/ 1666146 w 5372222"/>
                <a:gd name="connsiteY140" fmla="*/ 4919351 h 5312911"/>
                <a:gd name="connsiteX141" fmla="*/ 1843916 w 5372222"/>
                <a:gd name="connsiteY141" fmla="*/ 5031440 h 5312911"/>
                <a:gd name="connsiteX142" fmla="*/ 2052790 w 5372222"/>
                <a:gd name="connsiteY142" fmla="*/ 5060410 h 5312911"/>
                <a:gd name="connsiteX143" fmla="*/ 2252104 w 5372222"/>
                <a:gd name="connsiteY143" fmla="*/ 4993437 h 5312911"/>
                <a:gd name="connsiteX144" fmla="*/ 2314825 w 5372222"/>
                <a:gd name="connsiteY144" fmla="*/ 4956237 h 5312911"/>
                <a:gd name="connsiteX145" fmla="*/ 2686813 w 5372222"/>
                <a:gd name="connsiteY145" fmla="*/ 4851878 h 5312911"/>
                <a:gd name="connsiteX146" fmla="*/ 3058800 w 5372222"/>
                <a:gd name="connsiteY146" fmla="*/ 4956237 h 5312911"/>
                <a:gd name="connsiteX147" fmla="*/ 3121522 w 5372222"/>
                <a:gd name="connsiteY147" fmla="*/ 4993437 h 5312911"/>
                <a:gd name="connsiteX148" fmla="*/ 3320835 w 5372222"/>
                <a:gd name="connsiteY148" fmla="*/ 5060410 h 5312911"/>
                <a:gd name="connsiteX149" fmla="*/ 3529710 w 5372222"/>
                <a:gd name="connsiteY149" fmla="*/ 5031440 h 5312911"/>
                <a:gd name="connsiteX150" fmla="*/ 3707479 w 5372222"/>
                <a:gd name="connsiteY150" fmla="*/ 4919351 h 5312911"/>
                <a:gd name="connsiteX151" fmla="*/ 3817579 w 5372222"/>
                <a:gd name="connsiteY151" fmla="*/ 4740436 h 5312911"/>
                <a:gd name="connsiteX152" fmla="*/ 3841769 w 5372222"/>
                <a:gd name="connsiteY152" fmla="*/ 4671621 h 5312911"/>
                <a:gd name="connsiteX153" fmla="*/ 4060019 w 5372222"/>
                <a:gd name="connsiteY153" fmla="*/ 4352145 h 5312911"/>
                <a:gd name="connsiteX154" fmla="*/ 4412109 w 5372222"/>
                <a:gd name="connsiteY154" fmla="*/ 4192824 h 5312911"/>
                <a:gd name="connsiteX155" fmla="*/ 4484020 w 5372222"/>
                <a:gd name="connsiteY155" fmla="*/ 4180960 h 5312911"/>
                <a:gd name="connsiteX156" fmla="*/ 4679738 w 5372222"/>
                <a:gd name="connsiteY156" fmla="*/ 4103778 h 5312911"/>
                <a:gd name="connsiteX157" fmla="*/ 4820797 w 5372222"/>
                <a:gd name="connsiteY157" fmla="*/ 3947563 h 5312911"/>
                <a:gd name="connsiteX158" fmla="*/ 4821140 w 5372222"/>
                <a:gd name="connsiteY158" fmla="*/ 3947709 h 5312911"/>
                <a:gd name="connsiteX159" fmla="*/ 4885164 w 5372222"/>
                <a:gd name="connsiteY159" fmla="*/ 3747897 h 5312911"/>
                <a:gd name="connsiteX160" fmla="*/ 4854402 w 5372222"/>
                <a:gd name="connsiteY160" fmla="*/ 3539365 h 5312911"/>
                <a:gd name="connsiteX161" fmla="*/ 4828723 w 5372222"/>
                <a:gd name="connsiteY161" fmla="*/ 3471049 h 5312911"/>
                <a:gd name="connsiteX162" fmla="*/ 4790524 w 5372222"/>
                <a:gd name="connsiteY162" fmla="*/ 3086746 h 5312911"/>
                <a:gd name="connsiteX163" fmla="*/ 4957918 w 5372222"/>
                <a:gd name="connsiteY163" fmla="*/ 2738291 h 5312911"/>
                <a:gd name="connsiteX164" fmla="*/ 5005493 w 5372222"/>
                <a:gd name="connsiteY164" fmla="*/ 2682996 h 5312911"/>
                <a:gd name="connsiteX165" fmla="*/ 5106070 w 5372222"/>
                <a:gd name="connsiteY165" fmla="*/ 2498153 h 5312911"/>
                <a:gd name="connsiteX166" fmla="*/ 5113486 w 5372222"/>
                <a:gd name="connsiteY166" fmla="*/ 2287476 h 5312911"/>
                <a:gd name="connsiteX167" fmla="*/ 5034659 w 5372222"/>
                <a:gd name="connsiteY167" fmla="*/ 2092454 h 5312911"/>
                <a:gd name="connsiteX168" fmla="*/ 4876984 w 5372222"/>
                <a:gd name="connsiteY168" fmla="*/ 1953530 h 5312911"/>
                <a:gd name="connsiteX169" fmla="*/ 4813449 w 5372222"/>
                <a:gd name="connsiteY169" fmla="*/ 1917830 h 5312911"/>
                <a:gd name="connsiteX170" fmla="*/ 4537258 w 5372222"/>
                <a:gd name="connsiteY170" fmla="*/ 1647056 h 5312911"/>
                <a:gd name="connsiteX171" fmla="*/ 4441471 w 5372222"/>
                <a:gd name="connsiteY171" fmla="*/ 1273589 h 5312911"/>
                <a:gd name="connsiteX172" fmla="*/ 4442314 w 5372222"/>
                <a:gd name="connsiteY172" fmla="*/ 1200679 h 5312911"/>
                <a:gd name="connsiteX173" fmla="*/ 4400176 w 5372222"/>
                <a:gd name="connsiteY173" fmla="*/ 993792 h 5312911"/>
                <a:gd name="connsiteX174" fmla="*/ 4270972 w 5372222"/>
                <a:gd name="connsiteY174" fmla="*/ 828202 h 5312911"/>
                <a:gd name="connsiteX175" fmla="*/ 4085325 w 5372222"/>
                <a:gd name="connsiteY175" fmla="*/ 729623 h 5312911"/>
                <a:gd name="connsiteX176" fmla="*/ 3874491 w 5372222"/>
                <a:gd name="connsiteY176" fmla="*/ 724189 h 5312911"/>
                <a:gd name="connsiteX177" fmla="*/ 3802883 w 5372222"/>
                <a:gd name="connsiteY177" fmla="*/ 737507 h 5312911"/>
                <a:gd name="connsiteX178" fmla="*/ 3417885 w 5372222"/>
                <a:gd name="connsiteY178" fmla="*/ 708192 h 5312911"/>
                <a:gd name="connsiteX179" fmla="*/ 3103838 w 5372222"/>
                <a:gd name="connsiteY179" fmla="*/ 483014 h 531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5372222" h="5312911">
                  <a:moveTo>
                    <a:pt x="3250599" y="267471"/>
                  </a:moveTo>
                  <a:lnTo>
                    <a:pt x="3296871" y="323920"/>
                  </a:lnTo>
                  <a:cubicBezTo>
                    <a:pt x="3354155" y="393724"/>
                    <a:pt x="3424773" y="443895"/>
                    <a:pt x="3502611" y="472366"/>
                  </a:cubicBezTo>
                  <a:cubicBezTo>
                    <a:pt x="3580645" y="500686"/>
                    <a:pt x="3666870" y="507575"/>
                    <a:pt x="3755916" y="490965"/>
                  </a:cubicBezTo>
                  <a:lnTo>
                    <a:pt x="3827514" y="477647"/>
                  </a:lnTo>
                  <a:cubicBezTo>
                    <a:pt x="3937810" y="456904"/>
                    <a:pt x="4045422" y="460196"/>
                    <a:pt x="4147488" y="487022"/>
                  </a:cubicBezTo>
                  <a:cubicBezTo>
                    <a:pt x="4250202" y="513850"/>
                    <a:pt x="4345655" y="563715"/>
                    <a:pt x="4431567" y="635821"/>
                  </a:cubicBezTo>
                  <a:cubicBezTo>
                    <a:pt x="4517478" y="707927"/>
                    <a:pt x="4583305" y="793497"/>
                    <a:pt x="4627588" y="889969"/>
                  </a:cubicBezTo>
                  <a:cubicBezTo>
                    <a:pt x="4671528" y="985602"/>
                    <a:pt x="4693415" y="1090931"/>
                    <a:pt x="4692268" y="1203020"/>
                  </a:cubicBezTo>
                  <a:lnTo>
                    <a:pt x="4691426" y="1275921"/>
                  </a:lnTo>
                  <a:cubicBezTo>
                    <a:pt x="4690427" y="1366779"/>
                    <a:pt x="4712167" y="1450702"/>
                    <a:pt x="4753804" y="1522652"/>
                  </a:cubicBezTo>
                  <a:cubicBezTo>
                    <a:pt x="4794942" y="1593916"/>
                    <a:pt x="4856518" y="1654335"/>
                    <a:pt x="4935512" y="1698922"/>
                  </a:cubicBezTo>
                  <a:lnTo>
                    <a:pt x="4999046" y="1734633"/>
                  </a:lnTo>
                  <a:cubicBezTo>
                    <a:pt x="5096626" y="1789428"/>
                    <a:pt x="5176816" y="1861535"/>
                    <a:pt x="5238352" y="1948259"/>
                  </a:cubicBezTo>
                  <a:cubicBezTo>
                    <a:pt x="5299730" y="2035013"/>
                    <a:pt x="5341064" y="2134405"/>
                    <a:pt x="5360473" y="2244545"/>
                  </a:cubicBezTo>
                  <a:cubicBezTo>
                    <a:pt x="5379871" y="2354645"/>
                    <a:pt x="5375129" y="2462149"/>
                    <a:pt x="5347149" y="2564372"/>
                  </a:cubicBezTo>
                  <a:cubicBezTo>
                    <a:pt x="5319178" y="2666439"/>
                    <a:pt x="5268311" y="2761540"/>
                    <a:pt x="5195410" y="2846648"/>
                  </a:cubicBezTo>
                  <a:lnTo>
                    <a:pt x="5147845" y="2901943"/>
                  </a:lnTo>
                  <a:cubicBezTo>
                    <a:pt x="5089102" y="2970405"/>
                    <a:pt x="5052049" y="3048596"/>
                    <a:pt x="5037549" y="3130226"/>
                  </a:cubicBezTo>
                  <a:cubicBezTo>
                    <a:pt x="5023079" y="3212199"/>
                    <a:pt x="5031112" y="3298424"/>
                    <a:pt x="5062884" y="3382698"/>
                  </a:cubicBezTo>
                  <a:lnTo>
                    <a:pt x="5088563" y="3450857"/>
                  </a:lnTo>
                  <a:cubicBezTo>
                    <a:pt x="5128241" y="3556372"/>
                    <a:pt x="5143711" y="3663024"/>
                    <a:pt x="5135138" y="3767540"/>
                  </a:cubicBezTo>
                  <a:cubicBezTo>
                    <a:pt x="5126566" y="3872399"/>
                    <a:pt x="5093990" y="3975083"/>
                    <a:pt x="5037353" y="4073015"/>
                  </a:cubicBezTo>
                  <a:lnTo>
                    <a:pt x="5037196" y="4073358"/>
                  </a:lnTo>
                  <a:lnTo>
                    <a:pt x="5037353" y="4073515"/>
                  </a:lnTo>
                  <a:cubicBezTo>
                    <a:pt x="4981215" y="4170604"/>
                    <a:pt x="4908648" y="4250128"/>
                    <a:pt x="4821591" y="4310370"/>
                  </a:cubicBezTo>
                  <a:cubicBezTo>
                    <a:pt x="4734837" y="4370456"/>
                    <a:pt x="4634798" y="4410448"/>
                    <a:pt x="4523659" y="4428700"/>
                  </a:cubicBezTo>
                  <a:lnTo>
                    <a:pt x="4451749" y="4440565"/>
                  </a:lnTo>
                  <a:cubicBezTo>
                    <a:pt x="4362889" y="4455221"/>
                    <a:pt x="4284355" y="4491275"/>
                    <a:pt x="4220673" y="4544738"/>
                  </a:cubicBezTo>
                  <a:cubicBezTo>
                    <a:pt x="4157148" y="4598044"/>
                    <a:pt x="4108084" y="4669152"/>
                    <a:pt x="4078115" y="4753926"/>
                  </a:cubicBezTo>
                  <a:lnTo>
                    <a:pt x="4053926" y="4822731"/>
                  </a:lnTo>
                  <a:cubicBezTo>
                    <a:pt x="4016383" y="4929540"/>
                    <a:pt x="3959785" y="5021389"/>
                    <a:pt x="3885885" y="5096131"/>
                  </a:cubicBezTo>
                  <a:cubicBezTo>
                    <a:pt x="3811985" y="5170873"/>
                    <a:pt x="3720979" y="5228470"/>
                    <a:pt x="3614622" y="5267160"/>
                  </a:cubicBezTo>
                  <a:cubicBezTo>
                    <a:pt x="3509106" y="5305506"/>
                    <a:pt x="3402641" y="5319672"/>
                    <a:pt x="3297439" y="5309944"/>
                  </a:cubicBezTo>
                  <a:cubicBezTo>
                    <a:pt x="3191777" y="5300078"/>
                    <a:pt x="3089211" y="5266513"/>
                    <a:pt x="2992925" y="5209366"/>
                  </a:cubicBezTo>
                  <a:lnTo>
                    <a:pt x="2930203" y="5172323"/>
                  </a:lnTo>
                  <a:cubicBezTo>
                    <a:pt x="2852669" y="5126404"/>
                    <a:pt x="2769236" y="5103361"/>
                    <a:pt x="2686117" y="5103361"/>
                  </a:cubicBezTo>
                  <a:cubicBezTo>
                    <a:pt x="2602998" y="5103361"/>
                    <a:pt x="2519566" y="5126404"/>
                    <a:pt x="2442031" y="5172323"/>
                  </a:cubicBezTo>
                  <a:lnTo>
                    <a:pt x="2379310" y="5209366"/>
                  </a:lnTo>
                  <a:cubicBezTo>
                    <a:pt x="2282867" y="5266474"/>
                    <a:pt x="2180496" y="5300068"/>
                    <a:pt x="2074795" y="5309944"/>
                  </a:cubicBezTo>
                  <a:cubicBezTo>
                    <a:pt x="1969632" y="5319672"/>
                    <a:pt x="1863128" y="5305506"/>
                    <a:pt x="1757612" y="5267160"/>
                  </a:cubicBezTo>
                  <a:cubicBezTo>
                    <a:pt x="1651450" y="5228470"/>
                    <a:pt x="1560249" y="5170873"/>
                    <a:pt x="1486349" y="5096131"/>
                  </a:cubicBezTo>
                  <a:cubicBezTo>
                    <a:pt x="1412449" y="5021389"/>
                    <a:pt x="1355812" y="4929736"/>
                    <a:pt x="1318308" y="4822731"/>
                  </a:cubicBezTo>
                  <a:lnTo>
                    <a:pt x="1294119" y="4753926"/>
                  </a:lnTo>
                  <a:cubicBezTo>
                    <a:pt x="1264346" y="4669161"/>
                    <a:pt x="1215135" y="4598054"/>
                    <a:pt x="1151561" y="4544738"/>
                  </a:cubicBezTo>
                  <a:cubicBezTo>
                    <a:pt x="1087880" y="4491235"/>
                    <a:pt x="1009199" y="4455182"/>
                    <a:pt x="920486" y="4440565"/>
                  </a:cubicBezTo>
                  <a:lnTo>
                    <a:pt x="848575" y="4428700"/>
                  </a:lnTo>
                  <a:cubicBezTo>
                    <a:pt x="737475" y="4410448"/>
                    <a:pt x="637397" y="4370456"/>
                    <a:pt x="550644" y="4310370"/>
                  </a:cubicBezTo>
                  <a:cubicBezTo>
                    <a:pt x="463890" y="4250284"/>
                    <a:pt x="391136" y="4170800"/>
                    <a:pt x="334881" y="4073015"/>
                  </a:cubicBezTo>
                  <a:cubicBezTo>
                    <a:pt x="278440" y="3975230"/>
                    <a:pt x="245678" y="3872369"/>
                    <a:pt x="237106" y="3767540"/>
                  </a:cubicBezTo>
                  <a:cubicBezTo>
                    <a:pt x="228531" y="3662867"/>
                    <a:pt x="244032" y="3556363"/>
                    <a:pt x="283681" y="3450857"/>
                  </a:cubicBezTo>
                  <a:lnTo>
                    <a:pt x="309360" y="3382698"/>
                  </a:lnTo>
                  <a:cubicBezTo>
                    <a:pt x="341122" y="3298276"/>
                    <a:pt x="349195" y="3212169"/>
                    <a:pt x="334695" y="3130226"/>
                  </a:cubicBezTo>
                  <a:cubicBezTo>
                    <a:pt x="320381" y="3048400"/>
                    <a:pt x="283182" y="2970258"/>
                    <a:pt x="224396" y="2901943"/>
                  </a:cubicBezTo>
                  <a:lnTo>
                    <a:pt x="176826" y="2846638"/>
                  </a:lnTo>
                  <a:cubicBezTo>
                    <a:pt x="103921" y="2761530"/>
                    <a:pt x="53058" y="2666576"/>
                    <a:pt x="25088" y="2564363"/>
                  </a:cubicBezTo>
                  <a:cubicBezTo>
                    <a:pt x="-2888" y="2461992"/>
                    <a:pt x="-7672" y="2354488"/>
                    <a:pt x="11769" y="2244535"/>
                  </a:cubicBezTo>
                  <a:cubicBezTo>
                    <a:pt x="31173" y="2134435"/>
                    <a:pt x="72504" y="2034856"/>
                    <a:pt x="133891" y="1948093"/>
                  </a:cubicBezTo>
                  <a:cubicBezTo>
                    <a:pt x="195276" y="1861339"/>
                    <a:pt x="275608" y="1789428"/>
                    <a:pt x="373198" y="1734466"/>
                  </a:cubicBezTo>
                  <a:lnTo>
                    <a:pt x="436722" y="1698765"/>
                  </a:lnTo>
                  <a:cubicBezTo>
                    <a:pt x="515403" y="1654482"/>
                    <a:pt x="577135" y="1593750"/>
                    <a:pt x="618430" y="1521996"/>
                  </a:cubicBezTo>
                  <a:lnTo>
                    <a:pt x="622065" y="1516215"/>
                  </a:lnTo>
                  <a:cubicBezTo>
                    <a:pt x="661253" y="1445764"/>
                    <a:pt x="681808" y="1363781"/>
                    <a:pt x="680808" y="1275725"/>
                  </a:cubicBezTo>
                  <a:lnTo>
                    <a:pt x="679966" y="1202824"/>
                  </a:lnTo>
                  <a:cubicBezTo>
                    <a:pt x="678820" y="1090735"/>
                    <a:pt x="700716" y="985416"/>
                    <a:pt x="744647" y="889773"/>
                  </a:cubicBezTo>
                  <a:cubicBezTo>
                    <a:pt x="788930" y="793486"/>
                    <a:pt x="854747" y="707723"/>
                    <a:pt x="940668" y="635626"/>
                  </a:cubicBezTo>
                  <a:cubicBezTo>
                    <a:pt x="1026589" y="563524"/>
                    <a:pt x="1122072" y="513661"/>
                    <a:pt x="1224746" y="486826"/>
                  </a:cubicBezTo>
                  <a:cubicBezTo>
                    <a:pt x="1326812" y="459999"/>
                    <a:pt x="1434277" y="456708"/>
                    <a:pt x="1544720" y="477450"/>
                  </a:cubicBezTo>
                  <a:lnTo>
                    <a:pt x="1616328" y="490768"/>
                  </a:lnTo>
                  <a:cubicBezTo>
                    <a:pt x="1705188" y="507377"/>
                    <a:pt x="1791608" y="500489"/>
                    <a:pt x="1869633" y="472169"/>
                  </a:cubicBezTo>
                  <a:cubicBezTo>
                    <a:pt x="1947471" y="443849"/>
                    <a:pt x="2018079" y="393486"/>
                    <a:pt x="2075373" y="323723"/>
                  </a:cubicBezTo>
                  <a:lnTo>
                    <a:pt x="2121635" y="267275"/>
                  </a:lnTo>
                  <a:cubicBezTo>
                    <a:pt x="2193086" y="180210"/>
                    <a:pt x="2277664" y="113548"/>
                    <a:pt x="2372951" y="68618"/>
                  </a:cubicBezTo>
                  <a:cubicBezTo>
                    <a:pt x="2468748" y="23344"/>
                    <a:pt x="2573910" y="0"/>
                    <a:pt x="2686000" y="0"/>
                  </a:cubicBezTo>
                  <a:cubicBezTo>
                    <a:pt x="2798088" y="0"/>
                    <a:pt x="2903261" y="23191"/>
                    <a:pt x="2999048" y="68618"/>
                  </a:cubicBezTo>
                  <a:cubicBezTo>
                    <a:pt x="3094344" y="113700"/>
                    <a:pt x="3178952" y="180364"/>
                    <a:pt x="3250364" y="267275"/>
                  </a:cubicBezTo>
                  <a:close/>
                  <a:moveTo>
                    <a:pt x="1896340" y="2654545"/>
                  </a:moveTo>
                  <a:cubicBezTo>
                    <a:pt x="1854545" y="2599094"/>
                    <a:pt x="1865567" y="2520256"/>
                    <a:pt x="1920872" y="2478422"/>
                  </a:cubicBezTo>
                  <a:cubicBezTo>
                    <a:pt x="1976324" y="2436627"/>
                    <a:pt x="2055161" y="2447649"/>
                    <a:pt x="2096995" y="2503111"/>
                  </a:cubicBezTo>
                  <a:lnTo>
                    <a:pt x="2524935" y="3070797"/>
                  </a:lnTo>
                  <a:lnTo>
                    <a:pt x="3271702" y="1956381"/>
                  </a:lnTo>
                  <a:cubicBezTo>
                    <a:pt x="3310205" y="1898784"/>
                    <a:pt x="3388239" y="1883471"/>
                    <a:pt x="3445827" y="1921974"/>
                  </a:cubicBezTo>
                  <a:cubicBezTo>
                    <a:pt x="3503424" y="1960476"/>
                    <a:pt x="3518727" y="2038511"/>
                    <a:pt x="3480234" y="2096098"/>
                  </a:cubicBezTo>
                  <a:lnTo>
                    <a:pt x="2639669" y="3350623"/>
                  </a:lnTo>
                  <a:cubicBezTo>
                    <a:pt x="2631439" y="3364623"/>
                    <a:pt x="2620418" y="3377447"/>
                    <a:pt x="2606750" y="3387822"/>
                  </a:cubicBezTo>
                  <a:cubicBezTo>
                    <a:pt x="2551298" y="3429607"/>
                    <a:pt x="2472461" y="3418585"/>
                    <a:pt x="2430627" y="3363290"/>
                  </a:cubicBezTo>
                  <a:lnTo>
                    <a:pt x="1896340" y="2654722"/>
                  </a:lnTo>
                  <a:close/>
                  <a:moveTo>
                    <a:pt x="2686391" y="1073580"/>
                  </a:moveTo>
                  <a:cubicBezTo>
                    <a:pt x="3123550" y="1073580"/>
                    <a:pt x="3519227" y="1250850"/>
                    <a:pt x="3805813" y="1537220"/>
                  </a:cubicBezTo>
                  <a:cubicBezTo>
                    <a:pt x="4092399" y="1823591"/>
                    <a:pt x="4269453" y="2219464"/>
                    <a:pt x="4269453" y="2656446"/>
                  </a:cubicBezTo>
                  <a:cubicBezTo>
                    <a:pt x="4269453" y="3093604"/>
                    <a:pt x="4092340" y="3489468"/>
                    <a:pt x="3805813" y="3775868"/>
                  </a:cubicBezTo>
                  <a:cubicBezTo>
                    <a:pt x="3519246" y="4062434"/>
                    <a:pt x="3123569" y="4239508"/>
                    <a:pt x="2686391" y="4239508"/>
                  </a:cubicBezTo>
                  <a:cubicBezTo>
                    <a:pt x="2249233" y="4239508"/>
                    <a:pt x="1853556" y="4062238"/>
                    <a:pt x="1566970" y="3775868"/>
                  </a:cubicBezTo>
                  <a:cubicBezTo>
                    <a:pt x="1280384" y="3489497"/>
                    <a:pt x="1103330" y="3093624"/>
                    <a:pt x="1103330" y="2656446"/>
                  </a:cubicBezTo>
                  <a:cubicBezTo>
                    <a:pt x="1103330" y="2219268"/>
                    <a:pt x="1280443" y="1823611"/>
                    <a:pt x="1566970" y="1537220"/>
                  </a:cubicBezTo>
                  <a:cubicBezTo>
                    <a:pt x="1853536" y="1250654"/>
                    <a:pt x="2249213" y="1073580"/>
                    <a:pt x="2686391" y="1073580"/>
                  </a:cubicBezTo>
                  <a:close/>
                  <a:moveTo>
                    <a:pt x="3627720" y="1715332"/>
                  </a:moveTo>
                  <a:cubicBezTo>
                    <a:pt x="3386926" y="1474538"/>
                    <a:pt x="3054127" y="1325396"/>
                    <a:pt x="2686391" y="1325396"/>
                  </a:cubicBezTo>
                  <a:cubicBezTo>
                    <a:pt x="2318842" y="1325396"/>
                    <a:pt x="1985895" y="1474538"/>
                    <a:pt x="1745062" y="1715332"/>
                  </a:cubicBezTo>
                  <a:cubicBezTo>
                    <a:pt x="1504111" y="1956127"/>
                    <a:pt x="1355126" y="2289112"/>
                    <a:pt x="1355126" y="2656662"/>
                  </a:cubicBezTo>
                  <a:cubicBezTo>
                    <a:pt x="1355126" y="3024211"/>
                    <a:pt x="1504072" y="3357157"/>
                    <a:pt x="1745062" y="3597991"/>
                  </a:cubicBezTo>
                  <a:cubicBezTo>
                    <a:pt x="1985856" y="3838785"/>
                    <a:pt x="2318656" y="3987927"/>
                    <a:pt x="2686391" y="3987927"/>
                  </a:cubicBezTo>
                  <a:cubicBezTo>
                    <a:pt x="3053941" y="3987927"/>
                    <a:pt x="3386887" y="3838981"/>
                    <a:pt x="3627720" y="3597991"/>
                  </a:cubicBezTo>
                  <a:cubicBezTo>
                    <a:pt x="3868672" y="3357040"/>
                    <a:pt x="4017657" y="3024211"/>
                    <a:pt x="4017657" y="2656662"/>
                  </a:cubicBezTo>
                  <a:cubicBezTo>
                    <a:pt x="4017657" y="2289112"/>
                    <a:pt x="3868711" y="1956166"/>
                    <a:pt x="3627720" y="1715332"/>
                  </a:cubicBezTo>
                  <a:close/>
                  <a:moveTo>
                    <a:pt x="3103152" y="483048"/>
                  </a:moveTo>
                  <a:lnTo>
                    <a:pt x="3056880" y="426752"/>
                  </a:lnTo>
                  <a:cubicBezTo>
                    <a:pt x="3009462" y="368965"/>
                    <a:pt x="2954010" y="325029"/>
                    <a:pt x="2892131" y="295755"/>
                  </a:cubicBezTo>
                  <a:cubicBezTo>
                    <a:pt x="2830752" y="266785"/>
                    <a:pt x="2761594" y="251820"/>
                    <a:pt x="2686391" y="251820"/>
                  </a:cubicBezTo>
                  <a:cubicBezTo>
                    <a:pt x="2611198" y="251820"/>
                    <a:pt x="2541883" y="266784"/>
                    <a:pt x="2480651" y="295755"/>
                  </a:cubicBezTo>
                  <a:cubicBezTo>
                    <a:pt x="2418773" y="325070"/>
                    <a:pt x="2363282" y="369004"/>
                    <a:pt x="2315903" y="426752"/>
                  </a:cubicBezTo>
                  <a:lnTo>
                    <a:pt x="2269640" y="483048"/>
                  </a:lnTo>
                  <a:cubicBezTo>
                    <a:pt x="2183073" y="588406"/>
                    <a:pt x="2075422" y="664599"/>
                    <a:pt x="1955593" y="708225"/>
                  </a:cubicBezTo>
                  <a:cubicBezTo>
                    <a:pt x="1835774" y="751853"/>
                    <a:pt x="1704424" y="762722"/>
                    <a:pt x="1570595" y="737540"/>
                  </a:cubicBezTo>
                  <a:lnTo>
                    <a:pt x="1498987" y="724222"/>
                  </a:lnTo>
                  <a:cubicBezTo>
                    <a:pt x="1425244" y="710406"/>
                    <a:pt x="1354323" y="712359"/>
                    <a:pt x="1288153" y="729657"/>
                  </a:cubicBezTo>
                  <a:cubicBezTo>
                    <a:pt x="1222639" y="746763"/>
                    <a:pt x="1160104" y="779867"/>
                    <a:pt x="1102507" y="828235"/>
                  </a:cubicBezTo>
                  <a:cubicBezTo>
                    <a:pt x="1045066" y="876456"/>
                    <a:pt x="1001626" y="932247"/>
                    <a:pt x="973302" y="993822"/>
                  </a:cubicBezTo>
                  <a:cubicBezTo>
                    <a:pt x="944675" y="1056053"/>
                    <a:pt x="930322" y="1125662"/>
                    <a:pt x="931165" y="1200708"/>
                  </a:cubicBezTo>
                  <a:lnTo>
                    <a:pt x="932007" y="1273619"/>
                  </a:lnTo>
                  <a:cubicBezTo>
                    <a:pt x="933496" y="1406458"/>
                    <a:pt x="901548" y="1531058"/>
                    <a:pt x="840502" y="1639826"/>
                  </a:cubicBezTo>
                  <a:lnTo>
                    <a:pt x="836220" y="1647713"/>
                  </a:lnTo>
                  <a:cubicBezTo>
                    <a:pt x="772343" y="1758312"/>
                    <a:pt x="678702" y="1851003"/>
                    <a:pt x="560029" y="1917976"/>
                  </a:cubicBezTo>
                  <a:lnTo>
                    <a:pt x="496495" y="1953677"/>
                  </a:lnTo>
                  <a:cubicBezTo>
                    <a:pt x="430824" y="1990720"/>
                    <a:pt x="377969" y="2037453"/>
                    <a:pt x="338819" y="2092601"/>
                  </a:cubicBezTo>
                  <a:cubicBezTo>
                    <a:pt x="299827" y="2147749"/>
                    <a:pt x="273149" y="2213262"/>
                    <a:pt x="259992" y="2287623"/>
                  </a:cubicBezTo>
                  <a:cubicBezTo>
                    <a:pt x="246824" y="2362022"/>
                    <a:pt x="249460" y="2432973"/>
                    <a:pt x="267408" y="2498301"/>
                  </a:cubicBezTo>
                  <a:cubicBezTo>
                    <a:pt x="285356" y="2563824"/>
                    <a:pt x="319078" y="2626006"/>
                    <a:pt x="367986" y="2683143"/>
                  </a:cubicBezTo>
                  <a:lnTo>
                    <a:pt x="415561" y="2738448"/>
                  </a:lnTo>
                  <a:cubicBezTo>
                    <a:pt x="504421" y="2841965"/>
                    <a:pt x="560715" y="2961294"/>
                    <a:pt x="582954" y="3086893"/>
                  </a:cubicBezTo>
                  <a:cubicBezTo>
                    <a:pt x="604998" y="3212150"/>
                    <a:pt x="592830" y="3343490"/>
                    <a:pt x="544755" y="3471206"/>
                  </a:cubicBezTo>
                  <a:lnTo>
                    <a:pt x="519077" y="3539365"/>
                  </a:lnTo>
                  <a:cubicBezTo>
                    <a:pt x="492899" y="3609169"/>
                    <a:pt x="482534" y="3679278"/>
                    <a:pt x="488314" y="3747897"/>
                  </a:cubicBezTo>
                  <a:cubicBezTo>
                    <a:pt x="493898" y="3816359"/>
                    <a:pt x="515482" y="3883675"/>
                    <a:pt x="552681" y="3948052"/>
                  </a:cubicBezTo>
                  <a:cubicBezTo>
                    <a:pt x="589881" y="4012566"/>
                    <a:pt x="637446" y="4064736"/>
                    <a:pt x="693741" y="4103778"/>
                  </a:cubicBezTo>
                  <a:cubicBezTo>
                    <a:pt x="749888" y="4142614"/>
                    <a:pt x="815705" y="4168645"/>
                    <a:pt x="889458" y="4180960"/>
                  </a:cubicBezTo>
                  <a:lnTo>
                    <a:pt x="961369" y="4192824"/>
                  </a:lnTo>
                  <a:cubicBezTo>
                    <a:pt x="1096158" y="4215064"/>
                    <a:pt x="1215977" y="4270173"/>
                    <a:pt x="1313606" y="4352145"/>
                  </a:cubicBezTo>
                  <a:cubicBezTo>
                    <a:pt x="1411195" y="4434128"/>
                    <a:pt x="1486437" y="4542582"/>
                    <a:pt x="1531857" y="4671621"/>
                  </a:cubicBezTo>
                  <a:lnTo>
                    <a:pt x="1556046" y="4740436"/>
                  </a:lnTo>
                  <a:cubicBezTo>
                    <a:pt x="1580578" y="4810240"/>
                    <a:pt x="1617768" y="4870473"/>
                    <a:pt x="1666146" y="4919351"/>
                  </a:cubicBezTo>
                  <a:cubicBezTo>
                    <a:pt x="1714515" y="4968219"/>
                    <a:pt x="1774297" y="5006105"/>
                    <a:pt x="1843916" y="5031440"/>
                  </a:cubicBezTo>
                  <a:cubicBezTo>
                    <a:pt x="1914524" y="5057118"/>
                    <a:pt x="1984828" y="5066837"/>
                    <a:pt x="2052790" y="5060410"/>
                  </a:cubicBezTo>
                  <a:cubicBezTo>
                    <a:pt x="2120254" y="5054169"/>
                    <a:pt x="2187276" y="5031783"/>
                    <a:pt x="2252104" y="4993437"/>
                  </a:cubicBezTo>
                  <a:lnTo>
                    <a:pt x="2314825" y="4956237"/>
                  </a:lnTo>
                  <a:cubicBezTo>
                    <a:pt x="2432351" y="4886776"/>
                    <a:pt x="2559411" y="4851878"/>
                    <a:pt x="2686813" y="4851878"/>
                  </a:cubicBezTo>
                  <a:cubicBezTo>
                    <a:pt x="2814215" y="4851878"/>
                    <a:pt x="2941274" y="4886589"/>
                    <a:pt x="3058800" y="4956237"/>
                  </a:cubicBezTo>
                  <a:lnTo>
                    <a:pt x="3121522" y="4993437"/>
                  </a:lnTo>
                  <a:cubicBezTo>
                    <a:pt x="3186388" y="5031783"/>
                    <a:pt x="3253362" y="5054169"/>
                    <a:pt x="3320835" y="5060410"/>
                  </a:cubicBezTo>
                  <a:cubicBezTo>
                    <a:pt x="3388807" y="5066837"/>
                    <a:pt x="3459102" y="5057118"/>
                    <a:pt x="3529710" y="5031440"/>
                  </a:cubicBezTo>
                  <a:cubicBezTo>
                    <a:pt x="3599514" y="5006105"/>
                    <a:pt x="3659258" y="4968219"/>
                    <a:pt x="3707479" y="4919351"/>
                  </a:cubicBezTo>
                  <a:cubicBezTo>
                    <a:pt x="3755857" y="4870473"/>
                    <a:pt x="3793057" y="4810397"/>
                    <a:pt x="3817579" y="4740436"/>
                  </a:cubicBezTo>
                  <a:lnTo>
                    <a:pt x="3841769" y="4671621"/>
                  </a:lnTo>
                  <a:cubicBezTo>
                    <a:pt x="3887198" y="4542729"/>
                    <a:pt x="3962244" y="4434118"/>
                    <a:pt x="4060019" y="4352145"/>
                  </a:cubicBezTo>
                  <a:cubicBezTo>
                    <a:pt x="4157609" y="4270173"/>
                    <a:pt x="4277281" y="4215025"/>
                    <a:pt x="4412109" y="4192824"/>
                  </a:cubicBezTo>
                  <a:lnTo>
                    <a:pt x="4484020" y="4180960"/>
                  </a:lnTo>
                  <a:cubicBezTo>
                    <a:pt x="4557763" y="4168792"/>
                    <a:pt x="4623590" y="4142771"/>
                    <a:pt x="4679738" y="4103778"/>
                  </a:cubicBezTo>
                  <a:cubicBezTo>
                    <a:pt x="4735689" y="4065079"/>
                    <a:pt x="4783254" y="4012576"/>
                    <a:pt x="4820797" y="3947563"/>
                  </a:cubicBezTo>
                  <a:lnTo>
                    <a:pt x="4821140" y="3947709"/>
                  </a:lnTo>
                  <a:cubicBezTo>
                    <a:pt x="4858183" y="3883342"/>
                    <a:pt x="4879580" y="3816212"/>
                    <a:pt x="4885164" y="3747897"/>
                  </a:cubicBezTo>
                  <a:cubicBezTo>
                    <a:pt x="4890759" y="3679278"/>
                    <a:pt x="4880569" y="3609130"/>
                    <a:pt x="4854402" y="3539365"/>
                  </a:cubicBezTo>
                  <a:lnTo>
                    <a:pt x="4828723" y="3471049"/>
                  </a:lnTo>
                  <a:cubicBezTo>
                    <a:pt x="4780648" y="3343343"/>
                    <a:pt x="4768324" y="3211973"/>
                    <a:pt x="4790524" y="3086746"/>
                  </a:cubicBezTo>
                  <a:cubicBezTo>
                    <a:pt x="4812764" y="2961137"/>
                    <a:pt x="4869058" y="2842004"/>
                    <a:pt x="4957918" y="2738291"/>
                  </a:cubicBezTo>
                  <a:lnTo>
                    <a:pt x="5005493" y="2682996"/>
                  </a:lnTo>
                  <a:cubicBezTo>
                    <a:pt x="5054547" y="2625898"/>
                    <a:pt x="5088112" y="2563667"/>
                    <a:pt x="5106070" y="2498153"/>
                  </a:cubicBezTo>
                  <a:cubicBezTo>
                    <a:pt x="5124018" y="2432826"/>
                    <a:pt x="5126468" y="2361875"/>
                    <a:pt x="5113486" y="2287476"/>
                  </a:cubicBezTo>
                  <a:cubicBezTo>
                    <a:pt x="5100329" y="2213076"/>
                    <a:pt x="5073808" y="2147563"/>
                    <a:pt x="5034659" y="2092454"/>
                  </a:cubicBezTo>
                  <a:cubicBezTo>
                    <a:pt x="4995656" y="2037306"/>
                    <a:pt x="4942654" y="1990583"/>
                    <a:pt x="4876984" y="1953530"/>
                  </a:cubicBezTo>
                  <a:lnTo>
                    <a:pt x="4813449" y="1917830"/>
                  </a:lnTo>
                  <a:cubicBezTo>
                    <a:pt x="4694923" y="1851160"/>
                    <a:pt x="4601283" y="1758166"/>
                    <a:pt x="4537258" y="1647056"/>
                  </a:cubicBezTo>
                  <a:cubicBezTo>
                    <a:pt x="4473576" y="1536623"/>
                    <a:pt x="4439972" y="1409407"/>
                    <a:pt x="4441471" y="1273589"/>
                  </a:cubicBezTo>
                  <a:lnTo>
                    <a:pt x="4442314" y="1200679"/>
                  </a:lnTo>
                  <a:cubicBezTo>
                    <a:pt x="4443157" y="1125633"/>
                    <a:pt x="4428803" y="1056014"/>
                    <a:pt x="4400176" y="993792"/>
                  </a:cubicBezTo>
                  <a:cubicBezTo>
                    <a:pt x="4371853" y="932217"/>
                    <a:pt x="4328569" y="876424"/>
                    <a:pt x="4270972" y="828202"/>
                  </a:cubicBezTo>
                  <a:cubicBezTo>
                    <a:pt x="4213374" y="779829"/>
                    <a:pt x="4150800" y="746725"/>
                    <a:pt x="4085325" y="729623"/>
                  </a:cubicBezTo>
                  <a:cubicBezTo>
                    <a:pt x="4019155" y="712325"/>
                    <a:pt x="3948391" y="710374"/>
                    <a:pt x="3874491" y="724189"/>
                  </a:cubicBezTo>
                  <a:lnTo>
                    <a:pt x="3802883" y="737507"/>
                  </a:lnTo>
                  <a:cubicBezTo>
                    <a:pt x="3669055" y="762689"/>
                    <a:pt x="3537714" y="751820"/>
                    <a:pt x="3417885" y="708192"/>
                  </a:cubicBezTo>
                  <a:cubicBezTo>
                    <a:pt x="3298056" y="664564"/>
                    <a:pt x="3190405" y="588373"/>
                    <a:pt x="3103838" y="483014"/>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7" name="Freeform: Shape 536">
              <a:extLst>
                <a:ext uri="{FF2B5EF4-FFF2-40B4-BE49-F238E27FC236}">
                  <a16:creationId xmlns:a16="http://schemas.microsoft.com/office/drawing/2014/main" id="{43DBB14A-FB09-0DE4-F834-BD5C7280B890}"/>
                </a:ext>
              </a:extLst>
            </p:cNvPr>
            <p:cNvSpPr/>
            <p:nvPr/>
          </p:nvSpPr>
          <p:spPr>
            <a:xfrm>
              <a:off x="8839661" y="3129646"/>
              <a:ext cx="285055" cy="281907"/>
            </a:xfrm>
            <a:custGeom>
              <a:avLst/>
              <a:gdLst>
                <a:gd name="connsiteX0" fmla="*/ 3250599 w 5372222"/>
                <a:gd name="connsiteY0" fmla="*/ 267471 h 5312911"/>
                <a:gd name="connsiteX1" fmla="*/ 3296871 w 5372222"/>
                <a:gd name="connsiteY1" fmla="*/ 323920 h 5312911"/>
                <a:gd name="connsiteX2" fmla="*/ 3502611 w 5372222"/>
                <a:gd name="connsiteY2" fmla="*/ 472366 h 5312911"/>
                <a:gd name="connsiteX3" fmla="*/ 3755916 w 5372222"/>
                <a:gd name="connsiteY3" fmla="*/ 490965 h 5312911"/>
                <a:gd name="connsiteX4" fmla="*/ 3827514 w 5372222"/>
                <a:gd name="connsiteY4" fmla="*/ 477647 h 5312911"/>
                <a:gd name="connsiteX5" fmla="*/ 4147488 w 5372222"/>
                <a:gd name="connsiteY5" fmla="*/ 487022 h 5312911"/>
                <a:gd name="connsiteX6" fmla="*/ 4431567 w 5372222"/>
                <a:gd name="connsiteY6" fmla="*/ 635821 h 5312911"/>
                <a:gd name="connsiteX7" fmla="*/ 4627588 w 5372222"/>
                <a:gd name="connsiteY7" fmla="*/ 889969 h 5312911"/>
                <a:gd name="connsiteX8" fmla="*/ 4692268 w 5372222"/>
                <a:gd name="connsiteY8" fmla="*/ 1203020 h 5312911"/>
                <a:gd name="connsiteX9" fmla="*/ 4691426 w 5372222"/>
                <a:gd name="connsiteY9" fmla="*/ 1275921 h 5312911"/>
                <a:gd name="connsiteX10" fmla="*/ 4753804 w 5372222"/>
                <a:gd name="connsiteY10" fmla="*/ 1522652 h 5312911"/>
                <a:gd name="connsiteX11" fmla="*/ 4935512 w 5372222"/>
                <a:gd name="connsiteY11" fmla="*/ 1698922 h 5312911"/>
                <a:gd name="connsiteX12" fmla="*/ 4999046 w 5372222"/>
                <a:gd name="connsiteY12" fmla="*/ 1734633 h 5312911"/>
                <a:gd name="connsiteX13" fmla="*/ 5238352 w 5372222"/>
                <a:gd name="connsiteY13" fmla="*/ 1948259 h 5312911"/>
                <a:gd name="connsiteX14" fmla="*/ 5360473 w 5372222"/>
                <a:gd name="connsiteY14" fmla="*/ 2244545 h 5312911"/>
                <a:gd name="connsiteX15" fmla="*/ 5347149 w 5372222"/>
                <a:gd name="connsiteY15" fmla="*/ 2564372 h 5312911"/>
                <a:gd name="connsiteX16" fmla="*/ 5195410 w 5372222"/>
                <a:gd name="connsiteY16" fmla="*/ 2846648 h 5312911"/>
                <a:gd name="connsiteX17" fmla="*/ 5147845 w 5372222"/>
                <a:gd name="connsiteY17" fmla="*/ 2901943 h 5312911"/>
                <a:gd name="connsiteX18" fmla="*/ 5037549 w 5372222"/>
                <a:gd name="connsiteY18" fmla="*/ 3130226 h 5312911"/>
                <a:gd name="connsiteX19" fmla="*/ 5062884 w 5372222"/>
                <a:gd name="connsiteY19" fmla="*/ 3382698 h 5312911"/>
                <a:gd name="connsiteX20" fmla="*/ 5088563 w 5372222"/>
                <a:gd name="connsiteY20" fmla="*/ 3450857 h 5312911"/>
                <a:gd name="connsiteX21" fmla="*/ 5135138 w 5372222"/>
                <a:gd name="connsiteY21" fmla="*/ 3767540 h 5312911"/>
                <a:gd name="connsiteX22" fmla="*/ 5037353 w 5372222"/>
                <a:gd name="connsiteY22" fmla="*/ 4073015 h 5312911"/>
                <a:gd name="connsiteX23" fmla="*/ 5037196 w 5372222"/>
                <a:gd name="connsiteY23" fmla="*/ 4073358 h 5312911"/>
                <a:gd name="connsiteX24" fmla="*/ 5037353 w 5372222"/>
                <a:gd name="connsiteY24" fmla="*/ 4073515 h 5312911"/>
                <a:gd name="connsiteX25" fmla="*/ 4821591 w 5372222"/>
                <a:gd name="connsiteY25" fmla="*/ 4310370 h 5312911"/>
                <a:gd name="connsiteX26" fmla="*/ 4523659 w 5372222"/>
                <a:gd name="connsiteY26" fmla="*/ 4428700 h 5312911"/>
                <a:gd name="connsiteX27" fmla="*/ 4451749 w 5372222"/>
                <a:gd name="connsiteY27" fmla="*/ 4440565 h 5312911"/>
                <a:gd name="connsiteX28" fmla="*/ 4220673 w 5372222"/>
                <a:gd name="connsiteY28" fmla="*/ 4544738 h 5312911"/>
                <a:gd name="connsiteX29" fmla="*/ 4078115 w 5372222"/>
                <a:gd name="connsiteY29" fmla="*/ 4753926 h 5312911"/>
                <a:gd name="connsiteX30" fmla="*/ 4053926 w 5372222"/>
                <a:gd name="connsiteY30" fmla="*/ 4822731 h 5312911"/>
                <a:gd name="connsiteX31" fmla="*/ 3885885 w 5372222"/>
                <a:gd name="connsiteY31" fmla="*/ 5096131 h 5312911"/>
                <a:gd name="connsiteX32" fmla="*/ 3614622 w 5372222"/>
                <a:gd name="connsiteY32" fmla="*/ 5267160 h 5312911"/>
                <a:gd name="connsiteX33" fmla="*/ 3297439 w 5372222"/>
                <a:gd name="connsiteY33" fmla="*/ 5309944 h 5312911"/>
                <a:gd name="connsiteX34" fmla="*/ 2992925 w 5372222"/>
                <a:gd name="connsiteY34" fmla="*/ 5209366 h 5312911"/>
                <a:gd name="connsiteX35" fmla="*/ 2930203 w 5372222"/>
                <a:gd name="connsiteY35" fmla="*/ 5172323 h 5312911"/>
                <a:gd name="connsiteX36" fmla="*/ 2686117 w 5372222"/>
                <a:gd name="connsiteY36" fmla="*/ 5103361 h 5312911"/>
                <a:gd name="connsiteX37" fmla="*/ 2442031 w 5372222"/>
                <a:gd name="connsiteY37" fmla="*/ 5172323 h 5312911"/>
                <a:gd name="connsiteX38" fmla="*/ 2379310 w 5372222"/>
                <a:gd name="connsiteY38" fmla="*/ 5209366 h 5312911"/>
                <a:gd name="connsiteX39" fmla="*/ 2074795 w 5372222"/>
                <a:gd name="connsiteY39" fmla="*/ 5309944 h 5312911"/>
                <a:gd name="connsiteX40" fmla="*/ 1757612 w 5372222"/>
                <a:gd name="connsiteY40" fmla="*/ 5267160 h 5312911"/>
                <a:gd name="connsiteX41" fmla="*/ 1486349 w 5372222"/>
                <a:gd name="connsiteY41" fmla="*/ 5096131 h 5312911"/>
                <a:gd name="connsiteX42" fmla="*/ 1318308 w 5372222"/>
                <a:gd name="connsiteY42" fmla="*/ 4822731 h 5312911"/>
                <a:gd name="connsiteX43" fmla="*/ 1294119 w 5372222"/>
                <a:gd name="connsiteY43" fmla="*/ 4753926 h 5312911"/>
                <a:gd name="connsiteX44" fmla="*/ 1151561 w 5372222"/>
                <a:gd name="connsiteY44" fmla="*/ 4544738 h 5312911"/>
                <a:gd name="connsiteX45" fmla="*/ 920486 w 5372222"/>
                <a:gd name="connsiteY45" fmla="*/ 4440565 h 5312911"/>
                <a:gd name="connsiteX46" fmla="*/ 848575 w 5372222"/>
                <a:gd name="connsiteY46" fmla="*/ 4428700 h 5312911"/>
                <a:gd name="connsiteX47" fmla="*/ 550644 w 5372222"/>
                <a:gd name="connsiteY47" fmla="*/ 4310370 h 5312911"/>
                <a:gd name="connsiteX48" fmla="*/ 334881 w 5372222"/>
                <a:gd name="connsiteY48" fmla="*/ 4073015 h 5312911"/>
                <a:gd name="connsiteX49" fmla="*/ 237106 w 5372222"/>
                <a:gd name="connsiteY49" fmla="*/ 3767540 h 5312911"/>
                <a:gd name="connsiteX50" fmla="*/ 283681 w 5372222"/>
                <a:gd name="connsiteY50" fmla="*/ 3450857 h 5312911"/>
                <a:gd name="connsiteX51" fmla="*/ 309360 w 5372222"/>
                <a:gd name="connsiteY51" fmla="*/ 3382698 h 5312911"/>
                <a:gd name="connsiteX52" fmla="*/ 334695 w 5372222"/>
                <a:gd name="connsiteY52" fmla="*/ 3130226 h 5312911"/>
                <a:gd name="connsiteX53" fmla="*/ 224396 w 5372222"/>
                <a:gd name="connsiteY53" fmla="*/ 2901943 h 5312911"/>
                <a:gd name="connsiteX54" fmla="*/ 176826 w 5372222"/>
                <a:gd name="connsiteY54" fmla="*/ 2846638 h 5312911"/>
                <a:gd name="connsiteX55" fmla="*/ 25088 w 5372222"/>
                <a:gd name="connsiteY55" fmla="*/ 2564363 h 5312911"/>
                <a:gd name="connsiteX56" fmla="*/ 11769 w 5372222"/>
                <a:gd name="connsiteY56" fmla="*/ 2244535 h 5312911"/>
                <a:gd name="connsiteX57" fmla="*/ 133891 w 5372222"/>
                <a:gd name="connsiteY57" fmla="*/ 1948093 h 5312911"/>
                <a:gd name="connsiteX58" fmla="*/ 373198 w 5372222"/>
                <a:gd name="connsiteY58" fmla="*/ 1734466 h 5312911"/>
                <a:gd name="connsiteX59" fmla="*/ 436722 w 5372222"/>
                <a:gd name="connsiteY59" fmla="*/ 1698765 h 5312911"/>
                <a:gd name="connsiteX60" fmla="*/ 618430 w 5372222"/>
                <a:gd name="connsiteY60" fmla="*/ 1521996 h 5312911"/>
                <a:gd name="connsiteX61" fmla="*/ 622065 w 5372222"/>
                <a:gd name="connsiteY61" fmla="*/ 1516215 h 5312911"/>
                <a:gd name="connsiteX62" fmla="*/ 680808 w 5372222"/>
                <a:gd name="connsiteY62" fmla="*/ 1275725 h 5312911"/>
                <a:gd name="connsiteX63" fmla="*/ 679966 w 5372222"/>
                <a:gd name="connsiteY63" fmla="*/ 1202824 h 5312911"/>
                <a:gd name="connsiteX64" fmla="*/ 744647 w 5372222"/>
                <a:gd name="connsiteY64" fmla="*/ 889773 h 5312911"/>
                <a:gd name="connsiteX65" fmla="*/ 940668 w 5372222"/>
                <a:gd name="connsiteY65" fmla="*/ 635626 h 5312911"/>
                <a:gd name="connsiteX66" fmla="*/ 1224746 w 5372222"/>
                <a:gd name="connsiteY66" fmla="*/ 486826 h 5312911"/>
                <a:gd name="connsiteX67" fmla="*/ 1544720 w 5372222"/>
                <a:gd name="connsiteY67" fmla="*/ 477450 h 5312911"/>
                <a:gd name="connsiteX68" fmla="*/ 1616328 w 5372222"/>
                <a:gd name="connsiteY68" fmla="*/ 490768 h 5312911"/>
                <a:gd name="connsiteX69" fmla="*/ 1869633 w 5372222"/>
                <a:gd name="connsiteY69" fmla="*/ 472169 h 5312911"/>
                <a:gd name="connsiteX70" fmla="*/ 2075373 w 5372222"/>
                <a:gd name="connsiteY70" fmla="*/ 323723 h 5312911"/>
                <a:gd name="connsiteX71" fmla="*/ 2121635 w 5372222"/>
                <a:gd name="connsiteY71" fmla="*/ 267275 h 5312911"/>
                <a:gd name="connsiteX72" fmla="*/ 2372951 w 5372222"/>
                <a:gd name="connsiteY72" fmla="*/ 68618 h 5312911"/>
                <a:gd name="connsiteX73" fmla="*/ 2686000 w 5372222"/>
                <a:gd name="connsiteY73" fmla="*/ 0 h 5312911"/>
                <a:gd name="connsiteX74" fmla="*/ 2999048 w 5372222"/>
                <a:gd name="connsiteY74" fmla="*/ 68618 h 5312911"/>
                <a:gd name="connsiteX75" fmla="*/ 3250364 w 5372222"/>
                <a:gd name="connsiteY75" fmla="*/ 267275 h 5312911"/>
                <a:gd name="connsiteX76" fmla="*/ 1896340 w 5372222"/>
                <a:gd name="connsiteY76" fmla="*/ 2654545 h 5312911"/>
                <a:gd name="connsiteX77" fmla="*/ 1920872 w 5372222"/>
                <a:gd name="connsiteY77" fmla="*/ 2478422 h 5312911"/>
                <a:gd name="connsiteX78" fmla="*/ 2096995 w 5372222"/>
                <a:gd name="connsiteY78" fmla="*/ 2503111 h 5312911"/>
                <a:gd name="connsiteX79" fmla="*/ 2524935 w 5372222"/>
                <a:gd name="connsiteY79" fmla="*/ 3070797 h 5312911"/>
                <a:gd name="connsiteX80" fmla="*/ 3271702 w 5372222"/>
                <a:gd name="connsiteY80" fmla="*/ 1956381 h 5312911"/>
                <a:gd name="connsiteX81" fmla="*/ 3445827 w 5372222"/>
                <a:gd name="connsiteY81" fmla="*/ 1921974 h 5312911"/>
                <a:gd name="connsiteX82" fmla="*/ 3480234 w 5372222"/>
                <a:gd name="connsiteY82" fmla="*/ 2096098 h 5312911"/>
                <a:gd name="connsiteX83" fmla="*/ 2639669 w 5372222"/>
                <a:gd name="connsiteY83" fmla="*/ 3350623 h 5312911"/>
                <a:gd name="connsiteX84" fmla="*/ 2606750 w 5372222"/>
                <a:gd name="connsiteY84" fmla="*/ 3387822 h 5312911"/>
                <a:gd name="connsiteX85" fmla="*/ 2430627 w 5372222"/>
                <a:gd name="connsiteY85" fmla="*/ 3363290 h 5312911"/>
                <a:gd name="connsiteX86" fmla="*/ 1896340 w 5372222"/>
                <a:gd name="connsiteY86" fmla="*/ 2654722 h 5312911"/>
                <a:gd name="connsiteX87" fmla="*/ 2686391 w 5372222"/>
                <a:gd name="connsiteY87" fmla="*/ 1073580 h 5312911"/>
                <a:gd name="connsiteX88" fmla="*/ 3805813 w 5372222"/>
                <a:gd name="connsiteY88" fmla="*/ 1537220 h 5312911"/>
                <a:gd name="connsiteX89" fmla="*/ 4269453 w 5372222"/>
                <a:gd name="connsiteY89" fmla="*/ 2656446 h 5312911"/>
                <a:gd name="connsiteX90" fmla="*/ 3805813 w 5372222"/>
                <a:gd name="connsiteY90" fmla="*/ 3775868 h 5312911"/>
                <a:gd name="connsiteX91" fmla="*/ 2686391 w 5372222"/>
                <a:gd name="connsiteY91" fmla="*/ 4239508 h 5312911"/>
                <a:gd name="connsiteX92" fmla="*/ 1566970 w 5372222"/>
                <a:gd name="connsiteY92" fmla="*/ 3775868 h 5312911"/>
                <a:gd name="connsiteX93" fmla="*/ 1103330 w 5372222"/>
                <a:gd name="connsiteY93" fmla="*/ 2656446 h 5312911"/>
                <a:gd name="connsiteX94" fmla="*/ 1566970 w 5372222"/>
                <a:gd name="connsiteY94" fmla="*/ 1537220 h 5312911"/>
                <a:gd name="connsiteX95" fmla="*/ 2686391 w 5372222"/>
                <a:gd name="connsiteY95" fmla="*/ 1073580 h 5312911"/>
                <a:gd name="connsiteX96" fmla="*/ 3627720 w 5372222"/>
                <a:gd name="connsiteY96" fmla="*/ 1715332 h 5312911"/>
                <a:gd name="connsiteX97" fmla="*/ 2686391 w 5372222"/>
                <a:gd name="connsiteY97" fmla="*/ 1325396 h 5312911"/>
                <a:gd name="connsiteX98" fmla="*/ 1745062 w 5372222"/>
                <a:gd name="connsiteY98" fmla="*/ 1715332 h 5312911"/>
                <a:gd name="connsiteX99" fmla="*/ 1355126 w 5372222"/>
                <a:gd name="connsiteY99" fmla="*/ 2656662 h 5312911"/>
                <a:gd name="connsiteX100" fmla="*/ 1745062 w 5372222"/>
                <a:gd name="connsiteY100" fmla="*/ 3597991 h 5312911"/>
                <a:gd name="connsiteX101" fmla="*/ 2686391 w 5372222"/>
                <a:gd name="connsiteY101" fmla="*/ 3987927 h 5312911"/>
                <a:gd name="connsiteX102" fmla="*/ 3627720 w 5372222"/>
                <a:gd name="connsiteY102" fmla="*/ 3597991 h 5312911"/>
                <a:gd name="connsiteX103" fmla="*/ 4017657 w 5372222"/>
                <a:gd name="connsiteY103" fmla="*/ 2656662 h 5312911"/>
                <a:gd name="connsiteX104" fmla="*/ 3627720 w 5372222"/>
                <a:gd name="connsiteY104" fmla="*/ 1715332 h 5312911"/>
                <a:gd name="connsiteX105" fmla="*/ 3103152 w 5372222"/>
                <a:gd name="connsiteY105" fmla="*/ 483048 h 5312911"/>
                <a:gd name="connsiteX106" fmla="*/ 3056880 w 5372222"/>
                <a:gd name="connsiteY106" fmla="*/ 426752 h 5312911"/>
                <a:gd name="connsiteX107" fmla="*/ 2892131 w 5372222"/>
                <a:gd name="connsiteY107" fmla="*/ 295755 h 5312911"/>
                <a:gd name="connsiteX108" fmla="*/ 2686391 w 5372222"/>
                <a:gd name="connsiteY108" fmla="*/ 251820 h 5312911"/>
                <a:gd name="connsiteX109" fmla="*/ 2480651 w 5372222"/>
                <a:gd name="connsiteY109" fmla="*/ 295755 h 5312911"/>
                <a:gd name="connsiteX110" fmla="*/ 2315903 w 5372222"/>
                <a:gd name="connsiteY110" fmla="*/ 426752 h 5312911"/>
                <a:gd name="connsiteX111" fmla="*/ 2269640 w 5372222"/>
                <a:gd name="connsiteY111" fmla="*/ 483048 h 5312911"/>
                <a:gd name="connsiteX112" fmla="*/ 1955593 w 5372222"/>
                <a:gd name="connsiteY112" fmla="*/ 708225 h 5312911"/>
                <a:gd name="connsiteX113" fmla="*/ 1570595 w 5372222"/>
                <a:gd name="connsiteY113" fmla="*/ 737540 h 5312911"/>
                <a:gd name="connsiteX114" fmla="*/ 1498987 w 5372222"/>
                <a:gd name="connsiteY114" fmla="*/ 724222 h 5312911"/>
                <a:gd name="connsiteX115" fmla="*/ 1288153 w 5372222"/>
                <a:gd name="connsiteY115" fmla="*/ 729657 h 5312911"/>
                <a:gd name="connsiteX116" fmla="*/ 1102507 w 5372222"/>
                <a:gd name="connsiteY116" fmla="*/ 828235 h 5312911"/>
                <a:gd name="connsiteX117" fmla="*/ 973302 w 5372222"/>
                <a:gd name="connsiteY117" fmla="*/ 993822 h 5312911"/>
                <a:gd name="connsiteX118" fmla="*/ 931165 w 5372222"/>
                <a:gd name="connsiteY118" fmla="*/ 1200708 h 5312911"/>
                <a:gd name="connsiteX119" fmla="*/ 932007 w 5372222"/>
                <a:gd name="connsiteY119" fmla="*/ 1273619 h 5312911"/>
                <a:gd name="connsiteX120" fmla="*/ 840502 w 5372222"/>
                <a:gd name="connsiteY120" fmla="*/ 1639826 h 5312911"/>
                <a:gd name="connsiteX121" fmla="*/ 836220 w 5372222"/>
                <a:gd name="connsiteY121" fmla="*/ 1647713 h 5312911"/>
                <a:gd name="connsiteX122" fmla="*/ 560029 w 5372222"/>
                <a:gd name="connsiteY122" fmla="*/ 1917976 h 5312911"/>
                <a:gd name="connsiteX123" fmla="*/ 496495 w 5372222"/>
                <a:gd name="connsiteY123" fmla="*/ 1953677 h 5312911"/>
                <a:gd name="connsiteX124" fmla="*/ 338819 w 5372222"/>
                <a:gd name="connsiteY124" fmla="*/ 2092601 h 5312911"/>
                <a:gd name="connsiteX125" fmla="*/ 259992 w 5372222"/>
                <a:gd name="connsiteY125" fmla="*/ 2287623 h 5312911"/>
                <a:gd name="connsiteX126" fmla="*/ 267408 w 5372222"/>
                <a:gd name="connsiteY126" fmla="*/ 2498301 h 5312911"/>
                <a:gd name="connsiteX127" fmla="*/ 367986 w 5372222"/>
                <a:gd name="connsiteY127" fmla="*/ 2683143 h 5312911"/>
                <a:gd name="connsiteX128" fmla="*/ 415561 w 5372222"/>
                <a:gd name="connsiteY128" fmla="*/ 2738448 h 5312911"/>
                <a:gd name="connsiteX129" fmla="*/ 582954 w 5372222"/>
                <a:gd name="connsiteY129" fmla="*/ 3086893 h 5312911"/>
                <a:gd name="connsiteX130" fmla="*/ 544755 w 5372222"/>
                <a:gd name="connsiteY130" fmla="*/ 3471206 h 5312911"/>
                <a:gd name="connsiteX131" fmla="*/ 519077 w 5372222"/>
                <a:gd name="connsiteY131" fmla="*/ 3539365 h 5312911"/>
                <a:gd name="connsiteX132" fmla="*/ 488314 w 5372222"/>
                <a:gd name="connsiteY132" fmla="*/ 3747897 h 5312911"/>
                <a:gd name="connsiteX133" fmla="*/ 552681 w 5372222"/>
                <a:gd name="connsiteY133" fmla="*/ 3948052 h 5312911"/>
                <a:gd name="connsiteX134" fmla="*/ 693741 w 5372222"/>
                <a:gd name="connsiteY134" fmla="*/ 4103778 h 5312911"/>
                <a:gd name="connsiteX135" fmla="*/ 889458 w 5372222"/>
                <a:gd name="connsiteY135" fmla="*/ 4180960 h 5312911"/>
                <a:gd name="connsiteX136" fmla="*/ 961369 w 5372222"/>
                <a:gd name="connsiteY136" fmla="*/ 4192824 h 5312911"/>
                <a:gd name="connsiteX137" fmla="*/ 1313606 w 5372222"/>
                <a:gd name="connsiteY137" fmla="*/ 4352145 h 5312911"/>
                <a:gd name="connsiteX138" fmla="*/ 1531857 w 5372222"/>
                <a:gd name="connsiteY138" fmla="*/ 4671621 h 5312911"/>
                <a:gd name="connsiteX139" fmla="*/ 1556046 w 5372222"/>
                <a:gd name="connsiteY139" fmla="*/ 4740436 h 5312911"/>
                <a:gd name="connsiteX140" fmla="*/ 1666146 w 5372222"/>
                <a:gd name="connsiteY140" fmla="*/ 4919351 h 5312911"/>
                <a:gd name="connsiteX141" fmla="*/ 1843916 w 5372222"/>
                <a:gd name="connsiteY141" fmla="*/ 5031440 h 5312911"/>
                <a:gd name="connsiteX142" fmla="*/ 2052790 w 5372222"/>
                <a:gd name="connsiteY142" fmla="*/ 5060410 h 5312911"/>
                <a:gd name="connsiteX143" fmla="*/ 2252104 w 5372222"/>
                <a:gd name="connsiteY143" fmla="*/ 4993437 h 5312911"/>
                <a:gd name="connsiteX144" fmla="*/ 2314825 w 5372222"/>
                <a:gd name="connsiteY144" fmla="*/ 4956237 h 5312911"/>
                <a:gd name="connsiteX145" fmla="*/ 2686813 w 5372222"/>
                <a:gd name="connsiteY145" fmla="*/ 4851878 h 5312911"/>
                <a:gd name="connsiteX146" fmla="*/ 3058800 w 5372222"/>
                <a:gd name="connsiteY146" fmla="*/ 4956237 h 5312911"/>
                <a:gd name="connsiteX147" fmla="*/ 3121522 w 5372222"/>
                <a:gd name="connsiteY147" fmla="*/ 4993437 h 5312911"/>
                <a:gd name="connsiteX148" fmla="*/ 3320835 w 5372222"/>
                <a:gd name="connsiteY148" fmla="*/ 5060410 h 5312911"/>
                <a:gd name="connsiteX149" fmla="*/ 3529710 w 5372222"/>
                <a:gd name="connsiteY149" fmla="*/ 5031440 h 5312911"/>
                <a:gd name="connsiteX150" fmla="*/ 3707479 w 5372222"/>
                <a:gd name="connsiteY150" fmla="*/ 4919351 h 5312911"/>
                <a:gd name="connsiteX151" fmla="*/ 3817579 w 5372222"/>
                <a:gd name="connsiteY151" fmla="*/ 4740436 h 5312911"/>
                <a:gd name="connsiteX152" fmla="*/ 3841769 w 5372222"/>
                <a:gd name="connsiteY152" fmla="*/ 4671621 h 5312911"/>
                <a:gd name="connsiteX153" fmla="*/ 4060019 w 5372222"/>
                <a:gd name="connsiteY153" fmla="*/ 4352145 h 5312911"/>
                <a:gd name="connsiteX154" fmla="*/ 4412109 w 5372222"/>
                <a:gd name="connsiteY154" fmla="*/ 4192824 h 5312911"/>
                <a:gd name="connsiteX155" fmla="*/ 4484020 w 5372222"/>
                <a:gd name="connsiteY155" fmla="*/ 4180960 h 5312911"/>
                <a:gd name="connsiteX156" fmla="*/ 4679738 w 5372222"/>
                <a:gd name="connsiteY156" fmla="*/ 4103778 h 5312911"/>
                <a:gd name="connsiteX157" fmla="*/ 4820797 w 5372222"/>
                <a:gd name="connsiteY157" fmla="*/ 3947563 h 5312911"/>
                <a:gd name="connsiteX158" fmla="*/ 4821140 w 5372222"/>
                <a:gd name="connsiteY158" fmla="*/ 3947709 h 5312911"/>
                <a:gd name="connsiteX159" fmla="*/ 4885164 w 5372222"/>
                <a:gd name="connsiteY159" fmla="*/ 3747897 h 5312911"/>
                <a:gd name="connsiteX160" fmla="*/ 4854402 w 5372222"/>
                <a:gd name="connsiteY160" fmla="*/ 3539365 h 5312911"/>
                <a:gd name="connsiteX161" fmla="*/ 4828723 w 5372222"/>
                <a:gd name="connsiteY161" fmla="*/ 3471049 h 5312911"/>
                <a:gd name="connsiteX162" fmla="*/ 4790524 w 5372222"/>
                <a:gd name="connsiteY162" fmla="*/ 3086746 h 5312911"/>
                <a:gd name="connsiteX163" fmla="*/ 4957918 w 5372222"/>
                <a:gd name="connsiteY163" fmla="*/ 2738291 h 5312911"/>
                <a:gd name="connsiteX164" fmla="*/ 5005493 w 5372222"/>
                <a:gd name="connsiteY164" fmla="*/ 2682996 h 5312911"/>
                <a:gd name="connsiteX165" fmla="*/ 5106070 w 5372222"/>
                <a:gd name="connsiteY165" fmla="*/ 2498153 h 5312911"/>
                <a:gd name="connsiteX166" fmla="*/ 5113486 w 5372222"/>
                <a:gd name="connsiteY166" fmla="*/ 2287476 h 5312911"/>
                <a:gd name="connsiteX167" fmla="*/ 5034659 w 5372222"/>
                <a:gd name="connsiteY167" fmla="*/ 2092454 h 5312911"/>
                <a:gd name="connsiteX168" fmla="*/ 4876984 w 5372222"/>
                <a:gd name="connsiteY168" fmla="*/ 1953530 h 5312911"/>
                <a:gd name="connsiteX169" fmla="*/ 4813449 w 5372222"/>
                <a:gd name="connsiteY169" fmla="*/ 1917830 h 5312911"/>
                <a:gd name="connsiteX170" fmla="*/ 4537258 w 5372222"/>
                <a:gd name="connsiteY170" fmla="*/ 1647056 h 5312911"/>
                <a:gd name="connsiteX171" fmla="*/ 4441471 w 5372222"/>
                <a:gd name="connsiteY171" fmla="*/ 1273589 h 5312911"/>
                <a:gd name="connsiteX172" fmla="*/ 4442314 w 5372222"/>
                <a:gd name="connsiteY172" fmla="*/ 1200679 h 5312911"/>
                <a:gd name="connsiteX173" fmla="*/ 4400176 w 5372222"/>
                <a:gd name="connsiteY173" fmla="*/ 993792 h 5312911"/>
                <a:gd name="connsiteX174" fmla="*/ 4270972 w 5372222"/>
                <a:gd name="connsiteY174" fmla="*/ 828202 h 5312911"/>
                <a:gd name="connsiteX175" fmla="*/ 4085325 w 5372222"/>
                <a:gd name="connsiteY175" fmla="*/ 729623 h 5312911"/>
                <a:gd name="connsiteX176" fmla="*/ 3874491 w 5372222"/>
                <a:gd name="connsiteY176" fmla="*/ 724189 h 5312911"/>
                <a:gd name="connsiteX177" fmla="*/ 3802883 w 5372222"/>
                <a:gd name="connsiteY177" fmla="*/ 737507 h 5312911"/>
                <a:gd name="connsiteX178" fmla="*/ 3417885 w 5372222"/>
                <a:gd name="connsiteY178" fmla="*/ 708192 h 5312911"/>
                <a:gd name="connsiteX179" fmla="*/ 3103838 w 5372222"/>
                <a:gd name="connsiteY179" fmla="*/ 483014 h 531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5372222" h="5312911">
                  <a:moveTo>
                    <a:pt x="3250599" y="267471"/>
                  </a:moveTo>
                  <a:lnTo>
                    <a:pt x="3296871" y="323920"/>
                  </a:lnTo>
                  <a:cubicBezTo>
                    <a:pt x="3354155" y="393724"/>
                    <a:pt x="3424773" y="443895"/>
                    <a:pt x="3502611" y="472366"/>
                  </a:cubicBezTo>
                  <a:cubicBezTo>
                    <a:pt x="3580645" y="500686"/>
                    <a:pt x="3666870" y="507575"/>
                    <a:pt x="3755916" y="490965"/>
                  </a:cubicBezTo>
                  <a:lnTo>
                    <a:pt x="3827514" y="477647"/>
                  </a:lnTo>
                  <a:cubicBezTo>
                    <a:pt x="3937810" y="456904"/>
                    <a:pt x="4045422" y="460196"/>
                    <a:pt x="4147488" y="487022"/>
                  </a:cubicBezTo>
                  <a:cubicBezTo>
                    <a:pt x="4250202" y="513850"/>
                    <a:pt x="4345655" y="563715"/>
                    <a:pt x="4431567" y="635821"/>
                  </a:cubicBezTo>
                  <a:cubicBezTo>
                    <a:pt x="4517478" y="707927"/>
                    <a:pt x="4583305" y="793497"/>
                    <a:pt x="4627588" y="889969"/>
                  </a:cubicBezTo>
                  <a:cubicBezTo>
                    <a:pt x="4671528" y="985602"/>
                    <a:pt x="4693415" y="1090931"/>
                    <a:pt x="4692268" y="1203020"/>
                  </a:cubicBezTo>
                  <a:lnTo>
                    <a:pt x="4691426" y="1275921"/>
                  </a:lnTo>
                  <a:cubicBezTo>
                    <a:pt x="4690427" y="1366779"/>
                    <a:pt x="4712167" y="1450702"/>
                    <a:pt x="4753804" y="1522652"/>
                  </a:cubicBezTo>
                  <a:cubicBezTo>
                    <a:pt x="4794942" y="1593916"/>
                    <a:pt x="4856518" y="1654335"/>
                    <a:pt x="4935512" y="1698922"/>
                  </a:cubicBezTo>
                  <a:lnTo>
                    <a:pt x="4999046" y="1734633"/>
                  </a:lnTo>
                  <a:cubicBezTo>
                    <a:pt x="5096626" y="1789428"/>
                    <a:pt x="5176816" y="1861535"/>
                    <a:pt x="5238352" y="1948259"/>
                  </a:cubicBezTo>
                  <a:cubicBezTo>
                    <a:pt x="5299730" y="2035013"/>
                    <a:pt x="5341064" y="2134405"/>
                    <a:pt x="5360473" y="2244545"/>
                  </a:cubicBezTo>
                  <a:cubicBezTo>
                    <a:pt x="5379871" y="2354645"/>
                    <a:pt x="5375129" y="2462149"/>
                    <a:pt x="5347149" y="2564372"/>
                  </a:cubicBezTo>
                  <a:cubicBezTo>
                    <a:pt x="5319178" y="2666439"/>
                    <a:pt x="5268311" y="2761540"/>
                    <a:pt x="5195410" y="2846648"/>
                  </a:cubicBezTo>
                  <a:lnTo>
                    <a:pt x="5147845" y="2901943"/>
                  </a:lnTo>
                  <a:cubicBezTo>
                    <a:pt x="5089102" y="2970405"/>
                    <a:pt x="5052049" y="3048596"/>
                    <a:pt x="5037549" y="3130226"/>
                  </a:cubicBezTo>
                  <a:cubicBezTo>
                    <a:pt x="5023079" y="3212199"/>
                    <a:pt x="5031112" y="3298424"/>
                    <a:pt x="5062884" y="3382698"/>
                  </a:cubicBezTo>
                  <a:lnTo>
                    <a:pt x="5088563" y="3450857"/>
                  </a:lnTo>
                  <a:cubicBezTo>
                    <a:pt x="5128241" y="3556372"/>
                    <a:pt x="5143711" y="3663024"/>
                    <a:pt x="5135138" y="3767540"/>
                  </a:cubicBezTo>
                  <a:cubicBezTo>
                    <a:pt x="5126566" y="3872399"/>
                    <a:pt x="5093990" y="3975083"/>
                    <a:pt x="5037353" y="4073015"/>
                  </a:cubicBezTo>
                  <a:lnTo>
                    <a:pt x="5037196" y="4073358"/>
                  </a:lnTo>
                  <a:lnTo>
                    <a:pt x="5037353" y="4073515"/>
                  </a:lnTo>
                  <a:cubicBezTo>
                    <a:pt x="4981215" y="4170604"/>
                    <a:pt x="4908648" y="4250128"/>
                    <a:pt x="4821591" y="4310370"/>
                  </a:cubicBezTo>
                  <a:cubicBezTo>
                    <a:pt x="4734837" y="4370456"/>
                    <a:pt x="4634798" y="4410448"/>
                    <a:pt x="4523659" y="4428700"/>
                  </a:cubicBezTo>
                  <a:lnTo>
                    <a:pt x="4451749" y="4440565"/>
                  </a:lnTo>
                  <a:cubicBezTo>
                    <a:pt x="4362889" y="4455221"/>
                    <a:pt x="4284355" y="4491275"/>
                    <a:pt x="4220673" y="4544738"/>
                  </a:cubicBezTo>
                  <a:cubicBezTo>
                    <a:pt x="4157148" y="4598044"/>
                    <a:pt x="4108084" y="4669152"/>
                    <a:pt x="4078115" y="4753926"/>
                  </a:cubicBezTo>
                  <a:lnTo>
                    <a:pt x="4053926" y="4822731"/>
                  </a:lnTo>
                  <a:cubicBezTo>
                    <a:pt x="4016383" y="4929540"/>
                    <a:pt x="3959785" y="5021389"/>
                    <a:pt x="3885885" y="5096131"/>
                  </a:cubicBezTo>
                  <a:cubicBezTo>
                    <a:pt x="3811985" y="5170873"/>
                    <a:pt x="3720979" y="5228470"/>
                    <a:pt x="3614622" y="5267160"/>
                  </a:cubicBezTo>
                  <a:cubicBezTo>
                    <a:pt x="3509106" y="5305506"/>
                    <a:pt x="3402641" y="5319672"/>
                    <a:pt x="3297439" y="5309944"/>
                  </a:cubicBezTo>
                  <a:cubicBezTo>
                    <a:pt x="3191777" y="5300078"/>
                    <a:pt x="3089211" y="5266513"/>
                    <a:pt x="2992925" y="5209366"/>
                  </a:cubicBezTo>
                  <a:lnTo>
                    <a:pt x="2930203" y="5172323"/>
                  </a:lnTo>
                  <a:cubicBezTo>
                    <a:pt x="2852669" y="5126404"/>
                    <a:pt x="2769236" y="5103361"/>
                    <a:pt x="2686117" y="5103361"/>
                  </a:cubicBezTo>
                  <a:cubicBezTo>
                    <a:pt x="2602998" y="5103361"/>
                    <a:pt x="2519566" y="5126404"/>
                    <a:pt x="2442031" y="5172323"/>
                  </a:cubicBezTo>
                  <a:lnTo>
                    <a:pt x="2379310" y="5209366"/>
                  </a:lnTo>
                  <a:cubicBezTo>
                    <a:pt x="2282867" y="5266474"/>
                    <a:pt x="2180496" y="5300068"/>
                    <a:pt x="2074795" y="5309944"/>
                  </a:cubicBezTo>
                  <a:cubicBezTo>
                    <a:pt x="1969632" y="5319672"/>
                    <a:pt x="1863128" y="5305506"/>
                    <a:pt x="1757612" y="5267160"/>
                  </a:cubicBezTo>
                  <a:cubicBezTo>
                    <a:pt x="1651450" y="5228470"/>
                    <a:pt x="1560249" y="5170873"/>
                    <a:pt x="1486349" y="5096131"/>
                  </a:cubicBezTo>
                  <a:cubicBezTo>
                    <a:pt x="1412449" y="5021389"/>
                    <a:pt x="1355812" y="4929736"/>
                    <a:pt x="1318308" y="4822731"/>
                  </a:cubicBezTo>
                  <a:lnTo>
                    <a:pt x="1294119" y="4753926"/>
                  </a:lnTo>
                  <a:cubicBezTo>
                    <a:pt x="1264346" y="4669161"/>
                    <a:pt x="1215135" y="4598054"/>
                    <a:pt x="1151561" y="4544738"/>
                  </a:cubicBezTo>
                  <a:cubicBezTo>
                    <a:pt x="1087880" y="4491235"/>
                    <a:pt x="1009199" y="4455182"/>
                    <a:pt x="920486" y="4440565"/>
                  </a:cubicBezTo>
                  <a:lnTo>
                    <a:pt x="848575" y="4428700"/>
                  </a:lnTo>
                  <a:cubicBezTo>
                    <a:pt x="737475" y="4410448"/>
                    <a:pt x="637397" y="4370456"/>
                    <a:pt x="550644" y="4310370"/>
                  </a:cubicBezTo>
                  <a:cubicBezTo>
                    <a:pt x="463890" y="4250284"/>
                    <a:pt x="391136" y="4170800"/>
                    <a:pt x="334881" y="4073015"/>
                  </a:cubicBezTo>
                  <a:cubicBezTo>
                    <a:pt x="278440" y="3975230"/>
                    <a:pt x="245678" y="3872369"/>
                    <a:pt x="237106" y="3767540"/>
                  </a:cubicBezTo>
                  <a:cubicBezTo>
                    <a:pt x="228531" y="3662867"/>
                    <a:pt x="244032" y="3556363"/>
                    <a:pt x="283681" y="3450857"/>
                  </a:cubicBezTo>
                  <a:lnTo>
                    <a:pt x="309360" y="3382698"/>
                  </a:lnTo>
                  <a:cubicBezTo>
                    <a:pt x="341122" y="3298276"/>
                    <a:pt x="349195" y="3212169"/>
                    <a:pt x="334695" y="3130226"/>
                  </a:cubicBezTo>
                  <a:cubicBezTo>
                    <a:pt x="320381" y="3048400"/>
                    <a:pt x="283182" y="2970258"/>
                    <a:pt x="224396" y="2901943"/>
                  </a:cubicBezTo>
                  <a:lnTo>
                    <a:pt x="176826" y="2846638"/>
                  </a:lnTo>
                  <a:cubicBezTo>
                    <a:pt x="103921" y="2761530"/>
                    <a:pt x="53058" y="2666576"/>
                    <a:pt x="25088" y="2564363"/>
                  </a:cubicBezTo>
                  <a:cubicBezTo>
                    <a:pt x="-2888" y="2461992"/>
                    <a:pt x="-7672" y="2354488"/>
                    <a:pt x="11769" y="2244535"/>
                  </a:cubicBezTo>
                  <a:cubicBezTo>
                    <a:pt x="31173" y="2134435"/>
                    <a:pt x="72504" y="2034856"/>
                    <a:pt x="133891" y="1948093"/>
                  </a:cubicBezTo>
                  <a:cubicBezTo>
                    <a:pt x="195276" y="1861339"/>
                    <a:pt x="275608" y="1789428"/>
                    <a:pt x="373198" y="1734466"/>
                  </a:cubicBezTo>
                  <a:lnTo>
                    <a:pt x="436722" y="1698765"/>
                  </a:lnTo>
                  <a:cubicBezTo>
                    <a:pt x="515403" y="1654482"/>
                    <a:pt x="577135" y="1593750"/>
                    <a:pt x="618430" y="1521996"/>
                  </a:cubicBezTo>
                  <a:lnTo>
                    <a:pt x="622065" y="1516215"/>
                  </a:lnTo>
                  <a:cubicBezTo>
                    <a:pt x="661253" y="1445764"/>
                    <a:pt x="681808" y="1363781"/>
                    <a:pt x="680808" y="1275725"/>
                  </a:cubicBezTo>
                  <a:lnTo>
                    <a:pt x="679966" y="1202824"/>
                  </a:lnTo>
                  <a:cubicBezTo>
                    <a:pt x="678820" y="1090735"/>
                    <a:pt x="700716" y="985416"/>
                    <a:pt x="744647" y="889773"/>
                  </a:cubicBezTo>
                  <a:cubicBezTo>
                    <a:pt x="788930" y="793486"/>
                    <a:pt x="854747" y="707723"/>
                    <a:pt x="940668" y="635626"/>
                  </a:cubicBezTo>
                  <a:cubicBezTo>
                    <a:pt x="1026589" y="563524"/>
                    <a:pt x="1122072" y="513661"/>
                    <a:pt x="1224746" y="486826"/>
                  </a:cubicBezTo>
                  <a:cubicBezTo>
                    <a:pt x="1326812" y="459999"/>
                    <a:pt x="1434277" y="456708"/>
                    <a:pt x="1544720" y="477450"/>
                  </a:cubicBezTo>
                  <a:lnTo>
                    <a:pt x="1616328" y="490768"/>
                  </a:lnTo>
                  <a:cubicBezTo>
                    <a:pt x="1705188" y="507377"/>
                    <a:pt x="1791608" y="500489"/>
                    <a:pt x="1869633" y="472169"/>
                  </a:cubicBezTo>
                  <a:cubicBezTo>
                    <a:pt x="1947471" y="443849"/>
                    <a:pt x="2018079" y="393486"/>
                    <a:pt x="2075373" y="323723"/>
                  </a:cubicBezTo>
                  <a:lnTo>
                    <a:pt x="2121635" y="267275"/>
                  </a:lnTo>
                  <a:cubicBezTo>
                    <a:pt x="2193086" y="180210"/>
                    <a:pt x="2277664" y="113548"/>
                    <a:pt x="2372951" y="68618"/>
                  </a:cubicBezTo>
                  <a:cubicBezTo>
                    <a:pt x="2468748" y="23344"/>
                    <a:pt x="2573910" y="0"/>
                    <a:pt x="2686000" y="0"/>
                  </a:cubicBezTo>
                  <a:cubicBezTo>
                    <a:pt x="2798088" y="0"/>
                    <a:pt x="2903261" y="23191"/>
                    <a:pt x="2999048" y="68618"/>
                  </a:cubicBezTo>
                  <a:cubicBezTo>
                    <a:pt x="3094344" y="113700"/>
                    <a:pt x="3178952" y="180364"/>
                    <a:pt x="3250364" y="267275"/>
                  </a:cubicBezTo>
                  <a:close/>
                  <a:moveTo>
                    <a:pt x="1896340" y="2654545"/>
                  </a:moveTo>
                  <a:cubicBezTo>
                    <a:pt x="1854545" y="2599094"/>
                    <a:pt x="1865567" y="2520256"/>
                    <a:pt x="1920872" y="2478422"/>
                  </a:cubicBezTo>
                  <a:cubicBezTo>
                    <a:pt x="1976324" y="2436627"/>
                    <a:pt x="2055161" y="2447649"/>
                    <a:pt x="2096995" y="2503111"/>
                  </a:cubicBezTo>
                  <a:lnTo>
                    <a:pt x="2524935" y="3070797"/>
                  </a:lnTo>
                  <a:lnTo>
                    <a:pt x="3271702" y="1956381"/>
                  </a:lnTo>
                  <a:cubicBezTo>
                    <a:pt x="3310205" y="1898784"/>
                    <a:pt x="3388239" y="1883471"/>
                    <a:pt x="3445827" y="1921974"/>
                  </a:cubicBezTo>
                  <a:cubicBezTo>
                    <a:pt x="3503424" y="1960476"/>
                    <a:pt x="3518727" y="2038511"/>
                    <a:pt x="3480234" y="2096098"/>
                  </a:cubicBezTo>
                  <a:lnTo>
                    <a:pt x="2639669" y="3350623"/>
                  </a:lnTo>
                  <a:cubicBezTo>
                    <a:pt x="2631439" y="3364623"/>
                    <a:pt x="2620418" y="3377447"/>
                    <a:pt x="2606750" y="3387822"/>
                  </a:cubicBezTo>
                  <a:cubicBezTo>
                    <a:pt x="2551298" y="3429607"/>
                    <a:pt x="2472461" y="3418585"/>
                    <a:pt x="2430627" y="3363290"/>
                  </a:cubicBezTo>
                  <a:lnTo>
                    <a:pt x="1896340" y="2654722"/>
                  </a:lnTo>
                  <a:close/>
                  <a:moveTo>
                    <a:pt x="2686391" y="1073580"/>
                  </a:moveTo>
                  <a:cubicBezTo>
                    <a:pt x="3123550" y="1073580"/>
                    <a:pt x="3519227" y="1250850"/>
                    <a:pt x="3805813" y="1537220"/>
                  </a:cubicBezTo>
                  <a:cubicBezTo>
                    <a:pt x="4092399" y="1823591"/>
                    <a:pt x="4269453" y="2219464"/>
                    <a:pt x="4269453" y="2656446"/>
                  </a:cubicBezTo>
                  <a:cubicBezTo>
                    <a:pt x="4269453" y="3093604"/>
                    <a:pt x="4092340" y="3489468"/>
                    <a:pt x="3805813" y="3775868"/>
                  </a:cubicBezTo>
                  <a:cubicBezTo>
                    <a:pt x="3519246" y="4062434"/>
                    <a:pt x="3123569" y="4239508"/>
                    <a:pt x="2686391" y="4239508"/>
                  </a:cubicBezTo>
                  <a:cubicBezTo>
                    <a:pt x="2249233" y="4239508"/>
                    <a:pt x="1853556" y="4062238"/>
                    <a:pt x="1566970" y="3775868"/>
                  </a:cubicBezTo>
                  <a:cubicBezTo>
                    <a:pt x="1280384" y="3489497"/>
                    <a:pt x="1103330" y="3093624"/>
                    <a:pt x="1103330" y="2656446"/>
                  </a:cubicBezTo>
                  <a:cubicBezTo>
                    <a:pt x="1103330" y="2219268"/>
                    <a:pt x="1280443" y="1823611"/>
                    <a:pt x="1566970" y="1537220"/>
                  </a:cubicBezTo>
                  <a:cubicBezTo>
                    <a:pt x="1853536" y="1250654"/>
                    <a:pt x="2249213" y="1073580"/>
                    <a:pt x="2686391" y="1073580"/>
                  </a:cubicBezTo>
                  <a:close/>
                  <a:moveTo>
                    <a:pt x="3627720" y="1715332"/>
                  </a:moveTo>
                  <a:cubicBezTo>
                    <a:pt x="3386926" y="1474538"/>
                    <a:pt x="3054127" y="1325396"/>
                    <a:pt x="2686391" y="1325396"/>
                  </a:cubicBezTo>
                  <a:cubicBezTo>
                    <a:pt x="2318842" y="1325396"/>
                    <a:pt x="1985895" y="1474538"/>
                    <a:pt x="1745062" y="1715332"/>
                  </a:cubicBezTo>
                  <a:cubicBezTo>
                    <a:pt x="1504111" y="1956127"/>
                    <a:pt x="1355126" y="2289112"/>
                    <a:pt x="1355126" y="2656662"/>
                  </a:cubicBezTo>
                  <a:cubicBezTo>
                    <a:pt x="1355126" y="3024211"/>
                    <a:pt x="1504072" y="3357157"/>
                    <a:pt x="1745062" y="3597991"/>
                  </a:cubicBezTo>
                  <a:cubicBezTo>
                    <a:pt x="1985856" y="3838785"/>
                    <a:pt x="2318656" y="3987927"/>
                    <a:pt x="2686391" y="3987927"/>
                  </a:cubicBezTo>
                  <a:cubicBezTo>
                    <a:pt x="3053941" y="3987927"/>
                    <a:pt x="3386887" y="3838981"/>
                    <a:pt x="3627720" y="3597991"/>
                  </a:cubicBezTo>
                  <a:cubicBezTo>
                    <a:pt x="3868672" y="3357040"/>
                    <a:pt x="4017657" y="3024211"/>
                    <a:pt x="4017657" y="2656662"/>
                  </a:cubicBezTo>
                  <a:cubicBezTo>
                    <a:pt x="4017657" y="2289112"/>
                    <a:pt x="3868711" y="1956166"/>
                    <a:pt x="3627720" y="1715332"/>
                  </a:cubicBezTo>
                  <a:close/>
                  <a:moveTo>
                    <a:pt x="3103152" y="483048"/>
                  </a:moveTo>
                  <a:lnTo>
                    <a:pt x="3056880" y="426752"/>
                  </a:lnTo>
                  <a:cubicBezTo>
                    <a:pt x="3009462" y="368965"/>
                    <a:pt x="2954010" y="325029"/>
                    <a:pt x="2892131" y="295755"/>
                  </a:cubicBezTo>
                  <a:cubicBezTo>
                    <a:pt x="2830752" y="266785"/>
                    <a:pt x="2761594" y="251820"/>
                    <a:pt x="2686391" y="251820"/>
                  </a:cubicBezTo>
                  <a:cubicBezTo>
                    <a:pt x="2611198" y="251820"/>
                    <a:pt x="2541883" y="266784"/>
                    <a:pt x="2480651" y="295755"/>
                  </a:cubicBezTo>
                  <a:cubicBezTo>
                    <a:pt x="2418773" y="325070"/>
                    <a:pt x="2363282" y="369004"/>
                    <a:pt x="2315903" y="426752"/>
                  </a:cubicBezTo>
                  <a:lnTo>
                    <a:pt x="2269640" y="483048"/>
                  </a:lnTo>
                  <a:cubicBezTo>
                    <a:pt x="2183073" y="588406"/>
                    <a:pt x="2075422" y="664599"/>
                    <a:pt x="1955593" y="708225"/>
                  </a:cubicBezTo>
                  <a:cubicBezTo>
                    <a:pt x="1835774" y="751853"/>
                    <a:pt x="1704424" y="762722"/>
                    <a:pt x="1570595" y="737540"/>
                  </a:cubicBezTo>
                  <a:lnTo>
                    <a:pt x="1498987" y="724222"/>
                  </a:lnTo>
                  <a:cubicBezTo>
                    <a:pt x="1425244" y="710406"/>
                    <a:pt x="1354323" y="712359"/>
                    <a:pt x="1288153" y="729657"/>
                  </a:cubicBezTo>
                  <a:cubicBezTo>
                    <a:pt x="1222639" y="746763"/>
                    <a:pt x="1160104" y="779867"/>
                    <a:pt x="1102507" y="828235"/>
                  </a:cubicBezTo>
                  <a:cubicBezTo>
                    <a:pt x="1045066" y="876456"/>
                    <a:pt x="1001626" y="932247"/>
                    <a:pt x="973302" y="993822"/>
                  </a:cubicBezTo>
                  <a:cubicBezTo>
                    <a:pt x="944675" y="1056053"/>
                    <a:pt x="930322" y="1125662"/>
                    <a:pt x="931165" y="1200708"/>
                  </a:cubicBezTo>
                  <a:lnTo>
                    <a:pt x="932007" y="1273619"/>
                  </a:lnTo>
                  <a:cubicBezTo>
                    <a:pt x="933496" y="1406458"/>
                    <a:pt x="901548" y="1531058"/>
                    <a:pt x="840502" y="1639826"/>
                  </a:cubicBezTo>
                  <a:lnTo>
                    <a:pt x="836220" y="1647713"/>
                  </a:lnTo>
                  <a:cubicBezTo>
                    <a:pt x="772343" y="1758312"/>
                    <a:pt x="678702" y="1851003"/>
                    <a:pt x="560029" y="1917976"/>
                  </a:cubicBezTo>
                  <a:lnTo>
                    <a:pt x="496495" y="1953677"/>
                  </a:lnTo>
                  <a:cubicBezTo>
                    <a:pt x="430824" y="1990720"/>
                    <a:pt x="377969" y="2037453"/>
                    <a:pt x="338819" y="2092601"/>
                  </a:cubicBezTo>
                  <a:cubicBezTo>
                    <a:pt x="299827" y="2147749"/>
                    <a:pt x="273149" y="2213262"/>
                    <a:pt x="259992" y="2287623"/>
                  </a:cubicBezTo>
                  <a:cubicBezTo>
                    <a:pt x="246824" y="2362022"/>
                    <a:pt x="249460" y="2432973"/>
                    <a:pt x="267408" y="2498301"/>
                  </a:cubicBezTo>
                  <a:cubicBezTo>
                    <a:pt x="285356" y="2563824"/>
                    <a:pt x="319078" y="2626006"/>
                    <a:pt x="367986" y="2683143"/>
                  </a:cubicBezTo>
                  <a:lnTo>
                    <a:pt x="415561" y="2738448"/>
                  </a:lnTo>
                  <a:cubicBezTo>
                    <a:pt x="504421" y="2841965"/>
                    <a:pt x="560715" y="2961294"/>
                    <a:pt x="582954" y="3086893"/>
                  </a:cubicBezTo>
                  <a:cubicBezTo>
                    <a:pt x="604998" y="3212150"/>
                    <a:pt x="592830" y="3343490"/>
                    <a:pt x="544755" y="3471206"/>
                  </a:cubicBezTo>
                  <a:lnTo>
                    <a:pt x="519077" y="3539365"/>
                  </a:lnTo>
                  <a:cubicBezTo>
                    <a:pt x="492899" y="3609169"/>
                    <a:pt x="482534" y="3679278"/>
                    <a:pt x="488314" y="3747897"/>
                  </a:cubicBezTo>
                  <a:cubicBezTo>
                    <a:pt x="493898" y="3816359"/>
                    <a:pt x="515482" y="3883675"/>
                    <a:pt x="552681" y="3948052"/>
                  </a:cubicBezTo>
                  <a:cubicBezTo>
                    <a:pt x="589881" y="4012566"/>
                    <a:pt x="637446" y="4064736"/>
                    <a:pt x="693741" y="4103778"/>
                  </a:cubicBezTo>
                  <a:cubicBezTo>
                    <a:pt x="749888" y="4142614"/>
                    <a:pt x="815705" y="4168645"/>
                    <a:pt x="889458" y="4180960"/>
                  </a:cubicBezTo>
                  <a:lnTo>
                    <a:pt x="961369" y="4192824"/>
                  </a:lnTo>
                  <a:cubicBezTo>
                    <a:pt x="1096158" y="4215064"/>
                    <a:pt x="1215977" y="4270173"/>
                    <a:pt x="1313606" y="4352145"/>
                  </a:cubicBezTo>
                  <a:cubicBezTo>
                    <a:pt x="1411195" y="4434128"/>
                    <a:pt x="1486437" y="4542582"/>
                    <a:pt x="1531857" y="4671621"/>
                  </a:cubicBezTo>
                  <a:lnTo>
                    <a:pt x="1556046" y="4740436"/>
                  </a:lnTo>
                  <a:cubicBezTo>
                    <a:pt x="1580578" y="4810240"/>
                    <a:pt x="1617768" y="4870473"/>
                    <a:pt x="1666146" y="4919351"/>
                  </a:cubicBezTo>
                  <a:cubicBezTo>
                    <a:pt x="1714515" y="4968219"/>
                    <a:pt x="1774297" y="5006105"/>
                    <a:pt x="1843916" y="5031440"/>
                  </a:cubicBezTo>
                  <a:cubicBezTo>
                    <a:pt x="1914524" y="5057118"/>
                    <a:pt x="1984828" y="5066837"/>
                    <a:pt x="2052790" y="5060410"/>
                  </a:cubicBezTo>
                  <a:cubicBezTo>
                    <a:pt x="2120254" y="5054169"/>
                    <a:pt x="2187276" y="5031783"/>
                    <a:pt x="2252104" y="4993437"/>
                  </a:cubicBezTo>
                  <a:lnTo>
                    <a:pt x="2314825" y="4956237"/>
                  </a:lnTo>
                  <a:cubicBezTo>
                    <a:pt x="2432351" y="4886776"/>
                    <a:pt x="2559411" y="4851878"/>
                    <a:pt x="2686813" y="4851878"/>
                  </a:cubicBezTo>
                  <a:cubicBezTo>
                    <a:pt x="2814215" y="4851878"/>
                    <a:pt x="2941274" y="4886589"/>
                    <a:pt x="3058800" y="4956237"/>
                  </a:cubicBezTo>
                  <a:lnTo>
                    <a:pt x="3121522" y="4993437"/>
                  </a:lnTo>
                  <a:cubicBezTo>
                    <a:pt x="3186388" y="5031783"/>
                    <a:pt x="3253362" y="5054169"/>
                    <a:pt x="3320835" y="5060410"/>
                  </a:cubicBezTo>
                  <a:cubicBezTo>
                    <a:pt x="3388807" y="5066837"/>
                    <a:pt x="3459102" y="5057118"/>
                    <a:pt x="3529710" y="5031440"/>
                  </a:cubicBezTo>
                  <a:cubicBezTo>
                    <a:pt x="3599514" y="5006105"/>
                    <a:pt x="3659258" y="4968219"/>
                    <a:pt x="3707479" y="4919351"/>
                  </a:cubicBezTo>
                  <a:cubicBezTo>
                    <a:pt x="3755857" y="4870473"/>
                    <a:pt x="3793057" y="4810397"/>
                    <a:pt x="3817579" y="4740436"/>
                  </a:cubicBezTo>
                  <a:lnTo>
                    <a:pt x="3841769" y="4671621"/>
                  </a:lnTo>
                  <a:cubicBezTo>
                    <a:pt x="3887198" y="4542729"/>
                    <a:pt x="3962244" y="4434118"/>
                    <a:pt x="4060019" y="4352145"/>
                  </a:cubicBezTo>
                  <a:cubicBezTo>
                    <a:pt x="4157609" y="4270173"/>
                    <a:pt x="4277281" y="4215025"/>
                    <a:pt x="4412109" y="4192824"/>
                  </a:cubicBezTo>
                  <a:lnTo>
                    <a:pt x="4484020" y="4180960"/>
                  </a:lnTo>
                  <a:cubicBezTo>
                    <a:pt x="4557763" y="4168792"/>
                    <a:pt x="4623590" y="4142771"/>
                    <a:pt x="4679738" y="4103778"/>
                  </a:cubicBezTo>
                  <a:cubicBezTo>
                    <a:pt x="4735689" y="4065079"/>
                    <a:pt x="4783254" y="4012576"/>
                    <a:pt x="4820797" y="3947563"/>
                  </a:cubicBezTo>
                  <a:lnTo>
                    <a:pt x="4821140" y="3947709"/>
                  </a:lnTo>
                  <a:cubicBezTo>
                    <a:pt x="4858183" y="3883342"/>
                    <a:pt x="4879580" y="3816212"/>
                    <a:pt x="4885164" y="3747897"/>
                  </a:cubicBezTo>
                  <a:cubicBezTo>
                    <a:pt x="4890759" y="3679278"/>
                    <a:pt x="4880569" y="3609130"/>
                    <a:pt x="4854402" y="3539365"/>
                  </a:cubicBezTo>
                  <a:lnTo>
                    <a:pt x="4828723" y="3471049"/>
                  </a:lnTo>
                  <a:cubicBezTo>
                    <a:pt x="4780648" y="3343343"/>
                    <a:pt x="4768324" y="3211973"/>
                    <a:pt x="4790524" y="3086746"/>
                  </a:cubicBezTo>
                  <a:cubicBezTo>
                    <a:pt x="4812764" y="2961137"/>
                    <a:pt x="4869058" y="2842004"/>
                    <a:pt x="4957918" y="2738291"/>
                  </a:cubicBezTo>
                  <a:lnTo>
                    <a:pt x="5005493" y="2682996"/>
                  </a:lnTo>
                  <a:cubicBezTo>
                    <a:pt x="5054547" y="2625898"/>
                    <a:pt x="5088112" y="2563667"/>
                    <a:pt x="5106070" y="2498153"/>
                  </a:cubicBezTo>
                  <a:cubicBezTo>
                    <a:pt x="5124018" y="2432826"/>
                    <a:pt x="5126468" y="2361875"/>
                    <a:pt x="5113486" y="2287476"/>
                  </a:cubicBezTo>
                  <a:cubicBezTo>
                    <a:pt x="5100329" y="2213076"/>
                    <a:pt x="5073808" y="2147563"/>
                    <a:pt x="5034659" y="2092454"/>
                  </a:cubicBezTo>
                  <a:cubicBezTo>
                    <a:pt x="4995656" y="2037306"/>
                    <a:pt x="4942654" y="1990583"/>
                    <a:pt x="4876984" y="1953530"/>
                  </a:cubicBezTo>
                  <a:lnTo>
                    <a:pt x="4813449" y="1917830"/>
                  </a:lnTo>
                  <a:cubicBezTo>
                    <a:pt x="4694923" y="1851160"/>
                    <a:pt x="4601283" y="1758166"/>
                    <a:pt x="4537258" y="1647056"/>
                  </a:cubicBezTo>
                  <a:cubicBezTo>
                    <a:pt x="4473576" y="1536623"/>
                    <a:pt x="4439972" y="1409407"/>
                    <a:pt x="4441471" y="1273589"/>
                  </a:cubicBezTo>
                  <a:lnTo>
                    <a:pt x="4442314" y="1200679"/>
                  </a:lnTo>
                  <a:cubicBezTo>
                    <a:pt x="4443157" y="1125633"/>
                    <a:pt x="4428803" y="1056014"/>
                    <a:pt x="4400176" y="993792"/>
                  </a:cubicBezTo>
                  <a:cubicBezTo>
                    <a:pt x="4371853" y="932217"/>
                    <a:pt x="4328569" y="876424"/>
                    <a:pt x="4270972" y="828202"/>
                  </a:cubicBezTo>
                  <a:cubicBezTo>
                    <a:pt x="4213374" y="779829"/>
                    <a:pt x="4150800" y="746725"/>
                    <a:pt x="4085325" y="729623"/>
                  </a:cubicBezTo>
                  <a:cubicBezTo>
                    <a:pt x="4019155" y="712325"/>
                    <a:pt x="3948391" y="710374"/>
                    <a:pt x="3874491" y="724189"/>
                  </a:cubicBezTo>
                  <a:lnTo>
                    <a:pt x="3802883" y="737507"/>
                  </a:lnTo>
                  <a:cubicBezTo>
                    <a:pt x="3669055" y="762689"/>
                    <a:pt x="3537714" y="751820"/>
                    <a:pt x="3417885" y="708192"/>
                  </a:cubicBezTo>
                  <a:cubicBezTo>
                    <a:pt x="3298056" y="664564"/>
                    <a:pt x="3190405" y="588373"/>
                    <a:pt x="3103838" y="483014"/>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38" name="Freeform: Shape 537">
              <a:extLst>
                <a:ext uri="{FF2B5EF4-FFF2-40B4-BE49-F238E27FC236}">
                  <a16:creationId xmlns:a16="http://schemas.microsoft.com/office/drawing/2014/main" id="{8253325A-4B3B-8EF6-9460-EABC69FCFC1A}"/>
                </a:ext>
              </a:extLst>
            </p:cNvPr>
            <p:cNvSpPr/>
            <p:nvPr/>
          </p:nvSpPr>
          <p:spPr>
            <a:xfrm>
              <a:off x="10732868" y="3129646"/>
              <a:ext cx="285055" cy="281907"/>
            </a:xfrm>
            <a:custGeom>
              <a:avLst/>
              <a:gdLst>
                <a:gd name="connsiteX0" fmla="*/ 3250599 w 5372222"/>
                <a:gd name="connsiteY0" fmla="*/ 267471 h 5312911"/>
                <a:gd name="connsiteX1" fmla="*/ 3296871 w 5372222"/>
                <a:gd name="connsiteY1" fmla="*/ 323920 h 5312911"/>
                <a:gd name="connsiteX2" fmla="*/ 3502611 w 5372222"/>
                <a:gd name="connsiteY2" fmla="*/ 472366 h 5312911"/>
                <a:gd name="connsiteX3" fmla="*/ 3755916 w 5372222"/>
                <a:gd name="connsiteY3" fmla="*/ 490965 h 5312911"/>
                <a:gd name="connsiteX4" fmla="*/ 3827514 w 5372222"/>
                <a:gd name="connsiteY4" fmla="*/ 477647 h 5312911"/>
                <a:gd name="connsiteX5" fmla="*/ 4147488 w 5372222"/>
                <a:gd name="connsiteY5" fmla="*/ 487022 h 5312911"/>
                <a:gd name="connsiteX6" fmla="*/ 4431567 w 5372222"/>
                <a:gd name="connsiteY6" fmla="*/ 635821 h 5312911"/>
                <a:gd name="connsiteX7" fmla="*/ 4627588 w 5372222"/>
                <a:gd name="connsiteY7" fmla="*/ 889969 h 5312911"/>
                <a:gd name="connsiteX8" fmla="*/ 4692268 w 5372222"/>
                <a:gd name="connsiteY8" fmla="*/ 1203020 h 5312911"/>
                <a:gd name="connsiteX9" fmla="*/ 4691426 w 5372222"/>
                <a:gd name="connsiteY9" fmla="*/ 1275921 h 5312911"/>
                <a:gd name="connsiteX10" fmla="*/ 4753804 w 5372222"/>
                <a:gd name="connsiteY10" fmla="*/ 1522652 h 5312911"/>
                <a:gd name="connsiteX11" fmla="*/ 4935512 w 5372222"/>
                <a:gd name="connsiteY11" fmla="*/ 1698922 h 5312911"/>
                <a:gd name="connsiteX12" fmla="*/ 4999046 w 5372222"/>
                <a:gd name="connsiteY12" fmla="*/ 1734633 h 5312911"/>
                <a:gd name="connsiteX13" fmla="*/ 5238352 w 5372222"/>
                <a:gd name="connsiteY13" fmla="*/ 1948259 h 5312911"/>
                <a:gd name="connsiteX14" fmla="*/ 5360473 w 5372222"/>
                <a:gd name="connsiteY14" fmla="*/ 2244545 h 5312911"/>
                <a:gd name="connsiteX15" fmla="*/ 5347149 w 5372222"/>
                <a:gd name="connsiteY15" fmla="*/ 2564372 h 5312911"/>
                <a:gd name="connsiteX16" fmla="*/ 5195410 w 5372222"/>
                <a:gd name="connsiteY16" fmla="*/ 2846648 h 5312911"/>
                <a:gd name="connsiteX17" fmla="*/ 5147845 w 5372222"/>
                <a:gd name="connsiteY17" fmla="*/ 2901943 h 5312911"/>
                <a:gd name="connsiteX18" fmla="*/ 5037549 w 5372222"/>
                <a:gd name="connsiteY18" fmla="*/ 3130226 h 5312911"/>
                <a:gd name="connsiteX19" fmla="*/ 5062884 w 5372222"/>
                <a:gd name="connsiteY19" fmla="*/ 3382698 h 5312911"/>
                <a:gd name="connsiteX20" fmla="*/ 5088563 w 5372222"/>
                <a:gd name="connsiteY20" fmla="*/ 3450857 h 5312911"/>
                <a:gd name="connsiteX21" fmla="*/ 5135138 w 5372222"/>
                <a:gd name="connsiteY21" fmla="*/ 3767540 h 5312911"/>
                <a:gd name="connsiteX22" fmla="*/ 5037353 w 5372222"/>
                <a:gd name="connsiteY22" fmla="*/ 4073015 h 5312911"/>
                <a:gd name="connsiteX23" fmla="*/ 5037196 w 5372222"/>
                <a:gd name="connsiteY23" fmla="*/ 4073358 h 5312911"/>
                <a:gd name="connsiteX24" fmla="*/ 5037353 w 5372222"/>
                <a:gd name="connsiteY24" fmla="*/ 4073515 h 5312911"/>
                <a:gd name="connsiteX25" fmla="*/ 4821591 w 5372222"/>
                <a:gd name="connsiteY25" fmla="*/ 4310370 h 5312911"/>
                <a:gd name="connsiteX26" fmla="*/ 4523659 w 5372222"/>
                <a:gd name="connsiteY26" fmla="*/ 4428700 h 5312911"/>
                <a:gd name="connsiteX27" fmla="*/ 4451749 w 5372222"/>
                <a:gd name="connsiteY27" fmla="*/ 4440565 h 5312911"/>
                <a:gd name="connsiteX28" fmla="*/ 4220673 w 5372222"/>
                <a:gd name="connsiteY28" fmla="*/ 4544738 h 5312911"/>
                <a:gd name="connsiteX29" fmla="*/ 4078115 w 5372222"/>
                <a:gd name="connsiteY29" fmla="*/ 4753926 h 5312911"/>
                <a:gd name="connsiteX30" fmla="*/ 4053926 w 5372222"/>
                <a:gd name="connsiteY30" fmla="*/ 4822731 h 5312911"/>
                <a:gd name="connsiteX31" fmla="*/ 3885885 w 5372222"/>
                <a:gd name="connsiteY31" fmla="*/ 5096131 h 5312911"/>
                <a:gd name="connsiteX32" fmla="*/ 3614622 w 5372222"/>
                <a:gd name="connsiteY32" fmla="*/ 5267160 h 5312911"/>
                <a:gd name="connsiteX33" fmla="*/ 3297439 w 5372222"/>
                <a:gd name="connsiteY33" fmla="*/ 5309944 h 5312911"/>
                <a:gd name="connsiteX34" fmla="*/ 2992925 w 5372222"/>
                <a:gd name="connsiteY34" fmla="*/ 5209366 h 5312911"/>
                <a:gd name="connsiteX35" fmla="*/ 2930203 w 5372222"/>
                <a:gd name="connsiteY35" fmla="*/ 5172323 h 5312911"/>
                <a:gd name="connsiteX36" fmla="*/ 2686117 w 5372222"/>
                <a:gd name="connsiteY36" fmla="*/ 5103361 h 5312911"/>
                <a:gd name="connsiteX37" fmla="*/ 2442031 w 5372222"/>
                <a:gd name="connsiteY37" fmla="*/ 5172323 h 5312911"/>
                <a:gd name="connsiteX38" fmla="*/ 2379310 w 5372222"/>
                <a:gd name="connsiteY38" fmla="*/ 5209366 h 5312911"/>
                <a:gd name="connsiteX39" fmla="*/ 2074795 w 5372222"/>
                <a:gd name="connsiteY39" fmla="*/ 5309944 h 5312911"/>
                <a:gd name="connsiteX40" fmla="*/ 1757612 w 5372222"/>
                <a:gd name="connsiteY40" fmla="*/ 5267160 h 5312911"/>
                <a:gd name="connsiteX41" fmla="*/ 1486349 w 5372222"/>
                <a:gd name="connsiteY41" fmla="*/ 5096131 h 5312911"/>
                <a:gd name="connsiteX42" fmla="*/ 1318308 w 5372222"/>
                <a:gd name="connsiteY42" fmla="*/ 4822731 h 5312911"/>
                <a:gd name="connsiteX43" fmla="*/ 1294119 w 5372222"/>
                <a:gd name="connsiteY43" fmla="*/ 4753926 h 5312911"/>
                <a:gd name="connsiteX44" fmla="*/ 1151561 w 5372222"/>
                <a:gd name="connsiteY44" fmla="*/ 4544738 h 5312911"/>
                <a:gd name="connsiteX45" fmla="*/ 920486 w 5372222"/>
                <a:gd name="connsiteY45" fmla="*/ 4440565 h 5312911"/>
                <a:gd name="connsiteX46" fmla="*/ 848575 w 5372222"/>
                <a:gd name="connsiteY46" fmla="*/ 4428700 h 5312911"/>
                <a:gd name="connsiteX47" fmla="*/ 550644 w 5372222"/>
                <a:gd name="connsiteY47" fmla="*/ 4310370 h 5312911"/>
                <a:gd name="connsiteX48" fmla="*/ 334881 w 5372222"/>
                <a:gd name="connsiteY48" fmla="*/ 4073015 h 5312911"/>
                <a:gd name="connsiteX49" fmla="*/ 237106 w 5372222"/>
                <a:gd name="connsiteY49" fmla="*/ 3767540 h 5312911"/>
                <a:gd name="connsiteX50" fmla="*/ 283681 w 5372222"/>
                <a:gd name="connsiteY50" fmla="*/ 3450857 h 5312911"/>
                <a:gd name="connsiteX51" fmla="*/ 309360 w 5372222"/>
                <a:gd name="connsiteY51" fmla="*/ 3382698 h 5312911"/>
                <a:gd name="connsiteX52" fmla="*/ 334695 w 5372222"/>
                <a:gd name="connsiteY52" fmla="*/ 3130226 h 5312911"/>
                <a:gd name="connsiteX53" fmla="*/ 224396 w 5372222"/>
                <a:gd name="connsiteY53" fmla="*/ 2901943 h 5312911"/>
                <a:gd name="connsiteX54" fmla="*/ 176826 w 5372222"/>
                <a:gd name="connsiteY54" fmla="*/ 2846638 h 5312911"/>
                <a:gd name="connsiteX55" fmla="*/ 25088 w 5372222"/>
                <a:gd name="connsiteY55" fmla="*/ 2564363 h 5312911"/>
                <a:gd name="connsiteX56" fmla="*/ 11769 w 5372222"/>
                <a:gd name="connsiteY56" fmla="*/ 2244535 h 5312911"/>
                <a:gd name="connsiteX57" fmla="*/ 133891 w 5372222"/>
                <a:gd name="connsiteY57" fmla="*/ 1948093 h 5312911"/>
                <a:gd name="connsiteX58" fmla="*/ 373198 w 5372222"/>
                <a:gd name="connsiteY58" fmla="*/ 1734466 h 5312911"/>
                <a:gd name="connsiteX59" fmla="*/ 436722 w 5372222"/>
                <a:gd name="connsiteY59" fmla="*/ 1698765 h 5312911"/>
                <a:gd name="connsiteX60" fmla="*/ 618430 w 5372222"/>
                <a:gd name="connsiteY60" fmla="*/ 1521996 h 5312911"/>
                <a:gd name="connsiteX61" fmla="*/ 622065 w 5372222"/>
                <a:gd name="connsiteY61" fmla="*/ 1516215 h 5312911"/>
                <a:gd name="connsiteX62" fmla="*/ 680808 w 5372222"/>
                <a:gd name="connsiteY62" fmla="*/ 1275725 h 5312911"/>
                <a:gd name="connsiteX63" fmla="*/ 679966 w 5372222"/>
                <a:gd name="connsiteY63" fmla="*/ 1202824 h 5312911"/>
                <a:gd name="connsiteX64" fmla="*/ 744647 w 5372222"/>
                <a:gd name="connsiteY64" fmla="*/ 889773 h 5312911"/>
                <a:gd name="connsiteX65" fmla="*/ 940668 w 5372222"/>
                <a:gd name="connsiteY65" fmla="*/ 635626 h 5312911"/>
                <a:gd name="connsiteX66" fmla="*/ 1224746 w 5372222"/>
                <a:gd name="connsiteY66" fmla="*/ 486826 h 5312911"/>
                <a:gd name="connsiteX67" fmla="*/ 1544720 w 5372222"/>
                <a:gd name="connsiteY67" fmla="*/ 477450 h 5312911"/>
                <a:gd name="connsiteX68" fmla="*/ 1616328 w 5372222"/>
                <a:gd name="connsiteY68" fmla="*/ 490768 h 5312911"/>
                <a:gd name="connsiteX69" fmla="*/ 1869633 w 5372222"/>
                <a:gd name="connsiteY69" fmla="*/ 472169 h 5312911"/>
                <a:gd name="connsiteX70" fmla="*/ 2075373 w 5372222"/>
                <a:gd name="connsiteY70" fmla="*/ 323723 h 5312911"/>
                <a:gd name="connsiteX71" fmla="*/ 2121635 w 5372222"/>
                <a:gd name="connsiteY71" fmla="*/ 267275 h 5312911"/>
                <a:gd name="connsiteX72" fmla="*/ 2372951 w 5372222"/>
                <a:gd name="connsiteY72" fmla="*/ 68618 h 5312911"/>
                <a:gd name="connsiteX73" fmla="*/ 2686000 w 5372222"/>
                <a:gd name="connsiteY73" fmla="*/ 0 h 5312911"/>
                <a:gd name="connsiteX74" fmla="*/ 2999048 w 5372222"/>
                <a:gd name="connsiteY74" fmla="*/ 68618 h 5312911"/>
                <a:gd name="connsiteX75" fmla="*/ 3250364 w 5372222"/>
                <a:gd name="connsiteY75" fmla="*/ 267275 h 5312911"/>
                <a:gd name="connsiteX76" fmla="*/ 1896340 w 5372222"/>
                <a:gd name="connsiteY76" fmla="*/ 2654545 h 5312911"/>
                <a:gd name="connsiteX77" fmla="*/ 1920872 w 5372222"/>
                <a:gd name="connsiteY77" fmla="*/ 2478422 h 5312911"/>
                <a:gd name="connsiteX78" fmla="*/ 2096995 w 5372222"/>
                <a:gd name="connsiteY78" fmla="*/ 2503111 h 5312911"/>
                <a:gd name="connsiteX79" fmla="*/ 2524935 w 5372222"/>
                <a:gd name="connsiteY79" fmla="*/ 3070797 h 5312911"/>
                <a:gd name="connsiteX80" fmla="*/ 3271702 w 5372222"/>
                <a:gd name="connsiteY80" fmla="*/ 1956381 h 5312911"/>
                <a:gd name="connsiteX81" fmla="*/ 3445827 w 5372222"/>
                <a:gd name="connsiteY81" fmla="*/ 1921974 h 5312911"/>
                <a:gd name="connsiteX82" fmla="*/ 3480234 w 5372222"/>
                <a:gd name="connsiteY82" fmla="*/ 2096098 h 5312911"/>
                <a:gd name="connsiteX83" fmla="*/ 2639669 w 5372222"/>
                <a:gd name="connsiteY83" fmla="*/ 3350623 h 5312911"/>
                <a:gd name="connsiteX84" fmla="*/ 2606750 w 5372222"/>
                <a:gd name="connsiteY84" fmla="*/ 3387822 h 5312911"/>
                <a:gd name="connsiteX85" fmla="*/ 2430627 w 5372222"/>
                <a:gd name="connsiteY85" fmla="*/ 3363290 h 5312911"/>
                <a:gd name="connsiteX86" fmla="*/ 1896340 w 5372222"/>
                <a:gd name="connsiteY86" fmla="*/ 2654722 h 5312911"/>
                <a:gd name="connsiteX87" fmla="*/ 2686391 w 5372222"/>
                <a:gd name="connsiteY87" fmla="*/ 1073580 h 5312911"/>
                <a:gd name="connsiteX88" fmla="*/ 3805813 w 5372222"/>
                <a:gd name="connsiteY88" fmla="*/ 1537220 h 5312911"/>
                <a:gd name="connsiteX89" fmla="*/ 4269453 w 5372222"/>
                <a:gd name="connsiteY89" fmla="*/ 2656446 h 5312911"/>
                <a:gd name="connsiteX90" fmla="*/ 3805813 w 5372222"/>
                <a:gd name="connsiteY90" fmla="*/ 3775868 h 5312911"/>
                <a:gd name="connsiteX91" fmla="*/ 2686391 w 5372222"/>
                <a:gd name="connsiteY91" fmla="*/ 4239508 h 5312911"/>
                <a:gd name="connsiteX92" fmla="*/ 1566970 w 5372222"/>
                <a:gd name="connsiteY92" fmla="*/ 3775868 h 5312911"/>
                <a:gd name="connsiteX93" fmla="*/ 1103330 w 5372222"/>
                <a:gd name="connsiteY93" fmla="*/ 2656446 h 5312911"/>
                <a:gd name="connsiteX94" fmla="*/ 1566970 w 5372222"/>
                <a:gd name="connsiteY94" fmla="*/ 1537220 h 5312911"/>
                <a:gd name="connsiteX95" fmla="*/ 2686391 w 5372222"/>
                <a:gd name="connsiteY95" fmla="*/ 1073580 h 5312911"/>
                <a:gd name="connsiteX96" fmla="*/ 3627720 w 5372222"/>
                <a:gd name="connsiteY96" fmla="*/ 1715332 h 5312911"/>
                <a:gd name="connsiteX97" fmla="*/ 2686391 w 5372222"/>
                <a:gd name="connsiteY97" fmla="*/ 1325396 h 5312911"/>
                <a:gd name="connsiteX98" fmla="*/ 1745062 w 5372222"/>
                <a:gd name="connsiteY98" fmla="*/ 1715332 h 5312911"/>
                <a:gd name="connsiteX99" fmla="*/ 1355126 w 5372222"/>
                <a:gd name="connsiteY99" fmla="*/ 2656662 h 5312911"/>
                <a:gd name="connsiteX100" fmla="*/ 1745062 w 5372222"/>
                <a:gd name="connsiteY100" fmla="*/ 3597991 h 5312911"/>
                <a:gd name="connsiteX101" fmla="*/ 2686391 w 5372222"/>
                <a:gd name="connsiteY101" fmla="*/ 3987927 h 5312911"/>
                <a:gd name="connsiteX102" fmla="*/ 3627720 w 5372222"/>
                <a:gd name="connsiteY102" fmla="*/ 3597991 h 5312911"/>
                <a:gd name="connsiteX103" fmla="*/ 4017657 w 5372222"/>
                <a:gd name="connsiteY103" fmla="*/ 2656662 h 5312911"/>
                <a:gd name="connsiteX104" fmla="*/ 3627720 w 5372222"/>
                <a:gd name="connsiteY104" fmla="*/ 1715332 h 5312911"/>
                <a:gd name="connsiteX105" fmla="*/ 3103152 w 5372222"/>
                <a:gd name="connsiteY105" fmla="*/ 483048 h 5312911"/>
                <a:gd name="connsiteX106" fmla="*/ 3056880 w 5372222"/>
                <a:gd name="connsiteY106" fmla="*/ 426752 h 5312911"/>
                <a:gd name="connsiteX107" fmla="*/ 2892131 w 5372222"/>
                <a:gd name="connsiteY107" fmla="*/ 295755 h 5312911"/>
                <a:gd name="connsiteX108" fmla="*/ 2686391 w 5372222"/>
                <a:gd name="connsiteY108" fmla="*/ 251820 h 5312911"/>
                <a:gd name="connsiteX109" fmla="*/ 2480651 w 5372222"/>
                <a:gd name="connsiteY109" fmla="*/ 295755 h 5312911"/>
                <a:gd name="connsiteX110" fmla="*/ 2315903 w 5372222"/>
                <a:gd name="connsiteY110" fmla="*/ 426752 h 5312911"/>
                <a:gd name="connsiteX111" fmla="*/ 2269640 w 5372222"/>
                <a:gd name="connsiteY111" fmla="*/ 483048 h 5312911"/>
                <a:gd name="connsiteX112" fmla="*/ 1955593 w 5372222"/>
                <a:gd name="connsiteY112" fmla="*/ 708225 h 5312911"/>
                <a:gd name="connsiteX113" fmla="*/ 1570595 w 5372222"/>
                <a:gd name="connsiteY113" fmla="*/ 737540 h 5312911"/>
                <a:gd name="connsiteX114" fmla="*/ 1498987 w 5372222"/>
                <a:gd name="connsiteY114" fmla="*/ 724222 h 5312911"/>
                <a:gd name="connsiteX115" fmla="*/ 1288153 w 5372222"/>
                <a:gd name="connsiteY115" fmla="*/ 729657 h 5312911"/>
                <a:gd name="connsiteX116" fmla="*/ 1102507 w 5372222"/>
                <a:gd name="connsiteY116" fmla="*/ 828235 h 5312911"/>
                <a:gd name="connsiteX117" fmla="*/ 973302 w 5372222"/>
                <a:gd name="connsiteY117" fmla="*/ 993822 h 5312911"/>
                <a:gd name="connsiteX118" fmla="*/ 931165 w 5372222"/>
                <a:gd name="connsiteY118" fmla="*/ 1200708 h 5312911"/>
                <a:gd name="connsiteX119" fmla="*/ 932007 w 5372222"/>
                <a:gd name="connsiteY119" fmla="*/ 1273619 h 5312911"/>
                <a:gd name="connsiteX120" fmla="*/ 840502 w 5372222"/>
                <a:gd name="connsiteY120" fmla="*/ 1639826 h 5312911"/>
                <a:gd name="connsiteX121" fmla="*/ 836220 w 5372222"/>
                <a:gd name="connsiteY121" fmla="*/ 1647713 h 5312911"/>
                <a:gd name="connsiteX122" fmla="*/ 560029 w 5372222"/>
                <a:gd name="connsiteY122" fmla="*/ 1917976 h 5312911"/>
                <a:gd name="connsiteX123" fmla="*/ 496495 w 5372222"/>
                <a:gd name="connsiteY123" fmla="*/ 1953677 h 5312911"/>
                <a:gd name="connsiteX124" fmla="*/ 338819 w 5372222"/>
                <a:gd name="connsiteY124" fmla="*/ 2092601 h 5312911"/>
                <a:gd name="connsiteX125" fmla="*/ 259992 w 5372222"/>
                <a:gd name="connsiteY125" fmla="*/ 2287623 h 5312911"/>
                <a:gd name="connsiteX126" fmla="*/ 267408 w 5372222"/>
                <a:gd name="connsiteY126" fmla="*/ 2498301 h 5312911"/>
                <a:gd name="connsiteX127" fmla="*/ 367986 w 5372222"/>
                <a:gd name="connsiteY127" fmla="*/ 2683143 h 5312911"/>
                <a:gd name="connsiteX128" fmla="*/ 415561 w 5372222"/>
                <a:gd name="connsiteY128" fmla="*/ 2738448 h 5312911"/>
                <a:gd name="connsiteX129" fmla="*/ 582954 w 5372222"/>
                <a:gd name="connsiteY129" fmla="*/ 3086893 h 5312911"/>
                <a:gd name="connsiteX130" fmla="*/ 544755 w 5372222"/>
                <a:gd name="connsiteY130" fmla="*/ 3471206 h 5312911"/>
                <a:gd name="connsiteX131" fmla="*/ 519077 w 5372222"/>
                <a:gd name="connsiteY131" fmla="*/ 3539365 h 5312911"/>
                <a:gd name="connsiteX132" fmla="*/ 488314 w 5372222"/>
                <a:gd name="connsiteY132" fmla="*/ 3747897 h 5312911"/>
                <a:gd name="connsiteX133" fmla="*/ 552681 w 5372222"/>
                <a:gd name="connsiteY133" fmla="*/ 3948052 h 5312911"/>
                <a:gd name="connsiteX134" fmla="*/ 693741 w 5372222"/>
                <a:gd name="connsiteY134" fmla="*/ 4103778 h 5312911"/>
                <a:gd name="connsiteX135" fmla="*/ 889458 w 5372222"/>
                <a:gd name="connsiteY135" fmla="*/ 4180960 h 5312911"/>
                <a:gd name="connsiteX136" fmla="*/ 961369 w 5372222"/>
                <a:gd name="connsiteY136" fmla="*/ 4192824 h 5312911"/>
                <a:gd name="connsiteX137" fmla="*/ 1313606 w 5372222"/>
                <a:gd name="connsiteY137" fmla="*/ 4352145 h 5312911"/>
                <a:gd name="connsiteX138" fmla="*/ 1531857 w 5372222"/>
                <a:gd name="connsiteY138" fmla="*/ 4671621 h 5312911"/>
                <a:gd name="connsiteX139" fmla="*/ 1556046 w 5372222"/>
                <a:gd name="connsiteY139" fmla="*/ 4740436 h 5312911"/>
                <a:gd name="connsiteX140" fmla="*/ 1666146 w 5372222"/>
                <a:gd name="connsiteY140" fmla="*/ 4919351 h 5312911"/>
                <a:gd name="connsiteX141" fmla="*/ 1843916 w 5372222"/>
                <a:gd name="connsiteY141" fmla="*/ 5031440 h 5312911"/>
                <a:gd name="connsiteX142" fmla="*/ 2052790 w 5372222"/>
                <a:gd name="connsiteY142" fmla="*/ 5060410 h 5312911"/>
                <a:gd name="connsiteX143" fmla="*/ 2252104 w 5372222"/>
                <a:gd name="connsiteY143" fmla="*/ 4993437 h 5312911"/>
                <a:gd name="connsiteX144" fmla="*/ 2314825 w 5372222"/>
                <a:gd name="connsiteY144" fmla="*/ 4956237 h 5312911"/>
                <a:gd name="connsiteX145" fmla="*/ 2686813 w 5372222"/>
                <a:gd name="connsiteY145" fmla="*/ 4851878 h 5312911"/>
                <a:gd name="connsiteX146" fmla="*/ 3058800 w 5372222"/>
                <a:gd name="connsiteY146" fmla="*/ 4956237 h 5312911"/>
                <a:gd name="connsiteX147" fmla="*/ 3121522 w 5372222"/>
                <a:gd name="connsiteY147" fmla="*/ 4993437 h 5312911"/>
                <a:gd name="connsiteX148" fmla="*/ 3320835 w 5372222"/>
                <a:gd name="connsiteY148" fmla="*/ 5060410 h 5312911"/>
                <a:gd name="connsiteX149" fmla="*/ 3529710 w 5372222"/>
                <a:gd name="connsiteY149" fmla="*/ 5031440 h 5312911"/>
                <a:gd name="connsiteX150" fmla="*/ 3707479 w 5372222"/>
                <a:gd name="connsiteY150" fmla="*/ 4919351 h 5312911"/>
                <a:gd name="connsiteX151" fmla="*/ 3817579 w 5372222"/>
                <a:gd name="connsiteY151" fmla="*/ 4740436 h 5312911"/>
                <a:gd name="connsiteX152" fmla="*/ 3841769 w 5372222"/>
                <a:gd name="connsiteY152" fmla="*/ 4671621 h 5312911"/>
                <a:gd name="connsiteX153" fmla="*/ 4060019 w 5372222"/>
                <a:gd name="connsiteY153" fmla="*/ 4352145 h 5312911"/>
                <a:gd name="connsiteX154" fmla="*/ 4412109 w 5372222"/>
                <a:gd name="connsiteY154" fmla="*/ 4192824 h 5312911"/>
                <a:gd name="connsiteX155" fmla="*/ 4484020 w 5372222"/>
                <a:gd name="connsiteY155" fmla="*/ 4180960 h 5312911"/>
                <a:gd name="connsiteX156" fmla="*/ 4679738 w 5372222"/>
                <a:gd name="connsiteY156" fmla="*/ 4103778 h 5312911"/>
                <a:gd name="connsiteX157" fmla="*/ 4820797 w 5372222"/>
                <a:gd name="connsiteY157" fmla="*/ 3947563 h 5312911"/>
                <a:gd name="connsiteX158" fmla="*/ 4821140 w 5372222"/>
                <a:gd name="connsiteY158" fmla="*/ 3947709 h 5312911"/>
                <a:gd name="connsiteX159" fmla="*/ 4885164 w 5372222"/>
                <a:gd name="connsiteY159" fmla="*/ 3747897 h 5312911"/>
                <a:gd name="connsiteX160" fmla="*/ 4854402 w 5372222"/>
                <a:gd name="connsiteY160" fmla="*/ 3539365 h 5312911"/>
                <a:gd name="connsiteX161" fmla="*/ 4828723 w 5372222"/>
                <a:gd name="connsiteY161" fmla="*/ 3471049 h 5312911"/>
                <a:gd name="connsiteX162" fmla="*/ 4790524 w 5372222"/>
                <a:gd name="connsiteY162" fmla="*/ 3086746 h 5312911"/>
                <a:gd name="connsiteX163" fmla="*/ 4957918 w 5372222"/>
                <a:gd name="connsiteY163" fmla="*/ 2738291 h 5312911"/>
                <a:gd name="connsiteX164" fmla="*/ 5005493 w 5372222"/>
                <a:gd name="connsiteY164" fmla="*/ 2682996 h 5312911"/>
                <a:gd name="connsiteX165" fmla="*/ 5106070 w 5372222"/>
                <a:gd name="connsiteY165" fmla="*/ 2498153 h 5312911"/>
                <a:gd name="connsiteX166" fmla="*/ 5113486 w 5372222"/>
                <a:gd name="connsiteY166" fmla="*/ 2287476 h 5312911"/>
                <a:gd name="connsiteX167" fmla="*/ 5034659 w 5372222"/>
                <a:gd name="connsiteY167" fmla="*/ 2092454 h 5312911"/>
                <a:gd name="connsiteX168" fmla="*/ 4876984 w 5372222"/>
                <a:gd name="connsiteY168" fmla="*/ 1953530 h 5312911"/>
                <a:gd name="connsiteX169" fmla="*/ 4813449 w 5372222"/>
                <a:gd name="connsiteY169" fmla="*/ 1917830 h 5312911"/>
                <a:gd name="connsiteX170" fmla="*/ 4537258 w 5372222"/>
                <a:gd name="connsiteY170" fmla="*/ 1647056 h 5312911"/>
                <a:gd name="connsiteX171" fmla="*/ 4441471 w 5372222"/>
                <a:gd name="connsiteY171" fmla="*/ 1273589 h 5312911"/>
                <a:gd name="connsiteX172" fmla="*/ 4442314 w 5372222"/>
                <a:gd name="connsiteY172" fmla="*/ 1200679 h 5312911"/>
                <a:gd name="connsiteX173" fmla="*/ 4400176 w 5372222"/>
                <a:gd name="connsiteY173" fmla="*/ 993792 h 5312911"/>
                <a:gd name="connsiteX174" fmla="*/ 4270972 w 5372222"/>
                <a:gd name="connsiteY174" fmla="*/ 828202 h 5312911"/>
                <a:gd name="connsiteX175" fmla="*/ 4085325 w 5372222"/>
                <a:gd name="connsiteY175" fmla="*/ 729623 h 5312911"/>
                <a:gd name="connsiteX176" fmla="*/ 3874491 w 5372222"/>
                <a:gd name="connsiteY176" fmla="*/ 724189 h 5312911"/>
                <a:gd name="connsiteX177" fmla="*/ 3802883 w 5372222"/>
                <a:gd name="connsiteY177" fmla="*/ 737507 h 5312911"/>
                <a:gd name="connsiteX178" fmla="*/ 3417885 w 5372222"/>
                <a:gd name="connsiteY178" fmla="*/ 708192 h 5312911"/>
                <a:gd name="connsiteX179" fmla="*/ 3103838 w 5372222"/>
                <a:gd name="connsiteY179" fmla="*/ 483014 h 531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5372222" h="5312911">
                  <a:moveTo>
                    <a:pt x="3250599" y="267471"/>
                  </a:moveTo>
                  <a:lnTo>
                    <a:pt x="3296871" y="323920"/>
                  </a:lnTo>
                  <a:cubicBezTo>
                    <a:pt x="3354155" y="393724"/>
                    <a:pt x="3424773" y="443895"/>
                    <a:pt x="3502611" y="472366"/>
                  </a:cubicBezTo>
                  <a:cubicBezTo>
                    <a:pt x="3580645" y="500686"/>
                    <a:pt x="3666870" y="507575"/>
                    <a:pt x="3755916" y="490965"/>
                  </a:cubicBezTo>
                  <a:lnTo>
                    <a:pt x="3827514" y="477647"/>
                  </a:lnTo>
                  <a:cubicBezTo>
                    <a:pt x="3937810" y="456904"/>
                    <a:pt x="4045422" y="460196"/>
                    <a:pt x="4147488" y="487022"/>
                  </a:cubicBezTo>
                  <a:cubicBezTo>
                    <a:pt x="4250202" y="513850"/>
                    <a:pt x="4345655" y="563715"/>
                    <a:pt x="4431567" y="635821"/>
                  </a:cubicBezTo>
                  <a:cubicBezTo>
                    <a:pt x="4517478" y="707927"/>
                    <a:pt x="4583305" y="793497"/>
                    <a:pt x="4627588" y="889969"/>
                  </a:cubicBezTo>
                  <a:cubicBezTo>
                    <a:pt x="4671528" y="985602"/>
                    <a:pt x="4693415" y="1090931"/>
                    <a:pt x="4692268" y="1203020"/>
                  </a:cubicBezTo>
                  <a:lnTo>
                    <a:pt x="4691426" y="1275921"/>
                  </a:lnTo>
                  <a:cubicBezTo>
                    <a:pt x="4690427" y="1366779"/>
                    <a:pt x="4712167" y="1450702"/>
                    <a:pt x="4753804" y="1522652"/>
                  </a:cubicBezTo>
                  <a:cubicBezTo>
                    <a:pt x="4794942" y="1593916"/>
                    <a:pt x="4856518" y="1654335"/>
                    <a:pt x="4935512" y="1698922"/>
                  </a:cubicBezTo>
                  <a:lnTo>
                    <a:pt x="4999046" y="1734633"/>
                  </a:lnTo>
                  <a:cubicBezTo>
                    <a:pt x="5096626" y="1789428"/>
                    <a:pt x="5176816" y="1861535"/>
                    <a:pt x="5238352" y="1948259"/>
                  </a:cubicBezTo>
                  <a:cubicBezTo>
                    <a:pt x="5299730" y="2035013"/>
                    <a:pt x="5341064" y="2134405"/>
                    <a:pt x="5360473" y="2244545"/>
                  </a:cubicBezTo>
                  <a:cubicBezTo>
                    <a:pt x="5379871" y="2354645"/>
                    <a:pt x="5375129" y="2462149"/>
                    <a:pt x="5347149" y="2564372"/>
                  </a:cubicBezTo>
                  <a:cubicBezTo>
                    <a:pt x="5319178" y="2666439"/>
                    <a:pt x="5268311" y="2761540"/>
                    <a:pt x="5195410" y="2846648"/>
                  </a:cubicBezTo>
                  <a:lnTo>
                    <a:pt x="5147845" y="2901943"/>
                  </a:lnTo>
                  <a:cubicBezTo>
                    <a:pt x="5089102" y="2970405"/>
                    <a:pt x="5052049" y="3048596"/>
                    <a:pt x="5037549" y="3130226"/>
                  </a:cubicBezTo>
                  <a:cubicBezTo>
                    <a:pt x="5023079" y="3212199"/>
                    <a:pt x="5031112" y="3298424"/>
                    <a:pt x="5062884" y="3382698"/>
                  </a:cubicBezTo>
                  <a:lnTo>
                    <a:pt x="5088563" y="3450857"/>
                  </a:lnTo>
                  <a:cubicBezTo>
                    <a:pt x="5128241" y="3556372"/>
                    <a:pt x="5143711" y="3663024"/>
                    <a:pt x="5135138" y="3767540"/>
                  </a:cubicBezTo>
                  <a:cubicBezTo>
                    <a:pt x="5126566" y="3872399"/>
                    <a:pt x="5093990" y="3975083"/>
                    <a:pt x="5037353" y="4073015"/>
                  </a:cubicBezTo>
                  <a:lnTo>
                    <a:pt x="5037196" y="4073358"/>
                  </a:lnTo>
                  <a:lnTo>
                    <a:pt x="5037353" y="4073515"/>
                  </a:lnTo>
                  <a:cubicBezTo>
                    <a:pt x="4981215" y="4170604"/>
                    <a:pt x="4908648" y="4250128"/>
                    <a:pt x="4821591" y="4310370"/>
                  </a:cubicBezTo>
                  <a:cubicBezTo>
                    <a:pt x="4734837" y="4370456"/>
                    <a:pt x="4634798" y="4410448"/>
                    <a:pt x="4523659" y="4428700"/>
                  </a:cubicBezTo>
                  <a:lnTo>
                    <a:pt x="4451749" y="4440565"/>
                  </a:lnTo>
                  <a:cubicBezTo>
                    <a:pt x="4362889" y="4455221"/>
                    <a:pt x="4284355" y="4491275"/>
                    <a:pt x="4220673" y="4544738"/>
                  </a:cubicBezTo>
                  <a:cubicBezTo>
                    <a:pt x="4157148" y="4598044"/>
                    <a:pt x="4108084" y="4669152"/>
                    <a:pt x="4078115" y="4753926"/>
                  </a:cubicBezTo>
                  <a:lnTo>
                    <a:pt x="4053926" y="4822731"/>
                  </a:lnTo>
                  <a:cubicBezTo>
                    <a:pt x="4016383" y="4929540"/>
                    <a:pt x="3959785" y="5021389"/>
                    <a:pt x="3885885" y="5096131"/>
                  </a:cubicBezTo>
                  <a:cubicBezTo>
                    <a:pt x="3811985" y="5170873"/>
                    <a:pt x="3720979" y="5228470"/>
                    <a:pt x="3614622" y="5267160"/>
                  </a:cubicBezTo>
                  <a:cubicBezTo>
                    <a:pt x="3509106" y="5305506"/>
                    <a:pt x="3402641" y="5319672"/>
                    <a:pt x="3297439" y="5309944"/>
                  </a:cubicBezTo>
                  <a:cubicBezTo>
                    <a:pt x="3191777" y="5300078"/>
                    <a:pt x="3089211" y="5266513"/>
                    <a:pt x="2992925" y="5209366"/>
                  </a:cubicBezTo>
                  <a:lnTo>
                    <a:pt x="2930203" y="5172323"/>
                  </a:lnTo>
                  <a:cubicBezTo>
                    <a:pt x="2852669" y="5126404"/>
                    <a:pt x="2769236" y="5103361"/>
                    <a:pt x="2686117" y="5103361"/>
                  </a:cubicBezTo>
                  <a:cubicBezTo>
                    <a:pt x="2602998" y="5103361"/>
                    <a:pt x="2519566" y="5126404"/>
                    <a:pt x="2442031" y="5172323"/>
                  </a:cubicBezTo>
                  <a:lnTo>
                    <a:pt x="2379310" y="5209366"/>
                  </a:lnTo>
                  <a:cubicBezTo>
                    <a:pt x="2282867" y="5266474"/>
                    <a:pt x="2180496" y="5300068"/>
                    <a:pt x="2074795" y="5309944"/>
                  </a:cubicBezTo>
                  <a:cubicBezTo>
                    <a:pt x="1969632" y="5319672"/>
                    <a:pt x="1863128" y="5305506"/>
                    <a:pt x="1757612" y="5267160"/>
                  </a:cubicBezTo>
                  <a:cubicBezTo>
                    <a:pt x="1651450" y="5228470"/>
                    <a:pt x="1560249" y="5170873"/>
                    <a:pt x="1486349" y="5096131"/>
                  </a:cubicBezTo>
                  <a:cubicBezTo>
                    <a:pt x="1412449" y="5021389"/>
                    <a:pt x="1355812" y="4929736"/>
                    <a:pt x="1318308" y="4822731"/>
                  </a:cubicBezTo>
                  <a:lnTo>
                    <a:pt x="1294119" y="4753926"/>
                  </a:lnTo>
                  <a:cubicBezTo>
                    <a:pt x="1264346" y="4669161"/>
                    <a:pt x="1215135" y="4598054"/>
                    <a:pt x="1151561" y="4544738"/>
                  </a:cubicBezTo>
                  <a:cubicBezTo>
                    <a:pt x="1087880" y="4491235"/>
                    <a:pt x="1009199" y="4455182"/>
                    <a:pt x="920486" y="4440565"/>
                  </a:cubicBezTo>
                  <a:lnTo>
                    <a:pt x="848575" y="4428700"/>
                  </a:lnTo>
                  <a:cubicBezTo>
                    <a:pt x="737475" y="4410448"/>
                    <a:pt x="637397" y="4370456"/>
                    <a:pt x="550644" y="4310370"/>
                  </a:cubicBezTo>
                  <a:cubicBezTo>
                    <a:pt x="463890" y="4250284"/>
                    <a:pt x="391136" y="4170800"/>
                    <a:pt x="334881" y="4073015"/>
                  </a:cubicBezTo>
                  <a:cubicBezTo>
                    <a:pt x="278440" y="3975230"/>
                    <a:pt x="245678" y="3872369"/>
                    <a:pt x="237106" y="3767540"/>
                  </a:cubicBezTo>
                  <a:cubicBezTo>
                    <a:pt x="228531" y="3662867"/>
                    <a:pt x="244032" y="3556363"/>
                    <a:pt x="283681" y="3450857"/>
                  </a:cubicBezTo>
                  <a:lnTo>
                    <a:pt x="309360" y="3382698"/>
                  </a:lnTo>
                  <a:cubicBezTo>
                    <a:pt x="341122" y="3298276"/>
                    <a:pt x="349195" y="3212169"/>
                    <a:pt x="334695" y="3130226"/>
                  </a:cubicBezTo>
                  <a:cubicBezTo>
                    <a:pt x="320381" y="3048400"/>
                    <a:pt x="283182" y="2970258"/>
                    <a:pt x="224396" y="2901943"/>
                  </a:cubicBezTo>
                  <a:lnTo>
                    <a:pt x="176826" y="2846638"/>
                  </a:lnTo>
                  <a:cubicBezTo>
                    <a:pt x="103921" y="2761530"/>
                    <a:pt x="53058" y="2666576"/>
                    <a:pt x="25088" y="2564363"/>
                  </a:cubicBezTo>
                  <a:cubicBezTo>
                    <a:pt x="-2888" y="2461992"/>
                    <a:pt x="-7672" y="2354488"/>
                    <a:pt x="11769" y="2244535"/>
                  </a:cubicBezTo>
                  <a:cubicBezTo>
                    <a:pt x="31173" y="2134435"/>
                    <a:pt x="72504" y="2034856"/>
                    <a:pt x="133891" y="1948093"/>
                  </a:cubicBezTo>
                  <a:cubicBezTo>
                    <a:pt x="195276" y="1861339"/>
                    <a:pt x="275608" y="1789428"/>
                    <a:pt x="373198" y="1734466"/>
                  </a:cubicBezTo>
                  <a:lnTo>
                    <a:pt x="436722" y="1698765"/>
                  </a:lnTo>
                  <a:cubicBezTo>
                    <a:pt x="515403" y="1654482"/>
                    <a:pt x="577135" y="1593750"/>
                    <a:pt x="618430" y="1521996"/>
                  </a:cubicBezTo>
                  <a:lnTo>
                    <a:pt x="622065" y="1516215"/>
                  </a:lnTo>
                  <a:cubicBezTo>
                    <a:pt x="661253" y="1445764"/>
                    <a:pt x="681808" y="1363781"/>
                    <a:pt x="680808" y="1275725"/>
                  </a:cubicBezTo>
                  <a:lnTo>
                    <a:pt x="679966" y="1202824"/>
                  </a:lnTo>
                  <a:cubicBezTo>
                    <a:pt x="678820" y="1090735"/>
                    <a:pt x="700716" y="985416"/>
                    <a:pt x="744647" y="889773"/>
                  </a:cubicBezTo>
                  <a:cubicBezTo>
                    <a:pt x="788930" y="793486"/>
                    <a:pt x="854747" y="707723"/>
                    <a:pt x="940668" y="635626"/>
                  </a:cubicBezTo>
                  <a:cubicBezTo>
                    <a:pt x="1026589" y="563524"/>
                    <a:pt x="1122072" y="513661"/>
                    <a:pt x="1224746" y="486826"/>
                  </a:cubicBezTo>
                  <a:cubicBezTo>
                    <a:pt x="1326812" y="459999"/>
                    <a:pt x="1434277" y="456708"/>
                    <a:pt x="1544720" y="477450"/>
                  </a:cubicBezTo>
                  <a:lnTo>
                    <a:pt x="1616328" y="490768"/>
                  </a:lnTo>
                  <a:cubicBezTo>
                    <a:pt x="1705188" y="507377"/>
                    <a:pt x="1791608" y="500489"/>
                    <a:pt x="1869633" y="472169"/>
                  </a:cubicBezTo>
                  <a:cubicBezTo>
                    <a:pt x="1947471" y="443849"/>
                    <a:pt x="2018079" y="393486"/>
                    <a:pt x="2075373" y="323723"/>
                  </a:cubicBezTo>
                  <a:lnTo>
                    <a:pt x="2121635" y="267275"/>
                  </a:lnTo>
                  <a:cubicBezTo>
                    <a:pt x="2193086" y="180210"/>
                    <a:pt x="2277664" y="113548"/>
                    <a:pt x="2372951" y="68618"/>
                  </a:cubicBezTo>
                  <a:cubicBezTo>
                    <a:pt x="2468748" y="23344"/>
                    <a:pt x="2573910" y="0"/>
                    <a:pt x="2686000" y="0"/>
                  </a:cubicBezTo>
                  <a:cubicBezTo>
                    <a:pt x="2798088" y="0"/>
                    <a:pt x="2903261" y="23191"/>
                    <a:pt x="2999048" y="68618"/>
                  </a:cubicBezTo>
                  <a:cubicBezTo>
                    <a:pt x="3094344" y="113700"/>
                    <a:pt x="3178952" y="180364"/>
                    <a:pt x="3250364" y="267275"/>
                  </a:cubicBezTo>
                  <a:close/>
                  <a:moveTo>
                    <a:pt x="1896340" y="2654545"/>
                  </a:moveTo>
                  <a:cubicBezTo>
                    <a:pt x="1854545" y="2599094"/>
                    <a:pt x="1865567" y="2520256"/>
                    <a:pt x="1920872" y="2478422"/>
                  </a:cubicBezTo>
                  <a:cubicBezTo>
                    <a:pt x="1976324" y="2436627"/>
                    <a:pt x="2055161" y="2447649"/>
                    <a:pt x="2096995" y="2503111"/>
                  </a:cubicBezTo>
                  <a:lnTo>
                    <a:pt x="2524935" y="3070797"/>
                  </a:lnTo>
                  <a:lnTo>
                    <a:pt x="3271702" y="1956381"/>
                  </a:lnTo>
                  <a:cubicBezTo>
                    <a:pt x="3310205" y="1898784"/>
                    <a:pt x="3388239" y="1883471"/>
                    <a:pt x="3445827" y="1921974"/>
                  </a:cubicBezTo>
                  <a:cubicBezTo>
                    <a:pt x="3503424" y="1960476"/>
                    <a:pt x="3518727" y="2038511"/>
                    <a:pt x="3480234" y="2096098"/>
                  </a:cubicBezTo>
                  <a:lnTo>
                    <a:pt x="2639669" y="3350623"/>
                  </a:lnTo>
                  <a:cubicBezTo>
                    <a:pt x="2631439" y="3364623"/>
                    <a:pt x="2620418" y="3377447"/>
                    <a:pt x="2606750" y="3387822"/>
                  </a:cubicBezTo>
                  <a:cubicBezTo>
                    <a:pt x="2551298" y="3429607"/>
                    <a:pt x="2472461" y="3418585"/>
                    <a:pt x="2430627" y="3363290"/>
                  </a:cubicBezTo>
                  <a:lnTo>
                    <a:pt x="1896340" y="2654722"/>
                  </a:lnTo>
                  <a:close/>
                  <a:moveTo>
                    <a:pt x="2686391" y="1073580"/>
                  </a:moveTo>
                  <a:cubicBezTo>
                    <a:pt x="3123550" y="1073580"/>
                    <a:pt x="3519227" y="1250850"/>
                    <a:pt x="3805813" y="1537220"/>
                  </a:cubicBezTo>
                  <a:cubicBezTo>
                    <a:pt x="4092399" y="1823591"/>
                    <a:pt x="4269453" y="2219464"/>
                    <a:pt x="4269453" y="2656446"/>
                  </a:cubicBezTo>
                  <a:cubicBezTo>
                    <a:pt x="4269453" y="3093604"/>
                    <a:pt x="4092340" y="3489468"/>
                    <a:pt x="3805813" y="3775868"/>
                  </a:cubicBezTo>
                  <a:cubicBezTo>
                    <a:pt x="3519246" y="4062434"/>
                    <a:pt x="3123569" y="4239508"/>
                    <a:pt x="2686391" y="4239508"/>
                  </a:cubicBezTo>
                  <a:cubicBezTo>
                    <a:pt x="2249233" y="4239508"/>
                    <a:pt x="1853556" y="4062238"/>
                    <a:pt x="1566970" y="3775868"/>
                  </a:cubicBezTo>
                  <a:cubicBezTo>
                    <a:pt x="1280384" y="3489497"/>
                    <a:pt x="1103330" y="3093624"/>
                    <a:pt x="1103330" y="2656446"/>
                  </a:cubicBezTo>
                  <a:cubicBezTo>
                    <a:pt x="1103330" y="2219268"/>
                    <a:pt x="1280443" y="1823611"/>
                    <a:pt x="1566970" y="1537220"/>
                  </a:cubicBezTo>
                  <a:cubicBezTo>
                    <a:pt x="1853536" y="1250654"/>
                    <a:pt x="2249213" y="1073580"/>
                    <a:pt x="2686391" y="1073580"/>
                  </a:cubicBezTo>
                  <a:close/>
                  <a:moveTo>
                    <a:pt x="3627720" y="1715332"/>
                  </a:moveTo>
                  <a:cubicBezTo>
                    <a:pt x="3386926" y="1474538"/>
                    <a:pt x="3054127" y="1325396"/>
                    <a:pt x="2686391" y="1325396"/>
                  </a:cubicBezTo>
                  <a:cubicBezTo>
                    <a:pt x="2318842" y="1325396"/>
                    <a:pt x="1985895" y="1474538"/>
                    <a:pt x="1745062" y="1715332"/>
                  </a:cubicBezTo>
                  <a:cubicBezTo>
                    <a:pt x="1504111" y="1956127"/>
                    <a:pt x="1355126" y="2289112"/>
                    <a:pt x="1355126" y="2656662"/>
                  </a:cubicBezTo>
                  <a:cubicBezTo>
                    <a:pt x="1355126" y="3024211"/>
                    <a:pt x="1504072" y="3357157"/>
                    <a:pt x="1745062" y="3597991"/>
                  </a:cubicBezTo>
                  <a:cubicBezTo>
                    <a:pt x="1985856" y="3838785"/>
                    <a:pt x="2318656" y="3987927"/>
                    <a:pt x="2686391" y="3987927"/>
                  </a:cubicBezTo>
                  <a:cubicBezTo>
                    <a:pt x="3053941" y="3987927"/>
                    <a:pt x="3386887" y="3838981"/>
                    <a:pt x="3627720" y="3597991"/>
                  </a:cubicBezTo>
                  <a:cubicBezTo>
                    <a:pt x="3868672" y="3357040"/>
                    <a:pt x="4017657" y="3024211"/>
                    <a:pt x="4017657" y="2656662"/>
                  </a:cubicBezTo>
                  <a:cubicBezTo>
                    <a:pt x="4017657" y="2289112"/>
                    <a:pt x="3868711" y="1956166"/>
                    <a:pt x="3627720" y="1715332"/>
                  </a:cubicBezTo>
                  <a:close/>
                  <a:moveTo>
                    <a:pt x="3103152" y="483048"/>
                  </a:moveTo>
                  <a:lnTo>
                    <a:pt x="3056880" y="426752"/>
                  </a:lnTo>
                  <a:cubicBezTo>
                    <a:pt x="3009462" y="368965"/>
                    <a:pt x="2954010" y="325029"/>
                    <a:pt x="2892131" y="295755"/>
                  </a:cubicBezTo>
                  <a:cubicBezTo>
                    <a:pt x="2830752" y="266785"/>
                    <a:pt x="2761594" y="251820"/>
                    <a:pt x="2686391" y="251820"/>
                  </a:cubicBezTo>
                  <a:cubicBezTo>
                    <a:pt x="2611198" y="251820"/>
                    <a:pt x="2541883" y="266784"/>
                    <a:pt x="2480651" y="295755"/>
                  </a:cubicBezTo>
                  <a:cubicBezTo>
                    <a:pt x="2418773" y="325070"/>
                    <a:pt x="2363282" y="369004"/>
                    <a:pt x="2315903" y="426752"/>
                  </a:cubicBezTo>
                  <a:lnTo>
                    <a:pt x="2269640" y="483048"/>
                  </a:lnTo>
                  <a:cubicBezTo>
                    <a:pt x="2183073" y="588406"/>
                    <a:pt x="2075422" y="664599"/>
                    <a:pt x="1955593" y="708225"/>
                  </a:cubicBezTo>
                  <a:cubicBezTo>
                    <a:pt x="1835774" y="751853"/>
                    <a:pt x="1704424" y="762722"/>
                    <a:pt x="1570595" y="737540"/>
                  </a:cubicBezTo>
                  <a:lnTo>
                    <a:pt x="1498987" y="724222"/>
                  </a:lnTo>
                  <a:cubicBezTo>
                    <a:pt x="1425244" y="710406"/>
                    <a:pt x="1354323" y="712359"/>
                    <a:pt x="1288153" y="729657"/>
                  </a:cubicBezTo>
                  <a:cubicBezTo>
                    <a:pt x="1222639" y="746763"/>
                    <a:pt x="1160104" y="779867"/>
                    <a:pt x="1102507" y="828235"/>
                  </a:cubicBezTo>
                  <a:cubicBezTo>
                    <a:pt x="1045066" y="876456"/>
                    <a:pt x="1001626" y="932247"/>
                    <a:pt x="973302" y="993822"/>
                  </a:cubicBezTo>
                  <a:cubicBezTo>
                    <a:pt x="944675" y="1056053"/>
                    <a:pt x="930322" y="1125662"/>
                    <a:pt x="931165" y="1200708"/>
                  </a:cubicBezTo>
                  <a:lnTo>
                    <a:pt x="932007" y="1273619"/>
                  </a:lnTo>
                  <a:cubicBezTo>
                    <a:pt x="933496" y="1406458"/>
                    <a:pt x="901548" y="1531058"/>
                    <a:pt x="840502" y="1639826"/>
                  </a:cubicBezTo>
                  <a:lnTo>
                    <a:pt x="836220" y="1647713"/>
                  </a:lnTo>
                  <a:cubicBezTo>
                    <a:pt x="772343" y="1758312"/>
                    <a:pt x="678702" y="1851003"/>
                    <a:pt x="560029" y="1917976"/>
                  </a:cubicBezTo>
                  <a:lnTo>
                    <a:pt x="496495" y="1953677"/>
                  </a:lnTo>
                  <a:cubicBezTo>
                    <a:pt x="430824" y="1990720"/>
                    <a:pt x="377969" y="2037453"/>
                    <a:pt x="338819" y="2092601"/>
                  </a:cubicBezTo>
                  <a:cubicBezTo>
                    <a:pt x="299827" y="2147749"/>
                    <a:pt x="273149" y="2213262"/>
                    <a:pt x="259992" y="2287623"/>
                  </a:cubicBezTo>
                  <a:cubicBezTo>
                    <a:pt x="246824" y="2362022"/>
                    <a:pt x="249460" y="2432973"/>
                    <a:pt x="267408" y="2498301"/>
                  </a:cubicBezTo>
                  <a:cubicBezTo>
                    <a:pt x="285356" y="2563824"/>
                    <a:pt x="319078" y="2626006"/>
                    <a:pt x="367986" y="2683143"/>
                  </a:cubicBezTo>
                  <a:lnTo>
                    <a:pt x="415561" y="2738448"/>
                  </a:lnTo>
                  <a:cubicBezTo>
                    <a:pt x="504421" y="2841965"/>
                    <a:pt x="560715" y="2961294"/>
                    <a:pt x="582954" y="3086893"/>
                  </a:cubicBezTo>
                  <a:cubicBezTo>
                    <a:pt x="604998" y="3212150"/>
                    <a:pt x="592830" y="3343490"/>
                    <a:pt x="544755" y="3471206"/>
                  </a:cubicBezTo>
                  <a:lnTo>
                    <a:pt x="519077" y="3539365"/>
                  </a:lnTo>
                  <a:cubicBezTo>
                    <a:pt x="492899" y="3609169"/>
                    <a:pt x="482534" y="3679278"/>
                    <a:pt x="488314" y="3747897"/>
                  </a:cubicBezTo>
                  <a:cubicBezTo>
                    <a:pt x="493898" y="3816359"/>
                    <a:pt x="515482" y="3883675"/>
                    <a:pt x="552681" y="3948052"/>
                  </a:cubicBezTo>
                  <a:cubicBezTo>
                    <a:pt x="589881" y="4012566"/>
                    <a:pt x="637446" y="4064736"/>
                    <a:pt x="693741" y="4103778"/>
                  </a:cubicBezTo>
                  <a:cubicBezTo>
                    <a:pt x="749888" y="4142614"/>
                    <a:pt x="815705" y="4168645"/>
                    <a:pt x="889458" y="4180960"/>
                  </a:cubicBezTo>
                  <a:lnTo>
                    <a:pt x="961369" y="4192824"/>
                  </a:lnTo>
                  <a:cubicBezTo>
                    <a:pt x="1096158" y="4215064"/>
                    <a:pt x="1215977" y="4270173"/>
                    <a:pt x="1313606" y="4352145"/>
                  </a:cubicBezTo>
                  <a:cubicBezTo>
                    <a:pt x="1411195" y="4434128"/>
                    <a:pt x="1486437" y="4542582"/>
                    <a:pt x="1531857" y="4671621"/>
                  </a:cubicBezTo>
                  <a:lnTo>
                    <a:pt x="1556046" y="4740436"/>
                  </a:lnTo>
                  <a:cubicBezTo>
                    <a:pt x="1580578" y="4810240"/>
                    <a:pt x="1617768" y="4870473"/>
                    <a:pt x="1666146" y="4919351"/>
                  </a:cubicBezTo>
                  <a:cubicBezTo>
                    <a:pt x="1714515" y="4968219"/>
                    <a:pt x="1774297" y="5006105"/>
                    <a:pt x="1843916" y="5031440"/>
                  </a:cubicBezTo>
                  <a:cubicBezTo>
                    <a:pt x="1914524" y="5057118"/>
                    <a:pt x="1984828" y="5066837"/>
                    <a:pt x="2052790" y="5060410"/>
                  </a:cubicBezTo>
                  <a:cubicBezTo>
                    <a:pt x="2120254" y="5054169"/>
                    <a:pt x="2187276" y="5031783"/>
                    <a:pt x="2252104" y="4993437"/>
                  </a:cubicBezTo>
                  <a:lnTo>
                    <a:pt x="2314825" y="4956237"/>
                  </a:lnTo>
                  <a:cubicBezTo>
                    <a:pt x="2432351" y="4886776"/>
                    <a:pt x="2559411" y="4851878"/>
                    <a:pt x="2686813" y="4851878"/>
                  </a:cubicBezTo>
                  <a:cubicBezTo>
                    <a:pt x="2814215" y="4851878"/>
                    <a:pt x="2941274" y="4886589"/>
                    <a:pt x="3058800" y="4956237"/>
                  </a:cubicBezTo>
                  <a:lnTo>
                    <a:pt x="3121522" y="4993437"/>
                  </a:lnTo>
                  <a:cubicBezTo>
                    <a:pt x="3186388" y="5031783"/>
                    <a:pt x="3253362" y="5054169"/>
                    <a:pt x="3320835" y="5060410"/>
                  </a:cubicBezTo>
                  <a:cubicBezTo>
                    <a:pt x="3388807" y="5066837"/>
                    <a:pt x="3459102" y="5057118"/>
                    <a:pt x="3529710" y="5031440"/>
                  </a:cubicBezTo>
                  <a:cubicBezTo>
                    <a:pt x="3599514" y="5006105"/>
                    <a:pt x="3659258" y="4968219"/>
                    <a:pt x="3707479" y="4919351"/>
                  </a:cubicBezTo>
                  <a:cubicBezTo>
                    <a:pt x="3755857" y="4870473"/>
                    <a:pt x="3793057" y="4810397"/>
                    <a:pt x="3817579" y="4740436"/>
                  </a:cubicBezTo>
                  <a:lnTo>
                    <a:pt x="3841769" y="4671621"/>
                  </a:lnTo>
                  <a:cubicBezTo>
                    <a:pt x="3887198" y="4542729"/>
                    <a:pt x="3962244" y="4434118"/>
                    <a:pt x="4060019" y="4352145"/>
                  </a:cubicBezTo>
                  <a:cubicBezTo>
                    <a:pt x="4157609" y="4270173"/>
                    <a:pt x="4277281" y="4215025"/>
                    <a:pt x="4412109" y="4192824"/>
                  </a:cubicBezTo>
                  <a:lnTo>
                    <a:pt x="4484020" y="4180960"/>
                  </a:lnTo>
                  <a:cubicBezTo>
                    <a:pt x="4557763" y="4168792"/>
                    <a:pt x="4623590" y="4142771"/>
                    <a:pt x="4679738" y="4103778"/>
                  </a:cubicBezTo>
                  <a:cubicBezTo>
                    <a:pt x="4735689" y="4065079"/>
                    <a:pt x="4783254" y="4012576"/>
                    <a:pt x="4820797" y="3947563"/>
                  </a:cubicBezTo>
                  <a:lnTo>
                    <a:pt x="4821140" y="3947709"/>
                  </a:lnTo>
                  <a:cubicBezTo>
                    <a:pt x="4858183" y="3883342"/>
                    <a:pt x="4879580" y="3816212"/>
                    <a:pt x="4885164" y="3747897"/>
                  </a:cubicBezTo>
                  <a:cubicBezTo>
                    <a:pt x="4890759" y="3679278"/>
                    <a:pt x="4880569" y="3609130"/>
                    <a:pt x="4854402" y="3539365"/>
                  </a:cubicBezTo>
                  <a:lnTo>
                    <a:pt x="4828723" y="3471049"/>
                  </a:lnTo>
                  <a:cubicBezTo>
                    <a:pt x="4780648" y="3343343"/>
                    <a:pt x="4768324" y="3211973"/>
                    <a:pt x="4790524" y="3086746"/>
                  </a:cubicBezTo>
                  <a:cubicBezTo>
                    <a:pt x="4812764" y="2961137"/>
                    <a:pt x="4869058" y="2842004"/>
                    <a:pt x="4957918" y="2738291"/>
                  </a:cubicBezTo>
                  <a:lnTo>
                    <a:pt x="5005493" y="2682996"/>
                  </a:lnTo>
                  <a:cubicBezTo>
                    <a:pt x="5054547" y="2625898"/>
                    <a:pt x="5088112" y="2563667"/>
                    <a:pt x="5106070" y="2498153"/>
                  </a:cubicBezTo>
                  <a:cubicBezTo>
                    <a:pt x="5124018" y="2432826"/>
                    <a:pt x="5126468" y="2361875"/>
                    <a:pt x="5113486" y="2287476"/>
                  </a:cubicBezTo>
                  <a:cubicBezTo>
                    <a:pt x="5100329" y="2213076"/>
                    <a:pt x="5073808" y="2147563"/>
                    <a:pt x="5034659" y="2092454"/>
                  </a:cubicBezTo>
                  <a:cubicBezTo>
                    <a:pt x="4995656" y="2037306"/>
                    <a:pt x="4942654" y="1990583"/>
                    <a:pt x="4876984" y="1953530"/>
                  </a:cubicBezTo>
                  <a:lnTo>
                    <a:pt x="4813449" y="1917830"/>
                  </a:lnTo>
                  <a:cubicBezTo>
                    <a:pt x="4694923" y="1851160"/>
                    <a:pt x="4601283" y="1758166"/>
                    <a:pt x="4537258" y="1647056"/>
                  </a:cubicBezTo>
                  <a:cubicBezTo>
                    <a:pt x="4473576" y="1536623"/>
                    <a:pt x="4439972" y="1409407"/>
                    <a:pt x="4441471" y="1273589"/>
                  </a:cubicBezTo>
                  <a:lnTo>
                    <a:pt x="4442314" y="1200679"/>
                  </a:lnTo>
                  <a:cubicBezTo>
                    <a:pt x="4443157" y="1125633"/>
                    <a:pt x="4428803" y="1056014"/>
                    <a:pt x="4400176" y="993792"/>
                  </a:cubicBezTo>
                  <a:cubicBezTo>
                    <a:pt x="4371853" y="932217"/>
                    <a:pt x="4328569" y="876424"/>
                    <a:pt x="4270972" y="828202"/>
                  </a:cubicBezTo>
                  <a:cubicBezTo>
                    <a:pt x="4213374" y="779829"/>
                    <a:pt x="4150800" y="746725"/>
                    <a:pt x="4085325" y="729623"/>
                  </a:cubicBezTo>
                  <a:cubicBezTo>
                    <a:pt x="4019155" y="712325"/>
                    <a:pt x="3948391" y="710374"/>
                    <a:pt x="3874491" y="724189"/>
                  </a:cubicBezTo>
                  <a:lnTo>
                    <a:pt x="3802883" y="737507"/>
                  </a:lnTo>
                  <a:cubicBezTo>
                    <a:pt x="3669055" y="762689"/>
                    <a:pt x="3537714" y="751820"/>
                    <a:pt x="3417885" y="708192"/>
                  </a:cubicBezTo>
                  <a:cubicBezTo>
                    <a:pt x="3298056" y="664564"/>
                    <a:pt x="3190405" y="588373"/>
                    <a:pt x="3103838" y="483014"/>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nvGrpSpPr>
            <p:cNvPr id="551" name="Group 550">
              <a:extLst>
                <a:ext uri="{FF2B5EF4-FFF2-40B4-BE49-F238E27FC236}">
                  <a16:creationId xmlns:a16="http://schemas.microsoft.com/office/drawing/2014/main" id="{426E3DC8-AACF-AD46-6DE4-33F3099EF4F5}"/>
                </a:ext>
              </a:extLst>
            </p:cNvPr>
            <p:cNvGrpSpPr/>
            <p:nvPr/>
          </p:nvGrpSpPr>
          <p:grpSpPr>
            <a:xfrm>
              <a:off x="6985880" y="3505697"/>
              <a:ext cx="3992617" cy="254725"/>
              <a:chOff x="6985880" y="3510459"/>
              <a:chExt cx="3992617" cy="254725"/>
            </a:xfrm>
          </p:grpSpPr>
          <p:grpSp>
            <p:nvGrpSpPr>
              <p:cNvPr id="539" name="Group 538">
                <a:extLst>
                  <a:ext uri="{FF2B5EF4-FFF2-40B4-BE49-F238E27FC236}">
                    <a16:creationId xmlns:a16="http://schemas.microsoft.com/office/drawing/2014/main" id="{45A631FF-5C72-7FC6-532A-4894576A00AF}"/>
                  </a:ext>
                </a:extLst>
              </p:cNvPr>
              <p:cNvGrpSpPr/>
              <p:nvPr/>
            </p:nvGrpSpPr>
            <p:grpSpPr>
              <a:xfrm>
                <a:off x="6985880" y="3510459"/>
                <a:ext cx="206203" cy="254725"/>
                <a:chOff x="-7599018" y="2532667"/>
                <a:chExt cx="3886154" cy="4800639"/>
              </a:xfrm>
            </p:grpSpPr>
            <p:sp>
              <p:nvSpPr>
                <p:cNvPr id="540" name="Freeform: Shape 539">
                  <a:extLst>
                    <a:ext uri="{FF2B5EF4-FFF2-40B4-BE49-F238E27FC236}">
                      <a16:creationId xmlns:a16="http://schemas.microsoft.com/office/drawing/2014/main" id="{7BA2FCBE-3C67-A1E1-8A5D-58890C21808D}"/>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41" name="Freeform: Shape 540">
                  <a:extLst>
                    <a:ext uri="{FF2B5EF4-FFF2-40B4-BE49-F238E27FC236}">
                      <a16:creationId xmlns:a16="http://schemas.microsoft.com/office/drawing/2014/main" id="{CC8E7D82-330C-A790-44D2-301782D7EA79}"/>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42" name="Freeform: Shape 541">
                  <a:extLst>
                    <a:ext uri="{FF2B5EF4-FFF2-40B4-BE49-F238E27FC236}">
                      <a16:creationId xmlns:a16="http://schemas.microsoft.com/office/drawing/2014/main" id="{B29C6992-8FEC-CD43-A043-F17AF7EFD967}"/>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43" name="Group 542">
                <a:extLst>
                  <a:ext uri="{FF2B5EF4-FFF2-40B4-BE49-F238E27FC236}">
                    <a16:creationId xmlns:a16="http://schemas.microsoft.com/office/drawing/2014/main" id="{56C91C8B-2CE1-E1EE-E223-2C42C033638A}"/>
                  </a:ext>
                </a:extLst>
              </p:cNvPr>
              <p:cNvGrpSpPr/>
              <p:nvPr/>
            </p:nvGrpSpPr>
            <p:grpSpPr>
              <a:xfrm>
                <a:off x="8879087" y="3510459"/>
                <a:ext cx="206203" cy="254725"/>
                <a:chOff x="-7599018" y="2532667"/>
                <a:chExt cx="3886154" cy="4800639"/>
              </a:xfrm>
            </p:grpSpPr>
            <p:sp>
              <p:nvSpPr>
                <p:cNvPr id="544" name="Freeform: Shape 543">
                  <a:extLst>
                    <a:ext uri="{FF2B5EF4-FFF2-40B4-BE49-F238E27FC236}">
                      <a16:creationId xmlns:a16="http://schemas.microsoft.com/office/drawing/2014/main" id="{99F04F56-5CCD-3E2B-7C43-BED049E304FD}"/>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45" name="Freeform: Shape 544">
                  <a:extLst>
                    <a:ext uri="{FF2B5EF4-FFF2-40B4-BE49-F238E27FC236}">
                      <a16:creationId xmlns:a16="http://schemas.microsoft.com/office/drawing/2014/main" id="{1BF043B1-CE7B-76EB-EF6F-282C0472AFBF}"/>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46" name="Freeform: Shape 545">
                  <a:extLst>
                    <a:ext uri="{FF2B5EF4-FFF2-40B4-BE49-F238E27FC236}">
                      <a16:creationId xmlns:a16="http://schemas.microsoft.com/office/drawing/2014/main" id="{C355864D-DD25-7D04-12E9-B2C45013A569}"/>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47" name="Group 546">
                <a:extLst>
                  <a:ext uri="{FF2B5EF4-FFF2-40B4-BE49-F238E27FC236}">
                    <a16:creationId xmlns:a16="http://schemas.microsoft.com/office/drawing/2014/main" id="{71C12B4D-3278-D2D9-1095-4D32C3CF7CE2}"/>
                  </a:ext>
                </a:extLst>
              </p:cNvPr>
              <p:cNvGrpSpPr/>
              <p:nvPr/>
            </p:nvGrpSpPr>
            <p:grpSpPr>
              <a:xfrm>
                <a:off x="10772294" y="3510459"/>
                <a:ext cx="206203" cy="254725"/>
                <a:chOff x="-7599018" y="2532667"/>
                <a:chExt cx="3886154" cy="4800639"/>
              </a:xfrm>
            </p:grpSpPr>
            <p:sp>
              <p:nvSpPr>
                <p:cNvPr id="548" name="Freeform: Shape 547">
                  <a:extLst>
                    <a:ext uri="{FF2B5EF4-FFF2-40B4-BE49-F238E27FC236}">
                      <a16:creationId xmlns:a16="http://schemas.microsoft.com/office/drawing/2014/main" id="{E26C58CD-E3BA-9F68-9744-9327B2107C44}"/>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49" name="Freeform: Shape 548">
                  <a:extLst>
                    <a:ext uri="{FF2B5EF4-FFF2-40B4-BE49-F238E27FC236}">
                      <a16:creationId xmlns:a16="http://schemas.microsoft.com/office/drawing/2014/main" id="{D276E5E6-8A1D-5FA6-47D8-443DEC5E358F}"/>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50" name="Freeform: Shape 549">
                  <a:extLst>
                    <a:ext uri="{FF2B5EF4-FFF2-40B4-BE49-F238E27FC236}">
                      <a16:creationId xmlns:a16="http://schemas.microsoft.com/office/drawing/2014/main" id="{DD3DE3BD-1509-02BC-90D6-9C16C07F4604}"/>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nvGrpSpPr>
            <p:cNvPr id="552" name="Group 551">
              <a:extLst>
                <a:ext uri="{FF2B5EF4-FFF2-40B4-BE49-F238E27FC236}">
                  <a16:creationId xmlns:a16="http://schemas.microsoft.com/office/drawing/2014/main" id="{FBAB29E8-11DB-0083-7D71-FAAC2CB99BDE}"/>
                </a:ext>
              </a:extLst>
            </p:cNvPr>
            <p:cNvGrpSpPr/>
            <p:nvPr/>
          </p:nvGrpSpPr>
          <p:grpSpPr>
            <a:xfrm>
              <a:off x="6985880" y="3869966"/>
              <a:ext cx="3992617" cy="254725"/>
              <a:chOff x="6985880" y="3510459"/>
              <a:chExt cx="3992617" cy="254725"/>
            </a:xfrm>
          </p:grpSpPr>
          <p:grpSp>
            <p:nvGrpSpPr>
              <p:cNvPr id="553" name="Group 552">
                <a:extLst>
                  <a:ext uri="{FF2B5EF4-FFF2-40B4-BE49-F238E27FC236}">
                    <a16:creationId xmlns:a16="http://schemas.microsoft.com/office/drawing/2014/main" id="{BB2AB156-4787-501B-B439-802B4B8C50AA}"/>
                  </a:ext>
                </a:extLst>
              </p:cNvPr>
              <p:cNvGrpSpPr/>
              <p:nvPr/>
            </p:nvGrpSpPr>
            <p:grpSpPr>
              <a:xfrm>
                <a:off x="6985880" y="3510459"/>
                <a:ext cx="206203" cy="254725"/>
                <a:chOff x="-7599018" y="2532667"/>
                <a:chExt cx="3886154" cy="4800639"/>
              </a:xfrm>
            </p:grpSpPr>
            <p:sp>
              <p:nvSpPr>
                <p:cNvPr id="562" name="Freeform: Shape 561">
                  <a:extLst>
                    <a:ext uri="{FF2B5EF4-FFF2-40B4-BE49-F238E27FC236}">
                      <a16:creationId xmlns:a16="http://schemas.microsoft.com/office/drawing/2014/main" id="{3974488B-756D-D331-AE30-8FE14B134A88}"/>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63" name="Freeform: Shape 562">
                  <a:extLst>
                    <a:ext uri="{FF2B5EF4-FFF2-40B4-BE49-F238E27FC236}">
                      <a16:creationId xmlns:a16="http://schemas.microsoft.com/office/drawing/2014/main" id="{071F08D2-913A-90F5-BD03-57E00A6022F8}"/>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64" name="Freeform: Shape 563">
                  <a:extLst>
                    <a:ext uri="{FF2B5EF4-FFF2-40B4-BE49-F238E27FC236}">
                      <a16:creationId xmlns:a16="http://schemas.microsoft.com/office/drawing/2014/main" id="{56F26AEE-1C4C-CDA0-9EBA-E6097A234DB4}"/>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54" name="Group 553">
                <a:extLst>
                  <a:ext uri="{FF2B5EF4-FFF2-40B4-BE49-F238E27FC236}">
                    <a16:creationId xmlns:a16="http://schemas.microsoft.com/office/drawing/2014/main" id="{E99DA07D-3F86-508C-E49F-B937C1DE0902}"/>
                  </a:ext>
                </a:extLst>
              </p:cNvPr>
              <p:cNvGrpSpPr/>
              <p:nvPr/>
            </p:nvGrpSpPr>
            <p:grpSpPr>
              <a:xfrm>
                <a:off x="8879087" y="3510459"/>
                <a:ext cx="206203" cy="254725"/>
                <a:chOff x="-7599018" y="2532667"/>
                <a:chExt cx="3886154" cy="4800639"/>
              </a:xfrm>
            </p:grpSpPr>
            <p:sp>
              <p:nvSpPr>
                <p:cNvPr id="559" name="Freeform: Shape 558">
                  <a:extLst>
                    <a:ext uri="{FF2B5EF4-FFF2-40B4-BE49-F238E27FC236}">
                      <a16:creationId xmlns:a16="http://schemas.microsoft.com/office/drawing/2014/main" id="{325DEBC3-9035-89B5-2AA2-01D621B5724D}"/>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60" name="Freeform: Shape 559">
                  <a:extLst>
                    <a:ext uri="{FF2B5EF4-FFF2-40B4-BE49-F238E27FC236}">
                      <a16:creationId xmlns:a16="http://schemas.microsoft.com/office/drawing/2014/main" id="{B62E4FC0-8C79-718F-C4BE-0706BB8A0969}"/>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61" name="Freeform: Shape 560">
                  <a:extLst>
                    <a:ext uri="{FF2B5EF4-FFF2-40B4-BE49-F238E27FC236}">
                      <a16:creationId xmlns:a16="http://schemas.microsoft.com/office/drawing/2014/main" id="{B591FAC1-1F7B-9343-5F0B-B2699355509B}"/>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55" name="Group 554">
                <a:extLst>
                  <a:ext uri="{FF2B5EF4-FFF2-40B4-BE49-F238E27FC236}">
                    <a16:creationId xmlns:a16="http://schemas.microsoft.com/office/drawing/2014/main" id="{1DD17DE0-6C4D-EF37-E9C7-A71542647179}"/>
                  </a:ext>
                </a:extLst>
              </p:cNvPr>
              <p:cNvGrpSpPr/>
              <p:nvPr/>
            </p:nvGrpSpPr>
            <p:grpSpPr>
              <a:xfrm>
                <a:off x="10772294" y="3510459"/>
                <a:ext cx="206203" cy="254725"/>
                <a:chOff x="-7599018" y="2532667"/>
                <a:chExt cx="3886154" cy="4800639"/>
              </a:xfrm>
            </p:grpSpPr>
            <p:sp>
              <p:nvSpPr>
                <p:cNvPr id="556" name="Freeform: Shape 555">
                  <a:extLst>
                    <a:ext uri="{FF2B5EF4-FFF2-40B4-BE49-F238E27FC236}">
                      <a16:creationId xmlns:a16="http://schemas.microsoft.com/office/drawing/2014/main" id="{D31A9181-E0F2-7972-4384-83C9383B673A}"/>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57" name="Freeform: Shape 556">
                  <a:extLst>
                    <a:ext uri="{FF2B5EF4-FFF2-40B4-BE49-F238E27FC236}">
                      <a16:creationId xmlns:a16="http://schemas.microsoft.com/office/drawing/2014/main" id="{AA2E0402-218B-E251-63B2-BE9713E94506}"/>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58" name="Freeform: Shape 557">
                  <a:extLst>
                    <a:ext uri="{FF2B5EF4-FFF2-40B4-BE49-F238E27FC236}">
                      <a16:creationId xmlns:a16="http://schemas.microsoft.com/office/drawing/2014/main" id="{8AE8BC51-361B-6A8E-CC43-433695A21E29}"/>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nvGrpSpPr>
            <p:cNvPr id="593" name="Group 592">
              <a:extLst>
                <a:ext uri="{FF2B5EF4-FFF2-40B4-BE49-F238E27FC236}">
                  <a16:creationId xmlns:a16="http://schemas.microsoft.com/office/drawing/2014/main" id="{628E66C3-2E38-7AF7-940F-DB085D43A7DC}"/>
                </a:ext>
              </a:extLst>
            </p:cNvPr>
            <p:cNvGrpSpPr/>
            <p:nvPr/>
          </p:nvGrpSpPr>
          <p:grpSpPr>
            <a:xfrm>
              <a:off x="6985880" y="4235717"/>
              <a:ext cx="3992617" cy="254725"/>
              <a:chOff x="6985880" y="3510459"/>
              <a:chExt cx="3992617" cy="254725"/>
            </a:xfrm>
          </p:grpSpPr>
          <p:grpSp>
            <p:nvGrpSpPr>
              <p:cNvPr id="594" name="Group 593">
                <a:extLst>
                  <a:ext uri="{FF2B5EF4-FFF2-40B4-BE49-F238E27FC236}">
                    <a16:creationId xmlns:a16="http://schemas.microsoft.com/office/drawing/2014/main" id="{EFDAFE33-ED8E-3FA0-4D6A-00B29865F388}"/>
                  </a:ext>
                </a:extLst>
              </p:cNvPr>
              <p:cNvGrpSpPr/>
              <p:nvPr/>
            </p:nvGrpSpPr>
            <p:grpSpPr>
              <a:xfrm>
                <a:off x="6985880" y="3510459"/>
                <a:ext cx="206203" cy="254725"/>
                <a:chOff x="-7599018" y="2532667"/>
                <a:chExt cx="3886154" cy="4800639"/>
              </a:xfrm>
            </p:grpSpPr>
            <p:sp>
              <p:nvSpPr>
                <p:cNvPr id="603" name="Freeform: Shape 602">
                  <a:extLst>
                    <a:ext uri="{FF2B5EF4-FFF2-40B4-BE49-F238E27FC236}">
                      <a16:creationId xmlns:a16="http://schemas.microsoft.com/office/drawing/2014/main" id="{0573F1F5-8851-F0C8-B2FA-E17F34807A91}"/>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04" name="Freeform: Shape 603">
                  <a:extLst>
                    <a:ext uri="{FF2B5EF4-FFF2-40B4-BE49-F238E27FC236}">
                      <a16:creationId xmlns:a16="http://schemas.microsoft.com/office/drawing/2014/main" id="{7EB71FD3-44B6-2811-7126-6F16E0C17D83}"/>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05" name="Freeform: Shape 604">
                  <a:extLst>
                    <a:ext uri="{FF2B5EF4-FFF2-40B4-BE49-F238E27FC236}">
                      <a16:creationId xmlns:a16="http://schemas.microsoft.com/office/drawing/2014/main" id="{ECB1CE0E-AEAF-F8AA-3F02-69CEEDDF8470}"/>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95" name="Group 594">
                <a:extLst>
                  <a:ext uri="{FF2B5EF4-FFF2-40B4-BE49-F238E27FC236}">
                    <a16:creationId xmlns:a16="http://schemas.microsoft.com/office/drawing/2014/main" id="{F7579275-7602-923D-465C-08C008FE00C1}"/>
                  </a:ext>
                </a:extLst>
              </p:cNvPr>
              <p:cNvGrpSpPr/>
              <p:nvPr/>
            </p:nvGrpSpPr>
            <p:grpSpPr>
              <a:xfrm>
                <a:off x="8879087" y="3510459"/>
                <a:ext cx="206203" cy="254725"/>
                <a:chOff x="-7599018" y="2532667"/>
                <a:chExt cx="3886154" cy="4800639"/>
              </a:xfrm>
            </p:grpSpPr>
            <p:sp>
              <p:nvSpPr>
                <p:cNvPr id="600" name="Freeform: Shape 599">
                  <a:extLst>
                    <a:ext uri="{FF2B5EF4-FFF2-40B4-BE49-F238E27FC236}">
                      <a16:creationId xmlns:a16="http://schemas.microsoft.com/office/drawing/2014/main" id="{5F6B088C-0CF8-982A-5644-49AFD1629F05}"/>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01" name="Freeform: Shape 600">
                  <a:extLst>
                    <a:ext uri="{FF2B5EF4-FFF2-40B4-BE49-F238E27FC236}">
                      <a16:creationId xmlns:a16="http://schemas.microsoft.com/office/drawing/2014/main" id="{51A8CE0F-CBEF-5295-E94D-6704542EB0A1}"/>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02" name="Freeform: Shape 601">
                  <a:extLst>
                    <a:ext uri="{FF2B5EF4-FFF2-40B4-BE49-F238E27FC236}">
                      <a16:creationId xmlns:a16="http://schemas.microsoft.com/office/drawing/2014/main" id="{82585AAC-8DD9-B43B-1A21-5D463CB90296}"/>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596" name="Group 595">
                <a:extLst>
                  <a:ext uri="{FF2B5EF4-FFF2-40B4-BE49-F238E27FC236}">
                    <a16:creationId xmlns:a16="http://schemas.microsoft.com/office/drawing/2014/main" id="{B0154D6F-5869-67C8-9595-118C7512AD46}"/>
                  </a:ext>
                </a:extLst>
              </p:cNvPr>
              <p:cNvGrpSpPr/>
              <p:nvPr/>
            </p:nvGrpSpPr>
            <p:grpSpPr>
              <a:xfrm>
                <a:off x="10772294" y="3510459"/>
                <a:ext cx="206203" cy="254725"/>
                <a:chOff x="-7599018" y="2532667"/>
                <a:chExt cx="3886154" cy="4800639"/>
              </a:xfrm>
            </p:grpSpPr>
            <p:sp>
              <p:nvSpPr>
                <p:cNvPr id="597" name="Freeform: Shape 596">
                  <a:extLst>
                    <a:ext uri="{FF2B5EF4-FFF2-40B4-BE49-F238E27FC236}">
                      <a16:creationId xmlns:a16="http://schemas.microsoft.com/office/drawing/2014/main" id="{2D20A844-83BB-DC1E-245E-900593450C17}"/>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98" name="Freeform: Shape 597">
                  <a:extLst>
                    <a:ext uri="{FF2B5EF4-FFF2-40B4-BE49-F238E27FC236}">
                      <a16:creationId xmlns:a16="http://schemas.microsoft.com/office/drawing/2014/main" id="{F92D88F7-6C9B-3A10-9979-60439101F7E7}"/>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599" name="Freeform: Shape 598">
                  <a:extLst>
                    <a:ext uri="{FF2B5EF4-FFF2-40B4-BE49-F238E27FC236}">
                      <a16:creationId xmlns:a16="http://schemas.microsoft.com/office/drawing/2014/main" id="{C5CBDC08-48F2-FB05-9FE4-E1868019D835}"/>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nvGrpSpPr>
            <p:cNvPr id="606" name="Group 605">
              <a:extLst>
                <a:ext uri="{FF2B5EF4-FFF2-40B4-BE49-F238E27FC236}">
                  <a16:creationId xmlns:a16="http://schemas.microsoft.com/office/drawing/2014/main" id="{FFAB2EB6-381B-AC7A-C618-11A81108B89E}"/>
                </a:ext>
              </a:extLst>
            </p:cNvPr>
            <p:cNvGrpSpPr/>
            <p:nvPr/>
          </p:nvGrpSpPr>
          <p:grpSpPr>
            <a:xfrm>
              <a:off x="6985880" y="4603849"/>
              <a:ext cx="3992617" cy="254725"/>
              <a:chOff x="6985880" y="3510459"/>
              <a:chExt cx="3992617" cy="254725"/>
            </a:xfrm>
          </p:grpSpPr>
          <p:grpSp>
            <p:nvGrpSpPr>
              <p:cNvPr id="607" name="Group 606">
                <a:extLst>
                  <a:ext uri="{FF2B5EF4-FFF2-40B4-BE49-F238E27FC236}">
                    <a16:creationId xmlns:a16="http://schemas.microsoft.com/office/drawing/2014/main" id="{024C30AD-FDAE-01D7-EAD7-A58676543D4B}"/>
                  </a:ext>
                </a:extLst>
              </p:cNvPr>
              <p:cNvGrpSpPr/>
              <p:nvPr/>
            </p:nvGrpSpPr>
            <p:grpSpPr>
              <a:xfrm>
                <a:off x="6985880" y="3510459"/>
                <a:ext cx="206203" cy="254725"/>
                <a:chOff x="-7599018" y="2532667"/>
                <a:chExt cx="3886154" cy="4800639"/>
              </a:xfrm>
            </p:grpSpPr>
            <p:sp>
              <p:nvSpPr>
                <p:cNvPr id="616" name="Freeform: Shape 615">
                  <a:extLst>
                    <a:ext uri="{FF2B5EF4-FFF2-40B4-BE49-F238E27FC236}">
                      <a16:creationId xmlns:a16="http://schemas.microsoft.com/office/drawing/2014/main" id="{D99DF7C9-1E1A-925A-0B48-EF1D93BE3E49}"/>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7" name="Freeform: Shape 616">
                  <a:extLst>
                    <a:ext uri="{FF2B5EF4-FFF2-40B4-BE49-F238E27FC236}">
                      <a16:creationId xmlns:a16="http://schemas.microsoft.com/office/drawing/2014/main" id="{56AB8483-F946-77AF-4D2E-51C3A510FD60}"/>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8" name="Freeform: Shape 617">
                  <a:extLst>
                    <a:ext uri="{FF2B5EF4-FFF2-40B4-BE49-F238E27FC236}">
                      <a16:creationId xmlns:a16="http://schemas.microsoft.com/office/drawing/2014/main" id="{CB6CF50D-6892-A2FF-6810-28F61430B818}"/>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608" name="Group 607">
                <a:extLst>
                  <a:ext uri="{FF2B5EF4-FFF2-40B4-BE49-F238E27FC236}">
                    <a16:creationId xmlns:a16="http://schemas.microsoft.com/office/drawing/2014/main" id="{EABA13EC-D5FE-97C7-35F2-3AF760732BF4}"/>
                  </a:ext>
                </a:extLst>
              </p:cNvPr>
              <p:cNvGrpSpPr/>
              <p:nvPr/>
            </p:nvGrpSpPr>
            <p:grpSpPr>
              <a:xfrm>
                <a:off x="8879087" y="3510459"/>
                <a:ext cx="206203" cy="254725"/>
                <a:chOff x="-7599018" y="2532667"/>
                <a:chExt cx="3886154" cy="4800639"/>
              </a:xfrm>
            </p:grpSpPr>
            <p:sp>
              <p:nvSpPr>
                <p:cNvPr id="613" name="Freeform: Shape 612">
                  <a:extLst>
                    <a:ext uri="{FF2B5EF4-FFF2-40B4-BE49-F238E27FC236}">
                      <a16:creationId xmlns:a16="http://schemas.microsoft.com/office/drawing/2014/main" id="{6FCC89AB-0068-D19D-818F-D0CB7A1C84B3}"/>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4" name="Freeform: Shape 613">
                  <a:extLst>
                    <a:ext uri="{FF2B5EF4-FFF2-40B4-BE49-F238E27FC236}">
                      <a16:creationId xmlns:a16="http://schemas.microsoft.com/office/drawing/2014/main" id="{26D659A5-DC18-C381-1A63-770BCC34AB17}"/>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5" name="Freeform: Shape 614">
                  <a:extLst>
                    <a:ext uri="{FF2B5EF4-FFF2-40B4-BE49-F238E27FC236}">
                      <a16:creationId xmlns:a16="http://schemas.microsoft.com/office/drawing/2014/main" id="{240B906F-5175-1280-2296-9C23A2F1A8A2}"/>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609" name="Group 608">
                <a:extLst>
                  <a:ext uri="{FF2B5EF4-FFF2-40B4-BE49-F238E27FC236}">
                    <a16:creationId xmlns:a16="http://schemas.microsoft.com/office/drawing/2014/main" id="{CBD93462-1F14-450E-A098-240DBB69BE89}"/>
                  </a:ext>
                </a:extLst>
              </p:cNvPr>
              <p:cNvGrpSpPr/>
              <p:nvPr/>
            </p:nvGrpSpPr>
            <p:grpSpPr>
              <a:xfrm>
                <a:off x="10772294" y="3510459"/>
                <a:ext cx="206203" cy="254725"/>
                <a:chOff x="-7599018" y="2532667"/>
                <a:chExt cx="3886154" cy="4800639"/>
              </a:xfrm>
            </p:grpSpPr>
            <p:sp>
              <p:nvSpPr>
                <p:cNvPr id="610" name="Freeform: Shape 609">
                  <a:extLst>
                    <a:ext uri="{FF2B5EF4-FFF2-40B4-BE49-F238E27FC236}">
                      <a16:creationId xmlns:a16="http://schemas.microsoft.com/office/drawing/2014/main" id="{FE47E64F-D60B-1050-8392-217963D9B5B7}"/>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1" name="Freeform: Shape 610">
                  <a:extLst>
                    <a:ext uri="{FF2B5EF4-FFF2-40B4-BE49-F238E27FC236}">
                      <a16:creationId xmlns:a16="http://schemas.microsoft.com/office/drawing/2014/main" id="{E5907BBC-5D9D-EE74-01A4-7AB14FE5F7E5}"/>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12" name="Freeform: Shape 611">
                  <a:extLst>
                    <a:ext uri="{FF2B5EF4-FFF2-40B4-BE49-F238E27FC236}">
                      <a16:creationId xmlns:a16="http://schemas.microsoft.com/office/drawing/2014/main" id="{201ED5DA-1DF2-2520-2C01-2E98F4676DB3}"/>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nvGrpSpPr>
            <p:cNvPr id="619" name="Group 618">
              <a:extLst>
                <a:ext uri="{FF2B5EF4-FFF2-40B4-BE49-F238E27FC236}">
                  <a16:creationId xmlns:a16="http://schemas.microsoft.com/office/drawing/2014/main" id="{D3359A1F-2A30-E25E-B4D3-FE799570E71A}"/>
                </a:ext>
              </a:extLst>
            </p:cNvPr>
            <p:cNvGrpSpPr/>
            <p:nvPr/>
          </p:nvGrpSpPr>
          <p:grpSpPr>
            <a:xfrm>
              <a:off x="6985880" y="4967219"/>
              <a:ext cx="3992617" cy="254725"/>
              <a:chOff x="6985880" y="3510459"/>
              <a:chExt cx="3992617" cy="254725"/>
            </a:xfrm>
          </p:grpSpPr>
          <p:grpSp>
            <p:nvGrpSpPr>
              <p:cNvPr id="620" name="Group 619">
                <a:extLst>
                  <a:ext uri="{FF2B5EF4-FFF2-40B4-BE49-F238E27FC236}">
                    <a16:creationId xmlns:a16="http://schemas.microsoft.com/office/drawing/2014/main" id="{B0347430-4581-DDDD-7BFA-6AE6ECABB546}"/>
                  </a:ext>
                </a:extLst>
              </p:cNvPr>
              <p:cNvGrpSpPr/>
              <p:nvPr/>
            </p:nvGrpSpPr>
            <p:grpSpPr>
              <a:xfrm>
                <a:off x="6985880" y="3510459"/>
                <a:ext cx="206203" cy="254725"/>
                <a:chOff x="-7599018" y="2532667"/>
                <a:chExt cx="3886154" cy="4800639"/>
              </a:xfrm>
            </p:grpSpPr>
            <p:sp>
              <p:nvSpPr>
                <p:cNvPr id="629" name="Freeform: Shape 628">
                  <a:extLst>
                    <a:ext uri="{FF2B5EF4-FFF2-40B4-BE49-F238E27FC236}">
                      <a16:creationId xmlns:a16="http://schemas.microsoft.com/office/drawing/2014/main" id="{8BF2B1DF-2848-21B6-8A49-607A17B10755}"/>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30" name="Freeform: Shape 629">
                  <a:extLst>
                    <a:ext uri="{FF2B5EF4-FFF2-40B4-BE49-F238E27FC236}">
                      <a16:creationId xmlns:a16="http://schemas.microsoft.com/office/drawing/2014/main" id="{CFAE0D36-0AD4-8C8C-718A-6C7A236853A9}"/>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31" name="Freeform: Shape 630">
                  <a:extLst>
                    <a:ext uri="{FF2B5EF4-FFF2-40B4-BE49-F238E27FC236}">
                      <a16:creationId xmlns:a16="http://schemas.microsoft.com/office/drawing/2014/main" id="{BD9675D9-D799-13DD-E833-BF8FF5E1B243}"/>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621" name="Group 620">
                <a:extLst>
                  <a:ext uri="{FF2B5EF4-FFF2-40B4-BE49-F238E27FC236}">
                    <a16:creationId xmlns:a16="http://schemas.microsoft.com/office/drawing/2014/main" id="{B295A12A-C556-0830-F06E-6D91A33154C5}"/>
                  </a:ext>
                </a:extLst>
              </p:cNvPr>
              <p:cNvGrpSpPr/>
              <p:nvPr/>
            </p:nvGrpSpPr>
            <p:grpSpPr>
              <a:xfrm>
                <a:off x="8879087" y="3510459"/>
                <a:ext cx="206203" cy="254725"/>
                <a:chOff x="-7599018" y="2532667"/>
                <a:chExt cx="3886154" cy="4800639"/>
              </a:xfrm>
            </p:grpSpPr>
            <p:sp>
              <p:nvSpPr>
                <p:cNvPr id="626" name="Freeform: Shape 625">
                  <a:extLst>
                    <a:ext uri="{FF2B5EF4-FFF2-40B4-BE49-F238E27FC236}">
                      <a16:creationId xmlns:a16="http://schemas.microsoft.com/office/drawing/2014/main" id="{51CAE233-41D6-B924-2373-C7FB13390813}"/>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27" name="Freeform: Shape 626">
                  <a:extLst>
                    <a:ext uri="{FF2B5EF4-FFF2-40B4-BE49-F238E27FC236}">
                      <a16:creationId xmlns:a16="http://schemas.microsoft.com/office/drawing/2014/main" id="{111580E3-23F9-4E70-9BF3-F5417C7A44C8}"/>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28" name="Freeform: Shape 627">
                  <a:extLst>
                    <a:ext uri="{FF2B5EF4-FFF2-40B4-BE49-F238E27FC236}">
                      <a16:creationId xmlns:a16="http://schemas.microsoft.com/office/drawing/2014/main" id="{00EF7CC3-3C1C-C8D9-9B44-0900D919B6E4}"/>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622" name="Group 621">
                <a:extLst>
                  <a:ext uri="{FF2B5EF4-FFF2-40B4-BE49-F238E27FC236}">
                    <a16:creationId xmlns:a16="http://schemas.microsoft.com/office/drawing/2014/main" id="{DA50A78F-D385-3D07-C300-DF78D05BD040}"/>
                  </a:ext>
                </a:extLst>
              </p:cNvPr>
              <p:cNvGrpSpPr/>
              <p:nvPr/>
            </p:nvGrpSpPr>
            <p:grpSpPr>
              <a:xfrm>
                <a:off x="10772294" y="3510459"/>
                <a:ext cx="206203" cy="254725"/>
                <a:chOff x="-7599018" y="2532667"/>
                <a:chExt cx="3886154" cy="4800639"/>
              </a:xfrm>
            </p:grpSpPr>
            <p:sp>
              <p:nvSpPr>
                <p:cNvPr id="623" name="Freeform: Shape 622">
                  <a:extLst>
                    <a:ext uri="{FF2B5EF4-FFF2-40B4-BE49-F238E27FC236}">
                      <a16:creationId xmlns:a16="http://schemas.microsoft.com/office/drawing/2014/main" id="{7321CA17-628B-A16B-7286-77515957B389}"/>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24" name="Freeform: Shape 623">
                  <a:extLst>
                    <a:ext uri="{FF2B5EF4-FFF2-40B4-BE49-F238E27FC236}">
                      <a16:creationId xmlns:a16="http://schemas.microsoft.com/office/drawing/2014/main" id="{76163237-0256-C125-1A7D-80434460C742}"/>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625" name="Freeform: Shape 624">
                  <a:extLst>
                    <a:ext uri="{FF2B5EF4-FFF2-40B4-BE49-F238E27FC236}">
                      <a16:creationId xmlns:a16="http://schemas.microsoft.com/office/drawing/2014/main" id="{16F8783D-F555-84E8-95B2-147079FEC6D1}"/>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grpSp>
        <p:nvGrpSpPr>
          <p:cNvPr id="861" name="Group 860">
            <a:extLst>
              <a:ext uri="{FF2B5EF4-FFF2-40B4-BE49-F238E27FC236}">
                <a16:creationId xmlns:a16="http://schemas.microsoft.com/office/drawing/2014/main" id="{00064D3F-CEE0-46AD-DC63-10507A2D1EEF}"/>
              </a:ext>
            </a:extLst>
          </p:cNvPr>
          <p:cNvGrpSpPr/>
          <p:nvPr/>
        </p:nvGrpSpPr>
        <p:grpSpPr>
          <a:xfrm>
            <a:off x="365124" y="5290457"/>
            <a:ext cx="3965576" cy="268722"/>
            <a:chOff x="365124" y="5148918"/>
            <a:chExt cx="3965576" cy="268722"/>
          </a:xfrm>
        </p:grpSpPr>
        <p:grpSp>
          <p:nvGrpSpPr>
            <p:cNvPr id="795" name="Group 794">
              <a:extLst>
                <a:ext uri="{FF2B5EF4-FFF2-40B4-BE49-F238E27FC236}">
                  <a16:creationId xmlns:a16="http://schemas.microsoft.com/office/drawing/2014/main" id="{BB0AECEF-A3AE-6524-895D-ECA6053198A7}"/>
                </a:ext>
              </a:extLst>
            </p:cNvPr>
            <p:cNvGrpSpPr/>
            <p:nvPr/>
          </p:nvGrpSpPr>
          <p:grpSpPr>
            <a:xfrm>
              <a:off x="365124" y="5148918"/>
              <a:ext cx="1001746" cy="268722"/>
              <a:chOff x="365124" y="5156118"/>
              <a:chExt cx="1001746" cy="268722"/>
            </a:xfrm>
          </p:grpSpPr>
          <p:grpSp>
            <p:nvGrpSpPr>
              <p:cNvPr id="634" name="Group 633">
                <a:extLst>
                  <a:ext uri="{FF2B5EF4-FFF2-40B4-BE49-F238E27FC236}">
                    <a16:creationId xmlns:a16="http://schemas.microsoft.com/office/drawing/2014/main" id="{3E726C1D-1E88-642F-2029-1376CC99ED05}"/>
                  </a:ext>
                </a:extLst>
              </p:cNvPr>
              <p:cNvGrpSpPr/>
              <p:nvPr/>
            </p:nvGrpSpPr>
            <p:grpSpPr>
              <a:xfrm>
                <a:off x="365124" y="5156118"/>
                <a:ext cx="218329" cy="268722"/>
                <a:chOff x="-7713341" y="-5614397"/>
                <a:chExt cx="4114692" cy="5064417"/>
              </a:xfrm>
            </p:grpSpPr>
            <p:sp>
              <p:nvSpPr>
                <p:cNvPr id="778" name="Freeform: Shape 777">
                  <a:extLst>
                    <a:ext uri="{FF2B5EF4-FFF2-40B4-BE49-F238E27FC236}">
                      <a16:creationId xmlns:a16="http://schemas.microsoft.com/office/drawing/2014/main" id="{468C73AB-9694-BC16-7E82-899C4F074033}"/>
                    </a:ext>
                  </a:extLst>
                </p:cNvPr>
                <p:cNvSpPr/>
                <p:nvPr/>
              </p:nvSpPr>
              <p:spPr>
                <a:xfrm>
                  <a:off x="-5286716" y="-5614379"/>
                  <a:ext cx="949694" cy="949599"/>
                </a:xfrm>
                <a:custGeom>
                  <a:avLst/>
                  <a:gdLst>
                    <a:gd name="connsiteX0" fmla="*/ 844122 w 949694"/>
                    <a:gd name="connsiteY0" fmla="*/ 949600 h 949599"/>
                    <a:gd name="connsiteX1" fmla="*/ 293758 w 949694"/>
                    <a:gd name="connsiteY1" fmla="*/ 949600 h 949599"/>
                    <a:gd name="connsiteX2" fmla="*/ 0 w 949694"/>
                    <a:gd name="connsiteY2" fmla="*/ 649141 h 949599"/>
                    <a:gd name="connsiteX3" fmla="*/ 39 w 949694"/>
                    <a:gd name="connsiteY3" fmla="*/ 105556 h 949599"/>
                    <a:gd name="connsiteX4" fmla="*/ 65171 w 949694"/>
                    <a:gd name="connsiteY4" fmla="*/ 8082 h 949599"/>
                    <a:gd name="connsiteX5" fmla="*/ 180169 w 949694"/>
                    <a:gd name="connsiteY5" fmla="*/ 30967 h 949599"/>
                    <a:gd name="connsiteX6" fmla="*/ 918786 w 949694"/>
                    <a:gd name="connsiteY6" fmla="*/ 769508 h 949599"/>
                    <a:gd name="connsiteX7" fmla="*/ 941672 w 949694"/>
                    <a:gd name="connsiteY7" fmla="*/ 884507 h 949599"/>
                    <a:gd name="connsiteX8" fmla="*/ 844122 w 949694"/>
                    <a:gd name="connsiteY8" fmla="*/ 949600 h 949599"/>
                    <a:gd name="connsiteX9" fmla="*/ 211021 w 949694"/>
                    <a:gd name="connsiteY9" fmla="*/ 360243 h 949599"/>
                    <a:gd name="connsiteX10" fmla="*/ 211021 w 949694"/>
                    <a:gd name="connsiteY10" fmla="*/ 649141 h 949599"/>
                    <a:gd name="connsiteX11" fmla="*/ 293758 w 949694"/>
                    <a:gd name="connsiteY11" fmla="*/ 738578 h 949599"/>
                    <a:gd name="connsiteX12" fmla="*/ 589357 w 949694"/>
                    <a:gd name="connsiteY12" fmla="*/ 738578 h 949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49694" h="949599">
                      <a:moveTo>
                        <a:pt x="844122" y="949600"/>
                      </a:moveTo>
                      <a:lnTo>
                        <a:pt x="293758" y="949600"/>
                      </a:lnTo>
                      <a:cubicBezTo>
                        <a:pt x="123532" y="949600"/>
                        <a:pt x="0" y="823236"/>
                        <a:pt x="0" y="649141"/>
                      </a:cubicBezTo>
                      <a:lnTo>
                        <a:pt x="39" y="105556"/>
                      </a:lnTo>
                      <a:cubicBezTo>
                        <a:pt x="39" y="62885"/>
                        <a:pt x="25757" y="24424"/>
                        <a:pt x="65171" y="8082"/>
                      </a:cubicBezTo>
                      <a:cubicBezTo>
                        <a:pt x="104633" y="-8298"/>
                        <a:pt x="149984" y="658"/>
                        <a:pt x="180169" y="30967"/>
                      </a:cubicBezTo>
                      <a:lnTo>
                        <a:pt x="918786" y="769508"/>
                      </a:lnTo>
                      <a:cubicBezTo>
                        <a:pt x="948981" y="799703"/>
                        <a:pt x="957975" y="845015"/>
                        <a:pt x="941672" y="884507"/>
                      </a:cubicBezTo>
                      <a:cubicBezTo>
                        <a:pt x="925252" y="923882"/>
                        <a:pt x="886798" y="949600"/>
                        <a:pt x="844122" y="949600"/>
                      </a:cubicBezTo>
                      <a:close/>
                      <a:moveTo>
                        <a:pt x="211021" y="360243"/>
                      </a:moveTo>
                      <a:lnTo>
                        <a:pt x="211021" y="649141"/>
                      </a:lnTo>
                      <a:cubicBezTo>
                        <a:pt x="211021" y="689937"/>
                        <a:pt x="225413" y="738578"/>
                        <a:pt x="293758" y="738578"/>
                      </a:cubicBezTo>
                      <a:lnTo>
                        <a:pt x="589357" y="73857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79" name="Freeform: Shape 778">
                  <a:extLst>
                    <a:ext uri="{FF2B5EF4-FFF2-40B4-BE49-F238E27FC236}">
                      <a16:creationId xmlns:a16="http://schemas.microsoft.com/office/drawing/2014/main" id="{9CC7618A-B360-AE30-E09F-E28FE6029866}"/>
                    </a:ext>
                  </a:extLst>
                </p:cNvPr>
                <p:cNvSpPr/>
                <p:nvPr/>
              </p:nvSpPr>
              <p:spPr>
                <a:xfrm>
                  <a:off x="-5286736" y="-2238067"/>
                  <a:ext cx="1688087" cy="1688087"/>
                </a:xfrm>
                <a:custGeom>
                  <a:avLst/>
                  <a:gdLst>
                    <a:gd name="connsiteX0" fmla="*/ 844044 w 1688087"/>
                    <a:gd name="connsiteY0" fmla="*/ 1688087 h 1688087"/>
                    <a:gd name="connsiteX1" fmla="*/ 0 w 1688087"/>
                    <a:gd name="connsiteY1" fmla="*/ 844044 h 1688087"/>
                    <a:gd name="connsiteX2" fmla="*/ 844044 w 1688087"/>
                    <a:gd name="connsiteY2" fmla="*/ 0 h 1688087"/>
                    <a:gd name="connsiteX3" fmla="*/ 1688087 w 1688087"/>
                    <a:gd name="connsiteY3" fmla="*/ 844044 h 1688087"/>
                    <a:gd name="connsiteX4" fmla="*/ 844044 w 1688087"/>
                    <a:gd name="connsiteY4" fmla="*/ 1688087 h 1688087"/>
                    <a:gd name="connsiteX5" fmla="*/ 844044 w 1688087"/>
                    <a:gd name="connsiteY5" fmla="*/ 210972 h 1688087"/>
                    <a:gd name="connsiteX6" fmla="*/ 210982 w 1688087"/>
                    <a:gd name="connsiteY6" fmla="*/ 844034 h 1688087"/>
                    <a:gd name="connsiteX7" fmla="*/ 844044 w 1688087"/>
                    <a:gd name="connsiteY7" fmla="*/ 1477096 h 1688087"/>
                    <a:gd name="connsiteX8" fmla="*/ 1477105 w 1688087"/>
                    <a:gd name="connsiteY8" fmla="*/ 844034 h 1688087"/>
                    <a:gd name="connsiteX9" fmla="*/ 844044 w 1688087"/>
                    <a:gd name="connsiteY9" fmla="*/ 210972 h 16880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88087" h="1688087">
                      <a:moveTo>
                        <a:pt x="844044" y="1688087"/>
                      </a:moveTo>
                      <a:cubicBezTo>
                        <a:pt x="378640" y="1688087"/>
                        <a:pt x="0" y="1309447"/>
                        <a:pt x="0" y="844044"/>
                      </a:cubicBezTo>
                      <a:cubicBezTo>
                        <a:pt x="0" y="378640"/>
                        <a:pt x="378640" y="0"/>
                        <a:pt x="844044" y="0"/>
                      </a:cubicBezTo>
                      <a:cubicBezTo>
                        <a:pt x="1309447" y="0"/>
                        <a:pt x="1688087" y="378640"/>
                        <a:pt x="1688087" y="844044"/>
                      </a:cubicBezTo>
                      <a:cubicBezTo>
                        <a:pt x="1688087" y="1309447"/>
                        <a:pt x="1309447" y="1688087"/>
                        <a:pt x="844044" y="1688087"/>
                      </a:cubicBezTo>
                      <a:close/>
                      <a:moveTo>
                        <a:pt x="844044" y="210972"/>
                      </a:moveTo>
                      <a:cubicBezTo>
                        <a:pt x="494942" y="210972"/>
                        <a:pt x="210982" y="494932"/>
                        <a:pt x="210982" y="844034"/>
                      </a:cubicBezTo>
                      <a:cubicBezTo>
                        <a:pt x="210982" y="1193135"/>
                        <a:pt x="494942" y="1477096"/>
                        <a:pt x="844044" y="1477096"/>
                      </a:cubicBezTo>
                      <a:cubicBezTo>
                        <a:pt x="1193145" y="1477096"/>
                        <a:pt x="1477105" y="1193135"/>
                        <a:pt x="1477105" y="844034"/>
                      </a:cubicBezTo>
                      <a:cubicBezTo>
                        <a:pt x="1477066" y="494932"/>
                        <a:pt x="1193106" y="210972"/>
                        <a:pt x="844044" y="210972"/>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0" name="Freeform: Shape 779">
                  <a:extLst>
                    <a:ext uri="{FF2B5EF4-FFF2-40B4-BE49-F238E27FC236}">
                      <a16:creationId xmlns:a16="http://schemas.microsoft.com/office/drawing/2014/main" id="{AD4460A3-364A-2550-2082-6C39DD098986}"/>
                    </a:ext>
                  </a:extLst>
                </p:cNvPr>
                <p:cNvSpPr/>
                <p:nvPr/>
              </p:nvSpPr>
              <p:spPr>
                <a:xfrm>
                  <a:off x="-7713341" y="-5614397"/>
                  <a:ext cx="3376242" cy="4325908"/>
                </a:xfrm>
                <a:custGeom>
                  <a:avLst/>
                  <a:gdLst>
                    <a:gd name="connsiteX0" fmla="*/ 2637656 w 3376242"/>
                    <a:gd name="connsiteY0" fmla="*/ 4325909 h 4325908"/>
                    <a:gd name="connsiteX1" fmla="*/ 309756 w 3376242"/>
                    <a:gd name="connsiteY1" fmla="*/ 4325909 h 4325908"/>
                    <a:gd name="connsiteX2" fmla="*/ 0 w 3376242"/>
                    <a:gd name="connsiteY2" fmla="*/ 4009373 h 4325908"/>
                    <a:gd name="connsiteX3" fmla="*/ 0 w 3376242"/>
                    <a:gd name="connsiteY3" fmla="*/ 316536 h 4325908"/>
                    <a:gd name="connsiteX4" fmla="*/ 316536 w 3376242"/>
                    <a:gd name="connsiteY4" fmla="*/ 0 h 4325908"/>
                    <a:gd name="connsiteX5" fmla="*/ 2559788 w 3376242"/>
                    <a:gd name="connsiteY5" fmla="*/ 0 h 4325908"/>
                    <a:gd name="connsiteX6" fmla="*/ 3376243 w 3376242"/>
                    <a:gd name="connsiteY6" fmla="*/ 816455 h 4325908"/>
                    <a:gd name="connsiteX7" fmla="*/ 3376243 w 3376242"/>
                    <a:gd name="connsiteY7" fmla="*/ 3587283 h 4325908"/>
                    <a:gd name="connsiteX8" fmla="*/ 3270698 w 3376242"/>
                    <a:gd name="connsiteY8" fmla="*/ 3587283 h 4325908"/>
                    <a:gd name="connsiteX9" fmla="*/ 2637636 w 3376242"/>
                    <a:gd name="connsiteY9" fmla="*/ 4220345 h 4325908"/>
                    <a:gd name="connsiteX10" fmla="*/ 316516 w 3376242"/>
                    <a:gd name="connsiteY10" fmla="*/ 211109 h 4325908"/>
                    <a:gd name="connsiteX11" fmla="*/ 211001 w 3376242"/>
                    <a:gd name="connsiteY11" fmla="*/ 316624 h 4325908"/>
                    <a:gd name="connsiteX12" fmla="*/ 211001 w 3376242"/>
                    <a:gd name="connsiteY12" fmla="*/ 4009461 h 4325908"/>
                    <a:gd name="connsiteX13" fmla="*/ 309776 w 3376242"/>
                    <a:gd name="connsiteY13" fmla="*/ 4114976 h 4325908"/>
                    <a:gd name="connsiteX14" fmla="*/ 2433111 w 3376242"/>
                    <a:gd name="connsiteY14" fmla="*/ 4114976 h 4325908"/>
                    <a:gd name="connsiteX15" fmla="*/ 3165144 w 3376242"/>
                    <a:gd name="connsiteY15" fmla="*/ 3383022 h 4325908"/>
                    <a:gd name="connsiteX16" fmla="*/ 3165183 w 3376242"/>
                    <a:gd name="connsiteY16" fmla="*/ 903953 h 4325908"/>
                    <a:gd name="connsiteX17" fmla="*/ 2472378 w 3376242"/>
                    <a:gd name="connsiteY17" fmla="*/ 211148 h 4325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376242" h="4325908">
                      <a:moveTo>
                        <a:pt x="2637656" y="4325909"/>
                      </a:moveTo>
                      <a:lnTo>
                        <a:pt x="309756" y="4325909"/>
                      </a:lnTo>
                      <a:cubicBezTo>
                        <a:pt x="138914" y="4325909"/>
                        <a:pt x="0" y="4183929"/>
                        <a:pt x="0" y="4009373"/>
                      </a:cubicBezTo>
                      <a:lnTo>
                        <a:pt x="0" y="316536"/>
                      </a:lnTo>
                      <a:cubicBezTo>
                        <a:pt x="0" y="141990"/>
                        <a:pt x="141980" y="0"/>
                        <a:pt x="316536" y="0"/>
                      </a:cubicBezTo>
                      <a:lnTo>
                        <a:pt x="2559788" y="0"/>
                      </a:lnTo>
                      <a:lnTo>
                        <a:pt x="3376243" y="816455"/>
                      </a:lnTo>
                      <a:lnTo>
                        <a:pt x="3376243" y="3587283"/>
                      </a:lnTo>
                      <a:lnTo>
                        <a:pt x="3270698" y="3587283"/>
                      </a:lnTo>
                      <a:cubicBezTo>
                        <a:pt x="2921596" y="3587283"/>
                        <a:pt x="2637636" y="3871243"/>
                        <a:pt x="2637636" y="4220345"/>
                      </a:cubicBezTo>
                      <a:close/>
                      <a:moveTo>
                        <a:pt x="316516" y="211109"/>
                      </a:moveTo>
                      <a:cubicBezTo>
                        <a:pt x="258341" y="211109"/>
                        <a:pt x="211001" y="258449"/>
                        <a:pt x="211001" y="316624"/>
                      </a:cubicBezTo>
                      <a:lnTo>
                        <a:pt x="211001" y="4009461"/>
                      </a:lnTo>
                      <a:cubicBezTo>
                        <a:pt x="211001" y="4067666"/>
                        <a:pt x="255314" y="4114976"/>
                        <a:pt x="309776" y="4114976"/>
                      </a:cubicBezTo>
                      <a:lnTo>
                        <a:pt x="2433111" y="4114976"/>
                      </a:lnTo>
                      <a:cubicBezTo>
                        <a:pt x="2480872" y="3733730"/>
                        <a:pt x="2783898" y="3430705"/>
                        <a:pt x="3165144" y="3383022"/>
                      </a:cubicBezTo>
                      <a:lnTo>
                        <a:pt x="3165183" y="903953"/>
                      </a:lnTo>
                      <a:lnTo>
                        <a:pt x="2472378" y="211148"/>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1" name="Freeform: Shape 780">
                  <a:extLst>
                    <a:ext uri="{FF2B5EF4-FFF2-40B4-BE49-F238E27FC236}">
                      <a16:creationId xmlns:a16="http://schemas.microsoft.com/office/drawing/2014/main" id="{7863D5C9-00A1-E101-CB3A-1C13EE4FEEEE}"/>
                    </a:ext>
                  </a:extLst>
                </p:cNvPr>
                <p:cNvSpPr/>
                <p:nvPr/>
              </p:nvSpPr>
              <p:spPr>
                <a:xfrm>
                  <a:off x="-4864655" y="-1710451"/>
                  <a:ext cx="844048" cy="633002"/>
                </a:xfrm>
                <a:custGeom>
                  <a:avLst/>
                  <a:gdLst>
                    <a:gd name="connsiteX0" fmla="*/ 265894 w 844048"/>
                    <a:gd name="connsiteY0" fmla="*/ 632993 h 633002"/>
                    <a:gd name="connsiteX1" fmla="*/ 196854 w 844048"/>
                    <a:gd name="connsiteY1" fmla="*/ 607354 h 633002"/>
                    <a:gd name="connsiteX2" fmla="*/ 36465 w 844048"/>
                    <a:gd name="connsiteY2" fmla="*/ 468666 h 633002"/>
                    <a:gd name="connsiteX3" fmla="*/ 25708 w 844048"/>
                    <a:gd name="connsiteY3" fmla="*/ 319798 h 633002"/>
                    <a:gd name="connsiteX4" fmla="*/ 174536 w 844048"/>
                    <a:gd name="connsiteY4" fmla="*/ 308962 h 633002"/>
                    <a:gd name="connsiteX5" fmla="*/ 264738 w 844048"/>
                    <a:gd name="connsiteY5" fmla="*/ 387075 h 633002"/>
                    <a:gd name="connsiteX6" fmla="*/ 668263 w 844048"/>
                    <a:gd name="connsiteY6" fmla="*/ 26766 h 633002"/>
                    <a:gd name="connsiteX7" fmla="*/ 817248 w 844048"/>
                    <a:gd name="connsiteY7" fmla="*/ 35221 h 633002"/>
                    <a:gd name="connsiteX8" fmla="*/ 808793 w 844048"/>
                    <a:gd name="connsiteY8" fmla="*/ 184206 h 633002"/>
                    <a:gd name="connsiteX9" fmla="*/ 336120 w 844048"/>
                    <a:gd name="connsiteY9" fmla="*/ 606247 h 633002"/>
                    <a:gd name="connsiteX10" fmla="*/ 265894 w 844048"/>
                    <a:gd name="connsiteY10" fmla="*/ 633003 h 633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44048" h="633002">
                      <a:moveTo>
                        <a:pt x="265894" y="632993"/>
                      </a:moveTo>
                      <a:cubicBezTo>
                        <a:pt x="241323" y="632993"/>
                        <a:pt x="216683" y="624460"/>
                        <a:pt x="196854" y="607354"/>
                      </a:cubicBezTo>
                      <a:lnTo>
                        <a:pt x="36465" y="468666"/>
                      </a:lnTo>
                      <a:cubicBezTo>
                        <a:pt x="-7583" y="430545"/>
                        <a:pt x="-12403" y="363885"/>
                        <a:pt x="25708" y="319798"/>
                      </a:cubicBezTo>
                      <a:cubicBezTo>
                        <a:pt x="63828" y="275711"/>
                        <a:pt x="130380" y="270959"/>
                        <a:pt x="174536" y="308962"/>
                      </a:cubicBezTo>
                      <a:lnTo>
                        <a:pt x="264738" y="387075"/>
                      </a:lnTo>
                      <a:lnTo>
                        <a:pt x="668263" y="26766"/>
                      </a:lnTo>
                      <a:cubicBezTo>
                        <a:pt x="711860" y="-11963"/>
                        <a:pt x="778402" y="-8249"/>
                        <a:pt x="817248" y="35221"/>
                      </a:cubicBezTo>
                      <a:cubicBezTo>
                        <a:pt x="856055" y="78700"/>
                        <a:pt x="852273" y="145360"/>
                        <a:pt x="808793" y="184206"/>
                      </a:cubicBezTo>
                      <a:lnTo>
                        <a:pt x="336120" y="606247"/>
                      </a:lnTo>
                      <a:cubicBezTo>
                        <a:pt x="316183" y="624048"/>
                        <a:pt x="291043" y="633003"/>
                        <a:pt x="265894" y="63300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2" name="Freeform: Shape 781">
                  <a:extLst>
                    <a:ext uri="{FF2B5EF4-FFF2-40B4-BE49-F238E27FC236}">
                      <a16:creationId xmlns:a16="http://schemas.microsoft.com/office/drawing/2014/main" id="{FA38D5B1-CA40-1063-6F6B-04651CAB76E7}"/>
                    </a:ext>
                  </a:extLst>
                </p:cNvPr>
                <p:cNvSpPr/>
                <p:nvPr/>
              </p:nvSpPr>
              <p:spPr>
                <a:xfrm>
                  <a:off x="-7185892" y="-4770295"/>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3" name="Freeform: Shape 782">
                  <a:extLst>
                    <a:ext uri="{FF2B5EF4-FFF2-40B4-BE49-F238E27FC236}">
                      <a16:creationId xmlns:a16="http://schemas.microsoft.com/office/drawing/2014/main" id="{57452C5A-8990-16C1-9AE5-BAB723CC1145}"/>
                    </a:ext>
                  </a:extLst>
                </p:cNvPr>
                <p:cNvSpPr/>
                <p:nvPr/>
              </p:nvSpPr>
              <p:spPr>
                <a:xfrm>
                  <a:off x="-7185892" y="-4137204"/>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4" name="Freeform: Shape 783">
                  <a:extLst>
                    <a:ext uri="{FF2B5EF4-FFF2-40B4-BE49-F238E27FC236}">
                      <a16:creationId xmlns:a16="http://schemas.microsoft.com/office/drawing/2014/main" id="{9B8CAE4A-8BE2-5552-0943-5E4534A8CA6E}"/>
                    </a:ext>
                  </a:extLst>
                </p:cNvPr>
                <p:cNvSpPr/>
                <p:nvPr/>
              </p:nvSpPr>
              <p:spPr>
                <a:xfrm>
                  <a:off x="-7185892" y="-3504210"/>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5" name="Freeform: Shape 784">
                  <a:extLst>
                    <a:ext uri="{FF2B5EF4-FFF2-40B4-BE49-F238E27FC236}">
                      <a16:creationId xmlns:a16="http://schemas.microsoft.com/office/drawing/2014/main" id="{5A0A09AC-FB13-245C-7522-E09E18407FF1}"/>
                    </a:ext>
                  </a:extLst>
                </p:cNvPr>
                <p:cNvSpPr/>
                <p:nvPr/>
              </p:nvSpPr>
              <p:spPr>
                <a:xfrm>
                  <a:off x="-7185892" y="-2871119"/>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6" name="Freeform: Shape 785">
                  <a:extLst>
                    <a:ext uri="{FF2B5EF4-FFF2-40B4-BE49-F238E27FC236}">
                      <a16:creationId xmlns:a16="http://schemas.microsoft.com/office/drawing/2014/main" id="{290C3B74-57D2-E77F-B380-26E407895AFF}"/>
                    </a:ext>
                  </a:extLst>
                </p:cNvPr>
                <p:cNvSpPr/>
                <p:nvPr/>
              </p:nvSpPr>
              <p:spPr>
                <a:xfrm>
                  <a:off x="-7185892" y="-2238028"/>
                  <a:ext cx="211020" cy="211020"/>
                </a:xfrm>
                <a:custGeom>
                  <a:avLst/>
                  <a:gdLst>
                    <a:gd name="connsiteX0" fmla="*/ 0 w 211020"/>
                    <a:gd name="connsiteY0" fmla="*/ 0 h 211020"/>
                    <a:gd name="connsiteX1" fmla="*/ 211021 w 211020"/>
                    <a:gd name="connsiteY1" fmla="*/ 0 h 211020"/>
                    <a:gd name="connsiteX2" fmla="*/ 211021 w 211020"/>
                    <a:gd name="connsiteY2" fmla="*/ 211021 h 211020"/>
                    <a:gd name="connsiteX3" fmla="*/ 0 w 211020"/>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211020" h="211020">
                      <a:moveTo>
                        <a:pt x="0" y="0"/>
                      </a:moveTo>
                      <a:lnTo>
                        <a:pt x="211021" y="0"/>
                      </a:lnTo>
                      <a:lnTo>
                        <a:pt x="211021"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7" name="Freeform: Shape 786">
                  <a:extLst>
                    <a:ext uri="{FF2B5EF4-FFF2-40B4-BE49-F238E27FC236}">
                      <a16:creationId xmlns:a16="http://schemas.microsoft.com/office/drawing/2014/main" id="{379838D2-371A-CE25-7BA9-E23B80536F8C}"/>
                    </a:ext>
                  </a:extLst>
                </p:cNvPr>
                <p:cNvSpPr/>
                <p:nvPr/>
              </p:nvSpPr>
              <p:spPr>
                <a:xfrm>
                  <a:off x="-6658316" y="-4770295"/>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8" name="Freeform: Shape 787">
                  <a:extLst>
                    <a:ext uri="{FF2B5EF4-FFF2-40B4-BE49-F238E27FC236}">
                      <a16:creationId xmlns:a16="http://schemas.microsoft.com/office/drawing/2014/main" id="{8984BFD2-0B7E-E499-AC4F-DA839D55CBBA}"/>
                    </a:ext>
                  </a:extLst>
                </p:cNvPr>
                <p:cNvSpPr/>
                <p:nvPr/>
              </p:nvSpPr>
              <p:spPr>
                <a:xfrm>
                  <a:off x="-6658316" y="-4137204"/>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89" name="Freeform: Shape 788">
                  <a:extLst>
                    <a:ext uri="{FF2B5EF4-FFF2-40B4-BE49-F238E27FC236}">
                      <a16:creationId xmlns:a16="http://schemas.microsoft.com/office/drawing/2014/main" id="{792A4243-B530-88C4-7AD9-098618EB6FCA}"/>
                    </a:ext>
                  </a:extLst>
                </p:cNvPr>
                <p:cNvSpPr/>
                <p:nvPr/>
              </p:nvSpPr>
              <p:spPr>
                <a:xfrm>
                  <a:off x="-6658316" y="-3504210"/>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90" name="Freeform: Shape 789">
                  <a:extLst>
                    <a:ext uri="{FF2B5EF4-FFF2-40B4-BE49-F238E27FC236}">
                      <a16:creationId xmlns:a16="http://schemas.microsoft.com/office/drawing/2014/main" id="{A19F2116-B4DA-0EBC-C751-EFCAB317FC30}"/>
                    </a:ext>
                  </a:extLst>
                </p:cNvPr>
                <p:cNvSpPr/>
                <p:nvPr/>
              </p:nvSpPr>
              <p:spPr>
                <a:xfrm>
                  <a:off x="-6658316" y="-2871119"/>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791" name="Freeform: Shape 790">
                  <a:extLst>
                    <a:ext uri="{FF2B5EF4-FFF2-40B4-BE49-F238E27FC236}">
                      <a16:creationId xmlns:a16="http://schemas.microsoft.com/office/drawing/2014/main" id="{0A3EC025-64E6-F6A2-0563-E701BC0844DA}"/>
                    </a:ext>
                  </a:extLst>
                </p:cNvPr>
                <p:cNvSpPr/>
                <p:nvPr/>
              </p:nvSpPr>
              <p:spPr>
                <a:xfrm>
                  <a:off x="-6658316" y="-2238028"/>
                  <a:ext cx="1055054" cy="211020"/>
                </a:xfrm>
                <a:custGeom>
                  <a:avLst/>
                  <a:gdLst>
                    <a:gd name="connsiteX0" fmla="*/ 0 w 1055054"/>
                    <a:gd name="connsiteY0" fmla="*/ 0 h 211020"/>
                    <a:gd name="connsiteX1" fmla="*/ 1055054 w 1055054"/>
                    <a:gd name="connsiteY1" fmla="*/ 0 h 211020"/>
                    <a:gd name="connsiteX2" fmla="*/ 1055054 w 1055054"/>
                    <a:gd name="connsiteY2" fmla="*/ 211021 h 211020"/>
                    <a:gd name="connsiteX3" fmla="*/ 0 w 1055054"/>
                    <a:gd name="connsiteY3" fmla="*/ 211021 h 211020"/>
                  </a:gdLst>
                  <a:ahLst/>
                  <a:cxnLst>
                    <a:cxn ang="0">
                      <a:pos x="connsiteX0" y="connsiteY0"/>
                    </a:cxn>
                    <a:cxn ang="0">
                      <a:pos x="connsiteX1" y="connsiteY1"/>
                    </a:cxn>
                    <a:cxn ang="0">
                      <a:pos x="connsiteX2" y="connsiteY2"/>
                    </a:cxn>
                    <a:cxn ang="0">
                      <a:pos x="connsiteX3" y="connsiteY3"/>
                    </a:cxn>
                  </a:cxnLst>
                  <a:rect l="l" t="t" r="r" b="b"/>
                  <a:pathLst>
                    <a:path w="1055054" h="211020">
                      <a:moveTo>
                        <a:pt x="0" y="0"/>
                      </a:moveTo>
                      <a:lnTo>
                        <a:pt x="1055054" y="0"/>
                      </a:lnTo>
                      <a:lnTo>
                        <a:pt x="1055054" y="211021"/>
                      </a:lnTo>
                      <a:lnTo>
                        <a:pt x="0" y="211021"/>
                      </a:ln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sp>
            <p:nvSpPr>
              <p:cNvPr id="793" name="TextBox 792">
                <a:extLst>
                  <a:ext uri="{FF2B5EF4-FFF2-40B4-BE49-F238E27FC236}">
                    <a16:creationId xmlns:a16="http://schemas.microsoft.com/office/drawing/2014/main" id="{A64AF66C-BC96-ABAC-3373-5364D2C0EBED}"/>
                  </a:ext>
                </a:extLst>
              </p:cNvPr>
              <p:cNvSpPr txBox="1"/>
              <p:nvPr/>
            </p:nvSpPr>
            <p:spPr>
              <a:xfrm>
                <a:off x="595744" y="5159674"/>
                <a:ext cx="771126" cy="2616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Noto Sans"/>
                  </a:rPr>
                  <a:t>Essential</a:t>
                </a:r>
              </a:p>
            </p:txBody>
          </p:sp>
        </p:grpSp>
        <p:grpSp>
          <p:nvGrpSpPr>
            <p:cNvPr id="860" name="Group 859">
              <a:extLst>
                <a:ext uri="{FF2B5EF4-FFF2-40B4-BE49-F238E27FC236}">
                  <a16:creationId xmlns:a16="http://schemas.microsoft.com/office/drawing/2014/main" id="{C8954ACD-CFE2-2245-C271-3361B509929B}"/>
                </a:ext>
              </a:extLst>
            </p:cNvPr>
            <p:cNvGrpSpPr/>
            <p:nvPr/>
          </p:nvGrpSpPr>
          <p:grpSpPr>
            <a:xfrm>
              <a:off x="1436238" y="5152474"/>
              <a:ext cx="1402028" cy="261610"/>
              <a:chOff x="1617529" y="5152474"/>
              <a:chExt cx="1402028" cy="261610"/>
            </a:xfrm>
          </p:grpSpPr>
          <p:sp>
            <p:nvSpPr>
              <p:cNvPr id="815" name="TextBox 814">
                <a:extLst>
                  <a:ext uri="{FF2B5EF4-FFF2-40B4-BE49-F238E27FC236}">
                    <a16:creationId xmlns:a16="http://schemas.microsoft.com/office/drawing/2014/main" id="{B32B5BC5-8CE3-F6BD-EF11-3172B2B8E9C1}"/>
                  </a:ext>
                </a:extLst>
              </p:cNvPr>
              <p:cNvSpPr txBox="1"/>
              <p:nvPr/>
            </p:nvSpPr>
            <p:spPr>
              <a:xfrm>
                <a:off x="1862569" y="5152474"/>
                <a:ext cx="1156988" cy="2616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Noto Sans"/>
                  </a:rPr>
                  <a:t>Recommended</a:t>
                </a:r>
              </a:p>
            </p:txBody>
          </p:sp>
          <p:sp>
            <p:nvSpPr>
              <p:cNvPr id="850" name="Freeform: Shape 849">
                <a:extLst>
                  <a:ext uri="{FF2B5EF4-FFF2-40B4-BE49-F238E27FC236}">
                    <a16:creationId xmlns:a16="http://schemas.microsoft.com/office/drawing/2014/main" id="{7E174522-AC87-8A1B-C9DB-A680BFBE8E75}"/>
                  </a:ext>
                </a:extLst>
              </p:cNvPr>
              <p:cNvSpPr/>
              <p:nvPr/>
            </p:nvSpPr>
            <p:spPr>
              <a:xfrm>
                <a:off x="1617529" y="5154632"/>
                <a:ext cx="260168" cy="257295"/>
              </a:xfrm>
              <a:custGeom>
                <a:avLst/>
                <a:gdLst>
                  <a:gd name="connsiteX0" fmla="*/ 3250599 w 5372222"/>
                  <a:gd name="connsiteY0" fmla="*/ 267471 h 5312911"/>
                  <a:gd name="connsiteX1" fmla="*/ 3296871 w 5372222"/>
                  <a:gd name="connsiteY1" fmla="*/ 323920 h 5312911"/>
                  <a:gd name="connsiteX2" fmla="*/ 3502611 w 5372222"/>
                  <a:gd name="connsiteY2" fmla="*/ 472366 h 5312911"/>
                  <a:gd name="connsiteX3" fmla="*/ 3755916 w 5372222"/>
                  <a:gd name="connsiteY3" fmla="*/ 490965 h 5312911"/>
                  <a:gd name="connsiteX4" fmla="*/ 3827514 w 5372222"/>
                  <a:gd name="connsiteY4" fmla="*/ 477647 h 5312911"/>
                  <a:gd name="connsiteX5" fmla="*/ 4147488 w 5372222"/>
                  <a:gd name="connsiteY5" fmla="*/ 487022 h 5312911"/>
                  <a:gd name="connsiteX6" fmla="*/ 4431567 w 5372222"/>
                  <a:gd name="connsiteY6" fmla="*/ 635821 h 5312911"/>
                  <a:gd name="connsiteX7" fmla="*/ 4627588 w 5372222"/>
                  <a:gd name="connsiteY7" fmla="*/ 889969 h 5312911"/>
                  <a:gd name="connsiteX8" fmla="*/ 4692268 w 5372222"/>
                  <a:gd name="connsiteY8" fmla="*/ 1203020 h 5312911"/>
                  <a:gd name="connsiteX9" fmla="*/ 4691426 w 5372222"/>
                  <a:gd name="connsiteY9" fmla="*/ 1275921 h 5312911"/>
                  <a:gd name="connsiteX10" fmla="*/ 4753804 w 5372222"/>
                  <a:gd name="connsiteY10" fmla="*/ 1522652 h 5312911"/>
                  <a:gd name="connsiteX11" fmla="*/ 4935512 w 5372222"/>
                  <a:gd name="connsiteY11" fmla="*/ 1698922 h 5312911"/>
                  <a:gd name="connsiteX12" fmla="*/ 4999046 w 5372222"/>
                  <a:gd name="connsiteY12" fmla="*/ 1734633 h 5312911"/>
                  <a:gd name="connsiteX13" fmla="*/ 5238352 w 5372222"/>
                  <a:gd name="connsiteY13" fmla="*/ 1948259 h 5312911"/>
                  <a:gd name="connsiteX14" fmla="*/ 5360473 w 5372222"/>
                  <a:gd name="connsiteY14" fmla="*/ 2244545 h 5312911"/>
                  <a:gd name="connsiteX15" fmla="*/ 5347149 w 5372222"/>
                  <a:gd name="connsiteY15" fmla="*/ 2564372 h 5312911"/>
                  <a:gd name="connsiteX16" fmla="*/ 5195410 w 5372222"/>
                  <a:gd name="connsiteY16" fmla="*/ 2846648 h 5312911"/>
                  <a:gd name="connsiteX17" fmla="*/ 5147845 w 5372222"/>
                  <a:gd name="connsiteY17" fmla="*/ 2901943 h 5312911"/>
                  <a:gd name="connsiteX18" fmla="*/ 5037549 w 5372222"/>
                  <a:gd name="connsiteY18" fmla="*/ 3130226 h 5312911"/>
                  <a:gd name="connsiteX19" fmla="*/ 5062884 w 5372222"/>
                  <a:gd name="connsiteY19" fmla="*/ 3382698 h 5312911"/>
                  <a:gd name="connsiteX20" fmla="*/ 5088563 w 5372222"/>
                  <a:gd name="connsiteY20" fmla="*/ 3450857 h 5312911"/>
                  <a:gd name="connsiteX21" fmla="*/ 5135138 w 5372222"/>
                  <a:gd name="connsiteY21" fmla="*/ 3767540 h 5312911"/>
                  <a:gd name="connsiteX22" fmla="*/ 5037353 w 5372222"/>
                  <a:gd name="connsiteY22" fmla="*/ 4073015 h 5312911"/>
                  <a:gd name="connsiteX23" fmla="*/ 5037196 w 5372222"/>
                  <a:gd name="connsiteY23" fmla="*/ 4073358 h 5312911"/>
                  <a:gd name="connsiteX24" fmla="*/ 5037353 w 5372222"/>
                  <a:gd name="connsiteY24" fmla="*/ 4073515 h 5312911"/>
                  <a:gd name="connsiteX25" fmla="*/ 4821591 w 5372222"/>
                  <a:gd name="connsiteY25" fmla="*/ 4310370 h 5312911"/>
                  <a:gd name="connsiteX26" fmla="*/ 4523659 w 5372222"/>
                  <a:gd name="connsiteY26" fmla="*/ 4428700 h 5312911"/>
                  <a:gd name="connsiteX27" fmla="*/ 4451749 w 5372222"/>
                  <a:gd name="connsiteY27" fmla="*/ 4440565 h 5312911"/>
                  <a:gd name="connsiteX28" fmla="*/ 4220673 w 5372222"/>
                  <a:gd name="connsiteY28" fmla="*/ 4544738 h 5312911"/>
                  <a:gd name="connsiteX29" fmla="*/ 4078115 w 5372222"/>
                  <a:gd name="connsiteY29" fmla="*/ 4753926 h 5312911"/>
                  <a:gd name="connsiteX30" fmla="*/ 4053926 w 5372222"/>
                  <a:gd name="connsiteY30" fmla="*/ 4822731 h 5312911"/>
                  <a:gd name="connsiteX31" fmla="*/ 3885885 w 5372222"/>
                  <a:gd name="connsiteY31" fmla="*/ 5096131 h 5312911"/>
                  <a:gd name="connsiteX32" fmla="*/ 3614622 w 5372222"/>
                  <a:gd name="connsiteY32" fmla="*/ 5267160 h 5312911"/>
                  <a:gd name="connsiteX33" fmla="*/ 3297439 w 5372222"/>
                  <a:gd name="connsiteY33" fmla="*/ 5309944 h 5312911"/>
                  <a:gd name="connsiteX34" fmla="*/ 2992925 w 5372222"/>
                  <a:gd name="connsiteY34" fmla="*/ 5209366 h 5312911"/>
                  <a:gd name="connsiteX35" fmla="*/ 2930203 w 5372222"/>
                  <a:gd name="connsiteY35" fmla="*/ 5172323 h 5312911"/>
                  <a:gd name="connsiteX36" fmla="*/ 2686117 w 5372222"/>
                  <a:gd name="connsiteY36" fmla="*/ 5103361 h 5312911"/>
                  <a:gd name="connsiteX37" fmla="*/ 2442031 w 5372222"/>
                  <a:gd name="connsiteY37" fmla="*/ 5172323 h 5312911"/>
                  <a:gd name="connsiteX38" fmla="*/ 2379310 w 5372222"/>
                  <a:gd name="connsiteY38" fmla="*/ 5209366 h 5312911"/>
                  <a:gd name="connsiteX39" fmla="*/ 2074795 w 5372222"/>
                  <a:gd name="connsiteY39" fmla="*/ 5309944 h 5312911"/>
                  <a:gd name="connsiteX40" fmla="*/ 1757612 w 5372222"/>
                  <a:gd name="connsiteY40" fmla="*/ 5267160 h 5312911"/>
                  <a:gd name="connsiteX41" fmla="*/ 1486349 w 5372222"/>
                  <a:gd name="connsiteY41" fmla="*/ 5096131 h 5312911"/>
                  <a:gd name="connsiteX42" fmla="*/ 1318308 w 5372222"/>
                  <a:gd name="connsiteY42" fmla="*/ 4822731 h 5312911"/>
                  <a:gd name="connsiteX43" fmla="*/ 1294119 w 5372222"/>
                  <a:gd name="connsiteY43" fmla="*/ 4753926 h 5312911"/>
                  <a:gd name="connsiteX44" fmla="*/ 1151561 w 5372222"/>
                  <a:gd name="connsiteY44" fmla="*/ 4544738 h 5312911"/>
                  <a:gd name="connsiteX45" fmla="*/ 920486 w 5372222"/>
                  <a:gd name="connsiteY45" fmla="*/ 4440565 h 5312911"/>
                  <a:gd name="connsiteX46" fmla="*/ 848575 w 5372222"/>
                  <a:gd name="connsiteY46" fmla="*/ 4428700 h 5312911"/>
                  <a:gd name="connsiteX47" fmla="*/ 550644 w 5372222"/>
                  <a:gd name="connsiteY47" fmla="*/ 4310370 h 5312911"/>
                  <a:gd name="connsiteX48" fmla="*/ 334881 w 5372222"/>
                  <a:gd name="connsiteY48" fmla="*/ 4073015 h 5312911"/>
                  <a:gd name="connsiteX49" fmla="*/ 237106 w 5372222"/>
                  <a:gd name="connsiteY49" fmla="*/ 3767540 h 5312911"/>
                  <a:gd name="connsiteX50" fmla="*/ 283681 w 5372222"/>
                  <a:gd name="connsiteY50" fmla="*/ 3450857 h 5312911"/>
                  <a:gd name="connsiteX51" fmla="*/ 309360 w 5372222"/>
                  <a:gd name="connsiteY51" fmla="*/ 3382698 h 5312911"/>
                  <a:gd name="connsiteX52" fmla="*/ 334695 w 5372222"/>
                  <a:gd name="connsiteY52" fmla="*/ 3130226 h 5312911"/>
                  <a:gd name="connsiteX53" fmla="*/ 224396 w 5372222"/>
                  <a:gd name="connsiteY53" fmla="*/ 2901943 h 5312911"/>
                  <a:gd name="connsiteX54" fmla="*/ 176826 w 5372222"/>
                  <a:gd name="connsiteY54" fmla="*/ 2846638 h 5312911"/>
                  <a:gd name="connsiteX55" fmla="*/ 25088 w 5372222"/>
                  <a:gd name="connsiteY55" fmla="*/ 2564363 h 5312911"/>
                  <a:gd name="connsiteX56" fmla="*/ 11769 w 5372222"/>
                  <a:gd name="connsiteY56" fmla="*/ 2244535 h 5312911"/>
                  <a:gd name="connsiteX57" fmla="*/ 133891 w 5372222"/>
                  <a:gd name="connsiteY57" fmla="*/ 1948093 h 5312911"/>
                  <a:gd name="connsiteX58" fmla="*/ 373198 w 5372222"/>
                  <a:gd name="connsiteY58" fmla="*/ 1734466 h 5312911"/>
                  <a:gd name="connsiteX59" fmla="*/ 436722 w 5372222"/>
                  <a:gd name="connsiteY59" fmla="*/ 1698765 h 5312911"/>
                  <a:gd name="connsiteX60" fmla="*/ 618430 w 5372222"/>
                  <a:gd name="connsiteY60" fmla="*/ 1521996 h 5312911"/>
                  <a:gd name="connsiteX61" fmla="*/ 622065 w 5372222"/>
                  <a:gd name="connsiteY61" fmla="*/ 1516215 h 5312911"/>
                  <a:gd name="connsiteX62" fmla="*/ 680808 w 5372222"/>
                  <a:gd name="connsiteY62" fmla="*/ 1275725 h 5312911"/>
                  <a:gd name="connsiteX63" fmla="*/ 679966 w 5372222"/>
                  <a:gd name="connsiteY63" fmla="*/ 1202824 h 5312911"/>
                  <a:gd name="connsiteX64" fmla="*/ 744647 w 5372222"/>
                  <a:gd name="connsiteY64" fmla="*/ 889773 h 5312911"/>
                  <a:gd name="connsiteX65" fmla="*/ 940668 w 5372222"/>
                  <a:gd name="connsiteY65" fmla="*/ 635626 h 5312911"/>
                  <a:gd name="connsiteX66" fmla="*/ 1224746 w 5372222"/>
                  <a:gd name="connsiteY66" fmla="*/ 486826 h 5312911"/>
                  <a:gd name="connsiteX67" fmla="*/ 1544720 w 5372222"/>
                  <a:gd name="connsiteY67" fmla="*/ 477450 h 5312911"/>
                  <a:gd name="connsiteX68" fmla="*/ 1616328 w 5372222"/>
                  <a:gd name="connsiteY68" fmla="*/ 490768 h 5312911"/>
                  <a:gd name="connsiteX69" fmla="*/ 1869633 w 5372222"/>
                  <a:gd name="connsiteY69" fmla="*/ 472169 h 5312911"/>
                  <a:gd name="connsiteX70" fmla="*/ 2075373 w 5372222"/>
                  <a:gd name="connsiteY70" fmla="*/ 323723 h 5312911"/>
                  <a:gd name="connsiteX71" fmla="*/ 2121635 w 5372222"/>
                  <a:gd name="connsiteY71" fmla="*/ 267275 h 5312911"/>
                  <a:gd name="connsiteX72" fmla="*/ 2372951 w 5372222"/>
                  <a:gd name="connsiteY72" fmla="*/ 68618 h 5312911"/>
                  <a:gd name="connsiteX73" fmla="*/ 2686000 w 5372222"/>
                  <a:gd name="connsiteY73" fmla="*/ 0 h 5312911"/>
                  <a:gd name="connsiteX74" fmla="*/ 2999048 w 5372222"/>
                  <a:gd name="connsiteY74" fmla="*/ 68618 h 5312911"/>
                  <a:gd name="connsiteX75" fmla="*/ 3250364 w 5372222"/>
                  <a:gd name="connsiteY75" fmla="*/ 267275 h 5312911"/>
                  <a:gd name="connsiteX76" fmla="*/ 1896340 w 5372222"/>
                  <a:gd name="connsiteY76" fmla="*/ 2654545 h 5312911"/>
                  <a:gd name="connsiteX77" fmla="*/ 1920872 w 5372222"/>
                  <a:gd name="connsiteY77" fmla="*/ 2478422 h 5312911"/>
                  <a:gd name="connsiteX78" fmla="*/ 2096995 w 5372222"/>
                  <a:gd name="connsiteY78" fmla="*/ 2503111 h 5312911"/>
                  <a:gd name="connsiteX79" fmla="*/ 2524935 w 5372222"/>
                  <a:gd name="connsiteY79" fmla="*/ 3070797 h 5312911"/>
                  <a:gd name="connsiteX80" fmla="*/ 3271702 w 5372222"/>
                  <a:gd name="connsiteY80" fmla="*/ 1956381 h 5312911"/>
                  <a:gd name="connsiteX81" fmla="*/ 3445827 w 5372222"/>
                  <a:gd name="connsiteY81" fmla="*/ 1921974 h 5312911"/>
                  <a:gd name="connsiteX82" fmla="*/ 3480234 w 5372222"/>
                  <a:gd name="connsiteY82" fmla="*/ 2096098 h 5312911"/>
                  <a:gd name="connsiteX83" fmla="*/ 2639669 w 5372222"/>
                  <a:gd name="connsiteY83" fmla="*/ 3350623 h 5312911"/>
                  <a:gd name="connsiteX84" fmla="*/ 2606750 w 5372222"/>
                  <a:gd name="connsiteY84" fmla="*/ 3387822 h 5312911"/>
                  <a:gd name="connsiteX85" fmla="*/ 2430627 w 5372222"/>
                  <a:gd name="connsiteY85" fmla="*/ 3363290 h 5312911"/>
                  <a:gd name="connsiteX86" fmla="*/ 1896340 w 5372222"/>
                  <a:gd name="connsiteY86" fmla="*/ 2654722 h 5312911"/>
                  <a:gd name="connsiteX87" fmla="*/ 2686391 w 5372222"/>
                  <a:gd name="connsiteY87" fmla="*/ 1073580 h 5312911"/>
                  <a:gd name="connsiteX88" fmla="*/ 3805813 w 5372222"/>
                  <a:gd name="connsiteY88" fmla="*/ 1537220 h 5312911"/>
                  <a:gd name="connsiteX89" fmla="*/ 4269453 w 5372222"/>
                  <a:gd name="connsiteY89" fmla="*/ 2656446 h 5312911"/>
                  <a:gd name="connsiteX90" fmla="*/ 3805813 w 5372222"/>
                  <a:gd name="connsiteY90" fmla="*/ 3775868 h 5312911"/>
                  <a:gd name="connsiteX91" fmla="*/ 2686391 w 5372222"/>
                  <a:gd name="connsiteY91" fmla="*/ 4239508 h 5312911"/>
                  <a:gd name="connsiteX92" fmla="*/ 1566970 w 5372222"/>
                  <a:gd name="connsiteY92" fmla="*/ 3775868 h 5312911"/>
                  <a:gd name="connsiteX93" fmla="*/ 1103330 w 5372222"/>
                  <a:gd name="connsiteY93" fmla="*/ 2656446 h 5312911"/>
                  <a:gd name="connsiteX94" fmla="*/ 1566970 w 5372222"/>
                  <a:gd name="connsiteY94" fmla="*/ 1537220 h 5312911"/>
                  <a:gd name="connsiteX95" fmla="*/ 2686391 w 5372222"/>
                  <a:gd name="connsiteY95" fmla="*/ 1073580 h 5312911"/>
                  <a:gd name="connsiteX96" fmla="*/ 3627720 w 5372222"/>
                  <a:gd name="connsiteY96" fmla="*/ 1715332 h 5312911"/>
                  <a:gd name="connsiteX97" fmla="*/ 2686391 w 5372222"/>
                  <a:gd name="connsiteY97" fmla="*/ 1325396 h 5312911"/>
                  <a:gd name="connsiteX98" fmla="*/ 1745062 w 5372222"/>
                  <a:gd name="connsiteY98" fmla="*/ 1715332 h 5312911"/>
                  <a:gd name="connsiteX99" fmla="*/ 1355126 w 5372222"/>
                  <a:gd name="connsiteY99" fmla="*/ 2656662 h 5312911"/>
                  <a:gd name="connsiteX100" fmla="*/ 1745062 w 5372222"/>
                  <a:gd name="connsiteY100" fmla="*/ 3597991 h 5312911"/>
                  <a:gd name="connsiteX101" fmla="*/ 2686391 w 5372222"/>
                  <a:gd name="connsiteY101" fmla="*/ 3987927 h 5312911"/>
                  <a:gd name="connsiteX102" fmla="*/ 3627720 w 5372222"/>
                  <a:gd name="connsiteY102" fmla="*/ 3597991 h 5312911"/>
                  <a:gd name="connsiteX103" fmla="*/ 4017657 w 5372222"/>
                  <a:gd name="connsiteY103" fmla="*/ 2656662 h 5312911"/>
                  <a:gd name="connsiteX104" fmla="*/ 3627720 w 5372222"/>
                  <a:gd name="connsiteY104" fmla="*/ 1715332 h 5312911"/>
                  <a:gd name="connsiteX105" fmla="*/ 3103152 w 5372222"/>
                  <a:gd name="connsiteY105" fmla="*/ 483048 h 5312911"/>
                  <a:gd name="connsiteX106" fmla="*/ 3056880 w 5372222"/>
                  <a:gd name="connsiteY106" fmla="*/ 426752 h 5312911"/>
                  <a:gd name="connsiteX107" fmla="*/ 2892131 w 5372222"/>
                  <a:gd name="connsiteY107" fmla="*/ 295755 h 5312911"/>
                  <a:gd name="connsiteX108" fmla="*/ 2686391 w 5372222"/>
                  <a:gd name="connsiteY108" fmla="*/ 251820 h 5312911"/>
                  <a:gd name="connsiteX109" fmla="*/ 2480651 w 5372222"/>
                  <a:gd name="connsiteY109" fmla="*/ 295755 h 5312911"/>
                  <a:gd name="connsiteX110" fmla="*/ 2315903 w 5372222"/>
                  <a:gd name="connsiteY110" fmla="*/ 426752 h 5312911"/>
                  <a:gd name="connsiteX111" fmla="*/ 2269640 w 5372222"/>
                  <a:gd name="connsiteY111" fmla="*/ 483048 h 5312911"/>
                  <a:gd name="connsiteX112" fmla="*/ 1955593 w 5372222"/>
                  <a:gd name="connsiteY112" fmla="*/ 708225 h 5312911"/>
                  <a:gd name="connsiteX113" fmla="*/ 1570595 w 5372222"/>
                  <a:gd name="connsiteY113" fmla="*/ 737540 h 5312911"/>
                  <a:gd name="connsiteX114" fmla="*/ 1498987 w 5372222"/>
                  <a:gd name="connsiteY114" fmla="*/ 724222 h 5312911"/>
                  <a:gd name="connsiteX115" fmla="*/ 1288153 w 5372222"/>
                  <a:gd name="connsiteY115" fmla="*/ 729657 h 5312911"/>
                  <a:gd name="connsiteX116" fmla="*/ 1102507 w 5372222"/>
                  <a:gd name="connsiteY116" fmla="*/ 828235 h 5312911"/>
                  <a:gd name="connsiteX117" fmla="*/ 973302 w 5372222"/>
                  <a:gd name="connsiteY117" fmla="*/ 993822 h 5312911"/>
                  <a:gd name="connsiteX118" fmla="*/ 931165 w 5372222"/>
                  <a:gd name="connsiteY118" fmla="*/ 1200708 h 5312911"/>
                  <a:gd name="connsiteX119" fmla="*/ 932007 w 5372222"/>
                  <a:gd name="connsiteY119" fmla="*/ 1273619 h 5312911"/>
                  <a:gd name="connsiteX120" fmla="*/ 840502 w 5372222"/>
                  <a:gd name="connsiteY120" fmla="*/ 1639826 h 5312911"/>
                  <a:gd name="connsiteX121" fmla="*/ 836220 w 5372222"/>
                  <a:gd name="connsiteY121" fmla="*/ 1647713 h 5312911"/>
                  <a:gd name="connsiteX122" fmla="*/ 560029 w 5372222"/>
                  <a:gd name="connsiteY122" fmla="*/ 1917976 h 5312911"/>
                  <a:gd name="connsiteX123" fmla="*/ 496495 w 5372222"/>
                  <a:gd name="connsiteY123" fmla="*/ 1953677 h 5312911"/>
                  <a:gd name="connsiteX124" fmla="*/ 338819 w 5372222"/>
                  <a:gd name="connsiteY124" fmla="*/ 2092601 h 5312911"/>
                  <a:gd name="connsiteX125" fmla="*/ 259992 w 5372222"/>
                  <a:gd name="connsiteY125" fmla="*/ 2287623 h 5312911"/>
                  <a:gd name="connsiteX126" fmla="*/ 267408 w 5372222"/>
                  <a:gd name="connsiteY126" fmla="*/ 2498301 h 5312911"/>
                  <a:gd name="connsiteX127" fmla="*/ 367986 w 5372222"/>
                  <a:gd name="connsiteY127" fmla="*/ 2683143 h 5312911"/>
                  <a:gd name="connsiteX128" fmla="*/ 415561 w 5372222"/>
                  <a:gd name="connsiteY128" fmla="*/ 2738448 h 5312911"/>
                  <a:gd name="connsiteX129" fmla="*/ 582954 w 5372222"/>
                  <a:gd name="connsiteY129" fmla="*/ 3086893 h 5312911"/>
                  <a:gd name="connsiteX130" fmla="*/ 544755 w 5372222"/>
                  <a:gd name="connsiteY130" fmla="*/ 3471206 h 5312911"/>
                  <a:gd name="connsiteX131" fmla="*/ 519077 w 5372222"/>
                  <a:gd name="connsiteY131" fmla="*/ 3539365 h 5312911"/>
                  <a:gd name="connsiteX132" fmla="*/ 488314 w 5372222"/>
                  <a:gd name="connsiteY132" fmla="*/ 3747897 h 5312911"/>
                  <a:gd name="connsiteX133" fmla="*/ 552681 w 5372222"/>
                  <a:gd name="connsiteY133" fmla="*/ 3948052 h 5312911"/>
                  <a:gd name="connsiteX134" fmla="*/ 693741 w 5372222"/>
                  <a:gd name="connsiteY134" fmla="*/ 4103778 h 5312911"/>
                  <a:gd name="connsiteX135" fmla="*/ 889458 w 5372222"/>
                  <a:gd name="connsiteY135" fmla="*/ 4180960 h 5312911"/>
                  <a:gd name="connsiteX136" fmla="*/ 961369 w 5372222"/>
                  <a:gd name="connsiteY136" fmla="*/ 4192824 h 5312911"/>
                  <a:gd name="connsiteX137" fmla="*/ 1313606 w 5372222"/>
                  <a:gd name="connsiteY137" fmla="*/ 4352145 h 5312911"/>
                  <a:gd name="connsiteX138" fmla="*/ 1531857 w 5372222"/>
                  <a:gd name="connsiteY138" fmla="*/ 4671621 h 5312911"/>
                  <a:gd name="connsiteX139" fmla="*/ 1556046 w 5372222"/>
                  <a:gd name="connsiteY139" fmla="*/ 4740436 h 5312911"/>
                  <a:gd name="connsiteX140" fmla="*/ 1666146 w 5372222"/>
                  <a:gd name="connsiteY140" fmla="*/ 4919351 h 5312911"/>
                  <a:gd name="connsiteX141" fmla="*/ 1843916 w 5372222"/>
                  <a:gd name="connsiteY141" fmla="*/ 5031440 h 5312911"/>
                  <a:gd name="connsiteX142" fmla="*/ 2052790 w 5372222"/>
                  <a:gd name="connsiteY142" fmla="*/ 5060410 h 5312911"/>
                  <a:gd name="connsiteX143" fmla="*/ 2252104 w 5372222"/>
                  <a:gd name="connsiteY143" fmla="*/ 4993437 h 5312911"/>
                  <a:gd name="connsiteX144" fmla="*/ 2314825 w 5372222"/>
                  <a:gd name="connsiteY144" fmla="*/ 4956237 h 5312911"/>
                  <a:gd name="connsiteX145" fmla="*/ 2686813 w 5372222"/>
                  <a:gd name="connsiteY145" fmla="*/ 4851878 h 5312911"/>
                  <a:gd name="connsiteX146" fmla="*/ 3058800 w 5372222"/>
                  <a:gd name="connsiteY146" fmla="*/ 4956237 h 5312911"/>
                  <a:gd name="connsiteX147" fmla="*/ 3121522 w 5372222"/>
                  <a:gd name="connsiteY147" fmla="*/ 4993437 h 5312911"/>
                  <a:gd name="connsiteX148" fmla="*/ 3320835 w 5372222"/>
                  <a:gd name="connsiteY148" fmla="*/ 5060410 h 5312911"/>
                  <a:gd name="connsiteX149" fmla="*/ 3529710 w 5372222"/>
                  <a:gd name="connsiteY149" fmla="*/ 5031440 h 5312911"/>
                  <a:gd name="connsiteX150" fmla="*/ 3707479 w 5372222"/>
                  <a:gd name="connsiteY150" fmla="*/ 4919351 h 5312911"/>
                  <a:gd name="connsiteX151" fmla="*/ 3817579 w 5372222"/>
                  <a:gd name="connsiteY151" fmla="*/ 4740436 h 5312911"/>
                  <a:gd name="connsiteX152" fmla="*/ 3841769 w 5372222"/>
                  <a:gd name="connsiteY152" fmla="*/ 4671621 h 5312911"/>
                  <a:gd name="connsiteX153" fmla="*/ 4060019 w 5372222"/>
                  <a:gd name="connsiteY153" fmla="*/ 4352145 h 5312911"/>
                  <a:gd name="connsiteX154" fmla="*/ 4412109 w 5372222"/>
                  <a:gd name="connsiteY154" fmla="*/ 4192824 h 5312911"/>
                  <a:gd name="connsiteX155" fmla="*/ 4484020 w 5372222"/>
                  <a:gd name="connsiteY155" fmla="*/ 4180960 h 5312911"/>
                  <a:gd name="connsiteX156" fmla="*/ 4679738 w 5372222"/>
                  <a:gd name="connsiteY156" fmla="*/ 4103778 h 5312911"/>
                  <a:gd name="connsiteX157" fmla="*/ 4820797 w 5372222"/>
                  <a:gd name="connsiteY157" fmla="*/ 3947563 h 5312911"/>
                  <a:gd name="connsiteX158" fmla="*/ 4821140 w 5372222"/>
                  <a:gd name="connsiteY158" fmla="*/ 3947709 h 5312911"/>
                  <a:gd name="connsiteX159" fmla="*/ 4885164 w 5372222"/>
                  <a:gd name="connsiteY159" fmla="*/ 3747897 h 5312911"/>
                  <a:gd name="connsiteX160" fmla="*/ 4854402 w 5372222"/>
                  <a:gd name="connsiteY160" fmla="*/ 3539365 h 5312911"/>
                  <a:gd name="connsiteX161" fmla="*/ 4828723 w 5372222"/>
                  <a:gd name="connsiteY161" fmla="*/ 3471049 h 5312911"/>
                  <a:gd name="connsiteX162" fmla="*/ 4790524 w 5372222"/>
                  <a:gd name="connsiteY162" fmla="*/ 3086746 h 5312911"/>
                  <a:gd name="connsiteX163" fmla="*/ 4957918 w 5372222"/>
                  <a:gd name="connsiteY163" fmla="*/ 2738291 h 5312911"/>
                  <a:gd name="connsiteX164" fmla="*/ 5005493 w 5372222"/>
                  <a:gd name="connsiteY164" fmla="*/ 2682996 h 5312911"/>
                  <a:gd name="connsiteX165" fmla="*/ 5106070 w 5372222"/>
                  <a:gd name="connsiteY165" fmla="*/ 2498153 h 5312911"/>
                  <a:gd name="connsiteX166" fmla="*/ 5113486 w 5372222"/>
                  <a:gd name="connsiteY166" fmla="*/ 2287476 h 5312911"/>
                  <a:gd name="connsiteX167" fmla="*/ 5034659 w 5372222"/>
                  <a:gd name="connsiteY167" fmla="*/ 2092454 h 5312911"/>
                  <a:gd name="connsiteX168" fmla="*/ 4876984 w 5372222"/>
                  <a:gd name="connsiteY168" fmla="*/ 1953530 h 5312911"/>
                  <a:gd name="connsiteX169" fmla="*/ 4813449 w 5372222"/>
                  <a:gd name="connsiteY169" fmla="*/ 1917830 h 5312911"/>
                  <a:gd name="connsiteX170" fmla="*/ 4537258 w 5372222"/>
                  <a:gd name="connsiteY170" fmla="*/ 1647056 h 5312911"/>
                  <a:gd name="connsiteX171" fmla="*/ 4441471 w 5372222"/>
                  <a:gd name="connsiteY171" fmla="*/ 1273589 h 5312911"/>
                  <a:gd name="connsiteX172" fmla="*/ 4442314 w 5372222"/>
                  <a:gd name="connsiteY172" fmla="*/ 1200679 h 5312911"/>
                  <a:gd name="connsiteX173" fmla="*/ 4400176 w 5372222"/>
                  <a:gd name="connsiteY173" fmla="*/ 993792 h 5312911"/>
                  <a:gd name="connsiteX174" fmla="*/ 4270972 w 5372222"/>
                  <a:gd name="connsiteY174" fmla="*/ 828202 h 5312911"/>
                  <a:gd name="connsiteX175" fmla="*/ 4085325 w 5372222"/>
                  <a:gd name="connsiteY175" fmla="*/ 729623 h 5312911"/>
                  <a:gd name="connsiteX176" fmla="*/ 3874491 w 5372222"/>
                  <a:gd name="connsiteY176" fmla="*/ 724189 h 5312911"/>
                  <a:gd name="connsiteX177" fmla="*/ 3802883 w 5372222"/>
                  <a:gd name="connsiteY177" fmla="*/ 737507 h 5312911"/>
                  <a:gd name="connsiteX178" fmla="*/ 3417885 w 5372222"/>
                  <a:gd name="connsiteY178" fmla="*/ 708192 h 5312911"/>
                  <a:gd name="connsiteX179" fmla="*/ 3103838 w 5372222"/>
                  <a:gd name="connsiteY179" fmla="*/ 483014 h 53129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Lst>
                <a:rect l="l" t="t" r="r" b="b"/>
                <a:pathLst>
                  <a:path w="5372222" h="5312911">
                    <a:moveTo>
                      <a:pt x="3250599" y="267471"/>
                    </a:moveTo>
                    <a:lnTo>
                      <a:pt x="3296871" y="323920"/>
                    </a:lnTo>
                    <a:cubicBezTo>
                      <a:pt x="3354155" y="393724"/>
                      <a:pt x="3424773" y="443895"/>
                      <a:pt x="3502611" y="472366"/>
                    </a:cubicBezTo>
                    <a:cubicBezTo>
                      <a:pt x="3580645" y="500686"/>
                      <a:pt x="3666870" y="507575"/>
                      <a:pt x="3755916" y="490965"/>
                    </a:cubicBezTo>
                    <a:lnTo>
                      <a:pt x="3827514" y="477647"/>
                    </a:lnTo>
                    <a:cubicBezTo>
                      <a:pt x="3937810" y="456904"/>
                      <a:pt x="4045422" y="460196"/>
                      <a:pt x="4147488" y="487022"/>
                    </a:cubicBezTo>
                    <a:cubicBezTo>
                      <a:pt x="4250202" y="513850"/>
                      <a:pt x="4345655" y="563715"/>
                      <a:pt x="4431567" y="635821"/>
                    </a:cubicBezTo>
                    <a:cubicBezTo>
                      <a:pt x="4517478" y="707927"/>
                      <a:pt x="4583305" y="793497"/>
                      <a:pt x="4627588" y="889969"/>
                    </a:cubicBezTo>
                    <a:cubicBezTo>
                      <a:pt x="4671528" y="985602"/>
                      <a:pt x="4693415" y="1090931"/>
                      <a:pt x="4692268" y="1203020"/>
                    </a:cubicBezTo>
                    <a:lnTo>
                      <a:pt x="4691426" y="1275921"/>
                    </a:lnTo>
                    <a:cubicBezTo>
                      <a:pt x="4690427" y="1366779"/>
                      <a:pt x="4712167" y="1450702"/>
                      <a:pt x="4753804" y="1522652"/>
                    </a:cubicBezTo>
                    <a:cubicBezTo>
                      <a:pt x="4794942" y="1593916"/>
                      <a:pt x="4856518" y="1654335"/>
                      <a:pt x="4935512" y="1698922"/>
                    </a:cubicBezTo>
                    <a:lnTo>
                      <a:pt x="4999046" y="1734633"/>
                    </a:lnTo>
                    <a:cubicBezTo>
                      <a:pt x="5096626" y="1789428"/>
                      <a:pt x="5176816" y="1861535"/>
                      <a:pt x="5238352" y="1948259"/>
                    </a:cubicBezTo>
                    <a:cubicBezTo>
                      <a:pt x="5299730" y="2035013"/>
                      <a:pt x="5341064" y="2134405"/>
                      <a:pt x="5360473" y="2244545"/>
                    </a:cubicBezTo>
                    <a:cubicBezTo>
                      <a:pt x="5379871" y="2354645"/>
                      <a:pt x="5375129" y="2462149"/>
                      <a:pt x="5347149" y="2564372"/>
                    </a:cubicBezTo>
                    <a:cubicBezTo>
                      <a:pt x="5319178" y="2666439"/>
                      <a:pt x="5268311" y="2761540"/>
                      <a:pt x="5195410" y="2846648"/>
                    </a:cubicBezTo>
                    <a:lnTo>
                      <a:pt x="5147845" y="2901943"/>
                    </a:lnTo>
                    <a:cubicBezTo>
                      <a:pt x="5089102" y="2970405"/>
                      <a:pt x="5052049" y="3048596"/>
                      <a:pt x="5037549" y="3130226"/>
                    </a:cubicBezTo>
                    <a:cubicBezTo>
                      <a:pt x="5023079" y="3212199"/>
                      <a:pt x="5031112" y="3298424"/>
                      <a:pt x="5062884" y="3382698"/>
                    </a:cubicBezTo>
                    <a:lnTo>
                      <a:pt x="5088563" y="3450857"/>
                    </a:lnTo>
                    <a:cubicBezTo>
                      <a:pt x="5128241" y="3556372"/>
                      <a:pt x="5143711" y="3663024"/>
                      <a:pt x="5135138" y="3767540"/>
                    </a:cubicBezTo>
                    <a:cubicBezTo>
                      <a:pt x="5126566" y="3872399"/>
                      <a:pt x="5093990" y="3975083"/>
                      <a:pt x="5037353" y="4073015"/>
                    </a:cubicBezTo>
                    <a:lnTo>
                      <a:pt x="5037196" y="4073358"/>
                    </a:lnTo>
                    <a:lnTo>
                      <a:pt x="5037353" y="4073515"/>
                    </a:lnTo>
                    <a:cubicBezTo>
                      <a:pt x="4981215" y="4170604"/>
                      <a:pt x="4908648" y="4250128"/>
                      <a:pt x="4821591" y="4310370"/>
                    </a:cubicBezTo>
                    <a:cubicBezTo>
                      <a:pt x="4734837" y="4370456"/>
                      <a:pt x="4634798" y="4410448"/>
                      <a:pt x="4523659" y="4428700"/>
                    </a:cubicBezTo>
                    <a:lnTo>
                      <a:pt x="4451749" y="4440565"/>
                    </a:lnTo>
                    <a:cubicBezTo>
                      <a:pt x="4362889" y="4455221"/>
                      <a:pt x="4284355" y="4491275"/>
                      <a:pt x="4220673" y="4544738"/>
                    </a:cubicBezTo>
                    <a:cubicBezTo>
                      <a:pt x="4157148" y="4598044"/>
                      <a:pt x="4108084" y="4669152"/>
                      <a:pt x="4078115" y="4753926"/>
                    </a:cubicBezTo>
                    <a:lnTo>
                      <a:pt x="4053926" y="4822731"/>
                    </a:lnTo>
                    <a:cubicBezTo>
                      <a:pt x="4016383" y="4929540"/>
                      <a:pt x="3959785" y="5021389"/>
                      <a:pt x="3885885" y="5096131"/>
                    </a:cubicBezTo>
                    <a:cubicBezTo>
                      <a:pt x="3811985" y="5170873"/>
                      <a:pt x="3720979" y="5228470"/>
                      <a:pt x="3614622" y="5267160"/>
                    </a:cubicBezTo>
                    <a:cubicBezTo>
                      <a:pt x="3509106" y="5305506"/>
                      <a:pt x="3402641" y="5319672"/>
                      <a:pt x="3297439" y="5309944"/>
                    </a:cubicBezTo>
                    <a:cubicBezTo>
                      <a:pt x="3191777" y="5300078"/>
                      <a:pt x="3089211" y="5266513"/>
                      <a:pt x="2992925" y="5209366"/>
                    </a:cubicBezTo>
                    <a:lnTo>
                      <a:pt x="2930203" y="5172323"/>
                    </a:lnTo>
                    <a:cubicBezTo>
                      <a:pt x="2852669" y="5126404"/>
                      <a:pt x="2769236" y="5103361"/>
                      <a:pt x="2686117" y="5103361"/>
                    </a:cubicBezTo>
                    <a:cubicBezTo>
                      <a:pt x="2602998" y="5103361"/>
                      <a:pt x="2519566" y="5126404"/>
                      <a:pt x="2442031" y="5172323"/>
                    </a:cubicBezTo>
                    <a:lnTo>
                      <a:pt x="2379310" y="5209366"/>
                    </a:lnTo>
                    <a:cubicBezTo>
                      <a:pt x="2282867" y="5266474"/>
                      <a:pt x="2180496" y="5300068"/>
                      <a:pt x="2074795" y="5309944"/>
                    </a:cubicBezTo>
                    <a:cubicBezTo>
                      <a:pt x="1969632" y="5319672"/>
                      <a:pt x="1863128" y="5305506"/>
                      <a:pt x="1757612" y="5267160"/>
                    </a:cubicBezTo>
                    <a:cubicBezTo>
                      <a:pt x="1651450" y="5228470"/>
                      <a:pt x="1560249" y="5170873"/>
                      <a:pt x="1486349" y="5096131"/>
                    </a:cubicBezTo>
                    <a:cubicBezTo>
                      <a:pt x="1412449" y="5021389"/>
                      <a:pt x="1355812" y="4929736"/>
                      <a:pt x="1318308" y="4822731"/>
                    </a:cubicBezTo>
                    <a:lnTo>
                      <a:pt x="1294119" y="4753926"/>
                    </a:lnTo>
                    <a:cubicBezTo>
                      <a:pt x="1264346" y="4669161"/>
                      <a:pt x="1215135" y="4598054"/>
                      <a:pt x="1151561" y="4544738"/>
                    </a:cubicBezTo>
                    <a:cubicBezTo>
                      <a:pt x="1087880" y="4491235"/>
                      <a:pt x="1009199" y="4455182"/>
                      <a:pt x="920486" y="4440565"/>
                    </a:cubicBezTo>
                    <a:lnTo>
                      <a:pt x="848575" y="4428700"/>
                    </a:lnTo>
                    <a:cubicBezTo>
                      <a:pt x="737475" y="4410448"/>
                      <a:pt x="637397" y="4370456"/>
                      <a:pt x="550644" y="4310370"/>
                    </a:cubicBezTo>
                    <a:cubicBezTo>
                      <a:pt x="463890" y="4250284"/>
                      <a:pt x="391136" y="4170800"/>
                      <a:pt x="334881" y="4073015"/>
                    </a:cubicBezTo>
                    <a:cubicBezTo>
                      <a:pt x="278440" y="3975230"/>
                      <a:pt x="245678" y="3872369"/>
                      <a:pt x="237106" y="3767540"/>
                    </a:cubicBezTo>
                    <a:cubicBezTo>
                      <a:pt x="228531" y="3662867"/>
                      <a:pt x="244032" y="3556363"/>
                      <a:pt x="283681" y="3450857"/>
                    </a:cubicBezTo>
                    <a:lnTo>
                      <a:pt x="309360" y="3382698"/>
                    </a:lnTo>
                    <a:cubicBezTo>
                      <a:pt x="341122" y="3298276"/>
                      <a:pt x="349195" y="3212169"/>
                      <a:pt x="334695" y="3130226"/>
                    </a:cubicBezTo>
                    <a:cubicBezTo>
                      <a:pt x="320381" y="3048400"/>
                      <a:pt x="283182" y="2970258"/>
                      <a:pt x="224396" y="2901943"/>
                    </a:cubicBezTo>
                    <a:lnTo>
                      <a:pt x="176826" y="2846638"/>
                    </a:lnTo>
                    <a:cubicBezTo>
                      <a:pt x="103921" y="2761530"/>
                      <a:pt x="53058" y="2666576"/>
                      <a:pt x="25088" y="2564363"/>
                    </a:cubicBezTo>
                    <a:cubicBezTo>
                      <a:pt x="-2888" y="2461992"/>
                      <a:pt x="-7672" y="2354488"/>
                      <a:pt x="11769" y="2244535"/>
                    </a:cubicBezTo>
                    <a:cubicBezTo>
                      <a:pt x="31173" y="2134435"/>
                      <a:pt x="72504" y="2034856"/>
                      <a:pt x="133891" y="1948093"/>
                    </a:cubicBezTo>
                    <a:cubicBezTo>
                      <a:pt x="195276" y="1861339"/>
                      <a:pt x="275608" y="1789428"/>
                      <a:pt x="373198" y="1734466"/>
                    </a:cubicBezTo>
                    <a:lnTo>
                      <a:pt x="436722" y="1698765"/>
                    </a:lnTo>
                    <a:cubicBezTo>
                      <a:pt x="515403" y="1654482"/>
                      <a:pt x="577135" y="1593750"/>
                      <a:pt x="618430" y="1521996"/>
                    </a:cubicBezTo>
                    <a:lnTo>
                      <a:pt x="622065" y="1516215"/>
                    </a:lnTo>
                    <a:cubicBezTo>
                      <a:pt x="661253" y="1445764"/>
                      <a:pt x="681808" y="1363781"/>
                      <a:pt x="680808" y="1275725"/>
                    </a:cubicBezTo>
                    <a:lnTo>
                      <a:pt x="679966" y="1202824"/>
                    </a:lnTo>
                    <a:cubicBezTo>
                      <a:pt x="678820" y="1090735"/>
                      <a:pt x="700716" y="985416"/>
                      <a:pt x="744647" y="889773"/>
                    </a:cubicBezTo>
                    <a:cubicBezTo>
                      <a:pt x="788930" y="793486"/>
                      <a:pt x="854747" y="707723"/>
                      <a:pt x="940668" y="635626"/>
                    </a:cubicBezTo>
                    <a:cubicBezTo>
                      <a:pt x="1026589" y="563524"/>
                      <a:pt x="1122072" y="513661"/>
                      <a:pt x="1224746" y="486826"/>
                    </a:cubicBezTo>
                    <a:cubicBezTo>
                      <a:pt x="1326812" y="459999"/>
                      <a:pt x="1434277" y="456708"/>
                      <a:pt x="1544720" y="477450"/>
                    </a:cubicBezTo>
                    <a:lnTo>
                      <a:pt x="1616328" y="490768"/>
                    </a:lnTo>
                    <a:cubicBezTo>
                      <a:pt x="1705188" y="507377"/>
                      <a:pt x="1791608" y="500489"/>
                      <a:pt x="1869633" y="472169"/>
                    </a:cubicBezTo>
                    <a:cubicBezTo>
                      <a:pt x="1947471" y="443849"/>
                      <a:pt x="2018079" y="393486"/>
                      <a:pt x="2075373" y="323723"/>
                    </a:cubicBezTo>
                    <a:lnTo>
                      <a:pt x="2121635" y="267275"/>
                    </a:lnTo>
                    <a:cubicBezTo>
                      <a:pt x="2193086" y="180210"/>
                      <a:pt x="2277664" y="113548"/>
                      <a:pt x="2372951" y="68618"/>
                    </a:cubicBezTo>
                    <a:cubicBezTo>
                      <a:pt x="2468748" y="23344"/>
                      <a:pt x="2573910" y="0"/>
                      <a:pt x="2686000" y="0"/>
                    </a:cubicBezTo>
                    <a:cubicBezTo>
                      <a:pt x="2798088" y="0"/>
                      <a:pt x="2903261" y="23191"/>
                      <a:pt x="2999048" y="68618"/>
                    </a:cubicBezTo>
                    <a:cubicBezTo>
                      <a:pt x="3094344" y="113700"/>
                      <a:pt x="3178952" y="180364"/>
                      <a:pt x="3250364" y="267275"/>
                    </a:cubicBezTo>
                    <a:close/>
                    <a:moveTo>
                      <a:pt x="1896340" y="2654545"/>
                    </a:moveTo>
                    <a:cubicBezTo>
                      <a:pt x="1854545" y="2599094"/>
                      <a:pt x="1865567" y="2520256"/>
                      <a:pt x="1920872" y="2478422"/>
                    </a:cubicBezTo>
                    <a:cubicBezTo>
                      <a:pt x="1976324" y="2436627"/>
                      <a:pt x="2055161" y="2447649"/>
                      <a:pt x="2096995" y="2503111"/>
                    </a:cubicBezTo>
                    <a:lnTo>
                      <a:pt x="2524935" y="3070797"/>
                    </a:lnTo>
                    <a:lnTo>
                      <a:pt x="3271702" y="1956381"/>
                    </a:lnTo>
                    <a:cubicBezTo>
                      <a:pt x="3310205" y="1898784"/>
                      <a:pt x="3388239" y="1883471"/>
                      <a:pt x="3445827" y="1921974"/>
                    </a:cubicBezTo>
                    <a:cubicBezTo>
                      <a:pt x="3503424" y="1960476"/>
                      <a:pt x="3518727" y="2038511"/>
                      <a:pt x="3480234" y="2096098"/>
                    </a:cubicBezTo>
                    <a:lnTo>
                      <a:pt x="2639669" y="3350623"/>
                    </a:lnTo>
                    <a:cubicBezTo>
                      <a:pt x="2631439" y="3364623"/>
                      <a:pt x="2620418" y="3377447"/>
                      <a:pt x="2606750" y="3387822"/>
                    </a:cubicBezTo>
                    <a:cubicBezTo>
                      <a:pt x="2551298" y="3429607"/>
                      <a:pt x="2472461" y="3418585"/>
                      <a:pt x="2430627" y="3363290"/>
                    </a:cubicBezTo>
                    <a:lnTo>
                      <a:pt x="1896340" y="2654722"/>
                    </a:lnTo>
                    <a:close/>
                    <a:moveTo>
                      <a:pt x="2686391" y="1073580"/>
                    </a:moveTo>
                    <a:cubicBezTo>
                      <a:pt x="3123550" y="1073580"/>
                      <a:pt x="3519227" y="1250850"/>
                      <a:pt x="3805813" y="1537220"/>
                    </a:cubicBezTo>
                    <a:cubicBezTo>
                      <a:pt x="4092399" y="1823591"/>
                      <a:pt x="4269453" y="2219464"/>
                      <a:pt x="4269453" y="2656446"/>
                    </a:cubicBezTo>
                    <a:cubicBezTo>
                      <a:pt x="4269453" y="3093604"/>
                      <a:pt x="4092340" y="3489468"/>
                      <a:pt x="3805813" y="3775868"/>
                    </a:cubicBezTo>
                    <a:cubicBezTo>
                      <a:pt x="3519246" y="4062434"/>
                      <a:pt x="3123569" y="4239508"/>
                      <a:pt x="2686391" y="4239508"/>
                    </a:cubicBezTo>
                    <a:cubicBezTo>
                      <a:pt x="2249233" y="4239508"/>
                      <a:pt x="1853556" y="4062238"/>
                      <a:pt x="1566970" y="3775868"/>
                    </a:cubicBezTo>
                    <a:cubicBezTo>
                      <a:pt x="1280384" y="3489497"/>
                      <a:pt x="1103330" y="3093624"/>
                      <a:pt x="1103330" y="2656446"/>
                    </a:cubicBezTo>
                    <a:cubicBezTo>
                      <a:pt x="1103330" y="2219268"/>
                      <a:pt x="1280443" y="1823611"/>
                      <a:pt x="1566970" y="1537220"/>
                    </a:cubicBezTo>
                    <a:cubicBezTo>
                      <a:pt x="1853536" y="1250654"/>
                      <a:pt x="2249213" y="1073580"/>
                      <a:pt x="2686391" y="1073580"/>
                    </a:cubicBezTo>
                    <a:close/>
                    <a:moveTo>
                      <a:pt x="3627720" y="1715332"/>
                    </a:moveTo>
                    <a:cubicBezTo>
                      <a:pt x="3386926" y="1474538"/>
                      <a:pt x="3054127" y="1325396"/>
                      <a:pt x="2686391" y="1325396"/>
                    </a:cubicBezTo>
                    <a:cubicBezTo>
                      <a:pt x="2318842" y="1325396"/>
                      <a:pt x="1985895" y="1474538"/>
                      <a:pt x="1745062" y="1715332"/>
                    </a:cubicBezTo>
                    <a:cubicBezTo>
                      <a:pt x="1504111" y="1956127"/>
                      <a:pt x="1355126" y="2289112"/>
                      <a:pt x="1355126" y="2656662"/>
                    </a:cubicBezTo>
                    <a:cubicBezTo>
                      <a:pt x="1355126" y="3024211"/>
                      <a:pt x="1504072" y="3357157"/>
                      <a:pt x="1745062" y="3597991"/>
                    </a:cubicBezTo>
                    <a:cubicBezTo>
                      <a:pt x="1985856" y="3838785"/>
                      <a:pt x="2318656" y="3987927"/>
                      <a:pt x="2686391" y="3987927"/>
                    </a:cubicBezTo>
                    <a:cubicBezTo>
                      <a:pt x="3053941" y="3987927"/>
                      <a:pt x="3386887" y="3838981"/>
                      <a:pt x="3627720" y="3597991"/>
                    </a:cubicBezTo>
                    <a:cubicBezTo>
                      <a:pt x="3868672" y="3357040"/>
                      <a:pt x="4017657" y="3024211"/>
                      <a:pt x="4017657" y="2656662"/>
                    </a:cubicBezTo>
                    <a:cubicBezTo>
                      <a:pt x="4017657" y="2289112"/>
                      <a:pt x="3868711" y="1956166"/>
                      <a:pt x="3627720" y="1715332"/>
                    </a:cubicBezTo>
                    <a:close/>
                    <a:moveTo>
                      <a:pt x="3103152" y="483048"/>
                    </a:moveTo>
                    <a:lnTo>
                      <a:pt x="3056880" y="426752"/>
                    </a:lnTo>
                    <a:cubicBezTo>
                      <a:pt x="3009462" y="368965"/>
                      <a:pt x="2954010" y="325029"/>
                      <a:pt x="2892131" y="295755"/>
                    </a:cubicBezTo>
                    <a:cubicBezTo>
                      <a:pt x="2830752" y="266785"/>
                      <a:pt x="2761594" y="251820"/>
                      <a:pt x="2686391" y="251820"/>
                    </a:cubicBezTo>
                    <a:cubicBezTo>
                      <a:pt x="2611198" y="251820"/>
                      <a:pt x="2541883" y="266784"/>
                      <a:pt x="2480651" y="295755"/>
                    </a:cubicBezTo>
                    <a:cubicBezTo>
                      <a:pt x="2418773" y="325070"/>
                      <a:pt x="2363282" y="369004"/>
                      <a:pt x="2315903" y="426752"/>
                    </a:cubicBezTo>
                    <a:lnTo>
                      <a:pt x="2269640" y="483048"/>
                    </a:lnTo>
                    <a:cubicBezTo>
                      <a:pt x="2183073" y="588406"/>
                      <a:pt x="2075422" y="664599"/>
                      <a:pt x="1955593" y="708225"/>
                    </a:cubicBezTo>
                    <a:cubicBezTo>
                      <a:pt x="1835774" y="751853"/>
                      <a:pt x="1704424" y="762722"/>
                      <a:pt x="1570595" y="737540"/>
                    </a:cubicBezTo>
                    <a:lnTo>
                      <a:pt x="1498987" y="724222"/>
                    </a:lnTo>
                    <a:cubicBezTo>
                      <a:pt x="1425244" y="710406"/>
                      <a:pt x="1354323" y="712359"/>
                      <a:pt x="1288153" y="729657"/>
                    </a:cubicBezTo>
                    <a:cubicBezTo>
                      <a:pt x="1222639" y="746763"/>
                      <a:pt x="1160104" y="779867"/>
                      <a:pt x="1102507" y="828235"/>
                    </a:cubicBezTo>
                    <a:cubicBezTo>
                      <a:pt x="1045066" y="876456"/>
                      <a:pt x="1001626" y="932247"/>
                      <a:pt x="973302" y="993822"/>
                    </a:cubicBezTo>
                    <a:cubicBezTo>
                      <a:pt x="944675" y="1056053"/>
                      <a:pt x="930322" y="1125662"/>
                      <a:pt x="931165" y="1200708"/>
                    </a:cubicBezTo>
                    <a:lnTo>
                      <a:pt x="932007" y="1273619"/>
                    </a:lnTo>
                    <a:cubicBezTo>
                      <a:pt x="933496" y="1406458"/>
                      <a:pt x="901548" y="1531058"/>
                      <a:pt x="840502" y="1639826"/>
                    </a:cubicBezTo>
                    <a:lnTo>
                      <a:pt x="836220" y="1647713"/>
                    </a:lnTo>
                    <a:cubicBezTo>
                      <a:pt x="772343" y="1758312"/>
                      <a:pt x="678702" y="1851003"/>
                      <a:pt x="560029" y="1917976"/>
                    </a:cubicBezTo>
                    <a:lnTo>
                      <a:pt x="496495" y="1953677"/>
                    </a:lnTo>
                    <a:cubicBezTo>
                      <a:pt x="430824" y="1990720"/>
                      <a:pt x="377969" y="2037453"/>
                      <a:pt x="338819" y="2092601"/>
                    </a:cubicBezTo>
                    <a:cubicBezTo>
                      <a:pt x="299827" y="2147749"/>
                      <a:pt x="273149" y="2213262"/>
                      <a:pt x="259992" y="2287623"/>
                    </a:cubicBezTo>
                    <a:cubicBezTo>
                      <a:pt x="246824" y="2362022"/>
                      <a:pt x="249460" y="2432973"/>
                      <a:pt x="267408" y="2498301"/>
                    </a:cubicBezTo>
                    <a:cubicBezTo>
                      <a:pt x="285356" y="2563824"/>
                      <a:pt x="319078" y="2626006"/>
                      <a:pt x="367986" y="2683143"/>
                    </a:cubicBezTo>
                    <a:lnTo>
                      <a:pt x="415561" y="2738448"/>
                    </a:lnTo>
                    <a:cubicBezTo>
                      <a:pt x="504421" y="2841965"/>
                      <a:pt x="560715" y="2961294"/>
                      <a:pt x="582954" y="3086893"/>
                    </a:cubicBezTo>
                    <a:cubicBezTo>
                      <a:pt x="604998" y="3212150"/>
                      <a:pt x="592830" y="3343490"/>
                      <a:pt x="544755" y="3471206"/>
                    </a:cubicBezTo>
                    <a:lnTo>
                      <a:pt x="519077" y="3539365"/>
                    </a:lnTo>
                    <a:cubicBezTo>
                      <a:pt x="492899" y="3609169"/>
                      <a:pt x="482534" y="3679278"/>
                      <a:pt x="488314" y="3747897"/>
                    </a:cubicBezTo>
                    <a:cubicBezTo>
                      <a:pt x="493898" y="3816359"/>
                      <a:pt x="515482" y="3883675"/>
                      <a:pt x="552681" y="3948052"/>
                    </a:cubicBezTo>
                    <a:cubicBezTo>
                      <a:pt x="589881" y="4012566"/>
                      <a:pt x="637446" y="4064736"/>
                      <a:pt x="693741" y="4103778"/>
                    </a:cubicBezTo>
                    <a:cubicBezTo>
                      <a:pt x="749888" y="4142614"/>
                      <a:pt x="815705" y="4168645"/>
                      <a:pt x="889458" y="4180960"/>
                    </a:cubicBezTo>
                    <a:lnTo>
                      <a:pt x="961369" y="4192824"/>
                    </a:lnTo>
                    <a:cubicBezTo>
                      <a:pt x="1096158" y="4215064"/>
                      <a:pt x="1215977" y="4270173"/>
                      <a:pt x="1313606" y="4352145"/>
                    </a:cubicBezTo>
                    <a:cubicBezTo>
                      <a:pt x="1411195" y="4434128"/>
                      <a:pt x="1486437" y="4542582"/>
                      <a:pt x="1531857" y="4671621"/>
                    </a:cubicBezTo>
                    <a:lnTo>
                      <a:pt x="1556046" y="4740436"/>
                    </a:lnTo>
                    <a:cubicBezTo>
                      <a:pt x="1580578" y="4810240"/>
                      <a:pt x="1617768" y="4870473"/>
                      <a:pt x="1666146" y="4919351"/>
                    </a:cubicBezTo>
                    <a:cubicBezTo>
                      <a:pt x="1714515" y="4968219"/>
                      <a:pt x="1774297" y="5006105"/>
                      <a:pt x="1843916" y="5031440"/>
                    </a:cubicBezTo>
                    <a:cubicBezTo>
                      <a:pt x="1914524" y="5057118"/>
                      <a:pt x="1984828" y="5066837"/>
                      <a:pt x="2052790" y="5060410"/>
                    </a:cubicBezTo>
                    <a:cubicBezTo>
                      <a:pt x="2120254" y="5054169"/>
                      <a:pt x="2187276" y="5031783"/>
                      <a:pt x="2252104" y="4993437"/>
                    </a:cubicBezTo>
                    <a:lnTo>
                      <a:pt x="2314825" y="4956237"/>
                    </a:lnTo>
                    <a:cubicBezTo>
                      <a:pt x="2432351" y="4886776"/>
                      <a:pt x="2559411" y="4851878"/>
                      <a:pt x="2686813" y="4851878"/>
                    </a:cubicBezTo>
                    <a:cubicBezTo>
                      <a:pt x="2814215" y="4851878"/>
                      <a:pt x="2941274" y="4886589"/>
                      <a:pt x="3058800" y="4956237"/>
                    </a:cubicBezTo>
                    <a:lnTo>
                      <a:pt x="3121522" y="4993437"/>
                    </a:lnTo>
                    <a:cubicBezTo>
                      <a:pt x="3186388" y="5031783"/>
                      <a:pt x="3253362" y="5054169"/>
                      <a:pt x="3320835" y="5060410"/>
                    </a:cubicBezTo>
                    <a:cubicBezTo>
                      <a:pt x="3388807" y="5066837"/>
                      <a:pt x="3459102" y="5057118"/>
                      <a:pt x="3529710" y="5031440"/>
                    </a:cubicBezTo>
                    <a:cubicBezTo>
                      <a:pt x="3599514" y="5006105"/>
                      <a:pt x="3659258" y="4968219"/>
                      <a:pt x="3707479" y="4919351"/>
                    </a:cubicBezTo>
                    <a:cubicBezTo>
                      <a:pt x="3755857" y="4870473"/>
                      <a:pt x="3793057" y="4810397"/>
                      <a:pt x="3817579" y="4740436"/>
                    </a:cubicBezTo>
                    <a:lnTo>
                      <a:pt x="3841769" y="4671621"/>
                    </a:lnTo>
                    <a:cubicBezTo>
                      <a:pt x="3887198" y="4542729"/>
                      <a:pt x="3962244" y="4434118"/>
                      <a:pt x="4060019" y="4352145"/>
                    </a:cubicBezTo>
                    <a:cubicBezTo>
                      <a:pt x="4157609" y="4270173"/>
                      <a:pt x="4277281" y="4215025"/>
                      <a:pt x="4412109" y="4192824"/>
                    </a:cubicBezTo>
                    <a:lnTo>
                      <a:pt x="4484020" y="4180960"/>
                    </a:lnTo>
                    <a:cubicBezTo>
                      <a:pt x="4557763" y="4168792"/>
                      <a:pt x="4623590" y="4142771"/>
                      <a:pt x="4679738" y="4103778"/>
                    </a:cubicBezTo>
                    <a:cubicBezTo>
                      <a:pt x="4735689" y="4065079"/>
                      <a:pt x="4783254" y="4012576"/>
                      <a:pt x="4820797" y="3947563"/>
                    </a:cubicBezTo>
                    <a:lnTo>
                      <a:pt x="4821140" y="3947709"/>
                    </a:lnTo>
                    <a:cubicBezTo>
                      <a:pt x="4858183" y="3883342"/>
                      <a:pt x="4879580" y="3816212"/>
                      <a:pt x="4885164" y="3747897"/>
                    </a:cubicBezTo>
                    <a:cubicBezTo>
                      <a:pt x="4890759" y="3679278"/>
                      <a:pt x="4880569" y="3609130"/>
                      <a:pt x="4854402" y="3539365"/>
                    </a:cubicBezTo>
                    <a:lnTo>
                      <a:pt x="4828723" y="3471049"/>
                    </a:lnTo>
                    <a:cubicBezTo>
                      <a:pt x="4780648" y="3343343"/>
                      <a:pt x="4768324" y="3211973"/>
                      <a:pt x="4790524" y="3086746"/>
                    </a:cubicBezTo>
                    <a:cubicBezTo>
                      <a:pt x="4812764" y="2961137"/>
                      <a:pt x="4869058" y="2842004"/>
                      <a:pt x="4957918" y="2738291"/>
                    </a:cubicBezTo>
                    <a:lnTo>
                      <a:pt x="5005493" y="2682996"/>
                    </a:lnTo>
                    <a:cubicBezTo>
                      <a:pt x="5054547" y="2625898"/>
                      <a:pt x="5088112" y="2563667"/>
                      <a:pt x="5106070" y="2498153"/>
                    </a:cubicBezTo>
                    <a:cubicBezTo>
                      <a:pt x="5124018" y="2432826"/>
                      <a:pt x="5126468" y="2361875"/>
                      <a:pt x="5113486" y="2287476"/>
                    </a:cubicBezTo>
                    <a:cubicBezTo>
                      <a:pt x="5100329" y="2213076"/>
                      <a:pt x="5073808" y="2147563"/>
                      <a:pt x="5034659" y="2092454"/>
                    </a:cubicBezTo>
                    <a:cubicBezTo>
                      <a:pt x="4995656" y="2037306"/>
                      <a:pt x="4942654" y="1990583"/>
                      <a:pt x="4876984" y="1953530"/>
                    </a:cubicBezTo>
                    <a:lnTo>
                      <a:pt x="4813449" y="1917830"/>
                    </a:lnTo>
                    <a:cubicBezTo>
                      <a:pt x="4694923" y="1851160"/>
                      <a:pt x="4601283" y="1758166"/>
                      <a:pt x="4537258" y="1647056"/>
                    </a:cubicBezTo>
                    <a:cubicBezTo>
                      <a:pt x="4473576" y="1536623"/>
                      <a:pt x="4439972" y="1409407"/>
                      <a:pt x="4441471" y="1273589"/>
                    </a:cubicBezTo>
                    <a:lnTo>
                      <a:pt x="4442314" y="1200679"/>
                    </a:lnTo>
                    <a:cubicBezTo>
                      <a:pt x="4443157" y="1125633"/>
                      <a:pt x="4428803" y="1056014"/>
                      <a:pt x="4400176" y="993792"/>
                    </a:cubicBezTo>
                    <a:cubicBezTo>
                      <a:pt x="4371853" y="932217"/>
                      <a:pt x="4328569" y="876424"/>
                      <a:pt x="4270972" y="828202"/>
                    </a:cubicBezTo>
                    <a:cubicBezTo>
                      <a:pt x="4213374" y="779829"/>
                      <a:pt x="4150800" y="746725"/>
                      <a:pt x="4085325" y="729623"/>
                    </a:cubicBezTo>
                    <a:cubicBezTo>
                      <a:pt x="4019155" y="712325"/>
                      <a:pt x="3948391" y="710374"/>
                      <a:pt x="3874491" y="724189"/>
                    </a:cubicBezTo>
                    <a:lnTo>
                      <a:pt x="3802883" y="737507"/>
                    </a:lnTo>
                    <a:cubicBezTo>
                      <a:pt x="3669055" y="762689"/>
                      <a:pt x="3537714" y="751820"/>
                      <a:pt x="3417885" y="708192"/>
                    </a:cubicBezTo>
                    <a:cubicBezTo>
                      <a:pt x="3298056" y="664564"/>
                      <a:pt x="3190405" y="588373"/>
                      <a:pt x="3103838" y="483014"/>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nvGrpSpPr>
            <p:cNvPr id="859" name="Group 858">
              <a:extLst>
                <a:ext uri="{FF2B5EF4-FFF2-40B4-BE49-F238E27FC236}">
                  <a16:creationId xmlns:a16="http://schemas.microsoft.com/office/drawing/2014/main" id="{CF2B127A-5327-CBB7-F109-74F0B2F610A4}"/>
                </a:ext>
              </a:extLst>
            </p:cNvPr>
            <p:cNvGrpSpPr/>
            <p:nvPr/>
          </p:nvGrpSpPr>
          <p:grpSpPr>
            <a:xfrm>
              <a:off x="2907635" y="5152474"/>
              <a:ext cx="1423065" cy="261610"/>
              <a:chOff x="2907635" y="5152474"/>
              <a:chExt cx="1423065" cy="261610"/>
            </a:xfrm>
          </p:grpSpPr>
          <p:sp>
            <p:nvSpPr>
              <p:cNvPr id="832" name="TextBox 831">
                <a:extLst>
                  <a:ext uri="{FF2B5EF4-FFF2-40B4-BE49-F238E27FC236}">
                    <a16:creationId xmlns:a16="http://schemas.microsoft.com/office/drawing/2014/main" id="{BE2C8FCA-EF89-17D5-383B-1E72B62F2778}"/>
                  </a:ext>
                </a:extLst>
              </p:cNvPr>
              <p:cNvSpPr txBox="1"/>
              <p:nvPr/>
            </p:nvSpPr>
            <p:spPr>
              <a:xfrm>
                <a:off x="3129394" y="5152474"/>
                <a:ext cx="1201306" cy="261610"/>
              </a:xfrm>
              <a:prstGeom prst="rect">
                <a:avLst/>
              </a:prstGeom>
              <a:noFill/>
            </p:spPr>
            <p:txBody>
              <a:bodyPr wrap="square">
                <a:spAutoFit/>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Noto Sans"/>
                  </a:rPr>
                  <a:t>Local guidelines</a:t>
                </a:r>
              </a:p>
            </p:txBody>
          </p:sp>
          <p:grpSp>
            <p:nvGrpSpPr>
              <p:cNvPr id="855" name="Group 854">
                <a:extLst>
                  <a:ext uri="{FF2B5EF4-FFF2-40B4-BE49-F238E27FC236}">
                    <a16:creationId xmlns:a16="http://schemas.microsoft.com/office/drawing/2014/main" id="{80C57A9D-9128-9D84-AB19-27614DEFD5BF}"/>
                  </a:ext>
                </a:extLst>
              </p:cNvPr>
              <p:cNvGrpSpPr/>
              <p:nvPr/>
            </p:nvGrpSpPr>
            <p:grpSpPr>
              <a:xfrm>
                <a:off x="2907635" y="5155917"/>
                <a:ext cx="206203" cy="254725"/>
                <a:chOff x="-7599018" y="2532667"/>
                <a:chExt cx="3886154" cy="4800639"/>
              </a:xfrm>
            </p:grpSpPr>
            <p:sp>
              <p:nvSpPr>
                <p:cNvPr id="856" name="Freeform: Shape 855">
                  <a:extLst>
                    <a:ext uri="{FF2B5EF4-FFF2-40B4-BE49-F238E27FC236}">
                      <a16:creationId xmlns:a16="http://schemas.microsoft.com/office/drawing/2014/main" id="{3C18B72A-6018-8A3F-154D-BC577B3E2EDA}"/>
                    </a:ext>
                  </a:extLst>
                </p:cNvPr>
                <p:cNvSpPr/>
                <p:nvPr/>
              </p:nvSpPr>
              <p:spPr>
                <a:xfrm>
                  <a:off x="-7599018" y="2532667"/>
                  <a:ext cx="3886154" cy="4800639"/>
                </a:xfrm>
                <a:custGeom>
                  <a:avLst/>
                  <a:gdLst>
                    <a:gd name="connsiteX0" fmla="*/ 571448 w 3886154"/>
                    <a:gd name="connsiteY0" fmla="*/ 4800581 h 4800639"/>
                    <a:gd name="connsiteX1" fmla="*/ 3771880 w 3886154"/>
                    <a:gd name="connsiteY1" fmla="*/ 4800581 h 4800639"/>
                    <a:gd name="connsiteX2" fmla="*/ 3852707 w 3886154"/>
                    <a:gd name="connsiteY2" fmla="*/ 4767094 h 4800639"/>
                    <a:gd name="connsiteX3" fmla="*/ 3886154 w 3886154"/>
                    <a:gd name="connsiteY3" fmla="*/ 4686267 h 4800639"/>
                    <a:gd name="connsiteX4" fmla="*/ 3886154 w 3886154"/>
                    <a:gd name="connsiteY4" fmla="*/ 342900 h 4800639"/>
                    <a:gd name="connsiteX5" fmla="*/ 3785734 w 3886154"/>
                    <a:gd name="connsiteY5" fmla="*/ 100421 h 4800639"/>
                    <a:gd name="connsiteX6" fmla="*/ 3543254 w 3886154"/>
                    <a:gd name="connsiteY6" fmla="*/ 0 h 4800639"/>
                    <a:gd name="connsiteX7" fmla="*/ 571487 w 3886154"/>
                    <a:gd name="connsiteY7" fmla="*/ 0 h 4800639"/>
                    <a:gd name="connsiteX8" fmla="*/ 167580 w 3886154"/>
                    <a:gd name="connsiteY8" fmla="*/ 167580 h 4800639"/>
                    <a:gd name="connsiteX9" fmla="*/ 0 w 3886154"/>
                    <a:gd name="connsiteY9" fmla="*/ 571487 h 4800639"/>
                    <a:gd name="connsiteX10" fmla="*/ 0 w 3886154"/>
                    <a:gd name="connsiteY10" fmla="*/ 4229153 h 4800639"/>
                    <a:gd name="connsiteX11" fmla="*/ 167580 w 3886154"/>
                    <a:gd name="connsiteY11" fmla="*/ 4633059 h 4800639"/>
                    <a:gd name="connsiteX12" fmla="*/ 571487 w 3886154"/>
                    <a:gd name="connsiteY12" fmla="*/ 4800639 h 4800639"/>
                    <a:gd name="connsiteX13" fmla="*/ 3657548 w 3886154"/>
                    <a:gd name="connsiteY13" fmla="*/ 4571994 h 4800639"/>
                    <a:gd name="connsiteX14" fmla="*/ 571448 w 3886154"/>
                    <a:gd name="connsiteY14" fmla="*/ 4571994 h 4800639"/>
                    <a:gd name="connsiteX15" fmla="*/ 274477 w 3886154"/>
                    <a:gd name="connsiteY15" fmla="*/ 4400544 h 4800639"/>
                    <a:gd name="connsiteX16" fmla="*/ 274477 w 3886154"/>
                    <a:gd name="connsiteY16" fmla="*/ 4057644 h 4800639"/>
                    <a:gd name="connsiteX17" fmla="*/ 571448 w 3886154"/>
                    <a:gd name="connsiteY17" fmla="*/ 3886194 h 4800639"/>
                    <a:gd name="connsiteX18" fmla="*/ 3657548 w 3886154"/>
                    <a:gd name="connsiteY18" fmla="*/ 3886194 h 4800639"/>
                    <a:gd name="connsiteX19" fmla="*/ 3657548 w 3886154"/>
                    <a:gd name="connsiteY19" fmla="*/ 342861 h 4800639"/>
                    <a:gd name="connsiteX20" fmla="*/ 3657548 w 3886154"/>
                    <a:gd name="connsiteY20" fmla="*/ 3657528 h 4800639"/>
                    <a:gd name="connsiteX21" fmla="*/ 1028681 w 3886154"/>
                    <a:gd name="connsiteY21" fmla="*/ 3657528 h 4800639"/>
                    <a:gd name="connsiteX22" fmla="*/ 1028681 w 3886154"/>
                    <a:gd name="connsiteY22" fmla="*/ 228528 h 4800639"/>
                    <a:gd name="connsiteX23" fmla="*/ 3543215 w 3886154"/>
                    <a:gd name="connsiteY23" fmla="*/ 228528 h 4800639"/>
                    <a:gd name="connsiteX24" fmla="*/ 3624042 w 3886154"/>
                    <a:gd name="connsiteY24" fmla="*/ 262015 h 4800639"/>
                    <a:gd name="connsiteX25" fmla="*/ 3657528 w 3886154"/>
                    <a:gd name="connsiteY25" fmla="*/ 342841 h 4800639"/>
                    <a:gd name="connsiteX26" fmla="*/ 571448 w 3886154"/>
                    <a:gd name="connsiteY26" fmla="*/ 228548 h 4800639"/>
                    <a:gd name="connsiteX27" fmla="*/ 800035 w 3886154"/>
                    <a:gd name="connsiteY27" fmla="*/ 228548 h 4800639"/>
                    <a:gd name="connsiteX28" fmla="*/ 800035 w 3886154"/>
                    <a:gd name="connsiteY28" fmla="*/ 3657548 h 4800639"/>
                    <a:gd name="connsiteX29" fmla="*/ 571448 w 3886154"/>
                    <a:gd name="connsiteY29" fmla="*/ 3657548 h 4800639"/>
                    <a:gd name="connsiteX30" fmla="*/ 228548 w 3886154"/>
                    <a:gd name="connsiteY30" fmla="*/ 3774849 h 4800639"/>
                    <a:gd name="connsiteX31" fmla="*/ 228548 w 3886154"/>
                    <a:gd name="connsiteY31" fmla="*/ 571477 h 4800639"/>
                    <a:gd name="connsiteX32" fmla="*/ 328969 w 3886154"/>
                    <a:gd name="connsiteY32" fmla="*/ 329037 h 4800639"/>
                    <a:gd name="connsiteX33" fmla="*/ 571448 w 3886154"/>
                    <a:gd name="connsiteY33" fmla="*/ 228577 h 48006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86154" h="4800639">
                      <a:moveTo>
                        <a:pt x="571448" y="4800581"/>
                      </a:moveTo>
                      <a:lnTo>
                        <a:pt x="3771880" y="4800581"/>
                      </a:lnTo>
                      <a:cubicBezTo>
                        <a:pt x="3802193" y="4800581"/>
                        <a:pt x="3831241" y="4788520"/>
                        <a:pt x="3852707" y="4767094"/>
                      </a:cubicBezTo>
                      <a:cubicBezTo>
                        <a:pt x="3874133" y="4745658"/>
                        <a:pt x="3886154" y="4716580"/>
                        <a:pt x="3886154" y="4686267"/>
                      </a:cubicBezTo>
                      <a:lnTo>
                        <a:pt x="3886154" y="342900"/>
                      </a:lnTo>
                      <a:cubicBezTo>
                        <a:pt x="3886154" y="251971"/>
                        <a:pt x="3850032" y="164749"/>
                        <a:pt x="3785734" y="100421"/>
                      </a:cubicBezTo>
                      <a:cubicBezTo>
                        <a:pt x="3721445" y="36127"/>
                        <a:pt x="3634221" y="0"/>
                        <a:pt x="3543254" y="0"/>
                      </a:cubicBezTo>
                      <a:lnTo>
                        <a:pt x="571487" y="0"/>
                      </a:lnTo>
                      <a:cubicBezTo>
                        <a:pt x="419974" y="191"/>
                        <a:pt x="274702" y="60467"/>
                        <a:pt x="167580" y="167580"/>
                      </a:cubicBezTo>
                      <a:cubicBezTo>
                        <a:pt x="60419" y="274741"/>
                        <a:pt x="147" y="419974"/>
                        <a:pt x="0" y="571487"/>
                      </a:cubicBezTo>
                      <a:lnTo>
                        <a:pt x="0" y="4229153"/>
                      </a:lnTo>
                      <a:cubicBezTo>
                        <a:pt x="157" y="4380665"/>
                        <a:pt x="60429" y="4525898"/>
                        <a:pt x="167580" y="4633059"/>
                      </a:cubicBezTo>
                      <a:cubicBezTo>
                        <a:pt x="274702" y="4740181"/>
                        <a:pt x="419974" y="4800453"/>
                        <a:pt x="571487" y="4800639"/>
                      </a:cubicBezTo>
                      <a:close/>
                      <a:moveTo>
                        <a:pt x="3657548" y="4571994"/>
                      </a:moveTo>
                      <a:lnTo>
                        <a:pt x="571448" y="4571994"/>
                      </a:lnTo>
                      <a:cubicBezTo>
                        <a:pt x="448944" y="4571994"/>
                        <a:pt x="335738" y="4506627"/>
                        <a:pt x="274477" y="4400544"/>
                      </a:cubicBezTo>
                      <a:cubicBezTo>
                        <a:pt x="213245" y="4294421"/>
                        <a:pt x="213245" y="4163727"/>
                        <a:pt x="274477" y="4057644"/>
                      </a:cubicBezTo>
                      <a:cubicBezTo>
                        <a:pt x="335748" y="3951521"/>
                        <a:pt x="448954" y="3886194"/>
                        <a:pt x="571448" y="3886194"/>
                      </a:cubicBezTo>
                      <a:lnTo>
                        <a:pt x="3657548" y="3886194"/>
                      </a:lnTo>
                      <a:close/>
                      <a:moveTo>
                        <a:pt x="3657548" y="342861"/>
                      </a:moveTo>
                      <a:lnTo>
                        <a:pt x="3657548" y="3657528"/>
                      </a:lnTo>
                      <a:lnTo>
                        <a:pt x="1028681" y="3657528"/>
                      </a:lnTo>
                      <a:lnTo>
                        <a:pt x="1028681" y="228528"/>
                      </a:lnTo>
                      <a:lnTo>
                        <a:pt x="3543215" y="228528"/>
                      </a:lnTo>
                      <a:cubicBezTo>
                        <a:pt x="3573528" y="228528"/>
                        <a:pt x="3602615" y="240584"/>
                        <a:pt x="3624042" y="262015"/>
                      </a:cubicBezTo>
                      <a:cubicBezTo>
                        <a:pt x="3645478" y="283446"/>
                        <a:pt x="3657528" y="312531"/>
                        <a:pt x="3657528" y="342841"/>
                      </a:cubicBezTo>
                      <a:close/>
                      <a:moveTo>
                        <a:pt x="571448" y="228548"/>
                      </a:moveTo>
                      <a:lnTo>
                        <a:pt x="800035" y="228548"/>
                      </a:lnTo>
                      <a:lnTo>
                        <a:pt x="800035" y="3657548"/>
                      </a:lnTo>
                      <a:lnTo>
                        <a:pt x="571448" y="3657548"/>
                      </a:lnTo>
                      <a:cubicBezTo>
                        <a:pt x="447377" y="3657969"/>
                        <a:pt x="326901" y="3699186"/>
                        <a:pt x="228548" y="3774849"/>
                      </a:cubicBezTo>
                      <a:lnTo>
                        <a:pt x="228548" y="571477"/>
                      </a:lnTo>
                      <a:cubicBezTo>
                        <a:pt x="228548" y="480548"/>
                        <a:pt x="264680" y="393326"/>
                        <a:pt x="328969" y="329037"/>
                      </a:cubicBezTo>
                      <a:cubicBezTo>
                        <a:pt x="393296" y="264705"/>
                        <a:pt x="480520" y="228577"/>
                        <a:pt x="571448" y="228577"/>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857" name="Freeform: Shape 856">
                  <a:extLst>
                    <a:ext uri="{FF2B5EF4-FFF2-40B4-BE49-F238E27FC236}">
                      <a16:creationId xmlns:a16="http://schemas.microsoft.com/office/drawing/2014/main" id="{227D2776-FF0A-892A-C1FD-A54B5D92F4E0}"/>
                    </a:ext>
                  </a:extLst>
                </p:cNvPr>
                <p:cNvSpPr/>
                <p:nvPr/>
              </p:nvSpPr>
              <p:spPr>
                <a:xfrm>
                  <a:off x="-6913238" y="6647467"/>
                  <a:ext cx="1714519" cy="228586"/>
                </a:xfrm>
                <a:custGeom>
                  <a:avLst/>
                  <a:gdLst>
                    <a:gd name="connsiteX0" fmla="*/ 0 w 1714519"/>
                    <a:gd name="connsiteY0" fmla="*/ 114313 h 228586"/>
                    <a:gd name="connsiteX1" fmla="*/ 33447 w 1714519"/>
                    <a:gd name="connsiteY1" fmla="*/ 195139 h 228586"/>
                    <a:gd name="connsiteX2" fmla="*/ 114274 w 1714519"/>
                    <a:gd name="connsiteY2" fmla="*/ 228587 h 228586"/>
                    <a:gd name="connsiteX3" fmla="*/ 1600207 w 1714519"/>
                    <a:gd name="connsiteY3" fmla="*/ 228587 h 228586"/>
                    <a:gd name="connsiteX4" fmla="*/ 1714520 w 1714519"/>
                    <a:gd name="connsiteY4" fmla="*/ 114313 h 228586"/>
                    <a:gd name="connsiteX5" fmla="*/ 1600207 w 1714519"/>
                    <a:gd name="connsiteY5" fmla="*/ 0 h 228586"/>
                    <a:gd name="connsiteX6" fmla="*/ 114274 w 1714519"/>
                    <a:gd name="connsiteY6" fmla="*/ 0 h 228586"/>
                    <a:gd name="connsiteX7" fmla="*/ 0 w 1714519"/>
                    <a:gd name="connsiteY7" fmla="*/ 114313 h 228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14519" h="228586">
                      <a:moveTo>
                        <a:pt x="0" y="114313"/>
                      </a:moveTo>
                      <a:cubicBezTo>
                        <a:pt x="0" y="144625"/>
                        <a:pt x="12021" y="173674"/>
                        <a:pt x="33447" y="195139"/>
                      </a:cubicBezTo>
                      <a:cubicBezTo>
                        <a:pt x="54913" y="216576"/>
                        <a:pt x="83962" y="228587"/>
                        <a:pt x="114274" y="228587"/>
                      </a:cubicBezTo>
                      <a:lnTo>
                        <a:pt x="1600207" y="228587"/>
                      </a:lnTo>
                      <a:cubicBezTo>
                        <a:pt x="1663310" y="228587"/>
                        <a:pt x="1714520" y="177416"/>
                        <a:pt x="1714520" y="114313"/>
                      </a:cubicBezTo>
                      <a:cubicBezTo>
                        <a:pt x="1714520" y="51170"/>
                        <a:pt x="1663310" y="0"/>
                        <a:pt x="1600207" y="0"/>
                      </a:cubicBezTo>
                      <a:lnTo>
                        <a:pt x="114274" y="0"/>
                      </a:lnTo>
                      <a:cubicBezTo>
                        <a:pt x="51171" y="0"/>
                        <a:pt x="0" y="51170"/>
                        <a:pt x="0" y="114313"/>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sp>
              <p:nvSpPr>
                <p:cNvPr id="858" name="Freeform: Shape 857">
                  <a:extLst>
                    <a:ext uri="{FF2B5EF4-FFF2-40B4-BE49-F238E27FC236}">
                      <a16:creationId xmlns:a16="http://schemas.microsoft.com/office/drawing/2014/main" id="{4F4C9CD7-DEDC-FAC8-6C98-39186EA15D8E}"/>
                    </a:ext>
                  </a:extLst>
                </p:cNvPr>
                <p:cNvSpPr/>
                <p:nvPr/>
              </p:nvSpPr>
              <p:spPr>
                <a:xfrm>
                  <a:off x="-6046832" y="3631471"/>
                  <a:ext cx="1630471" cy="1512423"/>
                </a:xfrm>
                <a:custGeom>
                  <a:avLst/>
                  <a:gdLst>
                    <a:gd name="connsiteX0" fmla="*/ 1528761 w 1630471"/>
                    <a:gd name="connsiteY0" fmla="*/ 2255 h 1512423"/>
                    <a:gd name="connsiteX1" fmla="*/ 1574848 w 1630471"/>
                    <a:gd name="connsiteY1" fmla="*/ 21222 h 1512423"/>
                    <a:gd name="connsiteX2" fmla="*/ 1609255 w 1630471"/>
                    <a:gd name="connsiteY2" fmla="*/ 195346 h 1512423"/>
                    <a:gd name="connsiteX3" fmla="*/ 768690 w 1630471"/>
                    <a:gd name="connsiteY3" fmla="*/ 1449871 h 1512423"/>
                    <a:gd name="connsiteX4" fmla="*/ 735771 w 1630471"/>
                    <a:gd name="connsiteY4" fmla="*/ 1487070 h 1512423"/>
                    <a:gd name="connsiteX5" fmla="*/ 559648 w 1630471"/>
                    <a:gd name="connsiteY5" fmla="*/ 1462538 h 1512423"/>
                    <a:gd name="connsiteX6" fmla="*/ 25361 w 1630471"/>
                    <a:gd name="connsiteY6" fmla="*/ 753970 h 1512423"/>
                    <a:gd name="connsiteX7" fmla="*/ 25361 w 1630471"/>
                    <a:gd name="connsiteY7" fmla="*/ 753793 h 1512423"/>
                    <a:gd name="connsiteX8" fmla="*/ 49893 w 1630471"/>
                    <a:gd name="connsiteY8" fmla="*/ 577670 h 1512423"/>
                    <a:gd name="connsiteX9" fmla="*/ 226016 w 1630471"/>
                    <a:gd name="connsiteY9" fmla="*/ 602359 h 1512423"/>
                    <a:gd name="connsiteX10" fmla="*/ 653956 w 1630471"/>
                    <a:gd name="connsiteY10" fmla="*/ 1170045 h 1512423"/>
                    <a:gd name="connsiteX11" fmla="*/ 1400723 w 1630471"/>
                    <a:gd name="connsiteY11" fmla="*/ 55629 h 1512423"/>
                    <a:gd name="connsiteX12" fmla="*/ 1528761 w 1630471"/>
                    <a:gd name="connsiteY12" fmla="*/ 2255 h 15124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30471" h="1512423">
                      <a:moveTo>
                        <a:pt x="1528761" y="2255"/>
                      </a:moveTo>
                      <a:cubicBezTo>
                        <a:pt x="1544776" y="5334"/>
                        <a:pt x="1560451" y="11596"/>
                        <a:pt x="1574848" y="21222"/>
                      </a:cubicBezTo>
                      <a:cubicBezTo>
                        <a:pt x="1632445" y="59724"/>
                        <a:pt x="1647748" y="137759"/>
                        <a:pt x="1609255" y="195346"/>
                      </a:cubicBezTo>
                      <a:lnTo>
                        <a:pt x="768690" y="1449871"/>
                      </a:lnTo>
                      <a:cubicBezTo>
                        <a:pt x="760460" y="1463871"/>
                        <a:pt x="749439" y="1476695"/>
                        <a:pt x="735771" y="1487070"/>
                      </a:cubicBezTo>
                      <a:cubicBezTo>
                        <a:pt x="680319" y="1528855"/>
                        <a:pt x="601482" y="1517833"/>
                        <a:pt x="559648" y="1462538"/>
                      </a:cubicBezTo>
                      <a:lnTo>
                        <a:pt x="25361" y="753970"/>
                      </a:lnTo>
                      <a:lnTo>
                        <a:pt x="25361" y="753793"/>
                      </a:lnTo>
                      <a:cubicBezTo>
                        <a:pt x="-16434" y="698342"/>
                        <a:pt x="-5412" y="619504"/>
                        <a:pt x="49893" y="577670"/>
                      </a:cubicBezTo>
                      <a:cubicBezTo>
                        <a:pt x="105345" y="535875"/>
                        <a:pt x="184182" y="546897"/>
                        <a:pt x="226016" y="602359"/>
                      </a:cubicBezTo>
                      <a:lnTo>
                        <a:pt x="653956" y="1170045"/>
                      </a:lnTo>
                      <a:lnTo>
                        <a:pt x="1400723" y="55629"/>
                      </a:lnTo>
                      <a:cubicBezTo>
                        <a:pt x="1429600" y="12431"/>
                        <a:pt x="1480714" y="-6982"/>
                        <a:pt x="1528761" y="2255"/>
                      </a:cubicBezTo>
                      <a:close/>
                    </a:path>
                  </a:pathLst>
                </a:custGeom>
                <a:solidFill>
                  <a:srgbClr val="000000"/>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a:ln>
                      <a:noFill/>
                    </a:ln>
                    <a:solidFill>
                      <a:srgbClr val="000000"/>
                    </a:solidFill>
                    <a:effectLst/>
                    <a:uLnTx/>
                    <a:uFillTx/>
                    <a:latin typeface="Arial"/>
                    <a:ea typeface="+mn-ea"/>
                    <a:cs typeface="Noto Sans"/>
                  </a:endParaRPr>
                </a:p>
              </p:txBody>
            </p:sp>
          </p:grpSp>
        </p:grpSp>
      </p:grpSp>
      <p:graphicFrame>
        <p:nvGraphicFramePr>
          <p:cNvPr id="7" name="Table 6">
            <a:extLst>
              <a:ext uri="{FF2B5EF4-FFF2-40B4-BE49-F238E27FC236}">
                <a16:creationId xmlns:a16="http://schemas.microsoft.com/office/drawing/2014/main" id="{679A7CF5-BB4A-31E7-4EC9-D0A283F96F59}"/>
              </a:ext>
            </a:extLst>
          </p:cNvPr>
          <p:cNvGraphicFramePr>
            <a:graphicFrameLocks noGrp="1"/>
          </p:cNvGraphicFramePr>
          <p:nvPr/>
        </p:nvGraphicFramePr>
        <p:xfrm>
          <a:off x="365124" y="4820191"/>
          <a:ext cx="11457430" cy="365760"/>
        </p:xfrm>
        <a:graphic>
          <a:graphicData uri="http://schemas.openxmlformats.org/drawingml/2006/table">
            <a:tbl>
              <a:tblPr firstRow="1" bandRow="1">
                <a:tableStyleId>{2D5ABB26-0587-4C30-8999-92F81FD0307C}</a:tableStyleId>
              </a:tblPr>
              <a:tblGrid>
                <a:gridCol w="5782458">
                  <a:extLst>
                    <a:ext uri="{9D8B030D-6E8A-4147-A177-3AD203B41FA5}">
                      <a16:colId xmlns:a16="http://schemas.microsoft.com/office/drawing/2014/main" val="2299686825"/>
                    </a:ext>
                  </a:extLst>
                </a:gridCol>
                <a:gridCol w="1874305">
                  <a:extLst>
                    <a:ext uri="{9D8B030D-6E8A-4147-A177-3AD203B41FA5}">
                      <a16:colId xmlns:a16="http://schemas.microsoft.com/office/drawing/2014/main" val="860892342"/>
                    </a:ext>
                  </a:extLst>
                </a:gridCol>
                <a:gridCol w="1900334">
                  <a:extLst>
                    <a:ext uri="{9D8B030D-6E8A-4147-A177-3AD203B41FA5}">
                      <a16:colId xmlns:a16="http://schemas.microsoft.com/office/drawing/2014/main" val="1888605399"/>
                    </a:ext>
                  </a:extLst>
                </a:gridCol>
                <a:gridCol w="1900333">
                  <a:extLst>
                    <a:ext uri="{9D8B030D-6E8A-4147-A177-3AD203B41FA5}">
                      <a16:colId xmlns:a16="http://schemas.microsoft.com/office/drawing/2014/main" val="557560938"/>
                    </a:ext>
                  </a:extLst>
                </a:gridCol>
              </a:tblGrid>
              <a:tr h="0">
                <a:tc>
                  <a:txBody>
                    <a:bodyPr/>
                    <a:lstStyle/>
                    <a:p>
                      <a:pPr marL="0" indent="0">
                        <a:lnSpc>
                          <a:spcPct val="100000"/>
                        </a:lnSpc>
                        <a:spcBef>
                          <a:spcPts val="500"/>
                        </a:spcBef>
                      </a:pPr>
                      <a:r>
                        <a:rPr lang="en-IN" sz="1200" spc="0" dirty="0">
                          <a:solidFill>
                            <a:srgbClr val="000000"/>
                          </a:solidFill>
                          <a:latin typeface="Arial"/>
                          <a:cs typeface="Arial"/>
                        </a:rPr>
                        <a:t>RSV vaccination</a:t>
                      </a:r>
                      <a:endParaRPr sz="1200" spc="0" dirty="0">
                        <a:solidFill>
                          <a:srgbClr val="000000"/>
                        </a:solidFill>
                        <a:latin typeface="Arial"/>
                        <a:cs typeface="Aria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pPr>
                      <a:endParaRPr sz="1200" spc="0" dirty="0">
                        <a:solidFill>
                          <a:schemeClr val="tx1"/>
                        </a:solidFill>
                        <a:latin typeface="Times New Roman"/>
                        <a:cs typeface="Times New Roman"/>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lgn="ctr">
                        <a:lnSpc>
                          <a:spcPct val="100000"/>
                        </a:lnSpc>
                        <a:spcBef>
                          <a:spcPts val="310"/>
                        </a:spcBef>
                      </a:pPr>
                      <a:endParaRPr sz="1200" spc="0" dirty="0">
                        <a:solidFill>
                          <a:schemeClr val="tx1"/>
                        </a:solidFill>
                        <a:latin typeface="Segoe UI Symbol"/>
                        <a:cs typeface="Segoe UI Symbol"/>
                      </a:endParaRPr>
                    </a:p>
                  </a:txBody>
                  <a:tcPr marT="91440" marB="91440" anchor="ct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29025651"/>
                  </a:ext>
                </a:extLst>
              </a:tr>
            </a:tbl>
          </a:graphicData>
        </a:graphic>
      </p:graphicFrame>
    </p:spTree>
    <p:custDataLst>
      <p:tags r:id="rId1"/>
    </p:custDataLst>
    <p:extLst>
      <p:ext uri="{BB962C8B-B14F-4D97-AF65-F5344CB8AC3E}">
        <p14:creationId xmlns:p14="http://schemas.microsoft.com/office/powerpoint/2010/main" val="49726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3" name="Right Triangle 12">
            <a:extLst>
              <a:ext uri="{FF2B5EF4-FFF2-40B4-BE49-F238E27FC236}">
                <a16:creationId xmlns:a16="http://schemas.microsoft.com/office/drawing/2014/main" id="{86FAE1DB-7A08-1F84-7F29-EB1CE5B74D14}"/>
              </a:ext>
            </a:extLst>
          </p:cNvPr>
          <p:cNvSpPr/>
          <p:nvPr/>
        </p:nvSpPr>
        <p:spPr bwMode="auto">
          <a:xfrm flipV="1">
            <a:off x="4017963" y="4535788"/>
            <a:ext cx="914400" cy="914400"/>
          </a:xfrm>
          <a:prstGeom prst="rtTriangle">
            <a:avLst/>
          </a:prstGeom>
          <a:solidFill>
            <a:schemeClr val="tx2">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12" name="Right Triangle 11">
            <a:extLst>
              <a:ext uri="{FF2B5EF4-FFF2-40B4-BE49-F238E27FC236}">
                <a16:creationId xmlns:a16="http://schemas.microsoft.com/office/drawing/2014/main" id="{93F777EA-DC50-DA50-5452-2F571AD570DC}"/>
              </a:ext>
            </a:extLst>
          </p:cNvPr>
          <p:cNvSpPr/>
          <p:nvPr/>
        </p:nvSpPr>
        <p:spPr bwMode="auto">
          <a:xfrm>
            <a:off x="4017963" y="1158277"/>
            <a:ext cx="914400" cy="914400"/>
          </a:xfrm>
          <a:prstGeom prst="rtTriangle">
            <a:avLst/>
          </a:prstGeom>
          <a:solidFill>
            <a:schemeClr val="tx2">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9" name="object 4">
            <a:extLst>
              <a:ext uri="{FF2B5EF4-FFF2-40B4-BE49-F238E27FC236}">
                <a16:creationId xmlns:a16="http://schemas.microsoft.com/office/drawing/2014/main" id="{B3876E71-0B84-8BDE-4387-7D4F8CC36945}"/>
              </a:ext>
            </a:extLst>
          </p:cNvPr>
          <p:cNvSpPr/>
          <p:nvPr/>
        </p:nvSpPr>
        <p:spPr>
          <a:xfrm>
            <a:off x="3711920" y="1314151"/>
            <a:ext cx="8113367" cy="3980162"/>
          </a:xfrm>
          <a:custGeom>
            <a:avLst/>
            <a:gdLst/>
            <a:ahLst/>
            <a:cxnLst/>
            <a:rect l="l" t="t" r="r" b="b"/>
            <a:pathLst>
              <a:path w="6065520" h="4377055">
                <a:moveTo>
                  <a:pt x="6065520" y="0"/>
                </a:moveTo>
                <a:lnTo>
                  <a:pt x="0" y="0"/>
                </a:lnTo>
                <a:lnTo>
                  <a:pt x="0" y="4376928"/>
                </a:lnTo>
                <a:lnTo>
                  <a:pt x="6065520" y="4376928"/>
                </a:lnTo>
                <a:lnTo>
                  <a:pt x="6065520" y="0"/>
                </a:lnTo>
                <a:close/>
              </a:path>
            </a:pathLst>
          </a:custGeom>
          <a:solidFill>
            <a:schemeClr val="tx2">
              <a:lumMod val="20000"/>
              <a:lumOff val="80000"/>
            </a:schemeClr>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E0F4FB4B-B3FF-4E4B-8905-E909D17F375A}"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1. Hill K, et al. </a:t>
            </a:r>
            <a:r>
              <a:rPr lang="en-US" i="1" dirty="0"/>
              <a:t>Eur Respir Rev</a:t>
            </a:r>
            <a:r>
              <a:rPr lang="en-US" dirty="0"/>
              <a:t>. 2013;22(129):405-413; 2.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Pulmonary rehabilitation: Key components</a:t>
            </a:r>
            <a:endParaRPr lang="en-GB" dirty="0"/>
          </a:p>
        </p:txBody>
      </p:sp>
      <p:sp>
        <p:nvSpPr>
          <p:cNvPr id="7" name="object 5">
            <a:extLst>
              <a:ext uri="{FF2B5EF4-FFF2-40B4-BE49-F238E27FC236}">
                <a16:creationId xmlns:a16="http://schemas.microsoft.com/office/drawing/2014/main" id="{0620F55D-454A-D085-9EA5-C7B8FEE010DB}"/>
              </a:ext>
            </a:extLst>
          </p:cNvPr>
          <p:cNvSpPr/>
          <p:nvPr/>
        </p:nvSpPr>
        <p:spPr>
          <a:xfrm>
            <a:off x="365125" y="1158277"/>
            <a:ext cx="3652838" cy="4291911"/>
          </a:xfrm>
          <a:custGeom>
            <a:avLst/>
            <a:gdLst/>
            <a:ahLst/>
            <a:cxnLst/>
            <a:rect l="l" t="t" r="r" b="b"/>
            <a:pathLst>
              <a:path w="2491740" h="4377055">
                <a:moveTo>
                  <a:pt x="2491740" y="0"/>
                </a:moveTo>
                <a:lnTo>
                  <a:pt x="0" y="0"/>
                </a:lnTo>
                <a:lnTo>
                  <a:pt x="0" y="4376928"/>
                </a:lnTo>
                <a:lnTo>
                  <a:pt x="2491740" y="4376928"/>
                </a:lnTo>
                <a:lnTo>
                  <a:pt x="2491740" y="0"/>
                </a:lnTo>
                <a:close/>
              </a:path>
            </a:pathLst>
          </a:custGeom>
          <a:solidFill>
            <a:srgbClr val="F36600"/>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Arial"/>
                <a:ea typeface="+mn-ea"/>
                <a:cs typeface="Noto Sans"/>
              </a:rPr>
              <a:t>Patients with a high symptom burden and risk of exacerbations (groups B and E) should be encouraged to undergo pulmonary rehabilitation, which is a comprehensive intervention based on thorough patient assessment followed by </a:t>
            </a:r>
            <a:br>
              <a:rPr kumimoji="0" lang="en-US" sz="1800" b="1" i="0" u="none" strike="noStrike" kern="1200" cap="none" spc="0" normalizeH="0" baseline="0" noProof="0" dirty="0">
                <a:ln>
                  <a:noFill/>
                </a:ln>
                <a:solidFill>
                  <a:prstClr val="white"/>
                </a:solidFill>
                <a:effectLst/>
                <a:uLnTx/>
                <a:uFillTx/>
                <a:latin typeface="Arial"/>
                <a:ea typeface="+mn-ea"/>
                <a:cs typeface="Noto Sans"/>
              </a:rPr>
            </a:br>
            <a:r>
              <a:rPr kumimoji="0" lang="en-US" sz="1800" b="1" i="0" u="none" strike="noStrike" kern="1200" cap="none" spc="0" normalizeH="0" baseline="0" noProof="0" dirty="0">
                <a:ln>
                  <a:noFill/>
                </a:ln>
                <a:solidFill>
                  <a:prstClr val="white"/>
                </a:solidFill>
                <a:effectLst/>
                <a:uLnTx/>
                <a:uFillTx/>
                <a:latin typeface="Arial"/>
                <a:ea typeface="+mn-ea"/>
                <a:cs typeface="Noto Sans"/>
              </a:rPr>
              <a:t>patient-tailored therapies. These include but are not limited to</a:t>
            </a:r>
            <a:r>
              <a:rPr kumimoji="0" lang="en-US" sz="1800" b="1" i="0" u="none" strike="noStrike" kern="1200" cap="none" spc="0" normalizeH="0" baseline="30000" noProof="0" dirty="0">
                <a:ln>
                  <a:noFill/>
                </a:ln>
                <a:solidFill>
                  <a:prstClr val="white"/>
                </a:solidFill>
                <a:effectLst/>
                <a:uLnTx/>
                <a:uFillTx/>
                <a:latin typeface="Arial"/>
                <a:ea typeface="+mn-ea"/>
                <a:cs typeface="Noto Sans"/>
              </a:rPr>
              <a:t>1,2</a:t>
            </a:r>
          </a:p>
        </p:txBody>
      </p:sp>
      <p:sp>
        <p:nvSpPr>
          <p:cNvPr id="18" name="object 8">
            <a:extLst>
              <a:ext uri="{FF2B5EF4-FFF2-40B4-BE49-F238E27FC236}">
                <a16:creationId xmlns:a16="http://schemas.microsoft.com/office/drawing/2014/main" id="{0516F8B4-EC09-1C50-7EF2-78CA950B8531}"/>
              </a:ext>
            </a:extLst>
          </p:cNvPr>
          <p:cNvSpPr/>
          <p:nvPr/>
        </p:nvSpPr>
        <p:spPr>
          <a:xfrm>
            <a:off x="7297122" y="1416479"/>
            <a:ext cx="942960" cy="942960"/>
          </a:xfrm>
          <a:custGeom>
            <a:avLst/>
            <a:gdLst/>
            <a:ahLst/>
            <a:cxnLst/>
            <a:rect l="l" t="t" r="r" b="b"/>
            <a:pathLst>
              <a:path w="1104900" h="1104900">
                <a:moveTo>
                  <a:pt x="552450" y="0"/>
                </a:moveTo>
                <a:lnTo>
                  <a:pt x="504790" y="2028"/>
                </a:lnTo>
                <a:lnTo>
                  <a:pt x="458255" y="8002"/>
                </a:lnTo>
                <a:lnTo>
                  <a:pt x="413009" y="17756"/>
                </a:lnTo>
                <a:lnTo>
                  <a:pt x="369221" y="31124"/>
                </a:lnTo>
                <a:lnTo>
                  <a:pt x="327054" y="47940"/>
                </a:lnTo>
                <a:lnTo>
                  <a:pt x="286676" y="68038"/>
                </a:lnTo>
                <a:lnTo>
                  <a:pt x="248251" y="91251"/>
                </a:lnTo>
                <a:lnTo>
                  <a:pt x="211947" y="117415"/>
                </a:lnTo>
                <a:lnTo>
                  <a:pt x="177929" y="146363"/>
                </a:lnTo>
                <a:lnTo>
                  <a:pt x="146363" y="177929"/>
                </a:lnTo>
                <a:lnTo>
                  <a:pt x="117415" y="211947"/>
                </a:lnTo>
                <a:lnTo>
                  <a:pt x="91251" y="248251"/>
                </a:lnTo>
                <a:lnTo>
                  <a:pt x="68038" y="286676"/>
                </a:lnTo>
                <a:lnTo>
                  <a:pt x="47940" y="327054"/>
                </a:lnTo>
                <a:lnTo>
                  <a:pt x="31124" y="369221"/>
                </a:lnTo>
                <a:lnTo>
                  <a:pt x="17756" y="413009"/>
                </a:lnTo>
                <a:lnTo>
                  <a:pt x="8002" y="458255"/>
                </a:lnTo>
                <a:lnTo>
                  <a:pt x="2028" y="504790"/>
                </a:lnTo>
                <a:lnTo>
                  <a:pt x="0" y="552450"/>
                </a:lnTo>
                <a:lnTo>
                  <a:pt x="2028" y="600109"/>
                </a:lnTo>
                <a:lnTo>
                  <a:pt x="8002" y="646644"/>
                </a:lnTo>
                <a:lnTo>
                  <a:pt x="17756" y="691890"/>
                </a:lnTo>
                <a:lnTo>
                  <a:pt x="31124" y="735678"/>
                </a:lnTo>
                <a:lnTo>
                  <a:pt x="47940" y="777845"/>
                </a:lnTo>
                <a:lnTo>
                  <a:pt x="68038" y="818223"/>
                </a:lnTo>
                <a:lnTo>
                  <a:pt x="91251" y="856648"/>
                </a:lnTo>
                <a:lnTo>
                  <a:pt x="117415" y="892952"/>
                </a:lnTo>
                <a:lnTo>
                  <a:pt x="146363" y="926970"/>
                </a:lnTo>
                <a:lnTo>
                  <a:pt x="177929" y="958536"/>
                </a:lnTo>
                <a:lnTo>
                  <a:pt x="211947" y="987484"/>
                </a:lnTo>
                <a:lnTo>
                  <a:pt x="248251" y="1013648"/>
                </a:lnTo>
                <a:lnTo>
                  <a:pt x="286676" y="1036861"/>
                </a:lnTo>
                <a:lnTo>
                  <a:pt x="327054" y="1056959"/>
                </a:lnTo>
                <a:lnTo>
                  <a:pt x="369221" y="1073775"/>
                </a:lnTo>
                <a:lnTo>
                  <a:pt x="413009" y="1087143"/>
                </a:lnTo>
                <a:lnTo>
                  <a:pt x="458255" y="1096897"/>
                </a:lnTo>
                <a:lnTo>
                  <a:pt x="504790" y="1102871"/>
                </a:lnTo>
                <a:lnTo>
                  <a:pt x="552450" y="1104900"/>
                </a:lnTo>
                <a:lnTo>
                  <a:pt x="600109" y="1102871"/>
                </a:lnTo>
                <a:lnTo>
                  <a:pt x="646644" y="1096897"/>
                </a:lnTo>
                <a:lnTo>
                  <a:pt x="691890" y="1087143"/>
                </a:lnTo>
                <a:lnTo>
                  <a:pt x="735678" y="1073775"/>
                </a:lnTo>
                <a:lnTo>
                  <a:pt x="777845" y="1056959"/>
                </a:lnTo>
                <a:lnTo>
                  <a:pt x="818223" y="1036861"/>
                </a:lnTo>
                <a:lnTo>
                  <a:pt x="856648" y="1013648"/>
                </a:lnTo>
                <a:lnTo>
                  <a:pt x="892952" y="987484"/>
                </a:lnTo>
                <a:lnTo>
                  <a:pt x="926970" y="958536"/>
                </a:lnTo>
                <a:lnTo>
                  <a:pt x="958536" y="926970"/>
                </a:lnTo>
                <a:lnTo>
                  <a:pt x="987484" y="892952"/>
                </a:lnTo>
                <a:lnTo>
                  <a:pt x="1013648" y="856648"/>
                </a:lnTo>
                <a:lnTo>
                  <a:pt x="1036861" y="818223"/>
                </a:lnTo>
                <a:lnTo>
                  <a:pt x="1056959" y="777845"/>
                </a:lnTo>
                <a:lnTo>
                  <a:pt x="1073775" y="735678"/>
                </a:lnTo>
                <a:lnTo>
                  <a:pt x="1087143" y="691890"/>
                </a:lnTo>
                <a:lnTo>
                  <a:pt x="1096897" y="646644"/>
                </a:lnTo>
                <a:lnTo>
                  <a:pt x="1102871" y="600109"/>
                </a:lnTo>
                <a:lnTo>
                  <a:pt x="1104900" y="552450"/>
                </a:lnTo>
                <a:lnTo>
                  <a:pt x="1102871" y="504790"/>
                </a:lnTo>
                <a:lnTo>
                  <a:pt x="1096897" y="458255"/>
                </a:lnTo>
                <a:lnTo>
                  <a:pt x="1087143" y="413009"/>
                </a:lnTo>
                <a:lnTo>
                  <a:pt x="1073775" y="369221"/>
                </a:lnTo>
                <a:lnTo>
                  <a:pt x="1056959" y="327054"/>
                </a:lnTo>
                <a:lnTo>
                  <a:pt x="1036861" y="286676"/>
                </a:lnTo>
                <a:lnTo>
                  <a:pt x="1013648" y="248251"/>
                </a:lnTo>
                <a:lnTo>
                  <a:pt x="987484" y="211947"/>
                </a:lnTo>
                <a:lnTo>
                  <a:pt x="958536" y="177929"/>
                </a:lnTo>
                <a:lnTo>
                  <a:pt x="926970" y="146363"/>
                </a:lnTo>
                <a:lnTo>
                  <a:pt x="892952" y="117415"/>
                </a:lnTo>
                <a:lnTo>
                  <a:pt x="856648" y="91251"/>
                </a:lnTo>
                <a:lnTo>
                  <a:pt x="818223" y="68038"/>
                </a:lnTo>
                <a:lnTo>
                  <a:pt x="777845" y="47940"/>
                </a:lnTo>
                <a:lnTo>
                  <a:pt x="735678" y="31124"/>
                </a:lnTo>
                <a:lnTo>
                  <a:pt x="691890" y="17756"/>
                </a:lnTo>
                <a:lnTo>
                  <a:pt x="646644" y="8002"/>
                </a:lnTo>
                <a:lnTo>
                  <a:pt x="600109" y="2028"/>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Maintenance</a:t>
            </a:r>
          </a:p>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strategies</a:t>
            </a:r>
          </a:p>
        </p:txBody>
      </p:sp>
      <p:sp>
        <p:nvSpPr>
          <p:cNvPr id="21" name="object 10">
            <a:extLst>
              <a:ext uri="{FF2B5EF4-FFF2-40B4-BE49-F238E27FC236}">
                <a16:creationId xmlns:a16="http://schemas.microsoft.com/office/drawing/2014/main" id="{A41056A5-FD3B-AD96-A9F7-400AC07F9B3B}"/>
              </a:ext>
            </a:extLst>
          </p:cNvPr>
          <p:cNvSpPr/>
          <p:nvPr/>
        </p:nvSpPr>
        <p:spPr>
          <a:xfrm>
            <a:off x="8297586" y="1830895"/>
            <a:ext cx="942960" cy="942960"/>
          </a:xfrm>
          <a:custGeom>
            <a:avLst/>
            <a:gdLst/>
            <a:ahLst/>
            <a:cxnLst/>
            <a:rect l="l" t="t" r="r" b="b"/>
            <a:pathLst>
              <a:path w="1106804" h="1104900">
                <a:moveTo>
                  <a:pt x="553211" y="0"/>
                </a:moveTo>
                <a:lnTo>
                  <a:pt x="505474" y="2028"/>
                </a:lnTo>
                <a:lnTo>
                  <a:pt x="458865" y="8002"/>
                </a:lnTo>
                <a:lnTo>
                  <a:pt x="413550" y="17756"/>
                </a:lnTo>
                <a:lnTo>
                  <a:pt x="369696" y="31124"/>
                </a:lnTo>
                <a:lnTo>
                  <a:pt x="327468" y="47940"/>
                </a:lnTo>
                <a:lnTo>
                  <a:pt x="287032" y="68038"/>
                </a:lnTo>
                <a:lnTo>
                  <a:pt x="248555" y="91251"/>
                </a:lnTo>
                <a:lnTo>
                  <a:pt x="212203" y="117415"/>
                </a:lnTo>
                <a:lnTo>
                  <a:pt x="178140" y="146363"/>
                </a:lnTo>
                <a:lnTo>
                  <a:pt x="146534" y="177929"/>
                </a:lnTo>
                <a:lnTo>
                  <a:pt x="117550" y="211947"/>
                </a:lnTo>
                <a:lnTo>
                  <a:pt x="91355" y="248251"/>
                </a:lnTo>
                <a:lnTo>
                  <a:pt x="68114" y="286676"/>
                </a:lnTo>
                <a:lnTo>
                  <a:pt x="47993" y="327054"/>
                </a:lnTo>
                <a:lnTo>
                  <a:pt x="31158" y="369221"/>
                </a:lnTo>
                <a:lnTo>
                  <a:pt x="17775" y="413009"/>
                </a:lnTo>
                <a:lnTo>
                  <a:pt x="8010" y="458255"/>
                </a:lnTo>
                <a:lnTo>
                  <a:pt x="2030" y="504790"/>
                </a:lnTo>
                <a:lnTo>
                  <a:pt x="0" y="552450"/>
                </a:lnTo>
                <a:lnTo>
                  <a:pt x="2030" y="600109"/>
                </a:lnTo>
                <a:lnTo>
                  <a:pt x="8010" y="646644"/>
                </a:lnTo>
                <a:lnTo>
                  <a:pt x="17775" y="691890"/>
                </a:lnTo>
                <a:lnTo>
                  <a:pt x="31158" y="735678"/>
                </a:lnTo>
                <a:lnTo>
                  <a:pt x="47993" y="777845"/>
                </a:lnTo>
                <a:lnTo>
                  <a:pt x="68114" y="818223"/>
                </a:lnTo>
                <a:lnTo>
                  <a:pt x="91355" y="856648"/>
                </a:lnTo>
                <a:lnTo>
                  <a:pt x="117550" y="892952"/>
                </a:lnTo>
                <a:lnTo>
                  <a:pt x="146534" y="926970"/>
                </a:lnTo>
                <a:lnTo>
                  <a:pt x="178140" y="958536"/>
                </a:lnTo>
                <a:lnTo>
                  <a:pt x="212203" y="987484"/>
                </a:lnTo>
                <a:lnTo>
                  <a:pt x="248555" y="1013648"/>
                </a:lnTo>
                <a:lnTo>
                  <a:pt x="287032" y="1036861"/>
                </a:lnTo>
                <a:lnTo>
                  <a:pt x="327468" y="1056959"/>
                </a:lnTo>
                <a:lnTo>
                  <a:pt x="369696" y="1073775"/>
                </a:lnTo>
                <a:lnTo>
                  <a:pt x="413550" y="1087143"/>
                </a:lnTo>
                <a:lnTo>
                  <a:pt x="458865" y="1096897"/>
                </a:lnTo>
                <a:lnTo>
                  <a:pt x="505474" y="1102871"/>
                </a:lnTo>
                <a:lnTo>
                  <a:pt x="553211" y="1104900"/>
                </a:lnTo>
                <a:lnTo>
                  <a:pt x="600949" y="1102871"/>
                </a:lnTo>
                <a:lnTo>
                  <a:pt x="647558" y="1096897"/>
                </a:lnTo>
                <a:lnTo>
                  <a:pt x="692873" y="1087143"/>
                </a:lnTo>
                <a:lnTo>
                  <a:pt x="736727" y="1073775"/>
                </a:lnTo>
                <a:lnTo>
                  <a:pt x="778955" y="1056959"/>
                </a:lnTo>
                <a:lnTo>
                  <a:pt x="819391" y="1036861"/>
                </a:lnTo>
                <a:lnTo>
                  <a:pt x="857868" y="1013648"/>
                </a:lnTo>
                <a:lnTo>
                  <a:pt x="894220" y="987484"/>
                </a:lnTo>
                <a:lnTo>
                  <a:pt x="928283" y="958536"/>
                </a:lnTo>
                <a:lnTo>
                  <a:pt x="959889" y="926970"/>
                </a:lnTo>
                <a:lnTo>
                  <a:pt x="988873" y="892952"/>
                </a:lnTo>
                <a:lnTo>
                  <a:pt x="1015068" y="856648"/>
                </a:lnTo>
                <a:lnTo>
                  <a:pt x="1038309" y="818223"/>
                </a:lnTo>
                <a:lnTo>
                  <a:pt x="1058430" y="777845"/>
                </a:lnTo>
                <a:lnTo>
                  <a:pt x="1075265" y="735678"/>
                </a:lnTo>
                <a:lnTo>
                  <a:pt x="1088648" y="691890"/>
                </a:lnTo>
                <a:lnTo>
                  <a:pt x="1098413" y="646644"/>
                </a:lnTo>
                <a:lnTo>
                  <a:pt x="1104393" y="600109"/>
                </a:lnTo>
                <a:lnTo>
                  <a:pt x="1106424" y="552450"/>
                </a:lnTo>
                <a:lnTo>
                  <a:pt x="1104393" y="504790"/>
                </a:lnTo>
                <a:lnTo>
                  <a:pt x="1098413" y="458255"/>
                </a:lnTo>
                <a:lnTo>
                  <a:pt x="1088648" y="413009"/>
                </a:lnTo>
                <a:lnTo>
                  <a:pt x="1075265" y="369221"/>
                </a:lnTo>
                <a:lnTo>
                  <a:pt x="1058430" y="327054"/>
                </a:lnTo>
                <a:lnTo>
                  <a:pt x="1038309" y="286676"/>
                </a:lnTo>
                <a:lnTo>
                  <a:pt x="1015068" y="248251"/>
                </a:lnTo>
                <a:lnTo>
                  <a:pt x="988873" y="211947"/>
                </a:lnTo>
                <a:lnTo>
                  <a:pt x="959889" y="177929"/>
                </a:lnTo>
                <a:lnTo>
                  <a:pt x="928283" y="146363"/>
                </a:lnTo>
                <a:lnTo>
                  <a:pt x="894220" y="117415"/>
                </a:lnTo>
                <a:lnTo>
                  <a:pt x="857868" y="91251"/>
                </a:lnTo>
                <a:lnTo>
                  <a:pt x="819391" y="68038"/>
                </a:lnTo>
                <a:lnTo>
                  <a:pt x="778955" y="47940"/>
                </a:lnTo>
                <a:lnTo>
                  <a:pt x="736727" y="31124"/>
                </a:lnTo>
                <a:lnTo>
                  <a:pt x="692873" y="17756"/>
                </a:lnTo>
                <a:lnTo>
                  <a:pt x="647558" y="8002"/>
                </a:lnTo>
                <a:lnTo>
                  <a:pt x="600949" y="2028"/>
                </a:lnTo>
                <a:lnTo>
                  <a:pt x="553211"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prstClr val="white"/>
                </a:solidFill>
                <a:effectLst/>
                <a:uLnTx/>
                <a:uFillTx/>
                <a:latin typeface="Arial"/>
                <a:ea typeface="+mn-ea"/>
                <a:cs typeface="Noto Sans"/>
              </a:rPr>
              <a:t>Diagnosis and management of comorbidities</a:t>
            </a:r>
          </a:p>
        </p:txBody>
      </p:sp>
      <p:sp>
        <p:nvSpPr>
          <p:cNvPr id="24" name="object 12">
            <a:extLst>
              <a:ext uri="{FF2B5EF4-FFF2-40B4-BE49-F238E27FC236}">
                <a16:creationId xmlns:a16="http://schemas.microsoft.com/office/drawing/2014/main" id="{EF01CCB7-0265-9A6B-BF85-530C9BD4CAF1}"/>
              </a:ext>
            </a:extLst>
          </p:cNvPr>
          <p:cNvSpPr/>
          <p:nvPr/>
        </p:nvSpPr>
        <p:spPr>
          <a:xfrm>
            <a:off x="8713397" y="2829961"/>
            <a:ext cx="942960" cy="942960"/>
          </a:xfrm>
          <a:custGeom>
            <a:avLst/>
            <a:gdLst/>
            <a:ahLst/>
            <a:cxnLst/>
            <a:rect l="l" t="t" r="r" b="b"/>
            <a:pathLst>
              <a:path w="1104900" h="1104900">
                <a:moveTo>
                  <a:pt x="552450" y="0"/>
                </a:moveTo>
                <a:lnTo>
                  <a:pt x="504790" y="2028"/>
                </a:lnTo>
                <a:lnTo>
                  <a:pt x="458255" y="8002"/>
                </a:lnTo>
                <a:lnTo>
                  <a:pt x="413009" y="17756"/>
                </a:lnTo>
                <a:lnTo>
                  <a:pt x="369221" y="31124"/>
                </a:lnTo>
                <a:lnTo>
                  <a:pt x="327054" y="47940"/>
                </a:lnTo>
                <a:lnTo>
                  <a:pt x="286676" y="68038"/>
                </a:lnTo>
                <a:lnTo>
                  <a:pt x="248251" y="91251"/>
                </a:lnTo>
                <a:lnTo>
                  <a:pt x="211947" y="117415"/>
                </a:lnTo>
                <a:lnTo>
                  <a:pt x="177929" y="146363"/>
                </a:lnTo>
                <a:lnTo>
                  <a:pt x="146363" y="177929"/>
                </a:lnTo>
                <a:lnTo>
                  <a:pt x="117415" y="211947"/>
                </a:lnTo>
                <a:lnTo>
                  <a:pt x="91251" y="248251"/>
                </a:lnTo>
                <a:lnTo>
                  <a:pt x="68038" y="286676"/>
                </a:lnTo>
                <a:lnTo>
                  <a:pt x="47940" y="327054"/>
                </a:lnTo>
                <a:lnTo>
                  <a:pt x="31124" y="369221"/>
                </a:lnTo>
                <a:lnTo>
                  <a:pt x="17756" y="413009"/>
                </a:lnTo>
                <a:lnTo>
                  <a:pt x="8002" y="458255"/>
                </a:lnTo>
                <a:lnTo>
                  <a:pt x="2028" y="504790"/>
                </a:lnTo>
                <a:lnTo>
                  <a:pt x="0" y="552450"/>
                </a:lnTo>
                <a:lnTo>
                  <a:pt x="2028" y="600109"/>
                </a:lnTo>
                <a:lnTo>
                  <a:pt x="8002" y="646644"/>
                </a:lnTo>
                <a:lnTo>
                  <a:pt x="17756" y="691890"/>
                </a:lnTo>
                <a:lnTo>
                  <a:pt x="31124" y="735678"/>
                </a:lnTo>
                <a:lnTo>
                  <a:pt x="47940" y="777845"/>
                </a:lnTo>
                <a:lnTo>
                  <a:pt x="68038" y="818223"/>
                </a:lnTo>
                <a:lnTo>
                  <a:pt x="91251" y="856648"/>
                </a:lnTo>
                <a:lnTo>
                  <a:pt x="117415" y="892952"/>
                </a:lnTo>
                <a:lnTo>
                  <a:pt x="146363" y="926970"/>
                </a:lnTo>
                <a:lnTo>
                  <a:pt x="177929" y="958536"/>
                </a:lnTo>
                <a:lnTo>
                  <a:pt x="211947" y="987484"/>
                </a:lnTo>
                <a:lnTo>
                  <a:pt x="248251" y="1013648"/>
                </a:lnTo>
                <a:lnTo>
                  <a:pt x="286676" y="1036861"/>
                </a:lnTo>
                <a:lnTo>
                  <a:pt x="327054" y="1056959"/>
                </a:lnTo>
                <a:lnTo>
                  <a:pt x="369221" y="1073775"/>
                </a:lnTo>
                <a:lnTo>
                  <a:pt x="413009" y="1087143"/>
                </a:lnTo>
                <a:lnTo>
                  <a:pt x="458255" y="1096897"/>
                </a:lnTo>
                <a:lnTo>
                  <a:pt x="504790" y="1102871"/>
                </a:lnTo>
                <a:lnTo>
                  <a:pt x="552450" y="1104899"/>
                </a:lnTo>
                <a:lnTo>
                  <a:pt x="600109" y="1102871"/>
                </a:lnTo>
                <a:lnTo>
                  <a:pt x="646644" y="1096897"/>
                </a:lnTo>
                <a:lnTo>
                  <a:pt x="691890" y="1087143"/>
                </a:lnTo>
                <a:lnTo>
                  <a:pt x="735678" y="1073775"/>
                </a:lnTo>
                <a:lnTo>
                  <a:pt x="777845" y="1056959"/>
                </a:lnTo>
                <a:lnTo>
                  <a:pt x="818223" y="1036861"/>
                </a:lnTo>
                <a:lnTo>
                  <a:pt x="856648" y="1013648"/>
                </a:lnTo>
                <a:lnTo>
                  <a:pt x="892952" y="987484"/>
                </a:lnTo>
                <a:lnTo>
                  <a:pt x="926970" y="958536"/>
                </a:lnTo>
                <a:lnTo>
                  <a:pt x="958536" y="926970"/>
                </a:lnTo>
                <a:lnTo>
                  <a:pt x="987484" y="892952"/>
                </a:lnTo>
                <a:lnTo>
                  <a:pt x="1013648" y="856648"/>
                </a:lnTo>
                <a:lnTo>
                  <a:pt x="1036861" y="818223"/>
                </a:lnTo>
                <a:lnTo>
                  <a:pt x="1056959" y="777845"/>
                </a:lnTo>
                <a:lnTo>
                  <a:pt x="1073775" y="735678"/>
                </a:lnTo>
                <a:lnTo>
                  <a:pt x="1087143" y="691890"/>
                </a:lnTo>
                <a:lnTo>
                  <a:pt x="1096897" y="646644"/>
                </a:lnTo>
                <a:lnTo>
                  <a:pt x="1102871" y="600109"/>
                </a:lnTo>
                <a:lnTo>
                  <a:pt x="1104900" y="552450"/>
                </a:lnTo>
                <a:lnTo>
                  <a:pt x="1102871" y="504790"/>
                </a:lnTo>
                <a:lnTo>
                  <a:pt x="1096897" y="458255"/>
                </a:lnTo>
                <a:lnTo>
                  <a:pt x="1087143" y="413009"/>
                </a:lnTo>
                <a:lnTo>
                  <a:pt x="1073775" y="369221"/>
                </a:lnTo>
                <a:lnTo>
                  <a:pt x="1056959" y="327054"/>
                </a:lnTo>
                <a:lnTo>
                  <a:pt x="1036861" y="286676"/>
                </a:lnTo>
                <a:lnTo>
                  <a:pt x="1013648" y="248251"/>
                </a:lnTo>
                <a:lnTo>
                  <a:pt x="987484" y="211947"/>
                </a:lnTo>
                <a:lnTo>
                  <a:pt x="958536" y="177929"/>
                </a:lnTo>
                <a:lnTo>
                  <a:pt x="926970" y="146363"/>
                </a:lnTo>
                <a:lnTo>
                  <a:pt x="892952" y="117415"/>
                </a:lnTo>
                <a:lnTo>
                  <a:pt x="856648" y="91251"/>
                </a:lnTo>
                <a:lnTo>
                  <a:pt x="818223" y="68038"/>
                </a:lnTo>
                <a:lnTo>
                  <a:pt x="777845" y="47940"/>
                </a:lnTo>
                <a:lnTo>
                  <a:pt x="735678" y="31124"/>
                </a:lnTo>
                <a:lnTo>
                  <a:pt x="691890" y="17756"/>
                </a:lnTo>
                <a:lnTo>
                  <a:pt x="646644" y="8002"/>
                </a:lnTo>
                <a:lnTo>
                  <a:pt x="600109" y="2028"/>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Exercise training and maintenance</a:t>
            </a:r>
          </a:p>
        </p:txBody>
      </p:sp>
      <p:sp>
        <p:nvSpPr>
          <p:cNvPr id="26" name="object 14">
            <a:extLst>
              <a:ext uri="{FF2B5EF4-FFF2-40B4-BE49-F238E27FC236}">
                <a16:creationId xmlns:a16="http://schemas.microsoft.com/office/drawing/2014/main" id="{B83E90CF-4CBB-68FA-F2EA-08EF087ED5AA}"/>
              </a:ext>
            </a:extLst>
          </p:cNvPr>
          <p:cNvSpPr/>
          <p:nvPr/>
        </p:nvSpPr>
        <p:spPr>
          <a:xfrm>
            <a:off x="8297586" y="3833215"/>
            <a:ext cx="942960" cy="942960"/>
          </a:xfrm>
          <a:custGeom>
            <a:avLst/>
            <a:gdLst/>
            <a:ahLst/>
            <a:cxnLst/>
            <a:rect l="l" t="t" r="r" b="b"/>
            <a:pathLst>
              <a:path w="1106804" h="1106804">
                <a:moveTo>
                  <a:pt x="553211" y="0"/>
                </a:moveTo>
                <a:lnTo>
                  <a:pt x="505474" y="2030"/>
                </a:lnTo>
                <a:lnTo>
                  <a:pt x="458865" y="8010"/>
                </a:lnTo>
                <a:lnTo>
                  <a:pt x="413550" y="17775"/>
                </a:lnTo>
                <a:lnTo>
                  <a:pt x="369696" y="31158"/>
                </a:lnTo>
                <a:lnTo>
                  <a:pt x="327468" y="47993"/>
                </a:lnTo>
                <a:lnTo>
                  <a:pt x="287032" y="68114"/>
                </a:lnTo>
                <a:lnTo>
                  <a:pt x="248555" y="91355"/>
                </a:lnTo>
                <a:lnTo>
                  <a:pt x="212203" y="117550"/>
                </a:lnTo>
                <a:lnTo>
                  <a:pt x="178140" y="146534"/>
                </a:lnTo>
                <a:lnTo>
                  <a:pt x="146534" y="178140"/>
                </a:lnTo>
                <a:lnTo>
                  <a:pt x="117550" y="212203"/>
                </a:lnTo>
                <a:lnTo>
                  <a:pt x="91355" y="248555"/>
                </a:lnTo>
                <a:lnTo>
                  <a:pt x="68114" y="287032"/>
                </a:lnTo>
                <a:lnTo>
                  <a:pt x="47993" y="327468"/>
                </a:lnTo>
                <a:lnTo>
                  <a:pt x="31158" y="369696"/>
                </a:lnTo>
                <a:lnTo>
                  <a:pt x="17775" y="413550"/>
                </a:lnTo>
                <a:lnTo>
                  <a:pt x="8010" y="458865"/>
                </a:lnTo>
                <a:lnTo>
                  <a:pt x="2030" y="505474"/>
                </a:lnTo>
                <a:lnTo>
                  <a:pt x="0" y="553212"/>
                </a:lnTo>
                <a:lnTo>
                  <a:pt x="2030" y="600949"/>
                </a:lnTo>
                <a:lnTo>
                  <a:pt x="8010" y="647558"/>
                </a:lnTo>
                <a:lnTo>
                  <a:pt x="17775" y="692873"/>
                </a:lnTo>
                <a:lnTo>
                  <a:pt x="31158" y="736727"/>
                </a:lnTo>
                <a:lnTo>
                  <a:pt x="47993" y="778955"/>
                </a:lnTo>
                <a:lnTo>
                  <a:pt x="68114" y="819391"/>
                </a:lnTo>
                <a:lnTo>
                  <a:pt x="91355" y="857868"/>
                </a:lnTo>
                <a:lnTo>
                  <a:pt x="117550" y="894220"/>
                </a:lnTo>
                <a:lnTo>
                  <a:pt x="146534" y="928283"/>
                </a:lnTo>
                <a:lnTo>
                  <a:pt x="178140" y="959889"/>
                </a:lnTo>
                <a:lnTo>
                  <a:pt x="212203" y="988873"/>
                </a:lnTo>
                <a:lnTo>
                  <a:pt x="248555" y="1015068"/>
                </a:lnTo>
                <a:lnTo>
                  <a:pt x="287032" y="1038309"/>
                </a:lnTo>
                <a:lnTo>
                  <a:pt x="327468" y="1058430"/>
                </a:lnTo>
                <a:lnTo>
                  <a:pt x="369696" y="1075265"/>
                </a:lnTo>
                <a:lnTo>
                  <a:pt x="413550" y="1088648"/>
                </a:lnTo>
                <a:lnTo>
                  <a:pt x="458865" y="1098413"/>
                </a:lnTo>
                <a:lnTo>
                  <a:pt x="505474" y="1104393"/>
                </a:lnTo>
                <a:lnTo>
                  <a:pt x="553211" y="1106424"/>
                </a:lnTo>
                <a:lnTo>
                  <a:pt x="600949" y="1104393"/>
                </a:lnTo>
                <a:lnTo>
                  <a:pt x="647558" y="1098413"/>
                </a:lnTo>
                <a:lnTo>
                  <a:pt x="692873" y="1088648"/>
                </a:lnTo>
                <a:lnTo>
                  <a:pt x="736727" y="1075265"/>
                </a:lnTo>
                <a:lnTo>
                  <a:pt x="778955" y="1058430"/>
                </a:lnTo>
                <a:lnTo>
                  <a:pt x="819391" y="1038309"/>
                </a:lnTo>
                <a:lnTo>
                  <a:pt x="857868" y="1015068"/>
                </a:lnTo>
                <a:lnTo>
                  <a:pt x="894220" y="988873"/>
                </a:lnTo>
                <a:lnTo>
                  <a:pt x="928283" y="959889"/>
                </a:lnTo>
                <a:lnTo>
                  <a:pt x="959889" y="928283"/>
                </a:lnTo>
                <a:lnTo>
                  <a:pt x="988873" y="894220"/>
                </a:lnTo>
                <a:lnTo>
                  <a:pt x="1015068" y="857868"/>
                </a:lnTo>
                <a:lnTo>
                  <a:pt x="1038309" y="819391"/>
                </a:lnTo>
                <a:lnTo>
                  <a:pt x="1058430" y="778955"/>
                </a:lnTo>
                <a:lnTo>
                  <a:pt x="1075265" y="736727"/>
                </a:lnTo>
                <a:lnTo>
                  <a:pt x="1088648" y="692873"/>
                </a:lnTo>
                <a:lnTo>
                  <a:pt x="1098413" y="647558"/>
                </a:lnTo>
                <a:lnTo>
                  <a:pt x="1104393" y="600949"/>
                </a:lnTo>
                <a:lnTo>
                  <a:pt x="1106424" y="553212"/>
                </a:lnTo>
                <a:lnTo>
                  <a:pt x="1104393" y="505474"/>
                </a:lnTo>
                <a:lnTo>
                  <a:pt x="1098413" y="458865"/>
                </a:lnTo>
                <a:lnTo>
                  <a:pt x="1088648" y="413550"/>
                </a:lnTo>
                <a:lnTo>
                  <a:pt x="1075265" y="369696"/>
                </a:lnTo>
                <a:lnTo>
                  <a:pt x="1058430" y="327468"/>
                </a:lnTo>
                <a:lnTo>
                  <a:pt x="1038309" y="287032"/>
                </a:lnTo>
                <a:lnTo>
                  <a:pt x="1015068" y="248555"/>
                </a:lnTo>
                <a:lnTo>
                  <a:pt x="988873" y="212203"/>
                </a:lnTo>
                <a:lnTo>
                  <a:pt x="959889" y="178140"/>
                </a:lnTo>
                <a:lnTo>
                  <a:pt x="928283" y="146534"/>
                </a:lnTo>
                <a:lnTo>
                  <a:pt x="894220" y="117550"/>
                </a:lnTo>
                <a:lnTo>
                  <a:pt x="857868" y="91355"/>
                </a:lnTo>
                <a:lnTo>
                  <a:pt x="819391" y="68114"/>
                </a:lnTo>
                <a:lnTo>
                  <a:pt x="778955" y="47993"/>
                </a:lnTo>
                <a:lnTo>
                  <a:pt x="736727" y="31158"/>
                </a:lnTo>
                <a:lnTo>
                  <a:pt x="692873" y="17775"/>
                </a:lnTo>
                <a:lnTo>
                  <a:pt x="647558" y="8010"/>
                </a:lnTo>
                <a:lnTo>
                  <a:pt x="600949" y="2030"/>
                </a:lnTo>
                <a:lnTo>
                  <a:pt x="553211"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Management of acute </a:t>
            </a:r>
            <a:r>
              <a:rPr kumimoji="0" lang="en-US" sz="900" b="1" i="0" u="none" strike="noStrike" kern="1200" cap="none" spc="0" normalizeH="0" baseline="0" noProof="0" dirty="0">
                <a:ln>
                  <a:noFill/>
                </a:ln>
                <a:solidFill>
                  <a:prstClr val="white"/>
                </a:solidFill>
                <a:effectLst/>
                <a:uLnTx/>
                <a:uFillTx/>
                <a:latin typeface="Arial"/>
                <a:ea typeface="+mn-ea"/>
                <a:cs typeface="Noto Sans"/>
              </a:rPr>
              <a:t>dyspnea</a:t>
            </a:r>
          </a:p>
        </p:txBody>
      </p:sp>
      <p:sp>
        <p:nvSpPr>
          <p:cNvPr id="29" name="object 16">
            <a:extLst>
              <a:ext uri="{FF2B5EF4-FFF2-40B4-BE49-F238E27FC236}">
                <a16:creationId xmlns:a16="http://schemas.microsoft.com/office/drawing/2014/main" id="{D3B41F85-5B50-6722-DB6F-8E8E8836FE3B}"/>
              </a:ext>
            </a:extLst>
          </p:cNvPr>
          <p:cNvSpPr/>
          <p:nvPr/>
        </p:nvSpPr>
        <p:spPr>
          <a:xfrm>
            <a:off x="7297122" y="4249025"/>
            <a:ext cx="942960" cy="942960"/>
          </a:xfrm>
          <a:custGeom>
            <a:avLst/>
            <a:gdLst/>
            <a:ahLst/>
            <a:cxnLst/>
            <a:rect l="l" t="t" r="r" b="b"/>
            <a:pathLst>
              <a:path w="1104900" h="1104900">
                <a:moveTo>
                  <a:pt x="552450" y="0"/>
                </a:moveTo>
                <a:lnTo>
                  <a:pt x="504790" y="2028"/>
                </a:lnTo>
                <a:lnTo>
                  <a:pt x="458255" y="8002"/>
                </a:lnTo>
                <a:lnTo>
                  <a:pt x="413009" y="17756"/>
                </a:lnTo>
                <a:lnTo>
                  <a:pt x="369221" y="31124"/>
                </a:lnTo>
                <a:lnTo>
                  <a:pt x="327054" y="47940"/>
                </a:lnTo>
                <a:lnTo>
                  <a:pt x="286676" y="68038"/>
                </a:lnTo>
                <a:lnTo>
                  <a:pt x="248251" y="91251"/>
                </a:lnTo>
                <a:lnTo>
                  <a:pt x="211947" y="117415"/>
                </a:lnTo>
                <a:lnTo>
                  <a:pt x="177929" y="146363"/>
                </a:lnTo>
                <a:lnTo>
                  <a:pt x="146363" y="177929"/>
                </a:lnTo>
                <a:lnTo>
                  <a:pt x="117415" y="211947"/>
                </a:lnTo>
                <a:lnTo>
                  <a:pt x="91251" y="248251"/>
                </a:lnTo>
                <a:lnTo>
                  <a:pt x="68038" y="286676"/>
                </a:lnTo>
                <a:lnTo>
                  <a:pt x="47940" y="327054"/>
                </a:lnTo>
                <a:lnTo>
                  <a:pt x="31124" y="369221"/>
                </a:lnTo>
                <a:lnTo>
                  <a:pt x="17756" y="413009"/>
                </a:lnTo>
                <a:lnTo>
                  <a:pt x="8002" y="458255"/>
                </a:lnTo>
                <a:lnTo>
                  <a:pt x="2028" y="504790"/>
                </a:lnTo>
                <a:lnTo>
                  <a:pt x="0" y="552450"/>
                </a:lnTo>
                <a:lnTo>
                  <a:pt x="2028" y="600109"/>
                </a:lnTo>
                <a:lnTo>
                  <a:pt x="8002" y="646644"/>
                </a:lnTo>
                <a:lnTo>
                  <a:pt x="17756" y="691890"/>
                </a:lnTo>
                <a:lnTo>
                  <a:pt x="31124" y="735678"/>
                </a:lnTo>
                <a:lnTo>
                  <a:pt x="47940" y="777845"/>
                </a:lnTo>
                <a:lnTo>
                  <a:pt x="68038" y="818223"/>
                </a:lnTo>
                <a:lnTo>
                  <a:pt x="91251" y="856648"/>
                </a:lnTo>
                <a:lnTo>
                  <a:pt x="117415" y="892952"/>
                </a:lnTo>
                <a:lnTo>
                  <a:pt x="146363" y="926970"/>
                </a:lnTo>
                <a:lnTo>
                  <a:pt x="177929" y="958536"/>
                </a:lnTo>
                <a:lnTo>
                  <a:pt x="211947" y="987484"/>
                </a:lnTo>
                <a:lnTo>
                  <a:pt x="248251" y="1013648"/>
                </a:lnTo>
                <a:lnTo>
                  <a:pt x="286676" y="1036861"/>
                </a:lnTo>
                <a:lnTo>
                  <a:pt x="327054" y="1056959"/>
                </a:lnTo>
                <a:lnTo>
                  <a:pt x="369221" y="1073775"/>
                </a:lnTo>
                <a:lnTo>
                  <a:pt x="413009" y="1087143"/>
                </a:lnTo>
                <a:lnTo>
                  <a:pt x="458255" y="1096897"/>
                </a:lnTo>
                <a:lnTo>
                  <a:pt x="504790" y="1102871"/>
                </a:lnTo>
                <a:lnTo>
                  <a:pt x="552450" y="1104900"/>
                </a:lnTo>
                <a:lnTo>
                  <a:pt x="600109" y="1102871"/>
                </a:lnTo>
                <a:lnTo>
                  <a:pt x="646644" y="1096897"/>
                </a:lnTo>
                <a:lnTo>
                  <a:pt x="691890" y="1087143"/>
                </a:lnTo>
                <a:lnTo>
                  <a:pt x="735678" y="1073775"/>
                </a:lnTo>
                <a:lnTo>
                  <a:pt x="777845" y="1056959"/>
                </a:lnTo>
                <a:lnTo>
                  <a:pt x="818223" y="1036861"/>
                </a:lnTo>
                <a:lnTo>
                  <a:pt x="856648" y="1013648"/>
                </a:lnTo>
                <a:lnTo>
                  <a:pt x="892952" y="987484"/>
                </a:lnTo>
                <a:lnTo>
                  <a:pt x="926970" y="958536"/>
                </a:lnTo>
                <a:lnTo>
                  <a:pt x="958536" y="926970"/>
                </a:lnTo>
                <a:lnTo>
                  <a:pt x="987484" y="892952"/>
                </a:lnTo>
                <a:lnTo>
                  <a:pt x="1013648" y="856648"/>
                </a:lnTo>
                <a:lnTo>
                  <a:pt x="1036861" y="818223"/>
                </a:lnTo>
                <a:lnTo>
                  <a:pt x="1056959" y="777845"/>
                </a:lnTo>
                <a:lnTo>
                  <a:pt x="1073775" y="735678"/>
                </a:lnTo>
                <a:lnTo>
                  <a:pt x="1087143" y="691890"/>
                </a:lnTo>
                <a:lnTo>
                  <a:pt x="1096897" y="646644"/>
                </a:lnTo>
                <a:lnTo>
                  <a:pt x="1102871" y="600109"/>
                </a:lnTo>
                <a:lnTo>
                  <a:pt x="1104900" y="552450"/>
                </a:lnTo>
                <a:lnTo>
                  <a:pt x="1102871" y="504790"/>
                </a:lnTo>
                <a:lnTo>
                  <a:pt x="1096897" y="458255"/>
                </a:lnTo>
                <a:lnTo>
                  <a:pt x="1087143" y="413009"/>
                </a:lnTo>
                <a:lnTo>
                  <a:pt x="1073775" y="369221"/>
                </a:lnTo>
                <a:lnTo>
                  <a:pt x="1056959" y="327054"/>
                </a:lnTo>
                <a:lnTo>
                  <a:pt x="1036861" y="286676"/>
                </a:lnTo>
                <a:lnTo>
                  <a:pt x="1013648" y="248251"/>
                </a:lnTo>
                <a:lnTo>
                  <a:pt x="987484" y="211947"/>
                </a:lnTo>
                <a:lnTo>
                  <a:pt x="958536" y="177929"/>
                </a:lnTo>
                <a:lnTo>
                  <a:pt x="926970" y="146363"/>
                </a:lnTo>
                <a:lnTo>
                  <a:pt x="892952" y="117415"/>
                </a:lnTo>
                <a:lnTo>
                  <a:pt x="856648" y="91251"/>
                </a:lnTo>
                <a:lnTo>
                  <a:pt x="818223" y="68038"/>
                </a:lnTo>
                <a:lnTo>
                  <a:pt x="777845" y="47940"/>
                </a:lnTo>
                <a:lnTo>
                  <a:pt x="735678" y="31124"/>
                </a:lnTo>
                <a:lnTo>
                  <a:pt x="691890" y="17756"/>
                </a:lnTo>
                <a:lnTo>
                  <a:pt x="646644" y="8002"/>
                </a:lnTo>
                <a:lnTo>
                  <a:pt x="600109" y="2028"/>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Nutritional support</a:t>
            </a:r>
          </a:p>
        </p:txBody>
      </p:sp>
      <p:sp>
        <p:nvSpPr>
          <p:cNvPr id="31" name="object 18">
            <a:extLst>
              <a:ext uri="{FF2B5EF4-FFF2-40B4-BE49-F238E27FC236}">
                <a16:creationId xmlns:a16="http://schemas.microsoft.com/office/drawing/2014/main" id="{159BDDFA-B318-C872-8FA5-53787F811CE7}"/>
              </a:ext>
            </a:extLst>
          </p:cNvPr>
          <p:cNvSpPr/>
          <p:nvPr/>
        </p:nvSpPr>
        <p:spPr>
          <a:xfrm>
            <a:off x="6295265" y="3833214"/>
            <a:ext cx="942960" cy="942960"/>
          </a:xfrm>
          <a:custGeom>
            <a:avLst/>
            <a:gdLst/>
            <a:ahLst/>
            <a:cxnLst/>
            <a:rect l="l" t="t" r="r" b="b"/>
            <a:pathLst>
              <a:path w="1104900" h="1106804">
                <a:moveTo>
                  <a:pt x="552450" y="0"/>
                </a:moveTo>
                <a:lnTo>
                  <a:pt x="504790" y="2030"/>
                </a:lnTo>
                <a:lnTo>
                  <a:pt x="458255" y="8010"/>
                </a:lnTo>
                <a:lnTo>
                  <a:pt x="413009" y="17775"/>
                </a:lnTo>
                <a:lnTo>
                  <a:pt x="369221" y="31158"/>
                </a:lnTo>
                <a:lnTo>
                  <a:pt x="327054" y="47993"/>
                </a:lnTo>
                <a:lnTo>
                  <a:pt x="286676" y="68114"/>
                </a:lnTo>
                <a:lnTo>
                  <a:pt x="248251" y="91355"/>
                </a:lnTo>
                <a:lnTo>
                  <a:pt x="211947" y="117550"/>
                </a:lnTo>
                <a:lnTo>
                  <a:pt x="177929" y="146534"/>
                </a:lnTo>
                <a:lnTo>
                  <a:pt x="146363" y="178140"/>
                </a:lnTo>
                <a:lnTo>
                  <a:pt x="117415" y="212203"/>
                </a:lnTo>
                <a:lnTo>
                  <a:pt x="91251" y="248555"/>
                </a:lnTo>
                <a:lnTo>
                  <a:pt x="68038" y="287032"/>
                </a:lnTo>
                <a:lnTo>
                  <a:pt x="47940" y="327468"/>
                </a:lnTo>
                <a:lnTo>
                  <a:pt x="31124" y="369696"/>
                </a:lnTo>
                <a:lnTo>
                  <a:pt x="17756" y="413550"/>
                </a:lnTo>
                <a:lnTo>
                  <a:pt x="8002" y="458865"/>
                </a:lnTo>
                <a:lnTo>
                  <a:pt x="2028" y="505474"/>
                </a:lnTo>
                <a:lnTo>
                  <a:pt x="0" y="553212"/>
                </a:lnTo>
                <a:lnTo>
                  <a:pt x="2028" y="600949"/>
                </a:lnTo>
                <a:lnTo>
                  <a:pt x="8002" y="647558"/>
                </a:lnTo>
                <a:lnTo>
                  <a:pt x="17756" y="692873"/>
                </a:lnTo>
                <a:lnTo>
                  <a:pt x="31124" y="736727"/>
                </a:lnTo>
                <a:lnTo>
                  <a:pt x="47940" y="778955"/>
                </a:lnTo>
                <a:lnTo>
                  <a:pt x="68038" y="819391"/>
                </a:lnTo>
                <a:lnTo>
                  <a:pt x="91251" y="857868"/>
                </a:lnTo>
                <a:lnTo>
                  <a:pt x="117415" y="894220"/>
                </a:lnTo>
                <a:lnTo>
                  <a:pt x="146363" y="928283"/>
                </a:lnTo>
                <a:lnTo>
                  <a:pt x="177929" y="959889"/>
                </a:lnTo>
                <a:lnTo>
                  <a:pt x="211947" y="988873"/>
                </a:lnTo>
                <a:lnTo>
                  <a:pt x="248251" y="1015068"/>
                </a:lnTo>
                <a:lnTo>
                  <a:pt x="286676" y="1038309"/>
                </a:lnTo>
                <a:lnTo>
                  <a:pt x="327054" y="1058430"/>
                </a:lnTo>
                <a:lnTo>
                  <a:pt x="369221" y="1075265"/>
                </a:lnTo>
                <a:lnTo>
                  <a:pt x="413009" y="1088648"/>
                </a:lnTo>
                <a:lnTo>
                  <a:pt x="458255" y="1098413"/>
                </a:lnTo>
                <a:lnTo>
                  <a:pt x="504790" y="1104393"/>
                </a:lnTo>
                <a:lnTo>
                  <a:pt x="552450" y="1106424"/>
                </a:lnTo>
                <a:lnTo>
                  <a:pt x="600109" y="1104393"/>
                </a:lnTo>
                <a:lnTo>
                  <a:pt x="646644" y="1098413"/>
                </a:lnTo>
                <a:lnTo>
                  <a:pt x="691890" y="1088648"/>
                </a:lnTo>
                <a:lnTo>
                  <a:pt x="735678" y="1075265"/>
                </a:lnTo>
                <a:lnTo>
                  <a:pt x="777845" y="1058430"/>
                </a:lnTo>
                <a:lnTo>
                  <a:pt x="818223" y="1038309"/>
                </a:lnTo>
                <a:lnTo>
                  <a:pt x="856648" y="1015068"/>
                </a:lnTo>
                <a:lnTo>
                  <a:pt x="892952" y="988873"/>
                </a:lnTo>
                <a:lnTo>
                  <a:pt x="926970" y="959889"/>
                </a:lnTo>
                <a:lnTo>
                  <a:pt x="958536" y="928283"/>
                </a:lnTo>
                <a:lnTo>
                  <a:pt x="987484" y="894220"/>
                </a:lnTo>
                <a:lnTo>
                  <a:pt x="1013648" y="857868"/>
                </a:lnTo>
                <a:lnTo>
                  <a:pt x="1036861" y="819391"/>
                </a:lnTo>
                <a:lnTo>
                  <a:pt x="1056959" y="778955"/>
                </a:lnTo>
                <a:lnTo>
                  <a:pt x="1073775" y="736727"/>
                </a:lnTo>
                <a:lnTo>
                  <a:pt x="1087143" y="692873"/>
                </a:lnTo>
                <a:lnTo>
                  <a:pt x="1096897" y="647558"/>
                </a:lnTo>
                <a:lnTo>
                  <a:pt x="1102871" y="600949"/>
                </a:lnTo>
                <a:lnTo>
                  <a:pt x="1104900" y="553212"/>
                </a:lnTo>
                <a:lnTo>
                  <a:pt x="1102871" y="505474"/>
                </a:lnTo>
                <a:lnTo>
                  <a:pt x="1096897" y="458865"/>
                </a:lnTo>
                <a:lnTo>
                  <a:pt x="1087143" y="413550"/>
                </a:lnTo>
                <a:lnTo>
                  <a:pt x="1073775" y="369696"/>
                </a:lnTo>
                <a:lnTo>
                  <a:pt x="1056959" y="327468"/>
                </a:lnTo>
                <a:lnTo>
                  <a:pt x="1036861" y="287032"/>
                </a:lnTo>
                <a:lnTo>
                  <a:pt x="1013648" y="248555"/>
                </a:lnTo>
                <a:lnTo>
                  <a:pt x="987484" y="212203"/>
                </a:lnTo>
                <a:lnTo>
                  <a:pt x="958536" y="178140"/>
                </a:lnTo>
                <a:lnTo>
                  <a:pt x="926970" y="146534"/>
                </a:lnTo>
                <a:lnTo>
                  <a:pt x="892952" y="117550"/>
                </a:lnTo>
                <a:lnTo>
                  <a:pt x="856648" y="91355"/>
                </a:lnTo>
                <a:lnTo>
                  <a:pt x="818223" y="68114"/>
                </a:lnTo>
                <a:lnTo>
                  <a:pt x="777845" y="47993"/>
                </a:lnTo>
                <a:lnTo>
                  <a:pt x="735678" y="31158"/>
                </a:lnTo>
                <a:lnTo>
                  <a:pt x="691890" y="17775"/>
                </a:lnTo>
                <a:lnTo>
                  <a:pt x="646644" y="8010"/>
                </a:lnTo>
                <a:lnTo>
                  <a:pt x="600109" y="2030"/>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Facilitation of smoking cessation</a:t>
            </a:r>
          </a:p>
        </p:txBody>
      </p:sp>
      <p:sp>
        <p:nvSpPr>
          <p:cNvPr id="33" name="object 20">
            <a:extLst>
              <a:ext uri="{FF2B5EF4-FFF2-40B4-BE49-F238E27FC236}">
                <a16:creationId xmlns:a16="http://schemas.microsoft.com/office/drawing/2014/main" id="{CD2E0692-9D8D-4708-A9C1-D9DD684ABA47}"/>
              </a:ext>
            </a:extLst>
          </p:cNvPr>
          <p:cNvSpPr/>
          <p:nvPr/>
        </p:nvSpPr>
        <p:spPr>
          <a:xfrm>
            <a:off x="5880850" y="2829961"/>
            <a:ext cx="942960" cy="942960"/>
          </a:xfrm>
          <a:custGeom>
            <a:avLst/>
            <a:gdLst/>
            <a:ahLst/>
            <a:cxnLst/>
            <a:rect l="l" t="t" r="r" b="b"/>
            <a:pathLst>
              <a:path w="1104900" h="1104900">
                <a:moveTo>
                  <a:pt x="552450" y="0"/>
                </a:moveTo>
                <a:lnTo>
                  <a:pt x="504790" y="2028"/>
                </a:lnTo>
                <a:lnTo>
                  <a:pt x="458255" y="8002"/>
                </a:lnTo>
                <a:lnTo>
                  <a:pt x="413009" y="17756"/>
                </a:lnTo>
                <a:lnTo>
                  <a:pt x="369221" y="31124"/>
                </a:lnTo>
                <a:lnTo>
                  <a:pt x="327054" y="47940"/>
                </a:lnTo>
                <a:lnTo>
                  <a:pt x="286676" y="68038"/>
                </a:lnTo>
                <a:lnTo>
                  <a:pt x="248251" y="91251"/>
                </a:lnTo>
                <a:lnTo>
                  <a:pt x="211947" y="117415"/>
                </a:lnTo>
                <a:lnTo>
                  <a:pt x="177929" y="146363"/>
                </a:lnTo>
                <a:lnTo>
                  <a:pt x="146363" y="177929"/>
                </a:lnTo>
                <a:lnTo>
                  <a:pt x="117415" y="211947"/>
                </a:lnTo>
                <a:lnTo>
                  <a:pt x="91251" y="248251"/>
                </a:lnTo>
                <a:lnTo>
                  <a:pt x="68038" y="286676"/>
                </a:lnTo>
                <a:lnTo>
                  <a:pt x="47940" y="327054"/>
                </a:lnTo>
                <a:lnTo>
                  <a:pt x="31124" y="369221"/>
                </a:lnTo>
                <a:lnTo>
                  <a:pt x="17756" y="413009"/>
                </a:lnTo>
                <a:lnTo>
                  <a:pt x="8002" y="458255"/>
                </a:lnTo>
                <a:lnTo>
                  <a:pt x="2028" y="504790"/>
                </a:lnTo>
                <a:lnTo>
                  <a:pt x="0" y="552450"/>
                </a:lnTo>
                <a:lnTo>
                  <a:pt x="2028" y="600109"/>
                </a:lnTo>
                <a:lnTo>
                  <a:pt x="8002" y="646644"/>
                </a:lnTo>
                <a:lnTo>
                  <a:pt x="17756" y="691890"/>
                </a:lnTo>
                <a:lnTo>
                  <a:pt x="31124" y="735678"/>
                </a:lnTo>
                <a:lnTo>
                  <a:pt x="47940" y="777845"/>
                </a:lnTo>
                <a:lnTo>
                  <a:pt x="68038" y="818223"/>
                </a:lnTo>
                <a:lnTo>
                  <a:pt x="91251" y="856648"/>
                </a:lnTo>
                <a:lnTo>
                  <a:pt x="117415" y="892952"/>
                </a:lnTo>
                <a:lnTo>
                  <a:pt x="146363" y="926970"/>
                </a:lnTo>
                <a:lnTo>
                  <a:pt x="177929" y="958536"/>
                </a:lnTo>
                <a:lnTo>
                  <a:pt x="211947" y="987484"/>
                </a:lnTo>
                <a:lnTo>
                  <a:pt x="248251" y="1013648"/>
                </a:lnTo>
                <a:lnTo>
                  <a:pt x="286676" y="1036861"/>
                </a:lnTo>
                <a:lnTo>
                  <a:pt x="327054" y="1056959"/>
                </a:lnTo>
                <a:lnTo>
                  <a:pt x="369221" y="1073775"/>
                </a:lnTo>
                <a:lnTo>
                  <a:pt x="413009" y="1087143"/>
                </a:lnTo>
                <a:lnTo>
                  <a:pt x="458255" y="1096897"/>
                </a:lnTo>
                <a:lnTo>
                  <a:pt x="504790" y="1102871"/>
                </a:lnTo>
                <a:lnTo>
                  <a:pt x="552450" y="1104899"/>
                </a:lnTo>
                <a:lnTo>
                  <a:pt x="600109" y="1102871"/>
                </a:lnTo>
                <a:lnTo>
                  <a:pt x="646644" y="1096897"/>
                </a:lnTo>
                <a:lnTo>
                  <a:pt x="691890" y="1087143"/>
                </a:lnTo>
                <a:lnTo>
                  <a:pt x="735678" y="1073775"/>
                </a:lnTo>
                <a:lnTo>
                  <a:pt x="777845" y="1056959"/>
                </a:lnTo>
                <a:lnTo>
                  <a:pt x="818223" y="1036861"/>
                </a:lnTo>
                <a:lnTo>
                  <a:pt x="856648" y="1013648"/>
                </a:lnTo>
                <a:lnTo>
                  <a:pt x="892952" y="987484"/>
                </a:lnTo>
                <a:lnTo>
                  <a:pt x="926970" y="958536"/>
                </a:lnTo>
                <a:lnTo>
                  <a:pt x="958536" y="926970"/>
                </a:lnTo>
                <a:lnTo>
                  <a:pt x="987484" y="892952"/>
                </a:lnTo>
                <a:lnTo>
                  <a:pt x="1013648" y="856648"/>
                </a:lnTo>
                <a:lnTo>
                  <a:pt x="1036861" y="818223"/>
                </a:lnTo>
                <a:lnTo>
                  <a:pt x="1056959" y="777845"/>
                </a:lnTo>
                <a:lnTo>
                  <a:pt x="1073775" y="735678"/>
                </a:lnTo>
                <a:lnTo>
                  <a:pt x="1087143" y="691890"/>
                </a:lnTo>
                <a:lnTo>
                  <a:pt x="1096897" y="646644"/>
                </a:lnTo>
                <a:lnTo>
                  <a:pt x="1102871" y="600109"/>
                </a:lnTo>
                <a:lnTo>
                  <a:pt x="1104900" y="552450"/>
                </a:lnTo>
                <a:lnTo>
                  <a:pt x="1102871" y="504790"/>
                </a:lnTo>
                <a:lnTo>
                  <a:pt x="1096897" y="458255"/>
                </a:lnTo>
                <a:lnTo>
                  <a:pt x="1087143" y="413009"/>
                </a:lnTo>
                <a:lnTo>
                  <a:pt x="1073775" y="369221"/>
                </a:lnTo>
                <a:lnTo>
                  <a:pt x="1056959" y="327054"/>
                </a:lnTo>
                <a:lnTo>
                  <a:pt x="1036861" y="286676"/>
                </a:lnTo>
                <a:lnTo>
                  <a:pt x="1013648" y="248251"/>
                </a:lnTo>
                <a:lnTo>
                  <a:pt x="987484" y="211947"/>
                </a:lnTo>
                <a:lnTo>
                  <a:pt x="958536" y="177929"/>
                </a:lnTo>
                <a:lnTo>
                  <a:pt x="926970" y="146363"/>
                </a:lnTo>
                <a:lnTo>
                  <a:pt x="892952" y="117415"/>
                </a:lnTo>
                <a:lnTo>
                  <a:pt x="856648" y="91251"/>
                </a:lnTo>
                <a:lnTo>
                  <a:pt x="818223" y="68038"/>
                </a:lnTo>
                <a:lnTo>
                  <a:pt x="777845" y="47940"/>
                </a:lnTo>
                <a:lnTo>
                  <a:pt x="735678" y="31124"/>
                </a:lnTo>
                <a:lnTo>
                  <a:pt x="691890" y="17756"/>
                </a:lnTo>
                <a:lnTo>
                  <a:pt x="646644" y="8002"/>
                </a:lnTo>
                <a:lnTo>
                  <a:pt x="600109" y="2028"/>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a:ln>
                  <a:noFill/>
                </a:ln>
                <a:solidFill>
                  <a:prstClr val="white"/>
                </a:solidFill>
                <a:effectLst/>
                <a:uLnTx/>
                <a:uFillTx/>
                <a:latin typeface="Arial"/>
                <a:ea typeface="+mn-ea"/>
                <a:cs typeface="Noto Sans"/>
              </a:rPr>
              <a:t>Optimisation </a:t>
            </a:r>
            <a:br>
              <a:rPr kumimoji="0" lang="en-GB" sz="900" b="1" i="0" u="none" strike="noStrike" kern="1200" cap="none" spc="0" normalizeH="0" baseline="0" noProof="0" dirty="0">
                <a:ln>
                  <a:noFill/>
                </a:ln>
                <a:solidFill>
                  <a:prstClr val="white"/>
                </a:solidFill>
                <a:effectLst/>
                <a:uLnTx/>
                <a:uFillTx/>
                <a:latin typeface="Arial"/>
                <a:ea typeface="+mn-ea"/>
                <a:cs typeface="Noto Sans"/>
              </a:rPr>
            </a:br>
            <a:r>
              <a:rPr kumimoji="0" lang="en-GB" sz="900" b="1" i="0" u="none" strike="noStrike" kern="1200" cap="none" spc="0" normalizeH="0" baseline="0" noProof="0" dirty="0">
                <a:ln>
                  <a:noFill/>
                </a:ln>
                <a:solidFill>
                  <a:prstClr val="white"/>
                </a:solidFill>
                <a:effectLst/>
                <a:uLnTx/>
                <a:uFillTx/>
                <a:latin typeface="Arial"/>
                <a:ea typeface="+mn-ea"/>
                <a:cs typeface="Noto Sans"/>
              </a:rPr>
              <a:t>of pharmaco- therapy</a:t>
            </a:r>
          </a:p>
        </p:txBody>
      </p:sp>
      <p:sp>
        <p:nvSpPr>
          <p:cNvPr id="35" name="object 22">
            <a:extLst>
              <a:ext uri="{FF2B5EF4-FFF2-40B4-BE49-F238E27FC236}">
                <a16:creationId xmlns:a16="http://schemas.microsoft.com/office/drawing/2014/main" id="{BC6B72DF-50BE-3EC7-D7D0-7D2013CA99F8}"/>
              </a:ext>
            </a:extLst>
          </p:cNvPr>
          <p:cNvSpPr/>
          <p:nvPr/>
        </p:nvSpPr>
        <p:spPr>
          <a:xfrm>
            <a:off x="6295265" y="1830895"/>
            <a:ext cx="942960" cy="942960"/>
          </a:xfrm>
          <a:custGeom>
            <a:avLst/>
            <a:gdLst/>
            <a:ahLst/>
            <a:cxnLst/>
            <a:rect l="l" t="t" r="r" b="b"/>
            <a:pathLst>
              <a:path w="1104900" h="1104900">
                <a:moveTo>
                  <a:pt x="552450" y="0"/>
                </a:moveTo>
                <a:lnTo>
                  <a:pt x="504790" y="2028"/>
                </a:lnTo>
                <a:lnTo>
                  <a:pt x="458255" y="8002"/>
                </a:lnTo>
                <a:lnTo>
                  <a:pt x="413009" y="17756"/>
                </a:lnTo>
                <a:lnTo>
                  <a:pt x="369221" y="31124"/>
                </a:lnTo>
                <a:lnTo>
                  <a:pt x="327054" y="47940"/>
                </a:lnTo>
                <a:lnTo>
                  <a:pt x="286676" y="68038"/>
                </a:lnTo>
                <a:lnTo>
                  <a:pt x="248251" y="91251"/>
                </a:lnTo>
                <a:lnTo>
                  <a:pt x="211947" y="117415"/>
                </a:lnTo>
                <a:lnTo>
                  <a:pt x="177929" y="146363"/>
                </a:lnTo>
                <a:lnTo>
                  <a:pt x="146363" y="177929"/>
                </a:lnTo>
                <a:lnTo>
                  <a:pt x="117415" y="211947"/>
                </a:lnTo>
                <a:lnTo>
                  <a:pt x="91251" y="248251"/>
                </a:lnTo>
                <a:lnTo>
                  <a:pt x="68038" y="286676"/>
                </a:lnTo>
                <a:lnTo>
                  <a:pt x="47940" y="327054"/>
                </a:lnTo>
                <a:lnTo>
                  <a:pt x="31124" y="369221"/>
                </a:lnTo>
                <a:lnTo>
                  <a:pt x="17756" y="413009"/>
                </a:lnTo>
                <a:lnTo>
                  <a:pt x="8002" y="458255"/>
                </a:lnTo>
                <a:lnTo>
                  <a:pt x="2028" y="504790"/>
                </a:lnTo>
                <a:lnTo>
                  <a:pt x="0" y="552450"/>
                </a:lnTo>
                <a:lnTo>
                  <a:pt x="2028" y="600109"/>
                </a:lnTo>
                <a:lnTo>
                  <a:pt x="8002" y="646644"/>
                </a:lnTo>
                <a:lnTo>
                  <a:pt x="17756" y="691890"/>
                </a:lnTo>
                <a:lnTo>
                  <a:pt x="31124" y="735678"/>
                </a:lnTo>
                <a:lnTo>
                  <a:pt x="47940" y="777845"/>
                </a:lnTo>
                <a:lnTo>
                  <a:pt x="68038" y="818223"/>
                </a:lnTo>
                <a:lnTo>
                  <a:pt x="91251" y="856648"/>
                </a:lnTo>
                <a:lnTo>
                  <a:pt x="117415" y="892952"/>
                </a:lnTo>
                <a:lnTo>
                  <a:pt x="146363" y="926970"/>
                </a:lnTo>
                <a:lnTo>
                  <a:pt x="177929" y="958536"/>
                </a:lnTo>
                <a:lnTo>
                  <a:pt x="211947" y="987484"/>
                </a:lnTo>
                <a:lnTo>
                  <a:pt x="248251" y="1013648"/>
                </a:lnTo>
                <a:lnTo>
                  <a:pt x="286676" y="1036861"/>
                </a:lnTo>
                <a:lnTo>
                  <a:pt x="327054" y="1056959"/>
                </a:lnTo>
                <a:lnTo>
                  <a:pt x="369221" y="1073775"/>
                </a:lnTo>
                <a:lnTo>
                  <a:pt x="413009" y="1087143"/>
                </a:lnTo>
                <a:lnTo>
                  <a:pt x="458255" y="1096897"/>
                </a:lnTo>
                <a:lnTo>
                  <a:pt x="504790" y="1102871"/>
                </a:lnTo>
                <a:lnTo>
                  <a:pt x="552450" y="1104900"/>
                </a:lnTo>
                <a:lnTo>
                  <a:pt x="600109" y="1102871"/>
                </a:lnTo>
                <a:lnTo>
                  <a:pt x="646644" y="1096897"/>
                </a:lnTo>
                <a:lnTo>
                  <a:pt x="691890" y="1087143"/>
                </a:lnTo>
                <a:lnTo>
                  <a:pt x="735678" y="1073775"/>
                </a:lnTo>
                <a:lnTo>
                  <a:pt x="777845" y="1056959"/>
                </a:lnTo>
                <a:lnTo>
                  <a:pt x="818223" y="1036861"/>
                </a:lnTo>
                <a:lnTo>
                  <a:pt x="856648" y="1013648"/>
                </a:lnTo>
                <a:lnTo>
                  <a:pt x="892952" y="987484"/>
                </a:lnTo>
                <a:lnTo>
                  <a:pt x="926970" y="958536"/>
                </a:lnTo>
                <a:lnTo>
                  <a:pt x="958536" y="926970"/>
                </a:lnTo>
                <a:lnTo>
                  <a:pt x="987484" y="892952"/>
                </a:lnTo>
                <a:lnTo>
                  <a:pt x="1013648" y="856648"/>
                </a:lnTo>
                <a:lnTo>
                  <a:pt x="1036861" y="818223"/>
                </a:lnTo>
                <a:lnTo>
                  <a:pt x="1056959" y="777845"/>
                </a:lnTo>
                <a:lnTo>
                  <a:pt x="1073775" y="735678"/>
                </a:lnTo>
                <a:lnTo>
                  <a:pt x="1087143" y="691890"/>
                </a:lnTo>
                <a:lnTo>
                  <a:pt x="1096897" y="646644"/>
                </a:lnTo>
                <a:lnTo>
                  <a:pt x="1102871" y="600109"/>
                </a:lnTo>
                <a:lnTo>
                  <a:pt x="1104900" y="552450"/>
                </a:lnTo>
                <a:lnTo>
                  <a:pt x="1102871" y="504790"/>
                </a:lnTo>
                <a:lnTo>
                  <a:pt x="1096897" y="458255"/>
                </a:lnTo>
                <a:lnTo>
                  <a:pt x="1087143" y="413009"/>
                </a:lnTo>
                <a:lnTo>
                  <a:pt x="1073775" y="369221"/>
                </a:lnTo>
                <a:lnTo>
                  <a:pt x="1056959" y="327054"/>
                </a:lnTo>
                <a:lnTo>
                  <a:pt x="1036861" y="286676"/>
                </a:lnTo>
                <a:lnTo>
                  <a:pt x="1013648" y="248251"/>
                </a:lnTo>
                <a:lnTo>
                  <a:pt x="987484" y="211947"/>
                </a:lnTo>
                <a:lnTo>
                  <a:pt x="958536" y="177929"/>
                </a:lnTo>
                <a:lnTo>
                  <a:pt x="926970" y="146363"/>
                </a:lnTo>
                <a:lnTo>
                  <a:pt x="892952" y="117415"/>
                </a:lnTo>
                <a:lnTo>
                  <a:pt x="856648" y="91251"/>
                </a:lnTo>
                <a:lnTo>
                  <a:pt x="818223" y="68038"/>
                </a:lnTo>
                <a:lnTo>
                  <a:pt x="777845" y="47940"/>
                </a:lnTo>
                <a:lnTo>
                  <a:pt x="735678" y="31124"/>
                </a:lnTo>
                <a:lnTo>
                  <a:pt x="691890" y="17756"/>
                </a:lnTo>
                <a:lnTo>
                  <a:pt x="646644" y="8002"/>
                </a:lnTo>
                <a:lnTo>
                  <a:pt x="600109" y="2028"/>
                </a:lnTo>
                <a:lnTo>
                  <a:pt x="552450" y="0"/>
                </a:lnTo>
                <a:close/>
              </a:path>
            </a:pathLst>
          </a:custGeom>
          <a:solidFill>
            <a:schemeClr val="tx2">
              <a:lumMod val="60000"/>
              <a:lumOff val="40000"/>
            </a:schemeClr>
          </a:solidFill>
        </p:spPr>
        <p:txBody>
          <a:bodyPr wrap="square" lIns="45720" tIns="45720" rIns="45720" b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900" b="1" i="0" u="none" strike="noStrike" kern="1200" cap="none" spc="0" normalizeH="0" baseline="0" noProof="0" dirty="0">
                <a:ln>
                  <a:noFill/>
                </a:ln>
                <a:solidFill>
                  <a:prstClr val="white"/>
                </a:solidFill>
                <a:effectLst/>
                <a:uLnTx/>
                <a:uFillTx/>
                <a:latin typeface="Arial"/>
                <a:ea typeface="+mn-ea"/>
                <a:cs typeface="Noto Sans"/>
              </a:rPr>
              <a:t>Self management</a:t>
            </a:r>
          </a:p>
        </p:txBody>
      </p:sp>
      <p:sp>
        <p:nvSpPr>
          <p:cNvPr id="39" name="object 25">
            <a:extLst>
              <a:ext uri="{FF2B5EF4-FFF2-40B4-BE49-F238E27FC236}">
                <a16:creationId xmlns:a16="http://schemas.microsoft.com/office/drawing/2014/main" id="{EC0724F5-3DB4-71FF-923F-98A815CAEC0D}"/>
              </a:ext>
            </a:extLst>
          </p:cNvPr>
          <p:cNvSpPr/>
          <p:nvPr/>
        </p:nvSpPr>
        <p:spPr>
          <a:xfrm>
            <a:off x="6854771" y="2390400"/>
            <a:ext cx="1820924" cy="1820924"/>
          </a:xfrm>
          <a:custGeom>
            <a:avLst/>
            <a:gdLst/>
            <a:ahLst/>
            <a:cxnLst/>
            <a:rect l="l" t="t" r="r" b="b"/>
            <a:pathLst>
              <a:path w="1988820" h="1988820">
                <a:moveTo>
                  <a:pt x="0" y="990600"/>
                </a:moveTo>
                <a:lnTo>
                  <a:pt x="1988820" y="990600"/>
                </a:lnTo>
              </a:path>
              <a:path w="1988820" h="1988820">
                <a:moveTo>
                  <a:pt x="993647" y="0"/>
                </a:moveTo>
                <a:lnTo>
                  <a:pt x="993647" y="1988820"/>
                </a:lnTo>
              </a:path>
              <a:path w="1988820" h="1988820">
                <a:moveTo>
                  <a:pt x="1711198" y="268224"/>
                </a:moveTo>
                <a:lnTo>
                  <a:pt x="277367" y="1707387"/>
                </a:lnTo>
              </a:path>
              <a:path w="1988820" h="1988820">
                <a:moveTo>
                  <a:pt x="1710562" y="1705228"/>
                </a:moveTo>
                <a:lnTo>
                  <a:pt x="288035" y="263651"/>
                </a:lnTo>
              </a:path>
            </a:pathLst>
          </a:custGeom>
          <a:ln w="19812">
            <a:solidFill>
              <a:schemeClr val="bg2"/>
            </a:solidFill>
            <a:prstDash val="dash"/>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 name="object 26">
            <a:extLst>
              <a:ext uri="{FF2B5EF4-FFF2-40B4-BE49-F238E27FC236}">
                <a16:creationId xmlns:a16="http://schemas.microsoft.com/office/drawing/2014/main" id="{955A56A4-D7C7-F739-16F3-662117AE00F4}"/>
              </a:ext>
            </a:extLst>
          </p:cNvPr>
          <p:cNvSpPr/>
          <p:nvPr/>
        </p:nvSpPr>
        <p:spPr>
          <a:xfrm>
            <a:off x="7167725" y="2700563"/>
            <a:ext cx="1193971" cy="1193971"/>
          </a:xfrm>
          <a:custGeom>
            <a:avLst/>
            <a:gdLst/>
            <a:ahLst/>
            <a:cxnLst/>
            <a:rect l="l" t="t" r="r" b="b"/>
            <a:pathLst>
              <a:path w="1434465" h="1434464">
                <a:moveTo>
                  <a:pt x="717041" y="0"/>
                </a:moveTo>
                <a:lnTo>
                  <a:pt x="669899" y="1525"/>
                </a:lnTo>
                <a:lnTo>
                  <a:pt x="623570" y="6038"/>
                </a:lnTo>
                <a:lnTo>
                  <a:pt x="578149" y="13444"/>
                </a:lnTo>
                <a:lnTo>
                  <a:pt x="533731" y="23648"/>
                </a:lnTo>
                <a:lnTo>
                  <a:pt x="490411" y="36557"/>
                </a:lnTo>
                <a:lnTo>
                  <a:pt x="448282" y="52076"/>
                </a:lnTo>
                <a:lnTo>
                  <a:pt x="407440" y="70109"/>
                </a:lnTo>
                <a:lnTo>
                  <a:pt x="367978" y="90563"/>
                </a:lnTo>
                <a:lnTo>
                  <a:pt x="329993" y="113343"/>
                </a:lnTo>
                <a:lnTo>
                  <a:pt x="293577" y="138354"/>
                </a:lnTo>
                <a:lnTo>
                  <a:pt x="258825" y="165503"/>
                </a:lnTo>
                <a:lnTo>
                  <a:pt x="225833" y="194694"/>
                </a:lnTo>
                <a:lnTo>
                  <a:pt x="194694" y="225833"/>
                </a:lnTo>
                <a:lnTo>
                  <a:pt x="165503" y="258825"/>
                </a:lnTo>
                <a:lnTo>
                  <a:pt x="138354" y="293577"/>
                </a:lnTo>
                <a:lnTo>
                  <a:pt x="113343" y="329993"/>
                </a:lnTo>
                <a:lnTo>
                  <a:pt x="90563" y="367978"/>
                </a:lnTo>
                <a:lnTo>
                  <a:pt x="70109" y="407440"/>
                </a:lnTo>
                <a:lnTo>
                  <a:pt x="52076" y="448282"/>
                </a:lnTo>
                <a:lnTo>
                  <a:pt x="36557" y="490411"/>
                </a:lnTo>
                <a:lnTo>
                  <a:pt x="23648" y="533731"/>
                </a:lnTo>
                <a:lnTo>
                  <a:pt x="13444" y="578149"/>
                </a:lnTo>
                <a:lnTo>
                  <a:pt x="6038" y="623570"/>
                </a:lnTo>
                <a:lnTo>
                  <a:pt x="1525" y="669899"/>
                </a:lnTo>
                <a:lnTo>
                  <a:pt x="0" y="717042"/>
                </a:lnTo>
                <a:lnTo>
                  <a:pt x="1525" y="764184"/>
                </a:lnTo>
                <a:lnTo>
                  <a:pt x="6038" y="810513"/>
                </a:lnTo>
                <a:lnTo>
                  <a:pt x="13444" y="855934"/>
                </a:lnTo>
                <a:lnTo>
                  <a:pt x="23648" y="900352"/>
                </a:lnTo>
                <a:lnTo>
                  <a:pt x="36557" y="943672"/>
                </a:lnTo>
                <a:lnTo>
                  <a:pt x="52076" y="985801"/>
                </a:lnTo>
                <a:lnTo>
                  <a:pt x="70109" y="1026643"/>
                </a:lnTo>
                <a:lnTo>
                  <a:pt x="90563" y="1066105"/>
                </a:lnTo>
                <a:lnTo>
                  <a:pt x="113343" y="1104090"/>
                </a:lnTo>
                <a:lnTo>
                  <a:pt x="138354" y="1140506"/>
                </a:lnTo>
                <a:lnTo>
                  <a:pt x="165503" y="1175258"/>
                </a:lnTo>
                <a:lnTo>
                  <a:pt x="194694" y="1208250"/>
                </a:lnTo>
                <a:lnTo>
                  <a:pt x="225833" y="1239389"/>
                </a:lnTo>
                <a:lnTo>
                  <a:pt x="258825" y="1268580"/>
                </a:lnTo>
                <a:lnTo>
                  <a:pt x="293577" y="1295729"/>
                </a:lnTo>
                <a:lnTo>
                  <a:pt x="329993" y="1320740"/>
                </a:lnTo>
                <a:lnTo>
                  <a:pt x="367978" y="1343520"/>
                </a:lnTo>
                <a:lnTo>
                  <a:pt x="407440" y="1363974"/>
                </a:lnTo>
                <a:lnTo>
                  <a:pt x="448282" y="1382007"/>
                </a:lnTo>
                <a:lnTo>
                  <a:pt x="490411" y="1397526"/>
                </a:lnTo>
                <a:lnTo>
                  <a:pt x="533731" y="1410435"/>
                </a:lnTo>
                <a:lnTo>
                  <a:pt x="578149" y="1420639"/>
                </a:lnTo>
                <a:lnTo>
                  <a:pt x="623570" y="1428045"/>
                </a:lnTo>
                <a:lnTo>
                  <a:pt x="669899" y="1432558"/>
                </a:lnTo>
                <a:lnTo>
                  <a:pt x="717041" y="1434084"/>
                </a:lnTo>
                <a:lnTo>
                  <a:pt x="764184" y="1432558"/>
                </a:lnTo>
                <a:lnTo>
                  <a:pt x="810513" y="1428045"/>
                </a:lnTo>
                <a:lnTo>
                  <a:pt x="855934" y="1420639"/>
                </a:lnTo>
                <a:lnTo>
                  <a:pt x="900352" y="1410435"/>
                </a:lnTo>
                <a:lnTo>
                  <a:pt x="943672" y="1397526"/>
                </a:lnTo>
                <a:lnTo>
                  <a:pt x="985801" y="1382007"/>
                </a:lnTo>
                <a:lnTo>
                  <a:pt x="1026643" y="1363974"/>
                </a:lnTo>
                <a:lnTo>
                  <a:pt x="1066105" y="1343520"/>
                </a:lnTo>
                <a:lnTo>
                  <a:pt x="1104090" y="1320740"/>
                </a:lnTo>
                <a:lnTo>
                  <a:pt x="1140506" y="1295729"/>
                </a:lnTo>
                <a:lnTo>
                  <a:pt x="1175258" y="1268580"/>
                </a:lnTo>
                <a:lnTo>
                  <a:pt x="1208250" y="1239389"/>
                </a:lnTo>
                <a:lnTo>
                  <a:pt x="1239389" y="1208250"/>
                </a:lnTo>
                <a:lnTo>
                  <a:pt x="1268580" y="1175258"/>
                </a:lnTo>
                <a:lnTo>
                  <a:pt x="1295729" y="1140506"/>
                </a:lnTo>
                <a:lnTo>
                  <a:pt x="1320740" y="1104090"/>
                </a:lnTo>
                <a:lnTo>
                  <a:pt x="1343520" y="1066105"/>
                </a:lnTo>
                <a:lnTo>
                  <a:pt x="1363974" y="1026643"/>
                </a:lnTo>
                <a:lnTo>
                  <a:pt x="1382007" y="985801"/>
                </a:lnTo>
                <a:lnTo>
                  <a:pt x="1397526" y="943672"/>
                </a:lnTo>
                <a:lnTo>
                  <a:pt x="1410435" y="900352"/>
                </a:lnTo>
                <a:lnTo>
                  <a:pt x="1420639" y="855934"/>
                </a:lnTo>
                <a:lnTo>
                  <a:pt x="1428045" y="810513"/>
                </a:lnTo>
                <a:lnTo>
                  <a:pt x="1432558" y="764184"/>
                </a:lnTo>
                <a:lnTo>
                  <a:pt x="1434083" y="717042"/>
                </a:lnTo>
                <a:lnTo>
                  <a:pt x="1432558" y="669899"/>
                </a:lnTo>
                <a:lnTo>
                  <a:pt x="1428045" y="623570"/>
                </a:lnTo>
                <a:lnTo>
                  <a:pt x="1420639" y="578149"/>
                </a:lnTo>
                <a:lnTo>
                  <a:pt x="1410435" y="533731"/>
                </a:lnTo>
                <a:lnTo>
                  <a:pt x="1397526" y="490411"/>
                </a:lnTo>
                <a:lnTo>
                  <a:pt x="1382007" y="448282"/>
                </a:lnTo>
                <a:lnTo>
                  <a:pt x="1363974" y="407440"/>
                </a:lnTo>
                <a:lnTo>
                  <a:pt x="1343520" y="367978"/>
                </a:lnTo>
                <a:lnTo>
                  <a:pt x="1320740" y="329993"/>
                </a:lnTo>
                <a:lnTo>
                  <a:pt x="1295729" y="293577"/>
                </a:lnTo>
                <a:lnTo>
                  <a:pt x="1268580" y="258825"/>
                </a:lnTo>
                <a:lnTo>
                  <a:pt x="1239389" y="225833"/>
                </a:lnTo>
                <a:lnTo>
                  <a:pt x="1208250" y="194694"/>
                </a:lnTo>
                <a:lnTo>
                  <a:pt x="1175258" y="165503"/>
                </a:lnTo>
                <a:lnTo>
                  <a:pt x="1140506" y="138354"/>
                </a:lnTo>
                <a:lnTo>
                  <a:pt x="1104090" y="113343"/>
                </a:lnTo>
                <a:lnTo>
                  <a:pt x="1066105" y="90563"/>
                </a:lnTo>
                <a:lnTo>
                  <a:pt x="1026643" y="70109"/>
                </a:lnTo>
                <a:lnTo>
                  <a:pt x="985801" y="52076"/>
                </a:lnTo>
                <a:lnTo>
                  <a:pt x="943672" y="36557"/>
                </a:lnTo>
                <a:lnTo>
                  <a:pt x="900352" y="23648"/>
                </a:lnTo>
                <a:lnTo>
                  <a:pt x="855934" y="13444"/>
                </a:lnTo>
                <a:lnTo>
                  <a:pt x="810513" y="6038"/>
                </a:lnTo>
                <a:lnTo>
                  <a:pt x="764184" y="1525"/>
                </a:lnTo>
                <a:lnTo>
                  <a:pt x="717041" y="0"/>
                </a:lnTo>
                <a:close/>
              </a:path>
            </a:pathLst>
          </a:custGeom>
          <a:solidFill>
            <a:srgbClr val="F36600"/>
          </a:solidFill>
        </p:spPr>
        <p:txBody>
          <a:bodyPr wrap="square" lIns="0" tIns="0" rIns="0" bIns="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GB" sz="1000" b="1" i="0" u="none" strike="noStrike" kern="1200" cap="none" spc="0" normalizeH="0" baseline="0" noProof="0" dirty="0">
                <a:ln>
                  <a:noFill/>
                </a:ln>
                <a:solidFill>
                  <a:prstClr val="white"/>
                </a:solidFill>
                <a:effectLst/>
                <a:uLnTx/>
                <a:uFillTx/>
                <a:latin typeface="Arial"/>
                <a:ea typeface="+mn-ea"/>
                <a:cs typeface="Noto Sans"/>
              </a:rPr>
              <a:t>Pulmonary rehabilitation</a:t>
            </a:r>
          </a:p>
        </p:txBody>
      </p:sp>
    </p:spTree>
    <p:custDataLst>
      <p:tags r:id="rId1"/>
    </p:custDataLst>
    <p:extLst>
      <p:ext uri="{BB962C8B-B14F-4D97-AF65-F5344CB8AC3E}">
        <p14:creationId xmlns:p14="http://schemas.microsoft.com/office/powerpoint/2010/main" val="2824862385"/>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03F502-705E-9EAC-1B24-8BA7F2EB18A8}"/>
              </a:ext>
            </a:extLst>
          </p:cNvPr>
          <p:cNvSpPr>
            <a:spLocks noGrp="1"/>
          </p:cNvSpPr>
          <p:nvPr>
            <p:ph type="title"/>
          </p:nvPr>
        </p:nvSpPr>
        <p:spPr/>
        <p:txBody>
          <a:bodyPr/>
          <a:lstStyle/>
          <a:p>
            <a:r>
              <a:rPr lang="en-US" dirty="0"/>
              <a:t>Understanding the need for </a:t>
            </a:r>
            <a:r>
              <a:rPr lang="en-US" dirty="0" err="1"/>
              <a:t>individualised</a:t>
            </a:r>
            <a:r>
              <a:rPr lang="en-US" dirty="0"/>
              <a:t> treatment in COPD</a:t>
            </a:r>
            <a:endParaRPr lang="en-GB" dirty="0"/>
          </a:p>
        </p:txBody>
      </p:sp>
      <p:sp>
        <p:nvSpPr>
          <p:cNvPr id="8" name="Subtitle 7">
            <a:extLst>
              <a:ext uri="{FF2B5EF4-FFF2-40B4-BE49-F238E27FC236}">
                <a16:creationId xmlns:a16="http://schemas.microsoft.com/office/drawing/2014/main" id="{3AE3037D-B5E4-448D-8468-737A93D2A8A2}"/>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3727459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88</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E49B68E4-2631-41E0-8841-49198607FB60}"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*Assessment of 182 COPD exacerbations (86 patients); no etiological or inflammatory causes were identified in 14% of exacerbations.</a:t>
            </a:r>
            <a:r>
              <a:rPr lang="en-US" baseline="30000" dirty="0"/>
              <a:t>1</a:t>
            </a:r>
          </a:p>
          <a:p>
            <a:r>
              <a:rPr lang="en-US" dirty="0"/>
              <a:t>1. Bafadhel M, et al. </a:t>
            </a:r>
            <a:r>
              <a:rPr lang="en-US" i="1" dirty="0"/>
              <a:t>Am J Respir Crit Care Med</a:t>
            </a:r>
            <a:r>
              <a:rPr lang="en-US" dirty="0"/>
              <a:t>. 2011;184(6):662-671; 2.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Patients with COPD have varying treatment needs</a:t>
            </a:r>
            <a:endParaRPr lang="en-GB" dirty="0"/>
          </a:p>
        </p:txBody>
      </p:sp>
      <p:sp>
        <p:nvSpPr>
          <p:cNvPr id="5" name="Rectangle 4">
            <a:extLst>
              <a:ext uri="{FF2B5EF4-FFF2-40B4-BE49-F238E27FC236}">
                <a16:creationId xmlns:a16="http://schemas.microsoft.com/office/drawing/2014/main" id="{B5297E1D-2059-C793-0529-3293BC2E08AE}"/>
              </a:ext>
            </a:extLst>
          </p:cNvPr>
          <p:cNvSpPr/>
          <p:nvPr/>
        </p:nvSpPr>
        <p:spPr>
          <a:xfrm>
            <a:off x="365125" y="1303338"/>
            <a:ext cx="5602288" cy="938719"/>
          </a:xfrm>
          <a:prstGeom prst="rect">
            <a:avLst/>
          </a:prstGeom>
        </p:spPr>
        <p:txBody>
          <a:bodyPr wrap="square" lIns="0" tIns="0" rIns="0" bIns="0">
            <a:spAutoFit/>
          </a:bodyPr>
          <a:lstStyle/>
          <a:p>
            <a:pPr marL="0" marR="5080" lvl="0" indent="0" algn="l" defTabSz="1219170" rtl="0" eaLnBrk="1" fontAlgn="auto" latinLnBrk="0" hangingPunct="1">
              <a:lnSpc>
                <a:spcPct val="100000"/>
              </a:lnSpc>
              <a:spcBef>
                <a:spcPts val="0"/>
              </a:spcBef>
              <a:spcAft>
                <a:spcPts val="600"/>
              </a:spcAft>
              <a:buClr>
                <a:srgbClr val="F36633"/>
              </a:buClr>
              <a:buSzTx/>
              <a:buFontTx/>
              <a:buNone/>
              <a:tabLst>
                <a:tab pos="198755" algn="l"/>
              </a:tabLst>
              <a:defRPr/>
            </a:pPr>
            <a:r>
              <a:rPr kumimoji="0" lang="en-US" sz="1400" b="1" i="0" u="none" strike="noStrike" kern="1200" cap="none" spc="0" normalizeH="0" baseline="0" noProof="0" dirty="0" err="1">
                <a:ln>
                  <a:noFill/>
                </a:ln>
                <a:solidFill>
                  <a:srgbClr val="000000"/>
                </a:solidFill>
                <a:effectLst/>
                <a:uLnTx/>
                <a:uFillTx/>
                <a:latin typeface="Arial"/>
                <a:ea typeface="+mn-ea"/>
                <a:cs typeface="Arial"/>
              </a:rPr>
              <a:t>Characterisation</a:t>
            </a:r>
            <a:r>
              <a:rPr kumimoji="0" lang="en-US" sz="1400" b="1" i="0" u="none" strike="noStrike" kern="1200" cap="none" spc="0" normalizeH="0" baseline="0" noProof="0" dirty="0">
                <a:ln>
                  <a:noFill/>
                </a:ln>
                <a:solidFill>
                  <a:srgbClr val="000000"/>
                </a:solidFill>
                <a:effectLst/>
                <a:uLnTx/>
                <a:uFillTx/>
                <a:latin typeface="Arial"/>
                <a:ea typeface="+mn-ea"/>
                <a:cs typeface="Arial"/>
              </a:rPr>
              <a:t> of different clinical COPD exacerbation phenotypes</a:t>
            </a:r>
            <a:r>
              <a:rPr kumimoji="0" lang="en-US" sz="1400" b="1" i="0" u="none" strike="noStrike" kern="1200" cap="none" spc="0" normalizeH="0" baseline="30000" noProof="0" dirty="0">
                <a:ln>
                  <a:noFill/>
                </a:ln>
                <a:solidFill>
                  <a:srgbClr val="000000"/>
                </a:solidFill>
                <a:effectLst/>
                <a:uLnTx/>
                <a:uFillTx/>
                <a:latin typeface="Arial"/>
                <a:ea typeface="+mn-ea"/>
                <a:cs typeface="Arial"/>
              </a:rPr>
              <a:t>1</a:t>
            </a:r>
          </a:p>
          <a:p>
            <a:pPr marL="0" marR="5080" lvl="0" indent="0" algn="l" defTabSz="1219170" rtl="0" eaLnBrk="1" fontAlgn="auto" latinLnBrk="0" hangingPunct="1">
              <a:lnSpc>
                <a:spcPct val="100000"/>
              </a:lnSpc>
              <a:spcBef>
                <a:spcPts val="0"/>
              </a:spcBef>
              <a:spcAft>
                <a:spcPts val="600"/>
              </a:spcAft>
              <a:buClr>
                <a:srgbClr val="F36633"/>
              </a:buClr>
              <a:buSzTx/>
              <a:buFontTx/>
              <a:buNone/>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Assessment of sputum for etiological and/or inflammatory causes of exacerbations* identified the following exacerbation phenotypes:</a:t>
            </a:r>
          </a:p>
        </p:txBody>
      </p:sp>
      <p:sp>
        <p:nvSpPr>
          <p:cNvPr id="7" name="object 19">
            <a:extLst>
              <a:ext uri="{FF2B5EF4-FFF2-40B4-BE49-F238E27FC236}">
                <a16:creationId xmlns:a16="http://schemas.microsoft.com/office/drawing/2014/main" id="{67B523F6-A961-5E9D-06A8-0DC5FC6AE465}"/>
              </a:ext>
            </a:extLst>
          </p:cNvPr>
          <p:cNvSpPr txBox="1"/>
          <p:nvPr/>
        </p:nvSpPr>
        <p:spPr>
          <a:xfrm>
            <a:off x="6222999" y="2773001"/>
            <a:ext cx="5602289" cy="1005840"/>
          </a:xfrm>
          <a:prstGeom prst="rect">
            <a:avLst/>
          </a:prstGeom>
          <a:solidFill>
            <a:schemeClr val="bg2">
              <a:lumMod val="20000"/>
              <a:lumOff val="80000"/>
            </a:schemeClr>
          </a:solidFill>
        </p:spPr>
        <p:txBody>
          <a:bodyPr vert="horz" wrap="square" lIns="0" tIns="0" rIns="0" bIns="0" rtlCol="0" anchor="ctr" anchorCtr="0">
            <a:noAutofit/>
          </a:bodyPr>
          <a:lstStyle/>
          <a:p>
            <a:pPr marL="263525" marR="254635" lvl="0" indent="1270" algn="ctr" defTabSz="1219170" rtl="0" eaLnBrk="1" fontAlgn="auto" latinLnBrk="0" hangingPunct="1">
              <a:lnSpc>
                <a:spcPct val="100000"/>
              </a:lnSpc>
              <a:spcBef>
                <a:spcPts val="894"/>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Several different exacerbation</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phenotypes have been identified and</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each may be more responsive to certain</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treatment regimens than to others</a:t>
            </a:r>
            <a:r>
              <a:rPr kumimoji="0" sz="1400" b="1" i="0" u="none" strike="noStrike" kern="1200" cap="none" spc="0" normalizeH="0" baseline="24691" noProof="0" dirty="0">
                <a:ln>
                  <a:noFill/>
                </a:ln>
                <a:solidFill>
                  <a:srgbClr val="F36633"/>
                </a:solidFill>
                <a:effectLst/>
                <a:uLnTx/>
                <a:uFillTx/>
                <a:latin typeface="Arial"/>
                <a:ea typeface="+mn-ea"/>
                <a:cs typeface="Arial"/>
              </a:rPr>
              <a:t>1</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sp>
        <p:nvSpPr>
          <p:cNvPr id="9" name="object 20">
            <a:extLst>
              <a:ext uri="{FF2B5EF4-FFF2-40B4-BE49-F238E27FC236}">
                <a16:creationId xmlns:a16="http://schemas.microsoft.com/office/drawing/2014/main" id="{3EE9FEE7-AB65-E6DC-BBAD-A4550DE10764}"/>
              </a:ext>
            </a:extLst>
          </p:cNvPr>
          <p:cNvSpPr txBox="1"/>
          <p:nvPr/>
        </p:nvSpPr>
        <p:spPr>
          <a:xfrm>
            <a:off x="6222999" y="1321444"/>
            <a:ext cx="5602289" cy="1005840"/>
          </a:xfrm>
          <a:prstGeom prst="rect">
            <a:avLst/>
          </a:prstGeom>
          <a:solidFill>
            <a:schemeClr val="bg2">
              <a:lumMod val="20000"/>
              <a:lumOff val="80000"/>
            </a:schemeClr>
          </a:solidFill>
        </p:spPr>
        <p:txBody>
          <a:bodyPr vert="horz" wrap="square" lIns="0" tIns="0" rIns="0" bIns="0" rtlCol="0" anchor="ctr" anchorCtr="0">
            <a:noAutofit/>
          </a:bodyPr>
          <a:lstStyle/>
          <a:p>
            <a:pPr marL="2540" marR="0" lvl="0" indent="0" algn="ctr" defTabSz="121917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COPD is a complex,</a:t>
            </a:r>
            <a:endParaRPr kumimoji="0" sz="1400" b="0" i="0" u="none" strike="noStrike" kern="1200" cap="none" spc="0" normalizeH="0" baseline="0" noProof="0" dirty="0">
              <a:ln>
                <a:noFill/>
              </a:ln>
              <a:solidFill>
                <a:srgbClr val="F36633"/>
              </a:solidFill>
              <a:effectLst/>
              <a:uLnTx/>
              <a:uFillTx/>
              <a:latin typeface="Arial"/>
              <a:ea typeface="+mn-ea"/>
              <a:cs typeface="Arial"/>
            </a:endParaRPr>
          </a:p>
          <a:p>
            <a:pPr marL="1905" marR="0" lvl="0" indent="0" algn="ctr" defTabSz="1219170" rtl="0" eaLnBrk="1" fontAlgn="auto" latinLnBrk="0" hangingPunct="1">
              <a:lnSpc>
                <a:spcPct val="100000"/>
              </a:lnSpc>
              <a:spcBef>
                <a:spcPts val="5"/>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heterogeneous disease</a:t>
            </a:r>
            <a:r>
              <a:rPr kumimoji="0" sz="1400" b="1" i="0" u="none" strike="noStrike" kern="1200" cap="none" spc="0" normalizeH="0" baseline="24691" noProof="0" dirty="0">
                <a:ln>
                  <a:noFill/>
                </a:ln>
                <a:solidFill>
                  <a:srgbClr val="F36633"/>
                </a:solidFill>
                <a:effectLst/>
                <a:uLnTx/>
                <a:uFillTx/>
                <a:latin typeface="Arial"/>
                <a:ea typeface="+mn-ea"/>
                <a:cs typeface="Arial"/>
              </a:rPr>
              <a:t>2</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sp>
        <p:nvSpPr>
          <p:cNvPr id="12" name="object 21">
            <a:extLst>
              <a:ext uri="{FF2B5EF4-FFF2-40B4-BE49-F238E27FC236}">
                <a16:creationId xmlns:a16="http://schemas.microsoft.com/office/drawing/2014/main" id="{E6660EA2-7458-DC52-88AB-B5BEE0336B47}"/>
              </a:ext>
            </a:extLst>
          </p:cNvPr>
          <p:cNvSpPr txBox="1"/>
          <p:nvPr/>
        </p:nvSpPr>
        <p:spPr>
          <a:xfrm>
            <a:off x="6222999" y="4224557"/>
            <a:ext cx="5602289" cy="1005840"/>
          </a:xfrm>
          <a:prstGeom prst="rect">
            <a:avLst/>
          </a:prstGeom>
          <a:solidFill>
            <a:schemeClr val="bg2">
              <a:lumMod val="20000"/>
              <a:lumOff val="80000"/>
            </a:schemeClr>
          </a:solidFill>
        </p:spPr>
        <p:txBody>
          <a:bodyPr vert="horz" wrap="square" lIns="0" tIns="0" rIns="0" bIns="0" rtlCol="0" anchor="ctr" anchorCtr="0">
            <a:noAutofit/>
          </a:bodyPr>
          <a:lstStyle/>
          <a:p>
            <a:pPr marL="233045" marR="222885" lvl="0" indent="635" algn="ctr" defTabSz="1219170" rtl="0" eaLnBrk="1" fontAlgn="auto" latinLnBrk="0" hangingPunct="1">
              <a:lnSpc>
                <a:spcPct val="100000"/>
              </a:lnSpc>
              <a:spcBef>
                <a:spcPts val="5"/>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Effective management of COPD should</a:t>
            </a:r>
            <a:r>
              <a:rPr kumimoji="0" lang="en-US" sz="1400" b="1" i="0" u="none" strike="noStrike" kern="1200" cap="none" spc="0" normalizeH="0" baseline="0" noProof="0" dirty="0">
                <a:ln>
                  <a:noFill/>
                </a:ln>
                <a:solidFill>
                  <a:srgbClr val="F36633"/>
                </a:solidFill>
                <a:effectLst/>
                <a:uLnTx/>
                <a:uFillTx/>
                <a:latin typeface="Arial"/>
                <a:ea typeface="+mn-ea"/>
                <a:cs typeface="Arial"/>
              </a:rPr>
              <a:t> </a:t>
            </a:r>
            <a:r>
              <a:rPr kumimoji="0" sz="1400" b="1" i="0" u="none" strike="noStrike" kern="1200" cap="none" spc="0" normalizeH="0" baseline="0" noProof="0" dirty="0">
                <a:ln>
                  <a:noFill/>
                </a:ln>
                <a:solidFill>
                  <a:srgbClr val="F36633"/>
                </a:solidFill>
                <a:effectLst/>
                <a:uLnTx/>
                <a:uFillTx/>
                <a:latin typeface="Arial"/>
                <a:ea typeface="+mn-ea"/>
                <a:cs typeface="Arial"/>
              </a:rPr>
              <a:t>be based on </a:t>
            </a:r>
            <a:r>
              <a:rPr kumimoji="0" lang="en-GB" sz="1400" b="1" i="0" u="none" strike="noStrike" kern="1200" cap="none" spc="0" normalizeH="0" baseline="0" noProof="0" dirty="0">
                <a:ln>
                  <a:noFill/>
                </a:ln>
                <a:solidFill>
                  <a:srgbClr val="F36633"/>
                </a:solidFill>
                <a:effectLst/>
                <a:uLnTx/>
                <a:uFillTx/>
                <a:latin typeface="Arial"/>
                <a:ea typeface="+mn-ea"/>
                <a:cs typeface="Arial"/>
              </a:rPr>
              <a:t>the </a:t>
            </a:r>
            <a:r>
              <a:rPr kumimoji="0" sz="1400" b="1" i="0" u="none" strike="noStrike" kern="1200" cap="none" spc="0" normalizeH="0" baseline="0" noProof="0" dirty="0">
                <a:ln>
                  <a:noFill/>
                </a:ln>
                <a:solidFill>
                  <a:srgbClr val="F36633"/>
                </a:solidFill>
                <a:effectLst/>
                <a:uLnTx/>
                <a:uFillTx/>
                <a:latin typeface="Arial"/>
                <a:ea typeface="+mn-ea"/>
                <a:cs typeface="Arial"/>
              </a:rPr>
              <a:t>individual assessment of</a:t>
            </a:r>
            <a:endParaRPr kumimoji="0" sz="1400" b="0" i="0" u="none" strike="noStrike" kern="1200" cap="none" spc="0" normalizeH="0" baseline="0" noProof="0" dirty="0">
              <a:ln>
                <a:noFill/>
              </a:ln>
              <a:solidFill>
                <a:srgbClr val="F36633"/>
              </a:solidFill>
              <a:effectLst/>
              <a:uLnTx/>
              <a:uFillTx/>
              <a:latin typeface="Arial"/>
              <a:ea typeface="+mn-ea"/>
              <a:cs typeface="Arial"/>
            </a:endParaRPr>
          </a:p>
          <a:p>
            <a:pPr marL="2540" marR="0" lvl="0" indent="0" algn="ctr" defTabSz="121917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36633"/>
                </a:solidFill>
                <a:effectLst/>
                <a:uLnTx/>
                <a:uFillTx/>
                <a:latin typeface="Arial"/>
                <a:ea typeface="+mn-ea"/>
                <a:cs typeface="Arial"/>
              </a:rPr>
              <a:t>symptoms and future risk of exacerbations</a:t>
            </a:r>
            <a:r>
              <a:rPr kumimoji="0" sz="1400" b="1" i="0" u="none" strike="noStrike" kern="1200" cap="none" spc="0" normalizeH="0" baseline="24691" noProof="0" dirty="0">
                <a:ln>
                  <a:noFill/>
                </a:ln>
                <a:solidFill>
                  <a:srgbClr val="F36633"/>
                </a:solidFill>
                <a:effectLst/>
                <a:uLnTx/>
                <a:uFillTx/>
                <a:latin typeface="Arial"/>
                <a:ea typeface="+mn-ea"/>
                <a:cs typeface="Arial"/>
              </a:rPr>
              <a:t>2</a:t>
            </a:r>
            <a:endParaRPr kumimoji="0" sz="1400" b="0" i="0" u="none" strike="noStrike" kern="1200" cap="none" spc="0" normalizeH="0" baseline="24691" noProof="0" dirty="0">
              <a:ln>
                <a:noFill/>
              </a:ln>
              <a:solidFill>
                <a:srgbClr val="F36633"/>
              </a:solidFill>
              <a:effectLst/>
              <a:uLnTx/>
              <a:uFillTx/>
              <a:latin typeface="Arial"/>
              <a:ea typeface="+mn-ea"/>
              <a:cs typeface="Arial"/>
            </a:endParaRPr>
          </a:p>
        </p:txBody>
      </p:sp>
      <p:grpSp>
        <p:nvGrpSpPr>
          <p:cNvPr id="30" name="Group 29">
            <a:extLst>
              <a:ext uri="{FF2B5EF4-FFF2-40B4-BE49-F238E27FC236}">
                <a16:creationId xmlns:a16="http://schemas.microsoft.com/office/drawing/2014/main" id="{EAA7055E-C69A-1E16-6C53-8053CB01B53D}"/>
              </a:ext>
            </a:extLst>
          </p:cNvPr>
          <p:cNvGrpSpPr/>
          <p:nvPr/>
        </p:nvGrpSpPr>
        <p:grpSpPr>
          <a:xfrm>
            <a:off x="1221890" y="2320024"/>
            <a:ext cx="3825746" cy="2974290"/>
            <a:chOff x="521660" y="2320023"/>
            <a:chExt cx="4525976" cy="3518677"/>
          </a:xfrm>
        </p:grpSpPr>
        <p:pic>
          <p:nvPicPr>
            <p:cNvPr id="14" name="Picture 13">
              <a:extLst>
                <a:ext uri="{FF2B5EF4-FFF2-40B4-BE49-F238E27FC236}">
                  <a16:creationId xmlns:a16="http://schemas.microsoft.com/office/drawing/2014/main" id="{679B8BBE-E529-4889-4854-E7B5BE73D9A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9666" r="13790"/>
            <a:stretch/>
          </p:blipFill>
          <p:spPr>
            <a:xfrm>
              <a:off x="2898796" y="3446861"/>
              <a:ext cx="2148840" cy="2148840"/>
            </a:xfrm>
            <a:prstGeom prst="ellipse">
              <a:avLst/>
            </a:prstGeom>
          </p:spPr>
        </p:pic>
        <p:pic>
          <p:nvPicPr>
            <p:cNvPr id="16" name="Picture 15">
              <a:extLst>
                <a:ext uri="{FF2B5EF4-FFF2-40B4-BE49-F238E27FC236}">
                  <a16:creationId xmlns:a16="http://schemas.microsoft.com/office/drawing/2014/main" id="{E5F5877C-F11C-901A-2CE7-37D8AD7D5CD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7644" r="15532"/>
            <a:stretch/>
          </p:blipFill>
          <p:spPr>
            <a:xfrm>
              <a:off x="2725884" y="2320023"/>
              <a:ext cx="1740311" cy="1737360"/>
            </a:xfrm>
            <a:prstGeom prst="ellipse">
              <a:avLst/>
            </a:prstGeom>
          </p:spPr>
        </p:pic>
        <p:pic>
          <p:nvPicPr>
            <p:cNvPr id="17" name="Picture 16">
              <a:extLst>
                <a:ext uri="{FF2B5EF4-FFF2-40B4-BE49-F238E27FC236}">
                  <a16:creationId xmlns:a16="http://schemas.microsoft.com/office/drawing/2014/main" id="{B5EDFE8A-C3B0-8808-95F5-3106FE88FE48}"/>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27088" y="2729740"/>
              <a:ext cx="3108960" cy="3108960"/>
            </a:xfrm>
            <a:prstGeom prst="ellipse">
              <a:avLst/>
            </a:prstGeom>
          </p:spPr>
        </p:pic>
        <p:sp>
          <p:nvSpPr>
            <p:cNvPr id="18" name="object 7">
              <a:extLst>
                <a:ext uri="{FF2B5EF4-FFF2-40B4-BE49-F238E27FC236}">
                  <a16:creationId xmlns:a16="http://schemas.microsoft.com/office/drawing/2014/main" id="{FAD9C042-485F-1971-AB25-DC102BD8AE66}"/>
                </a:ext>
              </a:extLst>
            </p:cNvPr>
            <p:cNvSpPr/>
            <p:nvPr/>
          </p:nvSpPr>
          <p:spPr>
            <a:xfrm>
              <a:off x="2895272" y="3446861"/>
              <a:ext cx="2148840" cy="2148840"/>
            </a:xfrm>
            <a:custGeom>
              <a:avLst/>
              <a:gdLst/>
              <a:ahLst/>
              <a:cxnLst/>
              <a:rect l="l" t="t" r="r" b="b"/>
              <a:pathLst>
                <a:path w="2078989" h="2044064">
                  <a:moveTo>
                    <a:pt x="0" y="1021841"/>
                  </a:moveTo>
                  <a:lnTo>
                    <a:pt x="1131" y="973735"/>
                  </a:lnTo>
                  <a:lnTo>
                    <a:pt x="4491" y="926202"/>
                  </a:lnTo>
                  <a:lnTo>
                    <a:pt x="10031" y="879291"/>
                  </a:lnTo>
                  <a:lnTo>
                    <a:pt x="17700" y="833050"/>
                  </a:lnTo>
                  <a:lnTo>
                    <a:pt x="27449" y="787530"/>
                  </a:lnTo>
                  <a:lnTo>
                    <a:pt x="39228" y="742778"/>
                  </a:lnTo>
                  <a:lnTo>
                    <a:pt x="52986" y="698845"/>
                  </a:lnTo>
                  <a:lnTo>
                    <a:pt x="68674" y="655779"/>
                  </a:lnTo>
                  <a:lnTo>
                    <a:pt x="86242" y="613629"/>
                  </a:lnTo>
                  <a:lnTo>
                    <a:pt x="105640" y="572444"/>
                  </a:lnTo>
                  <a:lnTo>
                    <a:pt x="126818" y="532273"/>
                  </a:lnTo>
                  <a:lnTo>
                    <a:pt x="149726" y="493166"/>
                  </a:lnTo>
                  <a:lnTo>
                    <a:pt x="174315" y="455171"/>
                  </a:lnTo>
                  <a:lnTo>
                    <a:pt x="200534" y="418338"/>
                  </a:lnTo>
                  <a:lnTo>
                    <a:pt x="228333" y="382715"/>
                  </a:lnTo>
                  <a:lnTo>
                    <a:pt x="257663" y="348351"/>
                  </a:lnTo>
                  <a:lnTo>
                    <a:pt x="288474" y="315296"/>
                  </a:lnTo>
                  <a:lnTo>
                    <a:pt x="320715" y="283599"/>
                  </a:lnTo>
                  <a:lnTo>
                    <a:pt x="354337" y="253309"/>
                  </a:lnTo>
                  <a:lnTo>
                    <a:pt x="389290" y="224474"/>
                  </a:lnTo>
                  <a:lnTo>
                    <a:pt x="425525" y="197144"/>
                  </a:lnTo>
                  <a:lnTo>
                    <a:pt x="462990" y="171368"/>
                  </a:lnTo>
                  <a:lnTo>
                    <a:pt x="501637" y="147195"/>
                  </a:lnTo>
                  <a:lnTo>
                    <a:pt x="541415" y="124674"/>
                  </a:lnTo>
                  <a:lnTo>
                    <a:pt x="582274" y="103854"/>
                  </a:lnTo>
                  <a:lnTo>
                    <a:pt x="624165" y="84784"/>
                  </a:lnTo>
                  <a:lnTo>
                    <a:pt x="667038" y="67513"/>
                  </a:lnTo>
                  <a:lnTo>
                    <a:pt x="710842" y="52090"/>
                  </a:lnTo>
                  <a:lnTo>
                    <a:pt x="755528" y="38564"/>
                  </a:lnTo>
                  <a:lnTo>
                    <a:pt x="801046" y="26985"/>
                  </a:lnTo>
                  <a:lnTo>
                    <a:pt x="847346" y="17401"/>
                  </a:lnTo>
                  <a:lnTo>
                    <a:pt x="894378" y="9861"/>
                  </a:lnTo>
                  <a:lnTo>
                    <a:pt x="942092" y="4415"/>
                  </a:lnTo>
                  <a:lnTo>
                    <a:pt x="990439" y="1112"/>
                  </a:lnTo>
                  <a:lnTo>
                    <a:pt x="1039368" y="0"/>
                  </a:lnTo>
                  <a:lnTo>
                    <a:pt x="1088296" y="1112"/>
                  </a:lnTo>
                  <a:lnTo>
                    <a:pt x="1136643" y="4415"/>
                  </a:lnTo>
                  <a:lnTo>
                    <a:pt x="1184357" y="9861"/>
                  </a:lnTo>
                  <a:lnTo>
                    <a:pt x="1231389" y="17401"/>
                  </a:lnTo>
                  <a:lnTo>
                    <a:pt x="1277689" y="26985"/>
                  </a:lnTo>
                  <a:lnTo>
                    <a:pt x="1323207" y="38564"/>
                  </a:lnTo>
                  <a:lnTo>
                    <a:pt x="1367893" y="52090"/>
                  </a:lnTo>
                  <a:lnTo>
                    <a:pt x="1411697" y="67513"/>
                  </a:lnTo>
                  <a:lnTo>
                    <a:pt x="1454570" y="84784"/>
                  </a:lnTo>
                  <a:lnTo>
                    <a:pt x="1496461" y="103854"/>
                  </a:lnTo>
                  <a:lnTo>
                    <a:pt x="1537320" y="124674"/>
                  </a:lnTo>
                  <a:lnTo>
                    <a:pt x="1577098" y="147195"/>
                  </a:lnTo>
                  <a:lnTo>
                    <a:pt x="1615745" y="171368"/>
                  </a:lnTo>
                  <a:lnTo>
                    <a:pt x="1653210" y="197144"/>
                  </a:lnTo>
                  <a:lnTo>
                    <a:pt x="1689445" y="224474"/>
                  </a:lnTo>
                  <a:lnTo>
                    <a:pt x="1724398" y="253309"/>
                  </a:lnTo>
                  <a:lnTo>
                    <a:pt x="1758020" y="283599"/>
                  </a:lnTo>
                  <a:lnTo>
                    <a:pt x="1790261" y="315296"/>
                  </a:lnTo>
                  <a:lnTo>
                    <a:pt x="1821072" y="348351"/>
                  </a:lnTo>
                  <a:lnTo>
                    <a:pt x="1850402" y="382715"/>
                  </a:lnTo>
                  <a:lnTo>
                    <a:pt x="1878201" y="418338"/>
                  </a:lnTo>
                  <a:lnTo>
                    <a:pt x="1904420" y="455171"/>
                  </a:lnTo>
                  <a:lnTo>
                    <a:pt x="1929009" y="493166"/>
                  </a:lnTo>
                  <a:lnTo>
                    <a:pt x="1951917" y="532273"/>
                  </a:lnTo>
                  <a:lnTo>
                    <a:pt x="1973095" y="572444"/>
                  </a:lnTo>
                  <a:lnTo>
                    <a:pt x="1992493" y="613629"/>
                  </a:lnTo>
                  <a:lnTo>
                    <a:pt x="2010061" y="655779"/>
                  </a:lnTo>
                  <a:lnTo>
                    <a:pt x="2025749" y="698845"/>
                  </a:lnTo>
                  <a:lnTo>
                    <a:pt x="2039507" y="742778"/>
                  </a:lnTo>
                  <a:lnTo>
                    <a:pt x="2051286" y="787530"/>
                  </a:lnTo>
                  <a:lnTo>
                    <a:pt x="2061035" y="833050"/>
                  </a:lnTo>
                  <a:lnTo>
                    <a:pt x="2068704" y="879291"/>
                  </a:lnTo>
                  <a:lnTo>
                    <a:pt x="2074244" y="926202"/>
                  </a:lnTo>
                  <a:lnTo>
                    <a:pt x="2077604" y="973735"/>
                  </a:lnTo>
                  <a:lnTo>
                    <a:pt x="2078735" y="1021841"/>
                  </a:lnTo>
                  <a:lnTo>
                    <a:pt x="2077604" y="1069948"/>
                  </a:lnTo>
                  <a:lnTo>
                    <a:pt x="2074244" y="1117481"/>
                  </a:lnTo>
                  <a:lnTo>
                    <a:pt x="2068704" y="1164392"/>
                  </a:lnTo>
                  <a:lnTo>
                    <a:pt x="2061035" y="1210633"/>
                  </a:lnTo>
                  <a:lnTo>
                    <a:pt x="2051286" y="1256153"/>
                  </a:lnTo>
                  <a:lnTo>
                    <a:pt x="2039507" y="1300905"/>
                  </a:lnTo>
                  <a:lnTo>
                    <a:pt x="2025749" y="1344838"/>
                  </a:lnTo>
                  <a:lnTo>
                    <a:pt x="2010061" y="1387904"/>
                  </a:lnTo>
                  <a:lnTo>
                    <a:pt x="1992493" y="1430054"/>
                  </a:lnTo>
                  <a:lnTo>
                    <a:pt x="1973095" y="1471239"/>
                  </a:lnTo>
                  <a:lnTo>
                    <a:pt x="1951917" y="1511410"/>
                  </a:lnTo>
                  <a:lnTo>
                    <a:pt x="1929009" y="1550517"/>
                  </a:lnTo>
                  <a:lnTo>
                    <a:pt x="1904420" y="1588512"/>
                  </a:lnTo>
                  <a:lnTo>
                    <a:pt x="1878201" y="1625345"/>
                  </a:lnTo>
                  <a:lnTo>
                    <a:pt x="1850402" y="1660968"/>
                  </a:lnTo>
                  <a:lnTo>
                    <a:pt x="1821072" y="1695332"/>
                  </a:lnTo>
                  <a:lnTo>
                    <a:pt x="1790261" y="1728387"/>
                  </a:lnTo>
                  <a:lnTo>
                    <a:pt x="1758020" y="1760084"/>
                  </a:lnTo>
                  <a:lnTo>
                    <a:pt x="1724398" y="1790374"/>
                  </a:lnTo>
                  <a:lnTo>
                    <a:pt x="1689445" y="1819209"/>
                  </a:lnTo>
                  <a:lnTo>
                    <a:pt x="1653210" y="1846539"/>
                  </a:lnTo>
                  <a:lnTo>
                    <a:pt x="1615745" y="1872315"/>
                  </a:lnTo>
                  <a:lnTo>
                    <a:pt x="1577098" y="1896488"/>
                  </a:lnTo>
                  <a:lnTo>
                    <a:pt x="1537320" y="1919009"/>
                  </a:lnTo>
                  <a:lnTo>
                    <a:pt x="1496461" y="1939829"/>
                  </a:lnTo>
                  <a:lnTo>
                    <a:pt x="1454570" y="1958899"/>
                  </a:lnTo>
                  <a:lnTo>
                    <a:pt x="1411697" y="1976170"/>
                  </a:lnTo>
                  <a:lnTo>
                    <a:pt x="1367893" y="1991593"/>
                  </a:lnTo>
                  <a:lnTo>
                    <a:pt x="1323207" y="2005119"/>
                  </a:lnTo>
                  <a:lnTo>
                    <a:pt x="1277689" y="2016698"/>
                  </a:lnTo>
                  <a:lnTo>
                    <a:pt x="1231389" y="2026282"/>
                  </a:lnTo>
                  <a:lnTo>
                    <a:pt x="1184357" y="2033822"/>
                  </a:lnTo>
                  <a:lnTo>
                    <a:pt x="1136643" y="2039268"/>
                  </a:lnTo>
                  <a:lnTo>
                    <a:pt x="1088296" y="2042571"/>
                  </a:lnTo>
                  <a:lnTo>
                    <a:pt x="1039368" y="2043683"/>
                  </a:lnTo>
                  <a:lnTo>
                    <a:pt x="990439" y="2042571"/>
                  </a:lnTo>
                  <a:lnTo>
                    <a:pt x="942092" y="2039268"/>
                  </a:lnTo>
                  <a:lnTo>
                    <a:pt x="894378" y="2033822"/>
                  </a:lnTo>
                  <a:lnTo>
                    <a:pt x="847346" y="2026282"/>
                  </a:lnTo>
                  <a:lnTo>
                    <a:pt x="801046" y="2016698"/>
                  </a:lnTo>
                  <a:lnTo>
                    <a:pt x="755528" y="2005119"/>
                  </a:lnTo>
                  <a:lnTo>
                    <a:pt x="710842" y="1991593"/>
                  </a:lnTo>
                  <a:lnTo>
                    <a:pt x="667038" y="1976170"/>
                  </a:lnTo>
                  <a:lnTo>
                    <a:pt x="624165" y="1958899"/>
                  </a:lnTo>
                  <a:lnTo>
                    <a:pt x="582274" y="1939829"/>
                  </a:lnTo>
                  <a:lnTo>
                    <a:pt x="541415" y="1919009"/>
                  </a:lnTo>
                  <a:lnTo>
                    <a:pt x="501637" y="1896488"/>
                  </a:lnTo>
                  <a:lnTo>
                    <a:pt x="462990" y="1872315"/>
                  </a:lnTo>
                  <a:lnTo>
                    <a:pt x="425525" y="1846539"/>
                  </a:lnTo>
                  <a:lnTo>
                    <a:pt x="389290" y="1819209"/>
                  </a:lnTo>
                  <a:lnTo>
                    <a:pt x="354337" y="1790374"/>
                  </a:lnTo>
                  <a:lnTo>
                    <a:pt x="320715" y="1760084"/>
                  </a:lnTo>
                  <a:lnTo>
                    <a:pt x="288474" y="1728387"/>
                  </a:lnTo>
                  <a:lnTo>
                    <a:pt x="257663" y="1695332"/>
                  </a:lnTo>
                  <a:lnTo>
                    <a:pt x="228333" y="1660968"/>
                  </a:lnTo>
                  <a:lnTo>
                    <a:pt x="200534" y="1625345"/>
                  </a:lnTo>
                  <a:lnTo>
                    <a:pt x="174315" y="1588512"/>
                  </a:lnTo>
                  <a:lnTo>
                    <a:pt x="149726" y="1550517"/>
                  </a:lnTo>
                  <a:lnTo>
                    <a:pt x="126818" y="1511410"/>
                  </a:lnTo>
                  <a:lnTo>
                    <a:pt x="105640" y="1471239"/>
                  </a:lnTo>
                  <a:lnTo>
                    <a:pt x="86242" y="1430054"/>
                  </a:lnTo>
                  <a:lnTo>
                    <a:pt x="68674" y="1387904"/>
                  </a:lnTo>
                  <a:lnTo>
                    <a:pt x="52986" y="1344838"/>
                  </a:lnTo>
                  <a:lnTo>
                    <a:pt x="39228" y="1300905"/>
                  </a:lnTo>
                  <a:lnTo>
                    <a:pt x="27449" y="1256153"/>
                  </a:lnTo>
                  <a:lnTo>
                    <a:pt x="17700" y="1210633"/>
                  </a:lnTo>
                  <a:lnTo>
                    <a:pt x="10031" y="1164392"/>
                  </a:lnTo>
                  <a:lnTo>
                    <a:pt x="4491" y="1117481"/>
                  </a:lnTo>
                  <a:lnTo>
                    <a:pt x="1131" y="1069948"/>
                  </a:lnTo>
                  <a:lnTo>
                    <a:pt x="0" y="1021841"/>
                  </a:lnTo>
                  <a:close/>
                </a:path>
              </a:pathLst>
            </a:custGeom>
            <a:solidFill>
              <a:schemeClr val="bg1">
                <a:alpha val="50000"/>
              </a:schemeClr>
            </a:solidFill>
            <a:ln w="38100">
              <a:solidFill>
                <a:srgbClr val="BC1077"/>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9" name="object 11">
              <a:extLst>
                <a:ext uri="{FF2B5EF4-FFF2-40B4-BE49-F238E27FC236}">
                  <a16:creationId xmlns:a16="http://schemas.microsoft.com/office/drawing/2014/main" id="{9045CD7A-D12E-F7A8-9AE0-956A1FE70CBE}"/>
                </a:ext>
              </a:extLst>
            </p:cNvPr>
            <p:cNvSpPr/>
            <p:nvPr/>
          </p:nvSpPr>
          <p:spPr>
            <a:xfrm>
              <a:off x="2724130" y="2320023"/>
              <a:ext cx="1736771" cy="1737360"/>
            </a:xfrm>
            <a:custGeom>
              <a:avLst/>
              <a:gdLst/>
              <a:ahLst/>
              <a:cxnLst/>
              <a:rect l="l" t="t" r="r" b="b"/>
              <a:pathLst>
                <a:path w="1659889" h="1632585">
                  <a:moveTo>
                    <a:pt x="0" y="816101"/>
                  </a:moveTo>
                  <a:lnTo>
                    <a:pt x="1408" y="768149"/>
                  </a:lnTo>
                  <a:lnTo>
                    <a:pt x="5582" y="720926"/>
                  </a:lnTo>
                  <a:lnTo>
                    <a:pt x="12443" y="674510"/>
                  </a:lnTo>
                  <a:lnTo>
                    <a:pt x="21913" y="628976"/>
                  </a:lnTo>
                  <a:lnTo>
                    <a:pt x="33915" y="584402"/>
                  </a:lnTo>
                  <a:lnTo>
                    <a:pt x="48372" y="540863"/>
                  </a:lnTo>
                  <a:lnTo>
                    <a:pt x="65204" y="498437"/>
                  </a:lnTo>
                  <a:lnTo>
                    <a:pt x="84335" y="457200"/>
                  </a:lnTo>
                  <a:lnTo>
                    <a:pt x="105686" y="417228"/>
                  </a:lnTo>
                  <a:lnTo>
                    <a:pt x="129181" y="378598"/>
                  </a:lnTo>
                  <a:lnTo>
                    <a:pt x="154740" y="341387"/>
                  </a:lnTo>
                  <a:lnTo>
                    <a:pt x="182286" y="305670"/>
                  </a:lnTo>
                  <a:lnTo>
                    <a:pt x="211742" y="271526"/>
                  </a:lnTo>
                  <a:lnTo>
                    <a:pt x="243030" y="239029"/>
                  </a:lnTo>
                  <a:lnTo>
                    <a:pt x="276071" y="208258"/>
                  </a:lnTo>
                  <a:lnTo>
                    <a:pt x="310789" y="179287"/>
                  </a:lnTo>
                  <a:lnTo>
                    <a:pt x="347105" y="152195"/>
                  </a:lnTo>
                  <a:lnTo>
                    <a:pt x="384941" y="127056"/>
                  </a:lnTo>
                  <a:lnTo>
                    <a:pt x="424220" y="103949"/>
                  </a:lnTo>
                  <a:lnTo>
                    <a:pt x="464864" y="82949"/>
                  </a:lnTo>
                  <a:lnTo>
                    <a:pt x="506795" y="64133"/>
                  </a:lnTo>
                  <a:lnTo>
                    <a:pt x="549935" y="47577"/>
                  </a:lnTo>
                  <a:lnTo>
                    <a:pt x="594207" y="33358"/>
                  </a:lnTo>
                  <a:lnTo>
                    <a:pt x="639533" y="21553"/>
                  </a:lnTo>
                  <a:lnTo>
                    <a:pt x="685835" y="12238"/>
                  </a:lnTo>
                  <a:lnTo>
                    <a:pt x="733034" y="5490"/>
                  </a:lnTo>
                  <a:lnTo>
                    <a:pt x="781055" y="1385"/>
                  </a:lnTo>
                  <a:lnTo>
                    <a:pt x="829817" y="0"/>
                  </a:lnTo>
                  <a:lnTo>
                    <a:pt x="878580" y="1385"/>
                  </a:lnTo>
                  <a:lnTo>
                    <a:pt x="926601" y="5490"/>
                  </a:lnTo>
                  <a:lnTo>
                    <a:pt x="973800" y="12238"/>
                  </a:lnTo>
                  <a:lnTo>
                    <a:pt x="1020102" y="21553"/>
                  </a:lnTo>
                  <a:lnTo>
                    <a:pt x="1065428" y="33358"/>
                  </a:lnTo>
                  <a:lnTo>
                    <a:pt x="1109700" y="47577"/>
                  </a:lnTo>
                  <a:lnTo>
                    <a:pt x="1152840" y="64133"/>
                  </a:lnTo>
                  <a:lnTo>
                    <a:pt x="1194771" y="82949"/>
                  </a:lnTo>
                  <a:lnTo>
                    <a:pt x="1235415" y="103949"/>
                  </a:lnTo>
                  <a:lnTo>
                    <a:pt x="1274694" y="127056"/>
                  </a:lnTo>
                  <a:lnTo>
                    <a:pt x="1312530" y="152195"/>
                  </a:lnTo>
                  <a:lnTo>
                    <a:pt x="1348846" y="179287"/>
                  </a:lnTo>
                  <a:lnTo>
                    <a:pt x="1383564" y="208258"/>
                  </a:lnTo>
                  <a:lnTo>
                    <a:pt x="1416605" y="239029"/>
                  </a:lnTo>
                  <a:lnTo>
                    <a:pt x="1447893" y="271526"/>
                  </a:lnTo>
                  <a:lnTo>
                    <a:pt x="1477349" y="305670"/>
                  </a:lnTo>
                  <a:lnTo>
                    <a:pt x="1504895" y="341387"/>
                  </a:lnTo>
                  <a:lnTo>
                    <a:pt x="1530454" y="378598"/>
                  </a:lnTo>
                  <a:lnTo>
                    <a:pt x="1553949" y="417228"/>
                  </a:lnTo>
                  <a:lnTo>
                    <a:pt x="1575300" y="457199"/>
                  </a:lnTo>
                  <a:lnTo>
                    <a:pt x="1594431" y="498437"/>
                  </a:lnTo>
                  <a:lnTo>
                    <a:pt x="1611263" y="540863"/>
                  </a:lnTo>
                  <a:lnTo>
                    <a:pt x="1625720" y="584402"/>
                  </a:lnTo>
                  <a:lnTo>
                    <a:pt x="1637722" y="628976"/>
                  </a:lnTo>
                  <a:lnTo>
                    <a:pt x="1647192" y="674510"/>
                  </a:lnTo>
                  <a:lnTo>
                    <a:pt x="1654053" y="720926"/>
                  </a:lnTo>
                  <a:lnTo>
                    <a:pt x="1658227" y="768149"/>
                  </a:lnTo>
                  <a:lnTo>
                    <a:pt x="1659636" y="816101"/>
                  </a:lnTo>
                  <a:lnTo>
                    <a:pt x="1658227" y="864054"/>
                  </a:lnTo>
                  <a:lnTo>
                    <a:pt x="1654053" y="911277"/>
                  </a:lnTo>
                  <a:lnTo>
                    <a:pt x="1647192" y="957693"/>
                  </a:lnTo>
                  <a:lnTo>
                    <a:pt x="1637722" y="1003227"/>
                  </a:lnTo>
                  <a:lnTo>
                    <a:pt x="1625720" y="1047801"/>
                  </a:lnTo>
                  <a:lnTo>
                    <a:pt x="1611263" y="1091340"/>
                  </a:lnTo>
                  <a:lnTo>
                    <a:pt x="1594431" y="1133766"/>
                  </a:lnTo>
                  <a:lnTo>
                    <a:pt x="1575300" y="1175003"/>
                  </a:lnTo>
                  <a:lnTo>
                    <a:pt x="1553949" y="1214975"/>
                  </a:lnTo>
                  <a:lnTo>
                    <a:pt x="1530454" y="1253605"/>
                  </a:lnTo>
                  <a:lnTo>
                    <a:pt x="1504895" y="1290816"/>
                  </a:lnTo>
                  <a:lnTo>
                    <a:pt x="1477349" y="1326533"/>
                  </a:lnTo>
                  <a:lnTo>
                    <a:pt x="1447893" y="1360677"/>
                  </a:lnTo>
                  <a:lnTo>
                    <a:pt x="1416605" y="1393174"/>
                  </a:lnTo>
                  <a:lnTo>
                    <a:pt x="1383564" y="1423945"/>
                  </a:lnTo>
                  <a:lnTo>
                    <a:pt x="1348846" y="1452916"/>
                  </a:lnTo>
                  <a:lnTo>
                    <a:pt x="1312530" y="1480008"/>
                  </a:lnTo>
                  <a:lnTo>
                    <a:pt x="1274694" y="1505147"/>
                  </a:lnTo>
                  <a:lnTo>
                    <a:pt x="1235415" y="1528254"/>
                  </a:lnTo>
                  <a:lnTo>
                    <a:pt x="1194771" y="1549254"/>
                  </a:lnTo>
                  <a:lnTo>
                    <a:pt x="1152840" y="1568070"/>
                  </a:lnTo>
                  <a:lnTo>
                    <a:pt x="1109700" y="1584626"/>
                  </a:lnTo>
                  <a:lnTo>
                    <a:pt x="1065428" y="1598845"/>
                  </a:lnTo>
                  <a:lnTo>
                    <a:pt x="1020102" y="1610650"/>
                  </a:lnTo>
                  <a:lnTo>
                    <a:pt x="973800" y="1619965"/>
                  </a:lnTo>
                  <a:lnTo>
                    <a:pt x="926601" y="1626713"/>
                  </a:lnTo>
                  <a:lnTo>
                    <a:pt x="878580" y="1630818"/>
                  </a:lnTo>
                  <a:lnTo>
                    <a:pt x="829817" y="1632203"/>
                  </a:lnTo>
                  <a:lnTo>
                    <a:pt x="781055" y="1630818"/>
                  </a:lnTo>
                  <a:lnTo>
                    <a:pt x="733034" y="1626713"/>
                  </a:lnTo>
                  <a:lnTo>
                    <a:pt x="685835" y="1619965"/>
                  </a:lnTo>
                  <a:lnTo>
                    <a:pt x="639533" y="1610650"/>
                  </a:lnTo>
                  <a:lnTo>
                    <a:pt x="594207" y="1598845"/>
                  </a:lnTo>
                  <a:lnTo>
                    <a:pt x="549935" y="1584626"/>
                  </a:lnTo>
                  <a:lnTo>
                    <a:pt x="506795" y="1568070"/>
                  </a:lnTo>
                  <a:lnTo>
                    <a:pt x="464864" y="1549254"/>
                  </a:lnTo>
                  <a:lnTo>
                    <a:pt x="424220" y="1528254"/>
                  </a:lnTo>
                  <a:lnTo>
                    <a:pt x="384941" y="1505147"/>
                  </a:lnTo>
                  <a:lnTo>
                    <a:pt x="347105" y="1480008"/>
                  </a:lnTo>
                  <a:lnTo>
                    <a:pt x="310789" y="1452916"/>
                  </a:lnTo>
                  <a:lnTo>
                    <a:pt x="276071" y="1423945"/>
                  </a:lnTo>
                  <a:lnTo>
                    <a:pt x="243030" y="1393174"/>
                  </a:lnTo>
                  <a:lnTo>
                    <a:pt x="211742" y="1360677"/>
                  </a:lnTo>
                  <a:lnTo>
                    <a:pt x="182286" y="1326533"/>
                  </a:lnTo>
                  <a:lnTo>
                    <a:pt x="154740" y="1290816"/>
                  </a:lnTo>
                  <a:lnTo>
                    <a:pt x="129181" y="1253605"/>
                  </a:lnTo>
                  <a:lnTo>
                    <a:pt x="105686" y="1214975"/>
                  </a:lnTo>
                  <a:lnTo>
                    <a:pt x="84335" y="1175003"/>
                  </a:lnTo>
                  <a:lnTo>
                    <a:pt x="65204" y="1133766"/>
                  </a:lnTo>
                  <a:lnTo>
                    <a:pt x="48372" y="1091340"/>
                  </a:lnTo>
                  <a:lnTo>
                    <a:pt x="33915" y="1047801"/>
                  </a:lnTo>
                  <a:lnTo>
                    <a:pt x="21913" y="1003227"/>
                  </a:lnTo>
                  <a:lnTo>
                    <a:pt x="12443" y="957693"/>
                  </a:lnTo>
                  <a:lnTo>
                    <a:pt x="5582" y="911277"/>
                  </a:lnTo>
                  <a:lnTo>
                    <a:pt x="1408" y="864054"/>
                  </a:lnTo>
                  <a:lnTo>
                    <a:pt x="0" y="816101"/>
                  </a:lnTo>
                  <a:close/>
                </a:path>
              </a:pathLst>
            </a:custGeom>
            <a:solidFill>
              <a:schemeClr val="bg1">
                <a:alpha val="50000"/>
              </a:schemeClr>
            </a:solidFill>
            <a:ln w="38100">
              <a:solidFill>
                <a:srgbClr val="40488D"/>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 name="object 13">
              <a:extLst>
                <a:ext uri="{FF2B5EF4-FFF2-40B4-BE49-F238E27FC236}">
                  <a16:creationId xmlns:a16="http://schemas.microsoft.com/office/drawing/2014/main" id="{E45AF169-0817-FEAE-DB32-AD7AC1B75335}"/>
                </a:ext>
              </a:extLst>
            </p:cNvPr>
            <p:cNvSpPr/>
            <p:nvPr/>
          </p:nvSpPr>
          <p:spPr>
            <a:xfrm>
              <a:off x="521660" y="2729740"/>
              <a:ext cx="3112768" cy="3108960"/>
            </a:xfrm>
            <a:custGeom>
              <a:avLst/>
              <a:gdLst/>
              <a:ahLst/>
              <a:cxnLst/>
              <a:rect l="l" t="t" r="r" b="b"/>
              <a:pathLst>
                <a:path w="2974975" h="2923540">
                  <a:moveTo>
                    <a:pt x="0" y="1461515"/>
                  </a:moveTo>
                  <a:lnTo>
                    <a:pt x="795" y="1413270"/>
                  </a:lnTo>
                  <a:lnTo>
                    <a:pt x="3163" y="1365416"/>
                  </a:lnTo>
                  <a:lnTo>
                    <a:pt x="7081" y="1317977"/>
                  </a:lnTo>
                  <a:lnTo>
                    <a:pt x="12524" y="1270977"/>
                  </a:lnTo>
                  <a:lnTo>
                    <a:pt x="19467" y="1224441"/>
                  </a:lnTo>
                  <a:lnTo>
                    <a:pt x="27886" y="1178391"/>
                  </a:lnTo>
                  <a:lnTo>
                    <a:pt x="37756" y="1132853"/>
                  </a:lnTo>
                  <a:lnTo>
                    <a:pt x="49053" y="1087851"/>
                  </a:lnTo>
                  <a:lnTo>
                    <a:pt x="61752" y="1043408"/>
                  </a:lnTo>
                  <a:lnTo>
                    <a:pt x="75829" y="999548"/>
                  </a:lnTo>
                  <a:lnTo>
                    <a:pt x="91259" y="956297"/>
                  </a:lnTo>
                  <a:lnTo>
                    <a:pt x="108018" y="913677"/>
                  </a:lnTo>
                  <a:lnTo>
                    <a:pt x="126081" y="871712"/>
                  </a:lnTo>
                  <a:lnTo>
                    <a:pt x="145424" y="830428"/>
                  </a:lnTo>
                  <a:lnTo>
                    <a:pt x="166022" y="789848"/>
                  </a:lnTo>
                  <a:lnTo>
                    <a:pt x="187851" y="749995"/>
                  </a:lnTo>
                  <a:lnTo>
                    <a:pt x="210886" y="710895"/>
                  </a:lnTo>
                  <a:lnTo>
                    <a:pt x="235103" y="672570"/>
                  </a:lnTo>
                  <a:lnTo>
                    <a:pt x="260478" y="635046"/>
                  </a:lnTo>
                  <a:lnTo>
                    <a:pt x="286985" y="598346"/>
                  </a:lnTo>
                  <a:lnTo>
                    <a:pt x="314600" y="562495"/>
                  </a:lnTo>
                  <a:lnTo>
                    <a:pt x="343299" y="527516"/>
                  </a:lnTo>
                  <a:lnTo>
                    <a:pt x="373057" y="493433"/>
                  </a:lnTo>
                  <a:lnTo>
                    <a:pt x="403851" y="460271"/>
                  </a:lnTo>
                  <a:lnTo>
                    <a:pt x="435654" y="428053"/>
                  </a:lnTo>
                  <a:lnTo>
                    <a:pt x="468443" y="396804"/>
                  </a:lnTo>
                  <a:lnTo>
                    <a:pt x="502194" y="366548"/>
                  </a:lnTo>
                  <a:lnTo>
                    <a:pt x="536881" y="337308"/>
                  </a:lnTo>
                  <a:lnTo>
                    <a:pt x="572481" y="309110"/>
                  </a:lnTo>
                  <a:lnTo>
                    <a:pt x="608968" y="281976"/>
                  </a:lnTo>
                  <a:lnTo>
                    <a:pt x="646319" y="255931"/>
                  </a:lnTo>
                  <a:lnTo>
                    <a:pt x="684508" y="231000"/>
                  </a:lnTo>
                  <a:lnTo>
                    <a:pt x="723512" y="207205"/>
                  </a:lnTo>
                  <a:lnTo>
                    <a:pt x="763305" y="184572"/>
                  </a:lnTo>
                  <a:lnTo>
                    <a:pt x="803864" y="163124"/>
                  </a:lnTo>
                  <a:lnTo>
                    <a:pt x="845164" y="142885"/>
                  </a:lnTo>
                  <a:lnTo>
                    <a:pt x="887180" y="123880"/>
                  </a:lnTo>
                  <a:lnTo>
                    <a:pt x="929888" y="106132"/>
                  </a:lnTo>
                  <a:lnTo>
                    <a:pt x="973263" y="89666"/>
                  </a:lnTo>
                  <a:lnTo>
                    <a:pt x="1017280" y="74505"/>
                  </a:lnTo>
                  <a:lnTo>
                    <a:pt x="1061917" y="60674"/>
                  </a:lnTo>
                  <a:lnTo>
                    <a:pt x="1107147" y="48196"/>
                  </a:lnTo>
                  <a:lnTo>
                    <a:pt x="1152946" y="37097"/>
                  </a:lnTo>
                  <a:lnTo>
                    <a:pt x="1199290" y="27399"/>
                  </a:lnTo>
                  <a:lnTo>
                    <a:pt x="1246154" y="19127"/>
                  </a:lnTo>
                  <a:lnTo>
                    <a:pt x="1293515" y="12305"/>
                  </a:lnTo>
                  <a:lnTo>
                    <a:pt x="1341346" y="6958"/>
                  </a:lnTo>
                  <a:lnTo>
                    <a:pt x="1389624" y="3108"/>
                  </a:lnTo>
                  <a:lnTo>
                    <a:pt x="1438325" y="781"/>
                  </a:lnTo>
                  <a:lnTo>
                    <a:pt x="1487423" y="0"/>
                  </a:lnTo>
                  <a:lnTo>
                    <a:pt x="1536519" y="781"/>
                  </a:lnTo>
                  <a:lnTo>
                    <a:pt x="1585217" y="3108"/>
                  </a:lnTo>
                  <a:lnTo>
                    <a:pt x="1633493" y="6958"/>
                  </a:lnTo>
                  <a:lnTo>
                    <a:pt x="1681322" y="12305"/>
                  </a:lnTo>
                  <a:lnTo>
                    <a:pt x="1728680" y="19127"/>
                  </a:lnTo>
                  <a:lnTo>
                    <a:pt x="1775543" y="27399"/>
                  </a:lnTo>
                  <a:lnTo>
                    <a:pt x="1821885" y="37097"/>
                  </a:lnTo>
                  <a:lnTo>
                    <a:pt x="1867683" y="48196"/>
                  </a:lnTo>
                  <a:lnTo>
                    <a:pt x="1912912" y="60674"/>
                  </a:lnTo>
                  <a:lnTo>
                    <a:pt x="1957547" y="74505"/>
                  </a:lnTo>
                  <a:lnTo>
                    <a:pt x="2001564" y="89666"/>
                  </a:lnTo>
                  <a:lnTo>
                    <a:pt x="2044938" y="106132"/>
                  </a:lnTo>
                  <a:lnTo>
                    <a:pt x="2087645" y="123880"/>
                  </a:lnTo>
                  <a:lnTo>
                    <a:pt x="2129661" y="142885"/>
                  </a:lnTo>
                  <a:lnTo>
                    <a:pt x="2170960" y="163124"/>
                  </a:lnTo>
                  <a:lnTo>
                    <a:pt x="2211519" y="184572"/>
                  </a:lnTo>
                  <a:lnTo>
                    <a:pt x="2251313" y="207205"/>
                  </a:lnTo>
                  <a:lnTo>
                    <a:pt x="2290316" y="231000"/>
                  </a:lnTo>
                  <a:lnTo>
                    <a:pt x="2328506" y="255931"/>
                  </a:lnTo>
                  <a:lnTo>
                    <a:pt x="2365857" y="281976"/>
                  </a:lnTo>
                  <a:lnTo>
                    <a:pt x="2402345" y="309110"/>
                  </a:lnTo>
                  <a:lnTo>
                    <a:pt x="2437945" y="337308"/>
                  </a:lnTo>
                  <a:lnTo>
                    <a:pt x="2472633" y="366548"/>
                  </a:lnTo>
                  <a:lnTo>
                    <a:pt x="2506384" y="396804"/>
                  </a:lnTo>
                  <a:lnTo>
                    <a:pt x="2539174" y="428053"/>
                  </a:lnTo>
                  <a:lnTo>
                    <a:pt x="2570978" y="460271"/>
                  </a:lnTo>
                  <a:lnTo>
                    <a:pt x="2601772" y="493433"/>
                  </a:lnTo>
                  <a:lnTo>
                    <a:pt x="2631532" y="527516"/>
                  </a:lnTo>
                  <a:lnTo>
                    <a:pt x="2660232" y="562495"/>
                  </a:lnTo>
                  <a:lnTo>
                    <a:pt x="2687848" y="598346"/>
                  </a:lnTo>
                  <a:lnTo>
                    <a:pt x="2714356" y="635046"/>
                  </a:lnTo>
                  <a:lnTo>
                    <a:pt x="2739731" y="672570"/>
                  </a:lnTo>
                  <a:lnTo>
                    <a:pt x="2763949" y="710895"/>
                  </a:lnTo>
                  <a:lnTo>
                    <a:pt x="2786985" y="749995"/>
                  </a:lnTo>
                  <a:lnTo>
                    <a:pt x="2808815" y="789848"/>
                  </a:lnTo>
                  <a:lnTo>
                    <a:pt x="2829414" y="830428"/>
                  </a:lnTo>
                  <a:lnTo>
                    <a:pt x="2848758" y="871712"/>
                  </a:lnTo>
                  <a:lnTo>
                    <a:pt x="2866822" y="913677"/>
                  </a:lnTo>
                  <a:lnTo>
                    <a:pt x="2883582" y="956297"/>
                  </a:lnTo>
                  <a:lnTo>
                    <a:pt x="2899013" y="999548"/>
                  </a:lnTo>
                  <a:lnTo>
                    <a:pt x="2913091" y="1043408"/>
                  </a:lnTo>
                  <a:lnTo>
                    <a:pt x="2925791" y="1087851"/>
                  </a:lnTo>
                  <a:lnTo>
                    <a:pt x="2937088" y="1132853"/>
                  </a:lnTo>
                  <a:lnTo>
                    <a:pt x="2946959" y="1178391"/>
                  </a:lnTo>
                  <a:lnTo>
                    <a:pt x="2955378" y="1224441"/>
                  </a:lnTo>
                  <a:lnTo>
                    <a:pt x="2962322" y="1270977"/>
                  </a:lnTo>
                  <a:lnTo>
                    <a:pt x="2967765" y="1317977"/>
                  </a:lnTo>
                  <a:lnTo>
                    <a:pt x="2971683" y="1365416"/>
                  </a:lnTo>
                  <a:lnTo>
                    <a:pt x="2974052" y="1413270"/>
                  </a:lnTo>
                  <a:lnTo>
                    <a:pt x="2974848" y="1461515"/>
                  </a:lnTo>
                  <a:lnTo>
                    <a:pt x="2974052" y="1509761"/>
                  </a:lnTo>
                  <a:lnTo>
                    <a:pt x="2971683" y="1557615"/>
                  </a:lnTo>
                  <a:lnTo>
                    <a:pt x="2967765" y="1605054"/>
                  </a:lnTo>
                  <a:lnTo>
                    <a:pt x="2962322" y="1652054"/>
                  </a:lnTo>
                  <a:lnTo>
                    <a:pt x="2955378" y="1698590"/>
                  </a:lnTo>
                  <a:lnTo>
                    <a:pt x="2946959" y="1744640"/>
                  </a:lnTo>
                  <a:lnTo>
                    <a:pt x="2937088" y="1790178"/>
                  </a:lnTo>
                  <a:lnTo>
                    <a:pt x="2925791" y="1835180"/>
                  </a:lnTo>
                  <a:lnTo>
                    <a:pt x="2913091" y="1879623"/>
                  </a:lnTo>
                  <a:lnTo>
                    <a:pt x="2899013" y="1923483"/>
                  </a:lnTo>
                  <a:lnTo>
                    <a:pt x="2883582" y="1966734"/>
                  </a:lnTo>
                  <a:lnTo>
                    <a:pt x="2866822" y="2009354"/>
                  </a:lnTo>
                  <a:lnTo>
                    <a:pt x="2848758" y="2051319"/>
                  </a:lnTo>
                  <a:lnTo>
                    <a:pt x="2829414" y="2092603"/>
                  </a:lnTo>
                  <a:lnTo>
                    <a:pt x="2808815" y="2133183"/>
                  </a:lnTo>
                  <a:lnTo>
                    <a:pt x="2786985" y="2173036"/>
                  </a:lnTo>
                  <a:lnTo>
                    <a:pt x="2763949" y="2212136"/>
                  </a:lnTo>
                  <a:lnTo>
                    <a:pt x="2739731" y="2250461"/>
                  </a:lnTo>
                  <a:lnTo>
                    <a:pt x="2714356" y="2287985"/>
                  </a:lnTo>
                  <a:lnTo>
                    <a:pt x="2687848" y="2324685"/>
                  </a:lnTo>
                  <a:lnTo>
                    <a:pt x="2660232" y="2360536"/>
                  </a:lnTo>
                  <a:lnTo>
                    <a:pt x="2631532" y="2395515"/>
                  </a:lnTo>
                  <a:lnTo>
                    <a:pt x="2601772" y="2429598"/>
                  </a:lnTo>
                  <a:lnTo>
                    <a:pt x="2570978" y="2462760"/>
                  </a:lnTo>
                  <a:lnTo>
                    <a:pt x="2539174" y="2494978"/>
                  </a:lnTo>
                  <a:lnTo>
                    <a:pt x="2506384" y="2526227"/>
                  </a:lnTo>
                  <a:lnTo>
                    <a:pt x="2472633" y="2556483"/>
                  </a:lnTo>
                  <a:lnTo>
                    <a:pt x="2437945" y="2585723"/>
                  </a:lnTo>
                  <a:lnTo>
                    <a:pt x="2402345" y="2613921"/>
                  </a:lnTo>
                  <a:lnTo>
                    <a:pt x="2365857" y="2641055"/>
                  </a:lnTo>
                  <a:lnTo>
                    <a:pt x="2328506" y="2667100"/>
                  </a:lnTo>
                  <a:lnTo>
                    <a:pt x="2290316" y="2692031"/>
                  </a:lnTo>
                  <a:lnTo>
                    <a:pt x="2251313" y="2715826"/>
                  </a:lnTo>
                  <a:lnTo>
                    <a:pt x="2211519" y="2738459"/>
                  </a:lnTo>
                  <a:lnTo>
                    <a:pt x="2170960" y="2759907"/>
                  </a:lnTo>
                  <a:lnTo>
                    <a:pt x="2129661" y="2780146"/>
                  </a:lnTo>
                  <a:lnTo>
                    <a:pt x="2087645" y="2799151"/>
                  </a:lnTo>
                  <a:lnTo>
                    <a:pt x="2044938" y="2816899"/>
                  </a:lnTo>
                  <a:lnTo>
                    <a:pt x="2001564" y="2833365"/>
                  </a:lnTo>
                  <a:lnTo>
                    <a:pt x="1957547" y="2848526"/>
                  </a:lnTo>
                  <a:lnTo>
                    <a:pt x="1912912" y="2862357"/>
                  </a:lnTo>
                  <a:lnTo>
                    <a:pt x="1867683" y="2874835"/>
                  </a:lnTo>
                  <a:lnTo>
                    <a:pt x="1821885" y="2885934"/>
                  </a:lnTo>
                  <a:lnTo>
                    <a:pt x="1775543" y="2895632"/>
                  </a:lnTo>
                  <a:lnTo>
                    <a:pt x="1728680" y="2903904"/>
                  </a:lnTo>
                  <a:lnTo>
                    <a:pt x="1681322" y="2910726"/>
                  </a:lnTo>
                  <a:lnTo>
                    <a:pt x="1633493" y="2916073"/>
                  </a:lnTo>
                  <a:lnTo>
                    <a:pt x="1585217" y="2919923"/>
                  </a:lnTo>
                  <a:lnTo>
                    <a:pt x="1536519" y="2922250"/>
                  </a:lnTo>
                  <a:lnTo>
                    <a:pt x="1487423" y="2923031"/>
                  </a:lnTo>
                  <a:lnTo>
                    <a:pt x="1438325" y="2922250"/>
                  </a:lnTo>
                  <a:lnTo>
                    <a:pt x="1389624" y="2919923"/>
                  </a:lnTo>
                  <a:lnTo>
                    <a:pt x="1341346" y="2916073"/>
                  </a:lnTo>
                  <a:lnTo>
                    <a:pt x="1293515" y="2910726"/>
                  </a:lnTo>
                  <a:lnTo>
                    <a:pt x="1246154" y="2903904"/>
                  </a:lnTo>
                  <a:lnTo>
                    <a:pt x="1199290" y="2895632"/>
                  </a:lnTo>
                  <a:lnTo>
                    <a:pt x="1152946" y="2885934"/>
                  </a:lnTo>
                  <a:lnTo>
                    <a:pt x="1107147" y="2874835"/>
                  </a:lnTo>
                  <a:lnTo>
                    <a:pt x="1061917" y="2862357"/>
                  </a:lnTo>
                  <a:lnTo>
                    <a:pt x="1017280" y="2848526"/>
                  </a:lnTo>
                  <a:lnTo>
                    <a:pt x="973263" y="2833365"/>
                  </a:lnTo>
                  <a:lnTo>
                    <a:pt x="929888" y="2816899"/>
                  </a:lnTo>
                  <a:lnTo>
                    <a:pt x="887180" y="2799151"/>
                  </a:lnTo>
                  <a:lnTo>
                    <a:pt x="845164" y="2780146"/>
                  </a:lnTo>
                  <a:lnTo>
                    <a:pt x="803864" y="2759907"/>
                  </a:lnTo>
                  <a:lnTo>
                    <a:pt x="763305" y="2738459"/>
                  </a:lnTo>
                  <a:lnTo>
                    <a:pt x="723512" y="2715826"/>
                  </a:lnTo>
                  <a:lnTo>
                    <a:pt x="684508" y="2692031"/>
                  </a:lnTo>
                  <a:lnTo>
                    <a:pt x="646319" y="2667100"/>
                  </a:lnTo>
                  <a:lnTo>
                    <a:pt x="608968" y="2641055"/>
                  </a:lnTo>
                  <a:lnTo>
                    <a:pt x="572481" y="2613921"/>
                  </a:lnTo>
                  <a:lnTo>
                    <a:pt x="536881" y="2585723"/>
                  </a:lnTo>
                  <a:lnTo>
                    <a:pt x="502194" y="2556483"/>
                  </a:lnTo>
                  <a:lnTo>
                    <a:pt x="468443" y="2526227"/>
                  </a:lnTo>
                  <a:lnTo>
                    <a:pt x="435654" y="2494978"/>
                  </a:lnTo>
                  <a:lnTo>
                    <a:pt x="403851" y="2462760"/>
                  </a:lnTo>
                  <a:lnTo>
                    <a:pt x="373057" y="2429598"/>
                  </a:lnTo>
                  <a:lnTo>
                    <a:pt x="343299" y="2395515"/>
                  </a:lnTo>
                  <a:lnTo>
                    <a:pt x="314600" y="2360536"/>
                  </a:lnTo>
                  <a:lnTo>
                    <a:pt x="286985" y="2324685"/>
                  </a:lnTo>
                  <a:lnTo>
                    <a:pt x="260478" y="2287985"/>
                  </a:lnTo>
                  <a:lnTo>
                    <a:pt x="235103" y="2250461"/>
                  </a:lnTo>
                  <a:lnTo>
                    <a:pt x="210886" y="2212136"/>
                  </a:lnTo>
                  <a:lnTo>
                    <a:pt x="187851" y="2173036"/>
                  </a:lnTo>
                  <a:lnTo>
                    <a:pt x="166022" y="2133183"/>
                  </a:lnTo>
                  <a:lnTo>
                    <a:pt x="145424" y="2092603"/>
                  </a:lnTo>
                  <a:lnTo>
                    <a:pt x="126081" y="2051319"/>
                  </a:lnTo>
                  <a:lnTo>
                    <a:pt x="108018" y="2009354"/>
                  </a:lnTo>
                  <a:lnTo>
                    <a:pt x="91259" y="1966734"/>
                  </a:lnTo>
                  <a:lnTo>
                    <a:pt x="75829" y="1923483"/>
                  </a:lnTo>
                  <a:lnTo>
                    <a:pt x="61752" y="1879623"/>
                  </a:lnTo>
                  <a:lnTo>
                    <a:pt x="49053" y="1835180"/>
                  </a:lnTo>
                  <a:lnTo>
                    <a:pt x="37756" y="1790178"/>
                  </a:lnTo>
                  <a:lnTo>
                    <a:pt x="27886" y="1744640"/>
                  </a:lnTo>
                  <a:lnTo>
                    <a:pt x="19467" y="1698590"/>
                  </a:lnTo>
                  <a:lnTo>
                    <a:pt x="12524" y="1652054"/>
                  </a:lnTo>
                  <a:lnTo>
                    <a:pt x="7081" y="1605054"/>
                  </a:lnTo>
                  <a:lnTo>
                    <a:pt x="3163" y="1557615"/>
                  </a:lnTo>
                  <a:lnTo>
                    <a:pt x="795" y="1509761"/>
                  </a:lnTo>
                  <a:lnTo>
                    <a:pt x="0" y="1461515"/>
                  </a:lnTo>
                  <a:close/>
                </a:path>
              </a:pathLst>
            </a:custGeom>
            <a:solidFill>
              <a:schemeClr val="bg1">
                <a:alpha val="50000"/>
              </a:schemeClr>
            </a:solidFill>
            <a:ln w="38100">
              <a:solidFill>
                <a:srgbClr val="15717D"/>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3" name="object 14">
              <a:extLst>
                <a:ext uri="{FF2B5EF4-FFF2-40B4-BE49-F238E27FC236}">
                  <a16:creationId xmlns:a16="http://schemas.microsoft.com/office/drawing/2014/main" id="{D807C8A0-1FA8-BD38-B3EC-5056BD855BC8}"/>
                </a:ext>
              </a:extLst>
            </p:cNvPr>
            <p:cNvSpPr txBox="1"/>
            <p:nvPr/>
          </p:nvSpPr>
          <p:spPr>
            <a:xfrm>
              <a:off x="1149464" y="3869126"/>
              <a:ext cx="1576649" cy="700910"/>
            </a:xfrm>
            <a:prstGeom prst="rect">
              <a:avLst/>
            </a:prstGeom>
          </p:spPr>
          <p:txBody>
            <a:bodyPr vert="horz" wrap="square" lIns="0" tIns="12700" rIns="0" bIns="0" rtlCol="0">
              <a:spAutoFit/>
            </a:bodyPr>
            <a:lstStyle/>
            <a:p>
              <a:pPr marL="12700" marR="5080" lvl="0" indent="0" algn="ctr" defTabSz="1219170" rtl="0" eaLnBrk="1" fontAlgn="auto" latinLnBrk="0" hangingPunct="1">
                <a:lnSpc>
                  <a:spcPct val="100000"/>
                </a:lnSpc>
                <a:spcBef>
                  <a:spcPts val="10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Arial"/>
                  <a:ea typeface="+mn-ea"/>
                  <a:cs typeface="Arial"/>
                </a:rPr>
                <a:t>Bacterial-associated</a:t>
              </a:r>
              <a:r>
                <a:rPr kumimoji="0" lang="en-US" sz="1000" b="1" i="0" u="none" strike="noStrike" kern="1200" cap="none" spc="0" normalizeH="0" baseline="0" noProof="0" dirty="0">
                  <a:ln>
                    <a:noFill/>
                  </a:ln>
                  <a:solidFill>
                    <a:srgbClr val="000000"/>
                  </a:solidFill>
                  <a:effectLst/>
                  <a:uLnTx/>
                  <a:uFillTx/>
                  <a:latin typeface="Arial"/>
                  <a:ea typeface="+mn-ea"/>
                  <a:cs typeface="Arial"/>
                </a:rPr>
                <a:t> </a:t>
              </a:r>
              <a:r>
                <a:rPr kumimoji="0" sz="1000" b="1" i="0" u="none" strike="noStrike" kern="1200" cap="none" spc="0" normalizeH="0" baseline="0" noProof="0" dirty="0">
                  <a:ln>
                    <a:noFill/>
                  </a:ln>
                  <a:solidFill>
                    <a:srgbClr val="000000"/>
                  </a:solidFill>
                  <a:effectLst/>
                  <a:uLnTx/>
                  <a:uFillTx/>
                  <a:latin typeface="Arial"/>
                  <a:ea typeface="+mn-ea"/>
                  <a:cs typeface="Arial"/>
                </a:rPr>
                <a:t>exacerbations</a:t>
              </a:r>
              <a:endParaRPr kumimoji="0" sz="1000" b="0" i="0" u="none" strike="noStrike" kern="1200" cap="none" spc="0" normalizeH="0" baseline="0" noProof="0" dirty="0">
                <a:ln>
                  <a:noFill/>
                </a:ln>
                <a:solidFill>
                  <a:srgbClr val="000000"/>
                </a:solidFill>
                <a:effectLst/>
                <a:uLnTx/>
                <a:uFillTx/>
                <a:latin typeface="Arial"/>
                <a:ea typeface="+mn-ea"/>
                <a:cs typeface="Arial"/>
              </a:endParaRPr>
            </a:p>
            <a:p>
              <a:pPr marL="8890" marR="0" lvl="0" indent="0" algn="ctr" defTabSz="1219170" rtl="0" eaLnBrk="1" fontAlgn="auto" latinLnBrk="0" hangingPunct="1">
                <a:lnSpc>
                  <a:spcPct val="100000"/>
                </a:lnSpc>
                <a:spcBef>
                  <a:spcPts val="765"/>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37%</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sp>
          <p:nvSpPr>
            <p:cNvPr id="24" name="object 16">
              <a:extLst>
                <a:ext uri="{FF2B5EF4-FFF2-40B4-BE49-F238E27FC236}">
                  <a16:creationId xmlns:a16="http://schemas.microsoft.com/office/drawing/2014/main" id="{D768F74F-5D0A-48E8-7D82-F0C16E475646}"/>
                </a:ext>
              </a:extLst>
            </p:cNvPr>
            <p:cNvSpPr txBox="1"/>
            <p:nvPr/>
          </p:nvSpPr>
          <p:spPr>
            <a:xfrm>
              <a:off x="2827439" y="2623280"/>
              <a:ext cx="1479527" cy="855657"/>
            </a:xfrm>
            <a:prstGeom prst="rect">
              <a:avLst/>
            </a:prstGeom>
          </p:spPr>
          <p:txBody>
            <a:bodyPr vert="horz" wrap="square" lIns="0" tIns="12700" rIns="0" bIns="0" rtlCol="0">
              <a:spAutoFit/>
            </a:bodyPr>
            <a:lstStyle/>
            <a:p>
              <a:pPr marL="135890" marR="5080" lvl="0" indent="0" algn="ctr" defTabSz="1219170" rtl="0" eaLnBrk="1" fontAlgn="auto" latinLnBrk="0" hangingPunct="1">
                <a:lnSpc>
                  <a:spcPct val="100000"/>
                </a:lnSpc>
                <a:spcBef>
                  <a:spcPts val="10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Arial"/>
                  <a:ea typeface="+mn-ea"/>
                  <a:cs typeface="Arial"/>
                </a:rPr>
                <a:t>Viral-associated</a:t>
              </a:r>
              <a:r>
                <a:rPr kumimoji="0" lang="en-US" sz="1000" b="1" i="0" u="none" strike="noStrike" kern="1200" cap="none" spc="0" normalizeH="0" baseline="0" noProof="0" dirty="0">
                  <a:ln>
                    <a:noFill/>
                  </a:ln>
                  <a:solidFill>
                    <a:srgbClr val="000000"/>
                  </a:solidFill>
                  <a:effectLst/>
                  <a:uLnTx/>
                  <a:uFillTx/>
                  <a:latin typeface="Arial"/>
                  <a:ea typeface="+mn-ea"/>
                  <a:cs typeface="Arial"/>
                </a:rPr>
                <a:t> </a:t>
              </a:r>
              <a:r>
                <a:rPr kumimoji="0" sz="1000" b="1" i="0" u="none" strike="noStrike" kern="1200" cap="none" spc="0" normalizeH="0" baseline="0" noProof="0" dirty="0">
                  <a:ln>
                    <a:noFill/>
                  </a:ln>
                  <a:solidFill>
                    <a:srgbClr val="000000"/>
                  </a:solidFill>
                  <a:effectLst/>
                  <a:uLnTx/>
                  <a:uFillTx/>
                  <a:latin typeface="Arial"/>
                  <a:ea typeface="+mn-ea"/>
                  <a:cs typeface="Arial"/>
                </a:rPr>
                <a:t>exacerbations</a:t>
              </a:r>
              <a:endParaRPr kumimoji="0" sz="1000" b="0" i="0" u="none" strike="noStrike" kern="1200" cap="none" spc="0" normalizeH="0" baseline="0" noProof="0" dirty="0">
                <a:ln>
                  <a:noFill/>
                </a:ln>
                <a:solidFill>
                  <a:srgbClr val="000000"/>
                </a:solidFill>
                <a:effectLst/>
                <a:uLnTx/>
                <a:uFillTx/>
                <a:latin typeface="Arial"/>
                <a:ea typeface="+mn-ea"/>
                <a:cs typeface="Arial"/>
              </a:endParaRPr>
            </a:p>
            <a:p>
              <a:pPr marL="75565" marR="0" lvl="0" indent="0" algn="ctr" defTabSz="1219170" rtl="0" eaLnBrk="1" fontAlgn="auto" latinLnBrk="0" hangingPunct="1">
                <a:lnSpc>
                  <a:spcPct val="100000"/>
                </a:lnSpc>
                <a:spcBef>
                  <a:spcPts val="43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10%</a:t>
              </a:r>
              <a:endParaRPr kumimoji="0" sz="1100" b="0" i="0" u="none" strike="noStrike" kern="1200" cap="none" spc="0" normalizeH="0" baseline="0" noProof="0" dirty="0">
                <a:ln>
                  <a:noFill/>
                </a:ln>
                <a:solidFill>
                  <a:srgbClr val="000000"/>
                </a:solidFill>
                <a:effectLst/>
                <a:uLnTx/>
                <a:uFillTx/>
                <a:latin typeface="Arial"/>
                <a:ea typeface="+mn-ea"/>
                <a:cs typeface="Arial"/>
              </a:endParaRPr>
            </a:p>
            <a:p>
              <a:pPr marL="0" marR="929005" lvl="0" indent="0" algn="ctr" defTabSz="1219170" rtl="0" eaLnBrk="1" fontAlgn="auto" latinLnBrk="0" hangingPunct="1">
                <a:lnSpc>
                  <a:spcPct val="100000"/>
                </a:lnSpc>
                <a:spcBef>
                  <a:spcPts val="10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12%</a:t>
              </a:r>
              <a:endParaRPr kumimoji="0" sz="1000" b="0" i="0" u="none" strike="noStrike" kern="1200" cap="none" spc="0" normalizeH="0" baseline="0" noProof="0" dirty="0">
                <a:ln>
                  <a:noFill/>
                </a:ln>
                <a:solidFill>
                  <a:srgbClr val="000000"/>
                </a:solidFill>
                <a:effectLst/>
                <a:uLnTx/>
                <a:uFillTx/>
                <a:latin typeface="Arial"/>
                <a:ea typeface="+mn-ea"/>
                <a:cs typeface="Arial"/>
              </a:endParaRPr>
            </a:p>
          </p:txBody>
        </p:sp>
        <p:sp>
          <p:nvSpPr>
            <p:cNvPr id="25" name="object 8">
              <a:extLst>
                <a:ext uri="{FF2B5EF4-FFF2-40B4-BE49-F238E27FC236}">
                  <a16:creationId xmlns:a16="http://schemas.microsoft.com/office/drawing/2014/main" id="{A73F22FA-AE9A-E8F9-B5FD-1B6B7D7C735F}"/>
                </a:ext>
              </a:extLst>
            </p:cNvPr>
            <p:cNvSpPr txBox="1"/>
            <p:nvPr/>
          </p:nvSpPr>
          <p:spPr>
            <a:xfrm>
              <a:off x="3739862" y="4079015"/>
              <a:ext cx="1098938" cy="1113567"/>
            </a:xfrm>
            <a:prstGeom prst="rect">
              <a:avLst/>
            </a:prstGeom>
          </p:spPr>
          <p:txBody>
            <a:bodyPr vert="horz" wrap="square" lIns="0" tIns="12700" rIns="0" bIns="0" rtlCol="0">
              <a:spAutoFit/>
            </a:bodyPr>
            <a:lstStyle/>
            <a:p>
              <a:pPr marL="12700" marR="5080" lvl="0" indent="39370" algn="ctr" defTabSz="1219170" rtl="0" eaLnBrk="1" fontAlgn="auto" latinLnBrk="0" hangingPunct="1">
                <a:lnSpc>
                  <a:spcPct val="100000"/>
                </a:lnSpc>
                <a:spcBef>
                  <a:spcPts val="100"/>
                </a:spcBef>
                <a:spcAft>
                  <a:spcPts val="0"/>
                </a:spcAft>
                <a:buClrTx/>
                <a:buSzTx/>
                <a:buFontTx/>
                <a:buNone/>
                <a:tabLst/>
                <a:defRPr/>
              </a:pPr>
              <a:r>
                <a:rPr kumimoji="0" sz="1000" b="1" i="0" u="none" strike="noStrike" kern="1200" cap="none" spc="0" normalizeH="0" baseline="0" noProof="0" dirty="0">
                  <a:ln>
                    <a:noFill/>
                  </a:ln>
                  <a:solidFill>
                    <a:srgbClr val="000000"/>
                  </a:solidFill>
                  <a:effectLst/>
                  <a:uLnTx/>
                  <a:uFillTx/>
                  <a:latin typeface="Arial"/>
                  <a:ea typeface="+mn-ea"/>
                  <a:cs typeface="Arial"/>
                </a:rPr>
                <a:t>Sputum</a:t>
              </a:r>
              <a:r>
                <a:rPr kumimoji="0" lang="en-US" sz="1000" b="1" i="0" u="none" strike="noStrike" kern="1200" cap="none" spc="0" normalizeH="0" baseline="0" noProof="0" dirty="0">
                  <a:ln>
                    <a:noFill/>
                  </a:ln>
                  <a:solidFill>
                    <a:srgbClr val="000000"/>
                  </a:solidFill>
                  <a:effectLst/>
                  <a:uLnTx/>
                  <a:uFillTx/>
                  <a:latin typeface="Arial"/>
                  <a:ea typeface="+mn-ea"/>
                  <a:cs typeface="Arial"/>
                </a:rPr>
                <a:t> </a:t>
              </a:r>
              <a:r>
                <a:rPr kumimoji="0" sz="1000" b="1" i="0" u="none" strike="noStrike" kern="1200" cap="none" spc="0" normalizeH="0" baseline="0" noProof="0" dirty="0">
                  <a:ln>
                    <a:noFill/>
                  </a:ln>
                  <a:solidFill>
                    <a:srgbClr val="000000"/>
                  </a:solidFill>
                  <a:effectLst/>
                  <a:uLnTx/>
                  <a:uFillTx/>
                  <a:latin typeface="Arial"/>
                  <a:ea typeface="+mn-ea"/>
                  <a:cs typeface="Arial"/>
                </a:rPr>
                <a:t>eosinophilia</a:t>
              </a:r>
              <a:r>
                <a:rPr kumimoji="0" lang="en-GB" sz="1000" b="1" i="0" u="none" strike="noStrike" kern="1200" cap="none" spc="0" normalizeH="0" baseline="0" noProof="0" dirty="0">
                  <a:ln>
                    <a:noFill/>
                  </a:ln>
                  <a:solidFill>
                    <a:srgbClr val="000000"/>
                  </a:solidFill>
                  <a:effectLst/>
                  <a:uLnTx/>
                  <a:uFillTx/>
                  <a:latin typeface="Arial"/>
                  <a:ea typeface="+mn-ea"/>
                  <a:cs typeface="Arial"/>
                </a:rPr>
                <a:t>-</a:t>
              </a:r>
              <a:r>
                <a:rPr kumimoji="0" lang="en-US" sz="1000" b="1" i="0" u="none" strike="noStrike" kern="1200" cap="none" spc="0" normalizeH="0" baseline="0" noProof="0" dirty="0">
                  <a:ln>
                    <a:noFill/>
                  </a:ln>
                  <a:solidFill>
                    <a:srgbClr val="000000"/>
                  </a:solidFill>
                  <a:effectLst/>
                  <a:uLnTx/>
                  <a:uFillTx/>
                  <a:latin typeface="Arial"/>
                  <a:ea typeface="+mn-ea"/>
                  <a:cs typeface="Arial"/>
                </a:rPr>
                <a:t> </a:t>
              </a:r>
              <a:r>
                <a:rPr kumimoji="0" sz="1000" b="1" i="0" u="none" strike="noStrike" kern="1200" cap="none" spc="0" normalizeH="0" baseline="0" noProof="0" dirty="0">
                  <a:ln>
                    <a:noFill/>
                  </a:ln>
                  <a:solidFill>
                    <a:srgbClr val="000000"/>
                  </a:solidFill>
                  <a:effectLst/>
                  <a:uLnTx/>
                  <a:uFillTx/>
                  <a:latin typeface="Arial"/>
                  <a:ea typeface="+mn-ea"/>
                  <a:cs typeface="Arial"/>
                </a:rPr>
                <a:t>associated</a:t>
              </a:r>
              <a:r>
                <a:rPr kumimoji="0" lang="en-US" sz="1000" b="1" i="0" u="none" strike="noStrike" kern="1200" cap="none" spc="0" normalizeH="0" baseline="0" noProof="0" dirty="0">
                  <a:ln>
                    <a:noFill/>
                  </a:ln>
                  <a:solidFill>
                    <a:srgbClr val="000000"/>
                  </a:solidFill>
                  <a:effectLst/>
                  <a:uLnTx/>
                  <a:uFillTx/>
                  <a:latin typeface="Arial"/>
                  <a:ea typeface="+mn-ea"/>
                  <a:cs typeface="Arial"/>
                </a:rPr>
                <a:t> </a:t>
              </a:r>
              <a:r>
                <a:rPr kumimoji="0" sz="1000" b="1" i="0" u="none" strike="noStrike" kern="1200" cap="none" spc="0" normalizeH="0" baseline="0" noProof="0" dirty="0">
                  <a:ln>
                    <a:noFill/>
                  </a:ln>
                  <a:solidFill>
                    <a:srgbClr val="000000"/>
                  </a:solidFill>
                  <a:effectLst/>
                  <a:uLnTx/>
                  <a:uFillTx/>
                  <a:latin typeface="Arial"/>
                  <a:ea typeface="+mn-ea"/>
                  <a:cs typeface="Arial"/>
                </a:rPr>
                <a:t>exacerbations</a:t>
              </a:r>
              <a:endParaRPr kumimoji="0" sz="1000" b="0" i="0" u="none" strike="noStrike" kern="1200" cap="none" spc="0" normalizeH="0" baseline="0" noProof="0" dirty="0">
                <a:ln>
                  <a:noFill/>
                </a:ln>
                <a:solidFill>
                  <a:srgbClr val="000000"/>
                </a:solidFill>
                <a:effectLst/>
                <a:uLnTx/>
                <a:uFillTx/>
                <a:latin typeface="Arial"/>
                <a:ea typeface="+mn-ea"/>
                <a:cs typeface="Arial"/>
              </a:endParaRPr>
            </a:p>
            <a:p>
              <a:pPr marL="304800" marR="0" lvl="0" indent="0" algn="l" defTabSz="1219170" rtl="0" eaLnBrk="1" fontAlgn="auto" latinLnBrk="0" hangingPunct="1">
                <a:lnSpc>
                  <a:spcPct val="100000"/>
                </a:lnSpc>
                <a:spcBef>
                  <a:spcPts val="955"/>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17%</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6" name="object 17">
              <a:extLst>
                <a:ext uri="{FF2B5EF4-FFF2-40B4-BE49-F238E27FC236}">
                  <a16:creationId xmlns:a16="http://schemas.microsoft.com/office/drawing/2014/main" id="{3AD89F4F-1619-9405-FA46-42FBE1490AA7}"/>
                </a:ext>
              </a:extLst>
            </p:cNvPr>
            <p:cNvSpPr txBox="1"/>
            <p:nvPr/>
          </p:nvSpPr>
          <p:spPr>
            <a:xfrm>
              <a:off x="3041661" y="4459452"/>
              <a:ext cx="383726" cy="215431"/>
            </a:xfrm>
            <a:prstGeom prst="rect">
              <a:avLst/>
            </a:prstGeom>
          </p:spPr>
          <p:txBody>
            <a:bodyPr vert="horz" wrap="squar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6%</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7" name="object 15">
              <a:extLst>
                <a:ext uri="{FF2B5EF4-FFF2-40B4-BE49-F238E27FC236}">
                  <a16:creationId xmlns:a16="http://schemas.microsoft.com/office/drawing/2014/main" id="{36BE55B7-96AA-AE21-116A-4A085C53362E}"/>
                </a:ext>
              </a:extLst>
            </p:cNvPr>
            <p:cNvSpPr txBox="1"/>
            <p:nvPr/>
          </p:nvSpPr>
          <p:spPr>
            <a:xfrm>
              <a:off x="3705674" y="3550935"/>
              <a:ext cx="383726" cy="215431"/>
            </a:xfrm>
            <a:prstGeom prst="rect">
              <a:avLst/>
            </a:prstGeom>
          </p:spPr>
          <p:txBody>
            <a:bodyPr vert="horz" wrap="squar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3%</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29" name="object 18">
              <a:extLst>
                <a:ext uri="{FF2B5EF4-FFF2-40B4-BE49-F238E27FC236}">
                  <a16:creationId xmlns:a16="http://schemas.microsoft.com/office/drawing/2014/main" id="{399A6A38-5C69-01FA-C863-4ABC7C5596F7}"/>
                </a:ext>
              </a:extLst>
            </p:cNvPr>
            <p:cNvSpPr txBox="1"/>
            <p:nvPr/>
          </p:nvSpPr>
          <p:spPr>
            <a:xfrm>
              <a:off x="3191287" y="3693647"/>
              <a:ext cx="383726" cy="215431"/>
            </a:xfrm>
            <a:prstGeom prst="rect">
              <a:avLst/>
            </a:prstGeom>
          </p:spPr>
          <p:txBody>
            <a:bodyPr vert="horz" wrap="squar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1%</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grpSp>
    </p:spTree>
    <p:custDataLst>
      <p:tags r:id="rId1"/>
    </p:custDataLst>
    <p:extLst>
      <p:ext uri="{BB962C8B-B14F-4D97-AF65-F5344CB8AC3E}">
        <p14:creationId xmlns:p14="http://schemas.microsoft.com/office/powerpoint/2010/main" val="2574392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6" name="object 3">
            <a:extLst>
              <a:ext uri="{FF2B5EF4-FFF2-40B4-BE49-F238E27FC236}">
                <a16:creationId xmlns:a16="http://schemas.microsoft.com/office/drawing/2014/main" id="{5E8FCCE2-5905-17E6-B12D-386C0AF5CE89}"/>
              </a:ext>
            </a:extLst>
          </p:cNvPr>
          <p:cNvSpPr/>
          <p:nvPr/>
        </p:nvSpPr>
        <p:spPr>
          <a:xfrm rot="16200000" flipV="1">
            <a:off x="3718886" y="2519774"/>
            <a:ext cx="317369" cy="4382599"/>
          </a:xfrm>
          <a:custGeom>
            <a:avLst/>
            <a:gdLst/>
            <a:ahLst/>
            <a:cxnLst/>
            <a:rect l="l" t="t" r="r" b="b"/>
            <a:pathLst>
              <a:path w="550544" h="1440179">
                <a:moveTo>
                  <a:pt x="550163" y="0"/>
                </a:moveTo>
                <a:lnTo>
                  <a:pt x="0" y="0"/>
                </a:lnTo>
                <a:lnTo>
                  <a:pt x="0" y="1440180"/>
                </a:lnTo>
                <a:lnTo>
                  <a:pt x="550163" y="1440180"/>
                </a:lnTo>
                <a:lnTo>
                  <a:pt x="550163" y="0"/>
                </a:lnTo>
                <a:close/>
              </a:path>
            </a:pathLst>
          </a:custGeom>
          <a:solidFill>
            <a:schemeClr val="accent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7" name="object 4">
            <a:extLst>
              <a:ext uri="{FF2B5EF4-FFF2-40B4-BE49-F238E27FC236}">
                <a16:creationId xmlns:a16="http://schemas.microsoft.com/office/drawing/2014/main" id="{204BF4C7-D44A-D445-3C04-6B285FDF451B}"/>
              </a:ext>
            </a:extLst>
          </p:cNvPr>
          <p:cNvSpPr/>
          <p:nvPr/>
        </p:nvSpPr>
        <p:spPr>
          <a:xfrm rot="16200000" flipV="1">
            <a:off x="3963737" y="1955882"/>
            <a:ext cx="318101" cy="4875352"/>
          </a:xfrm>
          <a:custGeom>
            <a:avLst/>
            <a:gdLst/>
            <a:ahLst/>
            <a:cxnLst/>
            <a:rect l="l" t="t" r="r" b="b"/>
            <a:pathLst>
              <a:path w="551814" h="1602104">
                <a:moveTo>
                  <a:pt x="551688" y="0"/>
                </a:moveTo>
                <a:lnTo>
                  <a:pt x="0" y="0"/>
                </a:lnTo>
                <a:lnTo>
                  <a:pt x="0" y="1601724"/>
                </a:lnTo>
                <a:lnTo>
                  <a:pt x="551688" y="1601724"/>
                </a:lnTo>
                <a:lnTo>
                  <a:pt x="551688" y="0"/>
                </a:lnTo>
                <a:close/>
              </a:path>
            </a:pathLst>
          </a:custGeom>
          <a:solidFill>
            <a:schemeClr val="accent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8" name="object 5">
            <a:extLst>
              <a:ext uri="{FF2B5EF4-FFF2-40B4-BE49-F238E27FC236}">
                <a16:creationId xmlns:a16="http://schemas.microsoft.com/office/drawing/2014/main" id="{C448C9CB-6D78-17DD-F486-986BA46EB845}"/>
              </a:ext>
            </a:extLst>
          </p:cNvPr>
          <p:cNvSpPr/>
          <p:nvPr/>
        </p:nvSpPr>
        <p:spPr>
          <a:xfrm rot="16200000" flipV="1">
            <a:off x="4045259" y="1398926"/>
            <a:ext cx="317369" cy="5037670"/>
          </a:xfrm>
          <a:custGeom>
            <a:avLst/>
            <a:gdLst/>
            <a:ahLst/>
            <a:cxnLst/>
            <a:rect l="l" t="t" r="r" b="b"/>
            <a:pathLst>
              <a:path w="550545" h="1655445">
                <a:moveTo>
                  <a:pt x="550164" y="0"/>
                </a:moveTo>
                <a:lnTo>
                  <a:pt x="0" y="0"/>
                </a:lnTo>
                <a:lnTo>
                  <a:pt x="0" y="1655064"/>
                </a:lnTo>
                <a:lnTo>
                  <a:pt x="550164" y="1655064"/>
                </a:lnTo>
                <a:lnTo>
                  <a:pt x="550164" y="0"/>
                </a:lnTo>
                <a:close/>
              </a:path>
            </a:pathLst>
          </a:custGeom>
          <a:solidFill>
            <a:schemeClr val="accent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79" name="object 6">
            <a:extLst>
              <a:ext uri="{FF2B5EF4-FFF2-40B4-BE49-F238E27FC236}">
                <a16:creationId xmlns:a16="http://schemas.microsoft.com/office/drawing/2014/main" id="{48D716BE-C57A-5936-3E2D-6C55517A063C}"/>
              </a:ext>
            </a:extLst>
          </p:cNvPr>
          <p:cNvSpPr/>
          <p:nvPr/>
        </p:nvSpPr>
        <p:spPr>
          <a:xfrm rot="16200000" flipV="1">
            <a:off x="4840816" y="286610"/>
            <a:ext cx="317369" cy="6628005"/>
          </a:xfrm>
          <a:custGeom>
            <a:avLst/>
            <a:gdLst/>
            <a:ahLst/>
            <a:cxnLst/>
            <a:rect l="l" t="t" r="r" b="b"/>
            <a:pathLst>
              <a:path w="550545" h="2178050">
                <a:moveTo>
                  <a:pt x="550163" y="0"/>
                </a:moveTo>
                <a:lnTo>
                  <a:pt x="0" y="0"/>
                </a:lnTo>
                <a:lnTo>
                  <a:pt x="0" y="2177796"/>
                </a:lnTo>
                <a:lnTo>
                  <a:pt x="550163" y="2177796"/>
                </a:lnTo>
                <a:lnTo>
                  <a:pt x="550163" y="0"/>
                </a:lnTo>
                <a:close/>
              </a:path>
            </a:pathLst>
          </a:custGeom>
          <a:solidFill>
            <a:schemeClr val="accent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89</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4A1E4C7E-02F6-495A-A92E-B9AFCF5FFCFC}"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GSK created from: Pascoe S, et al.</a:t>
            </a:r>
          </a:p>
          <a:p>
            <a:r>
              <a:rPr lang="en-US" dirty="0"/>
              <a:t>ICS, inhaled corticosteroid; LABA, long-acting β2 agonist</a:t>
            </a:r>
          </a:p>
          <a:p>
            <a:r>
              <a:rPr lang="en-US" dirty="0"/>
              <a:t>Pascoe S, et al. </a:t>
            </a:r>
            <a:r>
              <a:rPr lang="en-US" i="1" dirty="0"/>
              <a:t>Lancet Respir Med</a:t>
            </a:r>
            <a:r>
              <a:rPr lang="en-US" dirty="0"/>
              <a:t>. 2015;3(6):435-442.</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sz="2700" dirty="0"/>
              <a:t>Blood eosinophils as a biomarker of exacerbations and ICS effect in COPD: Post hoc analysis of 2 parallel, </a:t>
            </a:r>
            <a:r>
              <a:rPr lang="en-US" sz="2700" dirty="0" err="1"/>
              <a:t>randomised</a:t>
            </a:r>
            <a:r>
              <a:rPr lang="en-US" sz="2700" dirty="0"/>
              <a:t> controlled trials</a:t>
            </a:r>
            <a:endParaRPr lang="en-GB" sz="2700" dirty="0"/>
          </a:p>
        </p:txBody>
      </p:sp>
      <p:sp>
        <p:nvSpPr>
          <p:cNvPr id="80" name="object 7">
            <a:extLst>
              <a:ext uri="{FF2B5EF4-FFF2-40B4-BE49-F238E27FC236}">
                <a16:creationId xmlns:a16="http://schemas.microsoft.com/office/drawing/2014/main" id="{70181B1C-CFEC-BD4B-6D44-75CEE580CE3F}"/>
              </a:ext>
            </a:extLst>
          </p:cNvPr>
          <p:cNvSpPr/>
          <p:nvPr/>
        </p:nvSpPr>
        <p:spPr>
          <a:xfrm rot="16200000" flipV="1">
            <a:off x="3855311" y="795952"/>
            <a:ext cx="317369" cy="4656995"/>
          </a:xfrm>
          <a:custGeom>
            <a:avLst/>
            <a:gdLst/>
            <a:ahLst/>
            <a:cxnLst/>
            <a:rect l="l" t="t" r="r" b="b"/>
            <a:pathLst>
              <a:path w="550545" h="1530350">
                <a:moveTo>
                  <a:pt x="550164" y="0"/>
                </a:moveTo>
                <a:lnTo>
                  <a:pt x="0" y="0"/>
                </a:lnTo>
                <a:lnTo>
                  <a:pt x="0" y="1530096"/>
                </a:lnTo>
                <a:lnTo>
                  <a:pt x="550164" y="1530096"/>
                </a:lnTo>
                <a:lnTo>
                  <a:pt x="550164" y="0"/>
                </a:lnTo>
                <a:close/>
              </a:path>
            </a:pathLst>
          </a:custGeom>
          <a:solidFill>
            <a:schemeClr val="accent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1" name="object 8">
            <a:extLst>
              <a:ext uri="{FF2B5EF4-FFF2-40B4-BE49-F238E27FC236}">
                <a16:creationId xmlns:a16="http://schemas.microsoft.com/office/drawing/2014/main" id="{EA23501C-92B9-065D-4279-AA4AE81DACDF}"/>
              </a:ext>
            </a:extLst>
          </p:cNvPr>
          <p:cNvSpPr/>
          <p:nvPr/>
        </p:nvSpPr>
        <p:spPr>
          <a:xfrm rot="16200000" flipV="1">
            <a:off x="4949608" y="-615880"/>
            <a:ext cx="317369" cy="6846362"/>
          </a:xfrm>
          <a:custGeom>
            <a:avLst/>
            <a:gdLst/>
            <a:ahLst/>
            <a:cxnLst/>
            <a:rect l="l" t="t" r="r" b="b"/>
            <a:pathLst>
              <a:path w="550545" h="2249804">
                <a:moveTo>
                  <a:pt x="550163" y="0"/>
                </a:moveTo>
                <a:lnTo>
                  <a:pt x="0" y="0"/>
                </a:lnTo>
                <a:lnTo>
                  <a:pt x="0" y="2249424"/>
                </a:lnTo>
                <a:lnTo>
                  <a:pt x="550163" y="2249424"/>
                </a:lnTo>
                <a:lnTo>
                  <a:pt x="550163" y="0"/>
                </a:lnTo>
                <a:close/>
              </a:path>
            </a:pathLst>
          </a:custGeom>
          <a:solidFill>
            <a:schemeClr val="accent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2" name="object 9">
            <a:extLst>
              <a:ext uri="{FF2B5EF4-FFF2-40B4-BE49-F238E27FC236}">
                <a16:creationId xmlns:a16="http://schemas.microsoft.com/office/drawing/2014/main" id="{12C22DD9-76D4-2973-85D5-FA460D34EDB6}"/>
              </a:ext>
            </a:extLst>
          </p:cNvPr>
          <p:cNvSpPr/>
          <p:nvPr/>
        </p:nvSpPr>
        <p:spPr>
          <a:xfrm rot="16200000" flipV="1">
            <a:off x="4129123" y="-270789"/>
            <a:ext cx="317369" cy="5203854"/>
          </a:xfrm>
          <a:custGeom>
            <a:avLst/>
            <a:gdLst/>
            <a:ahLst/>
            <a:cxnLst/>
            <a:rect l="l" t="t" r="r" b="b"/>
            <a:pathLst>
              <a:path w="550545" h="1710054">
                <a:moveTo>
                  <a:pt x="550163" y="0"/>
                </a:moveTo>
                <a:lnTo>
                  <a:pt x="0" y="0"/>
                </a:lnTo>
                <a:lnTo>
                  <a:pt x="0" y="1709927"/>
                </a:lnTo>
                <a:lnTo>
                  <a:pt x="550163" y="1709927"/>
                </a:lnTo>
                <a:lnTo>
                  <a:pt x="550163" y="0"/>
                </a:lnTo>
                <a:close/>
              </a:path>
            </a:pathLst>
          </a:custGeom>
          <a:solidFill>
            <a:schemeClr val="accent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83" name="object 10">
            <a:extLst>
              <a:ext uri="{FF2B5EF4-FFF2-40B4-BE49-F238E27FC236}">
                <a16:creationId xmlns:a16="http://schemas.microsoft.com/office/drawing/2014/main" id="{2C813F45-FD02-79C6-8511-E2E55E8D3786}"/>
              </a:ext>
            </a:extLst>
          </p:cNvPr>
          <p:cNvSpPr/>
          <p:nvPr/>
        </p:nvSpPr>
        <p:spPr>
          <a:xfrm rot="16200000" flipV="1">
            <a:off x="5961007" y="-2419819"/>
            <a:ext cx="317369" cy="8867614"/>
          </a:xfrm>
          <a:custGeom>
            <a:avLst/>
            <a:gdLst/>
            <a:ahLst/>
            <a:cxnLst/>
            <a:rect l="l" t="t" r="r" b="b"/>
            <a:pathLst>
              <a:path w="550545" h="2914015">
                <a:moveTo>
                  <a:pt x="550164" y="0"/>
                </a:moveTo>
                <a:lnTo>
                  <a:pt x="0" y="0"/>
                </a:lnTo>
                <a:lnTo>
                  <a:pt x="0" y="2913888"/>
                </a:lnTo>
                <a:lnTo>
                  <a:pt x="550164" y="2913888"/>
                </a:lnTo>
                <a:lnTo>
                  <a:pt x="550164" y="0"/>
                </a:lnTo>
                <a:close/>
              </a:path>
            </a:pathLst>
          </a:custGeom>
          <a:solidFill>
            <a:schemeClr val="accent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3" name="object 21">
            <a:extLst>
              <a:ext uri="{FF2B5EF4-FFF2-40B4-BE49-F238E27FC236}">
                <a16:creationId xmlns:a16="http://schemas.microsoft.com/office/drawing/2014/main" id="{7F835ED3-7931-0777-BB0B-305B6D365D8B}"/>
              </a:ext>
            </a:extLst>
          </p:cNvPr>
          <p:cNvSpPr txBox="1"/>
          <p:nvPr/>
        </p:nvSpPr>
        <p:spPr>
          <a:xfrm rot="16200000">
            <a:off x="-373053" y="3256868"/>
            <a:ext cx="2350936" cy="182101"/>
          </a:xfrm>
          <a:prstGeom prst="rect">
            <a:avLst/>
          </a:prstGeom>
        </p:spPr>
        <p:txBody>
          <a:bodyPr vert="horz" wrap="square" lIns="0" tIns="1270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Blood eosinophil count group</a:t>
            </a:r>
            <a:endParaRPr kumimoji="0" sz="1100" b="1"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5" name="Group 14">
            <a:extLst>
              <a:ext uri="{FF2B5EF4-FFF2-40B4-BE49-F238E27FC236}">
                <a16:creationId xmlns:a16="http://schemas.microsoft.com/office/drawing/2014/main" id="{87F0F7A0-EDDA-CA6F-DC88-7E302EA7A61F}"/>
              </a:ext>
            </a:extLst>
          </p:cNvPr>
          <p:cNvGrpSpPr/>
          <p:nvPr/>
        </p:nvGrpSpPr>
        <p:grpSpPr>
          <a:xfrm>
            <a:off x="1851670" y="1941520"/>
            <a:ext cx="496325" cy="2856799"/>
            <a:chOff x="1545206" y="1293068"/>
            <a:chExt cx="422615" cy="3142479"/>
          </a:xfrm>
        </p:grpSpPr>
        <p:sp>
          <p:nvSpPr>
            <p:cNvPr id="68" name="object 21">
              <a:extLst>
                <a:ext uri="{FF2B5EF4-FFF2-40B4-BE49-F238E27FC236}">
                  <a16:creationId xmlns:a16="http://schemas.microsoft.com/office/drawing/2014/main" id="{69E9FD3A-8709-3314-9FE4-4A378D11677C}"/>
                </a:ext>
              </a:extLst>
            </p:cNvPr>
            <p:cNvSpPr txBox="1"/>
            <p:nvPr/>
          </p:nvSpPr>
          <p:spPr>
            <a:xfrm>
              <a:off x="1554245" y="4249342"/>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799</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69" name="object 21">
              <a:extLst>
                <a:ext uri="{FF2B5EF4-FFF2-40B4-BE49-F238E27FC236}">
                  <a16:creationId xmlns:a16="http://schemas.microsoft.com/office/drawing/2014/main" id="{11A39674-9D4E-0905-3749-29B139291B0A}"/>
                </a:ext>
              </a:extLst>
            </p:cNvPr>
            <p:cNvSpPr txBox="1"/>
            <p:nvPr/>
          </p:nvSpPr>
          <p:spPr>
            <a:xfrm>
              <a:off x="1554245" y="3904828"/>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299</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0" name="object 21">
              <a:extLst>
                <a:ext uri="{FF2B5EF4-FFF2-40B4-BE49-F238E27FC236}">
                  <a16:creationId xmlns:a16="http://schemas.microsoft.com/office/drawing/2014/main" id="{FE398885-09E7-E906-4230-1D825C763AA0}"/>
                </a:ext>
              </a:extLst>
            </p:cNvPr>
            <p:cNvSpPr txBox="1"/>
            <p:nvPr/>
          </p:nvSpPr>
          <p:spPr>
            <a:xfrm>
              <a:off x="1554245" y="3351013"/>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907</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1" name="object 21">
              <a:extLst>
                <a:ext uri="{FF2B5EF4-FFF2-40B4-BE49-F238E27FC236}">
                  <a16:creationId xmlns:a16="http://schemas.microsoft.com/office/drawing/2014/main" id="{B4A5439F-CB80-C185-DE6F-6D2B740237C7}"/>
                </a:ext>
              </a:extLst>
            </p:cNvPr>
            <p:cNvSpPr txBox="1"/>
            <p:nvPr/>
          </p:nvSpPr>
          <p:spPr>
            <a:xfrm>
              <a:off x="1554245" y="3034732"/>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302</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2" name="object 21">
              <a:extLst>
                <a:ext uri="{FF2B5EF4-FFF2-40B4-BE49-F238E27FC236}">
                  <a16:creationId xmlns:a16="http://schemas.microsoft.com/office/drawing/2014/main" id="{7B52091E-3663-6225-63D3-C78CE792A35F}"/>
                </a:ext>
              </a:extLst>
            </p:cNvPr>
            <p:cNvSpPr txBox="1"/>
            <p:nvPr/>
          </p:nvSpPr>
          <p:spPr>
            <a:xfrm>
              <a:off x="1554245" y="2492343"/>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395</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3" name="object 21">
              <a:extLst>
                <a:ext uri="{FF2B5EF4-FFF2-40B4-BE49-F238E27FC236}">
                  <a16:creationId xmlns:a16="http://schemas.microsoft.com/office/drawing/2014/main" id="{28DEEBCD-D987-E4E2-731B-14D06DA42F8F}"/>
                </a:ext>
              </a:extLst>
            </p:cNvPr>
            <p:cNvSpPr txBox="1"/>
            <p:nvPr/>
          </p:nvSpPr>
          <p:spPr>
            <a:xfrm>
              <a:off x="1548538" y="2151226"/>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113</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4" name="object 21">
              <a:extLst>
                <a:ext uri="{FF2B5EF4-FFF2-40B4-BE49-F238E27FC236}">
                  <a16:creationId xmlns:a16="http://schemas.microsoft.com/office/drawing/2014/main" id="{4B405EF8-30B3-E70D-48D5-4893C5CDFE5D}"/>
                </a:ext>
              </a:extLst>
            </p:cNvPr>
            <p:cNvSpPr txBox="1"/>
            <p:nvPr/>
          </p:nvSpPr>
          <p:spPr>
            <a:xfrm>
              <a:off x="1554245" y="1627525"/>
              <a:ext cx="413576"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281</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sp>
          <p:nvSpPr>
            <p:cNvPr id="75" name="object 21">
              <a:extLst>
                <a:ext uri="{FF2B5EF4-FFF2-40B4-BE49-F238E27FC236}">
                  <a16:creationId xmlns:a16="http://schemas.microsoft.com/office/drawing/2014/main" id="{41825426-D52C-5C1F-A4EA-A2733EFD417F}"/>
                </a:ext>
              </a:extLst>
            </p:cNvPr>
            <p:cNvSpPr txBox="1"/>
            <p:nvPr/>
          </p:nvSpPr>
          <p:spPr>
            <a:xfrm>
              <a:off x="1545206" y="1293068"/>
              <a:ext cx="346695" cy="186205"/>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prstClr val="white"/>
                  </a:solidFill>
                  <a:effectLst/>
                  <a:uLnTx/>
                  <a:uFillTx/>
                  <a:latin typeface="Arial"/>
                  <a:ea typeface="+mn-ea"/>
                  <a:cs typeface="Arial"/>
                </a:rPr>
                <a:t>n = 85</a:t>
              </a:r>
              <a:endParaRPr kumimoji="0" sz="1100" b="0" i="0" u="none" strike="noStrike" kern="1200" cap="none" spc="0" normalizeH="0" baseline="0" noProof="0" dirty="0">
                <a:ln>
                  <a:noFill/>
                </a:ln>
                <a:solidFill>
                  <a:prstClr val="white"/>
                </a:solidFill>
                <a:effectLst/>
                <a:uLnTx/>
                <a:uFillTx/>
                <a:latin typeface="Arial"/>
                <a:ea typeface="+mn-ea"/>
                <a:cs typeface="Arial"/>
              </a:endParaRPr>
            </a:p>
          </p:txBody>
        </p:sp>
      </p:grpSp>
      <p:sp>
        <p:nvSpPr>
          <p:cNvPr id="43" name="object 11">
            <a:extLst>
              <a:ext uri="{FF2B5EF4-FFF2-40B4-BE49-F238E27FC236}">
                <a16:creationId xmlns:a16="http://schemas.microsoft.com/office/drawing/2014/main" id="{38A1C08B-E090-480A-086D-E0DA5B3A2909}"/>
              </a:ext>
            </a:extLst>
          </p:cNvPr>
          <p:cNvSpPr/>
          <p:nvPr/>
        </p:nvSpPr>
        <p:spPr>
          <a:xfrm rot="16200000" flipV="1">
            <a:off x="4786273" y="-1510562"/>
            <a:ext cx="3219107" cy="9739110"/>
          </a:xfrm>
          <a:custGeom>
            <a:avLst/>
            <a:gdLst/>
            <a:ahLst/>
            <a:cxnLst/>
            <a:rect l="l" t="t" r="r" b="b"/>
            <a:pathLst>
              <a:path w="5550534" h="3200400">
                <a:moveTo>
                  <a:pt x="45720" y="3147060"/>
                </a:moveTo>
                <a:lnTo>
                  <a:pt x="45720" y="0"/>
                </a:lnTo>
              </a:path>
              <a:path w="5550534" h="3200400">
                <a:moveTo>
                  <a:pt x="0" y="3147060"/>
                </a:moveTo>
                <a:lnTo>
                  <a:pt x="45720" y="3147060"/>
                </a:lnTo>
              </a:path>
              <a:path w="5550534" h="3200400">
                <a:moveTo>
                  <a:pt x="0" y="2967228"/>
                </a:moveTo>
                <a:lnTo>
                  <a:pt x="45720" y="2967228"/>
                </a:lnTo>
              </a:path>
              <a:path w="5550534" h="3200400">
                <a:moveTo>
                  <a:pt x="0" y="2787396"/>
                </a:moveTo>
                <a:lnTo>
                  <a:pt x="45720" y="2787396"/>
                </a:lnTo>
              </a:path>
              <a:path w="5550534" h="3200400">
                <a:moveTo>
                  <a:pt x="0" y="2607564"/>
                </a:moveTo>
                <a:lnTo>
                  <a:pt x="45720" y="2607564"/>
                </a:lnTo>
              </a:path>
              <a:path w="5550534" h="3200400">
                <a:moveTo>
                  <a:pt x="0" y="2427732"/>
                </a:moveTo>
                <a:lnTo>
                  <a:pt x="45720" y="2427732"/>
                </a:lnTo>
              </a:path>
              <a:path w="5550534" h="3200400">
                <a:moveTo>
                  <a:pt x="0" y="2247900"/>
                </a:moveTo>
                <a:lnTo>
                  <a:pt x="45720" y="2247900"/>
                </a:lnTo>
              </a:path>
              <a:path w="5550534" h="3200400">
                <a:moveTo>
                  <a:pt x="0" y="2068068"/>
                </a:moveTo>
                <a:lnTo>
                  <a:pt x="45720" y="2068068"/>
                </a:lnTo>
              </a:path>
              <a:path w="5550534" h="3200400">
                <a:moveTo>
                  <a:pt x="0" y="1888236"/>
                </a:moveTo>
                <a:lnTo>
                  <a:pt x="45720" y="1888236"/>
                </a:lnTo>
              </a:path>
              <a:path w="5550534" h="3200400">
                <a:moveTo>
                  <a:pt x="0" y="1708404"/>
                </a:moveTo>
                <a:lnTo>
                  <a:pt x="45720" y="1708404"/>
                </a:lnTo>
              </a:path>
              <a:path w="5550534" h="3200400">
                <a:moveTo>
                  <a:pt x="0" y="1528572"/>
                </a:moveTo>
                <a:lnTo>
                  <a:pt x="45720" y="1528572"/>
                </a:lnTo>
              </a:path>
              <a:path w="5550534" h="3200400">
                <a:moveTo>
                  <a:pt x="0" y="1348739"/>
                </a:moveTo>
                <a:lnTo>
                  <a:pt x="45720" y="1348739"/>
                </a:lnTo>
              </a:path>
              <a:path w="5550534" h="3200400">
                <a:moveTo>
                  <a:pt x="0" y="1168908"/>
                </a:moveTo>
                <a:lnTo>
                  <a:pt x="45720" y="1168908"/>
                </a:lnTo>
              </a:path>
              <a:path w="5550534" h="3200400">
                <a:moveTo>
                  <a:pt x="0" y="989076"/>
                </a:moveTo>
                <a:lnTo>
                  <a:pt x="45720" y="989076"/>
                </a:lnTo>
              </a:path>
              <a:path w="5550534" h="3200400">
                <a:moveTo>
                  <a:pt x="0" y="809244"/>
                </a:moveTo>
                <a:lnTo>
                  <a:pt x="45720" y="809244"/>
                </a:lnTo>
              </a:path>
              <a:path w="5550534" h="3200400">
                <a:moveTo>
                  <a:pt x="0" y="629412"/>
                </a:moveTo>
                <a:lnTo>
                  <a:pt x="45720" y="629412"/>
                </a:lnTo>
              </a:path>
              <a:path w="5550534" h="3200400">
                <a:moveTo>
                  <a:pt x="0" y="449580"/>
                </a:moveTo>
                <a:lnTo>
                  <a:pt x="45720" y="449580"/>
                </a:lnTo>
              </a:path>
              <a:path w="5550534" h="3200400">
                <a:moveTo>
                  <a:pt x="0" y="269748"/>
                </a:moveTo>
                <a:lnTo>
                  <a:pt x="45720" y="269748"/>
                </a:lnTo>
              </a:path>
              <a:path w="5550534" h="3200400">
                <a:moveTo>
                  <a:pt x="0" y="89915"/>
                </a:moveTo>
                <a:lnTo>
                  <a:pt x="45720" y="89915"/>
                </a:lnTo>
              </a:path>
              <a:path w="5550534" h="3200400">
                <a:moveTo>
                  <a:pt x="45720" y="3147060"/>
                </a:moveTo>
                <a:lnTo>
                  <a:pt x="5550408" y="3147060"/>
                </a:lnTo>
              </a:path>
              <a:path w="5550534" h="3200400">
                <a:moveTo>
                  <a:pt x="45720" y="3147060"/>
                </a:moveTo>
                <a:lnTo>
                  <a:pt x="45720" y="3200400"/>
                </a:lnTo>
              </a:path>
              <a:path w="5550534" h="3200400">
                <a:moveTo>
                  <a:pt x="1421892" y="3147060"/>
                </a:moveTo>
                <a:lnTo>
                  <a:pt x="1421892" y="3200400"/>
                </a:lnTo>
              </a:path>
              <a:path w="5550534" h="3200400">
                <a:moveTo>
                  <a:pt x="2798064" y="3147060"/>
                </a:moveTo>
                <a:lnTo>
                  <a:pt x="2798064" y="3200400"/>
                </a:lnTo>
              </a:path>
              <a:path w="5550534" h="3200400">
                <a:moveTo>
                  <a:pt x="4174235" y="3147060"/>
                </a:moveTo>
                <a:lnTo>
                  <a:pt x="4174235" y="3200400"/>
                </a:lnTo>
              </a:path>
              <a:path w="5550534" h="3200400">
                <a:moveTo>
                  <a:pt x="5550408" y="3147060"/>
                </a:moveTo>
                <a:lnTo>
                  <a:pt x="5550408" y="3200400"/>
                </a:lnTo>
              </a:path>
            </a:pathLst>
          </a:custGeom>
          <a:ln w="12700">
            <a:solidFill>
              <a:srgbClr val="534F40"/>
            </a:solid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1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44" name="Group 43">
            <a:extLst>
              <a:ext uri="{FF2B5EF4-FFF2-40B4-BE49-F238E27FC236}">
                <a16:creationId xmlns:a16="http://schemas.microsoft.com/office/drawing/2014/main" id="{135DB78C-D3D3-A6D5-B9E2-DC0A30132052}"/>
              </a:ext>
            </a:extLst>
          </p:cNvPr>
          <p:cNvGrpSpPr/>
          <p:nvPr/>
        </p:nvGrpSpPr>
        <p:grpSpPr>
          <a:xfrm>
            <a:off x="981225" y="2090355"/>
            <a:ext cx="609141" cy="2549383"/>
            <a:chOff x="804031" y="1456787"/>
            <a:chExt cx="518676" cy="2804321"/>
          </a:xfrm>
        </p:grpSpPr>
        <p:sp>
          <p:nvSpPr>
            <p:cNvPr id="64" name="object 21">
              <a:extLst>
                <a:ext uri="{FF2B5EF4-FFF2-40B4-BE49-F238E27FC236}">
                  <a16:creationId xmlns:a16="http://schemas.microsoft.com/office/drawing/2014/main" id="{C8B4B229-DC54-D64C-3C4A-0D26B3778351}"/>
                </a:ext>
              </a:extLst>
            </p:cNvPr>
            <p:cNvSpPr txBox="1"/>
            <p:nvPr/>
          </p:nvSpPr>
          <p:spPr>
            <a:xfrm>
              <a:off x="1036070" y="4074903"/>
              <a:ext cx="286637" cy="186205"/>
            </a:xfrm>
            <a:prstGeom prst="rect">
              <a:avLst/>
            </a:prstGeom>
          </p:spPr>
          <p:txBody>
            <a:bodyPr vert="horz" wrap="none" lIns="0" tIns="0" rIns="0" bIns="0" rtlCol="0" anchor="ctr" anchorCtr="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&lt; 2%</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5" name="object 21">
              <a:extLst>
                <a:ext uri="{FF2B5EF4-FFF2-40B4-BE49-F238E27FC236}">
                  <a16:creationId xmlns:a16="http://schemas.microsoft.com/office/drawing/2014/main" id="{9B40AD0A-C3FC-71FE-B7D8-AFC6523C2D82}"/>
                </a:ext>
              </a:extLst>
            </p:cNvPr>
            <p:cNvSpPr txBox="1"/>
            <p:nvPr/>
          </p:nvSpPr>
          <p:spPr>
            <a:xfrm>
              <a:off x="804031" y="3202196"/>
              <a:ext cx="518676" cy="186205"/>
            </a:xfrm>
            <a:prstGeom prst="rect">
              <a:avLst/>
            </a:prstGeom>
          </p:spPr>
          <p:txBody>
            <a:bodyPr vert="horz" wrap="none" lIns="0" tIns="0" rIns="0" bIns="0" rtlCol="0" anchor="ctr" anchorCtr="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2 to &lt; 4%</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6" name="object 21">
              <a:extLst>
                <a:ext uri="{FF2B5EF4-FFF2-40B4-BE49-F238E27FC236}">
                  <a16:creationId xmlns:a16="http://schemas.microsoft.com/office/drawing/2014/main" id="{BDFDF9F0-CBCF-3637-A604-0F1834B0EF50}"/>
                </a:ext>
              </a:extLst>
            </p:cNvPr>
            <p:cNvSpPr txBox="1"/>
            <p:nvPr/>
          </p:nvSpPr>
          <p:spPr>
            <a:xfrm>
              <a:off x="804031" y="2329491"/>
              <a:ext cx="518676" cy="186205"/>
            </a:xfrm>
            <a:prstGeom prst="rect">
              <a:avLst/>
            </a:prstGeom>
          </p:spPr>
          <p:txBody>
            <a:bodyPr vert="horz" wrap="none" lIns="0" tIns="0" rIns="0" bIns="0" rtlCol="0" anchor="ctr" anchorCtr="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4 to &lt; 6%</a:t>
              </a:r>
            </a:p>
          </p:txBody>
        </p:sp>
        <p:sp>
          <p:nvSpPr>
            <p:cNvPr id="67" name="object 21">
              <a:extLst>
                <a:ext uri="{FF2B5EF4-FFF2-40B4-BE49-F238E27FC236}">
                  <a16:creationId xmlns:a16="http://schemas.microsoft.com/office/drawing/2014/main" id="{5CC9F6D5-F285-E720-EA29-00F764DCD439}"/>
                </a:ext>
              </a:extLst>
            </p:cNvPr>
            <p:cNvSpPr txBox="1"/>
            <p:nvPr/>
          </p:nvSpPr>
          <p:spPr>
            <a:xfrm>
              <a:off x="1040165" y="1456787"/>
              <a:ext cx="282542" cy="186205"/>
            </a:xfrm>
            <a:prstGeom prst="rect">
              <a:avLst/>
            </a:prstGeom>
          </p:spPr>
          <p:txBody>
            <a:bodyPr vert="horz" wrap="none" lIns="0" tIns="0" rIns="0" bIns="0" rtlCol="0" anchor="ctr" anchorCtr="0">
              <a:spAutoFit/>
            </a:bodyPr>
            <a:lstStyle/>
            <a:p>
              <a:pPr marL="12700" marR="0" lvl="0" indent="0" algn="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 6%</a:t>
              </a:r>
            </a:p>
          </p:txBody>
        </p:sp>
      </p:grpSp>
      <p:grpSp>
        <p:nvGrpSpPr>
          <p:cNvPr id="45" name="Group 44">
            <a:extLst>
              <a:ext uri="{FF2B5EF4-FFF2-40B4-BE49-F238E27FC236}">
                <a16:creationId xmlns:a16="http://schemas.microsoft.com/office/drawing/2014/main" id="{26C29F66-A711-C352-8641-4D62970B2D9C}"/>
              </a:ext>
            </a:extLst>
          </p:cNvPr>
          <p:cNvGrpSpPr/>
          <p:nvPr/>
        </p:nvGrpSpPr>
        <p:grpSpPr>
          <a:xfrm>
            <a:off x="1643119" y="5003670"/>
            <a:ext cx="9455016" cy="169277"/>
            <a:chOff x="1367626" y="4661436"/>
            <a:chExt cx="8050837" cy="186205"/>
          </a:xfrm>
        </p:grpSpPr>
        <p:sp>
          <p:nvSpPr>
            <p:cNvPr id="46" name="object 21">
              <a:extLst>
                <a:ext uri="{FF2B5EF4-FFF2-40B4-BE49-F238E27FC236}">
                  <a16:creationId xmlns:a16="http://schemas.microsoft.com/office/drawing/2014/main" id="{3CC97FC1-486C-19AD-6E29-A9ABA705FD3D}"/>
                </a:ext>
              </a:extLst>
            </p:cNvPr>
            <p:cNvSpPr txBox="1"/>
            <p:nvPr/>
          </p:nvSpPr>
          <p:spPr>
            <a:xfrm>
              <a:off x="1367626" y="4661436"/>
              <a:ext cx="77801"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7" name="object 21">
              <a:extLst>
                <a:ext uri="{FF2B5EF4-FFF2-40B4-BE49-F238E27FC236}">
                  <a16:creationId xmlns:a16="http://schemas.microsoft.com/office/drawing/2014/main" id="{FBE47AE0-DF4C-0020-C455-FD04175C43B8}"/>
                </a:ext>
              </a:extLst>
            </p:cNvPr>
            <p:cNvSpPr txBox="1"/>
            <p:nvPr/>
          </p:nvSpPr>
          <p:spPr>
            <a:xfrm>
              <a:off x="1785325"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0.1</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8" name="object 21">
              <a:extLst>
                <a:ext uri="{FF2B5EF4-FFF2-40B4-BE49-F238E27FC236}">
                  <a16:creationId xmlns:a16="http://schemas.microsoft.com/office/drawing/2014/main" id="{D99D5BF5-E65F-F523-8465-2BF8A220EE9C}"/>
                </a:ext>
              </a:extLst>
            </p:cNvPr>
            <p:cNvSpPr txBox="1"/>
            <p:nvPr/>
          </p:nvSpPr>
          <p:spPr>
            <a:xfrm>
              <a:off x="2252051"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0.2</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49" name="object 21">
              <a:extLst>
                <a:ext uri="{FF2B5EF4-FFF2-40B4-BE49-F238E27FC236}">
                  <a16:creationId xmlns:a16="http://schemas.microsoft.com/office/drawing/2014/main" id="{31D3A0A8-6B88-C3BD-ACD6-2B3677101AA2}"/>
                </a:ext>
              </a:extLst>
            </p:cNvPr>
            <p:cNvSpPr txBox="1"/>
            <p:nvPr/>
          </p:nvSpPr>
          <p:spPr>
            <a:xfrm>
              <a:off x="2718777"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0.3</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0" name="object 21">
              <a:extLst>
                <a:ext uri="{FF2B5EF4-FFF2-40B4-BE49-F238E27FC236}">
                  <a16:creationId xmlns:a16="http://schemas.microsoft.com/office/drawing/2014/main" id="{6E7A359A-E0D9-1A6A-CD0E-9689AA21F337}"/>
                </a:ext>
              </a:extLst>
            </p:cNvPr>
            <p:cNvSpPr txBox="1"/>
            <p:nvPr/>
          </p:nvSpPr>
          <p:spPr>
            <a:xfrm>
              <a:off x="3185503"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0.4</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1" name="object 21">
              <a:extLst>
                <a:ext uri="{FF2B5EF4-FFF2-40B4-BE49-F238E27FC236}">
                  <a16:creationId xmlns:a16="http://schemas.microsoft.com/office/drawing/2014/main" id="{F67617A5-653A-F073-C7E7-012778C9F030}"/>
                </a:ext>
              </a:extLst>
            </p:cNvPr>
            <p:cNvSpPr txBox="1"/>
            <p:nvPr/>
          </p:nvSpPr>
          <p:spPr>
            <a:xfrm>
              <a:off x="3647465"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0.5</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2" name="object 21">
              <a:extLst>
                <a:ext uri="{FF2B5EF4-FFF2-40B4-BE49-F238E27FC236}">
                  <a16:creationId xmlns:a16="http://schemas.microsoft.com/office/drawing/2014/main" id="{C7F99F0D-F6AE-C467-3D1A-AA299C3AE51D}"/>
                </a:ext>
              </a:extLst>
            </p:cNvPr>
            <p:cNvSpPr txBox="1"/>
            <p:nvPr/>
          </p:nvSpPr>
          <p:spPr>
            <a:xfrm>
              <a:off x="4114189"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0.6</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3" name="object 21">
              <a:extLst>
                <a:ext uri="{FF2B5EF4-FFF2-40B4-BE49-F238E27FC236}">
                  <a16:creationId xmlns:a16="http://schemas.microsoft.com/office/drawing/2014/main" id="{606F84E9-4BC0-A568-E664-DAD377AEAE8B}"/>
                </a:ext>
              </a:extLst>
            </p:cNvPr>
            <p:cNvSpPr txBox="1"/>
            <p:nvPr/>
          </p:nvSpPr>
          <p:spPr>
            <a:xfrm>
              <a:off x="4580914"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0.7</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4" name="object 21">
              <a:extLst>
                <a:ext uri="{FF2B5EF4-FFF2-40B4-BE49-F238E27FC236}">
                  <a16:creationId xmlns:a16="http://schemas.microsoft.com/office/drawing/2014/main" id="{4F95D202-F916-01BC-80C9-A2A0DEA6244B}"/>
                </a:ext>
              </a:extLst>
            </p:cNvPr>
            <p:cNvSpPr txBox="1"/>
            <p:nvPr/>
          </p:nvSpPr>
          <p:spPr>
            <a:xfrm>
              <a:off x="5047641"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0.8</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5" name="object 21">
              <a:extLst>
                <a:ext uri="{FF2B5EF4-FFF2-40B4-BE49-F238E27FC236}">
                  <a16:creationId xmlns:a16="http://schemas.microsoft.com/office/drawing/2014/main" id="{F63093FA-068D-0A66-5103-1B043A117E7B}"/>
                </a:ext>
              </a:extLst>
            </p:cNvPr>
            <p:cNvSpPr txBox="1"/>
            <p:nvPr/>
          </p:nvSpPr>
          <p:spPr>
            <a:xfrm>
              <a:off x="5514366"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0.9</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6" name="object 21">
              <a:extLst>
                <a:ext uri="{FF2B5EF4-FFF2-40B4-BE49-F238E27FC236}">
                  <a16:creationId xmlns:a16="http://schemas.microsoft.com/office/drawing/2014/main" id="{A543A163-698E-C529-EEA0-74CA444C76DE}"/>
                </a:ext>
              </a:extLst>
            </p:cNvPr>
            <p:cNvSpPr txBox="1"/>
            <p:nvPr/>
          </p:nvSpPr>
          <p:spPr>
            <a:xfrm>
              <a:off x="5978710"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1.0</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7" name="object 21">
              <a:extLst>
                <a:ext uri="{FF2B5EF4-FFF2-40B4-BE49-F238E27FC236}">
                  <a16:creationId xmlns:a16="http://schemas.microsoft.com/office/drawing/2014/main" id="{9CB42D5F-E364-84B8-72B0-846D68F39F6D}"/>
                </a:ext>
              </a:extLst>
            </p:cNvPr>
            <p:cNvSpPr txBox="1"/>
            <p:nvPr/>
          </p:nvSpPr>
          <p:spPr>
            <a:xfrm>
              <a:off x="6445435"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1.1</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8" name="object 21">
              <a:extLst>
                <a:ext uri="{FF2B5EF4-FFF2-40B4-BE49-F238E27FC236}">
                  <a16:creationId xmlns:a16="http://schemas.microsoft.com/office/drawing/2014/main" id="{C71A97B8-08CA-4223-99A7-17C7B7DD62CC}"/>
                </a:ext>
              </a:extLst>
            </p:cNvPr>
            <p:cNvSpPr txBox="1"/>
            <p:nvPr/>
          </p:nvSpPr>
          <p:spPr>
            <a:xfrm>
              <a:off x="6912161"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1.2</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59" name="object 21">
              <a:extLst>
                <a:ext uri="{FF2B5EF4-FFF2-40B4-BE49-F238E27FC236}">
                  <a16:creationId xmlns:a16="http://schemas.microsoft.com/office/drawing/2014/main" id="{583ECEFB-B821-0AB1-B2E1-7D99191A6A9D}"/>
                </a:ext>
              </a:extLst>
            </p:cNvPr>
            <p:cNvSpPr txBox="1"/>
            <p:nvPr/>
          </p:nvSpPr>
          <p:spPr>
            <a:xfrm>
              <a:off x="7378885"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1.3</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0" name="object 21">
              <a:extLst>
                <a:ext uri="{FF2B5EF4-FFF2-40B4-BE49-F238E27FC236}">
                  <a16:creationId xmlns:a16="http://schemas.microsoft.com/office/drawing/2014/main" id="{AF76D500-09C5-FD0A-AAC3-8237D69934FA}"/>
                </a:ext>
              </a:extLst>
            </p:cNvPr>
            <p:cNvSpPr txBox="1"/>
            <p:nvPr/>
          </p:nvSpPr>
          <p:spPr>
            <a:xfrm>
              <a:off x="7845611"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1.4</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1" name="object 21">
              <a:extLst>
                <a:ext uri="{FF2B5EF4-FFF2-40B4-BE49-F238E27FC236}">
                  <a16:creationId xmlns:a16="http://schemas.microsoft.com/office/drawing/2014/main" id="{9F1B0AFB-ADC2-1CD1-4520-2A7073EFBEB9}"/>
                </a:ext>
              </a:extLst>
            </p:cNvPr>
            <p:cNvSpPr txBox="1"/>
            <p:nvPr/>
          </p:nvSpPr>
          <p:spPr>
            <a:xfrm>
              <a:off x="8307570"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1.5</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2" name="object 21">
              <a:extLst>
                <a:ext uri="{FF2B5EF4-FFF2-40B4-BE49-F238E27FC236}">
                  <a16:creationId xmlns:a16="http://schemas.microsoft.com/office/drawing/2014/main" id="{DAD56DA0-89A6-D787-3D90-80D29076921C}"/>
                </a:ext>
              </a:extLst>
            </p:cNvPr>
            <p:cNvSpPr txBox="1"/>
            <p:nvPr/>
          </p:nvSpPr>
          <p:spPr>
            <a:xfrm>
              <a:off x="8774296"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1.6</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63" name="object 21">
              <a:extLst>
                <a:ext uri="{FF2B5EF4-FFF2-40B4-BE49-F238E27FC236}">
                  <a16:creationId xmlns:a16="http://schemas.microsoft.com/office/drawing/2014/main" id="{56A49A4F-C98D-E293-16A3-9560E7AA51D0}"/>
                </a:ext>
              </a:extLst>
            </p:cNvPr>
            <p:cNvSpPr txBox="1"/>
            <p:nvPr/>
          </p:nvSpPr>
          <p:spPr>
            <a:xfrm>
              <a:off x="9241021" y="4661436"/>
              <a:ext cx="177442" cy="186205"/>
            </a:xfrm>
            <a:prstGeom prst="rect">
              <a:avLst/>
            </a:prstGeom>
          </p:spPr>
          <p:txBody>
            <a:bodyPr vert="horz" wrap="none" lIns="0" tIns="0" rIns="0" bIns="0" rtlCol="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1.7</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grpSp>
      <p:sp>
        <p:nvSpPr>
          <p:cNvPr id="41" name="Freeform 12">
            <a:extLst>
              <a:ext uri="{FF2B5EF4-FFF2-40B4-BE49-F238E27FC236}">
                <a16:creationId xmlns:a16="http://schemas.microsoft.com/office/drawing/2014/main" id="{F4D331DD-6DFF-4C37-BBAD-B0E386FCF718}"/>
              </a:ext>
            </a:extLst>
          </p:cNvPr>
          <p:cNvSpPr/>
          <p:nvPr/>
        </p:nvSpPr>
        <p:spPr>
          <a:xfrm>
            <a:off x="6405689" y="4345094"/>
            <a:ext cx="536942" cy="369455"/>
          </a:xfrm>
          <a:custGeom>
            <a:avLst/>
            <a:gdLst>
              <a:gd name="connsiteX0" fmla="*/ 304800 w 457200"/>
              <a:gd name="connsiteY0" fmla="*/ 0 h 406400"/>
              <a:gd name="connsiteX1" fmla="*/ 457200 w 457200"/>
              <a:gd name="connsiteY1" fmla="*/ 0 h 406400"/>
              <a:gd name="connsiteX2" fmla="*/ 457200 w 457200"/>
              <a:gd name="connsiteY2" fmla="*/ 406400 h 406400"/>
              <a:gd name="connsiteX3" fmla="*/ 0 w 45720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457200" h="406400">
                <a:moveTo>
                  <a:pt x="304800" y="0"/>
                </a:moveTo>
                <a:lnTo>
                  <a:pt x="457200" y="0"/>
                </a:lnTo>
                <a:lnTo>
                  <a:pt x="457200" y="406400"/>
                </a:lnTo>
                <a:lnTo>
                  <a:pt x="0" y="406400"/>
                </a:lnTo>
              </a:path>
            </a:pathLst>
          </a:custGeom>
          <a:noFill/>
          <a:ln w="1270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2" name="object 21">
            <a:extLst>
              <a:ext uri="{FF2B5EF4-FFF2-40B4-BE49-F238E27FC236}">
                <a16:creationId xmlns:a16="http://schemas.microsoft.com/office/drawing/2014/main" id="{D520BD33-1DE1-32A9-6501-7755151C8C8B}"/>
              </a:ext>
            </a:extLst>
          </p:cNvPr>
          <p:cNvSpPr txBox="1"/>
          <p:nvPr/>
        </p:nvSpPr>
        <p:spPr>
          <a:xfrm>
            <a:off x="7120225" y="4445183"/>
            <a:ext cx="697307" cy="169277"/>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Arial"/>
                <a:ea typeface="+mn-ea"/>
                <a:cs typeface="Arial"/>
              </a:rPr>
              <a:t>P</a:t>
            </a:r>
            <a:r>
              <a:rPr kumimoji="0" sz="1100" b="0" i="0" u="none" strike="noStrike" kern="1200" cap="none" spc="0" normalizeH="0" baseline="0" noProof="0" dirty="0">
                <a:ln>
                  <a:noFill/>
                </a:ln>
                <a:solidFill>
                  <a:srgbClr val="000000"/>
                </a:solidFill>
                <a:effectLst/>
                <a:uLnTx/>
                <a:uFillTx/>
                <a:latin typeface="Arial"/>
                <a:ea typeface="+mn-ea"/>
                <a:cs typeface="Arial"/>
              </a:rPr>
              <a:t> = 0.2804</a:t>
            </a:r>
          </a:p>
        </p:txBody>
      </p:sp>
      <p:sp>
        <p:nvSpPr>
          <p:cNvPr id="39" name="Freeform 112">
            <a:extLst>
              <a:ext uri="{FF2B5EF4-FFF2-40B4-BE49-F238E27FC236}">
                <a16:creationId xmlns:a16="http://schemas.microsoft.com/office/drawing/2014/main" id="{ABB09D44-DFD2-0F98-B0AA-8F59C2A12FE0}"/>
              </a:ext>
            </a:extLst>
          </p:cNvPr>
          <p:cNvSpPr/>
          <p:nvPr/>
        </p:nvSpPr>
        <p:spPr>
          <a:xfrm>
            <a:off x="7156674" y="3591629"/>
            <a:ext cx="1498963" cy="369455"/>
          </a:xfrm>
          <a:custGeom>
            <a:avLst/>
            <a:gdLst>
              <a:gd name="connsiteX0" fmla="*/ 304800 w 457200"/>
              <a:gd name="connsiteY0" fmla="*/ 0 h 406400"/>
              <a:gd name="connsiteX1" fmla="*/ 457200 w 457200"/>
              <a:gd name="connsiteY1" fmla="*/ 0 h 406400"/>
              <a:gd name="connsiteX2" fmla="*/ 457200 w 457200"/>
              <a:gd name="connsiteY2" fmla="*/ 406400 h 406400"/>
              <a:gd name="connsiteX3" fmla="*/ 0 w 457200"/>
              <a:gd name="connsiteY3" fmla="*/ 406400 h 406400"/>
              <a:gd name="connsiteX0" fmla="*/ 1123950 w 1276350"/>
              <a:gd name="connsiteY0" fmla="*/ 0 h 406400"/>
              <a:gd name="connsiteX1" fmla="*/ 1276350 w 1276350"/>
              <a:gd name="connsiteY1" fmla="*/ 0 h 406400"/>
              <a:gd name="connsiteX2" fmla="*/ 1276350 w 1276350"/>
              <a:gd name="connsiteY2" fmla="*/ 406400 h 406400"/>
              <a:gd name="connsiteX3" fmla="*/ 0 w 127635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1276350" h="406400">
                <a:moveTo>
                  <a:pt x="1123950" y="0"/>
                </a:moveTo>
                <a:lnTo>
                  <a:pt x="1276350" y="0"/>
                </a:lnTo>
                <a:lnTo>
                  <a:pt x="1276350" y="406400"/>
                </a:lnTo>
                <a:lnTo>
                  <a:pt x="0" y="406400"/>
                </a:lnTo>
              </a:path>
            </a:pathLst>
          </a:custGeom>
          <a:noFill/>
          <a:ln w="1270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0" name="object 21">
            <a:extLst>
              <a:ext uri="{FF2B5EF4-FFF2-40B4-BE49-F238E27FC236}">
                <a16:creationId xmlns:a16="http://schemas.microsoft.com/office/drawing/2014/main" id="{9A670225-9BEA-3E28-3713-ED080DE84FD1}"/>
              </a:ext>
            </a:extLst>
          </p:cNvPr>
          <p:cNvSpPr txBox="1"/>
          <p:nvPr/>
        </p:nvSpPr>
        <p:spPr>
          <a:xfrm>
            <a:off x="8833231" y="3691718"/>
            <a:ext cx="697307" cy="169277"/>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Arial"/>
                <a:ea typeface="+mn-ea"/>
                <a:cs typeface="Arial"/>
              </a:rPr>
              <a:t>P</a:t>
            </a:r>
            <a:r>
              <a:rPr kumimoji="0" lang="en-US" sz="1100" b="0" i="0" u="none" strike="noStrike" kern="1200" cap="none" spc="0" normalizeH="0" baseline="0" noProof="0" dirty="0">
                <a:ln>
                  <a:noFill/>
                </a:ln>
                <a:solidFill>
                  <a:srgbClr val="000000"/>
                </a:solidFill>
                <a:effectLst/>
                <a:uLnTx/>
                <a:uFillTx/>
                <a:latin typeface="Arial"/>
                <a:ea typeface="+mn-ea"/>
                <a:cs typeface="Arial"/>
              </a:rPr>
              <a:t> = 0.0045</a:t>
            </a:r>
          </a:p>
        </p:txBody>
      </p:sp>
      <p:sp>
        <p:nvSpPr>
          <p:cNvPr id="37" name="Freeform 115">
            <a:extLst>
              <a:ext uri="{FF2B5EF4-FFF2-40B4-BE49-F238E27FC236}">
                <a16:creationId xmlns:a16="http://schemas.microsoft.com/office/drawing/2014/main" id="{378A56E0-353D-AFF2-7364-5383F5FBFD5A}"/>
              </a:ext>
            </a:extLst>
          </p:cNvPr>
          <p:cNvSpPr/>
          <p:nvPr/>
        </p:nvSpPr>
        <p:spPr>
          <a:xfrm>
            <a:off x="7351503" y="2812311"/>
            <a:ext cx="1498963" cy="369455"/>
          </a:xfrm>
          <a:custGeom>
            <a:avLst/>
            <a:gdLst>
              <a:gd name="connsiteX0" fmla="*/ 304800 w 457200"/>
              <a:gd name="connsiteY0" fmla="*/ 0 h 406400"/>
              <a:gd name="connsiteX1" fmla="*/ 457200 w 457200"/>
              <a:gd name="connsiteY1" fmla="*/ 0 h 406400"/>
              <a:gd name="connsiteX2" fmla="*/ 457200 w 457200"/>
              <a:gd name="connsiteY2" fmla="*/ 406400 h 406400"/>
              <a:gd name="connsiteX3" fmla="*/ 0 w 457200"/>
              <a:gd name="connsiteY3" fmla="*/ 406400 h 406400"/>
              <a:gd name="connsiteX0" fmla="*/ 1123950 w 1276350"/>
              <a:gd name="connsiteY0" fmla="*/ 0 h 406400"/>
              <a:gd name="connsiteX1" fmla="*/ 1276350 w 1276350"/>
              <a:gd name="connsiteY1" fmla="*/ 0 h 406400"/>
              <a:gd name="connsiteX2" fmla="*/ 1276350 w 1276350"/>
              <a:gd name="connsiteY2" fmla="*/ 406400 h 406400"/>
              <a:gd name="connsiteX3" fmla="*/ 0 w 1276350"/>
              <a:gd name="connsiteY3" fmla="*/ 406400 h 406400"/>
            </a:gdLst>
            <a:ahLst/>
            <a:cxnLst>
              <a:cxn ang="0">
                <a:pos x="connsiteX0" y="connsiteY0"/>
              </a:cxn>
              <a:cxn ang="0">
                <a:pos x="connsiteX1" y="connsiteY1"/>
              </a:cxn>
              <a:cxn ang="0">
                <a:pos x="connsiteX2" y="connsiteY2"/>
              </a:cxn>
              <a:cxn ang="0">
                <a:pos x="connsiteX3" y="connsiteY3"/>
              </a:cxn>
            </a:cxnLst>
            <a:rect l="l" t="t" r="r" b="b"/>
            <a:pathLst>
              <a:path w="1276350" h="406400">
                <a:moveTo>
                  <a:pt x="1123950" y="0"/>
                </a:moveTo>
                <a:lnTo>
                  <a:pt x="1276350" y="0"/>
                </a:lnTo>
                <a:lnTo>
                  <a:pt x="1276350" y="406400"/>
                </a:lnTo>
                <a:lnTo>
                  <a:pt x="0" y="406400"/>
                </a:lnTo>
              </a:path>
            </a:pathLst>
          </a:custGeom>
          <a:noFill/>
          <a:ln w="1270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8" name="object 21">
            <a:extLst>
              <a:ext uri="{FF2B5EF4-FFF2-40B4-BE49-F238E27FC236}">
                <a16:creationId xmlns:a16="http://schemas.microsoft.com/office/drawing/2014/main" id="{4D6C3536-D85C-E997-7857-554D637270E4}"/>
              </a:ext>
            </a:extLst>
          </p:cNvPr>
          <p:cNvSpPr txBox="1"/>
          <p:nvPr/>
        </p:nvSpPr>
        <p:spPr>
          <a:xfrm>
            <a:off x="9028060" y="2912400"/>
            <a:ext cx="697307" cy="169277"/>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Arial"/>
                <a:ea typeface="+mn-ea"/>
                <a:cs typeface="Arial"/>
              </a:rPr>
              <a:t>P</a:t>
            </a:r>
            <a:r>
              <a:rPr kumimoji="0" lang="en-US" sz="1100" b="0" i="0" u="none" strike="noStrike" kern="1200" cap="none" spc="0" normalizeH="0" baseline="0" noProof="0" dirty="0">
                <a:ln>
                  <a:noFill/>
                </a:ln>
                <a:solidFill>
                  <a:srgbClr val="000000"/>
                </a:solidFill>
                <a:effectLst/>
                <a:uLnTx/>
                <a:uFillTx/>
                <a:latin typeface="Arial"/>
                <a:ea typeface="+mn-ea"/>
                <a:cs typeface="Arial"/>
              </a:rPr>
              <a:t> = 0.0128</a:t>
            </a:r>
          </a:p>
        </p:txBody>
      </p:sp>
      <p:sp>
        <p:nvSpPr>
          <p:cNvPr id="35" name="Freeform 118">
            <a:extLst>
              <a:ext uri="{FF2B5EF4-FFF2-40B4-BE49-F238E27FC236}">
                <a16:creationId xmlns:a16="http://schemas.microsoft.com/office/drawing/2014/main" id="{3754A530-31B1-86E7-A354-81543136EFAF}"/>
              </a:ext>
            </a:extLst>
          </p:cNvPr>
          <p:cNvSpPr/>
          <p:nvPr/>
        </p:nvSpPr>
        <p:spPr>
          <a:xfrm>
            <a:off x="7466057" y="1990166"/>
            <a:ext cx="3355888" cy="378114"/>
          </a:xfrm>
          <a:custGeom>
            <a:avLst/>
            <a:gdLst>
              <a:gd name="connsiteX0" fmla="*/ 304800 w 457200"/>
              <a:gd name="connsiteY0" fmla="*/ 0 h 406400"/>
              <a:gd name="connsiteX1" fmla="*/ 457200 w 457200"/>
              <a:gd name="connsiteY1" fmla="*/ 0 h 406400"/>
              <a:gd name="connsiteX2" fmla="*/ 457200 w 457200"/>
              <a:gd name="connsiteY2" fmla="*/ 406400 h 406400"/>
              <a:gd name="connsiteX3" fmla="*/ 0 w 457200"/>
              <a:gd name="connsiteY3" fmla="*/ 406400 h 406400"/>
              <a:gd name="connsiteX0" fmla="*/ 1123950 w 1276350"/>
              <a:gd name="connsiteY0" fmla="*/ 0 h 406400"/>
              <a:gd name="connsiteX1" fmla="*/ 1276350 w 1276350"/>
              <a:gd name="connsiteY1" fmla="*/ 0 h 406400"/>
              <a:gd name="connsiteX2" fmla="*/ 1276350 w 1276350"/>
              <a:gd name="connsiteY2" fmla="*/ 406400 h 406400"/>
              <a:gd name="connsiteX3" fmla="*/ 0 w 1276350"/>
              <a:gd name="connsiteY3" fmla="*/ 406400 h 406400"/>
              <a:gd name="connsiteX0" fmla="*/ 2705100 w 2857500"/>
              <a:gd name="connsiteY0" fmla="*/ 0 h 415925"/>
              <a:gd name="connsiteX1" fmla="*/ 2857500 w 2857500"/>
              <a:gd name="connsiteY1" fmla="*/ 0 h 415925"/>
              <a:gd name="connsiteX2" fmla="*/ 2857500 w 2857500"/>
              <a:gd name="connsiteY2" fmla="*/ 406400 h 415925"/>
              <a:gd name="connsiteX3" fmla="*/ 0 w 2857500"/>
              <a:gd name="connsiteY3" fmla="*/ 415925 h 415925"/>
            </a:gdLst>
            <a:ahLst/>
            <a:cxnLst>
              <a:cxn ang="0">
                <a:pos x="connsiteX0" y="connsiteY0"/>
              </a:cxn>
              <a:cxn ang="0">
                <a:pos x="connsiteX1" y="connsiteY1"/>
              </a:cxn>
              <a:cxn ang="0">
                <a:pos x="connsiteX2" y="connsiteY2"/>
              </a:cxn>
              <a:cxn ang="0">
                <a:pos x="connsiteX3" y="connsiteY3"/>
              </a:cxn>
            </a:cxnLst>
            <a:rect l="l" t="t" r="r" b="b"/>
            <a:pathLst>
              <a:path w="2857500" h="415925">
                <a:moveTo>
                  <a:pt x="2705100" y="0"/>
                </a:moveTo>
                <a:lnTo>
                  <a:pt x="2857500" y="0"/>
                </a:lnTo>
                <a:lnTo>
                  <a:pt x="2857500" y="406400"/>
                </a:lnTo>
                <a:lnTo>
                  <a:pt x="0" y="415925"/>
                </a:lnTo>
              </a:path>
            </a:pathLst>
          </a:custGeom>
          <a:noFill/>
          <a:ln w="12700">
            <a:solidFill>
              <a:srgbClr val="544F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36" name="object 21">
            <a:extLst>
              <a:ext uri="{FF2B5EF4-FFF2-40B4-BE49-F238E27FC236}">
                <a16:creationId xmlns:a16="http://schemas.microsoft.com/office/drawing/2014/main" id="{FC79F4E3-5F49-666B-06C6-AC13E7789EC8}"/>
              </a:ext>
            </a:extLst>
          </p:cNvPr>
          <p:cNvSpPr txBox="1"/>
          <p:nvPr/>
        </p:nvSpPr>
        <p:spPr>
          <a:xfrm>
            <a:off x="10999539" y="2090255"/>
            <a:ext cx="697307" cy="169277"/>
          </a:xfrm>
          <a:prstGeom prst="rect">
            <a:avLst/>
          </a:prstGeom>
        </p:spPr>
        <p:txBody>
          <a:bodyPr vert="horz" wrap="none" lIns="0" tIns="0" rIns="0" bIns="0" rtlCol="0" anchor="ctr" anchorCtr="0">
            <a:spAutoFit/>
          </a:bodyPr>
          <a:lstStyle/>
          <a:p>
            <a:pPr marL="12700" marR="0" lvl="0" indent="0" algn="ctr" defTabSz="1219170" rtl="0" eaLnBrk="1" fontAlgn="auto" latinLnBrk="0" hangingPunct="1">
              <a:lnSpc>
                <a:spcPct val="100000"/>
              </a:lnSpc>
              <a:spcBef>
                <a:spcPts val="100"/>
              </a:spcBef>
              <a:spcAft>
                <a:spcPts val="0"/>
              </a:spcAft>
              <a:buClrTx/>
              <a:buSzTx/>
              <a:buFontTx/>
              <a:buNone/>
              <a:tabLst/>
              <a:defRPr/>
            </a:pPr>
            <a:r>
              <a:rPr kumimoji="0" lang="en-US" sz="1100" b="0" i="1" u="none" strike="noStrike" kern="1200" cap="none" spc="0" normalizeH="0" baseline="0" noProof="0" dirty="0">
                <a:ln>
                  <a:noFill/>
                </a:ln>
                <a:solidFill>
                  <a:srgbClr val="000000"/>
                </a:solidFill>
                <a:effectLst/>
                <a:uLnTx/>
                <a:uFillTx/>
                <a:latin typeface="Arial"/>
                <a:ea typeface="+mn-ea"/>
                <a:cs typeface="Arial"/>
              </a:rPr>
              <a:t>P</a:t>
            </a:r>
            <a:r>
              <a:rPr kumimoji="0" lang="en-US" sz="1100" b="0" i="0" u="none" strike="noStrike" kern="1200" cap="none" spc="0" normalizeH="0" baseline="0" noProof="0" dirty="0">
                <a:ln>
                  <a:noFill/>
                </a:ln>
                <a:solidFill>
                  <a:srgbClr val="000000"/>
                </a:solidFill>
                <a:effectLst/>
                <a:uLnTx/>
                <a:uFillTx/>
                <a:latin typeface="Arial"/>
                <a:ea typeface="+mn-ea"/>
                <a:cs typeface="Arial"/>
              </a:rPr>
              <a:t> = 0.0020</a:t>
            </a:r>
          </a:p>
        </p:txBody>
      </p:sp>
      <p:cxnSp>
        <p:nvCxnSpPr>
          <p:cNvPr id="33" name="Straight Arrow Connector 32">
            <a:extLst>
              <a:ext uri="{FF2B5EF4-FFF2-40B4-BE49-F238E27FC236}">
                <a16:creationId xmlns:a16="http://schemas.microsoft.com/office/drawing/2014/main" id="{FD3DE66B-615B-B73B-8758-545CC3E6B10D}"/>
              </a:ext>
            </a:extLst>
          </p:cNvPr>
          <p:cNvCxnSpPr/>
          <p:nvPr/>
        </p:nvCxnSpPr>
        <p:spPr>
          <a:xfrm flipV="1">
            <a:off x="6027250" y="1671678"/>
            <a:ext cx="0" cy="3125940"/>
          </a:xfrm>
          <a:prstGeom prst="straightConnector1">
            <a:avLst/>
          </a:prstGeom>
          <a:ln w="15875">
            <a:solidFill>
              <a:schemeClr val="accent3"/>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9AEFA7E6-DAD2-0066-EF10-386397553F36}"/>
              </a:ext>
            </a:extLst>
          </p:cNvPr>
          <p:cNvCxnSpPr/>
          <p:nvPr/>
        </p:nvCxnSpPr>
        <p:spPr>
          <a:xfrm flipV="1">
            <a:off x="6442976" y="1714063"/>
            <a:ext cx="4317214" cy="2585311"/>
          </a:xfrm>
          <a:prstGeom prst="straightConnector1">
            <a:avLst/>
          </a:prstGeom>
          <a:ln w="15875">
            <a:solidFill>
              <a:schemeClr val="accent4"/>
            </a:solidFill>
            <a:tailEnd type="triangle"/>
          </a:ln>
        </p:spPr>
        <p:style>
          <a:lnRef idx="1">
            <a:schemeClr val="accent1"/>
          </a:lnRef>
          <a:fillRef idx="0">
            <a:schemeClr val="accent1"/>
          </a:fillRef>
          <a:effectRef idx="0">
            <a:schemeClr val="accent1"/>
          </a:effectRef>
          <a:fontRef idx="minor">
            <a:schemeClr val="tx1"/>
          </a:fontRef>
        </p:style>
      </p:cxnSp>
      <p:sp>
        <p:nvSpPr>
          <p:cNvPr id="144" name="object 34">
            <a:extLst>
              <a:ext uri="{FF2B5EF4-FFF2-40B4-BE49-F238E27FC236}">
                <a16:creationId xmlns:a16="http://schemas.microsoft.com/office/drawing/2014/main" id="{D9C8E614-66CC-B512-F52D-9AB402F8FEA4}"/>
              </a:ext>
            </a:extLst>
          </p:cNvPr>
          <p:cNvSpPr txBox="1"/>
          <p:nvPr/>
        </p:nvSpPr>
        <p:spPr>
          <a:xfrm>
            <a:off x="4902613" y="1152237"/>
            <a:ext cx="2249273" cy="474489"/>
          </a:xfrm>
          <a:prstGeom prst="rect">
            <a:avLst/>
          </a:prstGeom>
        </p:spPr>
        <p:txBody>
          <a:bodyPr vert="horz" wrap="square" lIns="0" tIns="12700" rIns="0" bIns="0" rtlCol="0">
            <a:spAutoFit/>
          </a:bodyPr>
          <a:lstStyle/>
          <a:p>
            <a:pPr marL="0" marR="5080" lvl="0" indent="0" algn="ctr" defTabSz="1219170" rtl="0" eaLnBrk="1" fontAlgn="auto" latinLnBrk="0" hangingPunct="1">
              <a:lnSpc>
                <a:spcPct val="100000"/>
              </a:lnSpc>
              <a:spcBef>
                <a:spcPts val="100"/>
              </a:spcBef>
              <a:spcAft>
                <a:spcPts val="0"/>
              </a:spcAft>
              <a:buClrTx/>
              <a:buSzTx/>
              <a:buFontTx/>
              <a:buNone/>
              <a:tabLst/>
              <a:defRPr/>
            </a:pPr>
            <a:r>
              <a:rPr kumimoji="0" sz="1000" b="1" i="0" u="none" strike="noStrike" kern="1200" cap="none" spc="0" normalizeH="0" baseline="0" noProof="0" dirty="0">
                <a:ln>
                  <a:noFill/>
                </a:ln>
                <a:solidFill>
                  <a:srgbClr val="69B445"/>
                </a:solidFill>
                <a:effectLst/>
                <a:uLnTx/>
                <a:uFillTx/>
                <a:latin typeface="Arial"/>
                <a:ea typeface="+mn-ea"/>
                <a:cs typeface="Arial"/>
              </a:rPr>
              <a:t>No relationship between</a:t>
            </a:r>
            <a:r>
              <a:rPr kumimoji="0" lang="en-US" sz="1000" b="1" i="0" u="none" strike="noStrike" kern="1200" cap="none" spc="0" normalizeH="0" baseline="0" noProof="0" dirty="0">
                <a:ln>
                  <a:noFill/>
                </a:ln>
                <a:solidFill>
                  <a:srgbClr val="69B445"/>
                </a:solidFill>
                <a:effectLst/>
                <a:uLnTx/>
                <a:uFillTx/>
                <a:latin typeface="Arial"/>
                <a:ea typeface="+mn-ea"/>
                <a:cs typeface="Arial"/>
              </a:rPr>
              <a:t> </a:t>
            </a:r>
            <a:r>
              <a:rPr kumimoji="0" sz="1000" b="1" i="0" u="none" strike="noStrike" kern="1200" cap="none" spc="0" normalizeH="0" baseline="0" noProof="0" dirty="0">
                <a:ln>
                  <a:noFill/>
                </a:ln>
                <a:solidFill>
                  <a:srgbClr val="69B445"/>
                </a:solidFill>
                <a:effectLst/>
                <a:uLnTx/>
                <a:uFillTx/>
                <a:latin typeface="Arial"/>
                <a:ea typeface="+mn-ea"/>
                <a:cs typeface="Arial"/>
              </a:rPr>
              <a:t>blood eosinophils</a:t>
            </a:r>
            <a:r>
              <a:rPr kumimoji="0" lang="en-US" sz="1000" b="1" i="0" u="none" strike="noStrike" kern="1200" cap="none" spc="0" normalizeH="0" baseline="0" noProof="0" dirty="0">
                <a:ln>
                  <a:noFill/>
                </a:ln>
                <a:solidFill>
                  <a:srgbClr val="69B445"/>
                </a:solidFill>
                <a:effectLst/>
                <a:uLnTx/>
                <a:uFillTx/>
                <a:latin typeface="Arial"/>
                <a:ea typeface="+mn-ea"/>
                <a:cs typeface="Arial"/>
              </a:rPr>
              <a:t> </a:t>
            </a:r>
            <a:r>
              <a:rPr kumimoji="0" sz="1000" b="1" i="0" u="none" strike="noStrike" kern="1200" cap="none" spc="0" normalizeH="0" baseline="0" noProof="0" dirty="0">
                <a:ln>
                  <a:noFill/>
                </a:ln>
                <a:solidFill>
                  <a:srgbClr val="69B445"/>
                </a:solidFill>
                <a:effectLst/>
                <a:uLnTx/>
                <a:uFillTx/>
                <a:latin typeface="Arial"/>
                <a:ea typeface="+mn-ea"/>
                <a:cs typeface="Arial"/>
              </a:rPr>
              <a:t>and exacerbations</a:t>
            </a:r>
            <a:br>
              <a:rPr kumimoji="0" lang="en-US" sz="1000" b="1" i="0" u="none" strike="noStrike" kern="1200" cap="none" spc="0" normalizeH="0" baseline="0" noProof="0" dirty="0">
                <a:ln>
                  <a:noFill/>
                </a:ln>
                <a:solidFill>
                  <a:srgbClr val="69B445"/>
                </a:solidFill>
                <a:effectLst/>
                <a:uLnTx/>
                <a:uFillTx/>
                <a:latin typeface="Arial"/>
                <a:ea typeface="+mn-ea"/>
                <a:cs typeface="Arial"/>
              </a:rPr>
            </a:br>
            <a:r>
              <a:rPr kumimoji="0" sz="1000" b="1" i="0" u="none" strike="noStrike" kern="1200" cap="none" spc="0" normalizeH="0" baseline="0" noProof="0" dirty="0">
                <a:ln>
                  <a:noFill/>
                </a:ln>
                <a:solidFill>
                  <a:srgbClr val="69B445"/>
                </a:solidFill>
                <a:effectLst/>
                <a:uLnTx/>
                <a:uFillTx/>
                <a:latin typeface="Arial"/>
                <a:ea typeface="+mn-ea"/>
                <a:cs typeface="Arial"/>
              </a:rPr>
              <a:t>(with ICS treatment)</a:t>
            </a:r>
            <a:endParaRPr kumimoji="0" sz="1000" b="0" i="0" u="none" strike="noStrike" kern="1200" cap="none" spc="0" normalizeH="0" baseline="0" noProof="0" dirty="0">
              <a:ln>
                <a:noFill/>
              </a:ln>
              <a:solidFill>
                <a:srgbClr val="69B445"/>
              </a:solidFill>
              <a:effectLst/>
              <a:uLnTx/>
              <a:uFillTx/>
              <a:latin typeface="Arial"/>
              <a:ea typeface="+mn-ea"/>
              <a:cs typeface="Arial"/>
            </a:endParaRPr>
          </a:p>
        </p:txBody>
      </p:sp>
      <p:sp>
        <p:nvSpPr>
          <p:cNvPr id="145" name="object 32">
            <a:extLst>
              <a:ext uri="{FF2B5EF4-FFF2-40B4-BE49-F238E27FC236}">
                <a16:creationId xmlns:a16="http://schemas.microsoft.com/office/drawing/2014/main" id="{CA1D8AD2-CC3C-F3C6-BCFE-CC926FE6F774}"/>
              </a:ext>
            </a:extLst>
          </p:cNvPr>
          <p:cNvSpPr txBox="1"/>
          <p:nvPr/>
        </p:nvSpPr>
        <p:spPr>
          <a:xfrm>
            <a:off x="9216600" y="1309741"/>
            <a:ext cx="2168199" cy="474489"/>
          </a:xfrm>
          <a:prstGeom prst="rect">
            <a:avLst/>
          </a:prstGeom>
        </p:spPr>
        <p:txBody>
          <a:bodyPr vert="horz" wrap="square" lIns="0" tIns="12700" rIns="0" bIns="0" rtlCol="0">
            <a:spAutoFit/>
          </a:bodyPr>
          <a:lstStyle/>
          <a:p>
            <a:pPr marL="0" marR="5080" lvl="0" indent="0" algn="ctr" defTabSz="1219170" rtl="0" eaLnBrk="1" fontAlgn="auto" latinLnBrk="0" hangingPunct="1">
              <a:lnSpc>
                <a:spcPct val="100000"/>
              </a:lnSpc>
              <a:spcBef>
                <a:spcPts val="100"/>
              </a:spcBef>
              <a:spcAft>
                <a:spcPts val="0"/>
              </a:spcAft>
              <a:buClrTx/>
              <a:buSzTx/>
              <a:buFontTx/>
              <a:buNone/>
              <a:tabLst/>
              <a:defRPr/>
            </a:pPr>
            <a:r>
              <a:rPr kumimoji="0" sz="1000" b="1" i="0" u="none" strike="noStrike" kern="1200" cap="none" spc="0" normalizeH="0" baseline="0" noProof="0" dirty="0">
                <a:ln>
                  <a:noFill/>
                </a:ln>
                <a:solidFill>
                  <a:srgbClr val="244EA2"/>
                </a:solidFill>
                <a:effectLst/>
                <a:uLnTx/>
                <a:uFillTx/>
                <a:latin typeface="Arial"/>
                <a:ea typeface="+mn-ea"/>
                <a:cs typeface="Arial"/>
              </a:rPr>
              <a:t>Higher rate of</a:t>
            </a:r>
            <a:r>
              <a:rPr kumimoji="0" lang="en-US" sz="1000" b="1" i="0" u="none" strike="noStrike" kern="1200" cap="none" spc="0" normalizeH="0" baseline="0" noProof="0" dirty="0">
                <a:ln>
                  <a:noFill/>
                </a:ln>
                <a:solidFill>
                  <a:srgbClr val="244EA2"/>
                </a:solidFill>
                <a:effectLst/>
                <a:uLnTx/>
                <a:uFillTx/>
                <a:latin typeface="Arial"/>
                <a:ea typeface="+mn-ea"/>
                <a:cs typeface="Arial"/>
              </a:rPr>
              <a:t> </a:t>
            </a:r>
            <a:r>
              <a:rPr kumimoji="0" sz="1000" b="1" i="0" u="none" strike="noStrike" kern="1200" cap="none" spc="0" normalizeH="0" baseline="0" noProof="0" dirty="0">
                <a:ln>
                  <a:noFill/>
                </a:ln>
                <a:solidFill>
                  <a:srgbClr val="244EA2"/>
                </a:solidFill>
                <a:effectLst/>
                <a:uLnTx/>
                <a:uFillTx/>
                <a:latin typeface="Arial"/>
                <a:ea typeface="+mn-ea"/>
                <a:cs typeface="Arial"/>
              </a:rPr>
              <a:t>exacerbations with</a:t>
            </a:r>
            <a:r>
              <a:rPr kumimoji="0" lang="en-US" sz="1000" b="1" i="0" u="none" strike="noStrike" kern="1200" cap="none" spc="0" normalizeH="0" baseline="0" noProof="0" dirty="0">
                <a:ln>
                  <a:noFill/>
                </a:ln>
                <a:solidFill>
                  <a:srgbClr val="244EA2"/>
                </a:solidFill>
                <a:effectLst/>
                <a:uLnTx/>
                <a:uFillTx/>
                <a:latin typeface="Arial"/>
                <a:ea typeface="+mn-ea"/>
                <a:cs typeface="Arial"/>
              </a:rPr>
              <a:t> </a:t>
            </a:r>
            <a:r>
              <a:rPr kumimoji="0" sz="1000" b="1" i="0" u="none" strike="noStrike" kern="1200" cap="none" spc="0" normalizeH="0" baseline="0" noProof="0" dirty="0">
                <a:ln>
                  <a:noFill/>
                </a:ln>
                <a:solidFill>
                  <a:srgbClr val="244EA2"/>
                </a:solidFill>
                <a:effectLst/>
                <a:uLnTx/>
                <a:uFillTx/>
                <a:latin typeface="Arial"/>
                <a:ea typeface="+mn-ea"/>
                <a:cs typeface="Arial"/>
              </a:rPr>
              <a:t>higher blood eosinophils</a:t>
            </a:r>
            <a:r>
              <a:rPr kumimoji="0" lang="en-US" sz="1000" b="1" i="0" u="none" strike="noStrike" kern="1200" cap="none" spc="0" normalizeH="0" baseline="0" noProof="0" dirty="0">
                <a:ln>
                  <a:noFill/>
                </a:ln>
                <a:solidFill>
                  <a:srgbClr val="244EA2"/>
                </a:solidFill>
                <a:effectLst/>
                <a:uLnTx/>
                <a:uFillTx/>
                <a:latin typeface="Arial"/>
                <a:ea typeface="+mn-ea"/>
                <a:cs typeface="Arial"/>
              </a:rPr>
              <a:t> </a:t>
            </a:r>
            <a:r>
              <a:rPr kumimoji="0" sz="1000" b="1" i="0" u="none" strike="noStrike" kern="1200" cap="none" spc="0" normalizeH="0" baseline="0" noProof="0" dirty="0">
                <a:ln>
                  <a:noFill/>
                </a:ln>
                <a:solidFill>
                  <a:srgbClr val="244EA2"/>
                </a:solidFill>
                <a:effectLst/>
                <a:uLnTx/>
                <a:uFillTx/>
                <a:latin typeface="Arial"/>
                <a:ea typeface="+mn-ea"/>
                <a:cs typeface="Arial"/>
              </a:rPr>
              <a:t>(no ICS</a:t>
            </a:r>
            <a:r>
              <a:rPr kumimoji="0" lang="en-IN" sz="1000" b="1" i="0" u="none" strike="noStrike" kern="1200" cap="none" spc="0" normalizeH="0" baseline="0" noProof="0" dirty="0">
                <a:ln>
                  <a:noFill/>
                </a:ln>
                <a:solidFill>
                  <a:srgbClr val="244EA2"/>
                </a:solidFill>
                <a:effectLst/>
                <a:uLnTx/>
                <a:uFillTx/>
                <a:latin typeface="Arial"/>
                <a:ea typeface="+mn-ea"/>
                <a:cs typeface="Arial"/>
              </a:rPr>
              <a:t> treatment</a:t>
            </a:r>
            <a:r>
              <a:rPr kumimoji="0" sz="1000" b="1" i="0" u="none" strike="noStrike" kern="1200" cap="none" spc="0" normalizeH="0" baseline="0" noProof="0" dirty="0">
                <a:ln>
                  <a:noFill/>
                </a:ln>
                <a:solidFill>
                  <a:srgbClr val="244EA2"/>
                </a:solidFill>
                <a:effectLst/>
                <a:uLnTx/>
                <a:uFillTx/>
                <a:latin typeface="Arial"/>
                <a:ea typeface="+mn-ea"/>
                <a:cs typeface="Arial"/>
              </a:rPr>
              <a:t>)</a:t>
            </a:r>
            <a:endParaRPr kumimoji="0" sz="1000" b="0" i="0" u="none" strike="noStrike" kern="1200" cap="none" spc="0" normalizeH="0" baseline="0" noProof="0" dirty="0">
              <a:ln>
                <a:noFill/>
              </a:ln>
              <a:solidFill>
                <a:srgbClr val="244EA2"/>
              </a:solidFill>
              <a:effectLst/>
              <a:uLnTx/>
              <a:uFillTx/>
              <a:latin typeface="Arial"/>
              <a:ea typeface="+mn-ea"/>
              <a:cs typeface="Arial"/>
            </a:endParaRPr>
          </a:p>
        </p:txBody>
      </p:sp>
      <p:sp>
        <p:nvSpPr>
          <p:cNvPr id="146" name="object 35">
            <a:extLst>
              <a:ext uri="{FF2B5EF4-FFF2-40B4-BE49-F238E27FC236}">
                <a16:creationId xmlns:a16="http://schemas.microsoft.com/office/drawing/2014/main" id="{610C4235-47AB-76C3-2AD9-4D259202C532}"/>
              </a:ext>
            </a:extLst>
          </p:cNvPr>
          <p:cNvSpPr txBox="1"/>
          <p:nvPr/>
        </p:nvSpPr>
        <p:spPr>
          <a:xfrm rot="5400000">
            <a:off x="5998185" y="3371153"/>
            <a:ext cx="195631" cy="3825263"/>
          </a:xfrm>
          <a:prstGeom prst="rect">
            <a:avLst/>
          </a:prstGeom>
        </p:spPr>
        <p:txBody>
          <a:bodyPr vert="vert270" wrap="square" lIns="0" tIns="0" rIns="0" bIns="0" rtlCol="0" anchor="ctr">
            <a:spAutoFit/>
          </a:bodyPr>
          <a:lstStyle/>
          <a:p>
            <a:pPr marL="12700" marR="0" lvl="0" indent="0" algn="ctr" defTabSz="1219170" rtl="0" eaLnBrk="1" fontAlgn="auto" latinLnBrk="0" hangingPunct="1">
              <a:lnSpc>
                <a:spcPts val="1650"/>
              </a:lnSpc>
              <a:spcBef>
                <a:spcPts val="0"/>
              </a:spcBef>
              <a:spcAft>
                <a:spcPts val="0"/>
              </a:spcAft>
              <a:buClrTx/>
              <a:buSzTx/>
              <a:buFontTx/>
              <a:buNone/>
              <a:tabLst/>
              <a:defRPr/>
            </a:pPr>
            <a:r>
              <a:rPr kumimoji="0" sz="1100" b="1" i="0" u="none" strike="noStrike" kern="1200" cap="none" spc="0" normalizeH="0" baseline="0" noProof="0" dirty="0">
                <a:ln>
                  <a:noFill/>
                </a:ln>
                <a:solidFill>
                  <a:srgbClr val="000000"/>
                </a:solidFill>
                <a:effectLst/>
                <a:uLnTx/>
                <a:uFillTx/>
                <a:latin typeface="Arial"/>
                <a:ea typeface="+mn-ea"/>
                <a:cs typeface="Arial"/>
              </a:rPr>
              <a:t>Annual exacerbation rate (patient per year)</a:t>
            </a:r>
            <a:endParaRPr kumimoji="0" sz="1100" b="0" i="0" u="none" strike="noStrike" kern="1200" cap="none" spc="0" normalizeH="0" baseline="0" noProof="0" dirty="0">
              <a:ln>
                <a:noFill/>
              </a:ln>
              <a:solidFill>
                <a:srgbClr val="000000"/>
              </a:solidFill>
              <a:effectLst/>
              <a:uLnTx/>
              <a:uFillTx/>
              <a:latin typeface="Arial"/>
              <a:ea typeface="+mn-ea"/>
              <a:cs typeface="Arial"/>
            </a:endParaRPr>
          </a:p>
        </p:txBody>
      </p:sp>
      <p:grpSp>
        <p:nvGrpSpPr>
          <p:cNvPr id="152" name="Group 151">
            <a:extLst>
              <a:ext uri="{FF2B5EF4-FFF2-40B4-BE49-F238E27FC236}">
                <a16:creationId xmlns:a16="http://schemas.microsoft.com/office/drawing/2014/main" id="{D7FC3A6F-6EB4-BD55-9F11-BAB62C5A6BE1}"/>
              </a:ext>
            </a:extLst>
          </p:cNvPr>
          <p:cNvGrpSpPr/>
          <p:nvPr/>
        </p:nvGrpSpPr>
        <p:grpSpPr>
          <a:xfrm>
            <a:off x="365125" y="5300333"/>
            <a:ext cx="2636723" cy="166712"/>
            <a:chOff x="4284725" y="5743953"/>
            <a:chExt cx="2636723" cy="166712"/>
          </a:xfrm>
        </p:grpSpPr>
        <p:sp>
          <p:nvSpPr>
            <p:cNvPr id="148" name="object 17">
              <a:extLst>
                <a:ext uri="{FF2B5EF4-FFF2-40B4-BE49-F238E27FC236}">
                  <a16:creationId xmlns:a16="http://schemas.microsoft.com/office/drawing/2014/main" id="{786D2F22-F107-F81E-FDA4-EB4AD7B0412F}"/>
                </a:ext>
              </a:extLst>
            </p:cNvPr>
            <p:cNvSpPr/>
            <p:nvPr/>
          </p:nvSpPr>
          <p:spPr>
            <a:xfrm>
              <a:off x="4284725" y="5754919"/>
              <a:ext cx="204383" cy="144780"/>
            </a:xfrm>
            <a:custGeom>
              <a:avLst/>
              <a:gdLst/>
              <a:ahLst/>
              <a:cxnLst/>
              <a:rect l="l" t="t" r="r" b="b"/>
              <a:pathLst>
                <a:path w="143510" h="144780">
                  <a:moveTo>
                    <a:pt x="143255" y="0"/>
                  </a:moveTo>
                  <a:lnTo>
                    <a:pt x="0" y="0"/>
                  </a:lnTo>
                  <a:lnTo>
                    <a:pt x="0" y="144779"/>
                  </a:lnTo>
                  <a:lnTo>
                    <a:pt x="143255" y="144779"/>
                  </a:lnTo>
                  <a:lnTo>
                    <a:pt x="143255" y="0"/>
                  </a:lnTo>
                  <a:close/>
                </a:path>
              </a:pathLst>
            </a:custGeom>
            <a:solidFill>
              <a:schemeClr val="accent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49" name="object 18">
              <a:extLst>
                <a:ext uri="{FF2B5EF4-FFF2-40B4-BE49-F238E27FC236}">
                  <a16:creationId xmlns:a16="http://schemas.microsoft.com/office/drawing/2014/main" id="{50741D8B-9C34-B53F-E0DB-5D7387F126EE}"/>
                </a:ext>
              </a:extLst>
            </p:cNvPr>
            <p:cNvSpPr txBox="1"/>
            <p:nvPr/>
          </p:nvSpPr>
          <p:spPr>
            <a:xfrm>
              <a:off x="4570498" y="5743953"/>
              <a:ext cx="1081603" cy="166712"/>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000" b="0" i="0" u="none" strike="noStrike" kern="1200" cap="none" spc="0" normalizeH="0" baseline="0" noProof="0" dirty="0">
                  <a:ln>
                    <a:noFill/>
                  </a:ln>
                  <a:solidFill>
                    <a:srgbClr val="000000"/>
                  </a:solidFill>
                  <a:effectLst/>
                  <a:uLnTx/>
                  <a:uFillTx/>
                  <a:latin typeface="Arial"/>
                  <a:ea typeface="+mn-ea"/>
                  <a:cs typeface="Arial"/>
                </a:rPr>
                <a:t>ICS</a:t>
              </a:r>
              <a:r>
                <a:rPr kumimoji="0" lang="en-IN" sz="1000" b="0" i="0" u="none" strike="noStrike" kern="1200" cap="none" spc="0" normalizeH="0" baseline="0" noProof="0" dirty="0">
                  <a:ln>
                    <a:noFill/>
                  </a:ln>
                  <a:solidFill>
                    <a:srgbClr val="000000"/>
                  </a:solidFill>
                  <a:effectLst/>
                  <a:uLnTx/>
                  <a:uFillTx/>
                  <a:latin typeface="Arial"/>
                  <a:ea typeface="+mn-ea"/>
                  <a:cs typeface="Arial"/>
                </a:rPr>
                <a:t> </a:t>
              </a:r>
              <a:r>
                <a:rPr kumimoji="0" sz="1000" b="0" i="0" u="none" strike="noStrike" kern="1200" cap="none" spc="0" normalizeH="0" baseline="0" noProof="0" dirty="0">
                  <a:ln>
                    <a:noFill/>
                  </a:ln>
                  <a:solidFill>
                    <a:srgbClr val="000000"/>
                  </a:solidFill>
                  <a:effectLst/>
                  <a:uLnTx/>
                  <a:uFillTx/>
                  <a:latin typeface="Arial"/>
                  <a:ea typeface="+mn-ea"/>
                  <a:cs typeface="Arial"/>
                </a:rPr>
                <a:t>+</a:t>
              </a:r>
              <a:r>
                <a:rPr kumimoji="0" lang="en-IN" sz="1000" b="0" i="0" u="none" strike="noStrike" kern="1200" cap="none" spc="0" normalizeH="0" baseline="0" noProof="0" dirty="0">
                  <a:ln>
                    <a:noFill/>
                  </a:ln>
                  <a:solidFill>
                    <a:srgbClr val="000000"/>
                  </a:solidFill>
                  <a:effectLst/>
                  <a:uLnTx/>
                  <a:uFillTx/>
                  <a:latin typeface="Arial"/>
                  <a:ea typeface="+mn-ea"/>
                  <a:cs typeface="Arial"/>
                </a:rPr>
                <a:t> </a:t>
              </a:r>
              <a:r>
                <a:rPr kumimoji="0" sz="1000" b="0" i="0" u="none" strike="noStrike" kern="1200" cap="none" spc="0" normalizeH="0" baseline="0" noProof="0" dirty="0">
                  <a:ln>
                    <a:noFill/>
                  </a:ln>
                  <a:solidFill>
                    <a:srgbClr val="000000"/>
                  </a:solidFill>
                  <a:effectLst/>
                  <a:uLnTx/>
                  <a:uFillTx/>
                  <a:latin typeface="Arial"/>
                  <a:ea typeface="+mn-ea"/>
                  <a:cs typeface="Arial"/>
                </a:rPr>
                <a:t>LABA</a:t>
              </a:r>
            </a:p>
          </p:txBody>
        </p:sp>
        <p:sp>
          <p:nvSpPr>
            <p:cNvPr id="150" name="object 19">
              <a:extLst>
                <a:ext uri="{FF2B5EF4-FFF2-40B4-BE49-F238E27FC236}">
                  <a16:creationId xmlns:a16="http://schemas.microsoft.com/office/drawing/2014/main" id="{C74775A5-3889-5830-E5F3-5D299F198677}"/>
                </a:ext>
              </a:extLst>
            </p:cNvPr>
            <p:cNvSpPr/>
            <p:nvPr/>
          </p:nvSpPr>
          <p:spPr>
            <a:xfrm>
              <a:off x="6038442" y="5754919"/>
              <a:ext cx="204383" cy="144780"/>
            </a:xfrm>
            <a:custGeom>
              <a:avLst/>
              <a:gdLst/>
              <a:ahLst/>
              <a:cxnLst/>
              <a:rect l="l" t="t" r="r" b="b"/>
              <a:pathLst>
                <a:path w="143510" h="144780">
                  <a:moveTo>
                    <a:pt x="143256" y="0"/>
                  </a:moveTo>
                  <a:lnTo>
                    <a:pt x="0" y="0"/>
                  </a:lnTo>
                  <a:lnTo>
                    <a:pt x="0" y="144779"/>
                  </a:lnTo>
                  <a:lnTo>
                    <a:pt x="143256" y="144779"/>
                  </a:lnTo>
                  <a:lnTo>
                    <a:pt x="143256" y="0"/>
                  </a:lnTo>
                  <a:close/>
                </a:path>
              </a:pathLst>
            </a:custGeom>
            <a:solidFill>
              <a:schemeClr val="accent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51" name="object 20">
              <a:extLst>
                <a:ext uri="{FF2B5EF4-FFF2-40B4-BE49-F238E27FC236}">
                  <a16:creationId xmlns:a16="http://schemas.microsoft.com/office/drawing/2014/main" id="{090380BA-E799-D10D-D406-2F37DD708469}"/>
                </a:ext>
              </a:extLst>
            </p:cNvPr>
            <p:cNvSpPr txBox="1"/>
            <p:nvPr/>
          </p:nvSpPr>
          <p:spPr>
            <a:xfrm>
              <a:off x="6328195" y="5743953"/>
              <a:ext cx="593253" cy="166712"/>
            </a:xfrm>
            <a:prstGeom prst="rect">
              <a:avLst/>
            </a:prstGeom>
          </p:spPr>
          <p:txBody>
            <a:bodyPr vert="horz" wrap="square" lIns="0" tIns="12700" rIns="0" bIns="0" rtlCol="0">
              <a:spAutoFit/>
            </a:bodyPr>
            <a:lstStyle/>
            <a:p>
              <a:pPr marL="12700" marR="0" lvl="0" indent="0" algn="l" defTabSz="1219170" rtl="0" eaLnBrk="1" fontAlgn="auto" latinLnBrk="0" hangingPunct="1">
                <a:lnSpc>
                  <a:spcPct val="100000"/>
                </a:lnSpc>
                <a:spcBef>
                  <a:spcPts val="100"/>
                </a:spcBef>
                <a:spcAft>
                  <a:spcPts val="0"/>
                </a:spcAft>
                <a:buClrTx/>
                <a:buSzTx/>
                <a:buFontTx/>
                <a:buNone/>
                <a:tabLst/>
                <a:defRPr/>
              </a:pPr>
              <a:r>
                <a:rPr kumimoji="0" sz="1000" b="0" i="0" u="none" strike="noStrike" kern="1200" cap="none" spc="0" normalizeH="0" baseline="0" noProof="0" dirty="0">
                  <a:ln>
                    <a:noFill/>
                  </a:ln>
                  <a:solidFill>
                    <a:srgbClr val="000000"/>
                  </a:solidFill>
                  <a:effectLst/>
                  <a:uLnTx/>
                  <a:uFillTx/>
                  <a:latin typeface="Arial"/>
                  <a:ea typeface="+mn-ea"/>
                  <a:cs typeface="Arial"/>
                </a:rPr>
                <a:t>LABA</a:t>
              </a:r>
            </a:p>
          </p:txBody>
        </p:sp>
      </p:grpSp>
    </p:spTree>
    <p:custDataLst>
      <p:tags r:id="rId1"/>
    </p:custDataLst>
    <p:extLst>
      <p:ext uri="{BB962C8B-B14F-4D97-AF65-F5344CB8AC3E}">
        <p14:creationId xmlns:p14="http://schemas.microsoft.com/office/powerpoint/2010/main" val="4325546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12">
            <a:extLst>
              <a:ext uri="{FF2B5EF4-FFF2-40B4-BE49-F238E27FC236}">
                <a16:creationId xmlns:a16="http://schemas.microsoft.com/office/drawing/2014/main" id="{2CBE434C-D23A-56FC-F041-0631FA88F158}"/>
              </a:ext>
            </a:extLst>
          </p:cNvPr>
          <p:cNvSpPr txBox="1"/>
          <p:nvPr/>
        </p:nvSpPr>
        <p:spPr>
          <a:xfrm>
            <a:off x="365125" y="1321651"/>
            <a:ext cx="11460163" cy="705993"/>
          </a:xfrm>
          <a:prstGeom prst="rect">
            <a:avLst/>
          </a:prstGeom>
          <a:solidFill>
            <a:schemeClr val="bg2">
              <a:lumMod val="20000"/>
              <a:lumOff val="80000"/>
            </a:schemeClr>
          </a:solidFill>
        </p:spPr>
        <p:txBody>
          <a:bodyPr vert="horz" wrap="square" lIns="82296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sz="1400" b="1" i="0" u="none" strike="noStrike" kern="1200" cap="none" spc="0" normalizeH="0" baseline="0" noProof="0" dirty="0">
                <a:ln>
                  <a:noFill/>
                </a:ln>
                <a:solidFill>
                  <a:srgbClr val="000000"/>
                </a:solidFill>
                <a:effectLst/>
                <a:uLnTx/>
                <a:uFillTx/>
                <a:latin typeface="Arial"/>
                <a:ea typeface="+mn-ea"/>
                <a:cs typeface="Arial"/>
              </a:rPr>
              <a:t>Blood eosinophils are associated with exacerbation frequency</a:t>
            </a:r>
            <a:r>
              <a:rPr kumimoji="0" sz="1400" b="1" i="0" u="none" strike="noStrike" kern="1200" cap="none" spc="0" normalizeH="0" baseline="24691" noProof="0" dirty="0">
                <a:ln>
                  <a:noFill/>
                </a:ln>
                <a:solidFill>
                  <a:srgbClr val="000000"/>
                </a:solidFill>
                <a:effectLst/>
                <a:uLnTx/>
                <a:uFillTx/>
                <a:latin typeface="Arial"/>
                <a:ea typeface="+mn-ea"/>
                <a:cs typeface="Arial"/>
              </a:rPr>
              <a:t>1,2</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sp>
        <p:nvSpPr>
          <p:cNvPr id="5" name="object 16">
            <a:extLst>
              <a:ext uri="{FF2B5EF4-FFF2-40B4-BE49-F238E27FC236}">
                <a16:creationId xmlns:a16="http://schemas.microsoft.com/office/drawing/2014/main" id="{8874E484-C2A6-D79A-218C-C5358878E3BF}"/>
              </a:ext>
            </a:extLst>
          </p:cNvPr>
          <p:cNvSpPr txBox="1"/>
          <p:nvPr/>
        </p:nvSpPr>
        <p:spPr>
          <a:xfrm>
            <a:off x="365125" y="2138318"/>
            <a:ext cx="11460163" cy="705993"/>
          </a:xfrm>
          <a:prstGeom prst="rect">
            <a:avLst/>
          </a:prstGeom>
          <a:solidFill>
            <a:schemeClr val="bg2">
              <a:lumMod val="20000"/>
              <a:lumOff val="80000"/>
            </a:schemeClr>
          </a:solidFill>
        </p:spPr>
        <p:txBody>
          <a:bodyPr vert="horz" wrap="square" lIns="822960" tIns="0" rIns="0" bIns="0" rtlCol="0" anchor="ctr" anchorCtr="0">
            <a:noAutofit/>
          </a:bodyPr>
          <a:lstStyle/>
          <a:p>
            <a:pPr marL="0" marR="346075" lvl="0" indent="0" algn="l" defTabSz="1219170" rtl="0" eaLnBrk="1" fontAlgn="auto" latinLnBrk="0" hangingPunct="1">
              <a:lnSpc>
                <a:spcPct val="100000"/>
              </a:lnSpc>
              <a:spcBef>
                <a:spcPts val="465"/>
              </a:spcBef>
              <a:spcAft>
                <a:spcPts val="0"/>
              </a:spcAft>
              <a:buClrTx/>
              <a:buSzTx/>
              <a:buFontTx/>
              <a:buNone/>
              <a:tabLst/>
              <a:defRPr/>
            </a:pPr>
            <a:r>
              <a:rPr kumimoji="0" sz="1400" b="1" i="0" u="none" strike="noStrike" kern="1200" cap="none" spc="0" normalizeH="0" baseline="0" noProof="0" dirty="0">
                <a:ln>
                  <a:noFill/>
                </a:ln>
                <a:solidFill>
                  <a:srgbClr val="000000"/>
                </a:solidFill>
                <a:effectLst/>
                <a:uLnTx/>
                <a:uFillTx/>
                <a:latin typeface="Arial"/>
                <a:ea typeface="+mn-ea"/>
                <a:cs typeface="Arial"/>
              </a:rPr>
              <a:t>Although currently not commonly used in clinical practice, post</a:t>
            </a:r>
            <a:r>
              <a:rPr kumimoji="0" lang="en-IN" sz="1400" b="1"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hoc analyses of blood</a:t>
            </a:r>
            <a:r>
              <a:rPr kumimoji="0" lang="en-US" sz="1400" b="1"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eosinophil counts show that it is a consistent biomarker of the probability of treatment</a:t>
            </a:r>
            <a:r>
              <a:rPr kumimoji="0" lang="en-US" sz="1400" b="1"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000000"/>
                </a:solidFill>
                <a:effectLst/>
                <a:uLnTx/>
                <a:uFillTx/>
                <a:latin typeface="Arial"/>
                <a:ea typeface="+mn-ea"/>
                <a:cs typeface="Arial"/>
              </a:rPr>
              <a:t>benefit with an ICS-containing regimen</a:t>
            </a:r>
            <a:r>
              <a:rPr kumimoji="0" sz="1400" b="1" i="0" u="none" strike="noStrike" kern="1200" cap="none" spc="0" normalizeH="0" baseline="24691" noProof="0" dirty="0">
                <a:ln>
                  <a:noFill/>
                </a:ln>
                <a:solidFill>
                  <a:srgbClr val="000000"/>
                </a:solidFill>
                <a:effectLst/>
                <a:uLnTx/>
                <a:uFillTx/>
                <a:latin typeface="Arial"/>
                <a:ea typeface="+mn-ea"/>
                <a:cs typeface="Arial"/>
              </a:rPr>
              <a:t>1</a:t>
            </a:r>
            <a:r>
              <a:rPr kumimoji="0" lang="en-US" sz="1400" b="1" i="0" u="none" strike="noStrike" kern="1200" cap="none" spc="0" normalizeH="0" baseline="24691" noProof="0" dirty="0">
                <a:ln>
                  <a:noFill/>
                </a:ln>
                <a:solidFill>
                  <a:srgbClr val="000000"/>
                </a:solidFill>
                <a:effectLst/>
                <a:uLnTx/>
                <a:uFillTx/>
                <a:latin typeface="Arial"/>
                <a:ea typeface="+mn-ea"/>
                <a:cs typeface="Arial"/>
              </a:rPr>
              <a:t>,3</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sp>
        <p:nvSpPr>
          <p:cNvPr id="7" name="object 20">
            <a:extLst>
              <a:ext uri="{FF2B5EF4-FFF2-40B4-BE49-F238E27FC236}">
                <a16:creationId xmlns:a16="http://schemas.microsoft.com/office/drawing/2014/main" id="{F0DFD9F7-4B5C-BDFE-1C0E-E44D023B8281}"/>
              </a:ext>
            </a:extLst>
          </p:cNvPr>
          <p:cNvSpPr txBox="1"/>
          <p:nvPr/>
        </p:nvSpPr>
        <p:spPr>
          <a:xfrm>
            <a:off x="365125" y="2954985"/>
            <a:ext cx="11460163" cy="705993"/>
          </a:xfrm>
          <a:prstGeom prst="rect">
            <a:avLst/>
          </a:prstGeom>
          <a:solidFill>
            <a:schemeClr val="bg2">
              <a:lumMod val="20000"/>
              <a:lumOff val="80000"/>
            </a:schemeClr>
          </a:solidFill>
        </p:spPr>
        <p:txBody>
          <a:bodyPr vert="horz" wrap="square" lIns="822960" tIns="0" rIns="0" bIns="0" rtlCol="0" anchor="ctr" anchorCtr="0">
            <a:noAutofit/>
          </a:bodyPr>
          <a:lstStyle/>
          <a:p>
            <a:pPr marL="0" marR="748665" lvl="0" indent="0" algn="l" defTabSz="1219170" rtl="0" eaLnBrk="1" fontAlgn="auto" latinLnBrk="0" hangingPunct="1">
              <a:lnSpc>
                <a:spcPct val="100000"/>
              </a:lnSpc>
              <a:spcBef>
                <a:spcPts val="1310"/>
              </a:spcBef>
              <a:spcAft>
                <a:spcPts val="0"/>
              </a:spcAft>
              <a:buClrTx/>
              <a:buSzTx/>
              <a:buFontTx/>
              <a:buNone/>
              <a:tabLst/>
              <a:defRPr/>
            </a:pPr>
            <a:r>
              <a:rPr kumimoji="0" lang="en-IN" sz="1400" b="1" i="0" u="none" strike="noStrike" kern="1200" cap="none" spc="0" normalizeH="0" baseline="0" noProof="0" dirty="0">
                <a:ln>
                  <a:noFill/>
                </a:ln>
                <a:solidFill>
                  <a:srgbClr val="000000"/>
                </a:solidFill>
                <a:effectLst/>
                <a:uLnTx/>
                <a:uFillTx/>
                <a:latin typeface="Arial"/>
                <a:ea typeface="+mn-ea"/>
                <a:cs typeface="Arial"/>
              </a:rPr>
              <a:t>B</a:t>
            </a:r>
            <a:r>
              <a:rPr kumimoji="0" sz="1400" b="1" i="0" u="none" strike="noStrike" kern="1200" cap="none" spc="0" normalizeH="0" baseline="0" noProof="0" dirty="0" err="1">
                <a:ln>
                  <a:noFill/>
                </a:ln>
                <a:solidFill>
                  <a:srgbClr val="000000"/>
                </a:solidFill>
                <a:effectLst/>
                <a:uLnTx/>
                <a:uFillTx/>
                <a:latin typeface="Arial"/>
                <a:ea typeface="+mn-ea"/>
                <a:cs typeface="Arial"/>
              </a:rPr>
              <a:t>lood</a:t>
            </a:r>
            <a:r>
              <a:rPr kumimoji="0" sz="1400" b="1" i="0" u="none" strike="noStrike" kern="1200" cap="none" spc="0" normalizeH="0" baseline="0" noProof="0" dirty="0">
                <a:ln>
                  <a:noFill/>
                </a:ln>
                <a:solidFill>
                  <a:srgbClr val="000000"/>
                </a:solidFill>
                <a:effectLst/>
                <a:uLnTx/>
                <a:uFillTx/>
                <a:latin typeface="Arial"/>
                <a:ea typeface="+mn-ea"/>
                <a:cs typeface="Arial"/>
              </a:rPr>
              <a:t> eosinophil count</a:t>
            </a:r>
            <a:r>
              <a:rPr kumimoji="0" lang="en-IN" sz="1400" b="1" i="0" u="none" strike="noStrike" kern="1200" cap="none" spc="0" normalizeH="0" baseline="0" noProof="0" dirty="0">
                <a:ln>
                  <a:noFill/>
                </a:ln>
                <a:solidFill>
                  <a:srgbClr val="000000"/>
                </a:solidFill>
                <a:effectLst/>
                <a:uLnTx/>
                <a:uFillTx/>
                <a:latin typeface="Arial"/>
                <a:ea typeface="+mn-ea"/>
                <a:cs typeface="Arial"/>
              </a:rPr>
              <a:t>s</a:t>
            </a:r>
            <a:r>
              <a:rPr kumimoji="0" sz="1400" b="1" i="0" u="none" strike="noStrike" kern="1200" cap="none" spc="0" normalizeH="0" baseline="0" noProof="0" dirty="0">
                <a:ln>
                  <a:noFill/>
                </a:ln>
                <a:solidFill>
                  <a:srgbClr val="000000"/>
                </a:solidFill>
                <a:effectLst/>
                <a:uLnTx/>
                <a:uFillTx/>
                <a:latin typeface="Arial"/>
                <a:ea typeface="+mn-ea"/>
                <a:cs typeface="Arial"/>
              </a:rPr>
              <a:t> </a:t>
            </a:r>
            <a:r>
              <a:rPr kumimoji="0" lang="en-IN" sz="1400" b="1" i="0" u="none" strike="noStrike" kern="1200" cap="none" spc="0" normalizeH="0" baseline="0" noProof="0" dirty="0">
                <a:ln>
                  <a:noFill/>
                </a:ln>
                <a:solidFill>
                  <a:srgbClr val="000000"/>
                </a:solidFill>
                <a:effectLst/>
                <a:uLnTx/>
                <a:uFillTx/>
                <a:latin typeface="Arial"/>
                <a:ea typeface="+mn-ea"/>
                <a:cs typeface="Arial"/>
              </a:rPr>
              <a:t>(</a:t>
            </a:r>
            <a:r>
              <a:rPr kumimoji="0" lang="en-US" sz="1400" b="1" i="0" u="none" strike="noStrike" kern="1200" cap="none" spc="0" normalizeH="0" baseline="0" noProof="0" dirty="0">
                <a:ln>
                  <a:noFill/>
                </a:ln>
                <a:solidFill>
                  <a:srgbClr val="000000"/>
                </a:solidFill>
                <a:effectLst/>
                <a:uLnTx/>
                <a:uFillTx/>
                <a:latin typeface="Arial"/>
                <a:ea typeface="+mn-ea"/>
                <a:cs typeface="Arial"/>
              </a:rPr>
              <a:t>≥ 300 cells/µL) help to identify patients with COPD at a higher risk of exacerbations and more likely to benefit from preventive treatment with ICS</a:t>
            </a:r>
            <a:r>
              <a:rPr kumimoji="0" lang="en-US" sz="1400" b="1" i="0" u="none" strike="noStrike" kern="1200" cap="none" spc="0" normalizeH="0" baseline="24691" noProof="0" dirty="0">
                <a:ln>
                  <a:noFill/>
                </a:ln>
                <a:solidFill>
                  <a:srgbClr val="000000"/>
                </a:solidFill>
                <a:effectLst/>
                <a:uLnTx/>
                <a:uFillTx/>
                <a:latin typeface="Arial"/>
                <a:ea typeface="+mn-ea"/>
                <a:cs typeface="Arial"/>
              </a:rPr>
              <a:t>3</a:t>
            </a:r>
            <a:endParaRPr kumimoji="0" sz="1400" b="0" i="0" u="none" strike="noStrike" kern="1200" cap="none" spc="0" normalizeH="0" baseline="24691" noProof="0" dirty="0">
              <a:ln>
                <a:noFill/>
              </a:ln>
              <a:solidFill>
                <a:srgbClr val="000000"/>
              </a:solidFill>
              <a:effectLst/>
              <a:uLnTx/>
              <a:uFillTx/>
              <a:latin typeface="Arial"/>
              <a:ea typeface="+mn-ea"/>
              <a:cs typeface="Arial"/>
            </a:endParaRPr>
          </a:p>
        </p:txBody>
      </p:sp>
      <p:sp>
        <p:nvSpPr>
          <p:cNvPr id="9" name="object 21">
            <a:extLst>
              <a:ext uri="{FF2B5EF4-FFF2-40B4-BE49-F238E27FC236}">
                <a16:creationId xmlns:a16="http://schemas.microsoft.com/office/drawing/2014/main" id="{B056E68C-D665-A4F7-5138-48139EC18EF1}"/>
              </a:ext>
            </a:extLst>
          </p:cNvPr>
          <p:cNvSpPr txBox="1"/>
          <p:nvPr/>
        </p:nvSpPr>
        <p:spPr>
          <a:xfrm>
            <a:off x="365125" y="3771652"/>
            <a:ext cx="11460163" cy="705993"/>
          </a:xfrm>
          <a:prstGeom prst="rect">
            <a:avLst/>
          </a:prstGeom>
          <a:solidFill>
            <a:schemeClr val="bg2">
              <a:lumMod val="20000"/>
              <a:lumOff val="80000"/>
            </a:schemeClr>
          </a:solidFill>
        </p:spPr>
        <p:txBody>
          <a:bodyPr vert="horz" wrap="square" lIns="822960" tIns="0" rIns="0" bIns="0" rtlCol="0" anchor="ctr" anchorCtr="0">
            <a:noAutofit/>
          </a:bodyPr>
          <a:lstStyle/>
          <a:p>
            <a:pPr marL="0" marR="431165" lvl="0" indent="0" algn="l" defTabSz="1219170" rtl="0" eaLnBrk="1" fontAlgn="auto" latinLnBrk="0" hangingPunct="1">
              <a:lnSpc>
                <a:spcPct val="100000"/>
              </a:lnSpc>
              <a:spcBef>
                <a:spcPts val="475"/>
              </a:spcBef>
              <a:spcAft>
                <a:spcPts val="0"/>
              </a:spcAft>
              <a:buClrTx/>
              <a:buSzTx/>
              <a:buFontTx/>
              <a:buNone/>
              <a:tabLst/>
              <a:defRPr/>
            </a:pPr>
            <a:r>
              <a:rPr kumimoji="0" lang="en-US" sz="1400" b="1" i="0" u="none" strike="noStrike" kern="1200" cap="none" spc="0" normalizeH="0" baseline="0" noProof="0" dirty="0">
                <a:ln>
                  <a:noFill/>
                </a:ln>
                <a:solidFill>
                  <a:srgbClr val="000000"/>
                </a:solidFill>
                <a:effectLst/>
                <a:uLnTx/>
                <a:uFillTx/>
                <a:latin typeface="Arial"/>
                <a:ea typeface="+mn-ea"/>
                <a:cs typeface="Arial"/>
              </a:rPr>
              <a:t>It is recommended to consider the threshold of &lt; 100 cells/µL and ≥ 300 cells/µL as estimates, rather than precise cutoff values, that can predict different probabilities of treatment benefits</a:t>
            </a:r>
            <a:r>
              <a:rPr kumimoji="0" lang="en-US" sz="1400" b="1" i="0" u="none" strike="noStrike" kern="1200" cap="none" spc="0" normalizeH="0" baseline="30000" noProof="0" dirty="0">
                <a:ln>
                  <a:noFill/>
                </a:ln>
                <a:solidFill>
                  <a:srgbClr val="000000"/>
                </a:solidFill>
                <a:effectLst/>
                <a:uLnTx/>
                <a:uFillTx/>
                <a:latin typeface="Arial"/>
                <a:ea typeface="+mn-ea"/>
                <a:cs typeface="Arial"/>
              </a:rPr>
              <a:t>3</a:t>
            </a:r>
            <a:endParaRPr kumimoji="0" sz="14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10" name="object 28">
            <a:extLst>
              <a:ext uri="{FF2B5EF4-FFF2-40B4-BE49-F238E27FC236}">
                <a16:creationId xmlns:a16="http://schemas.microsoft.com/office/drawing/2014/main" id="{091F0212-CC67-3BEB-FD41-8B7DE5026D82}"/>
              </a:ext>
            </a:extLst>
          </p:cNvPr>
          <p:cNvSpPr txBox="1"/>
          <p:nvPr/>
        </p:nvSpPr>
        <p:spPr>
          <a:xfrm>
            <a:off x="365125" y="4588320"/>
            <a:ext cx="11460163" cy="705993"/>
          </a:xfrm>
          <a:prstGeom prst="rect">
            <a:avLst/>
          </a:prstGeom>
          <a:solidFill>
            <a:schemeClr val="tx2"/>
          </a:solidFill>
        </p:spPr>
        <p:txBody>
          <a:bodyPr vert="horz" wrap="square" lIns="822960" tIns="0" rIns="0" bIns="0" rtlCol="0" anchor="ctr" anchorCtr="0">
            <a:noAutofit/>
          </a:bodyPr>
          <a:lstStyle/>
          <a:p>
            <a:pPr marL="0" marR="0" lvl="0" indent="0" algn="l" defTabSz="1219170" rtl="0" eaLnBrk="1" fontAlgn="auto" latinLnBrk="0" hangingPunct="1">
              <a:lnSpc>
                <a:spcPct val="100000"/>
              </a:lnSpc>
              <a:spcBef>
                <a:spcPts val="1320"/>
              </a:spcBef>
              <a:spcAft>
                <a:spcPts val="0"/>
              </a:spcAft>
              <a:buClrTx/>
              <a:buSzTx/>
              <a:buFontTx/>
              <a:buNone/>
              <a:tabLst/>
              <a:defRPr/>
            </a:pPr>
            <a:r>
              <a:rPr kumimoji="0" sz="1400" b="1" i="0" u="none" strike="noStrike" kern="1200" cap="none" spc="0" normalizeH="0" baseline="0" noProof="0" dirty="0">
                <a:ln>
                  <a:noFill/>
                </a:ln>
                <a:solidFill>
                  <a:srgbClr val="FFFFFF"/>
                </a:solidFill>
                <a:effectLst/>
                <a:uLnTx/>
                <a:uFillTx/>
                <a:latin typeface="Arial"/>
                <a:ea typeface="+mn-ea"/>
                <a:cs typeface="Arial"/>
              </a:rPr>
              <a:t>Use of blood eosinophil counts to aid treatment choices may help to provide the</a:t>
            </a:r>
            <a:r>
              <a:rPr kumimoji="0" lang="en-US" sz="1400" b="0" i="0" u="none" strike="noStrike" kern="1200" cap="none" spc="0" normalizeH="0" baseline="0" noProof="0" dirty="0">
                <a:ln>
                  <a:noFill/>
                </a:ln>
                <a:solidFill>
                  <a:srgbClr val="000000"/>
                </a:solidFill>
                <a:effectLst/>
                <a:uLnTx/>
                <a:uFillTx/>
                <a:latin typeface="Arial"/>
                <a:ea typeface="+mn-ea"/>
                <a:cs typeface="Arial"/>
              </a:rPr>
              <a:t> </a:t>
            </a:r>
            <a:r>
              <a:rPr kumimoji="0" sz="1400" b="1" i="0" u="none" strike="noStrike" kern="1200" cap="none" spc="0" normalizeH="0" baseline="0" noProof="0" dirty="0">
                <a:ln>
                  <a:noFill/>
                </a:ln>
                <a:solidFill>
                  <a:srgbClr val="FFFFFF"/>
                </a:solidFill>
                <a:effectLst/>
                <a:uLnTx/>
                <a:uFillTx/>
                <a:latin typeface="Arial"/>
                <a:ea typeface="+mn-ea"/>
                <a:cs typeface="Arial"/>
              </a:rPr>
              <a:t>right</a:t>
            </a:r>
            <a:r>
              <a:rPr kumimoji="0" lang="en-IN" sz="1400" b="1" i="0" u="none" strike="noStrike" kern="1200" cap="none" spc="0" normalizeH="0" baseline="0" noProof="0" dirty="0">
                <a:ln>
                  <a:noFill/>
                </a:ln>
                <a:solidFill>
                  <a:srgbClr val="FFFFFF"/>
                </a:solidFill>
                <a:effectLst/>
                <a:uLnTx/>
                <a:uFillTx/>
                <a:latin typeface="Arial"/>
                <a:ea typeface="+mn-ea"/>
                <a:cs typeface="Arial"/>
              </a:rPr>
              <a:t> treatment to the right</a:t>
            </a:r>
            <a:r>
              <a:rPr kumimoji="0" sz="1400" b="1" i="0" u="none" strike="noStrike" kern="1200" cap="none" spc="0" normalizeH="0" baseline="0" noProof="0" dirty="0">
                <a:ln>
                  <a:noFill/>
                </a:ln>
                <a:solidFill>
                  <a:srgbClr val="FFFFFF"/>
                </a:solidFill>
                <a:effectLst/>
                <a:uLnTx/>
                <a:uFillTx/>
                <a:latin typeface="Arial"/>
                <a:ea typeface="+mn-ea"/>
                <a:cs typeface="Arial"/>
              </a:rPr>
              <a:t> patient</a:t>
            </a:r>
            <a:r>
              <a:rPr kumimoji="0" lang="en-US" sz="1400" b="1" i="0" u="none" strike="noStrike" kern="1200" cap="none" spc="0" normalizeH="0" baseline="30000" noProof="0" dirty="0">
                <a:ln>
                  <a:noFill/>
                </a:ln>
                <a:solidFill>
                  <a:srgbClr val="FFFFFF"/>
                </a:solidFill>
                <a:effectLst/>
                <a:uLnTx/>
                <a:uFillTx/>
                <a:latin typeface="Arial"/>
                <a:ea typeface="+mn-ea"/>
                <a:cs typeface="Arial"/>
              </a:rPr>
              <a:t>3</a:t>
            </a:r>
            <a:endParaRPr kumimoji="0" sz="14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90</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7208660B-F8F9-49B2-9569-CD6AE18A546C}"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*The use of blood eosinophils as a biomarker, while a part of GSK’s strategy, is currently not commonly used in real-world clinical practice. </a:t>
            </a:r>
          </a:p>
          <a:p>
            <a:r>
              <a:rPr lang="en-US" dirty="0"/>
              <a:t>ICS, inhaled corticosteroid</a:t>
            </a:r>
          </a:p>
          <a:p>
            <a:r>
              <a:rPr lang="en-US" dirty="0"/>
              <a:t>1. Pascoe S, et al. </a:t>
            </a:r>
            <a:r>
              <a:rPr lang="en-US" i="1" dirty="0"/>
              <a:t>Lancet Respir Med</a:t>
            </a:r>
            <a:r>
              <a:rPr lang="en-US" dirty="0"/>
              <a:t>. 2015;3(6):435-442; 2. Watz H, et al. </a:t>
            </a:r>
            <a:r>
              <a:rPr lang="en-US" i="1" dirty="0"/>
              <a:t>Lancet Respir Med</a:t>
            </a:r>
            <a:r>
              <a:rPr lang="en-US" dirty="0"/>
              <a:t>. 2016;4(5):390-398; 3.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Blood eosinophils as a biomarker of exacerbations and ICS effect in COPD*</a:t>
            </a:r>
            <a:endParaRPr lang="en-GB" dirty="0"/>
          </a:p>
        </p:txBody>
      </p:sp>
      <p:pic>
        <p:nvPicPr>
          <p:cNvPr id="84" name="Graphic 83" descr="Bullseye with solid fill">
            <a:extLst>
              <a:ext uri="{FF2B5EF4-FFF2-40B4-BE49-F238E27FC236}">
                <a16:creationId xmlns:a16="http://schemas.microsoft.com/office/drawing/2014/main" id="{CC4438D2-069E-F268-ED1B-AE6F832F595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17144" y="4664710"/>
            <a:ext cx="553212" cy="553212"/>
          </a:xfrm>
          <a:prstGeom prst="rect">
            <a:avLst/>
          </a:prstGeom>
        </p:spPr>
      </p:pic>
      <p:pic>
        <p:nvPicPr>
          <p:cNvPr id="86" name="Graphic 85" descr="Newspaper with solid fill">
            <a:extLst>
              <a:ext uri="{FF2B5EF4-FFF2-40B4-BE49-F238E27FC236}">
                <a16:creationId xmlns:a16="http://schemas.microsoft.com/office/drawing/2014/main" id="{B96A6987-A880-972C-52BD-1B4B0B619DA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17144" y="3848042"/>
            <a:ext cx="553212" cy="553212"/>
          </a:xfrm>
          <a:prstGeom prst="rect">
            <a:avLst/>
          </a:prstGeom>
        </p:spPr>
      </p:pic>
      <p:pic>
        <p:nvPicPr>
          <p:cNvPr id="88" name="Graphic 87" descr="Microscope with solid fill">
            <a:extLst>
              <a:ext uri="{FF2B5EF4-FFF2-40B4-BE49-F238E27FC236}">
                <a16:creationId xmlns:a16="http://schemas.microsoft.com/office/drawing/2014/main" id="{E4C517BA-BBC1-F876-7014-A7D3E137525D}"/>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517144" y="3031375"/>
            <a:ext cx="553212" cy="553212"/>
          </a:xfrm>
          <a:prstGeom prst="rect">
            <a:avLst/>
          </a:prstGeom>
        </p:spPr>
      </p:pic>
      <p:pic>
        <p:nvPicPr>
          <p:cNvPr id="90" name="Graphic 89" descr="Water with solid fill">
            <a:extLst>
              <a:ext uri="{FF2B5EF4-FFF2-40B4-BE49-F238E27FC236}">
                <a16:creationId xmlns:a16="http://schemas.microsoft.com/office/drawing/2014/main" id="{5E4D921E-7495-FA73-7CE0-DC1B2AFC4B29}"/>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17144" y="2214708"/>
            <a:ext cx="553212" cy="553212"/>
          </a:xfrm>
          <a:prstGeom prst="rect">
            <a:avLst/>
          </a:prstGeom>
        </p:spPr>
      </p:pic>
      <p:pic>
        <p:nvPicPr>
          <p:cNvPr id="92" name="Graphic 91" descr="Inpatient with solid fill">
            <a:extLst>
              <a:ext uri="{FF2B5EF4-FFF2-40B4-BE49-F238E27FC236}">
                <a16:creationId xmlns:a16="http://schemas.microsoft.com/office/drawing/2014/main" id="{534E1728-DCE7-81A9-E55C-73099C8B5BCE}"/>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517144" y="1347241"/>
            <a:ext cx="553212" cy="553212"/>
          </a:xfrm>
          <a:prstGeom prst="rect">
            <a:avLst/>
          </a:prstGeom>
        </p:spPr>
      </p:pic>
    </p:spTree>
    <p:custDataLst>
      <p:tags r:id="rId1"/>
    </p:custDataLst>
    <p:extLst>
      <p:ext uri="{BB962C8B-B14F-4D97-AF65-F5344CB8AC3E}">
        <p14:creationId xmlns:p14="http://schemas.microsoft.com/office/powerpoint/2010/main" val="1243979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03F502-705E-9EAC-1B24-8BA7F2EB18A8}"/>
              </a:ext>
            </a:extLst>
          </p:cNvPr>
          <p:cNvSpPr>
            <a:spLocks noGrp="1"/>
          </p:cNvSpPr>
          <p:nvPr>
            <p:ph type="title"/>
          </p:nvPr>
        </p:nvSpPr>
        <p:spPr/>
        <p:txBody>
          <a:bodyPr/>
          <a:lstStyle/>
          <a:p>
            <a:r>
              <a:rPr lang="en-US" dirty="0"/>
              <a:t>Monitoring of COPD</a:t>
            </a:r>
            <a:endParaRPr lang="en-GB" dirty="0"/>
          </a:p>
        </p:txBody>
      </p:sp>
      <p:sp>
        <p:nvSpPr>
          <p:cNvPr id="8" name="Subtitle 7">
            <a:extLst>
              <a:ext uri="{FF2B5EF4-FFF2-40B4-BE49-F238E27FC236}">
                <a16:creationId xmlns:a16="http://schemas.microsoft.com/office/drawing/2014/main" id="{3AE3037D-B5E4-448D-8468-737A93D2A8A2}"/>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2857480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92</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AF2CCD5E-5638-4791-B180-C92A889FB08E}"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FEV</a:t>
            </a:r>
            <a:r>
              <a:rPr lang="en-US" baseline="-25000" dirty="0"/>
              <a:t>1</a:t>
            </a:r>
            <a:r>
              <a:rPr lang="en-US" dirty="0"/>
              <a:t>, forced expiratory volume in 1 second</a:t>
            </a:r>
          </a:p>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Monitoring of COPD</a:t>
            </a:r>
            <a:endParaRPr lang="en-GB" dirty="0"/>
          </a:p>
        </p:txBody>
      </p:sp>
      <p:sp>
        <p:nvSpPr>
          <p:cNvPr id="11" name="Rectangle 10">
            <a:extLst>
              <a:ext uri="{FF2B5EF4-FFF2-40B4-BE49-F238E27FC236}">
                <a16:creationId xmlns:a16="http://schemas.microsoft.com/office/drawing/2014/main" id="{429D1A07-C83A-0D89-9301-DBD9C7CE7DC1}"/>
              </a:ext>
            </a:extLst>
          </p:cNvPr>
          <p:cNvSpPr/>
          <p:nvPr/>
        </p:nvSpPr>
        <p:spPr>
          <a:xfrm>
            <a:off x="365124" y="1303338"/>
            <a:ext cx="11460163" cy="1169551"/>
          </a:xfrm>
          <a:prstGeom prst="rect">
            <a:avLst/>
          </a:prstGeom>
        </p:spPr>
        <p:txBody>
          <a:bodyPr wrap="square" lIns="0" tIns="0" rIns="0" bIns="0">
            <a:spAutoFit/>
          </a:bodyPr>
          <a:lstStyle/>
          <a:p>
            <a:pPr marL="227013" marR="5080" lvl="0" indent="-227013"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Symptoms, exacerbations and the level of airflow obstructions should be monitored to determine when to modify management and to identify any complication and/or comorbidities that may develop</a:t>
            </a:r>
          </a:p>
          <a:p>
            <a:pPr marL="227013" marR="5080" lvl="0" indent="-227013"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Virtual and hybrid virtual/in-person care models may improve healthcare access, outcomes and affordability</a:t>
            </a:r>
          </a:p>
          <a:p>
            <a:pPr marL="0" marR="5080" lvl="0" indent="0" algn="l" defTabSz="1219170" rtl="0" eaLnBrk="1" fontAlgn="auto" latinLnBrk="0" hangingPunct="1">
              <a:lnSpc>
                <a:spcPct val="100000"/>
              </a:lnSpc>
              <a:spcBef>
                <a:spcPts val="600"/>
              </a:spcBef>
              <a:spcAft>
                <a:spcPts val="600"/>
              </a:spcAft>
              <a:buClrTx/>
              <a:buSzTx/>
              <a:buFontTx/>
              <a:buNone/>
              <a:tabLst>
                <a:tab pos="198755" algn="l"/>
              </a:tabLst>
              <a:defRPr/>
            </a:pPr>
            <a:r>
              <a:rPr kumimoji="0" lang="en-US" sz="1400" b="1" i="0" u="none" strike="noStrike" kern="1200" cap="none" spc="0" normalizeH="0" baseline="0" noProof="0" dirty="0">
                <a:ln>
                  <a:noFill/>
                </a:ln>
                <a:solidFill>
                  <a:srgbClr val="F36633"/>
                </a:solidFill>
                <a:effectLst/>
                <a:uLnTx/>
                <a:uFillTx/>
                <a:latin typeface="Arial"/>
                <a:ea typeface="+mn-ea"/>
                <a:cs typeface="Arial"/>
              </a:rPr>
              <a:t>Monitoring of COPD involves investigating the following:</a:t>
            </a:r>
          </a:p>
        </p:txBody>
      </p:sp>
      <p:sp>
        <p:nvSpPr>
          <p:cNvPr id="12" name="Rectangle 11">
            <a:extLst>
              <a:ext uri="{FF2B5EF4-FFF2-40B4-BE49-F238E27FC236}">
                <a16:creationId xmlns:a16="http://schemas.microsoft.com/office/drawing/2014/main" id="{FC15149D-AFE7-C9F2-8C31-4B6CBAA186DA}"/>
              </a:ext>
            </a:extLst>
          </p:cNvPr>
          <p:cNvSpPr/>
          <p:nvPr/>
        </p:nvSpPr>
        <p:spPr>
          <a:xfrm>
            <a:off x="367284" y="2898285"/>
            <a:ext cx="11457432" cy="403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Monitoring</a:t>
            </a:r>
          </a:p>
        </p:txBody>
      </p:sp>
      <p:sp>
        <p:nvSpPr>
          <p:cNvPr id="13" name="Rectangle 12">
            <a:extLst>
              <a:ext uri="{FF2B5EF4-FFF2-40B4-BE49-F238E27FC236}">
                <a16:creationId xmlns:a16="http://schemas.microsoft.com/office/drawing/2014/main" id="{632AE04D-F341-6208-5D7C-F14E576C0E60}"/>
              </a:ext>
            </a:extLst>
          </p:cNvPr>
          <p:cNvSpPr/>
          <p:nvPr/>
        </p:nvSpPr>
        <p:spPr>
          <a:xfrm>
            <a:off x="365124" y="3912560"/>
            <a:ext cx="1807646" cy="1269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Spirometry</a:t>
            </a:r>
            <a:br>
              <a:rPr kumimoji="0" lang="en-US" sz="1400" b="1" i="0" u="none" strike="noStrike" kern="1200" cap="none" spc="0" normalizeH="0" baseline="0" noProof="0" dirty="0">
                <a:ln>
                  <a:noFill/>
                </a:ln>
                <a:solidFill>
                  <a:prstClr val="white"/>
                </a:solidFill>
                <a:effectLst/>
                <a:uLnTx/>
                <a:uFillTx/>
                <a:latin typeface="Arial"/>
                <a:ea typeface="+mn-ea"/>
                <a:cs typeface="Noto Sans"/>
              </a:rPr>
            </a:br>
            <a:r>
              <a:rPr kumimoji="0" lang="en-US" sz="1400" b="1" i="0" u="none" strike="noStrike" kern="1200" cap="none" spc="0" normalizeH="0" baseline="0" noProof="0" dirty="0">
                <a:ln>
                  <a:noFill/>
                </a:ln>
                <a:solidFill>
                  <a:prstClr val="white"/>
                </a:solidFill>
                <a:effectLst/>
                <a:uLnTx/>
                <a:uFillTx/>
                <a:latin typeface="Arial"/>
                <a:ea typeface="+mn-ea"/>
                <a:cs typeface="Noto Sans"/>
              </a:rPr>
              <a:t>to measure decline in FEV</a:t>
            </a:r>
            <a:r>
              <a:rPr kumimoji="0" lang="en-US" sz="1400" b="1" i="0" u="none" strike="noStrike" kern="1200" cap="none" spc="0" normalizeH="0" baseline="-25000" noProof="0" dirty="0">
                <a:ln>
                  <a:noFill/>
                </a:ln>
                <a:solidFill>
                  <a:prstClr val="white"/>
                </a:solidFill>
                <a:effectLst/>
                <a:uLnTx/>
                <a:uFillTx/>
                <a:latin typeface="Arial"/>
                <a:ea typeface="+mn-ea"/>
                <a:cs typeface="Noto Sans"/>
              </a:rPr>
              <a:t>1</a:t>
            </a:r>
          </a:p>
        </p:txBody>
      </p:sp>
      <p:sp>
        <p:nvSpPr>
          <p:cNvPr id="14" name="Rectangle 13">
            <a:extLst>
              <a:ext uri="{FF2B5EF4-FFF2-40B4-BE49-F238E27FC236}">
                <a16:creationId xmlns:a16="http://schemas.microsoft.com/office/drawing/2014/main" id="{9FCBD7FA-C421-A198-FD12-3273EB6540A8}"/>
              </a:ext>
            </a:extLst>
          </p:cNvPr>
          <p:cNvSpPr/>
          <p:nvPr/>
        </p:nvSpPr>
        <p:spPr>
          <a:xfrm>
            <a:off x="2295081" y="3912560"/>
            <a:ext cx="1807646" cy="12693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Symptoms (eg, cough, sputum, breathlessness and fatigue)</a:t>
            </a:r>
          </a:p>
        </p:txBody>
      </p:sp>
      <p:sp>
        <p:nvSpPr>
          <p:cNvPr id="15" name="Rectangle 14">
            <a:extLst>
              <a:ext uri="{FF2B5EF4-FFF2-40B4-BE49-F238E27FC236}">
                <a16:creationId xmlns:a16="http://schemas.microsoft.com/office/drawing/2014/main" id="{74F561B1-A891-7B05-DB8C-CE089810AA05}"/>
              </a:ext>
            </a:extLst>
          </p:cNvPr>
          <p:cNvSpPr/>
          <p:nvPr/>
        </p:nvSpPr>
        <p:spPr>
          <a:xfrm>
            <a:off x="4225038" y="3912560"/>
            <a:ext cx="1807646" cy="12693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Smoking status</a:t>
            </a:r>
          </a:p>
        </p:txBody>
      </p:sp>
      <p:sp>
        <p:nvSpPr>
          <p:cNvPr id="16" name="Rectangle 15">
            <a:extLst>
              <a:ext uri="{FF2B5EF4-FFF2-40B4-BE49-F238E27FC236}">
                <a16:creationId xmlns:a16="http://schemas.microsoft.com/office/drawing/2014/main" id="{7430E710-E284-F0A9-9E87-7DBA8814F276}"/>
              </a:ext>
            </a:extLst>
          </p:cNvPr>
          <p:cNvSpPr/>
          <p:nvPr/>
        </p:nvSpPr>
        <p:spPr>
          <a:xfrm>
            <a:off x="6154995" y="3912560"/>
            <a:ext cx="1807646" cy="12693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Severity, frequency, type and likely causes of exacerbations</a:t>
            </a:r>
          </a:p>
        </p:txBody>
      </p:sp>
      <p:sp>
        <p:nvSpPr>
          <p:cNvPr id="17" name="Rectangle 16">
            <a:extLst>
              <a:ext uri="{FF2B5EF4-FFF2-40B4-BE49-F238E27FC236}">
                <a16:creationId xmlns:a16="http://schemas.microsoft.com/office/drawing/2014/main" id="{10340FD2-EF93-8536-2CF0-39625A75B531}"/>
              </a:ext>
            </a:extLst>
          </p:cNvPr>
          <p:cNvSpPr/>
          <p:nvPr/>
        </p:nvSpPr>
        <p:spPr>
          <a:xfrm>
            <a:off x="8084952" y="3912560"/>
            <a:ext cx="1807646" cy="12693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Comorbidities</a:t>
            </a:r>
            <a:br>
              <a:rPr kumimoji="0" lang="en-US" sz="1400" b="1" i="0" u="none" strike="noStrike" kern="1200" cap="none" spc="0" normalizeH="0" baseline="0" noProof="0" dirty="0">
                <a:ln>
                  <a:noFill/>
                </a:ln>
                <a:solidFill>
                  <a:prstClr val="white"/>
                </a:solidFill>
                <a:effectLst/>
                <a:uLnTx/>
                <a:uFillTx/>
                <a:latin typeface="Arial"/>
                <a:ea typeface="+mn-ea"/>
                <a:cs typeface="Noto Sans"/>
              </a:rPr>
            </a:br>
            <a:r>
              <a:rPr kumimoji="0" lang="en-US" sz="1400" b="1" i="0" u="none" strike="noStrike" kern="1200" cap="none" spc="0" normalizeH="0" baseline="0" noProof="0" dirty="0">
                <a:ln>
                  <a:noFill/>
                </a:ln>
                <a:solidFill>
                  <a:prstClr val="white"/>
                </a:solidFill>
                <a:effectLst/>
                <a:uLnTx/>
                <a:uFillTx/>
                <a:latin typeface="Arial"/>
                <a:ea typeface="+mn-ea"/>
                <a:cs typeface="Noto Sans"/>
              </a:rPr>
              <a:t>(eg, lung cancer and congestive heart failure)</a:t>
            </a:r>
          </a:p>
        </p:txBody>
      </p:sp>
      <p:cxnSp>
        <p:nvCxnSpPr>
          <p:cNvPr id="18" name="Straight Arrow Connector 22">
            <a:extLst>
              <a:ext uri="{FF2B5EF4-FFF2-40B4-BE49-F238E27FC236}">
                <a16:creationId xmlns:a16="http://schemas.microsoft.com/office/drawing/2014/main" id="{D6E57A6F-F803-E039-63A9-91C3BB177EBA}"/>
              </a:ext>
            </a:extLst>
          </p:cNvPr>
          <p:cNvCxnSpPr>
            <a:stCxn id="12" idx="2"/>
            <a:endCxn id="13" idx="0"/>
          </p:cNvCxnSpPr>
          <p:nvPr/>
        </p:nvCxnSpPr>
        <p:spPr>
          <a:xfrm rot="5400000">
            <a:off x="3377172" y="1193732"/>
            <a:ext cx="610604" cy="4827053"/>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56264F8D-791D-2308-55D8-5FB43CA3737B}"/>
              </a:ext>
            </a:extLst>
          </p:cNvPr>
          <p:cNvSpPr/>
          <p:nvPr/>
        </p:nvSpPr>
        <p:spPr>
          <a:xfrm>
            <a:off x="10014910" y="3912560"/>
            <a:ext cx="1807646" cy="126939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Adherence and appropriate use of prescribed treatments </a:t>
            </a:r>
          </a:p>
        </p:txBody>
      </p:sp>
      <p:cxnSp>
        <p:nvCxnSpPr>
          <p:cNvPr id="26" name="Straight Arrow Connector 22">
            <a:extLst>
              <a:ext uri="{FF2B5EF4-FFF2-40B4-BE49-F238E27FC236}">
                <a16:creationId xmlns:a16="http://schemas.microsoft.com/office/drawing/2014/main" id="{70534EFA-0AE3-9D52-129D-4198805F689D}"/>
              </a:ext>
            </a:extLst>
          </p:cNvPr>
          <p:cNvCxnSpPr>
            <a:cxnSpLocks/>
            <a:stCxn id="12" idx="2"/>
            <a:endCxn id="14" idx="0"/>
          </p:cNvCxnSpPr>
          <p:nvPr/>
        </p:nvCxnSpPr>
        <p:spPr>
          <a:xfrm rot="5400000">
            <a:off x="4342150" y="2158710"/>
            <a:ext cx="610604" cy="2897096"/>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2">
            <a:extLst>
              <a:ext uri="{FF2B5EF4-FFF2-40B4-BE49-F238E27FC236}">
                <a16:creationId xmlns:a16="http://schemas.microsoft.com/office/drawing/2014/main" id="{B2344F21-0293-364B-7818-8CA156728A04}"/>
              </a:ext>
            </a:extLst>
          </p:cNvPr>
          <p:cNvCxnSpPr>
            <a:cxnSpLocks/>
            <a:stCxn id="12" idx="2"/>
            <a:endCxn id="15" idx="0"/>
          </p:cNvCxnSpPr>
          <p:nvPr/>
        </p:nvCxnSpPr>
        <p:spPr>
          <a:xfrm rot="5400000">
            <a:off x="5307129" y="3123689"/>
            <a:ext cx="610604" cy="967139"/>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22">
            <a:extLst>
              <a:ext uri="{FF2B5EF4-FFF2-40B4-BE49-F238E27FC236}">
                <a16:creationId xmlns:a16="http://schemas.microsoft.com/office/drawing/2014/main" id="{6777AC09-3819-51E2-B3D0-9DCAA6EB5F43}"/>
              </a:ext>
            </a:extLst>
          </p:cNvPr>
          <p:cNvCxnSpPr>
            <a:cxnSpLocks/>
            <a:stCxn id="12" idx="2"/>
            <a:endCxn id="16" idx="0"/>
          </p:cNvCxnSpPr>
          <p:nvPr/>
        </p:nvCxnSpPr>
        <p:spPr>
          <a:xfrm rot="16200000" flipH="1">
            <a:off x="6272107" y="3125849"/>
            <a:ext cx="610604" cy="962818"/>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22">
            <a:extLst>
              <a:ext uri="{FF2B5EF4-FFF2-40B4-BE49-F238E27FC236}">
                <a16:creationId xmlns:a16="http://schemas.microsoft.com/office/drawing/2014/main" id="{CE57CFA2-103E-5989-1D6C-F1AB08F159EA}"/>
              </a:ext>
            </a:extLst>
          </p:cNvPr>
          <p:cNvCxnSpPr>
            <a:cxnSpLocks/>
            <a:stCxn id="12" idx="2"/>
            <a:endCxn id="17" idx="0"/>
          </p:cNvCxnSpPr>
          <p:nvPr/>
        </p:nvCxnSpPr>
        <p:spPr>
          <a:xfrm rot="16200000" flipH="1">
            <a:off x="7237085" y="2160870"/>
            <a:ext cx="610604" cy="2892775"/>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22">
            <a:extLst>
              <a:ext uri="{FF2B5EF4-FFF2-40B4-BE49-F238E27FC236}">
                <a16:creationId xmlns:a16="http://schemas.microsoft.com/office/drawing/2014/main" id="{E45FEF0A-A460-F2CB-7C54-8FB371E2BB86}"/>
              </a:ext>
            </a:extLst>
          </p:cNvPr>
          <p:cNvCxnSpPr>
            <a:cxnSpLocks/>
            <a:stCxn id="12" idx="2"/>
            <a:endCxn id="23" idx="0"/>
          </p:cNvCxnSpPr>
          <p:nvPr/>
        </p:nvCxnSpPr>
        <p:spPr>
          <a:xfrm rot="16200000" flipH="1">
            <a:off x="8202064" y="1195891"/>
            <a:ext cx="610604" cy="4822733"/>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3685185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93</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E3628195-B438-4592-9333-E961F6D01E51}"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Monitoring of COPD for adjustment of pharmacotherapy</a:t>
            </a:r>
            <a:endParaRPr lang="en-GB" dirty="0"/>
          </a:p>
        </p:txBody>
      </p:sp>
      <p:sp>
        <p:nvSpPr>
          <p:cNvPr id="11" name="Rectangle 10">
            <a:extLst>
              <a:ext uri="{FF2B5EF4-FFF2-40B4-BE49-F238E27FC236}">
                <a16:creationId xmlns:a16="http://schemas.microsoft.com/office/drawing/2014/main" id="{429D1A07-C83A-0D89-9301-DBD9C7CE7DC1}"/>
              </a:ext>
            </a:extLst>
          </p:cNvPr>
          <p:cNvSpPr/>
          <p:nvPr/>
        </p:nvSpPr>
        <p:spPr>
          <a:xfrm>
            <a:off x="365124" y="1303338"/>
            <a:ext cx="11460163" cy="584775"/>
          </a:xfrm>
          <a:prstGeom prst="rect">
            <a:avLst/>
          </a:prstGeom>
        </p:spPr>
        <p:txBody>
          <a:bodyPr wrap="square" lIns="0" tIns="0" rIns="0" bIns="0">
            <a:spAutoFit/>
          </a:bodyPr>
          <a:lstStyle/>
          <a:p>
            <a:pPr marL="227013" marR="5080" lvl="0" indent="-227013" algn="l" defTabSz="1219170" rtl="0" eaLnBrk="1" fontAlgn="auto" latinLnBrk="0" hangingPunct="1">
              <a:lnSpc>
                <a:spcPct val="100000"/>
              </a:lnSpc>
              <a:spcBef>
                <a:spcPts val="600"/>
              </a:spcBef>
              <a:spcAft>
                <a:spcPts val="600"/>
              </a:spcAft>
              <a:buClr>
                <a:srgbClr val="F36633"/>
              </a:buClr>
              <a:buSzTx/>
              <a:buFont typeface="Arial" panose="020B0604020202020204" pitchFamily="34" charset="0"/>
              <a:buChar char="•"/>
              <a:tabLst>
                <a:tab pos="198755" algn="l"/>
              </a:tabLst>
              <a:defRPr/>
            </a:pPr>
            <a:r>
              <a:rPr kumimoji="0" lang="en-US" sz="1400" b="0" i="0" u="none" strike="noStrike" kern="1200" cap="none" spc="0" normalizeH="0" baseline="0" noProof="0" dirty="0">
                <a:ln>
                  <a:noFill/>
                </a:ln>
                <a:solidFill>
                  <a:srgbClr val="000000"/>
                </a:solidFill>
                <a:effectLst/>
                <a:uLnTx/>
                <a:uFillTx/>
                <a:latin typeface="Arial"/>
                <a:ea typeface="+mn-ea"/>
                <a:cs typeface="Arial"/>
              </a:rPr>
              <a:t>Adherence and appropriate use of prescribed treatments should be monitored at each clinical visit to decide treatment modification </a:t>
            </a:r>
          </a:p>
          <a:p>
            <a:pPr marL="0" marR="5080" lvl="0" indent="0" algn="l" defTabSz="1219170" rtl="0" eaLnBrk="1" fontAlgn="auto" latinLnBrk="0" hangingPunct="1">
              <a:lnSpc>
                <a:spcPct val="100000"/>
              </a:lnSpc>
              <a:spcBef>
                <a:spcPts val="600"/>
              </a:spcBef>
              <a:spcAft>
                <a:spcPts val="600"/>
              </a:spcAft>
              <a:buClrTx/>
              <a:buSzTx/>
              <a:buFontTx/>
              <a:buNone/>
              <a:tabLst>
                <a:tab pos="198755" algn="l"/>
              </a:tabLst>
              <a:defRPr/>
            </a:pPr>
            <a:r>
              <a:rPr kumimoji="0" lang="en-US" sz="1400" b="1" i="0" u="none" strike="noStrike" kern="1200" cap="none" spc="0" normalizeH="0" baseline="0" noProof="0" dirty="0">
                <a:ln>
                  <a:noFill/>
                </a:ln>
                <a:solidFill>
                  <a:srgbClr val="F36633"/>
                </a:solidFill>
                <a:effectLst/>
                <a:uLnTx/>
                <a:uFillTx/>
                <a:latin typeface="Arial"/>
                <a:ea typeface="+mn-ea"/>
                <a:cs typeface="Arial"/>
              </a:rPr>
              <a:t>Careful and </a:t>
            </a:r>
            <a:r>
              <a:rPr kumimoji="0" lang="en-US" sz="1400" b="1" i="0" u="none" strike="noStrike" kern="1200" cap="none" spc="0" normalizeH="0" baseline="0" noProof="0" dirty="0" err="1">
                <a:ln>
                  <a:noFill/>
                </a:ln>
                <a:solidFill>
                  <a:srgbClr val="F36633"/>
                </a:solidFill>
                <a:effectLst/>
                <a:uLnTx/>
                <a:uFillTx/>
                <a:latin typeface="Arial"/>
                <a:ea typeface="+mn-ea"/>
                <a:cs typeface="Arial"/>
              </a:rPr>
              <a:t>personalised</a:t>
            </a:r>
            <a:r>
              <a:rPr kumimoji="0" lang="en-US" sz="1400" b="1" i="0" u="none" strike="noStrike" kern="1200" cap="none" spc="0" normalizeH="0" baseline="0" noProof="0" dirty="0">
                <a:ln>
                  <a:noFill/>
                </a:ln>
                <a:solidFill>
                  <a:srgbClr val="F36633"/>
                </a:solidFill>
                <a:effectLst/>
                <a:uLnTx/>
                <a:uFillTx/>
                <a:latin typeface="Arial"/>
                <a:ea typeface="+mn-ea"/>
                <a:cs typeface="Arial"/>
              </a:rPr>
              <a:t> monitoring of the following aspects is required:</a:t>
            </a:r>
          </a:p>
        </p:txBody>
      </p:sp>
      <p:sp>
        <p:nvSpPr>
          <p:cNvPr id="12" name="Rectangle 11">
            <a:extLst>
              <a:ext uri="{FF2B5EF4-FFF2-40B4-BE49-F238E27FC236}">
                <a16:creationId xmlns:a16="http://schemas.microsoft.com/office/drawing/2014/main" id="{FC15149D-AFE7-C9F2-8C31-4B6CBAA186DA}"/>
              </a:ext>
            </a:extLst>
          </p:cNvPr>
          <p:cNvSpPr/>
          <p:nvPr/>
        </p:nvSpPr>
        <p:spPr>
          <a:xfrm>
            <a:off x="367284" y="2898285"/>
            <a:ext cx="11457432" cy="4036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Monitoring for adjustment of therapy</a:t>
            </a:r>
          </a:p>
        </p:txBody>
      </p:sp>
      <p:sp>
        <p:nvSpPr>
          <p:cNvPr id="13" name="Rectangle 12">
            <a:extLst>
              <a:ext uri="{FF2B5EF4-FFF2-40B4-BE49-F238E27FC236}">
                <a16:creationId xmlns:a16="http://schemas.microsoft.com/office/drawing/2014/main" id="{632AE04D-F341-6208-5D7C-F14E576C0E60}"/>
              </a:ext>
            </a:extLst>
          </p:cNvPr>
          <p:cNvSpPr/>
          <p:nvPr/>
        </p:nvSpPr>
        <p:spPr>
          <a:xfrm>
            <a:off x="365125" y="3912560"/>
            <a:ext cx="2187252" cy="12693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Dosage of prescribed medication</a:t>
            </a:r>
          </a:p>
        </p:txBody>
      </p:sp>
      <p:sp>
        <p:nvSpPr>
          <p:cNvPr id="14" name="Rectangle 13">
            <a:extLst>
              <a:ext uri="{FF2B5EF4-FFF2-40B4-BE49-F238E27FC236}">
                <a16:creationId xmlns:a16="http://schemas.microsoft.com/office/drawing/2014/main" id="{9FCBD7FA-C421-A198-FD12-3273EB6540A8}"/>
              </a:ext>
            </a:extLst>
          </p:cNvPr>
          <p:cNvSpPr/>
          <p:nvPr/>
        </p:nvSpPr>
        <p:spPr>
          <a:xfrm>
            <a:off x="2683750" y="3912560"/>
            <a:ext cx="2187252" cy="126939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Adherence to the regimen</a:t>
            </a:r>
          </a:p>
        </p:txBody>
      </p:sp>
      <p:sp>
        <p:nvSpPr>
          <p:cNvPr id="15" name="Rectangle 14">
            <a:extLst>
              <a:ext uri="{FF2B5EF4-FFF2-40B4-BE49-F238E27FC236}">
                <a16:creationId xmlns:a16="http://schemas.microsoft.com/office/drawing/2014/main" id="{74F561B1-A891-7B05-DB8C-CE089810AA05}"/>
              </a:ext>
            </a:extLst>
          </p:cNvPr>
          <p:cNvSpPr/>
          <p:nvPr/>
        </p:nvSpPr>
        <p:spPr>
          <a:xfrm>
            <a:off x="5002375" y="3912560"/>
            <a:ext cx="2187252" cy="126939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Effectiveness of the current regimen</a:t>
            </a:r>
          </a:p>
        </p:txBody>
      </p:sp>
      <p:sp>
        <p:nvSpPr>
          <p:cNvPr id="16" name="Rectangle 15">
            <a:extLst>
              <a:ext uri="{FF2B5EF4-FFF2-40B4-BE49-F238E27FC236}">
                <a16:creationId xmlns:a16="http://schemas.microsoft.com/office/drawing/2014/main" id="{7430E710-E284-F0A9-9E87-7DBA8814F276}"/>
              </a:ext>
            </a:extLst>
          </p:cNvPr>
          <p:cNvSpPr/>
          <p:nvPr/>
        </p:nvSpPr>
        <p:spPr>
          <a:xfrm>
            <a:off x="7320999" y="3912560"/>
            <a:ext cx="2187252" cy="12693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Inhaler technique</a:t>
            </a:r>
          </a:p>
        </p:txBody>
      </p:sp>
      <p:sp>
        <p:nvSpPr>
          <p:cNvPr id="17" name="Rectangle 16">
            <a:extLst>
              <a:ext uri="{FF2B5EF4-FFF2-40B4-BE49-F238E27FC236}">
                <a16:creationId xmlns:a16="http://schemas.microsoft.com/office/drawing/2014/main" id="{10340FD2-EF93-8536-2CF0-39625A75B531}"/>
              </a:ext>
            </a:extLst>
          </p:cNvPr>
          <p:cNvSpPr/>
          <p:nvPr/>
        </p:nvSpPr>
        <p:spPr>
          <a:xfrm>
            <a:off x="9639623" y="3912560"/>
            <a:ext cx="2187252" cy="126939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ctr"/>
          <a:lstStyle/>
          <a:p>
            <a:pPr marL="0" marR="0" lvl="0" indent="0" algn="ctr" defTabSz="121917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prstClr val="white"/>
                </a:solidFill>
                <a:effectLst/>
                <a:uLnTx/>
                <a:uFillTx/>
                <a:latin typeface="Arial"/>
                <a:ea typeface="+mn-ea"/>
                <a:cs typeface="Noto Sans"/>
              </a:rPr>
              <a:t>Side effects</a:t>
            </a:r>
          </a:p>
        </p:txBody>
      </p:sp>
      <p:cxnSp>
        <p:nvCxnSpPr>
          <p:cNvPr id="18" name="Straight Arrow Connector 22">
            <a:extLst>
              <a:ext uri="{FF2B5EF4-FFF2-40B4-BE49-F238E27FC236}">
                <a16:creationId xmlns:a16="http://schemas.microsoft.com/office/drawing/2014/main" id="{D6E57A6F-F803-E039-63A9-91C3BB177EBA}"/>
              </a:ext>
            </a:extLst>
          </p:cNvPr>
          <p:cNvCxnSpPr>
            <a:stCxn id="12" idx="2"/>
            <a:endCxn id="13" idx="0"/>
          </p:cNvCxnSpPr>
          <p:nvPr/>
        </p:nvCxnSpPr>
        <p:spPr>
          <a:xfrm rot="5400000">
            <a:off x="3472074" y="1288634"/>
            <a:ext cx="610604" cy="4637249"/>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2">
            <a:extLst>
              <a:ext uri="{FF2B5EF4-FFF2-40B4-BE49-F238E27FC236}">
                <a16:creationId xmlns:a16="http://schemas.microsoft.com/office/drawing/2014/main" id="{70534EFA-0AE3-9D52-129D-4198805F689D}"/>
              </a:ext>
            </a:extLst>
          </p:cNvPr>
          <p:cNvCxnSpPr>
            <a:cxnSpLocks/>
            <a:stCxn id="12" idx="2"/>
            <a:endCxn id="14" idx="0"/>
          </p:cNvCxnSpPr>
          <p:nvPr/>
        </p:nvCxnSpPr>
        <p:spPr>
          <a:xfrm rot="5400000">
            <a:off x="4631386" y="2447946"/>
            <a:ext cx="610604" cy="2318624"/>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2">
            <a:extLst>
              <a:ext uri="{FF2B5EF4-FFF2-40B4-BE49-F238E27FC236}">
                <a16:creationId xmlns:a16="http://schemas.microsoft.com/office/drawing/2014/main" id="{B2344F21-0293-364B-7818-8CA156728A04}"/>
              </a:ext>
            </a:extLst>
          </p:cNvPr>
          <p:cNvCxnSpPr>
            <a:cxnSpLocks/>
            <a:stCxn id="12" idx="2"/>
            <a:endCxn id="15" idx="0"/>
          </p:cNvCxnSpPr>
          <p:nvPr/>
        </p:nvCxnSpPr>
        <p:spPr>
          <a:xfrm rot="16200000" flipH="1">
            <a:off x="5790698" y="3607257"/>
            <a:ext cx="610604" cy="1"/>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5" name="Straight Arrow Connector 22">
            <a:extLst>
              <a:ext uri="{FF2B5EF4-FFF2-40B4-BE49-F238E27FC236}">
                <a16:creationId xmlns:a16="http://schemas.microsoft.com/office/drawing/2014/main" id="{6777AC09-3819-51E2-B3D0-9DCAA6EB5F43}"/>
              </a:ext>
            </a:extLst>
          </p:cNvPr>
          <p:cNvCxnSpPr>
            <a:cxnSpLocks/>
            <a:stCxn id="12" idx="2"/>
            <a:endCxn id="16" idx="0"/>
          </p:cNvCxnSpPr>
          <p:nvPr/>
        </p:nvCxnSpPr>
        <p:spPr>
          <a:xfrm rot="16200000" flipH="1">
            <a:off x="6950010" y="2447945"/>
            <a:ext cx="610604" cy="2318625"/>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22">
            <a:extLst>
              <a:ext uri="{FF2B5EF4-FFF2-40B4-BE49-F238E27FC236}">
                <a16:creationId xmlns:a16="http://schemas.microsoft.com/office/drawing/2014/main" id="{CE57CFA2-103E-5989-1D6C-F1AB08F159EA}"/>
              </a:ext>
            </a:extLst>
          </p:cNvPr>
          <p:cNvCxnSpPr>
            <a:cxnSpLocks/>
            <a:stCxn id="12" idx="2"/>
            <a:endCxn id="17" idx="0"/>
          </p:cNvCxnSpPr>
          <p:nvPr/>
        </p:nvCxnSpPr>
        <p:spPr>
          <a:xfrm rot="16200000" flipH="1">
            <a:off x="8109322" y="1288633"/>
            <a:ext cx="610604" cy="4637249"/>
          </a:xfrm>
          <a:prstGeom prst="bentConnector3">
            <a:avLst>
              <a:gd name="adj1" fmla="val 50000"/>
            </a:avLst>
          </a:prstGeom>
          <a:ln w="12700">
            <a:solidFill>
              <a:schemeClr val="bg2"/>
            </a:solidFill>
            <a:tailEnd type="triangle"/>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4852357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E803F502-705E-9EAC-1B24-8BA7F2EB18A8}"/>
              </a:ext>
            </a:extLst>
          </p:cNvPr>
          <p:cNvSpPr>
            <a:spLocks noGrp="1"/>
          </p:cNvSpPr>
          <p:nvPr>
            <p:ph type="title"/>
          </p:nvPr>
        </p:nvSpPr>
        <p:spPr/>
        <p:txBody>
          <a:bodyPr/>
          <a:lstStyle/>
          <a:p>
            <a:r>
              <a:rPr lang="en-US" dirty="0"/>
              <a:t>Non-adherence and poor inhaler technique in COPD</a:t>
            </a:r>
            <a:endParaRPr lang="en-GB" dirty="0"/>
          </a:p>
        </p:txBody>
      </p:sp>
      <p:sp>
        <p:nvSpPr>
          <p:cNvPr id="8" name="Subtitle 7">
            <a:extLst>
              <a:ext uri="{FF2B5EF4-FFF2-40B4-BE49-F238E27FC236}">
                <a16:creationId xmlns:a16="http://schemas.microsoft.com/office/drawing/2014/main" id="{3AE3037D-B5E4-448D-8468-737A93D2A8A2}"/>
              </a:ext>
            </a:extLst>
          </p:cNvPr>
          <p:cNvSpPr>
            <a:spLocks noGrp="1"/>
          </p:cNvSpPr>
          <p:nvPr>
            <p:ph type="subTitle" idx="1"/>
          </p:nvPr>
        </p:nvSpPr>
        <p:spPr/>
        <p:txBody>
          <a:bodyPr/>
          <a:lstStyle/>
          <a:p>
            <a:endParaRPr lang="en-GB" dirty="0"/>
          </a:p>
        </p:txBody>
      </p:sp>
    </p:spTree>
    <p:extLst>
      <p:ext uri="{BB962C8B-B14F-4D97-AF65-F5344CB8AC3E}">
        <p14:creationId xmlns:p14="http://schemas.microsoft.com/office/powerpoint/2010/main" val="385848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A9973522-E1BE-4460-BCA4-92FC296F2174}"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HCP, healthcare professional</a:t>
            </a:r>
          </a:p>
          <a:p>
            <a:r>
              <a:rPr lang="en-US" dirty="0"/>
              <a:t>1. Restrepo RD, et al. </a:t>
            </a:r>
            <a:r>
              <a:rPr lang="en-US" i="1" dirty="0"/>
              <a:t>Int J Chron Obstruct Pulmon Dis</a:t>
            </a:r>
            <a:r>
              <a:rPr lang="en-US" dirty="0"/>
              <a:t>. 2008;3(3):371-384; 2. Bourbeau J, et al. </a:t>
            </a:r>
            <a:r>
              <a:rPr lang="en-US" i="1" dirty="0"/>
              <a:t>Thorax. </a:t>
            </a:r>
            <a:r>
              <a:rPr lang="en-US" dirty="0"/>
              <a:t>2008;63(9):831-838; 3. Fumagalli G, et al. </a:t>
            </a:r>
            <a:r>
              <a:rPr lang="en-US" i="1" dirty="0"/>
              <a:t>Multidiscip Respir Med</a:t>
            </a:r>
            <a:r>
              <a:rPr lang="en-US" dirty="0"/>
              <a:t>. 2015;10(1):4; 4. Darba J, et al. </a:t>
            </a:r>
            <a:r>
              <a:rPr lang="en-US" i="1" dirty="0"/>
              <a:t>Int J Chron Obstruct Pulmon Dis</a:t>
            </a:r>
            <a:r>
              <a:rPr lang="en-US" dirty="0"/>
              <a:t>. 2015;10:2335-2345; 5. Vestbo J, et al. </a:t>
            </a:r>
            <a:r>
              <a:rPr lang="en-US" i="1" dirty="0"/>
              <a:t>Thorax. </a:t>
            </a:r>
            <a:r>
              <a:rPr lang="en-US" dirty="0"/>
              <a:t>2009;64(11):939-943; 6. Kong CW, et al. </a:t>
            </a:r>
            <a:r>
              <a:rPr lang="en-US" i="1" dirty="0"/>
              <a:t>ERJ Open Res</a:t>
            </a:r>
            <a:r>
              <a:rPr lang="en-US" dirty="0"/>
              <a:t>. 2020;6(2):00325-02019.</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Monitoring of COPD for adjustment of pharmacotherapy</a:t>
            </a:r>
            <a:endParaRPr lang="en-GB" dirty="0"/>
          </a:p>
        </p:txBody>
      </p:sp>
      <p:sp>
        <p:nvSpPr>
          <p:cNvPr id="10" name="object 12">
            <a:extLst>
              <a:ext uri="{FF2B5EF4-FFF2-40B4-BE49-F238E27FC236}">
                <a16:creationId xmlns:a16="http://schemas.microsoft.com/office/drawing/2014/main" id="{740FAB3E-3FC7-B5BF-F03D-24A928B9F7A2}"/>
              </a:ext>
            </a:extLst>
          </p:cNvPr>
          <p:cNvSpPr txBox="1"/>
          <p:nvPr/>
        </p:nvSpPr>
        <p:spPr>
          <a:xfrm>
            <a:off x="365125" y="1103858"/>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Only 40%–60% of patients with COPD adhere to their prescribed treatment regimen</a:t>
            </a:r>
            <a:r>
              <a:rPr kumimoji="0" lang="en-US" sz="1200" b="1" i="0" u="none" strike="noStrike" kern="1200" cap="none" spc="0" normalizeH="0" baseline="30000" noProof="0" dirty="0">
                <a:ln>
                  <a:noFill/>
                </a:ln>
                <a:solidFill>
                  <a:srgbClr val="000000"/>
                </a:solidFill>
                <a:effectLst/>
                <a:uLnTx/>
                <a:uFillTx/>
                <a:latin typeface="Arial"/>
                <a:ea typeface="+mn-ea"/>
                <a:cs typeface="Arial"/>
              </a:rPr>
              <a:t>1</a:t>
            </a:r>
            <a:endParaRPr kumimoji="0" sz="12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25" name="object 12">
            <a:extLst>
              <a:ext uri="{FF2B5EF4-FFF2-40B4-BE49-F238E27FC236}">
                <a16:creationId xmlns:a16="http://schemas.microsoft.com/office/drawing/2014/main" id="{97533B59-F45D-4B9F-9224-F86ECC1210CE}"/>
              </a:ext>
            </a:extLst>
          </p:cNvPr>
          <p:cNvSpPr txBox="1"/>
          <p:nvPr/>
        </p:nvSpPr>
        <p:spPr>
          <a:xfrm>
            <a:off x="365125" y="1662113"/>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Patient adherence in COPD is multifactorial and influenced by the patient, HCPs, treatment regimen and society</a:t>
            </a:r>
            <a:r>
              <a:rPr kumimoji="0" lang="en-US" sz="1200" b="1" i="0" u="none" strike="noStrike" kern="1200" cap="none" spc="0" normalizeH="0" baseline="30000" noProof="0" dirty="0">
                <a:ln>
                  <a:noFill/>
                </a:ln>
                <a:solidFill>
                  <a:srgbClr val="000000"/>
                </a:solidFill>
                <a:effectLst/>
                <a:uLnTx/>
                <a:uFillTx/>
                <a:latin typeface="Arial"/>
                <a:ea typeface="+mn-ea"/>
                <a:cs typeface="Arial"/>
              </a:rPr>
              <a:t>1</a:t>
            </a:r>
            <a:endParaRPr kumimoji="0" sz="1200" b="0" i="0" u="none" strike="noStrike" kern="1200" cap="none" spc="0" normalizeH="0" baseline="30000" noProof="0" dirty="0">
              <a:ln>
                <a:noFill/>
              </a:ln>
              <a:solidFill>
                <a:srgbClr val="000000"/>
              </a:solidFill>
              <a:effectLst/>
              <a:uLnTx/>
              <a:uFillTx/>
              <a:latin typeface="Arial"/>
              <a:ea typeface="+mn-ea"/>
              <a:cs typeface="Arial"/>
            </a:endParaRPr>
          </a:p>
        </p:txBody>
      </p:sp>
      <p:sp>
        <p:nvSpPr>
          <p:cNvPr id="64" name="object 12">
            <a:extLst>
              <a:ext uri="{FF2B5EF4-FFF2-40B4-BE49-F238E27FC236}">
                <a16:creationId xmlns:a16="http://schemas.microsoft.com/office/drawing/2014/main" id="{1173EB3F-60C4-7A50-4422-DC1D63B11C36}"/>
              </a:ext>
            </a:extLst>
          </p:cNvPr>
          <p:cNvSpPr txBox="1"/>
          <p:nvPr/>
        </p:nvSpPr>
        <p:spPr>
          <a:xfrm>
            <a:off x="365125" y="2220368"/>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Comorbidities can complicate treatment regimens</a:t>
            </a:r>
            <a:r>
              <a:rPr kumimoji="0" lang="en-US" sz="1200" b="1" i="0" u="none" strike="noStrike" kern="1200" cap="none" spc="0" normalizeH="0" baseline="30000" noProof="0" dirty="0">
                <a:ln>
                  <a:noFill/>
                </a:ln>
                <a:solidFill>
                  <a:srgbClr val="000000"/>
                </a:solidFill>
                <a:effectLst/>
                <a:uLnTx/>
                <a:uFillTx/>
                <a:latin typeface="Arial"/>
                <a:ea typeface="+mn-ea"/>
                <a:cs typeface="Arial"/>
              </a:rPr>
              <a:t>3</a:t>
            </a:r>
            <a:r>
              <a:rPr kumimoji="0" lang="en-US" sz="1200" b="1" i="0" u="none" strike="noStrike" kern="1200" cap="none" spc="0" normalizeH="0" baseline="0" noProof="0" dirty="0">
                <a:ln>
                  <a:noFill/>
                </a:ln>
                <a:solidFill>
                  <a:srgbClr val="000000"/>
                </a:solidFill>
                <a:effectLst/>
                <a:uLnTx/>
                <a:uFillTx/>
                <a:latin typeface="Arial"/>
                <a:ea typeface="+mn-ea"/>
                <a:cs typeface="Arial"/>
              </a:rPr>
              <a:t> and adversely impact adherence</a:t>
            </a:r>
            <a:r>
              <a:rPr kumimoji="0" lang="en-US" sz="1200" b="1" i="0" u="none" strike="noStrike" kern="1200" cap="none" spc="0" normalizeH="0" baseline="30000" noProof="0" dirty="0">
                <a:ln>
                  <a:noFill/>
                </a:ln>
                <a:solidFill>
                  <a:srgbClr val="000000"/>
                </a:solidFill>
                <a:effectLst/>
                <a:uLnTx/>
                <a:uFillTx/>
                <a:latin typeface="Arial"/>
                <a:ea typeface="+mn-ea"/>
                <a:cs typeface="Arial"/>
              </a:rPr>
              <a:t>4</a:t>
            </a:r>
          </a:p>
        </p:txBody>
      </p:sp>
      <p:pic>
        <p:nvPicPr>
          <p:cNvPr id="67" name="Graphic 66" descr="Heart with pulse with solid fill">
            <a:extLst>
              <a:ext uri="{FF2B5EF4-FFF2-40B4-BE49-F238E27FC236}">
                <a16:creationId xmlns:a16="http://schemas.microsoft.com/office/drawing/2014/main" id="{C29139CB-83F2-7A32-B44A-B6FA2C6AE6D2}"/>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03600" y="2257011"/>
            <a:ext cx="415636" cy="415636"/>
          </a:xfrm>
          <a:prstGeom prst="rect">
            <a:avLst/>
          </a:prstGeom>
        </p:spPr>
      </p:pic>
      <p:pic>
        <p:nvPicPr>
          <p:cNvPr id="70" name="Graphic 69" descr="Users with solid fill">
            <a:extLst>
              <a:ext uri="{FF2B5EF4-FFF2-40B4-BE49-F238E27FC236}">
                <a16:creationId xmlns:a16="http://schemas.microsoft.com/office/drawing/2014/main" id="{CD614534-3F11-19D5-4972-2DBE441BBBC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03600" y="1698756"/>
            <a:ext cx="415636" cy="415636"/>
          </a:xfrm>
          <a:prstGeom prst="rect">
            <a:avLst/>
          </a:prstGeom>
        </p:spPr>
      </p:pic>
      <p:pic>
        <p:nvPicPr>
          <p:cNvPr id="72" name="Graphic 71" descr="Warning with solid fill">
            <a:extLst>
              <a:ext uri="{FF2B5EF4-FFF2-40B4-BE49-F238E27FC236}">
                <a16:creationId xmlns:a16="http://schemas.microsoft.com/office/drawing/2014/main" id="{2BE866C2-0A96-76A4-1C74-0ECEE8247EDF}"/>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600" y="1140501"/>
            <a:ext cx="415636" cy="415636"/>
          </a:xfrm>
          <a:prstGeom prst="rect">
            <a:avLst/>
          </a:prstGeom>
        </p:spPr>
      </p:pic>
      <p:sp>
        <p:nvSpPr>
          <p:cNvPr id="73" name="object 12">
            <a:extLst>
              <a:ext uri="{FF2B5EF4-FFF2-40B4-BE49-F238E27FC236}">
                <a16:creationId xmlns:a16="http://schemas.microsoft.com/office/drawing/2014/main" id="{000D7A0E-1814-3568-4970-8ECCB6CC8F88}"/>
              </a:ext>
            </a:extLst>
          </p:cNvPr>
          <p:cNvSpPr txBox="1"/>
          <p:nvPr/>
        </p:nvSpPr>
        <p:spPr>
          <a:xfrm>
            <a:off x="365125" y="4814642"/>
            <a:ext cx="11460163" cy="609568"/>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Good adherence to therapy can reduce mortality by 14.3%</a:t>
            </a:r>
            <a:r>
              <a:rPr kumimoji="0" lang="en-US" sz="1200" b="1" i="0" u="none" strike="noStrike" kern="1200" cap="none" spc="0" normalizeH="0" baseline="30000" noProof="0" dirty="0">
                <a:ln>
                  <a:noFill/>
                </a:ln>
                <a:solidFill>
                  <a:srgbClr val="000000"/>
                </a:solidFill>
                <a:effectLst/>
                <a:uLnTx/>
                <a:uFillTx/>
                <a:latin typeface="Arial"/>
                <a:ea typeface="+mn-ea"/>
                <a:cs typeface="Arial"/>
              </a:rPr>
              <a:t>5</a:t>
            </a:r>
            <a:endParaRPr kumimoji="0" lang="en-US" sz="1200" b="1" i="0" u="none" strike="noStrike" kern="1200" cap="none" spc="0" normalizeH="0" baseline="0" noProof="0" dirty="0">
              <a:ln>
                <a:noFill/>
              </a:ln>
              <a:solidFill>
                <a:srgbClr val="000000"/>
              </a:solidFill>
              <a:effectLst/>
              <a:uLnTx/>
              <a:uFillTx/>
              <a:latin typeface="Arial"/>
              <a:ea typeface="+mn-ea"/>
              <a:cs typeface="Arial"/>
            </a:endParaRPr>
          </a:p>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COPD comprehensive care demonstrated a 16% reduction in all-cause 30-day re-admission and significant improvement in acute exacerbation COPD</a:t>
            </a:r>
            <a:r>
              <a:rPr kumimoji="0" lang="en-US" sz="1200" b="1" i="0" u="none" strike="noStrike" kern="1200" cap="none" spc="0" normalizeH="0" baseline="30000" noProof="0" dirty="0">
                <a:ln>
                  <a:noFill/>
                </a:ln>
                <a:solidFill>
                  <a:srgbClr val="000000"/>
                </a:solidFill>
                <a:effectLst/>
                <a:uLnTx/>
                <a:uFillTx/>
                <a:latin typeface="Arial"/>
                <a:ea typeface="+mn-ea"/>
                <a:cs typeface="Arial"/>
              </a:rPr>
              <a:t>6</a:t>
            </a:r>
          </a:p>
        </p:txBody>
      </p:sp>
      <p:grpSp>
        <p:nvGrpSpPr>
          <p:cNvPr id="81" name="Group 80">
            <a:extLst>
              <a:ext uri="{FF2B5EF4-FFF2-40B4-BE49-F238E27FC236}">
                <a16:creationId xmlns:a16="http://schemas.microsoft.com/office/drawing/2014/main" id="{8E7918AD-3FB6-9ED8-6CB6-7B3C15190715}"/>
              </a:ext>
            </a:extLst>
          </p:cNvPr>
          <p:cNvGrpSpPr/>
          <p:nvPr/>
        </p:nvGrpSpPr>
        <p:grpSpPr>
          <a:xfrm>
            <a:off x="365125" y="2778623"/>
            <a:ext cx="11460163" cy="1966686"/>
            <a:chOff x="365125" y="2797954"/>
            <a:chExt cx="11460163" cy="1966686"/>
          </a:xfrm>
        </p:grpSpPr>
        <p:grpSp>
          <p:nvGrpSpPr>
            <p:cNvPr id="80" name="Group 79">
              <a:extLst>
                <a:ext uri="{FF2B5EF4-FFF2-40B4-BE49-F238E27FC236}">
                  <a16:creationId xmlns:a16="http://schemas.microsoft.com/office/drawing/2014/main" id="{40A862EE-0E94-F002-1667-6B000C0E1B0C}"/>
                </a:ext>
              </a:extLst>
            </p:cNvPr>
            <p:cNvGrpSpPr/>
            <p:nvPr/>
          </p:nvGrpSpPr>
          <p:grpSpPr>
            <a:xfrm>
              <a:off x="365125" y="3127079"/>
              <a:ext cx="11460163" cy="1637561"/>
              <a:chOff x="365125" y="3127079"/>
              <a:chExt cx="11460163" cy="1637561"/>
            </a:xfrm>
          </p:grpSpPr>
          <p:sp>
            <p:nvSpPr>
              <p:cNvPr id="75" name="object 8">
                <a:extLst>
                  <a:ext uri="{FF2B5EF4-FFF2-40B4-BE49-F238E27FC236}">
                    <a16:creationId xmlns:a16="http://schemas.microsoft.com/office/drawing/2014/main" id="{0E6FA13C-5EFE-EC68-E807-003A412A254F}"/>
                  </a:ext>
                </a:extLst>
              </p:cNvPr>
              <p:cNvSpPr txBox="1"/>
              <p:nvPr/>
            </p:nvSpPr>
            <p:spPr>
              <a:xfrm>
                <a:off x="365125" y="3127079"/>
                <a:ext cx="2743200" cy="1637561"/>
              </a:xfrm>
              <a:prstGeom prst="rect">
                <a:avLst/>
              </a:prstGeom>
              <a:solidFill>
                <a:schemeClr val="bg2">
                  <a:lumMod val="20000"/>
                  <a:lumOff val="80000"/>
                </a:schemeClr>
              </a:solidFill>
            </p:spPr>
            <p:txBody>
              <a:bodyPr vert="horz" wrap="square" lIns="91440" tIns="45720" rIns="91440" bIns="45720" rtlCol="0" anchor="t" anchorCtr="0">
                <a:noAutofit/>
              </a:bodyPr>
              <a:lstStyle/>
              <a:p>
                <a:pPr marL="0" marR="0" lvl="0" indent="0" algn="l" defTabSz="1219170" rtl="0" eaLnBrk="1" fontAlgn="auto" latinLnBrk="0" hangingPunct="1">
                  <a:lnSpc>
                    <a:spcPct val="100000"/>
                  </a:lnSpc>
                  <a:spcBef>
                    <a:spcPts val="200"/>
                  </a:spcBef>
                  <a:spcAft>
                    <a:spcPts val="10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Patient</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Comorbidities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Health beliefs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Cognitive ability</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Self confidence</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Psychological profile</a:t>
                </a:r>
              </a:p>
              <a:p>
                <a:pPr marR="0" lvl="0" algn="l" defTabSz="1219170" rtl="0" eaLnBrk="1" fontAlgn="auto" latinLnBrk="0" hangingPunct="1">
                  <a:lnSpc>
                    <a:spcPct val="100000"/>
                  </a:lnSpc>
                  <a:spcBef>
                    <a:spcPts val="200"/>
                  </a:spcBef>
                  <a:spcAft>
                    <a:spcPts val="100"/>
                  </a:spcAft>
                  <a:buClr>
                    <a:srgbClr val="F36633"/>
                  </a:buClr>
                  <a:buSzTx/>
                  <a:tabLst/>
                  <a:defRPr/>
                </a:pPr>
                <a:endParaRPr kumimoji="0" lang="en-US" sz="1100" b="0" i="0" u="none" strike="noStrike" kern="1200" cap="none" spc="0" normalizeH="0" baseline="0" noProof="0" dirty="0">
                  <a:ln>
                    <a:noFill/>
                  </a:ln>
                  <a:solidFill>
                    <a:srgbClr val="000000"/>
                  </a:solidFill>
                  <a:effectLst/>
                  <a:uLnTx/>
                  <a:uFillTx/>
                  <a:latin typeface="Arial"/>
                  <a:ea typeface="+mn-ea"/>
                  <a:cs typeface="Arial"/>
                </a:endParaRPr>
              </a:p>
            </p:txBody>
          </p:sp>
          <p:sp>
            <p:nvSpPr>
              <p:cNvPr id="76" name="object 8">
                <a:extLst>
                  <a:ext uri="{FF2B5EF4-FFF2-40B4-BE49-F238E27FC236}">
                    <a16:creationId xmlns:a16="http://schemas.microsoft.com/office/drawing/2014/main" id="{74263F55-EEB3-2495-7904-547EA76369A4}"/>
                  </a:ext>
                </a:extLst>
              </p:cNvPr>
              <p:cNvSpPr txBox="1"/>
              <p:nvPr/>
            </p:nvSpPr>
            <p:spPr>
              <a:xfrm>
                <a:off x="3270779" y="3127079"/>
                <a:ext cx="2743200" cy="1637561"/>
              </a:xfrm>
              <a:prstGeom prst="rect">
                <a:avLst/>
              </a:prstGeom>
              <a:solidFill>
                <a:schemeClr val="bg2">
                  <a:lumMod val="20000"/>
                  <a:lumOff val="80000"/>
                </a:schemeClr>
              </a:solidFill>
            </p:spPr>
            <p:txBody>
              <a:bodyPr vert="horz" wrap="square" lIns="91440" tIns="45720" rIns="91440" bIns="45720" rtlCol="0" anchor="t" anchorCtr="0">
                <a:noAutofit/>
              </a:bodyPr>
              <a:lstStyle/>
              <a:p>
                <a:pPr marL="0" marR="0" lvl="0" indent="0" algn="l" defTabSz="1219170" rtl="0" eaLnBrk="1" fontAlgn="auto" latinLnBrk="0" hangingPunct="1">
                  <a:lnSpc>
                    <a:spcPct val="100000"/>
                  </a:lnSpc>
                  <a:spcBef>
                    <a:spcPts val="200"/>
                  </a:spcBef>
                  <a:spcAft>
                    <a:spcPts val="10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HCPs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Quality of communication between patients and HCPs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Information provided about the medications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Level of support and positive reinforcement</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Follow-up</a:t>
                </a:r>
              </a:p>
            </p:txBody>
          </p:sp>
          <p:sp>
            <p:nvSpPr>
              <p:cNvPr id="77" name="object 8">
                <a:extLst>
                  <a:ext uri="{FF2B5EF4-FFF2-40B4-BE49-F238E27FC236}">
                    <a16:creationId xmlns:a16="http://schemas.microsoft.com/office/drawing/2014/main" id="{2563B1DA-4860-2312-C84D-2B30B0AA2496}"/>
                  </a:ext>
                </a:extLst>
              </p:cNvPr>
              <p:cNvSpPr txBox="1"/>
              <p:nvPr/>
            </p:nvSpPr>
            <p:spPr>
              <a:xfrm>
                <a:off x="6176433" y="3127079"/>
                <a:ext cx="2743200" cy="1637561"/>
              </a:xfrm>
              <a:prstGeom prst="rect">
                <a:avLst/>
              </a:prstGeom>
              <a:solidFill>
                <a:schemeClr val="bg2">
                  <a:lumMod val="20000"/>
                  <a:lumOff val="80000"/>
                </a:schemeClr>
              </a:solidFill>
            </p:spPr>
            <p:txBody>
              <a:bodyPr vert="horz" wrap="square" lIns="91440" tIns="45720" rIns="91440" bIns="45720" rtlCol="0" anchor="t" anchorCtr="0">
                <a:noAutofit/>
              </a:bodyPr>
              <a:lstStyle/>
              <a:p>
                <a:pPr marL="0" marR="0" lvl="0" indent="0" algn="l" defTabSz="1219170" rtl="0" eaLnBrk="1" fontAlgn="auto" latinLnBrk="0" hangingPunct="1">
                  <a:lnSpc>
                    <a:spcPct val="100000"/>
                  </a:lnSpc>
                  <a:spcBef>
                    <a:spcPts val="200"/>
                  </a:spcBef>
                  <a:spcAft>
                    <a:spcPts val="10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Treatment regimen</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Method of administration</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Dosing regimen</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Polypharmacy</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Side effects</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Access to medication</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Device training</a:t>
                </a:r>
              </a:p>
            </p:txBody>
          </p:sp>
          <p:sp>
            <p:nvSpPr>
              <p:cNvPr id="78" name="object 8">
                <a:extLst>
                  <a:ext uri="{FF2B5EF4-FFF2-40B4-BE49-F238E27FC236}">
                    <a16:creationId xmlns:a16="http://schemas.microsoft.com/office/drawing/2014/main" id="{35A24DD3-D5BC-FCB2-D9EF-44B3730F8339}"/>
                  </a:ext>
                </a:extLst>
              </p:cNvPr>
              <p:cNvSpPr txBox="1"/>
              <p:nvPr/>
            </p:nvSpPr>
            <p:spPr>
              <a:xfrm>
                <a:off x="9082088" y="3127079"/>
                <a:ext cx="2743200" cy="1637561"/>
              </a:xfrm>
              <a:prstGeom prst="rect">
                <a:avLst/>
              </a:prstGeom>
              <a:solidFill>
                <a:schemeClr val="bg2">
                  <a:lumMod val="20000"/>
                  <a:lumOff val="80000"/>
                </a:schemeClr>
              </a:solidFill>
            </p:spPr>
            <p:txBody>
              <a:bodyPr vert="horz" wrap="square" lIns="91440" tIns="45720" rIns="91440" bIns="45720" rtlCol="0" anchor="t" anchorCtr="0">
                <a:noAutofit/>
              </a:bodyPr>
              <a:lstStyle/>
              <a:p>
                <a:pPr marL="0" marR="0" lvl="0" indent="0" algn="l" defTabSz="1219170" rtl="0" eaLnBrk="1" fontAlgn="auto" latinLnBrk="0" hangingPunct="1">
                  <a:lnSpc>
                    <a:spcPct val="100000"/>
                  </a:lnSpc>
                  <a:spcBef>
                    <a:spcPts val="200"/>
                  </a:spcBef>
                  <a:spcAft>
                    <a:spcPts val="100"/>
                  </a:spcAft>
                  <a:buClrTx/>
                  <a:buSzTx/>
                  <a:buFontTx/>
                  <a:buNone/>
                  <a:tabLst/>
                  <a:defRPr/>
                </a:pPr>
                <a:r>
                  <a:rPr kumimoji="0" lang="en-US" sz="1100" b="1" i="0" u="none" strike="noStrike" kern="1200" cap="none" spc="0" normalizeH="0" baseline="0" noProof="0" dirty="0">
                    <a:ln>
                      <a:noFill/>
                    </a:ln>
                    <a:solidFill>
                      <a:srgbClr val="000000"/>
                    </a:solidFill>
                    <a:effectLst/>
                    <a:uLnTx/>
                    <a:uFillTx/>
                    <a:latin typeface="Arial"/>
                    <a:ea typeface="+mn-ea"/>
                    <a:cs typeface="Arial"/>
                  </a:rPr>
                  <a:t>Society</a:t>
                </a:r>
              </a:p>
              <a:p>
                <a:pPr marL="171450" marR="0" lvl="0" indent="-171450" algn="l" defTabSz="1219170" rtl="0" eaLnBrk="1" fontAlgn="auto" latinLnBrk="0" hangingPunct="1">
                  <a:lnSpc>
                    <a:spcPct val="100000"/>
                  </a:lnSpc>
                  <a:spcBef>
                    <a:spcPts val="200"/>
                  </a:spcBef>
                  <a:spcAft>
                    <a:spcPts val="100"/>
                  </a:spcAft>
                  <a:buClr>
                    <a:srgbClr val="F36633"/>
                  </a:buClr>
                  <a:buSzTx/>
                  <a:buFont typeface="Arial" panose="020B0604020202020204" pitchFamily="34" charset="0"/>
                  <a:buChar char="•"/>
                  <a:tabLst/>
                  <a:defRPr/>
                </a:pPr>
                <a:r>
                  <a:rPr kumimoji="0" lang="en-US" sz="1100" b="0" i="0" u="none" strike="noStrike" kern="1200" cap="none" spc="0" normalizeH="0" baseline="0" noProof="0" dirty="0">
                    <a:ln>
                      <a:noFill/>
                    </a:ln>
                    <a:solidFill>
                      <a:srgbClr val="000000"/>
                    </a:solidFill>
                    <a:effectLst/>
                    <a:uLnTx/>
                    <a:uFillTx/>
                    <a:latin typeface="Arial"/>
                    <a:ea typeface="+mn-ea"/>
                    <a:cs typeface="Arial"/>
                  </a:rPr>
                  <a:t>Social support, ie, improved adherence is associated with a stable family life and caregivers who provide support and encouragement</a:t>
                </a:r>
              </a:p>
            </p:txBody>
          </p:sp>
        </p:grpSp>
        <p:sp>
          <p:nvSpPr>
            <p:cNvPr id="79" name="object 12">
              <a:extLst>
                <a:ext uri="{FF2B5EF4-FFF2-40B4-BE49-F238E27FC236}">
                  <a16:creationId xmlns:a16="http://schemas.microsoft.com/office/drawing/2014/main" id="{6E5424F3-5ECA-0DE7-9358-3A795EE1C21C}"/>
                </a:ext>
              </a:extLst>
            </p:cNvPr>
            <p:cNvSpPr txBox="1"/>
            <p:nvPr/>
          </p:nvSpPr>
          <p:spPr>
            <a:xfrm>
              <a:off x="367284" y="2797954"/>
              <a:ext cx="11457432" cy="298857"/>
            </a:xfrm>
            <a:prstGeom prst="rect">
              <a:avLst/>
            </a:prstGeom>
            <a:solidFill>
              <a:schemeClr val="tx2"/>
            </a:solidFill>
          </p:spPr>
          <p:txBody>
            <a:bodyPr vert="horz" wrap="square" lIns="91440" tIns="0" rIns="0" bIns="0" rtlCol="0" anchor="ctr" anchorCtr="0">
              <a:noAutofit/>
            </a:bodyPr>
            <a:lstStyle/>
            <a:p>
              <a:pPr marL="0" marR="0" lvl="0" indent="0" algn="ctr" defTabSz="1219170" rtl="0" eaLnBrk="1" fontAlgn="auto" latinLnBrk="0" hangingPunct="1">
                <a:lnSpc>
                  <a:spcPct val="100000"/>
                </a:lnSpc>
                <a:spcBef>
                  <a:spcPts val="5"/>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Arial"/>
                  <a:ea typeface="+mn-ea"/>
                  <a:cs typeface="Arial"/>
                </a:rPr>
                <a:t>Factors influencing adherence to COPD treatment</a:t>
              </a:r>
              <a:r>
                <a:rPr kumimoji="0" lang="en-US" sz="1100" b="1" i="0" u="none" strike="noStrike" kern="1200" cap="none" spc="0" normalizeH="0" baseline="30000" noProof="0" dirty="0">
                  <a:ln>
                    <a:noFill/>
                  </a:ln>
                  <a:solidFill>
                    <a:srgbClr val="FFFFFF"/>
                  </a:solidFill>
                  <a:effectLst/>
                  <a:uLnTx/>
                  <a:uFillTx/>
                  <a:latin typeface="Arial"/>
                  <a:ea typeface="+mn-ea"/>
                  <a:cs typeface="Arial"/>
                </a:rPr>
                <a:t>2</a:t>
              </a:r>
            </a:p>
          </p:txBody>
        </p:sp>
      </p:grpSp>
      <p:sp>
        <p:nvSpPr>
          <p:cNvPr id="83" name="object 3">
            <a:extLst>
              <a:ext uri="{FF2B5EF4-FFF2-40B4-BE49-F238E27FC236}">
                <a16:creationId xmlns:a16="http://schemas.microsoft.com/office/drawing/2014/main" id="{A4A10B94-75C1-A077-F3EB-EE556DA7FEA6}"/>
              </a:ext>
            </a:extLst>
          </p:cNvPr>
          <p:cNvSpPr/>
          <p:nvPr/>
        </p:nvSpPr>
        <p:spPr>
          <a:xfrm>
            <a:off x="522720" y="4870405"/>
            <a:ext cx="382385" cy="382385"/>
          </a:xfrm>
          <a:custGeom>
            <a:avLst/>
            <a:gdLst/>
            <a:ahLst/>
            <a:cxnLst/>
            <a:rect l="l" t="t" r="r" b="b"/>
            <a:pathLst>
              <a:path w="497205" h="416560">
                <a:moveTo>
                  <a:pt x="227817" y="314083"/>
                </a:moveTo>
                <a:lnTo>
                  <a:pt x="177609" y="314083"/>
                </a:lnTo>
                <a:lnTo>
                  <a:pt x="177609" y="416051"/>
                </a:lnTo>
                <a:lnTo>
                  <a:pt x="319214" y="416051"/>
                </a:lnTo>
                <a:lnTo>
                  <a:pt x="319214" y="381380"/>
                </a:lnTo>
                <a:lnTo>
                  <a:pt x="247218" y="381380"/>
                </a:lnTo>
                <a:lnTo>
                  <a:pt x="244817" y="377304"/>
                </a:lnTo>
                <a:lnTo>
                  <a:pt x="244817" y="375259"/>
                </a:lnTo>
                <a:lnTo>
                  <a:pt x="235216" y="375259"/>
                </a:lnTo>
                <a:lnTo>
                  <a:pt x="242417" y="369138"/>
                </a:lnTo>
                <a:lnTo>
                  <a:pt x="244817" y="369138"/>
                </a:lnTo>
                <a:lnTo>
                  <a:pt x="244817" y="342633"/>
                </a:lnTo>
                <a:lnTo>
                  <a:pt x="230266" y="326569"/>
                </a:lnTo>
                <a:lnTo>
                  <a:pt x="227817" y="314083"/>
                </a:lnTo>
                <a:close/>
              </a:path>
              <a:path w="497205" h="416560">
                <a:moveTo>
                  <a:pt x="319214" y="26542"/>
                </a:moveTo>
                <a:lnTo>
                  <a:pt x="259206" y="26542"/>
                </a:lnTo>
                <a:lnTo>
                  <a:pt x="264007" y="32638"/>
                </a:lnTo>
                <a:lnTo>
                  <a:pt x="264007" y="63245"/>
                </a:lnTo>
                <a:lnTo>
                  <a:pt x="276496" y="72881"/>
                </a:lnTo>
                <a:lnTo>
                  <a:pt x="282909" y="83869"/>
                </a:lnTo>
                <a:lnTo>
                  <a:pt x="279872" y="92187"/>
                </a:lnTo>
                <a:lnTo>
                  <a:pt x="264007" y="93814"/>
                </a:lnTo>
                <a:lnTo>
                  <a:pt x="261607" y="134607"/>
                </a:lnTo>
                <a:lnTo>
                  <a:pt x="278821" y="146998"/>
                </a:lnTo>
                <a:lnTo>
                  <a:pt x="291311" y="160350"/>
                </a:lnTo>
                <a:lnTo>
                  <a:pt x="294348" y="175615"/>
                </a:lnTo>
                <a:lnTo>
                  <a:pt x="283209" y="193751"/>
                </a:lnTo>
                <a:lnTo>
                  <a:pt x="278409" y="197827"/>
                </a:lnTo>
                <a:lnTo>
                  <a:pt x="268808" y="201904"/>
                </a:lnTo>
                <a:lnTo>
                  <a:pt x="261607" y="205981"/>
                </a:lnTo>
                <a:lnTo>
                  <a:pt x="259206" y="244741"/>
                </a:lnTo>
                <a:lnTo>
                  <a:pt x="274058" y="257580"/>
                </a:lnTo>
                <a:lnTo>
                  <a:pt x="280809" y="269463"/>
                </a:lnTo>
                <a:lnTo>
                  <a:pt x="276759" y="281730"/>
                </a:lnTo>
                <a:lnTo>
                  <a:pt x="259206" y="295719"/>
                </a:lnTo>
                <a:lnTo>
                  <a:pt x="259206" y="340588"/>
                </a:lnTo>
                <a:lnTo>
                  <a:pt x="265582" y="347885"/>
                </a:lnTo>
                <a:lnTo>
                  <a:pt x="268808" y="354609"/>
                </a:lnTo>
                <a:lnTo>
                  <a:pt x="266632" y="360951"/>
                </a:lnTo>
                <a:lnTo>
                  <a:pt x="256806" y="367106"/>
                </a:lnTo>
                <a:lnTo>
                  <a:pt x="256806" y="381380"/>
                </a:lnTo>
                <a:lnTo>
                  <a:pt x="319214" y="381380"/>
                </a:lnTo>
                <a:lnTo>
                  <a:pt x="319214" y="314083"/>
                </a:lnTo>
                <a:lnTo>
                  <a:pt x="459431" y="314083"/>
                </a:lnTo>
                <a:lnTo>
                  <a:pt x="496823" y="259016"/>
                </a:lnTo>
                <a:lnTo>
                  <a:pt x="391223" y="208025"/>
                </a:lnTo>
                <a:lnTo>
                  <a:pt x="496823" y="157035"/>
                </a:lnTo>
                <a:lnTo>
                  <a:pt x="460841" y="104012"/>
                </a:lnTo>
                <a:lnTo>
                  <a:pt x="319214" y="104012"/>
                </a:lnTo>
                <a:lnTo>
                  <a:pt x="319214" y="26542"/>
                </a:lnTo>
                <a:close/>
              </a:path>
              <a:path w="497205" h="416560">
                <a:moveTo>
                  <a:pt x="244817" y="373227"/>
                </a:moveTo>
                <a:lnTo>
                  <a:pt x="240017" y="373227"/>
                </a:lnTo>
                <a:lnTo>
                  <a:pt x="235216" y="375259"/>
                </a:lnTo>
                <a:lnTo>
                  <a:pt x="244817" y="375259"/>
                </a:lnTo>
                <a:lnTo>
                  <a:pt x="244817" y="373227"/>
                </a:lnTo>
                <a:close/>
              </a:path>
              <a:path w="497205" h="416560">
                <a:moveTo>
                  <a:pt x="72008" y="50926"/>
                </a:moveTo>
                <a:lnTo>
                  <a:pt x="0" y="157035"/>
                </a:lnTo>
                <a:lnTo>
                  <a:pt x="105600" y="208025"/>
                </a:lnTo>
                <a:lnTo>
                  <a:pt x="0" y="259016"/>
                </a:lnTo>
                <a:lnTo>
                  <a:pt x="72008" y="365061"/>
                </a:lnTo>
                <a:lnTo>
                  <a:pt x="177609" y="314083"/>
                </a:lnTo>
                <a:lnTo>
                  <a:pt x="227817" y="314083"/>
                </a:lnTo>
                <a:lnTo>
                  <a:pt x="227415" y="312037"/>
                </a:lnTo>
                <a:lnTo>
                  <a:pt x="232666" y="299036"/>
                </a:lnTo>
                <a:lnTo>
                  <a:pt x="242417" y="287566"/>
                </a:lnTo>
                <a:lnTo>
                  <a:pt x="241303" y="256328"/>
                </a:lnTo>
                <a:lnTo>
                  <a:pt x="227415" y="248302"/>
                </a:lnTo>
                <a:lnTo>
                  <a:pt x="220814" y="243204"/>
                </a:lnTo>
                <a:lnTo>
                  <a:pt x="216014" y="236575"/>
                </a:lnTo>
                <a:lnTo>
                  <a:pt x="213351" y="221537"/>
                </a:lnTo>
                <a:lnTo>
                  <a:pt x="218114" y="209554"/>
                </a:lnTo>
                <a:lnTo>
                  <a:pt x="227828" y="199865"/>
                </a:lnTo>
                <a:lnTo>
                  <a:pt x="240017" y="191706"/>
                </a:lnTo>
                <a:lnTo>
                  <a:pt x="240017" y="152958"/>
                </a:lnTo>
                <a:lnTo>
                  <a:pt x="223440" y="144705"/>
                </a:lnTo>
                <a:lnTo>
                  <a:pt x="208213" y="134350"/>
                </a:lnTo>
                <a:lnTo>
                  <a:pt x="197486" y="120551"/>
                </a:lnTo>
                <a:lnTo>
                  <a:pt x="194749" y="104012"/>
                </a:lnTo>
                <a:lnTo>
                  <a:pt x="177609" y="104012"/>
                </a:lnTo>
                <a:lnTo>
                  <a:pt x="72008" y="50926"/>
                </a:lnTo>
                <a:close/>
              </a:path>
              <a:path w="497205" h="416560">
                <a:moveTo>
                  <a:pt x="459431" y="314083"/>
                </a:moveTo>
                <a:lnTo>
                  <a:pt x="319214" y="314083"/>
                </a:lnTo>
                <a:lnTo>
                  <a:pt x="424814" y="365061"/>
                </a:lnTo>
                <a:lnTo>
                  <a:pt x="459431" y="314083"/>
                </a:lnTo>
                <a:close/>
              </a:path>
              <a:path w="497205" h="416560">
                <a:moveTo>
                  <a:pt x="256806" y="352831"/>
                </a:moveTo>
                <a:lnTo>
                  <a:pt x="256806" y="356908"/>
                </a:lnTo>
                <a:lnTo>
                  <a:pt x="259206" y="356908"/>
                </a:lnTo>
                <a:lnTo>
                  <a:pt x="259206" y="354863"/>
                </a:lnTo>
                <a:lnTo>
                  <a:pt x="256806" y="352831"/>
                </a:lnTo>
                <a:close/>
              </a:path>
              <a:path w="497205" h="416560">
                <a:moveTo>
                  <a:pt x="261607" y="269214"/>
                </a:moveTo>
                <a:lnTo>
                  <a:pt x="259206" y="269214"/>
                </a:lnTo>
                <a:lnTo>
                  <a:pt x="259206" y="273291"/>
                </a:lnTo>
                <a:lnTo>
                  <a:pt x="261607" y="271246"/>
                </a:lnTo>
                <a:lnTo>
                  <a:pt x="261607" y="269214"/>
                </a:lnTo>
                <a:close/>
              </a:path>
              <a:path w="497205" h="416560">
                <a:moveTo>
                  <a:pt x="240249" y="226772"/>
                </a:moveTo>
                <a:lnTo>
                  <a:pt x="241303" y="256328"/>
                </a:lnTo>
                <a:lnTo>
                  <a:pt x="242417" y="256971"/>
                </a:lnTo>
                <a:lnTo>
                  <a:pt x="242417" y="230454"/>
                </a:lnTo>
                <a:lnTo>
                  <a:pt x="240249" y="226772"/>
                </a:lnTo>
                <a:close/>
              </a:path>
              <a:path w="497205" h="416560">
                <a:moveTo>
                  <a:pt x="240017" y="220256"/>
                </a:moveTo>
                <a:lnTo>
                  <a:pt x="240017" y="226377"/>
                </a:lnTo>
                <a:lnTo>
                  <a:pt x="240249" y="226772"/>
                </a:lnTo>
                <a:lnTo>
                  <a:pt x="240017" y="220256"/>
                </a:lnTo>
                <a:close/>
              </a:path>
              <a:path w="497205" h="416560">
                <a:moveTo>
                  <a:pt x="261607" y="167233"/>
                </a:moveTo>
                <a:lnTo>
                  <a:pt x="261607" y="177431"/>
                </a:lnTo>
                <a:lnTo>
                  <a:pt x="264007" y="173354"/>
                </a:lnTo>
                <a:lnTo>
                  <a:pt x="264007" y="169278"/>
                </a:lnTo>
                <a:lnTo>
                  <a:pt x="261607" y="167233"/>
                </a:lnTo>
                <a:close/>
              </a:path>
              <a:path w="497205" h="416560">
                <a:moveTo>
                  <a:pt x="239046" y="119713"/>
                </a:moveTo>
                <a:lnTo>
                  <a:pt x="240017" y="138683"/>
                </a:lnTo>
                <a:lnTo>
                  <a:pt x="240017" y="120332"/>
                </a:lnTo>
                <a:lnTo>
                  <a:pt x="239046" y="119713"/>
                </a:lnTo>
                <a:close/>
              </a:path>
              <a:path w="497205" h="416560">
                <a:moveTo>
                  <a:pt x="237617" y="91770"/>
                </a:moveTo>
                <a:lnTo>
                  <a:pt x="232816" y="91770"/>
                </a:lnTo>
                <a:lnTo>
                  <a:pt x="228015" y="95859"/>
                </a:lnTo>
                <a:lnTo>
                  <a:pt x="228015" y="110134"/>
                </a:lnTo>
                <a:lnTo>
                  <a:pt x="230416" y="114211"/>
                </a:lnTo>
                <a:lnTo>
                  <a:pt x="239046" y="119713"/>
                </a:lnTo>
                <a:lnTo>
                  <a:pt x="237617" y="91770"/>
                </a:lnTo>
                <a:close/>
              </a:path>
              <a:path w="497205" h="416560">
                <a:moveTo>
                  <a:pt x="319214" y="0"/>
                </a:moveTo>
                <a:lnTo>
                  <a:pt x="177609" y="0"/>
                </a:lnTo>
                <a:lnTo>
                  <a:pt x="177609" y="104012"/>
                </a:lnTo>
                <a:lnTo>
                  <a:pt x="194749" y="104012"/>
                </a:lnTo>
                <a:lnTo>
                  <a:pt x="194411" y="101968"/>
                </a:lnTo>
                <a:lnTo>
                  <a:pt x="197787" y="85550"/>
                </a:lnTo>
                <a:lnTo>
                  <a:pt x="207013" y="73166"/>
                </a:lnTo>
                <a:lnTo>
                  <a:pt x="220739" y="64994"/>
                </a:lnTo>
                <a:lnTo>
                  <a:pt x="237617" y="61213"/>
                </a:lnTo>
                <a:lnTo>
                  <a:pt x="237617" y="32638"/>
                </a:lnTo>
                <a:lnTo>
                  <a:pt x="242417" y="26542"/>
                </a:lnTo>
                <a:lnTo>
                  <a:pt x="319214" y="26542"/>
                </a:lnTo>
                <a:lnTo>
                  <a:pt x="319214" y="0"/>
                </a:lnTo>
                <a:close/>
              </a:path>
              <a:path w="497205" h="416560">
                <a:moveTo>
                  <a:pt x="424814" y="50926"/>
                </a:moveTo>
                <a:lnTo>
                  <a:pt x="319214" y="104012"/>
                </a:lnTo>
                <a:lnTo>
                  <a:pt x="460841" y="104012"/>
                </a:lnTo>
                <a:lnTo>
                  <a:pt x="424814" y="50926"/>
                </a:lnTo>
                <a:close/>
              </a:path>
            </a:pathLst>
          </a:custGeom>
          <a:solidFill>
            <a:schemeClr val="tx2"/>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Tree>
    <p:custDataLst>
      <p:tags r:id="rId1"/>
    </p:custDataLst>
    <p:extLst>
      <p:ext uri="{BB962C8B-B14F-4D97-AF65-F5344CB8AC3E}">
        <p14:creationId xmlns:p14="http://schemas.microsoft.com/office/powerpoint/2010/main" val="3051029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96</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C139D962-7ECD-4773-ACD5-3FED410604A9}"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ER, emergency room; OR, odds ratio</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Rootmensen GN, et al. </a:t>
            </a:r>
            <a:r>
              <a:rPr lang="en-US" i="1" dirty="0"/>
              <a:t>J Aerosol Med Pulm Drug Deliv</a:t>
            </a:r>
            <a:r>
              <a:rPr lang="en-US" dirty="0"/>
              <a:t>. 2010;23(5):323-328; 3. Melani AS, et al. </a:t>
            </a:r>
            <a:r>
              <a:rPr lang="en-US" i="1" dirty="0"/>
              <a:t>Respir Med</a:t>
            </a:r>
            <a:r>
              <a:rPr lang="en-US" dirty="0"/>
              <a:t>. 2011;105(6):930-938.</a:t>
            </a:r>
          </a:p>
        </p:txBody>
      </p:sp>
      <p:sp>
        <p:nvSpPr>
          <p:cNvPr id="8" name="Title 7">
            <a:extLst>
              <a:ext uri="{FF2B5EF4-FFF2-40B4-BE49-F238E27FC236}">
                <a16:creationId xmlns:a16="http://schemas.microsoft.com/office/drawing/2014/main" id="{7303ADEC-EF1F-88D8-2DCF-1058D94483DE}"/>
              </a:ext>
            </a:extLst>
          </p:cNvPr>
          <p:cNvSpPr>
            <a:spLocks noGrp="1"/>
          </p:cNvSpPr>
          <p:nvPr>
            <p:ph type="title"/>
          </p:nvPr>
        </p:nvSpPr>
        <p:spPr>
          <a:xfrm>
            <a:off x="365125" y="242888"/>
            <a:ext cx="11460163" cy="430887"/>
          </a:xfrm>
        </p:spPr>
        <p:txBody>
          <a:bodyPr anchor="t"/>
          <a:lstStyle/>
          <a:p>
            <a:r>
              <a:rPr lang="en-US" dirty="0"/>
              <a:t>Poor inhaler technique in COPD</a:t>
            </a:r>
            <a:endParaRPr lang="en-GB" dirty="0"/>
          </a:p>
        </p:txBody>
      </p:sp>
      <p:sp>
        <p:nvSpPr>
          <p:cNvPr id="10" name="object 12">
            <a:extLst>
              <a:ext uri="{FF2B5EF4-FFF2-40B4-BE49-F238E27FC236}">
                <a16:creationId xmlns:a16="http://schemas.microsoft.com/office/drawing/2014/main" id="{740FAB3E-3FC7-B5BF-F03D-24A928B9F7A2}"/>
              </a:ext>
            </a:extLst>
          </p:cNvPr>
          <p:cNvSpPr txBox="1"/>
          <p:nvPr/>
        </p:nvSpPr>
        <p:spPr>
          <a:xfrm>
            <a:off x="365125" y="1103858"/>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On average, more than two-thirds of patients make at least 1 error when using an inhaler</a:t>
            </a:r>
            <a:r>
              <a:rPr kumimoji="0" lang="en-US" sz="1200" b="1" i="0" u="none" strike="noStrike" kern="1200" cap="none" spc="0" normalizeH="0" baseline="30000" noProof="0" dirty="0">
                <a:ln>
                  <a:noFill/>
                </a:ln>
                <a:solidFill>
                  <a:srgbClr val="000000"/>
                </a:solidFill>
                <a:effectLst/>
                <a:uLnTx/>
                <a:uFillTx/>
                <a:latin typeface="Arial"/>
                <a:ea typeface="+mn-ea"/>
                <a:cs typeface="Arial"/>
              </a:rPr>
              <a:t>1</a:t>
            </a:r>
          </a:p>
        </p:txBody>
      </p:sp>
      <p:sp>
        <p:nvSpPr>
          <p:cNvPr id="25" name="object 12">
            <a:extLst>
              <a:ext uri="{FF2B5EF4-FFF2-40B4-BE49-F238E27FC236}">
                <a16:creationId xmlns:a16="http://schemas.microsoft.com/office/drawing/2014/main" id="{97533B59-F45D-4B9F-9224-F86ECC1210CE}"/>
              </a:ext>
            </a:extLst>
          </p:cNvPr>
          <p:cNvSpPr txBox="1"/>
          <p:nvPr/>
        </p:nvSpPr>
        <p:spPr>
          <a:xfrm>
            <a:off x="365125" y="1662113"/>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Older age, use of multiple devices and lack of education are determinants of poor inhaler technique</a:t>
            </a:r>
            <a:r>
              <a:rPr kumimoji="0" lang="en-US" sz="1200" b="1" i="0" u="none" strike="noStrike" kern="1200" cap="none" spc="0" normalizeH="0" baseline="30000" noProof="0" dirty="0">
                <a:ln>
                  <a:noFill/>
                </a:ln>
                <a:solidFill>
                  <a:srgbClr val="000000"/>
                </a:solidFill>
                <a:effectLst/>
                <a:uLnTx/>
                <a:uFillTx/>
                <a:latin typeface="Arial"/>
                <a:ea typeface="+mn-ea"/>
                <a:cs typeface="Arial"/>
              </a:rPr>
              <a:t>1,2</a:t>
            </a:r>
          </a:p>
        </p:txBody>
      </p:sp>
      <p:sp>
        <p:nvSpPr>
          <p:cNvPr id="64" name="object 12">
            <a:extLst>
              <a:ext uri="{FF2B5EF4-FFF2-40B4-BE49-F238E27FC236}">
                <a16:creationId xmlns:a16="http://schemas.microsoft.com/office/drawing/2014/main" id="{1173EB3F-60C4-7A50-4422-DC1D63B11C36}"/>
              </a:ext>
            </a:extLst>
          </p:cNvPr>
          <p:cNvSpPr txBox="1"/>
          <p:nvPr/>
        </p:nvSpPr>
        <p:spPr>
          <a:xfrm>
            <a:off x="365125" y="2220368"/>
            <a:ext cx="11460163" cy="488922"/>
          </a:xfrm>
          <a:prstGeom prst="rect">
            <a:avLst/>
          </a:prstGeom>
          <a:solidFill>
            <a:schemeClr val="tx2">
              <a:lumMod val="20000"/>
              <a:lumOff val="80000"/>
            </a:schemeClr>
          </a:solidFill>
        </p:spPr>
        <p:txBody>
          <a:bodyPr vert="horz" wrap="square" lIns="640080" tIns="0" rIns="0" bIns="0" rtlCol="0" anchor="ctr" anchorCtr="0">
            <a:noAutofit/>
          </a:bodyPr>
          <a:lstStyle/>
          <a:p>
            <a:pPr marL="0"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Poor inhaler technique is associated with poor symptom control</a:t>
            </a:r>
            <a:r>
              <a:rPr kumimoji="0" lang="en-US" sz="1200" b="1" i="0" u="none" strike="noStrike" kern="1200" cap="none" spc="0" normalizeH="0" baseline="30000" noProof="0" dirty="0">
                <a:ln>
                  <a:noFill/>
                </a:ln>
                <a:solidFill>
                  <a:srgbClr val="000000"/>
                </a:solidFill>
                <a:effectLst/>
                <a:uLnTx/>
                <a:uFillTx/>
                <a:latin typeface="Arial"/>
                <a:ea typeface="+mn-ea"/>
                <a:cs typeface="Arial"/>
              </a:rPr>
              <a:t>1,3</a:t>
            </a:r>
          </a:p>
        </p:txBody>
      </p:sp>
      <p:sp>
        <p:nvSpPr>
          <p:cNvPr id="75" name="object 8">
            <a:extLst>
              <a:ext uri="{FF2B5EF4-FFF2-40B4-BE49-F238E27FC236}">
                <a16:creationId xmlns:a16="http://schemas.microsoft.com/office/drawing/2014/main" id="{0E6FA13C-5EFE-EC68-E807-003A412A254F}"/>
              </a:ext>
            </a:extLst>
          </p:cNvPr>
          <p:cNvSpPr txBox="1"/>
          <p:nvPr/>
        </p:nvSpPr>
        <p:spPr>
          <a:xfrm>
            <a:off x="365125" y="3143960"/>
            <a:ext cx="2743200" cy="2097995"/>
          </a:xfrm>
          <a:prstGeom prst="rect">
            <a:avLst/>
          </a:prstGeom>
          <a:solidFill>
            <a:schemeClr val="bg2">
              <a:lumMod val="20000"/>
              <a:lumOff val="80000"/>
            </a:schemeClr>
          </a:solidFill>
        </p:spPr>
        <p:txBody>
          <a:bodyPr vert="horz" wrap="square" lIns="91440" tIns="1097280" rIns="91440" bIns="45720" rtlCol="0" anchor="t" anchorCtr="0">
            <a:noAutofit/>
          </a:bodyPr>
          <a:lstStyle/>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err="1">
                <a:ln>
                  <a:noFill/>
                </a:ln>
                <a:solidFill>
                  <a:srgbClr val="000000"/>
                </a:solidFill>
                <a:effectLst/>
                <a:uLnTx/>
                <a:uFillTx/>
                <a:latin typeface="Arial"/>
                <a:ea typeface="+mn-ea"/>
                <a:cs typeface="Arial"/>
              </a:rPr>
              <a:t>Hospitalisation</a:t>
            </a:r>
            <a:endParaRPr kumimoji="0" lang="en-US" sz="1200" b="1" i="0" u="none" strike="noStrike" kern="1200" cap="none" spc="0" normalizeH="0" baseline="0" noProof="0" dirty="0">
              <a:ln>
                <a:noFill/>
              </a:ln>
              <a:solidFill>
                <a:srgbClr val="000000"/>
              </a:solidFill>
              <a:effectLst/>
              <a:uLnTx/>
              <a:uFillTx/>
              <a:latin typeface="Arial"/>
              <a:ea typeface="+mn-ea"/>
              <a:cs typeface="Arial"/>
            </a:endParaRPr>
          </a:p>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(OR: 1.47; </a:t>
            </a:r>
            <a:r>
              <a:rPr kumimoji="0" lang="en-US" sz="1200" b="1" i="1" u="none" strike="noStrike" kern="1200" cap="none" spc="0" normalizeH="0" baseline="0" noProof="0" dirty="0">
                <a:ln>
                  <a:noFill/>
                </a:ln>
                <a:solidFill>
                  <a:srgbClr val="000000"/>
                </a:solidFill>
                <a:effectLst/>
                <a:uLnTx/>
                <a:uFillTx/>
                <a:latin typeface="Arial"/>
                <a:ea typeface="+mn-ea"/>
                <a:cs typeface="Arial"/>
              </a:rPr>
              <a:t>P</a:t>
            </a:r>
            <a:r>
              <a:rPr kumimoji="0" lang="en-US" sz="1200" b="1" i="0" u="none" strike="noStrike" kern="1200" cap="none" spc="0" normalizeH="0" baseline="0" noProof="0" dirty="0">
                <a:ln>
                  <a:noFill/>
                </a:ln>
                <a:solidFill>
                  <a:srgbClr val="000000"/>
                </a:solidFill>
                <a:effectLst/>
                <a:uLnTx/>
                <a:uFillTx/>
                <a:latin typeface="Arial"/>
                <a:ea typeface="+mn-ea"/>
                <a:cs typeface="Arial"/>
              </a:rPr>
              <a:t> = 0.001)</a:t>
            </a:r>
          </a:p>
        </p:txBody>
      </p:sp>
      <p:sp>
        <p:nvSpPr>
          <p:cNvPr id="76" name="object 8">
            <a:extLst>
              <a:ext uri="{FF2B5EF4-FFF2-40B4-BE49-F238E27FC236}">
                <a16:creationId xmlns:a16="http://schemas.microsoft.com/office/drawing/2014/main" id="{74263F55-EEB3-2495-7904-547EA76369A4}"/>
              </a:ext>
            </a:extLst>
          </p:cNvPr>
          <p:cNvSpPr txBox="1"/>
          <p:nvPr/>
        </p:nvSpPr>
        <p:spPr>
          <a:xfrm>
            <a:off x="3270779" y="3143960"/>
            <a:ext cx="2743200" cy="2097995"/>
          </a:xfrm>
          <a:prstGeom prst="rect">
            <a:avLst/>
          </a:prstGeom>
          <a:solidFill>
            <a:schemeClr val="bg2">
              <a:lumMod val="20000"/>
              <a:lumOff val="80000"/>
            </a:schemeClr>
          </a:solidFill>
        </p:spPr>
        <p:txBody>
          <a:bodyPr vert="horz" wrap="square" lIns="91440" tIns="1097280" rIns="91440" bIns="45720" rtlCol="0" anchor="t" anchorCtr="0">
            <a:noAutofit/>
          </a:bodyPr>
          <a:lstStyle/>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ER visits</a:t>
            </a:r>
          </a:p>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(OR: 1.62; </a:t>
            </a:r>
            <a:r>
              <a:rPr kumimoji="0" lang="en-US" sz="1200" b="1" i="1" u="none" strike="noStrike" kern="1200" cap="none" spc="0" normalizeH="0" baseline="0" noProof="0" dirty="0">
                <a:ln>
                  <a:noFill/>
                </a:ln>
                <a:solidFill>
                  <a:srgbClr val="000000"/>
                </a:solidFill>
                <a:effectLst/>
                <a:uLnTx/>
                <a:uFillTx/>
                <a:latin typeface="Arial"/>
                <a:ea typeface="+mn-ea"/>
                <a:cs typeface="Arial"/>
              </a:rPr>
              <a:t>P</a:t>
            </a:r>
            <a:r>
              <a:rPr kumimoji="0" lang="en-US" sz="1200" b="1" i="0" u="none" strike="noStrike" kern="1200" cap="none" spc="0" normalizeH="0" baseline="0" noProof="0" dirty="0">
                <a:ln>
                  <a:noFill/>
                </a:ln>
                <a:solidFill>
                  <a:srgbClr val="000000"/>
                </a:solidFill>
                <a:effectLst/>
                <a:uLnTx/>
                <a:uFillTx/>
                <a:latin typeface="Arial"/>
                <a:ea typeface="+mn-ea"/>
                <a:cs typeface="Arial"/>
              </a:rPr>
              <a:t> &lt; 0.001)</a:t>
            </a:r>
          </a:p>
        </p:txBody>
      </p:sp>
      <p:sp>
        <p:nvSpPr>
          <p:cNvPr id="77" name="object 8">
            <a:extLst>
              <a:ext uri="{FF2B5EF4-FFF2-40B4-BE49-F238E27FC236}">
                <a16:creationId xmlns:a16="http://schemas.microsoft.com/office/drawing/2014/main" id="{2563B1DA-4860-2312-C84D-2B30B0AA2496}"/>
              </a:ext>
            </a:extLst>
          </p:cNvPr>
          <p:cNvSpPr txBox="1"/>
          <p:nvPr/>
        </p:nvSpPr>
        <p:spPr>
          <a:xfrm>
            <a:off x="6176433" y="3143960"/>
            <a:ext cx="2743200" cy="2097995"/>
          </a:xfrm>
          <a:prstGeom prst="rect">
            <a:avLst/>
          </a:prstGeom>
          <a:solidFill>
            <a:schemeClr val="bg2">
              <a:lumMod val="20000"/>
              <a:lumOff val="80000"/>
            </a:schemeClr>
          </a:solidFill>
        </p:spPr>
        <p:txBody>
          <a:bodyPr vert="horz" wrap="square" lIns="91440" tIns="1097280" rIns="91440" bIns="45720" rtlCol="0" anchor="t" anchorCtr="0">
            <a:noAutofit/>
          </a:bodyPr>
          <a:lstStyle/>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Oral corticosteroid use</a:t>
            </a:r>
          </a:p>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(OR: 1.54; </a:t>
            </a:r>
            <a:r>
              <a:rPr kumimoji="0" lang="en-US" sz="1200" b="1" i="1" u="none" strike="noStrike" kern="1200" cap="none" spc="0" normalizeH="0" baseline="0" noProof="0" dirty="0">
                <a:ln>
                  <a:noFill/>
                </a:ln>
                <a:solidFill>
                  <a:srgbClr val="000000"/>
                </a:solidFill>
                <a:effectLst/>
                <a:uLnTx/>
                <a:uFillTx/>
                <a:latin typeface="Arial"/>
                <a:ea typeface="+mn-ea"/>
                <a:cs typeface="Arial"/>
              </a:rPr>
              <a:t>P</a:t>
            </a:r>
            <a:r>
              <a:rPr kumimoji="0" lang="en-US" sz="1200" b="1" i="0" u="none" strike="noStrike" kern="1200" cap="none" spc="0" normalizeH="0" baseline="0" noProof="0" dirty="0">
                <a:ln>
                  <a:noFill/>
                </a:ln>
                <a:solidFill>
                  <a:srgbClr val="000000"/>
                </a:solidFill>
                <a:effectLst/>
                <a:uLnTx/>
                <a:uFillTx/>
                <a:latin typeface="Arial"/>
                <a:ea typeface="+mn-ea"/>
                <a:cs typeface="Arial"/>
              </a:rPr>
              <a:t> &lt; 0.001)</a:t>
            </a:r>
          </a:p>
        </p:txBody>
      </p:sp>
      <p:sp>
        <p:nvSpPr>
          <p:cNvPr id="78" name="object 8">
            <a:extLst>
              <a:ext uri="{FF2B5EF4-FFF2-40B4-BE49-F238E27FC236}">
                <a16:creationId xmlns:a16="http://schemas.microsoft.com/office/drawing/2014/main" id="{35A24DD3-D5BC-FCB2-D9EF-44B3730F8339}"/>
              </a:ext>
            </a:extLst>
          </p:cNvPr>
          <p:cNvSpPr txBox="1"/>
          <p:nvPr/>
        </p:nvSpPr>
        <p:spPr>
          <a:xfrm>
            <a:off x="9082088" y="3143960"/>
            <a:ext cx="2743200" cy="2097995"/>
          </a:xfrm>
          <a:prstGeom prst="rect">
            <a:avLst/>
          </a:prstGeom>
          <a:solidFill>
            <a:schemeClr val="bg2">
              <a:lumMod val="20000"/>
              <a:lumOff val="80000"/>
            </a:schemeClr>
          </a:solidFill>
        </p:spPr>
        <p:txBody>
          <a:bodyPr vert="horz" wrap="square" lIns="91440" tIns="1097280" rIns="91440" bIns="45720" rtlCol="0" anchor="t" anchorCtr="0">
            <a:noAutofit/>
          </a:bodyPr>
          <a:lstStyle/>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Antimicrobial use</a:t>
            </a:r>
          </a:p>
          <a:p>
            <a:pPr marL="0" marR="0" lvl="0" indent="0" algn="ctr" defTabSz="1219170" rtl="0" eaLnBrk="1" fontAlgn="auto" latinLnBrk="0" hangingPunct="1">
              <a:lnSpc>
                <a:spcPct val="100000"/>
              </a:lnSpc>
              <a:spcBef>
                <a:spcPts val="200"/>
              </a:spcBef>
              <a:spcAft>
                <a:spcPts val="10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Arial"/>
                <a:ea typeface="+mn-ea"/>
                <a:cs typeface="Arial"/>
              </a:rPr>
              <a:t>(OR: 1.50; </a:t>
            </a:r>
            <a:r>
              <a:rPr kumimoji="0" lang="en-US" sz="1200" b="1" i="1" u="none" strike="noStrike" kern="1200" cap="none" spc="0" normalizeH="0" baseline="0" noProof="0" dirty="0">
                <a:ln>
                  <a:noFill/>
                </a:ln>
                <a:solidFill>
                  <a:srgbClr val="000000"/>
                </a:solidFill>
                <a:effectLst/>
                <a:uLnTx/>
                <a:uFillTx/>
                <a:latin typeface="Arial"/>
                <a:ea typeface="+mn-ea"/>
                <a:cs typeface="Arial"/>
              </a:rPr>
              <a:t>P</a:t>
            </a:r>
            <a:r>
              <a:rPr kumimoji="0" lang="en-US" sz="1200" b="1" i="0" u="none" strike="noStrike" kern="1200" cap="none" spc="0" normalizeH="0" baseline="0" noProof="0" dirty="0">
                <a:ln>
                  <a:noFill/>
                </a:ln>
                <a:solidFill>
                  <a:srgbClr val="000000"/>
                </a:solidFill>
                <a:effectLst/>
                <a:uLnTx/>
                <a:uFillTx/>
                <a:latin typeface="Arial"/>
                <a:ea typeface="+mn-ea"/>
                <a:cs typeface="Arial"/>
              </a:rPr>
              <a:t> &lt; 0.001)</a:t>
            </a:r>
          </a:p>
        </p:txBody>
      </p:sp>
      <p:sp>
        <p:nvSpPr>
          <p:cNvPr id="79" name="object 12">
            <a:extLst>
              <a:ext uri="{FF2B5EF4-FFF2-40B4-BE49-F238E27FC236}">
                <a16:creationId xmlns:a16="http://schemas.microsoft.com/office/drawing/2014/main" id="{6E5424F3-5ECA-0DE7-9358-3A795EE1C21C}"/>
              </a:ext>
            </a:extLst>
          </p:cNvPr>
          <p:cNvSpPr txBox="1"/>
          <p:nvPr/>
        </p:nvSpPr>
        <p:spPr>
          <a:xfrm>
            <a:off x="367284" y="2778623"/>
            <a:ext cx="11457432" cy="298857"/>
          </a:xfrm>
          <a:prstGeom prst="rect">
            <a:avLst/>
          </a:prstGeom>
          <a:solidFill>
            <a:schemeClr val="tx2"/>
          </a:solidFill>
        </p:spPr>
        <p:txBody>
          <a:bodyPr vert="horz" wrap="square" lIns="91440" tIns="0" rIns="0" bIns="0" rtlCol="0" anchor="ctr" anchorCtr="0">
            <a:noAutofit/>
          </a:bodyPr>
          <a:lstStyle/>
          <a:p>
            <a:pPr marL="0" marR="0" lvl="0" indent="0" algn="ctr"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Arial"/>
                <a:ea typeface="+mn-ea"/>
                <a:cs typeface="Arial"/>
              </a:rPr>
              <a:t>Poor inhaler technique is also associated with an increased risk of</a:t>
            </a:r>
            <a:r>
              <a:rPr kumimoji="0" lang="en-US" sz="1200" b="1" i="0" u="none" strike="noStrike" kern="1200" cap="none" spc="0" normalizeH="0" baseline="30000" noProof="0" dirty="0">
                <a:ln>
                  <a:noFill/>
                </a:ln>
                <a:solidFill>
                  <a:srgbClr val="FFFFFF"/>
                </a:solidFill>
                <a:effectLst/>
                <a:uLnTx/>
                <a:uFillTx/>
                <a:latin typeface="Arial"/>
                <a:ea typeface="+mn-ea"/>
                <a:cs typeface="Arial"/>
              </a:rPr>
              <a:t>3</a:t>
            </a:r>
          </a:p>
        </p:txBody>
      </p:sp>
      <p:grpSp>
        <p:nvGrpSpPr>
          <p:cNvPr id="14" name="Group 13">
            <a:extLst>
              <a:ext uri="{FF2B5EF4-FFF2-40B4-BE49-F238E27FC236}">
                <a16:creationId xmlns:a16="http://schemas.microsoft.com/office/drawing/2014/main" id="{5F2831FF-16FB-7A6F-5E20-1B953DCDE92E}"/>
              </a:ext>
            </a:extLst>
          </p:cNvPr>
          <p:cNvGrpSpPr/>
          <p:nvPr/>
        </p:nvGrpSpPr>
        <p:grpSpPr>
          <a:xfrm>
            <a:off x="482015" y="1205344"/>
            <a:ext cx="467585" cy="307174"/>
            <a:chOff x="-799592" y="1533144"/>
            <a:chExt cx="622300" cy="408812"/>
          </a:xfrm>
        </p:grpSpPr>
        <p:pic>
          <p:nvPicPr>
            <p:cNvPr id="15" name="object 12">
              <a:extLst>
                <a:ext uri="{FF2B5EF4-FFF2-40B4-BE49-F238E27FC236}">
                  <a16:creationId xmlns:a16="http://schemas.microsoft.com/office/drawing/2014/main" id="{94D311B7-AD30-CE91-B82E-667808AB9B4F}"/>
                </a:ext>
              </a:extLst>
            </p:cNvPr>
            <p:cNvPicPr/>
            <p:nvPr/>
          </p:nvPicPr>
          <p:blipFill>
            <a:blip r:embed="rId4" cstate="print"/>
            <a:stretch>
              <a:fillRect/>
            </a:stretch>
          </p:blipFill>
          <p:spPr>
            <a:xfrm>
              <a:off x="-746252" y="1533144"/>
              <a:ext cx="79247" cy="70103"/>
            </a:xfrm>
            <a:prstGeom prst="rect">
              <a:avLst/>
            </a:prstGeom>
          </p:spPr>
        </p:pic>
        <p:grpSp>
          <p:nvGrpSpPr>
            <p:cNvPr id="16" name="object 13">
              <a:extLst>
                <a:ext uri="{FF2B5EF4-FFF2-40B4-BE49-F238E27FC236}">
                  <a16:creationId xmlns:a16="http://schemas.microsoft.com/office/drawing/2014/main" id="{597B2D3E-1B1E-9541-F549-2B474D6F59C4}"/>
                </a:ext>
              </a:extLst>
            </p:cNvPr>
            <p:cNvGrpSpPr/>
            <p:nvPr/>
          </p:nvGrpSpPr>
          <p:grpSpPr>
            <a:xfrm>
              <a:off x="-799592" y="1612391"/>
              <a:ext cx="622300" cy="329565"/>
              <a:chOff x="406908" y="1612391"/>
              <a:chExt cx="622300" cy="329565"/>
            </a:xfrm>
          </p:grpSpPr>
          <p:sp>
            <p:nvSpPr>
              <p:cNvPr id="19" name="object 14">
                <a:extLst>
                  <a:ext uri="{FF2B5EF4-FFF2-40B4-BE49-F238E27FC236}">
                    <a16:creationId xmlns:a16="http://schemas.microsoft.com/office/drawing/2014/main" id="{5A8B9D5C-30A8-BA53-75E6-534D650CB002}"/>
                  </a:ext>
                </a:extLst>
              </p:cNvPr>
              <p:cNvSpPr/>
              <p:nvPr/>
            </p:nvSpPr>
            <p:spPr>
              <a:xfrm>
                <a:off x="406908" y="1612391"/>
                <a:ext cx="403860" cy="329565"/>
              </a:xfrm>
              <a:custGeom>
                <a:avLst/>
                <a:gdLst/>
                <a:ahLst/>
                <a:cxnLst/>
                <a:rect l="l" t="t" r="r" b="b"/>
                <a:pathLst>
                  <a:path w="403859" h="329564">
                    <a:moveTo>
                      <a:pt x="185928" y="31750"/>
                    </a:moveTo>
                    <a:lnTo>
                      <a:pt x="183299" y="19723"/>
                    </a:lnTo>
                    <a:lnTo>
                      <a:pt x="176110" y="9588"/>
                    </a:lnTo>
                    <a:lnTo>
                      <a:pt x="165366" y="2603"/>
                    </a:lnTo>
                    <a:lnTo>
                      <a:pt x="152095" y="0"/>
                    </a:lnTo>
                    <a:lnTo>
                      <a:pt x="33909" y="0"/>
                    </a:lnTo>
                    <a:lnTo>
                      <a:pt x="20612" y="2603"/>
                    </a:lnTo>
                    <a:lnTo>
                      <a:pt x="9842" y="9588"/>
                    </a:lnTo>
                    <a:lnTo>
                      <a:pt x="2628" y="19723"/>
                    </a:lnTo>
                    <a:lnTo>
                      <a:pt x="0" y="31750"/>
                    </a:lnTo>
                    <a:lnTo>
                      <a:pt x="0" y="146812"/>
                    </a:lnTo>
                    <a:lnTo>
                      <a:pt x="7645" y="153416"/>
                    </a:lnTo>
                    <a:lnTo>
                      <a:pt x="26263" y="153416"/>
                    </a:lnTo>
                    <a:lnTo>
                      <a:pt x="33909" y="146812"/>
                    </a:lnTo>
                    <a:lnTo>
                      <a:pt x="33909" y="41148"/>
                    </a:lnTo>
                    <a:lnTo>
                      <a:pt x="37249" y="38354"/>
                    </a:lnTo>
                    <a:lnTo>
                      <a:pt x="45529" y="38354"/>
                    </a:lnTo>
                    <a:lnTo>
                      <a:pt x="48869" y="41148"/>
                    </a:lnTo>
                    <a:lnTo>
                      <a:pt x="48869" y="318389"/>
                    </a:lnTo>
                    <a:lnTo>
                      <a:pt x="57150" y="326136"/>
                    </a:lnTo>
                    <a:lnTo>
                      <a:pt x="67094" y="326136"/>
                    </a:lnTo>
                    <a:lnTo>
                      <a:pt x="74333" y="324777"/>
                    </a:lnTo>
                    <a:lnTo>
                      <a:pt x="80251" y="321043"/>
                    </a:lnTo>
                    <a:lnTo>
                      <a:pt x="84251" y="315480"/>
                    </a:lnTo>
                    <a:lnTo>
                      <a:pt x="85725" y="308610"/>
                    </a:lnTo>
                    <a:lnTo>
                      <a:pt x="85725" y="166116"/>
                    </a:lnTo>
                    <a:lnTo>
                      <a:pt x="100291" y="166116"/>
                    </a:lnTo>
                    <a:lnTo>
                      <a:pt x="100291" y="308610"/>
                    </a:lnTo>
                    <a:lnTo>
                      <a:pt x="101752" y="315480"/>
                    </a:lnTo>
                    <a:lnTo>
                      <a:pt x="105752" y="321043"/>
                    </a:lnTo>
                    <a:lnTo>
                      <a:pt x="111671" y="324777"/>
                    </a:lnTo>
                    <a:lnTo>
                      <a:pt x="118910" y="326136"/>
                    </a:lnTo>
                    <a:lnTo>
                      <a:pt x="129184" y="326136"/>
                    </a:lnTo>
                    <a:lnTo>
                      <a:pt x="137134" y="318389"/>
                    </a:lnTo>
                    <a:lnTo>
                      <a:pt x="137134" y="166116"/>
                    </a:lnTo>
                    <a:lnTo>
                      <a:pt x="137134" y="41148"/>
                    </a:lnTo>
                    <a:lnTo>
                      <a:pt x="140474" y="38354"/>
                    </a:lnTo>
                    <a:lnTo>
                      <a:pt x="148755" y="38354"/>
                    </a:lnTo>
                    <a:lnTo>
                      <a:pt x="152095" y="41148"/>
                    </a:lnTo>
                    <a:lnTo>
                      <a:pt x="152095" y="146812"/>
                    </a:lnTo>
                    <a:lnTo>
                      <a:pt x="159740" y="153416"/>
                    </a:lnTo>
                    <a:lnTo>
                      <a:pt x="178371" y="153416"/>
                    </a:lnTo>
                    <a:lnTo>
                      <a:pt x="185928" y="146812"/>
                    </a:lnTo>
                    <a:lnTo>
                      <a:pt x="185928" y="38354"/>
                    </a:lnTo>
                    <a:lnTo>
                      <a:pt x="185928" y="31750"/>
                    </a:lnTo>
                    <a:close/>
                  </a:path>
                  <a:path w="403859" h="329564">
                    <a:moveTo>
                      <a:pt x="403860" y="34798"/>
                    </a:moveTo>
                    <a:lnTo>
                      <a:pt x="401231" y="22771"/>
                    </a:lnTo>
                    <a:lnTo>
                      <a:pt x="394042" y="12636"/>
                    </a:lnTo>
                    <a:lnTo>
                      <a:pt x="383298" y="5651"/>
                    </a:lnTo>
                    <a:lnTo>
                      <a:pt x="370027" y="3048"/>
                    </a:lnTo>
                    <a:lnTo>
                      <a:pt x="251841" y="3048"/>
                    </a:lnTo>
                    <a:lnTo>
                      <a:pt x="238544" y="5651"/>
                    </a:lnTo>
                    <a:lnTo>
                      <a:pt x="227774" y="12636"/>
                    </a:lnTo>
                    <a:lnTo>
                      <a:pt x="220560" y="22771"/>
                    </a:lnTo>
                    <a:lnTo>
                      <a:pt x="217932" y="34798"/>
                    </a:lnTo>
                    <a:lnTo>
                      <a:pt x="217932" y="149860"/>
                    </a:lnTo>
                    <a:lnTo>
                      <a:pt x="225577" y="156464"/>
                    </a:lnTo>
                    <a:lnTo>
                      <a:pt x="244195" y="156464"/>
                    </a:lnTo>
                    <a:lnTo>
                      <a:pt x="251841" y="149860"/>
                    </a:lnTo>
                    <a:lnTo>
                      <a:pt x="251841" y="44196"/>
                    </a:lnTo>
                    <a:lnTo>
                      <a:pt x="255181" y="41402"/>
                    </a:lnTo>
                    <a:lnTo>
                      <a:pt x="263461" y="41402"/>
                    </a:lnTo>
                    <a:lnTo>
                      <a:pt x="266801" y="44196"/>
                    </a:lnTo>
                    <a:lnTo>
                      <a:pt x="266801" y="321437"/>
                    </a:lnTo>
                    <a:lnTo>
                      <a:pt x="275082" y="329184"/>
                    </a:lnTo>
                    <a:lnTo>
                      <a:pt x="285026" y="329184"/>
                    </a:lnTo>
                    <a:lnTo>
                      <a:pt x="292265" y="327825"/>
                    </a:lnTo>
                    <a:lnTo>
                      <a:pt x="298183" y="324091"/>
                    </a:lnTo>
                    <a:lnTo>
                      <a:pt x="302183" y="318528"/>
                    </a:lnTo>
                    <a:lnTo>
                      <a:pt x="303657" y="311658"/>
                    </a:lnTo>
                    <a:lnTo>
                      <a:pt x="303657" y="169164"/>
                    </a:lnTo>
                    <a:lnTo>
                      <a:pt x="318223" y="169164"/>
                    </a:lnTo>
                    <a:lnTo>
                      <a:pt x="318223" y="311658"/>
                    </a:lnTo>
                    <a:lnTo>
                      <a:pt x="319684" y="318528"/>
                    </a:lnTo>
                    <a:lnTo>
                      <a:pt x="323684" y="324091"/>
                    </a:lnTo>
                    <a:lnTo>
                      <a:pt x="329603" y="327825"/>
                    </a:lnTo>
                    <a:lnTo>
                      <a:pt x="336842" y="329184"/>
                    </a:lnTo>
                    <a:lnTo>
                      <a:pt x="347116" y="329184"/>
                    </a:lnTo>
                    <a:lnTo>
                      <a:pt x="355066" y="321437"/>
                    </a:lnTo>
                    <a:lnTo>
                      <a:pt x="355066" y="169164"/>
                    </a:lnTo>
                    <a:lnTo>
                      <a:pt x="355066" y="44196"/>
                    </a:lnTo>
                    <a:lnTo>
                      <a:pt x="358406" y="41402"/>
                    </a:lnTo>
                    <a:lnTo>
                      <a:pt x="366687" y="41402"/>
                    </a:lnTo>
                    <a:lnTo>
                      <a:pt x="370027" y="44196"/>
                    </a:lnTo>
                    <a:lnTo>
                      <a:pt x="370027" y="149860"/>
                    </a:lnTo>
                    <a:lnTo>
                      <a:pt x="377672" y="156464"/>
                    </a:lnTo>
                    <a:lnTo>
                      <a:pt x="396303" y="156464"/>
                    </a:lnTo>
                    <a:lnTo>
                      <a:pt x="403860" y="149860"/>
                    </a:lnTo>
                    <a:lnTo>
                      <a:pt x="403860" y="41402"/>
                    </a:lnTo>
                    <a:lnTo>
                      <a:pt x="403860" y="34798"/>
                    </a:lnTo>
                    <a:close/>
                  </a:path>
                </a:pathLst>
              </a:custGeom>
              <a:solidFill>
                <a:srgbClr val="FF6600"/>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 name="object 15">
                <a:extLst>
                  <a:ext uri="{FF2B5EF4-FFF2-40B4-BE49-F238E27FC236}">
                    <a16:creationId xmlns:a16="http://schemas.microsoft.com/office/drawing/2014/main" id="{453B71FE-A514-6769-A577-E789AC2F385E}"/>
                  </a:ext>
                </a:extLst>
              </p:cNvPr>
              <p:cNvSpPr/>
              <p:nvPr/>
            </p:nvSpPr>
            <p:spPr>
              <a:xfrm>
                <a:off x="842772" y="1615439"/>
                <a:ext cx="186055" cy="326390"/>
              </a:xfrm>
              <a:custGeom>
                <a:avLst/>
                <a:gdLst/>
                <a:ahLst/>
                <a:cxnLst/>
                <a:rect l="l" t="t" r="r" b="b"/>
                <a:pathLst>
                  <a:path w="186055" h="326389">
                    <a:moveTo>
                      <a:pt x="140474" y="38354"/>
                    </a:moveTo>
                    <a:lnTo>
                      <a:pt x="45529" y="38354"/>
                    </a:lnTo>
                    <a:lnTo>
                      <a:pt x="48869" y="41148"/>
                    </a:lnTo>
                    <a:lnTo>
                      <a:pt x="48869" y="318388"/>
                    </a:lnTo>
                    <a:lnTo>
                      <a:pt x="57150" y="326136"/>
                    </a:lnTo>
                    <a:lnTo>
                      <a:pt x="67094" y="326136"/>
                    </a:lnTo>
                    <a:lnTo>
                      <a:pt x="74339" y="324772"/>
                    </a:lnTo>
                    <a:lnTo>
                      <a:pt x="80262" y="321040"/>
                    </a:lnTo>
                    <a:lnTo>
                      <a:pt x="84258" y="315473"/>
                    </a:lnTo>
                    <a:lnTo>
                      <a:pt x="85725" y="308610"/>
                    </a:lnTo>
                    <a:lnTo>
                      <a:pt x="85725" y="166115"/>
                    </a:lnTo>
                    <a:lnTo>
                      <a:pt x="137134" y="166115"/>
                    </a:lnTo>
                    <a:lnTo>
                      <a:pt x="137134" y="41148"/>
                    </a:lnTo>
                    <a:lnTo>
                      <a:pt x="140474" y="38354"/>
                    </a:lnTo>
                    <a:close/>
                  </a:path>
                  <a:path w="186055" h="326389">
                    <a:moveTo>
                      <a:pt x="137134" y="166115"/>
                    </a:moveTo>
                    <a:lnTo>
                      <a:pt x="100291" y="166115"/>
                    </a:lnTo>
                    <a:lnTo>
                      <a:pt x="100291" y="308610"/>
                    </a:lnTo>
                    <a:lnTo>
                      <a:pt x="101757" y="315473"/>
                    </a:lnTo>
                    <a:lnTo>
                      <a:pt x="105752" y="321040"/>
                    </a:lnTo>
                    <a:lnTo>
                      <a:pt x="111671" y="324772"/>
                    </a:lnTo>
                    <a:lnTo>
                      <a:pt x="118910" y="326136"/>
                    </a:lnTo>
                    <a:lnTo>
                      <a:pt x="129184" y="326136"/>
                    </a:lnTo>
                    <a:lnTo>
                      <a:pt x="137134" y="318388"/>
                    </a:lnTo>
                    <a:lnTo>
                      <a:pt x="137134" y="166115"/>
                    </a:lnTo>
                    <a:close/>
                  </a:path>
                  <a:path w="186055" h="326389">
                    <a:moveTo>
                      <a:pt x="152095" y="0"/>
                    </a:moveTo>
                    <a:lnTo>
                      <a:pt x="33909" y="0"/>
                    </a:lnTo>
                    <a:lnTo>
                      <a:pt x="20616" y="2603"/>
                    </a:lnTo>
                    <a:lnTo>
                      <a:pt x="9848" y="9588"/>
                    </a:lnTo>
                    <a:lnTo>
                      <a:pt x="2633" y="19716"/>
                    </a:lnTo>
                    <a:lnTo>
                      <a:pt x="0" y="31750"/>
                    </a:lnTo>
                    <a:lnTo>
                      <a:pt x="0" y="146812"/>
                    </a:lnTo>
                    <a:lnTo>
                      <a:pt x="7645" y="153415"/>
                    </a:lnTo>
                    <a:lnTo>
                      <a:pt x="26263" y="153415"/>
                    </a:lnTo>
                    <a:lnTo>
                      <a:pt x="33909" y="146812"/>
                    </a:lnTo>
                    <a:lnTo>
                      <a:pt x="33909" y="41148"/>
                    </a:lnTo>
                    <a:lnTo>
                      <a:pt x="37249" y="38354"/>
                    </a:lnTo>
                    <a:lnTo>
                      <a:pt x="185928" y="38354"/>
                    </a:lnTo>
                    <a:lnTo>
                      <a:pt x="185928" y="31750"/>
                    </a:lnTo>
                    <a:lnTo>
                      <a:pt x="183306" y="19716"/>
                    </a:lnTo>
                    <a:lnTo>
                      <a:pt x="176117" y="9588"/>
                    </a:lnTo>
                    <a:lnTo>
                      <a:pt x="165375" y="2603"/>
                    </a:lnTo>
                    <a:lnTo>
                      <a:pt x="152095" y="0"/>
                    </a:lnTo>
                    <a:close/>
                  </a:path>
                  <a:path w="186055" h="326389">
                    <a:moveTo>
                      <a:pt x="185928" y="38354"/>
                    </a:moveTo>
                    <a:lnTo>
                      <a:pt x="148755" y="38354"/>
                    </a:lnTo>
                    <a:lnTo>
                      <a:pt x="152095" y="41148"/>
                    </a:lnTo>
                    <a:lnTo>
                      <a:pt x="152095" y="146812"/>
                    </a:lnTo>
                    <a:lnTo>
                      <a:pt x="159740" y="153415"/>
                    </a:lnTo>
                    <a:lnTo>
                      <a:pt x="178371" y="153415"/>
                    </a:lnTo>
                    <a:lnTo>
                      <a:pt x="185928" y="146812"/>
                    </a:lnTo>
                    <a:lnTo>
                      <a:pt x="185928" y="38354"/>
                    </a:lnTo>
                    <a:close/>
                  </a:path>
                </a:pathLst>
              </a:custGeom>
              <a:solidFill>
                <a:srgbClr val="FFA266"/>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pic>
          <p:nvPicPr>
            <p:cNvPr id="17" name="object 16">
              <a:extLst>
                <a:ext uri="{FF2B5EF4-FFF2-40B4-BE49-F238E27FC236}">
                  <a16:creationId xmlns:a16="http://schemas.microsoft.com/office/drawing/2014/main" id="{CD197D91-107B-F208-3D5D-0F93AF9FF4E4}"/>
                </a:ext>
              </a:extLst>
            </p:cNvPr>
            <p:cNvPicPr/>
            <p:nvPr/>
          </p:nvPicPr>
          <p:blipFill>
            <a:blip r:embed="rId5" cstate="print"/>
            <a:stretch>
              <a:fillRect/>
            </a:stretch>
          </p:blipFill>
          <p:spPr>
            <a:xfrm>
              <a:off x="-528320" y="1536191"/>
              <a:ext cx="79248" cy="70104"/>
            </a:xfrm>
            <a:prstGeom prst="rect">
              <a:avLst/>
            </a:prstGeom>
          </p:spPr>
        </p:pic>
        <p:pic>
          <p:nvPicPr>
            <p:cNvPr id="18" name="object 17">
              <a:extLst>
                <a:ext uri="{FF2B5EF4-FFF2-40B4-BE49-F238E27FC236}">
                  <a16:creationId xmlns:a16="http://schemas.microsoft.com/office/drawing/2014/main" id="{1CCC120F-4246-B2ED-18F3-4676A5935EF7}"/>
                </a:ext>
              </a:extLst>
            </p:cNvPr>
            <p:cNvPicPr/>
            <p:nvPr/>
          </p:nvPicPr>
          <p:blipFill>
            <a:blip r:embed="rId6" cstate="print"/>
            <a:stretch>
              <a:fillRect/>
            </a:stretch>
          </p:blipFill>
          <p:spPr>
            <a:xfrm>
              <a:off x="-311912" y="1536191"/>
              <a:ext cx="80772" cy="70104"/>
            </a:xfrm>
            <a:prstGeom prst="rect">
              <a:avLst/>
            </a:prstGeom>
          </p:spPr>
        </p:pic>
      </p:grpSp>
      <p:pic>
        <p:nvPicPr>
          <p:cNvPr id="26" name="Graphic 25" descr="Man with cane with solid fill">
            <a:extLst>
              <a:ext uri="{FF2B5EF4-FFF2-40B4-BE49-F238E27FC236}">
                <a16:creationId xmlns:a16="http://schemas.microsoft.com/office/drawing/2014/main" id="{4EE87F8A-1E8C-06C4-2E11-BD15F01D6F5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03600" y="1696262"/>
            <a:ext cx="420624" cy="420624"/>
          </a:xfrm>
          <a:prstGeom prst="rect">
            <a:avLst/>
          </a:prstGeom>
        </p:spPr>
      </p:pic>
      <p:sp>
        <p:nvSpPr>
          <p:cNvPr id="120" name="Freeform: Shape 119">
            <a:extLst>
              <a:ext uri="{FF2B5EF4-FFF2-40B4-BE49-F238E27FC236}">
                <a16:creationId xmlns:a16="http://schemas.microsoft.com/office/drawing/2014/main" id="{940CB93F-7C19-5DCE-C8CF-4220C0863CFC}"/>
              </a:ext>
            </a:extLst>
          </p:cNvPr>
          <p:cNvSpPr>
            <a:spLocks noChangeAspect="1"/>
          </p:cNvSpPr>
          <p:nvPr/>
        </p:nvSpPr>
        <p:spPr>
          <a:xfrm>
            <a:off x="535122" y="2288524"/>
            <a:ext cx="347615" cy="347623"/>
          </a:xfrm>
          <a:custGeom>
            <a:avLst/>
            <a:gdLst>
              <a:gd name="connsiteX0" fmla="*/ 2408867 w 4828026"/>
              <a:gd name="connsiteY0" fmla="*/ 0 h 4828140"/>
              <a:gd name="connsiteX1" fmla="*/ 2245794 w 4828026"/>
              <a:gd name="connsiteY1" fmla="*/ 166248 h 4828140"/>
              <a:gd name="connsiteX2" fmla="*/ 2245794 w 4828026"/>
              <a:gd name="connsiteY2" fmla="*/ 1748192 h 4828140"/>
              <a:gd name="connsiteX3" fmla="*/ 2024397 w 4828026"/>
              <a:gd name="connsiteY3" fmla="*/ 1991553 h 4828140"/>
              <a:gd name="connsiteX4" fmla="*/ 2081037 w 4828026"/>
              <a:gd name="connsiteY4" fmla="*/ 889571 h 4828140"/>
              <a:gd name="connsiteX5" fmla="*/ 1876786 w 4828026"/>
              <a:gd name="connsiteY5" fmla="*/ 719884 h 4828140"/>
              <a:gd name="connsiteX6" fmla="*/ 301209 w 4828026"/>
              <a:gd name="connsiteY6" fmla="*/ 2298400 h 4828140"/>
              <a:gd name="connsiteX7" fmla="*/ 110704 w 4828026"/>
              <a:gd name="connsiteY7" fmla="*/ 4706440 h 4828140"/>
              <a:gd name="connsiteX8" fmla="*/ 268605 w 4828026"/>
              <a:gd name="connsiteY8" fmla="*/ 4828140 h 4828140"/>
              <a:gd name="connsiteX9" fmla="*/ 1214293 w 4828026"/>
              <a:gd name="connsiteY9" fmla="*/ 4526496 h 4828140"/>
              <a:gd name="connsiteX10" fmla="*/ 2026114 w 4828026"/>
              <a:gd name="connsiteY10" fmla="*/ 3832388 h 4828140"/>
              <a:gd name="connsiteX11" fmla="*/ 2010653 w 4828026"/>
              <a:gd name="connsiteY11" fmla="*/ 2497233 h 4828140"/>
              <a:gd name="connsiteX12" fmla="*/ 2410573 w 4828026"/>
              <a:gd name="connsiteY12" fmla="*/ 2056744 h 4828140"/>
              <a:gd name="connsiteX13" fmla="*/ 2819065 w 4828026"/>
              <a:gd name="connsiteY13" fmla="*/ 2504081 h 4828140"/>
              <a:gd name="connsiteX14" fmla="*/ 2801920 w 4828026"/>
              <a:gd name="connsiteY14" fmla="*/ 3832378 h 4828140"/>
              <a:gd name="connsiteX15" fmla="*/ 3613740 w 4828026"/>
              <a:gd name="connsiteY15" fmla="*/ 4526486 h 4828140"/>
              <a:gd name="connsiteX16" fmla="*/ 4559429 w 4828026"/>
              <a:gd name="connsiteY16" fmla="*/ 4828130 h 4828140"/>
              <a:gd name="connsiteX17" fmla="*/ 4717330 w 4828026"/>
              <a:gd name="connsiteY17" fmla="*/ 4706430 h 4828140"/>
              <a:gd name="connsiteX18" fmla="*/ 4526824 w 4828026"/>
              <a:gd name="connsiteY18" fmla="*/ 2298390 h 4828140"/>
              <a:gd name="connsiteX19" fmla="*/ 2951247 w 4828026"/>
              <a:gd name="connsiteY19" fmla="*/ 719875 h 4828140"/>
              <a:gd name="connsiteX20" fmla="*/ 2746997 w 4828026"/>
              <a:gd name="connsiteY20" fmla="*/ 889561 h 4828140"/>
              <a:gd name="connsiteX21" fmla="*/ 2803636 w 4828026"/>
              <a:gd name="connsiteY21" fmla="*/ 2000165 h 4828140"/>
              <a:gd name="connsiteX22" fmla="*/ 2575353 w 4828026"/>
              <a:gd name="connsiteY22" fmla="*/ 1748232 h 4828140"/>
              <a:gd name="connsiteX23" fmla="*/ 2575353 w 4828026"/>
              <a:gd name="connsiteY23" fmla="*/ 166287 h 4828140"/>
              <a:gd name="connsiteX24" fmla="*/ 2408880 w 4828026"/>
              <a:gd name="connsiteY24" fmla="*/ 39 h 482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8026" h="4828140">
                <a:moveTo>
                  <a:pt x="2408867" y="0"/>
                </a:moveTo>
                <a:cubicBezTo>
                  <a:pt x="2322606" y="918"/>
                  <a:pt x="2244921" y="80099"/>
                  <a:pt x="2245794" y="166248"/>
                </a:cubicBezTo>
                <a:lnTo>
                  <a:pt x="2245794" y="1748192"/>
                </a:lnTo>
                <a:lnTo>
                  <a:pt x="2024397" y="1991553"/>
                </a:lnTo>
                <a:cubicBezTo>
                  <a:pt x="2039093" y="1624886"/>
                  <a:pt x="2060524" y="1257992"/>
                  <a:pt x="2081037" y="889571"/>
                </a:cubicBezTo>
                <a:cubicBezTo>
                  <a:pt x="2074187" y="770624"/>
                  <a:pt x="1984328" y="706139"/>
                  <a:pt x="1876786" y="719884"/>
                </a:cubicBezTo>
                <a:cubicBezTo>
                  <a:pt x="1147202" y="902013"/>
                  <a:pt x="609428" y="1539474"/>
                  <a:pt x="301209" y="2298400"/>
                </a:cubicBezTo>
                <a:cubicBezTo>
                  <a:pt x="-7097" y="3057296"/>
                  <a:pt x="-93282" y="3949806"/>
                  <a:pt x="110704" y="4706440"/>
                </a:cubicBezTo>
                <a:cubicBezTo>
                  <a:pt x="129303" y="4775287"/>
                  <a:pt x="197194" y="4827601"/>
                  <a:pt x="268605" y="4828140"/>
                </a:cubicBezTo>
                <a:cubicBezTo>
                  <a:pt x="604882" y="4787918"/>
                  <a:pt x="922221" y="4655387"/>
                  <a:pt x="1214293" y="4526496"/>
                </a:cubicBezTo>
                <a:cubicBezTo>
                  <a:pt x="1515752" y="4379000"/>
                  <a:pt x="1997800" y="4175405"/>
                  <a:pt x="2026114" y="3832388"/>
                </a:cubicBezTo>
                <a:cubicBezTo>
                  <a:pt x="2001430" y="3388489"/>
                  <a:pt x="2000549" y="2943522"/>
                  <a:pt x="2010653" y="2497233"/>
                </a:cubicBezTo>
                <a:lnTo>
                  <a:pt x="2410573" y="2056744"/>
                </a:lnTo>
                <a:lnTo>
                  <a:pt x="2819065" y="2504081"/>
                </a:lnTo>
                <a:cubicBezTo>
                  <a:pt x="2828976" y="2948009"/>
                  <a:pt x="2826489" y="3390723"/>
                  <a:pt x="2801920" y="3832378"/>
                </a:cubicBezTo>
                <a:cubicBezTo>
                  <a:pt x="2872222" y="4218758"/>
                  <a:pt x="3322510" y="4396478"/>
                  <a:pt x="3613740" y="4526486"/>
                </a:cubicBezTo>
                <a:cubicBezTo>
                  <a:pt x="3925103" y="4633716"/>
                  <a:pt x="4247077" y="4824534"/>
                  <a:pt x="4559429" y="4828130"/>
                </a:cubicBezTo>
                <a:cubicBezTo>
                  <a:pt x="4630841" y="4827594"/>
                  <a:pt x="4698735" y="4775280"/>
                  <a:pt x="4717330" y="4706430"/>
                </a:cubicBezTo>
                <a:cubicBezTo>
                  <a:pt x="4921306" y="3949826"/>
                  <a:pt x="4835120" y="3057277"/>
                  <a:pt x="4526824" y="2298390"/>
                </a:cubicBezTo>
                <a:cubicBezTo>
                  <a:pt x="4218518" y="1539494"/>
                  <a:pt x="3680821" y="902003"/>
                  <a:pt x="2951247" y="719875"/>
                </a:cubicBezTo>
                <a:cubicBezTo>
                  <a:pt x="2845007" y="700051"/>
                  <a:pt x="2744547" y="808278"/>
                  <a:pt x="2746997" y="889561"/>
                </a:cubicBezTo>
                <a:cubicBezTo>
                  <a:pt x="2767663" y="1260892"/>
                  <a:pt x="2788902" y="1630666"/>
                  <a:pt x="2803636" y="2000165"/>
                </a:cubicBezTo>
                <a:lnTo>
                  <a:pt x="2575353" y="1748232"/>
                </a:lnTo>
                <a:lnTo>
                  <a:pt x="2575353" y="166287"/>
                </a:lnTo>
                <a:cubicBezTo>
                  <a:pt x="2576271" y="78992"/>
                  <a:pt x="2496287" y="-872"/>
                  <a:pt x="2408880" y="39"/>
                </a:cubicBez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180" name="Group 179">
            <a:extLst>
              <a:ext uri="{FF2B5EF4-FFF2-40B4-BE49-F238E27FC236}">
                <a16:creationId xmlns:a16="http://schemas.microsoft.com/office/drawing/2014/main" id="{405D7FE7-8DE1-22D7-27B9-865D04440C4F}"/>
              </a:ext>
            </a:extLst>
          </p:cNvPr>
          <p:cNvGrpSpPr>
            <a:grpSpLocks noChangeAspect="1"/>
          </p:cNvGrpSpPr>
          <p:nvPr/>
        </p:nvGrpSpPr>
        <p:grpSpPr>
          <a:xfrm>
            <a:off x="4075885" y="3434285"/>
            <a:ext cx="1132988" cy="498440"/>
            <a:chOff x="15882296" y="1702155"/>
            <a:chExt cx="4732774" cy="2082109"/>
          </a:xfrm>
          <a:solidFill>
            <a:schemeClr val="tx2"/>
          </a:solidFill>
        </p:grpSpPr>
        <p:sp>
          <p:nvSpPr>
            <p:cNvPr id="138" name="Freeform: Shape 137">
              <a:extLst>
                <a:ext uri="{FF2B5EF4-FFF2-40B4-BE49-F238E27FC236}">
                  <a16:creationId xmlns:a16="http://schemas.microsoft.com/office/drawing/2014/main" id="{D50EEADD-0A12-7C3C-E564-2926872060BB}"/>
                </a:ext>
              </a:extLst>
            </p:cNvPr>
            <p:cNvSpPr/>
            <p:nvPr/>
          </p:nvSpPr>
          <p:spPr>
            <a:xfrm>
              <a:off x="19534212" y="3194554"/>
              <a:ext cx="589631" cy="589631"/>
            </a:xfrm>
            <a:custGeom>
              <a:avLst/>
              <a:gdLst>
                <a:gd name="connsiteX0" fmla="*/ 589631 w 589631"/>
                <a:gd name="connsiteY0" fmla="*/ 294796 h 589631"/>
                <a:gd name="connsiteX1" fmla="*/ 294796 w 589631"/>
                <a:gd name="connsiteY1" fmla="*/ 589631 h 589631"/>
                <a:gd name="connsiteX2" fmla="*/ 0 w 589631"/>
                <a:gd name="connsiteY2" fmla="*/ 294796 h 589631"/>
                <a:gd name="connsiteX3" fmla="*/ 294796 w 589631"/>
                <a:gd name="connsiteY3" fmla="*/ 0 h 589631"/>
                <a:gd name="connsiteX4" fmla="*/ 589631 w 589631"/>
                <a:gd name="connsiteY4" fmla="*/ 294796 h 5896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9631" h="589631">
                  <a:moveTo>
                    <a:pt x="589631" y="294796"/>
                  </a:moveTo>
                  <a:cubicBezTo>
                    <a:pt x="589631" y="457634"/>
                    <a:pt x="457634" y="589631"/>
                    <a:pt x="294796" y="589631"/>
                  </a:cubicBezTo>
                  <a:cubicBezTo>
                    <a:pt x="131997" y="589631"/>
                    <a:pt x="0" y="457634"/>
                    <a:pt x="0" y="294796"/>
                  </a:cubicBezTo>
                  <a:cubicBezTo>
                    <a:pt x="0" y="131997"/>
                    <a:pt x="131997" y="0"/>
                    <a:pt x="294796" y="0"/>
                  </a:cubicBezTo>
                  <a:cubicBezTo>
                    <a:pt x="457634" y="0"/>
                    <a:pt x="589631" y="131997"/>
                    <a:pt x="589631" y="294796"/>
                  </a:cubicBezTo>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39" name="Freeform: Shape 138">
              <a:extLst>
                <a:ext uri="{FF2B5EF4-FFF2-40B4-BE49-F238E27FC236}">
                  <a16:creationId xmlns:a16="http://schemas.microsoft.com/office/drawing/2014/main" id="{341AB16C-CFFB-999E-863F-712B6EC21019}"/>
                </a:ext>
              </a:extLst>
            </p:cNvPr>
            <p:cNvSpPr/>
            <p:nvPr/>
          </p:nvSpPr>
          <p:spPr>
            <a:xfrm>
              <a:off x="16237848" y="3194519"/>
              <a:ext cx="589670" cy="589745"/>
            </a:xfrm>
            <a:custGeom>
              <a:avLst/>
              <a:gdLst>
                <a:gd name="connsiteX0" fmla="*/ 589551 w 589670"/>
                <a:gd name="connsiteY0" fmla="*/ 291696 h 589745"/>
                <a:gd name="connsiteX1" fmla="*/ 521812 w 589670"/>
                <a:gd name="connsiteY1" fmla="*/ 106696 h 589745"/>
                <a:gd name="connsiteX2" fmla="*/ 521506 w 589670"/>
                <a:gd name="connsiteY2" fmla="*/ 106314 h 589745"/>
                <a:gd name="connsiteX3" fmla="*/ 502792 w 589670"/>
                <a:gd name="connsiteY3" fmla="*/ 85878 h 589745"/>
                <a:gd name="connsiteX4" fmla="*/ 501031 w 589670"/>
                <a:gd name="connsiteY4" fmla="*/ 84347 h 589745"/>
                <a:gd name="connsiteX5" fmla="*/ 481935 w 589670"/>
                <a:gd name="connsiteY5" fmla="*/ 66973 h 589745"/>
                <a:gd name="connsiteX6" fmla="*/ 477801 w 589670"/>
                <a:gd name="connsiteY6" fmla="*/ 63873 h 589745"/>
                <a:gd name="connsiteX7" fmla="*/ 459279 w 589670"/>
                <a:gd name="connsiteY7" fmla="*/ 50096 h 589745"/>
                <a:gd name="connsiteX8" fmla="*/ 452658 w 589670"/>
                <a:gd name="connsiteY8" fmla="*/ 46116 h 589745"/>
                <a:gd name="connsiteX9" fmla="*/ 435054 w 589670"/>
                <a:gd name="connsiteY9" fmla="*/ 35400 h 589745"/>
                <a:gd name="connsiteX10" fmla="*/ 426060 w 589670"/>
                <a:gd name="connsiteY10" fmla="*/ 31114 h 589745"/>
                <a:gd name="connsiteX11" fmla="*/ 409413 w 589670"/>
                <a:gd name="connsiteY11" fmla="*/ 23115 h 589745"/>
                <a:gd name="connsiteX12" fmla="*/ 396937 w 589670"/>
                <a:gd name="connsiteY12" fmla="*/ 18484 h 589745"/>
                <a:gd name="connsiteX13" fmla="*/ 382356 w 589670"/>
                <a:gd name="connsiteY13" fmla="*/ 13203 h 589745"/>
                <a:gd name="connsiteX14" fmla="*/ 366436 w 589670"/>
                <a:gd name="connsiteY14" fmla="*/ 9108 h 589745"/>
                <a:gd name="connsiteX15" fmla="*/ 354151 w 589670"/>
                <a:gd name="connsiteY15" fmla="*/ 5970 h 589745"/>
                <a:gd name="connsiteX16" fmla="*/ 335284 w 589670"/>
                <a:gd name="connsiteY16" fmla="*/ 3023 h 589745"/>
                <a:gd name="connsiteX17" fmla="*/ 324912 w 589670"/>
                <a:gd name="connsiteY17" fmla="*/ 1493 h 589745"/>
                <a:gd name="connsiteX18" fmla="*/ 294794 w 589670"/>
                <a:gd name="connsiteY18" fmla="*/ 0 h 589745"/>
                <a:gd name="connsiteX19" fmla="*/ 248372 w 589670"/>
                <a:gd name="connsiteY19" fmla="*/ 3980 h 589745"/>
                <a:gd name="connsiteX20" fmla="*/ 241024 w 589670"/>
                <a:gd name="connsiteY20" fmla="*/ 5090 h 589745"/>
                <a:gd name="connsiteX21" fmla="*/ 198927 w 589670"/>
                <a:gd name="connsiteY21" fmla="*/ 16264 h 589745"/>
                <a:gd name="connsiteX22" fmla="*/ 191732 w 589670"/>
                <a:gd name="connsiteY22" fmla="*/ 18867 h 589745"/>
                <a:gd name="connsiteX23" fmla="*/ 151664 w 589670"/>
                <a:gd name="connsiteY23" fmla="*/ 37122 h 589745"/>
                <a:gd name="connsiteX24" fmla="*/ 149483 w 589670"/>
                <a:gd name="connsiteY24" fmla="*/ 38423 h 589745"/>
                <a:gd name="connsiteX25" fmla="*/ 111786 w 589670"/>
                <a:gd name="connsiteY25" fmla="*/ 63950 h 589745"/>
                <a:gd name="connsiteX26" fmla="*/ 110485 w 589670"/>
                <a:gd name="connsiteY26" fmla="*/ 64945 h 589745"/>
                <a:gd name="connsiteX27" fmla="*/ 77114 w 589670"/>
                <a:gd name="connsiteY27" fmla="*/ 96518 h 589745"/>
                <a:gd name="connsiteX28" fmla="*/ 74779 w 589670"/>
                <a:gd name="connsiteY28" fmla="*/ 99197 h 589745"/>
                <a:gd name="connsiteX29" fmla="*/ 46536 w 589670"/>
                <a:gd name="connsiteY29" fmla="*/ 136357 h 589745"/>
                <a:gd name="connsiteX30" fmla="*/ 46383 w 589670"/>
                <a:gd name="connsiteY30" fmla="*/ 136663 h 589745"/>
                <a:gd name="connsiteX31" fmla="*/ 8266 w 589670"/>
                <a:gd name="connsiteY31" fmla="*/ 226637 h 589745"/>
                <a:gd name="connsiteX32" fmla="*/ 8266 w 589670"/>
                <a:gd name="connsiteY32" fmla="*/ 226675 h 589745"/>
                <a:gd name="connsiteX33" fmla="*/ 0 w 589670"/>
                <a:gd name="connsiteY33" fmla="*/ 294910 h 589745"/>
                <a:gd name="connsiteX34" fmla="*/ 294835 w 589670"/>
                <a:gd name="connsiteY34" fmla="*/ 589745 h 589745"/>
                <a:gd name="connsiteX35" fmla="*/ 589671 w 589670"/>
                <a:gd name="connsiteY35" fmla="*/ 294910 h 589745"/>
                <a:gd name="connsiteX36" fmla="*/ 589517 w 589670"/>
                <a:gd name="connsiteY36" fmla="*/ 293303 h 589745"/>
                <a:gd name="connsiteX37" fmla="*/ 589556 w 589670"/>
                <a:gd name="connsiteY37" fmla="*/ 291695 h 589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89670" h="589745">
                  <a:moveTo>
                    <a:pt x="589551" y="291696"/>
                  </a:moveTo>
                  <a:cubicBezTo>
                    <a:pt x="588785" y="221432"/>
                    <a:pt x="563566" y="156985"/>
                    <a:pt x="521812" y="106696"/>
                  </a:cubicBezTo>
                  <a:cubicBezTo>
                    <a:pt x="521697" y="106505"/>
                    <a:pt x="521621" y="106390"/>
                    <a:pt x="521506" y="106314"/>
                  </a:cubicBezTo>
                  <a:cubicBezTo>
                    <a:pt x="515574" y="99195"/>
                    <a:pt x="509374" y="92383"/>
                    <a:pt x="502792" y="85878"/>
                  </a:cubicBezTo>
                  <a:cubicBezTo>
                    <a:pt x="502256" y="85265"/>
                    <a:pt x="501605" y="84844"/>
                    <a:pt x="501031" y="84347"/>
                  </a:cubicBezTo>
                  <a:cubicBezTo>
                    <a:pt x="494908" y="78377"/>
                    <a:pt x="488555" y="72522"/>
                    <a:pt x="481935" y="66973"/>
                  </a:cubicBezTo>
                  <a:cubicBezTo>
                    <a:pt x="480633" y="65939"/>
                    <a:pt x="479141" y="65021"/>
                    <a:pt x="477801" y="63873"/>
                  </a:cubicBezTo>
                  <a:cubicBezTo>
                    <a:pt x="471755" y="59051"/>
                    <a:pt x="465670" y="54382"/>
                    <a:pt x="459279" y="50096"/>
                  </a:cubicBezTo>
                  <a:cubicBezTo>
                    <a:pt x="457136" y="48642"/>
                    <a:pt x="454840" y="47456"/>
                    <a:pt x="452658" y="46116"/>
                  </a:cubicBezTo>
                  <a:cubicBezTo>
                    <a:pt x="446879" y="42442"/>
                    <a:pt x="441139" y="38768"/>
                    <a:pt x="435054" y="35400"/>
                  </a:cubicBezTo>
                  <a:cubicBezTo>
                    <a:pt x="432145" y="33869"/>
                    <a:pt x="429007" y="32568"/>
                    <a:pt x="426060" y="31114"/>
                  </a:cubicBezTo>
                  <a:cubicBezTo>
                    <a:pt x="420588" y="28320"/>
                    <a:pt x="415077" y="25488"/>
                    <a:pt x="409413" y="23115"/>
                  </a:cubicBezTo>
                  <a:cubicBezTo>
                    <a:pt x="405318" y="21355"/>
                    <a:pt x="401070" y="20015"/>
                    <a:pt x="396937" y="18484"/>
                  </a:cubicBezTo>
                  <a:cubicBezTo>
                    <a:pt x="392115" y="16724"/>
                    <a:pt x="387370" y="14734"/>
                    <a:pt x="382356" y="13203"/>
                  </a:cubicBezTo>
                  <a:cubicBezTo>
                    <a:pt x="377151" y="11672"/>
                    <a:pt x="371794" y="10448"/>
                    <a:pt x="366436" y="9108"/>
                  </a:cubicBezTo>
                  <a:cubicBezTo>
                    <a:pt x="362341" y="8075"/>
                    <a:pt x="358361" y="6850"/>
                    <a:pt x="354151" y="5970"/>
                  </a:cubicBezTo>
                  <a:cubicBezTo>
                    <a:pt x="347951" y="4707"/>
                    <a:pt x="341637" y="3980"/>
                    <a:pt x="335284" y="3023"/>
                  </a:cubicBezTo>
                  <a:cubicBezTo>
                    <a:pt x="331840" y="2526"/>
                    <a:pt x="328395" y="1875"/>
                    <a:pt x="324912" y="1493"/>
                  </a:cubicBezTo>
                  <a:cubicBezTo>
                    <a:pt x="315001" y="498"/>
                    <a:pt x="304973" y="0"/>
                    <a:pt x="294794" y="0"/>
                  </a:cubicBezTo>
                  <a:cubicBezTo>
                    <a:pt x="278950" y="0"/>
                    <a:pt x="263528" y="1607"/>
                    <a:pt x="248372" y="3980"/>
                  </a:cubicBezTo>
                  <a:cubicBezTo>
                    <a:pt x="245923" y="4439"/>
                    <a:pt x="243435" y="4745"/>
                    <a:pt x="241024" y="5090"/>
                  </a:cubicBezTo>
                  <a:cubicBezTo>
                    <a:pt x="226558" y="7769"/>
                    <a:pt x="212552" y="11519"/>
                    <a:pt x="198927" y="16264"/>
                  </a:cubicBezTo>
                  <a:cubicBezTo>
                    <a:pt x="196516" y="17106"/>
                    <a:pt x="194143" y="17949"/>
                    <a:pt x="191732" y="18867"/>
                  </a:cubicBezTo>
                  <a:cubicBezTo>
                    <a:pt x="177916" y="24072"/>
                    <a:pt x="164445" y="30080"/>
                    <a:pt x="151664" y="37122"/>
                  </a:cubicBezTo>
                  <a:cubicBezTo>
                    <a:pt x="150899" y="37581"/>
                    <a:pt x="150210" y="38079"/>
                    <a:pt x="149483" y="38423"/>
                  </a:cubicBezTo>
                  <a:cubicBezTo>
                    <a:pt x="136203" y="45886"/>
                    <a:pt x="123650" y="54496"/>
                    <a:pt x="111786" y="63950"/>
                  </a:cubicBezTo>
                  <a:cubicBezTo>
                    <a:pt x="111327" y="64256"/>
                    <a:pt x="110906" y="64638"/>
                    <a:pt x="110485" y="64945"/>
                  </a:cubicBezTo>
                  <a:cubicBezTo>
                    <a:pt x="98506" y="74512"/>
                    <a:pt x="87446" y="85151"/>
                    <a:pt x="77114" y="96518"/>
                  </a:cubicBezTo>
                  <a:cubicBezTo>
                    <a:pt x="76310" y="97475"/>
                    <a:pt x="75507" y="98278"/>
                    <a:pt x="74779" y="99197"/>
                  </a:cubicBezTo>
                  <a:cubicBezTo>
                    <a:pt x="64408" y="110831"/>
                    <a:pt x="54994" y="123192"/>
                    <a:pt x="46536" y="136357"/>
                  </a:cubicBezTo>
                  <a:cubicBezTo>
                    <a:pt x="46498" y="136472"/>
                    <a:pt x="46421" y="136549"/>
                    <a:pt x="46383" y="136663"/>
                  </a:cubicBezTo>
                  <a:cubicBezTo>
                    <a:pt x="28932" y="163951"/>
                    <a:pt x="15996" y="194222"/>
                    <a:pt x="8266" y="226637"/>
                  </a:cubicBezTo>
                  <a:lnTo>
                    <a:pt x="8266" y="226675"/>
                  </a:lnTo>
                  <a:cubicBezTo>
                    <a:pt x="3062" y="248565"/>
                    <a:pt x="0" y="271374"/>
                    <a:pt x="0" y="294910"/>
                  </a:cubicBezTo>
                  <a:cubicBezTo>
                    <a:pt x="0" y="457748"/>
                    <a:pt x="131958" y="589745"/>
                    <a:pt x="294835" y="589745"/>
                  </a:cubicBezTo>
                  <a:cubicBezTo>
                    <a:pt x="457674" y="589745"/>
                    <a:pt x="589671" y="457787"/>
                    <a:pt x="589671" y="294910"/>
                  </a:cubicBezTo>
                  <a:cubicBezTo>
                    <a:pt x="589632" y="294298"/>
                    <a:pt x="589517" y="293800"/>
                    <a:pt x="589517" y="293303"/>
                  </a:cubicBezTo>
                  <a:cubicBezTo>
                    <a:pt x="589632" y="292690"/>
                    <a:pt x="589556" y="292193"/>
                    <a:pt x="589556" y="291695"/>
                  </a:cubicBez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40" name="Freeform: Shape 139">
              <a:extLst>
                <a:ext uri="{FF2B5EF4-FFF2-40B4-BE49-F238E27FC236}">
                  <a16:creationId xmlns:a16="http://schemas.microsoft.com/office/drawing/2014/main" id="{79C39AEA-4C9C-BBB5-7B04-72AFF9141CA4}"/>
                </a:ext>
              </a:extLst>
            </p:cNvPr>
            <p:cNvSpPr/>
            <p:nvPr/>
          </p:nvSpPr>
          <p:spPr>
            <a:xfrm>
              <a:off x="15882296" y="1702155"/>
              <a:ext cx="4732774" cy="1787333"/>
            </a:xfrm>
            <a:custGeom>
              <a:avLst/>
              <a:gdLst>
                <a:gd name="connsiteX0" fmla="*/ 1770121 w 4732774"/>
                <a:gd name="connsiteY0" fmla="*/ 0 h 1787333"/>
                <a:gd name="connsiteX1" fmla="*/ 1765682 w 4732774"/>
                <a:gd name="connsiteY1" fmla="*/ 393571 h 1787333"/>
                <a:gd name="connsiteX2" fmla="*/ 1693044 w 4732774"/>
                <a:gd name="connsiteY2" fmla="*/ 393915 h 1787333"/>
                <a:gd name="connsiteX3" fmla="*/ 1693083 w 4732774"/>
                <a:gd name="connsiteY3" fmla="*/ 292887 h 1787333"/>
                <a:gd name="connsiteX4" fmla="*/ 1568394 w 4732774"/>
                <a:gd name="connsiteY4" fmla="*/ 168199 h 1787333"/>
                <a:gd name="connsiteX5" fmla="*/ 1443706 w 4732774"/>
                <a:gd name="connsiteY5" fmla="*/ 292887 h 1787333"/>
                <a:gd name="connsiteX6" fmla="*/ 1443706 w 4732774"/>
                <a:gd name="connsiteY6" fmla="*/ 403526 h 1787333"/>
                <a:gd name="connsiteX7" fmla="*/ 1235781 w 4732774"/>
                <a:gd name="connsiteY7" fmla="*/ 420633 h 1787333"/>
                <a:gd name="connsiteX8" fmla="*/ 1193186 w 4732774"/>
                <a:gd name="connsiteY8" fmla="*/ 454961 h 1787333"/>
                <a:gd name="connsiteX9" fmla="*/ 987446 w 4732774"/>
                <a:gd name="connsiteY9" fmla="*/ 649297 h 1787333"/>
                <a:gd name="connsiteX10" fmla="*/ 796285 w 4732774"/>
                <a:gd name="connsiteY10" fmla="*/ 840459 h 1787333"/>
                <a:gd name="connsiteX11" fmla="*/ 761956 w 4732774"/>
                <a:gd name="connsiteY11" fmla="*/ 873716 h 1787333"/>
                <a:gd name="connsiteX12" fmla="*/ 671524 w 4732774"/>
                <a:gd name="connsiteY12" fmla="*/ 905939 h 1787333"/>
                <a:gd name="connsiteX13" fmla="*/ 403445 w 4732774"/>
                <a:gd name="connsiteY13" fmla="*/ 964148 h 1787333"/>
                <a:gd name="connsiteX14" fmla="*/ 152775 w 4732774"/>
                <a:gd name="connsiteY14" fmla="*/ 1037665 h 1787333"/>
                <a:gd name="connsiteX15" fmla="*/ 95102 w 4732774"/>
                <a:gd name="connsiteY15" fmla="*/ 1115621 h 1787333"/>
                <a:gd name="connsiteX16" fmla="*/ 81822 w 4732774"/>
                <a:gd name="connsiteY16" fmla="*/ 1278498 h 1787333"/>
                <a:gd name="connsiteX17" fmla="*/ 81822 w 4732774"/>
                <a:gd name="connsiteY17" fmla="*/ 1358062 h 1787333"/>
                <a:gd name="connsiteX18" fmla="*/ 96632 w 4732774"/>
                <a:gd name="connsiteY18" fmla="*/ 1423542 h 1787333"/>
                <a:gd name="connsiteX19" fmla="*/ 66246 w 4732774"/>
                <a:gd name="connsiteY19" fmla="*/ 1461735 h 1787333"/>
                <a:gd name="connsiteX20" fmla="*/ 14811 w 4732774"/>
                <a:gd name="connsiteY20" fmla="*/ 1488218 h 1787333"/>
                <a:gd name="connsiteX21" fmla="*/ 14811 w 4732774"/>
                <a:gd name="connsiteY21" fmla="*/ 1504559 h 1787333"/>
                <a:gd name="connsiteX22" fmla="*/ 9376 w 4732774"/>
                <a:gd name="connsiteY22" fmla="*/ 1519332 h 1787333"/>
                <a:gd name="connsiteX23" fmla="*/ 0 w 4732774"/>
                <a:gd name="connsiteY23" fmla="*/ 1515428 h 1787333"/>
                <a:gd name="connsiteX24" fmla="*/ 3904 w 4732774"/>
                <a:gd name="connsiteY24" fmla="*/ 1598015 h 1787333"/>
                <a:gd name="connsiteX25" fmla="*/ 41293 w 4732774"/>
                <a:gd name="connsiteY25" fmla="*/ 1696212 h 1787333"/>
                <a:gd name="connsiteX26" fmla="*/ 197969 w 4732774"/>
                <a:gd name="connsiteY26" fmla="*/ 1700115 h 1787333"/>
                <a:gd name="connsiteX27" fmla="*/ 264062 w 4732774"/>
                <a:gd name="connsiteY27" fmla="*/ 1707693 h 1787333"/>
                <a:gd name="connsiteX28" fmla="*/ 650549 w 4732774"/>
                <a:gd name="connsiteY28" fmla="*/ 1392803 h 1787333"/>
                <a:gd name="connsiteX29" fmla="*/ 1045110 w 4732774"/>
                <a:gd name="connsiteY29" fmla="*/ 1787334 h 1787333"/>
                <a:gd name="connsiteX30" fmla="*/ 3552101 w 4732774"/>
                <a:gd name="connsiteY30" fmla="*/ 1787334 h 1787333"/>
                <a:gd name="connsiteX31" fmla="*/ 3946700 w 4732774"/>
                <a:gd name="connsiteY31" fmla="*/ 1392803 h 1787333"/>
                <a:gd name="connsiteX32" fmla="*/ 4341231 w 4732774"/>
                <a:gd name="connsiteY32" fmla="*/ 1787334 h 1787333"/>
                <a:gd name="connsiteX33" fmla="*/ 4732774 w 4732774"/>
                <a:gd name="connsiteY33" fmla="*/ 1787334 h 1787333"/>
                <a:gd name="connsiteX34" fmla="*/ 4732774 w 4732774"/>
                <a:gd name="connsiteY34" fmla="*/ 41 h 1787333"/>
                <a:gd name="connsiteX35" fmla="*/ 1647500 w 4732774"/>
                <a:gd name="connsiteY35" fmla="*/ 957249 h 1787333"/>
                <a:gd name="connsiteX36" fmla="*/ 945358 w 4732774"/>
                <a:gd name="connsiteY36" fmla="*/ 961153 h 1787333"/>
                <a:gd name="connsiteX37" fmla="*/ 954198 w 4732774"/>
                <a:gd name="connsiteY37" fmla="*/ 816528 h 1787333"/>
                <a:gd name="connsiteX38" fmla="*/ 1275819 w 4732774"/>
                <a:gd name="connsiteY38" fmla="*/ 474127 h 1787333"/>
                <a:gd name="connsiteX39" fmla="*/ 1670154 w 4732774"/>
                <a:gd name="connsiteY39" fmla="*/ 474127 h 1787333"/>
                <a:gd name="connsiteX40" fmla="*/ 3715970 w 4732774"/>
                <a:gd name="connsiteY40" fmla="*/ 843622 h 1787333"/>
                <a:gd name="connsiteX41" fmla="*/ 3401081 w 4732774"/>
                <a:gd name="connsiteY41" fmla="*/ 843622 h 1787333"/>
                <a:gd name="connsiteX42" fmla="*/ 3401081 w 4732774"/>
                <a:gd name="connsiteY42" fmla="*/ 1158512 h 1787333"/>
                <a:gd name="connsiteX43" fmla="*/ 3101807 w 4732774"/>
                <a:gd name="connsiteY43" fmla="*/ 1158512 h 1787333"/>
                <a:gd name="connsiteX44" fmla="*/ 3101807 w 4732774"/>
                <a:gd name="connsiteY44" fmla="*/ 843622 h 1787333"/>
                <a:gd name="connsiteX45" fmla="*/ 2786917 w 4732774"/>
                <a:gd name="connsiteY45" fmla="*/ 843622 h 1787333"/>
                <a:gd name="connsiteX46" fmla="*/ 2786917 w 4732774"/>
                <a:gd name="connsiteY46" fmla="*/ 544349 h 1787333"/>
                <a:gd name="connsiteX47" fmla="*/ 3101807 w 4732774"/>
                <a:gd name="connsiteY47" fmla="*/ 544349 h 1787333"/>
                <a:gd name="connsiteX48" fmla="*/ 3101807 w 4732774"/>
                <a:gd name="connsiteY48" fmla="*/ 229459 h 1787333"/>
                <a:gd name="connsiteX49" fmla="*/ 3401081 w 4732774"/>
                <a:gd name="connsiteY49" fmla="*/ 229459 h 1787333"/>
                <a:gd name="connsiteX50" fmla="*/ 3401081 w 4732774"/>
                <a:gd name="connsiteY50" fmla="*/ 544349 h 1787333"/>
                <a:gd name="connsiteX51" fmla="*/ 3715970 w 4732774"/>
                <a:gd name="connsiteY51" fmla="*/ 544349 h 1787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732774" h="1787333">
                  <a:moveTo>
                    <a:pt x="1770121" y="0"/>
                  </a:moveTo>
                  <a:lnTo>
                    <a:pt x="1765682" y="393571"/>
                  </a:lnTo>
                  <a:cubicBezTo>
                    <a:pt x="1765682" y="393571"/>
                    <a:pt x="1736902" y="393418"/>
                    <a:pt x="1693044" y="393915"/>
                  </a:cubicBezTo>
                  <a:lnTo>
                    <a:pt x="1693083" y="292887"/>
                  </a:lnTo>
                  <a:cubicBezTo>
                    <a:pt x="1693083" y="224001"/>
                    <a:pt x="1637285" y="168199"/>
                    <a:pt x="1568394" y="168199"/>
                  </a:cubicBezTo>
                  <a:cubicBezTo>
                    <a:pt x="1499504" y="168199"/>
                    <a:pt x="1443706" y="223996"/>
                    <a:pt x="1443706" y="292887"/>
                  </a:cubicBezTo>
                  <a:lnTo>
                    <a:pt x="1443706" y="403526"/>
                  </a:lnTo>
                  <a:cubicBezTo>
                    <a:pt x="1302451" y="413362"/>
                    <a:pt x="1242404" y="414012"/>
                    <a:pt x="1235781" y="420633"/>
                  </a:cubicBezTo>
                  <a:cubicBezTo>
                    <a:pt x="1229008" y="427369"/>
                    <a:pt x="1193186" y="454961"/>
                    <a:pt x="1193186" y="454961"/>
                  </a:cubicBezTo>
                  <a:lnTo>
                    <a:pt x="987446" y="649297"/>
                  </a:lnTo>
                  <a:lnTo>
                    <a:pt x="796285" y="840459"/>
                  </a:lnTo>
                  <a:cubicBezTo>
                    <a:pt x="796285" y="840459"/>
                    <a:pt x="790047" y="856074"/>
                    <a:pt x="761956" y="873716"/>
                  </a:cubicBezTo>
                  <a:cubicBezTo>
                    <a:pt x="733866" y="891357"/>
                    <a:pt x="671524" y="905939"/>
                    <a:pt x="671524" y="905939"/>
                  </a:cubicBezTo>
                  <a:lnTo>
                    <a:pt x="403445" y="964148"/>
                  </a:lnTo>
                  <a:lnTo>
                    <a:pt x="152775" y="1037665"/>
                  </a:lnTo>
                  <a:cubicBezTo>
                    <a:pt x="152775" y="1037665"/>
                    <a:pt x="95102" y="1055575"/>
                    <a:pt x="95102" y="1115621"/>
                  </a:cubicBezTo>
                  <a:cubicBezTo>
                    <a:pt x="95102" y="1175667"/>
                    <a:pt x="81822" y="1278498"/>
                    <a:pt x="81822" y="1278498"/>
                  </a:cubicBezTo>
                  <a:lnTo>
                    <a:pt x="81822" y="1358062"/>
                  </a:lnTo>
                  <a:lnTo>
                    <a:pt x="96632" y="1423542"/>
                  </a:lnTo>
                  <a:cubicBezTo>
                    <a:pt x="96632" y="1423542"/>
                    <a:pt x="88864" y="1450025"/>
                    <a:pt x="66246" y="1461735"/>
                  </a:cubicBezTo>
                  <a:cubicBezTo>
                    <a:pt x="43666" y="1473446"/>
                    <a:pt x="14811" y="1483588"/>
                    <a:pt x="14811" y="1488218"/>
                  </a:cubicBezTo>
                  <a:lnTo>
                    <a:pt x="14811" y="1504559"/>
                  </a:lnTo>
                  <a:lnTo>
                    <a:pt x="9376" y="1519332"/>
                  </a:lnTo>
                  <a:lnTo>
                    <a:pt x="0" y="1515428"/>
                  </a:lnTo>
                  <a:cubicBezTo>
                    <a:pt x="0" y="1515428"/>
                    <a:pt x="3904" y="1569198"/>
                    <a:pt x="3904" y="1598015"/>
                  </a:cubicBezTo>
                  <a:cubicBezTo>
                    <a:pt x="3904" y="1626832"/>
                    <a:pt x="41293" y="1696212"/>
                    <a:pt x="41293" y="1696212"/>
                  </a:cubicBezTo>
                  <a:lnTo>
                    <a:pt x="197969" y="1700115"/>
                  </a:lnTo>
                  <a:lnTo>
                    <a:pt x="264062" y="1707693"/>
                  </a:lnTo>
                  <a:cubicBezTo>
                    <a:pt x="301030" y="1528131"/>
                    <a:pt x="460269" y="1392803"/>
                    <a:pt x="650549" y="1392803"/>
                  </a:cubicBezTo>
                  <a:cubicBezTo>
                    <a:pt x="868114" y="1392803"/>
                    <a:pt x="1045110" y="1569798"/>
                    <a:pt x="1045110" y="1787334"/>
                  </a:cubicBezTo>
                  <a:lnTo>
                    <a:pt x="3552101" y="1787334"/>
                  </a:lnTo>
                  <a:cubicBezTo>
                    <a:pt x="3552101" y="1569808"/>
                    <a:pt x="3729213" y="1392803"/>
                    <a:pt x="3946700" y="1392803"/>
                  </a:cubicBezTo>
                  <a:cubicBezTo>
                    <a:pt x="4164226" y="1392803"/>
                    <a:pt x="4341231" y="1569798"/>
                    <a:pt x="4341231" y="1787334"/>
                  </a:cubicBezTo>
                  <a:lnTo>
                    <a:pt x="4732774" y="1787334"/>
                  </a:lnTo>
                  <a:lnTo>
                    <a:pt x="4732774" y="41"/>
                  </a:lnTo>
                  <a:close/>
                  <a:moveTo>
                    <a:pt x="1647500" y="957249"/>
                  </a:moveTo>
                  <a:lnTo>
                    <a:pt x="945358" y="961153"/>
                  </a:lnTo>
                  <a:lnTo>
                    <a:pt x="954198" y="816528"/>
                  </a:lnTo>
                  <a:lnTo>
                    <a:pt x="1275819" y="474127"/>
                  </a:lnTo>
                  <a:lnTo>
                    <a:pt x="1670154" y="474127"/>
                  </a:lnTo>
                  <a:close/>
                  <a:moveTo>
                    <a:pt x="3715970" y="843622"/>
                  </a:moveTo>
                  <a:lnTo>
                    <a:pt x="3401081" y="843622"/>
                  </a:lnTo>
                  <a:lnTo>
                    <a:pt x="3401081" y="1158512"/>
                  </a:lnTo>
                  <a:lnTo>
                    <a:pt x="3101807" y="1158512"/>
                  </a:lnTo>
                  <a:lnTo>
                    <a:pt x="3101807" y="843622"/>
                  </a:lnTo>
                  <a:lnTo>
                    <a:pt x="2786917" y="843622"/>
                  </a:lnTo>
                  <a:lnTo>
                    <a:pt x="2786917" y="544349"/>
                  </a:lnTo>
                  <a:lnTo>
                    <a:pt x="3101807" y="544349"/>
                  </a:lnTo>
                  <a:lnTo>
                    <a:pt x="3101807" y="229459"/>
                  </a:lnTo>
                  <a:lnTo>
                    <a:pt x="3401081" y="229459"/>
                  </a:lnTo>
                  <a:lnTo>
                    <a:pt x="3401081" y="544349"/>
                  </a:lnTo>
                  <a:lnTo>
                    <a:pt x="3715970" y="544349"/>
                  </a:lnTo>
                  <a:close/>
                </a:path>
              </a:pathLst>
            </a:custGeom>
            <a:grp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
        <p:nvSpPr>
          <p:cNvPr id="129" name="Freeform: Shape 128">
            <a:extLst>
              <a:ext uri="{FF2B5EF4-FFF2-40B4-BE49-F238E27FC236}">
                <a16:creationId xmlns:a16="http://schemas.microsoft.com/office/drawing/2014/main" id="{CF0516AC-3A59-B098-C925-812C70B699B3}"/>
              </a:ext>
            </a:extLst>
          </p:cNvPr>
          <p:cNvSpPr>
            <a:spLocks noChangeAspect="1"/>
          </p:cNvSpPr>
          <p:nvPr/>
        </p:nvSpPr>
        <p:spPr>
          <a:xfrm>
            <a:off x="7176953" y="3312425"/>
            <a:ext cx="742161" cy="742161"/>
          </a:xfrm>
          <a:custGeom>
            <a:avLst/>
            <a:gdLst>
              <a:gd name="connsiteX0" fmla="*/ 5106418 w 5492180"/>
              <a:gd name="connsiteY0" fmla="*/ 385763 h 5492180"/>
              <a:gd name="connsiteX1" fmla="*/ 3243295 w 5492180"/>
              <a:gd name="connsiteY1" fmla="*/ 385763 h 5492180"/>
              <a:gd name="connsiteX2" fmla="*/ 385762 w 5492180"/>
              <a:gd name="connsiteY2" fmla="*/ 3243295 h 5492180"/>
              <a:gd name="connsiteX3" fmla="*/ 385762 w 5492180"/>
              <a:gd name="connsiteY3" fmla="*/ 5106418 h 5492180"/>
              <a:gd name="connsiteX4" fmla="*/ 2248885 w 5492180"/>
              <a:gd name="connsiteY4" fmla="*/ 5106418 h 5492180"/>
              <a:gd name="connsiteX5" fmla="*/ 5106418 w 5492180"/>
              <a:gd name="connsiteY5" fmla="*/ 2248885 h 5492180"/>
              <a:gd name="connsiteX6" fmla="*/ 5106418 w 5492180"/>
              <a:gd name="connsiteY6" fmla="*/ 385763 h 5492180"/>
              <a:gd name="connsiteX7" fmla="*/ 1917448 w 5492180"/>
              <a:gd name="connsiteY7" fmla="*/ 4751957 h 5492180"/>
              <a:gd name="connsiteX8" fmla="*/ 740125 w 5492180"/>
              <a:gd name="connsiteY8" fmla="*/ 4751957 h 5492180"/>
              <a:gd name="connsiteX9" fmla="*/ 740125 w 5492180"/>
              <a:gd name="connsiteY9" fmla="*/ 3574635 h 5492180"/>
              <a:gd name="connsiteX10" fmla="*/ 2214595 w 5492180"/>
              <a:gd name="connsiteY10" fmla="*/ 2100165 h 5492180"/>
              <a:gd name="connsiteX11" fmla="*/ 3391918 w 5492180"/>
              <a:gd name="connsiteY11" fmla="*/ 3277487 h 5492180"/>
              <a:gd name="connsiteX12" fmla="*/ 4855023 w 5492180"/>
              <a:gd name="connsiteY12" fmla="*/ 808607 h 5492180"/>
              <a:gd name="connsiteX13" fmla="*/ 4683573 w 5492180"/>
              <a:gd name="connsiteY13" fmla="*/ 808607 h 5492180"/>
              <a:gd name="connsiteX14" fmla="*/ 3677701 w 5492180"/>
              <a:gd name="connsiteY14" fmla="*/ 808607 h 5492180"/>
              <a:gd name="connsiteX15" fmla="*/ 3506251 w 5492180"/>
              <a:gd name="connsiteY15" fmla="*/ 808607 h 5492180"/>
              <a:gd name="connsiteX16" fmla="*/ 3506251 w 5492180"/>
              <a:gd name="connsiteY16" fmla="*/ 637157 h 5492180"/>
              <a:gd name="connsiteX17" fmla="*/ 4855023 w 5492180"/>
              <a:gd name="connsiteY17" fmla="*/ 637157 h 5492180"/>
              <a:gd name="connsiteX18" fmla="*/ 4855023 w 5492180"/>
              <a:gd name="connsiteY18" fmla="*/ 808607 h 54921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92180" h="5492180">
                <a:moveTo>
                  <a:pt x="5106418" y="385763"/>
                </a:moveTo>
                <a:cubicBezTo>
                  <a:pt x="4592068" y="-128588"/>
                  <a:pt x="3757645" y="-128588"/>
                  <a:pt x="3243295" y="385763"/>
                </a:cubicBezTo>
                <a:lnTo>
                  <a:pt x="385762" y="3243295"/>
                </a:lnTo>
                <a:cubicBezTo>
                  <a:pt x="-128587" y="3757645"/>
                  <a:pt x="-128587" y="4592068"/>
                  <a:pt x="385762" y="5106418"/>
                </a:cubicBezTo>
                <a:cubicBezTo>
                  <a:pt x="900113" y="5620768"/>
                  <a:pt x="1734535" y="5620768"/>
                  <a:pt x="2248885" y="5106418"/>
                </a:cubicBezTo>
                <a:lnTo>
                  <a:pt x="5106418" y="2248885"/>
                </a:lnTo>
                <a:cubicBezTo>
                  <a:pt x="5620768" y="1734496"/>
                  <a:pt x="5620768" y="900113"/>
                  <a:pt x="5106418" y="385763"/>
                </a:cubicBezTo>
                <a:close/>
                <a:moveTo>
                  <a:pt x="1917448" y="4751957"/>
                </a:moveTo>
                <a:cubicBezTo>
                  <a:pt x="1597395" y="5072010"/>
                  <a:pt x="1071641" y="5072010"/>
                  <a:pt x="740125" y="4751957"/>
                </a:cubicBezTo>
                <a:cubicBezTo>
                  <a:pt x="408668" y="4431904"/>
                  <a:pt x="420072" y="3906150"/>
                  <a:pt x="740125" y="3574635"/>
                </a:cubicBezTo>
                <a:lnTo>
                  <a:pt x="2214595" y="2100165"/>
                </a:lnTo>
                <a:lnTo>
                  <a:pt x="3391918" y="3277487"/>
                </a:lnTo>
                <a:close/>
                <a:moveTo>
                  <a:pt x="4855023" y="808607"/>
                </a:moveTo>
                <a:cubicBezTo>
                  <a:pt x="4809290" y="854340"/>
                  <a:pt x="4729307" y="854340"/>
                  <a:pt x="4683573" y="808607"/>
                </a:cubicBezTo>
                <a:cubicBezTo>
                  <a:pt x="4409253" y="534287"/>
                  <a:pt x="3952040" y="534287"/>
                  <a:pt x="3677701" y="808607"/>
                </a:cubicBezTo>
                <a:cubicBezTo>
                  <a:pt x="3631968" y="854340"/>
                  <a:pt x="3551984" y="854340"/>
                  <a:pt x="3506251" y="808607"/>
                </a:cubicBezTo>
                <a:cubicBezTo>
                  <a:pt x="3460518" y="762874"/>
                  <a:pt x="3460518" y="682890"/>
                  <a:pt x="3506251" y="637157"/>
                </a:cubicBezTo>
                <a:cubicBezTo>
                  <a:pt x="3871998" y="271410"/>
                  <a:pt x="4477814" y="271410"/>
                  <a:pt x="4855023" y="637157"/>
                </a:cubicBezTo>
                <a:cubicBezTo>
                  <a:pt x="4900718" y="682890"/>
                  <a:pt x="4900718" y="762913"/>
                  <a:pt x="4855023" y="808607"/>
                </a:cubicBez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127" name="Graphic 125">
            <a:extLst>
              <a:ext uri="{FF2B5EF4-FFF2-40B4-BE49-F238E27FC236}">
                <a16:creationId xmlns:a16="http://schemas.microsoft.com/office/drawing/2014/main" id="{680C2405-D7A0-96E4-6F5B-053F27611BBB}"/>
              </a:ext>
            </a:extLst>
          </p:cNvPr>
          <p:cNvSpPr>
            <a:spLocks noChangeAspect="1"/>
          </p:cNvSpPr>
          <p:nvPr/>
        </p:nvSpPr>
        <p:spPr>
          <a:xfrm>
            <a:off x="1305010" y="3313463"/>
            <a:ext cx="863430" cy="740084"/>
          </a:xfrm>
          <a:custGeom>
            <a:avLst/>
            <a:gdLst>
              <a:gd name="connsiteX0" fmla="*/ 2228850 w 4800600"/>
              <a:gd name="connsiteY0" fmla="*/ 0 h 4114800"/>
              <a:gd name="connsiteX1" fmla="*/ 2228850 w 4800600"/>
              <a:gd name="connsiteY1" fmla="*/ 342900 h 4114800"/>
              <a:gd name="connsiteX2" fmla="*/ 1885950 w 4800600"/>
              <a:gd name="connsiteY2" fmla="*/ 342900 h 4114800"/>
              <a:gd name="connsiteX3" fmla="*/ 1885950 w 4800600"/>
              <a:gd name="connsiteY3" fmla="*/ 685800 h 4114800"/>
              <a:gd name="connsiteX4" fmla="*/ 2228850 w 4800600"/>
              <a:gd name="connsiteY4" fmla="*/ 685800 h 4114800"/>
              <a:gd name="connsiteX5" fmla="*/ 2228850 w 4800600"/>
              <a:gd name="connsiteY5" fmla="*/ 1028700 h 4114800"/>
              <a:gd name="connsiteX6" fmla="*/ 2571750 w 4800600"/>
              <a:gd name="connsiteY6" fmla="*/ 1028700 h 4114800"/>
              <a:gd name="connsiteX7" fmla="*/ 2571750 w 4800600"/>
              <a:gd name="connsiteY7" fmla="*/ 685800 h 4114800"/>
              <a:gd name="connsiteX8" fmla="*/ 2914650 w 4800600"/>
              <a:gd name="connsiteY8" fmla="*/ 685800 h 4114800"/>
              <a:gd name="connsiteX9" fmla="*/ 2914650 w 4800600"/>
              <a:gd name="connsiteY9" fmla="*/ 342900 h 4114800"/>
              <a:gd name="connsiteX10" fmla="*/ 2571750 w 4800600"/>
              <a:gd name="connsiteY10" fmla="*/ 342900 h 4114800"/>
              <a:gd name="connsiteX11" fmla="*/ 2571750 w 4800600"/>
              <a:gd name="connsiteY11" fmla="*/ 0 h 4114800"/>
              <a:gd name="connsiteX12" fmla="*/ 0 w 4800600"/>
              <a:gd name="connsiteY12" fmla="*/ 1200150 h 4114800"/>
              <a:gd name="connsiteX13" fmla="*/ 0 w 4800600"/>
              <a:gd name="connsiteY13" fmla="*/ 4114800 h 4114800"/>
              <a:gd name="connsiteX14" fmla="*/ 342900 w 4800600"/>
              <a:gd name="connsiteY14" fmla="*/ 4114800 h 4114800"/>
              <a:gd name="connsiteX15" fmla="*/ 342900 w 4800600"/>
              <a:gd name="connsiteY15" fmla="*/ 3514725 h 4114800"/>
              <a:gd name="connsiteX16" fmla="*/ 4457700 w 4800600"/>
              <a:gd name="connsiteY16" fmla="*/ 3514725 h 4114800"/>
              <a:gd name="connsiteX17" fmla="*/ 4457700 w 4800600"/>
              <a:gd name="connsiteY17" fmla="*/ 4114800 h 4114800"/>
              <a:gd name="connsiteX18" fmla="*/ 4800600 w 4800600"/>
              <a:gd name="connsiteY18" fmla="*/ 4114800 h 4114800"/>
              <a:gd name="connsiteX19" fmla="*/ 4800600 w 4800600"/>
              <a:gd name="connsiteY19" fmla="*/ 2400300 h 4114800"/>
              <a:gd name="connsiteX20" fmla="*/ 1371600 w 4800600"/>
              <a:gd name="connsiteY20" fmla="*/ 2400300 h 4114800"/>
              <a:gd name="connsiteX21" fmla="*/ 1371600 w 4800600"/>
              <a:gd name="connsiteY21" fmla="*/ 2228850 h 4114800"/>
              <a:gd name="connsiteX22" fmla="*/ 857250 w 4800600"/>
              <a:gd name="connsiteY22" fmla="*/ 1714500 h 4114800"/>
              <a:gd name="connsiteX23" fmla="*/ 342900 w 4800600"/>
              <a:gd name="connsiteY23" fmla="*/ 1714500 h 4114800"/>
              <a:gd name="connsiteX24" fmla="*/ 342900 w 4800600"/>
              <a:gd name="connsiteY24" fmla="*/ 1200150 h 411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00600" h="4114800">
                <a:moveTo>
                  <a:pt x="2228850" y="0"/>
                </a:moveTo>
                <a:lnTo>
                  <a:pt x="2228850" y="342900"/>
                </a:lnTo>
                <a:lnTo>
                  <a:pt x="1885950" y="342900"/>
                </a:lnTo>
                <a:lnTo>
                  <a:pt x="1885950" y="685800"/>
                </a:lnTo>
                <a:lnTo>
                  <a:pt x="2228850" y="685800"/>
                </a:lnTo>
                <a:lnTo>
                  <a:pt x="2228850" y="1028700"/>
                </a:lnTo>
                <a:lnTo>
                  <a:pt x="2571750" y="1028700"/>
                </a:lnTo>
                <a:lnTo>
                  <a:pt x="2571750" y="685800"/>
                </a:lnTo>
                <a:lnTo>
                  <a:pt x="2914650" y="685800"/>
                </a:lnTo>
                <a:lnTo>
                  <a:pt x="2914650" y="342900"/>
                </a:lnTo>
                <a:lnTo>
                  <a:pt x="2571750" y="342900"/>
                </a:lnTo>
                <a:lnTo>
                  <a:pt x="2571750" y="0"/>
                </a:lnTo>
                <a:close/>
                <a:moveTo>
                  <a:pt x="0" y="1200150"/>
                </a:moveTo>
                <a:lnTo>
                  <a:pt x="0" y="4114800"/>
                </a:lnTo>
                <a:lnTo>
                  <a:pt x="342900" y="4114800"/>
                </a:lnTo>
                <a:lnTo>
                  <a:pt x="342900" y="3514725"/>
                </a:lnTo>
                <a:lnTo>
                  <a:pt x="4457700" y="3514725"/>
                </a:lnTo>
                <a:lnTo>
                  <a:pt x="4457700" y="4114800"/>
                </a:lnTo>
                <a:lnTo>
                  <a:pt x="4800600" y="4114800"/>
                </a:lnTo>
                <a:lnTo>
                  <a:pt x="4800600" y="2400300"/>
                </a:lnTo>
                <a:lnTo>
                  <a:pt x="1371600" y="2400300"/>
                </a:lnTo>
                <a:lnTo>
                  <a:pt x="1371600" y="2228850"/>
                </a:lnTo>
                <a:cubicBezTo>
                  <a:pt x="1371600" y="1946878"/>
                  <a:pt x="1139222" y="1714500"/>
                  <a:pt x="857250" y="1714500"/>
                </a:cubicBezTo>
                <a:lnTo>
                  <a:pt x="342900" y="1714500"/>
                </a:lnTo>
                <a:lnTo>
                  <a:pt x="342900" y="1200150"/>
                </a:ln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nvGrpSpPr>
          <p:cNvPr id="204" name="Group 203">
            <a:extLst>
              <a:ext uri="{FF2B5EF4-FFF2-40B4-BE49-F238E27FC236}">
                <a16:creationId xmlns:a16="http://schemas.microsoft.com/office/drawing/2014/main" id="{968F25AE-13B6-9A59-11C1-A03B847B874E}"/>
              </a:ext>
            </a:extLst>
          </p:cNvPr>
          <p:cNvGrpSpPr>
            <a:grpSpLocks noChangeAspect="1"/>
          </p:cNvGrpSpPr>
          <p:nvPr/>
        </p:nvGrpSpPr>
        <p:grpSpPr>
          <a:xfrm>
            <a:off x="10018671" y="3248488"/>
            <a:ext cx="870034" cy="870034"/>
            <a:chOff x="13127468" y="3169081"/>
            <a:chExt cx="1158015" cy="1158015"/>
          </a:xfrm>
        </p:grpSpPr>
        <p:sp>
          <p:nvSpPr>
            <p:cNvPr id="184" name="Freeform: Shape 183">
              <a:extLst>
                <a:ext uri="{FF2B5EF4-FFF2-40B4-BE49-F238E27FC236}">
                  <a16:creationId xmlns:a16="http://schemas.microsoft.com/office/drawing/2014/main" id="{34C93272-A133-1E17-2653-40A86A428BD1}"/>
                </a:ext>
              </a:extLst>
            </p:cNvPr>
            <p:cNvSpPr/>
            <p:nvPr/>
          </p:nvSpPr>
          <p:spPr>
            <a:xfrm>
              <a:off x="13438413" y="3582436"/>
              <a:ext cx="536125" cy="590823"/>
            </a:xfrm>
            <a:custGeom>
              <a:avLst/>
              <a:gdLst>
                <a:gd name="connsiteX0" fmla="*/ 4729455 w 4800623"/>
                <a:gd name="connsiteY0" fmla="*/ 32425 h 5486424"/>
                <a:gd name="connsiteX1" fmla="*/ 4575072 w 4800623"/>
                <a:gd name="connsiteY1" fmla="*/ 8851 h 5486424"/>
                <a:gd name="connsiteX2" fmla="*/ 3600452 w 4800623"/>
                <a:gd name="connsiteY2" fmla="*/ 171464 h 5486424"/>
                <a:gd name="connsiteX3" fmla="*/ 2441744 w 4800623"/>
                <a:gd name="connsiteY3" fmla="*/ 5138 h 5486424"/>
                <a:gd name="connsiteX4" fmla="*/ 2358659 w 4800623"/>
                <a:gd name="connsiteY4" fmla="*/ 5138 h 5486424"/>
                <a:gd name="connsiteX5" fmla="*/ 1200147 w 4800623"/>
                <a:gd name="connsiteY5" fmla="*/ 171464 h 5486424"/>
                <a:gd name="connsiteX6" fmla="*/ 225527 w 4800623"/>
                <a:gd name="connsiteY6" fmla="*/ 8851 h 5486424"/>
                <a:gd name="connsiteX7" fmla="*/ 71144 w 4800623"/>
                <a:gd name="connsiteY7" fmla="*/ 32425 h 5486424"/>
                <a:gd name="connsiteX8" fmla="*/ 0 w 4800623"/>
                <a:gd name="connsiteY8" fmla="*/ 171456 h 5486424"/>
                <a:gd name="connsiteX9" fmla="*/ 0 w 4800623"/>
                <a:gd name="connsiteY9" fmla="*/ 3257556 h 5486424"/>
                <a:gd name="connsiteX10" fmla="*/ 2338774 w 4800623"/>
                <a:gd name="connsiteY10" fmla="*/ 5474944 h 5486424"/>
                <a:gd name="connsiteX11" fmla="*/ 2400312 w 4800623"/>
                <a:gd name="connsiteY11" fmla="*/ 5486425 h 5486424"/>
                <a:gd name="connsiteX12" fmla="*/ 2461850 w 4800623"/>
                <a:gd name="connsiteY12" fmla="*/ 5474944 h 5486424"/>
                <a:gd name="connsiteX13" fmla="*/ 4800624 w 4800623"/>
                <a:gd name="connsiteY13" fmla="*/ 3257556 h 5486424"/>
                <a:gd name="connsiteX14" fmla="*/ 4800624 w 4800623"/>
                <a:gd name="connsiteY14" fmla="*/ 171456 h 5486424"/>
                <a:gd name="connsiteX15" fmla="*/ 4729480 w 4800623"/>
                <a:gd name="connsiteY15" fmla="*/ 32425 h 5486424"/>
                <a:gd name="connsiteX16" fmla="*/ 3428982 w 4800623"/>
                <a:gd name="connsiteY16" fmla="*/ 2743196 h 5486424"/>
                <a:gd name="connsiteX17" fmla="*/ 3257532 w 4800623"/>
                <a:gd name="connsiteY17" fmla="*/ 2914646 h 5486424"/>
                <a:gd name="connsiteX18" fmla="*/ 2914632 w 4800623"/>
                <a:gd name="connsiteY18" fmla="*/ 2914646 h 5486424"/>
                <a:gd name="connsiteX19" fmla="*/ 2743182 w 4800623"/>
                <a:gd name="connsiteY19" fmla="*/ 3086096 h 5486424"/>
                <a:gd name="connsiteX20" fmla="*/ 2743182 w 4800623"/>
                <a:gd name="connsiteY20" fmla="*/ 3428996 h 5486424"/>
                <a:gd name="connsiteX21" fmla="*/ 2571732 w 4800623"/>
                <a:gd name="connsiteY21" fmla="*/ 3600446 h 5486424"/>
                <a:gd name="connsiteX22" fmla="*/ 2228832 w 4800623"/>
                <a:gd name="connsiteY22" fmla="*/ 3600446 h 5486424"/>
                <a:gd name="connsiteX23" fmla="*/ 2057382 w 4800623"/>
                <a:gd name="connsiteY23" fmla="*/ 3428996 h 5486424"/>
                <a:gd name="connsiteX24" fmla="*/ 2057382 w 4800623"/>
                <a:gd name="connsiteY24" fmla="*/ 3086096 h 5486424"/>
                <a:gd name="connsiteX25" fmla="*/ 1885932 w 4800623"/>
                <a:gd name="connsiteY25" fmla="*/ 2914646 h 5486424"/>
                <a:gd name="connsiteX26" fmla="*/ 1543032 w 4800623"/>
                <a:gd name="connsiteY26" fmla="*/ 2914646 h 5486424"/>
                <a:gd name="connsiteX27" fmla="*/ 1371582 w 4800623"/>
                <a:gd name="connsiteY27" fmla="*/ 2743196 h 5486424"/>
                <a:gd name="connsiteX28" fmla="*/ 1371582 w 4800623"/>
                <a:gd name="connsiteY28" fmla="*/ 2400296 h 5486424"/>
                <a:gd name="connsiteX29" fmla="*/ 1543032 w 4800623"/>
                <a:gd name="connsiteY29" fmla="*/ 2228846 h 5486424"/>
                <a:gd name="connsiteX30" fmla="*/ 1885932 w 4800623"/>
                <a:gd name="connsiteY30" fmla="*/ 2228846 h 5486424"/>
                <a:gd name="connsiteX31" fmla="*/ 2057382 w 4800623"/>
                <a:gd name="connsiteY31" fmla="*/ 2057396 h 5486424"/>
                <a:gd name="connsiteX32" fmla="*/ 2057382 w 4800623"/>
                <a:gd name="connsiteY32" fmla="*/ 1714496 h 5486424"/>
                <a:gd name="connsiteX33" fmla="*/ 2228832 w 4800623"/>
                <a:gd name="connsiteY33" fmla="*/ 1543046 h 5486424"/>
                <a:gd name="connsiteX34" fmla="*/ 2571732 w 4800623"/>
                <a:gd name="connsiteY34" fmla="*/ 1543046 h 5486424"/>
                <a:gd name="connsiteX35" fmla="*/ 2743182 w 4800623"/>
                <a:gd name="connsiteY35" fmla="*/ 1714496 h 5486424"/>
                <a:gd name="connsiteX36" fmla="*/ 2743182 w 4800623"/>
                <a:gd name="connsiteY36" fmla="*/ 2057396 h 5486424"/>
                <a:gd name="connsiteX37" fmla="*/ 2914632 w 4800623"/>
                <a:gd name="connsiteY37" fmla="*/ 2228846 h 5486424"/>
                <a:gd name="connsiteX38" fmla="*/ 3257532 w 4800623"/>
                <a:gd name="connsiteY38" fmla="*/ 2228846 h 5486424"/>
                <a:gd name="connsiteX39" fmla="*/ 3428982 w 4800623"/>
                <a:gd name="connsiteY39" fmla="*/ 2400296 h 548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4800623" h="5486424">
                  <a:moveTo>
                    <a:pt x="4729455" y="32425"/>
                  </a:moveTo>
                  <a:cubicBezTo>
                    <a:pt x="4684794" y="277"/>
                    <a:pt x="4627085" y="-8639"/>
                    <a:pt x="4575072" y="8851"/>
                  </a:cubicBezTo>
                  <a:cubicBezTo>
                    <a:pt x="4570173" y="10382"/>
                    <a:pt x="4079474" y="171464"/>
                    <a:pt x="3600452" y="171464"/>
                  </a:cubicBezTo>
                  <a:cubicBezTo>
                    <a:pt x="3113691" y="171464"/>
                    <a:pt x="2448504" y="6784"/>
                    <a:pt x="2441744" y="5138"/>
                  </a:cubicBezTo>
                  <a:cubicBezTo>
                    <a:pt x="2414649" y="-1713"/>
                    <a:pt x="2385870" y="-1713"/>
                    <a:pt x="2358659" y="5138"/>
                  </a:cubicBezTo>
                  <a:cubicBezTo>
                    <a:pt x="2352077" y="6783"/>
                    <a:pt x="1686869" y="171464"/>
                    <a:pt x="1200147" y="171464"/>
                  </a:cubicBezTo>
                  <a:cubicBezTo>
                    <a:pt x="721116" y="171464"/>
                    <a:pt x="230426" y="10389"/>
                    <a:pt x="225527" y="8851"/>
                  </a:cubicBezTo>
                  <a:cubicBezTo>
                    <a:pt x="173480" y="-8562"/>
                    <a:pt x="115809" y="278"/>
                    <a:pt x="71144" y="32425"/>
                  </a:cubicBezTo>
                  <a:cubicBezTo>
                    <a:pt x="26559" y="64649"/>
                    <a:pt x="0" y="116351"/>
                    <a:pt x="0" y="171456"/>
                  </a:cubicBezTo>
                  <a:lnTo>
                    <a:pt x="0" y="3257556"/>
                  </a:lnTo>
                  <a:cubicBezTo>
                    <a:pt x="0" y="4560478"/>
                    <a:pt x="2243252" y="5438204"/>
                    <a:pt x="2338774" y="5474944"/>
                  </a:cubicBezTo>
                  <a:cubicBezTo>
                    <a:pt x="2358559" y="5482559"/>
                    <a:pt x="2379493" y="5486425"/>
                    <a:pt x="2400312" y="5486425"/>
                  </a:cubicBezTo>
                  <a:cubicBezTo>
                    <a:pt x="2421131" y="5486425"/>
                    <a:pt x="2442064" y="5482560"/>
                    <a:pt x="2461850" y="5474944"/>
                  </a:cubicBezTo>
                  <a:cubicBezTo>
                    <a:pt x="2557372" y="5438243"/>
                    <a:pt x="4800624" y="4560517"/>
                    <a:pt x="4800624" y="3257556"/>
                  </a:cubicBezTo>
                  <a:lnTo>
                    <a:pt x="4800624" y="171456"/>
                  </a:lnTo>
                  <a:cubicBezTo>
                    <a:pt x="4800624" y="116347"/>
                    <a:pt x="4774064" y="64648"/>
                    <a:pt x="4729480" y="32425"/>
                  </a:cubicBezTo>
                  <a:close/>
                  <a:moveTo>
                    <a:pt x="3428982" y="2743196"/>
                  </a:moveTo>
                  <a:cubicBezTo>
                    <a:pt x="3428982" y="2837494"/>
                    <a:pt x="3351830" y="2914646"/>
                    <a:pt x="3257532" y="2914646"/>
                  </a:cubicBezTo>
                  <a:lnTo>
                    <a:pt x="2914632" y="2914646"/>
                  </a:lnTo>
                  <a:cubicBezTo>
                    <a:pt x="2820335" y="2914646"/>
                    <a:pt x="2743182" y="2991799"/>
                    <a:pt x="2743182" y="3086096"/>
                  </a:cubicBezTo>
                  <a:lnTo>
                    <a:pt x="2743182" y="3428996"/>
                  </a:lnTo>
                  <a:cubicBezTo>
                    <a:pt x="2743182" y="3523294"/>
                    <a:pt x="2666030" y="3600446"/>
                    <a:pt x="2571732" y="3600446"/>
                  </a:cubicBezTo>
                  <a:lnTo>
                    <a:pt x="2228832" y="3600446"/>
                  </a:lnTo>
                  <a:cubicBezTo>
                    <a:pt x="2134535" y="3600446"/>
                    <a:pt x="2057382" y="3523294"/>
                    <a:pt x="2057382" y="3428996"/>
                  </a:cubicBezTo>
                  <a:lnTo>
                    <a:pt x="2057382" y="3086096"/>
                  </a:lnTo>
                  <a:cubicBezTo>
                    <a:pt x="2057382" y="2991799"/>
                    <a:pt x="1980230" y="2914646"/>
                    <a:pt x="1885932" y="2914646"/>
                  </a:cubicBezTo>
                  <a:lnTo>
                    <a:pt x="1543032" y="2914646"/>
                  </a:lnTo>
                  <a:cubicBezTo>
                    <a:pt x="1448735" y="2914646"/>
                    <a:pt x="1371582" y="2837494"/>
                    <a:pt x="1371582" y="2743196"/>
                  </a:cubicBezTo>
                  <a:lnTo>
                    <a:pt x="1371582" y="2400296"/>
                  </a:lnTo>
                  <a:cubicBezTo>
                    <a:pt x="1371582" y="2305999"/>
                    <a:pt x="1448735" y="2228846"/>
                    <a:pt x="1543032" y="2228846"/>
                  </a:cubicBezTo>
                  <a:lnTo>
                    <a:pt x="1885932" y="2228846"/>
                  </a:lnTo>
                  <a:cubicBezTo>
                    <a:pt x="1980230" y="2228846"/>
                    <a:pt x="2057382" y="2151694"/>
                    <a:pt x="2057382" y="2057396"/>
                  </a:cubicBezTo>
                  <a:lnTo>
                    <a:pt x="2057382" y="1714496"/>
                  </a:lnTo>
                  <a:cubicBezTo>
                    <a:pt x="2057382" y="1620199"/>
                    <a:pt x="2134535" y="1543046"/>
                    <a:pt x="2228832" y="1543046"/>
                  </a:cubicBezTo>
                  <a:lnTo>
                    <a:pt x="2571732" y="1543046"/>
                  </a:lnTo>
                  <a:cubicBezTo>
                    <a:pt x="2666030" y="1543046"/>
                    <a:pt x="2743182" y="1620199"/>
                    <a:pt x="2743182" y="1714496"/>
                  </a:cubicBezTo>
                  <a:lnTo>
                    <a:pt x="2743182" y="2057396"/>
                  </a:lnTo>
                  <a:cubicBezTo>
                    <a:pt x="2743182" y="2151694"/>
                    <a:pt x="2820335" y="2228846"/>
                    <a:pt x="2914632" y="2228846"/>
                  </a:cubicBezTo>
                  <a:lnTo>
                    <a:pt x="3257532" y="2228846"/>
                  </a:lnTo>
                  <a:cubicBezTo>
                    <a:pt x="3351830" y="2228846"/>
                    <a:pt x="3428982" y="2305999"/>
                    <a:pt x="3428982" y="2400296"/>
                  </a:cubicBezTo>
                  <a:close/>
                </a:path>
              </a:pathLst>
            </a:custGeom>
            <a:solidFill>
              <a:schemeClr val="tx2"/>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3" name="Oval 202">
              <a:extLst>
                <a:ext uri="{FF2B5EF4-FFF2-40B4-BE49-F238E27FC236}">
                  <a16:creationId xmlns:a16="http://schemas.microsoft.com/office/drawing/2014/main" id="{2BBC9BCE-7280-8B83-EE34-6E3EC5AE17B1}"/>
                </a:ext>
              </a:extLst>
            </p:cNvPr>
            <p:cNvSpPr>
              <a:spLocks noChangeAspect="1"/>
            </p:cNvSpPr>
            <p:nvPr/>
          </p:nvSpPr>
          <p:spPr bwMode="auto">
            <a:xfrm>
              <a:off x="13127468" y="3169081"/>
              <a:ext cx="1158015" cy="1158015"/>
            </a:xfrm>
            <a:prstGeom prst="ellipse">
              <a:avLst/>
            </a:prstGeom>
            <a:noFill/>
            <a:ln w="28575">
              <a:solidFill>
                <a:schemeClr val="tx2"/>
              </a:solid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ArchUp">
                <a:avLst/>
              </a:prstTxWarp>
              <a:noAutofit/>
            </a:bodyPr>
            <a:lstStyle/>
            <a:p>
              <a:pPr marL="0" marR="0" lvl="0" indent="0" algn="ctr" defTabSz="1219170" rtl="0" eaLnBrk="0" fontAlgn="auto" latinLnBrk="0" hangingPunct="0">
                <a:lnSpc>
                  <a:spcPct val="100000"/>
                </a:lnSpc>
                <a:spcBef>
                  <a:spcPts val="300"/>
                </a:spcBef>
                <a:spcAft>
                  <a:spcPts val="300"/>
                </a:spcAft>
                <a:buClr>
                  <a:srgbClr val="F36633"/>
                </a:buClr>
                <a:buSzPct val="110000"/>
                <a:buFontTx/>
                <a:buNone/>
                <a:tabLst/>
                <a:defRPr/>
              </a:pPr>
              <a:r>
                <a:rPr kumimoji="0" lang="en-US" sz="800" b="1" i="0" u="none" strike="noStrike" kern="0" cap="none" spc="100" normalizeH="0" baseline="0" noProof="0" dirty="0">
                  <a:ln>
                    <a:noFill/>
                  </a:ln>
                  <a:solidFill>
                    <a:srgbClr val="F36633"/>
                  </a:solidFill>
                  <a:effectLst/>
                  <a:uLnTx/>
                  <a:uFillTx/>
                  <a:latin typeface="Arial"/>
                  <a:ea typeface="+mn-ea"/>
                  <a:cs typeface="Noto Sans"/>
                </a:rPr>
                <a:t>ANTIMICROBIAL</a:t>
              </a:r>
              <a:endParaRPr kumimoji="0" lang="en-GB" sz="800" b="1" i="0" u="none" strike="noStrike" kern="0" cap="none" spc="100" normalizeH="0" baseline="0" noProof="0" dirty="0">
                <a:ln>
                  <a:noFill/>
                </a:ln>
                <a:solidFill>
                  <a:srgbClr val="F36633"/>
                </a:solidFill>
                <a:effectLst/>
                <a:uLnTx/>
                <a:uFillTx/>
                <a:latin typeface="Arial"/>
                <a:ea typeface="+mn-ea"/>
                <a:cs typeface="Noto Sans"/>
              </a:endParaRPr>
            </a:p>
          </p:txBody>
        </p:sp>
      </p:grpSp>
    </p:spTree>
    <p:custDataLst>
      <p:tags r:id="rId1"/>
    </p:custDataLst>
    <p:extLst>
      <p:ext uri="{BB962C8B-B14F-4D97-AF65-F5344CB8AC3E}">
        <p14:creationId xmlns:p14="http://schemas.microsoft.com/office/powerpoint/2010/main" val="2694860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5828CB0-A23B-9557-32DC-400CFED54DC2}"/>
              </a:ext>
            </a:extLst>
          </p:cNvPr>
          <p:cNvSpPr>
            <a:spLocks noGrp="1"/>
          </p:cNvSpPr>
          <p:nvPr>
            <p:ph type="sldNum" sz="quarter" idx="11"/>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9F9F533D-B52E-4A2F-BF72-0ADD2D94BD75}" type="slidenum">
              <a:rPr kumimoji="0" lang="en-GB"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97</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4" name="Date Placeholder 3">
            <a:extLst>
              <a:ext uri="{FF2B5EF4-FFF2-40B4-BE49-F238E27FC236}">
                <a16:creationId xmlns:a16="http://schemas.microsoft.com/office/drawing/2014/main" id="{E0A951F5-769D-CCE4-B130-E5E0605FEB1E}"/>
              </a:ext>
            </a:extLst>
          </p:cNvPr>
          <p:cNvSpPr>
            <a:spLocks noGrp="1"/>
          </p:cNvSpPr>
          <p:nvPr>
            <p:ph type="dt" sz="half" idx="12"/>
          </p:nvPr>
        </p:nvSpPr>
        <p:spPr/>
        <p: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fld id="{451321FB-6FFA-4E21-A3E8-B90BCA009593}" type="datetime3">
              <a:rPr kumimoji="0" lang="en-US" sz="1000" b="0" i="0" u="none" strike="noStrike" kern="1200" cap="none" spc="0" normalizeH="0" baseline="0" noProof="0" smtClean="0">
                <a:ln>
                  <a:noFill/>
                </a:ln>
                <a:solidFill>
                  <a:srgbClr val="000000"/>
                </a:solidFill>
                <a:effectLst/>
                <a:uLnTx/>
                <a:uFillTx/>
                <a:latin typeface="Arial"/>
                <a:ea typeface="+mn-ea"/>
                <a:cs typeface="Noto Sans"/>
              </a:rPr>
              <a:pPr marL="0" marR="0" lvl="0" indent="0" algn="r" defTabSz="1219170" rtl="0" eaLnBrk="1" fontAlgn="auto" latinLnBrk="0" hangingPunct="1">
                <a:lnSpc>
                  <a:spcPct val="100000"/>
                </a:lnSpc>
                <a:spcBef>
                  <a:spcPts val="0"/>
                </a:spcBef>
                <a:spcAft>
                  <a:spcPts val="0"/>
                </a:spcAft>
                <a:buClrTx/>
                <a:buSzTx/>
                <a:buFontTx/>
                <a:buNone/>
                <a:tabLst/>
                <a:defRPr/>
              </a:pPr>
              <a:t>20 July 2025</a:t>
            </a:fld>
            <a:endParaRPr kumimoji="0" lang="en-GB" sz="10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6" name="Text Placeholder 5">
            <a:extLst>
              <a:ext uri="{FF2B5EF4-FFF2-40B4-BE49-F238E27FC236}">
                <a16:creationId xmlns:a16="http://schemas.microsoft.com/office/drawing/2014/main" id="{CAEBF961-AC89-6B2D-8118-DE1D2C191FA3}"/>
              </a:ext>
            </a:extLst>
          </p:cNvPr>
          <p:cNvSpPr>
            <a:spLocks noGrp="1"/>
          </p:cNvSpPr>
          <p:nvPr>
            <p:ph type="body" sz="quarter" idx="13"/>
          </p:nvPr>
        </p:nvSpPr>
        <p:spPr/>
        <p:txBody>
          <a:bodyPr/>
          <a:lstStyle/>
          <a:p>
            <a:r>
              <a:rPr lang="en-US" dirty="0"/>
              <a:t>GOLD, Global Initiative for Chronic Obstructive Lung Disease </a:t>
            </a:r>
          </a:p>
          <a:p>
            <a:r>
              <a:rPr lang="en-US" dirty="0"/>
              <a:t>1. </a:t>
            </a:r>
            <a:r>
              <a:rPr kumimoji="0" lang="en-US" sz="800" b="0" i="0" u="none" strike="noStrike" kern="1200" cap="none" spc="0" normalizeH="0" baseline="0" noProof="0" dirty="0">
                <a:ln>
                  <a:noFill/>
                </a:ln>
                <a:solidFill>
                  <a:srgbClr val="000000"/>
                </a:solidFill>
                <a:effectLst/>
                <a:uLnTx/>
                <a:uFillTx/>
                <a:latin typeface="Arial"/>
                <a:ea typeface="+mn-ea"/>
                <a:cs typeface="Noto Sans"/>
              </a:rPr>
              <a:t>Global Initiative for Chronic Obstructive Lung Disease. 2023 GOLD Report. </a:t>
            </a:r>
            <a:r>
              <a:rPr kumimoji="0" lang="en-US" sz="800" b="0" i="0" u="none" strike="noStrike" kern="1200" cap="none" spc="0" normalizeH="0" baseline="0" noProof="0" dirty="0">
                <a:ln>
                  <a:noFill/>
                </a:ln>
                <a:solidFill>
                  <a:srgbClr val="F36633"/>
                </a:solidFill>
                <a:effectLst/>
                <a:uLnTx/>
                <a:uFillTx/>
                <a:latin typeface="Arial"/>
                <a:ea typeface="+mn-ea"/>
                <a:cs typeface="Noto Sans"/>
                <a:hlinkClick r:id="rId3"/>
              </a:rPr>
              <a:t>https://goldcopd.org/wp-content/uploads/2023/01/GOLD-2023-ver-1.2-7Jan2023_WMV.pdf</a:t>
            </a:r>
            <a:r>
              <a:rPr kumimoji="0" lang="en-US" sz="800" b="0" i="0" u="none" strike="noStrike" kern="1200" cap="none" spc="0" normalizeH="0" baseline="0" noProof="0" dirty="0">
                <a:ln>
                  <a:noFill/>
                </a:ln>
                <a:solidFill>
                  <a:srgbClr val="000000"/>
                </a:solidFill>
                <a:effectLst/>
                <a:uLnTx/>
                <a:uFillTx/>
                <a:latin typeface="Arial"/>
                <a:ea typeface="+mn-ea"/>
                <a:cs typeface="Noto Sans"/>
              </a:rPr>
              <a:t>. Accessed February 15, 2023</a:t>
            </a:r>
            <a:r>
              <a:rPr lang="en-US" dirty="0"/>
              <a:t>; 2. Restrepo RD, et al. </a:t>
            </a:r>
            <a:r>
              <a:rPr lang="en-US" i="1" dirty="0"/>
              <a:t>Int J Chron Obstruct Pulmon Dis</a:t>
            </a:r>
            <a:r>
              <a:rPr lang="en-US" dirty="0"/>
              <a:t>. 2008;3(3):371-384.</a:t>
            </a:r>
          </a:p>
        </p:txBody>
      </p:sp>
      <p:sp>
        <p:nvSpPr>
          <p:cNvPr id="2" name="Title 1">
            <a:extLst>
              <a:ext uri="{FF2B5EF4-FFF2-40B4-BE49-F238E27FC236}">
                <a16:creationId xmlns:a16="http://schemas.microsoft.com/office/drawing/2014/main" id="{A45CEE89-69DE-58C6-4E7F-7C4B7E4B36FC}"/>
              </a:ext>
            </a:extLst>
          </p:cNvPr>
          <p:cNvSpPr>
            <a:spLocks noGrp="1"/>
          </p:cNvSpPr>
          <p:nvPr>
            <p:ph type="title"/>
          </p:nvPr>
        </p:nvSpPr>
        <p:spPr/>
        <p:txBody>
          <a:bodyPr/>
          <a:lstStyle/>
          <a:p>
            <a:r>
              <a:rPr lang="en-GB" dirty="0"/>
              <a:t>Summary</a:t>
            </a:r>
          </a:p>
        </p:txBody>
      </p:sp>
      <p:grpSp>
        <p:nvGrpSpPr>
          <p:cNvPr id="73" name="Group 72">
            <a:extLst>
              <a:ext uri="{FF2B5EF4-FFF2-40B4-BE49-F238E27FC236}">
                <a16:creationId xmlns:a16="http://schemas.microsoft.com/office/drawing/2014/main" id="{CA595986-915E-F203-B9EA-0E71F9132776}"/>
              </a:ext>
            </a:extLst>
          </p:cNvPr>
          <p:cNvGrpSpPr/>
          <p:nvPr/>
        </p:nvGrpSpPr>
        <p:grpSpPr>
          <a:xfrm>
            <a:off x="365124" y="2987806"/>
            <a:ext cx="11457432" cy="625295"/>
            <a:chOff x="365124" y="2671277"/>
            <a:chExt cx="11457432" cy="625295"/>
          </a:xfrm>
        </p:grpSpPr>
        <p:sp>
          <p:nvSpPr>
            <p:cNvPr id="11" name="object 12">
              <a:extLst>
                <a:ext uri="{FF2B5EF4-FFF2-40B4-BE49-F238E27FC236}">
                  <a16:creationId xmlns:a16="http://schemas.microsoft.com/office/drawing/2014/main" id="{01A0DF15-D772-41CA-85C6-8DC1965CD40E}"/>
                </a:ext>
              </a:extLst>
            </p:cNvPr>
            <p:cNvSpPr txBox="1"/>
            <p:nvPr/>
          </p:nvSpPr>
          <p:spPr>
            <a:xfrm>
              <a:off x="1077102" y="2671277"/>
              <a:ext cx="10745454" cy="625295"/>
            </a:xfrm>
            <a:prstGeom prst="rect">
              <a:avLst/>
            </a:prstGeom>
            <a:solidFill>
              <a:schemeClr val="bg2">
                <a:lumMod val="20000"/>
                <a:lumOff val="80000"/>
              </a:schemeClr>
            </a:solidFill>
            <a:ln w="9525">
              <a:noFill/>
            </a:ln>
          </p:spPr>
          <p:txBody>
            <a:bodyPr vert="horz" wrap="square" lIns="0" tIns="0" rIns="0" bIns="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dirty="0">
                  <a:ln>
                    <a:noFill/>
                  </a:ln>
                  <a:solidFill>
                    <a:srgbClr val="000000"/>
                  </a:solidFill>
                  <a:effectLst/>
                  <a:uLnTx/>
                  <a:uFillTx/>
                  <a:latin typeface="Arial"/>
                  <a:ea typeface="+mn-ea"/>
                  <a:cs typeface="Arial"/>
                </a:rPr>
                <a:t>The updated GOLD 2025 strategy classifies COPD into groups of severity (A, B and E) based on spirometry diagnosis, symptoms and exacerbation history; an </a:t>
              </a:r>
              <a:r>
                <a:rPr kumimoji="0" lang="en-US" sz="1200" b="1" i="0" u="none" strike="noStrike" kern="1200" cap="none" spc="-5" normalizeH="0" baseline="0" noProof="0" dirty="0" err="1">
                  <a:ln>
                    <a:noFill/>
                  </a:ln>
                  <a:solidFill>
                    <a:srgbClr val="000000"/>
                  </a:solidFill>
                  <a:effectLst/>
                  <a:uLnTx/>
                  <a:uFillTx/>
                  <a:latin typeface="Arial"/>
                  <a:ea typeface="+mn-ea"/>
                  <a:cs typeface="Arial"/>
                </a:rPr>
                <a:t>individualised</a:t>
              </a:r>
              <a:r>
                <a:rPr kumimoji="0" lang="en-US" sz="1200" b="1" i="0" u="none" strike="noStrike" kern="1200" cap="none" spc="-5" normalizeH="0" baseline="0" noProof="0" dirty="0">
                  <a:ln>
                    <a:noFill/>
                  </a:ln>
                  <a:solidFill>
                    <a:srgbClr val="000000"/>
                  </a:solidFill>
                  <a:effectLst/>
                  <a:uLnTx/>
                  <a:uFillTx/>
                  <a:latin typeface="Arial"/>
                  <a:ea typeface="+mn-ea"/>
                  <a:cs typeface="Arial"/>
                </a:rPr>
                <a:t> approach to COPD treatment, specific to each group, is recommended</a:t>
              </a:r>
              <a:r>
                <a:rPr kumimoji="0" lang="en-US" sz="1200" b="1" i="0" u="none" strike="noStrike" kern="1200" cap="none" spc="-5" normalizeH="0" baseline="30000" noProof="0" dirty="0">
                  <a:ln>
                    <a:noFill/>
                  </a:ln>
                  <a:solidFill>
                    <a:srgbClr val="000000"/>
                  </a:solidFill>
                  <a:effectLst/>
                  <a:uLnTx/>
                  <a:uFillTx/>
                  <a:latin typeface="Arial"/>
                  <a:ea typeface="+mn-ea"/>
                  <a:cs typeface="Arial"/>
                </a:rPr>
                <a:t>1</a:t>
              </a:r>
            </a:p>
          </p:txBody>
        </p:sp>
        <p:sp>
          <p:nvSpPr>
            <p:cNvPr id="207" name="object 7">
              <a:extLst>
                <a:ext uri="{FF2B5EF4-FFF2-40B4-BE49-F238E27FC236}">
                  <a16:creationId xmlns:a16="http://schemas.microsoft.com/office/drawing/2014/main" id="{29F8476E-1F6B-FA57-013B-45530E815822}"/>
                </a:ext>
              </a:extLst>
            </p:cNvPr>
            <p:cNvSpPr/>
            <p:nvPr/>
          </p:nvSpPr>
          <p:spPr>
            <a:xfrm>
              <a:off x="365124" y="2671277"/>
              <a:ext cx="705618"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3"/>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8" name="Right Triangle 207">
              <a:extLst>
                <a:ext uri="{FF2B5EF4-FFF2-40B4-BE49-F238E27FC236}">
                  <a16:creationId xmlns:a16="http://schemas.microsoft.com/office/drawing/2014/main" id="{EC2D1486-E332-1D76-6CC8-42C94B44BB96}"/>
                </a:ext>
              </a:extLst>
            </p:cNvPr>
            <p:cNvSpPr/>
            <p:nvPr/>
          </p:nvSpPr>
          <p:spPr bwMode="auto">
            <a:xfrm flipH="1">
              <a:off x="936131" y="3155611"/>
              <a:ext cx="134611" cy="134611"/>
            </a:xfrm>
            <a:prstGeom prst="rtTriangle">
              <a:avLst/>
            </a:prstGeom>
            <a:solidFill>
              <a:schemeClr val="accent3">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35" name="object 20">
              <a:extLst>
                <a:ext uri="{FF2B5EF4-FFF2-40B4-BE49-F238E27FC236}">
                  <a16:creationId xmlns:a16="http://schemas.microsoft.com/office/drawing/2014/main" id="{E1BDD732-CA09-77A0-302D-7D00E99F60D2}"/>
                </a:ext>
              </a:extLst>
            </p:cNvPr>
            <p:cNvSpPr>
              <a:spLocks noChangeAspect="1"/>
            </p:cNvSpPr>
            <p:nvPr/>
          </p:nvSpPr>
          <p:spPr>
            <a:xfrm>
              <a:off x="521398" y="2764167"/>
              <a:ext cx="393070" cy="431857"/>
            </a:xfrm>
            <a:custGeom>
              <a:avLst/>
              <a:gdLst/>
              <a:ahLst/>
              <a:cxnLst/>
              <a:rect l="l" t="t" r="r" b="b"/>
              <a:pathLst>
                <a:path w="475615" h="498475">
                  <a:moveTo>
                    <a:pt x="389178" y="165150"/>
                  </a:moveTo>
                  <a:lnTo>
                    <a:pt x="388442" y="146761"/>
                  </a:lnTo>
                  <a:lnTo>
                    <a:pt x="380669" y="132448"/>
                  </a:lnTo>
                  <a:lnTo>
                    <a:pt x="376059" y="101079"/>
                  </a:lnTo>
                  <a:lnTo>
                    <a:pt x="375259" y="95656"/>
                  </a:lnTo>
                  <a:lnTo>
                    <a:pt x="368109" y="74498"/>
                  </a:lnTo>
                  <a:lnTo>
                    <a:pt x="368109" y="152400"/>
                  </a:lnTo>
                  <a:lnTo>
                    <a:pt x="367487" y="172580"/>
                  </a:lnTo>
                  <a:lnTo>
                    <a:pt x="356095" y="193636"/>
                  </a:lnTo>
                  <a:lnTo>
                    <a:pt x="338404" y="205219"/>
                  </a:lnTo>
                  <a:lnTo>
                    <a:pt x="332625" y="206108"/>
                  </a:lnTo>
                  <a:lnTo>
                    <a:pt x="330847" y="211569"/>
                  </a:lnTo>
                  <a:lnTo>
                    <a:pt x="307035" y="252374"/>
                  </a:lnTo>
                  <a:lnTo>
                    <a:pt x="275170" y="276847"/>
                  </a:lnTo>
                  <a:lnTo>
                    <a:pt x="239204" y="285013"/>
                  </a:lnTo>
                  <a:lnTo>
                    <a:pt x="212077" y="278879"/>
                  </a:lnTo>
                  <a:lnTo>
                    <a:pt x="203085" y="276847"/>
                  </a:lnTo>
                  <a:lnTo>
                    <a:pt x="170776" y="252374"/>
                  </a:lnTo>
                  <a:lnTo>
                    <a:pt x="146227" y="211569"/>
                  </a:lnTo>
                  <a:lnTo>
                    <a:pt x="144005" y="206108"/>
                  </a:lnTo>
                  <a:lnTo>
                    <a:pt x="138226" y="205219"/>
                  </a:lnTo>
                  <a:lnTo>
                    <a:pt x="120078" y="194005"/>
                  </a:lnTo>
                  <a:lnTo>
                    <a:pt x="108521" y="172923"/>
                  </a:lnTo>
                  <a:lnTo>
                    <a:pt x="107823" y="152527"/>
                  </a:lnTo>
                  <a:lnTo>
                    <a:pt x="122212" y="143370"/>
                  </a:lnTo>
                  <a:lnTo>
                    <a:pt x="132880" y="143370"/>
                  </a:lnTo>
                  <a:lnTo>
                    <a:pt x="181508" y="149288"/>
                  </a:lnTo>
                  <a:lnTo>
                    <a:pt x="222021" y="146850"/>
                  </a:lnTo>
                  <a:lnTo>
                    <a:pt x="230606" y="143370"/>
                  </a:lnTo>
                  <a:lnTo>
                    <a:pt x="258432" y="132105"/>
                  </a:lnTo>
                  <a:lnTo>
                    <a:pt x="294817" y="101079"/>
                  </a:lnTo>
                  <a:lnTo>
                    <a:pt x="305384" y="114566"/>
                  </a:lnTo>
                  <a:lnTo>
                    <a:pt x="316052" y="125514"/>
                  </a:lnTo>
                  <a:lnTo>
                    <a:pt x="328218" y="134823"/>
                  </a:lnTo>
                  <a:lnTo>
                    <a:pt x="343293" y="143370"/>
                  </a:lnTo>
                  <a:lnTo>
                    <a:pt x="353529" y="143370"/>
                  </a:lnTo>
                  <a:lnTo>
                    <a:pt x="368109" y="152400"/>
                  </a:lnTo>
                  <a:lnTo>
                    <a:pt x="368109" y="74498"/>
                  </a:lnTo>
                  <a:lnTo>
                    <a:pt x="363486" y="60807"/>
                  </a:lnTo>
                  <a:lnTo>
                    <a:pt x="340944" y="33743"/>
                  </a:lnTo>
                  <a:lnTo>
                    <a:pt x="303263" y="20307"/>
                  </a:lnTo>
                  <a:lnTo>
                    <a:pt x="256247" y="0"/>
                  </a:lnTo>
                  <a:lnTo>
                    <a:pt x="206108" y="457"/>
                  </a:lnTo>
                  <a:lnTo>
                    <a:pt x="160058" y="19507"/>
                  </a:lnTo>
                  <a:lnTo>
                    <a:pt x="125323" y="54978"/>
                  </a:lnTo>
                  <a:lnTo>
                    <a:pt x="108686" y="90576"/>
                  </a:lnTo>
                  <a:lnTo>
                    <a:pt x="100406" y="128638"/>
                  </a:lnTo>
                  <a:lnTo>
                    <a:pt x="88544" y="142405"/>
                  </a:lnTo>
                  <a:lnTo>
                    <a:pt x="85940" y="161823"/>
                  </a:lnTo>
                  <a:lnTo>
                    <a:pt x="91020" y="183299"/>
                  </a:lnTo>
                  <a:lnTo>
                    <a:pt x="102196" y="203187"/>
                  </a:lnTo>
                  <a:lnTo>
                    <a:pt x="103454" y="221437"/>
                  </a:lnTo>
                  <a:lnTo>
                    <a:pt x="110642" y="274307"/>
                  </a:lnTo>
                  <a:lnTo>
                    <a:pt x="153797" y="280060"/>
                  </a:lnTo>
                  <a:lnTo>
                    <a:pt x="168922" y="278879"/>
                  </a:lnTo>
                  <a:lnTo>
                    <a:pt x="202565" y="298462"/>
                  </a:lnTo>
                  <a:lnTo>
                    <a:pt x="238925" y="304977"/>
                  </a:lnTo>
                  <a:lnTo>
                    <a:pt x="275196" y="298462"/>
                  </a:lnTo>
                  <a:lnTo>
                    <a:pt x="298132" y="285013"/>
                  </a:lnTo>
                  <a:lnTo>
                    <a:pt x="308597" y="278879"/>
                  </a:lnTo>
                  <a:lnTo>
                    <a:pt x="323303" y="280060"/>
                  </a:lnTo>
                  <a:lnTo>
                    <a:pt x="337515" y="279742"/>
                  </a:lnTo>
                  <a:lnTo>
                    <a:pt x="343801" y="278879"/>
                  </a:lnTo>
                  <a:lnTo>
                    <a:pt x="351383" y="277850"/>
                  </a:lnTo>
                  <a:lnTo>
                    <a:pt x="370230" y="239699"/>
                  </a:lnTo>
                  <a:lnTo>
                    <a:pt x="374002" y="203187"/>
                  </a:lnTo>
                  <a:lnTo>
                    <a:pt x="383984" y="184886"/>
                  </a:lnTo>
                  <a:lnTo>
                    <a:pt x="389178" y="165150"/>
                  </a:lnTo>
                  <a:close/>
                </a:path>
                <a:path w="475615" h="498475">
                  <a:moveTo>
                    <a:pt x="475488" y="488048"/>
                  </a:moveTo>
                  <a:lnTo>
                    <a:pt x="471563" y="463156"/>
                  </a:lnTo>
                  <a:lnTo>
                    <a:pt x="467283" y="435927"/>
                  </a:lnTo>
                  <a:lnTo>
                    <a:pt x="454507" y="411467"/>
                  </a:lnTo>
                  <a:lnTo>
                    <a:pt x="445630" y="394512"/>
                  </a:lnTo>
                  <a:lnTo>
                    <a:pt x="413296" y="360489"/>
                  </a:lnTo>
                  <a:lnTo>
                    <a:pt x="379056" y="334987"/>
                  </a:lnTo>
                  <a:lnTo>
                    <a:pt x="373049" y="330504"/>
                  </a:lnTo>
                  <a:lnTo>
                    <a:pt x="327672" y="301231"/>
                  </a:lnTo>
                  <a:lnTo>
                    <a:pt x="283260" y="326466"/>
                  </a:lnTo>
                  <a:lnTo>
                    <a:pt x="240855" y="334987"/>
                  </a:lnTo>
                  <a:lnTo>
                    <a:pt x="197446" y="326313"/>
                  </a:lnTo>
                  <a:lnTo>
                    <a:pt x="150037" y="299961"/>
                  </a:lnTo>
                  <a:lnTo>
                    <a:pt x="104724" y="329501"/>
                  </a:lnTo>
                  <a:lnTo>
                    <a:pt x="64262" y="359384"/>
                  </a:lnTo>
                  <a:lnTo>
                    <a:pt x="31521" y="393166"/>
                  </a:lnTo>
                  <a:lnTo>
                    <a:pt x="9423" y="434454"/>
                  </a:lnTo>
                  <a:lnTo>
                    <a:pt x="889" y="486778"/>
                  </a:lnTo>
                  <a:lnTo>
                    <a:pt x="0" y="492620"/>
                  </a:lnTo>
                  <a:lnTo>
                    <a:pt x="4902" y="498081"/>
                  </a:lnTo>
                  <a:lnTo>
                    <a:pt x="470585" y="498081"/>
                  </a:lnTo>
                  <a:lnTo>
                    <a:pt x="475488" y="493509"/>
                  </a:lnTo>
                  <a:lnTo>
                    <a:pt x="475488" y="488048"/>
                  </a:lnTo>
                  <a:close/>
                </a:path>
              </a:pathLst>
            </a:custGeom>
            <a:solidFill>
              <a:schemeClr val="bg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4" name="Group 73">
            <a:extLst>
              <a:ext uri="{FF2B5EF4-FFF2-40B4-BE49-F238E27FC236}">
                <a16:creationId xmlns:a16="http://schemas.microsoft.com/office/drawing/2014/main" id="{B5001AE9-147C-A3D2-C6AF-E8C567C6A9B5}"/>
              </a:ext>
            </a:extLst>
          </p:cNvPr>
          <p:cNvGrpSpPr/>
          <p:nvPr/>
        </p:nvGrpSpPr>
        <p:grpSpPr>
          <a:xfrm>
            <a:off x="365124" y="2229673"/>
            <a:ext cx="11457432" cy="625295"/>
            <a:chOff x="365124" y="1996896"/>
            <a:chExt cx="11457432" cy="625295"/>
          </a:xfrm>
        </p:grpSpPr>
        <p:sp>
          <p:nvSpPr>
            <p:cNvPr id="9" name="object 8">
              <a:extLst>
                <a:ext uri="{FF2B5EF4-FFF2-40B4-BE49-F238E27FC236}">
                  <a16:creationId xmlns:a16="http://schemas.microsoft.com/office/drawing/2014/main" id="{61518888-9C34-C416-A19E-363B05F15731}"/>
                </a:ext>
              </a:extLst>
            </p:cNvPr>
            <p:cNvSpPr txBox="1"/>
            <p:nvPr/>
          </p:nvSpPr>
          <p:spPr>
            <a:xfrm>
              <a:off x="1077102" y="1996896"/>
              <a:ext cx="10745454" cy="625295"/>
            </a:xfrm>
            <a:prstGeom prst="rect">
              <a:avLst/>
            </a:prstGeom>
            <a:solidFill>
              <a:schemeClr val="bg2">
                <a:lumMod val="20000"/>
                <a:lumOff val="80000"/>
              </a:schemeClr>
            </a:solidFill>
            <a:ln w="9525">
              <a:noFill/>
            </a:ln>
          </p:spPr>
          <p:txBody>
            <a:bodyPr vert="horz" wrap="square" lIns="0" tIns="0" rIns="0" bIns="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dirty="0">
                  <a:ln>
                    <a:noFill/>
                  </a:ln>
                  <a:solidFill>
                    <a:srgbClr val="000000"/>
                  </a:solidFill>
                  <a:effectLst/>
                  <a:uLnTx/>
                  <a:uFillTx/>
                  <a:latin typeface="Arial"/>
                  <a:ea typeface="+mn-ea"/>
                  <a:cs typeface="Arial"/>
                </a:rPr>
                <a:t>For accurate assessment of COPD, validated and comprehensive health status questionnaires can be used to assess the severity of symptoms and their impact on overall health and quality of life</a:t>
              </a:r>
              <a:r>
                <a:rPr kumimoji="0" lang="en-US" sz="1200" b="1" i="0" u="none" strike="noStrike" kern="1200" cap="none" spc="-5" normalizeH="0" baseline="30000" noProof="0" dirty="0">
                  <a:ln>
                    <a:noFill/>
                  </a:ln>
                  <a:solidFill>
                    <a:srgbClr val="000000"/>
                  </a:solidFill>
                  <a:effectLst/>
                  <a:uLnTx/>
                  <a:uFillTx/>
                  <a:latin typeface="Arial"/>
                  <a:ea typeface="+mn-ea"/>
                  <a:cs typeface="Arial"/>
                </a:rPr>
                <a:t>1</a:t>
              </a:r>
            </a:p>
          </p:txBody>
        </p:sp>
        <p:sp>
          <p:nvSpPr>
            <p:cNvPr id="204" name="object 7">
              <a:extLst>
                <a:ext uri="{FF2B5EF4-FFF2-40B4-BE49-F238E27FC236}">
                  <a16:creationId xmlns:a16="http://schemas.microsoft.com/office/drawing/2014/main" id="{52EFF967-2972-8EBA-B782-6D7F091ADF57}"/>
                </a:ext>
              </a:extLst>
            </p:cNvPr>
            <p:cNvSpPr/>
            <p:nvPr/>
          </p:nvSpPr>
          <p:spPr>
            <a:xfrm>
              <a:off x="365124" y="1996896"/>
              <a:ext cx="705618"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2"/>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5" name="Right Triangle 204">
              <a:extLst>
                <a:ext uri="{FF2B5EF4-FFF2-40B4-BE49-F238E27FC236}">
                  <a16:creationId xmlns:a16="http://schemas.microsoft.com/office/drawing/2014/main" id="{31FE5245-2A20-EAFC-5933-7C5D327E8872}"/>
                </a:ext>
              </a:extLst>
            </p:cNvPr>
            <p:cNvSpPr/>
            <p:nvPr/>
          </p:nvSpPr>
          <p:spPr bwMode="auto">
            <a:xfrm flipH="1">
              <a:off x="936131" y="2481230"/>
              <a:ext cx="134611" cy="134611"/>
            </a:xfrm>
            <a:prstGeom prst="rtTriangle">
              <a:avLst/>
            </a:prstGeom>
            <a:solidFill>
              <a:schemeClr val="accent2">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41" name="object 27">
              <a:extLst>
                <a:ext uri="{FF2B5EF4-FFF2-40B4-BE49-F238E27FC236}">
                  <a16:creationId xmlns:a16="http://schemas.microsoft.com/office/drawing/2014/main" id="{F34D9492-6254-866B-68BD-370E204DB022}"/>
                </a:ext>
              </a:extLst>
            </p:cNvPr>
            <p:cNvSpPr>
              <a:spLocks noChangeAspect="1"/>
            </p:cNvSpPr>
            <p:nvPr/>
          </p:nvSpPr>
          <p:spPr>
            <a:xfrm>
              <a:off x="529485" y="2109916"/>
              <a:ext cx="376896" cy="391596"/>
            </a:xfrm>
            <a:custGeom>
              <a:avLst/>
              <a:gdLst/>
              <a:ahLst/>
              <a:cxnLst/>
              <a:rect l="l" t="t" r="r" b="b"/>
              <a:pathLst>
                <a:path w="501650" h="497205">
                  <a:moveTo>
                    <a:pt x="181356" y="344436"/>
                  </a:moveTo>
                  <a:lnTo>
                    <a:pt x="92964" y="344436"/>
                  </a:lnTo>
                  <a:lnTo>
                    <a:pt x="92964" y="431292"/>
                  </a:lnTo>
                  <a:lnTo>
                    <a:pt x="181356" y="431292"/>
                  </a:lnTo>
                  <a:lnTo>
                    <a:pt x="181356" y="344436"/>
                  </a:lnTo>
                  <a:close/>
                </a:path>
                <a:path w="501650" h="497205">
                  <a:moveTo>
                    <a:pt x="181356" y="198120"/>
                  </a:moveTo>
                  <a:lnTo>
                    <a:pt x="92964" y="198120"/>
                  </a:lnTo>
                  <a:lnTo>
                    <a:pt x="92964" y="286512"/>
                  </a:lnTo>
                  <a:lnTo>
                    <a:pt x="181356" y="286512"/>
                  </a:lnTo>
                  <a:lnTo>
                    <a:pt x="181356" y="198120"/>
                  </a:lnTo>
                  <a:close/>
                </a:path>
                <a:path w="501650" h="497205">
                  <a:moveTo>
                    <a:pt x="330695" y="53340"/>
                  </a:moveTo>
                  <a:lnTo>
                    <a:pt x="92964" y="53340"/>
                  </a:lnTo>
                  <a:lnTo>
                    <a:pt x="92964" y="140208"/>
                  </a:lnTo>
                  <a:lnTo>
                    <a:pt x="330695" y="140208"/>
                  </a:lnTo>
                  <a:lnTo>
                    <a:pt x="330695" y="53340"/>
                  </a:lnTo>
                  <a:close/>
                </a:path>
                <a:path w="501650" h="497205">
                  <a:moveTo>
                    <a:pt x="438912" y="415163"/>
                  </a:moveTo>
                  <a:lnTo>
                    <a:pt x="435292" y="411480"/>
                  </a:lnTo>
                  <a:lnTo>
                    <a:pt x="213601" y="411480"/>
                  </a:lnTo>
                  <a:lnTo>
                    <a:pt x="208788" y="415163"/>
                  </a:lnTo>
                  <a:lnTo>
                    <a:pt x="208788" y="426339"/>
                  </a:lnTo>
                  <a:lnTo>
                    <a:pt x="213601" y="431292"/>
                  </a:lnTo>
                  <a:lnTo>
                    <a:pt x="218427" y="431292"/>
                  </a:lnTo>
                  <a:lnTo>
                    <a:pt x="435292" y="431292"/>
                  </a:lnTo>
                  <a:lnTo>
                    <a:pt x="438912" y="426339"/>
                  </a:lnTo>
                  <a:lnTo>
                    <a:pt x="438912" y="415163"/>
                  </a:lnTo>
                  <a:close/>
                </a:path>
                <a:path w="501650" h="497205">
                  <a:moveTo>
                    <a:pt x="438912" y="344805"/>
                  </a:moveTo>
                  <a:lnTo>
                    <a:pt x="435292" y="339852"/>
                  </a:lnTo>
                  <a:lnTo>
                    <a:pt x="213601" y="339852"/>
                  </a:lnTo>
                  <a:lnTo>
                    <a:pt x="208788" y="344805"/>
                  </a:lnTo>
                  <a:lnTo>
                    <a:pt x="208788" y="355981"/>
                  </a:lnTo>
                  <a:lnTo>
                    <a:pt x="213601" y="359664"/>
                  </a:lnTo>
                  <a:lnTo>
                    <a:pt x="218427" y="359664"/>
                  </a:lnTo>
                  <a:lnTo>
                    <a:pt x="435292" y="359664"/>
                  </a:lnTo>
                  <a:lnTo>
                    <a:pt x="438912" y="355981"/>
                  </a:lnTo>
                  <a:lnTo>
                    <a:pt x="438912" y="344805"/>
                  </a:lnTo>
                  <a:close/>
                </a:path>
                <a:path w="501650" h="497205">
                  <a:moveTo>
                    <a:pt x="438912" y="275844"/>
                  </a:moveTo>
                  <a:lnTo>
                    <a:pt x="435292" y="271272"/>
                  </a:lnTo>
                  <a:lnTo>
                    <a:pt x="213601" y="271272"/>
                  </a:lnTo>
                  <a:lnTo>
                    <a:pt x="208788" y="275844"/>
                  </a:lnTo>
                  <a:lnTo>
                    <a:pt x="208788" y="284988"/>
                  </a:lnTo>
                  <a:lnTo>
                    <a:pt x="213601" y="289560"/>
                  </a:lnTo>
                  <a:lnTo>
                    <a:pt x="218427" y="289560"/>
                  </a:lnTo>
                  <a:lnTo>
                    <a:pt x="435292" y="289560"/>
                  </a:lnTo>
                  <a:lnTo>
                    <a:pt x="438912" y="284988"/>
                  </a:lnTo>
                  <a:lnTo>
                    <a:pt x="438912" y="275844"/>
                  </a:lnTo>
                  <a:close/>
                </a:path>
                <a:path w="501650" h="497205">
                  <a:moveTo>
                    <a:pt x="438912" y="204597"/>
                  </a:moveTo>
                  <a:lnTo>
                    <a:pt x="435292" y="201168"/>
                  </a:lnTo>
                  <a:lnTo>
                    <a:pt x="213601" y="201168"/>
                  </a:lnTo>
                  <a:lnTo>
                    <a:pt x="208788" y="204597"/>
                  </a:lnTo>
                  <a:lnTo>
                    <a:pt x="208788" y="214884"/>
                  </a:lnTo>
                  <a:lnTo>
                    <a:pt x="213601" y="219456"/>
                  </a:lnTo>
                  <a:lnTo>
                    <a:pt x="218427" y="219456"/>
                  </a:lnTo>
                  <a:lnTo>
                    <a:pt x="435292" y="219456"/>
                  </a:lnTo>
                  <a:lnTo>
                    <a:pt x="438912" y="214884"/>
                  </a:lnTo>
                  <a:lnTo>
                    <a:pt x="438912" y="204597"/>
                  </a:lnTo>
                  <a:close/>
                </a:path>
                <a:path w="501650" h="497205">
                  <a:moveTo>
                    <a:pt x="501396" y="127762"/>
                  </a:moveTo>
                  <a:lnTo>
                    <a:pt x="482117" y="108483"/>
                  </a:lnTo>
                  <a:lnTo>
                    <a:pt x="482117" y="135636"/>
                  </a:lnTo>
                  <a:lnTo>
                    <a:pt x="482117" y="438912"/>
                  </a:lnTo>
                  <a:lnTo>
                    <a:pt x="479132" y="453631"/>
                  </a:lnTo>
                  <a:lnTo>
                    <a:pt x="470966" y="465937"/>
                  </a:lnTo>
                  <a:lnTo>
                    <a:pt x="458724" y="474383"/>
                  </a:lnTo>
                  <a:lnTo>
                    <a:pt x="443547" y="477520"/>
                  </a:lnTo>
                  <a:lnTo>
                    <a:pt x="57848" y="477520"/>
                  </a:lnTo>
                  <a:lnTo>
                    <a:pt x="43167" y="474383"/>
                  </a:lnTo>
                  <a:lnTo>
                    <a:pt x="30873" y="465937"/>
                  </a:lnTo>
                  <a:lnTo>
                    <a:pt x="22415" y="453631"/>
                  </a:lnTo>
                  <a:lnTo>
                    <a:pt x="19278" y="438912"/>
                  </a:lnTo>
                  <a:lnTo>
                    <a:pt x="19278" y="19304"/>
                  </a:lnTo>
                  <a:lnTo>
                    <a:pt x="39624" y="19304"/>
                  </a:lnTo>
                  <a:lnTo>
                    <a:pt x="39624" y="436880"/>
                  </a:lnTo>
                  <a:lnTo>
                    <a:pt x="39624" y="441706"/>
                  </a:lnTo>
                  <a:lnTo>
                    <a:pt x="44958" y="446532"/>
                  </a:lnTo>
                  <a:lnTo>
                    <a:pt x="56959" y="446532"/>
                  </a:lnTo>
                  <a:lnTo>
                    <a:pt x="60960" y="441706"/>
                  </a:lnTo>
                  <a:lnTo>
                    <a:pt x="60960" y="19304"/>
                  </a:lnTo>
                  <a:lnTo>
                    <a:pt x="359664" y="19304"/>
                  </a:lnTo>
                  <a:lnTo>
                    <a:pt x="359664" y="135636"/>
                  </a:lnTo>
                  <a:lnTo>
                    <a:pt x="482117" y="135636"/>
                  </a:lnTo>
                  <a:lnTo>
                    <a:pt x="482117" y="108483"/>
                  </a:lnTo>
                  <a:lnTo>
                    <a:pt x="454050" y="80416"/>
                  </a:lnTo>
                  <a:lnTo>
                    <a:pt x="454050" y="106946"/>
                  </a:lnTo>
                  <a:lnTo>
                    <a:pt x="365315" y="19304"/>
                  </a:lnTo>
                  <a:lnTo>
                    <a:pt x="366407" y="19304"/>
                  </a:lnTo>
                  <a:lnTo>
                    <a:pt x="454050" y="106946"/>
                  </a:lnTo>
                  <a:lnTo>
                    <a:pt x="454050" y="80416"/>
                  </a:lnTo>
                  <a:lnTo>
                    <a:pt x="392938" y="19304"/>
                  </a:lnTo>
                  <a:lnTo>
                    <a:pt x="389255" y="15621"/>
                  </a:lnTo>
                  <a:lnTo>
                    <a:pt x="373634" y="0"/>
                  </a:lnTo>
                  <a:lnTo>
                    <a:pt x="370014" y="0"/>
                  </a:lnTo>
                  <a:lnTo>
                    <a:pt x="56959" y="0"/>
                  </a:lnTo>
                  <a:lnTo>
                    <a:pt x="44958" y="0"/>
                  </a:lnTo>
                  <a:lnTo>
                    <a:pt x="0" y="0"/>
                  </a:lnTo>
                  <a:lnTo>
                    <a:pt x="0" y="438912"/>
                  </a:lnTo>
                  <a:lnTo>
                    <a:pt x="4622" y="461200"/>
                  </a:lnTo>
                  <a:lnTo>
                    <a:pt x="17170" y="479640"/>
                  </a:lnTo>
                  <a:lnTo>
                    <a:pt x="35585" y="492188"/>
                  </a:lnTo>
                  <a:lnTo>
                    <a:pt x="57848" y="496824"/>
                  </a:lnTo>
                  <a:lnTo>
                    <a:pt x="443547" y="496824"/>
                  </a:lnTo>
                  <a:lnTo>
                    <a:pt x="466305" y="492188"/>
                  </a:lnTo>
                  <a:lnTo>
                    <a:pt x="484670" y="479640"/>
                  </a:lnTo>
                  <a:lnTo>
                    <a:pt x="486067" y="477520"/>
                  </a:lnTo>
                  <a:lnTo>
                    <a:pt x="496925" y="461200"/>
                  </a:lnTo>
                  <a:lnTo>
                    <a:pt x="501396" y="438912"/>
                  </a:lnTo>
                  <a:lnTo>
                    <a:pt x="501396" y="127762"/>
                  </a:lnTo>
                  <a:close/>
                </a:path>
              </a:pathLst>
            </a:custGeom>
            <a:solidFill>
              <a:schemeClr val="bg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1" name="Group 70">
            <a:extLst>
              <a:ext uri="{FF2B5EF4-FFF2-40B4-BE49-F238E27FC236}">
                <a16:creationId xmlns:a16="http://schemas.microsoft.com/office/drawing/2014/main" id="{D7A73AB8-20F6-5DF3-B16F-449FA926AFEC}"/>
              </a:ext>
            </a:extLst>
          </p:cNvPr>
          <p:cNvGrpSpPr/>
          <p:nvPr/>
        </p:nvGrpSpPr>
        <p:grpSpPr>
          <a:xfrm>
            <a:off x="365124" y="3745939"/>
            <a:ext cx="11457432" cy="625295"/>
            <a:chOff x="365124" y="3345658"/>
            <a:chExt cx="11457432" cy="625295"/>
          </a:xfrm>
        </p:grpSpPr>
        <p:sp>
          <p:nvSpPr>
            <p:cNvPr id="10" name="object 10">
              <a:extLst>
                <a:ext uri="{FF2B5EF4-FFF2-40B4-BE49-F238E27FC236}">
                  <a16:creationId xmlns:a16="http://schemas.microsoft.com/office/drawing/2014/main" id="{2EDDC6A0-123F-FF6F-48AC-BEAB85B3D081}"/>
                </a:ext>
              </a:extLst>
            </p:cNvPr>
            <p:cNvSpPr txBox="1"/>
            <p:nvPr/>
          </p:nvSpPr>
          <p:spPr>
            <a:xfrm>
              <a:off x="1077102" y="3345658"/>
              <a:ext cx="10745454" cy="625295"/>
            </a:xfrm>
            <a:prstGeom prst="rect">
              <a:avLst/>
            </a:prstGeom>
            <a:solidFill>
              <a:schemeClr val="bg2">
                <a:lumMod val="20000"/>
                <a:lumOff val="80000"/>
              </a:schemeClr>
            </a:solidFill>
            <a:ln w="9525">
              <a:noFill/>
            </a:ln>
          </p:spPr>
          <p:txBody>
            <a:bodyPr vert="horz" wrap="square" lIns="0" tIns="0" rIns="0" bIns="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dirty="0">
                  <a:ln>
                    <a:noFill/>
                  </a:ln>
                  <a:solidFill>
                    <a:srgbClr val="000000"/>
                  </a:solidFill>
                  <a:effectLst/>
                  <a:uLnTx/>
                  <a:uFillTx/>
                  <a:latin typeface="Arial"/>
                  <a:ea typeface="+mn-ea"/>
                  <a:cs typeface="Arial"/>
                </a:rPr>
                <a:t>Frequent monitoring of patients helps to modify management and identify the complications or comorbidities that may develop during the disease</a:t>
              </a:r>
              <a:r>
                <a:rPr kumimoji="0" lang="en-US" sz="1200" b="1" i="0" u="none" strike="noStrike" kern="1200" cap="none" spc="-5" normalizeH="0" baseline="30000" noProof="0" dirty="0">
                  <a:ln>
                    <a:noFill/>
                  </a:ln>
                  <a:solidFill>
                    <a:srgbClr val="000000"/>
                  </a:solidFill>
                  <a:effectLst/>
                  <a:uLnTx/>
                  <a:uFillTx/>
                  <a:latin typeface="Arial"/>
                  <a:ea typeface="+mn-ea"/>
                  <a:cs typeface="Arial"/>
                </a:rPr>
                <a:t>1</a:t>
              </a:r>
            </a:p>
          </p:txBody>
        </p:sp>
        <p:sp>
          <p:nvSpPr>
            <p:cNvPr id="210" name="object 7">
              <a:extLst>
                <a:ext uri="{FF2B5EF4-FFF2-40B4-BE49-F238E27FC236}">
                  <a16:creationId xmlns:a16="http://schemas.microsoft.com/office/drawing/2014/main" id="{60273825-6D23-5A45-3202-3197DE9B3BE3}"/>
                </a:ext>
              </a:extLst>
            </p:cNvPr>
            <p:cNvSpPr/>
            <p:nvPr/>
          </p:nvSpPr>
          <p:spPr>
            <a:xfrm>
              <a:off x="365124" y="3346967"/>
              <a:ext cx="705618"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4"/>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1" name="Right Triangle 210">
              <a:extLst>
                <a:ext uri="{FF2B5EF4-FFF2-40B4-BE49-F238E27FC236}">
                  <a16:creationId xmlns:a16="http://schemas.microsoft.com/office/drawing/2014/main" id="{9B645FD5-394A-6142-6ADE-882CAE09782E}"/>
                </a:ext>
              </a:extLst>
            </p:cNvPr>
            <p:cNvSpPr/>
            <p:nvPr/>
          </p:nvSpPr>
          <p:spPr bwMode="auto">
            <a:xfrm flipH="1">
              <a:off x="936131" y="3829992"/>
              <a:ext cx="134611" cy="134611"/>
            </a:xfrm>
            <a:prstGeom prst="rtTriangle">
              <a:avLst/>
            </a:prstGeom>
            <a:solidFill>
              <a:schemeClr val="accent4">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42" name="Freeform: Shape 41">
              <a:extLst>
                <a:ext uri="{FF2B5EF4-FFF2-40B4-BE49-F238E27FC236}">
                  <a16:creationId xmlns:a16="http://schemas.microsoft.com/office/drawing/2014/main" id="{26CD1BA0-AB3F-C90B-C3CD-C1FE74C5F143}"/>
                </a:ext>
              </a:extLst>
            </p:cNvPr>
            <p:cNvSpPr>
              <a:spLocks noChangeAspect="1"/>
            </p:cNvSpPr>
            <p:nvPr/>
          </p:nvSpPr>
          <p:spPr>
            <a:xfrm>
              <a:off x="507717" y="3435405"/>
              <a:ext cx="402327" cy="402336"/>
            </a:xfrm>
            <a:custGeom>
              <a:avLst/>
              <a:gdLst>
                <a:gd name="connsiteX0" fmla="*/ 2408868 w 4828026"/>
                <a:gd name="connsiteY0" fmla="*/ 0 h 4828140"/>
                <a:gd name="connsiteX1" fmla="*/ 2245795 w 4828026"/>
                <a:gd name="connsiteY1" fmla="*/ 166248 h 4828140"/>
                <a:gd name="connsiteX2" fmla="*/ 2245795 w 4828026"/>
                <a:gd name="connsiteY2" fmla="*/ 1748192 h 4828140"/>
                <a:gd name="connsiteX3" fmla="*/ 2024399 w 4828026"/>
                <a:gd name="connsiteY3" fmla="*/ 1991553 h 4828140"/>
                <a:gd name="connsiteX4" fmla="*/ 2081036 w 4828026"/>
                <a:gd name="connsiteY4" fmla="*/ 889571 h 4828140"/>
                <a:gd name="connsiteX5" fmla="*/ 1876785 w 4828026"/>
                <a:gd name="connsiteY5" fmla="*/ 719884 h 4828140"/>
                <a:gd name="connsiteX6" fmla="*/ 301209 w 4828026"/>
                <a:gd name="connsiteY6" fmla="*/ 2298400 h 4828140"/>
                <a:gd name="connsiteX7" fmla="*/ 110703 w 4828026"/>
                <a:gd name="connsiteY7" fmla="*/ 4706440 h 4828140"/>
                <a:gd name="connsiteX8" fmla="*/ 268604 w 4828026"/>
                <a:gd name="connsiteY8" fmla="*/ 4828140 h 4828140"/>
                <a:gd name="connsiteX9" fmla="*/ 1214293 w 4828026"/>
                <a:gd name="connsiteY9" fmla="*/ 4526496 h 4828140"/>
                <a:gd name="connsiteX10" fmla="*/ 2026113 w 4828026"/>
                <a:gd name="connsiteY10" fmla="*/ 3832388 h 4828140"/>
                <a:gd name="connsiteX11" fmla="*/ 2010653 w 4828026"/>
                <a:gd name="connsiteY11" fmla="*/ 2497233 h 4828140"/>
                <a:gd name="connsiteX12" fmla="*/ 2410573 w 4828026"/>
                <a:gd name="connsiteY12" fmla="*/ 2056744 h 4828140"/>
                <a:gd name="connsiteX13" fmla="*/ 2819064 w 4828026"/>
                <a:gd name="connsiteY13" fmla="*/ 2504081 h 4828140"/>
                <a:gd name="connsiteX14" fmla="*/ 2801919 w 4828026"/>
                <a:gd name="connsiteY14" fmla="*/ 3832378 h 4828140"/>
                <a:gd name="connsiteX15" fmla="*/ 3613740 w 4828026"/>
                <a:gd name="connsiteY15" fmla="*/ 4526486 h 4828140"/>
                <a:gd name="connsiteX16" fmla="*/ 4559429 w 4828026"/>
                <a:gd name="connsiteY16" fmla="*/ 4828130 h 4828140"/>
                <a:gd name="connsiteX17" fmla="*/ 4717330 w 4828026"/>
                <a:gd name="connsiteY17" fmla="*/ 4706430 h 4828140"/>
                <a:gd name="connsiteX18" fmla="*/ 4526824 w 4828026"/>
                <a:gd name="connsiteY18" fmla="*/ 2298390 h 4828140"/>
                <a:gd name="connsiteX19" fmla="*/ 2951248 w 4828026"/>
                <a:gd name="connsiteY19" fmla="*/ 719875 h 4828140"/>
                <a:gd name="connsiteX20" fmla="*/ 2746997 w 4828026"/>
                <a:gd name="connsiteY20" fmla="*/ 889561 h 4828140"/>
                <a:gd name="connsiteX21" fmla="*/ 2803634 w 4828026"/>
                <a:gd name="connsiteY21" fmla="*/ 2000165 h 4828140"/>
                <a:gd name="connsiteX22" fmla="*/ 2575351 w 4828026"/>
                <a:gd name="connsiteY22" fmla="*/ 1748232 h 4828140"/>
                <a:gd name="connsiteX23" fmla="*/ 2575351 w 4828026"/>
                <a:gd name="connsiteY23" fmla="*/ 166287 h 4828140"/>
                <a:gd name="connsiteX24" fmla="*/ 2408878 w 4828026"/>
                <a:gd name="connsiteY24" fmla="*/ 39 h 4828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828026" h="4828140">
                  <a:moveTo>
                    <a:pt x="2408868" y="0"/>
                  </a:moveTo>
                  <a:cubicBezTo>
                    <a:pt x="2322604" y="919"/>
                    <a:pt x="2244923" y="80099"/>
                    <a:pt x="2245795" y="166248"/>
                  </a:cubicBezTo>
                  <a:lnTo>
                    <a:pt x="2245795" y="1748192"/>
                  </a:lnTo>
                  <a:lnTo>
                    <a:pt x="2024399" y="1991553"/>
                  </a:lnTo>
                  <a:cubicBezTo>
                    <a:pt x="2039094" y="1624886"/>
                    <a:pt x="2060521" y="1257992"/>
                    <a:pt x="2081036" y="889571"/>
                  </a:cubicBezTo>
                  <a:cubicBezTo>
                    <a:pt x="2074188" y="770624"/>
                    <a:pt x="1984328" y="706139"/>
                    <a:pt x="1876785" y="719884"/>
                  </a:cubicBezTo>
                  <a:cubicBezTo>
                    <a:pt x="1147202" y="902013"/>
                    <a:pt x="609427" y="1539474"/>
                    <a:pt x="301209" y="2298400"/>
                  </a:cubicBezTo>
                  <a:cubicBezTo>
                    <a:pt x="-7098" y="3057296"/>
                    <a:pt x="-93281" y="3949806"/>
                    <a:pt x="110703" y="4706440"/>
                  </a:cubicBezTo>
                  <a:cubicBezTo>
                    <a:pt x="129308" y="4775284"/>
                    <a:pt x="197192" y="4827601"/>
                    <a:pt x="268604" y="4828140"/>
                  </a:cubicBezTo>
                  <a:cubicBezTo>
                    <a:pt x="604881" y="4787913"/>
                    <a:pt x="922220" y="4655387"/>
                    <a:pt x="1214293" y="4526496"/>
                  </a:cubicBezTo>
                  <a:cubicBezTo>
                    <a:pt x="1515751" y="4379000"/>
                    <a:pt x="1997799" y="4175405"/>
                    <a:pt x="2026113" y="3832388"/>
                  </a:cubicBezTo>
                  <a:cubicBezTo>
                    <a:pt x="2001434" y="3388489"/>
                    <a:pt x="2000552" y="2943522"/>
                    <a:pt x="2010653" y="2497233"/>
                  </a:cubicBezTo>
                  <a:lnTo>
                    <a:pt x="2410573" y="2056744"/>
                  </a:lnTo>
                  <a:lnTo>
                    <a:pt x="2819064" y="2504081"/>
                  </a:lnTo>
                  <a:cubicBezTo>
                    <a:pt x="2828979" y="2948009"/>
                    <a:pt x="2826491" y="3390723"/>
                    <a:pt x="2801919" y="3832378"/>
                  </a:cubicBezTo>
                  <a:cubicBezTo>
                    <a:pt x="2872224" y="4218758"/>
                    <a:pt x="3322511" y="4396478"/>
                    <a:pt x="3613740" y="4526486"/>
                  </a:cubicBezTo>
                  <a:cubicBezTo>
                    <a:pt x="3925103" y="4633716"/>
                    <a:pt x="4247077" y="4824534"/>
                    <a:pt x="4559429" y="4828130"/>
                  </a:cubicBezTo>
                  <a:cubicBezTo>
                    <a:pt x="4630841" y="4827591"/>
                    <a:pt x="4698735" y="4775284"/>
                    <a:pt x="4717330" y="4706430"/>
                  </a:cubicBezTo>
                  <a:cubicBezTo>
                    <a:pt x="4921306" y="3949826"/>
                    <a:pt x="4835121" y="3057277"/>
                    <a:pt x="4526824" y="2298390"/>
                  </a:cubicBezTo>
                  <a:cubicBezTo>
                    <a:pt x="4218518" y="1539494"/>
                    <a:pt x="3680821" y="902003"/>
                    <a:pt x="2951248" y="719875"/>
                  </a:cubicBezTo>
                  <a:cubicBezTo>
                    <a:pt x="2845007" y="700055"/>
                    <a:pt x="2744548" y="808274"/>
                    <a:pt x="2746997" y="889561"/>
                  </a:cubicBezTo>
                  <a:cubicBezTo>
                    <a:pt x="2767659" y="1260892"/>
                    <a:pt x="2788899" y="1630666"/>
                    <a:pt x="2803634" y="2000165"/>
                  </a:cubicBezTo>
                  <a:lnTo>
                    <a:pt x="2575351" y="1748232"/>
                  </a:lnTo>
                  <a:lnTo>
                    <a:pt x="2575351" y="166287"/>
                  </a:lnTo>
                  <a:cubicBezTo>
                    <a:pt x="2576272" y="78992"/>
                    <a:pt x="2496288" y="-872"/>
                    <a:pt x="2408878" y="39"/>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0" name="Group 69">
            <a:extLst>
              <a:ext uri="{FF2B5EF4-FFF2-40B4-BE49-F238E27FC236}">
                <a16:creationId xmlns:a16="http://schemas.microsoft.com/office/drawing/2014/main" id="{A695E2E4-21E6-6703-21AB-E2AD2E57A5EA}"/>
              </a:ext>
            </a:extLst>
          </p:cNvPr>
          <p:cNvGrpSpPr/>
          <p:nvPr/>
        </p:nvGrpSpPr>
        <p:grpSpPr>
          <a:xfrm>
            <a:off x="365124" y="4504074"/>
            <a:ext cx="11457432" cy="625295"/>
            <a:chOff x="365124" y="4020039"/>
            <a:chExt cx="11457432" cy="625295"/>
          </a:xfrm>
        </p:grpSpPr>
        <p:sp>
          <p:nvSpPr>
            <p:cNvPr id="12" name="object 14">
              <a:extLst>
                <a:ext uri="{FF2B5EF4-FFF2-40B4-BE49-F238E27FC236}">
                  <a16:creationId xmlns:a16="http://schemas.microsoft.com/office/drawing/2014/main" id="{41ECF9B9-CE49-7E09-45B4-0772F4057D51}"/>
                </a:ext>
              </a:extLst>
            </p:cNvPr>
            <p:cNvSpPr txBox="1"/>
            <p:nvPr/>
          </p:nvSpPr>
          <p:spPr>
            <a:xfrm>
              <a:off x="1077102" y="4020039"/>
              <a:ext cx="10745454" cy="625295"/>
            </a:xfrm>
            <a:prstGeom prst="rect">
              <a:avLst/>
            </a:prstGeom>
            <a:solidFill>
              <a:schemeClr val="bg2">
                <a:lumMod val="20000"/>
                <a:lumOff val="80000"/>
              </a:schemeClr>
            </a:solidFill>
            <a:ln w="9525">
              <a:noFill/>
            </a:ln>
          </p:spPr>
          <p:txBody>
            <a:bodyPr vert="horz" wrap="square" lIns="0" tIns="0" rIns="0" bIns="0" rtlCol="0" anchor="ctr" anchorCtr="0">
              <a:noAutofit/>
            </a:bodyPr>
            <a:lstStyle/>
            <a:p>
              <a:pPr marL="72390" marR="0" lvl="0" indent="0" algn="l" defTabSz="121917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5" normalizeH="0" baseline="0" noProof="0" dirty="0">
                  <a:ln>
                    <a:noFill/>
                  </a:ln>
                  <a:solidFill>
                    <a:srgbClr val="000000"/>
                  </a:solidFill>
                  <a:effectLst/>
                  <a:uLnTx/>
                  <a:uFillTx/>
                  <a:latin typeface="Arial"/>
                  <a:ea typeface="+mn-ea"/>
                  <a:cs typeface="Arial"/>
                </a:rPr>
                <a:t>Patients often do not adhere to their prescribed treatment regimen, and more than two-thirds make at least 1 error when using an inhaler</a:t>
              </a:r>
              <a:r>
                <a:rPr kumimoji="0" lang="en-US" sz="1200" b="1" i="0" u="none" strike="noStrike" kern="1200" cap="none" spc="-5" normalizeH="0" baseline="30000" noProof="0" dirty="0">
                  <a:ln>
                    <a:noFill/>
                  </a:ln>
                  <a:solidFill>
                    <a:srgbClr val="000000"/>
                  </a:solidFill>
                  <a:effectLst/>
                  <a:uLnTx/>
                  <a:uFillTx/>
                  <a:latin typeface="Arial"/>
                  <a:ea typeface="+mn-ea"/>
                  <a:cs typeface="Arial"/>
                </a:rPr>
                <a:t>1,2</a:t>
              </a:r>
            </a:p>
          </p:txBody>
        </p:sp>
        <p:sp>
          <p:nvSpPr>
            <p:cNvPr id="213" name="object 7">
              <a:extLst>
                <a:ext uri="{FF2B5EF4-FFF2-40B4-BE49-F238E27FC236}">
                  <a16:creationId xmlns:a16="http://schemas.microsoft.com/office/drawing/2014/main" id="{DA6E5A92-ED8B-F618-5322-6EBD8DC28805}"/>
                </a:ext>
              </a:extLst>
            </p:cNvPr>
            <p:cNvSpPr/>
            <p:nvPr/>
          </p:nvSpPr>
          <p:spPr>
            <a:xfrm>
              <a:off x="365124" y="4021348"/>
              <a:ext cx="705618"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5"/>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14" name="Right Triangle 213">
              <a:extLst>
                <a:ext uri="{FF2B5EF4-FFF2-40B4-BE49-F238E27FC236}">
                  <a16:creationId xmlns:a16="http://schemas.microsoft.com/office/drawing/2014/main" id="{5AA6D2FA-C549-603D-ADC2-FBBC5DD17AEB}"/>
                </a:ext>
              </a:extLst>
            </p:cNvPr>
            <p:cNvSpPr/>
            <p:nvPr/>
          </p:nvSpPr>
          <p:spPr bwMode="auto">
            <a:xfrm flipH="1">
              <a:off x="936131" y="4504373"/>
              <a:ext cx="134611" cy="134611"/>
            </a:xfrm>
            <a:prstGeom prst="rtTriangle">
              <a:avLst/>
            </a:prstGeom>
            <a:solidFill>
              <a:schemeClr val="accent5">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22" name="object 24">
              <a:extLst>
                <a:ext uri="{FF2B5EF4-FFF2-40B4-BE49-F238E27FC236}">
                  <a16:creationId xmlns:a16="http://schemas.microsoft.com/office/drawing/2014/main" id="{D2B3DB6C-C1A8-9CD4-D299-9C0EB03C29CE}"/>
                </a:ext>
              </a:extLst>
            </p:cNvPr>
            <p:cNvSpPr>
              <a:spLocks noChangeAspect="1"/>
            </p:cNvSpPr>
            <p:nvPr/>
          </p:nvSpPr>
          <p:spPr>
            <a:xfrm>
              <a:off x="554854" y="4107774"/>
              <a:ext cx="326159" cy="444785"/>
            </a:xfrm>
            <a:custGeom>
              <a:avLst/>
              <a:gdLst/>
              <a:ahLst/>
              <a:cxnLst/>
              <a:rect l="l" t="t" r="r" b="b"/>
              <a:pathLst>
                <a:path w="358775" h="466725">
                  <a:moveTo>
                    <a:pt x="119674" y="0"/>
                  </a:moveTo>
                  <a:lnTo>
                    <a:pt x="109489" y="0"/>
                  </a:lnTo>
                  <a:lnTo>
                    <a:pt x="25554" y="14224"/>
                  </a:lnTo>
                  <a:lnTo>
                    <a:pt x="18878" y="17256"/>
                  </a:lnTo>
                  <a:lnTo>
                    <a:pt x="14107" y="22288"/>
                  </a:lnTo>
                  <a:lnTo>
                    <a:pt x="11244" y="28654"/>
                  </a:lnTo>
                  <a:lnTo>
                    <a:pt x="10289" y="35687"/>
                  </a:lnTo>
                  <a:lnTo>
                    <a:pt x="17922" y="76200"/>
                  </a:lnTo>
                  <a:lnTo>
                    <a:pt x="15382" y="78486"/>
                  </a:lnTo>
                  <a:lnTo>
                    <a:pt x="8348" y="80123"/>
                  </a:lnTo>
                  <a:lnTo>
                    <a:pt x="2982" y="84439"/>
                  </a:lnTo>
                  <a:lnTo>
                    <a:pt x="0" y="90541"/>
                  </a:lnTo>
                  <a:lnTo>
                    <a:pt x="116" y="97536"/>
                  </a:lnTo>
                  <a:lnTo>
                    <a:pt x="66258" y="452069"/>
                  </a:lnTo>
                  <a:lnTo>
                    <a:pt x="68798" y="461581"/>
                  </a:lnTo>
                  <a:lnTo>
                    <a:pt x="76431" y="466344"/>
                  </a:lnTo>
                  <a:lnTo>
                    <a:pt x="251932" y="466344"/>
                  </a:lnTo>
                  <a:lnTo>
                    <a:pt x="251932" y="452069"/>
                  </a:lnTo>
                  <a:lnTo>
                    <a:pt x="338419" y="452069"/>
                  </a:lnTo>
                  <a:lnTo>
                    <a:pt x="345890" y="450432"/>
                  </a:lnTo>
                  <a:lnTo>
                    <a:pt x="352406" y="446117"/>
                  </a:lnTo>
                  <a:lnTo>
                    <a:pt x="357016" y="440019"/>
                  </a:lnTo>
                  <a:lnTo>
                    <a:pt x="358764" y="433031"/>
                  </a:lnTo>
                  <a:lnTo>
                    <a:pt x="251932" y="433031"/>
                  </a:lnTo>
                  <a:lnTo>
                    <a:pt x="251932" y="342620"/>
                  </a:lnTo>
                  <a:lnTo>
                    <a:pt x="358764" y="342620"/>
                  </a:lnTo>
                  <a:lnTo>
                    <a:pt x="357016" y="336004"/>
                  </a:lnTo>
                  <a:lnTo>
                    <a:pt x="352406" y="330722"/>
                  </a:lnTo>
                  <a:lnTo>
                    <a:pt x="345890" y="327224"/>
                  </a:lnTo>
                  <a:lnTo>
                    <a:pt x="338419" y="325958"/>
                  </a:lnTo>
                  <a:lnTo>
                    <a:pt x="251932" y="325958"/>
                  </a:lnTo>
                  <a:lnTo>
                    <a:pt x="251932" y="311683"/>
                  </a:lnTo>
                  <a:lnTo>
                    <a:pt x="208688" y="311683"/>
                  </a:lnTo>
                  <a:lnTo>
                    <a:pt x="163365" y="73787"/>
                  </a:lnTo>
                  <a:lnTo>
                    <a:pt x="38280" y="73787"/>
                  </a:lnTo>
                  <a:lnTo>
                    <a:pt x="30647" y="30988"/>
                  </a:lnTo>
                  <a:lnTo>
                    <a:pt x="112041" y="19050"/>
                  </a:lnTo>
                  <a:lnTo>
                    <a:pt x="130704" y="19050"/>
                  </a:lnTo>
                  <a:lnTo>
                    <a:pt x="129847" y="14224"/>
                  </a:lnTo>
                  <a:lnTo>
                    <a:pt x="129847" y="7112"/>
                  </a:lnTo>
                  <a:lnTo>
                    <a:pt x="119674" y="0"/>
                  </a:lnTo>
                  <a:close/>
                </a:path>
                <a:path w="358775" h="466725">
                  <a:moveTo>
                    <a:pt x="358764" y="342620"/>
                  </a:moveTo>
                  <a:lnTo>
                    <a:pt x="338419" y="342620"/>
                  </a:lnTo>
                  <a:lnTo>
                    <a:pt x="338419" y="433031"/>
                  </a:lnTo>
                  <a:lnTo>
                    <a:pt x="358764" y="433031"/>
                  </a:lnTo>
                  <a:lnTo>
                    <a:pt x="358764" y="342620"/>
                  </a:lnTo>
                  <a:close/>
                </a:path>
                <a:path w="358775" h="466725">
                  <a:moveTo>
                    <a:pt x="130704" y="19050"/>
                  </a:moveTo>
                  <a:lnTo>
                    <a:pt x="112041" y="19050"/>
                  </a:lnTo>
                  <a:lnTo>
                    <a:pt x="119674" y="59436"/>
                  </a:lnTo>
                  <a:lnTo>
                    <a:pt x="38280" y="73787"/>
                  </a:lnTo>
                  <a:lnTo>
                    <a:pt x="163365" y="73787"/>
                  </a:lnTo>
                  <a:lnTo>
                    <a:pt x="162905" y="71374"/>
                  </a:lnTo>
                  <a:lnTo>
                    <a:pt x="161157" y="64793"/>
                  </a:lnTo>
                  <a:lnTo>
                    <a:pt x="156547" y="59785"/>
                  </a:lnTo>
                  <a:lnTo>
                    <a:pt x="150348" y="57150"/>
                  </a:lnTo>
                  <a:lnTo>
                    <a:pt x="137467" y="57150"/>
                  </a:lnTo>
                  <a:lnTo>
                    <a:pt x="130704" y="19050"/>
                  </a:lnTo>
                  <a:close/>
                </a:path>
                <a:path w="358775" h="466725">
                  <a:moveTo>
                    <a:pt x="150030" y="57015"/>
                  </a:moveTo>
                  <a:lnTo>
                    <a:pt x="142560" y="57150"/>
                  </a:lnTo>
                  <a:lnTo>
                    <a:pt x="150348" y="57150"/>
                  </a:lnTo>
                  <a:lnTo>
                    <a:pt x="150030" y="57015"/>
                  </a:lnTo>
                  <a:close/>
                </a:path>
              </a:pathLst>
            </a:custGeom>
            <a:solidFill>
              <a:schemeClr val="bg1"/>
            </a:solidFill>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grpSp>
      <p:grpSp>
        <p:nvGrpSpPr>
          <p:cNvPr id="75" name="Group 74">
            <a:extLst>
              <a:ext uri="{FF2B5EF4-FFF2-40B4-BE49-F238E27FC236}">
                <a16:creationId xmlns:a16="http://schemas.microsoft.com/office/drawing/2014/main" id="{919C77D7-9026-D1C2-949C-A275704E28FC}"/>
              </a:ext>
            </a:extLst>
          </p:cNvPr>
          <p:cNvGrpSpPr/>
          <p:nvPr/>
        </p:nvGrpSpPr>
        <p:grpSpPr>
          <a:xfrm>
            <a:off x="365124" y="1471540"/>
            <a:ext cx="11457691" cy="625295"/>
            <a:chOff x="365124" y="1322515"/>
            <a:chExt cx="11457691" cy="625295"/>
          </a:xfrm>
        </p:grpSpPr>
        <p:sp>
          <p:nvSpPr>
            <p:cNvPr id="8" name="object 6">
              <a:extLst>
                <a:ext uri="{FF2B5EF4-FFF2-40B4-BE49-F238E27FC236}">
                  <a16:creationId xmlns:a16="http://schemas.microsoft.com/office/drawing/2014/main" id="{60DB2BBF-1B10-C7F8-27AF-860021285BA6}"/>
                </a:ext>
              </a:extLst>
            </p:cNvPr>
            <p:cNvSpPr txBox="1"/>
            <p:nvPr/>
          </p:nvSpPr>
          <p:spPr>
            <a:xfrm>
              <a:off x="1077102" y="1322515"/>
              <a:ext cx="10745713" cy="625295"/>
            </a:xfrm>
            <a:prstGeom prst="rect">
              <a:avLst/>
            </a:prstGeom>
            <a:solidFill>
              <a:schemeClr val="bg2">
                <a:lumMod val="20000"/>
                <a:lumOff val="80000"/>
              </a:schemeClr>
            </a:solidFill>
            <a:ln w="9525">
              <a:noFill/>
            </a:ln>
          </p:spPr>
          <p:txBody>
            <a:bodyPr vert="horz" wrap="square" lIns="0" tIns="0" rIns="0" bIns="0" rtlCol="0" anchor="ctr" anchorCtr="0">
              <a:noAutofit/>
            </a:bodyPr>
            <a:lstStyle/>
            <a:p>
              <a:pPr marL="71755" marR="0" lvl="0" indent="0" algn="l" defTabSz="1219170" rtl="0" eaLnBrk="1" fontAlgn="auto" latinLnBrk="0" hangingPunct="1">
                <a:lnSpc>
                  <a:spcPct val="100000"/>
                </a:lnSpc>
                <a:spcBef>
                  <a:spcPts val="5"/>
                </a:spcBef>
                <a:spcAft>
                  <a:spcPts val="0"/>
                </a:spcAft>
                <a:buClrTx/>
                <a:buSzTx/>
                <a:buFontTx/>
                <a:buNone/>
                <a:tabLst/>
                <a:defRPr/>
              </a:pPr>
              <a:r>
                <a:rPr kumimoji="0" lang="en-US" sz="1200" b="1" i="0" u="none" strike="noStrike" kern="1200" cap="none" spc="-5" normalizeH="0" baseline="0" noProof="0" dirty="0">
                  <a:ln>
                    <a:noFill/>
                  </a:ln>
                  <a:solidFill>
                    <a:srgbClr val="000000"/>
                  </a:solidFill>
                  <a:effectLst/>
                  <a:uLnTx/>
                  <a:uFillTx/>
                  <a:latin typeface="Arial"/>
                  <a:ea typeface="+mn-ea"/>
                  <a:cs typeface="Arial"/>
                </a:rPr>
                <a:t>COPD is diagnosed by spirometry, but other additional tests may be taken for differential diagnosis</a:t>
              </a:r>
              <a:r>
                <a:rPr kumimoji="0" lang="en-US" sz="1200" b="1" i="0" u="none" strike="noStrike" kern="1200" cap="none" spc="-5" normalizeH="0" baseline="30000" noProof="0" dirty="0">
                  <a:ln>
                    <a:noFill/>
                  </a:ln>
                  <a:solidFill>
                    <a:srgbClr val="000000"/>
                  </a:solidFill>
                  <a:effectLst/>
                  <a:uLnTx/>
                  <a:uFillTx/>
                  <a:latin typeface="Arial"/>
                  <a:ea typeface="+mn-ea"/>
                  <a:cs typeface="Arial"/>
                </a:rPr>
                <a:t>1</a:t>
              </a:r>
            </a:p>
          </p:txBody>
        </p:sp>
        <p:sp>
          <p:nvSpPr>
            <p:cNvPr id="24" name="object 7">
              <a:extLst>
                <a:ext uri="{FF2B5EF4-FFF2-40B4-BE49-F238E27FC236}">
                  <a16:creationId xmlns:a16="http://schemas.microsoft.com/office/drawing/2014/main" id="{D856AE70-69E8-2341-C577-BED8F94A48A2}"/>
                </a:ext>
              </a:extLst>
            </p:cNvPr>
            <p:cNvSpPr/>
            <p:nvPr/>
          </p:nvSpPr>
          <p:spPr>
            <a:xfrm>
              <a:off x="365124" y="1322515"/>
              <a:ext cx="705618" cy="617636"/>
            </a:xfrm>
            <a:custGeom>
              <a:avLst/>
              <a:gdLst/>
              <a:ahLst/>
              <a:cxnLst/>
              <a:rect l="l" t="t" r="r" b="b"/>
              <a:pathLst>
                <a:path w="680085" h="672464">
                  <a:moveTo>
                    <a:pt x="0" y="672084"/>
                  </a:moveTo>
                  <a:lnTo>
                    <a:pt x="679704" y="672084"/>
                  </a:lnTo>
                  <a:lnTo>
                    <a:pt x="679704" y="0"/>
                  </a:lnTo>
                  <a:lnTo>
                    <a:pt x="0" y="0"/>
                  </a:lnTo>
                  <a:lnTo>
                    <a:pt x="0" y="672084"/>
                  </a:lnTo>
                  <a:close/>
                </a:path>
              </a:pathLst>
            </a:custGeom>
            <a:solidFill>
              <a:schemeClr val="accent1"/>
            </a:solidFill>
            <a:ln w="19812">
              <a:noFill/>
            </a:ln>
          </p:spPr>
          <p:txBody>
            <a:bodyPr wrap="square" lIns="0" tIns="0" rIns="0" bIns="0" rtlCol="0"/>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dirty="0">
                <a:ln>
                  <a:noFill/>
                </a:ln>
                <a:solidFill>
                  <a:srgbClr val="000000"/>
                </a:solidFill>
                <a:effectLst/>
                <a:uLnTx/>
                <a:uFillTx/>
                <a:latin typeface="Arial"/>
                <a:ea typeface="+mn-ea"/>
                <a:cs typeface="Noto Sans"/>
              </a:endParaRPr>
            </a:p>
          </p:txBody>
        </p:sp>
        <p:sp>
          <p:nvSpPr>
            <p:cNvPr id="200" name="Right Triangle 199">
              <a:extLst>
                <a:ext uri="{FF2B5EF4-FFF2-40B4-BE49-F238E27FC236}">
                  <a16:creationId xmlns:a16="http://schemas.microsoft.com/office/drawing/2014/main" id="{C9117872-48D6-E3A6-F25A-853DEE1C8898}"/>
                </a:ext>
              </a:extLst>
            </p:cNvPr>
            <p:cNvSpPr/>
            <p:nvPr/>
          </p:nvSpPr>
          <p:spPr bwMode="auto">
            <a:xfrm flipH="1">
              <a:off x="936131" y="1805540"/>
              <a:ext cx="134611" cy="134611"/>
            </a:xfrm>
            <a:prstGeom prst="rtTriangle">
              <a:avLst/>
            </a:prstGeom>
            <a:solidFill>
              <a:schemeClr val="accent1">
                <a:lumMod val="50000"/>
              </a:schemeClr>
            </a:solidFill>
            <a:ln>
              <a:noFill/>
              <a:headEnd/>
              <a:tailEnd/>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p>
              <a:pPr marL="285750" marR="0" lvl="0" indent="-285750" algn="l" defTabSz="1219170" rtl="0" eaLnBrk="0" fontAlgn="auto" latinLnBrk="0" hangingPunct="0">
                <a:lnSpc>
                  <a:spcPct val="100000"/>
                </a:lnSpc>
                <a:spcBef>
                  <a:spcPts val="300"/>
                </a:spcBef>
                <a:spcAft>
                  <a:spcPts val="300"/>
                </a:spcAft>
                <a:buClr>
                  <a:srgbClr val="F36633"/>
                </a:buClr>
                <a:buSzPct val="110000"/>
                <a:buFont typeface="Arial" panose="020B0604020202020204" pitchFamily="34" charset="0"/>
                <a:buChar char="•"/>
                <a:tabLst/>
                <a:defRPr/>
              </a:pPr>
              <a:endParaRPr kumimoji="0" lang="en-GB" sz="1600" b="0" i="0" u="none" strike="noStrike" kern="0" cap="none" spc="0" normalizeH="0" baseline="0" noProof="0" dirty="0">
                <a:ln>
                  <a:noFill/>
                </a:ln>
                <a:solidFill>
                  <a:srgbClr val="000000"/>
                </a:solidFill>
                <a:effectLst/>
                <a:uLnTx/>
                <a:uFillTx/>
                <a:latin typeface="Arial"/>
                <a:ea typeface="+mn-ea"/>
                <a:cs typeface="Noto Sans"/>
              </a:endParaRPr>
            </a:p>
          </p:txBody>
        </p:sp>
        <p:sp>
          <p:nvSpPr>
            <p:cNvPr id="27" name="Freeform: Shape 26">
              <a:extLst>
                <a:ext uri="{FF2B5EF4-FFF2-40B4-BE49-F238E27FC236}">
                  <a16:creationId xmlns:a16="http://schemas.microsoft.com/office/drawing/2014/main" id="{5E53AF8B-7CCE-D7DA-9B1A-806BD427617B}"/>
                </a:ext>
              </a:extLst>
            </p:cNvPr>
            <p:cNvSpPr>
              <a:spLocks noChangeAspect="1"/>
            </p:cNvSpPr>
            <p:nvPr/>
          </p:nvSpPr>
          <p:spPr>
            <a:xfrm>
              <a:off x="510980" y="1424388"/>
              <a:ext cx="413906" cy="413890"/>
            </a:xfrm>
            <a:custGeom>
              <a:avLst/>
              <a:gdLst>
                <a:gd name="connsiteX0" fmla="*/ 1020627 w 4933018"/>
                <a:gd name="connsiteY0" fmla="*/ 350894 h 4932822"/>
                <a:gd name="connsiteX1" fmla="*/ 1350517 w 4933018"/>
                <a:gd name="connsiteY1" fmla="*/ 350894 h 4932822"/>
                <a:gd name="connsiteX2" fmla="*/ 1701411 w 4933018"/>
                <a:gd name="connsiteY2" fmla="*/ 0 h 4932822"/>
                <a:gd name="connsiteX3" fmla="*/ 2052305 w 4933018"/>
                <a:gd name="connsiteY3" fmla="*/ 350894 h 4932822"/>
                <a:gd name="connsiteX4" fmla="*/ 2382195 w 4933018"/>
                <a:gd name="connsiteY4" fmla="*/ 350894 h 4932822"/>
                <a:gd name="connsiteX5" fmla="*/ 2484947 w 4933018"/>
                <a:gd name="connsiteY5" fmla="*/ 453647 h 4932822"/>
                <a:gd name="connsiteX6" fmla="*/ 2484947 w 4933018"/>
                <a:gd name="connsiteY6" fmla="*/ 879627 h 4932822"/>
                <a:gd name="connsiteX7" fmla="*/ 917894 w 4933018"/>
                <a:gd name="connsiteY7" fmla="*/ 879627 h 4932822"/>
                <a:gd name="connsiteX8" fmla="*/ 917894 w 4933018"/>
                <a:gd name="connsiteY8" fmla="*/ 453647 h 4932822"/>
                <a:gd name="connsiteX9" fmla="*/ 1020647 w 4933018"/>
                <a:gd name="connsiteY9" fmla="*/ 350894 h 4932822"/>
                <a:gd name="connsiteX10" fmla="*/ 3660076 w 4933018"/>
                <a:gd name="connsiteY10" fmla="*/ 1969872 h 4932822"/>
                <a:gd name="connsiteX11" fmla="*/ 4933018 w 4933018"/>
                <a:gd name="connsiteY11" fmla="*/ 3242815 h 4932822"/>
                <a:gd name="connsiteX12" fmla="*/ 3660076 w 4933018"/>
                <a:gd name="connsiteY12" fmla="*/ 4515758 h 4932822"/>
                <a:gd name="connsiteX13" fmla="*/ 2387133 w 4933018"/>
                <a:gd name="connsiteY13" fmla="*/ 3242815 h 4932822"/>
                <a:gd name="connsiteX14" fmla="*/ 3660076 w 4933018"/>
                <a:gd name="connsiteY14" fmla="*/ 1969872 h 4932822"/>
                <a:gd name="connsiteX15" fmla="*/ 4211204 w 4933018"/>
                <a:gd name="connsiteY15" fmla="*/ 3292585 h 4932822"/>
                <a:gd name="connsiteX16" fmla="*/ 4300067 w 4933018"/>
                <a:gd name="connsiteY16" fmla="*/ 3148802 h 4932822"/>
                <a:gd name="connsiteX17" fmla="*/ 4139296 w 4933018"/>
                <a:gd name="connsiteY17" fmla="*/ 2988031 h 4932822"/>
                <a:gd name="connsiteX18" fmla="*/ 3978525 w 4933018"/>
                <a:gd name="connsiteY18" fmla="*/ 3148802 h 4932822"/>
                <a:gd name="connsiteX19" fmla="*/ 4067388 w 4933018"/>
                <a:gd name="connsiteY19" fmla="*/ 3292585 h 4932822"/>
                <a:gd name="connsiteX20" fmla="*/ 4067388 w 4933018"/>
                <a:gd name="connsiteY20" fmla="*/ 3542333 h 4932822"/>
                <a:gd name="connsiteX21" fmla="*/ 3720589 w 4933018"/>
                <a:gd name="connsiteY21" fmla="*/ 3889133 h 4932822"/>
                <a:gd name="connsiteX22" fmla="*/ 3373789 w 4933018"/>
                <a:gd name="connsiteY22" fmla="*/ 3542333 h 4932822"/>
                <a:gd name="connsiteX23" fmla="*/ 3373789 w 4933018"/>
                <a:gd name="connsiteY23" fmla="*/ 3406476 h 4932822"/>
                <a:gd name="connsiteX24" fmla="*/ 3469006 w 4933018"/>
                <a:gd name="connsiteY24" fmla="*/ 3355080 h 4932822"/>
                <a:gd name="connsiteX25" fmla="*/ 3648411 w 4933018"/>
                <a:gd name="connsiteY25" fmla="*/ 3046813 h 4932822"/>
                <a:gd name="connsiteX26" fmla="*/ 3521009 w 4933018"/>
                <a:gd name="connsiteY26" fmla="*/ 2689217 h 4932822"/>
                <a:gd name="connsiteX27" fmla="*/ 3504209 w 4933018"/>
                <a:gd name="connsiteY27" fmla="*/ 2685160 h 4932822"/>
                <a:gd name="connsiteX28" fmla="*/ 3431343 w 4933018"/>
                <a:gd name="connsiteY28" fmla="*/ 2653396 h 4932822"/>
                <a:gd name="connsiteX29" fmla="*/ 3331843 w 4933018"/>
                <a:gd name="connsiteY29" fmla="*/ 2752896 h 4932822"/>
                <a:gd name="connsiteX30" fmla="*/ 3431343 w 4933018"/>
                <a:gd name="connsiteY30" fmla="*/ 2852395 h 4932822"/>
                <a:gd name="connsiteX31" fmla="*/ 3492728 w 4933018"/>
                <a:gd name="connsiteY31" fmla="*/ 2831194 h 4932822"/>
                <a:gd name="connsiteX32" fmla="*/ 3510140 w 4933018"/>
                <a:gd name="connsiteY32" fmla="*/ 3008541 h 4932822"/>
                <a:gd name="connsiteX33" fmla="*/ 3379603 w 4933018"/>
                <a:gd name="connsiteY33" fmla="*/ 3242644 h 4932822"/>
                <a:gd name="connsiteX34" fmla="*/ 3224034 w 4933018"/>
                <a:gd name="connsiteY34" fmla="*/ 3242644 h 4932822"/>
                <a:gd name="connsiteX35" fmla="*/ 3093575 w 4933018"/>
                <a:gd name="connsiteY35" fmla="*/ 3008541 h 4932822"/>
                <a:gd name="connsiteX36" fmla="*/ 3110988 w 4933018"/>
                <a:gd name="connsiteY36" fmla="*/ 2831194 h 4932822"/>
                <a:gd name="connsiteX37" fmla="*/ 3172373 w 4933018"/>
                <a:gd name="connsiteY37" fmla="*/ 2852395 h 4932822"/>
                <a:gd name="connsiteX38" fmla="*/ 3271872 w 4933018"/>
                <a:gd name="connsiteY38" fmla="*/ 2752896 h 4932822"/>
                <a:gd name="connsiteX39" fmla="*/ 3172373 w 4933018"/>
                <a:gd name="connsiteY39" fmla="*/ 2653396 h 4932822"/>
                <a:gd name="connsiteX40" fmla="*/ 3099506 w 4933018"/>
                <a:gd name="connsiteY40" fmla="*/ 2685160 h 4932822"/>
                <a:gd name="connsiteX41" fmla="*/ 3082706 w 4933018"/>
                <a:gd name="connsiteY41" fmla="*/ 2689179 h 4932822"/>
                <a:gd name="connsiteX42" fmla="*/ 2955304 w 4933018"/>
                <a:gd name="connsiteY42" fmla="*/ 3046774 h 4932822"/>
                <a:gd name="connsiteX43" fmla="*/ 3134709 w 4933018"/>
                <a:gd name="connsiteY43" fmla="*/ 3355041 h 4932822"/>
                <a:gd name="connsiteX44" fmla="*/ 3229926 w 4933018"/>
                <a:gd name="connsiteY44" fmla="*/ 3406438 h 4932822"/>
                <a:gd name="connsiteX45" fmla="*/ 3229926 w 4933018"/>
                <a:gd name="connsiteY45" fmla="*/ 3542295 h 4932822"/>
                <a:gd name="connsiteX46" fmla="*/ 3720547 w 4933018"/>
                <a:gd name="connsiteY46" fmla="*/ 4032917 h 4932822"/>
                <a:gd name="connsiteX47" fmla="*/ 4211169 w 4933018"/>
                <a:gd name="connsiteY47" fmla="*/ 3542295 h 4932822"/>
                <a:gd name="connsiteX48" fmla="*/ 4211283 w 4933018"/>
                <a:gd name="connsiteY48" fmla="*/ 3292586 h 4932822"/>
                <a:gd name="connsiteX49" fmla="*/ 1718713 w 4933018"/>
                <a:gd name="connsiteY49" fmla="*/ 1543991 h 4932822"/>
                <a:gd name="connsiteX50" fmla="*/ 1886714 w 4933018"/>
                <a:gd name="connsiteY50" fmla="*/ 1448852 h 4932822"/>
                <a:gd name="connsiteX51" fmla="*/ 2072057 w 4933018"/>
                <a:gd name="connsiteY51" fmla="*/ 1614257 h 4932822"/>
                <a:gd name="connsiteX52" fmla="*/ 1715147 w 4933018"/>
                <a:gd name="connsiteY52" fmla="*/ 2098108 h 4932822"/>
                <a:gd name="connsiteX53" fmla="*/ 1687592 w 4933018"/>
                <a:gd name="connsiteY53" fmla="*/ 2098108 h 4932822"/>
                <a:gd name="connsiteX54" fmla="*/ 1330682 w 4933018"/>
                <a:gd name="connsiteY54" fmla="*/ 1614257 h 4932822"/>
                <a:gd name="connsiteX55" fmla="*/ 1516025 w 4933018"/>
                <a:gd name="connsiteY55" fmla="*/ 1448852 h 4932822"/>
                <a:gd name="connsiteX56" fmla="*/ 1684026 w 4933018"/>
                <a:gd name="connsiteY56" fmla="*/ 1543991 h 4932822"/>
                <a:gd name="connsiteX57" fmla="*/ 1718699 w 4933018"/>
                <a:gd name="connsiteY57" fmla="*/ 1543991 h 4932822"/>
                <a:gd name="connsiteX58" fmla="*/ 164298 w 4933018"/>
                <a:gd name="connsiteY58" fmla="*/ 550952 h 4932822"/>
                <a:gd name="connsiteX59" fmla="*/ 0 w 4933018"/>
                <a:gd name="connsiteY59" fmla="*/ 715250 h 4932822"/>
                <a:gd name="connsiteX60" fmla="*/ 0 w 4933018"/>
                <a:gd name="connsiteY60" fmla="*/ 4768524 h 4932822"/>
                <a:gd name="connsiteX61" fmla="*/ 164298 w 4933018"/>
                <a:gd name="connsiteY61" fmla="*/ 4932823 h 4932822"/>
                <a:gd name="connsiteX62" fmla="*/ 3238348 w 4933018"/>
                <a:gd name="connsiteY62" fmla="*/ 4932823 h 4932822"/>
                <a:gd name="connsiteX63" fmla="*/ 3402646 w 4933018"/>
                <a:gd name="connsiteY63" fmla="*/ 4768524 h 4932822"/>
                <a:gd name="connsiteX64" fmla="*/ 3402646 w 4933018"/>
                <a:gd name="connsiteY64" fmla="*/ 4636224 h 4932822"/>
                <a:gd name="connsiteX65" fmla="*/ 3145931 w 4933018"/>
                <a:gd name="connsiteY65" fmla="*/ 4563396 h 4932822"/>
                <a:gd name="connsiteX66" fmla="*/ 3145931 w 4933018"/>
                <a:gd name="connsiteY66" fmla="*/ 4604192 h 4932822"/>
                <a:gd name="connsiteX67" fmla="*/ 3073983 w 4933018"/>
                <a:gd name="connsiteY67" fmla="*/ 4676140 h 4932822"/>
                <a:gd name="connsiteX68" fmla="*/ 328628 w 4933018"/>
                <a:gd name="connsiteY68" fmla="*/ 4676179 h 4932822"/>
                <a:gd name="connsiteX69" fmla="*/ 256679 w 4933018"/>
                <a:gd name="connsiteY69" fmla="*/ 4604230 h 4932822"/>
                <a:gd name="connsiteX70" fmla="*/ 256679 w 4933018"/>
                <a:gd name="connsiteY70" fmla="*/ 879552 h 4932822"/>
                <a:gd name="connsiteX71" fmla="*/ 328628 w 4933018"/>
                <a:gd name="connsiteY71" fmla="*/ 807604 h 4932822"/>
                <a:gd name="connsiteX72" fmla="*/ 773898 w 4933018"/>
                <a:gd name="connsiteY72" fmla="*/ 807604 h 4932822"/>
                <a:gd name="connsiteX73" fmla="*/ 773898 w 4933018"/>
                <a:gd name="connsiteY73" fmla="*/ 550890 h 4932822"/>
                <a:gd name="connsiteX74" fmla="*/ 3145961 w 4933018"/>
                <a:gd name="connsiteY74" fmla="*/ 1922160 h 4932822"/>
                <a:gd name="connsiteX75" fmla="*/ 3145961 w 4933018"/>
                <a:gd name="connsiteY75" fmla="*/ 879548 h 4932822"/>
                <a:gd name="connsiteX76" fmla="*/ 3074013 w 4933018"/>
                <a:gd name="connsiteY76" fmla="*/ 807600 h 4932822"/>
                <a:gd name="connsiteX77" fmla="*/ 2628742 w 4933018"/>
                <a:gd name="connsiteY77" fmla="*/ 807600 h 4932822"/>
                <a:gd name="connsiteX78" fmla="*/ 2628742 w 4933018"/>
                <a:gd name="connsiteY78" fmla="*/ 550886 h 4932822"/>
                <a:gd name="connsiteX79" fmla="*/ 3238311 w 4933018"/>
                <a:gd name="connsiteY79" fmla="*/ 550886 h 4932822"/>
                <a:gd name="connsiteX80" fmla="*/ 3402608 w 4933018"/>
                <a:gd name="connsiteY80" fmla="*/ 715184 h 4932822"/>
                <a:gd name="connsiteX81" fmla="*/ 3402608 w 4933018"/>
                <a:gd name="connsiteY81" fmla="*/ 1849301 h 4932822"/>
                <a:gd name="connsiteX82" fmla="*/ 3145973 w 4933018"/>
                <a:gd name="connsiteY82" fmla="*/ 1922167 h 4932822"/>
                <a:gd name="connsiteX83" fmla="*/ 2893380 w 4933018"/>
                <a:gd name="connsiteY83" fmla="*/ 1710944 h 4932822"/>
                <a:gd name="connsiteX84" fmla="*/ 2774394 w 4933018"/>
                <a:gd name="connsiteY84" fmla="*/ 1708762 h 4932822"/>
                <a:gd name="connsiteX85" fmla="*/ 2705240 w 4933018"/>
                <a:gd name="connsiteY85" fmla="*/ 1757403 h 4932822"/>
                <a:gd name="connsiteX86" fmla="*/ 2676959 w 4933018"/>
                <a:gd name="connsiteY86" fmla="*/ 1840373 h 4932822"/>
                <a:gd name="connsiteX87" fmla="*/ 2559511 w 4933018"/>
                <a:gd name="connsiteY87" fmla="*/ 1457707 h 4932822"/>
                <a:gd name="connsiteX88" fmla="*/ 2469844 w 4933018"/>
                <a:gd name="connsiteY88" fmla="*/ 1410213 h 4932822"/>
                <a:gd name="connsiteX89" fmla="*/ 2423193 w 4933018"/>
                <a:gd name="connsiteY89" fmla="*/ 1454912 h 4932822"/>
                <a:gd name="connsiteX90" fmla="*/ 2315807 w 4933018"/>
                <a:gd name="connsiteY90" fmla="*/ 1758428 h 4932822"/>
                <a:gd name="connsiteX91" fmla="*/ 2292653 w 4933018"/>
                <a:gd name="connsiteY91" fmla="*/ 1731869 h 4932822"/>
                <a:gd name="connsiteX92" fmla="*/ 2233143 w 4933018"/>
                <a:gd name="connsiteY92" fmla="*/ 1707338 h 4932822"/>
                <a:gd name="connsiteX93" fmla="*/ 2203943 w 4933018"/>
                <a:gd name="connsiteY93" fmla="*/ 1707070 h 4932822"/>
                <a:gd name="connsiteX94" fmla="*/ 2215844 w 4933018"/>
                <a:gd name="connsiteY94" fmla="*/ 1614150 h 4932822"/>
                <a:gd name="connsiteX95" fmla="*/ 1886611 w 4933018"/>
                <a:gd name="connsiteY95" fmla="*/ 1304932 h 4932822"/>
                <a:gd name="connsiteX96" fmla="*/ 1701269 w 4933018"/>
                <a:gd name="connsiteY96" fmla="*/ 1356980 h 4932822"/>
                <a:gd name="connsiteX97" fmla="*/ 1515927 w 4933018"/>
                <a:gd name="connsiteY97" fmla="*/ 1304932 h 4932822"/>
                <a:gd name="connsiteX98" fmla="*/ 1186694 w 4933018"/>
                <a:gd name="connsiteY98" fmla="*/ 1614150 h 4932822"/>
                <a:gd name="connsiteX99" fmla="*/ 1198595 w 4933018"/>
                <a:gd name="connsiteY99" fmla="*/ 1707070 h 4932822"/>
                <a:gd name="connsiteX100" fmla="*/ 1169395 w 4933018"/>
                <a:gd name="connsiteY100" fmla="*/ 1707338 h 4932822"/>
                <a:gd name="connsiteX101" fmla="*/ 1109885 w 4933018"/>
                <a:gd name="connsiteY101" fmla="*/ 1731869 h 4932822"/>
                <a:gd name="connsiteX102" fmla="*/ 1086731 w 4933018"/>
                <a:gd name="connsiteY102" fmla="*/ 1758428 h 4932822"/>
                <a:gd name="connsiteX103" fmla="*/ 979345 w 4933018"/>
                <a:gd name="connsiteY103" fmla="*/ 1454912 h 4932822"/>
                <a:gd name="connsiteX104" fmla="*/ 932694 w 4933018"/>
                <a:gd name="connsiteY104" fmla="*/ 1410213 h 4932822"/>
                <a:gd name="connsiteX105" fmla="*/ 843028 w 4933018"/>
                <a:gd name="connsiteY105" fmla="*/ 1457707 h 4932822"/>
                <a:gd name="connsiteX106" fmla="*/ 725579 w 4933018"/>
                <a:gd name="connsiteY106" fmla="*/ 1840373 h 4932822"/>
                <a:gd name="connsiteX107" fmla="*/ 697298 w 4933018"/>
                <a:gd name="connsiteY107" fmla="*/ 1757403 h 4932822"/>
                <a:gd name="connsiteX108" fmla="*/ 628144 w 4933018"/>
                <a:gd name="connsiteY108" fmla="*/ 1708762 h 4932822"/>
                <a:gd name="connsiteX109" fmla="*/ 509157 w 4933018"/>
                <a:gd name="connsiteY109" fmla="*/ 1710944 h 4932822"/>
                <a:gd name="connsiteX110" fmla="*/ 438626 w 4933018"/>
                <a:gd name="connsiteY110" fmla="*/ 1783772 h 4932822"/>
                <a:gd name="connsiteX111" fmla="*/ 511454 w 4933018"/>
                <a:gd name="connsiteY111" fmla="*/ 1854303 h 4932822"/>
                <a:gd name="connsiteX112" fmla="*/ 578197 w 4933018"/>
                <a:gd name="connsiteY112" fmla="*/ 1853040 h 4932822"/>
                <a:gd name="connsiteX113" fmla="*/ 661128 w 4933018"/>
                <a:gd name="connsiteY113" fmla="*/ 2096323 h 4932822"/>
                <a:gd name="connsiteX114" fmla="*/ 752173 w 4933018"/>
                <a:gd name="connsiteY114" fmla="*/ 2141290 h 4932822"/>
                <a:gd name="connsiteX115" fmla="*/ 798633 w 4933018"/>
                <a:gd name="connsiteY115" fmla="*/ 2091271 h 4932822"/>
                <a:gd name="connsiteX116" fmla="*/ 916424 w 4933018"/>
                <a:gd name="connsiteY116" fmla="*/ 1707614 h 4932822"/>
                <a:gd name="connsiteX117" fmla="*/ 992390 w 4933018"/>
                <a:gd name="connsiteY117" fmla="*/ 1922309 h 4932822"/>
                <a:gd name="connsiteX118" fmla="*/ 1084009 w 4933018"/>
                <a:gd name="connsiteY118" fmla="*/ 1966129 h 4932822"/>
                <a:gd name="connsiteX119" fmla="*/ 1114357 w 4933018"/>
                <a:gd name="connsiteY119" fmla="*/ 1945616 h 4932822"/>
                <a:gd name="connsiteX120" fmla="*/ 1197328 w 4933018"/>
                <a:gd name="connsiteY120" fmla="*/ 1850361 h 4932822"/>
                <a:gd name="connsiteX121" fmla="*/ 1260320 w 4933018"/>
                <a:gd name="connsiteY121" fmla="*/ 1849749 h 4932822"/>
                <a:gd name="connsiteX122" fmla="*/ 1591659 w 4933018"/>
                <a:gd name="connsiteY122" fmla="*/ 2205277 h 4932822"/>
                <a:gd name="connsiteX123" fmla="*/ 1810831 w 4933018"/>
                <a:gd name="connsiteY123" fmla="*/ 2205277 h 4932822"/>
                <a:gd name="connsiteX124" fmla="*/ 2142171 w 4933018"/>
                <a:gd name="connsiteY124" fmla="*/ 1849749 h 4932822"/>
                <a:gd name="connsiteX125" fmla="*/ 2205164 w 4933018"/>
                <a:gd name="connsiteY125" fmla="*/ 1850361 h 4932822"/>
                <a:gd name="connsiteX126" fmla="*/ 2288134 w 4933018"/>
                <a:gd name="connsiteY126" fmla="*/ 1945616 h 4932822"/>
                <a:gd name="connsiteX127" fmla="*/ 2318482 w 4933018"/>
                <a:gd name="connsiteY127" fmla="*/ 1966129 h 4932822"/>
                <a:gd name="connsiteX128" fmla="*/ 2410101 w 4933018"/>
                <a:gd name="connsiteY128" fmla="*/ 1922309 h 4932822"/>
                <a:gd name="connsiteX129" fmla="*/ 2486067 w 4933018"/>
                <a:gd name="connsiteY129" fmla="*/ 1707614 h 4932822"/>
                <a:gd name="connsiteX130" fmla="*/ 2603858 w 4933018"/>
                <a:gd name="connsiteY130" fmla="*/ 2091271 h 4932822"/>
                <a:gd name="connsiteX131" fmla="*/ 2650318 w 4933018"/>
                <a:gd name="connsiteY131" fmla="*/ 2141290 h 4932822"/>
                <a:gd name="connsiteX132" fmla="*/ 2741363 w 4933018"/>
                <a:gd name="connsiteY132" fmla="*/ 2096323 h 4932822"/>
                <a:gd name="connsiteX133" fmla="*/ 2824294 w 4933018"/>
                <a:gd name="connsiteY133" fmla="*/ 1853040 h 4932822"/>
                <a:gd name="connsiteX134" fmla="*/ 2891037 w 4933018"/>
                <a:gd name="connsiteY134" fmla="*/ 1854303 h 4932822"/>
                <a:gd name="connsiteX135" fmla="*/ 2963865 w 4933018"/>
                <a:gd name="connsiteY135" fmla="*/ 1783772 h 4932822"/>
                <a:gd name="connsiteX136" fmla="*/ 2893372 w 4933018"/>
                <a:gd name="connsiteY136" fmla="*/ 1710944 h 4932822"/>
                <a:gd name="connsiteX137" fmla="*/ 1357091 w 4933018"/>
                <a:gd name="connsiteY137" fmla="*/ 4015330 h 4932822"/>
                <a:gd name="connsiteX138" fmla="*/ 1285142 w 4933018"/>
                <a:gd name="connsiteY138" fmla="*/ 3943382 h 4932822"/>
                <a:gd name="connsiteX139" fmla="*/ 1357091 w 4933018"/>
                <a:gd name="connsiteY139" fmla="*/ 3871433 h 4932822"/>
                <a:gd name="connsiteX140" fmla="*/ 2390101 w 4933018"/>
                <a:gd name="connsiteY140" fmla="*/ 3871433 h 4932822"/>
                <a:gd name="connsiteX141" fmla="*/ 2246093 w 4933018"/>
                <a:gd name="connsiteY141" fmla="*/ 3153293 h 4932822"/>
                <a:gd name="connsiteX142" fmla="*/ 1357120 w 4933018"/>
                <a:gd name="connsiteY142" fmla="*/ 3153293 h 4932822"/>
                <a:gd name="connsiteX143" fmla="*/ 1285172 w 4933018"/>
                <a:gd name="connsiteY143" fmla="*/ 3081344 h 4932822"/>
                <a:gd name="connsiteX144" fmla="*/ 1357120 w 4933018"/>
                <a:gd name="connsiteY144" fmla="*/ 3009396 h 4932822"/>
                <a:gd name="connsiteX145" fmla="*/ 2262435 w 4933018"/>
                <a:gd name="connsiteY145" fmla="*/ 3009396 h 4932822"/>
                <a:gd name="connsiteX146" fmla="*/ 3002119 w 4933018"/>
                <a:gd name="connsiteY146" fmla="*/ 1987652 h 4932822"/>
                <a:gd name="connsiteX147" fmla="*/ 3002157 w 4933018"/>
                <a:gd name="connsiteY147" fmla="*/ 951408 h 4932822"/>
                <a:gd name="connsiteX148" fmla="*/ 2628867 w 4933018"/>
                <a:gd name="connsiteY148" fmla="*/ 951408 h 4932822"/>
                <a:gd name="connsiteX149" fmla="*/ 2628867 w 4933018"/>
                <a:gd name="connsiteY149" fmla="*/ 1023357 h 4932822"/>
                <a:gd name="connsiteX150" fmla="*/ 773875 w 4933018"/>
                <a:gd name="connsiteY150" fmla="*/ 1023357 h 4932822"/>
                <a:gd name="connsiteX151" fmla="*/ 773875 w 4933018"/>
                <a:gd name="connsiteY151" fmla="*/ 951408 h 4932822"/>
                <a:gd name="connsiteX152" fmla="*/ 400585 w 4933018"/>
                <a:gd name="connsiteY152" fmla="*/ 951408 h 4932822"/>
                <a:gd name="connsiteX153" fmla="*/ 400585 w 4933018"/>
                <a:gd name="connsiteY153" fmla="*/ 4532166 h 4932822"/>
                <a:gd name="connsiteX154" fmla="*/ 3002118 w 4933018"/>
                <a:gd name="connsiteY154" fmla="*/ 4532166 h 4932822"/>
                <a:gd name="connsiteX155" fmla="*/ 3002118 w 4933018"/>
                <a:gd name="connsiteY155" fmla="*/ 4497647 h 4932822"/>
                <a:gd name="connsiteX156" fmla="*/ 2472348 w 4933018"/>
                <a:gd name="connsiteY156" fmla="*/ 4015255 h 4932822"/>
                <a:gd name="connsiteX157" fmla="*/ 745533 w 4933018"/>
                <a:gd name="connsiteY157" fmla="*/ 3676907 h 4932822"/>
                <a:gd name="connsiteX158" fmla="*/ 1072248 w 4933018"/>
                <a:gd name="connsiteY158" fmla="*/ 3676907 h 4932822"/>
                <a:gd name="connsiteX159" fmla="*/ 1144197 w 4933018"/>
                <a:gd name="connsiteY159" fmla="*/ 3748855 h 4932822"/>
                <a:gd name="connsiteX160" fmla="*/ 1144197 w 4933018"/>
                <a:gd name="connsiteY160" fmla="*/ 4075570 h 4932822"/>
                <a:gd name="connsiteX161" fmla="*/ 1072248 w 4933018"/>
                <a:gd name="connsiteY161" fmla="*/ 4147519 h 4932822"/>
                <a:gd name="connsiteX162" fmla="*/ 745533 w 4933018"/>
                <a:gd name="connsiteY162" fmla="*/ 4147519 h 4932822"/>
                <a:gd name="connsiteX163" fmla="*/ 673585 w 4933018"/>
                <a:gd name="connsiteY163" fmla="*/ 4075570 h 4932822"/>
                <a:gd name="connsiteX164" fmla="*/ 673585 w 4933018"/>
                <a:gd name="connsiteY164" fmla="*/ 3748855 h 4932822"/>
                <a:gd name="connsiteX165" fmla="*/ 745533 w 4933018"/>
                <a:gd name="connsiteY165" fmla="*/ 3676907 h 4932822"/>
                <a:gd name="connsiteX166" fmla="*/ 1000337 w 4933018"/>
                <a:gd name="connsiteY166" fmla="*/ 3820808 h 4932822"/>
                <a:gd name="connsiteX167" fmla="*/ 1000337 w 4933018"/>
                <a:gd name="connsiteY167" fmla="*/ 4003622 h 4932822"/>
                <a:gd name="connsiteX168" fmla="*/ 817523 w 4933018"/>
                <a:gd name="connsiteY168" fmla="*/ 4003622 h 4932822"/>
                <a:gd name="connsiteX169" fmla="*/ 817484 w 4933018"/>
                <a:gd name="connsiteY169" fmla="*/ 3820808 h 4932822"/>
                <a:gd name="connsiteX170" fmla="*/ 745533 w 4933018"/>
                <a:gd name="connsiteY170" fmla="*/ 2814935 h 4932822"/>
                <a:gd name="connsiteX171" fmla="*/ 1072248 w 4933018"/>
                <a:gd name="connsiteY171" fmla="*/ 2814935 h 4932822"/>
                <a:gd name="connsiteX172" fmla="*/ 1144197 w 4933018"/>
                <a:gd name="connsiteY172" fmla="*/ 2886883 h 4932822"/>
                <a:gd name="connsiteX173" fmla="*/ 1144197 w 4933018"/>
                <a:gd name="connsiteY173" fmla="*/ 3213598 h 4932822"/>
                <a:gd name="connsiteX174" fmla="*/ 1072248 w 4933018"/>
                <a:gd name="connsiteY174" fmla="*/ 3285547 h 4932822"/>
                <a:gd name="connsiteX175" fmla="*/ 745533 w 4933018"/>
                <a:gd name="connsiteY175" fmla="*/ 3285547 h 4932822"/>
                <a:gd name="connsiteX176" fmla="*/ 673585 w 4933018"/>
                <a:gd name="connsiteY176" fmla="*/ 3213598 h 4932822"/>
                <a:gd name="connsiteX177" fmla="*/ 673585 w 4933018"/>
                <a:gd name="connsiteY177" fmla="*/ 2886883 h 4932822"/>
                <a:gd name="connsiteX178" fmla="*/ 745533 w 4933018"/>
                <a:gd name="connsiteY178" fmla="*/ 2814935 h 4932822"/>
                <a:gd name="connsiteX179" fmla="*/ 1000337 w 4933018"/>
                <a:gd name="connsiteY179" fmla="*/ 2958796 h 4932822"/>
                <a:gd name="connsiteX180" fmla="*/ 1000337 w 4933018"/>
                <a:gd name="connsiteY180" fmla="*/ 3141611 h 4932822"/>
                <a:gd name="connsiteX181" fmla="*/ 817523 w 4933018"/>
                <a:gd name="connsiteY181" fmla="*/ 3141611 h 4932822"/>
                <a:gd name="connsiteX182" fmla="*/ 817523 w 4933018"/>
                <a:gd name="connsiteY182" fmla="*/ 2958796 h 4932822"/>
                <a:gd name="connsiteX183" fmla="*/ 1701333 w 4933018"/>
                <a:gd name="connsiteY183" fmla="*/ 258311 h 4932822"/>
                <a:gd name="connsiteX184" fmla="*/ 1608872 w 4933018"/>
                <a:gd name="connsiteY184" fmla="*/ 350772 h 4932822"/>
                <a:gd name="connsiteX185" fmla="*/ 1701333 w 4933018"/>
                <a:gd name="connsiteY185" fmla="*/ 443233 h 4932822"/>
                <a:gd name="connsiteX186" fmla="*/ 1793793 w 4933018"/>
                <a:gd name="connsiteY186" fmla="*/ 350772 h 4932822"/>
                <a:gd name="connsiteX187" fmla="*/ 1701333 w 4933018"/>
                <a:gd name="connsiteY187" fmla="*/ 258311 h 4932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4933018" h="4932822">
                  <a:moveTo>
                    <a:pt x="1020627" y="350894"/>
                  </a:moveTo>
                  <a:lnTo>
                    <a:pt x="1350517" y="350894"/>
                  </a:lnTo>
                  <a:cubicBezTo>
                    <a:pt x="1350517" y="157097"/>
                    <a:pt x="1507614" y="0"/>
                    <a:pt x="1701411" y="0"/>
                  </a:cubicBezTo>
                  <a:cubicBezTo>
                    <a:pt x="1895208" y="0"/>
                    <a:pt x="2052305" y="157097"/>
                    <a:pt x="2052305" y="350894"/>
                  </a:cubicBezTo>
                  <a:lnTo>
                    <a:pt x="2382195" y="350894"/>
                  </a:lnTo>
                  <a:cubicBezTo>
                    <a:pt x="2438758" y="350894"/>
                    <a:pt x="2484947" y="397086"/>
                    <a:pt x="2484947" y="453647"/>
                  </a:cubicBezTo>
                  <a:lnTo>
                    <a:pt x="2484947" y="879627"/>
                  </a:lnTo>
                  <a:lnTo>
                    <a:pt x="917894" y="879627"/>
                  </a:lnTo>
                  <a:lnTo>
                    <a:pt x="917894" y="453647"/>
                  </a:lnTo>
                  <a:cubicBezTo>
                    <a:pt x="917894" y="397008"/>
                    <a:pt x="964086" y="350894"/>
                    <a:pt x="1020647" y="350894"/>
                  </a:cubicBezTo>
                  <a:close/>
                  <a:moveTo>
                    <a:pt x="3660076" y="1969872"/>
                  </a:moveTo>
                  <a:cubicBezTo>
                    <a:pt x="4363138" y="1969872"/>
                    <a:pt x="4933018" y="2539831"/>
                    <a:pt x="4933018" y="3242815"/>
                  </a:cubicBezTo>
                  <a:cubicBezTo>
                    <a:pt x="4933018" y="3945878"/>
                    <a:pt x="4363060" y="4515758"/>
                    <a:pt x="3660076" y="4515758"/>
                  </a:cubicBezTo>
                  <a:cubicBezTo>
                    <a:pt x="2957052" y="4515720"/>
                    <a:pt x="2387133" y="3945839"/>
                    <a:pt x="2387133" y="3242815"/>
                  </a:cubicBezTo>
                  <a:cubicBezTo>
                    <a:pt x="2387133" y="2539792"/>
                    <a:pt x="2957091" y="1969872"/>
                    <a:pt x="3660076" y="1969872"/>
                  </a:cubicBezTo>
                  <a:close/>
                  <a:moveTo>
                    <a:pt x="4211204" y="3292585"/>
                  </a:moveTo>
                  <a:cubicBezTo>
                    <a:pt x="4263902" y="3266179"/>
                    <a:pt x="4300067" y="3211720"/>
                    <a:pt x="4300067" y="3148802"/>
                  </a:cubicBezTo>
                  <a:cubicBezTo>
                    <a:pt x="4300067" y="3059977"/>
                    <a:pt x="4228043" y="2988031"/>
                    <a:pt x="4139296" y="2988031"/>
                  </a:cubicBezTo>
                  <a:cubicBezTo>
                    <a:pt x="4050471" y="2988031"/>
                    <a:pt x="3978525" y="3060055"/>
                    <a:pt x="3978525" y="3148802"/>
                  </a:cubicBezTo>
                  <a:cubicBezTo>
                    <a:pt x="3978525" y="3211718"/>
                    <a:pt x="4014690" y="3266172"/>
                    <a:pt x="4067388" y="3292585"/>
                  </a:cubicBezTo>
                  <a:lnTo>
                    <a:pt x="4067388" y="3542333"/>
                  </a:lnTo>
                  <a:cubicBezTo>
                    <a:pt x="4067388" y="3732917"/>
                    <a:pt x="3911212" y="3889133"/>
                    <a:pt x="3720589" y="3889133"/>
                  </a:cubicBezTo>
                  <a:cubicBezTo>
                    <a:pt x="3530005" y="3889133"/>
                    <a:pt x="3373789" y="3732956"/>
                    <a:pt x="3373789" y="3542333"/>
                  </a:cubicBezTo>
                  <a:lnTo>
                    <a:pt x="3373789" y="3406476"/>
                  </a:lnTo>
                  <a:cubicBezTo>
                    <a:pt x="3406664" y="3396374"/>
                    <a:pt x="3438657" y="3379267"/>
                    <a:pt x="3469006" y="3355080"/>
                  </a:cubicBezTo>
                  <a:cubicBezTo>
                    <a:pt x="3543020" y="3296144"/>
                    <a:pt x="3607469" y="3193162"/>
                    <a:pt x="3648411" y="3046813"/>
                  </a:cubicBezTo>
                  <a:cubicBezTo>
                    <a:pt x="3718713" y="2795535"/>
                    <a:pt x="3611824" y="2714591"/>
                    <a:pt x="3521009" y="2689217"/>
                  </a:cubicBezTo>
                  <a:cubicBezTo>
                    <a:pt x="3515307" y="2687610"/>
                    <a:pt x="3509682" y="2686308"/>
                    <a:pt x="3504209" y="2685160"/>
                  </a:cubicBezTo>
                  <a:cubicBezTo>
                    <a:pt x="3486030" y="2665604"/>
                    <a:pt x="3460160" y="2653396"/>
                    <a:pt x="3431343" y="2653396"/>
                  </a:cubicBezTo>
                  <a:cubicBezTo>
                    <a:pt x="3376348" y="2653396"/>
                    <a:pt x="3331843" y="2697981"/>
                    <a:pt x="3331843" y="2752896"/>
                  </a:cubicBezTo>
                  <a:cubicBezTo>
                    <a:pt x="3331843" y="2807890"/>
                    <a:pt x="3376428" y="2852395"/>
                    <a:pt x="3431343" y="2852395"/>
                  </a:cubicBezTo>
                  <a:cubicBezTo>
                    <a:pt x="3454496" y="2852395"/>
                    <a:pt x="3475813" y="2844512"/>
                    <a:pt x="3492728" y="2831194"/>
                  </a:cubicBezTo>
                  <a:cubicBezTo>
                    <a:pt x="3520397" y="2845009"/>
                    <a:pt x="3544048" y="2887489"/>
                    <a:pt x="3510140" y="3008541"/>
                  </a:cubicBezTo>
                  <a:cubicBezTo>
                    <a:pt x="3477955" y="3123697"/>
                    <a:pt x="3431265" y="3201457"/>
                    <a:pt x="3379603" y="3242644"/>
                  </a:cubicBezTo>
                  <a:cubicBezTo>
                    <a:pt x="3328321" y="3283440"/>
                    <a:pt x="3275312" y="3283440"/>
                    <a:pt x="3224034" y="3242644"/>
                  </a:cubicBezTo>
                  <a:cubicBezTo>
                    <a:pt x="3172370" y="3201504"/>
                    <a:pt x="3125720" y="3123697"/>
                    <a:pt x="3093575" y="3008541"/>
                  </a:cubicBezTo>
                  <a:cubicBezTo>
                    <a:pt x="3059745" y="2887498"/>
                    <a:pt x="3083357" y="2845086"/>
                    <a:pt x="3110988" y="2831194"/>
                  </a:cubicBezTo>
                  <a:cubicBezTo>
                    <a:pt x="3127903" y="2844435"/>
                    <a:pt x="3149219" y="2852395"/>
                    <a:pt x="3172373" y="2852395"/>
                  </a:cubicBezTo>
                  <a:cubicBezTo>
                    <a:pt x="3227367" y="2852395"/>
                    <a:pt x="3271872" y="2807811"/>
                    <a:pt x="3271872" y="2752896"/>
                  </a:cubicBezTo>
                  <a:cubicBezTo>
                    <a:pt x="3271872" y="2697902"/>
                    <a:pt x="3227288" y="2653396"/>
                    <a:pt x="3172373" y="2653396"/>
                  </a:cubicBezTo>
                  <a:cubicBezTo>
                    <a:pt x="3143556" y="2653396"/>
                    <a:pt x="3117685" y="2665643"/>
                    <a:pt x="3099506" y="2685160"/>
                  </a:cubicBezTo>
                  <a:cubicBezTo>
                    <a:pt x="3094034" y="2686232"/>
                    <a:pt x="3088370" y="2687610"/>
                    <a:pt x="3082706" y="2689179"/>
                  </a:cubicBezTo>
                  <a:cubicBezTo>
                    <a:pt x="2991892" y="2714551"/>
                    <a:pt x="2885039" y="2795497"/>
                    <a:pt x="2955304" y="3046774"/>
                  </a:cubicBezTo>
                  <a:cubicBezTo>
                    <a:pt x="2996215" y="3193124"/>
                    <a:pt x="3060702" y="3296102"/>
                    <a:pt x="3134709" y="3355041"/>
                  </a:cubicBezTo>
                  <a:cubicBezTo>
                    <a:pt x="3165058" y="3379229"/>
                    <a:pt x="3197052" y="3396296"/>
                    <a:pt x="3229926" y="3406438"/>
                  </a:cubicBezTo>
                  <a:lnTo>
                    <a:pt x="3229926" y="3542295"/>
                  </a:lnTo>
                  <a:cubicBezTo>
                    <a:pt x="3229926" y="3812295"/>
                    <a:pt x="3450587" y="4032917"/>
                    <a:pt x="3720547" y="4032917"/>
                  </a:cubicBezTo>
                  <a:cubicBezTo>
                    <a:pt x="3990547" y="4032917"/>
                    <a:pt x="4211169" y="3812256"/>
                    <a:pt x="4211169" y="3542295"/>
                  </a:cubicBezTo>
                  <a:lnTo>
                    <a:pt x="4211283" y="3292586"/>
                  </a:lnTo>
                  <a:close/>
                  <a:moveTo>
                    <a:pt x="1718713" y="1543991"/>
                  </a:moveTo>
                  <a:cubicBezTo>
                    <a:pt x="1759929" y="1480538"/>
                    <a:pt x="1805510" y="1448852"/>
                    <a:pt x="1886714" y="1448852"/>
                  </a:cubicBezTo>
                  <a:cubicBezTo>
                    <a:pt x="1989006" y="1448852"/>
                    <a:pt x="2072057" y="1522904"/>
                    <a:pt x="2072057" y="1614257"/>
                  </a:cubicBezTo>
                  <a:cubicBezTo>
                    <a:pt x="2072057" y="1775527"/>
                    <a:pt x="1895826" y="1936798"/>
                    <a:pt x="1715147" y="2098108"/>
                  </a:cubicBezTo>
                  <a:cubicBezTo>
                    <a:pt x="1707263" y="2105150"/>
                    <a:pt x="1695476" y="2105150"/>
                    <a:pt x="1687592" y="2098108"/>
                  </a:cubicBezTo>
                  <a:cubicBezTo>
                    <a:pt x="1506952" y="1936837"/>
                    <a:pt x="1330682" y="1775567"/>
                    <a:pt x="1330682" y="1614257"/>
                  </a:cubicBezTo>
                  <a:cubicBezTo>
                    <a:pt x="1330682" y="1522983"/>
                    <a:pt x="1413729" y="1448852"/>
                    <a:pt x="1516025" y="1448852"/>
                  </a:cubicBezTo>
                  <a:cubicBezTo>
                    <a:pt x="1597196" y="1448852"/>
                    <a:pt x="1642849" y="1480578"/>
                    <a:pt x="1684026" y="1543991"/>
                  </a:cubicBezTo>
                  <a:cubicBezTo>
                    <a:pt x="1692101" y="1556504"/>
                    <a:pt x="1710509" y="1556504"/>
                    <a:pt x="1718699" y="1543991"/>
                  </a:cubicBezTo>
                  <a:close/>
                  <a:moveTo>
                    <a:pt x="164298" y="550952"/>
                  </a:moveTo>
                  <a:cubicBezTo>
                    <a:pt x="73789" y="550952"/>
                    <a:pt x="0" y="624776"/>
                    <a:pt x="0" y="715250"/>
                  </a:cubicBezTo>
                  <a:lnTo>
                    <a:pt x="0" y="4768524"/>
                  </a:lnTo>
                  <a:cubicBezTo>
                    <a:pt x="0" y="4859034"/>
                    <a:pt x="73823" y="4932823"/>
                    <a:pt x="164298" y="4932823"/>
                  </a:cubicBezTo>
                  <a:lnTo>
                    <a:pt x="3238348" y="4932823"/>
                  </a:lnTo>
                  <a:cubicBezTo>
                    <a:pt x="3328857" y="4932823"/>
                    <a:pt x="3402646" y="4858999"/>
                    <a:pt x="3402646" y="4768524"/>
                  </a:cubicBezTo>
                  <a:lnTo>
                    <a:pt x="3402646" y="4636224"/>
                  </a:lnTo>
                  <a:cubicBezTo>
                    <a:pt x="3313898" y="4619920"/>
                    <a:pt x="3228061" y="4595427"/>
                    <a:pt x="3145931" y="4563396"/>
                  </a:cubicBezTo>
                  <a:lnTo>
                    <a:pt x="3145931" y="4604192"/>
                  </a:lnTo>
                  <a:cubicBezTo>
                    <a:pt x="3145931" y="4643917"/>
                    <a:pt x="3113708" y="4676140"/>
                    <a:pt x="3073983" y="4676140"/>
                  </a:cubicBezTo>
                  <a:lnTo>
                    <a:pt x="328628" y="4676179"/>
                  </a:lnTo>
                  <a:cubicBezTo>
                    <a:pt x="288903" y="4676179"/>
                    <a:pt x="256679" y="4643955"/>
                    <a:pt x="256679" y="4604230"/>
                  </a:cubicBezTo>
                  <a:lnTo>
                    <a:pt x="256679" y="879552"/>
                  </a:lnTo>
                  <a:cubicBezTo>
                    <a:pt x="256679" y="839828"/>
                    <a:pt x="288903" y="807604"/>
                    <a:pt x="328628" y="807604"/>
                  </a:cubicBezTo>
                  <a:lnTo>
                    <a:pt x="773898" y="807604"/>
                  </a:lnTo>
                  <a:lnTo>
                    <a:pt x="773898" y="550890"/>
                  </a:lnTo>
                  <a:close/>
                  <a:moveTo>
                    <a:pt x="3145961" y="1922160"/>
                  </a:moveTo>
                  <a:lnTo>
                    <a:pt x="3145961" y="879548"/>
                  </a:lnTo>
                  <a:cubicBezTo>
                    <a:pt x="3145961" y="839824"/>
                    <a:pt x="3113737" y="807600"/>
                    <a:pt x="3074013" y="807600"/>
                  </a:cubicBezTo>
                  <a:lnTo>
                    <a:pt x="2628742" y="807600"/>
                  </a:lnTo>
                  <a:lnTo>
                    <a:pt x="2628742" y="550886"/>
                  </a:lnTo>
                  <a:lnTo>
                    <a:pt x="3238311" y="550886"/>
                  </a:lnTo>
                  <a:cubicBezTo>
                    <a:pt x="3328820" y="550886"/>
                    <a:pt x="3402608" y="624709"/>
                    <a:pt x="3402608" y="715184"/>
                  </a:cubicBezTo>
                  <a:lnTo>
                    <a:pt x="3402608" y="1849301"/>
                  </a:lnTo>
                  <a:cubicBezTo>
                    <a:pt x="3313937" y="1865643"/>
                    <a:pt x="3228102" y="1890174"/>
                    <a:pt x="3145973" y="1922167"/>
                  </a:cubicBezTo>
                  <a:close/>
                  <a:moveTo>
                    <a:pt x="2893380" y="1710944"/>
                  </a:moveTo>
                  <a:lnTo>
                    <a:pt x="2774394" y="1708762"/>
                  </a:lnTo>
                  <a:cubicBezTo>
                    <a:pt x="2742439" y="1708265"/>
                    <a:pt x="2714961" y="1728662"/>
                    <a:pt x="2705240" y="1757403"/>
                  </a:cubicBezTo>
                  <a:lnTo>
                    <a:pt x="2676959" y="1840373"/>
                  </a:lnTo>
                  <a:lnTo>
                    <a:pt x="2559511" y="1457707"/>
                  </a:lnTo>
                  <a:cubicBezTo>
                    <a:pt x="2547838" y="1419819"/>
                    <a:pt x="2507731" y="1398541"/>
                    <a:pt x="2469844" y="1410213"/>
                  </a:cubicBezTo>
                  <a:cubicBezTo>
                    <a:pt x="2447265" y="1417140"/>
                    <a:pt x="2430541" y="1434208"/>
                    <a:pt x="2423193" y="1454912"/>
                  </a:cubicBezTo>
                  <a:lnTo>
                    <a:pt x="2315807" y="1758428"/>
                  </a:lnTo>
                  <a:lnTo>
                    <a:pt x="2292653" y="1731869"/>
                  </a:lnTo>
                  <a:cubicBezTo>
                    <a:pt x="2277230" y="1714112"/>
                    <a:pt x="2254918" y="1705806"/>
                    <a:pt x="2233143" y="1707338"/>
                  </a:cubicBezTo>
                  <a:lnTo>
                    <a:pt x="2203943" y="1707070"/>
                  </a:lnTo>
                  <a:cubicBezTo>
                    <a:pt x="2211597" y="1676721"/>
                    <a:pt x="2215844" y="1645761"/>
                    <a:pt x="2215844" y="1614150"/>
                  </a:cubicBezTo>
                  <a:cubicBezTo>
                    <a:pt x="2215844" y="1435617"/>
                    <a:pt x="2060236" y="1304932"/>
                    <a:pt x="1886611" y="1304932"/>
                  </a:cubicBezTo>
                  <a:cubicBezTo>
                    <a:pt x="1813860" y="1304932"/>
                    <a:pt x="1752929" y="1322461"/>
                    <a:pt x="1701269" y="1356980"/>
                  </a:cubicBezTo>
                  <a:cubicBezTo>
                    <a:pt x="1649605" y="1322422"/>
                    <a:pt x="1588680" y="1304932"/>
                    <a:pt x="1515927" y="1304932"/>
                  </a:cubicBezTo>
                  <a:cubicBezTo>
                    <a:pt x="1342292" y="1304932"/>
                    <a:pt x="1186694" y="1435705"/>
                    <a:pt x="1186694" y="1614150"/>
                  </a:cubicBezTo>
                  <a:cubicBezTo>
                    <a:pt x="1186694" y="1645761"/>
                    <a:pt x="1190942" y="1676721"/>
                    <a:pt x="1198595" y="1707070"/>
                  </a:cubicBezTo>
                  <a:lnTo>
                    <a:pt x="1169395" y="1707338"/>
                  </a:lnTo>
                  <a:cubicBezTo>
                    <a:pt x="1147619" y="1705730"/>
                    <a:pt x="1125384" y="1714073"/>
                    <a:pt x="1109885" y="1731869"/>
                  </a:cubicBezTo>
                  <a:lnTo>
                    <a:pt x="1086731" y="1758428"/>
                  </a:lnTo>
                  <a:lnTo>
                    <a:pt x="979345" y="1454912"/>
                  </a:lnTo>
                  <a:cubicBezTo>
                    <a:pt x="971729" y="1433443"/>
                    <a:pt x="954469" y="1416910"/>
                    <a:pt x="932694" y="1410213"/>
                  </a:cubicBezTo>
                  <a:cubicBezTo>
                    <a:pt x="894806" y="1398541"/>
                    <a:pt x="854700" y="1419819"/>
                    <a:pt x="843028" y="1457707"/>
                  </a:cubicBezTo>
                  <a:lnTo>
                    <a:pt x="725579" y="1840373"/>
                  </a:lnTo>
                  <a:lnTo>
                    <a:pt x="697298" y="1757403"/>
                  </a:lnTo>
                  <a:cubicBezTo>
                    <a:pt x="687310" y="1727897"/>
                    <a:pt x="659296" y="1708303"/>
                    <a:pt x="628144" y="1708762"/>
                  </a:cubicBezTo>
                  <a:lnTo>
                    <a:pt x="509157" y="1710944"/>
                  </a:lnTo>
                  <a:cubicBezTo>
                    <a:pt x="469624" y="1711556"/>
                    <a:pt x="438014" y="1744162"/>
                    <a:pt x="438626" y="1783772"/>
                  </a:cubicBezTo>
                  <a:cubicBezTo>
                    <a:pt x="439238" y="1823382"/>
                    <a:pt x="471844" y="1854916"/>
                    <a:pt x="511454" y="1854303"/>
                  </a:cubicBezTo>
                  <a:lnTo>
                    <a:pt x="578197" y="1853040"/>
                  </a:lnTo>
                  <a:lnTo>
                    <a:pt x="661128" y="2096323"/>
                  </a:lnTo>
                  <a:cubicBezTo>
                    <a:pt x="673872" y="2133866"/>
                    <a:pt x="714629" y="2153996"/>
                    <a:pt x="752173" y="2141290"/>
                  </a:cubicBezTo>
                  <a:cubicBezTo>
                    <a:pt x="775939" y="2133215"/>
                    <a:pt x="792739" y="2113927"/>
                    <a:pt x="798633" y="2091271"/>
                  </a:cubicBezTo>
                  <a:lnTo>
                    <a:pt x="916424" y="1707614"/>
                  </a:lnTo>
                  <a:lnTo>
                    <a:pt x="992390" y="1922309"/>
                  </a:lnTo>
                  <a:cubicBezTo>
                    <a:pt x="1005593" y="1959699"/>
                    <a:pt x="1046619" y="1979331"/>
                    <a:pt x="1084009" y="1966129"/>
                  </a:cubicBezTo>
                  <a:cubicBezTo>
                    <a:pt x="1096141" y="1961843"/>
                    <a:pt x="1106474" y="1954686"/>
                    <a:pt x="1114357" y="1945616"/>
                  </a:cubicBezTo>
                  <a:lnTo>
                    <a:pt x="1197328" y="1850361"/>
                  </a:lnTo>
                  <a:lnTo>
                    <a:pt x="1260320" y="1849749"/>
                  </a:lnTo>
                  <a:cubicBezTo>
                    <a:pt x="1344437" y="1988672"/>
                    <a:pt x="1484273" y="2109451"/>
                    <a:pt x="1591659" y="2205277"/>
                  </a:cubicBezTo>
                  <a:cubicBezTo>
                    <a:pt x="1654116" y="2261036"/>
                    <a:pt x="1748414" y="2261036"/>
                    <a:pt x="1810831" y="2205277"/>
                  </a:cubicBezTo>
                  <a:cubicBezTo>
                    <a:pt x="1918218" y="2109449"/>
                    <a:pt x="2058053" y="1988672"/>
                    <a:pt x="2142171" y="1849749"/>
                  </a:cubicBezTo>
                  <a:lnTo>
                    <a:pt x="2205164" y="1850361"/>
                  </a:lnTo>
                  <a:lnTo>
                    <a:pt x="2288134" y="1945616"/>
                  </a:lnTo>
                  <a:cubicBezTo>
                    <a:pt x="2296323" y="1954992"/>
                    <a:pt x="2306771" y="1962034"/>
                    <a:pt x="2318482" y="1966129"/>
                  </a:cubicBezTo>
                  <a:cubicBezTo>
                    <a:pt x="2355872" y="1979332"/>
                    <a:pt x="2396897" y="1959661"/>
                    <a:pt x="2410101" y="1922309"/>
                  </a:cubicBezTo>
                  <a:lnTo>
                    <a:pt x="2486067" y="1707614"/>
                  </a:lnTo>
                  <a:lnTo>
                    <a:pt x="2603858" y="2091271"/>
                  </a:lnTo>
                  <a:cubicBezTo>
                    <a:pt x="2609752" y="2113888"/>
                    <a:pt x="2626552" y="2133214"/>
                    <a:pt x="2650318" y="2141290"/>
                  </a:cubicBezTo>
                  <a:cubicBezTo>
                    <a:pt x="2687861" y="2154034"/>
                    <a:pt x="2728619" y="2133866"/>
                    <a:pt x="2741363" y="2096323"/>
                  </a:cubicBezTo>
                  <a:lnTo>
                    <a:pt x="2824294" y="1853040"/>
                  </a:lnTo>
                  <a:lnTo>
                    <a:pt x="2891037" y="1854303"/>
                  </a:lnTo>
                  <a:cubicBezTo>
                    <a:pt x="2930571" y="1854916"/>
                    <a:pt x="2963215" y="1823342"/>
                    <a:pt x="2963865" y="1783772"/>
                  </a:cubicBezTo>
                  <a:cubicBezTo>
                    <a:pt x="2964516" y="1744200"/>
                    <a:pt x="2932982" y="1711556"/>
                    <a:pt x="2893372" y="1710944"/>
                  </a:cubicBezTo>
                  <a:close/>
                  <a:moveTo>
                    <a:pt x="1357091" y="4015330"/>
                  </a:moveTo>
                  <a:cubicBezTo>
                    <a:pt x="1317366" y="4015330"/>
                    <a:pt x="1285142" y="3983106"/>
                    <a:pt x="1285142" y="3943382"/>
                  </a:cubicBezTo>
                  <a:cubicBezTo>
                    <a:pt x="1285142" y="3903657"/>
                    <a:pt x="1317366" y="3871433"/>
                    <a:pt x="1357091" y="3871433"/>
                  </a:cubicBezTo>
                  <a:lnTo>
                    <a:pt x="2390101" y="3871433"/>
                  </a:lnTo>
                  <a:cubicBezTo>
                    <a:pt x="2279462" y="3648431"/>
                    <a:pt x="2230476" y="3401474"/>
                    <a:pt x="2246093" y="3153293"/>
                  </a:cubicBezTo>
                  <a:lnTo>
                    <a:pt x="1357120" y="3153293"/>
                  </a:lnTo>
                  <a:cubicBezTo>
                    <a:pt x="1317395" y="3153293"/>
                    <a:pt x="1285172" y="3121069"/>
                    <a:pt x="1285172" y="3081344"/>
                  </a:cubicBezTo>
                  <a:cubicBezTo>
                    <a:pt x="1285172" y="3041620"/>
                    <a:pt x="1317395" y="3009396"/>
                    <a:pt x="1357120" y="3009396"/>
                  </a:cubicBezTo>
                  <a:lnTo>
                    <a:pt x="2262435" y="3009396"/>
                  </a:lnTo>
                  <a:cubicBezTo>
                    <a:pt x="2336104" y="2564773"/>
                    <a:pt x="2616778" y="2190110"/>
                    <a:pt x="3002119" y="1987652"/>
                  </a:cubicBezTo>
                  <a:lnTo>
                    <a:pt x="3002157" y="951408"/>
                  </a:lnTo>
                  <a:lnTo>
                    <a:pt x="2628867" y="951408"/>
                  </a:lnTo>
                  <a:lnTo>
                    <a:pt x="2628867" y="1023357"/>
                  </a:lnTo>
                  <a:lnTo>
                    <a:pt x="773875" y="1023357"/>
                  </a:lnTo>
                  <a:lnTo>
                    <a:pt x="773875" y="951408"/>
                  </a:lnTo>
                  <a:lnTo>
                    <a:pt x="400585" y="951408"/>
                  </a:lnTo>
                  <a:lnTo>
                    <a:pt x="400585" y="4532166"/>
                  </a:lnTo>
                  <a:lnTo>
                    <a:pt x="3002118" y="4532166"/>
                  </a:lnTo>
                  <a:lnTo>
                    <a:pt x="3002118" y="4497647"/>
                  </a:lnTo>
                  <a:cubicBezTo>
                    <a:pt x="2786963" y="4384598"/>
                    <a:pt x="2604413" y="4217890"/>
                    <a:pt x="2472348" y="4015255"/>
                  </a:cubicBezTo>
                  <a:close/>
                  <a:moveTo>
                    <a:pt x="745533" y="3676907"/>
                  </a:moveTo>
                  <a:lnTo>
                    <a:pt x="1072248" y="3676907"/>
                  </a:lnTo>
                  <a:cubicBezTo>
                    <a:pt x="1111973" y="3676907"/>
                    <a:pt x="1144197" y="3709131"/>
                    <a:pt x="1144197" y="3748855"/>
                  </a:cubicBezTo>
                  <a:lnTo>
                    <a:pt x="1144197" y="4075570"/>
                  </a:lnTo>
                  <a:cubicBezTo>
                    <a:pt x="1144197" y="4115295"/>
                    <a:pt x="1111973" y="4147519"/>
                    <a:pt x="1072248" y="4147519"/>
                  </a:cubicBezTo>
                  <a:lnTo>
                    <a:pt x="745533" y="4147519"/>
                  </a:lnTo>
                  <a:cubicBezTo>
                    <a:pt x="705809" y="4147519"/>
                    <a:pt x="673585" y="4115295"/>
                    <a:pt x="673585" y="4075570"/>
                  </a:cubicBezTo>
                  <a:lnTo>
                    <a:pt x="673585" y="3748855"/>
                  </a:lnTo>
                  <a:cubicBezTo>
                    <a:pt x="673585" y="3709131"/>
                    <a:pt x="705809" y="3676907"/>
                    <a:pt x="745533" y="3676907"/>
                  </a:cubicBezTo>
                  <a:close/>
                  <a:moveTo>
                    <a:pt x="1000337" y="3820808"/>
                  </a:moveTo>
                  <a:lnTo>
                    <a:pt x="1000337" y="4003622"/>
                  </a:lnTo>
                  <a:lnTo>
                    <a:pt x="817523" y="4003622"/>
                  </a:lnTo>
                  <a:lnTo>
                    <a:pt x="817484" y="3820808"/>
                  </a:lnTo>
                  <a:close/>
                  <a:moveTo>
                    <a:pt x="745533" y="2814935"/>
                  </a:moveTo>
                  <a:lnTo>
                    <a:pt x="1072248" y="2814935"/>
                  </a:lnTo>
                  <a:cubicBezTo>
                    <a:pt x="1111973" y="2814935"/>
                    <a:pt x="1144197" y="2847158"/>
                    <a:pt x="1144197" y="2886883"/>
                  </a:cubicBezTo>
                  <a:lnTo>
                    <a:pt x="1144197" y="3213598"/>
                  </a:lnTo>
                  <a:cubicBezTo>
                    <a:pt x="1144197" y="3253323"/>
                    <a:pt x="1111973" y="3285547"/>
                    <a:pt x="1072248" y="3285547"/>
                  </a:cubicBezTo>
                  <a:lnTo>
                    <a:pt x="745533" y="3285547"/>
                  </a:lnTo>
                  <a:cubicBezTo>
                    <a:pt x="705809" y="3285547"/>
                    <a:pt x="673585" y="3253323"/>
                    <a:pt x="673585" y="3213598"/>
                  </a:cubicBezTo>
                  <a:lnTo>
                    <a:pt x="673585" y="2886883"/>
                  </a:lnTo>
                  <a:cubicBezTo>
                    <a:pt x="673585" y="2847120"/>
                    <a:pt x="705809" y="2814935"/>
                    <a:pt x="745533" y="2814935"/>
                  </a:cubicBezTo>
                  <a:close/>
                  <a:moveTo>
                    <a:pt x="1000337" y="2958796"/>
                  </a:moveTo>
                  <a:lnTo>
                    <a:pt x="1000337" y="3141611"/>
                  </a:lnTo>
                  <a:lnTo>
                    <a:pt x="817523" y="3141611"/>
                  </a:lnTo>
                  <a:lnTo>
                    <a:pt x="817523" y="2958796"/>
                  </a:lnTo>
                  <a:close/>
                  <a:moveTo>
                    <a:pt x="1701333" y="258311"/>
                  </a:moveTo>
                  <a:cubicBezTo>
                    <a:pt x="1650243" y="258311"/>
                    <a:pt x="1608872" y="299758"/>
                    <a:pt x="1608872" y="350772"/>
                  </a:cubicBezTo>
                  <a:cubicBezTo>
                    <a:pt x="1608872" y="401862"/>
                    <a:pt x="1650319" y="443233"/>
                    <a:pt x="1701333" y="443233"/>
                  </a:cubicBezTo>
                  <a:cubicBezTo>
                    <a:pt x="1752423" y="443233"/>
                    <a:pt x="1793793" y="401786"/>
                    <a:pt x="1793793" y="350772"/>
                  </a:cubicBezTo>
                  <a:cubicBezTo>
                    <a:pt x="1793832" y="299758"/>
                    <a:pt x="1752423" y="258311"/>
                    <a:pt x="1701333" y="258311"/>
                  </a:cubicBezTo>
                  <a:close/>
                </a:path>
              </a:pathLst>
            </a:custGeom>
            <a:solidFill>
              <a:schemeClr val="bg1"/>
            </a:solidFill>
            <a:ln w="9797"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endParaRPr kumimoji="0" lang="en-GB" sz="2400" b="0" i="0" u="none" strike="noStrike" kern="1200" cap="none" spc="0" normalizeH="0" baseline="0" noProof="0" dirty="0">
                <a:ln>
                  <a:noFill/>
                </a:ln>
                <a:solidFill>
                  <a:srgbClr val="000000"/>
                </a:solidFill>
                <a:effectLst/>
                <a:uLnTx/>
                <a:uFillTx/>
                <a:latin typeface="Arial"/>
                <a:ea typeface="+mn-ea"/>
                <a:cs typeface="Noto Sans"/>
              </a:endParaRPr>
            </a:p>
          </p:txBody>
        </p:sp>
      </p:grpSp>
    </p:spTree>
    <p:custDataLst>
      <p:tags r:id="rId1"/>
    </p:custDataLst>
    <p:extLst>
      <p:ext uri="{BB962C8B-B14F-4D97-AF65-F5344CB8AC3E}">
        <p14:creationId xmlns:p14="http://schemas.microsoft.com/office/powerpoint/2010/main" val="1703908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27C8F8D6-DEC6-BFD7-65A2-0D1D1E00E3D7}"/>
              </a:ext>
            </a:extLst>
          </p:cNvPr>
          <p:cNvSpPr>
            <a:spLocks noGrp="1"/>
          </p:cNvSpPr>
          <p:nvPr>
            <p:ph type="body" sz="quarter" idx="22"/>
          </p:nvPr>
        </p:nvSpPr>
        <p:spPr/>
        <p:txBody>
          <a:bodyPr anchor="t"/>
          <a:lstStyle/>
          <a:p>
            <a:pPr marL="0" indent="0" algn="ctr">
              <a:spcAft>
                <a:spcPts val="0"/>
              </a:spcAft>
              <a:buNone/>
            </a:pPr>
            <a:endParaRPr lang="en-US" sz="2000" b="1"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2000" b="1" dirty="0">
                <a:latin typeface="Calibri" panose="020F0502020204030204" pitchFamily="34" charset="0"/>
                <a:ea typeface="Times New Roman" panose="02020603050405020304" pitchFamily="18" charset="0"/>
              </a:rPr>
              <a:t> </a:t>
            </a:r>
            <a:r>
              <a:rPr lang="en-US" sz="1800" dirty="0">
                <a:latin typeface="Calibri" panose="020F0502020204030204" pitchFamily="34" charset="0"/>
                <a:ea typeface="Times New Roman" panose="02020603050405020304" pitchFamily="18" charset="0"/>
              </a:rPr>
              <a:t>Adverse event reporting generic email address: </a:t>
            </a:r>
            <a:r>
              <a:rPr lang="en-US" sz="1800" u="sng" dirty="0">
                <a:solidFill>
                  <a:srgbClr val="0000FF"/>
                </a:solidFill>
                <a:latin typeface="Calibri" panose="020F0502020204030204" pitchFamily="34" charset="0"/>
                <a:hlinkClick r:id="rId4">
                  <a:extLst>
                    <a:ext uri="{A12FA001-AC4F-418D-AE19-62706E023703}">
                      <ahyp:hlinkClr xmlns:ahyp="http://schemas.microsoft.com/office/drawing/2018/hyperlinkcolor" val="tx"/>
                    </a:ext>
                  </a:extLst>
                </a:hlinkClick>
              </a:rPr>
              <a:t>ae.egypt@gsk.com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u="sng" dirty="0">
              <a:solidFill>
                <a:srgbClr val="0000FF"/>
              </a:solidFill>
              <a:latin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rPr>
              <a:t> For any Medical Information Requests, please reach us at:</a:t>
            </a:r>
            <a:r>
              <a:rPr lang="en-US" sz="1800" dirty="0">
                <a:latin typeface="Calibri" panose="020F0502020204030204" pitchFamily="34" charset="0"/>
                <a:ea typeface="Times New Roman" panose="02020603050405020304" pitchFamily="18" charset="0"/>
              </a:rPr>
              <a:t> </a:t>
            </a:r>
            <a:r>
              <a:rPr lang="en-US" sz="1800" u="sng" dirty="0">
                <a:solidFill>
                  <a:srgbClr val="0000FF"/>
                </a:solidFill>
                <a:latin typeface="Calibri" panose="020F0502020204030204" pitchFamily="34" charset="0"/>
                <a:ea typeface="Times New Roman" panose="02020603050405020304" pitchFamily="18" charset="0"/>
              </a:rPr>
              <a:t>mi</a:t>
            </a:r>
            <a:r>
              <a:rPr lang="en-US" sz="1800" u="sng" dirty="0">
                <a:solidFill>
                  <a:srgbClr val="0000FF"/>
                </a:solidFill>
                <a:latin typeface="Calibri" panose="020F0502020204030204" pitchFamily="34" charset="0"/>
                <a:hlinkClick r:id="rId5">
                  <a:extLst>
                    <a:ext uri="{A12FA001-AC4F-418D-AE19-62706E023703}">
                      <ahyp:hlinkClr xmlns:ahyp="http://schemas.microsoft.com/office/drawing/2018/hyperlinkcolor" val="tx"/>
                    </a:ext>
                  </a:extLst>
                </a:hlinkClick>
              </a:rPr>
              <a:t>.egypt@gsk.com</a:t>
            </a:r>
            <a:endParaRPr lang="en-US" sz="1800" u="sng" dirty="0">
              <a:solidFill>
                <a:srgbClr val="0000FF"/>
              </a:solidFill>
              <a:latin typeface="Calibri" panose="020F0502020204030204" pitchFamily="34" charset="0"/>
            </a:endParaRPr>
          </a:p>
          <a:p>
            <a:pPr marL="0" indent="0" algn="ctr">
              <a:spcAft>
                <a:spcPts val="0"/>
              </a:spcAft>
              <a:buNone/>
            </a:pPr>
            <a:endParaRPr lang="en-US" sz="1800" dirty="0">
              <a:latin typeface="Calibri" panose="020F0502020204030204" pitchFamily="34" charset="0"/>
              <a:ea typeface="Times New Roman" panose="02020603050405020304" pitchFamily="18"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24 hours telephone for adverse events reporting : +20226185150 </a:t>
            </a:r>
          </a:p>
          <a:p>
            <a:pPr marL="0" indent="0" algn="ctr">
              <a:spcAft>
                <a:spcPts val="0"/>
              </a:spcAft>
              <a:buNone/>
            </a:pPr>
            <a:endParaRPr lang="en-US" sz="1800" dirty="0">
              <a:latin typeface="Calibri" panose="020F0502020204030204" pitchFamily="34" charset="0"/>
              <a:ea typeface="Calibri" panose="020F0502020204030204" pitchFamily="34" charset="0"/>
            </a:endParaRPr>
          </a:p>
          <a:p>
            <a:pPr algn="ctr">
              <a:spcAft>
                <a:spcPts val="0"/>
              </a:spcAft>
              <a:buFont typeface="Arial" panose="020B0604020202020204" pitchFamily="34" charset="0"/>
              <a:buBlip>
                <a:blip r:embed="rId3"/>
              </a:buBlip>
            </a:pPr>
            <a:r>
              <a:rPr lang="en-US" sz="1800" dirty="0">
                <a:latin typeface="Calibri" panose="020F0502020204030204" pitchFamily="34" charset="0"/>
                <a:ea typeface="Times New Roman" panose="02020603050405020304" pitchFamily="18" charset="0"/>
              </a:rPr>
              <a:t> Address: Head office: Boomerang building, no.46, block j, 5</a:t>
            </a:r>
            <a:r>
              <a:rPr lang="en-US" sz="1800" baseline="30000" dirty="0">
                <a:latin typeface="Calibri" panose="020F0502020204030204" pitchFamily="34" charset="0"/>
                <a:ea typeface="Times New Roman" panose="02020603050405020304" pitchFamily="18" charset="0"/>
              </a:rPr>
              <a:t>th</a:t>
            </a:r>
            <a:r>
              <a:rPr lang="en-US" sz="1800" dirty="0">
                <a:latin typeface="Calibri" panose="020F0502020204030204" pitchFamily="34" charset="0"/>
                <a:ea typeface="Times New Roman" panose="02020603050405020304" pitchFamily="18" charset="0"/>
              </a:rPr>
              <a:t> district , 11835, New Cairo, Egypt PO Box no. 41</a:t>
            </a:r>
            <a:endParaRPr lang="en-US" sz="1800" dirty="0">
              <a:latin typeface="Calibri" panose="020F0502020204030204" pitchFamily="34" charset="0"/>
              <a:ea typeface="Calibri" panose="020F0502020204030204" pitchFamily="34" charset="0"/>
            </a:endParaRPr>
          </a:p>
          <a:p>
            <a:endParaRPr lang="ar-EG" dirty="0"/>
          </a:p>
        </p:txBody>
      </p:sp>
      <p:sp>
        <p:nvSpPr>
          <p:cNvPr id="3" name="Text Placeholder 2">
            <a:extLst>
              <a:ext uri="{FF2B5EF4-FFF2-40B4-BE49-F238E27FC236}">
                <a16:creationId xmlns:a16="http://schemas.microsoft.com/office/drawing/2014/main" id="{E5E6EE59-7704-70DB-FB2B-BFA6B5095291}"/>
              </a:ext>
            </a:extLst>
          </p:cNvPr>
          <p:cNvSpPr>
            <a:spLocks noGrp="1"/>
          </p:cNvSpPr>
          <p:nvPr>
            <p:ph type="body" sz="quarter" idx="18"/>
          </p:nvPr>
        </p:nvSpPr>
        <p:spPr/>
        <p:txBody>
          <a:bodyPr/>
          <a:lstStyle/>
          <a:p>
            <a:endParaRPr lang="ar-EG"/>
          </a:p>
        </p:txBody>
      </p:sp>
      <p:sp>
        <p:nvSpPr>
          <p:cNvPr id="5" name="Title 4">
            <a:extLst>
              <a:ext uri="{FF2B5EF4-FFF2-40B4-BE49-F238E27FC236}">
                <a16:creationId xmlns:a16="http://schemas.microsoft.com/office/drawing/2014/main" id="{A9A1E82F-3142-3858-1710-AC236A3177FF}"/>
              </a:ext>
            </a:extLst>
          </p:cNvPr>
          <p:cNvSpPr>
            <a:spLocks noGrp="1"/>
          </p:cNvSpPr>
          <p:nvPr>
            <p:ph type="title"/>
          </p:nvPr>
        </p:nvSpPr>
        <p:spPr/>
        <p:txBody>
          <a:bodyPr/>
          <a:lstStyle/>
          <a:p>
            <a:r>
              <a:rPr lang="en-US" dirty="0"/>
              <a:t>GSK Contacts</a:t>
            </a:r>
            <a:endParaRPr lang="ar-EG" dirty="0"/>
          </a:p>
        </p:txBody>
      </p:sp>
      <p:sp>
        <p:nvSpPr>
          <p:cNvPr id="6" name="Subtitle 5">
            <a:extLst>
              <a:ext uri="{FF2B5EF4-FFF2-40B4-BE49-F238E27FC236}">
                <a16:creationId xmlns:a16="http://schemas.microsoft.com/office/drawing/2014/main" id="{3DFCDCC2-0CF6-DD73-E68A-1340811E0C3B}"/>
              </a:ext>
            </a:extLst>
          </p:cNvPr>
          <p:cNvSpPr>
            <a:spLocks noGrp="1"/>
          </p:cNvSpPr>
          <p:nvPr>
            <p:ph type="subTitle" idx="1"/>
          </p:nvPr>
        </p:nvSpPr>
        <p:spPr/>
        <p:txBody>
          <a:bodyPr/>
          <a:lstStyle/>
          <a:p>
            <a:endParaRPr lang="ar-EG"/>
          </a:p>
        </p:txBody>
      </p:sp>
      <p:sp>
        <p:nvSpPr>
          <p:cNvPr id="7" name="Footer Placeholder 6">
            <a:extLst>
              <a:ext uri="{FF2B5EF4-FFF2-40B4-BE49-F238E27FC236}">
                <a16:creationId xmlns:a16="http://schemas.microsoft.com/office/drawing/2014/main" id="{1EE671B1-A3BB-075F-789F-A1DC5FD47E55}"/>
              </a:ext>
            </a:extLst>
          </p:cNvPr>
          <p:cNvSpPr>
            <a:spLocks noGrp="1"/>
          </p:cNvSpPr>
          <p:nvPr>
            <p:ph type="ftr" sz="quarter" idx="2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rgbClr val="000000"/>
                </a:solidFill>
                <a:effectLst/>
                <a:uLnTx/>
                <a:uFillTx/>
                <a:latin typeface="Arial"/>
                <a:ea typeface="+mn-ea"/>
                <a:cs typeface="Noto Sans"/>
              </a:rPr>
              <a:t>For Internal Use Only</a:t>
            </a:r>
            <a:endParaRPr kumimoji="0" lang="en-GB" sz="1200" b="0" i="0" u="none" strike="noStrike" kern="1200" cap="none" spc="0" normalizeH="0" baseline="0" noProof="0" dirty="0">
              <a:ln>
                <a:noFill/>
              </a:ln>
              <a:solidFill>
                <a:srgbClr val="000000"/>
              </a:solidFill>
              <a:effectLst/>
              <a:uLnTx/>
              <a:uFillTx/>
              <a:latin typeface="Arial"/>
              <a:ea typeface="+mn-ea"/>
              <a:cs typeface="Noto Sans"/>
            </a:endParaRPr>
          </a:p>
        </p:txBody>
      </p:sp>
    </p:spTree>
    <p:extLst>
      <p:ext uri="{BB962C8B-B14F-4D97-AF65-F5344CB8AC3E}">
        <p14:creationId xmlns:p14="http://schemas.microsoft.com/office/powerpoint/2010/main" val="2794376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0791702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GSK_New_PPT_16x9_Template_Sep22_v2  -  Read-Only" id="{EE3E7A9B-3AB6-4322-B87F-828C0A0D3317}" vid="{EC6655C6-C3EC-4531-B19E-81C81EAA6C18}"/>
    </a:ext>
  </a:extLst>
</a:theme>
</file>

<file path=ppt/theme/theme3.xml><?xml version="1.0" encoding="utf-8"?>
<a:theme xmlns:a="http://schemas.openxmlformats.org/drawingml/2006/main" name="1_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Linerixibat competitor deck_ema_V1.0.potx  -  AutoRecovered" id="{91E5D257-50E5-4FE1-A751-B3A751AB8486}" vid="{5DCAF8AA-9DCE-4D75-B064-984DB4D4082B}"/>
    </a:ext>
  </a:extLst>
</a:theme>
</file>

<file path=ppt/theme/theme4.xml><?xml version="1.0" encoding="utf-8"?>
<a:theme xmlns:a="http://schemas.openxmlformats.org/drawingml/2006/main" name="2_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GSK_New_PPT_16x9_Template_Sep22_v2  -  Read-Only" id="{EE3E7A9B-3AB6-4322-B87F-828C0A0D3317}" vid="{EC6655C6-C3EC-4531-B19E-81C81EAA6C18}"/>
    </a:ext>
  </a:extLst>
</a:theme>
</file>

<file path=ppt/theme/theme5.xml><?xml version="1.0" encoding="utf-8"?>
<a:theme xmlns:a="http://schemas.openxmlformats.org/drawingml/2006/main" name="3_GSK ">
  <a:themeElements>
    <a:clrScheme name="GSK_Template_2022">
      <a:dk1>
        <a:srgbClr val="000000"/>
      </a:dk1>
      <a:lt1>
        <a:sysClr val="window" lastClr="FFFFFF"/>
      </a:lt1>
      <a:dk2>
        <a:srgbClr val="F36633"/>
      </a:dk2>
      <a:lt2>
        <a:srgbClr val="959595"/>
      </a:lt2>
      <a:accent1>
        <a:srgbClr val="6658A6"/>
      </a:accent1>
      <a:accent2>
        <a:srgbClr val="E21860"/>
      </a:accent2>
      <a:accent3>
        <a:srgbClr val="69B445"/>
      </a:accent3>
      <a:accent4>
        <a:srgbClr val="244EA2"/>
      </a:accent4>
      <a:accent5>
        <a:srgbClr val="FFC709"/>
      </a:accent5>
      <a:accent6>
        <a:srgbClr val="DC4133"/>
      </a:accent6>
      <a:hlink>
        <a:srgbClr val="000000"/>
      </a:hlink>
      <a:folHlink>
        <a:srgbClr val="F0EFED"/>
      </a:folHlink>
    </a:clrScheme>
    <a:fontScheme name="GSK_Template_2022">
      <a:majorFont>
        <a:latin typeface="Arial"/>
        <a:ea typeface=""/>
        <a:cs typeface="Noto Sans"/>
      </a:majorFont>
      <a:minorFont>
        <a:latin typeface="Arial"/>
        <a:ea typeface=""/>
        <a:cs typeface="Noto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lumMod val="95000"/>
          </a:schemeClr>
        </a:solidFill>
        <a:ln>
          <a:noFill/>
          <a:headEnd/>
          <a:tailEnd/>
        </a:ln>
        <a:effectLst/>
      </a:spPr>
      <a:bodyPr rot="0" spcFirstLastPara="0" vertOverflow="overflow" horzOverflow="overflow" vert="horz" wrap="square" lIns="180000" tIns="180000" rIns="180000" bIns="180000" numCol="1" spcCol="0" rtlCol="0" fromWordArt="0" anchor="t" anchorCtr="0" forceAA="0" compatLnSpc="1">
        <a:prstTxWarp prst="textNoShape">
          <a:avLst/>
        </a:prstTxWarp>
        <a:noAutofit/>
      </a:bodyPr>
      <a:lstStyle>
        <a:defPPr marL="285750" indent="-285750" algn="l" eaLnBrk="0" fontAlgn="auto" hangingPunct="0">
          <a:spcBef>
            <a:spcPts val="300"/>
          </a:spcBef>
          <a:spcAft>
            <a:spcPts val="300"/>
          </a:spcAft>
          <a:buClr>
            <a:schemeClr val="tx2"/>
          </a:buClr>
          <a:buSzPct val="110000"/>
          <a:buFont typeface="Arial" panose="020B0604020202020204" pitchFamily="34" charset="0"/>
          <a:buChar char="•"/>
          <a:defRPr sz="1600" kern="0" dirty="0" err="1" smtClean="0">
            <a:solidFill>
              <a:schemeClr val="tx1"/>
            </a:solidFill>
          </a:defRPr>
        </a:defPPr>
      </a:lstStyle>
      <a:style>
        <a:lnRef idx="1">
          <a:schemeClr val="accent1"/>
        </a:lnRef>
        <a:fillRef idx="3">
          <a:schemeClr val="accent1"/>
        </a:fillRef>
        <a:effectRef idx="2">
          <a:schemeClr val="accent1"/>
        </a:effectRef>
        <a:fontRef idx="minor">
          <a:schemeClr val="lt1"/>
        </a:fontRef>
      </a:style>
    </a:spDef>
    <a:lnDef>
      <a:spPr>
        <a:ln w="19050" cap="rnd">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0000" tIns="180000" rIns="180000" bIns="180000" rtlCol="0">
        <a:normAutofit/>
      </a:bodyPr>
      <a:lstStyle>
        <a:defPPr marL="285750" indent="-285750" algn="l">
          <a:spcBef>
            <a:spcPts val="300"/>
          </a:spcBef>
          <a:spcAft>
            <a:spcPts val="300"/>
          </a:spcAft>
          <a:buClr>
            <a:schemeClr val="tx2"/>
          </a:buClr>
          <a:buSzPct val="110000"/>
          <a:buFont typeface="Arial" panose="020B0604020202020204" pitchFamily="34" charset="0"/>
          <a:buChar char="•"/>
          <a:defRPr sz="1600" dirty="0" err="1" smtClean="0"/>
        </a:defPPr>
      </a:lstStyle>
    </a:txDef>
  </a:objectDefaults>
  <a:extraClrSchemeLst/>
  <a:extLst>
    <a:ext uri="{05A4C25C-085E-4340-85A3-A5531E510DB2}">
      <thm15:themeFamily xmlns:thm15="http://schemas.microsoft.com/office/thememl/2012/main" name="GSK_New_PPT_16x9_Template_Sep22_v2  -  Read-Only" id="{EE3E7A9B-3AB6-4322-B87F-828C0A0D3317}" vid="{EC6655C6-C3EC-4531-B19E-81C81EAA6C18}"/>
    </a:ext>
  </a:extLst>
</a:theme>
</file>

<file path=ppt/theme/theme6.xml><?xml version="1.0" encoding="utf-8"?>
<a:theme xmlns:a="http://schemas.openxmlformats.org/drawingml/2006/main" name="4_GSK ">
  <a:themeElements>
    <a:clrScheme name="GSK 2017 4">
      <a:dk1>
        <a:srgbClr val="544F40"/>
      </a:dk1>
      <a:lt1>
        <a:srgbClr val="FFFFFF"/>
      </a:lt1>
      <a:dk2>
        <a:srgbClr val="15717D"/>
      </a:dk2>
      <a:lt2>
        <a:srgbClr val="F36633"/>
      </a:lt2>
      <a:accent1>
        <a:srgbClr val="F36633"/>
      </a:accent1>
      <a:accent2>
        <a:srgbClr val="544F40"/>
      </a:accent2>
      <a:accent3>
        <a:srgbClr val="008A00"/>
      </a:accent3>
      <a:accent4>
        <a:srgbClr val="BC1077"/>
      </a:accent4>
      <a:accent5>
        <a:srgbClr val="40488D"/>
      </a:accent5>
      <a:accent6>
        <a:srgbClr val="ED003C"/>
      </a:accent6>
      <a:hlink>
        <a:srgbClr val="F36633"/>
      </a:hlink>
      <a:folHlink>
        <a:srgbClr val="F36633"/>
      </a:folHlink>
    </a:clrScheme>
    <a:fontScheme name="GSK">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2"/>
        </a:solidFill>
        <a:ln>
          <a:noFill/>
          <a:headEnd/>
          <a:tailEnd/>
        </a:ln>
        <a:effectLst/>
      </a:spPr>
      <a:bodyPr rot="0" spcFirstLastPara="0" vertOverflow="overflow" horzOverflow="overflow" vert="horz" wrap="square" lIns="72000" tIns="72000" rIns="72000" bIns="72000" numCol="1" spcCol="0" rtlCol="0" fromWordArt="0" anchor="t" anchorCtr="0" forceAA="0" compatLnSpc="1">
        <a:prstTxWarp prst="textNoShape">
          <a:avLst/>
        </a:prstTxWarp>
        <a:noAutofit/>
      </a:bodyPr>
      <a:lstStyle>
        <a:defPPr marL="180975" indent="-180975" eaLnBrk="0" fontAlgn="auto" hangingPunct="0">
          <a:spcBef>
            <a:spcPts val="0"/>
          </a:spcBef>
          <a:spcAft>
            <a:spcPts val="0"/>
          </a:spcAft>
          <a:buClr>
            <a:schemeClr val="bg1"/>
          </a:buClr>
          <a:buFont typeface="Arial" pitchFamily="34" charset="0"/>
          <a:buChar char="–"/>
          <a:defRPr sz="1200" b="1" kern="0" dirty="0" err="1" smtClean="0">
            <a:solidFill>
              <a:srgbClr val="FFFFFF"/>
            </a:solidFill>
            <a:latin typeface="Arial"/>
          </a:defRPr>
        </a:defPPr>
      </a:lstStyle>
      <a:style>
        <a:lnRef idx="1">
          <a:schemeClr val="accent1"/>
        </a:lnRef>
        <a:fillRef idx="3">
          <a:schemeClr val="accent1"/>
        </a:fillRef>
        <a:effectRef idx="2">
          <a:schemeClr val="accent1"/>
        </a:effectRef>
        <a:fontRef idx="minor">
          <a:schemeClr val="lt1"/>
        </a:fontRef>
      </a:style>
    </a:spDef>
    <a:txDef>
      <a:spPr>
        <a:noFill/>
      </a:spPr>
      <a:bodyPr wrap="square" rtlCol="0">
        <a:spAutoFit/>
      </a:bodyPr>
      <a:lstStyle>
        <a:defPPr marL="171450" indent="-171450">
          <a:buClr>
            <a:schemeClr val="tx1"/>
          </a:buClr>
          <a:buFont typeface="Arial" pitchFamily="34" charset="0"/>
          <a:buChar char="–"/>
          <a:defRPr sz="1200" dirty="0" err="1" smtClean="0"/>
        </a:defPPr>
      </a:lstStyle>
    </a:txDef>
  </a:objectDefaults>
  <a:extraClrSchemeLst/>
  <a:extLst>
    <a:ext uri="{05A4C25C-085E-4340-85A3-A5531E510DB2}">
      <thm15:themeFamily xmlns:thm15="http://schemas.microsoft.com/office/thememl/2012/main" name="GSK_16x9 PowerPoint_V1_20170626" id="{B80D7DA0-A87D-CF43-AA85-C62F33F894F5}" vid="{C878A672-39FC-E94E-AAA2-1FB9D3ACD471}"/>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bea66b2b-af80-48b6-873b-d341d3035cfa}" enabled="1" method="Standard" siteId="{63982aff-fb6c-4c22-973b-70e4acfb63e6}" removed="0"/>
</clbl:labelList>
</file>

<file path=docProps/app.xml><?xml version="1.0" encoding="utf-8"?>
<Properties xmlns="http://schemas.openxmlformats.org/officeDocument/2006/extended-properties" xmlns:vt="http://schemas.openxmlformats.org/officeDocument/2006/docPropsVTypes">
  <TotalTime>693</TotalTime>
  <Words>16328</Words>
  <Application>Microsoft Office PowerPoint</Application>
  <PresentationFormat>Widescreen</PresentationFormat>
  <Paragraphs>1603</Paragraphs>
  <Slides>99</Slides>
  <Notes>6</Notes>
  <HiddenSlides>16</HiddenSlides>
  <MMClips>0</MMClips>
  <ScaleCrop>false</ScaleCrop>
  <HeadingPairs>
    <vt:vector size="8" baseType="variant">
      <vt:variant>
        <vt:lpstr>Fonts Used</vt:lpstr>
      </vt:variant>
      <vt:variant>
        <vt:i4>8</vt:i4>
      </vt:variant>
      <vt:variant>
        <vt:lpstr>Theme</vt:lpstr>
      </vt:variant>
      <vt:variant>
        <vt:i4>6</vt:i4>
      </vt:variant>
      <vt:variant>
        <vt:lpstr>Embedded OLE Servers</vt:lpstr>
      </vt:variant>
      <vt:variant>
        <vt:i4>1</vt:i4>
      </vt:variant>
      <vt:variant>
        <vt:lpstr>Slide Titles</vt:lpstr>
      </vt:variant>
      <vt:variant>
        <vt:i4>99</vt:i4>
      </vt:variant>
    </vt:vector>
  </HeadingPairs>
  <TitlesOfParts>
    <vt:vector size="114" baseType="lpstr">
      <vt:lpstr>Aptos</vt:lpstr>
      <vt:lpstr>Aptos Display</vt:lpstr>
      <vt:lpstr>Arial</vt:lpstr>
      <vt:lpstr>Arial</vt:lpstr>
      <vt:lpstr>Calibri</vt:lpstr>
      <vt:lpstr>Segoe UI</vt:lpstr>
      <vt:lpstr>Segoe UI Symbol</vt:lpstr>
      <vt:lpstr>Times New Roman</vt:lpstr>
      <vt:lpstr>Office Theme</vt:lpstr>
      <vt:lpstr>GSK </vt:lpstr>
      <vt:lpstr>1_GSK </vt:lpstr>
      <vt:lpstr>2_GSK </vt:lpstr>
      <vt:lpstr>3_GSK </vt:lpstr>
      <vt:lpstr>4_GSK </vt:lpstr>
      <vt:lpstr>think-cell Slide</vt:lpstr>
      <vt:lpstr>COPD Medical Training</vt:lpstr>
      <vt:lpstr>Disclaimer</vt:lpstr>
      <vt:lpstr>Learning objectives</vt:lpstr>
      <vt:lpstr>What is COPD?</vt:lpstr>
      <vt:lpstr>What is COPD?</vt:lpstr>
      <vt:lpstr>COPD is a complex, multicomponent, heterogeneous disease1</vt:lpstr>
      <vt:lpstr>COPD is a complex, multicomponent, heterogeneous disease</vt:lpstr>
      <vt:lpstr>Common symptoms of COPD</vt:lpstr>
      <vt:lpstr>Common symptoms of COPD</vt:lpstr>
      <vt:lpstr>Dyspnoea: A cardinal symptom of COPD</vt:lpstr>
      <vt:lpstr>Dyspnoea leads to declining functional status1,2</vt:lpstr>
      <vt:lpstr>Chronic cough: First symptom of COPD</vt:lpstr>
      <vt:lpstr>Sputum production: Common symptom in COPD</vt:lpstr>
      <vt:lpstr>Wheezing and chest tightness: Common symptom in COPD</vt:lpstr>
      <vt:lpstr>Exacerbations: A key component of COPD</vt:lpstr>
      <vt:lpstr>What is an exacerbation of COPD?</vt:lpstr>
      <vt:lpstr>Exacerbations are important events in the management of COPD</vt:lpstr>
      <vt:lpstr>The cause of COPD exacerbations is heterogeneous1,2</vt:lpstr>
      <vt:lpstr>Exacerbations are more likely to occur as COPD progresses</vt:lpstr>
      <vt:lpstr>Impact of exacerbations in COPD</vt:lpstr>
      <vt:lpstr>Introduction to the GOLD report</vt:lpstr>
      <vt:lpstr>The GOLD report</vt:lpstr>
      <vt:lpstr>Evolution of the GOLD strategy document</vt:lpstr>
      <vt:lpstr>Recommendations in the GOLD 2025 strategy document</vt:lpstr>
      <vt:lpstr>GOLD 2025 strategy document</vt:lpstr>
      <vt:lpstr>Summary</vt:lpstr>
      <vt:lpstr> COPD epidemiology and burden</vt:lpstr>
      <vt:lpstr>COPD affects over 380 million people worldwide1</vt:lpstr>
      <vt:lpstr>COPD prevalence is increased by a number of factors</vt:lpstr>
      <vt:lpstr>COPD is a leading cause of morbidity and mortality</vt:lpstr>
      <vt:lpstr>One major cause of COPD morbidity is exacerbations</vt:lpstr>
      <vt:lpstr>Comorbidities are common in COPD and have a major impact on clinical outcomes1</vt:lpstr>
      <vt:lpstr>The frequency of comorbidities depends on the severity of COPD and age</vt:lpstr>
      <vt:lpstr>The burden of COPD on patients and caregivers</vt:lpstr>
      <vt:lpstr>COPD is underdiagnosed and undermanaged</vt:lpstr>
      <vt:lpstr>As COPD progresses, patient burden increases</vt:lpstr>
      <vt:lpstr>As COPD progresses, patient burden increases</vt:lpstr>
      <vt:lpstr>As COPD progresses, patient burden increases</vt:lpstr>
      <vt:lpstr>As COPD progresses, patient burden increases</vt:lpstr>
      <vt:lpstr>As COPD progresses, patient burden increases1</vt:lpstr>
      <vt:lpstr>COPD places a substantial burden on the healthcare system1</vt:lpstr>
      <vt:lpstr>COPD is associated with major economic burden</vt:lpstr>
      <vt:lpstr>COPD is associated with major economic burden, which increases as COPD progresses</vt:lpstr>
      <vt:lpstr>Summary</vt:lpstr>
      <vt:lpstr>COPD Pathophysiology</vt:lpstr>
      <vt:lpstr>Pathogenesis of COPD</vt:lpstr>
      <vt:lpstr>COPD Overview of the Disease1</vt:lpstr>
      <vt:lpstr>Healthy Lungs and Airways1–4</vt:lpstr>
      <vt:lpstr>Lungs and Airways in Patients With COPD1–4</vt:lpstr>
      <vt:lpstr>Overview of the Pathogenesis of COPD</vt:lpstr>
      <vt:lpstr>Roles of Different Cells of the Immune System in COPD Pathogenesis (I)</vt:lpstr>
      <vt:lpstr>PowerPoint Presentation</vt:lpstr>
      <vt:lpstr>PowerPoint Presentation</vt:lpstr>
      <vt:lpstr>Role of TNF-α in the Inflammatory Response of COPD</vt:lpstr>
      <vt:lpstr>COPD Pathogenic Mechanisms:</vt:lpstr>
      <vt:lpstr>COPD Pathogenic Mechanisms:</vt:lpstr>
      <vt:lpstr>COPD Pathogenic Mechanisms:</vt:lpstr>
      <vt:lpstr>COPD Pathogenic Mechanisms:</vt:lpstr>
      <vt:lpstr>COPD Pathogenic Mechanisms:</vt:lpstr>
      <vt:lpstr>Pathological Consequences of COPD Inflammation</vt:lpstr>
      <vt:lpstr>Pathophysiology of COPD</vt:lpstr>
      <vt:lpstr>Pathophysiology of COPD1</vt:lpstr>
      <vt:lpstr>Pathophysiology of COPD</vt:lpstr>
      <vt:lpstr>Pathophysiology of COPD</vt:lpstr>
      <vt:lpstr>COPD Exacerbations are Episodes of Symptom Worsening</vt:lpstr>
      <vt:lpstr>Summary</vt:lpstr>
      <vt:lpstr>COPD diagnosis and assessment</vt:lpstr>
      <vt:lpstr>Diagnosis of COPD</vt:lpstr>
      <vt:lpstr>Spirometry</vt:lpstr>
      <vt:lpstr>Assessment of COPD</vt:lpstr>
      <vt:lpstr>Assessment of COPD symptoms (1)</vt:lpstr>
      <vt:lpstr>Assessment of COPD symptoms (2)</vt:lpstr>
      <vt:lpstr>The mMRC scale </vt:lpstr>
      <vt:lpstr>The CAT™</vt:lpstr>
      <vt:lpstr>The SGRQ</vt:lpstr>
      <vt:lpstr>COPD Control Questionnaire (CCQ)</vt:lpstr>
      <vt:lpstr>Evaluating Respiratory Symptoms in COPD (E-RS: COPD)</vt:lpstr>
      <vt:lpstr>COPD management and treatment</vt:lpstr>
      <vt:lpstr>Goals for the management of stable COPD</vt:lpstr>
      <vt:lpstr>Pharmacological approaches for the management of COPD (1)</vt:lpstr>
      <vt:lpstr>Pharmacological approaches for the management of COPD (2)</vt:lpstr>
      <vt:lpstr>GOLD 2025: Classification grid for COPD</vt:lpstr>
      <vt:lpstr>GOLD 2025: Initial pharmacological treatment algorithm</vt:lpstr>
      <vt:lpstr>GOLD 2025: Follow-up pharmacological treatment algorithm</vt:lpstr>
      <vt:lpstr>The role of non-pharmacological interventions for stable COPD</vt:lpstr>
      <vt:lpstr>Pulmonary rehabilitation: Key components</vt:lpstr>
      <vt:lpstr>Understanding the need for individualised treatment in COPD</vt:lpstr>
      <vt:lpstr>Patients with COPD have varying treatment needs</vt:lpstr>
      <vt:lpstr>Blood eosinophils as a biomarker of exacerbations and ICS effect in COPD: Post hoc analysis of 2 parallel, randomised controlled trials</vt:lpstr>
      <vt:lpstr>Blood eosinophils as a biomarker of exacerbations and ICS effect in COPD*</vt:lpstr>
      <vt:lpstr>Monitoring of COPD</vt:lpstr>
      <vt:lpstr>Monitoring of COPD</vt:lpstr>
      <vt:lpstr>Monitoring of COPD for adjustment of pharmacotherapy</vt:lpstr>
      <vt:lpstr>Non-adherence and poor inhaler technique in COPD</vt:lpstr>
      <vt:lpstr>Monitoring of COPD for adjustment of pharmacotherapy</vt:lpstr>
      <vt:lpstr>Poor inhaler technique in COPD</vt:lpstr>
      <vt:lpstr>Summary</vt:lpstr>
      <vt:lpstr>GSK Contacts</vt:lpstr>
      <vt:lpstr>PowerPoint Presentation</vt:lpstr>
    </vt:vector>
  </TitlesOfParts>
  <Company>GlaxoSmithKline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Abdelrahman Sayed</dc:creator>
  <cp:lastModifiedBy>Abdelrahman Sayed</cp:lastModifiedBy>
  <cp:revision>1</cp:revision>
  <dcterms:created xsi:type="dcterms:W3CDTF">2025-04-28T12:25:20Z</dcterms:created>
  <dcterms:modified xsi:type="dcterms:W3CDTF">2025-07-20T20:29:55Z</dcterms:modified>
</cp:coreProperties>
</file>